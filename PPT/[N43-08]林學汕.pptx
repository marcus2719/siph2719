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7" r:id="rId2"/>
    <p:sldId id="258" r:id="rId3"/>
    <p:sldId id="296" r:id="rId4"/>
    <p:sldId id="259" r:id="rId5"/>
    <p:sldId id="260" r:id="rId6"/>
    <p:sldId id="261" r:id="rId7"/>
    <p:sldId id="262" r:id="rId8"/>
    <p:sldId id="263" r:id="rId9"/>
    <p:sldId id="303" r:id="rId10"/>
    <p:sldId id="265" r:id="rId11"/>
    <p:sldId id="264" r:id="rId12"/>
    <p:sldId id="266" r:id="rId13"/>
    <p:sldId id="267" r:id="rId14"/>
    <p:sldId id="268" r:id="rId15"/>
    <p:sldId id="271" r:id="rId16"/>
    <p:sldId id="270" r:id="rId17"/>
    <p:sldId id="272" r:id="rId18"/>
    <p:sldId id="273" r:id="rId19"/>
    <p:sldId id="274" r:id="rId20"/>
    <p:sldId id="299" r:id="rId21"/>
    <p:sldId id="275" r:id="rId22"/>
    <p:sldId id="276" r:id="rId23"/>
    <p:sldId id="279" r:id="rId24"/>
    <p:sldId id="280" r:id="rId25"/>
    <p:sldId id="281" r:id="rId26"/>
    <p:sldId id="278" r:id="rId27"/>
    <p:sldId id="277" r:id="rId28"/>
    <p:sldId id="284" r:id="rId29"/>
    <p:sldId id="305" r:id="rId30"/>
    <p:sldId id="295" r:id="rId31"/>
    <p:sldId id="300" r:id="rId32"/>
    <p:sldId id="304" r:id="rId33"/>
    <p:sldId id="282" r:id="rId34"/>
    <p:sldId id="283" r:id="rId35"/>
    <p:sldId id="285" r:id="rId36"/>
    <p:sldId id="286" r:id="rId37"/>
    <p:sldId id="297" r:id="rId38"/>
    <p:sldId id="298" r:id="rId39"/>
    <p:sldId id="301" r:id="rId40"/>
    <p:sldId id="287" r:id="rId41"/>
    <p:sldId id="290" r:id="rId42"/>
    <p:sldId id="289" r:id="rId43"/>
    <p:sldId id="292" r:id="rId44"/>
    <p:sldId id="291" r:id="rId45"/>
    <p:sldId id="293" r:id="rId4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099" autoAdjust="0"/>
  </p:normalViewPr>
  <p:slideViewPr>
    <p:cSldViewPr snapToGrid="0">
      <p:cViewPr varScale="1">
        <p:scale>
          <a:sx n="62" d="100"/>
          <a:sy n="62" d="100"/>
        </p:scale>
        <p:origin x="105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95DF82-6559-413B-8631-5FFDAFAAB45E}" type="datetimeFigureOut">
              <a:rPr lang="zh-TW" altLang="en-US" smtClean="0"/>
              <a:t>2021/7/23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D85B2E-AE05-48CC-86B1-BF43F6E097B8}" type="slidenum">
              <a:rPr lang="zh-TW" altLang="en-US" smtClean="0"/>
              <a:t>‹#›</a:t>
            </a:fld>
            <a:endParaRPr lang="zh-TW" altLang="en-US"/>
          </a:p>
        </p:txBody>
      </p:sp>
    </p:spTree>
    <p:extLst>
      <p:ext uri="{BB962C8B-B14F-4D97-AF65-F5344CB8AC3E}">
        <p14:creationId xmlns:p14="http://schemas.microsoft.com/office/powerpoint/2010/main" val="421408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各位口委老師、同學好，我是報告者林學汕，今天我要報告的題目為</a:t>
            </a:r>
            <a:r>
              <a:rPr lang="en-US" altLang="zh-TW" dirty="0"/>
              <a:t>””</a:t>
            </a:r>
            <a:r>
              <a:rPr lang="zh-TW" altLang="en-US" dirty="0"/>
              <a:t>，感謝各位口委與我的指導教授陳彥宏博士。</a:t>
            </a:r>
          </a:p>
        </p:txBody>
      </p:sp>
      <p:sp>
        <p:nvSpPr>
          <p:cNvPr id="4" name="投影片編號版面配置區 3"/>
          <p:cNvSpPr>
            <a:spLocks noGrp="1"/>
          </p:cNvSpPr>
          <p:nvPr>
            <p:ph type="sldNum" sz="quarter" idx="10"/>
          </p:nvPr>
        </p:nvSpPr>
        <p:spPr/>
        <p:txBody>
          <a:bodyPr/>
          <a:lstStyle/>
          <a:p>
            <a:fld id="{5E05FE76-EA1D-4C44-86FF-3A1FE86001EC}" type="slidenum">
              <a:rPr lang="zh-TW" altLang="en-US" smtClean="0"/>
              <a:t>1</a:t>
            </a:fld>
            <a:endParaRPr lang="zh-TW" altLang="en-US"/>
          </a:p>
        </p:txBody>
      </p:sp>
    </p:spTree>
    <p:extLst>
      <p:ext uri="{BB962C8B-B14F-4D97-AF65-F5344CB8AC3E}">
        <p14:creationId xmlns:p14="http://schemas.microsoft.com/office/powerpoint/2010/main" val="2437239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這是我報告的目錄。首先我會介紹波長調變的方式與動機，然後是工作原理，再來是設計、模擬與製程，接著是實驗結果與分析，最後是結論與未來展望。</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2</a:t>
            </a:fld>
            <a:endParaRPr lang="zh-TW" altLang="en-US"/>
          </a:p>
        </p:txBody>
      </p:sp>
    </p:spTree>
    <p:extLst>
      <p:ext uri="{BB962C8B-B14F-4D97-AF65-F5344CB8AC3E}">
        <p14:creationId xmlns:p14="http://schemas.microsoft.com/office/powerpoint/2010/main" val="1638351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多波長可調式雷射源可以應用在下列例子中</a:t>
            </a:r>
            <a:r>
              <a:rPr lang="zh-TW" altLang="en-US" baseline="0" dirty="0"/>
              <a:t>，例如：</a:t>
            </a:r>
            <a:r>
              <a:rPr lang="zh-TW" altLang="en-US" baseline="0" dirty="0">
                <a:latin typeface="Times New Roman" panose="02020603050405020304" pitchFamily="18" charset="0"/>
                <a:cs typeface="Times New Roman" panose="02020603050405020304" pitchFamily="18" charset="0"/>
              </a:rPr>
              <a:t>可調式兆赫波、或利用大氣中水氣的多波長吸收差異做的雷達、以及</a:t>
            </a:r>
            <a:r>
              <a:rPr lang="en-US" altLang="zh-TW" baseline="0" dirty="0">
                <a:latin typeface="Times New Roman" panose="02020603050405020304" pitchFamily="18" charset="0"/>
                <a:cs typeface="Times New Roman" panose="02020603050405020304" pitchFamily="18" charset="0"/>
              </a:rPr>
              <a:t>PPG</a:t>
            </a:r>
            <a:r>
              <a:rPr lang="zh-TW" altLang="en-US" sz="1200" b="0" i="0" kern="1200" dirty="0">
                <a:solidFill>
                  <a:schemeClr val="tx1"/>
                </a:solidFill>
                <a:effectLst/>
                <a:latin typeface="+mn-lt"/>
                <a:ea typeface="+mn-ea"/>
                <a:cs typeface="+mn-cs"/>
              </a:rPr>
              <a:t>光體積變化描記圖法，藉由</a:t>
            </a:r>
            <a:r>
              <a:rPr lang="zh-TW" altLang="en-US" sz="1200" b="0" i="0" u="none" strike="noStrike" kern="1200" dirty="0">
                <a:solidFill>
                  <a:schemeClr val="tx1"/>
                </a:solidFill>
                <a:effectLst/>
                <a:latin typeface="+mn-lt"/>
                <a:ea typeface="+mn-ea"/>
                <a:cs typeface="+mn-cs"/>
              </a:rPr>
              <a:t>皮膚對不同波長之吸收與變化</a:t>
            </a:r>
            <a:r>
              <a:rPr lang="zh-TW" altLang="en-US" sz="1200" b="0" i="0" kern="1200" dirty="0">
                <a:solidFill>
                  <a:schemeClr val="tx1"/>
                </a:solidFill>
                <a:effectLst/>
                <a:latin typeface="+mn-lt"/>
                <a:ea typeface="+mn-ea"/>
                <a:cs typeface="+mn-cs"/>
              </a:rPr>
              <a:t>，來得到脈博等生理狀況</a:t>
            </a:r>
            <a:r>
              <a:rPr lang="zh-TW" altLang="en-US" baseline="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3</a:t>
            </a:fld>
            <a:endParaRPr lang="zh-TW" altLang="en-US"/>
          </a:p>
        </p:txBody>
      </p:sp>
    </p:spTree>
    <p:extLst>
      <p:ext uri="{BB962C8B-B14F-4D97-AF65-F5344CB8AC3E}">
        <p14:creationId xmlns:p14="http://schemas.microsoft.com/office/powerpoint/2010/main" val="372305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光參量振盪器的波長調變有許多種方式，包含溫度調控、機械式調控與電光調控。溫度調控是透過晶體折射率與溫度的響應改變折射率，藉此改變</a:t>
            </a:r>
            <a:r>
              <a:rPr lang="en-US" altLang="zh-TW" dirty="0"/>
              <a:t>OPO</a:t>
            </a:r>
            <a:r>
              <a:rPr lang="zh-TW" altLang="en-US" dirty="0"/>
              <a:t>相位匹配條件來調變訊號光波長。機械式調控則是於共振腔內置入額外元件來選擇波長，有使用</a:t>
            </a:r>
            <a:r>
              <a:rPr lang="en-US" altLang="zh-TW" b="1" u="heavy" dirty="0">
                <a:latin typeface="Times New Roman" panose="02020603050405020304" pitchFamily="18" charset="0"/>
                <a:cs typeface="Times New Roman" panose="02020603050405020304" pitchFamily="18" charset="0"/>
              </a:rPr>
              <a:t>Fan-out grating</a:t>
            </a:r>
            <a:r>
              <a:rPr lang="zh-TW" altLang="en-US" b="0" u="none" dirty="0">
                <a:latin typeface="Times New Roman" panose="02020603050405020304" pitchFamily="18" charset="0"/>
                <a:cs typeface="Times New Roman" panose="02020603050405020304" pitchFamily="18" charset="0"/>
              </a:rPr>
              <a:t>即利用不同週期之晶體以及</a:t>
            </a:r>
            <a:r>
              <a:rPr lang="en-US" altLang="zh-TW" b="0" u="none" dirty="0">
                <a:latin typeface="Times New Roman" panose="02020603050405020304" pitchFamily="18" charset="0"/>
                <a:cs typeface="Times New Roman" panose="02020603050405020304" pitchFamily="18" charset="0"/>
              </a:rPr>
              <a:t>etalon</a:t>
            </a:r>
            <a:r>
              <a:rPr lang="zh-TW" altLang="en-US" b="0" u="none" dirty="0">
                <a:latin typeface="Times New Roman" panose="02020603050405020304" pitchFamily="18" charset="0"/>
                <a:cs typeface="Times New Roman" panose="02020603050405020304" pitchFamily="18" charset="0"/>
              </a:rPr>
              <a:t>來選擇波長，還有置入一光柵利用改變入射光柵角度來選擇波長，或者使用</a:t>
            </a:r>
            <a:r>
              <a:rPr lang="en-US" altLang="zh-TW" b="0" u="none" dirty="0">
                <a:latin typeface="Times New Roman" panose="02020603050405020304" pitchFamily="18" charset="0"/>
                <a:cs typeface="Times New Roman" panose="02020603050405020304" pitchFamily="18" charset="0"/>
              </a:rPr>
              <a:t>VBG</a:t>
            </a:r>
            <a:r>
              <a:rPr lang="zh-TW" altLang="en-US" b="0" u="none" dirty="0">
                <a:latin typeface="Times New Roman" panose="02020603050405020304" pitchFamily="18" charset="0"/>
                <a:cs typeface="Times New Roman" panose="02020603050405020304" pitchFamily="18" charset="0"/>
              </a:rPr>
              <a:t>作為輸出耦合鏡，同樣是利用改變入射光柵角度來選擇波長。以上方法雖然能進行大範圍的波長調變，但是在調制速度與穩定度上都不是很好。</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4</a:t>
            </a:fld>
            <a:endParaRPr lang="zh-TW" altLang="en-US"/>
          </a:p>
        </p:txBody>
      </p:sp>
    </p:spTree>
    <p:extLst>
      <p:ext uri="{BB962C8B-B14F-4D97-AF65-F5344CB8AC3E}">
        <p14:creationId xmlns:p14="http://schemas.microsoft.com/office/powerpoint/2010/main" val="1867498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u="none"/>
              <a:t>電光調控則是透過電光效應改變晶體折射率，來調製訊號光波長，首例為</a:t>
            </a:r>
            <a:r>
              <a:rPr lang="en-US" altLang="zh-TW" u="none"/>
              <a:t>1999</a:t>
            </a:r>
            <a:r>
              <a:rPr lang="zh-TW" altLang="en-US" u="none"/>
              <a:t>年</a:t>
            </a:r>
            <a:r>
              <a:rPr lang="en-US" altLang="zh-TW" u="none"/>
              <a:t>PPLN</a:t>
            </a:r>
            <a:r>
              <a:rPr lang="zh-TW" altLang="en-US" u="none"/>
              <a:t> </a:t>
            </a:r>
            <a:r>
              <a:rPr lang="en-US" altLang="zh-TW" u="none"/>
              <a:t>OPO</a:t>
            </a:r>
            <a:r>
              <a:rPr lang="zh-TW" altLang="en-US" u="none"/>
              <a:t>的波長調制，使用週期性的電極來針對其中</a:t>
            </a:r>
            <a:r>
              <a:rPr lang="zh-TW" altLang="zh-TW" sz="1200" kern="1200">
                <a:solidFill>
                  <a:schemeClr val="tx1"/>
                </a:solidFill>
                <a:effectLst/>
                <a:latin typeface="+mn-lt"/>
                <a:ea typeface="+mn-ea"/>
                <a:cs typeface="+mn-cs"/>
              </a:rPr>
              <a:t>一種極化方向的晶籌施加</a:t>
            </a:r>
            <a:r>
              <a:rPr lang="en-US" altLang="zh-TW" sz="1200" kern="1200">
                <a:solidFill>
                  <a:schemeClr val="tx1"/>
                </a:solidFill>
                <a:effectLst/>
                <a:latin typeface="+mn-lt"/>
                <a:ea typeface="+mn-ea"/>
                <a:cs typeface="+mn-cs"/>
              </a:rPr>
              <a:t>z</a:t>
            </a:r>
            <a:r>
              <a:rPr lang="zh-TW" altLang="zh-TW" sz="1200" kern="1200">
                <a:solidFill>
                  <a:schemeClr val="tx1"/>
                </a:solidFill>
                <a:effectLst/>
                <a:latin typeface="+mn-lt"/>
                <a:ea typeface="+mn-ea"/>
                <a:cs typeface="+mn-cs"/>
              </a:rPr>
              <a:t>方向電場</a:t>
            </a:r>
            <a:r>
              <a:rPr lang="zh-TW" altLang="en-US" sz="1200" kern="1200">
                <a:solidFill>
                  <a:schemeClr val="tx1"/>
                </a:solidFill>
                <a:effectLst/>
                <a:latin typeface="+mn-lt"/>
                <a:ea typeface="+mn-ea"/>
                <a:cs typeface="+mn-cs"/>
              </a:rPr>
              <a:t>來改變折射率，但這種方式</a:t>
            </a:r>
            <a:r>
              <a:rPr lang="zh-TW" altLang="zh-TW" sz="1200" kern="1200">
                <a:solidFill>
                  <a:schemeClr val="tx1"/>
                </a:solidFill>
                <a:effectLst/>
                <a:latin typeface="+mn-lt"/>
                <a:ea typeface="+mn-ea"/>
                <a:cs typeface="+mn-cs"/>
              </a:rPr>
              <a:t>的電極寬度只有微米大小，電場作用深度也只</a:t>
            </a:r>
            <a:r>
              <a:rPr lang="zh-TW" altLang="en-US" sz="1200" kern="1200">
                <a:solidFill>
                  <a:schemeClr val="tx1"/>
                </a:solidFill>
                <a:effectLst/>
                <a:latin typeface="+mn-lt"/>
                <a:ea typeface="+mn-ea"/>
                <a:cs typeface="+mn-cs"/>
              </a:rPr>
              <a:t>有</a:t>
            </a:r>
            <a:r>
              <a:rPr lang="zh-TW" altLang="zh-TW" sz="1200" kern="1200">
                <a:solidFill>
                  <a:schemeClr val="tx1"/>
                </a:solidFill>
                <a:effectLst/>
                <a:latin typeface="+mn-lt"/>
                <a:ea typeface="+mn-ea"/>
                <a:cs typeface="+mn-cs"/>
              </a:rPr>
              <a:t>微米等級，會讓晶體的電場分布不均於</a:t>
            </a:r>
            <a:r>
              <a:rPr lang="zh-TW" altLang="en-US" sz="1200" kern="1200">
                <a:solidFill>
                  <a:schemeClr val="tx1"/>
                </a:solidFill>
                <a:effectLst/>
                <a:latin typeface="+mn-lt"/>
                <a:ea typeface="+mn-ea"/>
                <a:cs typeface="+mn-cs"/>
              </a:rPr>
              <a:t>；同年出現</a:t>
            </a:r>
            <a:r>
              <a:rPr lang="zh-TW" altLang="zh-TW" sz="1200" kern="1200">
                <a:solidFill>
                  <a:schemeClr val="tx1"/>
                </a:solidFill>
                <a:effectLst/>
                <a:latin typeface="+mn-lt"/>
                <a:ea typeface="+mn-ea"/>
                <a:cs typeface="+mn-cs"/>
              </a:rPr>
              <a:t>非對稱正負晶籌長度比</a:t>
            </a:r>
            <a:r>
              <a:rPr lang="zh-TW" altLang="en-US" sz="1200" kern="1200">
                <a:solidFill>
                  <a:schemeClr val="tx1"/>
                </a:solidFill>
                <a:effectLst/>
                <a:latin typeface="+mn-lt"/>
                <a:ea typeface="+mn-ea"/>
                <a:cs typeface="+mn-cs"/>
              </a:rPr>
              <a:t>的設計，</a:t>
            </a:r>
            <a:r>
              <a:rPr lang="zh-TW" altLang="zh-TW" sz="1200" kern="1200">
                <a:solidFill>
                  <a:schemeClr val="tx1"/>
                </a:solidFill>
                <a:effectLst/>
                <a:latin typeface="+mn-lt"/>
                <a:ea typeface="+mn-ea"/>
                <a:cs typeface="+mn-cs"/>
              </a:rPr>
              <a:t>當施加</a:t>
            </a:r>
            <a:r>
              <a:rPr lang="en-US" altLang="zh-TW" sz="1200" kern="1200">
                <a:solidFill>
                  <a:schemeClr val="tx1"/>
                </a:solidFill>
                <a:effectLst/>
                <a:latin typeface="+mn-lt"/>
                <a:ea typeface="+mn-ea"/>
                <a:cs typeface="+mn-cs"/>
              </a:rPr>
              <a:t>z</a:t>
            </a:r>
            <a:r>
              <a:rPr lang="zh-TW" altLang="zh-TW" sz="1200" kern="1200">
                <a:solidFill>
                  <a:schemeClr val="tx1"/>
                </a:solidFill>
                <a:effectLst/>
                <a:latin typeface="+mn-lt"/>
                <a:ea typeface="+mn-ea"/>
                <a:cs typeface="+mn-cs"/>
              </a:rPr>
              <a:t>場時，會因正負晶籌的電光效應產生的折射率變化，使相位匹配條件</a:t>
            </a:r>
            <a:r>
              <a:rPr lang="zh-TW" altLang="en-US" sz="1200" kern="1200">
                <a:solidFill>
                  <a:schemeClr val="tx1"/>
                </a:solidFill>
                <a:effectLst/>
                <a:latin typeface="+mn-lt"/>
                <a:ea typeface="+mn-ea"/>
                <a:cs typeface="+mn-cs"/>
              </a:rPr>
              <a:t>改變</a:t>
            </a:r>
            <a:r>
              <a:rPr lang="zh-TW" altLang="zh-TW" sz="1200" kern="1200">
                <a:solidFill>
                  <a:schemeClr val="tx1"/>
                </a:solidFill>
                <a:effectLst/>
                <a:latin typeface="+mn-lt"/>
                <a:ea typeface="+mn-ea"/>
                <a:cs typeface="+mn-cs"/>
              </a:rPr>
              <a:t>，讓</a:t>
            </a:r>
            <a:r>
              <a:rPr lang="zh-TW" altLang="en-US" sz="1200" kern="1200">
                <a:solidFill>
                  <a:schemeClr val="tx1"/>
                </a:solidFill>
                <a:effectLst/>
                <a:latin typeface="+mn-lt"/>
                <a:ea typeface="+mn-ea"/>
                <a:cs typeface="+mn-cs"/>
              </a:rPr>
              <a:t>訊號光得以調制</a:t>
            </a:r>
            <a:r>
              <a:rPr lang="zh-TW" altLang="zh-TW" sz="1200" kern="1200">
                <a:solidFill>
                  <a:schemeClr val="tx1"/>
                </a:solidFill>
                <a:effectLst/>
                <a:latin typeface="+mn-lt"/>
                <a:ea typeface="+mn-ea"/>
                <a:cs typeface="+mn-cs"/>
              </a:rPr>
              <a:t>，且此種設計之電極寬度約為公分等級，不會有</a:t>
            </a:r>
            <a:r>
              <a:rPr lang="en-US" altLang="zh-TW" sz="1200" kern="1200">
                <a:solidFill>
                  <a:schemeClr val="tx1"/>
                </a:solidFill>
                <a:effectLst/>
                <a:latin typeface="+mn-lt"/>
                <a:ea typeface="+mn-ea"/>
                <a:cs typeface="+mn-cs"/>
              </a:rPr>
              <a:t>z</a:t>
            </a:r>
            <a:r>
              <a:rPr lang="zh-TW" altLang="zh-TW" sz="1200" kern="1200">
                <a:solidFill>
                  <a:schemeClr val="tx1"/>
                </a:solidFill>
                <a:effectLst/>
                <a:latin typeface="+mn-lt"/>
                <a:ea typeface="+mn-ea"/>
                <a:cs typeface="+mn-cs"/>
              </a:rPr>
              <a:t>場分布不均勻的問題</a:t>
            </a:r>
            <a:r>
              <a:rPr lang="zh-TW" altLang="en-US" sz="1200" u="none" kern="1200">
                <a:solidFill>
                  <a:schemeClr val="tx1"/>
                </a:solidFill>
                <a:effectLst/>
                <a:latin typeface="+mn-lt"/>
                <a:ea typeface="+mn-ea"/>
                <a:cs typeface="+mn-cs"/>
              </a:rPr>
              <a:t>。</a:t>
            </a:r>
            <a:r>
              <a:rPr lang="zh-TW" altLang="en-US" u="none"/>
              <a:t>有鑑於現今快、精確與穩定的頻譜調變技術已經廣泛用於許多應用中，我們選擇以電光調控方式來設計本晶片。</a:t>
            </a:r>
            <a:endParaRPr lang="zh-TW" altLang="en-US"/>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5</a:t>
            </a:fld>
            <a:endParaRPr lang="zh-TW" altLang="en-US"/>
          </a:p>
        </p:txBody>
      </p:sp>
    </p:spTree>
    <p:extLst>
      <p:ext uri="{BB962C8B-B14F-4D97-AF65-F5344CB8AC3E}">
        <p14:creationId xmlns:p14="http://schemas.microsoft.com/office/powerpoint/2010/main" val="2102724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本實驗室學長呂學聰碩士使用兩種方式來設計非對稱正負晶籌長度比結構，第一種為利用標準的模擬退火法優化多波長光參量振盪器結構，並在極化反轉製程以</a:t>
            </a:r>
            <a:r>
              <a:rPr lang="en-US" altLang="zh-TW" b="1" u="heavy" dirty="0">
                <a:latin typeface="Times New Roman" panose="02020603050405020304" pitchFamily="18" charset="0"/>
                <a:cs typeface="Times New Roman" panose="02020603050405020304" pitchFamily="18" charset="0"/>
              </a:rPr>
              <a:t>over-poling</a:t>
            </a:r>
            <a:r>
              <a:rPr lang="zh-TW" altLang="en-US" b="0" u="none" dirty="0">
                <a:latin typeface="+mn-lt"/>
                <a:cs typeface="+mn-cs"/>
              </a:rPr>
              <a:t>的方式產生</a:t>
            </a:r>
            <a:r>
              <a:rPr lang="zh-TW" altLang="en-US" dirty="0"/>
              <a:t>非對稱正負晶籌長度比結構，第二種為在模擬退火法的目標函數中，增加一項正負晶籌個數差的目標，使優化後的結構有正負晶籌個數差距。根據以前的研究，第二種方法有較好的轉換效率以及較穩定的製程，但是在光譜保真度上較差，兩訊號光的相對強度會隨著電壓的施加而改變。</a:t>
            </a:r>
            <a:endParaRPr lang="en-US" altLang="zh-TW" b="1" u="heavy"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6</a:t>
            </a:fld>
            <a:endParaRPr lang="zh-TW" altLang="en-US"/>
          </a:p>
        </p:txBody>
      </p:sp>
    </p:spTree>
    <p:extLst>
      <p:ext uri="{BB962C8B-B14F-4D97-AF65-F5344CB8AC3E}">
        <p14:creationId xmlns:p14="http://schemas.microsoft.com/office/powerpoint/2010/main" val="3822462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備忘稿版面配置區 1"/>
          <p:cNvSpPr>
            <a:spLocks noGrp="1"/>
          </p:cNvSpPr>
          <p:nvPr>
            <p:ph type="body" idx="1"/>
          </p:nvPr>
        </p:nvSpPr>
        <p:spPr/>
        <p:txBody>
          <a:bodyPr/>
          <a:lstStyle/>
          <a:p>
            <a:r>
              <a:rPr lang="zh-TW" altLang="en-US" dirty="0"/>
              <a:t>故我們採用基因演算法優化</a:t>
            </a:r>
            <a:r>
              <a:rPr lang="en-US" altLang="zh-TW" dirty="0"/>
              <a:t>NOS</a:t>
            </a:r>
            <a:r>
              <a:rPr lang="zh-TW" altLang="en-US" dirty="0"/>
              <a:t>結構來取代以模擬退火法優化之</a:t>
            </a:r>
            <a:r>
              <a:rPr lang="en-US" altLang="zh-TW" dirty="0"/>
              <a:t>AOS</a:t>
            </a:r>
            <a:r>
              <a:rPr lang="zh-TW" altLang="en-US" dirty="0"/>
              <a:t>結構，因為</a:t>
            </a:r>
            <a:r>
              <a:rPr lang="en-US" altLang="zh-TW" dirty="0"/>
              <a:t>NOS</a:t>
            </a:r>
            <a:r>
              <a:rPr lang="zh-TW" altLang="en-US" dirty="0"/>
              <a:t>結構沒有同長度區塊的限制自由度較高，產生的結構在轉換效率以及製程容忍度都有較好的表現，且光譜保真度也較好</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與以往</a:t>
            </a:r>
            <a:r>
              <a:rPr lang="zh-TW" altLang="zh-TW" sz="1200" kern="1200" dirty="0">
                <a:solidFill>
                  <a:schemeClr val="tx1"/>
                </a:solidFill>
                <a:effectLst/>
                <a:latin typeface="+mn-lt"/>
                <a:ea typeface="+mn-ea"/>
                <a:cs typeface="+mn-cs"/>
              </a:rPr>
              <a:t>架構相異的是，</a:t>
            </a:r>
            <a:r>
              <a:rPr lang="zh-TW" altLang="en-US" sz="1200" kern="1200" dirty="0">
                <a:solidFill>
                  <a:schemeClr val="tx1"/>
                </a:solidFill>
                <a:effectLst/>
                <a:latin typeface="+mn-lt"/>
                <a:ea typeface="+mn-ea"/>
                <a:cs typeface="+mn-cs"/>
              </a:rPr>
              <a:t>以前是</a:t>
            </a:r>
            <a:r>
              <a:rPr lang="zh-TW" altLang="zh-TW" sz="1200" kern="1200" dirty="0">
                <a:solidFill>
                  <a:schemeClr val="tx1"/>
                </a:solidFill>
                <a:effectLst/>
                <a:latin typeface="+mn-lt"/>
                <a:ea typeface="+mn-ea"/>
                <a:cs typeface="+mn-cs"/>
              </a:rPr>
              <a:t>以外腔式</a:t>
            </a:r>
            <a:r>
              <a:rPr lang="en-US" altLang="zh-TW" sz="1200" kern="1200" dirty="0">
                <a:solidFill>
                  <a:schemeClr val="tx1"/>
                </a:solidFill>
                <a:effectLst/>
                <a:latin typeface="+mn-lt"/>
                <a:ea typeface="+mn-ea"/>
                <a:cs typeface="+mn-cs"/>
              </a:rPr>
              <a:t>1064nm</a:t>
            </a:r>
            <a:r>
              <a:rPr lang="zh-TW" altLang="zh-TW" sz="1200" kern="1200" dirty="0">
                <a:solidFill>
                  <a:schemeClr val="tx1"/>
                </a:solidFill>
                <a:effectLst/>
                <a:latin typeface="+mn-lt"/>
                <a:ea typeface="+mn-ea"/>
                <a:cs typeface="+mn-cs"/>
              </a:rPr>
              <a:t>脈衝雷射作為</a:t>
            </a:r>
            <a:r>
              <a:rPr lang="en-US" altLang="zh-TW" sz="1200" kern="1200" dirty="0">
                <a:solidFill>
                  <a:schemeClr val="tx1"/>
                </a:solidFill>
                <a:effectLst/>
                <a:latin typeface="+mn-lt"/>
                <a:ea typeface="+mn-ea"/>
                <a:cs typeface="+mn-cs"/>
              </a:rPr>
              <a:t>Pump</a:t>
            </a:r>
            <a:r>
              <a:rPr lang="zh-TW" altLang="zh-TW" sz="1200" kern="1200" dirty="0">
                <a:solidFill>
                  <a:schemeClr val="tx1"/>
                </a:solidFill>
                <a:effectLst/>
                <a:latin typeface="+mn-lt"/>
                <a:ea typeface="+mn-ea"/>
                <a:cs typeface="+mn-cs"/>
              </a:rPr>
              <a:t>光源，而本實驗</a:t>
            </a:r>
            <a:r>
              <a:rPr lang="zh-TW" altLang="en-US" sz="1200" kern="1200" dirty="0">
                <a:solidFill>
                  <a:schemeClr val="tx1"/>
                </a:solidFill>
                <a:effectLst/>
                <a:latin typeface="+mn-lt"/>
                <a:ea typeface="+mn-ea"/>
                <a:cs typeface="+mn-cs"/>
              </a:rPr>
              <a:t>則是</a:t>
            </a:r>
            <a:r>
              <a:rPr lang="zh-TW" altLang="zh-TW" sz="1200" kern="1200" dirty="0">
                <a:solidFill>
                  <a:schemeClr val="tx1"/>
                </a:solidFill>
                <a:effectLst/>
                <a:latin typeface="+mn-lt"/>
                <a:ea typeface="+mn-ea"/>
                <a:cs typeface="+mn-cs"/>
              </a:rPr>
              <a:t>在共振腔中置入布拉格元件作為</a:t>
            </a:r>
            <a:r>
              <a:rPr lang="en-US" altLang="zh-TW" sz="1200" kern="1200" dirty="0">
                <a:solidFill>
                  <a:schemeClr val="tx1"/>
                </a:solidFill>
                <a:effectLst/>
                <a:latin typeface="+mn-lt"/>
                <a:ea typeface="+mn-ea"/>
                <a:cs typeface="+mn-cs"/>
              </a:rPr>
              <a:t>Q</a:t>
            </a:r>
            <a:r>
              <a:rPr lang="zh-TW" altLang="zh-TW" sz="1200" kern="1200" dirty="0">
                <a:solidFill>
                  <a:schemeClr val="tx1"/>
                </a:solidFill>
                <a:effectLst/>
                <a:latin typeface="+mn-lt"/>
                <a:ea typeface="+mn-ea"/>
                <a:cs typeface="+mn-cs"/>
              </a:rPr>
              <a:t>調制</a:t>
            </a:r>
            <a:r>
              <a:rPr lang="zh-TW" altLang="en-US" sz="1200" kern="1200" dirty="0">
                <a:solidFill>
                  <a:schemeClr val="tx1"/>
                </a:solidFill>
                <a:effectLst/>
                <a:latin typeface="+mn-lt"/>
                <a:ea typeface="+mn-ea"/>
                <a:cs typeface="+mn-cs"/>
              </a:rPr>
              <a:t>元件</a:t>
            </a:r>
            <a:r>
              <a:rPr lang="zh-TW" altLang="zh-TW" sz="1200" kern="1200" dirty="0">
                <a:solidFill>
                  <a:schemeClr val="tx1"/>
                </a:solidFill>
                <a:effectLst/>
                <a:latin typeface="+mn-lt"/>
                <a:ea typeface="+mn-ea"/>
                <a:cs typeface="+mn-cs"/>
              </a:rPr>
              <a:t>，藉此產生脈衝式</a:t>
            </a:r>
            <a:r>
              <a:rPr lang="en-US" altLang="zh-TW" sz="1200" kern="1200" dirty="0">
                <a:solidFill>
                  <a:schemeClr val="tx1"/>
                </a:solidFill>
                <a:effectLst/>
                <a:latin typeface="+mn-lt"/>
                <a:ea typeface="+mn-ea"/>
                <a:cs typeface="+mn-cs"/>
              </a:rPr>
              <a:t>1064nm</a:t>
            </a:r>
            <a:r>
              <a:rPr lang="zh-TW" altLang="zh-TW" sz="1200" kern="1200" dirty="0">
                <a:solidFill>
                  <a:schemeClr val="tx1"/>
                </a:solidFill>
                <a:effectLst/>
                <a:latin typeface="+mn-lt"/>
                <a:ea typeface="+mn-ea"/>
                <a:cs typeface="+mn-cs"/>
              </a:rPr>
              <a:t>雷射光作為</a:t>
            </a:r>
            <a:r>
              <a:rPr lang="en-US" altLang="zh-TW" sz="1200" kern="1200" dirty="0">
                <a:solidFill>
                  <a:schemeClr val="tx1"/>
                </a:solidFill>
                <a:effectLst/>
                <a:latin typeface="+mn-lt"/>
                <a:ea typeface="+mn-ea"/>
                <a:cs typeface="+mn-cs"/>
              </a:rPr>
              <a:t>OPG</a:t>
            </a:r>
            <a:r>
              <a:rPr lang="zh-TW" altLang="zh-TW" sz="1200" kern="1200" dirty="0">
                <a:solidFill>
                  <a:schemeClr val="tx1"/>
                </a:solidFill>
                <a:effectLst/>
                <a:latin typeface="+mn-lt"/>
                <a:ea typeface="+mn-ea"/>
                <a:cs typeface="+mn-cs"/>
              </a:rPr>
              <a:t>之</a:t>
            </a:r>
            <a:r>
              <a:rPr lang="en-US" altLang="zh-TW" sz="1200" kern="1200" dirty="0">
                <a:solidFill>
                  <a:schemeClr val="tx1"/>
                </a:solidFill>
                <a:effectLst/>
                <a:latin typeface="+mn-lt"/>
                <a:ea typeface="+mn-ea"/>
                <a:cs typeface="+mn-cs"/>
              </a:rPr>
              <a:t>Pump</a:t>
            </a:r>
            <a:r>
              <a:rPr lang="zh-TW" altLang="zh-TW" sz="1200" kern="1200" dirty="0">
                <a:solidFill>
                  <a:schemeClr val="tx1"/>
                </a:solidFill>
                <a:effectLst/>
                <a:latin typeface="+mn-lt"/>
                <a:ea typeface="+mn-ea"/>
                <a:cs typeface="+mn-cs"/>
              </a:rPr>
              <a:t>光源，</a:t>
            </a:r>
            <a:r>
              <a:rPr lang="zh-TW" altLang="en-US" sz="1200" kern="1200" dirty="0">
                <a:solidFill>
                  <a:schemeClr val="tx1"/>
                </a:solidFill>
                <a:effectLst/>
                <a:latin typeface="+mn-lt"/>
                <a:ea typeface="+mn-ea"/>
                <a:cs typeface="+mn-cs"/>
              </a:rPr>
              <a:t>可藉此</a:t>
            </a:r>
            <a:r>
              <a:rPr lang="zh-TW" altLang="zh-TW" sz="1200" kern="1200" dirty="0">
                <a:solidFill>
                  <a:schemeClr val="tx1"/>
                </a:solidFill>
                <a:effectLst/>
                <a:latin typeface="+mn-lt"/>
                <a:ea typeface="+mn-ea"/>
                <a:cs typeface="+mn-cs"/>
              </a:rPr>
              <a:t>降低</a:t>
            </a:r>
            <a:r>
              <a:rPr lang="en-US" altLang="zh-TW" sz="1200" kern="1200" dirty="0">
                <a:solidFill>
                  <a:schemeClr val="tx1"/>
                </a:solidFill>
                <a:effectLst/>
                <a:latin typeface="+mn-lt"/>
                <a:ea typeface="+mn-ea"/>
                <a:cs typeface="+mn-cs"/>
              </a:rPr>
              <a:t>Pump Threshold</a:t>
            </a:r>
            <a:r>
              <a:rPr lang="zh-TW" altLang="en-US" sz="1200" kern="1200" dirty="0">
                <a:solidFill>
                  <a:schemeClr val="tx1"/>
                </a:solidFill>
                <a:effectLst/>
                <a:latin typeface="+mn-lt"/>
                <a:ea typeface="+mn-ea"/>
                <a:cs typeface="+mn-cs"/>
              </a:rPr>
              <a:t>、且</a:t>
            </a:r>
            <a:r>
              <a:rPr lang="en-US" altLang="zh-TW" sz="1200" kern="1200" dirty="0">
                <a:solidFill>
                  <a:schemeClr val="tx1"/>
                </a:solidFill>
                <a:effectLst/>
                <a:latin typeface="+mn-lt"/>
                <a:ea typeface="+mn-ea"/>
                <a:cs typeface="+mn-cs"/>
              </a:rPr>
              <a:t>Pump</a:t>
            </a:r>
            <a:r>
              <a:rPr lang="zh-TW" altLang="zh-TW" sz="1200" kern="1200" dirty="0">
                <a:solidFill>
                  <a:schemeClr val="tx1"/>
                </a:solidFill>
                <a:effectLst/>
                <a:latin typeface="+mn-lt"/>
                <a:ea typeface="+mn-ea"/>
                <a:cs typeface="+mn-cs"/>
              </a:rPr>
              <a:t>光源</a:t>
            </a:r>
            <a:r>
              <a:rPr lang="zh-TW" altLang="en-US" sz="1200" kern="1200" dirty="0">
                <a:solidFill>
                  <a:schemeClr val="tx1"/>
                </a:solidFill>
                <a:effectLst/>
                <a:latin typeface="+mn-lt"/>
                <a:ea typeface="+mn-ea"/>
                <a:cs typeface="+mn-cs"/>
              </a:rPr>
              <a:t>在共振腔內來回共振使脈寬減少</a:t>
            </a:r>
            <a:r>
              <a:rPr lang="zh-TW" altLang="zh-TW" sz="1200" kern="1200" dirty="0">
                <a:solidFill>
                  <a:schemeClr val="tx1"/>
                </a:solidFill>
                <a:effectLst/>
                <a:latin typeface="+mn-lt"/>
                <a:ea typeface="+mn-ea"/>
                <a:cs typeface="+mn-cs"/>
              </a:rPr>
              <a:t>，預期可進一步窄化</a:t>
            </a:r>
            <a:r>
              <a:rPr lang="en-US" altLang="zh-TW" sz="1200" kern="1200" dirty="0">
                <a:solidFill>
                  <a:schemeClr val="tx1"/>
                </a:solidFill>
                <a:effectLst/>
                <a:latin typeface="+mn-lt"/>
                <a:ea typeface="+mn-ea"/>
                <a:cs typeface="+mn-cs"/>
              </a:rPr>
              <a:t>OPO</a:t>
            </a:r>
            <a:r>
              <a:rPr lang="zh-TW" altLang="zh-TW" sz="1200" kern="1200" dirty="0">
                <a:solidFill>
                  <a:schemeClr val="tx1"/>
                </a:solidFill>
                <a:effectLst/>
                <a:latin typeface="+mn-lt"/>
                <a:ea typeface="+mn-ea"/>
                <a:cs typeface="+mn-cs"/>
              </a:rPr>
              <a:t>訊號光頻寬。</a:t>
            </a:r>
            <a:endParaRPr lang="zh-TW" altLang="en-US" dirty="0"/>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8</a:t>
            </a:fld>
            <a:endParaRPr lang="zh-TW" altLang="en-US"/>
          </a:p>
        </p:txBody>
      </p:sp>
    </p:spTree>
    <p:extLst>
      <p:ext uri="{BB962C8B-B14F-4D97-AF65-F5344CB8AC3E}">
        <p14:creationId xmlns:p14="http://schemas.microsoft.com/office/powerpoint/2010/main" val="3020010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整理以上差別，我們將使用基因演算法來優化非對稱正負晶籌長度比之多波長光參量振盪器</a:t>
            </a:r>
            <a:r>
              <a:rPr lang="en-US" altLang="zh-TW" dirty="0"/>
              <a:t>NOS</a:t>
            </a:r>
            <a:r>
              <a:rPr lang="zh-TW" altLang="en-US" dirty="0"/>
              <a:t>結構，並改以</a:t>
            </a:r>
            <a:r>
              <a:rPr lang="en-US" altLang="zh-TW" dirty="0" err="1"/>
              <a:t>Intracavity</a:t>
            </a:r>
            <a:r>
              <a:rPr lang="zh-TW" altLang="en-US" dirty="0"/>
              <a:t>系統共振訊號光窄化輸出光頻寬。</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9</a:t>
            </a:fld>
            <a:endParaRPr lang="zh-TW" altLang="en-US"/>
          </a:p>
        </p:txBody>
      </p:sp>
    </p:spTree>
    <p:extLst>
      <p:ext uri="{BB962C8B-B14F-4D97-AF65-F5344CB8AC3E}">
        <p14:creationId xmlns:p14="http://schemas.microsoft.com/office/powerpoint/2010/main" val="4058500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光參量振盪器為非線性轉換的一種，為下轉換的機制，指將一個高能量的</a:t>
            </a:r>
            <a:r>
              <a:rPr lang="en-US" altLang="zh-TW" dirty="0"/>
              <a:t>pump</a:t>
            </a:r>
            <a:r>
              <a:rPr lang="zh-TW" altLang="en-US" dirty="0"/>
              <a:t>能量分解為任意低能量</a:t>
            </a:r>
            <a:r>
              <a:rPr lang="en-US" altLang="zh-TW" dirty="0"/>
              <a:t>signal</a:t>
            </a:r>
            <a:r>
              <a:rPr lang="zh-TW" altLang="en-US" dirty="0"/>
              <a:t>的與更低能量的</a:t>
            </a:r>
            <a:r>
              <a:rPr lang="en-US" altLang="zh-TW" dirty="0"/>
              <a:t>idler</a:t>
            </a:r>
            <a:r>
              <a:rPr lang="zh-TW" altLang="en-US" dirty="0"/>
              <a:t>，光參量產生器可以藉由溫度等方式改變折射率，來影響訊號光波長。若要進行高效率的能量轉換，需要滿足兩個條件：第一為能量守恆，在自然狀態下能夠由環境自行補足；第二為動量守恆，我們使用準相位匹配的共線動量守恆，設計完</a:t>
            </a:r>
            <a:r>
              <a:rPr lang="en-US" altLang="zh-TW" dirty="0"/>
              <a:t>pump</a:t>
            </a:r>
            <a:r>
              <a:rPr lang="zh-TW" altLang="en-US" dirty="0"/>
              <a:t>與</a:t>
            </a:r>
            <a:r>
              <a:rPr lang="en-US" altLang="zh-TW" dirty="0"/>
              <a:t>signal</a:t>
            </a:r>
            <a:r>
              <a:rPr lang="zh-TW" altLang="en-US" dirty="0"/>
              <a:t>的波長後，藉由鈮酸鋰的</a:t>
            </a:r>
            <a:r>
              <a:rPr lang="en-US" altLang="zh-TW" dirty="0" err="1"/>
              <a:t>sellmeier</a:t>
            </a:r>
            <a:r>
              <a:rPr lang="en-US" altLang="zh-TW" dirty="0"/>
              <a:t> equation</a:t>
            </a:r>
            <a:r>
              <a:rPr lang="zh-TW" altLang="en-US" dirty="0"/>
              <a:t>計算動量守恆的條件，得到需要補償的相位，再得到滿足相位匹配條件的週期。</a:t>
            </a:r>
            <a:endParaRPr lang="en-US" altLang="zh-TW" dirty="0"/>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11</a:t>
            </a:fld>
            <a:endParaRPr lang="zh-TW" altLang="en-US"/>
          </a:p>
        </p:txBody>
      </p:sp>
    </p:spTree>
    <p:extLst>
      <p:ext uri="{BB962C8B-B14F-4D97-AF65-F5344CB8AC3E}">
        <p14:creationId xmlns:p14="http://schemas.microsoft.com/office/powerpoint/2010/main" val="2009523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電光效應指施加外加電場於介電物質上，折射率變化的情形。本論文使用鈮酸鋰晶體，其電光係數張量為此矩陣。為了求得施加電場後折射率的改變量，我們將一此電光係數張量乘上</a:t>
            </a:r>
            <a:r>
              <a:rPr lang="en-US" altLang="zh-TW"/>
              <a:t>z</a:t>
            </a:r>
            <a:r>
              <a:rPr lang="zh-TW" altLang="en-US"/>
              <a:t>方向電場，經由計算後再加上鈮酸鋰原本的反介電張量，得到鈮酸鋰折射率對電場的響應式，並且寫為折射率橢球的形式。</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12</a:t>
            </a:fld>
            <a:endParaRPr lang="zh-TW" altLang="en-US"/>
          </a:p>
        </p:txBody>
      </p:sp>
    </p:spTree>
    <p:extLst>
      <p:ext uri="{BB962C8B-B14F-4D97-AF65-F5344CB8AC3E}">
        <p14:creationId xmlns:p14="http://schemas.microsoft.com/office/powerpoint/2010/main" val="2929022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折射率橢球與</a:t>
            </a:r>
            <a:r>
              <a:rPr lang="en-US" altLang="zh-TW"/>
              <a:t>z</a:t>
            </a:r>
            <a:r>
              <a:rPr lang="zh-TW" altLang="en-US"/>
              <a:t>場的關係如下，當施加與極性方向相反的</a:t>
            </a:r>
            <a:r>
              <a:rPr lang="en-US" altLang="zh-TW"/>
              <a:t>z</a:t>
            </a:r>
            <a:r>
              <a:rPr lang="zh-TW" altLang="en-US"/>
              <a:t>場時，其折射率橢球會縮小，即折射率降低，關係式如此；反之，當施加與極性方向相同的</a:t>
            </a:r>
            <a:r>
              <a:rPr lang="en-US" altLang="zh-TW"/>
              <a:t>z</a:t>
            </a:r>
            <a:r>
              <a:rPr lang="zh-TW" altLang="en-US"/>
              <a:t>場時，其折射率橢球會變大，折射率變大。</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13</a:t>
            </a:fld>
            <a:endParaRPr lang="zh-TW" altLang="en-US"/>
          </a:p>
        </p:txBody>
      </p:sp>
    </p:spTree>
    <p:extLst>
      <p:ext uri="{BB962C8B-B14F-4D97-AF65-F5344CB8AC3E}">
        <p14:creationId xmlns:p14="http://schemas.microsoft.com/office/powerpoint/2010/main" val="3914799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a:t>接著介紹電光調制光參量振盪器的調變原理，第一式為準相位匹配在不施加電場的情況，其中</a:t>
                </a:r>
                <a14:m>
                  <m:oMath xmlns:m="http://schemas.openxmlformats.org/officeDocument/2006/math">
                    <m:sSup>
                      <m:sSupPr>
                        <m:ctrlPr>
                          <a:rPr lang="zh-TW" altLang="en-US" i="1" smtClean="0">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r>
                      <a:rPr lang="zh-TW" altLang="en-US" i="1">
                        <a:latin typeface="Cambria Math" panose="02040503050406030204" pitchFamily="18" charset="0"/>
                      </a:rPr>
                      <m:t>、</m:t>
                    </m:r>
                    <m:sSup>
                      <m:sSupPr>
                        <m:ctrlPr>
                          <a:rPr lang="zh-TW" altLang="en-US" i="1" smtClean="0">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oMath>
                </a14:m>
                <a:r>
                  <a:rPr lang="zh-TW" altLang="en-US"/>
                  <a:t>分別為正晶籌的總長與負晶籌的總長。準相位匹配在施加電場的情況時，因為正負晶籌的折射率響應不同需要分開討論，經過整理後可以寫成此式，第一行為初始的相位匹配項，接著分別為正晶籌的響應與負晶籌的響應。由此式可得知，在正負晶籌長度比</a:t>
                </a:r>
                <a:r>
                  <a:rPr lang="en-US" altLang="zh-TW"/>
                  <a:t>50%/50%</a:t>
                </a:r>
                <a:r>
                  <a:rPr lang="zh-TW" altLang="en-US"/>
                  <a:t>，這兩項會抵消，導致無法進行調變，所以必須設計非對稱正負晶籌長度比的結構才能調製訊號光波長。</a:t>
                </a:r>
              </a:p>
            </p:txBody>
          </p:sp>
        </mc:Choice>
        <mc:Fallback xmlns="">
          <p:sp>
            <p:nvSpPr>
              <p:cNvPr id="3" name="備忘稿版面配置區 2"/>
              <p:cNvSpPr>
                <a:spLocks noGrp="1"/>
              </p:cNvSpPr>
              <p:nvPr>
                <p:ph type="body" idx="1"/>
              </p:nvPr>
            </p:nvSpPr>
            <p:spPr/>
            <p:txBody>
              <a:bodyPr/>
              <a:lstStyle/>
              <a:p>
                <a:r>
                  <a:rPr lang="zh-TW" altLang="en-US" dirty="0" smtClean="0"/>
                  <a:t>接著介紹電光調制光參量振盪器的調變原理，第一式為準相位匹配在不施加電場的情況，其中</a:t>
                </a:r>
                <a:r>
                  <a:rPr lang="zh-TW" altLang="en-US" i="0">
                    <a:latin typeface="Cambria Math" panose="02040503050406030204" pitchFamily="18" charset="0"/>
                  </a:rPr>
                  <a:t>𝑙</a:t>
                </a:r>
                <a:r>
                  <a:rPr lang="zh-TW" altLang="en-US" i="0" smtClean="0">
                    <a:latin typeface="Cambria Math" panose="02040503050406030204" pitchFamily="18" charset="0"/>
                  </a:rPr>
                  <a:t>^</a:t>
                </a:r>
                <a:r>
                  <a:rPr lang="zh-TW" altLang="en-US" i="0">
                    <a:latin typeface="Cambria Math" panose="02040503050406030204" pitchFamily="18" charset="0"/>
                  </a:rPr>
                  <a:t>+</a:t>
                </a:r>
                <a:r>
                  <a:rPr lang="zh-TW" altLang="en-US" i="0">
                    <a:latin typeface="Cambria Math" panose="02040503050406030204" pitchFamily="18" charset="0"/>
                  </a:rPr>
                  <a:t> 、</a:t>
                </a:r>
                <a:r>
                  <a:rPr lang="zh-TW" altLang="en-US" i="0">
                    <a:latin typeface="Cambria Math" panose="02040503050406030204" pitchFamily="18" charset="0"/>
                  </a:rPr>
                  <a:t>𝑙</a:t>
                </a:r>
                <a:r>
                  <a:rPr lang="zh-TW" altLang="en-US" i="0" smtClean="0">
                    <a:latin typeface="Cambria Math" panose="02040503050406030204" pitchFamily="18" charset="0"/>
                  </a:rPr>
                  <a:t>^</a:t>
                </a:r>
                <a:r>
                  <a:rPr lang="zh-TW" altLang="en-US" i="0">
                    <a:latin typeface="Cambria Math" panose="02040503050406030204" pitchFamily="18" charset="0"/>
                  </a:rPr>
                  <a:t>−</a:t>
                </a:r>
                <a:r>
                  <a:rPr lang="zh-TW" altLang="en-US" dirty="0" smtClean="0"/>
                  <a:t>分別為正晶籌的總長與</a:t>
                </a:r>
                <a:r>
                  <a:rPr lang="zh-TW" altLang="en-US" dirty="0" smtClean="0"/>
                  <a:t>負晶籌的總長。準相位匹配在施加電場的情況時，因為正負晶籌的折射率響應不同需要分開討論，經過整理後可以寫成此式，第一行為初始的相位匹配項，接著分別為正晶籌的響應與負晶籌的響應。由此式可得知，在正負晶籌長度比</a:t>
                </a:r>
                <a:r>
                  <a:rPr lang="en-US" altLang="zh-TW" dirty="0" smtClean="0"/>
                  <a:t>50%/50%</a:t>
                </a:r>
                <a:r>
                  <a:rPr lang="zh-TW" altLang="en-US" dirty="0" smtClean="0"/>
                  <a:t>，這兩項會抵消，導致無法進行調變，所以必須設計</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14</a:t>
            </a:fld>
            <a:endParaRPr lang="zh-TW" altLang="en-US"/>
          </a:p>
        </p:txBody>
      </p:sp>
    </p:spTree>
    <p:extLst>
      <p:ext uri="{BB962C8B-B14F-4D97-AF65-F5344CB8AC3E}">
        <p14:creationId xmlns:p14="http://schemas.microsoft.com/office/powerpoint/2010/main" val="3477077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模擬的部分採用基因演算法來優化</a:t>
                </a:r>
                <a:r>
                  <a:rPr lang="en-US" altLang="zh-TW" dirty="0"/>
                  <a:t>NOS</a:t>
                </a:r>
                <a:r>
                  <a:rPr lang="zh-TW" altLang="en-US" dirty="0"/>
                  <a:t>結構，其</a:t>
                </a:r>
                <a:r>
                  <a:rPr lang="zh-TW" altLang="zh-TW" sz="1200" kern="1200" dirty="0">
                    <a:solidFill>
                      <a:schemeClr val="tx1"/>
                    </a:solidFill>
                    <a:effectLst/>
                    <a:latin typeface="+mn-lt"/>
                    <a:ea typeface="+mn-ea"/>
                    <a:cs typeface="+mn-cs"/>
                  </a:rPr>
                  <a:t>仿效達爾文提出的</a:t>
                </a:r>
                <a:r>
                  <a:rPr lang="en-US" altLang="zh-TW"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物競天擇，適者生存</a:t>
                </a:r>
                <a:r>
                  <a:rPr lang="en-US" altLang="zh-TW"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的法則，透過模仿自然界生物進化機制，進行全域的隨機搜索與優化</a:t>
                </a:r>
                <a:r>
                  <a:rPr lang="zh-TW" altLang="en-US" dirty="0"/>
                  <a:t>，由流程圖來看，剛開始先設定演算法參數，包含：晶籌數量</a:t>
                </a:r>
                <a:r>
                  <a:rPr lang="en-US" altLang="zh-TW" dirty="0"/>
                  <a:t>(</a:t>
                </a:r>
                <a:r>
                  <a:rPr lang="zh-TW" altLang="en-US" dirty="0"/>
                  <a:t>取決於晶體總長度而定</a:t>
                </a:r>
                <a:r>
                  <a:rPr lang="en-US" altLang="zh-TW" dirty="0"/>
                  <a:t>)</a:t>
                </a:r>
                <a:r>
                  <a:rPr lang="zh-TW" altLang="en-US" dirty="0"/>
                  <a:t>，晶籌大小範圍，個體數量</a:t>
                </a:r>
                <a:r>
                  <a:rPr lang="en-US" altLang="zh-TW" dirty="0"/>
                  <a:t>(</a:t>
                </a:r>
                <a:r>
                  <a:rPr lang="zh-TW" altLang="en-US" dirty="0"/>
                  <a:t>數量越大越容易找到最佳解但計算時間越長</a:t>
                </a:r>
                <a:r>
                  <a:rPr lang="en-US" altLang="zh-TW" dirty="0"/>
                  <a:t>)</a:t>
                </a:r>
                <a:r>
                  <a:rPr lang="zh-TW" altLang="en-US" dirty="0"/>
                  <a:t>，世代數量，次族群數量，以及交配、突變、插入、遷移的機率。設定好參數，接著創造初始族群進行演化，代入目標函數分析，經由交配、突變後，得到子代並取代母代成為新的世代，接著進行族群遷移，即完成一次的演化。確認是否達成我們設置的終止條件，是的話就得到最佳解，不是就繼續下一世代的演化。</a:t>
                </a:r>
              </a:p>
            </p:txBody>
          </p:sp>
        </mc:Choice>
        <mc:Fallback xmlns="">
          <p:sp>
            <p:nvSpPr>
              <p:cNvPr id="3" name="備忘稿版面配置區 2"/>
              <p:cNvSpPr>
                <a:spLocks noGrp="1"/>
              </p:cNvSpPr>
              <p:nvPr>
                <p:ph type="body" idx="1"/>
              </p:nvPr>
            </p:nvSpPr>
            <p:spPr/>
            <p:txBody>
              <a:bodyPr/>
              <a:lstStyle/>
              <a:p>
                <a:r>
                  <a:rPr lang="zh-TW" altLang="en-US" dirty="0" smtClean="0"/>
                  <a:t>模擬的部分採用基因演算法來優化</a:t>
                </a:r>
                <a:r>
                  <a:rPr lang="en-US" altLang="zh-TW" dirty="0" smtClean="0"/>
                  <a:t>NOS</a:t>
                </a:r>
                <a:r>
                  <a:rPr lang="zh-TW" altLang="en-US" dirty="0" smtClean="0"/>
                  <a:t>結構，由流程圖來看，剛開始先設定演算法參數，包含：晶籌數量</a:t>
                </a:r>
                <a:r>
                  <a:rPr lang="en-US" altLang="zh-TW" dirty="0" smtClean="0"/>
                  <a:t>(</a:t>
                </a:r>
                <a:r>
                  <a:rPr lang="zh-TW" altLang="en-US" dirty="0" smtClean="0"/>
                  <a:t>取決於晶體總長度而定</a:t>
                </a:r>
                <a:r>
                  <a:rPr lang="en-US" altLang="zh-TW" dirty="0" smtClean="0"/>
                  <a:t>)</a:t>
                </a:r>
                <a:r>
                  <a:rPr lang="zh-TW" altLang="en-US" dirty="0" smtClean="0"/>
                  <a:t>，晶籌大小範圍</a:t>
                </a:r>
                <a:r>
                  <a:rPr lang="en-US" altLang="zh-TW" dirty="0" smtClean="0"/>
                  <a:t>(</a:t>
                </a:r>
                <a:r>
                  <a:rPr lang="zh-TW" altLang="en-US" dirty="0" smtClean="0"/>
                  <a:t>最小範圍為</a:t>
                </a:r>
                <a:r>
                  <a:rPr lang="en-US" altLang="zh-TW" dirty="0" smtClean="0"/>
                  <a:t>4.5</a:t>
                </a:r>
                <a:r>
                  <a:rPr lang="zh-TW" altLang="en-US" i="0" smtClean="0">
                    <a:latin typeface="Cambria Math" panose="02040503050406030204" pitchFamily="18" charset="0"/>
                  </a:rPr>
                  <a:t>𝜇</a:t>
                </a:r>
                <a:r>
                  <a:rPr lang="en-US" altLang="zh-TW" b="0" i="0" smtClean="0">
                    <a:latin typeface="Cambria Math" panose="02040503050406030204" pitchFamily="18" charset="0"/>
                  </a:rPr>
                  <a:t>𝑚</a:t>
                </a:r>
                <a:r>
                  <a:rPr lang="zh-TW" altLang="en-US" dirty="0" smtClean="0"/>
                  <a:t>受限於極化反轉製程</a:t>
                </a:r>
                <a:r>
                  <a:rPr lang="en-US" altLang="zh-TW" dirty="0" smtClean="0"/>
                  <a:t>)</a:t>
                </a:r>
                <a:r>
                  <a:rPr lang="zh-TW" altLang="en-US" dirty="0" smtClean="0"/>
                  <a:t>，個體數量</a:t>
                </a:r>
                <a:r>
                  <a:rPr lang="en-US" altLang="zh-TW" dirty="0" smtClean="0"/>
                  <a:t>(</a:t>
                </a:r>
                <a:r>
                  <a:rPr lang="zh-TW" altLang="en-US" dirty="0" smtClean="0"/>
                  <a:t>數量越大越容易找到最佳解但計算時間越長</a:t>
                </a:r>
                <a:r>
                  <a:rPr lang="en-US" altLang="zh-TW" dirty="0" smtClean="0"/>
                  <a:t>)</a:t>
                </a:r>
                <a:r>
                  <a:rPr lang="zh-TW" altLang="en-US" dirty="0" smtClean="0"/>
                  <a:t>，世代數量，次族群數量，以及交配、突變、插入、遷移的機率。設定好參數，接著創造初始族群進行演化，代入目標函數分析，經由交配</a:t>
                </a:r>
                <a:r>
                  <a:rPr lang="zh-TW" altLang="en-US" dirty="0" smtClean="0"/>
                  <a:t>、突變後，得到子代並取代母代成為新的世代，接著進行族群遷移，即完成一次的演化。確認是否達成我們設置的終止條件，是的話就得到最佳解，不是就繼續下一世代的演化。</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16</a:t>
            </a:fld>
            <a:endParaRPr lang="zh-TW" altLang="en-US"/>
          </a:p>
        </p:txBody>
      </p:sp>
    </p:spTree>
    <p:extLst>
      <p:ext uri="{BB962C8B-B14F-4D97-AF65-F5344CB8AC3E}">
        <p14:creationId xmlns:p14="http://schemas.microsoft.com/office/powerpoint/2010/main" val="226608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我們的目標函數如式：</a:t>
                </a:r>
                <a14:m>
                  <m:oMath xmlns:m="http://schemas.openxmlformats.org/officeDocument/2006/math">
                    <m:r>
                      <a:rPr lang="zh-TW" altLang="en-US" i="1" smtClean="0">
                        <a:latin typeface="Cambria Math" panose="02040503050406030204" pitchFamily="18" charset="0"/>
                      </a:rPr>
                      <m:t>𝜂</m:t>
                    </m:r>
                  </m:oMath>
                </a14:m>
                <a:r>
                  <a:rPr lang="zh-TW" altLang="en-US" dirty="0"/>
                  <a:t>表示效率目標值與實際效率，</a:t>
                </a:r>
                <a14:m>
                  <m:oMath xmlns:m="http://schemas.openxmlformats.org/officeDocument/2006/math">
                    <m:r>
                      <a:rPr lang="zh-TW" altLang="en-US" i="1" smtClean="0">
                        <a:latin typeface="Cambria Math" panose="02040503050406030204" pitchFamily="18" charset="0"/>
                      </a:rPr>
                      <m:t>𝑤</m:t>
                    </m:r>
                  </m:oMath>
                </a14:m>
                <a:r>
                  <a:rPr lang="zh-TW" altLang="en-US" dirty="0"/>
                  <a:t>與</a:t>
                </a:r>
                <a14:m>
                  <m:oMath xmlns:m="http://schemas.openxmlformats.org/officeDocument/2006/math">
                    <m:r>
                      <a:rPr lang="zh-TW" altLang="en-US" i="1" smtClean="0">
                        <a:latin typeface="Cambria Math" panose="02040503050406030204" pitchFamily="18" charset="0"/>
                      </a:rPr>
                      <m:t>𝛽</m:t>
                    </m:r>
                  </m:oMath>
                </a14:m>
                <a:r>
                  <a:rPr lang="zh-TW" altLang="en-US" dirty="0"/>
                  <a:t>為權重，</a:t>
                </a:r>
                <a14:m>
                  <m:oMath xmlns:m="http://schemas.openxmlformats.org/officeDocument/2006/math">
                    <m:r>
                      <a:rPr lang="en-US" altLang="zh-TW" i="1" smtClean="0">
                        <a:latin typeface="Cambria Math" panose="02040503050406030204" pitchFamily="18" charset="0"/>
                      </a:rPr>
                      <m:t>𝛾</m:t>
                    </m:r>
                  </m:oMath>
                </a14:m>
                <a:r>
                  <a:rPr lang="zh-TW" altLang="en-US" dirty="0"/>
                  <a:t>為正負晶籌長度差的值。效率的算法為計算傅立葉係數來分析，式子如下，拆解傅氏轉換的公式，並將各晶籌極化反轉位置帶入，最後整理出下式，</a:t>
                </a:r>
                <a14:m>
                  <m:oMath xmlns:m="http://schemas.openxmlformats.org/officeDocument/2006/math">
                    <m:r>
                      <a:rPr lang="zh-TW" altLang="en-US" smtClean="0">
                        <a:latin typeface="Cambria Math" panose="02040503050406030204" pitchFamily="18" charset="0"/>
                      </a:rPr>
                      <m:t>∆</m:t>
                    </m:r>
                    <m:r>
                      <a:rPr lang="zh-TW" altLang="en-US" i="1">
                        <a:latin typeface="Cambria Math" panose="02040503050406030204" pitchFamily="18" charset="0"/>
                      </a:rPr>
                      <m:t>𝑘</m:t>
                    </m:r>
                  </m:oMath>
                </a14:m>
                <a:r>
                  <a:rPr lang="zh-TW" altLang="en-US" dirty="0"/>
                  <a:t>為相位匹配條件，</a:t>
                </a:r>
                <a14:m>
                  <m:oMath xmlns:m="http://schemas.openxmlformats.org/officeDocument/2006/math">
                    <m:r>
                      <a:rPr lang="zh-TW" altLang="en-US" i="1" smtClean="0">
                        <a:latin typeface="Cambria Math" panose="02040503050406030204" pitchFamily="18" charset="0"/>
                      </a:rPr>
                      <m:t>𝐿</m:t>
                    </m:r>
                  </m:oMath>
                </a14:m>
                <a:r>
                  <a:rPr lang="zh-TW" altLang="en-US" dirty="0"/>
                  <a:t>為晶體總長，</a:t>
                </a:r>
                <a14:m>
                  <m:oMath xmlns:m="http://schemas.openxmlformats.org/officeDocument/2006/math">
                    <m:r>
                      <m:rPr>
                        <m:sty m:val="p"/>
                      </m:rPr>
                      <a:rPr lang="zh-TW" altLang="en-US" i="0" smtClean="0">
                        <a:latin typeface="Cambria Math" panose="02040503050406030204" pitchFamily="18" charset="0"/>
                      </a:rPr>
                      <m:t>N</m:t>
                    </m:r>
                  </m:oMath>
                </a14:m>
                <a:r>
                  <a:rPr lang="zh-TW" altLang="en-US" dirty="0"/>
                  <a:t>為晶籌個數，</a:t>
                </a:r>
                <a14:m>
                  <m:oMath xmlns:m="http://schemas.openxmlformats.org/officeDocument/2006/math">
                    <m:sSub>
                      <m:sSubPr>
                        <m:ctrlPr>
                          <a:rPr lang="zh-TW" altLang="en-US" i="1" smtClean="0">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𝑛</m:t>
                        </m:r>
                      </m:sub>
                    </m:sSub>
                  </m:oMath>
                </a14:m>
                <a:r>
                  <a:rPr lang="zh-TW" altLang="en-US" dirty="0"/>
                  <a:t>為第</a:t>
                </a:r>
                <a:r>
                  <a:rPr lang="en-US" altLang="zh-TW" dirty="0"/>
                  <a:t>n</a:t>
                </a:r>
                <a:r>
                  <a:rPr lang="zh-TW" altLang="en-US" dirty="0"/>
                  <a:t>個極化反轉點的位置。</a:t>
                </a:r>
              </a:p>
            </p:txBody>
          </p:sp>
        </mc:Choice>
        <mc:Fallback xmlns="">
          <p:sp>
            <p:nvSpPr>
              <p:cNvPr id="3" name="備忘稿版面配置區 2"/>
              <p:cNvSpPr>
                <a:spLocks noGrp="1"/>
              </p:cNvSpPr>
              <p:nvPr>
                <p:ph type="body" idx="1"/>
              </p:nvPr>
            </p:nvSpPr>
            <p:spPr/>
            <p:txBody>
              <a:bodyPr/>
              <a:lstStyle/>
              <a:p>
                <a:r>
                  <a:rPr lang="zh-TW" altLang="en-US" dirty="0" smtClean="0"/>
                  <a:t>我們的目標函數如式：</a:t>
                </a:r>
                <a:r>
                  <a:rPr lang="zh-TW" altLang="en-US" i="0" smtClean="0">
                    <a:latin typeface="Cambria Math" panose="02040503050406030204" pitchFamily="18" charset="0"/>
                  </a:rPr>
                  <a:t>𝜂</a:t>
                </a:r>
                <a:r>
                  <a:rPr lang="zh-TW" altLang="en-US" dirty="0" smtClean="0"/>
                  <a:t>表示效率目標值與實際效率，</a:t>
                </a:r>
                <a:r>
                  <a:rPr lang="zh-TW" altLang="en-US" i="0" smtClean="0">
                    <a:latin typeface="Cambria Math" panose="02040503050406030204" pitchFamily="18" charset="0"/>
                  </a:rPr>
                  <a:t>𝑤</a:t>
                </a:r>
                <a:r>
                  <a:rPr lang="zh-TW" altLang="en-US" dirty="0" smtClean="0"/>
                  <a:t>與</a:t>
                </a:r>
                <a:r>
                  <a:rPr lang="zh-TW" altLang="en-US" i="0" smtClean="0">
                    <a:latin typeface="Cambria Math" panose="02040503050406030204" pitchFamily="18" charset="0"/>
                  </a:rPr>
                  <a:t>𝛽</a:t>
                </a:r>
                <a:r>
                  <a:rPr lang="zh-TW" altLang="en-US" dirty="0" smtClean="0"/>
                  <a:t>為權重，</a:t>
                </a:r>
                <a:r>
                  <a:rPr lang="en-US" altLang="zh-TW" i="0" smtClean="0">
                    <a:latin typeface="Cambria Math" panose="02040503050406030204" pitchFamily="18" charset="0"/>
                  </a:rPr>
                  <a:t>𝛾</a:t>
                </a:r>
                <a:r>
                  <a:rPr lang="zh-TW" altLang="en-US" dirty="0" smtClean="0"/>
                  <a:t>為正負晶籌長度差的值。效率的算法為計算傅立葉係數來分析，式子如下：</a:t>
                </a:r>
                <a:r>
                  <a:rPr lang="zh-TW" altLang="en-US" i="0" smtClean="0">
                    <a:latin typeface="Cambria Math" panose="02040503050406030204" pitchFamily="18" charset="0"/>
                  </a:rPr>
                  <a:t>∆</a:t>
                </a:r>
                <a:r>
                  <a:rPr lang="zh-TW" altLang="en-US" i="0">
                    <a:latin typeface="Cambria Math" panose="02040503050406030204" pitchFamily="18" charset="0"/>
                  </a:rPr>
                  <a:t>𝑘</a:t>
                </a:r>
                <a:r>
                  <a:rPr lang="zh-TW" altLang="en-US" dirty="0" smtClean="0"/>
                  <a:t>為相位匹配條件，</a:t>
                </a:r>
                <a:r>
                  <a:rPr lang="zh-TW" altLang="en-US" i="0" smtClean="0">
                    <a:latin typeface="Cambria Math" panose="02040503050406030204" pitchFamily="18" charset="0"/>
                  </a:rPr>
                  <a:t>𝐿</a:t>
                </a:r>
                <a:r>
                  <a:rPr lang="zh-TW" altLang="en-US" dirty="0" smtClean="0"/>
                  <a:t>為晶體總長，</a:t>
                </a:r>
                <a:r>
                  <a:rPr lang="zh-TW" altLang="en-US" i="0" smtClean="0">
                    <a:latin typeface="Cambria Math" panose="02040503050406030204" pitchFamily="18" charset="0"/>
                  </a:rPr>
                  <a:t>N</a:t>
                </a:r>
                <a:r>
                  <a:rPr lang="zh-TW" altLang="en-US" dirty="0" smtClean="0"/>
                  <a:t>為晶籌個數，</a:t>
                </a:r>
                <a:r>
                  <a:rPr lang="zh-TW" altLang="en-US" i="0">
                    <a:latin typeface="Cambria Math" panose="02040503050406030204" pitchFamily="18" charset="0"/>
                  </a:rPr>
                  <a:t>𝑍</a:t>
                </a:r>
                <a:r>
                  <a:rPr lang="zh-TW" altLang="en-US" i="0" smtClean="0">
                    <a:latin typeface="Cambria Math" panose="02040503050406030204" pitchFamily="18" charset="0"/>
                  </a:rPr>
                  <a:t>_</a:t>
                </a:r>
                <a:r>
                  <a:rPr lang="zh-TW" altLang="en-US" i="0">
                    <a:latin typeface="Cambria Math" panose="02040503050406030204" pitchFamily="18" charset="0"/>
                  </a:rPr>
                  <a:t>𝑛</a:t>
                </a:r>
                <a:r>
                  <a:rPr lang="zh-TW" altLang="en-US" dirty="0" smtClean="0"/>
                  <a:t>為第</a:t>
                </a:r>
                <a:r>
                  <a:rPr lang="en-US" altLang="zh-TW" dirty="0" smtClean="0"/>
                  <a:t>n</a:t>
                </a:r>
                <a:r>
                  <a:rPr lang="zh-TW" altLang="en-US" dirty="0" smtClean="0"/>
                  <a:t>個極化反轉點的位置。</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17</a:t>
            </a:fld>
            <a:endParaRPr lang="zh-TW" altLang="en-US"/>
          </a:p>
        </p:txBody>
      </p:sp>
    </p:spTree>
    <p:extLst>
      <p:ext uri="{BB962C8B-B14F-4D97-AF65-F5344CB8AC3E}">
        <p14:creationId xmlns:p14="http://schemas.microsoft.com/office/powerpoint/2010/main" val="2867904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接著驗證基因演算法的可行性，根據此參數進行結構優化，得到的傅立葉頻譜如圖，右邊為單位晶籌長度的分布圖，橫軸為單位晶籌的長度，縱軸為數量，理想情況下週期為</a:t>
                </a:r>
                <a14:m>
                  <m:oMath xmlns:m="http://schemas.openxmlformats.org/officeDocument/2006/math">
                    <m:r>
                      <m:rPr>
                        <m:nor/>
                      </m:rPr>
                      <a:rPr lang="en-US" altLang="zh-TW" sz="1200">
                        <a:latin typeface="Times New Roman" panose="02020603050405020304" pitchFamily="18" charset="0"/>
                        <a:cs typeface="Times New Roman" panose="02020603050405020304" pitchFamily="18" charset="0"/>
                      </a:rPr>
                      <m:t>30.01</m:t>
                    </m:r>
                    <m:r>
                      <m:rPr>
                        <m:sty m:val="p"/>
                      </m:rPr>
                      <a:rPr lang="en-US" altLang="zh-TW" sz="1200">
                        <a:latin typeface="Cambria Math" panose="02040503050406030204" pitchFamily="18" charset="0"/>
                      </a:rPr>
                      <m:t>μm</m:t>
                    </m:r>
                  </m:oMath>
                </a14:m>
                <a:r>
                  <a:rPr lang="zh-TW" altLang="en-US" sz="1200" dirty="0">
                    <a:latin typeface="Times New Roman" panose="02020603050405020304" pitchFamily="18" charset="0"/>
                  </a:rPr>
                  <a:t>，</a:t>
                </a:r>
                <a:r>
                  <a:rPr lang="zh-TW" altLang="en-US" dirty="0"/>
                  <a:t>優化結構的平均晶籌長度為</a:t>
                </a:r>
                <a:r>
                  <a:rPr lang="en-US" altLang="zh-TW" dirty="0"/>
                  <a:t>1</a:t>
                </a:r>
                <a:r>
                  <a:rPr lang="en-US" altLang="zh-TW" sz="1200" dirty="0">
                    <a:latin typeface="Times New Roman" panose="02020603050405020304" pitchFamily="18" charset="0"/>
                  </a:rPr>
                  <a:t>5.0049</a:t>
                </a:r>
                <a14:m>
                  <m:oMath xmlns:m="http://schemas.openxmlformats.org/officeDocument/2006/math">
                    <m:r>
                      <m:rPr>
                        <m:sty m:val="p"/>
                      </m:rPr>
                      <a:rPr lang="en-US" altLang="zh-TW" sz="1200" smtClean="0">
                        <a:latin typeface="Cambria Math" panose="02040503050406030204" pitchFamily="18" charset="0"/>
                      </a:rPr>
                      <m:t>μ</m:t>
                    </m:r>
                    <m:r>
                      <m:rPr>
                        <m:sty m:val="p"/>
                      </m:rPr>
                      <a:rPr lang="en-US" altLang="zh-TW" sz="1200" b="0" i="0" smtClean="0">
                        <a:latin typeface="Cambria Math" panose="02040503050406030204" pitchFamily="18" charset="0"/>
                      </a:rPr>
                      <m:t>m</m:t>
                    </m:r>
                  </m:oMath>
                </a14:m>
                <a:r>
                  <a:rPr lang="zh-TW" altLang="en-US" sz="1200" dirty="0">
                    <a:latin typeface="Times New Roman" panose="02020603050405020304" pitchFamily="18" charset="0"/>
                  </a:rPr>
                  <a:t>，非常接近理想週期之一半。</a:t>
                </a:r>
                <a:endParaRPr lang="en-US" altLang="zh-TW" sz="1200" dirty="0">
                  <a:latin typeface="Times New Roman" panose="02020603050405020304" pitchFamily="18" charset="0"/>
                </a:endParaRPr>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接著驗證基因演算法的可行性，根據此參數進行結構優化，得到的傅立葉頻譜如圖，右邊為單位晶籌長度的分布圖，理想情況下週期為</a:t>
                </a:r>
                <a:r>
                  <a:rPr lang="en-US" altLang="zh-TW" sz="1200" i="0">
                    <a:latin typeface="Cambria Math" panose="02040503050406030204" pitchFamily="18" charset="0"/>
                    <a:cs typeface="Times New Roman" panose="02020603050405020304" pitchFamily="18" charset="0"/>
                  </a:rPr>
                  <a:t>"30.01" </a:t>
                </a:r>
                <a:r>
                  <a:rPr lang="en-US" altLang="zh-TW" sz="1200" i="0">
                    <a:latin typeface="Cambria Math" panose="02040503050406030204" pitchFamily="18" charset="0"/>
                  </a:rPr>
                  <a:t>μm</a:t>
                </a:r>
                <a:r>
                  <a:rPr lang="zh-TW" altLang="en-US" sz="1200" dirty="0" smtClean="0">
                    <a:latin typeface="Times New Roman" panose="02020603050405020304" pitchFamily="18" charset="0"/>
                  </a:rPr>
                  <a:t>，所以單一晶籌長度為</a:t>
                </a:r>
                <a:r>
                  <a:rPr lang="en-US" altLang="zh-TW" sz="1200" dirty="0" smtClean="0">
                    <a:latin typeface="Times New Roman" panose="02020603050405020304" pitchFamily="18" charset="0"/>
                  </a:rPr>
                  <a:t>15.005</a:t>
                </a:r>
                <a:r>
                  <a:rPr lang="en-US" altLang="zh-TW" sz="1200" i="0" smtClean="0">
                    <a:latin typeface="Cambria Math" panose="02040503050406030204" pitchFamily="18" charset="0"/>
                  </a:rPr>
                  <a:t>μ</a:t>
                </a:r>
                <a:r>
                  <a:rPr lang="en-US" altLang="zh-TW" sz="1200" b="0" i="0" smtClean="0">
                    <a:latin typeface="Cambria Math" panose="02040503050406030204" pitchFamily="18" charset="0"/>
                  </a:rPr>
                  <a:t>m</a:t>
                </a:r>
                <a:r>
                  <a:rPr lang="zh-TW" altLang="en-US" dirty="0" smtClean="0"/>
                  <a:t>，優化結構的平均晶籌長度為</a:t>
                </a:r>
                <a:r>
                  <a:rPr lang="en-US" altLang="zh-TW" dirty="0" smtClean="0"/>
                  <a:t>1</a:t>
                </a:r>
                <a:r>
                  <a:rPr lang="en-US" altLang="zh-TW" sz="1200" dirty="0" smtClean="0">
                    <a:latin typeface="Times New Roman" panose="02020603050405020304" pitchFamily="18" charset="0"/>
                  </a:rPr>
                  <a:t>5.0066</a:t>
                </a:r>
                <a:r>
                  <a:rPr lang="en-US" altLang="zh-TW" sz="1200" i="0" smtClean="0">
                    <a:latin typeface="Cambria Math" panose="02040503050406030204" pitchFamily="18" charset="0"/>
                  </a:rPr>
                  <a:t>μ</a:t>
                </a:r>
                <a:r>
                  <a:rPr lang="en-US" altLang="zh-TW" sz="1200" b="0" i="0" smtClean="0">
                    <a:latin typeface="Cambria Math" panose="02040503050406030204" pitchFamily="18" charset="0"/>
                  </a:rPr>
                  <a:t>m</a:t>
                </a:r>
                <a:r>
                  <a:rPr lang="zh-TW" altLang="en-US" sz="1200" dirty="0" smtClean="0">
                    <a:latin typeface="Times New Roman" panose="02020603050405020304" pitchFamily="18" charset="0"/>
                  </a:rPr>
                  <a:t>，非常接近理想長度。</a:t>
                </a:r>
                <a:endParaRPr lang="en-US" altLang="zh-TW" sz="1200" dirty="0">
                  <a:latin typeface="Times New Roman" panose="02020603050405020304" pitchFamily="18" charset="0"/>
                </a:endParaRPr>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18</a:t>
            </a:fld>
            <a:endParaRPr lang="zh-TW" altLang="en-US"/>
          </a:p>
        </p:txBody>
      </p:sp>
    </p:spTree>
    <p:extLst>
      <p:ext uri="{BB962C8B-B14F-4D97-AF65-F5344CB8AC3E}">
        <p14:creationId xmlns:p14="http://schemas.microsoft.com/office/powerpoint/2010/main" val="2274141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接著驗證多波長光參量振盪器的優化，根據此參數進行結構優化，得到的傅立葉頻譜如圖，可以看到</a:t>
                </a:r>
                <a:r>
                  <a:rPr lang="en-US" altLang="zh-TW" dirty="0"/>
                  <a:t>NOS</a:t>
                </a:r>
                <a:r>
                  <a:rPr lang="zh-TW" altLang="en-US" dirty="0"/>
                  <a:t>在此比</a:t>
                </a:r>
                <a:r>
                  <a:rPr lang="en-US" altLang="zh-TW" dirty="0"/>
                  <a:t>AOS</a:t>
                </a:r>
                <a:r>
                  <a:rPr lang="zh-TW" altLang="en-US" dirty="0"/>
                  <a:t>有更好的傅立葉係數，右邊為單位晶籌長度的分布圖，理想情況下週期為</a:t>
                </a:r>
                <a:r>
                  <a:rPr lang="en-US" altLang="zh-TW" dirty="0"/>
                  <a:t>29.954</a:t>
                </a:r>
                <a14:m>
                  <m:oMath xmlns:m="http://schemas.openxmlformats.org/officeDocument/2006/math">
                    <m:r>
                      <m:rPr>
                        <m:sty m:val="p"/>
                      </m:rPr>
                      <a:rPr lang="en-US" altLang="zh-TW" sz="1200">
                        <a:latin typeface="Cambria Math" panose="02040503050406030204" pitchFamily="18" charset="0"/>
                      </a:rPr>
                      <m:t>μm</m:t>
                    </m:r>
                  </m:oMath>
                </a14:m>
                <a:r>
                  <a:rPr lang="zh-TW" altLang="en-US" dirty="0"/>
                  <a:t>，優化結構的平均晶籌長度為</a:t>
                </a:r>
                <a:r>
                  <a:rPr lang="en-US" altLang="zh-TW" dirty="0"/>
                  <a:t>1</a:t>
                </a:r>
                <a:r>
                  <a:rPr lang="en-US" altLang="zh-TW" sz="1200" dirty="0">
                    <a:latin typeface="Times New Roman" panose="02020603050405020304" pitchFamily="18" charset="0"/>
                  </a:rPr>
                  <a:t>4.977</a:t>
                </a:r>
                <a14:m>
                  <m:oMath xmlns:m="http://schemas.openxmlformats.org/officeDocument/2006/math">
                    <m:r>
                      <m:rPr>
                        <m:sty m:val="p"/>
                      </m:rPr>
                      <a:rPr lang="en-US" altLang="zh-TW" sz="1200" smtClean="0">
                        <a:latin typeface="Cambria Math" panose="02040503050406030204" pitchFamily="18" charset="0"/>
                      </a:rPr>
                      <m:t>μ</m:t>
                    </m:r>
                    <m:r>
                      <m:rPr>
                        <m:sty m:val="p"/>
                      </m:rPr>
                      <a:rPr lang="en-US" altLang="zh-TW" sz="1200" b="0" i="0" smtClean="0">
                        <a:latin typeface="Cambria Math" panose="02040503050406030204" pitchFamily="18" charset="0"/>
                      </a:rPr>
                      <m:t>m</m:t>
                    </m:r>
                  </m:oMath>
                </a14:m>
                <a:r>
                  <a:rPr lang="zh-TW" altLang="en-US" sz="1200" dirty="0">
                    <a:latin typeface="Times New Roman" panose="02020603050405020304" pitchFamily="18" charset="0"/>
                  </a:rPr>
                  <a:t>，也與理想週期之一半十分接近。</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smtClean="0"/>
                  <a:t>接著驗證多波長光參量振盪器的優化，根據此參數進行結構優化，得到的傅立葉頻譜如圖，右邊為單位晶籌長度的分布圖，理想情況下週期為</a:t>
                </a:r>
                <a:r>
                  <a:rPr lang="en-US" altLang="zh-TW" dirty="0" smtClean="0"/>
                  <a:t>29.954</a:t>
                </a:r>
                <a:r>
                  <a:rPr lang="en-US" altLang="zh-TW" sz="1200" i="0">
                    <a:latin typeface="Cambria Math" panose="02040503050406030204" pitchFamily="18" charset="0"/>
                  </a:rPr>
                  <a:t>μm</a:t>
                </a:r>
                <a:r>
                  <a:rPr lang="zh-TW" altLang="en-US" sz="1200" dirty="0" smtClean="0">
                    <a:latin typeface="Times New Roman" panose="02020603050405020304" pitchFamily="18" charset="0"/>
                  </a:rPr>
                  <a:t>，所以單一晶籌長度為</a:t>
                </a:r>
                <a:r>
                  <a:rPr lang="en-US" altLang="zh-TW" sz="1200" dirty="0" smtClean="0">
                    <a:latin typeface="Times New Roman" panose="02020603050405020304" pitchFamily="18" charset="0"/>
                  </a:rPr>
                  <a:t>1</a:t>
                </a:r>
                <a:r>
                  <a:rPr lang="en-US" altLang="zh-TW" sz="1200" dirty="0" smtClean="0">
                    <a:latin typeface="Times New Roman" panose="02020603050405020304" pitchFamily="18" charset="0"/>
                  </a:rPr>
                  <a:t>4.977</a:t>
                </a:r>
                <a:r>
                  <a:rPr lang="en-US" altLang="zh-TW" sz="1200" i="0" smtClean="0">
                    <a:latin typeface="Cambria Math" panose="02040503050406030204" pitchFamily="18" charset="0"/>
                  </a:rPr>
                  <a:t>μ</a:t>
                </a:r>
                <a:r>
                  <a:rPr lang="en-US" altLang="zh-TW" sz="1200" b="0" i="0" smtClean="0">
                    <a:latin typeface="Cambria Math" panose="02040503050406030204" pitchFamily="18" charset="0"/>
                  </a:rPr>
                  <a:t>m</a:t>
                </a:r>
                <a:r>
                  <a:rPr lang="zh-TW" altLang="en-US" dirty="0" smtClean="0"/>
                  <a:t>，優化結構的平均晶籌長度為</a:t>
                </a:r>
                <a:r>
                  <a:rPr lang="en-US" altLang="zh-TW" dirty="0" smtClean="0"/>
                  <a:t>1</a:t>
                </a:r>
                <a:r>
                  <a:rPr lang="en-US" altLang="zh-TW" sz="1200" dirty="0" smtClean="0">
                    <a:latin typeface="Times New Roman" panose="02020603050405020304" pitchFamily="18" charset="0"/>
                  </a:rPr>
                  <a:t>4.977</a:t>
                </a:r>
                <a:r>
                  <a:rPr lang="en-US" altLang="zh-TW" sz="1200" i="0" smtClean="0">
                    <a:latin typeface="Cambria Math" panose="02040503050406030204" pitchFamily="18" charset="0"/>
                  </a:rPr>
                  <a:t>μ</a:t>
                </a:r>
                <a:r>
                  <a:rPr lang="en-US" altLang="zh-TW" sz="1200" b="0" i="0" smtClean="0">
                    <a:latin typeface="Cambria Math" panose="02040503050406030204" pitchFamily="18" charset="0"/>
                  </a:rPr>
                  <a:t>m</a:t>
                </a:r>
                <a:r>
                  <a:rPr lang="zh-TW" altLang="en-US" sz="1200" dirty="0" smtClean="0">
                    <a:latin typeface="Times New Roman" panose="02020603050405020304" pitchFamily="18" charset="0"/>
                  </a:rPr>
                  <a:t>，與理想長度相同。</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19</a:t>
            </a:fld>
            <a:endParaRPr lang="zh-TW" altLang="en-US"/>
          </a:p>
        </p:txBody>
      </p:sp>
    </p:spTree>
    <p:extLst>
      <p:ext uri="{BB962C8B-B14F-4D97-AF65-F5344CB8AC3E}">
        <p14:creationId xmlns:p14="http://schemas.microsoft.com/office/powerpoint/2010/main" val="1272236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接著模擬本論文所要求的晶籌極化反轉結構，</a:t>
                </a:r>
                <a:r>
                  <a:rPr lang="en-US" altLang="zh-TW" dirty="0"/>
                  <a:t>(</a:t>
                </a:r>
                <a:r>
                  <a:rPr lang="zh-TW" altLang="en-US" dirty="0"/>
                  <a:t>把係數說過一次</a:t>
                </a:r>
                <a:r>
                  <a:rPr lang="en-US" altLang="zh-TW" dirty="0"/>
                  <a: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smtClean="0"/>
                  <a:t>我們的目標函數如式：</a:t>
                </a:r>
                <a:r>
                  <a:rPr lang="zh-TW" altLang="en-US" i="0" smtClean="0">
                    <a:latin typeface="Cambria Math" panose="02040503050406030204" pitchFamily="18" charset="0"/>
                  </a:rPr>
                  <a:t>𝜂</a:t>
                </a:r>
                <a:r>
                  <a:rPr lang="zh-TW" altLang="en-US" dirty="0" smtClean="0"/>
                  <a:t>表示效率目標值與實際效率，</a:t>
                </a:r>
                <a:r>
                  <a:rPr lang="zh-TW" altLang="en-US" i="0" smtClean="0">
                    <a:latin typeface="Cambria Math" panose="02040503050406030204" pitchFamily="18" charset="0"/>
                  </a:rPr>
                  <a:t>𝑤</a:t>
                </a:r>
                <a:r>
                  <a:rPr lang="zh-TW" altLang="en-US" dirty="0" smtClean="0"/>
                  <a:t>與</a:t>
                </a:r>
                <a:r>
                  <a:rPr lang="zh-TW" altLang="en-US" i="0" smtClean="0">
                    <a:latin typeface="Cambria Math" panose="02040503050406030204" pitchFamily="18" charset="0"/>
                  </a:rPr>
                  <a:t>𝛽</a:t>
                </a:r>
                <a:r>
                  <a:rPr lang="zh-TW" altLang="en-US" dirty="0" smtClean="0"/>
                  <a:t>為權重，</a:t>
                </a:r>
                <a:r>
                  <a:rPr lang="en-US" altLang="zh-TW" i="0" smtClean="0">
                    <a:latin typeface="Cambria Math" panose="02040503050406030204" pitchFamily="18" charset="0"/>
                  </a:rPr>
                  <a:t>𝛾</a:t>
                </a:r>
                <a:r>
                  <a:rPr lang="zh-TW" altLang="en-US" dirty="0" smtClean="0"/>
                  <a:t>為正負晶籌長度差的值。效率的算法為計算傅立葉係數來分析，式子如下：</a:t>
                </a:r>
                <a:r>
                  <a:rPr lang="zh-TW" altLang="en-US" i="0" smtClean="0">
                    <a:latin typeface="Cambria Math" panose="02040503050406030204" pitchFamily="18" charset="0"/>
                  </a:rPr>
                  <a:t>∆</a:t>
                </a:r>
                <a:r>
                  <a:rPr lang="zh-TW" altLang="en-US" i="0">
                    <a:latin typeface="Cambria Math" panose="02040503050406030204" pitchFamily="18" charset="0"/>
                  </a:rPr>
                  <a:t>𝑘</a:t>
                </a:r>
                <a:r>
                  <a:rPr lang="zh-TW" altLang="en-US" dirty="0" smtClean="0"/>
                  <a:t>為相位匹配條件，</a:t>
                </a:r>
                <a:r>
                  <a:rPr lang="zh-TW" altLang="en-US" i="0" smtClean="0">
                    <a:latin typeface="Cambria Math" panose="02040503050406030204" pitchFamily="18" charset="0"/>
                  </a:rPr>
                  <a:t>𝐿</a:t>
                </a:r>
                <a:r>
                  <a:rPr lang="zh-TW" altLang="en-US" dirty="0" smtClean="0"/>
                  <a:t>為晶體總長，</a:t>
                </a:r>
                <a:r>
                  <a:rPr lang="zh-TW" altLang="en-US" i="0" smtClean="0">
                    <a:latin typeface="Cambria Math" panose="02040503050406030204" pitchFamily="18" charset="0"/>
                  </a:rPr>
                  <a:t>N</a:t>
                </a:r>
                <a:r>
                  <a:rPr lang="zh-TW" altLang="en-US" dirty="0" smtClean="0"/>
                  <a:t>為晶籌個數，</a:t>
                </a:r>
                <a:r>
                  <a:rPr lang="zh-TW" altLang="en-US" i="0">
                    <a:latin typeface="Cambria Math" panose="02040503050406030204" pitchFamily="18" charset="0"/>
                  </a:rPr>
                  <a:t>𝑍</a:t>
                </a:r>
                <a:r>
                  <a:rPr lang="zh-TW" altLang="en-US" i="0" smtClean="0">
                    <a:latin typeface="Cambria Math" panose="02040503050406030204" pitchFamily="18" charset="0"/>
                  </a:rPr>
                  <a:t>_</a:t>
                </a:r>
                <a:r>
                  <a:rPr lang="zh-TW" altLang="en-US" i="0">
                    <a:latin typeface="Cambria Math" panose="02040503050406030204" pitchFamily="18" charset="0"/>
                  </a:rPr>
                  <a:t>𝑛</a:t>
                </a:r>
                <a:r>
                  <a:rPr lang="zh-TW" altLang="en-US" dirty="0" smtClean="0"/>
                  <a:t>為第</a:t>
                </a:r>
                <a:r>
                  <a:rPr lang="en-US" altLang="zh-TW" dirty="0" smtClean="0"/>
                  <a:t>n</a:t>
                </a:r>
                <a:r>
                  <a:rPr lang="zh-TW" altLang="en-US" dirty="0" smtClean="0"/>
                  <a:t>個極化反轉點的位置。</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20</a:t>
            </a:fld>
            <a:endParaRPr lang="zh-TW" altLang="en-US"/>
          </a:p>
        </p:txBody>
      </p:sp>
    </p:spTree>
    <p:extLst>
      <p:ext uri="{BB962C8B-B14F-4D97-AF65-F5344CB8AC3E}">
        <p14:creationId xmlns:p14="http://schemas.microsoft.com/office/powerpoint/2010/main" val="442029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模擬圖如圖，左邊為傅立葉係數圖，右邊的晶籌分布圖可以看出晶籌分布變為兩個部分，左邊平均為</a:t>
                </a:r>
                <a:r>
                  <a:rPr lang="en-US" altLang="zh-TW" kern="0" dirty="0">
                    <a:latin typeface="Times New Roman" panose="02020603050405020304" pitchFamily="18" charset="0"/>
                    <a:ea typeface="標楷體" panose="03000509000000000000" pitchFamily="65" charset="-120"/>
                  </a:rPr>
                  <a:t>8.4774</a:t>
                </a:r>
                <a:r>
                  <a:rPr lang="zh-TW" altLang="en-US" dirty="0"/>
                  <a:t>，右邊為</a:t>
                </a:r>
                <a:r>
                  <a:rPr lang="en-US" altLang="zh-TW" kern="0" dirty="0">
                    <a:latin typeface="Times New Roman" panose="02020603050405020304" pitchFamily="18" charset="0"/>
                    <a:ea typeface="標楷體" panose="03000509000000000000" pitchFamily="65" charset="-120"/>
                  </a:rPr>
                  <a:t>21.4766</a:t>
                </a:r>
                <a:r>
                  <a:rPr lang="zh-TW" altLang="en-US" kern="0" dirty="0">
                    <a:latin typeface="Times New Roman" panose="02020603050405020304" pitchFamily="18" charset="0"/>
                    <a:ea typeface="標楷體" panose="03000509000000000000" pitchFamily="65" charset="-120"/>
                  </a:rPr>
                  <a:t>，</a:t>
                </a:r>
                <a:r>
                  <a:rPr lang="en-US" altLang="zh-TW" dirty="0"/>
                  <a:t>Duty-cycle</a:t>
                </a:r>
                <a:r>
                  <a:rPr lang="zh-TW" altLang="en-US" dirty="0"/>
                  <a:t>約為</a:t>
                </a:r>
                <a:r>
                  <a:rPr lang="en-US" altLang="zh-TW" dirty="0"/>
                  <a:t>71.69%/28.31%</a:t>
                </a:r>
                <a:r>
                  <a:rPr lang="zh-TW" altLang="en-US"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接著加入非對稱正負晶籌長度比設計，由右邊的晶籌分布圖可以看出晶籌分布變為兩個部分，左邊平均為</a:t>
                </a:r>
                <a:r>
                  <a:rPr lang="en-US" altLang="zh-TW" kern="0" dirty="0" smtClean="0">
                    <a:latin typeface="Times New Roman" panose="02020603050405020304" pitchFamily="18" charset="0"/>
                    <a:ea typeface="標楷體" panose="03000509000000000000" pitchFamily="65" charset="-120"/>
                  </a:rPr>
                  <a:t>8.5</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μm</a:t>
                </a:r>
                <a:r>
                  <a:rPr lang="zh-TW" altLang="en-US" dirty="0" smtClean="0"/>
                  <a:t>，右邊為</a:t>
                </a:r>
                <a:r>
                  <a:rPr lang="en-US" altLang="zh-TW" kern="0" dirty="0" smtClean="0">
                    <a:latin typeface="Times New Roman" panose="02020603050405020304" pitchFamily="18" charset="0"/>
                    <a:ea typeface="標楷體" panose="03000509000000000000" pitchFamily="65" charset="-120"/>
                  </a:rPr>
                  <a:t>2</a:t>
                </a:r>
                <a:r>
                  <a:rPr lang="en-US" altLang="zh-TW" kern="0" dirty="0" smtClean="0">
                    <a:latin typeface="Times New Roman" panose="02020603050405020304" pitchFamily="18" charset="0"/>
                    <a:ea typeface="標楷體" panose="03000509000000000000" pitchFamily="65" charset="-120"/>
                  </a:rPr>
                  <a:t>1.5</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μm</a:t>
                </a:r>
                <a:r>
                  <a:rPr lang="zh-TW" altLang="en-US" i="0" kern="0" smtClean="0">
                    <a:latin typeface="Cambria Math" panose="02040503050406030204" pitchFamily="18" charset="0"/>
                    <a:ea typeface="標楷體" panose="03000509000000000000" pitchFamily="65" charset="-120"/>
                    <a:cs typeface="Times New Roman" panose="02020603050405020304" pitchFamily="18" charset="0"/>
                  </a:rPr>
                  <a:t>，</a:t>
                </a:r>
                <a:r>
                  <a:rPr lang="en-US" altLang="zh-TW" dirty="0" smtClean="0"/>
                  <a:t>Duty-cycle</a:t>
                </a:r>
                <a:r>
                  <a:rPr lang="zh-TW" altLang="en-US" dirty="0" smtClean="0"/>
                  <a:t>約為</a:t>
                </a:r>
                <a:r>
                  <a:rPr lang="en-US" altLang="zh-TW" dirty="0" smtClean="0"/>
                  <a:t>72%/28%</a:t>
                </a:r>
                <a:r>
                  <a:rPr lang="zh-TW" altLang="en-US" dirty="0" smtClean="0"/>
                  <a:t>，實際平均晶籌長度為</a:t>
                </a:r>
                <a:r>
                  <a:rPr lang="en-US" altLang="zh-TW" dirty="0" smtClean="0"/>
                  <a:t>1</a:t>
                </a:r>
                <a:r>
                  <a:rPr lang="en-US" altLang="zh-TW" sz="1200" dirty="0" smtClean="0">
                    <a:latin typeface="Times New Roman" panose="02020603050405020304" pitchFamily="18" charset="0"/>
                  </a:rPr>
                  <a:t>4.97</a:t>
                </a:r>
                <a:r>
                  <a:rPr lang="en-US" altLang="zh-TW" sz="1200" dirty="0" smtClean="0">
                    <a:latin typeface="Times New Roman" panose="02020603050405020304" pitchFamily="18" charset="0"/>
                  </a:rPr>
                  <a:t>69</a:t>
                </a:r>
                <a:r>
                  <a:rPr lang="en-US" altLang="zh-TW" sz="1200" i="0" smtClean="0">
                    <a:latin typeface="Cambria Math" panose="02040503050406030204" pitchFamily="18" charset="0"/>
                  </a:rPr>
                  <a:t>μ</a:t>
                </a:r>
                <a:r>
                  <a:rPr lang="en-US" altLang="zh-TW" sz="1200" b="0" i="0" smtClean="0">
                    <a:latin typeface="Cambria Math" panose="02040503050406030204" pitchFamily="18" charset="0"/>
                  </a:rPr>
                  <a:t>m</a:t>
                </a:r>
                <a:r>
                  <a:rPr lang="zh-TW" altLang="en-US" dirty="0" smtClean="0"/>
                  <a:t>，與設計也非常接近。</a:t>
                </a:r>
                <a:endParaRPr lang="zh-TW"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21</a:t>
            </a:fld>
            <a:endParaRPr lang="zh-TW" altLang="en-US"/>
          </a:p>
        </p:txBody>
      </p:sp>
    </p:spTree>
    <p:extLst>
      <p:ext uri="{BB962C8B-B14F-4D97-AF65-F5344CB8AC3E}">
        <p14:creationId xmlns:p14="http://schemas.microsoft.com/office/powerpoint/2010/main" val="245146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接著比較以模擬退火法優化</a:t>
            </a:r>
            <a:r>
              <a:rPr lang="en-US" altLang="zh-TW" dirty="0"/>
              <a:t>AOS</a:t>
            </a:r>
            <a:r>
              <a:rPr lang="zh-TW" altLang="en-US" dirty="0"/>
              <a:t>結構以及以基因演算法優化的</a:t>
            </a:r>
            <a:r>
              <a:rPr lang="en-US" altLang="zh-TW" dirty="0"/>
              <a:t>NOS</a:t>
            </a:r>
            <a:r>
              <a:rPr lang="zh-TW" altLang="en-US" dirty="0"/>
              <a:t>結構的傅立葉頻譜圖，在傅立葉係數相同的形況下，</a:t>
            </a:r>
            <a:r>
              <a:rPr lang="en-US" altLang="zh-TW" dirty="0"/>
              <a:t>SA</a:t>
            </a:r>
            <a:r>
              <a:rPr lang="zh-TW" altLang="en-US" dirty="0"/>
              <a:t>的正負晶籌長度差距比我們設置在</a:t>
            </a:r>
            <a:r>
              <a:rPr lang="en-US" altLang="zh-TW" dirty="0"/>
              <a:t>0.4</a:t>
            </a:r>
            <a:r>
              <a:rPr lang="zh-TW" altLang="en-US" dirty="0"/>
              <a:t>附近實際值為</a:t>
            </a:r>
            <a:r>
              <a:rPr lang="en-US" altLang="zh-TW" sz="1200" dirty="0">
                <a:latin typeface="Times New Roman" panose="02020603050405020304" pitchFamily="18" charset="0"/>
                <a:cs typeface="Times New Roman" panose="02020603050405020304" pitchFamily="18" charset="0"/>
              </a:rPr>
              <a:t>0.3954</a:t>
            </a:r>
            <a:r>
              <a:rPr lang="zh-TW" altLang="en-US" sz="1200" dirty="0">
                <a:latin typeface="Times New Roman" panose="02020603050405020304" pitchFamily="18" charset="0"/>
                <a:cs typeface="Times New Roman" panose="02020603050405020304" pitchFamily="18" charset="0"/>
              </a:rPr>
              <a:t>，</a:t>
            </a:r>
            <a:r>
              <a:rPr lang="en-US" altLang="zh-TW" sz="1200" dirty="0">
                <a:latin typeface="Times New Roman" panose="02020603050405020304" pitchFamily="18" charset="0"/>
                <a:cs typeface="Times New Roman" panose="02020603050405020304" pitchFamily="18" charset="0"/>
              </a:rPr>
              <a:t>GA</a:t>
            </a:r>
            <a:r>
              <a:rPr lang="zh-TW" altLang="en-US" sz="1200" dirty="0">
                <a:latin typeface="Times New Roman" panose="02020603050405020304" pitchFamily="18" charset="0"/>
                <a:cs typeface="Times New Roman" panose="02020603050405020304" pitchFamily="18" charset="0"/>
              </a:rPr>
              <a:t>則可以優化至</a:t>
            </a:r>
            <a:r>
              <a:rPr lang="en-US" altLang="zh-TW" sz="1200" dirty="0">
                <a:latin typeface="Times New Roman" panose="02020603050405020304" pitchFamily="18" charset="0"/>
                <a:cs typeface="Times New Roman" panose="02020603050405020304" pitchFamily="18" charset="0"/>
              </a:rPr>
              <a:t>0.4341</a:t>
            </a:r>
            <a:r>
              <a:rPr lang="zh-TW" altLang="en-US" sz="1200" dirty="0">
                <a:latin typeface="Times New Roman" panose="02020603050405020304" pitchFamily="18" charset="0"/>
                <a:cs typeface="Times New Roman" panose="02020603050405020304" pitchFamily="18" charset="0"/>
              </a:rPr>
              <a:t>，</a:t>
            </a:r>
            <a:r>
              <a:rPr lang="en-US" altLang="zh-TW" sz="1200" dirty="0" err="1">
                <a:latin typeface="Times New Roman" panose="02020603050405020304" pitchFamily="18" charset="0"/>
                <a:cs typeface="Times New Roman" panose="02020603050405020304" pitchFamily="18" charset="0"/>
              </a:rPr>
              <a:t>dL</a:t>
            </a:r>
            <a:r>
              <a:rPr lang="zh-TW" altLang="en-US" sz="1200" dirty="0">
                <a:latin typeface="Times New Roman" panose="02020603050405020304" pitchFamily="18" charset="0"/>
                <a:cs typeface="Times New Roman" panose="02020603050405020304" pitchFamily="18" charset="0"/>
              </a:rPr>
              <a:t>的計算方法如左下公式，此值正比於波長調制率，故在</a:t>
            </a:r>
            <a:r>
              <a:rPr lang="zh-TW" altLang="en-US" dirty="0"/>
              <a:t>傅立葉係數相同下，</a:t>
            </a:r>
            <a:r>
              <a:rPr lang="zh-TW" altLang="en-US" sz="1200" dirty="0">
                <a:latin typeface="Times New Roman" panose="02020603050405020304" pitchFamily="18" charset="0"/>
                <a:cs typeface="Times New Roman" panose="02020603050405020304" pitchFamily="18" charset="0"/>
              </a:rPr>
              <a:t>可得到約</a:t>
            </a:r>
            <a:r>
              <a:rPr lang="en-US" altLang="zh-TW" sz="1200" dirty="0">
                <a:latin typeface="Times New Roman" panose="02020603050405020304" pitchFamily="18" charset="0"/>
                <a:cs typeface="Times New Roman" panose="02020603050405020304" pitchFamily="18" charset="0"/>
              </a:rPr>
              <a:t>1.1</a:t>
            </a:r>
            <a:r>
              <a:rPr lang="zh-TW" altLang="en-US" sz="1200" dirty="0">
                <a:latin typeface="Times New Roman" panose="02020603050405020304" pitchFamily="18" charset="0"/>
                <a:cs typeface="Times New Roman" panose="02020603050405020304" pitchFamily="18" charset="0"/>
              </a:rPr>
              <a:t>倍的調制率，傅立葉係數圖中也可以看出光譜保真度有明顯的改善。</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22</a:t>
            </a:fld>
            <a:endParaRPr lang="zh-TW" altLang="en-US"/>
          </a:p>
        </p:txBody>
      </p:sp>
    </p:spTree>
    <p:extLst>
      <p:ext uri="{BB962C8B-B14F-4D97-AF65-F5344CB8AC3E}">
        <p14:creationId xmlns:p14="http://schemas.microsoft.com/office/powerpoint/2010/main" val="3416672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a:solidFill>
                  <a:schemeClr val="tx1"/>
                </a:solidFill>
                <a:effectLst/>
                <a:latin typeface="+mn-lt"/>
                <a:ea typeface="+mn-ea"/>
                <a:cs typeface="+mn-cs"/>
              </a:rPr>
              <a:t>首先先介紹量測系統，我們使用</a:t>
            </a:r>
            <a:r>
              <a:rPr lang="en-US" altLang="zh-TW" sz="1200" kern="1200">
                <a:solidFill>
                  <a:schemeClr val="tx1"/>
                </a:solidFill>
                <a:effectLst/>
                <a:latin typeface="+mn-lt"/>
                <a:ea typeface="+mn-ea"/>
                <a:cs typeface="+mn-cs"/>
              </a:rPr>
              <a:t>LIMO</a:t>
            </a:r>
            <a:r>
              <a:rPr lang="zh-TW" altLang="zh-TW" sz="1200" kern="1200">
                <a:solidFill>
                  <a:schemeClr val="tx1"/>
                </a:solidFill>
                <a:effectLst/>
                <a:latin typeface="+mn-lt"/>
                <a:ea typeface="+mn-ea"/>
                <a:cs typeface="+mn-cs"/>
              </a:rPr>
              <a:t>高功率半導體雷射</a:t>
            </a:r>
            <a:r>
              <a:rPr lang="zh-TW" altLang="en-US" sz="1200" kern="1200">
                <a:solidFill>
                  <a:schemeClr val="tx1"/>
                </a:solidFill>
                <a:effectLst/>
                <a:latin typeface="+mn-lt"/>
                <a:ea typeface="+mn-ea"/>
                <a:cs typeface="+mn-cs"/>
              </a:rPr>
              <a:t>輸出</a:t>
            </a:r>
            <a:r>
              <a:rPr lang="en-US" altLang="zh-TW" sz="1200" kern="1200">
                <a:solidFill>
                  <a:schemeClr val="tx1"/>
                </a:solidFill>
                <a:effectLst/>
                <a:latin typeface="+mn-lt"/>
                <a:ea typeface="+mn-ea"/>
                <a:cs typeface="+mn-cs"/>
              </a:rPr>
              <a:t>809nm</a:t>
            </a:r>
            <a:r>
              <a:rPr lang="zh-TW" altLang="en-US" sz="1200" kern="1200">
                <a:solidFill>
                  <a:schemeClr val="tx1"/>
                </a:solidFill>
                <a:effectLst/>
                <a:latin typeface="+mn-lt"/>
                <a:ea typeface="+mn-ea"/>
                <a:cs typeface="+mn-cs"/>
              </a:rPr>
              <a:t>雷射，經過兩個聚焦透鏡後，聚進增益晶體後，由</a:t>
            </a:r>
            <a:r>
              <a:rPr lang="en-US" altLang="zh-TW" sz="1200" kern="1200">
                <a:solidFill>
                  <a:schemeClr val="tx1"/>
                </a:solidFill>
                <a:effectLst/>
                <a:latin typeface="+mn-lt"/>
                <a:ea typeface="+mn-ea"/>
                <a:cs typeface="+mn-cs"/>
              </a:rPr>
              <a:t>M1</a:t>
            </a:r>
            <a:r>
              <a:rPr lang="zh-TW" altLang="en-US" sz="1200" kern="1200">
                <a:solidFill>
                  <a:schemeClr val="tx1"/>
                </a:solidFill>
                <a:effectLst/>
                <a:latin typeface="+mn-lt"/>
                <a:ea typeface="+mn-ea"/>
                <a:cs typeface="+mn-cs"/>
              </a:rPr>
              <a:t>與</a:t>
            </a:r>
            <a:r>
              <a:rPr lang="en-US" altLang="zh-TW" sz="1200" kern="1200">
                <a:solidFill>
                  <a:schemeClr val="tx1"/>
                </a:solidFill>
                <a:effectLst/>
                <a:latin typeface="+mn-lt"/>
                <a:ea typeface="+mn-ea"/>
                <a:cs typeface="+mn-cs"/>
              </a:rPr>
              <a:t>M2</a:t>
            </a:r>
            <a:r>
              <a:rPr lang="zh-TW" altLang="en-US" sz="1200" kern="1200">
                <a:solidFill>
                  <a:schemeClr val="tx1"/>
                </a:solidFill>
                <a:effectLst/>
                <a:latin typeface="+mn-lt"/>
                <a:ea typeface="+mn-ea"/>
                <a:cs typeface="+mn-cs"/>
              </a:rPr>
              <a:t>共振產生</a:t>
            </a:r>
            <a:r>
              <a:rPr lang="en-US" altLang="zh-TW" sz="1200" kern="1200">
                <a:solidFill>
                  <a:schemeClr val="tx1"/>
                </a:solidFill>
                <a:effectLst/>
                <a:latin typeface="+mn-lt"/>
                <a:ea typeface="+mn-ea"/>
                <a:cs typeface="+mn-cs"/>
              </a:rPr>
              <a:t>1064CW</a:t>
            </a:r>
            <a:r>
              <a:rPr lang="zh-TW" altLang="en-US" sz="1200" kern="1200">
                <a:solidFill>
                  <a:schemeClr val="tx1"/>
                </a:solidFill>
                <a:effectLst/>
                <a:latin typeface="+mn-lt"/>
                <a:ea typeface="+mn-ea"/>
                <a:cs typeface="+mn-cs"/>
              </a:rPr>
              <a:t>雷射，經過</a:t>
            </a:r>
            <a:r>
              <a:rPr lang="en-US" altLang="zh-TW">
                <a:latin typeface="Times New Roman" panose="02020603050405020304" pitchFamily="18" charset="0"/>
                <a:cs typeface="Times New Roman" panose="02020603050405020304" pitchFamily="18" charset="0"/>
              </a:rPr>
              <a:t>EO </a:t>
            </a:r>
            <a:r>
              <a:rPr lang="en-US" altLang="zh-TW" err="1">
                <a:latin typeface="Times New Roman" panose="02020603050405020304" pitchFamily="18" charset="0"/>
                <a:cs typeface="Times New Roman" panose="02020603050405020304" pitchFamily="18" charset="0"/>
              </a:rPr>
              <a:t>bragg</a:t>
            </a:r>
            <a:r>
              <a:rPr lang="zh-TW" altLang="en-US">
                <a:latin typeface="+mn-lt"/>
                <a:cs typeface="+mn-cs"/>
              </a:rPr>
              <a:t>變成</a:t>
            </a:r>
            <a:r>
              <a:rPr lang="en-US" altLang="zh-TW">
                <a:latin typeface="+mn-lt"/>
                <a:cs typeface="+mn-cs"/>
              </a:rPr>
              <a:t>1064pulse</a:t>
            </a:r>
            <a:r>
              <a:rPr lang="zh-TW" altLang="en-US">
                <a:latin typeface="+mn-lt"/>
                <a:cs typeface="+mn-cs"/>
              </a:rPr>
              <a:t>雷射，作為</a:t>
            </a:r>
            <a:r>
              <a:rPr lang="en-US" altLang="zh-TW">
                <a:latin typeface="+mn-lt"/>
                <a:cs typeface="+mn-cs"/>
              </a:rPr>
              <a:t>OPO</a:t>
            </a:r>
            <a:r>
              <a:rPr lang="zh-TW" altLang="en-US">
                <a:latin typeface="+mn-lt"/>
                <a:cs typeface="+mn-cs"/>
              </a:rPr>
              <a:t>的</a:t>
            </a:r>
            <a:r>
              <a:rPr lang="en-US" altLang="zh-TW">
                <a:latin typeface="+mn-lt"/>
                <a:cs typeface="+mn-cs"/>
              </a:rPr>
              <a:t>pump</a:t>
            </a:r>
            <a:r>
              <a:rPr lang="zh-TW" altLang="en-US">
                <a:latin typeface="+mn-lt"/>
                <a:cs typeface="+mn-cs"/>
              </a:rPr>
              <a:t>光，接著在</a:t>
            </a:r>
            <a:r>
              <a:rPr lang="en-US" altLang="zh-TW">
                <a:latin typeface="+mn-lt"/>
                <a:cs typeface="+mn-cs"/>
              </a:rPr>
              <a:t>M1</a:t>
            </a:r>
            <a:r>
              <a:rPr lang="zh-TW" altLang="en-US">
                <a:latin typeface="+mn-lt"/>
                <a:cs typeface="+mn-cs"/>
              </a:rPr>
              <a:t>與</a:t>
            </a:r>
            <a:r>
              <a:rPr lang="en-US" altLang="zh-TW">
                <a:latin typeface="+mn-lt"/>
                <a:cs typeface="+mn-cs"/>
              </a:rPr>
              <a:t>M3</a:t>
            </a:r>
            <a:r>
              <a:rPr lang="zh-TW" altLang="en-US">
                <a:latin typeface="+mn-lt"/>
                <a:cs typeface="+mn-cs"/>
              </a:rPr>
              <a:t>共振訊號光，在由物鏡收光至光纖由</a:t>
            </a:r>
            <a:r>
              <a:rPr lang="en-US" altLang="zh-TW">
                <a:latin typeface="+mn-lt"/>
                <a:cs typeface="+mn-cs"/>
              </a:rPr>
              <a:t>OSA</a:t>
            </a:r>
            <a:r>
              <a:rPr lang="zh-TW" altLang="en-US">
                <a:latin typeface="+mn-lt"/>
                <a:cs typeface="+mn-cs"/>
              </a:rPr>
              <a:t>量測頻譜。</a:t>
            </a:r>
            <a:endParaRPr lang="zh-TW" altLang="en-US">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27</a:t>
            </a:fld>
            <a:endParaRPr lang="zh-TW" altLang="en-US"/>
          </a:p>
        </p:txBody>
      </p:sp>
    </p:spTree>
    <p:extLst>
      <p:ext uri="{BB962C8B-B14F-4D97-AF65-F5344CB8AC3E}">
        <p14:creationId xmlns:p14="http://schemas.microsoft.com/office/powerpoint/2010/main" val="31595039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首先我們的</a:t>
                </a:r>
                <a:r>
                  <a:rPr lang="en-US" altLang="zh-TW" dirty="0"/>
                  <a:t>OPO</a:t>
                </a:r>
                <a:r>
                  <a:rPr lang="zh-TW" altLang="en-US" dirty="0"/>
                  <a:t>頻譜如左圖，其中心</a:t>
                </a:r>
                <a:r>
                  <a:rPr lang="zh-TW" altLang="en-US" kern="0" dirty="0">
                    <a:latin typeface="Times New Roman" panose="02020603050405020304" pitchFamily="18" charset="0"/>
                    <a:ea typeface="標楷體" panose="03000509000000000000" pitchFamily="65" charset="-120"/>
                  </a:rPr>
                  <a:t>波長為</a:t>
                </a:r>
                <a:r>
                  <a:rPr lang="en-US" altLang="zh-TW" kern="0" dirty="0">
                    <a:latin typeface="Times New Roman" panose="02020603050405020304" pitchFamily="18" charset="0"/>
                    <a:ea typeface="標楷體" panose="03000509000000000000" pitchFamily="65" charset="-120"/>
                  </a:rPr>
                  <a:t>1540.11nm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1549.37nm</a:t>
                </a:r>
                <a:r>
                  <a:rPr lang="zh-TW" altLang="en-US" kern="0" dirty="0">
                    <a:latin typeface="Times New Roman" panose="02020603050405020304" pitchFamily="18" charset="0"/>
                    <a:ea typeface="標楷體" panose="03000509000000000000" pitchFamily="65" charset="-120"/>
                  </a:rPr>
                  <a:t>，頻寬分別為</a:t>
                </a:r>
                <a:r>
                  <a:rPr lang="en-US" altLang="zh-TW" kern="0" dirty="0">
                    <a:latin typeface="Times New Roman" panose="02020603050405020304" pitchFamily="18" charset="0"/>
                    <a:ea typeface="標楷體" panose="03000509000000000000" pitchFamily="65" charset="-120"/>
                  </a:rPr>
                  <a:t>0.28972nm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0.31355nm</a:t>
                </a:r>
                <a:r>
                  <a:rPr lang="zh-TW" altLang="en-US" kern="0" dirty="0">
                    <a:latin typeface="Times New Roman" panose="02020603050405020304" pitchFamily="18" charset="0"/>
                    <a:ea typeface="標楷體" panose="03000509000000000000" pitchFamily="65" charset="-120"/>
                  </a:rPr>
                  <a:t>。模擬後</a:t>
                </a:r>
                <a:r>
                  <a:rPr lang="en-US" altLang="zh-TW" kern="0" dirty="0">
                    <a:latin typeface="Times New Roman" panose="02020603050405020304" pitchFamily="18" charset="0"/>
                    <a:ea typeface="標楷體" panose="03000509000000000000" pitchFamily="65" charset="-120"/>
                  </a:rPr>
                  <a:t>OPO</a:t>
                </a:r>
                <a:r>
                  <a:rPr lang="zh-TW" altLang="en-US" kern="0" dirty="0">
                    <a:latin typeface="Times New Roman" panose="02020603050405020304" pitchFamily="18" charset="0"/>
                    <a:ea typeface="標楷體" panose="03000509000000000000" pitchFamily="65" charset="-120"/>
                  </a:rPr>
                  <a:t>訊號後得知，</a:t>
                </a:r>
                <a:r>
                  <a:rPr lang="en-US" altLang="zh-TW" kern="0" dirty="0">
                    <a:latin typeface="Times New Roman" panose="02020603050405020304" pitchFamily="18" charset="0"/>
                    <a:ea typeface="標楷體" panose="03000509000000000000" pitchFamily="65" charset="-120"/>
                  </a:rPr>
                  <a:t>OPO</a:t>
                </a:r>
                <a:r>
                  <a:rPr lang="zh-TW" altLang="en-US" kern="0" dirty="0">
                    <a:latin typeface="Times New Roman" panose="02020603050405020304" pitchFamily="18" charset="0"/>
                    <a:ea typeface="標楷體" panose="03000509000000000000" pitchFamily="65" charset="-120"/>
                  </a:rPr>
                  <a:t>約在腔內共振</a:t>
                </a:r>
                <a:r>
                  <a:rPr lang="en-US" altLang="zh-TW" kern="0" dirty="0">
                    <a:latin typeface="Times New Roman" panose="02020603050405020304" pitchFamily="18" charset="0"/>
                    <a:ea typeface="標楷體" panose="03000509000000000000" pitchFamily="65" charset="-120"/>
                  </a:rPr>
                  <a:t>11</a:t>
                </a:r>
                <a:r>
                  <a:rPr lang="zh-TW" altLang="en-US" kern="0" dirty="0">
                    <a:latin typeface="Times New Roman" panose="02020603050405020304" pitchFamily="18" charset="0"/>
                    <a:ea typeface="標楷體" panose="03000509000000000000" pitchFamily="65" charset="-120"/>
                  </a:rPr>
                  <a:t>趟後輸出。</a:t>
                </a:r>
                <a:endParaRPr lang="en-US" altLang="zh-TW" kern="0" dirty="0">
                  <a:latin typeface="Times New Roman" panose="02020603050405020304" pitchFamily="18" charset="0"/>
                  <a:ea typeface="標楷體" panose="03000509000000000000" pitchFamily="65" charset="-12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OPG</a:t>
                </a:r>
                <a:r>
                  <a:rPr lang="zh-TW" altLang="en-US" dirty="0"/>
                  <a:t>如右圖其</a:t>
                </a:r>
                <a:r>
                  <a:rPr lang="zh-TW" altLang="en-US" kern="0" dirty="0">
                    <a:latin typeface="Times New Roman" panose="02020603050405020304" pitchFamily="18" charset="0"/>
                    <a:ea typeface="標楷體" panose="03000509000000000000" pitchFamily="65" charset="-120"/>
                  </a:rPr>
                  <a:t>頻寬分別為</a:t>
                </a:r>
                <a:r>
                  <a:rPr lang="en-US" altLang="zh-TW" kern="0" dirty="0">
                    <a:latin typeface="Times New Roman" panose="02020603050405020304" pitchFamily="18" charset="0"/>
                    <a:ea typeface="標楷體" panose="03000509000000000000" pitchFamily="65" charset="-120"/>
                  </a:rPr>
                  <a:t>1.41958nm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cs typeface="+mn-cs"/>
                  </a:rPr>
                  <a:t>1.44987</a:t>
                </a:r>
                <a:r>
                  <a:rPr lang="en-US" altLang="zh-TW" kern="0" dirty="0">
                    <a:latin typeface="Times New Roman" panose="02020603050405020304" pitchFamily="18" charset="0"/>
                    <a:ea typeface="標楷體" panose="03000509000000000000" pitchFamily="65" charset="-120"/>
                  </a:rPr>
                  <a:t>nm</a:t>
                </a:r>
                <a:r>
                  <a:rPr lang="zh-TW" altLang="en-US" kern="0" dirty="0">
                    <a:latin typeface="Times New Roman" panose="02020603050405020304" pitchFamily="18" charset="0"/>
                    <a:ea typeface="標楷體" panose="03000509000000000000" pitchFamily="65" charset="-120"/>
                  </a:rPr>
                  <a:t>。窄化約</a:t>
                </a:r>
                <a:r>
                  <a:rPr lang="en-US" altLang="zh-TW" kern="0" dirty="0">
                    <a:latin typeface="Times New Roman" panose="02020603050405020304" pitchFamily="18" charset="0"/>
                    <a:ea typeface="標楷體" panose="03000509000000000000" pitchFamily="65" charset="-120"/>
                  </a:rPr>
                  <a:t>4.9</a:t>
                </a:r>
                <a:r>
                  <a:rPr lang="zh-TW" altLang="en-US" kern="0" dirty="0">
                    <a:latin typeface="Times New Roman" panose="02020603050405020304" pitchFamily="18" charset="0"/>
                    <a:ea typeface="標楷體" panose="03000509000000000000" pitchFamily="65" charset="-120"/>
                  </a:rPr>
                  <a:t>倍與</a:t>
                </a:r>
                <a:r>
                  <a:rPr lang="en-US" altLang="zh-TW" kern="0" dirty="0">
                    <a:latin typeface="Times New Roman" panose="02020603050405020304" pitchFamily="18" charset="0"/>
                    <a:ea typeface="標楷體" panose="03000509000000000000" pitchFamily="65" charset="-120"/>
                  </a:rPr>
                  <a:t>4.62</a:t>
                </a:r>
                <a:r>
                  <a:rPr lang="zh-TW" altLang="en-US" kern="0" dirty="0">
                    <a:latin typeface="Times New Roman" panose="02020603050405020304" pitchFamily="18" charset="0"/>
                    <a:ea typeface="標楷體" panose="03000509000000000000" pitchFamily="65" charset="-120"/>
                  </a:rPr>
                  <a:t>倍，比理論還好，</a:t>
                </a:r>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首先我們的</a:t>
                </a:r>
                <a:r>
                  <a:rPr lang="en-US" altLang="zh-TW" dirty="0" smtClean="0"/>
                  <a:t>OPO</a:t>
                </a:r>
                <a:r>
                  <a:rPr lang="zh-TW" altLang="en-US" dirty="0" smtClean="0"/>
                  <a:t>頻譜如左圖，其中心</a:t>
                </a:r>
                <a:r>
                  <a:rPr lang="zh-TW" altLang="en-US" kern="0" dirty="0" smtClean="0">
                    <a:latin typeface="Times New Roman" panose="02020603050405020304" pitchFamily="18" charset="0"/>
                    <a:ea typeface="標楷體" panose="03000509000000000000" pitchFamily="65" charset="-120"/>
                  </a:rPr>
                  <a:t>波長為</a:t>
                </a:r>
                <a:r>
                  <a:rPr lang="en-US" altLang="zh-TW" kern="0" dirty="0" smtClean="0">
                    <a:latin typeface="Times New Roman" panose="02020603050405020304" pitchFamily="18" charset="0"/>
                    <a:ea typeface="標楷體" panose="03000509000000000000" pitchFamily="65" charset="-120"/>
                  </a:rPr>
                  <a:t>1540.41nm</a:t>
                </a:r>
                <a:r>
                  <a:rPr lang="zh-TW" altLang="zh-TW" kern="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smtClean="0">
                    <a:latin typeface="Times New Roman" panose="02020603050405020304" pitchFamily="18" charset="0"/>
                    <a:ea typeface="標楷體" panose="03000509000000000000" pitchFamily="65" charset="-120"/>
                  </a:rPr>
                  <a:t>1549.71nm</a:t>
                </a:r>
                <a:r>
                  <a:rPr lang="zh-TW" altLang="en-US" kern="0" dirty="0" smtClean="0">
                    <a:latin typeface="Times New Roman" panose="02020603050405020304" pitchFamily="18" charset="0"/>
                    <a:ea typeface="標楷體" panose="03000509000000000000" pitchFamily="65" charset="-120"/>
                  </a:rPr>
                  <a:t>，頻寬分別為</a:t>
                </a:r>
                <a:r>
                  <a:rPr lang="en-US" altLang="zh-TW" kern="0" dirty="0" smtClean="0">
                    <a:latin typeface="Times New Roman" panose="02020603050405020304" pitchFamily="18" charset="0"/>
                    <a:ea typeface="標楷體" panose="03000509000000000000" pitchFamily="65" charset="-120"/>
                  </a:rPr>
                  <a:t>0.3363nm</a:t>
                </a:r>
                <a:r>
                  <a:rPr lang="zh-TW" altLang="zh-TW" kern="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smtClean="0">
                    <a:latin typeface="Times New Roman" panose="02020603050405020304" pitchFamily="18" charset="0"/>
                    <a:ea typeface="標楷體" panose="03000509000000000000" pitchFamily="65" charset="-120"/>
                  </a:rPr>
                  <a:t>0.3631nm</a:t>
                </a:r>
                <a:r>
                  <a:rPr lang="zh-TW" altLang="en-US" kern="0" dirty="0" smtClean="0">
                    <a:latin typeface="Times New Roman" panose="02020603050405020304" pitchFamily="18" charset="0"/>
                    <a:ea typeface="標楷體" panose="03000509000000000000" pitchFamily="65" charset="-120"/>
                  </a:rPr>
                  <a:t>。</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接著量測</a:t>
                </a:r>
                <a:r>
                  <a:rPr lang="en-US" altLang="zh-TW" dirty="0" smtClean="0"/>
                  <a:t>OPO</a:t>
                </a:r>
                <a:r>
                  <a:rPr lang="zh-TW" altLang="en-US" dirty="0" smtClean="0"/>
                  <a:t>對溫度的調變率，我們將晶體溫度由</a:t>
                </a:r>
                <a:r>
                  <a:rPr lang="en-US" altLang="zh-TW" b="0" u="none" dirty="0" smtClean="0">
                    <a:latin typeface="Times New Roman" pitchFamily="18" charset="0"/>
                    <a:cs typeface="Times New Roman" pitchFamily="18" charset="0"/>
                  </a:rPr>
                  <a:t>40℃</a:t>
                </a:r>
                <a:r>
                  <a:rPr lang="zh-TW" altLang="en-US" b="0" u="none" dirty="0" smtClean="0">
                    <a:latin typeface="Times New Roman" pitchFamily="18" charset="0"/>
                    <a:cs typeface="Times New Roman" pitchFamily="18" charset="0"/>
                  </a:rPr>
                  <a:t>增至</a:t>
                </a:r>
                <a:r>
                  <a:rPr lang="en-US" altLang="zh-TW" b="0" u="none" dirty="0" smtClean="0">
                    <a:latin typeface="Times New Roman" pitchFamily="18" charset="0"/>
                    <a:cs typeface="Times New Roman" pitchFamily="18" charset="0"/>
                  </a:rPr>
                  <a:t>120℃</a:t>
                </a:r>
                <a:r>
                  <a:rPr lang="zh-TW" altLang="en-US" b="0" u="none" dirty="0" smtClean="0">
                    <a:latin typeface="Times New Roman" pitchFamily="18" charset="0"/>
                    <a:cs typeface="Times New Roman" pitchFamily="18" charset="0"/>
                  </a:rPr>
                  <a:t>，</a:t>
                </a:r>
                <a:r>
                  <a:rPr lang="zh-TW" altLang="en-US" kern="0" dirty="0" smtClean="0">
                    <a:latin typeface="Times New Roman" panose="02020603050405020304" pitchFamily="18" charset="0"/>
                    <a:ea typeface="標楷體" panose="03000509000000000000" pitchFamily="65" charset="-120"/>
                  </a:rPr>
                  <a:t>中心波長位移至</a:t>
                </a:r>
                <a:r>
                  <a:rPr lang="en-US" altLang="zh-TW" kern="0" dirty="0" smtClean="0">
                    <a:latin typeface="Times New Roman" panose="02020603050405020304" pitchFamily="18" charset="0"/>
                    <a:ea typeface="標楷體" panose="03000509000000000000" pitchFamily="65" charset="-120"/>
                  </a:rPr>
                  <a:t>1568.26nm</a:t>
                </a:r>
                <a:r>
                  <a:rPr lang="zh-TW" altLang="zh-TW" kern="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smtClean="0">
                    <a:latin typeface="Times New Roman" panose="02020603050405020304" pitchFamily="18" charset="0"/>
                    <a:ea typeface="標楷體" panose="03000509000000000000" pitchFamily="65" charset="-120"/>
                  </a:rPr>
                  <a:t>1579.86nm</a:t>
                </a:r>
                <a:r>
                  <a:rPr lang="zh-TW" altLang="en-US" kern="0" dirty="0" smtClean="0">
                    <a:latin typeface="Times New Roman" panose="02020603050405020304" pitchFamily="18" charset="0"/>
                    <a:ea typeface="標楷體" panose="03000509000000000000" pitchFamily="65" charset="-120"/>
                  </a:rPr>
                  <a:t>，其</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tuning rate</a:t>
                </a:r>
                <a:r>
                  <a:rPr lang="zh-TW" altLang="en-US" dirty="0" smtClean="0"/>
                  <a:t>分別為</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+0.3481</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與</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+0.3769</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a:t>
                </a:r>
              </a:p>
              <a:p>
                <a:endParaRPr lang="zh-TW" altLang="en-US" b="0" u="none"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28</a:t>
            </a:fld>
            <a:endParaRPr lang="zh-TW" altLang="en-US"/>
          </a:p>
        </p:txBody>
      </p:sp>
    </p:spTree>
    <p:extLst>
      <p:ext uri="{BB962C8B-B14F-4D97-AF65-F5344CB8AC3E}">
        <p14:creationId xmlns:p14="http://schemas.microsoft.com/office/powerpoint/2010/main" val="1856196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接著量測</a:t>
                </a:r>
                <a:r>
                  <a:rPr lang="en-US" altLang="zh-TW" dirty="0"/>
                  <a:t>OPO</a:t>
                </a:r>
                <a:r>
                  <a:rPr lang="zh-TW" altLang="en-US" dirty="0"/>
                  <a:t>對溫度的調變率，我們將晶體溫度由</a:t>
                </a:r>
                <a:r>
                  <a:rPr lang="en-US" altLang="zh-TW" b="0" u="none" dirty="0">
                    <a:latin typeface="Times New Roman" pitchFamily="18" charset="0"/>
                    <a:cs typeface="Times New Roman" pitchFamily="18" charset="0"/>
                  </a:rPr>
                  <a:t>40℃</a:t>
                </a:r>
                <a:r>
                  <a:rPr lang="zh-TW" altLang="en-US" b="0" u="none" dirty="0">
                    <a:latin typeface="Times New Roman" pitchFamily="18" charset="0"/>
                    <a:cs typeface="Times New Roman" pitchFamily="18" charset="0"/>
                  </a:rPr>
                  <a:t>增至</a:t>
                </a:r>
                <a:r>
                  <a:rPr lang="en-US" altLang="zh-TW" b="0" u="none" dirty="0">
                    <a:latin typeface="Times New Roman" pitchFamily="18" charset="0"/>
                    <a:cs typeface="Times New Roman" pitchFamily="18" charset="0"/>
                  </a:rPr>
                  <a:t>120℃</a:t>
                </a:r>
                <a:r>
                  <a:rPr lang="zh-TW" altLang="en-US" b="0" u="none" dirty="0">
                    <a:latin typeface="Times New Roman" pitchFamily="18" charset="0"/>
                    <a:cs typeface="Times New Roman" pitchFamily="18" charset="0"/>
                  </a:rPr>
                  <a:t>，</a:t>
                </a:r>
                <a:r>
                  <a:rPr lang="zh-TW" altLang="en-US" kern="0" dirty="0">
                    <a:latin typeface="Times New Roman" panose="02020603050405020304" pitchFamily="18" charset="0"/>
                    <a:ea typeface="標楷體" panose="03000509000000000000" pitchFamily="65" charset="-120"/>
                  </a:rPr>
                  <a:t>中心波長位移至</a:t>
                </a:r>
                <a:r>
                  <a:rPr lang="en-US" altLang="zh-TW" kern="0" dirty="0">
                    <a:latin typeface="Times New Roman" panose="02020603050405020304" pitchFamily="18" charset="0"/>
                    <a:ea typeface="標楷體" panose="03000509000000000000" pitchFamily="65" charset="-120"/>
                  </a:rPr>
                  <a:t>1568.26nm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1579.86nm</a:t>
                </a:r>
                <a:r>
                  <a:rPr lang="zh-TW" altLang="en-US" kern="0" dirty="0">
                    <a:latin typeface="Times New Roman" panose="02020603050405020304" pitchFamily="18" charset="0"/>
                    <a:ea typeface="標楷體" panose="03000509000000000000" pitchFamily="65" charset="-120"/>
                  </a:rPr>
                  <a:t>，其溫度調制率</a:t>
                </a:r>
                <a:r>
                  <a:rPr lang="zh-TW" altLang="en-US" dirty="0"/>
                  <a:t>分別為</a:t>
                </a:r>
                <a14:m>
                  <m:oMath xmlns:m="http://schemas.openxmlformats.org/officeDocument/2006/math">
                    <m:r>
                      <a:rPr lang="en-US" altLang="zh-TW" kern="0" smtClean="0">
                        <a:latin typeface="Cambria Math" panose="02040503050406030204" pitchFamily="18" charset="0"/>
                        <a:ea typeface="標楷體" panose="03000509000000000000" pitchFamily="65" charset="-120"/>
                        <a:cs typeface="Times New Roman" panose="02020603050405020304" pitchFamily="18" charset="0"/>
                      </a:rPr>
                      <m:t>+0.3</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644</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den>
                    </m:f>
                  </m:oMath>
                </a14:m>
                <a:r>
                  <a:rPr lang="zh-TW" altLang="en-US" dirty="0"/>
                  <a:t>與</a:t>
                </a:r>
                <a14:m>
                  <m:oMath xmlns:m="http://schemas.openxmlformats.org/officeDocument/2006/math">
                    <m:r>
                      <a:rPr lang="en-US" altLang="zh-TW" kern="0" smtClean="0">
                        <a:latin typeface="Cambria Math" panose="02040503050406030204" pitchFamily="18" charset="0"/>
                        <a:ea typeface="標楷體" panose="03000509000000000000" pitchFamily="65" charset="-120"/>
                        <a:cs typeface="Times New Roman" panose="02020603050405020304" pitchFamily="18" charset="0"/>
                      </a:rPr>
                      <m:t>+0.3</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89</m:t>
                    </m:r>
                    <m:r>
                      <a:rPr lang="en-US" altLang="zh-TW" kern="0" smtClean="0">
                        <a:latin typeface="Cambria Math" panose="02040503050406030204" pitchFamily="18" charset="0"/>
                        <a:ea typeface="標楷體" panose="03000509000000000000" pitchFamily="65" charset="-120"/>
                        <a:cs typeface="Times New Roman" panose="02020603050405020304" pitchFamily="18" charset="0"/>
                      </a:rPr>
                      <m:t>9</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den>
                    </m:f>
                  </m:oMath>
                </a14:m>
                <a:r>
                  <a:rPr lang="zh-TW" altLang="en-US" dirty="0"/>
                  <a:t>，不過在</a:t>
                </a:r>
                <a:r>
                  <a:rPr lang="en-US" altLang="zh-TW" b="0" u="none" dirty="0">
                    <a:latin typeface="Times New Roman" pitchFamily="18" charset="0"/>
                    <a:cs typeface="Times New Roman" pitchFamily="18" charset="0"/>
                  </a:rPr>
                  <a:t>120℃</a:t>
                </a:r>
                <a:r>
                  <a:rPr lang="zh-TW" altLang="en-US" b="0" u="none" dirty="0">
                    <a:latin typeface="Times New Roman" pitchFamily="18" charset="0"/>
                    <a:cs typeface="Times New Roman" pitchFamily="18" charset="0"/>
                  </a:rPr>
                  <a:t>時</a:t>
                </a:r>
                <a:r>
                  <a:rPr lang="zh-TW" altLang="zh-TW" sz="1200" kern="1200" dirty="0">
                    <a:solidFill>
                      <a:schemeClr val="tx1"/>
                    </a:solidFill>
                    <a:effectLst/>
                    <a:latin typeface="+mn-lt"/>
                    <a:ea typeface="+mn-ea"/>
                    <a:cs typeface="+mn-cs"/>
                  </a:rPr>
                  <a:t>訊號光相對</a:t>
                </a:r>
                <a:r>
                  <a:rPr lang="zh-TW" altLang="en-US" sz="1200" kern="1200" dirty="0">
                    <a:solidFill>
                      <a:schemeClr val="tx1"/>
                    </a:solidFill>
                    <a:effectLst/>
                    <a:latin typeface="+mn-lt"/>
                    <a:ea typeface="+mn-ea"/>
                    <a:cs typeface="+mn-cs"/>
                  </a:rPr>
                  <a:t>訊號光強度降至</a:t>
                </a:r>
                <a:r>
                  <a:rPr lang="en-US" altLang="zh-TW" sz="1200" kern="1200" dirty="0">
                    <a:solidFill>
                      <a:schemeClr val="tx1"/>
                    </a:solidFill>
                    <a:effectLst/>
                    <a:latin typeface="+mn-lt"/>
                    <a:ea typeface="+mn-ea"/>
                    <a:cs typeface="+mn-cs"/>
                  </a:rPr>
                  <a:t>32%</a:t>
                </a:r>
                <a:r>
                  <a:rPr lang="zh-TW" altLang="en-US" sz="1200" kern="1200" dirty="0">
                    <a:solidFill>
                      <a:schemeClr val="tx1"/>
                    </a:solidFill>
                    <a:effectLst/>
                    <a:latin typeface="+mn-lt"/>
                    <a:ea typeface="+mn-ea"/>
                    <a:cs typeface="+mn-cs"/>
                  </a:rPr>
                  <a:t>，實際模擬</a:t>
                </a:r>
                <a:r>
                  <a:rPr lang="en-US" altLang="zh-TW" sz="1200" kern="1200" dirty="0">
                    <a:solidFill>
                      <a:schemeClr val="tx1"/>
                    </a:solidFill>
                    <a:effectLst/>
                    <a:latin typeface="+mn-lt"/>
                    <a:ea typeface="+mn-ea"/>
                    <a:cs typeface="+mn-cs"/>
                  </a:rPr>
                  <a:t>120</a:t>
                </a:r>
                <a:r>
                  <a:rPr lang="zh-TW" altLang="en-US" sz="1200" kern="1200" dirty="0">
                    <a:solidFill>
                      <a:schemeClr val="tx1"/>
                    </a:solidFill>
                    <a:effectLst/>
                    <a:latin typeface="+mn-lt"/>
                    <a:ea typeface="+mn-ea"/>
                    <a:cs typeface="+mn-cs"/>
                  </a:rPr>
                  <a:t>度的</a:t>
                </a:r>
                <a:r>
                  <a:rPr lang="en-US" altLang="zh-TW" sz="1200" kern="1200" dirty="0">
                    <a:solidFill>
                      <a:schemeClr val="tx1"/>
                    </a:solidFill>
                    <a:effectLst/>
                    <a:latin typeface="+mn-lt"/>
                    <a:ea typeface="+mn-ea"/>
                    <a:cs typeface="+mn-cs"/>
                  </a:rPr>
                  <a:t>OPO</a:t>
                </a:r>
                <a:r>
                  <a:rPr lang="zh-TW" altLang="en-US" sz="1200" kern="1200" dirty="0">
                    <a:solidFill>
                      <a:schemeClr val="tx1"/>
                    </a:solidFill>
                    <a:effectLst/>
                    <a:latin typeface="+mn-lt"/>
                    <a:ea typeface="+mn-ea"/>
                    <a:cs typeface="+mn-cs"/>
                  </a:rPr>
                  <a:t>頻譜也有此情形產生</a:t>
                </a:r>
                <a:r>
                  <a:rPr lang="zh-TW" altLang="en-US"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zh-TW" altLang="en-US" b="0" u="none" dirty="0"/>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接著量測</a:t>
                </a:r>
                <a:r>
                  <a:rPr lang="en-US" altLang="zh-TW" dirty="0" smtClean="0"/>
                  <a:t>OPO</a:t>
                </a:r>
                <a:r>
                  <a:rPr lang="zh-TW" altLang="en-US" dirty="0" smtClean="0"/>
                  <a:t>對溫度的調變率，我們將晶體溫度由</a:t>
                </a:r>
                <a:r>
                  <a:rPr lang="en-US" altLang="zh-TW" b="0" u="none" dirty="0" smtClean="0">
                    <a:latin typeface="Times New Roman" pitchFamily="18" charset="0"/>
                    <a:cs typeface="Times New Roman" pitchFamily="18" charset="0"/>
                  </a:rPr>
                  <a:t>40℃</a:t>
                </a:r>
                <a:r>
                  <a:rPr lang="zh-TW" altLang="en-US" b="0" u="none" dirty="0" smtClean="0">
                    <a:latin typeface="Times New Roman" pitchFamily="18" charset="0"/>
                    <a:cs typeface="Times New Roman" pitchFamily="18" charset="0"/>
                  </a:rPr>
                  <a:t>增至</a:t>
                </a:r>
                <a:r>
                  <a:rPr lang="en-US" altLang="zh-TW" b="0" u="none" dirty="0" smtClean="0">
                    <a:latin typeface="Times New Roman" pitchFamily="18" charset="0"/>
                    <a:cs typeface="Times New Roman" pitchFamily="18" charset="0"/>
                  </a:rPr>
                  <a:t>120℃</a:t>
                </a:r>
                <a:r>
                  <a:rPr lang="zh-TW" altLang="en-US" b="0" u="none" dirty="0" smtClean="0">
                    <a:latin typeface="Times New Roman" pitchFamily="18" charset="0"/>
                    <a:cs typeface="Times New Roman" pitchFamily="18" charset="0"/>
                  </a:rPr>
                  <a:t>，</a:t>
                </a:r>
                <a:r>
                  <a:rPr lang="zh-TW" altLang="en-US" kern="0" dirty="0" smtClean="0">
                    <a:latin typeface="Times New Roman" panose="02020603050405020304" pitchFamily="18" charset="0"/>
                    <a:ea typeface="標楷體" panose="03000509000000000000" pitchFamily="65" charset="-120"/>
                  </a:rPr>
                  <a:t>中心波長位移至</a:t>
                </a:r>
                <a:r>
                  <a:rPr lang="en-US" altLang="zh-TW" kern="0" dirty="0" smtClean="0">
                    <a:latin typeface="Times New Roman" panose="02020603050405020304" pitchFamily="18" charset="0"/>
                    <a:ea typeface="標楷體" panose="03000509000000000000" pitchFamily="65" charset="-120"/>
                  </a:rPr>
                  <a:t>1568.26nm</a:t>
                </a:r>
                <a:r>
                  <a:rPr lang="zh-TW" altLang="zh-TW" kern="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smtClean="0">
                    <a:latin typeface="Times New Roman" panose="02020603050405020304" pitchFamily="18" charset="0"/>
                    <a:ea typeface="標楷體" panose="03000509000000000000" pitchFamily="65" charset="-120"/>
                  </a:rPr>
                  <a:t>1579.86nm</a:t>
                </a:r>
                <a:r>
                  <a:rPr lang="zh-TW" altLang="en-US" kern="0" dirty="0" smtClean="0">
                    <a:latin typeface="Times New Roman" panose="02020603050405020304" pitchFamily="18" charset="0"/>
                    <a:ea typeface="標楷體" panose="03000509000000000000" pitchFamily="65" charset="-120"/>
                  </a:rPr>
                  <a:t>，其溫度調制率</a:t>
                </a:r>
                <a:r>
                  <a:rPr lang="zh-TW" altLang="en-US" dirty="0" smtClean="0"/>
                  <a:t>分別為</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+0.3481</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與</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+0.3769</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，不過在</a:t>
                </a:r>
                <a:r>
                  <a:rPr lang="en-US" altLang="zh-TW" b="0" u="none" dirty="0" smtClean="0">
                    <a:latin typeface="Times New Roman" pitchFamily="18" charset="0"/>
                    <a:cs typeface="Times New Roman" pitchFamily="18" charset="0"/>
                  </a:rPr>
                  <a:t>120℃</a:t>
                </a:r>
                <a:r>
                  <a:rPr lang="zh-TW" altLang="en-US" b="0" u="none" dirty="0" smtClean="0">
                    <a:latin typeface="Times New Roman" pitchFamily="18" charset="0"/>
                    <a:cs typeface="Times New Roman" pitchFamily="18" charset="0"/>
                  </a:rPr>
                  <a:t>時</a:t>
                </a:r>
                <a:r>
                  <a:rPr lang="zh-TW" altLang="zh-TW" sz="1200" kern="1200" dirty="0" smtClean="0">
                    <a:solidFill>
                      <a:schemeClr val="tx1"/>
                    </a:solidFill>
                    <a:effectLst/>
                    <a:latin typeface="+mn-lt"/>
                    <a:ea typeface="+mn-ea"/>
                    <a:cs typeface="+mn-cs"/>
                  </a:rPr>
                  <a:t>訊號光相對</a:t>
                </a:r>
                <a:r>
                  <a:rPr lang="zh-TW" altLang="en-US" sz="1200" kern="1200" dirty="0" smtClean="0">
                    <a:solidFill>
                      <a:schemeClr val="tx1"/>
                    </a:solidFill>
                    <a:effectLst/>
                    <a:latin typeface="+mn-lt"/>
                    <a:ea typeface="+mn-ea"/>
                    <a:cs typeface="+mn-cs"/>
                  </a:rPr>
                  <a:t>訊號光強度降至</a:t>
                </a:r>
                <a:r>
                  <a:rPr lang="en-US" altLang="zh-TW" sz="1200" kern="1200" dirty="0" smtClean="0">
                    <a:solidFill>
                      <a:schemeClr val="tx1"/>
                    </a:solidFill>
                    <a:effectLst/>
                    <a:latin typeface="+mn-lt"/>
                    <a:ea typeface="+mn-ea"/>
                    <a:cs typeface="+mn-cs"/>
                  </a:rPr>
                  <a:t>32%</a:t>
                </a:r>
                <a:r>
                  <a:rPr lang="zh-TW" altLang="en-US" sz="1200" kern="1200" dirty="0" smtClean="0">
                    <a:solidFill>
                      <a:schemeClr val="tx1"/>
                    </a:solidFill>
                    <a:effectLst/>
                    <a:latin typeface="+mn-lt"/>
                    <a:ea typeface="+mn-ea"/>
                    <a:cs typeface="+mn-cs"/>
                  </a:rPr>
                  <a:t>，實際模擬</a:t>
                </a:r>
                <a:r>
                  <a:rPr lang="en-US" altLang="zh-TW" sz="1200" kern="1200" dirty="0" smtClean="0">
                    <a:solidFill>
                      <a:schemeClr val="tx1"/>
                    </a:solidFill>
                    <a:effectLst/>
                    <a:latin typeface="+mn-lt"/>
                    <a:ea typeface="+mn-ea"/>
                    <a:cs typeface="+mn-cs"/>
                  </a:rPr>
                  <a:t>120</a:t>
                </a:r>
                <a:r>
                  <a:rPr lang="zh-TW" altLang="en-US" sz="1200" kern="1200" dirty="0" smtClean="0">
                    <a:solidFill>
                      <a:schemeClr val="tx1"/>
                    </a:solidFill>
                    <a:effectLst/>
                    <a:latin typeface="+mn-lt"/>
                    <a:ea typeface="+mn-ea"/>
                    <a:cs typeface="+mn-cs"/>
                  </a:rPr>
                  <a:t>度的</a:t>
                </a:r>
                <a:r>
                  <a:rPr lang="en-US" altLang="zh-TW" sz="1200" kern="1200" dirty="0" smtClean="0">
                    <a:solidFill>
                      <a:schemeClr val="tx1"/>
                    </a:solidFill>
                    <a:effectLst/>
                    <a:latin typeface="+mn-lt"/>
                    <a:ea typeface="+mn-ea"/>
                    <a:cs typeface="+mn-cs"/>
                  </a:rPr>
                  <a:t>OPO</a:t>
                </a:r>
                <a:r>
                  <a:rPr lang="zh-TW" altLang="en-US" sz="1200" kern="1200" dirty="0" smtClean="0">
                    <a:solidFill>
                      <a:schemeClr val="tx1"/>
                    </a:solidFill>
                    <a:effectLst/>
                    <a:latin typeface="+mn-lt"/>
                    <a:ea typeface="+mn-ea"/>
                    <a:cs typeface="+mn-cs"/>
                  </a:rPr>
                  <a:t>頻譜也有此情形產生</a:t>
                </a:r>
                <a:r>
                  <a:rPr lang="zh-TW" alt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smtClean="0"/>
              </a:p>
              <a:p>
                <a:endParaRPr lang="zh-TW" altLang="en-US" b="0" u="none"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29</a:t>
            </a:fld>
            <a:endParaRPr lang="zh-TW" altLang="en-US"/>
          </a:p>
        </p:txBody>
      </p:sp>
    </p:spTree>
    <p:extLst>
      <p:ext uri="{BB962C8B-B14F-4D97-AF65-F5344CB8AC3E}">
        <p14:creationId xmlns:p14="http://schemas.microsoft.com/office/powerpoint/2010/main" val="4092092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接著進行電光調製的量測，在展示結果前，需要先注意一個問題，就是我們發現在施加</a:t>
            </a:r>
            <a:r>
              <a:rPr lang="en-US" altLang="zh-TW" dirty="0"/>
              <a:t>z</a:t>
            </a:r>
            <a:r>
              <a:rPr lang="zh-TW" altLang="en-US" dirty="0"/>
              <a:t>電場時，訊號光會隨著時間慢慢變弱最後消失，觀察到的現象有</a:t>
            </a:r>
            <a:r>
              <a:rPr lang="zh-TW" altLang="en-US" sz="1200" dirty="0">
                <a:latin typeface="Times New Roman" panose="02020603050405020304" pitchFamily="18" charset="0"/>
                <a:cs typeface="Times New Roman" panose="02020603050405020304" pitchFamily="18" charset="0"/>
              </a:rPr>
              <a:t>光束失真以及空間電荷的漂移</a:t>
            </a:r>
            <a:r>
              <a:rPr lang="en-US" altLang="zh-TW" sz="1200" dirty="0">
                <a:latin typeface="Times New Roman" panose="02020603050405020304" pitchFamily="18" charset="0"/>
                <a:cs typeface="Times New Roman" panose="02020603050405020304" pitchFamily="18" charset="0"/>
              </a:rPr>
              <a:t>(</a:t>
            </a:r>
            <a:r>
              <a:rPr lang="zh-TW" altLang="en-US" sz="1200" dirty="0">
                <a:latin typeface="Times New Roman" panose="02020603050405020304" pitchFamily="18" charset="0"/>
                <a:cs typeface="Times New Roman" panose="02020603050405020304" pitchFamily="18" charset="0"/>
              </a:rPr>
              <a:t>解釋</a:t>
            </a:r>
            <a:r>
              <a:rPr lang="en-US" altLang="zh-TW" sz="1200" dirty="0">
                <a:latin typeface="Times New Roman" panose="02020603050405020304" pitchFamily="18" charset="0"/>
                <a:cs typeface="Times New Roman" panose="02020603050405020304" pitchFamily="18" charset="0"/>
              </a:rPr>
              <a:t>)</a:t>
            </a:r>
            <a:r>
              <a:rPr lang="zh-TW" altLang="en-US" sz="1200" dirty="0">
                <a:latin typeface="Times New Roman" panose="02020603050405020304" pitchFamily="18" charset="0"/>
                <a:cs typeface="Times New Roman" panose="02020603050405020304" pitchFamily="18" charset="0"/>
              </a:rPr>
              <a:t>，總和原因非常接近光折變效應，但是加溫至</a:t>
            </a:r>
            <a:r>
              <a:rPr lang="en-US" altLang="zh-TW" sz="1200" dirty="0">
                <a:latin typeface="Times New Roman" panose="02020603050405020304" pitchFamily="18" charset="0"/>
                <a:cs typeface="Times New Roman" panose="02020603050405020304" pitchFamily="18" charset="0"/>
              </a:rPr>
              <a:t>120</a:t>
            </a:r>
            <a:r>
              <a:rPr lang="en-US" altLang="zh-TW" b="0" u="none" dirty="0">
                <a:latin typeface="Times New Roman" pitchFamily="18" charset="0"/>
                <a:cs typeface="Times New Roman" pitchFamily="18" charset="0"/>
              </a:rPr>
              <a:t>℃</a:t>
            </a:r>
            <a:r>
              <a:rPr lang="zh-TW" altLang="en-US" b="0" u="none" dirty="0">
                <a:latin typeface="Times New Roman" pitchFamily="18" charset="0"/>
                <a:cs typeface="Times New Roman" pitchFamily="18" charset="0"/>
              </a:rPr>
              <a:t>量測後</a:t>
            </a:r>
            <a:r>
              <a:rPr lang="zh-TW" altLang="en-US" sz="1200" dirty="0">
                <a:latin typeface="Times New Roman" panose="02020603050405020304" pitchFamily="18" charset="0"/>
                <a:cs typeface="Times New Roman" panose="02020603050405020304" pitchFamily="18" charset="0"/>
              </a:rPr>
              <a:t>問題仍然存在，目前仍然持續追蹤中。</a:t>
            </a:r>
            <a:endParaRPr lang="en-US" altLang="zh-TW" sz="12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30</a:t>
            </a:fld>
            <a:endParaRPr lang="zh-TW" altLang="en-US"/>
          </a:p>
        </p:txBody>
      </p:sp>
    </p:spTree>
    <p:extLst>
      <p:ext uri="{BB962C8B-B14F-4D97-AF65-F5344CB8AC3E}">
        <p14:creationId xmlns:p14="http://schemas.microsoft.com/office/powerpoint/2010/main" val="3882226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200" kern="1200">
                <a:solidFill>
                  <a:schemeClr val="tx1"/>
                </a:solidFill>
                <a:effectLst/>
                <a:latin typeface="+mn-lt"/>
                <a:ea typeface="+mn-ea"/>
                <a:cs typeface="+mn-cs"/>
              </a:rPr>
              <a:t>為了減緩此效應對量測的影響，我們利用程式控制</a:t>
            </a:r>
            <a:r>
              <a:rPr lang="zh-TW" altLang="en-US" sz="1200" kern="1200">
                <a:solidFill>
                  <a:schemeClr val="tx1"/>
                </a:solidFill>
                <a:effectLst/>
                <a:latin typeface="+mn-lt"/>
                <a:ea typeface="+mn-ea"/>
                <a:cs typeface="+mn-cs"/>
              </a:rPr>
              <a:t>施加</a:t>
            </a:r>
            <a:r>
              <a:rPr lang="zh-TW" altLang="zh-TW" sz="1200" kern="1200">
                <a:solidFill>
                  <a:schemeClr val="tx1"/>
                </a:solidFill>
                <a:effectLst/>
                <a:latin typeface="+mn-lt"/>
                <a:ea typeface="+mn-ea"/>
                <a:cs typeface="+mn-cs"/>
              </a:rPr>
              <a:t>電壓的輸出，確保訊號光強度皆在其最大值的九成以上，若訊號光強度開始減弱則停止施加電壓</a:t>
            </a:r>
            <a:r>
              <a:rPr lang="zh-TW" altLang="en-US" sz="1200" kern="1200">
                <a:solidFill>
                  <a:schemeClr val="tx1"/>
                </a:solidFill>
                <a:effectLst/>
                <a:latin typeface="+mn-lt"/>
                <a:ea typeface="+mn-ea"/>
                <a:cs typeface="+mn-cs"/>
              </a:rPr>
              <a:t>直</a:t>
            </a:r>
            <a:r>
              <a:rPr lang="zh-TW" altLang="zh-TW" sz="1200" kern="1200">
                <a:solidFill>
                  <a:schemeClr val="tx1"/>
                </a:solidFill>
                <a:effectLst/>
                <a:latin typeface="+mn-lt"/>
                <a:ea typeface="+mn-ea"/>
                <a:cs typeface="+mn-cs"/>
              </a:rPr>
              <a:t>至恢復為止</a:t>
            </a:r>
            <a:r>
              <a:rPr lang="zh-TW" altLang="en-US" sz="1200" kern="1200">
                <a:solidFill>
                  <a:schemeClr val="tx1"/>
                </a:solidFill>
                <a:effectLst/>
                <a:latin typeface="+mn-lt"/>
                <a:ea typeface="+mn-ea"/>
                <a:cs typeface="+mn-cs"/>
              </a:rPr>
              <a:t>，再持續循環</a:t>
            </a:r>
            <a:r>
              <a:rPr lang="zh-TW" altLang="zh-TW" sz="1200" kern="1200">
                <a:solidFill>
                  <a:schemeClr val="tx1"/>
                </a:solidFill>
                <a:effectLst/>
                <a:latin typeface="+mn-lt"/>
                <a:ea typeface="+mn-ea"/>
                <a:cs typeface="+mn-cs"/>
              </a:rPr>
              <a:t>，電壓與時間之關係如圖所示。</a:t>
            </a:r>
            <a:endParaRPr lang="zh-TW" altLang="en-US"/>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31</a:t>
            </a:fld>
            <a:endParaRPr lang="zh-TW" altLang="en-US"/>
          </a:p>
        </p:txBody>
      </p:sp>
    </p:spTree>
    <p:extLst>
      <p:ext uri="{BB962C8B-B14F-4D97-AF65-F5344CB8AC3E}">
        <p14:creationId xmlns:p14="http://schemas.microsoft.com/office/powerpoint/2010/main" val="2236288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我們首先量測</a:t>
            </a:r>
            <a:r>
              <a:rPr lang="en-US" altLang="zh-TW" dirty="0"/>
              <a:t>OPG</a:t>
            </a:r>
            <a:r>
              <a:rPr lang="zh-TW" altLang="en-US" dirty="0"/>
              <a:t>之電光調變頻譜，量測到的電光波長調製頻譜如左圖，我們根據中心波長來劃出趨勢線判斷調制率大小，得出結果在訊號光</a:t>
            </a:r>
            <a:r>
              <a:rPr lang="en-US" altLang="zh-TW" dirty="0"/>
              <a:t>1</a:t>
            </a:r>
            <a:r>
              <a:rPr lang="zh-TW" altLang="en-US" dirty="0"/>
              <a:t>有</a:t>
            </a:r>
            <a:r>
              <a:rPr lang="en-US" altLang="zh-TW" dirty="0"/>
              <a:t>0.43625</a:t>
            </a:r>
            <a:r>
              <a:rPr lang="zh-TW" altLang="en-US" dirty="0"/>
              <a:t>、訊號光</a:t>
            </a:r>
            <a:r>
              <a:rPr lang="en-US" altLang="zh-TW" dirty="0"/>
              <a:t>2</a:t>
            </a:r>
            <a:r>
              <a:rPr lang="zh-TW" altLang="en-US" dirty="0"/>
              <a:t>有</a:t>
            </a:r>
            <a:r>
              <a:rPr lang="en-US" altLang="zh-TW" dirty="0"/>
              <a:t>0.5075</a:t>
            </a:r>
            <a:r>
              <a:rPr lang="zh-TW" altLang="en-US" dirty="0"/>
              <a:t>的調製率，</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32</a:t>
            </a:fld>
            <a:endParaRPr lang="zh-TW" altLang="en-US"/>
          </a:p>
        </p:txBody>
      </p:sp>
    </p:spTree>
    <p:extLst>
      <p:ext uri="{BB962C8B-B14F-4D97-AF65-F5344CB8AC3E}">
        <p14:creationId xmlns:p14="http://schemas.microsoft.com/office/powerpoint/2010/main" val="239500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接著量測</a:t>
            </a:r>
            <a:r>
              <a:rPr lang="en-US" altLang="zh-TW" dirty="0"/>
              <a:t>OPO</a:t>
            </a:r>
            <a:r>
              <a:rPr lang="zh-TW" altLang="en-US" dirty="0"/>
              <a:t>之電光波長調變，於晶體溫度</a:t>
            </a:r>
            <a:r>
              <a:rPr lang="en-US" altLang="zh-TW" dirty="0"/>
              <a:t>40</a:t>
            </a:r>
            <a:r>
              <a:rPr lang="zh-TW" altLang="en-US" dirty="0"/>
              <a:t>度時，量測到的電光波長調製頻譜如左圖，根據中心波長來劃出趨勢線判斷調制率大小，得出結果在訊號光</a:t>
            </a:r>
            <a:r>
              <a:rPr lang="en-US" altLang="zh-TW" dirty="0"/>
              <a:t>1</a:t>
            </a:r>
            <a:r>
              <a:rPr lang="zh-TW" altLang="en-US" dirty="0"/>
              <a:t>有</a:t>
            </a:r>
            <a:r>
              <a:rPr lang="en-US" altLang="zh-TW" dirty="0"/>
              <a:t>0.48</a:t>
            </a:r>
            <a:r>
              <a:rPr lang="zh-TW" altLang="en-US" dirty="0"/>
              <a:t>、訊號光</a:t>
            </a:r>
            <a:r>
              <a:rPr lang="en-US" altLang="zh-TW" dirty="0"/>
              <a:t>2</a:t>
            </a:r>
            <a:r>
              <a:rPr lang="zh-TW" altLang="en-US" dirty="0"/>
              <a:t>有</a:t>
            </a:r>
            <a:r>
              <a:rPr lang="en-US" altLang="zh-TW" dirty="0"/>
              <a:t>0.53</a:t>
            </a:r>
            <a:r>
              <a:rPr lang="zh-TW" altLang="en-US" dirty="0"/>
              <a:t>的調製率。</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33</a:t>
            </a:fld>
            <a:endParaRPr lang="zh-TW" altLang="en-US"/>
          </a:p>
        </p:txBody>
      </p:sp>
    </p:spTree>
    <p:extLst>
      <p:ext uri="{BB962C8B-B14F-4D97-AF65-F5344CB8AC3E}">
        <p14:creationId xmlns:p14="http://schemas.microsoft.com/office/powerpoint/2010/main" val="38220725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這兩張圖為模擬與量測的疊合圖，虛線為模擬，實現為量測，由疊合圖來看，兩訊號光雖然中心波長些有偏差，但是</a:t>
                </a:r>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oMath>
                </a14:m>
                <a:r>
                  <a:rPr lang="zh-TW" altLang="en-US" dirty="0"/>
                  <a:t>與模擬大致吻合。</a:t>
                </a:r>
              </a:p>
            </p:txBody>
          </p:sp>
        </mc:Choice>
        <mc:Fallback xmlns="">
          <p:sp>
            <p:nvSpPr>
              <p:cNvPr id="3" name="備忘稿版面配置區 2"/>
              <p:cNvSpPr>
                <a:spLocks noGrp="1"/>
              </p:cNvSpPr>
              <p:nvPr>
                <p:ph type="body" idx="1"/>
              </p:nvPr>
            </p:nvSpPr>
            <p:spPr/>
            <p:txBody>
              <a:bodyPr/>
              <a:lstStyle/>
              <a:p>
                <a:r>
                  <a:rPr lang="zh-TW" altLang="en-US" dirty="0" smtClean="0"/>
                  <a:t>如左圖所示，右邊將放大兩訊號光的部分仔細觀察，</a:t>
                </a:r>
                <a:r>
                  <a:rPr lang="en-US" altLang="zh-TW" dirty="0" smtClean="0"/>
                  <a:t>1540nm</a:t>
                </a:r>
                <a:r>
                  <a:rPr lang="zh-TW" altLang="en-US" dirty="0" smtClean="0"/>
                  <a:t>的部分雖然中心波長些有偏差，但是</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tuning rate</a:t>
                </a:r>
                <a:r>
                  <a:rPr lang="zh-TW" altLang="en-US" dirty="0" smtClean="0"/>
                  <a:t>皆與模擬大小吻合。且我們量測到的最佳調制率為分別為</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0.</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485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𝑘𝑉/𝑚𝑚</a:t>
                </a:r>
                <a:r>
                  <a:rPr lang="zh-TW" altLang="zh-TW" b="0" i="0" kern="0">
                    <a:effectLst/>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與</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+0.</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525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𝑘𝑉/𝑚𝑚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，與先前之研究之</a:t>
                </a:r>
                <a:r>
                  <a:rPr lang="en-US" altLang="zh-TW" dirty="0" smtClean="0"/>
                  <a:t>0.38</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𝑛𝑚</a:t>
                </a:r>
                <a:r>
                  <a:rPr lang="zh-TW" altLang="zh-TW" i="0" kern="0" smtClea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𝑘𝑉/𝑚𝑚</a:t>
                </a:r>
                <a:r>
                  <a:rPr lang="zh-TW" altLang="zh-TW" i="0" kern="0" smtClean="0">
                    <a:effectLst/>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有明顯之成長。</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34</a:t>
            </a:fld>
            <a:endParaRPr lang="zh-TW" altLang="en-US"/>
          </a:p>
        </p:txBody>
      </p:sp>
    </p:spTree>
    <p:extLst>
      <p:ext uri="{BB962C8B-B14F-4D97-AF65-F5344CB8AC3E}">
        <p14:creationId xmlns:p14="http://schemas.microsoft.com/office/powerpoint/2010/main" val="286884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接著我們將晶體溫度升至</a:t>
                </a:r>
                <a:r>
                  <a:rPr lang="en-US" altLang="zh-TW" dirty="0"/>
                  <a:t>60</a:t>
                </a:r>
                <a:r>
                  <a:rPr lang="en-US" altLang="zh-TW" b="0" u="none" dirty="0">
                    <a:latin typeface="Times New Roman" pitchFamily="18" charset="0"/>
                    <a:cs typeface="Times New Roman" pitchFamily="18" charset="0"/>
                  </a:rPr>
                  <a:t>℃</a:t>
                </a:r>
                <a:r>
                  <a:rPr lang="zh-TW" altLang="en-US" dirty="0"/>
                  <a:t>進行量測，結果如圖所示，原先的訊號光皆因溫度增加而向右偏移，其調製率經分析後分別為</a:t>
                </a:r>
                <a:r>
                  <a:rPr lang="en-US" altLang="zh-TW" dirty="0"/>
                  <a:t>0.53</a:t>
                </a:r>
                <a:r>
                  <a:rPr lang="zh-TW" altLang="en-US" dirty="0"/>
                  <a:t>與</a:t>
                </a:r>
                <a:r>
                  <a:rPr lang="en-US" altLang="zh-TW" dirty="0"/>
                  <a:t>0.505</a:t>
                </a:r>
                <a:r>
                  <a:rPr lang="zh-TW" altLang="en-US" dirty="0"/>
                  <a:t>。</a:t>
                </a:r>
              </a:p>
            </p:txBody>
          </p:sp>
        </mc:Choice>
        <mc:Fallback xmlns="">
          <p:sp>
            <p:nvSpPr>
              <p:cNvPr id="3" name="備忘稿版面配置區 2"/>
              <p:cNvSpPr>
                <a:spLocks noGrp="1"/>
              </p:cNvSpPr>
              <p:nvPr>
                <p:ph type="body" idx="1"/>
              </p:nvPr>
            </p:nvSpPr>
            <p:spPr/>
            <p:txBody>
              <a:bodyPr/>
              <a:lstStyle/>
              <a:p>
                <a:r>
                  <a:rPr lang="zh-TW" altLang="en-US" dirty="0" smtClean="0"/>
                  <a:t>接著我們將晶體溫度升至</a:t>
                </a:r>
                <a:r>
                  <a:rPr lang="en-US" altLang="zh-TW" dirty="0" smtClean="0"/>
                  <a:t>60</a:t>
                </a:r>
                <a:r>
                  <a:rPr lang="en-US" altLang="zh-TW" b="0" u="none" dirty="0" smtClean="0">
                    <a:latin typeface="Times New Roman" pitchFamily="18" charset="0"/>
                    <a:cs typeface="Times New Roman" pitchFamily="18" charset="0"/>
                  </a:rPr>
                  <a:t>℃</a:t>
                </a:r>
                <a:r>
                  <a:rPr lang="zh-TW" altLang="en-US" dirty="0" smtClean="0"/>
                  <a:t>進行量測，結果如圖所示，原先的</a:t>
                </a:r>
                <a:r>
                  <a:rPr lang="en-US" altLang="zh-TW" dirty="0" smtClean="0"/>
                  <a:t>1540nm</a:t>
                </a:r>
                <a:r>
                  <a:rPr lang="zh-TW" altLang="en-US" dirty="0" smtClean="0"/>
                  <a:t>因溫度增加偏移至</a:t>
                </a:r>
                <a:r>
                  <a:rPr lang="en-US" altLang="zh-TW" dirty="0" smtClean="0"/>
                  <a:t>1546nm</a:t>
                </a:r>
                <a:r>
                  <a:rPr lang="zh-TW" altLang="en-US" dirty="0" smtClean="0"/>
                  <a:t>，</a:t>
                </a:r>
                <a:r>
                  <a:rPr lang="en-US" altLang="zh-TW" dirty="0" smtClean="0"/>
                  <a:t>1550nm</a:t>
                </a:r>
                <a:r>
                  <a:rPr lang="zh-TW" altLang="en-US" dirty="0" smtClean="0"/>
                  <a:t>則偏移至</a:t>
                </a:r>
                <a:r>
                  <a:rPr lang="en-US" altLang="zh-TW" dirty="0" smtClean="0"/>
                  <a:t>1556nm</a:t>
                </a:r>
                <a:r>
                  <a:rPr lang="zh-TW" altLang="en-US" dirty="0" smtClean="0"/>
                  <a:t>，其</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tuning rate</a:t>
                </a:r>
                <a:r>
                  <a:rPr lang="zh-TW" altLang="en-US" dirty="0" smtClean="0"/>
                  <a:t>分別為</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0.</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445</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𝑘𝑉/𝑚𝑚</a:t>
                </a:r>
                <a:r>
                  <a:rPr lang="zh-TW" altLang="zh-TW" b="0" i="0" kern="0">
                    <a:effectLst/>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與</a:t>
                </a:r>
                <a:r>
                  <a:rPr lang="en-US" altLang="zh-TW" i="0" kern="0" smtClean="0">
                    <a:latin typeface="Cambria Math" panose="02040503050406030204" pitchFamily="18" charset="0"/>
                    <a:ea typeface="標楷體" panose="03000509000000000000" pitchFamily="65" charset="-120"/>
                    <a:cs typeface="Times New Roman" panose="02020603050405020304" pitchFamily="18" charset="0"/>
                  </a:rPr>
                  <a:t>+0.</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57</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 𝑛𝑚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en-US" altLang="zh-TW" i="0" kern="0">
                    <a:latin typeface="Cambria Math" panose="02040503050406030204" pitchFamily="18" charset="0"/>
                    <a:ea typeface="標楷體" panose="03000509000000000000" pitchFamily="65" charset="-120"/>
                    <a:cs typeface="Times New Roman" panose="02020603050405020304" pitchFamily="18" charset="0"/>
                  </a:rPr>
                  <a:t>𝑘𝑉/𝑚𝑚</a:t>
                </a:r>
                <a:r>
                  <a:rPr lang="zh-TW" altLang="zh-TW" i="0" kern="0">
                    <a:effectLst/>
                    <a:latin typeface="Cambria Math" panose="02040503050406030204" pitchFamily="18" charset="0"/>
                    <a:ea typeface="標楷體" panose="03000509000000000000" pitchFamily="65" charset="-120"/>
                    <a:cs typeface="Times New Roman" panose="02020603050405020304" pitchFamily="18" charset="0"/>
                  </a:rPr>
                  <a:t>〗</a:t>
                </a:r>
                <a:r>
                  <a:rPr lang="zh-TW" altLang="en-US" dirty="0" smtClean="0"/>
                  <a:t>有增加的趨勢。</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35</a:t>
            </a:fld>
            <a:endParaRPr lang="zh-TW" altLang="en-US"/>
          </a:p>
        </p:txBody>
      </p:sp>
    </p:spTree>
    <p:extLst>
      <p:ext uri="{BB962C8B-B14F-4D97-AF65-F5344CB8AC3E}">
        <p14:creationId xmlns:p14="http://schemas.microsoft.com/office/powerpoint/2010/main" val="42448419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80</a:t>
                </a:r>
                <a:r>
                  <a:rPr lang="en-US" altLang="zh-TW" b="0" u="none" dirty="0">
                    <a:latin typeface="Times New Roman" pitchFamily="18" charset="0"/>
                    <a:cs typeface="Times New Roman" pitchFamily="18" charset="0"/>
                  </a:rPr>
                  <a:t>℃</a:t>
                </a:r>
                <a:r>
                  <a:rPr lang="zh-TW" altLang="en-US" b="0" u="none" dirty="0">
                    <a:latin typeface="+mn-lt"/>
                    <a:cs typeface="+mn-cs"/>
                  </a:rPr>
                  <a:t>的</a:t>
                </a:r>
                <a:r>
                  <a:rPr lang="zh-TW" altLang="en-US" dirty="0"/>
                  <a:t>量測，其</a:t>
                </a:r>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oMath>
                </a14:m>
                <a:r>
                  <a:rPr lang="zh-TW" altLang="en-US" dirty="0"/>
                  <a:t>分別為</a:t>
                </a:r>
                <a:r>
                  <a:rPr lang="en-US" altLang="zh-TW" dirty="0"/>
                  <a:t>0.555</a:t>
                </a:r>
                <a:r>
                  <a:rPr lang="zh-TW" altLang="en-US" dirty="0"/>
                  <a:t>與</a:t>
                </a:r>
                <a:r>
                  <a:rPr lang="en-US" altLang="zh-TW" dirty="0"/>
                  <a:t>0.5</a:t>
                </a:r>
                <a:r>
                  <a:rPr lang="zh-TW" altLang="en-US" dirty="0"/>
                  <a:t>。</a:t>
                </a:r>
              </a:p>
              <a:p>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80</a:t>
                </a:r>
                <a:r>
                  <a:rPr lang="en-US" altLang="zh-TW" b="0" u="none" dirty="0" smtClean="0">
                    <a:latin typeface="Times New Roman" pitchFamily="18" charset="0"/>
                    <a:cs typeface="Times New Roman" pitchFamily="18" charset="0"/>
                  </a:rPr>
                  <a:t>℃</a:t>
                </a:r>
                <a:r>
                  <a:rPr lang="zh-TW" altLang="en-US" b="0" u="none" dirty="0" smtClean="0">
                    <a:latin typeface="+mn-lt"/>
                    <a:cs typeface="+mn-cs"/>
                  </a:rPr>
                  <a:t>的</a:t>
                </a:r>
                <a:r>
                  <a:rPr lang="zh-TW" altLang="en-US" dirty="0" smtClean="0"/>
                  <a:t>量測，</a:t>
                </a:r>
                <a:r>
                  <a:rPr lang="zh-TW" altLang="en-US" dirty="0" smtClean="0"/>
                  <a:t>其</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tuning rate</a:t>
                </a:r>
                <a:r>
                  <a:rPr lang="zh-TW" altLang="en-US" dirty="0" smtClean="0"/>
                  <a:t>分別為</a:t>
                </a:r>
                <a:r>
                  <a:rPr lang="en-US" altLang="zh-TW" dirty="0" smtClean="0"/>
                  <a:t>0.555</a:t>
                </a:r>
                <a:r>
                  <a:rPr lang="zh-TW" altLang="en-US" dirty="0" smtClean="0"/>
                  <a:t>與</a:t>
                </a:r>
                <a:r>
                  <a:rPr lang="en-US" altLang="zh-TW" dirty="0" smtClean="0"/>
                  <a:t>0.5</a:t>
                </a:r>
                <a:r>
                  <a:rPr lang="zh-TW" altLang="en-US" dirty="0" smtClean="0"/>
                  <a:t>。</a:t>
                </a:r>
                <a:endParaRPr lang="zh-TW" altLang="en-US"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36</a:t>
            </a:fld>
            <a:endParaRPr lang="zh-TW" altLang="en-US"/>
          </a:p>
        </p:txBody>
      </p:sp>
    </p:spTree>
    <p:extLst>
      <p:ext uri="{BB962C8B-B14F-4D97-AF65-F5344CB8AC3E}">
        <p14:creationId xmlns:p14="http://schemas.microsoft.com/office/powerpoint/2010/main" val="1489459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100</a:t>
                </a:r>
                <a:r>
                  <a:rPr lang="en-US" altLang="zh-TW" b="0" u="none" dirty="0">
                    <a:latin typeface="Times New Roman" pitchFamily="18" charset="0"/>
                    <a:cs typeface="Times New Roman" pitchFamily="18" charset="0"/>
                  </a:rPr>
                  <a:t>℃</a:t>
                </a:r>
                <a:r>
                  <a:rPr lang="zh-TW" altLang="en-US" b="0" u="none" dirty="0">
                    <a:latin typeface="+mn-lt"/>
                    <a:cs typeface="+mn-cs"/>
                  </a:rPr>
                  <a:t>的</a:t>
                </a:r>
                <a:r>
                  <a:rPr lang="zh-TW" altLang="en-US" dirty="0"/>
                  <a:t>量測，其</a:t>
                </a:r>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oMath>
                </a14:m>
                <a:r>
                  <a:rPr lang="zh-TW" altLang="en-US" dirty="0"/>
                  <a:t>分別為</a:t>
                </a:r>
                <a:r>
                  <a:rPr lang="en-US" altLang="zh-TW" dirty="0"/>
                  <a:t>0.545</a:t>
                </a:r>
                <a:r>
                  <a:rPr lang="zh-TW" altLang="en-US" dirty="0"/>
                  <a:t>與</a:t>
                </a:r>
                <a:r>
                  <a:rPr lang="en-US" altLang="zh-TW" dirty="0"/>
                  <a:t>0.585</a:t>
                </a:r>
                <a:r>
                  <a:rPr lang="zh-TW" altLang="en-US" dirty="0"/>
                  <a:t>。</a:t>
                </a:r>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100</a:t>
                </a:r>
                <a:r>
                  <a:rPr lang="en-US" altLang="zh-TW" b="0" u="none" dirty="0" smtClean="0">
                    <a:latin typeface="Times New Roman" pitchFamily="18" charset="0"/>
                    <a:cs typeface="Times New Roman" pitchFamily="18" charset="0"/>
                  </a:rPr>
                  <a:t>℃</a:t>
                </a:r>
                <a:r>
                  <a:rPr lang="zh-TW" altLang="en-US" b="0" u="none" dirty="0" smtClean="0">
                    <a:latin typeface="+mn-lt"/>
                    <a:cs typeface="+mn-cs"/>
                  </a:rPr>
                  <a:t>的</a:t>
                </a:r>
                <a:r>
                  <a:rPr lang="zh-TW" altLang="en-US" dirty="0" smtClean="0"/>
                  <a:t>量測，其</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tuning rate</a:t>
                </a:r>
                <a:r>
                  <a:rPr lang="zh-TW" altLang="en-US" dirty="0" smtClean="0"/>
                  <a:t>分別為</a:t>
                </a:r>
                <a:r>
                  <a:rPr lang="en-US" altLang="zh-TW" dirty="0" smtClean="0"/>
                  <a:t>0.545</a:t>
                </a:r>
                <a:r>
                  <a:rPr lang="zh-TW" altLang="en-US" dirty="0" smtClean="0"/>
                  <a:t>與</a:t>
                </a:r>
                <a:r>
                  <a:rPr lang="en-US" altLang="zh-TW" dirty="0" smtClean="0"/>
                  <a:t>0.585</a:t>
                </a:r>
                <a:r>
                  <a:rPr lang="zh-TW" altLang="en-US" dirty="0" smtClean="0"/>
                  <a:t>。</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37</a:t>
            </a:fld>
            <a:endParaRPr lang="zh-TW" altLang="en-US"/>
          </a:p>
        </p:txBody>
      </p:sp>
    </p:spTree>
    <p:extLst>
      <p:ext uri="{BB962C8B-B14F-4D97-AF65-F5344CB8AC3E}">
        <p14:creationId xmlns:p14="http://schemas.microsoft.com/office/powerpoint/2010/main" val="25815767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在</a:t>
                </a:r>
                <a:r>
                  <a:rPr lang="en-US" altLang="zh-TW" dirty="0"/>
                  <a:t>120</a:t>
                </a:r>
                <a:r>
                  <a:rPr lang="en-US" altLang="zh-TW" b="0" u="none" dirty="0">
                    <a:latin typeface="Times New Roman" pitchFamily="18" charset="0"/>
                    <a:cs typeface="Times New Roman" pitchFamily="18" charset="0"/>
                  </a:rPr>
                  <a:t>℃</a:t>
                </a:r>
                <a:r>
                  <a:rPr lang="zh-TW" altLang="en-US" b="0" u="none" dirty="0">
                    <a:latin typeface="+mn-lt"/>
                    <a:cs typeface="+mn-cs"/>
                  </a:rPr>
                  <a:t>的</a:t>
                </a:r>
                <a:r>
                  <a:rPr lang="zh-TW" altLang="en-US" dirty="0"/>
                  <a:t>量測時，其</a:t>
                </a:r>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oMath>
                </a14:m>
                <a:r>
                  <a:rPr lang="zh-TW" altLang="en-US" dirty="0"/>
                  <a:t>分別為</a:t>
                </a:r>
                <a:r>
                  <a:rPr lang="en-US" altLang="zh-TW" dirty="0"/>
                  <a:t>0.7125</a:t>
                </a:r>
                <a:r>
                  <a:rPr lang="zh-TW" altLang="en-US" dirty="0"/>
                  <a:t>與</a:t>
                </a:r>
                <a:r>
                  <a:rPr lang="en-US" altLang="zh-TW" dirty="0"/>
                  <a:t>0.7325</a:t>
                </a:r>
                <a:r>
                  <a:rPr lang="zh-TW" altLang="en-US" dirty="0"/>
                  <a:t>，雖然在此時量到了最佳的調製率不過由於與設計溫度相差過遠以及製程等誤差，</a:t>
                </a:r>
                <a:r>
                  <a:rPr lang="zh-TW" altLang="zh-TW" sz="1200" kern="1200" dirty="0">
                    <a:solidFill>
                      <a:schemeClr val="tx1"/>
                    </a:solidFill>
                    <a:effectLst/>
                    <a:latin typeface="+mn-lt"/>
                    <a:ea typeface="+mn-ea"/>
                    <a:cs typeface="+mn-cs"/>
                  </a:rPr>
                  <a:t>導致訊號光相對功率降為</a:t>
                </a:r>
                <a:r>
                  <a:rPr lang="en-US" altLang="zh-TW" sz="1200" kern="1200" dirty="0">
                    <a:solidFill>
                      <a:schemeClr val="tx1"/>
                    </a:solidFill>
                    <a:effectLst/>
                    <a:latin typeface="+mn-lt"/>
                    <a:ea typeface="+mn-ea"/>
                    <a:cs typeface="+mn-cs"/>
                  </a:rPr>
                  <a:t>32%</a:t>
                </a:r>
                <a:r>
                  <a:rPr lang="zh-TW" altLang="en-US" sz="1200" kern="1200" dirty="0">
                    <a:solidFill>
                      <a:schemeClr val="tx1"/>
                    </a:solidFill>
                    <a:effectLst/>
                    <a:latin typeface="+mn-lt"/>
                    <a:ea typeface="+mn-ea"/>
                    <a:cs typeface="+mn-cs"/>
                  </a:rPr>
                  <a:t>。</a:t>
                </a:r>
                <a:endParaRPr lang="zh-TW" altLang="en-US" dirty="0"/>
              </a:p>
            </p:txBody>
          </p:sp>
        </mc:Choice>
        <mc:Fallback xmlns="">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在</a:t>
                </a:r>
                <a:r>
                  <a:rPr lang="en-US" altLang="zh-TW" dirty="0" smtClean="0"/>
                  <a:t>120</a:t>
                </a:r>
                <a:r>
                  <a:rPr lang="en-US" altLang="zh-TW" b="0" u="none" dirty="0" smtClean="0">
                    <a:latin typeface="Times New Roman" pitchFamily="18" charset="0"/>
                    <a:cs typeface="Times New Roman" pitchFamily="18" charset="0"/>
                  </a:rPr>
                  <a:t>℃</a:t>
                </a:r>
                <a:r>
                  <a:rPr lang="zh-TW" altLang="en-US" b="0" u="none" dirty="0" smtClean="0">
                    <a:latin typeface="+mn-lt"/>
                    <a:cs typeface="+mn-cs"/>
                  </a:rPr>
                  <a:t>的</a:t>
                </a:r>
                <a:r>
                  <a:rPr lang="zh-TW" altLang="en-US" dirty="0" smtClean="0"/>
                  <a:t>量</a:t>
                </a:r>
                <a:r>
                  <a:rPr lang="zh-TW" altLang="en-US" dirty="0" smtClean="0"/>
                  <a:t>測時，</a:t>
                </a:r>
                <a:r>
                  <a:rPr lang="zh-TW" altLang="en-US" dirty="0" smtClean="0"/>
                  <a:t>其</a:t>
                </a:r>
                <a: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a:t>tuning rate</a:t>
                </a:r>
                <a:r>
                  <a:rPr lang="zh-TW" altLang="en-US" dirty="0" smtClean="0"/>
                  <a:t>分別為</a:t>
                </a:r>
                <a:r>
                  <a:rPr lang="en-US" altLang="zh-TW" dirty="0" smtClean="0"/>
                  <a:t>0.7125</a:t>
                </a:r>
                <a:r>
                  <a:rPr lang="zh-TW" altLang="en-US" dirty="0" smtClean="0"/>
                  <a:t>與</a:t>
                </a:r>
                <a:r>
                  <a:rPr lang="en-US" altLang="zh-TW" dirty="0" smtClean="0"/>
                  <a:t>0.7325</a:t>
                </a:r>
                <a:r>
                  <a:rPr lang="zh-TW" altLang="en-US" dirty="0" smtClean="0"/>
                  <a:t>，雖然在此時量到了最佳的調製率不過由於與設計溫度相差過遠以及製程等誤差，</a:t>
                </a:r>
                <a:r>
                  <a:rPr lang="zh-TW" altLang="zh-TW" sz="1200" kern="1200" dirty="0" smtClean="0">
                    <a:solidFill>
                      <a:schemeClr val="tx1"/>
                    </a:solidFill>
                    <a:effectLst/>
                    <a:latin typeface="+mn-lt"/>
                    <a:ea typeface="+mn-ea"/>
                    <a:cs typeface="+mn-cs"/>
                  </a:rPr>
                  <a:t>導致訊號光相對功率降為</a:t>
                </a:r>
                <a:r>
                  <a:rPr lang="en-US" altLang="zh-TW" sz="1200" kern="1200" dirty="0" smtClean="0">
                    <a:solidFill>
                      <a:schemeClr val="tx1"/>
                    </a:solidFill>
                    <a:effectLst/>
                    <a:latin typeface="+mn-lt"/>
                    <a:ea typeface="+mn-ea"/>
                    <a:cs typeface="+mn-cs"/>
                  </a:rPr>
                  <a:t>41%</a:t>
                </a:r>
                <a:r>
                  <a:rPr lang="zh-TW" altLang="en-US" dirty="0" smtClean="0"/>
                  <a:t>。</a:t>
                </a:r>
                <a:endParaRPr lang="zh-TW" altLang="en-US" dirty="0"/>
              </a:p>
              <a:p>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38</a:t>
            </a:fld>
            <a:endParaRPr lang="zh-TW" altLang="en-US"/>
          </a:p>
        </p:txBody>
      </p:sp>
    </p:spTree>
    <p:extLst>
      <p:ext uri="{BB962C8B-B14F-4D97-AF65-F5344CB8AC3E}">
        <p14:creationId xmlns:p14="http://schemas.microsoft.com/office/powerpoint/2010/main" val="1136098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表格為實驗與模擬的數值表，比較不同溫度下的結果，可以看出隨著溫度升高調制率有增加的趨勢，而這個趨勢可以由光參量產生器的準相位匹配條件與電壓的影響得出，當訊號光波長因為溫度的提升而增加時，調制率也會隨之影響，</a:t>
            </a: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39</a:t>
            </a:fld>
            <a:endParaRPr lang="zh-TW" altLang="en-US"/>
          </a:p>
        </p:txBody>
      </p:sp>
    </p:spTree>
    <p:extLst>
      <p:ext uri="{BB962C8B-B14F-4D97-AF65-F5344CB8AC3E}">
        <p14:creationId xmlns:p14="http://schemas.microsoft.com/office/powerpoint/2010/main" val="6325996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sz="1200" kern="1200" dirty="0">
                <a:solidFill>
                  <a:schemeClr val="tx1"/>
                </a:solidFill>
                <a:effectLst/>
                <a:latin typeface="+mn-lt"/>
                <a:ea typeface="+mn-ea"/>
                <a:cs typeface="+mn-cs"/>
              </a:rPr>
              <a:t>隨著泵浦強度越高，被激發至上能階的粒子數也就越多，進行</a:t>
            </a:r>
            <a:r>
              <a:rPr lang="en-US" altLang="zh-TW" sz="1200" kern="1200" dirty="0">
                <a:solidFill>
                  <a:schemeClr val="tx1"/>
                </a:solidFill>
                <a:effectLst/>
                <a:latin typeface="+mn-lt"/>
                <a:ea typeface="+mn-ea"/>
                <a:cs typeface="+mn-cs"/>
              </a:rPr>
              <a:t>Q</a:t>
            </a:r>
            <a:r>
              <a:rPr lang="zh-TW" altLang="zh-TW" sz="1200" kern="1200" dirty="0">
                <a:solidFill>
                  <a:schemeClr val="tx1"/>
                </a:solidFill>
                <a:effectLst/>
                <a:latin typeface="+mn-lt"/>
                <a:ea typeface="+mn-ea"/>
                <a:cs typeface="+mn-cs"/>
              </a:rPr>
              <a:t>調制所瞬間釋放的能量也就越大，且脈衝寬度越窄，相對的尖峰功率也就越大。泵浦光</a:t>
            </a:r>
            <a:r>
              <a:rPr lang="en-US" altLang="zh-TW" sz="1200" kern="1200" dirty="0">
                <a:solidFill>
                  <a:schemeClr val="tx1"/>
                </a:solidFill>
                <a:effectLst/>
                <a:latin typeface="+mn-lt"/>
                <a:ea typeface="+mn-ea"/>
                <a:cs typeface="+mn-cs"/>
              </a:rPr>
              <a:t>1064nm</a:t>
            </a:r>
            <a:r>
              <a:rPr lang="zh-TW" altLang="zh-TW" sz="1200" kern="1200" dirty="0">
                <a:solidFill>
                  <a:schemeClr val="tx1"/>
                </a:solidFill>
                <a:effectLst/>
                <a:latin typeface="+mn-lt"/>
                <a:ea typeface="+mn-ea"/>
                <a:cs typeface="+mn-cs"/>
              </a:rPr>
              <a:t>的脈寬與功率變化也會直接影響到訊號光的脈寬與功率強度。</a:t>
            </a:r>
            <a:r>
              <a:rPr lang="zh-TW" altLang="en-US" sz="1200" kern="1200" dirty="0">
                <a:solidFill>
                  <a:schemeClr val="tx1"/>
                </a:solidFill>
                <a:effectLst/>
                <a:latin typeface="+mn-lt"/>
                <a:ea typeface="+mn-ea"/>
                <a:cs typeface="+mn-cs"/>
              </a:rPr>
              <a:t>圖為</a:t>
            </a:r>
            <a:r>
              <a:rPr lang="zh-TW" altLang="en-US" dirty="0"/>
              <a:t>訊號光的尖峰功率與脈衝寬度對</a:t>
            </a:r>
            <a:r>
              <a:rPr lang="en-US" altLang="zh-TW" dirty="0"/>
              <a:t>pump</a:t>
            </a:r>
            <a:r>
              <a:rPr lang="zh-TW" altLang="en-US" dirty="0"/>
              <a:t>強度的作圖，以及</a:t>
            </a:r>
            <a:r>
              <a:rPr lang="zh-TW" altLang="zh-TW" sz="1200" kern="1200" dirty="0">
                <a:solidFill>
                  <a:schemeClr val="tx1"/>
                </a:solidFill>
                <a:effectLst/>
                <a:latin typeface="+mn-lt"/>
                <a:ea typeface="+mn-ea"/>
                <a:cs typeface="+mn-cs"/>
              </a:rPr>
              <a:t>時域上訊號光雷射脈衝連續輸出</a:t>
            </a:r>
            <a:r>
              <a:rPr lang="zh-TW" altLang="en-US" sz="1200" kern="1200" dirty="0">
                <a:solidFill>
                  <a:schemeClr val="tx1"/>
                </a:solidFill>
                <a:effectLst/>
                <a:latin typeface="+mn-lt"/>
                <a:ea typeface="+mn-ea"/>
                <a:cs typeface="+mn-cs"/>
              </a:rPr>
              <a:t>圖，其浮動範圍約為</a:t>
            </a:r>
            <a:r>
              <a:rPr lang="en-US" altLang="zh-TW" sz="1200" kern="1200" dirty="0">
                <a:solidFill>
                  <a:schemeClr val="tx1"/>
                </a:solidFill>
                <a:effectLst/>
                <a:latin typeface="+mn-lt"/>
                <a:ea typeface="+mn-ea"/>
                <a:cs typeface="+mn-cs"/>
              </a:rPr>
              <a:t>9%</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再來觀察電光調制時，脈衝寬度是否有影響，由圖可知，在相同</a:t>
            </a:r>
            <a:r>
              <a:rPr lang="en-US" altLang="zh-TW" dirty="0"/>
              <a:t>pump power</a:t>
            </a:r>
            <a:r>
              <a:rPr lang="zh-TW" altLang="en-US" dirty="0"/>
              <a:t>下，其結果差距並不大。</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40</a:t>
            </a:fld>
            <a:endParaRPr lang="zh-TW" altLang="en-US"/>
          </a:p>
        </p:txBody>
      </p:sp>
    </p:spTree>
    <p:extLst>
      <p:ext uri="{BB962C8B-B14F-4D97-AF65-F5344CB8AC3E}">
        <p14:creationId xmlns:p14="http://schemas.microsoft.com/office/powerpoint/2010/main" val="654156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我們成功發展了基因演算法計算出</a:t>
            </a:r>
            <a:r>
              <a:rPr lang="en-US" altLang="zh-TW" dirty="0"/>
              <a:t>NOS</a:t>
            </a:r>
            <a:r>
              <a:rPr lang="zh-TW" altLang="en-US" dirty="0"/>
              <a:t>結構的電光調制多波長腔內泵浦光參量振盪器。</a:t>
            </a:r>
            <a:endParaRPr lang="en-US" altLang="zh-TW" dirty="0"/>
          </a:p>
          <a:p>
            <a:r>
              <a:rPr lang="zh-TW" altLang="en-US" dirty="0"/>
              <a:t>也成功量測到最高大於</a:t>
            </a:r>
            <a:r>
              <a:rPr lang="en-US" altLang="zh-TW" dirty="0"/>
              <a:t>0.7</a:t>
            </a:r>
            <a:r>
              <a:rPr lang="zh-TW" altLang="en-US" dirty="0"/>
              <a:t>的調制率在通訊波段之雙波長，其結果相較於先前的調製率有了大幅度的成長，由</a:t>
            </a:r>
            <a:r>
              <a:rPr lang="en-US" altLang="zh-TW" dirty="0"/>
              <a:t>0.46</a:t>
            </a:r>
            <a:r>
              <a:rPr lang="zh-TW" altLang="en-US" dirty="0"/>
              <a:t>增加至</a:t>
            </a:r>
            <a:r>
              <a:rPr lang="en-US" altLang="zh-TW" dirty="0"/>
              <a:t>0.7325</a:t>
            </a:r>
            <a:r>
              <a:rPr lang="zh-TW" altLang="en-US" dirty="0"/>
              <a:t>，光譜保真度在低於</a:t>
            </a:r>
            <a:r>
              <a:rPr lang="en-US" altLang="zh-TW" dirty="0"/>
              <a:t>120</a:t>
            </a:r>
            <a:r>
              <a:rPr lang="zh-TW" altLang="en-US" dirty="0"/>
              <a:t>度時的表現也很好</a:t>
            </a:r>
            <a:r>
              <a:rPr lang="zh-TW" altLang="en-US" b="0" u="none" dirty="0">
                <a:latin typeface="Times New Roman" pitchFamily="18" charset="0"/>
                <a:cs typeface="Times New Roman" pitchFamily="18" charset="0"/>
              </a:rPr>
              <a:t>。</a:t>
            </a:r>
            <a:endParaRPr lang="en-US" altLang="zh-TW" b="0" u="none" dirty="0">
              <a:latin typeface="Times New Roman" pitchFamily="18" charset="0"/>
              <a:cs typeface="Times New Roman" pitchFamily="18" charset="0"/>
            </a:endParaRPr>
          </a:p>
          <a:p>
            <a:r>
              <a:rPr lang="zh-TW" altLang="en-US" b="0" u="none" dirty="0">
                <a:latin typeface="Times New Roman" pitchFamily="18" charset="0"/>
                <a:cs typeface="Times New Roman" pitchFamily="18" charset="0"/>
              </a:rPr>
              <a:t>我們發現了實驗中訊號光會隨時間持續衰弱的問題，透過</a:t>
            </a:r>
            <a:r>
              <a:rPr lang="en-US" altLang="zh-TW" b="0" u="none" dirty="0">
                <a:latin typeface="Times New Roman" pitchFamily="18" charset="0"/>
                <a:cs typeface="Times New Roman" pitchFamily="18" charset="0"/>
              </a:rPr>
              <a:t>CW</a:t>
            </a:r>
            <a:r>
              <a:rPr lang="zh-TW" altLang="en-US" b="0" u="none" dirty="0">
                <a:latin typeface="Times New Roman" pitchFamily="18" charset="0"/>
                <a:cs typeface="Times New Roman" pitchFamily="18" charset="0"/>
              </a:rPr>
              <a:t> </a:t>
            </a:r>
            <a:r>
              <a:rPr lang="en-US" altLang="zh-TW" b="0" u="none" dirty="0">
                <a:latin typeface="Times New Roman" pitchFamily="18" charset="0"/>
                <a:cs typeface="Times New Roman" pitchFamily="18" charset="0"/>
              </a:rPr>
              <a:t>OPO</a:t>
            </a:r>
            <a:r>
              <a:rPr lang="zh-TW" altLang="en-US" b="0" u="none" dirty="0">
                <a:latin typeface="Times New Roman" pitchFamily="18" charset="0"/>
                <a:cs typeface="Times New Roman" pitchFamily="18" charset="0"/>
              </a:rPr>
              <a:t> 能夠有效降低問題也能同時進一步窄化輸出訊號光之頻寬。</a:t>
            </a:r>
            <a:endParaRPr lang="en-US" altLang="zh-TW" dirty="0"/>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42</a:t>
            </a:fld>
            <a:endParaRPr lang="zh-TW" altLang="en-US"/>
          </a:p>
        </p:txBody>
      </p:sp>
    </p:spTree>
    <p:extLst>
      <p:ext uri="{BB962C8B-B14F-4D97-AF65-F5344CB8AC3E}">
        <p14:creationId xmlns:p14="http://schemas.microsoft.com/office/powerpoint/2010/main" val="17558988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zh-TW" sz="1200" kern="1200" dirty="0">
                    <a:solidFill>
                      <a:schemeClr val="tx1"/>
                    </a:solidFill>
                    <a:effectLst/>
                    <a:latin typeface="+mn-lt"/>
                    <a:ea typeface="+mn-ea"/>
                    <a:cs typeface="+mn-cs"/>
                  </a:rPr>
                  <a:t>為了解決電光波長調制範圍過小的問題，</a:t>
                </a:r>
                <a:r>
                  <a:rPr lang="zh-TW" altLang="en-US" sz="1200" kern="1200" dirty="0">
                    <a:solidFill>
                      <a:schemeClr val="tx1"/>
                    </a:solidFill>
                    <a:effectLst/>
                    <a:latin typeface="+mn-lt"/>
                    <a:ea typeface="+mn-ea"/>
                    <a:cs typeface="+mn-cs"/>
                  </a:rPr>
                  <a:t>有團隊</a:t>
                </a:r>
                <a:r>
                  <a:rPr lang="zh-TW" altLang="zh-TW" sz="1200" kern="1200" dirty="0">
                    <a:solidFill>
                      <a:schemeClr val="tx1"/>
                    </a:solidFill>
                    <a:effectLst/>
                    <a:latin typeface="+mn-lt"/>
                    <a:ea typeface="+mn-ea"/>
                    <a:cs typeface="+mn-cs"/>
                  </a:rPr>
                  <a:t>發表一種三段式設計的晶體，鈮酸鋰的前後兩段為相同之週期性晶籌極化反轉結構，中間為單一極性的晶籌，透過在中段施加電場來進行電光波長調制，此設計能大幅提升電光波長的調制率</a:t>
                </a:r>
                <a:r>
                  <a:rPr lang="zh-TW" altLang="en-US"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，且經過其實驗結果證明</a:t>
                </a:r>
                <a:r>
                  <a:rPr lang="zh-TW" altLang="en-US" sz="1200" kern="1200" dirty="0">
                    <a:solidFill>
                      <a:schemeClr val="tx1"/>
                    </a:solidFill>
                    <a:effectLst/>
                    <a:latin typeface="+mn-lt"/>
                    <a:ea typeface="+mn-ea"/>
                    <a:cs typeface="+mn-cs"/>
                  </a:rPr>
                  <a:t>其調制範圍有</a:t>
                </a:r>
                <a:r>
                  <a:rPr lang="en-US" altLang="zh-TW" sz="1200" kern="1200" dirty="0">
                    <a:solidFill>
                      <a:schemeClr val="tx1"/>
                    </a:solidFill>
                    <a:effectLst/>
                    <a:latin typeface="+mn-lt"/>
                    <a:ea typeface="+mn-ea"/>
                    <a:cs typeface="+mn-cs"/>
                  </a:rPr>
                  <a:t>102nm</a:t>
                </a:r>
                <a:r>
                  <a:rPr lang="zh-TW" altLang="en-US" sz="1200" kern="1200" dirty="0">
                    <a:solidFill>
                      <a:schemeClr val="tx1"/>
                    </a:solidFill>
                    <a:effectLst/>
                    <a:latin typeface="+mn-lt"/>
                    <a:ea typeface="+mn-ea"/>
                    <a:cs typeface="+mn-cs"/>
                  </a:rPr>
                  <a:t>，換算為</a:t>
                </a:r>
                <a:r>
                  <a:rPr lang="zh-TW" altLang="zh-TW" sz="1200" kern="1200" dirty="0">
                    <a:solidFill>
                      <a:schemeClr val="tx1"/>
                    </a:solidFill>
                    <a:effectLst/>
                    <a:latin typeface="+mn-lt"/>
                    <a:ea typeface="+mn-ea"/>
                    <a:cs typeface="+mn-cs"/>
                  </a:rPr>
                  <a:t>調制率高達</a:t>
                </a:r>
                <a:r>
                  <a:rPr lang="en-US" altLang="zh-TW" sz="1200" kern="1200" dirty="0">
                    <a:solidFill>
                      <a:schemeClr val="tx1"/>
                    </a:solidFill>
                    <a:effectLst/>
                    <a:latin typeface="+mn-lt"/>
                    <a:ea typeface="+mn-ea"/>
                    <a:cs typeface="+mn-cs"/>
                  </a:rPr>
                  <a:t>9 nm/</a:t>
                </a:r>
                <a14:m>
                  <m:oMath xmlns:m="http://schemas.openxmlformats.org/officeDocument/2006/math">
                    <m:f>
                      <m:fPr>
                        <m:type m:val="lin"/>
                        <m:ctrlPr>
                          <a:rPr lang="zh-TW" altLang="zh-TW" sz="1200" i="1" kern="1200">
                            <a:solidFill>
                              <a:schemeClr val="tx1"/>
                            </a:solidFill>
                            <a:effectLst/>
                            <a:latin typeface="Cambria Math" panose="02040503050406030204" pitchFamily="18" charset="0"/>
                            <a:ea typeface="+mn-ea"/>
                            <a:cs typeface="+mn-cs"/>
                          </a:rPr>
                        </m:ctrlPr>
                      </m:fPr>
                      <m:num>
                        <m:r>
                          <a:rPr lang="en-US" altLang="zh-TW" sz="1200" i="1" kern="1200">
                            <a:solidFill>
                              <a:schemeClr val="tx1"/>
                            </a:solidFill>
                            <a:effectLst/>
                            <a:latin typeface="Cambria Math" panose="02040503050406030204" pitchFamily="18" charset="0"/>
                            <a:ea typeface="+mn-ea"/>
                            <a:cs typeface="+mn-cs"/>
                          </a:rPr>
                          <m:t>𝑘𝑉</m:t>
                        </m:r>
                      </m:num>
                      <m:den>
                        <m:r>
                          <a:rPr lang="en-US" altLang="zh-TW" sz="1200" i="1" kern="1200">
                            <a:solidFill>
                              <a:schemeClr val="tx1"/>
                            </a:solidFill>
                            <a:effectLst/>
                            <a:latin typeface="Cambria Math" panose="02040503050406030204" pitchFamily="18" charset="0"/>
                            <a:ea typeface="+mn-ea"/>
                            <a:cs typeface="+mn-cs"/>
                          </a:rPr>
                          <m:t>𝑚𝑚</m:t>
                        </m:r>
                      </m:den>
                    </m:f>
                  </m:oMath>
                </a14:m>
                <a:r>
                  <a:rPr lang="zh-TW" altLang="zh-TW" sz="1200" kern="1200" dirty="0">
                    <a:solidFill>
                      <a:schemeClr val="tx1"/>
                    </a:solidFill>
                    <a:effectLst/>
                    <a:latin typeface="+mn-lt"/>
                    <a:ea typeface="+mn-ea"/>
                    <a:cs typeface="+mn-cs"/>
                  </a:rPr>
                  <a:t>。若配合本論文之</a:t>
                </a:r>
                <a:r>
                  <a:rPr lang="en-US" altLang="zh-TW" sz="1200" kern="1200" dirty="0">
                    <a:solidFill>
                      <a:schemeClr val="tx1"/>
                    </a:solidFill>
                    <a:effectLst/>
                    <a:latin typeface="+mn-lt"/>
                    <a:ea typeface="+mn-ea"/>
                    <a:cs typeface="+mn-cs"/>
                  </a:rPr>
                  <a:t>NOS</a:t>
                </a:r>
                <a:r>
                  <a:rPr lang="zh-TW" altLang="zh-TW" sz="1200" kern="1200" dirty="0">
                    <a:solidFill>
                      <a:schemeClr val="tx1"/>
                    </a:solidFill>
                    <a:effectLst/>
                    <a:latin typeface="+mn-lt"/>
                    <a:ea typeface="+mn-ea"/>
                    <a:cs typeface="+mn-cs"/>
                  </a:rPr>
                  <a:t>多波長光參量振盪器結構之設計，可預期在光譜保真度良好的情況下，實現多波長、快速、穩定與大範圍的</a:t>
                </a:r>
                <a:r>
                  <a:rPr lang="zh-TW" altLang="en-US" sz="1200" kern="1200" dirty="0">
                    <a:solidFill>
                      <a:schemeClr val="tx1"/>
                    </a:solidFill>
                    <a:effectLst/>
                    <a:latin typeface="+mn-lt"/>
                    <a:ea typeface="+mn-ea"/>
                    <a:cs typeface="+mn-cs"/>
                  </a:rPr>
                  <a:t>可調式</a:t>
                </a:r>
                <a:r>
                  <a:rPr lang="zh-TW" altLang="zh-TW" sz="1200" kern="1200" dirty="0">
                    <a:solidFill>
                      <a:schemeClr val="tx1"/>
                    </a:solidFill>
                    <a:effectLst/>
                    <a:latin typeface="+mn-lt"/>
                    <a:ea typeface="+mn-ea"/>
                    <a:cs typeface="+mn-cs"/>
                  </a:rPr>
                  <a:t>雷射源。</a:t>
                </a:r>
                <a:endParaRPr lang="zh-TW" altLang="en-US" dirty="0"/>
              </a:p>
            </p:txBody>
          </p:sp>
        </mc:Choice>
        <mc:Fallback xmlns="">
          <p:sp>
            <p:nvSpPr>
              <p:cNvPr id="3" name="備忘稿版面配置區 2"/>
              <p:cNvSpPr>
                <a:spLocks noGrp="1"/>
              </p:cNvSpPr>
              <p:nvPr>
                <p:ph type="body" idx="1"/>
              </p:nvPr>
            </p:nvSpPr>
            <p:spPr/>
            <p:txBody>
              <a:bodyPr/>
              <a:lstStyle/>
              <a:p>
                <a:r>
                  <a:rPr lang="zh-TW" altLang="zh-TW" sz="1200" kern="1200" dirty="0" smtClean="0">
                    <a:solidFill>
                      <a:schemeClr val="tx1"/>
                    </a:solidFill>
                    <a:effectLst/>
                    <a:latin typeface="+mn-lt"/>
                    <a:ea typeface="+mn-ea"/>
                    <a:cs typeface="+mn-cs"/>
                  </a:rPr>
                  <a:t>為了解決電光波長調制範圍過小的問題，</a:t>
                </a:r>
                <a:r>
                  <a:rPr lang="en-US" altLang="zh-TW" sz="1200" kern="1200" dirty="0">
                    <a:solidFill>
                      <a:schemeClr val="tx1"/>
                    </a:solidFill>
                    <a:effectLst/>
                    <a:latin typeface="+mn-lt"/>
                    <a:ea typeface="+mn-ea"/>
                    <a:cs typeface="+mn-cs"/>
                  </a:rPr>
                  <a:t>P. Gross</a:t>
                </a:r>
                <a:r>
                  <a:rPr lang="en-US" altLang="zh-TW" sz="1200" kern="1200" baseline="30000" dirty="0">
                    <a:solidFill>
                      <a:schemeClr val="tx1"/>
                    </a:solidFill>
                    <a:effectLst/>
                    <a:latin typeface="+mn-lt"/>
                    <a:ea typeface="+mn-ea"/>
                    <a:cs typeface="+mn-cs"/>
                  </a:rPr>
                  <a:t>[6.1]</a:t>
                </a:r>
                <a:r>
                  <a:rPr lang="zh-TW" altLang="zh-TW" sz="1200" kern="1200" dirty="0">
                    <a:solidFill>
                      <a:schemeClr val="tx1"/>
                    </a:solidFill>
                    <a:effectLst/>
                    <a:latin typeface="+mn-lt"/>
                    <a:ea typeface="+mn-ea"/>
                    <a:cs typeface="+mn-cs"/>
                  </a:rPr>
                  <a:t>等人發表一種三段式設計的晶體，鈮酸鋰的前後兩段為相同之週期性晶籌極化反轉結構，中間為單一極性的晶</a:t>
                </a:r>
                <a:r>
                  <a:rPr lang="zh-TW" altLang="zh-TW" sz="1200" kern="1200" dirty="0" smtClean="0">
                    <a:solidFill>
                      <a:schemeClr val="tx1"/>
                    </a:solidFill>
                    <a:effectLst/>
                    <a:latin typeface="+mn-lt"/>
                    <a:ea typeface="+mn-ea"/>
                    <a:cs typeface="+mn-cs"/>
                  </a:rPr>
                  <a:t>籌，</a:t>
                </a:r>
                <a:r>
                  <a:rPr lang="zh-TW" altLang="zh-TW" sz="1200" kern="1200" dirty="0">
                    <a:solidFill>
                      <a:schemeClr val="tx1"/>
                    </a:solidFill>
                    <a:effectLst/>
                    <a:latin typeface="+mn-lt"/>
                    <a:ea typeface="+mn-ea"/>
                    <a:cs typeface="+mn-cs"/>
                  </a:rPr>
                  <a:t>透過在中段施加電場來進行電光波長調制，此設計能大幅提升電光波長的調制率，且經過其實驗結果證明調制率高達</a:t>
                </a:r>
                <a:r>
                  <a:rPr lang="en-US" altLang="zh-TW" sz="1200" kern="1200" dirty="0">
                    <a:solidFill>
                      <a:schemeClr val="tx1"/>
                    </a:solidFill>
                    <a:effectLst/>
                    <a:latin typeface="+mn-lt"/>
                    <a:ea typeface="+mn-ea"/>
                    <a:cs typeface="+mn-cs"/>
                  </a:rPr>
                  <a:t>9 nm/</a:t>
                </a:r>
                <a:r>
                  <a:rPr lang="en-US" altLang="zh-TW" sz="1200" i="0" kern="1200">
                    <a:solidFill>
                      <a:schemeClr val="tx1"/>
                    </a:solidFill>
                    <a:effectLst/>
                    <a:latin typeface="+mn-lt"/>
                    <a:ea typeface="+mn-ea"/>
                    <a:cs typeface="+mn-cs"/>
                  </a:rPr>
                  <a:t>𝑘𝑉</a:t>
                </a:r>
                <a:r>
                  <a:rPr lang="zh-TW" altLang="zh-TW" sz="1200" i="0" kern="1200">
                    <a:solidFill>
                      <a:schemeClr val="tx1"/>
                    </a:solidFill>
                    <a:effectLst/>
                    <a:latin typeface="+mn-lt"/>
                    <a:ea typeface="+mn-ea"/>
                    <a:cs typeface="+mn-cs"/>
                  </a:rPr>
                  <a:t>∕</a:t>
                </a:r>
                <a:r>
                  <a:rPr lang="en-US" altLang="zh-TW" sz="1200" i="0" kern="1200">
                    <a:solidFill>
                      <a:schemeClr val="tx1"/>
                    </a:solidFill>
                    <a:effectLst/>
                    <a:latin typeface="+mn-lt"/>
                    <a:ea typeface="+mn-ea"/>
                    <a:cs typeface="+mn-cs"/>
                  </a:rPr>
                  <a:t>𝑚𝑚</a:t>
                </a:r>
                <a:r>
                  <a:rPr lang="zh-TW" altLang="zh-TW" sz="1200" kern="1200" dirty="0">
                    <a:solidFill>
                      <a:schemeClr val="tx1"/>
                    </a:solidFill>
                    <a:effectLst/>
                    <a:latin typeface="+mn-lt"/>
                    <a:ea typeface="+mn-ea"/>
                    <a:cs typeface="+mn-cs"/>
                  </a:rPr>
                  <a:t>。若配合本論文之</a:t>
                </a:r>
                <a:r>
                  <a:rPr lang="en-US" altLang="zh-TW" sz="1200" kern="1200" dirty="0">
                    <a:solidFill>
                      <a:schemeClr val="tx1"/>
                    </a:solidFill>
                    <a:effectLst/>
                    <a:latin typeface="+mn-lt"/>
                    <a:ea typeface="+mn-ea"/>
                    <a:cs typeface="+mn-cs"/>
                  </a:rPr>
                  <a:t>NOS</a:t>
                </a:r>
                <a:r>
                  <a:rPr lang="zh-TW" altLang="zh-TW" sz="1200" kern="1200" dirty="0">
                    <a:solidFill>
                      <a:schemeClr val="tx1"/>
                    </a:solidFill>
                    <a:effectLst/>
                    <a:latin typeface="+mn-lt"/>
                    <a:ea typeface="+mn-ea"/>
                    <a:cs typeface="+mn-cs"/>
                  </a:rPr>
                  <a:t>多波長光參量振盪器結構之設計，可預期在光譜保真度良好的情況下，實現多波長、快速、穩定與大範圍</a:t>
                </a:r>
                <a:r>
                  <a:rPr lang="zh-TW" altLang="zh-TW" sz="1200" kern="1200" dirty="0" smtClean="0">
                    <a:solidFill>
                      <a:schemeClr val="tx1"/>
                    </a:solidFill>
                    <a:effectLst/>
                    <a:latin typeface="+mn-lt"/>
                    <a:ea typeface="+mn-ea"/>
                    <a:cs typeface="+mn-cs"/>
                  </a:rPr>
                  <a:t>的</a:t>
                </a:r>
                <a:r>
                  <a:rPr lang="zh-TW" altLang="en-US" sz="1200" kern="1200" dirty="0" smtClean="0">
                    <a:solidFill>
                      <a:schemeClr val="tx1"/>
                    </a:solidFill>
                    <a:effectLst/>
                    <a:latin typeface="+mn-lt"/>
                    <a:ea typeface="+mn-ea"/>
                    <a:cs typeface="+mn-cs"/>
                  </a:rPr>
                  <a:t>可調式</a:t>
                </a:r>
                <a:r>
                  <a:rPr lang="zh-TW" altLang="zh-TW" sz="1200" kern="1200" dirty="0" smtClean="0">
                    <a:solidFill>
                      <a:schemeClr val="tx1"/>
                    </a:solidFill>
                    <a:effectLst/>
                    <a:latin typeface="+mn-lt"/>
                    <a:ea typeface="+mn-ea"/>
                    <a:cs typeface="+mn-cs"/>
                  </a:rPr>
                  <a:t>雷射</a:t>
                </a:r>
                <a:r>
                  <a:rPr lang="zh-TW" altLang="zh-TW" sz="1200" kern="1200" dirty="0">
                    <a:solidFill>
                      <a:schemeClr val="tx1"/>
                    </a:solidFill>
                    <a:effectLst/>
                    <a:latin typeface="+mn-lt"/>
                    <a:ea typeface="+mn-ea"/>
                    <a:cs typeface="+mn-cs"/>
                  </a:rPr>
                  <a:t>源。</a:t>
                </a:r>
                <a:endParaRPr lang="zh-TW" altLang="en-US" dirty="0"/>
              </a:p>
            </p:txBody>
          </p:sp>
        </mc:Fallback>
      </mc:AlternateContent>
      <p:sp>
        <p:nvSpPr>
          <p:cNvPr id="4" name="投影片編號版面配置區 3"/>
          <p:cNvSpPr>
            <a:spLocks noGrp="1"/>
          </p:cNvSpPr>
          <p:nvPr>
            <p:ph type="sldNum" sz="quarter" idx="10"/>
          </p:nvPr>
        </p:nvSpPr>
        <p:spPr/>
        <p:txBody>
          <a:bodyPr/>
          <a:lstStyle/>
          <a:p>
            <a:fld id="{B8D85B2E-AE05-48CC-86B1-BF43F6E097B8}" type="slidenum">
              <a:rPr lang="zh-TW" altLang="en-US" smtClean="0"/>
              <a:t>43</a:t>
            </a:fld>
            <a:endParaRPr lang="zh-TW" altLang="en-US"/>
          </a:p>
        </p:txBody>
      </p:sp>
    </p:spTree>
    <p:extLst>
      <p:ext uri="{BB962C8B-B14F-4D97-AF65-F5344CB8AC3E}">
        <p14:creationId xmlns:p14="http://schemas.microsoft.com/office/powerpoint/2010/main" val="16118623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並且</a:t>
            </a:r>
            <a:r>
              <a:rPr lang="zh-TW" altLang="zh-TW" sz="1200" kern="1200" dirty="0">
                <a:solidFill>
                  <a:schemeClr val="tx1"/>
                </a:solidFill>
                <a:effectLst/>
                <a:latin typeface="+mn-lt"/>
                <a:ea typeface="+mn-ea"/>
                <a:cs typeface="+mn-cs"/>
              </a:rPr>
              <a:t>以</a:t>
            </a:r>
            <a:r>
              <a:rPr lang="en-US" altLang="zh-TW" sz="1200" kern="1200" dirty="0">
                <a:solidFill>
                  <a:schemeClr val="tx1"/>
                </a:solidFill>
                <a:effectLst/>
                <a:latin typeface="+mn-lt"/>
                <a:ea typeface="+mn-ea"/>
                <a:cs typeface="+mn-cs"/>
              </a:rPr>
              <a:t>1064nm</a:t>
            </a:r>
            <a:r>
              <a:rPr lang="zh-TW" altLang="zh-TW" sz="1200" kern="1200" dirty="0">
                <a:solidFill>
                  <a:schemeClr val="tx1"/>
                </a:solidFill>
                <a:effectLst/>
                <a:latin typeface="+mn-lt"/>
                <a:ea typeface="+mn-ea"/>
                <a:cs typeface="+mn-cs"/>
              </a:rPr>
              <a:t>連續式雷射作為泵浦光源，相較於脈衝式泵浦光源光參量振盪器有著極高的閥值，但</a:t>
            </a:r>
            <a:r>
              <a:rPr lang="zh-TW" altLang="en-US" sz="1200" kern="1200" dirty="0">
                <a:solidFill>
                  <a:schemeClr val="tx1"/>
                </a:solidFill>
                <a:effectLst/>
                <a:latin typeface="+mn-lt"/>
                <a:ea typeface="+mn-ea"/>
                <a:cs typeface="+mn-cs"/>
              </a:rPr>
              <a:t>其</a:t>
            </a:r>
            <a:r>
              <a:rPr lang="zh-TW" altLang="zh-TW" sz="1200" kern="1200" dirty="0">
                <a:solidFill>
                  <a:schemeClr val="tx1"/>
                </a:solidFill>
                <a:effectLst/>
                <a:latin typeface="+mn-lt"/>
                <a:ea typeface="+mn-ea"/>
                <a:cs typeface="+mn-cs"/>
              </a:rPr>
              <a:t>產生的訊號光要來的窄頻。我們</a:t>
            </a:r>
            <a:r>
              <a:rPr lang="zh-TW" altLang="en-US" sz="1200" kern="1200" dirty="0">
                <a:solidFill>
                  <a:schemeClr val="tx1"/>
                </a:solidFill>
                <a:effectLst/>
                <a:latin typeface="+mn-lt"/>
                <a:ea typeface="+mn-ea"/>
                <a:cs typeface="+mn-cs"/>
              </a:rPr>
              <a:t>再透過</a:t>
            </a:r>
            <a:r>
              <a:rPr lang="zh-TW" altLang="zh-TW" sz="1200" kern="1200" dirty="0">
                <a:solidFill>
                  <a:schemeClr val="tx1"/>
                </a:solidFill>
                <a:effectLst/>
                <a:latin typeface="+mn-lt"/>
                <a:ea typeface="+mn-ea"/>
                <a:cs typeface="+mn-cs"/>
              </a:rPr>
              <a:t>環型共振腔使訊號</a:t>
            </a:r>
            <a:r>
              <a:rPr lang="zh-TW" altLang="en-US" sz="1200" kern="1200" dirty="0">
                <a:solidFill>
                  <a:schemeClr val="tx1"/>
                </a:solidFill>
                <a:effectLst/>
                <a:latin typeface="+mn-lt"/>
                <a:ea typeface="+mn-ea"/>
                <a:cs typeface="+mn-cs"/>
              </a:rPr>
              <a:t>光以行進波共振，</a:t>
            </a:r>
            <a:r>
              <a:rPr lang="zh-TW" altLang="zh-TW" sz="1200" kern="1200" dirty="0">
                <a:solidFill>
                  <a:schemeClr val="tx1"/>
                </a:solidFill>
                <a:effectLst/>
                <a:latin typeface="+mn-lt"/>
                <a:ea typeface="+mn-ea"/>
                <a:cs typeface="+mn-cs"/>
              </a:rPr>
              <a:t>更進一步的窄化訊號光頻寬，達成一個極窄頻寬的可調式雷射源。</a:t>
            </a:r>
            <a:endParaRPr lang="zh-TW" altLang="en-US" dirty="0"/>
          </a:p>
        </p:txBody>
      </p:sp>
      <p:sp>
        <p:nvSpPr>
          <p:cNvPr id="4" name="投影片編號版面配置區 3"/>
          <p:cNvSpPr>
            <a:spLocks noGrp="1"/>
          </p:cNvSpPr>
          <p:nvPr>
            <p:ph type="sldNum" sz="quarter" idx="10"/>
          </p:nvPr>
        </p:nvSpPr>
        <p:spPr/>
        <p:txBody>
          <a:bodyPr/>
          <a:lstStyle/>
          <a:p>
            <a:fld id="{B8D85B2E-AE05-48CC-86B1-BF43F6E097B8}" type="slidenum">
              <a:rPr lang="zh-TW" altLang="en-US" smtClean="0"/>
              <a:t>44</a:t>
            </a:fld>
            <a:endParaRPr lang="zh-TW" altLang="en-US"/>
          </a:p>
        </p:txBody>
      </p:sp>
    </p:spTree>
    <p:extLst>
      <p:ext uri="{BB962C8B-B14F-4D97-AF65-F5344CB8AC3E}">
        <p14:creationId xmlns:p14="http://schemas.microsoft.com/office/powerpoint/2010/main" val="2083838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1432322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3091283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2876034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370233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272599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539927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DAA9D429-4600-4619-98E6-566DF97E2ACB}" type="slidenum">
              <a:rPr lang="zh-TW" altLang="en-US" smtClean="0"/>
              <a:pPr/>
              <a:t>‹#›</a:t>
            </a:fld>
            <a:endParaRPr lang="zh-TW" altLang="en-US"/>
          </a:p>
        </p:txBody>
      </p:sp>
      <p:cxnSp>
        <p:nvCxnSpPr>
          <p:cNvPr id="5" name="直線接點 4"/>
          <p:cNvCxnSpPr/>
          <p:nvPr userDrawn="1"/>
        </p:nvCxnSpPr>
        <p:spPr>
          <a:xfrm>
            <a:off x="1" y="775965"/>
            <a:ext cx="1219199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189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3138789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3724565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1003722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541E2B3-C9A2-4730-9A32-B2EBFEAE3381}" type="datetimeFigureOut">
              <a:rPr lang="zh-TW" altLang="en-US" smtClean="0"/>
              <a:t>2021/7/23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342296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41E2B3-C9A2-4730-9A32-B2EBFEAE3381}" type="datetimeFigureOut">
              <a:rPr lang="zh-TW" altLang="en-US" smtClean="0"/>
              <a:t>2021/7/23</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A9D429-4600-4619-98E6-566DF97E2ACB}" type="slidenum">
              <a:rPr lang="zh-TW" altLang="en-US" smtClean="0"/>
              <a:t>‹#›</a:t>
            </a:fld>
            <a:endParaRPr lang="zh-TW" altLang="en-US"/>
          </a:p>
        </p:txBody>
      </p:sp>
    </p:spTree>
    <p:extLst>
      <p:ext uri="{BB962C8B-B14F-4D97-AF65-F5344CB8AC3E}">
        <p14:creationId xmlns:p14="http://schemas.microsoft.com/office/powerpoint/2010/main" val="25258883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19.wmf"/><Relationship Id="rId3" Type="http://schemas.openxmlformats.org/officeDocument/2006/relationships/notesSlide" Target="../notesSlides/notesSlide10.xml"/><Relationship Id="rId7" Type="http://schemas.openxmlformats.org/officeDocument/2006/relationships/image" Target="../media/image32.png"/><Relationship Id="rId12" Type="http://schemas.openxmlformats.org/officeDocument/2006/relationships/oleObject" Target="../embeddings/oleObject3.bin"/><Relationship Id="rId17" Type="http://schemas.openxmlformats.org/officeDocument/2006/relationships/image" Target="../media/image7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1.png"/><Relationship Id="rId11" Type="http://schemas.openxmlformats.org/officeDocument/2006/relationships/image" Target="../media/image18.wmf"/><Relationship Id="rId5" Type="http://schemas.openxmlformats.org/officeDocument/2006/relationships/image" Target="../media/image30.png"/><Relationship Id="rId15" Type="http://schemas.openxmlformats.org/officeDocument/2006/relationships/image" Target="../media/image20.wmf"/><Relationship Id="rId10" Type="http://schemas.openxmlformats.org/officeDocument/2006/relationships/oleObject" Target="../embeddings/oleObject2.bin"/><Relationship Id="rId4" Type="http://schemas.openxmlformats.org/officeDocument/2006/relationships/image" Target="../media/image26.png"/><Relationship Id="rId9" Type="http://schemas.openxmlformats.org/officeDocument/2006/relationships/image" Target="../media/image17.wmf"/><Relationship Id="rId1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9.png"/><Relationship Id="rId3" Type="http://schemas.openxmlformats.org/officeDocument/2006/relationships/notesSlide" Target="../notesSlides/notesSlide12.xml"/><Relationship Id="rId7" Type="http://schemas.openxmlformats.org/officeDocument/2006/relationships/image" Target="../media/image22.wmf"/><Relationship Id="rId12" Type="http://schemas.openxmlformats.org/officeDocument/2006/relationships/image" Target="../media/image28.png"/><Relationship Id="rId2" Type="http://schemas.openxmlformats.org/officeDocument/2006/relationships/slideLayout" Target="../slideLayouts/slideLayout7.xml"/><Relationship Id="rId16" Type="http://schemas.openxmlformats.org/officeDocument/2006/relationships/image" Target="../media/image35.png"/><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oleObject" Target="../embeddings/oleObject10.bin"/><Relationship Id="rId5" Type="http://schemas.openxmlformats.org/officeDocument/2006/relationships/image" Target="../media/image21.wmf"/><Relationship Id="rId15" Type="http://schemas.openxmlformats.org/officeDocument/2006/relationships/image" Target="../media/image34.png"/><Relationship Id="rId10" Type="http://schemas.openxmlformats.org/officeDocument/2006/relationships/oleObject" Target="../embeddings/oleObject9.bin"/><Relationship Id="rId4" Type="http://schemas.openxmlformats.org/officeDocument/2006/relationships/oleObject" Target="../embeddings/oleObject5.bin"/><Relationship Id="rId9" Type="http://schemas.openxmlformats.org/officeDocument/2006/relationships/oleObject" Target="../embeddings/oleObject8.bin"/><Relationship Id="rId1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 Id="rId10" Type="http://schemas.openxmlformats.org/officeDocument/2006/relationships/image" Target="../media/image27.png"/><Relationship Id="rId9"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48.png"/><Relationship Id="rId12"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41.png"/></Relationships>
</file>

<file path=ppt/slides/_rels/slide18.xml.rels><?xml version="1.0" encoding="UTF-8" standalone="yes"?>
<Relationships xmlns="http://schemas.openxmlformats.org/package/2006/relationships"><Relationship Id="rId7"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2.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10.png"/><Relationship Id="rId7" Type="http://schemas.openxmlformats.org/officeDocument/2006/relationships/image" Target="../media/image48.png"/><Relationship Id="rId12"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30.png"/><Relationship Id="rId11" Type="http://schemas.openxmlformats.org/officeDocument/2006/relationships/image" Target="../media/image52.png"/><Relationship Id="rId5" Type="http://schemas.openxmlformats.org/officeDocument/2006/relationships/image" Target="../media/image430.png"/><Relationship Id="rId10" Type="http://schemas.openxmlformats.org/officeDocument/2006/relationships/image" Target="../media/image51.png"/><Relationship Id="rId4" Type="http://schemas.openxmlformats.org/officeDocument/2006/relationships/image" Target="../media/image420.pn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7" Type="http://schemas.openxmlformats.org/officeDocument/2006/relationships/image" Target="../media/image55.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4.jpeg"/><Relationship Id="rId5" Type="http://schemas.openxmlformats.org/officeDocument/2006/relationships/image" Target="../media/image6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6.jpeg"/></Relationships>
</file>

<file path=ppt/slides/_rels/slide2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68.jpeg"/><Relationship Id="rId4" Type="http://schemas.openxmlformats.org/officeDocument/2006/relationships/image" Target="../media/image67.jpeg"/></Relationships>
</file>

<file path=ppt/slides/_rels/slide3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2.jpeg"/></Relationships>
</file>

<file path=ppt/slides/_rels/slide3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74.jpeg"/><Relationship Id="rId4" Type="http://schemas.openxmlformats.org/officeDocument/2006/relationships/image" Target="../media/image80.png"/></Relationships>
</file>

<file path=ppt/slides/_rels/slide3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76.jpeg"/></Relationships>
</file>

<file path=ppt/slides/_rels/slide3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78.jpeg"/></Relationships>
</file>

<file path=ppt/slides/_rels/slide3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80.jpeg"/></Relationships>
</file>

<file path=ppt/slides/_rels/slide3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82.jpeg"/></Relationships>
</file>

<file path=ppt/slides/_rels/slide3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95.png"/><Relationship Id="rId4" Type="http://schemas.openxmlformats.org/officeDocument/2006/relationships/image" Target="../media/image84.jpeg"/></Relationships>
</file>

<file path=ppt/slides/_rels/slide3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40.xml.rels><?xml version="1.0" encoding="UTF-8" standalone="yes"?>
<Relationships xmlns="http://schemas.openxmlformats.org/package/2006/relationships"><Relationship Id="rId3" Type="http://schemas.openxmlformats.org/officeDocument/2006/relationships/image" Target="../media/image85.jpeg"/><Relationship Id="rId7" Type="http://schemas.openxmlformats.org/officeDocument/2006/relationships/image" Target="../media/image88.jpe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87.jpeg"/><Relationship Id="rId5" Type="http://schemas.openxmlformats.org/officeDocument/2006/relationships/image" Target="../media/image98.png"/><Relationship Id="rId4" Type="http://schemas.openxmlformats.org/officeDocument/2006/relationships/image" Target="../media/image86.jpeg"/></Relationships>
</file>

<file path=ppt/slides/_rels/slide4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9.emf"/><Relationship Id="rId7" Type="http://schemas.openxmlformats.org/officeDocument/2006/relationships/image" Target="../media/image840.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726948" y="4560503"/>
            <a:ext cx="10518850" cy="2737112"/>
          </a:xfrm>
        </p:spPr>
        <p:txBody>
          <a:bodyPr>
            <a:normAutofit/>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林學汕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Lin</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Shue</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-Shan</a:t>
            </a:r>
          </a:p>
          <a:p>
            <a:r>
              <a:rPr lang="zh-TW" altLang="en-US" sz="2600" dirty="0">
                <a:latin typeface="Times New Roman" panose="02020603050405020304" pitchFamily="18" charset="0"/>
                <a:ea typeface="標楷體" panose="03000509000000000000" pitchFamily="65" charset="-120"/>
                <a:cs typeface="Times New Roman" panose="02020603050405020304" pitchFamily="18" charset="0"/>
              </a:rPr>
              <a:t>指導教授： 陳彥宏 博士</a:t>
            </a:r>
            <a:endParaRPr lang="en-US" altLang="zh-TW" sz="2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1800" i="1" dirty="0">
                <a:latin typeface="Times New Roman" panose="02020603050405020304" pitchFamily="18" charset="0"/>
                <a:cs typeface="Times New Roman" panose="02020603050405020304" pitchFamily="18" charset="0"/>
              </a:rPr>
              <a:t>Nonlinear Integrated Laser Photonics Lab (NILP),</a:t>
            </a:r>
          </a:p>
          <a:p>
            <a:r>
              <a:rPr lang="en-US" altLang="zh-TW" sz="1800" i="1" dirty="0">
                <a:latin typeface="Times New Roman" panose="02020603050405020304" pitchFamily="18" charset="0"/>
                <a:cs typeface="Times New Roman" panose="02020603050405020304" pitchFamily="18" charset="0"/>
              </a:rPr>
              <a:t> Department of Optics and Photonics, </a:t>
            </a:r>
          </a:p>
          <a:p>
            <a:r>
              <a:rPr lang="en-US" altLang="zh-TW" sz="1800" i="1" dirty="0">
                <a:latin typeface="Times New Roman" panose="02020603050405020304" pitchFamily="18" charset="0"/>
                <a:cs typeface="Times New Roman" panose="02020603050405020304" pitchFamily="18" charset="0"/>
              </a:rPr>
              <a:t>National Central University, </a:t>
            </a:r>
            <a:r>
              <a:rPr lang="en-US" altLang="zh-TW" sz="1800" i="1" dirty="0" err="1">
                <a:latin typeface="Times New Roman" panose="02020603050405020304" pitchFamily="18" charset="0"/>
                <a:cs typeface="Times New Roman" panose="02020603050405020304" pitchFamily="18" charset="0"/>
              </a:rPr>
              <a:t>Jhongli</a:t>
            </a:r>
            <a:r>
              <a:rPr lang="en-US" altLang="zh-TW" sz="1800" i="1" dirty="0">
                <a:latin typeface="Times New Roman" panose="02020603050405020304" pitchFamily="18" charset="0"/>
                <a:cs typeface="Times New Roman" panose="02020603050405020304" pitchFamily="18" charset="0"/>
              </a:rPr>
              <a:t> 320, Taiwan</a:t>
            </a:r>
          </a:p>
        </p:txBody>
      </p:sp>
      <p:pic>
        <p:nvPicPr>
          <p:cNvPr id="5" name="圖片 4"/>
          <p:cNvPicPr>
            <a:picLocks noChangeAspect="1"/>
          </p:cNvPicPr>
          <p:nvPr/>
        </p:nvPicPr>
        <p:blipFill rotWithShape="1">
          <a:blip r:embed="rId3" cstate="print">
            <a:extLst>
              <a:ext uri="{28A0092B-C50C-407E-A947-70E740481C1C}">
                <a14:useLocalDpi xmlns:a14="http://schemas.microsoft.com/office/drawing/2010/main" val="0"/>
              </a:ext>
            </a:extLst>
          </a:blip>
          <a:srcRect t="30051" b="21193"/>
          <a:stretch/>
        </p:blipFill>
        <p:spPr>
          <a:xfrm>
            <a:off x="0" y="147898"/>
            <a:ext cx="1453896" cy="1002498"/>
          </a:xfrm>
          <a:prstGeom prst="rect">
            <a:avLst/>
          </a:prstGeom>
        </p:spPr>
      </p:pic>
      <p:pic>
        <p:nvPicPr>
          <p:cNvPr id="6" name="圖片 5"/>
          <p:cNvPicPr>
            <a:picLocks noChangeAspect="1"/>
          </p:cNvPicPr>
          <p:nvPr/>
        </p:nvPicPr>
        <p:blipFill rotWithShape="1">
          <a:blip r:embed="rId4"/>
          <a:srcRect l="50306" t="13946" r="14511" b="76756"/>
          <a:stretch/>
        </p:blipFill>
        <p:spPr>
          <a:xfrm>
            <a:off x="7373203" y="288148"/>
            <a:ext cx="4577687" cy="680184"/>
          </a:xfrm>
          <a:prstGeom prst="rect">
            <a:avLst/>
          </a:prstGeom>
        </p:spPr>
      </p:pic>
      <p:sp>
        <p:nvSpPr>
          <p:cNvPr id="4" name="矩形 3"/>
          <p:cNvSpPr/>
          <p:nvPr/>
        </p:nvSpPr>
        <p:spPr>
          <a:xfrm>
            <a:off x="644452" y="1824398"/>
            <a:ext cx="10683842" cy="2062103"/>
          </a:xfrm>
          <a:prstGeom prst="rect">
            <a:avLst/>
          </a:prstGeom>
        </p:spPr>
        <p:txBody>
          <a:bodyPr wrap="square">
            <a:spAutoFit/>
          </a:bodyPr>
          <a:lstStyle/>
          <a:p>
            <a:pPr algn="ctr"/>
            <a:r>
              <a:rPr lang="zh-TW" altLang="zh-TW" sz="3200" dirty="0">
                <a:latin typeface="Times New Roman" panose="02020603050405020304" pitchFamily="18" charset="0"/>
                <a:ea typeface="標楷體" panose="03000509000000000000" pitchFamily="65" charset="-120"/>
                <a:cs typeface="Times New Roman" panose="02020603050405020304" pitchFamily="18" charset="0"/>
              </a:rPr>
              <a:t>以非週期性晶疇極化反轉鈮酸鋰作為電光可調腔內</a:t>
            </a:r>
            <a:r>
              <a:rPr lang="zh-TW" altLang="en-US" sz="3200" dirty="0">
                <a:latin typeface="Times New Roman" panose="02020603050405020304" pitchFamily="18" charset="0"/>
                <a:ea typeface="標楷體" panose="03000509000000000000" pitchFamily="65" charset="-120"/>
                <a:cs typeface="Times New Roman" panose="02020603050405020304" pitchFamily="18" charset="0"/>
              </a:rPr>
              <a:t>泵</a:t>
            </a:r>
            <a:r>
              <a:rPr lang="zh-TW" altLang="zh-TW" sz="3200" dirty="0">
                <a:latin typeface="Times New Roman" panose="02020603050405020304" pitchFamily="18" charset="0"/>
                <a:ea typeface="標楷體" panose="03000509000000000000" pitchFamily="65" charset="-120"/>
                <a:cs typeface="Times New Roman" panose="02020603050405020304" pitchFamily="18" charset="0"/>
              </a:rPr>
              <a:t>浦多波長光參量</a:t>
            </a:r>
            <a:r>
              <a:rPr lang="zh-TW" altLang="en-US" sz="3200" dirty="0">
                <a:latin typeface="Times New Roman" panose="02020603050405020304" pitchFamily="18" charset="0"/>
                <a:ea typeface="標楷體" panose="03000509000000000000" pitchFamily="65" charset="-120"/>
                <a:cs typeface="Times New Roman" panose="02020603050405020304" pitchFamily="18" charset="0"/>
              </a:rPr>
              <a:t>振</a:t>
            </a:r>
            <a:r>
              <a:rPr lang="zh-TW" altLang="zh-TW" sz="3200" dirty="0">
                <a:latin typeface="Times New Roman" panose="02020603050405020304" pitchFamily="18" charset="0"/>
                <a:ea typeface="標楷體" panose="03000509000000000000" pitchFamily="65" charset="-120"/>
                <a:cs typeface="Times New Roman" panose="02020603050405020304" pitchFamily="18" charset="0"/>
              </a:rPr>
              <a:t>盪器之研究</a:t>
            </a:r>
            <a:br>
              <a:rPr lang="en-US" altLang="zh-TW" sz="3200"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3200" dirty="0">
                <a:latin typeface="Times New Roman" panose="02020603050405020304" pitchFamily="18" charset="0"/>
                <a:cs typeface="Times New Roman" panose="02020603050405020304" pitchFamily="18" charset="0"/>
              </a:rPr>
              <a:t>Electro-optic spectrum tuning in multiline </a:t>
            </a:r>
            <a:r>
              <a:rPr lang="en-US" altLang="zh-TW" sz="3200" dirty="0" err="1">
                <a:latin typeface="Times New Roman" panose="02020603050405020304" pitchFamily="18" charset="0"/>
                <a:cs typeface="Times New Roman" panose="02020603050405020304" pitchFamily="18" charset="0"/>
              </a:rPr>
              <a:t>intracavity</a:t>
            </a:r>
            <a:r>
              <a:rPr lang="en-US" altLang="zh-TW" sz="3200" dirty="0">
                <a:latin typeface="Times New Roman" panose="02020603050405020304" pitchFamily="18" charset="0"/>
                <a:cs typeface="Times New Roman" panose="02020603050405020304" pitchFamily="18" charset="0"/>
              </a:rPr>
              <a:t> optical parametric oscillators using </a:t>
            </a:r>
            <a:r>
              <a:rPr lang="en-US" altLang="zh-TW" sz="3200" dirty="0" err="1">
                <a:latin typeface="Times New Roman" panose="02020603050405020304" pitchFamily="18" charset="0"/>
                <a:cs typeface="Times New Roman" panose="02020603050405020304" pitchFamily="18" charset="0"/>
              </a:rPr>
              <a:t>aperiodically</a:t>
            </a:r>
            <a:r>
              <a:rPr lang="en-US" altLang="zh-TW" sz="3200" dirty="0">
                <a:latin typeface="Times New Roman" panose="02020603050405020304" pitchFamily="18" charset="0"/>
                <a:cs typeface="Times New Roman" panose="02020603050405020304" pitchFamily="18" charset="0"/>
              </a:rPr>
              <a:t> poled lithium </a:t>
            </a:r>
            <a:r>
              <a:rPr lang="en-US" altLang="zh-TW" sz="3200" dirty="0" err="1">
                <a:latin typeface="Times New Roman" panose="02020603050405020304" pitchFamily="18" charset="0"/>
                <a:cs typeface="Times New Roman" panose="02020603050405020304" pitchFamily="18" charset="0"/>
              </a:rPr>
              <a:t>niobate</a:t>
            </a:r>
            <a:endParaRPr lang="zh-TW" altLang="en-US" sz="3200" dirty="0"/>
          </a:p>
        </p:txBody>
      </p:sp>
    </p:spTree>
    <p:extLst>
      <p:ext uri="{BB962C8B-B14F-4D97-AF65-F5344CB8AC3E}">
        <p14:creationId xmlns:p14="http://schemas.microsoft.com/office/powerpoint/2010/main" val="3321616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txBox="1">
            <a:spLocks/>
          </p:cNvSpPr>
          <p:nvPr/>
        </p:nvSpPr>
        <p:spPr>
          <a:xfrm>
            <a:off x="457287" y="1028251"/>
            <a:ext cx="4626103" cy="4985688"/>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Introduction</a:t>
            </a:r>
          </a:p>
          <a:p>
            <a:pPr lvl="2">
              <a:lnSpc>
                <a:spcPct val="100000"/>
              </a:lnSpc>
            </a:pPr>
            <a:r>
              <a:rPr lang="en-US" altLang="zh-TW" sz="1400" b="1" dirty="0">
                <a:latin typeface="Times New Roman" panose="02020603050405020304" pitchFamily="18" charset="0"/>
                <a:cs typeface="Times New Roman" panose="02020603050405020304" pitchFamily="18" charset="0"/>
              </a:rPr>
              <a:t>OPO</a:t>
            </a:r>
            <a:r>
              <a:rPr lang="zh-TW" altLang="en-US" sz="1400" b="1" dirty="0">
                <a:latin typeface="Times New Roman" panose="02020603050405020304" pitchFamily="18" charset="0"/>
                <a:cs typeface="Times New Roman" panose="02020603050405020304" pitchFamily="18" charset="0"/>
              </a:rPr>
              <a:t> </a:t>
            </a:r>
            <a:r>
              <a:rPr lang="en-US" altLang="zh-TW" sz="1400" b="1" dirty="0">
                <a:latin typeface="Times New Roman" panose="02020603050405020304" pitchFamily="18" charset="0"/>
                <a:cs typeface="Times New Roman" panose="02020603050405020304" pitchFamily="18" charset="0"/>
              </a:rPr>
              <a:t>spectral tuning</a:t>
            </a: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Effect</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Device Design and Fabrication</a:t>
            </a:r>
          </a:p>
          <a:p>
            <a:pPr lvl="2"/>
            <a:r>
              <a:rPr lang="en-US" altLang="zh-TW" sz="1400" b="1" dirty="0">
                <a:latin typeface="Times New Roman" panose="02020603050405020304" pitchFamily="18" charset="0"/>
                <a:cs typeface="Times New Roman" panose="02020603050405020304" pitchFamily="18" charset="0"/>
              </a:rPr>
              <a:t>Genetic algorithm</a:t>
            </a:r>
          </a:p>
          <a:p>
            <a:pPr lvl="2"/>
            <a:r>
              <a:rPr lang="en-US" altLang="zh-TW" sz="1400" b="1" dirty="0" err="1">
                <a:latin typeface="Times New Roman" panose="02020603050405020304" pitchFamily="18" charset="0"/>
                <a:cs typeface="Times New Roman" panose="02020603050405020304" pitchFamily="18" charset="0"/>
              </a:rPr>
              <a:t>Nonperiodic</a:t>
            </a:r>
            <a:r>
              <a:rPr lang="en-US" altLang="zh-TW" sz="1400" b="1" dirty="0">
                <a:latin typeface="Times New Roman" panose="02020603050405020304" pitchFamily="18" charset="0"/>
                <a:cs typeface="Times New Roman" panose="02020603050405020304" pitchFamily="18" charset="0"/>
              </a:rPr>
              <a:t> optical </a:t>
            </a:r>
            <a:r>
              <a:rPr lang="en-US" altLang="zh-TW" sz="1400" b="1" dirty="0" err="1">
                <a:latin typeface="Times New Roman" panose="02020603050405020304" pitchFamily="18" charset="0"/>
                <a:cs typeface="Times New Roman" panose="02020603050405020304" pitchFamily="18" charset="0"/>
              </a:rPr>
              <a:t>superlattice</a:t>
            </a:r>
            <a:r>
              <a:rPr lang="en-US" altLang="zh-TW" sz="1400" b="1" dirty="0">
                <a:latin typeface="Times New Roman" panose="02020603050405020304" pitchFamily="18" charset="0"/>
                <a:cs typeface="Times New Roman" panose="02020603050405020304" pitchFamily="18" charset="0"/>
              </a:rPr>
              <a:t> design</a:t>
            </a: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lnSpc>
                <a:spcPct val="100000"/>
              </a:lnSpc>
            </a:pPr>
            <a:r>
              <a:rPr lang="en-US" altLang="zh-TW" sz="1400" b="1" dirty="0">
                <a:latin typeface="Times New Roman" panose="02020603050405020304" pitchFamily="18" charset="0"/>
                <a:cs typeface="Times New Roman" panose="02020603050405020304" pitchFamily="18" charset="0"/>
              </a:rPr>
              <a:t>Experimental set-up</a:t>
            </a:r>
          </a:p>
          <a:p>
            <a:pPr lvl="2">
              <a:lnSpc>
                <a:spcPct val="100000"/>
              </a:lnSpc>
            </a:pPr>
            <a:r>
              <a:rPr lang="en-US" altLang="zh-TW" sz="1400" b="1" dirty="0">
                <a:latin typeface="Times New Roman" panose="02020603050405020304" pitchFamily="18" charset="0"/>
                <a:cs typeface="Times New Roman" panose="02020603050405020304" pitchFamily="18" charset="0"/>
              </a:rPr>
              <a:t>Measurement</a:t>
            </a:r>
          </a:p>
          <a:p>
            <a:pPr lvl="2">
              <a:lnSpc>
                <a:spcPct val="100000"/>
              </a:lnSpc>
            </a:pPr>
            <a:r>
              <a:rPr lang="en-US" altLang="zh-TW" sz="1400" b="1" dirty="0">
                <a:latin typeface="Times New Roman" panose="02020603050405020304" pitchFamily="18" charset="0"/>
                <a:cs typeface="Times New Roman" panose="02020603050405020304" pitchFamily="18" charset="0"/>
              </a:rPr>
              <a:t>Spectral fitting</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p>
        </p:txBody>
      </p:sp>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9826" y="898030"/>
            <a:ext cx="4081272" cy="2763774"/>
          </a:xfrm>
          <a:prstGeom prst="rect">
            <a:avLst/>
          </a:prstGeom>
        </p:spPr>
      </p:pic>
      <p:pic>
        <p:nvPicPr>
          <p:cNvPr id="5" name="圖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9826" y="3661804"/>
            <a:ext cx="4082605" cy="3060573"/>
          </a:xfrm>
          <a:prstGeom prst="rect">
            <a:avLst/>
          </a:prstGeom>
        </p:spPr>
      </p:pic>
    </p:spTree>
    <p:extLst>
      <p:ext uri="{BB962C8B-B14F-4D97-AF65-F5344CB8AC3E}">
        <p14:creationId xmlns:p14="http://schemas.microsoft.com/office/powerpoint/2010/main" val="1843762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Applications</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355" y="2365999"/>
            <a:ext cx="3002475" cy="264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字方塊 6"/>
          <p:cNvSpPr txBox="1"/>
          <p:nvPr/>
        </p:nvSpPr>
        <p:spPr>
          <a:xfrm>
            <a:off x="4456152" y="1600516"/>
            <a:ext cx="3279694" cy="646331"/>
          </a:xfrm>
          <a:prstGeom prst="rect">
            <a:avLst/>
          </a:prstGeom>
          <a:noFill/>
        </p:spPr>
        <p:txBody>
          <a:bodyPr wrap="square" rtlCol="0">
            <a:spAutoFit/>
          </a:bodyPr>
          <a:lstStyle/>
          <a:p>
            <a:r>
              <a:rPr lang="en-US" altLang="zh-TW" b="1" u="heavy" dirty="0" err="1">
                <a:latin typeface="Times New Roman" panose="02020603050405020304" pitchFamily="18" charset="0"/>
                <a:cs typeface="Times New Roman" panose="02020603050405020304" pitchFamily="18" charset="0"/>
              </a:rPr>
              <a:t>Mult</a:t>
            </a:r>
            <a:r>
              <a:rPr lang="en-US" altLang="zh-TW" b="1" u="heavy" dirty="0">
                <a:latin typeface="Times New Roman" panose="02020603050405020304" pitchFamily="18" charset="0"/>
                <a:cs typeface="Times New Roman" panose="02020603050405020304" pitchFamily="18" charset="0"/>
              </a:rPr>
              <a:t>-</a:t>
            </a:r>
            <a:r>
              <a:rPr lang="el-GR" altLang="zh-TW" b="1" u="heavy" dirty="0">
                <a:latin typeface="Times New Roman" panose="02020603050405020304" pitchFamily="18" charset="0"/>
                <a:cs typeface="Times New Roman" panose="02020603050405020304" pitchFamily="18" charset="0"/>
              </a:rPr>
              <a:t>λ</a:t>
            </a:r>
            <a:r>
              <a:rPr lang="en-US" altLang="zh-TW" b="1" u="heavy" dirty="0">
                <a:latin typeface="Times New Roman" panose="02020603050405020304" pitchFamily="18" charset="0"/>
                <a:cs typeface="Times New Roman" panose="02020603050405020304" pitchFamily="18" charset="0"/>
              </a:rPr>
              <a:t> water vapor differential </a:t>
            </a:r>
          </a:p>
          <a:p>
            <a:r>
              <a:rPr lang="en-US" altLang="zh-TW" b="1" u="heavy" dirty="0">
                <a:latin typeface="Times New Roman" panose="02020603050405020304" pitchFamily="18" charset="0"/>
                <a:cs typeface="Times New Roman" panose="02020603050405020304" pitchFamily="18" charset="0"/>
              </a:rPr>
              <a:t>absorption </a:t>
            </a:r>
            <a:r>
              <a:rPr lang="en-US" altLang="zh-TW" b="1" u="heavy" dirty="0" err="1">
                <a:latin typeface="Times New Roman" panose="02020603050405020304" pitchFamily="18" charset="0"/>
                <a:cs typeface="Times New Roman" panose="02020603050405020304" pitchFamily="18" charset="0"/>
              </a:rPr>
              <a:t>lidar</a:t>
            </a:r>
            <a:endParaRPr lang="zh-TW" altLang="en-US" b="1" u="heavy" dirty="0">
              <a:latin typeface="Times New Roman" panose="02020603050405020304" pitchFamily="18" charset="0"/>
              <a:cs typeface="Times New Roman" panose="02020603050405020304" pitchFamily="18" charset="0"/>
            </a:endParaRPr>
          </a:p>
        </p:txBody>
      </p:sp>
      <p:sp>
        <p:nvSpPr>
          <p:cNvPr id="8" name="文字方塊 7"/>
          <p:cNvSpPr txBox="1"/>
          <p:nvPr/>
        </p:nvSpPr>
        <p:spPr>
          <a:xfrm>
            <a:off x="643095" y="1739015"/>
            <a:ext cx="2632997" cy="369332"/>
          </a:xfrm>
          <a:prstGeom prst="rect">
            <a:avLst/>
          </a:prstGeom>
          <a:noFill/>
        </p:spPr>
        <p:txBody>
          <a:bodyPr wrap="square" rtlCol="0">
            <a:spAutoFit/>
          </a:bodyPr>
          <a:lstStyle/>
          <a:p>
            <a:r>
              <a:rPr lang="en-US" altLang="zh-TW" b="1" u="heavy">
                <a:latin typeface="Times New Roman" panose="02020603050405020304" pitchFamily="18" charset="0"/>
                <a:cs typeface="Times New Roman" panose="02020603050405020304" pitchFamily="18" charset="0"/>
              </a:rPr>
              <a:t>Tunable THz generation</a:t>
            </a:r>
            <a:endParaRPr lang="zh-TW" altLang="en-US" b="1" u="heavy">
              <a:latin typeface="Times New Roman" panose="02020603050405020304" pitchFamily="18" charset="0"/>
              <a:cs typeface="Times New Roman" panose="02020603050405020304" pitchFamily="18" charset="0"/>
            </a:endParaRPr>
          </a:p>
        </p:txBody>
      </p:sp>
      <p:sp>
        <p:nvSpPr>
          <p:cNvPr id="10" name="矩形 9"/>
          <p:cNvSpPr/>
          <p:nvPr/>
        </p:nvSpPr>
        <p:spPr>
          <a:xfrm>
            <a:off x="8621343" y="1739015"/>
            <a:ext cx="3153427" cy="369332"/>
          </a:xfrm>
          <a:prstGeom prst="rect">
            <a:avLst/>
          </a:prstGeom>
        </p:spPr>
        <p:txBody>
          <a:bodyPr wrap="none">
            <a:spAutoFit/>
          </a:bodyPr>
          <a:lstStyle/>
          <a:p>
            <a:r>
              <a:rPr lang="en-US" altLang="zh-TW" b="1" u="heavy" dirty="0" err="1">
                <a:latin typeface="Times New Roman" panose="02020603050405020304" pitchFamily="18" charset="0"/>
                <a:cs typeface="Times New Roman" panose="02020603050405020304" pitchFamily="18" charset="0"/>
              </a:rPr>
              <a:t>Photoplethysmography</a:t>
            </a:r>
            <a:r>
              <a:rPr lang="en-US" altLang="zh-TW" b="1" u="heavy" dirty="0">
                <a:latin typeface="Times New Roman" panose="02020603050405020304" pitchFamily="18" charset="0"/>
                <a:cs typeface="Times New Roman" panose="02020603050405020304" pitchFamily="18" charset="0"/>
              </a:rPr>
              <a:t> (PPG)</a:t>
            </a:r>
            <a:endParaRPr lang="zh-TW" altLang="en-US" b="1" u="heavy" dirty="0">
              <a:latin typeface="Times New Roman" panose="02020603050405020304" pitchFamily="18" charset="0"/>
              <a:cs typeface="Times New Roman" panose="02020603050405020304" pitchFamily="18" charset="0"/>
            </a:endParaRPr>
          </a:p>
        </p:txBody>
      </p:sp>
      <p:sp>
        <p:nvSpPr>
          <p:cNvPr id="11" name="Rectangle 110"/>
          <p:cNvSpPr>
            <a:spLocks noChangeArrowheads="1"/>
          </p:cNvSpPr>
          <p:nvPr/>
        </p:nvSpPr>
        <p:spPr bwMode="auto">
          <a:xfrm>
            <a:off x="540934" y="5099877"/>
            <a:ext cx="28373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0"/>
            <a:r>
              <a:rPr lang="en-US" altLang="zh-TW" sz="1600" i="1" dirty="0">
                <a:solidFill>
                  <a:schemeClr val="accent2">
                    <a:lumMod val="50000"/>
                  </a:schemeClr>
                </a:solidFill>
                <a:latin typeface="Times New Roman" panose="02020603050405020304" pitchFamily="18" charset="0"/>
                <a:cs typeface="Times New Roman" panose="02020603050405020304" pitchFamily="18" charset="0"/>
              </a:rPr>
              <a:t>Opt. Lett. Vol. 25, No. 23 (2000)</a:t>
            </a:r>
            <a:endParaRPr lang="zh-TW" altLang="zh-TW" sz="1600" i="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12" name="Rectangle 110"/>
          <p:cNvSpPr>
            <a:spLocks noChangeArrowheads="1"/>
          </p:cNvSpPr>
          <p:nvPr/>
        </p:nvSpPr>
        <p:spPr bwMode="auto">
          <a:xfrm>
            <a:off x="4649128" y="5100403"/>
            <a:ext cx="28937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0"/>
            <a:r>
              <a:rPr lang="en-US" altLang="zh-TW" sz="1600" i="1" dirty="0" err="1">
                <a:solidFill>
                  <a:schemeClr val="accent2">
                    <a:lumMod val="50000"/>
                  </a:schemeClr>
                </a:solidFill>
                <a:latin typeface="Times New Roman" panose="02020603050405020304" pitchFamily="18" charset="0"/>
                <a:cs typeface="Times New Roman" panose="02020603050405020304" pitchFamily="18" charset="0"/>
              </a:rPr>
              <a:t>Appl.Phys.B</a:t>
            </a:r>
            <a:r>
              <a:rPr lang="en-US" altLang="zh-TW" sz="1600" i="1" dirty="0">
                <a:solidFill>
                  <a:schemeClr val="accent2">
                    <a:lumMod val="50000"/>
                  </a:schemeClr>
                </a:solidFill>
                <a:latin typeface="Times New Roman" panose="02020603050405020304" pitchFamily="18" charset="0"/>
                <a:cs typeface="Times New Roman" panose="02020603050405020304" pitchFamily="18" charset="0"/>
              </a:rPr>
              <a:t>  96, 201-213 (2009)</a:t>
            </a:r>
            <a:endParaRPr lang="zh-TW" altLang="zh-TW" sz="1600" i="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14" name="Rectangle 110"/>
          <p:cNvSpPr>
            <a:spLocks noChangeArrowheads="1"/>
          </p:cNvSpPr>
          <p:nvPr/>
        </p:nvSpPr>
        <p:spPr bwMode="auto">
          <a:xfrm>
            <a:off x="8721185" y="5099877"/>
            <a:ext cx="33342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0"/>
            <a:r>
              <a:rPr lang="en-US" altLang="zh-TW" sz="1600" i="1" dirty="0">
                <a:solidFill>
                  <a:schemeClr val="accent2">
                    <a:lumMod val="50000"/>
                  </a:schemeClr>
                </a:solidFill>
                <a:latin typeface="Times New Roman" panose="02020603050405020304" pitchFamily="18" charset="0"/>
                <a:cs typeface="Times New Roman" panose="02020603050405020304" pitchFamily="18" charset="0"/>
              </a:rPr>
              <a:t>Applied Optics, Vol. 46, No. 10 (2007)</a:t>
            </a:r>
            <a:endParaRPr lang="zh-TW" altLang="zh-TW" sz="1600" i="1" dirty="0">
              <a:solidFill>
                <a:schemeClr val="accent2">
                  <a:lumMod val="50000"/>
                </a:schemeClr>
              </a:solidFill>
              <a:latin typeface="Times New Roman" panose="02020603050405020304" pitchFamily="18" charset="0"/>
              <a:cs typeface="Times New Roman" panose="02020603050405020304" pitchFamily="18" charset="0"/>
            </a:endParaRPr>
          </a:p>
        </p:txBody>
      </p:sp>
      <p:pic>
        <p:nvPicPr>
          <p:cNvPr id="15" name="圖片 14"/>
          <p:cNvPicPr>
            <a:picLocks noChangeAspect="1"/>
          </p:cNvPicPr>
          <p:nvPr/>
        </p:nvPicPr>
        <p:blipFill>
          <a:blip r:embed="rId4"/>
          <a:stretch>
            <a:fillRect/>
          </a:stretch>
        </p:blipFill>
        <p:spPr>
          <a:xfrm>
            <a:off x="3836573" y="2246847"/>
            <a:ext cx="3813810" cy="2867025"/>
          </a:xfrm>
          <a:prstGeom prst="rect">
            <a:avLst/>
          </a:prstGeom>
        </p:spPr>
      </p:pic>
      <p:pic>
        <p:nvPicPr>
          <p:cNvPr id="16" name="圖片 15"/>
          <p:cNvPicPr>
            <a:picLocks noChangeAspect="1"/>
          </p:cNvPicPr>
          <p:nvPr/>
        </p:nvPicPr>
        <p:blipFill>
          <a:blip r:embed="rId5"/>
          <a:stretch>
            <a:fillRect/>
          </a:stretch>
        </p:blipFill>
        <p:spPr>
          <a:xfrm>
            <a:off x="8340681" y="2354479"/>
            <a:ext cx="3714750" cy="2651760"/>
          </a:xfrm>
          <a:prstGeom prst="rect">
            <a:avLst/>
          </a:prstGeom>
        </p:spPr>
      </p:pic>
    </p:spTree>
    <p:extLst>
      <p:ext uri="{BB962C8B-B14F-4D97-AF65-F5344CB8AC3E}">
        <p14:creationId xmlns:p14="http://schemas.microsoft.com/office/powerpoint/2010/main" val="3439673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OPO</a:t>
            </a:r>
            <a:r>
              <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spectral tuning</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直線接點 2"/>
          <p:cNvCxnSpPr/>
          <p:nvPr/>
        </p:nvCxnSpPr>
        <p:spPr>
          <a:xfrm>
            <a:off x="1" y="775965"/>
            <a:ext cx="1219199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23887" y="934079"/>
            <a:ext cx="5800306" cy="4708981"/>
          </a:xfrm>
          <a:prstGeom prst="rect">
            <a:avLst/>
          </a:prstGeom>
        </p:spPr>
        <p:txBody>
          <a:bodyPr wrap="none">
            <a:spAutoFit/>
          </a:bodyPr>
          <a:lstStyle/>
          <a:p>
            <a:pPr marL="342900" indent="-342900">
              <a:buFont typeface="Wingdings" panose="05000000000000000000" pitchFamily="2" charset="2"/>
              <a:buChar char="Ø"/>
            </a:pPr>
            <a:r>
              <a:rPr lang="en-US" altLang="zh-TW" sz="2000" b="1" dirty="0">
                <a:latin typeface="Times New Roman" panose="02020603050405020304" pitchFamily="18" charset="0"/>
                <a:cs typeface="Times New Roman" panose="02020603050405020304" pitchFamily="18" charset="0"/>
              </a:rPr>
              <a:t>Thermal control</a:t>
            </a:r>
            <a:r>
              <a:rPr lang="zh-TW" altLang="en-US" sz="2000" b="1" dirty="0">
                <a:latin typeface="Times New Roman" panose="02020603050405020304" pitchFamily="18" charset="0"/>
                <a:cs typeface="Times New Roman" panose="02020603050405020304" pitchFamily="18" charset="0"/>
              </a:rPr>
              <a:t> </a:t>
            </a:r>
            <a:r>
              <a:rPr lang="zh-TW" altLang="en-US" sz="2000" b="1" dirty="0">
                <a:solidFill>
                  <a:srgbClr val="FF0000"/>
                </a:solidFill>
                <a:latin typeface="Times New Roman" panose="02020603050405020304" pitchFamily="18" charset="0"/>
                <a:cs typeface="Times New Roman" panose="02020603050405020304" pitchFamily="18" charset="0"/>
              </a:rPr>
              <a:t>→ </a:t>
            </a:r>
            <a:r>
              <a:rPr lang="en-US" altLang="zh-TW" sz="2000" b="1" dirty="0">
                <a:solidFill>
                  <a:srgbClr val="FF0000"/>
                </a:solidFill>
                <a:latin typeface="Times New Roman" panose="02020603050405020304" pitchFamily="18" charset="0"/>
                <a:cs typeface="Times New Roman" panose="02020603050405020304" pitchFamily="18" charset="0"/>
              </a:rPr>
              <a:t>slow</a:t>
            </a:r>
          </a:p>
          <a:p>
            <a:r>
              <a:rPr lang="en-US" altLang="zh-TW" sz="2000" b="1" i="1" dirty="0">
                <a:solidFill>
                  <a:schemeClr val="accent2">
                    <a:lumMod val="50000"/>
                  </a:schemeClr>
                </a:solidFill>
                <a:latin typeface="Times New Roman" panose="02020603050405020304" pitchFamily="18" charset="0"/>
                <a:cs typeface="Times New Roman" panose="02020603050405020304" pitchFamily="18" charset="0"/>
              </a:rPr>
              <a:t>J. A. </a:t>
            </a:r>
            <a:r>
              <a:rPr lang="en-US" altLang="zh-TW" sz="2000" b="1" i="1" dirty="0" err="1">
                <a:solidFill>
                  <a:schemeClr val="accent2">
                    <a:lumMod val="50000"/>
                  </a:schemeClr>
                </a:solidFill>
                <a:latin typeface="Times New Roman" panose="02020603050405020304" pitchFamily="18" charset="0"/>
                <a:cs typeface="Times New Roman" panose="02020603050405020304" pitchFamily="18" charset="0"/>
              </a:rPr>
              <a:t>Giordmaine</a:t>
            </a:r>
            <a:r>
              <a:rPr lang="zh-TW" altLang="en-US" sz="2000" b="1" i="1" dirty="0">
                <a:solidFill>
                  <a:schemeClr val="accent2">
                    <a:lumMod val="50000"/>
                  </a:schemeClr>
                </a:solidFill>
                <a:latin typeface="Times New Roman" panose="02020603050405020304" pitchFamily="18" charset="0"/>
                <a:cs typeface="Times New Roman" panose="02020603050405020304" pitchFamily="18" charset="0"/>
              </a:rPr>
              <a:t> </a:t>
            </a:r>
            <a:r>
              <a:rPr lang="en-US" altLang="zh-TW" sz="2000" b="1" i="1" dirty="0">
                <a:solidFill>
                  <a:schemeClr val="accent2">
                    <a:lumMod val="50000"/>
                  </a:schemeClr>
                </a:solidFill>
                <a:latin typeface="Times New Roman" panose="02020603050405020304" pitchFamily="18" charset="0"/>
                <a:cs typeface="Times New Roman" panose="02020603050405020304" pitchFamily="18" charset="0"/>
              </a:rPr>
              <a:t>et al., </a:t>
            </a:r>
            <a:r>
              <a:rPr lang="en-US" altLang="zh-TW" sz="2000" i="1" dirty="0">
                <a:solidFill>
                  <a:schemeClr val="accent2">
                    <a:lumMod val="50000"/>
                  </a:schemeClr>
                </a:solidFill>
                <a:latin typeface="Times New Roman" panose="02020603050405020304" pitchFamily="18" charset="0"/>
                <a:cs typeface="Times New Roman" panose="02020603050405020304" pitchFamily="18" charset="0"/>
              </a:rPr>
              <a:t>Phys. Rev. Lett. 14, 973(1965)</a:t>
            </a:r>
          </a:p>
          <a:p>
            <a:endParaRPr lang="en-US" altLang="zh-TW"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altLang="zh-TW" sz="2000" b="1" dirty="0">
                <a:latin typeface="Times New Roman" panose="02020603050405020304" pitchFamily="18" charset="0"/>
                <a:cs typeface="Times New Roman" panose="02020603050405020304" pitchFamily="18" charset="0"/>
              </a:rPr>
              <a:t>Mechanical control </a:t>
            </a:r>
            <a:r>
              <a:rPr lang="zh-TW" altLang="en-US" sz="2000" b="1" dirty="0">
                <a:solidFill>
                  <a:srgbClr val="FF0000"/>
                </a:solidFill>
                <a:latin typeface="Times New Roman" panose="02020603050405020304" pitchFamily="18" charset="0"/>
                <a:cs typeface="Times New Roman" panose="02020603050405020304" pitchFamily="18" charset="0"/>
              </a:rPr>
              <a:t>→ </a:t>
            </a:r>
            <a:r>
              <a:rPr lang="en-US" altLang="zh-TW" sz="2000" b="1" dirty="0">
                <a:solidFill>
                  <a:srgbClr val="FF0000"/>
                </a:solidFill>
                <a:latin typeface="Times New Roman" panose="02020603050405020304" pitchFamily="18" charset="0"/>
                <a:cs typeface="Times New Roman" panose="02020603050405020304" pitchFamily="18" charset="0"/>
              </a:rPr>
              <a:t>slow and extra loss</a:t>
            </a: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TW" sz="2000" b="1"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3"/>
          <a:stretch>
            <a:fillRect/>
          </a:stretch>
        </p:blipFill>
        <p:spPr>
          <a:xfrm>
            <a:off x="164178" y="2582243"/>
            <a:ext cx="3305758" cy="3240000"/>
          </a:xfrm>
          <a:prstGeom prst="rect">
            <a:avLst/>
          </a:prstGeom>
        </p:spPr>
      </p:pic>
      <p:sp>
        <p:nvSpPr>
          <p:cNvPr id="11" name="矩形 10"/>
          <p:cNvSpPr/>
          <p:nvPr/>
        </p:nvSpPr>
        <p:spPr>
          <a:xfrm>
            <a:off x="237161" y="5822243"/>
            <a:ext cx="3288288" cy="584775"/>
          </a:xfrm>
          <a:prstGeom prst="rect">
            <a:avLst/>
          </a:prstGeom>
        </p:spPr>
        <p:txBody>
          <a:bodyPr wrap="square">
            <a:spAutoFit/>
          </a:bodyPr>
          <a:lstStyle/>
          <a:p>
            <a:pPr algn="ctr"/>
            <a:r>
              <a:rPr lang="en-US" altLang="zh-TW" sz="1600" b="1" i="1" dirty="0">
                <a:solidFill>
                  <a:schemeClr val="accent2">
                    <a:lumMod val="50000"/>
                  </a:schemeClr>
                </a:solidFill>
                <a:latin typeface="Times New Roman" pitchFamily="18" charset="0"/>
                <a:cs typeface="Times New Roman" pitchFamily="18" charset="0"/>
              </a:rPr>
              <a:t>P. E. Powers, Thomas J. </a:t>
            </a:r>
            <a:r>
              <a:rPr lang="en-US" altLang="zh-TW" sz="1600" b="1" i="1" dirty="0" err="1">
                <a:solidFill>
                  <a:schemeClr val="accent2">
                    <a:lumMod val="50000"/>
                  </a:schemeClr>
                </a:solidFill>
                <a:latin typeface="Times New Roman" pitchFamily="18" charset="0"/>
                <a:cs typeface="Times New Roman" pitchFamily="18" charset="0"/>
              </a:rPr>
              <a:t>Kulp</a:t>
            </a:r>
            <a:endParaRPr lang="en-US" altLang="zh-TW" sz="1600" i="1" dirty="0">
              <a:solidFill>
                <a:schemeClr val="accent2">
                  <a:lumMod val="50000"/>
                </a:schemeClr>
              </a:solidFill>
              <a:latin typeface="Times New Roman" pitchFamily="18" charset="0"/>
              <a:cs typeface="Times New Roman" pitchFamily="18" charset="0"/>
            </a:endParaRPr>
          </a:p>
          <a:p>
            <a:pPr algn="ctr"/>
            <a:r>
              <a:rPr lang="en-US" altLang="zh-TW" sz="1600" i="1" dirty="0">
                <a:solidFill>
                  <a:schemeClr val="accent2">
                    <a:lumMod val="50000"/>
                  </a:schemeClr>
                </a:solidFill>
                <a:latin typeface="Times New Roman" pitchFamily="18" charset="0"/>
                <a:cs typeface="Times New Roman" pitchFamily="18" charset="0"/>
              </a:rPr>
              <a:t>OPTICS LETTERS ,Vol. 23, 159(1998)</a:t>
            </a:r>
            <a:endParaRPr lang="zh-TW" altLang="en-US" sz="1600" i="1" dirty="0">
              <a:solidFill>
                <a:schemeClr val="accent2">
                  <a:lumMod val="50000"/>
                </a:schemeClr>
              </a:solidFill>
              <a:latin typeface="Times New Roman" pitchFamily="18" charset="0"/>
              <a:cs typeface="Times New Roman" pitchFamily="18" charset="0"/>
            </a:endParaRPr>
          </a:p>
        </p:txBody>
      </p:sp>
      <p:sp>
        <p:nvSpPr>
          <p:cNvPr id="12" name="文字方塊 11"/>
          <p:cNvSpPr txBox="1"/>
          <p:nvPr/>
        </p:nvSpPr>
        <p:spPr>
          <a:xfrm>
            <a:off x="1009913" y="2212911"/>
            <a:ext cx="1742785" cy="369332"/>
          </a:xfrm>
          <a:prstGeom prst="rect">
            <a:avLst/>
          </a:prstGeom>
          <a:noFill/>
        </p:spPr>
        <p:txBody>
          <a:bodyPr wrap="none" rtlCol="0">
            <a:spAutoFit/>
          </a:bodyPr>
          <a:lstStyle/>
          <a:p>
            <a:r>
              <a:rPr lang="en-US" altLang="zh-TW" b="1" u="heavy">
                <a:latin typeface="Times New Roman" panose="02020603050405020304" pitchFamily="18" charset="0"/>
                <a:cs typeface="Times New Roman" panose="02020603050405020304" pitchFamily="18" charset="0"/>
              </a:rPr>
              <a:t>Fan-out grating</a:t>
            </a:r>
            <a:endParaRPr lang="zh-TW" altLang="en-US" b="1" u="heavy">
              <a:latin typeface="Times New Roman" panose="02020603050405020304" pitchFamily="18" charset="0"/>
              <a:cs typeface="Times New Roman" panose="02020603050405020304" pitchFamily="18" charset="0"/>
            </a:endParaRPr>
          </a:p>
        </p:txBody>
      </p:sp>
      <p:sp>
        <p:nvSpPr>
          <p:cNvPr id="15" name="矩形 14"/>
          <p:cNvSpPr/>
          <p:nvPr/>
        </p:nvSpPr>
        <p:spPr>
          <a:xfrm>
            <a:off x="4553624" y="2212911"/>
            <a:ext cx="2345514" cy="369332"/>
          </a:xfrm>
          <a:prstGeom prst="rect">
            <a:avLst/>
          </a:prstGeom>
        </p:spPr>
        <p:txBody>
          <a:bodyPr wrap="none">
            <a:spAutoFit/>
          </a:bodyPr>
          <a:lstStyle/>
          <a:p>
            <a:r>
              <a:rPr lang="en-US" altLang="zh-TW" b="1" u="heavy">
                <a:latin typeface="Times New Roman" panose="02020603050405020304" pitchFamily="18" charset="0"/>
                <a:cs typeface="Times New Roman" panose="02020603050405020304" pitchFamily="18" charset="0"/>
              </a:rPr>
              <a:t>Phase-matching angle</a:t>
            </a:r>
            <a:endParaRPr lang="zh-TW" altLang="en-US" u="heavy"/>
          </a:p>
        </p:txBody>
      </p:sp>
      <p:pic>
        <p:nvPicPr>
          <p:cNvPr id="16" name="圖片 15"/>
          <p:cNvPicPr>
            <a:picLocks noChangeAspect="1"/>
          </p:cNvPicPr>
          <p:nvPr/>
        </p:nvPicPr>
        <p:blipFill>
          <a:blip r:embed="rId4"/>
          <a:stretch>
            <a:fillRect/>
          </a:stretch>
        </p:blipFill>
        <p:spPr>
          <a:xfrm>
            <a:off x="3613604" y="2674628"/>
            <a:ext cx="4225554" cy="2160000"/>
          </a:xfrm>
          <a:prstGeom prst="rect">
            <a:avLst/>
          </a:prstGeom>
        </p:spPr>
      </p:pic>
      <p:sp>
        <p:nvSpPr>
          <p:cNvPr id="17" name="矩形 16"/>
          <p:cNvSpPr/>
          <p:nvPr/>
        </p:nvSpPr>
        <p:spPr>
          <a:xfrm>
            <a:off x="4073427" y="4833487"/>
            <a:ext cx="3305907" cy="584775"/>
          </a:xfrm>
          <a:prstGeom prst="rect">
            <a:avLst/>
          </a:prstGeom>
        </p:spPr>
        <p:txBody>
          <a:bodyPr wrap="square">
            <a:spAutoFit/>
          </a:bodyPr>
          <a:lstStyle/>
          <a:p>
            <a:pPr marL="228600" indent="-228600" algn="ctr"/>
            <a:r>
              <a:rPr lang="en-US" altLang="zh-TW" sz="1600" b="1" i="1">
                <a:solidFill>
                  <a:schemeClr val="accent2">
                    <a:lumMod val="50000"/>
                  </a:schemeClr>
                </a:solidFill>
                <a:latin typeface="Times New Roman" pitchFamily="18" charset="0"/>
                <a:cs typeface="Times New Roman" pitchFamily="18" charset="0"/>
              </a:rPr>
              <a:t>Chi-</a:t>
            </a:r>
            <a:r>
              <a:rPr lang="en-US" altLang="zh-TW" sz="1600" b="1" i="1" err="1">
                <a:solidFill>
                  <a:schemeClr val="accent2">
                    <a:lumMod val="50000"/>
                  </a:schemeClr>
                </a:solidFill>
                <a:latin typeface="Times New Roman" pitchFamily="18" charset="0"/>
                <a:cs typeface="Times New Roman" pitchFamily="18" charset="0"/>
              </a:rPr>
              <a:t>Sheng</a:t>
            </a:r>
            <a:r>
              <a:rPr lang="en-US" altLang="zh-TW" sz="1600" b="1" i="1">
                <a:solidFill>
                  <a:schemeClr val="accent2">
                    <a:lumMod val="50000"/>
                  </a:schemeClr>
                </a:solidFill>
                <a:latin typeface="Times New Roman" pitchFamily="18" charset="0"/>
                <a:cs typeface="Times New Roman" pitchFamily="18" charset="0"/>
              </a:rPr>
              <a:t> Yu and A. H. Kung</a:t>
            </a:r>
          </a:p>
          <a:p>
            <a:pPr marL="228600" indent="-228600" algn="ctr"/>
            <a:r>
              <a:rPr lang="en-US" altLang="zh-TW" sz="1600" i="1" err="1">
                <a:solidFill>
                  <a:schemeClr val="accent2">
                    <a:lumMod val="50000"/>
                  </a:schemeClr>
                </a:solidFill>
                <a:latin typeface="Times New Roman" pitchFamily="18" charset="0"/>
                <a:cs typeface="Times New Roman" pitchFamily="18" charset="0"/>
              </a:rPr>
              <a:t>J.Opt</a:t>
            </a:r>
            <a:r>
              <a:rPr lang="en-US" altLang="zh-TW" sz="1600" i="1">
                <a:solidFill>
                  <a:schemeClr val="accent2">
                    <a:lumMod val="50000"/>
                  </a:schemeClr>
                </a:solidFill>
                <a:latin typeface="Times New Roman" pitchFamily="18" charset="0"/>
                <a:cs typeface="Times New Roman" pitchFamily="18" charset="0"/>
              </a:rPr>
              <a:t>. Soc. Am. B, Vol. 16, 2233(1999)</a:t>
            </a:r>
            <a:endParaRPr lang="zh-TW" altLang="en-US" sz="2400" i="1">
              <a:solidFill>
                <a:schemeClr val="accent2">
                  <a:lumMod val="50000"/>
                </a:schemeClr>
              </a:solidFill>
            </a:endParaRPr>
          </a:p>
        </p:txBody>
      </p:sp>
      <p:pic>
        <p:nvPicPr>
          <p:cNvPr id="18" name="圖片 17"/>
          <p:cNvPicPr>
            <a:picLocks noChangeAspect="1"/>
          </p:cNvPicPr>
          <p:nvPr/>
        </p:nvPicPr>
        <p:blipFill>
          <a:blip r:embed="rId5"/>
          <a:stretch>
            <a:fillRect/>
          </a:stretch>
        </p:blipFill>
        <p:spPr>
          <a:xfrm>
            <a:off x="7982826" y="2674628"/>
            <a:ext cx="4089076" cy="2160000"/>
          </a:xfrm>
          <a:prstGeom prst="rect">
            <a:avLst/>
          </a:prstGeom>
        </p:spPr>
      </p:pic>
      <p:sp>
        <p:nvSpPr>
          <p:cNvPr id="19" name="矩形 18"/>
          <p:cNvSpPr/>
          <p:nvPr/>
        </p:nvSpPr>
        <p:spPr>
          <a:xfrm>
            <a:off x="9354744" y="2208654"/>
            <a:ext cx="1345240" cy="369332"/>
          </a:xfrm>
          <a:prstGeom prst="rect">
            <a:avLst/>
          </a:prstGeom>
        </p:spPr>
        <p:txBody>
          <a:bodyPr wrap="none">
            <a:spAutoFit/>
          </a:bodyPr>
          <a:lstStyle/>
          <a:p>
            <a:pPr algn="ctr">
              <a:spcBef>
                <a:spcPct val="50000"/>
              </a:spcBef>
            </a:pPr>
            <a:r>
              <a:rPr lang="en-US" altLang="zh-TW" b="1" i="1" u="heavy">
                <a:latin typeface="Times New Roman" pitchFamily="18" charset="0"/>
                <a:cs typeface="Times New Roman" pitchFamily="18" charset="0"/>
              </a:rPr>
              <a:t>VBG mirror</a:t>
            </a:r>
          </a:p>
        </p:txBody>
      </p:sp>
      <p:sp>
        <p:nvSpPr>
          <p:cNvPr id="20" name="矩形 19"/>
          <p:cNvSpPr/>
          <p:nvPr/>
        </p:nvSpPr>
        <p:spPr>
          <a:xfrm>
            <a:off x="8330449" y="4833487"/>
            <a:ext cx="3393830" cy="584775"/>
          </a:xfrm>
          <a:prstGeom prst="rect">
            <a:avLst/>
          </a:prstGeom>
        </p:spPr>
        <p:txBody>
          <a:bodyPr wrap="square">
            <a:spAutoFit/>
          </a:bodyPr>
          <a:lstStyle/>
          <a:p>
            <a:pPr algn="ctr"/>
            <a:r>
              <a:rPr lang="en-US" altLang="zh-TW" sz="1600" b="1" i="1" err="1">
                <a:solidFill>
                  <a:schemeClr val="accent2">
                    <a:lumMod val="50000"/>
                  </a:schemeClr>
                </a:solidFill>
                <a:latin typeface="Times New Roman" pitchFamily="18" charset="0"/>
                <a:cs typeface="Times New Roman" pitchFamily="18" charset="0"/>
              </a:rPr>
              <a:t>Björn</a:t>
            </a:r>
            <a:r>
              <a:rPr lang="en-US" altLang="zh-TW" sz="1600" b="1" i="1">
                <a:solidFill>
                  <a:schemeClr val="accent2">
                    <a:lumMod val="50000"/>
                  </a:schemeClr>
                </a:solidFill>
                <a:latin typeface="Times New Roman" pitchFamily="18" charset="0"/>
                <a:cs typeface="Times New Roman" pitchFamily="18" charset="0"/>
              </a:rPr>
              <a:t> </a:t>
            </a:r>
            <a:r>
              <a:rPr lang="en-US" altLang="zh-TW" sz="1600" b="1" i="1" err="1">
                <a:solidFill>
                  <a:schemeClr val="accent2">
                    <a:lumMod val="50000"/>
                  </a:schemeClr>
                </a:solidFill>
                <a:latin typeface="Times New Roman" pitchFamily="18" charset="0"/>
                <a:cs typeface="Times New Roman" pitchFamily="18" charset="0"/>
              </a:rPr>
              <a:t>Jacobsson</a:t>
            </a:r>
            <a:r>
              <a:rPr lang="en-US" altLang="zh-TW" sz="1600" b="1" i="1">
                <a:solidFill>
                  <a:schemeClr val="accent2">
                    <a:lumMod val="50000"/>
                  </a:schemeClr>
                </a:solidFill>
                <a:latin typeface="Times New Roman" pitchFamily="18" charset="0"/>
                <a:cs typeface="Times New Roman" pitchFamily="18" charset="0"/>
              </a:rPr>
              <a:t>, Mikael </a:t>
            </a:r>
            <a:r>
              <a:rPr lang="en-US" altLang="zh-TW" sz="1600" b="1" i="1" err="1">
                <a:solidFill>
                  <a:schemeClr val="accent2">
                    <a:lumMod val="50000"/>
                  </a:schemeClr>
                </a:solidFill>
                <a:latin typeface="Times New Roman" pitchFamily="18" charset="0"/>
                <a:cs typeface="Times New Roman" pitchFamily="18" charset="0"/>
              </a:rPr>
              <a:t>Tiihonen</a:t>
            </a:r>
            <a:r>
              <a:rPr lang="en-US" altLang="zh-TW" sz="1600" b="1" i="1">
                <a:solidFill>
                  <a:schemeClr val="accent2">
                    <a:lumMod val="50000"/>
                  </a:schemeClr>
                </a:solidFill>
                <a:latin typeface="Times New Roman" pitchFamily="18" charset="0"/>
                <a:cs typeface="Times New Roman" pitchFamily="18" charset="0"/>
              </a:rPr>
              <a:t>,</a:t>
            </a:r>
            <a:endParaRPr lang="en-US" altLang="zh-TW" sz="1600" i="1">
              <a:solidFill>
                <a:schemeClr val="accent2">
                  <a:lumMod val="50000"/>
                </a:schemeClr>
              </a:solidFill>
              <a:latin typeface="Times New Roman" pitchFamily="18" charset="0"/>
              <a:cs typeface="Times New Roman" pitchFamily="18" charset="0"/>
            </a:endParaRPr>
          </a:p>
          <a:p>
            <a:pPr algn="ctr"/>
            <a:r>
              <a:rPr lang="en-US" altLang="zh-TW" sz="1600" i="1">
                <a:solidFill>
                  <a:schemeClr val="accent2">
                    <a:lumMod val="50000"/>
                  </a:schemeClr>
                </a:solidFill>
                <a:latin typeface="Times New Roman" pitchFamily="18" charset="0"/>
                <a:cs typeface="Times New Roman" pitchFamily="18" charset="0"/>
              </a:rPr>
              <a:t>OPTICS LETTERS, Vol. 30, 2281(2005)</a:t>
            </a:r>
            <a:endParaRPr lang="zh-TW" altLang="en-US" sz="1600" i="1">
              <a:solidFill>
                <a:schemeClr val="accent2">
                  <a:lumMod val="50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4000658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2787" y="931959"/>
            <a:ext cx="4952381" cy="400110"/>
          </a:xfrm>
          <a:prstGeom prst="rect">
            <a:avLst/>
          </a:prstGeom>
        </p:spPr>
        <p:txBody>
          <a:bodyPr wrap="none">
            <a:spAutoFit/>
          </a:bodyPr>
          <a:lstStyle/>
          <a:p>
            <a:pPr marL="342900" indent="-342900">
              <a:buFont typeface="Wingdings" panose="05000000000000000000" pitchFamily="2" charset="2"/>
              <a:buChar char="Ø"/>
            </a:pPr>
            <a:r>
              <a:rPr lang="en-US" altLang="zh-TW" sz="2000" b="1">
                <a:latin typeface="Times New Roman" panose="02020603050405020304" pitchFamily="18" charset="0"/>
                <a:cs typeface="Times New Roman" panose="02020603050405020304" pitchFamily="18" charset="0"/>
              </a:rPr>
              <a:t>Electro-optical control </a:t>
            </a:r>
            <a:r>
              <a:rPr lang="zh-TW" altLang="en-US" sz="2000" b="1">
                <a:solidFill>
                  <a:srgbClr val="FF0000"/>
                </a:solidFill>
                <a:latin typeface="Times New Roman" panose="02020603050405020304" pitchFamily="18" charset="0"/>
                <a:cs typeface="Times New Roman" panose="02020603050405020304" pitchFamily="18" charset="0"/>
              </a:rPr>
              <a:t>→ </a:t>
            </a:r>
            <a:r>
              <a:rPr lang="en-US" altLang="zh-TW" sz="2000" b="1">
                <a:solidFill>
                  <a:srgbClr val="FF0000"/>
                </a:solidFill>
                <a:latin typeface="Times New Roman" panose="02020603050405020304" pitchFamily="18" charset="0"/>
                <a:cs typeface="Times New Roman" panose="02020603050405020304" pitchFamily="18" charset="0"/>
              </a:rPr>
              <a:t>fast and stable</a:t>
            </a:r>
            <a:endParaRPr lang="en-US" altLang="zh-TW" sz="2000" b="1">
              <a:latin typeface="Times New Roman" panose="02020603050405020304" pitchFamily="18" charset="0"/>
              <a:cs typeface="Times New Roman" panose="02020603050405020304" pitchFamily="18" charset="0"/>
            </a:endParaRPr>
          </a:p>
        </p:txBody>
      </p:sp>
      <p:sp>
        <p:nvSpPr>
          <p:cNvPr id="5" name="文字方塊 4"/>
          <p:cNvSpPr txBox="1"/>
          <p:nvPr/>
        </p:nvSpPr>
        <p:spPr>
          <a:xfrm>
            <a:off x="0" y="94549"/>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OPO</a:t>
            </a:r>
            <a:r>
              <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spectral tuning</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a:stretch>
            <a:fillRect/>
          </a:stretch>
        </p:blipFill>
        <p:spPr>
          <a:xfrm>
            <a:off x="656243" y="2236179"/>
            <a:ext cx="4990679" cy="2880000"/>
          </a:xfrm>
          <a:prstGeom prst="rect">
            <a:avLst/>
          </a:prstGeom>
        </p:spPr>
      </p:pic>
      <p:pic>
        <p:nvPicPr>
          <p:cNvPr id="8" name="圖片 7"/>
          <p:cNvPicPr>
            <a:picLocks noChangeAspect="1"/>
          </p:cNvPicPr>
          <p:nvPr/>
        </p:nvPicPr>
        <p:blipFill>
          <a:blip r:embed="rId4"/>
          <a:stretch>
            <a:fillRect/>
          </a:stretch>
        </p:blipFill>
        <p:spPr>
          <a:xfrm>
            <a:off x="6569685" y="2236179"/>
            <a:ext cx="4946400" cy="2880000"/>
          </a:xfrm>
          <a:prstGeom prst="rect">
            <a:avLst/>
          </a:prstGeom>
        </p:spPr>
      </p:pic>
      <p:sp>
        <p:nvSpPr>
          <p:cNvPr id="10" name="Text Box 125"/>
          <p:cNvSpPr txBox="1">
            <a:spLocks noChangeArrowheads="1"/>
          </p:cNvSpPr>
          <p:nvPr/>
        </p:nvSpPr>
        <p:spPr bwMode="auto">
          <a:xfrm>
            <a:off x="2150137" y="1866847"/>
            <a:ext cx="2002889" cy="369332"/>
          </a:xfrm>
          <a:prstGeom prst="rect">
            <a:avLst/>
          </a:prstGeom>
          <a:noFill/>
          <a:ln w="9525">
            <a:noFill/>
            <a:miter lim="800000"/>
            <a:headEnd/>
            <a:tailEnd/>
          </a:ln>
          <a:effectLst/>
        </p:spPr>
        <p:txBody>
          <a:bodyPr wrap="square">
            <a:spAutoFit/>
          </a:bodyPr>
          <a:lstStyle/>
          <a:p>
            <a:pPr>
              <a:spcBef>
                <a:spcPct val="50000"/>
              </a:spcBef>
            </a:pPr>
            <a:r>
              <a:rPr lang="en-US" altLang="zh-TW" b="1" u="heavy">
                <a:latin typeface="Times New Roman" pitchFamily="18" charset="0"/>
                <a:cs typeface="Times New Roman" pitchFamily="18" charset="0"/>
              </a:rPr>
              <a:t>Periodic Electrode </a:t>
            </a:r>
          </a:p>
        </p:txBody>
      </p:sp>
      <p:sp>
        <p:nvSpPr>
          <p:cNvPr id="12" name="矩形 11"/>
          <p:cNvSpPr/>
          <p:nvPr/>
        </p:nvSpPr>
        <p:spPr>
          <a:xfrm>
            <a:off x="2272782" y="5116179"/>
            <a:ext cx="1757597" cy="584775"/>
          </a:xfrm>
          <a:prstGeom prst="rect">
            <a:avLst/>
          </a:prstGeom>
        </p:spPr>
        <p:txBody>
          <a:bodyPr wrap="none">
            <a:spAutoFit/>
          </a:bodyPr>
          <a:lstStyle/>
          <a:p>
            <a:r>
              <a:rPr lang="en-US" altLang="zh-TW" sz="1600" b="1" i="1">
                <a:solidFill>
                  <a:schemeClr val="accent2">
                    <a:lumMod val="50000"/>
                  </a:schemeClr>
                </a:solidFill>
                <a:latin typeface="Times New Roman" pitchFamily="18" charset="0"/>
                <a:cs typeface="Times New Roman" pitchFamily="18" charset="0"/>
              </a:rPr>
              <a:t>Yan-</a:t>
            </a:r>
            <a:r>
              <a:rPr lang="en-US" altLang="zh-TW" sz="1600" b="1" i="1" err="1">
                <a:solidFill>
                  <a:schemeClr val="accent2">
                    <a:lumMod val="50000"/>
                  </a:schemeClr>
                </a:solidFill>
                <a:latin typeface="Times New Roman" pitchFamily="18" charset="0"/>
                <a:cs typeface="Times New Roman" pitchFamily="18" charset="0"/>
              </a:rPr>
              <a:t>qing</a:t>
            </a:r>
            <a:r>
              <a:rPr lang="en-US" altLang="zh-TW" sz="1600" b="1" i="1">
                <a:solidFill>
                  <a:schemeClr val="accent2">
                    <a:lumMod val="50000"/>
                  </a:schemeClr>
                </a:solidFill>
                <a:latin typeface="Times New Roman" pitchFamily="18" charset="0"/>
                <a:cs typeface="Times New Roman" pitchFamily="18" charset="0"/>
              </a:rPr>
              <a:t> Lu, et al.</a:t>
            </a:r>
          </a:p>
          <a:p>
            <a:pPr lvl="0"/>
            <a:r>
              <a:rPr lang="en-US" altLang="zh-TW" sz="1600" b="1" i="1">
                <a:solidFill>
                  <a:schemeClr val="accent2">
                    <a:lumMod val="50000"/>
                  </a:schemeClr>
                </a:solidFill>
                <a:latin typeface="Times New Roman" pitchFamily="18" charset="0"/>
                <a:cs typeface="Times New Roman" pitchFamily="18" charset="0"/>
              </a:rPr>
              <a:t> </a:t>
            </a:r>
            <a:r>
              <a:rPr lang="en-US" altLang="zh-TW" sz="1600" i="1">
                <a:solidFill>
                  <a:schemeClr val="accent2">
                    <a:lumMod val="50000"/>
                  </a:schemeClr>
                </a:solidFill>
                <a:latin typeface="Times New Roman" pitchFamily="18" charset="0"/>
                <a:cs typeface="Times New Roman" pitchFamily="18" charset="0"/>
              </a:rPr>
              <a:t>APL,74, 1, 1999 </a:t>
            </a:r>
          </a:p>
        </p:txBody>
      </p:sp>
      <p:sp>
        <p:nvSpPr>
          <p:cNvPr id="13" name="Text Box 125"/>
          <p:cNvSpPr txBox="1">
            <a:spLocks noChangeArrowheads="1"/>
          </p:cNvSpPr>
          <p:nvPr/>
        </p:nvSpPr>
        <p:spPr bwMode="auto">
          <a:xfrm>
            <a:off x="7395326" y="1866847"/>
            <a:ext cx="3295118" cy="369332"/>
          </a:xfrm>
          <a:prstGeom prst="rect">
            <a:avLst/>
          </a:prstGeom>
          <a:noFill/>
          <a:ln w="9525">
            <a:noFill/>
            <a:miter lim="800000"/>
            <a:headEnd/>
            <a:tailEnd/>
          </a:ln>
          <a:effectLst/>
        </p:spPr>
        <p:txBody>
          <a:bodyPr wrap="square">
            <a:spAutoFit/>
          </a:bodyPr>
          <a:lstStyle/>
          <a:p>
            <a:pPr>
              <a:spcBef>
                <a:spcPct val="50000"/>
              </a:spcBef>
            </a:pPr>
            <a:r>
              <a:rPr lang="en-US" altLang="zh-TW" b="1" u="heavy">
                <a:latin typeface="Times New Roman" pitchFamily="18" charset="0"/>
                <a:cs typeface="Times New Roman" pitchFamily="18" charset="0"/>
              </a:rPr>
              <a:t>Asymmetric Domain-duty-cycle</a:t>
            </a:r>
          </a:p>
        </p:txBody>
      </p:sp>
      <p:sp>
        <p:nvSpPr>
          <p:cNvPr id="15" name="矩形 14"/>
          <p:cNvSpPr/>
          <p:nvPr/>
        </p:nvSpPr>
        <p:spPr>
          <a:xfrm>
            <a:off x="7806008" y="5116179"/>
            <a:ext cx="2473754" cy="584775"/>
          </a:xfrm>
          <a:prstGeom prst="rect">
            <a:avLst/>
          </a:prstGeom>
        </p:spPr>
        <p:txBody>
          <a:bodyPr wrap="none">
            <a:spAutoFit/>
          </a:bodyPr>
          <a:lstStyle/>
          <a:p>
            <a:r>
              <a:rPr lang="en-US" altLang="zh-TW" sz="1600" b="1" i="1">
                <a:solidFill>
                  <a:schemeClr val="accent2">
                    <a:lumMod val="50000"/>
                  </a:schemeClr>
                </a:solidFill>
                <a:latin typeface="Times New Roman" pitchFamily="18" charset="0"/>
                <a:cs typeface="Times New Roman" pitchFamily="18" charset="0"/>
              </a:rPr>
              <a:t>Ned O’Brian, et al.</a:t>
            </a:r>
          </a:p>
          <a:p>
            <a:r>
              <a:rPr lang="en-US" altLang="zh-TW" sz="1600" i="1">
                <a:solidFill>
                  <a:schemeClr val="accent2">
                    <a:lumMod val="50000"/>
                  </a:schemeClr>
                </a:solidFill>
                <a:latin typeface="Times New Roman" pitchFamily="18" charset="0"/>
                <a:cs typeface="Times New Roman" pitchFamily="18" charset="0"/>
              </a:rPr>
              <a:t>Optics Letters, 24, 23, 1999</a:t>
            </a:r>
          </a:p>
        </p:txBody>
      </p:sp>
    </p:spTree>
    <p:extLst>
      <p:ext uri="{BB962C8B-B14F-4D97-AF65-F5344CB8AC3E}">
        <p14:creationId xmlns:p14="http://schemas.microsoft.com/office/powerpoint/2010/main" val="3946193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Motivation</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矩形 3"/>
          <p:cNvSpPr/>
          <p:nvPr/>
        </p:nvSpPr>
        <p:spPr>
          <a:xfrm>
            <a:off x="421198" y="941620"/>
            <a:ext cx="7063408" cy="400110"/>
          </a:xfrm>
          <a:prstGeom prst="rect">
            <a:avLst/>
          </a:prstGeom>
        </p:spPr>
        <p:txBody>
          <a:bodyPr wrap="none">
            <a:spAutoFit/>
          </a:bodyPr>
          <a:lstStyle/>
          <a:p>
            <a:pPr marL="342900" indent="-342900">
              <a:buFont typeface="Wingdings" panose="05000000000000000000" pitchFamily="2" charset="2"/>
              <a:buChar char="Ø"/>
            </a:pPr>
            <a:r>
              <a:rPr lang="en-US" altLang="zh-TW" sz="2000" b="1" err="1">
                <a:latin typeface="Times New Roman" pitchFamily="18" charset="0"/>
                <a:ea typeface="微軟正黑體" pitchFamily="34" charset="-120"/>
                <a:cs typeface="Times New Roman" pitchFamily="18" charset="0"/>
              </a:rPr>
              <a:t>Nonideal</a:t>
            </a:r>
            <a:r>
              <a:rPr lang="en-US" altLang="zh-TW" sz="2000" b="1">
                <a:latin typeface="Times New Roman" pitchFamily="18" charset="0"/>
                <a:ea typeface="微軟正黑體" pitchFamily="34" charset="-120"/>
                <a:cs typeface="Times New Roman" pitchFamily="18" charset="0"/>
              </a:rPr>
              <a:t> domain length ratio Design </a:t>
            </a:r>
            <a:r>
              <a:rPr lang="en-US" altLang="zh-TW" sz="2000" b="1">
                <a:solidFill>
                  <a:srgbClr val="FF0000"/>
                </a:solidFill>
                <a:latin typeface="Times New Roman" pitchFamily="18" charset="0"/>
                <a:ea typeface="微軟正黑體" pitchFamily="34" charset="-120"/>
                <a:cs typeface="Times New Roman" pitchFamily="18" charset="0"/>
              </a:rPr>
              <a:t>(Simulated Annealing)</a:t>
            </a:r>
            <a:endParaRPr lang="zh-TW" altLang="en-US" sz="2000">
              <a:solidFill>
                <a:srgbClr val="FF0000"/>
              </a:solidFill>
            </a:endParaRPr>
          </a:p>
        </p:txBody>
      </p:sp>
      <p:grpSp>
        <p:nvGrpSpPr>
          <p:cNvPr id="5" name="群組 4"/>
          <p:cNvGrpSpPr/>
          <p:nvPr/>
        </p:nvGrpSpPr>
        <p:grpSpPr>
          <a:xfrm>
            <a:off x="455891" y="3936093"/>
            <a:ext cx="5536660" cy="1306902"/>
            <a:chOff x="1551938" y="4469386"/>
            <a:chExt cx="5536660" cy="1306902"/>
          </a:xfrm>
        </p:grpSpPr>
        <p:grpSp>
          <p:nvGrpSpPr>
            <p:cNvPr id="6" name="群組 86"/>
            <p:cNvGrpSpPr/>
            <p:nvPr/>
          </p:nvGrpSpPr>
          <p:grpSpPr>
            <a:xfrm>
              <a:off x="1551938" y="4470979"/>
              <a:ext cx="345600" cy="1296144"/>
              <a:chOff x="1520813" y="4472512"/>
              <a:chExt cx="345600" cy="1296144"/>
            </a:xfrm>
          </p:grpSpPr>
          <p:sp>
            <p:nvSpPr>
              <p:cNvPr id="52" name="矩形 51"/>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3" name="向上箭號 52"/>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 name="群組 125"/>
            <p:cNvGrpSpPr/>
            <p:nvPr/>
          </p:nvGrpSpPr>
          <p:grpSpPr>
            <a:xfrm>
              <a:off x="2948090" y="4476846"/>
              <a:ext cx="346783" cy="1288800"/>
              <a:chOff x="2353009" y="4472512"/>
              <a:chExt cx="346783" cy="1296144"/>
            </a:xfrm>
          </p:grpSpPr>
          <p:sp>
            <p:nvSpPr>
              <p:cNvPr id="50" name="矩形 49"/>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1" name="向上箭號 50"/>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 name="群組 128"/>
            <p:cNvGrpSpPr/>
            <p:nvPr/>
          </p:nvGrpSpPr>
          <p:grpSpPr>
            <a:xfrm>
              <a:off x="2246228" y="4469386"/>
              <a:ext cx="346783" cy="1296144"/>
              <a:chOff x="2353009" y="4472512"/>
              <a:chExt cx="346783" cy="1296144"/>
            </a:xfrm>
          </p:grpSpPr>
          <p:sp>
            <p:nvSpPr>
              <p:cNvPr id="48" name="矩形 47"/>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9" name="向上箭號 48"/>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 name="群組 131"/>
            <p:cNvGrpSpPr/>
            <p:nvPr/>
          </p:nvGrpSpPr>
          <p:grpSpPr>
            <a:xfrm>
              <a:off x="6047560" y="4475253"/>
              <a:ext cx="346783" cy="1296144"/>
              <a:chOff x="2353009" y="4472512"/>
              <a:chExt cx="346783" cy="1296144"/>
            </a:xfrm>
          </p:grpSpPr>
          <p:sp>
            <p:nvSpPr>
              <p:cNvPr id="46" name="矩形 45"/>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7" name="向上箭號 46"/>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137"/>
            <p:cNvGrpSpPr/>
            <p:nvPr/>
          </p:nvGrpSpPr>
          <p:grpSpPr>
            <a:xfrm>
              <a:off x="4323702" y="4469386"/>
              <a:ext cx="346783" cy="1296144"/>
              <a:chOff x="2353009" y="4472512"/>
              <a:chExt cx="346783" cy="1296144"/>
            </a:xfrm>
          </p:grpSpPr>
          <p:sp>
            <p:nvSpPr>
              <p:cNvPr id="44" name="矩形 43"/>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5" name="向上箭號 44"/>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1" name="群組 140"/>
            <p:cNvGrpSpPr/>
            <p:nvPr/>
          </p:nvGrpSpPr>
          <p:grpSpPr>
            <a:xfrm>
              <a:off x="6393716" y="4475253"/>
              <a:ext cx="346783" cy="1296144"/>
              <a:chOff x="2353009" y="4472512"/>
              <a:chExt cx="346783" cy="1296144"/>
            </a:xfrm>
          </p:grpSpPr>
          <p:sp>
            <p:nvSpPr>
              <p:cNvPr id="42" name="矩形 41"/>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3" name="向上箭號 42"/>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2" name="群組 150"/>
            <p:cNvGrpSpPr/>
            <p:nvPr/>
          </p:nvGrpSpPr>
          <p:grpSpPr>
            <a:xfrm>
              <a:off x="1899566" y="4470979"/>
              <a:ext cx="345600" cy="1296144"/>
              <a:chOff x="1520813" y="4472512"/>
              <a:chExt cx="345600" cy="1296144"/>
            </a:xfrm>
          </p:grpSpPr>
          <p:sp>
            <p:nvSpPr>
              <p:cNvPr id="40" name="矩形 39"/>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1" name="向上箭號 40"/>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 name="群組 153"/>
            <p:cNvGrpSpPr/>
            <p:nvPr/>
          </p:nvGrpSpPr>
          <p:grpSpPr>
            <a:xfrm>
              <a:off x="5353330" y="4469386"/>
              <a:ext cx="345600" cy="1296144"/>
              <a:chOff x="1520813" y="4472512"/>
              <a:chExt cx="345600" cy="1296144"/>
            </a:xfrm>
          </p:grpSpPr>
          <p:sp>
            <p:nvSpPr>
              <p:cNvPr id="38" name="矩形 37"/>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9" name="向上箭號 38"/>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 name="群組 156"/>
            <p:cNvGrpSpPr/>
            <p:nvPr/>
          </p:nvGrpSpPr>
          <p:grpSpPr>
            <a:xfrm>
              <a:off x="2597068" y="4470979"/>
              <a:ext cx="345600" cy="1296144"/>
              <a:chOff x="1520813" y="4472512"/>
              <a:chExt cx="345600" cy="1296144"/>
            </a:xfrm>
          </p:grpSpPr>
          <p:sp>
            <p:nvSpPr>
              <p:cNvPr id="36" name="矩形 35"/>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7" name="向上箭號 36"/>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 name="群組 159"/>
            <p:cNvGrpSpPr/>
            <p:nvPr/>
          </p:nvGrpSpPr>
          <p:grpSpPr>
            <a:xfrm>
              <a:off x="6742998" y="4480144"/>
              <a:ext cx="345600" cy="1296144"/>
              <a:chOff x="1520813" y="4472512"/>
              <a:chExt cx="345600" cy="1296144"/>
            </a:xfrm>
          </p:grpSpPr>
          <p:sp>
            <p:nvSpPr>
              <p:cNvPr id="34" name="矩形 33"/>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5" name="向上箭號 34"/>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6" name="群組 162"/>
            <p:cNvGrpSpPr/>
            <p:nvPr/>
          </p:nvGrpSpPr>
          <p:grpSpPr>
            <a:xfrm>
              <a:off x="3283281" y="4475253"/>
              <a:ext cx="345600" cy="1296144"/>
              <a:chOff x="1520813" y="4472512"/>
              <a:chExt cx="345600" cy="1296144"/>
            </a:xfrm>
          </p:grpSpPr>
          <p:sp>
            <p:nvSpPr>
              <p:cNvPr id="32" name="矩形 31"/>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3" name="向上箭號 32"/>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7" name="群組 165"/>
            <p:cNvGrpSpPr/>
            <p:nvPr/>
          </p:nvGrpSpPr>
          <p:grpSpPr>
            <a:xfrm>
              <a:off x="3627758" y="4470979"/>
              <a:ext cx="345600" cy="1296144"/>
              <a:chOff x="1520813" y="4472512"/>
              <a:chExt cx="345600" cy="1296144"/>
            </a:xfrm>
          </p:grpSpPr>
          <p:sp>
            <p:nvSpPr>
              <p:cNvPr id="30" name="矩形 29"/>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1" name="向上箭號 30"/>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8" name="群組 168"/>
            <p:cNvGrpSpPr/>
            <p:nvPr/>
          </p:nvGrpSpPr>
          <p:grpSpPr>
            <a:xfrm>
              <a:off x="3965751" y="4470979"/>
              <a:ext cx="345600" cy="1296144"/>
              <a:chOff x="1510055" y="4472512"/>
              <a:chExt cx="345600" cy="1296144"/>
            </a:xfrm>
          </p:grpSpPr>
          <p:sp>
            <p:nvSpPr>
              <p:cNvPr id="28" name="矩形 27"/>
              <p:cNvSpPr/>
              <p:nvPr/>
            </p:nvSpPr>
            <p:spPr>
              <a:xfrm>
                <a:off x="1510055"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9" name="向上箭號 28"/>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9" name="群組 171"/>
            <p:cNvGrpSpPr/>
            <p:nvPr/>
          </p:nvGrpSpPr>
          <p:grpSpPr>
            <a:xfrm>
              <a:off x="5702612" y="4469386"/>
              <a:ext cx="345600" cy="1296144"/>
              <a:chOff x="1520813" y="4472512"/>
              <a:chExt cx="345600" cy="1296144"/>
            </a:xfrm>
          </p:grpSpPr>
          <p:sp>
            <p:nvSpPr>
              <p:cNvPr id="26" name="矩形 25"/>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7" name="向上箭號 26"/>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0" name="群組 174"/>
            <p:cNvGrpSpPr/>
            <p:nvPr/>
          </p:nvGrpSpPr>
          <p:grpSpPr>
            <a:xfrm>
              <a:off x="4669737" y="4470979"/>
              <a:ext cx="345600" cy="1296144"/>
              <a:chOff x="1520813" y="4472512"/>
              <a:chExt cx="345600" cy="1296144"/>
            </a:xfrm>
          </p:grpSpPr>
          <p:sp>
            <p:nvSpPr>
              <p:cNvPr id="24" name="矩形 23"/>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5" name="向上箭號 24"/>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1" name="群組 177"/>
            <p:cNvGrpSpPr/>
            <p:nvPr/>
          </p:nvGrpSpPr>
          <p:grpSpPr>
            <a:xfrm>
              <a:off x="5015337" y="4470979"/>
              <a:ext cx="345600" cy="1296144"/>
              <a:chOff x="1520813" y="4472512"/>
              <a:chExt cx="345600" cy="1296144"/>
            </a:xfrm>
          </p:grpSpPr>
          <p:sp>
            <p:nvSpPr>
              <p:cNvPr id="22" name="矩形 21"/>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3" name="向上箭號 22"/>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54" name="群組 53"/>
          <p:cNvGrpSpPr/>
          <p:nvPr/>
        </p:nvGrpSpPr>
        <p:grpSpPr>
          <a:xfrm>
            <a:off x="455891" y="3937686"/>
            <a:ext cx="5533327" cy="1300418"/>
            <a:chOff x="1551938" y="4470979"/>
            <a:chExt cx="5533327" cy="1300418"/>
          </a:xfrm>
        </p:grpSpPr>
        <p:grpSp>
          <p:nvGrpSpPr>
            <p:cNvPr id="55" name="群組 54"/>
            <p:cNvGrpSpPr/>
            <p:nvPr/>
          </p:nvGrpSpPr>
          <p:grpSpPr>
            <a:xfrm>
              <a:off x="1551938" y="4470979"/>
              <a:ext cx="345600" cy="1296144"/>
              <a:chOff x="1520813" y="4472512"/>
              <a:chExt cx="345600" cy="1296144"/>
            </a:xfrm>
          </p:grpSpPr>
          <p:sp>
            <p:nvSpPr>
              <p:cNvPr id="101" name="矩形 100"/>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02" name="向上箭號 101"/>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6" name="群組 55"/>
            <p:cNvGrpSpPr/>
            <p:nvPr/>
          </p:nvGrpSpPr>
          <p:grpSpPr>
            <a:xfrm>
              <a:off x="5363315" y="4475253"/>
              <a:ext cx="346783" cy="1296144"/>
              <a:chOff x="2353009" y="4472512"/>
              <a:chExt cx="346783" cy="1296144"/>
            </a:xfrm>
          </p:grpSpPr>
          <p:sp>
            <p:nvSpPr>
              <p:cNvPr id="99" name="矩形 98"/>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00" name="向上箭號 99"/>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7" name="群組 56"/>
            <p:cNvGrpSpPr/>
            <p:nvPr/>
          </p:nvGrpSpPr>
          <p:grpSpPr>
            <a:xfrm>
              <a:off x="5705824" y="4470979"/>
              <a:ext cx="346783" cy="1296144"/>
              <a:chOff x="2353009" y="4472512"/>
              <a:chExt cx="346783" cy="1296144"/>
            </a:xfrm>
          </p:grpSpPr>
          <p:sp>
            <p:nvSpPr>
              <p:cNvPr id="97" name="矩形 96"/>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8" name="向上箭號 97"/>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8" name="群組 57"/>
            <p:cNvGrpSpPr/>
            <p:nvPr/>
          </p:nvGrpSpPr>
          <p:grpSpPr>
            <a:xfrm>
              <a:off x="6047560" y="4475253"/>
              <a:ext cx="346783" cy="1296144"/>
              <a:chOff x="2353009" y="4472512"/>
              <a:chExt cx="346783" cy="1296144"/>
            </a:xfrm>
          </p:grpSpPr>
          <p:sp>
            <p:nvSpPr>
              <p:cNvPr id="95" name="矩形 94"/>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6" name="向上箭號 95"/>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9" name="群組 58"/>
            <p:cNvGrpSpPr/>
            <p:nvPr/>
          </p:nvGrpSpPr>
          <p:grpSpPr>
            <a:xfrm>
              <a:off x="6387763" y="4470979"/>
              <a:ext cx="346783" cy="1296144"/>
              <a:chOff x="2353009" y="4472512"/>
              <a:chExt cx="346783" cy="1296144"/>
            </a:xfrm>
          </p:grpSpPr>
          <p:sp>
            <p:nvSpPr>
              <p:cNvPr id="93" name="矩形 92"/>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4" name="向上箭號 93"/>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0" name="群組 59"/>
            <p:cNvGrpSpPr/>
            <p:nvPr/>
          </p:nvGrpSpPr>
          <p:grpSpPr>
            <a:xfrm>
              <a:off x="6738482" y="4475253"/>
              <a:ext cx="346783" cy="1296144"/>
              <a:chOff x="2353009" y="4472512"/>
              <a:chExt cx="346783" cy="1296144"/>
            </a:xfrm>
          </p:grpSpPr>
          <p:sp>
            <p:nvSpPr>
              <p:cNvPr id="91" name="矩形 90"/>
              <p:cNvSpPr/>
              <p:nvPr/>
            </p:nvSpPr>
            <p:spPr>
              <a:xfrm>
                <a:off x="2353009" y="4472512"/>
                <a:ext cx="346783"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2" name="向上箭號 91"/>
              <p:cNvSpPr/>
              <p:nvPr/>
            </p:nvSpPr>
            <p:spPr>
              <a:xfrm>
                <a:off x="2377893" y="4653136"/>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1" name="群組 60"/>
            <p:cNvGrpSpPr/>
            <p:nvPr/>
          </p:nvGrpSpPr>
          <p:grpSpPr>
            <a:xfrm>
              <a:off x="1899566" y="4470979"/>
              <a:ext cx="345600" cy="1296144"/>
              <a:chOff x="1520813" y="4472512"/>
              <a:chExt cx="345600" cy="1296144"/>
            </a:xfrm>
          </p:grpSpPr>
          <p:sp>
            <p:nvSpPr>
              <p:cNvPr id="89" name="矩形 88"/>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0" name="向上箭號 89"/>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2" name="群組 61"/>
            <p:cNvGrpSpPr/>
            <p:nvPr/>
          </p:nvGrpSpPr>
          <p:grpSpPr>
            <a:xfrm>
              <a:off x="2248317" y="4470979"/>
              <a:ext cx="345600" cy="1296144"/>
              <a:chOff x="1520813" y="4472512"/>
              <a:chExt cx="345600" cy="1296144"/>
            </a:xfrm>
          </p:grpSpPr>
          <p:sp>
            <p:nvSpPr>
              <p:cNvPr id="87" name="矩形 86"/>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8" name="向上箭號 87"/>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3" name="群組 62"/>
            <p:cNvGrpSpPr/>
            <p:nvPr/>
          </p:nvGrpSpPr>
          <p:grpSpPr>
            <a:xfrm>
              <a:off x="2597068" y="4470979"/>
              <a:ext cx="345600" cy="1296144"/>
              <a:chOff x="1520813" y="4472512"/>
              <a:chExt cx="345600" cy="1296144"/>
            </a:xfrm>
          </p:grpSpPr>
          <p:sp>
            <p:nvSpPr>
              <p:cNvPr id="85" name="矩形 84"/>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6" name="向上箭號 85"/>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4" name="群組 63"/>
            <p:cNvGrpSpPr/>
            <p:nvPr/>
          </p:nvGrpSpPr>
          <p:grpSpPr>
            <a:xfrm>
              <a:off x="2942668" y="4475253"/>
              <a:ext cx="345600" cy="1296144"/>
              <a:chOff x="1520813" y="4472512"/>
              <a:chExt cx="345600" cy="1296144"/>
            </a:xfrm>
          </p:grpSpPr>
          <p:sp>
            <p:nvSpPr>
              <p:cNvPr id="83" name="矩形 82"/>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4" name="向上箭號 83"/>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5" name="群組 64"/>
            <p:cNvGrpSpPr/>
            <p:nvPr/>
          </p:nvGrpSpPr>
          <p:grpSpPr>
            <a:xfrm>
              <a:off x="3283281" y="4475253"/>
              <a:ext cx="345600" cy="1296144"/>
              <a:chOff x="1520813" y="4472512"/>
              <a:chExt cx="345600" cy="1296144"/>
            </a:xfrm>
          </p:grpSpPr>
          <p:sp>
            <p:nvSpPr>
              <p:cNvPr id="81" name="矩形 80"/>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2" name="向上箭號 81"/>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6" name="群組 65"/>
            <p:cNvGrpSpPr/>
            <p:nvPr/>
          </p:nvGrpSpPr>
          <p:grpSpPr>
            <a:xfrm>
              <a:off x="3627758" y="4470979"/>
              <a:ext cx="345600" cy="1296144"/>
              <a:chOff x="1520813" y="4472512"/>
              <a:chExt cx="345600" cy="1296144"/>
            </a:xfrm>
          </p:grpSpPr>
          <p:sp>
            <p:nvSpPr>
              <p:cNvPr id="79" name="矩形 78"/>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80" name="向上箭號 79"/>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7" name="群組 66"/>
            <p:cNvGrpSpPr/>
            <p:nvPr/>
          </p:nvGrpSpPr>
          <p:grpSpPr>
            <a:xfrm>
              <a:off x="3976509" y="4470979"/>
              <a:ext cx="345600" cy="1296144"/>
              <a:chOff x="1520813" y="4472512"/>
              <a:chExt cx="345600" cy="1296144"/>
            </a:xfrm>
          </p:grpSpPr>
          <p:sp>
            <p:nvSpPr>
              <p:cNvPr id="77" name="矩形 76"/>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8" name="向上箭號 77"/>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8" name="群組 67"/>
            <p:cNvGrpSpPr/>
            <p:nvPr/>
          </p:nvGrpSpPr>
          <p:grpSpPr>
            <a:xfrm>
              <a:off x="4325260" y="4470979"/>
              <a:ext cx="345600" cy="1296144"/>
              <a:chOff x="1520813" y="4472512"/>
              <a:chExt cx="345600" cy="1296144"/>
            </a:xfrm>
          </p:grpSpPr>
          <p:sp>
            <p:nvSpPr>
              <p:cNvPr id="75" name="矩形 74"/>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6" name="向上箭號 75"/>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9" name="群組 68"/>
            <p:cNvGrpSpPr/>
            <p:nvPr/>
          </p:nvGrpSpPr>
          <p:grpSpPr>
            <a:xfrm>
              <a:off x="4669737" y="4470979"/>
              <a:ext cx="345600" cy="1296144"/>
              <a:chOff x="1520813" y="4472512"/>
              <a:chExt cx="345600" cy="1296144"/>
            </a:xfrm>
          </p:grpSpPr>
          <p:sp>
            <p:nvSpPr>
              <p:cNvPr id="73" name="矩形 72"/>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4" name="向上箭號 73"/>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0" name="群組 69"/>
            <p:cNvGrpSpPr/>
            <p:nvPr/>
          </p:nvGrpSpPr>
          <p:grpSpPr>
            <a:xfrm>
              <a:off x="5015337" y="4470979"/>
              <a:ext cx="345600" cy="1296144"/>
              <a:chOff x="1520813" y="4472512"/>
              <a:chExt cx="345600" cy="1296144"/>
            </a:xfrm>
          </p:grpSpPr>
          <p:sp>
            <p:nvSpPr>
              <p:cNvPr id="71" name="矩形 70"/>
              <p:cNvSpPr/>
              <p:nvPr/>
            </p:nvSpPr>
            <p:spPr>
              <a:xfrm>
                <a:off x="1520813" y="4472512"/>
                <a:ext cx="34560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2" name="向上箭號 71"/>
              <p:cNvSpPr/>
              <p:nvPr/>
            </p:nvSpPr>
            <p:spPr>
              <a:xfrm flipV="1">
                <a:off x="1547664" y="4653136"/>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pic>
        <p:nvPicPr>
          <p:cNvPr id="105" name="圖片 104"/>
          <p:cNvPicPr>
            <a:picLocks noChangeAspect="1"/>
          </p:cNvPicPr>
          <p:nvPr/>
        </p:nvPicPr>
        <p:blipFill rotWithShape="1">
          <a:blip r:embed="rId3">
            <a:extLst>
              <a:ext uri="{28A0092B-C50C-407E-A947-70E740481C1C}">
                <a14:useLocalDpi xmlns:a14="http://schemas.microsoft.com/office/drawing/2010/main" val="0"/>
              </a:ext>
            </a:extLst>
          </a:blip>
          <a:srcRect l="1912" t="1006" r="1768" b="2412"/>
          <a:stretch/>
        </p:blipFill>
        <p:spPr bwMode="auto">
          <a:xfrm>
            <a:off x="7015634" y="1978513"/>
            <a:ext cx="4985478" cy="3649880"/>
          </a:xfrm>
          <a:prstGeom prst="rect">
            <a:avLst/>
          </a:prstGeom>
          <a:noFill/>
          <a:ln>
            <a:noFill/>
          </a:ln>
          <a:extLst>
            <a:ext uri="{53640926-AAD7-44D8-BBD7-CCE9431645EC}">
              <a14:shadowObscured xmlns:a14="http://schemas.microsoft.com/office/drawing/2010/main"/>
            </a:ext>
          </a:extLst>
        </p:spPr>
      </p:pic>
      <p:sp>
        <p:nvSpPr>
          <p:cNvPr id="106" name="矩形 105"/>
          <p:cNvSpPr/>
          <p:nvPr/>
        </p:nvSpPr>
        <p:spPr>
          <a:xfrm>
            <a:off x="4824235" y="1984264"/>
            <a:ext cx="720080" cy="129614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p:cNvSpPr/>
          <p:nvPr/>
        </p:nvSpPr>
        <p:spPr>
          <a:xfrm>
            <a:off x="3201918" y="1984264"/>
            <a:ext cx="720080" cy="129614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向上箭號 107"/>
          <p:cNvSpPr/>
          <p:nvPr/>
        </p:nvSpPr>
        <p:spPr>
          <a:xfrm>
            <a:off x="3409783" y="2200288"/>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向上箭號 108"/>
          <p:cNvSpPr/>
          <p:nvPr/>
        </p:nvSpPr>
        <p:spPr>
          <a:xfrm>
            <a:off x="5013851" y="2200288"/>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矩形 109"/>
          <p:cNvSpPr/>
          <p:nvPr/>
        </p:nvSpPr>
        <p:spPr>
          <a:xfrm>
            <a:off x="1294160" y="1984264"/>
            <a:ext cx="1187678" cy="1296144"/>
          </a:xfrm>
          <a:prstGeom prst="rect">
            <a:avLst/>
          </a:prstGeom>
          <a:solidFill>
            <a:schemeClr val="bg1">
              <a:lumMod val="95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11" name="向上箭號 110"/>
          <p:cNvSpPr/>
          <p:nvPr/>
        </p:nvSpPr>
        <p:spPr>
          <a:xfrm>
            <a:off x="1754743" y="2200288"/>
            <a:ext cx="288032" cy="936104"/>
          </a:xfrm>
          <a:prstGeom prst="upArrow">
            <a:avLst>
              <a:gd name="adj1" fmla="val 26771"/>
              <a:gd name="adj2" fmla="val 50000"/>
            </a:avLst>
          </a:prstGeom>
          <a:solidFill>
            <a:schemeClr val="tx1">
              <a:lumMod val="50000"/>
              <a:lumOff val="5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矩形 111"/>
          <p:cNvSpPr/>
          <p:nvPr/>
        </p:nvSpPr>
        <p:spPr>
          <a:xfrm>
            <a:off x="2481838" y="1984264"/>
            <a:ext cx="72008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13" name="向上箭號 112"/>
          <p:cNvSpPr/>
          <p:nvPr/>
        </p:nvSpPr>
        <p:spPr>
          <a:xfrm flipV="1">
            <a:off x="2670734" y="2200288"/>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 name="矩形 113"/>
          <p:cNvSpPr/>
          <p:nvPr/>
        </p:nvSpPr>
        <p:spPr>
          <a:xfrm>
            <a:off x="3911365" y="1984264"/>
            <a:ext cx="908764"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15" name="向上箭號 114"/>
          <p:cNvSpPr/>
          <p:nvPr/>
        </p:nvSpPr>
        <p:spPr>
          <a:xfrm flipV="1">
            <a:off x="4232332" y="2200288"/>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矩形 115"/>
          <p:cNvSpPr/>
          <p:nvPr/>
        </p:nvSpPr>
        <p:spPr>
          <a:xfrm>
            <a:off x="5545256" y="1984264"/>
            <a:ext cx="404580"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17" name="向上箭號 116"/>
          <p:cNvSpPr/>
          <p:nvPr/>
        </p:nvSpPr>
        <p:spPr>
          <a:xfrm flipV="1">
            <a:off x="5595342" y="2177710"/>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 name="矩形 117"/>
          <p:cNvSpPr/>
          <p:nvPr/>
        </p:nvSpPr>
        <p:spPr>
          <a:xfrm>
            <a:off x="461963" y="1984264"/>
            <a:ext cx="832197" cy="1296144"/>
          </a:xfrm>
          <a:prstGeom prst="rect">
            <a:avLst/>
          </a:prstGeom>
          <a:solidFill>
            <a:schemeClr val="tx1">
              <a:lumMod val="50000"/>
              <a:lumOff val="50000"/>
            </a:schemeClr>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19" name="向上箭號 118"/>
          <p:cNvSpPr/>
          <p:nvPr/>
        </p:nvSpPr>
        <p:spPr>
          <a:xfrm flipV="1">
            <a:off x="728729" y="2179022"/>
            <a:ext cx="288032" cy="936104"/>
          </a:xfrm>
          <a:prstGeom prst="upArrow">
            <a:avLst>
              <a:gd name="adj1" fmla="val 26771"/>
              <a:gd name="adj2" fmla="val 50000"/>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0" name="直線接點 119"/>
          <p:cNvCxnSpPr/>
          <p:nvPr/>
        </p:nvCxnSpPr>
        <p:spPr>
          <a:xfrm rot="5400000">
            <a:off x="647225" y="2636165"/>
            <a:ext cx="1296144" cy="0"/>
          </a:xfrm>
          <a:prstGeom prst="line">
            <a:avLst/>
          </a:prstGeom>
          <a:ln w="1270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1" name="直線接點 120"/>
          <p:cNvCxnSpPr/>
          <p:nvPr/>
        </p:nvCxnSpPr>
        <p:spPr>
          <a:xfrm rot="5400000">
            <a:off x="1835152" y="2636801"/>
            <a:ext cx="1296144" cy="0"/>
          </a:xfrm>
          <a:prstGeom prst="line">
            <a:avLst/>
          </a:prstGeom>
          <a:ln w="1270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2" name="直線接點 121"/>
          <p:cNvCxnSpPr/>
          <p:nvPr/>
        </p:nvCxnSpPr>
        <p:spPr>
          <a:xfrm rot="5400000">
            <a:off x="2547773" y="2632867"/>
            <a:ext cx="1296144" cy="0"/>
          </a:xfrm>
          <a:prstGeom prst="line">
            <a:avLst/>
          </a:prstGeom>
          <a:ln w="1270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3" name="直線接點 122"/>
          <p:cNvCxnSpPr/>
          <p:nvPr/>
        </p:nvCxnSpPr>
        <p:spPr>
          <a:xfrm rot="5400000">
            <a:off x="3257731" y="2639691"/>
            <a:ext cx="1296144" cy="0"/>
          </a:xfrm>
          <a:prstGeom prst="line">
            <a:avLst/>
          </a:prstGeom>
          <a:ln w="1270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4" name="直線接點 123"/>
          <p:cNvCxnSpPr/>
          <p:nvPr/>
        </p:nvCxnSpPr>
        <p:spPr>
          <a:xfrm rot="5400000">
            <a:off x="4175617" y="2636165"/>
            <a:ext cx="1296144" cy="0"/>
          </a:xfrm>
          <a:prstGeom prst="line">
            <a:avLst/>
          </a:prstGeom>
          <a:ln w="1270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5" name="直線接點 124"/>
          <p:cNvCxnSpPr/>
          <p:nvPr/>
        </p:nvCxnSpPr>
        <p:spPr>
          <a:xfrm rot="5400000">
            <a:off x="4895697" y="2640327"/>
            <a:ext cx="1296144" cy="0"/>
          </a:xfrm>
          <a:prstGeom prst="line">
            <a:avLst/>
          </a:prstGeom>
          <a:ln w="1270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26" name="矩形 125"/>
          <p:cNvSpPr/>
          <p:nvPr/>
        </p:nvSpPr>
        <p:spPr>
          <a:xfrm>
            <a:off x="455891" y="1609181"/>
            <a:ext cx="6136039" cy="369332"/>
          </a:xfrm>
          <a:prstGeom prst="rect">
            <a:avLst/>
          </a:prstGeom>
        </p:spPr>
        <p:txBody>
          <a:bodyPr wrap="none">
            <a:spAutoFit/>
          </a:bodyPr>
          <a:lstStyle/>
          <a:p>
            <a:r>
              <a:rPr lang="en-US" altLang="zh-TW" b="1" u="heavy">
                <a:latin typeface="Times New Roman" panose="02020603050405020304" pitchFamily="18" charset="0"/>
                <a:cs typeface="Times New Roman" panose="02020603050405020304" pitchFamily="18" charset="0"/>
              </a:rPr>
              <a:t>Standard simulated-annealing method + domain over-poling</a:t>
            </a:r>
          </a:p>
        </p:txBody>
      </p:sp>
      <p:sp>
        <p:nvSpPr>
          <p:cNvPr id="127" name="矩形 126"/>
          <p:cNvSpPr/>
          <p:nvPr/>
        </p:nvSpPr>
        <p:spPr>
          <a:xfrm>
            <a:off x="461963" y="3561010"/>
            <a:ext cx="3916457" cy="369332"/>
          </a:xfrm>
          <a:prstGeom prst="rect">
            <a:avLst/>
          </a:prstGeom>
        </p:spPr>
        <p:txBody>
          <a:bodyPr wrap="none">
            <a:spAutoFit/>
          </a:bodyPr>
          <a:lstStyle/>
          <a:p>
            <a:r>
              <a:rPr lang="en-US" altLang="zh-TW" b="1" u="heavy">
                <a:latin typeface="Times New Roman" panose="02020603050405020304" pitchFamily="18" charset="0"/>
                <a:cs typeface="Times New Roman" panose="02020603050405020304" pitchFamily="18" charset="0"/>
              </a:rPr>
              <a:t>modified simulated-annealing method</a:t>
            </a:r>
            <a:endParaRPr lang="zh-TW" altLang="en-US" b="1" u="heavy">
              <a:latin typeface="Times New Roman" panose="02020603050405020304" pitchFamily="18" charset="0"/>
              <a:cs typeface="Times New Roman" panose="02020603050405020304" pitchFamily="18" charset="0"/>
            </a:endParaRPr>
          </a:p>
        </p:txBody>
      </p:sp>
      <p:sp>
        <p:nvSpPr>
          <p:cNvPr id="129" name="矩形 128"/>
          <p:cNvSpPr/>
          <p:nvPr/>
        </p:nvSpPr>
        <p:spPr>
          <a:xfrm>
            <a:off x="9667281" y="6265176"/>
            <a:ext cx="2524719" cy="584775"/>
          </a:xfrm>
          <a:prstGeom prst="rect">
            <a:avLst/>
          </a:prstGeom>
        </p:spPr>
        <p:txBody>
          <a:bodyPr wrap="square">
            <a:spAutoFit/>
          </a:bodyPr>
          <a:lstStyle/>
          <a:p>
            <a:r>
              <a:rPr lang="en-US" altLang="zh-TW" sz="1600">
                <a:solidFill>
                  <a:schemeClr val="accent2">
                    <a:lumMod val="50000"/>
                  </a:schemeClr>
                </a:solidFill>
                <a:latin typeface="Times New Roman" panose="02020603050405020304" pitchFamily="18" charset="0"/>
                <a:cs typeface="Times New Roman" panose="02020603050405020304" pitchFamily="18" charset="0"/>
              </a:rPr>
              <a:t>Chen, Y. H., </a:t>
            </a:r>
            <a:r>
              <a:rPr lang="en-US" altLang="zh-TW" sz="1600" b="1" i="1">
                <a:solidFill>
                  <a:schemeClr val="accent2">
                    <a:lumMod val="50000"/>
                  </a:schemeClr>
                </a:solidFill>
                <a:latin typeface="Times New Roman" pitchFamily="18" charset="0"/>
                <a:cs typeface="Times New Roman" pitchFamily="18" charset="0"/>
              </a:rPr>
              <a:t>et al. </a:t>
            </a:r>
          </a:p>
          <a:p>
            <a:r>
              <a:rPr lang="en-US" altLang="zh-TW" sz="1600" i="1">
                <a:solidFill>
                  <a:schemeClr val="accent2">
                    <a:lumMod val="50000"/>
                  </a:schemeClr>
                </a:solidFill>
                <a:latin typeface="Times New Roman" panose="02020603050405020304" pitchFamily="18" charset="0"/>
                <a:cs typeface="Times New Roman" panose="02020603050405020304" pitchFamily="18" charset="0"/>
              </a:rPr>
              <a:t>Optics express</a:t>
            </a:r>
            <a:r>
              <a:rPr lang="en-US" altLang="zh-TW" sz="1600">
                <a:solidFill>
                  <a:schemeClr val="accent2">
                    <a:lumMod val="50000"/>
                  </a:schemeClr>
                </a:solidFill>
                <a:latin typeface="Times New Roman" panose="02020603050405020304" pitchFamily="18" charset="0"/>
                <a:cs typeface="Times New Roman" panose="02020603050405020304" pitchFamily="18" charset="0"/>
              </a:rPr>
              <a:t>, </a:t>
            </a:r>
            <a:r>
              <a:rPr lang="en-US" altLang="zh-TW" sz="1600" i="1">
                <a:solidFill>
                  <a:schemeClr val="accent2">
                    <a:lumMod val="50000"/>
                  </a:schemeClr>
                </a:solidFill>
                <a:latin typeface="Times New Roman" panose="02020603050405020304" pitchFamily="18" charset="0"/>
                <a:cs typeface="Times New Roman" panose="02020603050405020304" pitchFamily="18" charset="0"/>
              </a:rPr>
              <a:t>20</a:t>
            </a:r>
            <a:r>
              <a:rPr lang="en-US" altLang="zh-TW" sz="1600">
                <a:solidFill>
                  <a:schemeClr val="accent2">
                    <a:lumMod val="50000"/>
                  </a:schemeClr>
                </a:solidFill>
                <a:latin typeface="Times New Roman" panose="02020603050405020304" pitchFamily="18" charset="0"/>
                <a:cs typeface="Times New Roman" panose="02020603050405020304" pitchFamily="18" charset="0"/>
              </a:rPr>
              <a:t>(27), 2012</a:t>
            </a:r>
            <a:endParaRPr lang="zh-TW" altLang="en-US" sz="160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86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ccel="50000" decel="50000" fill="hold" grpId="0" nodeType="clickEffect">
                                  <p:stCondLst>
                                    <p:cond delay="0"/>
                                  </p:stCondLst>
                                  <p:childTnLst>
                                    <p:animScale>
                                      <p:cBhvr>
                                        <p:cTn id="6" dur="2000" fill="hold"/>
                                        <p:tgtEl>
                                          <p:spTgt spid="118"/>
                                        </p:tgtEl>
                                      </p:cBhvr>
                                      <p:by x="135000" y="100000"/>
                                    </p:animScale>
                                  </p:childTnLst>
                                </p:cTn>
                              </p:par>
                              <p:par>
                                <p:cTn id="7" presetID="6" presetClass="emph" presetSubtype="0" accel="50000" decel="50000" fill="hold" grpId="0" nodeType="withEffect">
                                  <p:stCondLst>
                                    <p:cond delay="0"/>
                                  </p:stCondLst>
                                  <p:childTnLst>
                                    <p:animScale>
                                      <p:cBhvr>
                                        <p:cTn id="8" dur="2000" fill="hold"/>
                                        <p:tgtEl>
                                          <p:spTgt spid="112"/>
                                        </p:tgtEl>
                                      </p:cBhvr>
                                      <p:by x="135000" y="100000"/>
                                    </p:animScale>
                                  </p:childTnLst>
                                </p:cTn>
                              </p:par>
                              <p:par>
                                <p:cTn id="9" presetID="6" presetClass="emph" presetSubtype="0" accel="50000" decel="50000" fill="hold" grpId="0" nodeType="withEffect">
                                  <p:stCondLst>
                                    <p:cond delay="0"/>
                                  </p:stCondLst>
                                  <p:childTnLst>
                                    <p:animScale>
                                      <p:cBhvr>
                                        <p:cTn id="10" dur="2000" fill="hold"/>
                                        <p:tgtEl>
                                          <p:spTgt spid="114"/>
                                        </p:tgtEl>
                                      </p:cBhvr>
                                      <p:by x="135000" y="100000"/>
                                    </p:animScale>
                                  </p:childTnLst>
                                </p:cTn>
                              </p:par>
                              <p:par>
                                <p:cTn id="11" presetID="6" presetClass="emph" presetSubtype="0" accel="50000" decel="50000" fill="hold" grpId="0" nodeType="withEffect">
                                  <p:stCondLst>
                                    <p:cond delay="0"/>
                                  </p:stCondLst>
                                  <p:childTnLst>
                                    <p:animScale>
                                      <p:cBhvr>
                                        <p:cTn id="12" dur="2000" fill="hold"/>
                                        <p:tgtEl>
                                          <p:spTgt spid="116"/>
                                        </p:tgtEl>
                                      </p:cBhvr>
                                      <p:by x="135000" y="100000"/>
                                    </p:animScale>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14" grpId="0" animBg="1"/>
      <p:bldP spid="116" grpId="0" animBg="1"/>
      <p:bldP spid="1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this work</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矩形 3"/>
          <p:cNvSpPr/>
          <p:nvPr/>
        </p:nvSpPr>
        <p:spPr>
          <a:xfrm>
            <a:off x="425409" y="917662"/>
            <a:ext cx="7409401" cy="400110"/>
          </a:xfrm>
          <a:prstGeom prst="rect">
            <a:avLst/>
          </a:prstGeom>
        </p:spPr>
        <p:txBody>
          <a:bodyPr wrap="none">
            <a:spAutoFit/>
          </a:bodyPr>
          <a:lstStyle/>
          <a:p>
            <a:pPr marL="342900" indent="-342900">
              <a:buFont typeface="Wingdings" panose="05000000000000000000" pitchFamily="2" charset="2"/>
              <a:buChar char="Ø"/>
            </a:pPr>
            <a:r>
              <a:rPr lang="en-US" altLang="zh-TW" sz="2000" b="1" dirty="0" err="1">
                <a:latin typeface="Times New Roman" pitchFamily="18" charset="0"/>
                <a:ea typeface="微軟正黑體" pitchFamily="34" charset="-120"/>
                <a:cs typeface="Times New Roman" pitchFamily="18" charset="0"/>
              </a:rPr>
              <a:t>Nonideal</a:t>
            </a:r>
            <a:r>
              <a:rPr lang="en-US" altLang="zh-TW" sz="2000" b="1" dirty="0">
                <a:latin typeface="Times New Roman" pitchFamily="18" charset="0"/>
                <a:ea typeface="微軟正黑體" pitchFamily="34" charset="-120"/>
                <a:cs typeface="Times New Roman" pitchFamily="18" charset="0"/>
              </a:rPr>
              <a:t> domain length ratio Design </a:t>
            </a:r>
            <a:r>
              <a:rPr lang="en-US" altLang="zh-TW" sz="2000" b="1" dirty="0">
                <a:solidFill>
                  <a:srgbClr val="FF0000"/>
                </a:solidFill>
                <a:latin typeface="Times New Roman" pitchFamily="18" charset="0"/>
                <a:ea typeface="微軟正黑體" pitchFamily="34" charset="-120"/>
                <a:cs typeface="Times New Roman" pitchFamily="18" charset="0"/>
              </a:rPr>
              <a:t>(using genetic algorithm )</a:t>
            </a:r>
            <a:endParaRPr lang="zh-TW" altLang="en-US" sz="2000" dirty="0">
              <a:solidFill>
                <a:srgbClr val="FF0000"/>
              </a:solidFill>
            </a:endParaRPr>
          </a:p>
        </p:txBody>
      </p:sp>
      <p:sp>
        <p:nvSpPr>
          <p:cNvPr id="33" name="矩形 32"/>
          <p:cNvSpPr/>
          <p:nvPr/>
        </p:nvSpPr>
        <p:spPr>
          <a:xfrm>
            <a:off x="1650265" y="3719917"/>
            <a:ext cx="3803285" cy="369332"/>
          </a:xfrm>
          <a:prstGeom prst="rect">
            <a:avLst/>
          </a:prstGeom>
        </p:spPr>
        <p:txBody>
          <a:bodyPr wrap="none">
            <a:spAutoFit/>
          </a:bodyPr>
          <a:lstStyle/>
          <a:p>
            <a:r>
              <a:rPr lang="en-US" altLang="zh-TW" b="1" u="sng" dirty="0" err="1">
                <a:latin typeface="Times New Roman" pitchFamily="18" charset="0"/>
                <a:ea typeface="微軟正黑體" pitchFamily="34" charset="-120"/>
                <a:cs typeface="Times New Roman" pitchFamily="18" charset="0"/>
              </a:rPr>
              <a:t>nonperiodic</a:t>
            </a:r>
            <a:r>
              <a:rPr lang="en-US" altLang="zh-TW" b="1" u="sng" dirty="0">
                <a:latin typeface="Times New Roman" pitchFamily="18" charset="0"/>
                <a:ea typeface="微軟正黑體" pitchFamily="34" charset="-120"/>
                <a:cs typeface="Times New Roman" pitchFamily="18" charset="0"/>
              </a:rPr>
              <a:t> </a:t>
            </a:r>
            <a:r>
              <a:rPr lang="en-US" altLang="zh-TW" b="1" u="sng" dirty="0" err="1">
                <a:latin typeface="Times New Roman" pitchFamily="18" charset="0"/>
                <a:ea typeface="微軟正黑體" pitchFamily="34" charset="-120"/>
                <a:cs typeface="Times New Roman" pitchFamily="18" charset="0"/>
              </a:rPr>
              <a:t>supperlattice</a:t>
            </a:r>
            <a:r>
              <a:rPr lang="en-US" altLang="zh-TW" b="1" u="sng" dirty="0">
                <a:latin typeface="Times New Roman" pitchFamily="18" charset="0"/>
                <a:ea typeface="微軟正黑體" pitchFamily="34" charset="-120"/>
                <a:cs typeface="Times New Roman" pitchFamily="18" charset="0"/>
              </a:rPr>
              <a:t> structure</a:t>
            </a:r>
            <a:endParaRPr lang="zh-TW" altLang="en-US" u="sng" dirty="0"/>
          </a:p>
        </p:txBody>
      </p:sp>
      <p:grpSp>
        <p:nvGrpSpPr>
          <p:cNvPr id="55" name="群組 54"/>
          <p:cNvGrpSpPr/>
          <p:nvPr/>
        </p:nvGrpSpPr>
        <p:grpSpPr>
          <a:xfrm>
            <a:off x="2003621" y="4046542"/>
            <a:ext cx="8199921" cy="2171938"/>
            <a:chOff x="894535" y="2966250"/>
            <a:chExt cx="8199921" cy="2171938"/>
          </a:xfrm>
        </p:grpSpPr>
        <p:sp>
          <p:nvSpPr>
            <p:cNvPr id="8" name="立方體 7"/>
            <p:cNvSpPr/>
            <p:nvPr/>
          </p:nvSpPr>
          <p:spPr>
            <a:xfrm>
              <a:off x="1884169" y="3362086"/>
              <a:ext cx="1676836" cy="1406770"/>
            </a:xfrm>
            <a:prstGeom prst="cube">
              <a:avLst>
                <a:gd name="adj" fmla="val 60339"/>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立方體 8"/>
            <p:cNvSpPr/>
            <p:nvPr/>
          </p:nvSpPr>
          <p:spPr>
            <a:xfrm>
              <a:off x="2713158" y="3362087"/>
              <a:ext cx="1919831" cy="1406770"/>
            </a:xfrm>
            <a:prstGeom prst="cube">
              <a:avLst>
                <a:gd name="adj" fmla="val 60359"/>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立方體 9"/>
            <p:cNvSpPr/>
            <p:nvPr/>
          </p:nvSpPr>
          <p:spPr>
            <a:xfrm>
              <a:off x="3797737" y="3362086"/>
              <a:ext cx="1514336" cy="1406770"/>
            </a:xfrm>
            <a:prstGeom prst="cube">
              <a:avLst>
                <a:gd name="adj" fmla="val 59713"/>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立方體 10"/>
            <p:cNvSpPr/>
            <p:nvPr/>
          </p:nvSpPr>
          <p:spPr>
            <a:xfrm>
              <a:off x="4473926" y="3362086"/>
              <a:ext cx="2464309" cy="1406770"/>
            </a:xfrm>
            <a:prstGeom prst="cube">
              <a:avLst>
                <a:gd name="adj" fmla="val 5971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立方體 11"/>
            <p:cNvSpPr/>
            <p:nvPr/>
          </p:nvSpPr>
          <p:spPr>
            <a:xfrm>
              <a:off x="6101570" y="3362086"/>
              <a:ext cx="1715171" cy="1406770"/>
            </a:xfrm>
            <a:prstGeom prst="cube">
              <a:avLst>
                <a:gd name="adj" fmla="val 5971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立方體 12"/>
            <p:cNvSpPr/>
            <p:nvPr/>
          </p:nvSpPr>
          <p:spPr>
            <a:xfrm>
              <a:off x="6975231" y="3362086"/>
              <a:ext cx="2119225" cy="1406770"/>
            </a:xfrm>
            <a:prstGeom prst="cube">
              <a:avLst>
                <a:gd name="adj" fmla="val 60185"/>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向上箭號 13"/>
            <p:cNvSpPr/>
            <p:nvPr/>
          </p:nvSpPr>
          <p:spPr>
            <a:xfrm>
              <a:off x="2115043" y="4292222"/>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上箭號 14"/>
            <p:cNvSpPr/>
            <p:nvPr/>
          </p:nvSpPr>
          <p:spPr>
            <a:xfrm>
              <a:off x="3975836"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向上箭號 15"/>
            <p:cNvSpPr/>
            <p:nvPr/>
          </p:nvSpPr>
          <p:spPr>
            <a:xfrm>
              <a:off x="634568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向上箭號 16"/>
            <p:cNvSpPr/>
            <p:nvPr/>
          </p:nvSpPr>
          <p:spPr>
            <a:xfrm flipV="1">
              <a:off x="309101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上箭號 17"/>
            <p:cNvSpPr/>
            <p:nvPr/>
          </p:nvSpPr>
          <p:spPr>
            <a:xfrm flipV="1">
              <a:off x="518024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向上箭號 18"/>
            <p:cNvSpPr/>
            <p:nvPr/>
          </p:nvSpPr>
          <p:spPr>
            <a:xfrm flipV="1">
              <a:off x="7458437"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p:cNvSpPr txBox="1"/>
                <p:nvPr/>
              </p:nvSpPr>
              <p:spPr>
                <a:xfrm>
                  <a:off x="2347819" y="4768856"/>
                  <a:ext cx="7947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8" name="文字方塊 27"/>
                <p:cNvSpPr txBox="1">
                  <a:spLocks noRot="1" noChangeAspect="1" noMove="1" noResize="1" noEditPoints="1" noAdjustHandles="1" noChangeArrowheads="1" noChangeShapeType="1" noTextEdit="1"/>
                </p:cNvSpPr>
                <p:nvPr/>
              </p:nvSpPr>
              <p:spPr>
                <a:xfrm>
                  <a:off x="2347819" y="4768856"/>
                  <a:ext cx="794777" cy="369332"/>
                </a:xfrm>
                <a:prstGeom prst="rect">
                  <a:avLst/>
                </a:prstGeom>
                <a:blipFill>
                  <a:blip r:embed="rId3"/>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3424345" y="4768856"/>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2</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9" name="文字方塊 28"/>
                <p:cNvSpPr txBox="1">
                  <a:spLocks noRot="1" noChangeAspect="1" noMove="1" noResize="1" noEditPoints="1" noAdjustHandles="1" noChangeArrowheads="1" noChangeShapeType="1" noTextEdit="1"/>
                </p:cNvSpPr>
                <p:nvPr/>
              </p:nvSpPr>
              <p:spPr>
                <a:xfrm>
                  <a:off x="3424345" y="4768856"/>
                  <a:ext cx="803702" cy="369332"/>
                </a:xfrm>
                <a:prstGeom prst="rect">
                  <a:avLst/>
                </a:prstGeom>
                <a:blipFill>
                  <a:blip r:embed="rId4"/>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4093008" y="4768856"/>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3</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30" name="文字方塊 29"/>
                <p:cNvSpPr txBox="1">
                  <a:spLocks noRot="1" noChangeAspect="1" noMove="1" noResize="1" noEditPoints="1" noAdjustHandles="1" noChangeArrowheads="1" noChangeShapeType="1" noTextEdit="1"/>
                </p:cNvSpPr>
                <p:nvPr/>
              </p:nvSpPr>
              <p:spPr>
                <a:xfrm>
                  <a:off x="4093008" y="4768856"/>
                  <a:ext cx="803702" cy="369332"/>
                </a:xfrm>
                <a:prstGeom prst="rect">
                  <a:avLst/>
                </a:prstGeom>
                <a:blipFill>
                  <a:blip r:embed="rId5"/>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6405153" y="4768856"/>
                  <a:ext cx="12269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𝑁</m:t>
                            </m:r>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31" name="文字方塊 30"/>
                <p:cNvSpPr txBox="1">
                  <a:spLocks noRot="1" noChangeAspect="1" noMove="1" noResize="1" noEditPoints="1" noAdjustHandles="1" noChangeArrowheads="1" noChangeShapeType="1" noTextEdit="1"/>
                </p:cNvSpPr>
                <p:nvPr/>
              </p:nvSpPr>
              <p:spPr>
                <a:xfrm>
                  <a:off x="6405153" y="4768856"/>
                  <a:ext cx="1226952" cy="369332"/>
                </a:xfrm>
                <a:prstGeom prst="rect">
                  <a:avLst/>
                </a:prstGeom>
                <a:blipFill>
                  <a:blip r:embed="rId6"/>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7824382" y="4768856"/>
                  <a:ext cx="8586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𝑁</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32" name="文字方塊 31"/>
                <p:cNvSpPr txBox="1">
                  <a:spLocks noRot="1" noChangeAspect="1" noMove="1" noResize="1" noEditPoints="1" noAdjustHandles="1" noChangeArrowheads="1" noChangeShapeType="1" noTextEdit="1"/>
                </p:cNvSpPr>
                <p:nvPr/>
              </p:nvSpPr>
              <p:spPr>
                <a:xfrm>
                  <a:off x="7824382" y="4768856"/>
                  <a:ext cx="858651" cy="369332"/>
                </a:xfrm>
                <a:prstGeom prst="rect">
                  <a:avLst/>
                </a:prstGeom>
                <a:blipFill>
                  <a:blip r:embed="rId7"/>
                  <a:stretch>
                    <a:fillRect b="-1667"/>
                  </a:stretch>
                </a:blipFill>
              </p:spPr>
              <p:txBody>
                <a:bodyPr/>
                <a:lstStyle/>
                <a:p>
                  <a:r>
                    <a:rPr lang="zh-TW" altLang="en-US">
                      <a:noFill/>
                    </a:rPr>
                    <a:t> </a:t>
                  </a:r>
                </a:p>
              </p:txBody>
            </p:sp>
          </mc:Fallback>
        </mc:AlternateContent>
        <p:sp>
          <p:nvSpPr>
            <p:cNvPr id="35" name="文字方塊 34"/>
            <p:cNvSpPr txBox="1"/>
            <p:nvPr/>
          </p:nvSpPr>
          <p:spPr>
            <a:xfrm>
              <a:off x="1746169" y="4768856"/>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0</a:t>
              </a:r>
              <a:endParaRPr lang="zh-TW" altLang="en-US">
                <a:latin typeface="Times New Roman" panose="02020603050405020304" pitchFamily="18" charset="0"/>
                <a:cs typeface="Times New Roman" panose="02020603050405020304" pitchFamily="18" charset="0"/>
              </a:endParaRPr>
            </a:p>
          </p:txBody>
        </p:sp>
        <p:cxnSp>
          <p:nvCxnSpPr>
            <p:cNvPr id="47" name="直線單箭頭接點 46"/>
            <p:cNvCxnSpPr>
              <a:cxnSpLocks noChangeAspect="1"/>
            </p:cNvCxnSpPr>
            <p:nvPr/>
          </p:nvCxnSpPr>
          <p:spPr>
            <a:xfrm flipV="1">
              <a:off x="1038188" y="3478111"/>
              <a:ext cx="347616" cy="3454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rot="16200000">
              <a:off x="1308164" y="3551008"/>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flipV="1">
              <a:off x="1038164" y="3281008"/>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字方塊 49"/>
            <p:cNvSpPr txBox="1"/>
            <p:nvPr/>
          </p:nvSpPr>
          <p:spPr>
            <a:xfrm>
              <a:off x="894535" y="2966250"/>
              <a:ext cx="28725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z</a:t>
              </a:r>
              <a:endParaRPr lang="zh-TW" altLang="en-US">
                <a:latin typeface="Times New Roman" panose="02020603050405020304" pitchFamily="18" charset="0"/>
                <a:cs typeface="Times New Roman" panose="02020603050405020304" pitchFamily="18" charset="0"/>
              </a:endParaRPr>
            </a:p>
          </p:txBody>
        </p:sp>
        <p:sp>
          <p:nvSpPr>
            <p:cNvPr id="51" name="文字方塊 50"/>
            <p:cNvSpPr txBox="1"/>
            <p:nvPr/>
          </p:nvSpPr>
          <p:spPr>
            <a:xfrm>
              <a:off x="1530539" y="3617292"/>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x</a:t>
              </a:r>
              <a:endParaRPr lang="zh-TW" altLang="en-US">
                <a:latin typeface="Times New Roman" panose="02020603050405020304" pitchFamily="18" charset="0"/>
                <a:cs typeface="Times New Roman" panose="02020603050405020304" pitchFamily="18" charset="0"/>
              </a:endParaRPr>
            </a:p>
          </p:txBody>
        </p:sp>
        <p:sp>
          <p:nvSpPr>
            <p:cNvPr id="52" name="文字方塊 51"/>
            <p:cNvSpPr txBox="1"/>
            <p:nvPr/>
          </p:nvSpPr>
          <p:spPr>
            <a:xfrm>
              <a:off x="1322418" y="3193606"/>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y</a:t>
              </a:r>
              <a:endParaRPr lang="zh-TW" altLang="en-US">
                <a:latin typeface="Times New Roman" panose="02020603050405020304" pitchFamily="18" charset="0"/>
                <a:cs typeface="Times New Roman" panose="02020603050405020304" pitchFamily="18" charset="0"/>
              </a:endParaRPr>
            </a:p>
          </p:txBody>
        </p:sp>
        <p:sp>
          <p:nvSpPr>
            <p:cNvPr id="53" name="文字方塊 52"/>
            <p:cNvSpPr txBox="1"/>
            <p:nvPr/>
          </p:nvSpPr>
          <p:spPr>
            <a:xfrm>
              <a:off x="5373186" y="4768856"/>
              <a:ext cx="41549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a:t>
              </a:r>
              <a:endParaRPr lang="zh-TW" altLang="en-US">
                <a:latin typeface="Times New Roman" panose="02020603050405020304" pitchFamily="18" charset="0"/>
                <a:cs typeface="Times New Roman" panose="02020603050405020304" pitchFamily="18" charset="0"/>
              </a:endParaRPr>
            </a:p>
          </p:txBody>
        </p:sp>
      </p:grpSp>
      <p:sp>
        <p:nvSpPr>
          <p:cNvPr id="5" name="矩形 4"/>
          <p:cNvSpPr/>
          <p:nvPr/>
        </p:nvSpPr>
        <p:spPr>
          <a:xfrm>
            <a:off x="8731879" y="3719917"/>
            <a:ext cx="3423541" cy="584775"/>
          </a:xfrm>
          <a:prstGeom prst="rect">
            <a:avLst/>
          </a:prstGeom>
        </p:spPr>
        <p:txBody>
          <a:bodyPr wrap="square">
            <a:spAutoFit/>
          </a:bodyPr>
          <a:lstStyle/>
          <a:p>
            <a:r>
              <a:rPr lang="en-US" altLang="zh-TW" sz="1600" b="1" i="1" dirty="0">
                <a:solidFill>
                  <a:schemeClr val="accent2">
                    <a:lumMod val="50000"/>
                  </a:schemeClr>
                </a:solidFill>
                <a:latin typeface="Times New Roman" panose="02020603050405020304" pitchFamily="18" charset="0"/>
                <a:cs typeface="Times New Roman" panose="02020603050405020304" pitchFamily="18" charset="0"/>
              </a:rPr>
              <a:t>Yang, S. D., et al.</a:t>
            </a:r>
          </a:p>
          <a:p>
            <a:r>
              <a:rPr lang="en-US" altLang="zh-TW" sz="1600" i="1" dirty="0">
                <a:solidFill>
                  <a:schemeClr val="accent2">
                    <a:lumMod val="50000"/>
                  </a:schemeClr>
                </a:solidFill>
                <a:latin typeface="Times New Roman" panose="02020603050405020304" pitchFamily="18" charset="0"/>
                <a:cs typeface="Times New Roman" panose="02020603050405020304" pitchFamily="18" charset="0"/>
              </a:rPr>
              <a:t>Optics express, 18(5), 5328-5337, 2010</a:t>
            </a:r>
            <a:endParaRPr lang="zh-TW" altLang="en-US" sz="1600" i="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4" name="矩形 33"/>
          <p:cNvSpPr/>
          <p:nvPr/>
        </p:nvSpPr>
        <p:spPr>
          <a:xfrm>
            <a:off x="1650265" y="1451233"/>
            <a:ext cx="3412153" cy="369332"/>
          </a:xfrm>
          <a:prstGeom prst="rect">
            <a:avLst/>
          </a:prstGeom>
        </p:spPr>
        <p:txBody>
          <a:bodyPr wrap="none">
            <a:spAutoFit/>
          </a:bodyPr>
          <a:lstStyle/>
          <a:p>
            <a:r>
              <a:rPr lang="en-US" altLang="zh-TW" b="1" u="sng" dirty="0">
                <a:latin typeface="Times New Roman" pitchFamily="18" charset="0"/>
                <a:ea typeface="微軟正黑體" pitchFamily="34" charset="-120"/>
                <a:cs typeface="Times New Roman" pitchFamily="18" charset="0"/>
              </a:rPr>
              <a:t>aperiodic </a:t>
            </a:r>
            <a:r>
              <a:rPr lang="en-US" altLang="zh-TW" b="1" u="sng" dirty="0" err="1">
                <a:latin typeface="Times New Roman" pitchFamily="18" charset="0"/>
                <a:ea typeface="微軟正黑體" pitchFamily="34" charset="-120"/>
                <a:cs typeface="Times New Roman" pitchFamily="18" charset="0"/>
              </a:rPr>
              <a:t>supperlattice</a:t>
            </a:r>
            <a:r>
              <a:rPr lang="en-US" altLang="zh-TW" b="1" u="sng" dirty="0">
                <a:latin typeface="Times New Roman" pitchFamily="18" charset="0"/>
                <a:ea typeface="微軟正黑體" pitchFamily="34" charset="-120"/>
                <a:cs typeface="Times New Roman" pitchFamily="18" charset="0"/>
              </a:rPr>
              <a:t> structure</a:t>
            </a:r>
            <a:endParaRPr lang="zh-TW" altLang="en-US" u="sng" dirty="0"/>
          </a:p>
        </p:txBody>
      </p:sp>
      <p:grpSp>
        <p:nvGrpSpPr>
          <p:cNvPr id="3" name="群組 2"/>
          <p:cNvGrpSpPr/>
          <p:nvPr/>
        </p:nvGrpSpPr>
        <p:grpSpPr>
          <a:xfrm>
            <a:off x="2003621" y="1726549"/>
            <a:ext cx="8105394" cy="1802607"/>
            <a:chOff x="2003621" y="1726549"/>
            <a:chExt cx="8105394" cy="1802607"/>
          </a:xfrm>
        </p:grpSpPr>
        <p:sp>
          <p:nvSpPr>
            <p:cNvPr id="37" name="立方體 36"/>
            <p:cNvSpPr/>
            <p:nvPr/>
          </p:nvSpPr>
          <p:spPr>
            <a:xfrm>
              <a:off x="2993255" y="2122385"/>
              <a:ext cx="1620000" cy="1406770"/>
            </a:xfrm>
            <a:prstGeom prst="cube">
              <a:avLst>
                <a:gd name="adj" fmla="val 60339"/>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立方體 37"/>
            <p:cNvSpPr/>
            <p:nvPr/>
          </p:nvSpPr>
          <p:spPr>
            <a:xfrm>
              <a:off x="3772004" y="2122386"/>
              <a:ext cx="1620000" cy="1406770"/>
            </a:xfrm>
            <a:prstGeom prst="cube">
              <a:avLst>
                <a:gd name="adj" fmla="val 60359"/>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立方體 38"/>
            <p:cNvSpPr/>
            <p:nvPr/>
          </p:nvSpPr>
          <p:spPr>
            <a:xfrm>
              <a:off x="4565185" y="2122385"/>
              <a:ext cx="1620000" cy="1406770"/>
            </a:xfrm>
            <a:prstGeom prst="cube">
              <a:avLst>
                <a:gd name="adj" fmla="val 59713"/>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立方體 39"/>
            <p:cNvSpPr/>
            <p:nvPr/>
          </p:nvSpPr>
          <p:spPr>
            <a:xfrm>
              <a:off x="5351903" y="2122385"/>
              <a:ext cx="1620000" cy="1406770"/>
            </a:xfrm>
            <a:prstGeom prst="cube">
              <a:avLst>
                <a:gd name="adj" fmla="val 5971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立方體 40"/>
            <p:cNvSpPr/>
            <p:nvPr/>
          </p:nvSpPr>
          <p:spPr>
            <a:xfrm>
              <a:off x="6135484" y="2122385"/>
              <a:ext cx="1620000" cy="1406770"/>
            </a:xfrm>
            <a:prstGeom prst="cube">
              <a:avLst>
                <a:gd name="adj" fmla="val 5971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立方體 41"/>
            <p:cNvSpPr/>
            <p:nvPr/>
          </p:nvSpPr>
          <p:spPr>
            <a:xfrm>
              <a:off x="6918716" y="2122385"/>
              <a:ext cx="1620000" cy="1406770"/>
            </a:xfrm>
            <a:prstGeom prst="cube">
              <a:avLst>
                <a:gd name="adj" fmla="val 60185"/>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向上箭號 42"/>
            <p:cNvSpPr/>
            <p:nvPr/>
          </p:nvSpPr>
          <p:spPr>
            <a:xfrm>
              <a:off x="3200981" y="3052520"/>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向上箭號 43"/>
            <p:cNvSpPr/>
            <p:nvPr/>
          </p:nvSpPr>
          <p:spPr>
            <a:xfrm>
              <a:off x="4793598" y="306618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向上箭號 44"/>
            <p:cNvSpPr/>
            <p:nvPr/>
          </p:nvSpPr>
          <p:spPr>
            <a:xfrm>
              <a:off x="6351139" y="3052520"/>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向上箭號 45"/>
            <p:cNvSpPr/>
            <p:nvPr/>
          </p:nvSpPr>
          <p:spPr>
            <a:xfrm flipV="1">
              <a:off x="3987615" y="3066182"/>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向上箭號 53"/>
            <p:cNvSpPr/>
            <p:nvPr/>
          </p:nvSpPr>
          <p:spPr>
            <a:xfrm flipV="1">
              <a:off x="5605895" y="3066180"/>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向上箭號 55"/>
            <p:cNvSpPr/>
            <p:nvPr/>
          </p:nvSpPr>
          <p:spPr>
            <a:xfrm flipV="1">
              <a:off x="7161580" y="3047204"/>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3" name="直線單箭頭接點 62"/>
            <p:cNvCxnSpPr>
              <a:cxnSpLocks noChangeAspect="1"/>
            </p:cNvCxnSpPr>
            <p:nvPr/>
          </p:nvCxnSpPr>
          <p:spPr>
            <a:xfrm flipV="1">
              <a:off x="2147274" y="2238410"/>
              <a:ext cx="347616" cy="3454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rot="16200000">
              <a:off x="2417250" y="2311307"/>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flipV="1">
              <a:off x="2147250" y="2041307"/>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字方塊 65"/>
            <p:cNvSpPr txBox="1"/>
            <p:nvPr/>
          </p:nvSpPr>
          <p:spPr>
            <a:xfrm>
              <a:off x="2003621" y="1726549"/>
              <a:ext cx="28725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z</a:t>
              </a:r>
              <a:endParaRPr lang="zh-TW" altLang="en-US">
                <a:latin typeface="Times New Roman" panose="02020603050405020304" pitchFamily="18" charset="0"/>
                <a:cs typeface="Times New Roman" panose="02020603050405020304" pitchFamily="18" charset="0"/>
              </a:endParaRPr>
            </a:p>
          </p:txBody>
        </p:sp>
        <p:sp>
          <p:nvSpPr>
            <p:cNvPr id="67" name="文字方塊 66"/>
            <p:cNvSpPr txBox="1"/>
            <p:nvPr/>
          </p:nvSpPr>
          <p:spPr>
            <a:xfrm>
              <a:off x="2639625" y="2377591"/>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x</a:t>
              </a:r>
              <a:endParaRPr lang="zh-TW" altLang="en-US">
                <a:latin typeface="Times New Roman" panose="02020603050405020304" pitchFamily="18" charset="0"/>
                <a:cs typeface="Times New Roman" panose="02020603050405020304" pitchFamily="18" charset="0"/>
              </a:endParaRPr>
            </a:p>
          </p:txBody>
        </p:sp>
        <p:sp>
          <p:nvSpPr>
            <p:cNvPr id="68" name="文字方塊 67"/>
            <p:cNvSpPr txBox="1"/>
            <p:nvPr/>
          </p:nvSpPr>
          <p:spPr>
            <a:xfrm>
              <a:off x="2431504" y="1953905"/>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y</a:t>
              </a:r>
              <a:endParaRPr lang="zh-TW" altLang="en-US">
                <a:latin typeface="Times New Roman" panose="02020603050405020304" pitchFamily="18" charset="0"/>
                <a:cs typeface="Times New Roman" panose="02020603050405020304" pitchFamily="18" charset="0"/>
              </a:endParaRPr>
            </a:p>
          </p:txBody>
        </p:sp>
        <p:sp>
          <p:nvSpPr>
            <p:cNvPr id="70" name="立方體 69"/>
            <p:cNvSpPr/>
            <p:nvPr/>
          </p:nvSpPr>
          <p:spPr>
            <a:xfrm>
              <a:off x="7705783" y="2122386"/>
              <a:ext cx="1620000" cy="1406770"/>
            </a:xfrm>
            <a:prstGeom prst="cube">
              <a:avLst>
                <a:gd name="adj" fmla="val 5971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立方體 70"/>
            <p:cNvSpPr/>
            <p:nvPr/>
          </p:nvSpPr>
          <p:spPr>
            <a:xfrm>
              <a:off x="8489015" y="2122386"/>
              <a:ext cx="1620000" cy="1406770"/>
            </a:xfrm>
            <a:prstGeom prst="cube">
              <a:avLst>
                <a:gd name="adj" fmla="val 60185"/>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向上箭號 71"/>
            <p:cNvSpPr/>
            <p:nvPr/>
          </p:nvSpPr>
          <p:spPr>
            <a:xfrm>
              <a:off x="7921438" y="30525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向上箭號 72"/>
            <p:cNvSpPr/>
            <p:nvPr/>
          </p:nvSpPr>
          <p:spPr>
            <a:xfrm flipV="1">
              <a:off x="8731879" y="3047205"/>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 name="矩形 5"/>
          <p:cNvSpPr/>
          <p:nvPr/>
        </p:nvSpPr>
        <p:spPr>
          <a:xfrm>
            <a:off x="5488194" y="3719917"/>
            <a:ext cx="3069110"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efficiency degradation (~5.7%)</a:t>
            </a:r>
            <a:endParaRPr lang="zh-TW" altLang="en-US" dirty="0">
              <a:latin typeface="Times New Roman" panose="02020603050405020304" pitchFamily="18" charset="0"/>
              <a:cs typeface="Times New Roman" panose="02020603050405020304" pitchFamily="18" charset="0"/>
            </a:endParaRPr>
          </a:p>
        </p:txBody>
      </p:sp>
      <p:sp>
        <p:nvSpPr>
          <p:cNvPr id="57" name="矩形 56"/>
          <p:cNvSpPr/>
          <p:nvPr/>
        </p:nvSpPr>
        <p:spPr>
          <a:xfrm>
            <a:off x="5487879" y="1463423"/>
            <a:ext cx="3069110"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efficiency degradation (~7.7%)</a:t>
            </a:r>
            <a:endParaRPr lang="zh-TW" altLang="en-US" dirty="0">
              <a:latin typeface="Times New Roman" panose="02020603050405020304" pitchFamily="18" charset="0"/>
              <a:cs typeface="Times New Roman" panose="02020603050405020304" pitchFamily="18" charset="0"/>
            </a:endParaRPr>
          </a:p>
        </p:txBody>
      </p:sp>
      <p:sp>
        <p:nvSpPr>
          <p:cNvPr id="7" name="矩形 6"/>
          <p:cNvSpPr/>
          <p:nvPr/>
        </p:nvSpPr>
        <p:spPr>
          <a:xfrm>
            <a:off x="8741191" y="1451233"/>
            <a:ext cx="3442105" cy="584775"/>
          </a:xfrm>
          <a:prstGeom prst="rect">
            <a:avLst/>
          </a:prstGeom>
        </p:spPr>
        <p:txBody>
          <a:bodyPr wrap="square">
            <a:spAutoFit/>
          </a:bodyPr>
          <a:lstStyle/>
          <a:p>
            <a:r>
              <a:rPr lang="en-US" altLang="zh-TW" sz="1600" b="1" i="1" dirty="0">
                <a:solidFill>
                  <a:schemeClr val="accent2">
                    <a:lumMod val="50000"/>
                  </a:schemeClr>
                </a:solidFill>
                <a:latin typeface="Times New Roman" panose="02020603050405020304" pitchFamily="18" charset="0"/>
                <a:cs typeface="Times New Roman" panose="02020603050405020304" pitchFamily="18" charset="0"/>
              </a:rPr>
              <a:t>Lee, Y. W., et al.</a:t>
            </a:r>
            <a:r>
              <a:rPr lang="en-US" altLang="zh-TW" sz="1600" i="1" dirty="0">
                <a:solidFill>
                  <a:schemeClr val="accent2">
                    <a:lumMod val="50000"/>
                  </a:schemeClr>
                </a:solidFill>
                <a:latin typeface="Times New Roman" panose="02020603050405020304" pitchFamily="18" charset="0"/>
                <a:cs typeface="Times New Roman" panose="02020603050405020304" pitchFamily="18" charset="0"/>
              </a:rPr>
              <a:t> </a:t>
            </a:r>
          </a:p>
          <a:p>
            <a:r>
              <a:rPr lang="en-US" altLang="zh-TW" sz="1600" i="1" dirty="0">
                <a:solidFill>
                  <a:schemeClr val="accent2">
                    <a:lumMod val="50000"/>
                  </a:schemeClr>
                </a:solidFill>
                <a:latin typeface="Times New Roman" panose="02020603050405020304" pitchFamily="18" charset="0"/>
                <a:cs typeface="Times New Roman" panose="02020603050405020304" pitchFamily="18" charset="0"/>
              </a:rPr>
              <a:t>Optics letters, 27(24), 2191-2193, 2002</a:t>
            </a:r>
            <a:endParaRPr lang="zh-TW" altLang="en-US" sz="1600" i="1"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918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this work</a:t>
            </a:r>
            <a:endParaRPr lang="zh-TW" altLang="en-US"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矩形 2"/>
          <p:cNvSpPr/>
          <p:nvPr/>
        </p:nvSpPr>
        <p:spPr>
          <a:xfrm>
            <a:off x="424840" y="926515"/>
            <a:ext cx="3177473" cy="400110"/>
          </a:xfrm>
          <a:prstGeom prst="rect">
            <a:avLst/>
          </a:prstGeom>
        </p:spPr>
        <p:txBody>
          <a:bodyPr wrap="none">
            <a:spAutoFit/>
          </a:bodyPr>
          <a:lstStyle/>
          <a:p>
            <a:pPr marL="342900" indent="-342900">
              <a:buFont typeface="Wingdings" panose="05000000000000000000" pitchFamily="2" charset="2"/>
              <a:buChar char="Ø"/>
            </a:pPr>
            <a:r>
              <a:rPr lang="en-US" altLang="zh-TW" sz="2000" b="1">
                <a:latin typeface="Times New Roman" pitchFamily="18" charset="0"/>
                <a:ea typeface="微軟正黑體" pitchFamily="34" charset="-120"/>
                <a:cs typeface="Times New Roman" pitchFamily="18" charset="0"/>
              </a:rPr>
              <a:t>External </a:t>
            </a:r>
            <a:r>
              <a:rPr lang="zh-TW" altLang="en-US" sz="2000" b="1">
                <a:latin typeface="Times New Roman" pitchFamily="18" charset="0"/>
                <a:ea typeface="微軟正黑體" pitchFamily="34" charset="-120"/>
                <a:cs typeface="Times New Roman" pitchFamily="18" charset="0"/>
              </a:rPr>
              <a:t>→ </a:t>
            </a:r>
            <a:r>
              <a:rPr lang="en-US" altLang="zh-TW" sz="2000" b="1">
                <a:latin typeface="Times New Roman" pitchFamily="18" charset="0"/>
                <a:ea typeface="微軟正黑體" pitchFamily="34" charset="-120"/>
                <a:cs typeface="Times New Roman" pitchFamily="18" charset="0"/>
              </a:rPr>
              <a:t>Intra-cavity</a:t>
            </a:r>
            <a:endParaRPr lang="zh-TW" altLang="en-US" sz="2000" b="1">
              <a:latin typeface="Times New Roman" panose="02020603050405020304" pitchFamily="18" charset="0"/>
              <a:cs typeface="Times New Roman" panose="02020603050405020304" pitchFamily="18" charset="0"/>
            </a:endParaRPr>
          </a:p>
        </p:txBody>
      </p:sp>
      <p:grpSp>
        <p:nvGrpSpPr>
          <p:cNvPr id="21" name="群組 20"/>
          <p:cNvGrpSpPr/>
          <p:nvPr/>
        </p:nvGrpSpPr>
        <p:grpSpPr>
          <a:xfrm>
            <a:off x="1336641" y="2006600"/>
            <a:ext cx="9525798" cy="3873121"/>
            <a:chOff x="713643" y="2277906"/>
            <a:chExt cx="9525798" cy="3873121"/>
          </a:xfrm>
        </p:grpSpPr>
        <p:sp>
          <p:nvSpPr>
            <p:cNvPr id="75" name="圓柱 74"/>
            <p:cNvSpPr/>
            <p:nvPr/>
          </p:nvSpPr>
          <p:spPr>
            <a:xfrm rot="5400000">
              <a:off x="4697290" y="4034662"/>
              <a:ext cx="216000" cy="720000"/>
            </a:xfrm>
            <a:prstGeom prst="can">
              <a:avLst>
                <a:gd name="adj" fmla="val 4581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76" name="圖片 75"/>
            <p:cNvPicPr>
              <a:picLocks noChangeAspect="1"/>
            </p:cNvPicPr>
            <p:nvPr/>
          </p:nvPicPr>
          <p:blipFill rotWithShape="1">
            <a:blip r:embed="rId3">
              <a:clrChange>
                <a:clrFrom>
                  <a:srgbClr val="FFFFFF"/>
                </a:clrFrom>
                <a:clrTo>
                  <a:srgbClr val="FFFFFF">
                    <a:alpha val="0"/>
                  </a:srgbClr>
                </a:clrTo>
              </a:clrChange>
            </a:blip>
            <a:srcRect l="2126" t="4619" r="1204" b="2416"/>
            <a:stretch/>
          </p:blipFill>
          <p:spPr>
            <a:xfrm>
              <a:off x="713643" y="2277906"/>
              <a:ext cx="3133442" cy="1620000"/>
            </a:xfrm>
            <a:prstGeom prst="rect">
              <a:avLst/>
            </a:prstGeom>
          </p:spPr>
        </p:pic>
        <p:cxnSp>
          <p:nvCxnSpPr>
            <p:cNvPr id="77" name="弧形接點 76"/>
            <p:cNvCxnSpPr/>
            <p:nvPr/>
          </p:nvCxnSpPr>
          <p:spPr>
            <a:xfrm>
              <a:off x="3003840" y="3506439"/>
              <a:ext cx="1441450" cy="888223"/>
            </a:xfrm>
            <a:prstGeom prst="curvedConnector3">
              <a:avLst/>
            </a:prstGeom>
            <a:ln w="19050">
              <a:solidFill>
                <a:schemeClr val="tx1"/>
              </a:solidFill>
            </a:ln>
            <a:effectLst>
              <a:glow rad="63500">
                <a:schemeClr val="tx1">
                  <a:alpha val="40000"/>
                </a:schemeClr>
              </a:glow>
            </a:effectLst>
          </p:spPr>
          <p:style>
            <a:lnRef idx="1">
              <a:schemeClr val="accent1"/>
            </a:lnRef>
            <a:fillRef idx="0">
              <a:schemeClr val="accent1"/>
            </a:fillRef>
            <a:effectRef idx="0">
              <a:schemeClr val="accent1"/>
            </a:effectRef>
            <a:fontRef idx="minor">
              <a:schemeClr val="tx1"/>
            </a:fontRef>
          </p:style>
        </p:cxnSp>
        <p:sp>
          <p:nvSpPr>
            <p:cNvPr id="78" name="橢圓 77"/>
            <p:cNvSpPr/>
            <p:nvPr/>
          </p:nvSpPr>
          <p:spPr>
            <a:xfrm>
              <a:off x="3724565" y="3792360"/>
              <a:ext cx="324000" cy="324000"/>
            </a:xfrm>
            <a:prstGeom prst="ellipse">
              <a:avLst/>
            </a:prstGeom>
            <a:noFill/>
            <a:ln w="19050">
              <a:solidFill>
                <a:schemeClr val="tx1"/>
              </a:solidFill>
            </a:ln>
            <a:effectLst>
              <a:glow rad="63500">
                <a:schemeClr val="tx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橢圓 78"/>
            <p:cNvSpPr/>
            <p:nvPr/>
          </p:nvSpPr>
          <p:spPr>
            <a:xfrm>
              <a:off x="5288535" y="3764661"/>
              <a:ext cx="540000" cy="1260000"/>
            </a:xfrm>
            <a:prstGeom prst="ellipse">
              <a:avLst/>
            </a:prstGeom>
            <a:solidFill>
              <a:schemeClr val="accent1">
                <a:lumMod val="40000"/>
                <a:lumOff val="60000"/>
              </a:schemeClr>
            </a:solidFill>
            <a:ln>
              <a:solidFill>
                <a:schemeClr val="accent1">
                  <a:lumMod val="60000"/>
                  <a:lumOff val="40000"/>
                </a:schemeClr>
              </a:solidFill>
            </a:ln>
            <a:effectLst>
              <a:outerShdw blurRad="127000" dist="38100" dir="2700000" algn="ctr">
                <a:srgbClr val="000000">
                  <a:alpha val="45000"/>
                </a:srgbClr>
              </a:outerShdw>
            </a:effectLst>
            <a:scene3d>
              <a:camera prst="isometricOffAxis2Right"/>
              <a:lightRig rig="soft" dir="t">
                <a:rot lat="0" lon="0" rev="0"/>
              </a:lightRig>
            </a:scene3d>
            <a:sp3d prstMaterial="translucentPowder">
              <a:bevelT w="2032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p:cNvSpPr/>
            <p:nvPr/>
          </p:nvSpPr>
          <p:spPr>
            <a:xfrm>
              <a:off x="5777282" y="4034662"/>
              <a:ext cx="360000" cy="720000"/>
            </a:xfrm>
            <a:prstGeom prst="ellipse">
              <a:avLst/>
            </a:prstGeom>
            <a:solidFill>
              <a:schemeClr val="accent1">
                <a:lumMod val="40000"/>
                <a:lumOff val="60000"/>
              </a:schemeClr>
            </a:solidFill>
            <a:ln>
              <a:solidFill>
                <a:schemeClr val="accent1">
                  <a:lumMod val="60000"/>
                  <a:lumOff val="40000"/>
                </a:schemeClr>
              </a:solidFill>
            </a:ln>
            <a:effectLst>
              <a:outerShdw blurRad="127000" dist="38100" dir="2700000" algn="ctr">
                <a:srgbClr val="000000">
                  <a:alpha val="45000"/>
                </a:srgbClr>
              </a:outerShdw>
            </a:effectLst>
            <a:scene3d>
              <a:camera prst="isometricOffAxis2Right"/>
              <a:lightRig rig="soft" dir="t">
                <a:rot lat="0" lon="0" rev="0"/>
              </a:lightRig>
            </a:scene3d>
            <a:sp3d prstMaterial="translucentPowder">
              <a:bevelT w="2032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p:cNvSpPr/>
            <p:nvPr/>
          </p:nvSpPr>
          <p:spPr>
            <a:xfrm>
              <a:off x="6260805" y="4034662"/>
              <a:ext cx="360000" cy="720000"/>
            </a:xfrm>
            <a:prstGeom prst="ellipse">
              <a:avLst/>
            </a:prstGeom>
            <a:solidFill>
              <a:schemeClr val="accent1">
                <a:lumMod val="40000"/>
                <a:lumOff val="60000"/>
              </a:schemeClr>
            </a:solidFill>
            <a:ln>
              <a:solidFill>
                <a:schemeClr val="accent1">
                  <a:lumMod val="60000"/>
                  <a:lumOff val="40000"/>
                </a:schemeClr>
              </a:solidFill>
            </a:ln>
            <a:scene3d>
              <a:camera prst="isometricOffAxis2Right"/>
              <a:lightRig rig="threePt" dir="t"/>
            </a:scene3d>
            <a:sp3d>
              <a:bevelT w="127000" h="1079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立方體 81"/>
            <p:cNvSpPr/>
            <p:nvPr/>
          </p:nvSpPr>
          <p:spPr>
            <a:xfrm>
              <a:off x="6533149" y="4286662"/>
              <a:ext cx="520933" cy="216000"/>
            </a:xfrm>
            <a:prstGeom prst="cube">
              <a:avLst>
                <a:gd name="adj" fmla="val 2445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立方體 82"/>
            <p:cNvSpPr/>
            <p:nvPr/>
          </p:nvSpPr>
          <p:spPr>
            <a:xfrm>
              <a:off x="7103321" y="4151336"/>
              <a:ext cx="1741210" cy="486650"/>
            </a:xfrm>
            <a:prstGeom prst="cube">
              <a:avLst>
                <a:gd name="adj" fmla="val 72089"/>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平行四邊形 83"/>
            <p:cNvSpPr/>
            <p:nvPr/>
          </p:nvSpPr>
          <p:spPr>
            <a:xfrm>
              <a:off x="7103321" y="4151336"/>
              <a:ext cx="1741210" cy="351326"/>
            </a:xfrm>
            <a:prstGeom prst="parallelogram">
              <a:avLst>
                <a:gd name="adj" fmla="val 100063"/>
              </a:avLst>
            </a:prstGeom>
            <a:gradFill>
              <a:gsLst>
                <a:gs pos="0">
                  <a:srgbClr val="E6DCAC"/>
                </a:gs>
                <a:gs pos="12000">
                  <a:srgbClr val="E6D78A"/>
                </a:gs>
                <a:gs pos="30000">
                  <a:srgbClr val="C7AC4C"/>
                </a:gs>
                <a:gs pos="45000">
                  <a:srgbClr val="E6D78A"/>
                </a:gs>
                <a:gs pos="77000">
                  <a:srgbClr val="C7AC4C"/>
                </a:gs>
                <a:gs pos="100000">
                  <a:srgbClr val="E6DCAC"/>
                </a:gs>
              </a:gsLst>
              <a:lin ang="54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立方體 84"/>
            <p:cNvSpPr/>
            <p:nvPr/>
          </p:nvSpPr>
          <p:spPr>
            <a:xfrm>
              <a:off x="8717813" y="4218999"/>
              <a:ext cx="757444" cy="351324"/>
            </a:xfrm>
            <a:prstGeom prst="cube">
              <a:avLst>
                <a:gd name="adj" fmla="val 72089"/>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橢圓 85"/>
            <p:cNvSpPr/>
            <p:nvPr/>
          </p:nvSpPr>
          <p:spPr>
            <a:xfrm>
              <a:off x="9429441" y="3764661"/>
              <a:ext cx="540000" cy="1260000"/>
            </a:xfrm>
            <a:prstGeom prst="ellipse">
              <a:avLst/>
            </a:prstGeom>
            <a:solidFill>
              <a:schemeClr val="accent1">
                <a:lumMod val="60000"/>
                <a:lumOff val="40000"/>
              </a:schemeClr>
            </a:solidFill>
            <a:ln>
              <a:solidFill>
                <a:schemeClr val="accent1">
                  <a:lumMod val="60000"/>
                  <a:lumOff val="40000"/>
                </a:schemeClr>
              </a:solidFill>
            </a:ln>
            <a:scene3d>
              <a:camera prst="isometricOffAxis2Right"/>
              <a:lightRig rig="threePt" dir="t"/>
            </a:scene3d>
            <a:sp3d extrusionH="88900">
              <a:bevelT w="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平行四邊形 86"/>
            <p:cNvSpPr/>
            <p:nvPr/>
          </p:nvSpPr>
          <p:spPr>
            <a:xfrm>
              <a:off x="8717814" y="4218999"/>
              <a:ext cx="757444" cy="248758"/>
            </a:xfrm>
            <a:prstGeom prst="parallelogram">
              <a:avLst>
                <a:gd name="adj" fmla="val 100063"/>
              </a:avLst>
            </a:pr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p:cNvSpPr/>
            <p:nvPr/>
          </p:nvSpPr>
          <p:spPr>
            <a:xfrm>
              <a:off x="9699441" y="3764661"/>
              <a:ext cx="540000" cy="1260000"/>
            </a:xfrm>
            <a:prstGeom prst="ellipse">
              <a:avLst/>
            </a:prstGeom>
            <a:solidFill>
              <a:schemeClr val="accent1">
                <a:lumMod val="60000"/>
                <a:lumOff val="40000"/>
              </a:schemeClr>
            </a:solidFill>
            <a:ln>
              <a:solidFill>
                <a:schemeClr val="accent1">
                  <a:lumMod val="60000"/>
                  <a:lumOff val="40000"/>
                </a:schemeClr>
              </a:solidFill>
            </a:ln>
            <a:scene3d>
              <a:camera prst="isometricOffAxis2Right"/>
              <a:lightRig rig="threePt" dir="t"/>
            </a:scene3d>
            <a:sp3d extrusionH="88900">
              <a:bevelT w="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文字方塊 93"/>
            <p:cNvSpPr txBox="1"/>
            <p:nvPr/>
          </p:nvSpPr>
          <p:spPr>
            <a:xfrm>
              <a:off x="5308633" y="5024661"/>
              <a:ext cx="42832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F1</a:t>
              </a:r>
              <a:endParaRPr lang="zh-TW" altLang="en-US">
                <a:latin typeface="Times New Roman" panose="02020603050405020304" pitchFamily="18" charset="0"/>
                <a:cs typeface="Times New Roman" panose="02020603050405020304" pitchFamily="18" charset="0"/>
              </a:endParaRPr>
            </a:p>
          </p:txBody>
        </p:sp>
        <p:sp>
          <p:nvSpPr>
            <p:cNvPr id="95" name="文字方塊 94"/>
            <p:cNvSpPr txBox="1"/>
            <p:nvPr/>
          </p:nvSpPr>
          <p:spPr>
            <a:xfrm>
              <a:off x="5746977" y="5024661"/>
              <a:ext cx="42832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F2</a:t>
              </a:r>
              <a:endParaRPr lang="zh-TW" altLang="en-US">
                <a:latin typeface="Times New Roman" panose="02020603050405020304" pitchFamily="18" charset="0"/>
                <a:cs typeface="Times New Roman" panose="02020603050405020304" pitchFamily="18" charset="0"/>
              </a:endParaRPr>
            </a:p>
          </p:txBody>
        </p:sp>
        <p:sp>
          <p:nvSpPr>
            <p:cNvPr id="96" name="文字方塊 95"/>
            <p:cNvSpPr txBox="1"/>
            <p:nvPr/>
          </p:nvSpPr>
          <p:spPr>
            <a:xfrm>
              <a:off x="6199284" y="5024661"/>
              <a:ext cx="505267"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M1</a:t>
              </a:r>
              <a:endParaRPr lang="zh-TW" altLang="en-US">
                <a:latin typeface="Times New Roman" panose="02020603050405020304" pitchFamily="18" charset="0"/>
                <a:cs typeface="Times New Roman" panose="02020603050405020304" pitchFamily="18" charset="0"/>
              </a:endParaRPr>
            </a:p>
          </p:txBody>
        </p:sp>
        <p:sp>
          <p:nvSpPr>
            <p:cNvPr id="97" name="文字方塊 96"/>
            <p:cNvSpPr txBox="1"/>
            <p:nvPr/>
          </p:nvSpPr>
          <p:spPr>
            <a:xfrm>
              <a:off x="6260805" y="5706054"/>
              <a:ext cx="1107996"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Nd:YVO</a:t>
              </a:r>
              <a:r>
                <a:rPr lang="en-US" altLang="zh-TW" baseline="-25000">
                  <a:latin typeface="Times New Roman" panose="02020603050405020304" pitchFamily="18" charset="0"/>
                  <a:cs typeface="Times New Roman" panose="02020603050405020304" pitchFamily="18" charset="0"/>
                </a:rPr>
                <a:t>4</a:t>
              </a:r>
              <a:endParaRPr lang="zh-TW" altLang="en-US">
                <a:latin typeface="Times New Roman" panose="02020603050405020304" pitchFamily="18" charset="0"/>
                <a:cs typeface="Times New Roman" panose="02020603050405020304" pitchFamily="18" charset="0"/>
              </a:endParaRPr>
            </a:p>
          </p:txBody>
        </p:sp>
        <p:cxnSp>
          <p:nvCxnSpPr>
            <p:cNvPr id="98" name="直線接點 97"/>
            <p:cNvCxnSpPr/>
            <p:nvPr/>
          </p:nvCxnSpPr>
          <p:spPr>
            <a:xfrm>
              <a:off x="6793615" y="4570322"/>
              <a:ext cx="0" cy="10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9" name="直線接點 98"/>
            <p:cNvCxnSpPr/>
            <p:nvPr/>
          </p:nvCxnSpPr>
          <p:spPr>
            <a:xfrm>
              <a:off x="9096535" y="4636009"/>
              <a:ext cx="0" cy="10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0" name="文字方塊 99"/>
            <p:cNvSpPr txBox="1"/>
            <p:nvPr/>
          </p:nvSpPr>
          <p:spPr>
            <a:xfrm>
              <a:off x="8542537" y="5781695"/>
              <a:ext cx="111440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EO Bragg</a:t>
              </a:r>
              <a:endParaRPr lang="zh-TW" altLang="en-US">
                <a:latin typeface="Times New Roman" panose="02020603050405020304" pitchFamily="18" charset="0"/>
                <a:cs typeface="Times New Roman" panose="02020603050405020304" pitchFamily="18" charset="0"/>
              </a:endParaRPr>
            </a:p>
          </p:txBody>
        </p:sp>
        <p:sp>
          <p:nvSpPr>
            <p:cNvPr id="101" name="文字方塊 100"/>
            <p:cNvSpPr txBox="1"/>
            <p:nvPr/>
          </p:nvSpPr>
          <p:spPr>
            <a:xfrm>
              <a:off x="9314227" y="4991343"/>
              <a:ext cx="505267"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M2</a:t>
              </a:r>
              <a:endParaRPr lang="zh-TW" altLang="en-US">
                <a:latin typeface="Times New Roman" panose="02020603050405020304" pitchFamily="18" charset="0"/>
                <a:cs typeface="Times New Roman" panose="02020603050405020304" pitchFamily="18" charset="0"/>
              </a:endParaRPr>
            </a:p>
          </p:txBody>
        </p:sp>
        <p:sp>
          <p:nvSpPr>
            <p:cNvPr id="102" name="文字方塊 101"/>
            <p:cNvSpPr txBox="1"/>
            <p:nvPr/>
          </p:nvSpPr>
          <p:spPr>
            <a:xfrm>
              <a:off x="9712563" y="4991343"/>
              <a:ext cx="505267"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M3</a:t>
              </a:r>
              <a:endParaRPr lang="zh-TW" alt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891028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this work</a:t>
            </a:r>
            <a:endParaRPr lang="zh-TW" altLang="en-US"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432519966"/>
              </p:ext>
            </p:extLst>
          </p:nvPr>
        </p:nvGraphicFramePr>
        <p:xfrm>
          <a:off x="1405925" y="1120177"/>
          <a:ext cx="9380148" cy="3074400"/>
        </p:xfrm>
        <a:graphic>
          <a:graphicData uri="http://schemas.openxmlformats.org/drawingml/2006/table">
            <a:tbl>
              <a:tblPr firstRow="1" firstCol="1" bandRow="1">
                <a:tableStyleId>{BC89EF96-8CEA-46FF-86C4-4CE0E7609802}</a:tableStyleId>
              </a:tblPr>
              <a:tblGrid>
                <a:gridCol w="1876030">
                  <a:extLst>
                    <a:ext uri="{9D8B030D-6E8A-4147-A177-3AD203B41FA5}">
                      <a16:colId xmlns:a16="http://schemas.microsoft.com/office/drawing/2014/main" val="2265481386"/>
                    </a:ext>
                  </a:extLst>
                </a:gridCol>
                <a:gridCol w="3752059">
                  <a:extLst>
                    <a:ext uri="{9D8B030D-6E8A-4147-A177-3AD203B41FA5}">
                      <a16:colId xmlns:a16="http://schemas.microsoft.com/office/drawing/2014/main" val="3787224448"/>
                    </a:ext>
                  </a:extLst>
                </a:gridCol>
                <a:gridCol w="3752059">
                  <a:extLst>
                    <a:ext uri="{9D8B030D-6E8A-4147-A177-3AD203B41FA5}">
                      <a16:colId xmlns:a16="http://schemas.microsoft.com/office/drawing/2014/main" val="964625319"/>
                    </a:ext>
                  </a:extLst>
                </a:gridCol>
              </a:tblGrid>
              <a:tr h="720000">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Item </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prior work</a:t>
                      </a:r>
                      <a:endParaRPr lang="zh-TW" sz="20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this work</a:t>
                      </a:r>
                      <a:endParaRPr lang="zh-TW" sz="20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5003232"/>
                  </a:ext>
                </a:extLst>
              </a:tr>
              <a:tr h="720000">
                <a:tc>
                  <a:txBody>
                    <a:bodyPr/>
                    <a:lstStyle/>
                    <a:p>
                      <a:pPr algn="ctr">
                        <a:lnSpc>
                          <a:spcPct val="150000"/>
                        </a:lnSpc>
                        <a:spcAft>
                          <a:spcPts val="0"/>
                        </a:spcAft>
                        <a:tabLst>
                          <a:tab pos="4681855" algn="l"/>
                        </a:tabLst>
                      </a:pPr>
                      <a:r>
                        <a:rPr lang="en-US" altLang="zh-TW" sz="2000" dirty="0">
                          <a:latin typeface="Times New Roman" panose="02020603050405020304" pitchFamily="18" charset="0"/>
                          <a:cs typeface="Times New Roman" panose="02020603050405020304" pitchFamily="18" charset="0"/>
                        </a:rPr>
                        <a:t>algorithm</a:t>
                      </a:r>
                      <a:endParaRPr 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SA</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GA</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6354591"/>
                  </a:ext>
                </a:extLst>
              </a:tr>
              <a:tr h="720000">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structure</a:t>
                      </a:r>
                      <a:endParaRPr 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AOS</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NOS</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81345393"/>
                  </a:ext>
                </a:extLst>
              </a:tr>
              <a:tr h="720000">
                <a:tc>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kern="100" dirty="0">
                          <a:effectLst/>
                          <a:latin typeface="Times New Roman" panose="02020603050405020304" pitchFamily="18" charset="0"/>
                          <a:cs typeface="Times New Roman" panose="02020603050405020304" pitchFamily="18" charset="0"/>
                        </a:rPr>
                        <a:t>Measurement system</a:t>
                      </a:r>
                      <a:endParaRPr lang="zh-TW" altLang="zh-TW" sz="20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external cavity</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err="1">
                          <a:effectLst/>
                          <a:latin typeface="Times New Roman" panose="02020603050405020304" pitchFamily="18" charset="0"/>
                          <a:cs typeface="Times New Roman" panose="02020603050405020304" pitchFamily="18" charset="0"/>
                        </a:rPr>
                        <a:t>Intracavity</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2998744"/>
                  </a:ext>
                </a:extLst>
              </a:tr>
            </a:tbl>
          </a:graphicData>
        </a:graphic>
      </p:graphicFrame>
      <p:pic>
        <p:nvPicPr>
          <p:cNvPr id="4" name="圖片 3"/>
          <p:cNvPicPr>
            <a:picLocks noChangeAspect="1"/>
          </p:cNvPicPr>
          <p:nvPr/>
        </p:nvPicPr>
        <p:blipFill>
          <a:blip r:embed="rId3"/>
          <a:stretch>
            <a:fillRect/>
          </a:stretch>
        </p:blipFill>
        <p:spPr>
          <a:xfrm>
            <a:off x="6313549" y="4383389"/>
            <a:ext cx="5394960" cy="2251710"/>
          </a:xfrm>
          <a:prstGeom prst="rect">
            <a:avLst/>
          </a:prstGeom>
        </p:spPr>
      </p:pic>
      <p:pic>
        <p:nvPicPr>
          <p:cNvPr id="42" name="圖片 41"/>
          <p:cNvPicPr>
            <a:picLocks noChangeAspect="1"/>
          </p:cNvPicPr>
          <p:nvPr/>
        </p:nvPicPr>
        <p:blipFill>
          <a:blip r:embed="rId4"/>
          <a:stretch>
            <a:fillRect/>
          </a:stretch>
        </p:blipFill>
        <p:spPr>
          <a:xfrm>
            <a:off x="390211" y="4907264"/>
            <a:ext cx="5608320" cy="1203960"/>
          </a:xfrm>
          <a:prstGeom prst="rect">
            <a:avLst/>
          </a:prstGeom>
        </p:spPr>
      </p:pic>
    </p:spTree>
    <p:extLst>
      <p:ext uri="{BB962C8B-B14F-4D97-AF65-F5344CB8AC3E}">
        <p14:creationId xmlns:p14="http://schemas.microsoft.com/office/powerpoint/2010/main" val="242669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txBox="1">
            <a:spLocks/>
          </p:cNvSpPr>
          <p:nvPr/>
        </p:nvSpPr>
        <p:spPr>
          <a:xfrm>
            <a:off x="457287" y="1028251"/>
            <a:ext cx="4626103" cy="4985688"/>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Introduction</a:t>
            </a:r>
          </a:p>
          <a:p>
            <a:pPr lvl="2">
              <a:lnSpc>
                <a:spcPct val="100000"/>
              </a:lnSpc>
            </a:pPr>
            <a:r>
              <a:rPr lang="en-US" altLang="zh-TW" sz="1400" b="1" dirty="0">
                <a:latin typeface="Times New Roman" panose="02020603050405020304" pitchFamily="18" charset="0"/>
                <a:cs typeface="Times New Roman" panose="02020603050405020304" pitchFamily="18" charset="0"/>
              </a:rPr>
              <a:t>OPO</a:t>
            </a:r>
            <a:r>
              <a:rPr lang="zh-TW" altLang="en-US" sz="1400" b="1" dirty="0">
                <a:latin typeface="Times New Roman" panose="02020603050405020304" pitchFamily="18" charset="0"/>
                <a:cs typeface="Times New Roman" panose="02020603050405020304" pitchFamily="18" charset="0"/>
              </a:rPr>
              <a:t> </a:t>
            </a:r>
            <a:r>
              <a:rPr lang="en-US" altLang="zh-TW" sz="1400" b="1" dirty="0">
                <a:latin typeface="Times New Roman" panose="02020603050405020304" pitchFamily="18" charset="0"/>
                <a:cs typeface="Times New Roman" panose="02020603050405020304" pitchFamily="18" charset="0"/>
              </a:rPr>
              <a:t>spectral tuning</a:t>
            </a: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marL="571500" indent="-571500">
              <a:lnSpc>
                <a:spcPct val="100000"/>
              </a:lnSpc>
              <a:buFont typeface="Arial" panose="020B0604020202020204" pitchFamily="34" charset="0"/>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Optical Parametric Oscillators</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Electro-Optic Effect</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Device Design and Fabrication</a:t>
            </a:r>
          </a:p>
          <a:p>
            <a:pPr lvl="2"/>
            <a:r>
              <a:rPr lang="en-US" altLang="zh-TW" sz="1400" b="1" dirty="0">
                <a:latin typeface="Times New Roman" panose="02020603050405020304" pitchFamily="18" charset="0"/>
                <a:cs typeface="Times New Roman" panose="02020603050405020304" pitchFamily="18" charset="0"/>
              </a:rPr>
              <a:t>Genetic algorithm</a:t>
            </a:r>
          </a:p>
          <a:p>
            <a:pPr lvl="2"/>
            <a:r>
              <a:rPr lang="en-US" altLang="zh-TW" sz="1400" b="1" dirty="0" err="1">
                <a:latin typeface="Times New Roman" panose="02020603050405020304" pitchFamily="18" charset="0"/>
                <a:cs typeface="Times New Roman" panose="02020603050405020304" pitchFamily="18" charset="0"/>
              </a:rPr>
              <a:t>Nonperiodic</a:t>
            </a:r>
            <a:r>
              <a:rPr lang="en-US" altLang="zh-TW" sz="1400" b="1" dirty="0">
                <a:latin typeface="Times New Roman" panose="02020603050405020304" pitchFamily="18" charset="0"/>
                <a:cs typeface="Times New Roman" panose="02020603050405020304" pitchFamily="18" charset="0"/>
              </a:rPr>
              <a:t> optical </a:t>
            </a:r>
            <a:r>
              <a:rPr lang="en-US" altLang="zh-TW" sz="1400" b="1" dirty="0" err="1">
                <a:latin typeface="Times New Roman" panose="02020603050405020304" pitchFamily="18" charset="0"/>
                <a:cs typeface="Times New Roman" panose="02020603050405020304" pitchFamily="18" charset="0"/>
              </a:rPr>
              <a:t>superlattice</a:t>
            </a:r>
            <a:r>
              <a:rPr lang="en-US" altLang="zh-TW" sz="1400" b="1" dirty="0">
                <a:latin typeface="Times New Roman" panose="02020603050405020304" pitchFamily="18" charset="0"/>
                <a:cs typeface="Times New Roman" panose="02020603050405020304" pitchFamily="18" charset="0"/>
              </a:rPr>
              <a:t> design</a:t>
            </a: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lnSpc>
                <a:spcPct val="100000"/>
              </a:lnSpc>
            </a:pPr>
            <a:r>
              <a:rPr lang="en-US" altLang="zh-TW" sz="1400" b="1" dirty="0">
                <a:latin typeface="Times New Roman" panose="02020603050405020304" pitchFamily="18" charset="0"/>
                <a:cs typeface="Times New Roman" panose="02020603050405020304" pitchFamily="18" charset="0"/>
              </a:rPr>
              <a:t>Experimental set-up</a:t>
            </a:r>
          </a:p>
          <a:p>
            <a:pPr lvl="2">
              <a:lnSpc>
                <a:spcPct val="100000"/>
              </a:lnSpc>
            </a:pPr>
            <a:r>
              <a:rPr lang="en-US" altLang="zh-TW" sz="1400" b="1" dirty="0">
                <a:latin typeface="Times New Roman" panose="02020603050405020304" pitchFamily="18" charset="0"/>
                <a:cs typeface="Times New Roman" panose="02020603050405020304" pitchFamily="18" charset="0"/>
              </a:rPr>
              <a:t>Measurement</a:t>
            </a:r>
          </a:p>
          <a:p>
            <a:pPr lvl="2">
              <a:lnSpc>
                <a:spcPct val="100000"/>
              </a:lnSpc>
            </a:pPr>
            <a:r>
              <a:rPr lang="en-US" altLang="zh-TW" sz="1400" b="1" dirty="0">
                <a:latin typeface="Times New Roman" panose="02020603050405020304" pitchFamily="18" charset="0"/>
                <a:cs typeface="Times New Roman" panose="02020603050405020304" pitchFamily="18" charset="0"/>
              </a:rPr>
              <a:t>Spectral fitting</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p>
        </p:txBody>
      </p:sp>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9826" y="898030"/>
            <a:ext cx="4081272" cy="2763774"/>
          </a:xfrm>
          <a:prstGeom prst="rect">
            <a:avLst/>
          </a:prstGeom>
        </p:spPr>
      </p:pic>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9826" y="3661804"/>
            <a:ext cx="4082605" cy="3060573"/>
          </a:xfrm>
          <a:prstGeom prst="rect">
            <a:avLst/>
          </a:prstGeom>
        </p:spPr>
      </p:pic>
    </p:spTree>
    <p:extLst>
      <p:ext uri="{BB962C8B-B14F-4D97-AF65-F5344CB8AC3E}">
        <p14:creationId xmlns:p14="http://schemas.microsoft.com/office/powerpoint/2010/main" val="252622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0" y="94549"/>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QPM</a:t>
            </a:r>
            <a:r>
              <a:rPr lang="zh-TW" altLang="en-US"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Optical Parametric Oscillator</a:t>
            </a:r>
          </a:p>
        </p:txBody>
      </p:sp>
      <p:grpSp>
        <p:nvGrpSpPr>
          <p:cNvPr id="6" name="群組 5"/>
          <p:cNvGrpSpPr/>
          <p:nvPr/>
        </p:nvGrpSpPr>
        <p:grpSpPr>
          <a:xfrm>
            <a:off x="3288104" y="965971"/>
            <a:ext cx="5615790" cy="2342876"/>
            <a:chOff x="2701736" y="2081698"/>
            <a:chExt cx="5615790" cy="2342876"/>
          </a:xfrm>
        </p:grpSpPr>
        <p:sp>
          <p:nvSpPr>
            <p:cNvPr id="7" name="向右箭號 6"/>
            <p:cNvSpPr/>
            <p:nvPr/>
          </p:nvSpPr>
          <p:spPr>
            <a:xfrm>
              <a:off x="3035986" y="3114675"/>
              <a:ext cx="969198" cy="3872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立方體 7"/>
            <p:cNvSpPr/>
            <p:nvPr/>
          </p:nvSpPr>
          <p:spPr>
            <a:xfrm>
              <a:off x="3417279" y="2617910"/>
              <a:ext cx="1274884" cy="1406770"/>
            </a:xfrm>
            <a:prstGeom prst="cube">
              <a:avLst>
                <a:gd name="adj" fmla="val 6596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立方體 8"/>
            <p:cNvSpPr/>
            <p:nvPr/>
          </p:nvSpPr>
          <p:spPr>
            <a:xfrm>
              <a:off x="3852499" y="2617910"/>
              <a:ext cx="1274884" cy="1406770"/>
            </a:xfrm>
            <a:prstGeom prst="cube">
              <a:avLst>
                <a:gd name="adj" fmla="val 6596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立方體 9"/>
            <p:cNvSpPr/>
            <p:nvPr/>
          </p:nvSpPr>
          <p:spPr>
            <a:xfrm>
              <a:off x="4287719" y="2617910"/>
              <a:ext cx="1274884" cy="1406770"/>
            </a:xfrm>
            <a:prstGeom prst="cube">
              <a:avLst>
                <a:gd name="adj" fmla="val 6596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立方體 10"/>
            <p:cNvSpPr/>
            <p:nvPr/>
          </p:nvSpPr>
          <p:spPr>
            <a:xfrm>
              <a:off x="4730267" y="2617910"/>
              <a:ext cx="1274884" cy="1406770"/>
            </a:xfrm>
            <a:prstGeom prst="cube">
              <a:avLst>
                <a:gd name="adj" fmla="val 6596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立方體 11"/>
            <p:cNvSpPr/>
            <p:nvPr/>
          </p:nvSpPr>
          <p:spPr>
            <a:xfrm>
              <a:off x="5169886" y="2617910"/>
              <a:ext cx="1274884" cy="1406770"/>
            </a:xfrm>
            <a:prstGeom prst="cube">
              <a:avLst>
                <a:gd name="adj" fmla="val 6596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立方體 12"/>
            <p:cNvSpPr/>
            <p:nvPr/>
          </p:nvSpPr>
          <p:spPr>
            <a:xfrm>
              <a:off x="5609499" y="2617910"/>
              <a:ext cx="1274884" cy="1406770"/>
            </a:xfrm>
            <a:prstGeom prst="cube">
              <a:avLst>
                <a:gd name="adj" fmla="val 6596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立方體 13"/>
            <p:cNvSpPr/>
            <p:nvPr/>
          </p:nvSpPr>
          <p:spPr>
            <a:xfrm>
              <a:off x="6043255" y="2617910"/>
              <a:ext cx="1274884" cy="1406770"/>
            </a:xfrm>
            <a:prstGeom prst="cube">
              <a:avLst>
                <a:gd name="adj" fmla="val 6596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立方體 14"/>
            <p:cNvSpPr/>
            <p:nvPr/>
          </p:nvSpPr>
          <p:spPr>
            <a:xfrm>
              <a:off x="6482874" y="2617910"/>
              <a:ext cx="1274884" cy="1406770"/>
            </a:xfrm>
            <a:prstGeom prst="cube">
              <a:avLst>
                <a:gd name="adj" fmla="val 6596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向上箭號 15"/>
            <p:cNvSpPr/>
            <p:nvPr/>
          </p:nvSpPr>
          <p:spPr>
            <a:xfrm>
              <a:off x="3520590" y="3532310"/>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向上箭號 16"/>
            <p:cNvSpPr/>
            <p:nvPr/>
          </p:nvSpPr>
          <p:spPr>
            <a:xfrm>
              <a:off x="4407150" y="3532309"/>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上箭號 17"/>
            <p:cNvSpPr/>
            <p:nvPr/>
          </p:nvSpPr>
          <p:spPr>
            <a:xfrm>
              <a:off x="3520590" y="3523518"/>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向上箭號 18"/>
            <p:cNvSpPr/>
            <p:nvPr/>
          </p:nvSpPr>
          <p:spPr>
            <a:xfrm>
              <a:off x="5269529" y="3532311"/>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向上箭號 19"/>
            <p:cNvSpPr/>
            <p:nvPr/>
          </p:nvSpPr>
          <p:spPr>
            <a:xfrm>
              <a:off x="6164881" y="3532309"/>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向上箭號 20"/>
            <p:cNvSpPr/>
            <p:nvPr/>
          </p:nvSpPr>
          <p:spPr>
            <a:xfrm flipV="1">
              <a:off x="3973394" y="3532309"/>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向上箭號 21"/>
            <p:cNvSpPr/>
            <p:nvPr/>
          </p:nvSpPr>
          <p:spPr>
            <a:xfrm flipV="1">
              <a:off x="4838702" y="3532309"/>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向上箭號 22"/>
            <p:cNvSpPr/>
            <p:nvPr/>
          </p:nvSpPr>
          <p:spPr>
            <a:xfrm flipV="1">
              <a:off x="5717942" y="3532309"/>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向上箭號 23"/>
            <p:cNvSpPr/>
            <p:nvPr/>
          </p:nvSpPr>
          <p:spPr>
            <a:xfrm flipV="1">
              <a:off x="6597902" y="3523518"/>
              <a:ext cx="219807"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單箭頭接點 24"/>
            <p:cNvCxnSpPr>
              <a:cxnSpLocks noChangeAspect="1"/>
            </p:cNvCxnSpPr>
            <p:nvPr/>
          </p:nvCxnSpPr>
          <p:spPr>
            <a:xfrm flipV="1">
              <a:off x="2845389" y="2593559"/>
              <a:ext cx="347616" cy="3454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rot="16200000">
              <a:off x="3115365" y="2666456"/>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V="1">
              <a:off x="2845365" y="2396456"/>
              <a:ext cx="0" cy="54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2701736" y="2081698"/>
              <a:ext cx="28725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z</a:t>
              </a:r>
              <a:endParaRPr lang="zh-TW" altLang="en-US">
                <a:latin typeface="Times New Roman" panose="02020603050405020304" pitchFamily="18" charset="0"/>
                <a:cs typeface="Times New Roman" panose="02020603050405020304" pitchFamily="18" charset="0"/>
              </a:endParaRPr>
            </a:p>
          </p:txBody>
        </p:sp>
        <p:sp>
          <p:nvSpPr>
            <p:cNvPr id="29" name="文字方塊 28"/>
            <p:cNvSpPr txBox="1"/>
            <p:nvPr/>
          </p:nvSpPr>
          <p:spPr>
            <a:xfrm>
              <a:off x="3337740" y="2732740"/>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x</a:t>
              </a:r>
              <a:endParaRPr lang="zh-TW" altLang="en-US">
                <a:latin typeface="Times New Roman" panose="02020603050405020304" pitchFamily="18" charset="0"/>
                <a:cs typeface="Times New Roman" panose="02020603050405020304" pitchFamily="18" charset="0"/>
              </a:endParaRPr>
            </a:p>
          </p:txBody>
        </p:sp>
        <p:sp>
          <p:nvSpPr>
            <p:cNvPr id="30" name="文字方塊 29"/>
            <p:cNvSpPr txBox="1"/>
            <p:nvPr/>
          </p:nvSpPr>
          <p:spPr>
            <a:xfrm>
              <a:off x="3129619" y="2309054"/>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y</a:t>
              </a:r>
              <a:endParaRPr lang="zh-TW" altLang="en-US">
                <a:latin typeface="Times New Roman" panose="02020603050405020304" pitchFamily="18" charset="0"/>
                <a:cs typeface="Times New Roman" panose="02020603050405020304" pitchFamily="18" charset="0"/>
              </a:endParaRPr>
            </a:p>
          </p:txBody>
        </p:sp>
        <p:sp>
          <p:nvSpPr>
            <p:cNvPr id="31" name="向右箭號 30"/>
            <p:cNvSpPr/>
            <p:nvPr/>
          </p:nvSpPr>
          <p:spPr>
            <a:xfrm>
              <a:off x="7348328" y="3114675"/>
              <a:ext cx="969198" cy="3872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直線單箭頭接點 31"/>
            <p:cNvCxnSpPr/>
            <p:nvPr/>
          </p:nvCxnSpPr>
          <p:spPr>
            <a:xfrm flipV="1">
              <a:off x="3417279" y="4086225"/>
              <a:ext cx="9000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字方塊 32"/>
                <p:cNvSpPr txBox="1"/>
                <p:nvPr/>
              </p:nvSpPr>
              <p:spPr>
                <a:xfrm>
                  <a:off x="3771099" y="4147575"/>
                  <a:ext cx="1923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rPr>
                          <m:t>Λ</m:t>
                        </m:r>
                      </m:oMath>
                    </m:oMathPara>
                  </a14:m>
                  <a:endParaRPr lang="zh-TW" altLang="en-US"/>
                </a:p>
              </p:txBody>
            </p:sp>
          </mc:Choice>
          <mc:Fallback xmlns="">
            <p:sp>
              <p:nvSpPr>
                <p:cNvPr id="36" name="文字方塊 35"/>
                <p:cNvSpPr txBox="1">
                  <a:spLocks noRot="1" noChangeAspect="1" noMove="1" noResize="1" noEditPoints="1" noAdjustHandles="1" noChangeArrowheads="1" noChangeShapeType="1" noTextEdit="1"/>
                </p:cNvSpPr>
                <p:nvPr/>
              </p:nvSpPr>
              <p:spPr>
                <a:xfrm>
                  <a:off x="3771099" y="4147575"/>
                  <a:ext cx="192360" cy="276999"/>
                </a:xfrm>
                <a:prstGeom prst="rect">
                  <a:avLst/>
                </a:prstGeom>
                <a:blipFill>
                  <a:blip r:embed="rId4"/>
                  <a:stretch>
                    <a:fillRect l="-32258" r="-29032" b="-6522"/>
                  </a:stretch>
                </a:blipFill>
              </p:spPr>
              <p:txBody>
                <a:bodyPr/>
                <a:lstStyle/>
                <a:p>
                  <a:r>
                    <a:rPr lang="zh-TW" altLang="en-US">
                      <a:noFill/>
                    </a:rPr>
                    <a:t> </a:t>
                  </a:r>
                </a:p>
              </p:txBody>
            </p:sp>
          </mc:Fallback>
        </mc:AlternateContent>
      </p:grpSp>
      <p:grpSp>
        <p:nvGrpSpPr>
          <p:cNvPr id="34" name="群組 33"/>
          <p:cNvGrpSpPr>
            <a:grpSpLocks noChangeAspect="1"/>
          </p:cNvGrpSpPr>
          <p:nvPr/>
        </p:nvGrpSpPr>
        <p:grpSpPr>
          <a:xfrm>
            <a:off x="1776423" y="4049279"/>
            <a:ext cx="2880000" cy="2558562"/>
            <a:chOff x="1723292" y="1301262"/>
            <a:chExt cx="2880000" cy="2558562"/>
          </a:xfrm>
        </p:grpSpPr>
        <p:cxnSp>
          <p:nvCxnSpPr>
            <p:cNvPr id="35" name="直線接點 34"/>
            <p:cNvCxnSpPr/>
            <p:nvPr/>
          </p:nvCxnSpPr>
          <p:spPr>
            <a:xfrm flipV="1">
              <a:off x="1723292" y="3859824"/>
              <a:ext cx="28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2382715" y="1301262"/>
              <a:ext cx="0" cy="25200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接點 36"/>
            <p:cNvCxnSpPr/>
            <p:nvPr/>
          </p:nvCxnSpPr>
          <p:spPr>
            <a:xfrm flipV="1">
              <a:off x="1723292" y="1301262"/>
              <a:ext cx="2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flipV="1">
              <a:off x="2983292" y="2754919"/>
              <a:ext cx="162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a:off x="3748453" y="1310285"/>
              <a:ext cx="0" cy="1440000"/>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p:nvPr/>
          </p:nvCxnSpPr>
          <p:spPr>
            <a:xfrm>
              <a:off x="3745522" y="2766872"/>
              <a:ext cx="0" cy="1080000"/>
            </a:xfrm>
            <a:prstGeom prst="straightConnector1">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文字方塊 40"/>
                <p:cNvSpPr txBox="1"/>
                <p:nvPr/>
              </p:nvSpPr>
              <p:spPr>
                <a:xfrm>
                  <a:off x="1994643" y="2301409"/>
                  <a:ext cx="327975"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𝑝</m:t>
                            </m:r>
                          </m:sub>
                        </m:sSub>
                      </m:oMath>
                    </m:oMathPara>
                  </a14:m>
                  <a:endParaRPr lang="zh-TW" altLang="en-US"/>
                </a:p>
              </p:txBody>
            </p:sp>
          </mc:Choice>
          <mc:Fallback xmlns="">
            <p:sp>
              <p:nvSpPr>
                <p:cNvPr id="11" name="文字方塊 10"/>
                <p:cNvSpPr txBox="1">
                  <a:spLocks noRot="1" noChangeAspect="1" noMove="1" noResize="1" noEditPoints="1" noAdjustHandles="1" noChangeArrowheads="1" noChangeShapeType="1" noTextEdit="1"/>
                </p:cNvSpPr>
                <p:nvPr/>
              </p:nvSpPr>
              <p:spPr>
                <a:xfrm>
                  <a:off x="1994643" y="2301409"/>
                  <a:ext cx="327975" cy="298415"/>
                </a:xfrm>
                <a:prstGeom prst="rect">
                  <a:avLst/>
                </a:prstGeom>
                <a:blipFill>
                  <a:blip r:embed="rId5"/>
                  <a:stretch>
                    <a:fillRect l="-11111" r="-7407" b="-204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3808551" y="1788032"/>
                  <a:ext cx="3053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𝑠</m:t>
                            </m:r>
                          </m:sub>
                        </m:sSub>
                      </m:oMath>
                    </m:oMathPara>
                  </a14:m>
                  <a:endParaRPr lang="zh-TW" altLang="en-US"/>
                </a:p>
              </p:txBody>
            </p:sp>
          </mc:Choice>
          <mc:Fallback xmlns="">
            <p:sp>
              <p:nvSpPr>
                <p:cNvPr id="12" name="文字方塊 11"/>
                <p:cNvSpPr txBox="1">
                  <a:spLocks noRot="1" noChangeAspect="1" noMove="1" noResize="1" noEditPoints="1" noAdjustHandles="1" noChangeArrowheads="1" noChangeShapeType="1" noTextEdit="1"/>
                </p:cNvSpPr>
                <p:nvPr/>
              </p:nvSpPr>
              <p:spPr>
                <a:xfrm>
                  <a:off x="3808551" y="1788032"/>
                  <a:ext cx="305340" cy="276999"/>
                </a:xfrm>
                <a:prstGeom prst="rect">
                  <a:avLst/>
                </a:prstGeom>
                <a:blipFill>
                  <a:blip r:embed="rId6"/>
                  <a:stretch>
                    <a:fillRect l="-12000" r="-4000" b="-1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3802084" y="3055358"/>
                  <a:ext cx="29424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𝑖</m:t>
                            </m:r>
                          </m:sub>
                        </m:sSub>
                      </m:oMath>
                    </m:oMathPara>
                  </a14:m>
                  <a:endParaRPr lang="zh-TW" altLang="en-US"/>
                </a:p>
              </p:txBody>
            </p:sp>
          </mc:Choice>
          <mc:Fallback xmlns="">
            <p:sp>
              <p:nvSpPr>
                <p:cNvPr id="13" name="文字方塊 12"/>
                <p:cNvSpPr txBox="1">
                  <a:spLocks noRot="1" noChangeAspect="1" noMove="1" noResize="1" noEditPoints="1" noAdjustHandles="1" noChangeArrowheads="1" noChangeShapeType="1" noTextEdit="1"/>
                </p:cNvSpPr>
                <p:nvPr/>
              </p:nvSpPr>
              <p:spPr>
                <a:xfrm>
                  <a:off x="3802084" y="3055358"/>
                  <a:ext cx="294247" cy="276999"/>
                </a:xfrm>
                <a:prstGeom prst="rect">
                  <a:avLst/>
                </a:prstGeom>
                <a:blipFill>
                  <a:blip r:embed="rId7"/>
                  <a:stretch>
                    <a:fillRect l="-12245" r="-8163" b="-17778"/>
                  </a:stretch>
                </a:blipFill>
              </p:spPr>
              <p:txBody>
                <a:bodyPr/>
                <a:lstStyle/>
                <a:p>
                  <a:r>
                    <a:rPr lang="zh-TW" altLang="en-US">
                      <a:noFill/>
                    </a:rPr>
                    <a:t> </a:t>
                  </a:r>
                </a:p>
              </p:txBody>
            </p:sp>
          </mc:Fallback>
        </mc:AlternateContent>
      </p:grpSp>
      <p:grpSp>
        <p:nvGrpSpPr>
          <p:cNvPr id="44" name="群組 17"/>
          <p:cNvGrpSpPr/>
          <p:nvPr/>
        </p:nvGrpSpPr>
        <p:grpSpPr>
          <a:xfrm>
            <a:off x="6195867" y="4198703"/>
            <a:ext cx="4211952" cy="1584517"/>
            <a:chOff x="1691680" y="1077705"/>
            <a:chExt cx="6169196" cy="2385502"/>
          </a:xfrm>
        </p:grpSpPr>
        <p:grpSp>
          <p:nvGrpSpPr>
            <p:cNvPr id="45" name="群組 14"/>
            <p:cNvGrpSpPr/>
            <p:nvPr/>
          </p:nvGrpSpPr>
          <p:grpSpPr>
            <a:xfrm>
              <a:off x="1691680" y="1077705"/>
              <a:ext cx="6156002" cy="2385502"/>
              <a:chOff x="700791" y="212633"/>
              <a:chExt cx="3384324" cy="1132686"/>
            </a:xfrm>
          </p:grpSpPr>
          <p:graphicFrame>
            <p:nvGraphicFramePr>
              <p:cNvPr id="48" name="Object 3"/>
              <p:cNvGraphicFramePr>
                <a:graphicFrameLocks/>
              </p:cNvGraphicFramePr>
              <p:nvPr>
                <p:extLst>
                  <p:ext uri="{D42A27DB-BD31-4B8C-83A1-F6EECF244321}">
                    <p14:modId xmlns:p14="http://schemas.microsoft.com/office/powerpoint/2010/main" val="3348150272"/>
                  </p:ext>
                </p:extLst>
              </p:nvPr>
            </p:nvGraphicFramePr>
            <p:xfrm>
              <a:off x="961951" y="212633"/>
              <a:ext cx="557338" cy="472084"/>
            </p:xfrm>
            <a:graphic>
              <a:graphicData uri="http://schemas.openxmlformats.org/presentationml/2006/ole">
                <mc:AlternateContent xmlns:mc="http://schemas.openxmlformats.org/markup-compatibility/2006">
                  <mc:Choice xmlns:v="urn:schemas-microsoft-com:vml" Requires="v">
                    <p:oleObj spid="_x0000_s9250" name="方程式" r:id="rId8" imgW="215640" imgH="266400" progId="Equation.3">
                      <p:embed/>
                    </p:oleObj>
                  </mc:Choice>
                  <mc:Fallback>
                    <p:oleObj name="方程式" r:id="rId8" imgW="215640" imgH="266400" progId="Equation.3">
                      <p:embed/>
                      <p:pic>
                        <p:nvPicPr>
                          <p:cNvPr id="127" name="Object 3"/>
                          <p:cNvPicPr preferRelativeResize="0">
                            <a:picLocks noChangeArrowheads="1"/>
                          </p:cNvPicPr>
                          <p:nvPr/>
                        </p:nvPicPr>
                        <p:blipFill>
                          <a:blip r:embed="rId9"/>
                          <a:srcRect/>
                          <a:stretch>
                            <a:fillRect/>
                          </a:stretch>
                        </p:blipFill>
                        <p:spPr bwMode="auto">
                          <a:xfrm>
                            <a:off x="961951" y="212633"/>
                            <a:ext cx="557338" cy="4720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2"/>
              <p:cNvGraphicFramePr>
                <a:graphicFrameLocks/>
              </p:cNvGraphicFramePr>
              <p:nvPr/>
            </p:nvGraphicFramePr>
            <p:xfrm>
              <a:off x="2284276" y="213003"/>
              <a:ext cx="471282" cy="471865"/>
            </p:xfrm>
            <a:graphic>
              <a:graphicData uri="http://schemas.openxmlformats.org/presentationml/2006/ole">
                <mc:AlternateContent xmlns:mc="http://schemas.openxmlformats.org/markup-compatibility/2006">
                  <mc:Choice xmlns:v="urn:schemas-microsoft-com:vml" Requires="v">
                    <p:oleObj spid="_x0000_s9251" name="方程式" r:id="rId10" imgW="215640" imgH="266400" progId="Equation.3">
                      <p:embed/>
                    </p:oleObj>
                  </mc:Choice>
                  <mc:Fallback>
                    <p:oleObj name="方程式" r:id="rId10" imgW="215640" imgH="266400" progId="Equation.3">
                      <p:embed/>
                      <p:pic>
                        <p:nvPicPr>
                          <p:cNvPr id="128" name="Object 2"/>
                          <p:cNvPicPr preferRelativeResize="0">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4276" y="213003"/>
                            <a:ext cx="471282" cy="4718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Object 1"/>
              <p:cNvGraphicFramePr>
                <a:graphicFrameLocks/>
              </p:cNvGraphicFramePr>
              <p:nvPr>
                <p:extLst>
                  <p:ext uri="{D42A27DB-BD31-4B8C-83A1-F6EECF244321}">
                    <p14:modId xmlns:p14="http://schemas.microsoft.com/office/powerpoint/2010/main" val="1917807867"/>
                  </p:ext>
                </p:extLst>
              </p:nvPr>
            </p:nvGraphicFramePr>
            <p:xfrm>
              <a:off x="2272018" y="896821"/>
              <a:ext cx="447717" cy="448498"/>
            </p:xfrm>
            <a:graphic>
              <a:graphicData uri="http://schemas.openxmlformats.org/presentationml/2006/ole">
                <mc:AlternateContent xmlns:mc="http://schemas.openxmlformats.org/markup-compatibility/2006">
                  <mc:Choice xmlns:v="urn:schemas-microsoft-com:vml" Requires="v">
                    <p:oleObj spid="_x0000_s9252" name="方程式" r:id="rId12" imgW="215640" imgH="266400" progId="Equation.3">
                      <p:embed/>
                    </p:oleObj>
                  </mc:Choice>
                  <mc:Fallback>
                    <p:oleObj name="方程式" r:id="rId12" imgW="215640" imgH="266400" progId="Equation.3">
                      <p:embed/>
                      <p:pic>
                        <p:nvPicPr>
                          <p:cNvPr id="129" name="Object 1"/>
                          <p:cNvPicPr preferRelativeResize="0">
                            <a:picLocks noChangeArrowheads="1"/>
                          </p:cNvPicPr>
                          <p:nvPr/>
                        </p:nvPicPr>
                        <p:blipFill>
                          <a:blip r:embed="rId13"/>
                          <a:srcRect/>
                          <a:stretch>
                            <a:fillRect/>
                          </a:stretch>
                        </p:blipFill>
                        <p:spPr bwMode="auto">
                          <a:xfrm>
                            <a:off x="2272018" y="896821"/>
                            <a:ext cx="447717" cy="448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 name="AutoShape 6"/>
              <p:cNvSpPr>
                <a:spLocks noChangeShapeType="1"/>
              </p:cNvSpPr>
              <p:nvPr/>
            </p:nvSpPr>
            <p:spPr bwMode="auto">
              <a:xfrm flipV="1">
                <a:off x="700791" y="679450"/>
                <a:ext cx="1167689" cy="0"/>
              </a:xfrm>
              <a:prstGeom prst="straightConnector1">
                <a:avLst/>
              </a:prstGeom>
              <a:noFill/>
              <a:ln w="285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TW" altLang="en-US"/>
              </a:p>
            </p:txBody>
          </p:sp>
          <p:sp>
            <p:nvSpPr>
              <p:cNvPr id="52" name="AutoShape 5"/>
              <p:cNvSpPr>
                <a:spLocks noChangeShapeType="1"/>
              </p:cNvSpPr>
              <p:nvPr/>
            </p:nvSpPr>
            <p:spPr bwMode="auto">
              <a:xfrm>
                <a:off x="1868753" y="679450"/>
                <a:ext cx="1286437" cy="0"/>
              </a:xfrm>
              <a:prstGeom prst="straightConnector1">
                <a:avLst/>
              </a:prstGeom>
              <a:noFill/>
              <a:ln w="285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TW" altLang="en-US"/>
              </a:p>
            </p:txBody>
          </p:sp>
          <p:sp>
            <p:nvSpPr>
              <p:cNvPr id="53" name="AutoShape 4"/>
              <p:cNvSpPr>
                <a:spLocks noChangeShapeType="1"/>
              </p:cNvSpPr>
              <p:nvPr/>
            </p:nvSpPr>
            <p:spPr bwMode="auto">
              <a:xfrm flipV="1">
                <a:off x="700792" y="884596"/>
                <a:ext cx="3384323" cy="0"/>
              </a:xfrm>
              <a:prstGeom prst="straightConnector1">
                <a:avLst/>
              </a:prstGeom>
              <a:noFill/>
              <a:ln w="285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TW" altLang="en-US"/>
              </a:p>
            </p:txBody>
          </p:sp>
        </p:grpSp>
        <p:sp>
          <p:nvSpPr>
            <p:cNvPr id="46" name="向右箭號 45"/>
            <p:cNvSpPr/>
            <p:nvPr/>
          </p:nvSpPr>
          <p:spPr>
            <a:xfrm>
              <a:off x="6168876" y="1929880"/>
              <a:ext cx="1692000" cy="288000"/>
            </a:xfrm>
            <a:prstGeom prst="rightArrow">
              <a:avLst>
                <a:gd name="adj1" fmla="val 34514"/>
                <a:gd name="adj2" fmla="val 5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7" name="Object 1"/>
            <p:cNvGraphicFramePr>
              <a:graphicFrameLocks/>
            </p:cNvGraphicFramePr>
            <p:nvPr/>
          </p:nvGraphicFramePr>
          <p:xfrm>
            <a:off x="6589167" y="1150492"/>
            <a:ext cx="719137" cy="900112"/>
          </p:xfrm>
          <a:graphic>
            <a:graphicData uri="http://schemas.openxmlformats.org/presentationml/2006/ole">
              <mc:AlternateContent xmlns:mc="http://schemas.openxmlformats.org/markup-compatibility/2006">
                <mc:Choice xmlns:v="urn:schemas-microsoft-com:vml" Requires="v">
                  <p:oleObj spid="_x0000_s9253" name="方程式" r:id="rId14" imgW="190440" imgH="253800" progId="Equation.3">
                    <p:embed/>
                  </p:oleObj>
                </mc:Choice>
                <mc:Fallback>
                  <p:oleObj name="方程式" r:id="rId14" imgW="190440" imgH="253800" progId="Equation.3">
                    <p:embed/>
                    <p:pic>
                      <p:nvPicPr>
                        <p:cNvPr id="126" name="Object 1"/>
                        <p:cNvPicPr preferRelativeResize="0">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89167" y="1150492"/>
                          <a:ext cx="719137"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5" name="矩形 54"/>
          <p:cNvSpPr/>
          <p:nvPr/>
        </p:nvSpPr>
        <p:spPr>
          <a:xfrm>
            <a:off x="2076073" y="3638686"/>
            <a:ext cx="2281394" cy="369332"/>
          </a:xfrm>
          <a:prstGeom prst="rect">
            <a:avLst/>
          </a:prstGeom>
        </p:spPr>
        <p:txBody>
          <a:bodyPr wrap="none">
            <a:spAutoFit/>
          </a:bodyPr>
          <a:lstStyle/>
          <a:p>
            <a:r>
              <a:rPr lang="en-US" altLang="zh-TW" b="1" u="heavy">
                <a:latin typeface="Times New Roman" pitchFamily="18" charset="0"/>
                <a:cs typeface="Times New Roman" pitchFamily="18" charset="0"/>
              </a:rPr>
              <a:t>Energy Conservation</a:t>
            </a:r>
            <a:endParaRPr lang="zh-TW" altLang="en-US" b="1" u="heavy">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9" name="文字方塊 58"/>
              <p:cNvSpPr txBox="1"/>
              <p:nvPr/>
            </p:nvSpPr>
            <p:spPr>
              <a:xfrm>
                <a:off x="6164900" y="5771597"/>
                <a:ext cx="4580228"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𝑘</m:t>
                              </m:r>
                            </m:e>
                          </m:acc>
                        </m:e>
                        <m:sub>
                          <m:sSub>
                            <m:sSubPr>
                              <m:ctrlPr>
                                <a:rPr lang="en-US" altLang="zh-TW" sz="2400" i="1" smtClean="0">
                                  <a:latin typeface="Cambria Math" panose="02040503050406030204" pitchFamily="18" charset="0"/>
                                </a:rPr>
                              </m:ctrlPr>
                            </m:sSubPr>
                            <m:e>
                              <m:r>
                                <a:rPr lang="zh-TW" altLang="en-US" sz="2400" i="1" smtClean="0">
                                  <a:latin typeface="Cambria Math" panose="02040503050406030204" pitchFamily="18" charset="0"/>
                                </a:rPr>
                                <m:t>𝜔</m:t>
                              </m:r>
                            </m:e>
                            <m:sub>
                              <m:r>
                                <a:rPr lang="en-US" altLang="zh-TW" sz="2400" b="0" i="1" smtClean="0">
                                  <a:latin typeface="Cambria Math" panose="02040503050406030204" pitchFamily="18" charset="0"/>
                                </a:rPr>
                                <m:t>3</m:t>
                              </m:r>
                            </m:sub>
                          </m:sSub>
                        </m:sub>
                      </m:sSub>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𝑘</m:t>
                              </m:r>
                            </m:e>
                          </m:acc>
                        </m:e>
                        <m:sub>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𝜔</m:t>
                              </m:r>
                            </m:e>
                            <m:sub>
                              <m:r>
                                <a:rPr lang="en-US" altLang="zh-TW" sz="2400" b="0" i="1" smtClean="0">
                                  <a:latin typeface="Cambria Math" panose="02040503050406030204" pitchFamily="18" charset="0"/>
                                </a:rPr>
                                <m:t>1</m:t>
                              </m:r>
                            </m:sub>
                          </m:sSub>
                        </m:sub>
                      </m:sSub>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𝑘</m:t>
                              </m:r>
                            </m:e>
                          </m:acc>
                        </m:e>
                        <m:sub>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𝜔</m:t>
                              </m:r>
                            </m:e>
                            <m:sub>
                              <m:r>
                                <a:rPr lang="en-US" altLang="zh-TW" sz="2400" b="0" i="1" smtClean="0">
                                  <a:latin typeface="Cambria Math" panose="02040503050406030204" pitchFamily="18" charset="0"/>
                                </a:rPr>
                                <m:t>2</m:t>
                              </m:r>
                            </m:sub>
                          </m:sSub>
                        </m:sub>
                      </m:sSub>
                      <m:r>
                        <a:rPr lang="en-US" altLang="zh-TW" sz="2400" b="0" i="0" smtClean="0">
                          <a:latin typeface="Cambria Math" panose="02040503050406030204" pitchFamily="18" charset="0"/>
                        </a:rPr>
                        <m:t>+</m:t>
                      </m:r>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𝑘</m:t>
                              </m:r>
                            </m:e>
                          </m:acc>
                        </m:e>
                        <m:sub>
                          <m:r>
                            <a:rPr lang="en-US" altLang="zh-TW" sz="2400" b="0" i="1" smtClean="0">
                              <a:latin typeface="Cambria Math" panose="02040503050406030204" pitchFamily="18" charset="0"/>
                            </a:rPr>
                            <m:t>𝑚</m:t>
                          </m:r>
                        </m:sub>
                      </m:sSub>
                      <m:r>
                        <a:rPr lang="en-US" altLang="zh-TW" sz="2400" b="0" i="1" smtClean="0">
                          <a:latin typeface="Cambria Math" panose="02040503050406030204" pitchFamily="18" charset="0"/>
                        </a:rPr>
                        <m:t>, </m:t>
                      </m:r>
                      <m:sSub>
                        <m:sSubPr>
                          <m:ctrlPr>
                            <a:rPr lang="en-US" altLang="zh-TW" sz="2400" i="1">
                              <a:latin typeface="Cambria Math" panose="02040503050406030204" pitchFamily="18" charset="0"/>
                            </a:rPr>
                          </m:ctrlPr>
                        </m:sSub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𝑘</m:t>
                              </m:r>
                            </m:e>
                          </m:acc>
                        </m:e>
                        <m:sub>
                          <m:r>
                            <a:rPr lang="en-US" altLang="zh-TW" sz="2400" i="1">
                              <a:latin typeface="Cambria Math" panose="02040503050406030204" pitchFamily="18" charset="0"/>
                            </a:rPr>
                            <m:t>𝑚</m:t>
                          </m:r>
                        </m:sub>
                      </m:sSub>
                      <m:r>
                        <a:rPr lang="en-US" altLang="zh-TW" sz="2400" i="1">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zh-TW" altLang="en-US" sz="2400" i="1">
                              <a:latin typeface="Cambria Math" panose="02040503050406030204" pitchFamily="18" charset="0"/>
                            </a:rPr>
                            <m:t>𝜋</m:t>
                          </m:r>
                          <m:r>
                            <a:rPr lang="en-US" altLang="zh-TW" sz="2400" i="1">
                              <a:latin typeface="Cambria Math" panose="02040503050406030204" pitchFamily="18" charset="0"/>
                            </a:rPr>
                            <m:t>𝑚</m:t>
                          </m:r>
                        </m:num>
                        <m:den>
                          <m:r>
                            <m:rPr>
                              <m:sty m:val="p"/>
                            </m:rPr>
                            <a:rPr lang="el-GR" altLang="zh-TW" sz="2400" i="1">
                              <a:latin typeface="Cambria Math" panose="02040503050406030204" pitchFamily="18" charset="0"/>
                              <a:ea typeface="Cambria Math" panose="02040503050406030204" pitchFamily="18" charset="0"/>
                            </a:rPr>
                            <m:t>Λ</m:t>
                          </m:r>
                        </m:den>
                      </m:f>
                    </m:oMath>
                  </m:oMathPara>
                </a14:m>
                <a:endParaRPr lang="zh-TW" altLang="en-US" sz="2400"/>
              </a:p>
            </p:txBody>
          </p:sp>
        </mc:Choice>
        <mc:Fallback xmlns="">
          <p:sp>
            <p:nvSpPr>
              <p:cNvPr id="59" name="文字方塊 58"/>
              <p:cNvSpPr txBox="1">
                <a:spLocks noRot="1" noChangeAspect="1" noMove="1" noResize="1" noEditPoints="1" noAdjustHandles="1" noChangeArrowheads="1" noChangeShapeType="1" noTextEdit="1"/>
              </p:cNvSpPr>
              <p:nvPr/>
            </p:nvSpPr>
            <p:spPr>
              <a:xfrm>
                <a:off x="6164900" y="5771597"/>
                <a:ext cx="4580228" cy="691471"/>
              </a:xfrm>
              <a:prstGeom prst="rect">
                <a:avLst/>
              </a:prstGeom>
              <a:blipFill>
                <a:blip r:embed="rId17"/>
                <a:stretch>
                  <a:fillRect/>
                </a:stretch>
              </a:blipFill>
            </p:spPr>
            <p:txBody>
              <a:bodyPr/>
              <a:lstStyle/>
              <a:p>
                <a:r>
                  <a:rPr lang="zh-TW" altLang="en-US">
                    <a:noFill/>
                  </a:rPr>
                  <a:t> </a:t>
                </a:r>
              </a:p>
            </p:txBody>
          </p:sp>
        </mc:Fallback>
      </mc:AlternateContent>
      <p:sp>
        <p:nvSpPr>
          <p:cNvPr id="61" name="矩形 60"/>
          <p:cNvSpPr/>
          <p:nvPr/>
        </p:nvSpPr>
        <p:spPr>
          <a:xfrm>
            <a:off x="6940285" y="3638686"/>
            <a:ext cx="2717411" cy="369332"/>
          </a:xfrm>
          <a:prstGeom prst="rect">
            <a:avLst/>
          </a:prstGeom>
        </p:spPr>
        <p:txBody>
          <a:bodyPr wrap="none">
            <a:spAutoFit/>
          </a:bodyPr>
          <a:lstStyle/>
          <a:p>
            <a:r>
              <a:rPr lang="en-US" altLang="zh-TW" b="1" u="heavy">
                <a:latin typeface="Times New Roman" pitchFamily="18" charset="0"/>
                <a:cs typeface="Times New Roman" pitchFamily="18" charset="0"/>
              </a:rPr>
              <a:t>Momentum Conservation</a:t>
            </a:r>
            <a:endParaRPr lang="zh-TW" altLang="en-US" b="1" u="heavy">
              <a:latin typeface="Times New Roman" pitchFamily="18" charset="0"/>
              <a:cs typeface="Times New Roman" pitchFamily="18" charset="0"/>
            </a:endParaRPr>
          </a:p>
        </p:txBody>
      </p:sp>
    </p:spTree>
    <p:extLst>
      <p:ext uri="{BB962C8B-B14F-4D97-AF65-F5344CB8AC3E}">
        <p14:creationId xmlns:p14="http://schemas.microsoft.com/office/powerpoint/2010/main" val="232766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3489071" y="1234466"/>
                <a:ext cx="4721484" cy="17206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i="1">
                              <a:latin typeface="Cambria Math" panose="02040503050406030204" pitchFamily="18" charset="0"/>
                            </a:rPr>
                          </m:ctrlPr>
                        </m:dP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𝑖𝑗</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𝑧</m:t>
                                  </m:r>
                                </m:sub>
                              </m:sSub>
                            </m:e>
                          </m:d>
                        </m:e>
                      </m:d>
                      <m:r>
                        <a:rPr lang="zh-TW" altLang="en-US">
                          <a:latin typeface="Cambria Math" panose="02040503050406030204" pitchFamily="18" charset="0"/>
                        </a:rPr>
                        <m:t>=</m:t>
                      </m:r>
                      <m:d>
                        <m:dPr>
                          <m:begChr m:val="["/>
                          <m:endChr m:val="]"/>
                          <m:ctrlPr>
                            <a:rPr lang="zh-TW" altLang="en-US" i="1">
                              <a:latin typeface="Cambria Math" panose="02040503050406030204" pitchFamily="18" charset="0"/>
                            </a:rPr>
                          </m:ctrlPr>
                        </m:dP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a:latin typeface="Cambria Math" panose="02040503050406030204" pitchFamily="18" charset="0"/>
                                      </a:rPr>
                                      <m:t>1</m:t>
                                    </m:r>
                                  </m:sub>
                                </m:sSub>
                              </m:e>
                            </m:mr>
                            <m:m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a:latin typeface="Cambria Math" panose="02040503050406030204" pitchFamily="18" charset="0"/>
                                      </a:rPr>
                                      <m:t>2</m:t>
                                    </m:r>
                                  </m:sub>
                                </m:sSub>
                              </m:e>
                            </m:m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a:latin typeface="Cambria Math" panose="02040503050406030204" pitchFamily="18" charset="0"/>
                                            </a:rPr>
                                            <m:t>3</m:t>
                                          </m:r>
                                        </m:sub>
                                      </m:sSub>
                                    </m:e>
                                  </m:mr>
                                  <m:m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a:latin typeface="Cambria Math" panose="02040503050406030204" pitchFamily="18" charset="0"/>
                                            </a:rPr>
                                            <m:t>4</m:t>
                                          </m:r>
                                        </m:sub>
                                      </m:sSub>
                                    </m:e>
                                  </m:m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a:latin typeface="Cambria Math" panose="02040503050406030204" pitchFamily="18" charset="0"/>
                                                  </a:rPr>
                                                  <m:t>5</m:t>
                                                </m:r>
                                              </m:sub>
                                            </m:sSub>
                                          </m:e>
                                        </m:mr>
                                        <m:mr>
                                          <m:e>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a:latin typeface="Cambria Math" panose="02040503050406030204" pitchFamily="18" charset="0"/>
                                                  </a:rPr>
                                                  <m:t>6</m:t>
                                                </m:r>
                                              </m:sub>
                                            </m:sSub>
                                          </m:e>
                                        </m:mr>
                                      </m:m>
                                    </m:e>
                                  </m:mr>
                                </m:m>
                              </m:e>
                            </m:mr>
                          </m:m>
                        </m:e>
                      </m:d>
                      <m:r>
                        <a:rPr lang="zh-TW" altLang="en-US">
                          <a:latin typeface="Cambria Math" panose="02040503050406030204" pitchFamily="18" charset="0"/>
                        </a:rPr>
                        <m:t>=</m:t>
                      </m:r>
                      <m:d>
                        <m:dPr>
                          <m:begChr m:val="["/>
                          <m:endChr m:val="]"/>
                          <m:ctrlPr>
                            <a:rPr lang="zh-TW" altLang="en-US" i="1">
                              <a:latin typeface="Cambria Math" panose="02040503050406030204" pitchFamily="18" charset="0"/>
                            </a:rPr>
                          </m:ctrlPr>
                        </m:dPr>
                        <m:e>
                          <m:m>
                            <m:mPr>
                              <m:mcs>
                                <m:mc>
                                  <m:mcPr>
                                    <m:count m:val="3"/>
                                    <m:mcJc m:val="center"/>
                                  </m:mcPr>
                                </m:mc>
                              </m:mcs>
                              <m:ctrlPr>
                                <a:rPr lang="zh-TW" altLang="en-US" i="1">
                                  <a:latin typeface="Cambria Math" panose="02040503050406030204" pitchFamily="18" charset="0"/>
                                </a:rPr>
                              </m:ctrlPr>
                            </m:mP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0</m:t>
                                      </m:r>
                                    </m:e>
                                  </m:mr>
                                  <m:mr>
                                    <m:e>
                                      <m:r>
                                        <a:rPr lang="zh-TW" altLang="en-US">
                                          <a:latin typeface="Cambria Math" panose="02040503050406030204" pitchFamily="18" charset="0"/>
                                        </a:rPr>
                                        <m:t>0</m:t>
                                      </m:r>
                                    </m:e>
                                  </m:m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0</m:t>
                                            </m:r>
                                          </m:e>
                                        </m:mr>
                                        <m:mr>
                                          <m:e>
                                            <m:r>
                                              <a:rPr lang="zh-TW" altLang="en-US">
                                                <a:latin typeface="Cambria Math" panose="02040503050406030204" pitchFamily="18" charset="0"/>
                                              </a:rPr>
                                              <m:t>0</m:t>
                                            </m:r>
                                          </m:e>
                                        </m:mr>
                                        <m:mr>
                                          <m:e>
                                            <m:m>
                                              <m:mPr>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a:latin typeface="Cambria Math" panose="02040503050406030204" pitchFamily="18" charset="0"/>
                                                        </a:rPr>
                                                        <m:t>51</m:t>
                                                      </m:r>
                                                    </m:sub>
                                                  </m:sSub>
                                                </m:e>
                                              </m:mr>
                                              <m:mr>
                                                <m:e>
                                                  <m:sSub>
                                                    <m:sSubPr>
                                                      <m:ctrlPr>
                                                        <a:rPr lang="zh-TW" altLang="en-US" i="1">
                                                          <a:latin typeface="Cambria Math" panose="02040503050406030204" pitchFamily="18" charset="0"/>
                                                        </a:rPr>
                                                      </m:ctrlPr>
                                                    </m:sSubPr>
                                                    <m:e>
                                                      <m:r>
                                                        <a:rPr lang="zh-TW" altLang="en-US">
                                                          <a:latin typeface="Cambria Math" panose="02040503050406030204" pitchFamily="18" charset="0"/>
                                                        </a:rPr>
                                                        <m:t>−</m:t>
                                                      </m:r>
                                                      <m:r>
                                                        <a:rPr lang="zh-TW" altLang="en-US" i="1">
                                                          <a:latin typeface="Cambria Math" panose="02040503050406030204" pitchFamily="18" charset="0"/>
                                                        </a:rPr>
                                                        <m:t>𝑟</m:t>
                                                      </m:r>
                                                    </m:e>
                                                    <m:sub>
                                                      <m:r>
                                                        <a:rPr lang="zh-TW" altLang="en-US">
                                                          <a:latin typeface="Cambria Math" panose="02040503050406030204" pitchFamily="18" charset="0"/>
                                                        </a:rPr>
                                                        <m:t>22</m:t>
                                                      </m:r>
                                                    </m:sub>
                                                  </m:sSub>
                                                </m:e>
                                              </m:mr>
                                            </m:m>
                                          </m:e>
                                        </m:mr>
                                      </m:m>
                                    </m:e>
                                  </m:mr>
                                </m:m>
                              </m:e>
                              <m:e>
                                <m:m>
                                  <m:mPr>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a:latin typeface="Cambria Math" panose="02040503050406030204" pitchFamily="18" charset="0"/>
                                            </a:rPr>
                                            <m:t>−</m:t>
                                          </m:r>
                                          <m:r>
                                            <a:rPr lang="zh-TW" altLang="en-US" i="1">
                                              <a:latin typeface="Cambria Math" panose="02040503050406030204" pitchFamily="18" charset="0"/>
                                            </a:rPr>
                                            <m:t>𝑟</m:t>
                                          </m:r>
                                        </m:e>
                                        <m:sub>
                                          <m:r>
                                            <a:rPr lang="zh-TW" altLang="en-US">
                                              <a:latin typeface="Cambria Math" panose="02040503050406030204" pitchFamily="18" charset="0"/>
                                            </a:rPr>
                                            <m:t>22</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a:latin typeface="Cambria Math" panose="02040503050406030204" pitchFamily="18" charset="0"/>
                                            </a:rPr>
                                            <m:t>22</m:t>
                                          </m:r>
                                        </m:sub>
                                      </m:sSub>
                                    </m:e>
                                  </m:m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0</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a:latin typeface="Cambria Math" panose="02040503050406030204" pitchFamily="18" charset="0"/>
                                                  </a:rPr>
                                                  <m:t>51</m:t>
                                                </m:r>
                                              </m:sub>
                                            </m:sSub>
                                          </m:e>
                                        </m:m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0</m:t>
                                                  </m:r>
                                                </m:e>
                                              </m:mr>
                                              <m:mr>
                                                <m:e>
                                                  <m:r>
                                                    <a:rPr lang="zh-TW" altLang="en-US">
                                                      <a:latin typeface="Cambria Math" panose="02040503050406030204" pitchFamily="18" charset="0"/>
                                                    </a:rPr>
                                                    <m:t>0</m:t>
                                                  </m:r>
                                                </m:e>
                                              </m:mr>
                                            </m:m>
                                          </m:e>
                                        </m:mr>
                                      </m:m>
                                    </m:e>
                                  </m:mr>
                                </m:m>
                              </m:e>
                              <m:e>
                                <m:m>
                                  <m:mPr>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a:latin typeface="Cambria Math" panose="02040503050406030204" pitchFamily="18" charset="0"/>
                                            </a:rPr>
                                            <m:t>13</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a:latin typeface="Cambria Math" panose="02040503050406030204" pitchFamily="18" charset="0"/>
                                            </a:rPr>
                                            <m:t>13</m:t>
                                          </m:r>
                                        </m:sub>
                                      </m:sSub>
                                    </m:e>
                                  </m:mr>
                                  <m:mr>
                                    <m:e>
                                      <m:m>
                                        <m:mPr>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a:latin typeface="Cambria Math" panose="02040503050406030204" pitchFamily="18" charset="0"/>
                                                  </a:rPr>
                                                  <m:t>33</m:t>
                                                </m:r>
                                              </m:sub>
                                            </m:sSub>
                                          </m:e>
                                        </m:mr>
                                        <m:mr>
                                          <m:e>
                                            <m:r>
                                              <a:rPr lang="zh-TW" altLang="en-US">
                                                <a:latin typeface="Cambria Math" panose="02040503050406030204" pitchFamily="18" charset="0"/>
                                              </a:rPr>
                                              <m:t>0</m:t>
                                            </m:r>
                                          </m:e>
                                        </m:mr>
                                        <m:m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0</m:t>
                                                  </m:r>
                                                </m:e>
                                              </m:mr>
                                              <m:mr>
                                                <m:e>
                                                  <m:r>
                                                    <a:rPr lang="zh-TW" altLang="en-US">
                                                      <a:latin typeface="Cambria Math" panose="02040503050406030204" pitchFamily="18" charset="0"/>
                                                    </a:rPr>
                                                    <m:t>0</m:t>
                                                  </m:r>
                                                </m:e>
                                              </m:mr>
                                            </m:m>
                                          </m:e>
                                        </m:mr>
                                      </m:m>
                                    </m:e>
                                  </m:mr>
                                </m:m>
                              </m:e>
                            </m:mr>
                          </m:m>
                        </m:e>
                      </m:d>
                      <m:d>
                        <m:dPr>
                          <m:begChr m:val="["/>
                          <m:endChr m:val="]"/>
                          <m:ctrlPr>
                            <a:rPr lang="zh-TW" altLang="en-US" i="1">
                              <a:latin typeface="Cambria Math" panose="02040503050406030204" pitchFamily="18" charset="0"/>
                            </a:rPr>
                          </m:ctrlPr>
                        </m:dPr>
                        <m:e>
                          <m:m>
                            <m:mPr>
                              <m:mcs>
                                <m:mc>
                                  <m:mcPr>
                                    <m:count m:val="1"/>
                                    <m:mcJc m:val="center"/>
                                  </m:mcPr>
                                </m:mc>
                              </m:mcs>
                              <m:ctrlPr>
                                <a:rPr lang="zh-TW" altLang="en-US" i="1">
                                  <a:latin typeface="Cambria Math" panose="02040503050406030204" pitchFamily="18" charset="0"/>
                                </a:rPr>
                              </m:ctrlPr>
                            </m:mPr>
                            <m:mr>
                              <m:e>
                                <m:r>
                                  <a:rPr lang="zh-TW" altLang="en-US">
                                    <a:latin typeface="Cambria Math" panose="02040503050406030204" pitchFamily="18" charset="0"/>
                                  </a:rPr>
                                  <m:t>0</m:t>
                                </m:r>
                              </m:e>
                            </m:mr>
                            <m:mr>
                              <m:e>
                                <m:r>
                                  <a:rPr lang="zh-TW" altLang="en-US">
                                    <a:latin typeface="Cambria Math" panose="02040503050406030204" pitchFamily="18" charset="0"/>
                                  </a:rPr>
                                  <m:t>0</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𝑧</m:t>
                                    </m:r>
                                  </m:sub>
                                </m:sSub>
                              </m:e>
                            </m:mr>
                          </m:m>
                        </m:e>
                      </m:d>
                      <m:r>
                        <a:rPr lang="zh-TW" altLang="en-US">
                          <a:latin typeface="Cambria Math" panose="02040503050406030204" pitchFamily="18" charset="0"/>
                        </a:rPr>
                        <m:t> </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489071" y="1234466"/>
                <a:ext cx="4721484" cy="1720664"/>
              </a:xfrm>
              <a:prstGeom prst="rect">
                <a:avLst/>
              </a:prstGeom>
              <a:blipFill>
                <a:blip r:embed="rId3"/>
                <a:stretch>
                  <a:fillRect/>
                </a:stretch>
              </a:blipFill>
            </p:spPr>
            <p:txBody>
              <a:bodyPr/>
              <a:lstStyle/>
              <a:p>
                <a:r>
                  <a:rPr lang="zh-TW" altLang="en-US">
                    <a:noFill/>
                  </a:rPr>
                  <a:t> </a:t>
                </a:r>
              </a:p>
            </p:txBody>
          </p:sp>
        </mc:Fallback>
      </mc:AlternateContent>
      <p:sp>
        <p:nvSpPr>
          <p:cNvPr id="6" name="文字方塊 5"/>
          <p:cNvSpPr txBox="1"/>
          <p:nvPr/>
        </p:nvSpPr>
        <p:spPr>
          <a:xfrm>
            <a:off x="0" y="94549"/>
            <a:ext cx="12191999" cy="584775"/>
          </a:xfrm>
          <a:prstGeom prst="rect">
            <a:avLst/>
          </a:prstGeom>
          <a:noFill/>
        </p:spPr>
        <p:txBody>
          <a:bodyPr wrap="square" rtlCol="0">
            <a:spAutoFit/>
          </a:bodyPr>
          <a:lstStyle/>
          <a:p>
            <a:pPr lvl="2" algn="ctr">
              <a:lnSpc>
                <a:spcPct val="100000"/>
              </a:lnSpc>
            </a:pP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Electro-Optic Effect</a:t>
            </a:r>
          </a:p>
        </p:txBody>
      </p:sp>
      <mc:AlternateContent xmlns:mc="http://schemas.openxmlformats.org/markup-compatibility/2006" xmlns:a14="http://schemas.microsoft.com/office/drawing/2010/main">
        <mc:Choice Requires="a14">
          <p:sp>
            <p:nvSpPr>
              <p:cNvPr id="7" name="矩形 6"/>
              <p:cNvSpPr/>
              <p:nvPr/>
            </p:nvSpPr>
            <p:spPr>
              <a:xfrm>
                <a:off x="1924505" y="3562132"/>
                <a:ext cx="7450016" cy="18735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𝜂</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𝑖𝑗</m:t>
                              </m:r>
                            </m:sub>
                          </m:sSub>
                          <m:d>
                            <m:d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𝐸</m:t>
                              </m:r>
                            </m:e>
                          </m:d>
                        </m:e>
                      </m:d>
                      <m:r>
                        <a:rPr lang="en-US" altLang="zh-TW" kern="0">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𝜂</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𝑖𝑗</m:t>
                              </m:r>
                            </m:sub>
                          </m:sSub>
                          <m:d>
                            <m:d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d>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𝜂</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𝑖𝑗</m:t>
                              </m:r>
                            </m:sub>
                          </m:sSub>
                          <m:d>
                            <m:d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𝑧</m:t>
                                  </m:r>
                                </m:sub>
                              </m:sSub>
                            </m:e>
                          </m:d>
                        </m:e>
                      </m:d>
                      <m:r>
                        <a:rPr lang="en-US" altLang="zh-TW" kern="0">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3"/>
                                    <m:mcJc m:val="center"/>
                                  </m:mcPr>
                                </m:mc>
                              </m:mcs>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mPr>
                            <m:mr>
                              <m:e>
                                <m:f>
                                  <m:fPr>
                                    <m:ctrlPr>
                                      <a:rPr lang="zh-TW" altLang="en-US" i="1">
                                        <a:latin typeface="Cambria Math" panose="02040503050406030204" pitchFamily="18" charset="0"/>
                                      </a:rPr>
                                    </m:ctrlPr>
                                  </m:fPr>
                                  <m:num>
                                    <m:r>
                                      <a:rPr lang="en-US" altLang="zh-TW" i="1">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en-US" altLang="zh-TW" i="1">
                                                <a:latin typeface="Cambria Math" panose="02040503050406030204" pitchFamily="18" charset="0"/>
                                              </a:rPr>
                                              <m:t>𝑛</m:t>
                                            </m:r>
                                          </m:e>
                                          <m:sub>
                                            <m:r>
                                              <a:rPr lang="en-US" altLang="zh-TW" i="1">
                                                <a:latin typeface="Cambria Math" panose="02040503050406030204" pitchFamily="18" charset="0"/>
                                              </a:rPr>
                                              <m:t>𝑜</m:t>
                                            </m:r>
                                          </m:sub>
                                        </m:sSub>
                                      </m:e>
                                      <m:sup>
                                        <m:r>
                                          <a:rPr lang="en-US" altLang="zh-TW" i="1">
                                            <a:latin typeface="Cambria Math" panose="02040503050406030204" pitchFamily="18" charset="0"/>
                                          </a:rPr>
                                          <m:t>2</m:t>
                                        </m:r>
                                      </m:sup>
                                    </m:sSup>
                                  </m:den>
                                </m:f>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𝑟</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13</m:t>
                                    </m:r>
                                  </m:sub>
                                </m:sSub>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𝑧</m:t>
                                    </m:r>
                                  </m:sub>
                                </m:sSub>
                              </m:e>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mr>
                            <m:m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e>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f>
                                      <m:fPr>
                                        <m:ctrlPr>
                                          <a:rPr lang="zh-TW" altLang="en-US" i="1">
                                            <a:latin typeface="Cambria Math" panose="02040503050406030204" pitchFamily="18" charset="0"/>
                                          </a:rPr>
                                        </m:ctrlPr>
                                      </m:fPr>
                                      <m:num>
                                        <m:r>
                                          <a:rPr lang="en-US" altLang="zh-TW" i="1">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en-US" altLang="zh-TW" i="1">
                                                    <a:latin typeface="Cambria Math" panose="02040503050406030204" pitchFamily="18" charset="0"/>
                                                  </a:rPr>
                                                  <m:t>𝑛</m:t>
                                                </m:r>
                                              </m:e>
                                              <m:sub>
                                                <m:r>
                                                  <a:rPr lang="en-US" altLang="zh-TW" i="1">
                                                    <a:latin typeface="Cambria Math" panose="02040503050406030204" pitchFamily="18" charset="0"/>
                                                  </a:rPr>
                                                  <m:t>𝑜</m:t>
                                                </m:r>
                                              </m:sub>
                                            </m:sSub>
                                          </m:e>
                                          <m:sup>
                                            <m:r>
                                              <a:rPr lang="en-US" altLang="zh-TW" i="1">
                                                <a:latin typeface="Cambria Math" panose="02040503050406030204" pitchFamily="18" charset="0"/>
                                              </a:rPr>
                                              <m:t>2</m:t>
                                            </m:r>
                                          </m:sup>
                                        </m:sSup>
                                      </m:den>
                                    </m:f>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𝑟</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13</m:t>
                                    </m:r>
                                  </m:sub>
                                </m:sSub>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𝑧</m:t>
                                    </m:r>
                                  </m:sub>
                                </m:sSub>
                              </m:e>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mr>
                            <m:m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e>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e>
                              <m:e>
                                <m:f>
                                  <m:fPr>
                                    <m:ctrlPr>
                                      <a:rPr lang="zh-TW" altLang="en-US" i="1">
                                        <a:latin typeface="Cambria Math" panose="02040503050406030204" pitchFamily="18" charset="0"/>
                                      </a:rPr>
                                    </m:ctrlPr>
                                  </m:fPr>
                                  <m:num>
                                    <m:r>
                                      <a:rPr lang="en-US" altLang="zh-TW" i="1">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en-US" altLang="zh-TW" i="1">
                                                <a:latin typeface="Cambria Math" panose="02040503050406030204" pitchFamily="18" charset="0"/>
                                              </a:rPr>
                                              <m:t>𝑛</m:t>
                                            </m:r>
                                          </m:e>
                                          <m:sub>
                                            <m:r>
                                              <a:rPr lang="en-US" altLang="zh-TW" i="1">
                                                <a:latin typeface="Cambria Math" panose="02040503050406030204" pitchFamily="18" charset="0"/>
                                              </a:rPr>
                                              <m:t>𝑒</m:t>
                                            </m:r>
                                          </m:sub>
                                        </m:sSub>
                                      </m:e>
                                      <m:sup>
                                        <m:r>
                                          <a:rPr lang="en-US" altLang="zh-TW" i="1">
                                            <a:latin typeface="Cambria Math" panose="02040503050406030204" pitchFamily="18" charset="0"/>
                                          </a:rPr>
                                          <m:t>2</m:t>
                                        </m:r>
                                      </m:sup>
                                    </m:sSup>
                                  </m:den>
                                </m:f>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𝑟</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33</m:t>
                                    </m:r>
                                  </m:sub>
                                </m:sSub>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𝑧</m:t>
                                    </m:r>
                                  </m:sub>
                                </m:sSub>
                              </m:e>
                            </m:mr>
                          </m:m>
                        </m:e>
                      </m:d>
                    </m:oMath>
                  </m:oMathPara>
                </a14:m>
                <a:endParaRPr lang="zh-TW" altLang="en-US"/>
              </a:p>
            </p:txBody>
          </p:sp>
        </mc:Choice>
        <mc:Fallback xmlns="">
          <p:sp>
            <p:nvSpPr>
              <p:cNvPr id="7" name="矩形 6"/>
              <p:cNvSpPr>
                <a:spLocks noRot="1" noChangeAspect="1" noMove="1" noResize="1" noEditPoints="1" noAdjustHandles="1" noChangeArrowheads="1" noChangeShapeType="1" noTextEdit="1"/>
              </p:cNvSpPr>
              <p:nvPr/>
            </p:nvSpPr>
            <p:spPr>
              <a:xfrm>
                <a:off x="1924505" y="3562132"/>
                <a:ext cx="7450016" cy="187359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935355" y="5605593"/>
                <a:ext cx="6227884" cy="7146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r>
                                <a:rPr lang="zh-TW" altLang="en-US">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𝑜</m:t>
                                      </m:r>
                                    </m:sub>
                                  </m:sSub>
                                </m:e>
                                <m:sup>
                                  <m:r>
                                    <a:rPr lang="zh-TW" altLang="en-US" i="0">
                                      <a:latin typeface="Cambria Math" panose="02040503050406030204" pitchFamily="18" charset="0"/>
                                    </a:rPr>
                                    <m:t>2</m:t>
                                  </m:r>
                                </m:sup>
                              </m:sSup>
                            </m:den>
                          </m:f>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13</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𝑧</m:t>
                              </m:r>
                            </m:sub>
                          </m:sSub>
                        </m:e>
                      </m:d>
                      <m:sSup>
                        <m:sSupPr>
                          <m:ctrlPr>
                            <a:rPr lang="zh-TW" altLang="en-US" i="1">
                              <a:latin typeface="Cambria Math" panose="02040503050406030204" pitchFamily="18" charset="0"/>
                            </a:rPr>
                          </m:ctrlPr>
                        </m:sSupPr>
                        <m:e>
                          <m:r>
                            <a:rPr lang="zh-TW" altLang="en-US" i="1">
                              <a:latin typeface="Cambria Math" panose="02040503050406030204" pitchFamily="18" charset="0"/>
                            </a:rPr>
                            <m:t>𝑥</m:t>
                          </m:r>
                        </m:e>
                        <m:sup>
                          <m:r>
                            <a:rPr lang="zh-TW" altLang="en-US" i="0">
                              <a:latin typeface="Cambria Math" panose="02040503050406030204" pitchFamily="18" charset="0"/>
                            </a:rPr>
                            <m:t>2</m:t>
                          </m:r>
                        </m:sup>
                      </m:sSup>
                      <m:r>
                        <a:rPr lang="zh-TW" altLang="en-US" i="0">
                          <a:latin typeface="Cambria Math" panose="02040503050406030204" pitchFamily="18" charset="0"/>
                        </a:rPr>
                        <m:t>+</m:t>
                      </m:r>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𝑜</m:t>
                                      </m:r>
                                    </m:sub>
                                  </m:sSub>
                                </m:e>
                                <m:sup>
                                  <m:r>
                                    <a:rPr lang="zh-TW" altLang="en-US" i="0">
                                      <a:latin typeface="Cambria Math" panose="02040503050406030204" pitchFamily="18" charset="0"/>
                                    </a:rPr>
                                    <m:t>2</m:t>
                                  </m:r>
                                </m:sup>
                              </m:sSup>
                            </m:den>
                          </m:f>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13</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𝑧</m:t>
                              </m:r>
                            </m:sub>
                          </m:sSub>
                        </m:e>
                      </m:d>
                      <m:sSup>
                        <m:sSupPr>
                          <m:ctrlPr>
                            <a:rPr lang="zh-TW" altLang="en-US" i="1">
                              <a:latin typeface="Cambria Math" panose="02040503050406030204" pitchFamily="18" charset="0"/>
                            </a:rPr>
                          </m:ctrlPr>
                        </m:sSupPr>
                        <m:e>
                          <m:r>
                            <a:rPr lang="zh-TW" altLang="en-US" i="1">
                              <a:latin typeface="Cambria Math" panose="02040503050406030204" pitchFamily="18" charset="0"/>
                            </a:rPr>
                            <m:t>𝑦</m:t>
                          </m:r>
                        </m:e>
                        <m:sup>
                          <m:r>
                            <a:rPr lang="zh-TW" altLang="en-US" i="0">
                              <a:latin typeface="Cambria Math" panose="02040503050406030204" pitchFamily="18" charset="0"/>
                            </a:rPr>
                            <m:t>2</m:t>
                          </m:r>
                        </m:sup>
                      </m:sSup>
                      <m:r>
                        <a:rPr lang="zh-TW" altLang="en-US" i="0">
                          <a:latin typeface="Cambria Math" panose="02040503050406030204" pitchFamily="18" charset="0"/>
                        </a:rPr>
                        <m:t>+</m:t>
                      </m:r>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𝑒</m:t>
                                      </m:r>
                                    </m:sub>
                                  </m:sSub>
                                </m:e>
                                <m:sup>
                                  <m:r>
                                    <a:rPr lang="zh-TW" altLang="en-US" i="0">
                                      <a:latin typeface="Cambria Math" panose="02040503050406030204" pitchFamily="18" charset="0"/>
                                    </a:rPr>
                                    <m:t>2</m:t>
                                  </m:r>
                                </m:sup>
                              </m:sSup>
                            </m:den>
                          </m:f>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33</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𝑧</m:t>
                              </m:r>
                            </m:sub>
                          </m:sSub>
                        </m:e>
                      </m:d>
                      <m:sSup>
                        <m:sSupPr>
                          <m:ctrlPr>
                            <a:rPr lang="zh-TW" altLang="en-US" i="1">
                              <a:latin typeface="Cambria Math" panose="02040503050406030204" pitchFamily="18" charset="0"/>
                            </a:rPr>
                          </m:ctrlPr>
                        </m:sSupPr>
                        <m:e>
                          <m:r>
                            <a:rPr lang="zh-TW" altLang="en-US" i="1">
                              <a:latin typeface="Cambria Math" panose="02040503050406030204" pitchFamily="18" charset="0"/>
                            </a:rPr>
                            <m:t>𝑧</m:t>
                          </m:r>
                        </m:e>
                        <m:sup>
                          <m:r>
                            <a:rPr lang="zh-TW" altLang="en-US" i="0">
                              <a:latin typeface="Cambria Math" panose="02040503050406030204" pitchFamily="18" charset="0"/>
                            </a:rPr>
                            <m:t>2</m:t>
                          </m:r>
                        </m:sup>
                      </m:sSup>
                      <m:r>
                        <a:rPr lang="zh-TW" altLang="en-US" i="0">
                          <a:latin typeface="Cambria Math" panose="02040503050406030204" pitchFamily="18" charset="0"/>
                        </a:rPr>
                        <m:t>=1</m:t>
                      </m:r>
                    </m:oMath>
                  </m:oMathPara>
                </a14:m>
                <a:endParaRPr lang="zh-TW" altLang="en-US"/>
              </a:p>
            </p:txBody>
          </p:sp>
        </mc:Choice>
        <mc:Fallback xmlns="">
          <p:sp>
            <p:nvSpPr>
              <p:cNvPr id="8" name="矩形 7"/>
              <p:cNvSpPr>
                <a:spLocks noRot="1" noChangeAspect="1" noMove="1" noResize="1" noEditPoints="1" noAdjustHandles="1" noChangeArrowheads="1" noChangeShapeType="1" noTextEdit="1"/>
              </p:cNvSpPr>
              <p:nvPr/>
            </p:nvSpPr>
            <p:spPr>
              <a:xfrm>
                <a:off x="1935355" y="5605593"/>
                <a:ext cx="6227884" cy="714683"/>
              </a:xfrm>
              <a:prstGeom prst="rect">
                <a:avLst/>
              </a:prstGeom>
              <a:blipFill>
                <a:blip r:embed="rId5"/>
                <a:stretch>
                  <a:fillRect/>
                </a:stretch>
              </a:blipFill>
            </p:spPr>
            <p:txBody>
              <a:bodyPr/>
              <a:lstStyle/>
              <a:p>
                <a:r>
                  <a:rPr lang="zh-TW" altLang="en-US">
                    <a:noFill/>
                  </a:rPr>
                  <a:t> </a:t>
                </a:r>
              </a:p>
            </p:txBody>
          </p:sp>
        </mc:Fallback>
      </mc:AlternateContent>
      <p:grpSp>
        <p:nvGrpSpPr>
          <p:cNvPr id="41" name="群組 40"/>
          <p:cNvGrpSpPr/>
          <p:nvPr/>
        </p:nvGrpSpPr>
        <p:grpSpPr>
          <a:xfrm>
            <a:off x="482096" y="1240469"/>
            <a:ext cx="2695826" cy="2487705"/>
            <a:chOff x="482096" y="1240469"/>
            <a:chExt cx="2695826" cy="2487705"/>
          </a:xfrm>
        </p:grpSpPr>
        <p:sp>
          <p:nvSpPr>
            <p:cNvPr id="9" name="立方體 8"/>
            <p:cNvSpPr/>
            <p:nvPr/>
          </p:nvSpPr>
          <p:spPr>
            <a:xfrm>
              <a:off x="1249048" y="1973128"/>
              <a:ext cx="1260000" cy="1260000"/>
            </a:xfrm>
            <a:prstGeom prst="cube">
              <a:avLst>
                <a:gd name="adj" fmla="val 25238"/>
              </a:avLst>
            </a:prstGeom>
            <a:solidFill>
              <a:schemeClr val="accent1">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接點 10"/>
            <p:cNvCxnSpPr/>
            <p:nvPr/>
          </p:nvCxnSpPr>
          <p:spPr>
            <a:xfrm flipH="1">
              <a:off x="1574365" y="2919652"/>
              <a:ext cx="9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rot="16200000" flipH="1">
              <a:off x="1086586" y="2442716"/>
              <a:ext cx="936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rot="18900000" flipH="1">
              <a:off x="1184467" y="3078827"/>
              <a:ext cx="432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1556780" y="1610910"/>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rot="5400000" flipV="1">
              <a:off x="2697840" y="2739508"/>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rot="13500000" flipV="1">
              <a:off x="1119794" y="3178842"/>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1415184" y="1240469"/>
              <a:ext cx="28725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z</a:t>
              </a:r>
              <a:endParaRPr lang="zh-TW" altLang="en-US">
                <a:latin typeface="Times New Roman" panose="02020603050405020304" pitchFamily="18" charset="0"/>
                <a:cs typeface="Times New Roman" panose="02020603050405020304" pitchFamily="18" charset="0"/>
              </a:endParaRPr>
            </a:p>
          </p:txBody>
        </p:sp>
        <p:sp>
          <p:nvSpPr>
            <p:cNvPr id="22" name="文字方塊 21"/>
            <p:cNvSpPr txBox="1"/>
            <p:nvPr/>
          </p:nvSpPr>
          <p:spPr>
            <a:xfrm>
              <a:off x="2877840" y="2700704"/>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y</a:t>
              </a:r>
              <a:endParaRPr lang="zh-TW" altLang="en-US">
                <a:latin typeface="Times New Roman" panose="02020603050405020304" pitchFamily="18" charset="0"/>
                <a:cs typeface="Times New Roman" panose="02020603050405020304" pitchFamily="18" charset="0"/>
              </a:endParaRPr>
            </a:p>
          </p:txBody>
        </p:sp>
        <p:sp>
          <p:nvSpPr>
            <p:cNvPr id="23" name="文字方塊 22"/>
            <p:cNvSpPr txBox="1"/>
            <p:nvPr/>
          </p:nvSpPr>
          <p:spPr>
            <a:xfrm>
              <a:off x="703282" y="3358842"/>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x</a:t>
              </a:r>
              <a:endParaRPr lang="zh-TW" altLang="en-US">
                <a:latin typeface="Times New Roman" panose="02020603050405020304" pitchFamily="18" charset="0"/>
                <a:cs typeface="Times New Roman" panose="02020603050405020304" pitchFamily="18" charset="0"/>
              </a:endParaRPr>
            </a:p>
          </p:txBody>
        </p:sp>
        <p:cxnSp>
          <p:nvCxnSpPr>
            <p:cNvPr id="25" name="直線接點 24"/>
            <p:cNvCxnSpPr/>
            <p:nvPr/>
          </p:nvCxnSpPr>
          <p:spPr>
            <a:xfrm flipV="1">
              <a:off x="1702442" y="1742796"/>
              <a:ext cx="0" cy="3591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rot="16200000" flipV="1">
              <a:off x="1252442" y="1292796"/>
              <a:ext cx="0" cy="90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flipV="1">
              <a:off x="802442" y="1742795"/>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flipV="1">
              <a:off x="802236" y="2438242"/>
              <a:ext cx="0" cy="90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rot="5400000" flipV="1">
              <a:off x="1255519" y="2890318"/>
              <a:ext cx="0" cy="90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flipV="1">
              <a:off x="1711234" y="3234213"/>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p:cNvCxnSpPr/>
            <p:nvPr/>
          </p:nvCxnSpPr>
          <p:spPr>
            <a:xfrm>
              <a:off x="614677" y="2354795"/>
              <a:ext cx="3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p:cNvCxnSpPr/>
            <p:nvPr/>
          </p:nvCxnSpPr>
          <p:spPr>
            <a:xfrm>
              <a:off x="712236" y="243721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字方塊 34"/>
                <p:cNvSpPr txBox="1"/>
                <p:nvPr/>
              </p:nvSpPr>
              <p:spPr>
                <a:xfrm>
                  <a:off x="485614" y="2044058"/>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35" name="文字方塊 34"/>
                <p:cNvSpPr txBox="1">
                  <a:spLocks noRot="1" noChangeAspect="1" noMove="1" noResize="1" noEditPoints="1" noAdjustHandles="1" noChangeArrowheads="1" noChangeShapeType="1" noTextEdit="1"/>
                </p:cNvSpPr>
                <p:nvPr/>
              </p:nvSpPr>
              <p:spPr>
                <a:xfrm>
                  <a:off x="485614" y="2044058"/>
                  <a:ext cx="415498"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p:cNvSpPr txBox="1"/>
                <p:nvPr/>
              </p:nvSpPr>
              <p:spPr>
                <a:xfrm>
                  <a:off x="482096" y="2377948"/>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cs typeface="Times New Roman" panose="02020603050405020304" pitchFamily="18" charset="0"/>
                          </a:rPr>
                          <m:t>−</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36" name="文字方塊 35"/>
                <p:cNvSpPr txBox="1">
                  <a:spLocks noRot="1" noChangeAspect="1" noMove="1" noResize="1" noEditPoints="1" noAdjustHandles="1" noChangeArrowheads="1" noChangeShapeType="1" noTextEdit="1"/>
                </p:cNvSpPr>
                <p:nvPr/>
              </p:nvSpPr>
              <p:spPr>
                <a:xfrm>
                  <a:off x="482096" y="2377948"/>
                  <a:ext cx="415498" cy="369332"/>
                </a:xfrm>
                <a:prstGeom prst="rect">
                  <a:avLst/>
                </a:prstGeom>
                <a:blipFill>
                  <a:blip r:embed="rId7"/>
                  <a:stretch>
                    <a:fillRect/>
                  </a:stretch>
                </a:blipFill>
              </p:spPr>
              <p:txBody>
                <a:bodyPr/>
                <a:lstStyle/>
                <a:p>
                  <a:r>
                    <a:rPr lang="zh-TW" altLang="en-US">
                      <a:noFill/>
                    </a:rPr>
                    <a:t> </a:t>
                  </a:r>
                </a:p>
              </p:txBody>
            </p:sp>
          </mc:Fallback>
        </mc:AlternateContent>
      </p:grpSp>
      <p:sp>
        <p:nvSpPr>
          <p:cNvPr id="38" name="文字方塊 37"/>
          <p:cNvSpPr txBox="1"/>
          <p:nvPr/>
        </p:nvSpPr>
        <p:spPr>
          <a:xfrm>
            <a:off x="5498609" y="899243"/>
            <a:ext cx="2309735" cy="338554"/>
          </a:xfrm>
          <a:prstGeom prst="rect">
            <a:avLst/>
          </a:prstGeom>
          <a:noFill/>
        </p:spPr>
        <p:txBody>
          <a:bodyPr wrap="none" rtlCol="0">
            <a:spAutoFit/>
          </a:bodyPr>
          <a:lstStyle/>
          <a:p>
            <a:r>
              <a:rPr lang="en-US" altLang="zh-TW" sz="1600">
                <a:latin typeface="Times New Roman" panose="02020603050405020304" pitchFamily="18" charset="0"/>
                <a:cs typeface="Times New Roman" panose="02020603050405020304" pitchFamily="18" charset="0"/>
              </a:rPr>
              <a:t>EO coefficient of LiNbO</a:t>
            </a:r>
            <a:r>
              <a:rPr lang="en-US" altLang="zh-TW" sz="1600" baseline="-25000">
                <a:latin typeface="Times New Roman" panose="02020603050405020304" pitchFamily="18" charset="0"/>
                <a:cs typeface="Times New Roman" panose="02020603050405020304" pitchFamily="18" charset="0"/>
              </a:rPr>
              <a:t>3</a:t>
            </a:r>
            <a:endParaRPr lang="zh-TW" altLang="en-US" sz="1600">
              <a:latin typeface="Times New Roman" panose="02020603050405020304" pitchFamily="18" charset="0"/>
              <a:cs typeface="Times New Roman" panose="02020603050405020304" pitchFamily="18" charset="0"/>
            </a:endParaRPr>
          </a:p>
        </p:txBody>
      </p:sp>
      <p:sp>
        <p:nvSpPr>
          <p:cNvPr id="39" name="文字方塊 38"/>
          <p:cNvSpPr txBox="1"/>
          <p:nvPr/>
        </p:nvSpPr>
        <p:spPr>
          <a:xfrm>
            <a:off x="3625742" y="2919508"/>
            <a:ext cx="4448141" cy="338554"/>
          </a:xfrm>
          <a:prstGeom prst="rect">
            <a:avLst/>
          </a:prstGeom>
          <a:noFill/>
        </p:spPr>
        <p:txBody>
          <a:bodyPr wrap="none" rtlCol="0">
            <a:spAutoFit/>
          </a:bodyPr>
          <a:lstStyle/>
          <a:p>
            <a:r>
              <a:rPr lang="en-US" altLang="zh-TW" sz="1600">
                <a:latin typeface="Times New Roman" panose="02020603050405020304" pitchFamily="18" charset="0"/>
                <a:cs typeface="Times New Roman" panose="02020603050405020304" pitchFamily="18" charset="0"/>
              </a:rPr>
              <a:t>Difference of impermeability by apply electric field</a:t>
            </a:r>
            <a:endParaRPr lang="zh-TW" altLang="en-US" sz="1600">
              <a:latin typeface="Times New Roman" panose="02020603050405020304" pitchFamily="18" charset="0"/>
              <a:cs typeface="Times New Roman" panose="02020603050405020304" pitchFamily="18" charset="0"/>
            </a:endParaRPr>
          </a:p>
        </p:txBody>
      </p:sp>
      <p:sp>
        <p:nvSpPr>
          <p:cNvPr id="40" name="文字方塊 39"/>
          <p:cNvSpPr txBox="1"/>
          <p:nvPr/>
        </p:nvSpPr>
        <p:spPr>
          <a:xfrm>
            <a:off x="3513459" y="6251292"/>
            <a:ext cx="3071675" cy="338554"/>
          </a:xfrm>
          <a:prstGeom prst="rect">
            <a:avLst/>
          </a:prstGeom>
          <a:noFill/>
        </p:spPr>
        <p:txBody>
          <a:bodyPr wrap="none" rtlCol="0">
            <a:spAutoFit/>
          </a:bodyPr>
          <a:lstStyle/>
          <a:p>
            <a:r>
              <a:rPr lang="en-US" altLang="zh-TW" sz="1600">
                <a:latin typeface="Times New Roman" panose="02020603050405020304" pitchFamily="18" charset="0"/>
                <a:cs typeface="Times New Roman" panose="02020603050405020304" pitchFamily="18" charset="0"/>
              </a:rPr>
              <a:t>Refractive index ellipsoid equation</a:t>
            </a:r>
            <a:endParaRPr lang="zh-TW" alt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062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lvl="2" algn="ctr">
              <a:lnSpc>
                <a:spcPct val="100000"/>
              </a:lnSpc>
            </a:pP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Electro-Optic Effect</a:t>
            </a:r>
          </a:p>
        </p:txBody>
      </p:sp>
      <p:grpSp>
        <p:nvGrpSpPr>
          <p:cNvPr id="3" name="群組 2"/>
          <p:cNvGrpSpPr>
            <a:grpSpLocks noChangeAspect="1"/>
          </p:cNvGrpSpPr>
          <p:nvPr/>
        </p:nvGrpSpPr>
        <p:grpSpPr>
          <a:xfrm>
            <a:off x="7592919" y="1606545"/>
            <a:ext cx="3450738" cy="3744416"/>
            <a:chOff x="859471" y="272308"/>
            <a:chExt cx="4861799" cy="5275569"/>
          </a:xfrm>
        </p:grpSpPr>
        <p:grpSp>
          <p:nvGrpSpPr>
            <p:cNvPr id="4" name="群組 30"/>
            <p:cNvGrpSpPr/>
            <p:nvPr/>
          </p:nvGrpSpPr>
          <p:grpSpPr>
            <a:xfrm>
              <a:off x="859471" y="272308"/>
              <a:ext cx="4861799" cy="5275569"/>
              <a:chOff x="859471" y="272308"/>
              <a:chExt cx="4861799" cy="5275569"/>
            </a:xfrm>
          </p:grpSpPr>
          <p:grpSp>
            <p:nvGrpSpPr>
              <p:cNvPr id="6" name="群組 42"/>
              <p:cNvGrpSpPr/>
              <p:nvPr/>
            </p:nvGrpSpPr>
            <p:grpSpPr>
              <a:xfrm>
                <a:off x="1155876" y="272308"/>
                <a:ext cx="4565394" cy="4197154"/>
                <a:chOff x="4939500" y="1848444"/>
                <a:chExt cx="4565394" cy="4197154"/>
              </a:xfrm>
            </p:grpSpPr>
            <p:cxnSp>
              <p:nvCxnSpPr>
                <p:cNvPr id="24" name="直線單箭頭接點 23"/>
                <p:cNvCxnSpPr/>
                <p:nvPr/>
              </p:nvCxnSpPr>
              <p:spPr>
                <a:xfrm rot="16200000" flipV="1">
                  <a:off x="5660195" y="3295529"/>
                  <a:ext cx="2160000" cy="1431"/>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單箭頭接點 2"/>
                <p:cNvCxnSpPr/>
                <p:nvPr/>
              </p:nvCxnSpPr>
              <p:spPr>
                <a:xfrm rot="10800000" flipV="1">
                  <a:off x="5220349" y="4356346"/>
                  <a:ext cx="1531819" cy="1440878"/>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線單箭頭接點 3"/>
                <p:cNvCxnSpPr/>
                <p:nvPr/>
              </p:nvCxnSpPr>
              <p:spPr>
                <a:xfrm>
                  <a:off x="6743362" y="4362194"/>
                  <a:ext cx="2333165" cy="1588"/>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文字方塊 4"/>
                <p:cNvSpPr txBox="1"/>
                <p:nvPr/>
              </p:nvSpPr>
              <p:spPr>
                <a:xfrm>
                  <a:off x="9092757" y="4143542"/>
                  <a:ext cx="412137" cy="390268"/>
                </a:xfrm>
                <a:prstGeom prst="rect">
                  <a:avLst/>
                </a:prstGeom>
                <a:noFill/>
              </p:spPr>
              <p:txBody>
                <a:bodyPr wrap="square" rtlCol="0">
                  <a:spAutoFit/>
                </a:bodyPr>
                <a:lstStyle/>
                <a:p>
                  <a:r>
                    <a:rPr lang="en-US" altLang="zh-TW" sz="1200" i="1">
                      <a:latin typeface="Times New Roman" pitchFamily="18" charset="0"/>
                      <a:cs typeface="Times New Roman" pitchFamily="18" charset="0"/>
                    </a:rPr>
                    <a:t>y</a:t>
                  </a:r>
                  <a:endParaRPr lang="zh-TW" altLang="en-US" sz="1200" i="1">
                    <a:latin typeface="Times New Roman" pitchFamily="18" charset="0"/>
                    <a:cs typeface="Times New Roman" pitchFamily="18" charset="0"/>
                  </a:endParaRPr>
                </a:p>
              </p:txBody>
            </p:sp>
            <p:sp>
              <p:nvSpPr>
                <p:cNvPr id="28" name="文字方塊 5"/>
                <p:cNvSpPr txBox="1"/>
                <p:nvPr/>
              </p:nvSpPr>
              <p:spPr>
                <a:xfrm>
                  <a:off x="4939500" y="5655330"/>
                  <a:ext cx="412137" cy="390268"/>
                </a:xfrm>
                <a:prstGeom prst="rect">
                  <a:avLst/>
                </a:prstGeom>
                <a:noFill/>
              </p:spPr>
              <p:txBody>
                <a:bodyPr wrap="square" rtlCol="0">
                  <a:spAutoFit/>
                </a:bodyPr>
                <a:lstStyle/>
                <a:p>
                  <a:r>
                    <a:rPr lang="en-US" altLang="zh-TW" sz="1200" i="1">
                      <a:latin typeface="Times New Roman" pitchFamily="18" charset="0"/>
                      <a:cs typeface="Times New Roman" pitchFamily="18" charset="0"/>
                    </a:rPr>
                    <a:t>x</a:t>
                  </a:r>
                  <a:endParaRPr lang="zh-TW" altLang="en-US" sz="1200" i="1">
                    <a:latin typeface="Times New Roman" pitchFamily="18" charset="0"/>
                    <a:cs typeface="Times New Roman" pitchFamily="18" charset="0"/>
                  </a:endParaRPr>
                </a:p>
              </p:txBody>
            </p:sp>
            <p:sp>
              <p:nvSpPr>
                <p:cNvPr id="29" name="文字方塊 6"/>
                <p:cNvSpPr txBox="1"/>
                <p:nvPr/>
              </p:nvSpPr>
              <p:spPr>
                <a:xfrm>
                  <a:off x="5798526" y="1848444"/>
                  <a:ext cx="1866815" cy="390268"/>
                </a:xfrm>
                <a:prstGeom prst="rect">
                  <a:avLst/>
                </a:prstGeom>
                <a:noFill/>
              </p:spPr>
              <p:txBody>
                <a:bodyPr wrap="square" rtlCol="0">
                  <a:spAutoFit/>
                </a:bodyPr>
                <a:lstStyle/>
                <a:p>
                  <a:pPr algn="ctr"/>
                  <a:r>
                    <a:rPr lang="en-US" altLang="zh-TW" sz="1200" i="1">
                      <a:latin typeface="Times New Roman" pitchFamily="18" charset="0"/>
                      <a:cs typeface="Times New Roman" pitchFamily="18" charset="0"/>
                    </a:rPr>
                    <a:t>Optic axis, Z</a:t>
                  </a:r>
                  <a:endParaRPr lang="zh-TW" altLang="en-US" sz="1200" i="1">
                    <a:latin typeface="Times New Roman" pitchFamily="18" charset="0"/>
                    <a:cs typeface="Times New Roman" pitchFamily="18" charset="0"/>
                  </a:endParaRPr>
                </a:p>
              </p:txBody>
            </p:sp>
          </p:grpSp>
          <p:grpSp>
            <p:nvGrpSpPr>
              <p:cNvPr id="7" name="群組 54"/>
              <p:cNvGrpSpPr/>
              <p:nvPr/>
            </p:nvGrpSpPr>
            <p:grpSpPr>
              <a:xfrm>
                <a:off x="859471" y="1363045"/>
                <a:ext cx="4201202" cy="2865938"/>
                <a:chOff x="2099835" y="2291739"/>
                <a:chExt cx="4201202" cy="2865938"/>
              </a:xfrm>
            </p:grpSpPr>
            <p:sp>
              <p:nvSpPr>
                <p:cNvPr id="22" name="Oval 4"/>
                <p:cNvSpPr>
                  <a:spLocks noChangeArrowheads="1"/>
                </p:cNvSpPr>
                <p:nvPr/>
              </p:nvSpPr>
              <p:spPr bwMode="auto">
                <a:xfrm>
                  <a:off x="2099835" y="2291739"/>
                  <a:ext cx="4198807" cy="2865938"/>
                </a:xfrm>
                <a:prstGeom prst="ellips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TW" altLang="en-US"/>
                </a:p>
              </p:txBody>
            </p:sp>
            <p:sp>
              <p:nvSpPr>
                <p:cNvPr id="23" name="橢圓 22"/>
                <p:cNvSpPr/>
                <p:nvPr/>
              </p:nvSpPr>
              <p:spPr>
                <a:xfrm>
                  <a:off x="2104352" y="3202271"/>
                  <a:ext cx="4196685" cy="102496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 name="群組 56"/>
              <p:cNvGrpSpPr/>
              <p:nvPr/>
            </p:nvGrpSpPr>
            <p:grpSpPr>
              <a:xfrm>
                <a:off x="1239445" y="1733230"/>
                <a:ext cx="3446981" cy="2109731"/>
                <a:chOff x="1382398" y="1998542"/>
                <a:chExt cx="5640588" cy="3452330"/>
              </a:xfrm>
            </p:grpSpPr>
            <p:sp>
              <p:nvSpPr>
                <p:cNvPr id="20" name="Oval 4"/>
                <p:cNvSpPr>
                  <a:spLocks noChangeArrowheads="1"/>
                </p:cNvSpPr>
                <p:nvPr/>
              </p:nvSpPr>
              <p:spPr bwMode="auto">
                <a:xfrm>
                  <a:off x="1441005" y="1998542"/>
                  <a:ext cx="5516468" cy="3452330"/>
                </a:xfrm>
                <a:prstGeom prst="ellips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TW" altLang="en-US"/>
                </a:p>
              </p:txBody>
            </p:sp>
            <p:sp>
              <p:nvSpPr>
                <p:cNvPr id="21" name="橢圓 20"/>
                <p:cNvSpPr/>
                <p:nvPr/>
              </p:nvSpPr>
              <p:spPr>
                <a:xfrm>
                  <a:off x="1382398" y="3202270"/>
                  <a:ext cx="5640588" cy="1024964"/>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9" name="直線接點 8"/>
              <p:cNvCxnSpPr/>
              <p:nvPr/>
            </p:nvCxnSpPr>
            <p:spPr>
              <a:xfrm rot="5400000">
                <a:off x="1330965" y="4404075"/>
                <a:ext cx="2286016"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0" name="直線接點 9"/>
              <p:cNvCxnSpPr/>
              <p:nvPr/>
            </p:nvCxnSpPr>
            <p:spPr>
              <a:xfrm rot="5400000">
                <a:off x="1519554" y="4232979"/>
                <a:ext cx="2286016"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1" name="直線接點 10"/>
              <p:cNvCxnSpPr/>
              <p:nvPr/>
            </p:nvCxnSpPr>
            <p:spPr>
              <a:xfrm rot="5400000">
                <a:off x="3482724" y="3962354"/>
                <a:ext cx="2356010" cy="3415"/>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2" name="直線接點 11"/>
              <p:cNvCxnSpPr/>
              <p:nvPr/>
            </p:nvCxnSpPr>
            <p:spPr>
              <a:xfrm rot="5400000">
                <a:off x="3893115" y="3928273"/>
                <a:ext cx="2286016"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3" name="直線接點 12"/>
              <p:cNvCxnSpPr/>
              <p:nvPr/>
            </p:nvCxnSpPr>
            <p:spPr>
              <a:xfrm>
                <a:off x="2972082" y="1722876"/>
                <a:ext cx="1521629"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4" name="直線接點 13"/>
              <p:cNvCxnSpPr/>
              <p:nvPr/>
            </p:nvCxnSpPr>
            <p:spPr>
              <a:xfrm>
                <a:off x="2981509" y="1373309"/>
                <a:ext cx="1521629" cy="1588"/>
              </a:xfrm>
              <a:prstGeom prst="line">
                <a:avLst/>
              </a:prstGeom>
              <a:ln>
                <a:prstDash val="sysDot"/>
              </a:ln>
            </p:spPr>
            <p:style>
              <a:lnRef idx="1">
                <a:schemeClr val="dk1"/>
              </a:lnRef>
              <a:fillRef idx="0">
                <a:schemeClr val="dk1"/>
              </a:fillRef>
              <a:effectRef idx="0">
                <a:schemeClr val="dk1"/>
              </a:effectRef>
              <a:fontRef idx="minor">
                <a:schemeClr val="tx1"/>
              </a:fontRef>
            </p:style>
          </p:cxnSp>
          <p:graphicFrame>
            <p:nvGraphicFramePr>
              <p:cNvPr id="15" name="Object 10"/>
              <p:cNvGraphicFramePr>
                <a:graphicFrameLocks noChangeAspect="1"/>
              </p:cNvGraphicFramePr>
              <p:nvPr/>
            </p:nvGraphicFramePr>
            <p:xfrm>
              <a:off x="4613390" y="1185387"/>
              <a:ext cx="857256" cy="603976"/>
            </p:xfrm>
            <a:graphic>
              <a:graphicData uri="http://schemas.openxmlformats.org/presentationml/2006/ole">
                <mc:AlternateContent xmlns:mc="http://schemas.openxmlformats.org/markup-compatibility/2006">
                  <mc:Choice xmlns:v="urn:schemas-microsoft-com:vml" Requires="v">
                    <p:oleObj spid="_x0000_s8972" name="Equation" r:id="rId4" imgW="558720" imgH="393480" progId="Equation.3">
                      <p:embed/>
                    </p:oleObj>
                  </mc:Choice>
                  <mc:Fallback>
                    <p:oleObj name="Equation" r:id="rId4" imgW="558720" imgH="393480" progId="Equation.3">
                      <p:embed/>
                      <p:pic>
                        <p:nvPicPr>
                          <p:cNvPr id="51"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3390" y="1185387"/>
                            <a:ext cx="857256" cy="60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6" name="直線單箭頭接點 15"/>
              <p:cNvCxnSpPr/>
              <p:nvPr/>
            </p:nvCxnSpPr>
            <p:spPr>
              <a:xfrm rot="5400000">
                <a:off x="4247874" y="1545382"/>
                <a:ext cx="355047" cy="1588"/>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7" name="直線單箭頭接點 16"/>
              <p:cNvCxnSpPr/>
              <p:nvPr/>
            </p:nvCxnSpPr>
            <p:spPr>
              <a:xfrm>
                <a:off x="4605283" y="4867187"/>
                <a:ext cx="456489" cy="1588"/>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直線單箭頭接點 17"/>
              <p:cNvCxnSpPr/>
              <p:nvPr/>
            </p:nvCxnSpPr>
            <p:spPr>
              <a:xfrm rot="5400000" flipH="1" flipV="1">
                <a:off x="2462474" y="4975304"/>
                <a:ext cx="202884" cy="202884"/>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graphicFrame>
            <p:nvGraphicFramePr>
              <p:cNvPr id="19" name="Object 11"/>
              <p:cNvGraphicFramePr>
                <a:graphicFrameLocks noChangeAspect="1"/>
              </p:cNvGraphicFramePr>
              <p:nvPr/>
            </p:nvGraphicFramePr>
            <p:xfrm>
              <a:off x="1460234" y="4808465"/>
              <a:ext cx="884909" cy="637959"/>
            </p:xfrm>
            <a:graphic>
              <a:graphicData uri="http://schemas.openxmlformats.org/presentationml/2006/ole">
                <mc:AlternateContent xmlns:mc="http://schemas.openxmlformats.org/markup-compatibility/2006">
                  <mc:Choice xmlns:v="urn:schemas-microsoft-com:vml" Requires="v">
                    <p:oleObj spid="_x0000_s8973" name="Equation" r:id="rId6" imgW="545760" imgH="393480" progId="Equation.3">
                      <p:embed/>
                    </p:oleObj>
                  </mc:Choice>
                  <mc:Fallback>
                    <p:oleObj name="Equation" r:id="rId6" imgW="545760" imgH="393480" progId="Equation.3">
                      <p:embed/>
                      <p:pic>
                        <p:nvPicPr>
                          <p:cNvPr id="55"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60234" y="4808465"/>
                            <a:ext cx="884909" cy="637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 name="Object 11"/>
            <p:cNvGraphicFramePr>
              <a:graphicFrameLocks noChangeAspect="1"/>
            </p:cNvGraphicFramePr>
            <p:nvPr/>
          </p:nvGraphicFramePr>
          <p:xfrm>
            <a:off x="3692205" y="4533345"/>
            <a:ext cx="884909" cy="637959"/>
          </p:xfrm>
          <a:graphic>
            <a:graphicData uri="http://schemas.openxmlformats.org/presentationml/2006/ole">
              <mc:AlternateContent xmlns:mc="http://schemas.openxmlformats.org/markup-compatibility/2006">
                <mc:Choice xmlns:v="urn:schemas-microsoft-com:vml" Requires="v">
                  <p:oleObj spid="_x0000_s8974" name="Equation" r:id="rId8" imgW="545760" imgH="393480" progId="Equation.3">
                    <p:embed/>
                  </p:oleObj>
                </mc:Choice>
                <mc:Fallback>
                  <p:oleObj name="Equation" r:id="rId8" imgW="545760" imgH="393480" progId="Equation.3">
                    <p:embed/>
                    <p:pic>
                      <p:nvPicPr>
                        <p:cNvPr id="41"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2205" y="4533345"/>
                          <a:ext cx="884909" cy="637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 name="群組 29"/>
          <p:cNvGrpSpPr>
            <a:grpSpLocks noChangeAspect="1"/>
          </p:cNvGrpSpPr>
          <p:nvPr/>
        </p:nvGrpSpPr>
        <p:grpSpPr>
          <a:xfrm>
            <a:off x="2148744" y="1687514"/>
            <a:ext cx="3240359" cy="3627470"/>
            <a:chOff x="1155876" y="272308"/>
            <a:chExt cx="4565394" cy="5110802"/>
          </a:xfrm>
        </p:grpSpPr>
        <p:grpSp>
          <p:nvGrpSpPr>
            <p:cNvPr id="31" name="群組 30"/>
            <p:cNvGrpSpPr/>
            <p:nvPr/>
          </p:nvGrpSpPr>
          <p:grpSpPr>
            <a:xfrm>
              <a:off x="1155876" y="272308"/>
              <a:ext cx="4565394" cy="5110802"/>
              <a:chOff x="1155876" y="272308"/>
              <a:chExt cx="4565394" cy="5110802"/>
            </a:xfrm>
          </p:grpSpPr>
          <p:grpSp>
            <p:nvGrpSpPr>
              <p:cNvPr id="33" name="群組 42"/>
              <p:cNvGrpSpPr/>
              <p:nvPr/>
            </p:nvGrpSpPr>
            <p:grpSpPr>
              <a:xfrm>
                <a:off x="1155876" y="272308"/>
                <a:ext cx="4565394" cy="4197154"/>
                <a:chOff x="4939500" y="1848444"/>
                <a:chExt cx="4565394" cy="4197154"/>
              </a:xfrm>
            </p:grpSpPr>
            <p:cxnSp>
              <p:nvCxnSpPr>
                <p:cNvPr id="51" name="直線單箭頭接點 50"/>
                <p:cNvCxnSpPr/>
                <p:nvPr/>
              </p:nvCxnSpPr>
              <p:spPr>
                <a:xfrm rot="16200000" flipV="1">
                  <a:off x="5660195" y="3295529"/>
                  <a:ext cx="2160000" cy="1431"/>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線單箭頭接點 2"/>
                <p:cNvCxnSpPr/>
                <p:nvPr/>
              </p:nvCxnSpPr>
              <p:spPr>
                <a:xfrm rot="10800000" flipV="1">
                  <a:off x="5220349" y="4356346"/>
                  <a:ext cx="1531819" cy="1440878"/>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線單箭頭接點 3"/>
                <p:cNvCxnSpPr/>
                <p:nvPr/>
              </p:nvCxnSpPr>
              <p:spPr>
                <a:xfrm>
                  <a:off x="6743362" y="4362194"/>
                  <a:ext cx="2333165" cy="1588"/>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文字方塊 4"/>
                <p:cNvSpPr txBox="1"/>
                <p:nvPr/>
              </p:nvSpPr>
              <p:spPr>
                <a:xfrm>
                  <a:off x="9092757" y="4143542"/>
                  <a:ext cx="412137" cy="390268"/>
                </a:xfrm>
                <a:prstGeom prst="rect">
                  <a:avLst/>
                </a:prstGeom>
                <a:noFill/>
              </p:spPr>
              <p:txBody>
                <a:bodyPr wrap="square" rtlCol="0">
                  <a:spAutoFit/>
                </a:bodyPr>
                <a:lstStyle/>
                <a:p>
                  <a:r>
                    <a:rPr lang="en-US" altLang="zh-TW" sz="1200" i="1">
                      <a:latin typeface="Times New Roman" pitchFamily="18" charset="0"/>
                      <a:cs typeface="Times New Roman" pitchFamily="18" charset="0"/>
                    </a:rPr>
                    <a:t>y</a:t>
                  </a:r>
                  <a:endParaRPr lang="zh-TW" altLang="en-US" sz="1200" i="1">
                    <a:latin typeface="Times New Roman" pitchFamily="18" charset="0"/>
                    <a:cs typeface="Times New Roman" pitchFamily="18" charset="0"/>
                  </a:endParaRPr>
                </a:p>
              </p:txBody>
            </p:sp>
            <p:sp>
              <p:nvSpPr>
                <p:cNvPr id="55" name="文字方塊 5"/>
                <p:cNvSpPr txBox="1"/>
                <p:nvPr/>
              </p:nvSpPr>
              <p:spPr>
                <a:xfrm>
                  <a:off x="4939500" y="5655330"/>
                  <a:ext cx="412137" cy="390268"/>
                </a:xfrm>
                <a:prstGeom prst="rect">
                  <a:avLst/>
                </a:prstGeom>
                <a:noFill/>
              </p:spPr>
              <p:txBody>
                <a:bodyPr wrap="square" rtlCol="0">
                  <a:spAutoFit/>
                </a:bodyPr>
                <a:lstStyle/>
                <a:p>
                  <a:r>
                    <a:rPr lang="en-US" altLang="zh-TW" sz="1200" i="1">
                      <a:latin typeface="Times New Roman" pitchFamily="18" charset="0"/>
                      <a:cs typeface="Times New Roman" pitchFamily="18" charset="0"/>
                    </a:rPr>
                    <a:t>x</a:t>
                  </a:r>
                  <a:endParaRPr lang="zh-TW" altLang="en-US" sz="1200" i="1">
                    <a:latin typeface="Times New Roman" pitchFamily="18" charset="0"/>
                    <a:cs typeface="Times New Roman" pitchFamily="18" charset="0"/>
                  </a:endParaRPr>
                </a:p>
              </p:txBody>
            </p:sp>
            <p:sp>
              <p:nvSpPr>
                <p:cNvPr id="56" name="文字方塊 6"/>
                <p:cNvSpPr txBox="1"/>
                <p:nvPr/>
              </p:nvSpPr>
              <p:spPr>
                <a:xfrm>
                  <a:off x="5798526" y="1848444"/>
                  <a:ext cx="1866815" cy="390268"/>
                </a:xfrm>
                <a:prstGeom prst="rect">
                  <a:avLst/>
                </a:prstGeom>
                <a:noFill/>
              </p:spPr>
              <p:txBody>
                <a:bodyPr wrap="square" rtlCol="0">
                  <a:spAutoFit/>
                </a:bodyPr>
                <a:lstStyle/>
                <a:p>
                  <a:pPr algn="ctr"/>
                  <a:r>
                    <a:rPr lang="en-US" altLang="zh-TW" sz="1200" i="1">
                      <a:latin typeface="Times New Roman" pitchFamily="18" charset="0"/>
                      <a:cs typeface="Times New Roman" pitchFamily="18" charset="0"/>
                    </a:rPr>
                    <a:t>Optic axis, Z</a:t>
                  </a:r>
                  <a:endParaRPr lang="zh-TW" altLang="en-US" sz="1200" i="1">
                    <a:latin typeface="Times New Roman" pitchFamily="18" charset="0"/>
                    <a:cs typeface="Times New Roman" pitchFamily="18" charset="0"/>
                  </a:endParaRPr>
                </a:p>
              </p:txBody>
            </p:sp>
          </p:grpSp>
          <p:grpSp>
            <p:nvGrpSpPr>
              <p:cNvPr id="34" name="群組 54"/>
              <p:cNvGrpSpPr/>
              <p:nvPr/>
            </p:nvGrpSpPr>
            <p:grpSpPr>
              <a:xfrm>
                <a:off x="1646701" y="2012918"/>
                <a:ext cx="2627140" cy="1566191"/>
                <a:chOff x="2887065" y="2941612"/>
                <a:chExt cx="2627140" cy="1566191"/>
              </a:xfrm>
            </p:grpSpPr>
            <p:sp>
              <p:nvSpPr>
                <p:cNvPr id="49" name="Oval 4"/>
                <p:cNvSpPr>
                  <a:spLocks noChangeArrowheads="1"/>
                </p:cNvSpPr>
                <p:nvPr/>
              </p:nvSpPr>
              <p:spPr bwMode="auto">
                <a:xfrm>
                  <a:off x="2887065" y="2941612"/>
                  <a:ext cx="2624349" cy="1566191"/>
                </a:xfrm>
                <a:prstGeom prst="ellipse">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TW" altLang="en-US"/>
                </a:p>
              </p:txBody>
            </p:sp>
            <p:sp>
              <p:nvSpPr>
                <p:cNvPr id="50" name="橢圓 49"/>
                <p:cNvSpPr/>
                <p:nvPr/>
              </p:nvSpPr>
              <p:spPr>
                <a:xfrm>
                  <a:off x="2891185" y="3574816"/>
                  <a:ext cx="2623020" cy="27987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56"/>
              <p:cNvGrpSpPr/>
              <p:nvPr/>
            </p:nvGrpSpPr>
            <p:grpSpPr>
              <a:xfrm>
                <a:off x="1239445" y="1733230"/>
                <a:ext cx="3446981" cy="2109731"/>
                <a:chOff x="1382398" y="1998542"/>
                <a:chExt cx="5640588" cy="3452330"/>
              </a:xfrm>
            </p:grpSpPr>
            <p:sp>
              <p:nvSpPr>
                <p:cNvPr id="47" name="Oval 4"/>
                <p:cNvSpPr>
                  <a:spLocks noChangeArrowheads="1"/>
                </p:cNvSpPr>
                <p:nvPr/>
              </p:nvSpPr>
              <p:spPr bwMode="auto">
                <a:xfrm>
                  <a:off x="1441005" y="1998542"/>
                  <a:ext cx="5516468" cy="3452330"/>
                </a:xfrm>
                <a:prstGeom prst="ellips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TW" altLang="en-US"/>
                </a:p>
              </p:txBody>
            </p:sp>
            <p:sp>
              <p:nvSpPr>
                <p:cNvPr id="48" name="橢圓 47"/>
                <p:cNvSpPr/>
                <p:nvPr/>
              </p:nvSpPr>
              <p:spPr>
                <a:xfrm>
                  <a:off x="1382398" y="3202270"/>
                  <a:ext cx="5640588" cy="1024964"/>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6" name="直線接點 35"/>
              <p:cNvCxnSpPr/>
              <p:nvPr/>
            </p:nvCxnSpPr>
            <p:spPr>
              <a:xfrm rot="5400000">
                <a:off x="1516310" y="4239308"/>
                <a:ext cx="2286016"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37" name="直線接點 36"/>
              <p:cNvCxnSpPr/>
              <p:nvPr/>
            </p:nvCxnSpPr>
            <p:spPr>
              <a:xfrm rot="5400000">
                <a:off x="1704899" y="4068212"/>
                <a:ext cx="2286016"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38" name="直線接點 37"/>
              <p:cNvCxnSpPr/>
              <p:nvPr/>
            </p:nvCxnSpPr>
            <p:spPr>
              <a:xfrm rot="5400000">
                <a:off x="3094751" y="3962354"/>
                <a:ext cx="2356010" cy="3415"/>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rot="5400000">
                <a:off x="3505143" y="3928273"/>
                <a:ext cx="2286016"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40" name="直線接點 39"/>
              <p:cNvCxnSpPr/>
              <p:nvPr/>
            </p:nvCxnSpPr>
            <p:spPr>
              <a:xfrm>
                <a:off x="2972083" y="1995425"/>
                <a:ext cx="1521629" cy="1588"/>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41" name="直線接點 40"/>
              <p:cNvCxnSpPr/>
              <p:nvPr/>
            </p:nvCxnSpPr>
            <p:spPr>
              <a:xfrm>
                <a:off x="2981510" y="1739045"/>
                <a:ext cx="1521629" cy="1588"/>
              </a:xfrm>
              <a:prstGeom prst="line">
                <a:avLst/>
              </a:prstGeom>
              <a:ln>
                <a:prstDash val="sysDot"/>
              </a:ln>
            </p:spPr>
            <p:style>
              <a:lnRef idx="1">
                <a:schemeClr val="dk1"/>
              </a:lnRef>
              <a:fillRef idx="0">
                <a:schemeClr val="dk1"/>
              </a:fillRef>
              <a:effectRef idx="0">
                <a:schemeClr val="dk1"/>
              </a:effectRef>
              <a:fontRef idx="minor">
                <a:schemeClr val="tx1"/>
              </a:fontRef>
            </p:style>
          </p:cxnSp>
          <p:graphicFrame>
            <p:nvGraphicFramePr>
              <p:cNvPr id="42" name="Object 10"/>
              <p:cNvGraphicFramePr>
                <a:graphicFrameLocks noChangeAspect="1"/>
              </p:cNvGraphicFramePr>
              <p:nvPr/>
            </p:nvGraphicFramePr>
            <p:xfrm>
              <a:off x="4613391" y="1505652"/>
              <a:ext cx="857256" cy="603976"/>
            </p:xfrm>
            <a:graphic>
              <a:graphicData uri="http://schemas.openxmlformats.org/presentationml/2006/ole">
                <mc:AlternateContent xmlns:mc="http://schemas.openxmlformats.org/markup-compatibility/2006">
                  <mc:Choice xmlns:v="urn:schemas-microsoft-com:vml" Requires="v">
                    <p:oleObj spid="_x0000_s8975" name="Equation" r:id="rId9" imgW="558720" imgH="393480" progId="Equation.3">
                      <p:embed/>
                    </p:oleObj>
                  </mc:Choice>
                  <mc:Fallback>
                    <p:oleObj name="Equation" r:id="rId9" imgW="558720" imgH="393480" progId="Equation.3">
                      <p:embed/>
                      <p:pic>
                        <p:nvPicPr>
                          <p:cNvPr id="113"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3391" y="1505652"/>
                            <a:ext cx="857256" cy="60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 name="直線單箭頭接點 42"/>
              <p:cNvCxnSpPr/>
              <p:nvPr/>
            </p:nvCxnSpPr>
            <p:spPr>
              <a:xfrm rot="5400000">
                <a:off x="4247875" y="1865647"/>
                <a:ext cx="355047" cy="1588"/>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4" name="直線單箭頭接點 43"/>
              <p:cNvCxnSpPr/>
              <p:nvPr/>
            </p:nvCxnSpPr>
            <p:spPr>
              <a:xfrm>
                <a:off x="4233216" y="4867187"/>
                <a:ext cx="456489" cy="1588"/>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5" name="直線單箭頭接點 44"/>
              <p:cNvCxnSpPr/>
              <p:nvPr/>
            </p:nvCxnSpPr>
            <p:spPr>
              <a:xfrm rot="5400000" flipH="1" flipV="1">
                <a:off x="2647819" y="4810536"/>
                <a:ext cx="202884" cy="202884"/>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graphicFrame>
            <p:nvGraphicFramePr>
              <p:cNvPr id="46" name="Object 11"/>
              <p:cNvGraphicFramePr>
                <a:graphicFrameLocks noChangeAspect="1"/>
              </p:cNvGraphicFramePr>
              <p:nvPr/>
            </p:nvGraphicFramePr>
            <p:xfrm>
              <a:off x="1661434" y="4549250"/>
              <a:ext cx="884909" cy="637959"/>
            </p:xfrm>
            <a:graphic>
              <a:graphicData uri="http://schemas.openxmlformats.org/presentationml/2006/ole">
                <mc:AlternateContent xmlns:mc="http://schemas.openxmlformats.org/markup-compatibility/2006">
                  <mc:Choice xmlns:v="urn:schemas-microsoft-com:vml" Requires="v">
                    <p:oleObj spid="_x0000_s8976" name="Equation" r:id="rId10" imgW="545760" imgH="393480" progId="Equation.3">
                      <p:embed/>
                    </p:oleObj>
                  </mc:Choice>
                  <mc:Fallback>
                    <p:oleObj name="Equation" r:id="rId10" imgW="545760" imgH="393480" progId="Equation.3">
                      <p:embed/>
                      <p:pic>
                        <p:nvPicPr>
                          <p:cNvPr id="117"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1434" y="4549250"/>
                            <a:ext cx="884909" cy="637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2" name="Object 11"/>
            <p:cNvGraphicFramePr>
              <a:graphicFrameLocks noChangeAspect="1"/>
            </p:cNvGraphicFramePr>
            <p:nvPr/>
          </p:nvGraphicFramePr>
          <p:xfrm>
            <a:off x="3357970" y="4549250"/>
            <a:ext cx="884909" cy="637959"/>
          </p:xfrm>
          <a:graphic>
            <a:graphicData uri="http://schemas.openxmlformats.org/presentationml/2006/ole">
              <mc:AlternateContent xmlns:mc="http://schemas.openxmlformats.org/markup-compatibility/2006">
                <mc:Choice xmlns:v="urn:schemas-microsoft-com:vml" Requires="v">
                  <p:oleObj spid="_x0000_s8977" name="Equation" r:id="rId11" imgW="545760" imgH="393480" progId="Equation.3">
                    <p:embed/>
                  </p:oleObj>
                </mc:Choice>
                <mc:Fallback>
                  <p:oleObj name="Equation" r:id="rId11" imgW="545760" imgH="393480" progId="Equation.3">
                    <p:embed/>
                    <p:pic>
                      <p:nvPicPr>
                        <p:cNvPr id="103"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7970" y="4549250"/>
                          <a:ext cx="884909" cy="637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4" name="群組 73"/>
          <p:cNvGrpSpPr/>
          <p:nvPr/>
        </p:nvGrpSpPr>
        <p:grpSpPr>
          <a:xfrm>
            <a:off x="671406" y="2683466"/>
            <a:ext cx="1279616" cy="1784398"/>
            <a:chOff x="179039" y="2692258"/>
            <a:chExt cx="1279616" cy="1784398"/>
          </a:xfrm>
        </p:grpSpPr>
        <p:sp>
          <p:nvSpPr>
            <p:cNvPr id="57" name="立方體 56"/>
            <p:cNvSpPr/>
            <p:nvPr/>
          </p:nvSpPr>
          <p:spPr>
            <a:xfrm>
              <a:off x="738655" y="2966594"/>
              <a:ext cx="720000" cy="1440000"/>
            </a:xfrm>
            <a:prstGeom prst="cube">
              <a:avLst>
                <a:gd name="adj" fmla="val 28663"/>
              </a:avLst>
            </a:prstGeom>
            <a:solidFill>
              <a:schemeClr val="accent1">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向上箭號 57"/>
            <p:cNvSpPr/>
            <p:nvPr/>
          </p:nvSpPr>
          <p:spPr>
            <a:xfrm>
              <a:off x="872420" y="3381443"/>
              <a:ext cx="289960" cy="743139"/>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3" name="直線接點 62"/>
            <p:cNvCxnSpPr/>
            <p:nvPr/>
          </p:nvCxnSpPr>
          <p:spPr>
            <a:xfrm flipV="1">
              <a:off x="1107285" y="2697339"/>
              <a:ext cx="0" cy="3591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線接點 63"/>
            <p:cNvCxnSpPr/>
            <p:nvPr/>
          </p:nvCxnSpPr>
          <p:spPr>
            <a:xfrm rot="16200000" flipV="1">
              <a:off x="804408" y="2386259"/>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線接點 64"/>
            <p:cNvCxnSpPr/>
            <p:nvPr/>
          </p:nvCxnSpPr>
          <p:spPr>
            <a:xfrm flipV="1">
              <a:off x="499385" y="2692258"/>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接點 65"/>
            <p:cNvCxnSpPr/>
            <p:nvPr/>
          </p:nvCxnSpPr>
          <p:spPr>
            <a:xfrm flipV="1">
              <a:off x="499179" y="3387705"/>
              <a:ext cx="0" cy="10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接點 66"/>
            <p:cNvCxnSpPr/>
            <p:nvPr/>
          </p:nvCxnSpPr>
          <p:spPr>
            <a:xfrm rot="5400000" flipV="1">
              <a:off x="804362" y="4166661"/>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接點 67"/>
            <p:cNvCxnSpPr/>
            <p:nvPr/>
          </p:nvCxnSpPr>
          <p:spPr>
            <a:xfrm flipV="1">
              <a:off x="1108457" y="4404656"/>
              <a:ext cx="0" cy="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接點 68"/>
            <p:cNvCxnSpPr/>
            <p:nvPr/>
          </p:nvCxnSpPr>
          <p:spPr>
            <a:xfrm>
              <a:off x="311620" y="3304258"/>
              <a:ext cx="3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接點 69"/>
            <p:cNvCxnSpPr/>
            <p:nvPr/>
          </p:nvCxnSpPr>
          <p:spPr>
            <a:xfrm>
              <a:off x="409179" y="3386673"/>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文字方塊 70"/>
                <p:cNvSpPr txBox="1"/>
                <p:nvPr/>
              </p:nvSpPr>
              <p:spPr>
                <a:xfrm>
                  <a:off x="182557" y="2993521"/>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71" name="文字方塊 70"/>
                <p:cNvSpPr txBox="1">
                  <a:spLocks noRot="1" noChangeAspect="1" noMove="1" noResize="1" noEditPoints="1" noAdjustHandles="1" noChangeArrowheads="1" noChangeShapeType="1" noTextEdit="1"/>
                </p:cNvSpPr>
                <p:nvPr/>
              </p:nvSpPr>
              <p:spPr>
                <a:xfrm>
                  <a:off x="182557" y="2993521"/>
                  <a:ext cx="415498" cy="369332"/>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2" name="文字方塊 71"/>
                <p:cNvSpPr txBox="1"/>
                <p:nvPr/>
              </p:nvSpPr>
              <p:spPr>
                <a:xfrm>
                  <a:off x="179039" y="3327411"/>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cs typeface="Times New Roman" panose="02020603050405020304" pitchFamily="18" charset="0"/>
                          </a:rPr>
                          <m:t>−</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72" name="文字方塊 71"/>
                <p:cNvSpPr txBox="1">
                  <a:spLocks noRot="1" noChangeAspect="1" noMove="1" noResize="1" noEditPoints="1" noAdjustHandles="1" noChangeArrowheads="1" noChangeShapeType="1" noTextEdit="1"/>
                </p:cNvSpPr>
                <p:nvPr/>
              </p:nvSpPr>
              <p:spPr>
                <a:xfrm>
                  <a:off x="179039" y="3327411"/>
                  <a:ext cx="415498" cy="369332"/>
                </a:xfrm>
                <a:prstGeom prst="rect">
                  <a:avLst/>
                </a:prstGeom>
                <a:blipFill>
                  <a:blip r:embed="rId13"/>
                  <a:stretch>
                    <a:fillRect/>
                  </a:stretch>
                </a:blipFill>
              </p:spPr>
              <p:txBody>
                <a:bodyPr/>
                <a:lstStyle/>
                <a:p>
                  <a:r>
                    <a:rPr lang="zh-TW" altLang="en-US">
                      <a:noFill/>
                    </a:rPr>
                    <a:t> </a:t>
                  </a:r>
                </a:p>
              </p:txBody>
            </p:sp>
          </mc:Fallback>
        </mc:AlternateContent>
      </p:grpSp>
      <p:grpSp>
        <p:nvGrpSpPr>
          <p:cNvPr id="75" name="群組 74"/>
          <p:cNvGrpSpPr/>
          <p:nvPr/>
        </p:nvGrpSpPr>
        <p:grpSpPr>
          <a:xfrm>
            <a:off x="6030180" y="2683466"/>
            <a:ext cx="1279616" cy="1784398"/>
            <a:chOff x="179039" y="2692258"/>
            <a:chExt cx="1279616" cy="1784398"/>
          </a:xfrm>
        </p:grpSpPr>
        <p:sp>
          <p:nvSpPr>
            <p:cNvPr id="76" name="立方體 75"/>
            <p:cNvSpPr/>
            <p:nvPr/>
          </p:nvSpPr>
          <p:spPr>
            <a:xfrm>
              <a:off x="738655" y="2966594"/>
              <a:ext cx="720000" cy="1440000"/>
            </a:xfrm>
            <a:prstGeom prst="cube">
              <a:avLst>
                <a:gd name="adj" fmla="val 28663"/>
              </a:avLst>
            </a:prstGeom>
            <a:solidFill>
              <a:schemeClr val="accent1">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向上箭號 76"/>
            <p:cNvSpPr/>
            <p:nvPr/>
          </p:nvSpPr>
          <p:spPr>
            <a:xfrm flipV="1">
              <a:off x="872420" y="3381443"/>
              <a:ext cx="289960" cy="743139"/>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8" name="直線接點 77"/>
            <p:cNvCxnSpPr/>
            <p:nvPr/>
          </p:nvCxnSpPr>
          <p:spPr>
            <a:xfrm flipV="1">
              <a:off x="1107285" y="2697339"/>
              <a:ext cx="0" cy="3591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線接點 78"/>
            <p:cNvCxnSpPr/>
            <p:nvPr/>
          </p:nvCxnSpPr>
          <p:spPr>
            <a:xfrm rot="16200000" flipV="1">
              <a:off x="804408" y="2386259"/>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線接點 79"/>
            <p:cNvCxnSpPr/>
            <p:nvPr/>
          </p:nvCxnSpPr>
          <p:spPr>
            <a:xfrm flipV="1">
              <a:off x="499385" y="2692258"/>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線接點 80"/>
            <p:cNvCxnSpPr/>
            <p:nvPr/>
          </p:nvCxnSpPr>
          <p:spPr>
            <a:xfrm flipV="1">
              <a:off x="499179" y="3387705"/>
              <a:ext cx="0" cy="10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線接點 81"/>
            <p:cNvCxnSpPr/>
            <p:nvPr/>
          </p:nvCxnSpPr>
          <p:spPr>
            <a:xfrm rot="5400000" flipV="1">
              <a:off x="804362" y="4166661"/>
              <a:ext cx="0" cy="61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線接點 82"/>
            <p:cNvCxnSpPr/>
            <p:nvPr/>
          </p:nvCxnSpPr>
          <p:spPr>
            <a:xfrm flipV="1">
              <a:off x="1108457" y="4404656"/>
              <a:ext cx="0" cy="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線接點 83"/>
            <p:cNvCxnSpPr/>
            <p:nvPr/>
          </p:nvCxnSpPr>
          <p:spPr>
            <a:xfrm>
              <a:off x="311620" y="3304258"/>
              <a:ext cx="3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線接點 84"/>
            <p:cNvCxnSpPr/>
            <p:nvPr/>
          </p:nvCxnSpPr>
          <p:spPr>
            <a:xfrm>
              <a:off x="409179" y="3386673"/>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字方塊 85"/>
                <p:cNvSpPr txBox="1"/>
                <p:nvPr/>
              </p:nvSpPr>
              <p:spPr>
                <a:xfrm>
                  <a:off x="182557" y="2993521"/>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86" name="文字方塊 85"/>
                <p:cNvSpPr txBox="1">
                  <a:spLocks noRot="1" noChangeAspect="1" noMove="1" noResize="1" noEditPoints="1" noAdjustHandles="1" noChangeArrowheads="1" noChangeShapeType="1" noTextEdit="1"/>
                </p:cNvSpPr>
                <p:nvPr/>
              </p:nvSpPr>
              <p:spPr>
                <a:xfrm>
                  <a:off x="182557" y="2993521"/>
                  <a:ext cx="415498" cy="369332"/>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7" name="文字方塊 86"/>
                <p:cNvSpPr txBox="1"/>
                <p:nvPr/>
              </p:nvSpPr>
              <p:spPr>
                <a:xfrm>
                  <a:off x="179039" y="3327411"/>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cs typeface="Times New Roman" panose="02020603050405020304" pitchFamily="18" charset="0"/>
                          </a:rPr>
                          <m:t>−</m:t>
                        </m:r>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87" name="文字方塊 86"/>
                <p:cNvSpPr txBox="1">
                  <a:spLocks noRot="1" noChangeAspect="1" noMove="1" noResize="1" noEditPoints="1" noAdjustHandles="1" noChangeArrowheads="1" noChangeShapeType="1" noTextEdit="1"/>
                </p:cNvSpPr>
                <p:nvPr/>
              </p:nvSpPr>
              <p:spPr>
                <a:xfrm>
                  <a:off x="179039" y="3327411"/>
                  <a:ext cx="415498" cy="369332"/>
                </a:xfrm>
                <a:prstGeom prst="rect">
                  <a:avLst/>
                </a:prstGeom>
                <a:blipFill>
                  <a:blip r:embed="rId13"/>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88" name="矩形 87"/>
              <p:cNvSpPr/>
              <p:nvPr/>
            </p:nvSpPr>
            <p:spPr>
              <a:xfrm>
                <a:off x="1972285" y="5843618"/>
                <a:ext cx="2730491"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TW" altLang="en-US" i="1" smtClean="0">
                              <a:latin typeface="Cambria Math" panose="02040503050406030204" pitchFamily="18" charset="0"/>
                            </a:rPr>
                          </m:ctrlPr>
                        </m:sSubSupPr>
                        <m:e>
                          <m:r>
                            <a:rPr lang="zh-TW" altLang="en-US" i="1">
                              <a:latin typeface="Cambria Math" panose="02040503050406030204" pitchFamily="18" charset="0"/>
                            </a:rPr>
                            <m:t>𝑛</m:t>
                          </m:r>
                        </m:e>
                        <m:sub>
                          <m:r>
                            <a:rPr lang="en-US" altLang="zh-TW" b="0" i="1" smtClean="0">
                              <a:latin typeface="Cambria Math" panose="02040503050406030204" pitchFamily="18" charset="0"/>
                            </a:rPr>
                            <m:t>𝑒</m:t>
                          </m:r>
                        </m:sub>
                        <m:sup>
                          <m:r>
                            <a:rPr lang="zh-TW" altLang="en-US" i="0">
                              <a:latin typeface="Cambria Math" panose="02040503050406030204" pitchFamily="18" charset="0"/>
                            </a:rPr>
                            <m:t>+</m:t>
                          </m:r>
                        </m:sup>
                      </m:sSubSup>
                      <m:d>
                        <m:dPr>
                          <m:ctrlPr>
                            <a:rPr lang="zh-TW" altLang="en-US" i="1">
                              <a:latin typeface="Cambria Math" panose="02040503050406030204" pitchFamily="18" charset="0"/>
                            </a:rPr>
                          </m:ctrlPr>
                        </m:dPr>
                        <m:e>
                          <m:r>
                            <m:rPr>
                              <m:sty m:val="p"/>
                            </m:rPr>
                            <a:rPr lang="zh-TW" altLang="en-US" i="0">
                              <a:latin typeface="Cambria Math" panose="02040503050406030204" pitchFamily="18" charset="0"/>
                            </a:rPr>
                            <m:t>E</m:t>
                          </m:r>
                        </m:e>
                      </m:d>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en-US" altLang="zh-TW" b="0" i="1" smtClean="0">
                              <a:latin typeface="Cambria Math" panose="02040503050406030204" pitchFamily="18" charset="0"/>
                            </a:rPr>
                            <m:t>𝑒</m:t>
                          </m:r>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r>
                            <a:rPr lang="zh-TW" altLang="en-US" i="0">
                              <a:latin typeface="Cambria Math" panose="02040503050406030204" pitchFamily="18" charset="0"/>
                            </a:rPr>
                            <m:t>2</m:t>
                          </m:r>
                        </m:den>
                      </m:f>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en-US" altLang="zh-TW" i="1" smtClean="0">
                                  <a:latin typeface="Cambria Math" panose="02040503050406030204" pitchFamily="18" charset="0"/>
                                </a:rPr>
                                <m:t>𝑒</m:t>
                              </m:r>
                            </m:sub>
                          </m:sSub>
                        </m:e>
                        <m:sup>
                          <m:r>
                            <a:rPr lang="zh-TW" altLang="en-US" i="0">
                              <a:latin typeface="Cambria Math" panose="02040503050406030204" pitchFamily="18" charset="0"/>
                            </a:rPr>
                            <m:t>3</m:t>
                          </m:r>
                        </m:sup>
                      </m:sSup>
                      <m:sSub>
                        <m:sSubPr>
                          <m:ctrlPr>
                            <a:rPr lang="zh-TW" altLang="en-US" i="1">
                              <a:latin typeface="Cambria Math" panose="02040503050406030204" pitchFamily="18" charset="0"/>
                            </a:rPr>
                          </m:ctrlPr>
                        </m:sSubPr>
                        <m:e>
                          <m:r>
                            <a:rPr lang="zh-TW" altLang="en-US" i="1">
                              <a:latin typeface="Cambria Math" panose="02040503050406030204" pitchFamily="18" charset="0"/>
                            </a:rPr>
                            <m:t>𝛾</m:t>
                          </m:r>
                        </m:e>
                        <m:sub>
                          <m:r>
                            <a:rPr lang="zh-TW" altLang="en-US" i="0">
                              <a:latin typeface="Cambria Math" panose="02040503050406030204" pitchFamily="18" charset="0"/>
                            </a:rPr>
                            <m:t>33</m:t>
                          </m:r>
                        </m:sub>
                      </m:sSub>
                      <m:r>
                        <a:rPr lang="zh-TW" altLang="en-US" i="1">
                          <a:latin typeface="Cambria Math" panose="02040503050406030204" pitchFamily="18" charset="0"/>
                        </a:rPr>
                        <m:t>𝐸</m:t>
                      </m:r>
                    </m:oMath>
                  </m:oMathPara>
                </a14:m>
                <a:endParaRPr lang="zh-TW" altLang="en-US"/>
              </a:p>
            </p:txBody>
          </p:sp>
        </mc:Choice>
        <mc:Fallback xmlns="">
          <p:sp>
            <p:nvSpPr>
              <p:cNvPr id="88" name="矩形 87"/>
              <p:cNvSpPr>
                <a:spLocks noRot="1" noChangeAspect="1" noMove="1" noResize="1" noEditPoints="1" noAdjustHandles="1" noChangeArrowheads="1" noChangeShapeType="1" noTextEdit="1"/>
              </p:cNvSpPr>
              <p:nvPr/>
            </p:nvSpPr>
            <p:spPr>
              <a:xfrm>
                <a:off x="1972285" y="5843618"/>
                <a:ext cx="2730491" cy="610936"/>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9" name="矩形 88"/>
              <p:cNvSpPr/>
              <p:nvPr/>
            </p:nvSpPr>
            <p:spPr>
              <a:xfrm>
                <a:off x="7626838" y="5849584"/>
                <a:ext cx="2730491"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TW" altLang="en-US" i="1" smtClean="0">
                              <a:latin typeface="Cambria Math" panose="02040503050406030204" pitchFamily="18" charset="0"/>
                            </a:rPr>
                          </m:ctrlPr>
                        </m:sSubSupPr>
                        <m:e>
                          <m:r>
                            <a:rPr lang="zh-TW" altLang="en-US" i="1">
                              <a:latin typeface="Cambria Math" panose="02040503050406030204" pitchFamily="18" charset="0"/>
                            </a:rPr>
                            <m:t>𝑛</m:t>
                          </m:r>
                        </m:e>
                        <m:sub>
                          <m:r>
                            <a:rPr lang="en-US" altLang="zh-TW" b="0" i="1" smtClean="0">
                              <a:latin typeface="Cambria Math" panose="02040503050406030204" pitchFamily="18" charset="0"/>
                            </a:rPr>
                            <m:t>𝑒</m:t>
                          </m:r>
                        </m:sub>
                        <m:sup>
                          <m:r>
                            <a:rPr lang="zh-TW" altLang="en-US" i="0">
                              <a:latin typeface="Cambria Math" panose="02040503050406030204" pitchFamily="18" charset="0"/>
                            </a:rPr>
                            <m:t>−</m:t>
                          </m:r>
                        </m:sup>
                      </m:sSubSup>
                      <m:d>
                        <m:dPr>
                          <m:ctrlPr>
                            <a:rPr lang="zh-TW" altLang="en-US" i="1">
                              <a:latin typeface="Cambria Math" panose="02040503050406030204" pitchFamily="18" charset="0"/>
                            </a:rPr>
                          </m:ctrlPr>
                        </m:dPr>
                        <m:e>
                          <m:r>
                            <m:rPr>
                              <m:sty m:val="p"/>
                            </m:rPr>
                            <a:rPr lang="zh-TW" altLang="en-US" i="0">
                              <a:latin typeface="Cambria Math" panose="02040503050406030204" pitchFamily="18" charset="0"/>
                            </a:rPr>
                            <m:t>E</m:t>
                          </m:r>
                        </m:e>
                      </m:d>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en-US" altLang="zh-TW" b="0" i="1" smtClean="0">
                              <a:latin typeface="Cambria Math" panose="02040503050406030204" pitchFamily="18" charset="0"/>
                            </a:rPr>
                            <m:t>𝑒</m:t>
                          </m:r>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r>
                            <a:rPr lang="zh-TW" altLang="en-US" i="0">
                              <a:latin typeface="Cambria Math" panose="02040503050406030204" pitchFamily="18" charset="0"/>
                            </a:rPr>
                            <m:t>2</m:t>
                          </m:r>
                        </m:den>
                      </m:f>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en-US" altLang="zh-TW" b="0" i="1" smtClean="0">
                                  <a:latin typeface="Cambria Math" panose="02040503050406030204" pitchFamily="18" charset="0"/>
                                </a:rPr>
                                <m:t>𝑒</m:t>
                              </m:r>
                            </m:sub>
                          </m:sSub>
                        </m:e>
                        <m:sup>
                          <m:r>
                            <a:rPr lang="zh-TW" altLang="en-US" i="0">
                              <a:latin typeface="Cambria Math" panose="02040503050406030204" pitchFamily="18" charset="0"/>
                            </a:rPr>
                            <m:t>3</m:t>
                          </m:r>
                        </m:sup>
                      </m:sSup>
                      <m:sSub>
                        <m:sSubPr>
                          <m:ctrlPr>
                            <a:rPr lang="zh-TW" altLang="en-US" i="1">
                              <a:latin typeface="Cambria Math" panose="02040503050406030204" pitchFamily="18" charset="0"/>
                            </a:rPr>
                          </m:ctrlPr>
                        </m:sSubPr>
                        <m:e>
                          <m:r>
                            <a:rPr lang="zh-TW" altLang="en-US" i="1">
                              <a:latin typeface="Cambria Math" panose="02040503050406030204" pitchFamily="18" charset="0"/>
                            </a:rPr>
                            <m:t>𝛾</m:t>
                          </m:r>
                        </m:e>
                        <m:sub>
                          <m:r>
                            <a:rPr lang="zh-TW" altLang="en-US" i="0">
                              <a:latin typeface="Cambria Math" panose="02040503050406030204" pitchFamily="18" charset="0"/>
                            </a:rPr>
                            <m:t>33</m:t>
                          </m:r>
                        </m:sub>
                      </m:sSub>
                      <m:r>
                        <a:rPr lang="zh-TW" altLang="en-US" i="1">
                          <a:latin typeface="Cambria Math" panose="02040503050406030204" pitchFamily="18" charset="0"/>
                        </a:rPr>
                        <m:t>𝐸</m:t>
                      </m:r>
                    </m:oMath>
                  </m:oMathPara>
                </a14:m>
                <a:endParaRPr lang="zh-TW" altLang="en-US"/>
              </a:p>
            </p:txBody>
          </p:sp>
        </mc:Choice>
        <mc:Fallback xmlns="">
          <p:sp>
            <p:nvSpPr>
              <p:cNvPr id="89" name="矩形 88"/>
              <p:cNvSpPr>
                <a:spLocks noRot="1" noChangeAspect="1" noMove="1" noResize="1" noEditPoints="1" noAdjustHandles="1" noChangeArrowheads="1" noChangeShapeType="1" noTextEdit="1"/>
              </p:cNvSpPr>
              <p:nvPr/>
            </p:nvSpPr>
            <p:spPr>
              <a:xfrm>
                <a:off x="7626838" y="5849584"/>
                <a:ext cx="2730491" cy="610936"/>
              </a:xfrm>
              <a:prstGeom prst="rect">
                <a:avLst/>
              </a:prstGeom>
              <a:blipFill>
                <a:blip r:embed="rId1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5761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94549"/>
            <a:ext cx="12191999" cy="584775"/>
          </a:xfrm>
          <a:prstGeom prst="rect">
            <a:avLst/>
          </a:prstGeom>
          <a:noFill/>
        </p:spPr>
        <p:txBody>
          <a:bodyPr wrap="square" rtlCol="0">
            <a:spAutoFit/>
          </a:bodyPr>
          <a:lstStyle/>
          <a:p>
            <a:pPr lvl="2"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Electro-Optic Effect in PPLN Optical Parametric Oscillators </a:t>
            </a:r>
          </a:p>
        </p:txBody>
      </p:sp>
      <mc:AlternateContent xmlns:mc="http://schemas.openxmlformats.org/markup-compatibility/2006" xmlns:a14="http://schemas.microsoft.com/office/drawing/2010/main">
        <mc:Choice Requires="a14">
          <p:sp>
            <p:nvSpPr>
              <p:cNvPr id="28" name="矩形 27"/>
              <p:cNvSpPr/>
              <p:nvPr/>
            </p:nvSpPr>
            <p:spPr>
              <a:xfrm>
                <a:off x="4501273" y="1882882"/>
                <a:ext cx="4848507" cy="693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mtClean="0">
                          <a:latin typeface="Cambria Math" panose="02040503050406030204" pitchFamily="18" charset="0"/>
                        </a:rPr>
                        <m:t>∆</m:t>
                      </m:r>
                      <m:acc>
                        <m:accPr>
                          <m:chr m:val="⃑"/>
                          <m:ctrlPr>
                            <a:rPr lang="zh-TW" altLang="en-US" i="1">
                              <a:latin typeface="Cambria Math" panose="02040503050406030204" pitchFamily="18" charset="0"/>
                            </a:rPr>
                          </m:ctrlPr>
                        </m:accPr>
                        <m:e>
                          <m:r>
                            <a:rPr lang="zh-TW" altLang="en-US" i="1">
                              <a:latin typeface="Cambria Math" panose="02040503050406030204" pitchFamily="18" charset="0"/>
                            </a:rPr>
                            <m:t>𝑘</m:t>
                          </m:r>
                        </m:e>
                      </m:acc>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p</m:t>
                              </m:r>
                            </m:sub>
                          </m:sSub>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p</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s</m:t>
                              </m:r>
                            </m:sub>
                          </m:sSub>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s</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i</m:t>
                              </m:r>
                            </m:sub>
                          </m:sSub>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i</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𝑚</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r>
                            <a:rPr lang="zh-TW" altLang="en-US" i="0">
                              <a:latin typeface="Cambria Math" panose="02040503050406030204" pitchFamily="18" charset="0"/>
                            </a:rPr>
                            <m:t>+</m:t>
                          </m:r>
                          <m:sSup>
                            <m:sSupPr>
                              <m:ctrlPr>
                                <a:rPr lang="zh-TW" altLang="en-US" i="1">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den>
                      </m:f>
                      <m:r>
                        <a:rPr lang="zh-TW" altLang="en-US" i="0">
                          <a:latin typeface="Cambria Math" panose="02040503050406030204" pitchFamily="18" charset="0"/>
                        </a:rPr>
                        <m:t>=0</m:t>
                      </m:r>
                    </m:oMath>
                  </m:oMathPara>
                </a14:m>
                <a:endParaRPr lang="zh-TW" altLang="en-US"/>
              </a:p>
            </p:txBody>
          </p:sp>
        </mc:Choice>
        <mc:Fallback xmlns="">
          <p:sp>
            <p:nvSpPr>
              <p:cNvPr id="28" name="矩形 27"/>
              <p:cNvSpPr>
                <a:spLocks noRot="1" noChangeAspect="1" noMove="1" noResize="1" noEditPoints="1" noAdjustHandles="1" noChangeArrowheads="1" noChangeShapeType="1" noTextEdit="1"/>
              </p:cNvSpPr>
              <p:nvPr/>
            </p:nvSpPr>
            <p:spPr>
              <a:xfrm>
                <a:off x="4501273" y="1882882"/>
                <a:ext cx="4848507" cy="693267"/>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4501273" y="2922555"/>
                <a:ext cx="4712509" cy="21250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TW" altLang="en-US" i="1" smtClean="0">
                              <a:latin typeface="Cambria Math" panose="02040503050406030204" pitchFamily="18" charset="0"/>
                            </a:rPr>
                          </m:ctrlPr>
                        </m:sSupPr>
                        <m:e>
                          <m:r>
                            <a:rPr lang="zh-TW" altLang="en-US">
                              <a:latin typeface="Cambria Math" panose="02040503050406030204" pitchFamily="18" charset="0"/>
                            </a:rPr>
                            <m:t>∆</m:t>
                          </m:r>
                          <m:acc>
                            <m:accPr>
                              <m:chr m:val="⃑"/>
                              <m:ctrlPr>
                                <a:rPr lang="zh-TW" altLang="en-US" i="1">
                                  <a:latin typeface="Cambria Math" panose="02040503050406030204" pitchFamily="18" charset="0"/>
                                </a:rPr>
                              </m:ctrlPr>
                            </m:accPr>
                            <m:e>
                              <m:r>
                                <a:rPr lang="zh-TW" altLang="en-US" i="1">
                                  <a:latin typeface="Cambria Math" panose="02040503050406030204" pitchFamily="18" charset="0"/>
                                </a:rPr>
                                <m:t>𝑘</m:t>
                              </m:r>
                            </m:e>
                          </m:acc>
                        </m:e>
                        <m:sup>
                          <m:r>
                            <a:rPr lang="zh-TW" altLang="en-US" i="0">
                              <a:latin typeface="Cambria Math" panose="02040503050406030204" pitchFamily="18" charset="0"/>
                            </a:rPr>
                            <m:t>′</m:t>
                          </m:r>
                        </m:sup>
                      </m:sSup>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p</m:t>
                              </m:r>
                            </m:sub>
                          </m:sSub>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p</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s</m:t>
                                  </m:r>
                                </m:sub>
                              </m:sSub>
                            </m:e>
                            <m:sup>
                              <m:r>
                                <a:rPr lang="zh-TW" altLang="en-US" i="0">
                                  <a:latin typeface="Cambria Math" panose="02040503050406030204" pitchFamily="18" charset="0"/>
                                </a:rPr>
                                <m:t>′</m:t>
                              </m:r>
                            </m:sup>
                          </m:sSup>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s</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i</m:t>
                                  </m:r>
                                </m:sub>
                              </m:sSub>
                            </m:e>
                            <m:sup>
                              <m:r>
                                <a:rPr lang="zh-TW" altLang="en-US" i="0">
                                  <a:latin typeface="Cambria Math" panose="02040503050406030204" pitchFamily="18" charset="0"/>
                                </a:rPr>
                                <m:t>′</m:t>
                              </m:r>
                            </m:sup>
                          </m:sSup>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i</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𝑚</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r>
                            <a:rPr lang="zh-TW" altLang="en-US" i="0">
                              <a:latin typeface="Cambria Math" panose="02040503050406030204" pitchFamily="18" charset="0"/>
                            </a:rPr>
                            <m:t>+</m:t>
                          </m:r>
                          <m:sSup>
                            <m:sSupPr>
                              <m:ctrlPr>
                                <a:rPr lang="zh-TW" altLang="en-US" i="1">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den>
                      </m:f>
                    </m:oMath>
                  </m:oMathPara>
                </a14:m>
                <a:endParaRPr lang="en-US" altLang="zh-TW" dirty="0"/>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d>
                        <m:dPr>
                          <m:ctrlPr>
                            <a:rPr lang="zh-TW" altLang="zh-TW" i="1">
                              <a:latin typeface="Cambria Math" panose="02040503050406030204" pitchFamily="18" charset="0"/>
                            </a:rPr>
                          </m:ctrlPr>
                        </m:dPr>
                        <m:e>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𝑝</m:t>
                                  </m:r>
                                </m:sub>
                              </m:sSub>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𝑝</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𝑠</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𝑠</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𝑖</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𝑖</m:t>
                                  </m:r>
                                </m:sub>
                              </m:sSub>
                            </m:sub>
                            <m:sup>
                              <m:r>
                                <a:rPr lang="en-US" altLang="zh-TW" i="1">
                                  <a:latin typeface="Cambria Math" panose="02040503050406030204" pitchFamily="18" charset="0"/>
                                </a:rPr>
                                <m:t>+</m:t>
                              </m:r>
                            </m:sup>
                          </m:sSubSup>
                        </m:e>
                      </m:d>
                      <m:r>
                        <a:rPr lang="en-US" altLang="zh-TW" i="1">
                          <a:latin typeface="Cambria Math" panose="02040503050406030204" pitchFamily="18" charset="0"/>
                        </a:rPr>
                        <m:t>×</m:t>
                      </m:r>
                      <m:f>
                        <m:fPr>
                          <m:ctrlPr>
                            <a:rPr lang="zh-TW" altLang="zh-TW" i="1">
                              <a:latin typeface="Cambria Math" panose="02040503050406030204" pitchFamily="18" charset="0"/>
                            </a:rPr>
                          </m:ctrlPr>
                        </m:fPr>
                        <m:num>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num>
                        <m:den>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den>
                      </m:f>
                    </m:oMath>
                  </m:oMathPara>
                </a14:m>
                <a:endParaRPr lang="en-US" altLang="zh-TW" dirty="0"/>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d>
                        <m:dPr>
                          <m:ctrlPr>
                            <a:rPr lang="zh-TW" altLang="zh-TW" i="1">
                              <a:latin typeface="Cambria Math" panose="02040503050406030204" pitchFamily="18" charset="0"/>
                            </a:rPr>
                          </m:ctrlPr>
                        </m:dPr>
                        <m:e>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𝑝</m:t>
                                  </m:r>
                                </m:sub>
                              </m:sSub>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𝑝</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𝑠</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𝑠</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𝑖</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𝑖</m:t>
                                  </m:r>
                                </m:sub>
                              </m:sSub>
                            </m:sub>
                            <m:sup>
                              <m:r>
                                <a:rPr lang="en-US" altLang="zh-TW" i="1">
                                  <a:latin typeface="Cambria Math" panose="02040503050406030204" pitchFamily="18" charset="0"/>
                                </a:rPr>
                                <m:t>−</m:t>
                              </m:r>
                            </m:sup>
                          </m:sSubSup>
                        </m:e>
                      </m:d>
                      <m:r>
                        <a:rPr lang="en-US" altLang="zh-TW" i="1">
                          <a:latin typeface="Cambria Math" panose="02040503050406030204" pitchFamily="18" charset="0"/>
                        </a:rPr>
                        <m:t>×</m:t>
                      </m:r>
                      <m:f>
                        <m:fPr>
                          <m:ctrlPr>
                            <a:rPr lang="zh-TW" altLang="zh-TW" i="1">
                              <a:latin typeface="Cambria Math" panose="02040503050406030204" pitchFamily="18" charset="0"/>
                            </a:rPr>
                          </m:ctrlPr>
                        </m:fPr>
                        <m:num>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num>
                        <m:den>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den>
                      </m:f>
                    </m:oMath>
                  </m:oMathPara>
                </a14:m>
                <a:endParaRPr lang="zh-TW"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4501273" y="2922555"/>
                <a:ext cx="4712509" cy="2125069"/>
              </a:xfrm>
              <a:prstGeom prst="rect">
                <a:avLst/>
              </a:prstGeom>
              <a:blipFill>
                <a:blip r:embed="rId9"/>
                <a:stretch>
                  <a:fillRect/>
                </a:stretch>
              </a:blipFill>
            </p:spPr>
            <p:txBody>
              <a:bodyPr/>
              <a:lstStyle/>
              <a:p>
                <a:r>
                  <a:rPr lang="zh-TW" altLang="en-US">
                    <a:noFill/>
                  </a:rPr>
                  <a:t> </a:t>
                </a:r>
              </a:p>
            </p:txBody>
          </p:sp>
        </mc:Fallback>
      </mc:AlternateContent>
      <p:sp>
        <p:nvSpPr>
          <p:cNvPr id="3" name="矩形 2"/>
          <p:cNvSpPr/>
          <p:nvPr/>
        </p:nvSpPr>
        <p:spPr>
          <a:xfrm>
            <a:off x="9710510" y="2044849"/>
            <a:ext cx="1725793" cy="369332"/>
          </a:xfrm>
          <a:prstGeom prst="rect">
            <a:avLst/>
          </a:prstGeom>
        </p:spPr>
        <p:txBody>
          <a:bodyPr wrap="none">
            <a:spAutoFit/>
          </a:bodyPr>
          <a:lstStyle/>
          <a:p>
            <a:r>
              <a:rPr lang="en-US" altLang="zh-TW" b="1">
                <a:solidFill>
                  <a:srgbClr val="000000"/>
                </a:solidFill>
                <a:latin typeface="Times New Roman" pitchFamily="18" charset="0"/>
                <a:cs typeface="Times New Roman" pitchFamily="18" charset="0"/>
              </a:rPr>
              <a:t>Without E-field</a:t>
            </a:r>
            <a:endParaRPr lang="zh-TW" altLang="en-US"/>
          </a:p>
        </p:txBody>
      </p:sp>
      <p:sp>
        <p:nvSpPr>
          <p:cNvPr id="4" name="矩形 3"/>
          <p:cNvSpPr/>
          <p:nvPr/>
        </p:nvSpPr>
        <p:spPr>
          <a:xfrm>
            <a:off x="9710510" y="3004010"/>
            <a:ext cx="1405193" cy="369332"/>
          </a:xfrm>
          <a:prstGeom prst="rect">
            <a:avLst/>
          </a:prstGeom>
        </p:spPr>
        <p:txBody>
          <a:bodyPr wrap="none">
            <a:spAutoFit/>
          </a:bodyPr>
          <a:lstStyle/>
          <a:p>
            <a:r>
              <a:rPr lang="en-US" altLang="zh-TW" b="1">
                <a:solidFill>
                  <a:srgbClr val="000000"/>
                </a:solidFill>
                <a:latin typeface="Times New Roman" pitchFamily="18" charset="0"/>
                <a:cs typeface="Times New Roman" pitchFamily="18" charset="0"/>
              </a:rPr>
              <a:t>With E-field</a:t>
            </a:r>
            <a:endParaRPr lang="zh-TW" altLang="en-US"/>
          </a:p>
        </p:txBody>
      </p:sp>
      <p:pic>
        <p:nvPicPr>
          <p:cNvPr id="49" name="圖片 48"/>
          <p:cNvPicPr/>
          <p:nvPr/>
        </p:nvPicPr>
        <p:blipFill>
          <a:blip r:embed="rId10" cstate="print">
            <a:extLst>
              <a:ext uri="{28A0092B-C50C-407E-A947-70E740481C1C}">
                <a14:useLocalDpi xmlns:a14="http://schemas.microsoft.com/office/drawing/2010/main" val="0"/>
              </a:ext>
            </a:extLst>
          </a:blip>
          <a:stretch>
            <a:fillRect/>
          </a:stretch>
        </p:blipFill>
        <p:spPr>
          <a:xfrm>
            <a:off x="321227" y="2629739"/>
            <a:ext cx="3683318" cy="1583531"/>
          </a:xfrm>
          <a:prstGeom prst="rect">
            <a:avLst/>
          </a:prstGeom>
        </p:spPr>
      </p:pic>
    </p:spTree>
    <p:extLst>
      <p:ext uri="{BB962C8B-B14F-4D97-AF65-F5344CB8AC3E}">
        <p14:creationId xmlns:p14="http://schemas.microsoft.com/office/powerpoint/2010/main" val="986362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txBox="1">
            <a:spLocks/>
          </p:cNvSpPr>
          <p:nvPr/>
        </p:nvSpPr>
        <p:spPr>
          <a:xfrm>
            <a:off x="457287" y="1028251"/>
            <a:ext cx="4626103" cy="4985688"/>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Introduction</a:t>
            </a:r>
          </a:p>
          <a:p>
            <a:pPr lvl="2">
              <a:lnSpc>
                <a:spcPct val="100000"/>
              </a:lnSpc>
            </a:pPr>
            <a:r>
              <a:rPr lang="en-US" altLang="zh-TW" sz="1400" b="1" dirty="0">
                <a:latin typeface="Times New Roman" panose="02020603050405020304" pitchFamily="18" charset="0"/>
                <a:cs typeface="Times New Roman" panose="02020603050405020304" pitchFamily="18" charset="0"/>
              </a:rPr>
              <a:t>OPO</a:t>
            </a:r>
            <a:r>
              <a:rPr lang="zh-TW" altLang="en-US" sz="1400" b="1" dirty="0">
                <a:latin typeface="Times New Roman" panose="02020603050405020304" pitchFamily="18" charset="0"/>
                <a:cs typeface="Times New Roman" panose="02020603050405020304" pitchFamily="18" charset="0"/>
              </a:rPr>
              <a:t> </a:t>
            </a:r>
            <a:r>
              <a:rPr lang="en-US" altLang="zh-TW" sz="1400" b="1" dirty="0">
                <a:latin typeface="Times New Roman" panose="02020603050405020304" pitchFamily="18" charset="0"/>
                <a:cs typeface="Times New Roman" panose="02020603050405020304" pitchFamily="18" charset="0"/>
              </a:rPr>
              <a:t>spectral tuning</a:t>
            </a: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Effect</a:t>
            </a:r>
          </a:p>
          <a:p>
            <a:pPr marL="571500" indent="-571500">
              <a:lnSpc>
                <a:spcPct val="100000"/>
              </a:lnSpc>
              <a:buFont typeface="Arial" panose="020B0604020202020204" pitchFamily="34" charset="0"/>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Device Design and Fabrication</a:t>
            </a:r>
          </a:p>
          <a:p>
            <a:pPr lvl="2"/>
            <a:r>
              <a:rPr lang="en-US" altLang="zh-TW" sz="1400" b="1" dirty="0">
                <a:solidFill>
                  <a:srgbClr val="FF0000"/>
                </a:solidFill>
                <a:latin typeface="Times New Roman" panose="02020603050405020304" pitchFamily="18" charset="0"/>
                <a:cs typeface="Times New Roman" panose="02020603050405020304" pitchFamily="18" charset="0"/>
              </a:rPr>
              <a:t>Genetic algorithm</a:t>
            </a:r>
          </a:p>
          <a:p>
            <a:pPr lvl="2"/>
            <a:r>
              <a:rPr lang="en-US" altLang="zh-TW" sz="1400" b="1" dirty="0" err="1">
                <a:solidFill>
                  <a:srgbClr val="FF0000"/>
                </a:solidFill>
                <a:latin typeface="Times New Roman" panose="02020603050405020304" pitchFamily="18" charset="0"/>
                <a:cs typeface="Times New Roman" panose="02020603050405020304" pitchFamily="18" charset="0"/>
              </a:rPr>
              <a:t>Nonperiodic</a:t>
            </a:r>
            <a:r>
              <a:rPr lang="en-US" altLang="zh-TW" sz="1400" b="1" dirty="0">
                <a:solidFill>
                  <a:srgbClr val="FF0000"/>
                </a:solidFill>
                <a:latin typeface="Times New Roman" panose="02020603050405020304" pitchFamily="18" charset="0"/>
                <a:cs typeface="Times New Roman" panose="02020603050405020304" pitchFamily="18" charset="0"/>
              </a:rPr>
              <a:t> optical </a:t>
            </a:r>
            <a:r>
              <a:rPr lang="en-US" altLang="zh-TW" sz="1400" b="1" dirty="0" err="1">
                <a:solidFill>
                  <a:srgbClr val="FF0000"/>
                </a:solidFill>
                <a:latin typeface="Times New Roman" panose="02020603050405020304" pitchFamily="18" charset="0"/>
                <a:cs typeface="Times New Roman" panose="02020603050405020304" pitchFamily="18" charset="0"/>
              </a:rPr>
              <a:t>superlattice</a:t>
            </a:r>
            <a:r>
              <a:rPr lang="en-US" altLang="zh-TW" sz="1400" b="1" dirty="0">
                <a:solidFill>
                  <a:srgbClr val="FF0000"/>
                </a:solidFill>
                <a:latin typeface="Times New Roman" panose="02020603050405020304" pitchFamily="18" charset="0"/>
                <a:cs typeface="Times New Roman" panose="02020603050405020304" pitchFamily="18" charset="0"/>
              </a:rPr>
              <a:t> design</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Fabrication process</a:t>
            </a:r>
            <a:endParaRPr lang="en-US" altLang="zh-TW" sz="1400" dirty="0">
              <a:solidFill>
                <a:srgbClr val="FF0000"/>
              </a:solidFill>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lnSpc>
                <a:spcPct val="100000"/>
              </a:lnSpc>
            </a:pPr>
            <a:r>
              <a:rPr lang="en-US" altLang="zh-TW" sz="1400" b="1" dirty="0">
                <a:latin typeface="Times New Roman" panose="02020603050405020304" pitchFamily="18" charset="0"/>
                <a:cs typeface="Times New Roman" panose="02020603050405020304" pitchFamily="18" charset="0"/>
              </a:rPr>
              <a:t>Experimental set-up</a:t>
            </a:r>
          </a:p>
          <a:p>
            <a:pPr lvl="2">
              <a:lnSpc>
                <a:spcPct val="100000"/>
              </a:lnSpc>
            </a:pPr>
            <a:r>
              <a:rPr lang="en-US" altLang="zh-TW" sz="1400" b="1" dirty="0">
                <a:latin typeface="Times New Roman" panose="02020603050405020304" pitchFamily="18" charset="0"/>
                <a:cs typeface="Times New Roman" panose="02020603050405020304" pitchFamily="18" charset="0"/>
              </a:rPr>
              <a:t>Measurement</a:t>
            </a:r>
          </a:p>
          <a:p>
            <a:pPr lvl="2">
              <a:lnSpc>
                <a:spcPct val="100000"/>
              </a:lnSpc>
            </a:pPr>
            <a:r>
              <a:rPr lang="en-US" altLang="zh-TW" sz="1400" b="1" dirty="0">
                <a:latin typeface="Times New Roman" panose="02020603050405020304" pitchFamily="18" charset="0"/>
                <a:cs typeface="Times New Roman" panose="02020603050405020304" pitchFamily="18" charset="0"/>
              </a:rPr>
              <a:t>Spectral fitting</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p>
        </p:txBody>
      </p:sp>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9826" y="898030"/>
            <a:ext cx="4081272" cy="2763774"/>
          </a:xfrm>
          <a:prstGeom prst="rect">
            <a:avLst/>
          </a:prstGeom>
        </p:spPr>
      </p:pic>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9826" y="3661804"/>
            <a:ext cx="4082605" cy="3060573"/>
          </a:xfrm>
          <a:prstGeom prst="rect">
            <a:avLst/>
          </a:prstGeom>
        </p:spPr>
      </p:pic>
    </p:spTree>
    <p:extLst>
      <p:ext uri="{BB962C8B-B14F-4D97-AF65-F5344CB8AC3E}">
        <p14:creationId xmlns:p14="http://schemas.microsoft.com/office/powerpoint/2010/main" val="3634516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p:cNvGrpSpPr/>
          <p:nvPr/>
        </p:nvGrpSpPr>
        <p:grpSpPr>
          <a:xfrm>
            <a:off x="4515132" y="1606615"/>
            <a:ext cx="7534067" cy="4461647"/>
            <a:chOff x="1481786" y="1017531"/>
            <a:chExt cx="7534067" cy="4461647"/>
          </a:xfrm>
        </p:grpSpPr>
        <p:sp>
          <p:nvSpPr>
            <p:cNvPr id="3" name="圓角矩形 2"/>
            <p:cNvSpPr/>
            <p:nvPr/>
          </p:nvSpPr>
          <p:spPr>
            <a:xfrm>
              <a:off x="5835895" y="1658816"/>
              <a:ext cx="2426676"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create initial population</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圓角矩形 4"/>
            <p:cNvSpPr/>
            <p:nvPr/>
          </p:nvSpPr>
          <p:spPr>
            <a:xfrm>
              <a:off x="2318970" y="1658816"/>
              <a:ext cx="2092569"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fitness assignment</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圓角矩形 5"/>
            <p:cNvSpPr/>
            <p:nvPr/>
          </p:nvSpPr>
          <p:spPr>
            <a:xfrm>
              <a:off x="2847679" y="2021799"/>
              <a:ext cx="1050975"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selection</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圓角矩形 6"/>
            <p:cNvSpPr/>
            <p:nvPr/>
          </p:nvSpPr>
          <p:spPr>
            <a:xfrm>
              <a:off x="2804888" y="2381799"/>
              <a:ext cx="1120728"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crossover</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2839765" y="2743475"/>
              <a:ext cx="1050974"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mutation</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2210382" y="3101799"/>
              <a:ext cx="2325568"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evaluation of offspring</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2763564" y="3460123"/>
              <a:ext cx="1203375"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reinsertion</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2813387" y="3818447"/>
              <a:ext cx="1119557"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migration</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12" name="群組 11"/>
            <p:cNvGrpSpPr/>
            <p:nvPr/>
          </p:nvGrpSpPr>
          <p:grpSpPr>
            <a:xfrm>
              <a:off x="5082612" y="3489716"/>
              <a:ext cx="3933241" cy="1017462"/>
              <a:chOff x="4129379" y="4292291"/>
              <a:chExt cx="3933241" cy="1017462"/>
            </a:xfrm>
          </p:grpSpPr>
          <p:sp>
            <p:nvSpPr>
              <p:cNvPr id="24" name="流程圖: 決策 23"/>
              <p:cNvSpPr/>
              <p:nvPr/>
            </p:nvSpPr>
            <p:spPr>
              <a:xfrm>
                <a:off x="4129379" y="4292291"/>
                <a:ext cx="3933241" cy="10174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a:solidFill>
                    <a:sysClr val="windowText" lastClr="000000"/>
                  </a:solidFill>
                  <a:latin typeface="Times New Roman" panose="02020603050405020304" pitchFamily="18" charset="0"/>
                  <a:cs typeface="Times New Roman" panose="02020603050405020304" pitchFamily="18" charset="0"/>
                </a:endParaRPr>
              </a:p>
            </p:txBody>
          </p:sp>
          <p:sp>
            <p:nvSpPr>
              <p:cNvPr id="25" name="矩形 24"/>
              <p:cNvSpPr/>
              <p:nvPr/>
            </p:nvSpPr>
            <p:spPr>
              <a:xfrm>
                <a:off x="4403870" y="4616356"/>
                <a:ext cx="3384260" cy="369332"/>
              </a:xfrm>
              <a:prstGeom prst="rect">
                <a:avLst/>
              </a:prstGeom>
            </p:spPr>
            <p:txBody>
              <a:bodyPr wrap="none">
                <a:spAutoFit/>
              </a:bodyPr>
              <a:lstStyle/>
              <a:p>
                <a:pPr algn="ctr"/>
                <a:r>
                  <a:rPr lang="en-US" altLang="zh-TW">
                    <a:solidFill>
                      <a:sysClr val="windowText" lastClr="000000"/>
                    </a:solidFill>
                    <a:latin typeface="Times New Roman" panose="02020603050405020304" pitchFamily="18" charset="0"/>
                    <a:cs typeface="Times New Roman" panose="02020603050405020304" pitchFamily="18" charset="0"/>
                  </a:rPr>
                  <a:t>achieve the termination condition?</a:t>
                </a:r>
              </a:p>
            </p:txBody>
          </p:sp>
        </p:grpSp>
        <p:cxnSp>
          <p:nvCxnSpPr>
            <p:cNvPr id="13" name="直線單箭頭接點 12"/>
            <p:cNvCxnSpPr>
              <a:stCxn id="28" idx="2"/>
              <a:endCxn id="3" idx="0"/>
            </p:cNvCxnSpPr>
            <p:nvPr/>
          </p:nvCxnSpPr>
          <p:spPr>
            <a:xfrm>
              <a:off x="7049232" y="1336045"/>
              <a:ext cx="1" cy="3227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3" idx="1"/>
              <a:endCxn id="5" idx="3"/>
            </p:cNvCxnSpPr>
            <p:nvPr/>
          </p:nvCxnSpPr>
          <p:spPr>
            <a:xfrm flipH="1">
              <a:off x="4411539" y="1838816"/>
              <a:ext cx="14243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向下箭號 14"/>
            <p:cNvSpPr/>
            <p:nvPr/>
          </p:nvSpPr>
          <p:spPr>
            <a:xfrm>
              <a:off x="1787833" y="1948895"/>
              <a:ext cx="334673" cy="1972474"/>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p:cNvCxnSpPr>
              <a:stCxn id="11" idx="3"/>
              <a:endCxn id="24" idx="1"/>
            </p:cNvCxnSpPr>
            <p:nvPr/>
          </p:nvCxnSpPr>
          <p:spPr>
            <a:xfrm>
              <a:off x="3932944" y="3998447"/>
              <a:ext cx="11496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24" idx="2"/>
              <a:endCxn id="18" idx="0"/>
            </p:cNvCxnSpPr>
            <p:nvPr/>
          </p:nvCxnSpPr>
          <p:spPr>
            <a:xfrm flipH="1">
              <a:off x="7049232" y="4507178"/>
              <a:ext cx="1" cy="612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圓角矩形 17"/>
            <p:cNvSpPr/>
            <p:nvPr/>
          </p:nvSpPr>
          <p:spPr>
            <a:xfrm>
              <a:off x="5835894" y="5119178"/>
              <a:ext cx="2426676"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best individuals</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文字方塊 18"/>
            <p:cNvSpPr txBox="1"/>
            <p:nvPr/>
          </p:nvSpPr>
          <p:spPr>
            <a:xfrm>
              <a:off x="7049232" y="4591284"/>
              <a:ext cx="491225"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yes</a:t>
              </a:r>
              <a:endParaRPr lang="zh-TW" altLang="en-US">
                <a:latin typeface="Times New Roman" panose="02020603050405020304" pitchFamily="18" charset="0"/>
                <a:cs typeface="Times New Roman" panose="02020603050405020304" pitchFamily="18" charset="0"/>
              </a:endParaRPr>
            </a:p>
          </p:txBody>
        </p:sp>
        <p:cxnSp>
          <p:nvCxnSpPr>
            <p:cNvPr id="20" name="直線單箭頭接點 19"/>
            <p:cNvCxnSpPr/>
            <p:nvPr/>
          </p:nvCxnSpPr>
          <p:spPr>
            <a:xfrm rot="5400000" flipH="1">
              <a:off x="4591820" y="2851098"/>
              <a:ext cx="20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5613668" y="2554143"/>
              <a:ext cx="41549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no</a:t>
              </a:r>
              <a:endParaRPr lang="zh-TW" altLang="en-US">
                <a:latin typeface="Times New Roman" panose="02020603050405020304" pitchFamily="18" charset="0"/>
                <a:cs typeface="Times New Roman" panose="02020603050405020304" pitchFamily="18" charset="0"/>
              </a:endParaRPr>
            </a:p>
          </p:txBody>
        </p:sp>
        <p:sp>
          <p:nvSpPr>
            <p:cNvPr id="22" name="矩形 21"/>
            <p:cNvSpPr/>
            <p:nvPr/>
          </p:nvSpPr>
          <p:spPr>
            <a:xfrm>
              <a:off x="1481786" y="1017531"/>
              <a:ext cx="3301594" cy="383520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2459963" y="1065000"/>
              <a:ext cx="1398140" cy="461665"/>
            </a:xfrm>
            <a:prstGeom prst="rect">
              <a:avLst/>
            </a:prstGeom>
            <a:noFill/>
          </p:spPr>
          <p:txBody>
            <a:bodyPr wrap="none" rtlCol="0">
              <a:spAutoFit/>
            </a:bodyPr>
            <a:lstStyle/>
            <a:p>
              <a:r>
                <a:rPr lang="en-US" altLang="zh-TW" sz="2400" b="1">
                  <a:latin typeface="Times New Roman" panose="02020603050405020304" pitchFamily="18" charset="0"/>
                  <a:cs typeface="Times New Roman" panose="02020603050405020304" pitchFamily="18" charset="0"/>
                </a:rPr>
                <a:t>evolution</a:t>
              </a:r>
              <a:endParaRPr lang="zh-TW" altLang="en-US" sz="2400" b="1">
                <a:latin typeface="Times New Roman" panose="02020603050405020304" pitchFamily="18" charset="0"/>
                <a:cs typeface="Times New Roman" panose="02020603050405020304" pitchFamily="18" charset="0"/>
              </a:endParaRPr>
            </a:p>
          </p:txBody>
        </p:sp>
      </p:grpSp>
      <p:sp>
        <p:nvSpPr>
          <p:cNvPr id="26" name="文字方塊 25"/>
          <p:cNvSpPr txBox="1"/>
          <p:nvPr/>
        </p:nvSpPr>
        <p:spPr>
          <a:xfrm>
            <a:off x="0" y="87923"/>
            <a:ext cx="12191999" cy="584775"/>
          </a:xfrm>
          <a:prstGeom prst="rect">
            <a:avLst/>
          </a:prstGeom>
          <a:noFill/>
        </p:spPr>
        <p:txBody>
          <a:bodyPr wrap="square" rtlCol="0">
            <a:spAutoFit/>
          </a:bodyPr>
          <a:lstStyle/>
          <a:p>
            <a:pPr marL="0" lvl="2"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Genetic algorithm</a:t>
            </a:r>
          </a:p>
        </p:txBody>
      </p:sp>
      <p:sp>
        <p:nvSpPr>
          <p:cNvPr id="27" name="文字方塊 26"/>
          <p:cNvSpPr txBox="1"/>
          <p:nvPr/>
        </p:nvSpPr>
        <p:spPr>
          <a:xfrm>
            <a:off x="635578" y="1565129"/>
            <a:ext cx="3281668" cy="2893100"/>
          </a:xfrm>
          <a:prstGeom prst="rect">
            <a:avLst/>
          </a:prstGeom>
          <a:noFill/>
        </p:spPr>
        <p:txBody>
          <a:bodyPr wrap="none" rtlCol="0">
            <a:spAutoFit/>
          </a:bodyPr>
          <a:lstStyle/>
          <a:p>
            <a:r>
              <a:rPr lang="en-US" altLang="zh-TW" sz="2000" b="1" u="heavy">
                <a:latin typeface="Times New Roman" panose="02020603050405020304" pitchFamily="18" charset="0"/>
                <a:cs typeface="Times New Roman" panose="02020603050405020304" pitchFamily="18" charset="0"/>
              </a:rPr>
              <a:t>parameters:</a:t>
            </a:r>
          </a:p>
          <a:p>
            <a:r>
              <a:rPr lang="en-US" altLang="zh-TW">
                <a:latin typeface="Times New Roman" panose="02020603050405020304" pitchFamily="18" charset="0"/>
                <a:cs typeface="Times New Roman" panose="02020603050405020304" pitchFamily="18" charset="0"/>
              </a:rPr>
              <a:t>Number of domains</a:t>
            </a:r>
          </a:p>
          <a:p>
            <a:r>
              <a:rPr lang="en-US" altLang="zh-TW">
                <a:latin typeface="Times New Roman" panose="02020603050405020304" pitchFamily="18" charset="0"/>
                <a:cs typeface="Times New Roman" panose="02020603050405020304" pitchFamily="18" charset="0"/>
              </a:rPr>
              <a:t>domain width range</a:t>
            </a:r>
          </a:p>
          <a:p>
            <a:r>
              <a:rPr lang="en-US" altLang="zh-TW">
                <a:latin typeface="Times New Roman" panose="02020603050405020304" pitchFamily="18" charset="0"/>
                <a:cs typeface="Times New Roman" panose="02020603050405020304" pitchFamily="18" charset="0"/>
              </a:rPr>
              <a:t>Number of individuals</a:t>
            </a:r>
          </a:p>
          <a:p>
            <a:r>
              <a:rPr lang="en-US" altLang="zh-TW">
                <a:latin typeface="Times New Roman" panose="02020603050405020304" pitchFamily="18" charset="0"/>
                <a:cs typeface="Times New Roman" panose="02020603050405020304" pitchFamily="18" charset="0"/>
              </a:rPr>
              <a:t>Maximum number of generations</a:t>
            </a:r>
          </a:p>
          <a:p>
            <a:r>
              <a:rPr lang="en-US" altLang="zh-TW">
                <a:latin typeface="Times New Roman" panose="02020603050405020304" pitchFamily="18" charset="0"/>
                <a:cs typeface="Times New Roman" panose="02020603050405020304" pitchFamily="18" charset="0"/>
              </a:rPr>
              <a:t>Number of subpopulations</a:t>
            </a:r>
          </a:p>
          <a:p>
            <a:r>
              <a:rPr lang="en-US" altLang="zh-TW">
                <a:latin typeface="Times New Roman" panose="02020603050405020304" pitchFamily="18" charset="0"/>
                <a:cs typeface="Times New Roman" panose="02020603050405020304" pitchFamily="18" charset="0"/>
              </a:rPr>
              <a:t>Crossover rate</a:t>
            </a:r>
          </a:p>
          <a:p>
            <a:r>
              <a:rPr lang="en-US" altLang="zh-TW">
                <a:latin typeface="Times New Roman" panose="02020603050405020304" pitchFamily="18" charset="0"/>
                <a:cs typeface="Times New Roman" panose="02020603050405020304" pitchFamily="18" charset="0"/>
              </a:rPr>
              <a:t>Mutation rate</a:t>
            </a:r>
          </a:p>
          <a:p>
            <a:r>
              <a:rPr lang="en-US" altLang="zh-TW">
                <a:latin typeface="Times New Roman" panose="02020603050405020304" pitchFamily="18" charset="0"/>
                <a:cs typeface="Times New Roman" panose="02020603050405020304" pitchFamily="18" charset="0"/>
              </a:rPr>
              <a:t>Insertion rate</a:t>
            </a:r>
          </a:p>
          <a:p>
            <a:r>
              <a:rPr lang="en-US" altLang="zh-TW">
                <a:latin typeface="Times New Roman" panose="02020603050405020304" pitchFamily="18" charset="0"/>
                <a:cs typeface="Times New Roman" panose="02020603050405020304" pitchFamily="18" charset="0"/>
              </a:rPr>
              <a:t>Migration rate</a:t>
            </a:r>
          </a:p>
        </p:txBody>
      </p:sp>
      <p:sp>
        <p:nvSpPr>
          <p:cNvPr id="28" name="圓角矩形 27"/>
          <p:cNvSpPr/>
          <p:nvPr/>
        </p:nvSpPr>
        <p:spPr>
          <a:xfrm>
            <a:off x="8546123" y="1565129"/>
            <a:ext cx="3072910" cy="360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rPr>
              <a:t>set the parameters of algorithm</a:t>
            </a:r>
            <a:endParaRPr lang="zh-TW" altLang="en-US">
              <a:solidFill>
                <a:sysClr val="windowText" lastClr="000000"/>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01088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4979311" y="5587381"/>
                <a:ext cx="4597925" cy="972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r>
                            <a:rPr lang="zh-TW" altLang="en-US" i="0">
                              <a:latin typeface="Cambria Math" panose="02040503050406030204" pitchFamily="18" charset="0"/>
                            </a:rPr>
                            <m:t>∆</m:t>
                          </m:r>
                          <m:r>
                            <a:rPr lang="zh-TW" altLang="en-US" i="1">
                              <a:latin typeface="Cambria Math" panose="02040503050406030204" pitchFamily="18" charset="0"/>
                            </a:rPr>
                            <m:t>𝑘𝐿</m:t>
                          </m:r>
                        </m:den>
                      </m:f>
                      <m:d>
                        <m:dPr>
                          <m:begChr m:val="|"/>
                          <m:endChr m:val="|"/>
                          <m:ctrlPr>
                            <a:rPr lang="zh-TW" altLang="en-US" i="1">
                              <a:latin typeface="Cambria Math" panose="02040503050406030204" pitchFamily="18" charset="0"/>
                            </a:rPr>
                          </m:ctrlPr>
                        </m:dPr>
                        <m:e>
                          <m:r>
                            <a:rPr lang="zh-TW" altLang="en-US" i="0">
                              <a:latin typeface="Cambria Math" panose="02040503050406030204" pitchFamily="18" charset="0"/>
                            </a:rPr>
                            <m:t>1−</m:t>
                          </m:r>
                          <m:sSup>
                            <m:sSupPr>
                              <m:ctrlPr>
                                <a:rPr lang="zh-TW" altLang="en-US" i="1">
                                  <a:latin typeface="Cambria Math" panose="02040503050406030204" pitchFamily="18" charset="0"/>
                                </a:rPr>
                              </m:ctrlPr>
                            </m:sSupPr>
                            <m:e>
                              <m:sSup>
                                <m:sSupPr>
                                  <m:ctrlPr>
                                    <a:rPr lang="zh-TW" altLang="en-US" i="1">
                                      <a:latin typeface="Cambria Math" panose="02040503050406030204" pitchFamily="18" charset="0"/>
                                    </a:rPr>
                                  </m:ctrlPr>
                                </m:sSupPr>
                                <m:e>
                                  <m:d>
                                    <m:dPr>
                                      <m:ctrlPr>
                                        <a:rPr lang="zh-TW" altLang="en-US" i="1">
                                          <a:latin typeface="Cambria Math" panose="02040503050406030204" pitchFamily="18" charset="0"/>
                                        </a:rPr>
                                      </m:ctrlPr>
                                    </m:dPr>
                                    <m:e>
                                      <m:r>
                                        <a:rPr lang="zh-TW" altLang="en-US" i="0">
                                          <a:latin typeface="Cambria Math" panose="02040503050406030204" pitchFamily="18" charset="0"/>
                                        </a:rPr>
                                        <m:t>−1</m:t>
                                      </m:r>
                                    </m:e>
                                  </m:d>
                                </m:e>
                                <m:sup>
                                  <m:r>
                                    <a:rPr lang="zh-TW" altLang="en-US" i="1">
                                      <a:latin typeface="Cambria Math" panose="02040503050406030204" pitchFamily="18" charset="0"/>
                                    </a:rPr>
                                    <m:t>𝑁</m:t>
                                  </m:r>
                                </m:sup>
                              </m:sSup>
                              <m:r>
                                <a:rPr lang="zh-TW" altLang="en-US" i="1">
                                  <a:latin typeface="Cambria Math" panose="02040503050406030204" pitchFamily="18" charset="0"/>
                                </a:rPr>
                                <m:t>𝑒</m:t>
                              </m:r>
                            </m:e>
                            <m:sup>
                              <m:r>
                                <a:rPr lang="zh-TW" altLang="en-US" i="1">
                                  <a:latin typeface="Cambria Math" panose="02040503050406030204" pitchFamily="18" charset="0"/>
                                </a:rPr>
                                <m:t>𝑖</m:t>
                              </m:r>
                              <m:r>
                                <a:rPr lang="zh-TW" altLang="en-US" i="0">
                                  <a:latin typeface="Cambria Math" panose="02040503050406030204" pitchFamily="18" charset="0"/>
                                </a:rPr>
                                <m:t>∆</m:t>
                              </m:r>
                              <m:r>
                                <a:rPr lang="zh-TW" altLang="en-US" i="1">
                                  <a:latin typeface="Cambria Math" panose="02040503050406030204" pitchFamily="18" charset="0"/>
                                </a:rPr>
                                <m:t>𝑘𝐿</m:t>
                              </m:r>
                            </m:sup>
                          </m:sSup>
                          <m:r>
                            <a:rPr lang="zh-TW" altLang="en-US" i="0">
                              <a:latin typeface="Cambria Math" panose="02040503050406030204" pitchFamily="18" charset="0"/>
                            </a:rPr>
                            <m:t>+</m:t>
                          </m:r>
                          <m:nary>
                            <m:naryPr>
                              <m:chr m:val="∑"/>
                              <m:limLoc m:val="undOvr"/>
                              <m:ctrlPr>
                                <a:rPr lang="zh-TW" altLang="en-US" i="1">
                                  <a:latin typeface="Cambria Math" panose="02040503050406030204" pitchFamily="18" charset="0"/>
                                </a:rPr>
                              </m:ctrlPr>
                            </m:naryPr>
                            <m:sub>
                              <m:r>
                                <a:rPr lang="zh-TW" altLang="en-US" i="1">
                                  <a:latin typeface="Cambria Math" panose="02040503050406030204" pitchFamily="18" charset="0"/>
                                </a:rPr>
                                <m:t>𝑛</m:t>
                              </m:r>
                              <m:r>
                                <a:rPr lang="zh-TW" altLang="en-US" i="0">
                                  <a:latin typeface="Cambria Math" panose="02040503050406030204" pitchFamily="18" charset="0"/>
                                </a:rPr>
                                <m:t>=1</m:t>
                              </m:r>
                            </m:sub>
                            <m:sup>
                              <m:r>
                                <a:rPr lang="zh-TW" altLang="en-US" i="1">
                                  <a:latin typeface="Cambria Math" panose="02040503050406030204" pitchFamily="18" charset="0"/>
                                </a:rPr>
                                <m:t>𝑁</m:t>
                              </m:r>
                            </m:sup>
                            <m:e>
                              <m:r>
                                <a:rPr lang="zh-TW" altLang="en-US" i="0">
                                  <a:latin typeface="Cambria Math" panose="02040503050406030204" pitchFamily="18" charset="0"/>
                                </a:rPr>
                                <m:t>2</m:t>
                              </m:r>
                              <m:sSup>
                                <m:sSupPr>
                                  <m:ctrlPr>
                                    <a:rPr lang="zh-TW" altLang="en-US" i="1">
                                      <a:latin typeface="Cambria Math" panose="02040503050406030204" pitchFamily="18" charset="0"/>
                                    </a:rPr>
                                  </m:ctrlPr>
                                </m:sSupPr>
                                <m:e>
                                  <m:sSup>
                                    <m:sSupPr>
                                      <m:ctrlPr>
                                        <a:rPr lang="zh-TW" altLang="en-US" i="1">
                                          <a:latin typeface="Cambria Math" panose="02040503050406030204" pitchFamily="18" charset="0"/>
                                        </a:rPr>
                                      </m:ctrlPr>
                                    </m:sSupPr>
                                    <m:e>
                                      <m:d>
                                        <m:dPr>
                                          <m:ctrlPr>
                                            <a:rPr lang="zh-TW" altLang="en-US" i="1">
                                              <a:latin typeface="Cambria Math" panose="02040503050406030204" pitchFamily="18" charset="0"/>
                                            </a:rPr>
                                          </m:ctrlPr>
                                        </m:dPr>
                                        <m:e>
                                          <m:r>
                                            <a:rPr lang="zh-TW" altLang="en-US" i="0">
                                              <a:latin typeface="Cambria Math" panose="02040503050406030204" pitchFamily="18" charset="0"/>
                                            </a:rPr>
                                            <m:t>−1</m:t>
                                          </m:r>
                                        </m:e>
                                      </m:d>
                                    </m:e>
                                    <m:sup>
                                      <m:r>
                                        <a:rPr lang="zh-TW" altLang="en-US" i="1">
                                          <a:latin typeface="Cambria Math" panose="02040503050406030204" pitchFamily="18" charset="0"/>
                                        </a:rPr>
                                        <m:t>𝑛</m:t>
                                      </m:r>
                                    </m:sup>
                                  </m:sSup>
                                  <m:r>
                                    <a:rPr lang="zh-TW" altLang="en-US" i="1">
                                      <a:latin typeface="Cambria Math" panose="02040503050406030204" pitchFamily="18" charset="0"/>
                                    </a:rPr>
                                    <m:t>𝑒</m:t>
                                  </m:r>
                                </m:e>
                                <m:sup>
                                  <m:r>
                                    <a:rPr lang="zh-TW" altLang="en-US" i="1">
                                      <a:latin typeface="Cambria Math" panose="02040503050406030204" pitchFamily="18" charset="0"/>
                                    </a:rPr>
                                    <m:t>𝑖</m:t>
                                  </m:r>
                                  <m:r>
                                    <a:rPr lang="zh-TW" altLang="en-US" i="0">
                                      <a:latin typeface="Cambria Math" panose="02040503050406030204" pitchFamily="18" charset="0"/>
                                    </a:rPr>
                                    <m:t>∆</m:t>
                                  </m:r>
                                  <m:r>
                                    <a:rPr lang="zh-TW" altLang="en-US" i="1">
                                      <a:latin typeface="Cambria Math" panose="02040503050406030204" pitchFamily="18" charset="0"/>
                                    </a:rPr>
                                    <m:t>𝑘</m:t>
                                  </m:r>
                                  <m:sSub>
                                    <m:sSubPr>
                                      <m:ctrlPr>
                                        <a:rPr lang="zh-TW" altLang="en-US" i="1">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𝑛</m:t>
                                      </m:r>
                                    </m:sub>
                                  </m:sSub>
                                </m:sup>
                              </m:sSup>
                            </m:e>
                          </m:nary>
                        </m:e>
                      </m:d>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4979311" y="5587381"/>
                <a:ext cx="4597925" cy="97270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486048" y="1663368"/>
                <a:ext cx="7223099" cy="11717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𝑂𝐹</m:t>
                      </m:r>
                      <m:r>
                        <a:rPr lang="zh-TW" altLang="en-US" i="0">
                          <a:latin typeface="Cambria Math" panose="02040503050406030204" pitchFamily="18" charset="0"/>
                        </a:rPr>
                        <m:t>=</m:t>
                      </m:r>
                      <m:nary>
                        <m:naryPr>
                          <m:chr m:val="∑"/>
                          <m:limLoc m:val="undOvr"/>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=0</m:t>
                          </m:r>
                        </m:sub>
                        <m:sup>
                          <m:r>
                            <a:rPr lang="zh-TW" altLang="en-US" i="1">
                              <a:latin typeface="Cambria Math" panose="02040503050406030204" pitchFamily="18" charset="0"/>
                            </a:rPr>
                            <m:t>𝑛</m:t>
                          </m:r>
                        </m:sup>
                        <m:e>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𝑤</m:t>
                                  </m:r>
                                </m:e>
                                <m:sub>
                                  <m:r>
                                    <a:rPr lang="zh-TW" altLang="en-US" i="1">
                                      <a:latin typeface="Cambria Math" panose="02040503050406030204" pitchFamily="18" charset="0"/>
                                    </a:rPr>
                                    <m:t>𝑖</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𝑖</m:t>
                                      </m:r>
                                    </m:sub>
                                  </m:sSub>
                                </m:e>
                              </m:d>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𝑖</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𝑖</m:t>
                                          </m:r>
                                        </m:sub>
                                      </m:sSub>
                                    </m:e>
                                  </m:d>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𝑖</m:t>
                                          </m:r>
                                        </m:sub>
                                      </m:sSub>
                                    </m:e>
                                  </m:d>
                                </m:e>
                              </m:d>
                            </m:e>
                          </m:d>
                          <m:r>
                            <a:rPr lang="zh-TW" altLang="en-US" i="0">
                              <a:latin typeface="Cambria Math" panose="02040503050406030204" pitchFamily="18" charset="0"/>
                            </a:rPr>
                            <m:t>+</m:t>
                          </m:r>
                          <m:r>
                            <a:rPr lang="zh-TW" altLang="en-US" i="1">
                              <a:latin typeface="Cambria Math" panose="02040503050406030204" pitchFamily="18" charset="0"/>
                            </a:rPr>
                            <m:t>𝛽</m:t>
                          </m:r>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func>
                                <m:funcPr>
                                  <m:ctrlPr>
                                    <a:rPr lang="zh-TW" altLang="en-US" i="1">
                                      <a:latin typeface="Cambria Math" panose="02040503050406030204" pitchFamily="18" charset="0"/>
                                    </a:rPr>
                                  </m:ctrlPr>
                                </m:funcPr>
                                <m:fName>
                                  <m:r>
                                    <a:rPr lang="zh-TW" altLang="en-US" i="1">
                                      <a:latin typeface="Cambria Math" panose="02040503050406030204" pitchFamily="18" charset="0"/>
                                    </a:rPr>
                                    <m:t>𝑚𝑎𝑥</m:t>
                                  </m:r>
                                </m:fName>
                                <m:e>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e>
                                  </m:d>
                                </m:e>
                              </m:func>
                              <m:r>
                                <a:rPr lang="zh-TW" altLang="en-US" i="0">
                                  <a:latin typeface="Cambria Math" panose="02040503050406030204" pitchFamily="18" charset="0"/>
                                </a:rPr>
                                <m:t>−</m:t>
                              </m:r>
                              <m:func>
                                <m:funcPr>
                                  <m:ctrlPr>
                                    <a:rPr lang="zh-TW" altLang="en-US" i="1">
                                      <a:latin typeface="Cambria Math" panose="02040503050406030204" pitchFamily="18" charset="0"/>
                                    </a:rPr>
                                  </m:ctrlPr>
                                </m:funcPr>
                                <m:fName>
                                  <m:r>
                                    <a:rPr lang="zh-TW" altLang="en-US" i="1">
                                      <a:latin typeface="Cambria Math" panose="02040503050406030204" pitchFamily="18" charset="0"/>
                                    </a:rPr>
                                    <m:t>𝑚𝑖𝑛</m:t>
                                  </m:r>
                                </m:fName>
                                <m:e>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e>
                                  </m:d>
                                </m:e>
                              </m:func>
                            </m:e>
                          </m:d>
                        </m:e>
                      </m:nary>
                    </m:oMath>
                  </m:oMathPara>
                </a14:m>
                <a:endParaRPr lang="en-US" altLang="zh-TW" dirty="0"/>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𝐸𝑂</m:t>
                          </m:r>
                        </m:sub>
                      </m:sSub>
                      <m:r>
                        <a:rPr lang="en-US" altLang="zh-TW" i="1">
                          <a:latin typeface="Cambria Math" panose="02040503050406030204" pitchFamily="18" charset="0"/>
                        </a:rPr>
                        <m:t>×</m:t>
                      </m:r>
                      <m:d>
                        <m:dPr>
                          <m:begChr m:val="|"/>
                          <m:endChr m:val="|"/>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𝛾</m:t>
                              </m:r>
                            </m:e>
                            <m:sub>
                              <m:r>
                                <a:rPr lang="en-US" altLang="zh-TW" i="1">
                                  <a:latin typeface="Cambria Math" panose="02040503050406030204" pitchFamily="18" charset="0"/>
                                </a:rPr>
                                <m:t>𝑡𝑎𝑟𝑔𝑒𝑡</m:t>
                              </m:r>
                            </m:sub>
                          </m:sSub>
                          <m:r>
                            <a:rPr lang="en-US" altLang="zh-TW" i="1">
                              <a:latin typeface="Cambria Math" panose="02040503050406030204" pitchFamily="18" charset="0"/>
                            </a:rPr>
                            <m:t>−</m:t>
                          </m:r>
                          <m:r>
                            <a:rPr lang="en-US" altLang="zh-TW" i="1">
                              <a:latin typeface="Cambria Math" panose="02040503050406030204" pitchFamily="18" charset="0"/>
                            </a:rPr>
                            <m:t>𝛾</m:t>
                          </m:r>
                        </m:e>
                      </m:d>
                    </m:oMath>
                  </m:oMathPara>
                </a14:m>
                <a:endParaRPr lang="zh-TW" altLang="en-US" dirty="0"/>
              </a:p>
            </p:txBody>
          </p:sp>
        </mc:Choice>
        <mc:Fallback xmlns="">
          <p:sp>
            <p:nvSpPr>
              <p:cNvPr id="4" name="矩形 3"/>
              <p:cNvSpPr>
                <a:spLocks noRot="1" noChangeAspect="1" noMove="1" noResize="1" noEditPoints="1" noAdjustHandles="1" noChangeArrowheads="1" noChangeShapeType="1" noTextEdit="1"/>
              </p:cNvSpPr>
              <p:nvPr/>
            </p:nvSpPr>
            <p:spPr>
              <a:xfrm>
                <a:off x="4486048" y="1663368"/>
                <a:ext cx="7223099" cy="1171731"/>
              </a:xfrm>
              <a:prstGeom prst="rect">
                <a:avLst/>
              </a:prstGeom>
              <a:blipFill>
                <a:blip r:embed="rId4"/>
                <a:stretch>
                  <a:fillRect b="-15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372230" y="1072662"/>
                <a:ext cx="4113818" cy="2353145"/>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n</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number of signals</a:t>
                </a:r>
              </a:p>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𝑖</m:t>
                        </m:r>
                      </m:sub>
                    </m:sSub>
                  </m:oMath>
                </a14:m>
                <a:r>
                  <a:rPr lang="zh-TW" altLang="en-US">
                    <a:latin typeface="Times New Roman" panose="02020603050405020304" pitchFamily="18" charset="0"/>
                    <a:cs typeface="Times New Roman" panose="02020603050405020304" pitchFamily="18" charset="0"/>
                  </a:rPr>
                  <a:t>：</a:t>
                </a:r>
                <a:r>
                  <a:rPr lang="en-US" altLang="zh-TW">
                    <a:latin typeface="Times New Roman" pitchFamily="18" charset="0"/>
                    <a:cs typeface="Times New Roman" pitchFamily="18" charset="0"/>
                  </a:rPr>
                  <a:t>efficiency target</a:t>
                </a:r>
              </a:p>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oMath>
                </a14:m>
                <a:r>
                  <a:rPr lang="zh-TW" altLang="en-US">
                    <a:latin typeface="Times New Roman" pitchFamily="18" charset="0"/>
                    <a:cs typeface="Times New Roman" pitchFamily="18" charset="0"/>
                  </a:rPr>
                  <a:t>：</a:t>
                </a:r>
                <a:r>
                  <a:rPr lang="en-US" altLang="zh-TW">
                    <a:latin typeface="Times New Roman" pitchFamily="18" charset="0"/>
                    <a:cs typeface="Times New Roman" pitchFamily="18" charset="0"/>
                  </a:rPr>
                  <a:t>efficiency</a:t>
                </a:r>
              </a:p>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𝑤</m:t>
                        </m:r>
                      </m:e>
                      <m:sub>
                        <m:r>
                          <a:rPr lang="zh-TW" altLang="en-US" i="1">
                            <a:latin typeface="Cambria Math" panose="02040503050406030204" pitchFamily="18" charset="0"/>
                          </a:rPr>
                          <m:t>𝑖</m:t>
                        </m:r>
                      </m:sub>
                    </m:sSub>
                  </m:oMath>
                </a14:m>
                <a:r>
                  <a:rPr lang="zh-TW" altLang="en-US">
                    <a:latin typeface="Times New Roman" pitchFamily="18" charset="0"/>
                    <a:cs typeface="Times New Roman" pitchFamily="18" charset="0"/>
                  </a:rPr>
                  <a:t>：</a:t>
                </a:r>
                <a:r>
                  <a:rPr lang="en-US" altLang="zh-TW">
                    <a:latin typeface="Times New Roman" pitchFamily="18" charset="0"/>
                    <a:cs typeface="Times New Roman" pitchFamily="18" charset="0"/>
                  </a:rPr>
                  <a:t>efficiency weighting</a:t>
                </a:r>
              </a:p>
              <a:p>
                <a14:m>
                  <m:oMath xmlns:m="http://schemas.openxmlformats.org/officeDocument/2006/math">
                    <m:r>
                      <a:rPr lang="zh-TW" altLang="en-US" i="1">
                        <a:latin typeface="Cambria Math" panose="02040503050406030204" pitchFamily="18" charset="0"/>
                      </a:rPr>
                      <m:t>𝛽</m:t>
                    </m:r>
                  </m:oMath>
                </a14:m>
                <a:r>
                  <a:rPr lang="zh-TW" altLang="en-US">
                    <a:latin typeface="Times New Roman" pitchFamily="18" charset="0"/>
                    <a:cs typeface="Times New Roman" pitchFamily="18" charset="0"/>
                  </a:rPr>
                  <a:t>：</a:t>
                </a:r>
                <a:r>
                  <a:rPr lang="en-US" altLang="zh-TW" i="1">
                    <a:latin typeface="Times New Roman" pitchFamily="18" charset="0"/>
                    <a:cs typeface="Times New Roman" pitchFamily="18" charset="0"/>
                  </a:rPr>
                  <a:t> </a:t>
                </a:r>
                <a:r>
                  <a:rPr lang="en-US" altLang="zh-TW">
                    <a:latin typeface="Times New Roman" pitchFamily="18" charset="0"/>
                    <a:cs typeface="Times New Roman" pitchFamily="18" charset="0"/>
                  </a:rPr>
                  <a:t>equalization weighting</a:t>
                </a:r>
              </a:p>
              <a:p>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𝛾</m:t>
                        </m:r>
                      </m:e>
                      <m:sub>
                        <m:r>
                          <a:rPr lang="en-US" altLang="zh-TW" i="1">
                            <a:latin typeface="Cambria Math" panose="02040503050406030204" pitchFamily="18" charset="0"/>
                          </a:rPr>
                          <m:t>𝑡𝑎𝑟𝑔𝑒𝑡</m:t>
                        </m:r>
                      </m:sub>
                    </m:sSub>
                  </m:oMath>
                </a14:m>
                <a:r>
                  <a:rPr lang="zh-TW" altLang="en-US">
                    <a:latin typeface="Times New Roman" pitchFamily="18" charset="0"/>
                    <a:cs typeface="Times New Roman" pitchFamily="18" charset="0"/>
                  </a:rPr>
                  <a:t>：</a:t>
                </a:r>
                <a:r>
                  <a:rPr lang="en-US" altLang="zh-TW">
                    <a:latin typeface="Times New Roman" pitchFamily="18" charset="0"/>
                    <a:cs typeface="Times New Roman" pitchFamily="18" charset="0"/>
                  </a:rPr>
                  <a:t>domain length difference target</a:t>
                </a:r>
              </a:p>
              <a:p>
                <a14:m>
                  <m:oMath xmlns:m="http://schemas.openxmlformats.org/officeDocument/2006/math">
                    <m:r>
                      <a:rPr lang="en-US" altLang="zh-TW" i="1">
                        <a:latin typeface="Cambria Math" panose="02040503050406030204" pitchFamily="18" charset="0"/>
                      </a:rPr>
                      <m:t>𝛾</m:t>
                    </m:r>
                  </m:oMath>
                </a14:m>
                <a:r>
                  <a:rPr lang="zh-TW" altLang="en-US">
                    <a:latin typeface="Times New Roman" pitchFamily="18" charset="0"/>
                    <a:cs typeface="Times New Roman" pitchFamily="18" charset="0"/>
                  </a:rPr>
                  <a:t>：</a:t>
                </a:r>
                <a:r>
                  <a:rPr lang="en-US" altLang="zh-TW">
                    <a:latin typeface="Times New Roman" pitchFamily="18" charset="0"/>
                    <a:cs typeface="Times New Roman" pitchFamily="18" charset="0"/>
                  </a:rPr>
                  <a:t> domain length difference</a:t>
                </a:r>
              </a:p>
              <a:p>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𝐸𝑂</m:t>
                        </m:r>
                      </m:sub>
                    </m:sSub>
                  </m:oMath>
                </a14:m>
                <a:r>
                  <a:rPr lang="zh-TW" altLang="en-US">
                    <a:latin typeface="Times New Roman" pitchFamily="18" charset="0"/>
                    <a:cs typeface="Times New Roman" pitchFamily="18" charset="0"/>
                  </a:rPr>
                  <a:t>：</a:t>
                </a:r>
                <a:r>
                  <a:rPr lang="en-US" altLang="zh-TW">
                    <a:latin typeface="Times New Roman" pitchFamily="18" charset="0"/>
                    <a:cs typeface="Times New Roman" pitchFamily="18" charset="0"/>
                  </a:rPr>
                  <a:t>domain length difference</a:t>
                </a:r>
                <a:r>
                  <a:rPr lang="zh-TW" altLang="en-US">
                    <a:latin typeface="Times New Roman" pitchFamily="18" charset="0"/>
                    <a:cs typeface="Times New Roman" pitchFamily="18" charset="0"/>
                  </a:rPr>
                  <a:t> </a:t>
                </a:r>
                <a:r>
                  <a:rPr lang="en-US" altLang="zh-TW">
                    <a:latin typeface="Times New Roman" pitchFamily="18" charset="0"/>
                    <a:cs typeface="Times New Roman" pitchFamily="18" charset="0"/>
                  </a:rPr>
                  <a:t>weighting</a:t>
                </a:r>
              </a:p>
            </p:txBody>
          </p:sp>
        </mc:Choice>
        <mc:Fallback xmlns="">
          <p:sp>
            <p:nvSpPr>
              <p:cNvPr id="5" name="文字方塊 4"/>
              <p:cNvSpPr txBox="1">
                <a:spLocks noRot="1" noChangeAspect="1" noMove="1" noResize="1" noEditPoints="1" noAdjustHandles="1" noChangeArrowheads="1" noChangeShapeType="1" noTextEdit="1"/>
              </p:cNvSpPr>
              <p:nvPr/>
            </p:nvSpPr>
            <p:spPr>
              <a:xfrm>
                <a:off x="372230" y="1072662"/>
                <a:ext cx="4113818" cy="2353145"/>
              </a:xfrm>
              <a:prstGeom prst="rect">
                <a:avLst/>
              </a:prstGeom>
              <a:blipFill>
                <a:blip r:embed="rId5"/>
                <a:stretch>
                  <a:fillRect l="-1185" t="-1554" r="-444" b="-33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372230" y="3640820"/>
                <a:ext cx="3052439" cy="1499578"/>
              </a:xfrm>
              <a:prstGeom prst="rect">
                <a:avLst/>
              </a:prstGeom>
              <a:noFill/>
            </p:spPr>
            <p:txBody>
              <a:bodyPr wrap="none" rtlCol="0">
                <a:spAutoFit/>
              </a:bodyPr>
              <a:lstStyle/>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𝑑</m:t>
                        </m:r>
                      </m:e>
                      <m:sub>
                        <m:r>
                          <a:rPr lang="zh-TW" altLang="en-US" i="1">
                            <a:latin typeface="Cambria Math" panose="02040503050406030204" pitchFamily="18" charset="0"/>
                          </a:rPr>
                          <m:t>𝑒𝑓𝑓</m:t>
                        </m:r>
                      </m:sub>
                    </m:sSub>
                  </m:oMath>
                </a14:m>
                <a:r>
                  <a:rPr lang="zh-TW" altLang="en-US">
                    <a:latin typeface="Times New Roman" pitchFamily="18" charset="0"/>
                    <a:cs typeface="Times New Roman" pitchFamily="18" charset="0"/>
                  </a:rPr>
                  <a:t>：</a:t>
                </a:r>
                <a:r>
                  <a:rPr lang="en-US" altLang="zh-TW" err="1">
                    <a:latin typeface="Times New Roman" pitchFamily="18" charset="0"/>
                    <a:cs typeface="Times New Roman" pitchFamily="18" charset="0"/>
                  </a:rPr>
                  <a:t>fourier</a:t>
                </a:r>
                <a:r>
                  <a:rPr lang="en-US" altLang="zh-TW">
                    <a:latin typeface="Times New Roman" pitchFamily="18" charset="0"/>
                    <a:cs typeface="Times New Roman" pitchFamily="18" charset="0"/>
                  </a:rPr>
                  <a:t> coefficient</a:t>
                </a:r>
              </a:p>
              <a:p>
                <a14:m>
                  <m:oMath xmlns:m="http://schemas.openxmlformats.org/officeDocument/2006/math">
                    <m:r>
                      <a:rPr lang="zh-TW" altLang="en-US">
                        <a:latin typeface="Cambria Math" panose="02040503050406030204" pitchFamily="18" charset="0"/>
                      </a:rPr>
                      <m:t>∆</m:t>
                    </m:r>
                    <m:r>
                      <a:rPr lang="zh-TW" altLang="en-US" i="1">
                        <a:latin typeface="Cambria Math" panose="02040503050406030204" pitchFamily="18" charset="0"/>
                      </a:rPr>
                      <m:t>𝑘</m:t>
                    </m:r>
                    <m:r>
                      <a:rPr lang="zh-TW" altLang="en-US" i="1">
                        <a:latin typeface="Cambria Math" panose="02040503050406030204" pitchFamily="18" charset="0"/>
                      </a:rPr>
                      <m:t>：</m:t>
                    </m:r>
                  </m:oMath>
                </a14:m>
                <a:r>
                  <a:rPr lang="en-US" altLang="zh-TW">
                    <a:latin typeface="Times New Roman" pitchFamily="18" charset="0"/>
                    <a:cs typeface="Times New Roman" pitchFamily="18" charset="0"/>
                  </a:rPr>
                  <a:t>phase matching condition</a:t>
                </a:r>
              </a:p>
              <a:p>
                <a14:m>
                  <m:oMath xmlns:m="http://schemas.openxmlformats.org/officeDocument/2006/math">
                    <m:r>
                      <a:rPr lang="zh-TW" altLang="en-US" i="1">
                        <a:latin typeface="Cambria Math" panose="02040503050406030204" pitchFamily="18" charset="0"/>
                      </a:rPr>
                      <m:t>𝐿</m:t>
                    </m:r>
                    <m:r>
                      <a:rPr lang="zh-TW" altLang="en-US" i="1" smtClean="0">
                        <a:latin typeface="Cambria Math" panose="02040503050406030204" pitchFamily="18" charset="0"/>
                      </a:rPr>
                      <m:t>：</m:t>
                    </m:r>
                  </m:oMath>
                </a14:m>
                <a:r>
                  <a:rPr lang="en-US" altLang="zh-TW">
                    <a:latin typeface="Times New Roman" pitchFamily="18" charset="0"/>
                    <a:cs typeface="Times New Roman" pitchFamily="18" charset="0"/>
                  </a:rPr>
                  <a:t>crystal length</a:t>
                </a:r>
              </a:p>
              <a:p>
                <a14:m>
                  <m:oMath xmlns:m="http://schemas.openxmlformats.org/officeDocument/2006/math">
                    <m:r>
                      <m:rPr>
                        <m:sty m:val="p"/>
                      </m:rPr>
                      <a:rPr lang="zh-TW" altLang="en-US" i="0">
                        <a:latin typeface="Cambria Math" panose="02040503050406030204" pitchFamily="18" charset="0"/>
                      </a:rPr>
                      <m:t>N</m:t>
                    </m:r>
                    <m:r>
                      <a:rPr lang="zh-TW" altLang="en-US" i="0" smtClean="0">
                        <a:latin typeface="Cambria Math" panose="02040503050406030204" pitchFamily="18" charset="0"/>
                      </a:rPr>
                      <m:t>：</m:t>
                    </m:r>
                  </m:oMath>
                </a14:m>
                <a:r>
                  <a:rPr lang="en-US" altLang="zh-TW">
                    <a:latin typeface="Times New Roman" pitchFamily="18" charset="0"/>
                    <a:cs typeface="Times New Roman" pitchFamily="18" charset="0"/>
                  </a:rPr>
                  <a:t> unit block number</a:t>
                </a:r>
              </a:p>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𝑛</m:t>
                        </m:r>
                      </m:sub>
                    </m:sSub>
                    <m:r>
                      <a:rPr lang="zh-TW" altLang="en-US" i="1">
                        <a:latin typeface="Cambria Math" panose="02040503050406030204" pitchFamily="18" charset="0"/>
                      </a:rPr>
                      <m:t>：</m:t>
                    </m:r>
                  </m:oMath>
                </a14:m>
                <a:r>
                  <a:rPr lang="en-US" altLang="zh-TW">
                    <a:latin typeface="Times New Roman" pitchFamily="18" charset="0"/>
                    <a:cs typeface="Times New Roman" pitchFamily="18" charset="0"/>
                  </a:rPr>
                  <a:t>domain position</a:t>
                </a:r>
              </a:p>
            </p:txBody>
          </p:sp>
        </mc:Choice>
        <mc:Fallback xmlns="">
          <p:sp>
            <p:nvSpPr>
              <p:cNvPr id="6" name="文字方塊 5"/>
              <p:cNvSpPr txBox="1">
                <a:spLocks noRot="1" noChangeAspect="1" noMove="1" noResize="1" noEditPoints="1" noAdjustHandles="1" noChangeArrowheads="1" noChangeShapeType="1" noTextEdit="1"/>
              </p:cNvSpPr>
              <p:nvPr/>
            </p:nvSpPr>
            <p:spPr>
              <a:xfrm>
                <a:off x="372230" y="3640820"/>
                <a:ext cx="3052439" cy="1499578"/>
              </a:xfrm>
              <a:prstGeom prst="rect">
                <a:avLst/>
              </a:prstGeom>
              <a:blipFill>
                <a:blip r:embed="rId6"/>
                <a:stretch>
                  <a:fillRect t="-2033" r="-798" b="-5691"/>
                </a:stretch>
              </a:blipFill>
            </p:spPr>
            <p:txBody>
              <a:bodyPr/>
              <a:lstStyle/>
              <a:p>
                <a:r>
                  <a:rPr lang="zh-TW" altLang="en-US">
                    <a:noFill/>
                  </a:rPr>
                  <a:t> </a:t>
                </a:r>
              </a:p>
            </p:txBody>
          </p:sp>
        </mc:Fallback>
      </mc:AlternateContent>
      <p:grpSp>
        <p:nvGrpSpPr>
          <p:cNvPr id="7" name="群組 6"/>
          <p:cNvGrpSpPr>
            <a:grpSpLocks noChangeAspect="1"/>
          </p:cNvGrpSpPr>
          <p:nvPr/>
        </p:nvGrpSpPr>
        <p:grpSpPr>
          <a:xfrm>
            <a:off x="117261" y="5449303"/>
            <a:ext cx="4041563" cy="1143055"/>
            <a:chOff x="1746169" y="3362086"/>
            <a:chExt cx="7348287" cy="2078282"/>
          </a:xfrm>
        </p:grpSpPr>
        <p:sp>
          <p:nvSpPr>
            <p:cNvPr id="8" name="立方體 7"/>
            <p:cNvSpPr/>
            <p:nvPr/>
          </p:nvSpPr>
          <p:spPr>
            <a:xfrm>
              <a:off x="1884169" y="3362086"/>
              <a:ext cx="1676836" cy="1406770"/>
            </a:xfrm>
            <a:prstGeom prst="cube">
              <a:avLst>
                <a:gd name="adj" fmla="val 60339"/>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立方體 8"/>
            <p:cNvSpPr/>
            <p:nvPr/>
          </p:nvSpPr>
          <p:spPr>
            <a:xfrm>
              <a:off x="2713158" y="3362087"/>
              <a:ext cx="1919831" cy="1406770"/>
            </a:xfrm>
            <a:prstGeom prst="cube">
              <a:avLst>
                <a:gd name="adj" fmla="val 60359"/>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立方體 9"/>
            <p:cNvSpPr/>
            <p:nvPr/>
          </p:nvSpPr>
          <p:spPr>
            <a:xfrm>
              <a:off x="3797737" y="3362086"/>
              <a:ext cx="1514336" cy="1406770"/>
            </a:xfrm>
            <a:prstGeom prst="cube">
              <a:avLst>
                <a:gd name="adj" fmla="val 59713"/>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立方體 10"/>
            <p:cNvSpPr/>
            <p:nvPr/>
          </p:nvSpPr>
          <p:spPr>
            <a:xfrm>
              <a:off x="4473926" y="3362086"/>
              <a:ext cx="2464309" cy="1406770"/>
            </a:xfrm>
            <a:prstGeom prst="cube">
              <a:avLst>
                <a:gd name="adj" fmla="val 5971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立方體 11"/>
            <p:cNvSpPr/>
            <p:nvPr/>
          </p:nvSpPr>
          <p:spPr>
            <a:xfrm>
              <a:off x="6101570" y="3362086"/>
              <a:ext cx="1715171" cy="1406770"/>
            </a:xfrm>
            <a:prstGeom prst="cube">
              <a:avLst>
                <a:gd name="adj" fmla="val 5971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立方體 12"/>
            <p:cNvSpPr/>
            <p:nvPr/>
          </p:nvSpPr>
          <p:spPr>
            <a:xfrm>
              <a:off x="6975231" y="3362086"/>
              <a:ext cx="2119225" cy="1406770"/>
            </a:xfrm>
            <a:prstGeom prst="cube">
              <a:avLst>
                <a:gd name="adj" fmla="val 60185"/>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向上箭號 13"/>
            <p:cNvSpPr/>
            <p:nvPr/>
          </p:nvSpPr>
          <p:spPr>
            <a:xfrm>
              <a:off x="2115043" y="4292222"/>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上箭號 14"/>
            <p:cNvSpPr/>
            <p:nvPr/>
          </p:nvSpPr>
          <p:spPr>
            <a:xfrm>
              <a:off x="3975836"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向上箭號 15"/>
            <p:cNvSpPr/>
            <p:nvPr/>
          </p:nvSpPr>
          <p:spPr>
            <a:xfrm>
              <a:off x="634568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向上箭號 16"/>
            <p:cNvSpPr/>
            <p:nvPr/>
          </p:nvSpPr>
          <p:spPr>
            <a:xfrm flipV="1">
              <a:off x="309101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上箭號 17"/>
            <p:cNvSpPr/>
            <p:nvPr/>
          </p:nvSpPr>
          <p:spPr>
            <a:xfrm flipV="1">
              <a:off x="518024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向上箭號 18"/>
            <p:cNvSpPr/>
            <p:nvPr/>
          </p:nvSpPr>
          <p:spPr>
            <a:xfrm flipV="1">
              <a:off x="7458437"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0" name="文字方塊 19"/>
                <p:cNvSpPr txBox="1"/>
                <p:nvPr/>
              </p:nvSpPr>
              <p:spPr>
                <a:xfrm>
                  <a:off x="2347819" y="4768856"/>
                  <a:ext cx="7947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2347819" y="4768856"/>
                  <a:ext cx="794777" cy="369332"/>
                </a:xfrm>
                <a:prstGeom prst="rect">
                  <a:avLst/>
                </a:prstGeom>
                <a:blipFill>
                  <a:blip r:embed="rId7"/>
                  <a:stretch>
                    <a:fillRect b="-84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3424345" y="4768856"/>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2</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1" name="文字方塊 20"/>
                <p:cNvSpPr txBox="1">
                  <a:spLocks noRot="1" noChangeAspect="1" noMove="1" noResize="1" noEditPoints="1" noAdjustHandles="1" noChangeArrowheads="1" noChangeShapeType="1" noTextEdit="1"/>
                </p:cNvSpPr>
                <p:nvPr/>
              </p:nvSpPr>
              <p:spPr>
                <a:xfrm>
                  <a:off x="3424345" y="4768856"/>
                  <a:ext cx="803702" cy="369332"/>
                </a:xfrm>
                <a:prstGeom prst="rect">
                  <a:avLst/>
                </a:prstGeom>
                <a:blipFill>
                  <a:blip r:embed="rId8"/>
                  <a:stretch>
                    <a:fillRect b="-84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4093008" y="4768856"/>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3</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 name="文字方塊 21"/>
                <p:cNvSpPr txBox="1">
                  <a:spLocks noRot="1" noChangeAspect="1" noMove="1" noResize="1" noEditPoints="1" noAdjustHandles="1" noChangeArrowheads="1" noChangeShapeType="1" noTextEdit="1"/>
                </p:cNvSpPr>
                <p:nvPr/>
              </p:nvSpPr>
              <p:spPr>
                <a:xfrm>
                  <a:off x="4093008" y="4768856"/>
                  <a:ext cx="803702" cy="369332"/>
                </a:xfrm>
                <a:prstGeom prst="rect">
                  <a:avLst/>
                </a:prstGeom>
                <a:blipFill>
                  <a:blip r:embed="rId9"/>
                  <a:stretch>
                    <a:fillRect b="-84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6405152" y="4768855"/>
                  <a:ext cx="1296275" cy="6715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 name="文字方塊 22"/>
                <p:cNvSpPr txBox="1">
                  <a:spLocks noRot="1" noChangeAspect="1" noMove="1" noResize="1" noEditPoints="1" noAdjustHandles="1" noChangeArrowheads="1" noChangeShapeType="1" noTextEdit="1"/>
                </p:cNvSpPr>
                <p:nvPr/>
              </p:nvSpPr>
              <p:spPr>
                <a:xfrm>
                  <a:off x="6405152" y="4768855"/>
                  <a:ext cx="1296275" cy="671513"/>
                </a:xfrm>
                <a:prstGeom prst="rect">
                  <a:avLst/>
                </a:prstGeom>
                <a:blipFill>
                  <a:blip r:embed="rId10"/>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7824381" y="4768855"/>
                  <a:ext cx="896981" cy="6715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𝑛</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4" name="文字方塊 23"/>
                <p:cNvSpPr txBox="1">
                  <a:spLocks noRot="1" noChangeAspect="1" noMove="1" noResize="1" noEditPoints="1" noAdjustHandles="1" noChangeArrowheads="1" noChangeShapeType="1" noTextEdit="1"/>
                </p:cNvSpPr>
                <p:nvPr/>
              </p:nvSpPr>
              <p:spPr>
                <a:xfrm>
                  <a:off x="7824381" y="4768855"/>
                  <a:ext cx="896981" cy="671513"/>
                </a:xfrm>
                <a:prstGeom prst="rect">
                  <a:avLst/>
                </a:prstGeom>
                <a:blipFill>
                  <a:blip r:embed="rId11"/>
                  <a:stretch>
                    <a:fillRect/>
                  </a:stretch>
                </a:blipFill>
              </p:spPr>
              <p:txBody>
                <a:bodyPr/>
                <a:lstStyle/>
                <a:p>
                  <a:r>
                    <a:rPr lang="zh-TW" altLang="en-US">
                      <a:noFill/>
                    </a:rPr>
                    <a:t> </a:t>
                  </a:r>
                </a:p>
              </p:txBody>
            </p:sp>
          </mc:Fallback>
        </mc:AlternateContent>
        <p:sp>
          <p:nvSpPr>
            <p:cNvPr id="25" name="文字方塊 24"/>
            <p:cNvSpPr txBox="1"/>
            <p:nvPr/>
          </p:nvSpPr>
          <p:spPr>
            <a:xfrm>
              <a:off x="1746169" y="4768856"/>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0</a:t>
              </a:r>
              <a:endParaRPr lang="zh-TW" altLang="en-US">
                <a:latin typeface="Times New Roman" panose="02020603050405020304" pitchFamily="18" charset="0"/>
                <a:cs typeface="Times New Roman" panose="02020603050405020304" pitchFamily="18" charset="0"/>
              </a:endParaRPr>
            </a:p>
          </p:txBody>
        </p:sp>
        <p:sp>
          <p:nvSpPr>
            <p:cNvPr id="32" name="文字方塊 31"/>
            <p:cNvSpPr txBox="1"/>
            <p:nvPr/>
          </p:nvSpPr>
          <p:spPr>
            <a:xfrm>
              <a:off x="5373186" y="4768856"/>
              <a:ext cx="41549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a:t>
              </a:r>
              <a:endParaRPr lang="zh-TW" altLang="en-US">
                <a:latin typeface="Times New Roman" panose="02020603050405020304" pitchFamily="18" charset="0"/>
                <a:cs typeface="Times New Roman" panose="02020603050405020304" pitchFamily="18" charset="0"/>
              </a:endParaRPr>
            </a:p>
          </p:txBody>
        </p:sp>
      </p:grpSp>
      <p:sp>
        <p:nvSpPr>
          <p:cNvPr id="34" name="文字方塊 33"/>
          <p:cNvSpPr txBox="1"/>
          <p:nvPr/>
        </p:nvSpPr>
        <p:spPr>
          <a:xfrm>
            <a:off x="0" y="87923"/>
            <a:ext cx="12191999" cy="584775"/>
          </a:xfrm>
          <a:prstGeom prst="rect">
            <a:avLst/>
          </a:prstGeom>
          <a:noFill/>
        </p:spPr>
        <p:txBody>
          <a:bodyPr wrap="square" rtlCol="0">
            <a:spAutoFit/>
          </a:bodyPr>
          <a:lstStyle/>
          <a:p>
            <a:pPr marL="0" lvl="2" algn="ctr"/>
            <a:r>
              <a:rPr lang="en-US" altLang="zh-TW" sz="3200" b="1" i="1"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Nonperiodic</a:t>
            </a: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optical </a:t>
            </a:r>
            <a:r>
              <a:rPr lang="en-US" altLang="zh-TW" sz="3200" b="1" i="1"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superlattice</a:t>
            </a: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design</a:t>
            </a:r>
          </a:p>
        </p:txBody>
      </p:sp>
      <mc:AlternateContent xmlns:mc="http://schemas.openxmlformats.org/markup-compatibility/2006" xmlns:a14="http://schemas.microsoft.com/office/drawing/2010/main">
        <mc:Choice Requires="a14">
          <p:sp>
            <p:nvSpPr>
              <p:cNvPr id="28" name="矩形 27"/>
              <p:cNvSpPr/>
              <p:nvPr/>
            </p:nvSpPr>
            <p:spPr>
              <a:xfrm>
                <a:off x="4486048" y="3425805"/>
                <a:ext cx="2775375" cy="7203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𝑑</m:t>
                          </m:r>
                        </m:e>
                        <m:sub>
                          <m:r>
                            <a:rPr lang="en-US" altLang="zh-TW" i="1">
                              <a:latin typeface="Cambria Math" panose="02040503050406030204" pitchFamily="18" charset="0"/>
                            </a:rPr>
                            <m:t>𝑒𝑓𝑓</m:t>
                          </m:r>
                        </m:sub>
                      </m:sSub>
                      <m:r>
                        <a:rPr lang="en-US" altLang="zh-TW">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𝐿</m:t>
                          </m:r>
                        </m:den>
                      </m:f>
                      <m:d>
                        <m:dPr>
                          <m:begChr m:val="|"/>
                          <m:endChr m:val="|"/>
                          <m:ctrlPr>
                            <a:rPr lang="zh-TW" altLang="zh-TW" i="1">
                              <a:latin typeface="Cambria Math" panose="02040503050406030204" pitchFamily="18" charset="0"/>
                            </a:rPr>
                          </m:ctrlPr>
                        </m:dPr>
                        <m:e>
                          <m:nary>
                            <m:naryPr>
                              <m:limLoc m:val="subSup"/>
                              <m:ctrlPr>
                                <a:rPr lang="zh-TW" altLang="zh-TW" i="1">
                                  <a:latin typeface="Cambria Math" panose="02040503050406030204" pitchFamily="18" charset="0"/>
                                </a:rPr>
                              </m:ctrlPr>
                            </m:naryPr>
                            <m:sub>
                              <m:r>
                                <a:rPr lang="en-US" altLang="zh-TW" i="1">
                                  <a:latin typeface="Cambria Math" panose="02040503050406030204" pitchFamily="18" charset="0"/>
                                </a:rPr>
                                <m:t>0</m:t>
                              </m:r>
                            </m:sub>
                            <m:sup>
                              <m:r>
                                <a:rPr lang="en-US" altLang="zh-TW" i="1">
                                  <a:latin typeface="Cambria Math" panose="02040503050406030204" pitchFamily="18" charset="0"/>
                                </a:rPr>
                                <m:t>𝐿</m:t>
                              </m:r>
                            </m:sup>
                            <m:e>
                              <m:r>
                                <a:rPr lang="en-US" altLang="zh-TW" i="1">
                                  <a:latin typeface="Cambria Math" panose="02040503050406030204" pitchFamily="18" charset="0"/>
                                </a:rPr>
                                <m:t>𝑑</m:t>
                              </m:r>
                              <m:d>
                                <m:dPr>
                                  <m:ctrlPr>
                                    <a:rPr lang="zh-TW" altLang="zh-TW" i="1">
                                      <a:latin typeface="Cambria Math" panose="02040503050406030204" pitchFamily="18" charset="0"/>
                                    </a:rPr>
                                  </m:ctrlPr>
                                </m:dPr>
                                <m:e>
                                  <m:r>
                                    <a:rPr lang="en-US" altLang="zh-TW" i="1">
                                      <a:latin typeface="Cambria Math" panose="02040503050406030204" pitchFamily="18" charset="0"/>
                                    </a:rPr>
                                    <m:t>𝑧</m:t>
                                  </m:r>
                                </m:e>
                              </m:d>
                              <m:sSup>
                                <m:sSupPr>
                                  <m:ctrlPr>
                                    <a:rPr lang="zh-TW" altLang="zh-TW" i="1">
                                      <a:latin typeface="Cambria Math" panose="02040503050406030204" pitchFamily="18" charset="0"/>
                                    </a:rPr>
                                  </m:ctrlPr>
                                </m:sSupPr>
                                <m:e>
                                  <m:r>
                                    <a:rPr lang="en-US" altLang="zh-TW" i="1">
                                      <a:latin typeface="Cambria Math" panose="02040503050406030204" pitchFamily="18" charset="0"/>
                                    </a:rPr>
                                    <m:t>𝑒</m:t>
                                  </m:r>
                                </m:e>
                                <m:sup>
                                  <m:r>
                                    <a:rPr lang="en-US" altLang="zh-TW" i="1">
                                      <a:latin typeface="Cambria Math" panose="02040503050406030204" pitchFamily="18" charset="0"/>
                                    </a:rPr>
                                    <m:t>𝑖</m:t>
                                  </m:r>
                                  <m:r>
                                    <a:rPr lang="en-US" altLang="zh-TW" i="1">
                                      <a:latin typeface="Cambria Math" panose="02040503050406030204" pitchFamily="18" charset="0"/>
                                    </a:rPr>
                                    <m:t>∆</m:t>
                                  </m:r>
                                  <m:r>
                                    <a:rPr lang="en-US" altLang="zh-TW" i="1">
                                      <a:latin typeface="Cambria Math" panose="02040503050406030204" pitchFamily="18" charset="0"/>
                                    </a:rPr>
                                    <m:t>𝑘𝑧</m:t>
                                  </m:r>
                                </m:sup>
                              </m:sSup>
                              <m:r>
                                <a:rPr lang="en-US" altLang="zh-TW" i="1">
                                  <a:latin typeface="Cambria Math" panose="02040503050406030204" pitchFamily="18" charset="0"/>
                                </a:rPr>
                                <m:t>𝑑𝑧</m:t>
                              </m:r>
                            </m:e>
                          </m:nary>
                        </m:e>
                      </m:d>
                    </m:oMath>
                  </m:oMathPara>
                </a14:m>
                <a:endParaRPr lang="en-US" altLang="zh-TW" dirty="0"/>
              </a:p>
            </p:txBody>
          </p:sp>
        </mc:Choice>
        <mc:Fallback xmlns="">
          <p:sp>
            <p:nvSpPr>
              <p:cNvPr id="28" name="矩形 27"/>
              <p:cNvSpPr>
                <a:spLocks noRot="1" noChangeAspect="1" noMove="1" noResize="1" noEditPoints="1" noAdjustHandles="1" noChangeArrowheads="1" noChangeShapeType="1" noTextEdit="1"/>
              </p:cNvSpPr>
              <p:nvPr/>
            </p:nvSpPr>
            <p:spPr>
              <a:xfrm>
                <a:off x="4486048" y="3425805"/>
                <a:ext cx="2775375" cy="720390"/>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4922141" y="4146195"/>
                <a:ext cx="5701304" cy="6503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f>
                        <m:f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𝑘𝐿</m:t>
                          </m:r>
                        </m:den>
                      </m:f>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𝑒</m:t>
                                      </m:r>
                                    </m:e>
                                    <m:sup>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𝑘𝑧</m:t>
                                      </m:r>
                                    </m:sup>
                                  </m:sSup>
                                </m:e>
                              </m:d>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sub>
                            <m:sup>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sub>
                              </m:sSub>
                            </m:sup>
                          </m:sSubSup>
                        </m:e>
                      </m:d>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sSubSup>
                        <m:sSub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𝑒</m:t>
                                  </m:r>
                                </m:e>
                                <m:sup>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𝑘𝑧</m:t>
                                  </m:r>
                                </m:sup>
                              </m:sSup>
                            </m:e>
                          </m:d>
                        </m:e>
                        <m:sub>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sub>
                          </m:sSub>
                        </m:sub>
                        <m:sup>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sub>
                          </m:sSub>
                        </m:sup>
                      </m:sSubSup>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sSubSup>
                        <m:sSub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𝑒</m:t>
                                  </m:r>
                                </m:e>
                                <m:sup>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𝑘𝑧</m:t>
                                  </m:r>
                                </m:sup>
                              </m:sSup>
                            </m:e>
                          </m:d>
                        </m:e>
                        <m:sub>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sub>
                          </m:sSub>
                        </m:sub>
                        <m:sup>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3</m:t>
                              </m:r>
                            </m:sub>
                          </m:sSub>
                        </m:sup>
                      </m:sSubSup>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sSubSup>
                        <m:sSub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𝑒</m:t>
                                  </m:r>
                                </m:e>
                                <m:sup>
                                  <m:r>
                                    <a:rPr lang="en-US" altLang="zh-TW" i="1" kern="0">
                                      <a:latin typeface="Cambria Math" panose="02040503050406030204" pitchFamily="18" charset="0"/>
                                      <a:ea typeface="標楷體" panose="03000509000000000000" pitchFamily="65" charset="-120"/>
                                      <a:cs typeface="Times New Roman" panose="02020603050405020304" pitchFamily="18" charset="0"/>
                                    </a:rPr>
                                    <m:t>𝑖</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𝑘𝑧</m:t>
                                  </m:r>
                                </m:sup>
                              </m:sSup>
                            </m:e>
                          </m:d>
                        </m:e>
                        <m:sub>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𝑁</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sub>
                          </m:sSub>
                        </m:sub>
                        <m:sup>
                          <m:sSub>
                            <m:sSubPr>
                              <m:ctrlPr>
                                <a:rPr lang="zh-TW" altLang="zh-TW"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0">
                                  <a:latin typeface="Cambria Math" panose="02040503050406030204" pitchFamily="18" charset="0"/>
                                  <a:ea typeface="標楷體" panose="03000509000000000000" pitchFamily="65" charset="-120"/>
                                  <a:cs typeface="Times New Roman" panose="02020603050405020304" pitchFamily="18" charset="0"/>
                                </a:rPr>
                                <m:t>𝑍</m:t>
                              </m:r>
                            </m:e>
                            <m:sub>
                              <m:r>
                                <a:rPr lang="en-US" altLang="zh-TW" i="1" kern="0">
                                  <a:latin typeface="Cambria Math" panose="02040503050406030204" pitchFamily="18" charset="0"/>
                                  <a:ea typeface="標楷體" panose="03000509000000000000" pitchFamily="65" charset="-120"/>
                                  <a:cs typeface="Times New Roman" panose="02020603050405020304" pitchFamily="18" charset="0"/>
                                </a:rPr>
                                <m:t>𝑁</m:t>
                              </m:r>
                            </m:sub>
                          </m:sSub>
                        </m:sup>
                      </m:sSubSup>
                    </m:oMath>
                  </m:oMathPara>
                </a14:m>
                <a:endParaRPr lang="zh-TW" altLang="en-US" dirty="0"/>
              </a:p>
            </p:txBody>
          </p:sp>
        </mc:Choice>
        <mc:Fallback xmlns="">
          <p:sp>
            <p:nvSpPr>
              <p:cNvPr id="29" name="矩形 28"/>
              <p:cNvSpPr>
                <a:spLocks noRot="1" noChangeAspect="1" noMove="1" noResize="1" noEditPoints="1" noAdjustHandles="1" noChangeArrowheads="1" noChangeShapeType="1" noTextEdit="1"/>
              </p:cNvSpPr>
              <p:nvPr/>
            </p:nvSpPr>
            <p:spPr>
              <a:xfrm>
                <a:off x="4922141" y="4146195"/>
                <a:ext cx="5701304" cy="650371"/>
              </a:xfrm>
              <a:prstGeom prst="rect">
                <a:avLst/>
              </a:prstGeom>
              <a:blipFill>
                <a:blip r:embed="rId13"/>
                <a:stretch>
                  <a:fillRect/>
                </a:stretch>
              </a:blipFill>
            </p:spPr>
            <p:txBody>
              <a:bodyPr/>
              <a:lstStyle/>
              <a:p>
                <a:r>
                  <a:rPr lang="zh-TW" altLang="en-US">
                    <a:noFill/>
                  </a:rPr>
                  <a:t> </a:t>
                </a:r>
              </a:p>
            </p:txBody>
          </p:sp>
        </mc:Fallback>
      </mc:AlternateContent>
      <p:pic>
        <p:nvPicPr>
          <p:cNvPr id="33" name="圖片 32"/>
          <p:cNvPicPr>
            <a:picLocks noChangeAspect="1"/>
          </p:cNvPicPr>
          <p:nvPr/>
        </p:nvPicPr>
        <p:blipFill>
          <a:blip r:embed="rId14"/>
          <a:stretch>
            <a:fillRect/>
          </a:stretch>
        </p:blipFill>
        <p:spPr>
          <a:xfrm>
            <a:off x="5085484" y="4825244"/>
            <a:ext cx="5657850" cy="971550"/>
          </a:xfrm>
          <a:prstGeom prst="rect">
            <a:avLst/>
          </a:prstGeom>
        </p:spPr>
      </p:pic>
    </p:spTree>
    <p:extLst>
      <p:ext uri="{BB962C8B-B14F-4D97-AF65-F5344CB8AC3E}">
        <p14:creationId xmlns:p14="http://schemas.microsoft.com/office/powerpoint/2010/main" val="1016141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0" y="87923"/>
            <a:ext cx="12191999" cy="584775"/>
          </a:xfrm>
          <a:prstGeom prst="rect">
            <a:avLst/>
          </a:prstGeom>
          <a:noFill/>
        </p:spPr>
        <p:txBody>
          <a:bodyPr wrap="square" rtlCol="0">
            <a:spAutoFit/>
          </a:bodyPr>
          <a:lstStyle/>
          <a:p>
            <a:pPr marL="0" lvl="2"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Simulation result of  one peak OPO</a:t>
            </a:r>
          </a:p>
        </p:txBody>
      </p:sp>
      <mc:AlternateContent xmlns:mc="http://schemas.openxmlformats.org/markup-compatibility/2006" xmlns:a14="http://schemas.microsoft.com/office/drawing/2010/main">
        <mc:Choice Requires="a14">
          <p:sp>
            <p:nvSpPr>
              <p:cNvPr id="5" name="文字方塊 4"/>
              <p:cNvSpPr txBox="1"/>
              <p:nvPr/>
            </p:nvSpPr>
            <p:spPr>
              <a:xfrm>
                <a:off x="6675680" y="5355218"/>
                <a:ext cx="2914965" cy="615553"/>
              </a:xfrm>
              <a:prstGeom prst="rect">
                <a:avLst/>
              </a:prstGeom>
              <a:noFill/>
            </p:spPr>
            <p:txBody>
              <a:bodyPr wrap="none" lIns="0" tIns="0" rIns="0" bIns="0" rtlCol="0">
                <a:spAutoFit/>
              </a:bodyPr>
              <a:lstStyle/>
              <a:p>
                <a:r>
                  <a:rPr lang="en-US" altLang="zh-TW" sz="2000" dirty="0">
                    <a:latin typeface="Times New Roman" panose="02020603050405020304" pitchFamily="18" charset="0"/>
                    <a:ea typeface="Cambria Math" panose="02040503050406030204" pitchFamily="18" charset="0"/>
                    <a:cs typeface="Times New Roman" panose="02020603050405020304" pitchFamily="18" charset="0"/>
                  </a:rPr>
                  <a:t>Ideal </a:t>
                </a:r>
                <a14:m>
                  <m:oMath xmlns:m="http://schemas.openxmlformats.org/officeDocument/2006/math">
                    <m:r>
                      <m:rPr>
                        <m:sty m:val="p"/>
                      </m:rPr>
                      <a:rPr lang="el-GR" altLang="zh-TW" sz="2000" i="1" smtClean="0">
                        <a:latin typeface="Cambria Math" panose="02040503050406030204" pitchFamily="18" charset="0"/>
                        <a:ea typeface="Cambria Math" panose="02040503050406030204" pitchFamily="18" charset="0"/>
                      </a:rPr>
                      <m:t>Λ</m:t>
                    </m:r>
                    <m:r>
                      <a:rPr lang="en-US" altLang="zh-TW" sz="2000" b="0" i="1" smtClean="0">
                        <a:latin typeface="Cambria Math" panose="02040503050406030204" pitchFamily="18" charset="0"/>
                        <a:ea typeface="Cambria Math" panose="02040503050406030204" pitchFamily="18" charset="0"/>
                      </a:rPr>
                      <m:t>=</m:t>
                    </m:r>
                    <m:r>
                      <m:rPr>
                        <m:nor/>
                      </m:rPr>
                      <a:rPr lang="en-US" altLang="zh-TW" sz="2000">
                        <a:latin typeface="Times New Roman" panose="02020603050405020304" pitchFamily="18" charset="0"/>
                        <a:cs typeface="Times New Roman" panose="02020603050405020304" pitchFamily="18" charset="0"/>
                      </a:rPr>
                      <m:t>30.01</m:t>
                    </m:r>
                    <m:r>
                      <m:rPr>
                        <m:sty m:val="p"/>
                      </m:rPr>
                      <a:rPr lang="en-US" altLang="zh-TW" sz="2000">
                        <a:latin typeface="Cambria Math" panose="02040503050406030204" pitchFamily="18" charset="0"/>
                      </a:rPr>
                      <m:t>μm</m:t>
                    </m:r>
                  </m:oMath>
                </a14:m>
                <a:endParaRPr lang="en-US" altLang="zh-TW" sz="2000" dirty="0">
                  <a:latin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domain length </a:t>
                </a:r>
                <a14:m>
                  <m:oMath xmlns:m="http://schemas.openxmlformats.org/officeDocument/2006/math">
                    <m:r>
                      <a:rPr lang="en-US" altLang="zh-TW" sz="2000" i="1">
                        <a:latin typeface="Cambria Math" panose="02040503050406030204" pitchFamily="18" charset="0"/>
                        <a:ea typeface="Cambria Math" panose="02040503050406030204" pitchFamily="18" charset="0"/>
                      </a:rPr>
                      <m:t>=</m:t>
                    </m:r>
                    <m:r>
                      <m:rPr>
                        <m:nor/>
                      </m:rPr>
                      <a:rPr lang="en-US" altLang="zh-TW" sz="2000" b="0" i="0" smtClean="0">
                        <a:latin typeface="Cambria Math" panose="02040503050406030204" pitchFamily="18" charset="0"/>
                        <a:ea typeface="Cambria Math" panose="02040503050406030204" pitchFamily="18" charset="0"/>
                      </a:rPr>
                      <m:t>15</m:t>
                    </m:r>
                    <m:r>
                      <m:rPr>
                        <m:nor/>
                      </m:rPr>
                      <a:rPr lang="en-US" altLang="zh-TW" sz="2000">
                        <a:latin typeface="Times New Roman" panose="02020603050405020304" pitchFamily="18" charset="0"/>
                        <a:cs typeface="Times New Roman" panose="02020603050405020304" pitchFamily="18" charset="0"/>
                      </a:rPr>
                      <m:t>.0</m:t>
                    </m:r>
                    <m:r>
                      <a:rPr lang="en-US" altLang="zh-TW" sz="2000" b="0" i="0" smtClean="0">
                        <a:latin typeface="Cambria Math" panose="02040503050406030204" pitchFamily="18" charset="0"/>
                        <a:cs typeface="Times New Roman" panose="02020603050405020304" pitchFamily="18" charset="0"/>
                      </a:rPr>
                      <m:t>05</m:t>
                    </m:r>
                    <m:r>
                      <m:rPr>
                        <m:sty m:val="p"/>
                      </m:rPr>
                      <a:rPr lang="en-US" altLang="zh-TW" sz="2000">
                        <a:latin typeface="Cambria Math" panose="02040503050406030204" pitchFamily="18" charset="0"/>
                      </a:rPr>
                      <m:t>μm</m:t>
                    </m:r>
                  </m:oMath>
                </a14:m>
                <a:endParaRPr lang="en-US" altLang="zh-TW" sz="2000" dirty="0">
                  <a:latin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6675680" y="5355218"/>
                <a:ext cx="2914965" cy="615553"/>
              </a:xfrm>
              <a:prstGeom prst="rect">
                <a:avLst/>
              </a:prstGeom>
              <a:blipFill>
                <a:blip r:embed="rId4"/>
                <a:stretch>
                  <a:fillRect l="-5230" t="-12871" r="-2301" b="-247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6664745" y="6051283"/>
                <a:ext cx="4636910"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Real domain length average </a:t>
                </a:r>
                <a14:m>
                  <m:oMath xmlns:m="http://schemas.openxmlformats.org/officeDocument/2006/math">
                    <m:r>
                      <a:rPr lang="en-US" altLang="zh-TW" sz="2000" i="1">
                        <a:latin typeface="Cambria Math" panose="02040503050406030204" pitchFamily="18" charset="0"/>
                        <a:ea typeface="Cambria Math" panose="02040503050406030204" pitchFamily="18" charset="0"/>
                      </a:rPr>
                      <m:t>=</m:t>
                    </m:r>
                    <m:r>
                      <m:rPr>
                        <m:nor/>
                      </m:rPr>
                      <a:rPr lang="en-US" altLang="zh-TW" sz="2000">
                        <a:latin typeface="Cambria Math" panose="02040503050406030204" pitchFamily="18" charset="0"/>
                        <a:ea typeface="Cambria Math" panose="02040503050406030204" pitchFamily="18" charset="0"/>
                      </a:rPr>
                      <m:t>15</m:t>
                    </m:r>
                    <m:r>
                      <m:rPr>
                        <m:nor/>
                      </m:rPr>
                      <a:rPr lang="en-US" altLang="zh-TW" sz="2000">
                        <a:latin typeface="Times New Roman" panose="02020603050405020304" pitchFamily="18" charset="0"/>
                        <a:cs typeface="Times New Roman" panose="02020603050405020304" pitchFamily="18" charset="0"/>
                      </a:rPr>
                      <m:t>.0</m:t>
                    </m:r>
                    <m:r>
                      <a:rPr lang="en-US" altLang="zh-TW" sz="2000">
                        <a:latin typeface="Cambria Math" panose="02040503050406030204" pitchFamily="18" charset="0"/>
                        <a:cs typeface="Times New Roman" panose="02020603050405020304" pitchFamily="18" charset="0"/>
                      </a:rPr>
                      <m:t>0</m:t>
                    </m:r>
                    <m:r>
                      <a:rPr lang="en-US" altLang="zh-TW" sz="2000" i="1">
                        <a:latin typeface="Cambria Math" panose="02040503050406030204" pitchFamily="18" charset="0"/>
                        <a:cs typeface="Times New Roman" panose="02020603050405020304" pitchFamily="18" charset="0"/>
                      </a:rPr>
                      <m:t>49</m:t>
                    </m:r>
                    <m:r>
                      <m:rPr>
                        <m:sty m:val="p"/>
                      </m:rPr>
                      <a:rPr lang="en-US" altLang="zh-TW" sz="2000">
                        <a:latin typeface="Cambria Math" panose="02040503050406030204" pitchFamily="18" charset="0"/>
                      </a:rPr>
                      <m:t>μm</m:t>
                    </m:r>
                  </m:oMath>
                </a14:m>
                <a:endParaRPr lang="en-US" altLang="zh-TW" sz="2000" dirty="0">
                  <a:latin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6664745" y="6051283"/>
                <a:ext cx="4636910" cy="400110"/>
              </a:xfrm>
              <a:prstGeom prst="rect">
                <a:avLst/>
              </a:prstGeom>
              <a:blipFill>
                <a:blip r:embed="rId5"/>
                <a:stretch>
                  <a:fillRect l="-1314" t="-9231" b="-27692"/>
                </a:stretch>
              </a:blipFill>
            </p:spPr>
            <p:txBody>
              <a:bodyPr/>
              <a:lstStyle/>
              <a:p>
                <a:r>
                  <a:rPr lang="zh-TW" altLang="en-US">
                    <a:noFill/>
                  </a:rPr>
                  <a:t> </a:t>
                </a:r>
              </a:p>
            </p:txBody>
          </p:sp>
        </mc:Fallback>
      </mc:AlternateContent>
      <p:pic>
        <p:nvPicPr>
          <p:cNvPr id="7" name="圖片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4848" y="1207455"/>
            <a:ext cx="5813090" cy="4109812"/>
          </a:xfrm>
          <a:prstGeom prst="rect">
            <a:avLst/>
          </a:prstGeom>
        </p:spPr>
      </p:pic>
      <p:sp>
        <p:nvSpPr>
          <p:cNvPr id="2" name="文字方塊 1"/>
          <p:cNvSpPr txBox="1"/>
          <p:nvPr/>
        </p:nvSpPr>
        <p:spPr>
          <a:xfrm>
            <a:off x="1155560" y="5390359"/>
            <a:ext cx="2903359" cy="923330"/>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pump wavelength</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1064nm</a:t>
            </a:r>
          </a:p>
          <a:p>
            <a:r>
              <a:rPr lang="en-US" altLang="zh-TW">
                <a:latin typeface="Times New Roman" panose="02020603050405020304" pitchFamily="18" charset="0"/>
                <a:cs typeface="Times New Roman" panose="02020603050405020304" pitchFamily="18" charset="0"/>
              </a:rPr>
              <a:t>signal wavelength </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1550nm</a:t>
            </a:r>
          </a:p>
          <a:p>
            <a:r>
              <a:rPr lang="en-US" altLang="zh-TW">
                <a:latin typeface="Times New Roman" panose="02020603050405020304" pitchFamily="18" charset="0"/>
                <a:cs typeface="Times New Roman" panose="02020603050405020304" pitchFamily="18" charset="0"/>
              </a:rPr>
              <a:t>Crystal temperature : 40℃</a:t>
            </a:r>
          </a:p>
        </p:txBody>
      </p:sp>
      <p:pic>
        <p:nvPicPr>
          <p:cNvPr id="8" name="圖片 7"/>
          <p:cNvPicPr>
            <a:picLocks noChangeAspect="1"/>
          </p:cNvPicPr>
          <p:nvPr/>
        </p:nvPicPr>
        <p:blipFill>
          <a:blip r:embed="rId7"/>
          <a:stretch>
            <a:fillRect/>
          </a:stretch>
        </p:blipFill>
        <p:spPr>
          <a:xfrm>
            <a:off x="6518606" y="1308545"/>
            <a:ext cx="4929188" cy="3907631"/>
          </a:xfrm>
          <a:prstGeom prst="rect">
            <a:avLst/>
          </a:prstGeom>
        </p:spPr>
      </p:pic>
    </p:spTree>
    <p:extLst>
      <p:ext uri="{BB962C8B-B14F-4D97-AF65-F5344CB8AC3E}">
        <p14:creationId xmlns:p14="http://schemas.microsoft.com/office/powerpoint/2010/main" val="1819025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0" y="87923"/>
            <a:ext cx="12191999" cy="584775"/>
          </a:xfrm>
          <a:prstGeom prst="rect">
            <a:avLst/>
          </a:prstGeom>
          <a:noFill/>
        </p:spPr>
        <p:txBody>
          <a:bodyPr wrap="square" rtlCol="0">
            <a:spAutoFit/>
          </a:bodyPr>
          <a:lstStyle/>
          <a:p>
            <a:pPr marL="0" lvl="2"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Simulation result of  two peak OPO</a:t>
            </a:r>
          </a:p>
        </p:txBody>
      </p:sp>
      <p:pic>
        <p:nvPicPr>
          <p:cNvPr id="10" name="圖片 9"/>
          <p:cNvPicPr/>
          <p:nvPr/>
        </p:nvPicPr>
        <p:blipFill>
          <a:blip r:embed="rId3">
            <a:extLst>
              <a:ext uri="{28A0092B-C50C-407E-A947-70E740481C1C}">
                <a14:useLocalDpi xmlns:a14="http://schemas.microsoft.com/office/drawing/2010/main" val="0"/>
              </a:ext>
            </a:extLst>
          </a:blip>
          <a:stretch>
            <a:fillRect/>
          </a:stretch>
        </p:blipFill>
        <p:spPr>
          <a:xfrm>
            <a:off x="6675680" y="1388793"/>
            <a:ext cx="4723130" cy="3747135"/>
          </a:xfrm>
          <a:prstGeom prst="rect">
            <a:avLst/>
          </a:prstGeom>
        </p:spPr>
      </p:pic>
      <mc:AlternateContent xmlns:mc="http://schemas.openxmlformats.org/markup-compatibility/2006" xmlns:a14="http://schemas.microsoft.com/office/drawing/2010/main">
        <mc:Choice Requires="a14">
          <p:sp>
            <p:nvSpPr>
              <p:cNvPr id="11" name="文字方塊 10"/>
              <p:cNvSpPr txBox="1"/>
              <p:nvPr/>
            </p:nvSpPr>
            <p:spPr>
              <a:xfrm>
                <a:off x="6675680" y="5355218"/>
                <a:ext cx="2865272" cy="615553"/>
              </a:xfrm>
              <a:prstGeom prst="rect">
                <a:avLst/>
              </a:prstGeom>
              <a:noFill/>
            </p:spPr>
            <p:txBody>
              <a:bodyPr wrap="none" lIns="0" tIns="0" rIns="0" bIns="0" rtlCol="0">
                <a:spAutoFit/>
              </a:bodyPr>
              <a:lstStyle/>
              <a:p>
                <a:r>
                  <a:rPr lang="en-US" altLang="zh-TW" sz="2000">
                    <a:latin typeface="Times New Roman" panose="02020603050405020304" pitchFamily="18" charset="0"/>
                    <a:ea typeface="Cambria Math" panose="02040503050406030204" pitchFamily="18" charset="0"/>
                    <a:cs typeface="Times New Roman" panose="02020603050405020304" pitchFamily="18" charset="0"/>
                  </a:rPr>
                  <a:t>Ideal </a:t>
                </a:r>
                <a14:m>
                  <m:oMath xmlns:m="http://schemas.openxmlformats.org/officeDocument/2006/math">
                    <m:r>
                      <m:rPr>
                        <m:sty m:val="p"/>
                      </m:rPr>
                      <a:rPr lang="el-GR" altLang="zh-TW" sz="2000" i="1" smtClean="0">
                        <a:latin typeface="Cambria Math" panose="02040503050406030204" pitchFamily="18" charset="0"/>
                        <a:ea typeface="Cambria Math" panose="02040503050406030204" pitchFamily="18" charset="0"/>
                      </a:rPr>
                      <m:t>Λ</m:t>
                    </m:r>
                    <m:r>
                      <a:rPr lang="en-US" altLang="zh-TW" sz="2000" b="0" i="1" smtClean="0">
                        <a:latin typeface="Cambria Math" panose="02040503050406030204" pitchFamily="18" charset="0"/>
                        <a:ea typeface="Cambria Math" panose="02040503050406030204" pitchFamily="18" charset="0"/>
                      </a:rPr>
                      <m:t>=</m:t>
                    </m:r>
                    <m:r>
                      <m:rPr>
                        <m:nor/>
                      </m:rPr>
                      <a:rPr lang="en-US" altLang="zh-TW" sz="2000">
                        <a:latin typeface="Times New Roman" panose="02020603050405020304" pitchFamily="18" charset="0"/>
                        <a:cs typeface="Times New Roman" panose="02020603050405020304" pitchFamily="18" charset="0"/>
                      </a:rPr>
                      <m:t>29.954</m:t>
                    </m:r>
                    <m:r>
                      <m:rPr>
                        <m:sty m:val="p"/>
                      </m:rPr>
                      <a:rPr lang="en-US" altLang="zh-TW" sz="2000">
                        <a:latin typeface="Cambria Math" panose="02040503050406030204" pitchFamily="18" charset="0"/>
                      </a:rPr>
                      <m:t>μm</m:t>
                    </m:r>
                  </m:oMath>
                </a14:m>
                <a:endParaRPr lang="en-US" altLang="zh-TW" sz="2000">
                  <a:latin typeface="Times New Roman" panose="02020603050405020304" pitchFamily="18" charset="0"/>
                  <a:cs typeface="Times New Roman" panose="02020603050405020304" pitchFamily="18" charset="0"/>
                </a:endParaRPr>
              </a:p>
              <a:p>
                <a:r>
                  <a:rPr lang="en-US" altLang="zh-TW" sz="2000">
                    <a:latin typeface="Times New Roman" panose="02020603050405020304" pitchFamily="18" charset="0"/>
                    <a:cs typeface="Times New Roman" panose="02020603050405020304" pitchFamily="18" charset="0"/>
                  </a:rPr>
                  <a:t>domain length </a:t>
                </a:r>
                <a14:m>
                  <m:oMath xmlns:m="http://schemas.openxmlformats.org/officeDocument/2006/math">
                    <m:r>
                      <a:rPr lang="en-US" altLang="zh-TW" sz="2000" i="1">
                        <a:latin typeface="Cambria Math" panose="02040503050406030204" pitchFamily="18" charset="0"/>
                        <a:ea typeface="Cambria Math" panose="02040503050406030204" pitchFamily="18" charset="0"/>
                      </a:rPr>
                      <m:t>=</m:t>
                    </m:r>
                    <m:r>
                      <m:rPr>
                        <m:nor/>
                      </m:rPr>
                      <a:rPr lang="en-US" altLang="zh-TW" sz="2000">
                        <a:latin typeface="Times New Roman" panose="02020603050405020304" pitchFamily="18" charset="0"/>
                        <a:cs typeface="Times New Roman" panose="02020603050405020304" pitchFamily="18" charset="0"/>
                      </a:rPr>
                      <m:t>14.977</m:t>
                    </m:r>
                    <m:r>
                      <m:rPr>
                        <m:sty m:val="p"/>
                      </m:rPr>
                      <a:rPr lang="en-US" altLang="zh-TW" sz="2000">
                        <a:latin typeface="Cambria Math" panose="02040503050406030204" pitchFamily="18" charset="0"/>
                      </a:rPr>
                      <m:t>μm</m:t>
                    </m:r>
                  </m:oMath>
                </a14:m>
                <a:endParaRPr lang="en-US" altLang="zh-TW" sz="2000">
                  <a:latin typeface="Times New Roman" panose="02020603050405020304" pitchFamily="18" charset="0"/>
                  <a:cs typeface="Times New Roman" panose="02020603050405020304" pitchFamily="18" charset="0"/>
                </a:endParaRPr>
              </a:p>
            </p:txBody>
          </p:sp>
        </mc:Choice>
        <mc:Fallback xmlns="">
          <p:sp>
            <p:nvSpPr>
              <p:cNvPr id="11" name="文字方塊 10"/>
              <p:cNvSpPr txBox="1">
                <a:spLocks noRot="1" noChangeAspect="1" noMove="1" noResize="1" noEditPoints="1" noAdjustHandles="1" noChangeArrowheads="1" noChangeShapeType="1" noTextEdit="1"/>
              </p:cNvSpPr>
              <p:nvPr/>
            </p:nvSpPr>
            <p:spPr>
              <a:xfrm>
                <a:off x="6675680" y="5355218"/>
                <a:ext cx="2865272" cy="615553"/>
              </a:xfrm>
              <a:prstGeom prst="rect">
                <a:avLst/>
              </a:prstGeom>
              <a:blipFill>
                <a:blip r:embed="rId5"/>
                <a:stretch>
                  <a:fillRect l="-5319" t="-12871" r="-2128" b="-247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675680" y="6051283"/>
                <a:ext cx="4436536" cy="400110"/>
              </a:xfrm>
              <a:prstGeom prst="rect">
                <a:avLst/>
              </a:prstGeom>
            </p:spPr>
            <p:txBody>
              <a:bodyPr wrap="none">
                <a:spAutoFit/>
              </a:bodyPr>
              <a:lstStyle/>
              <a:p>
                <a:r>
                  <a:rPr lang="en-US" altLang="zh-TW" sz="2000">
                    <a:latin typeface="Times New Roman" panose="02020603050405020304" pitchFamily="18" charset="0"/>
                    <a:cs typeface="Times New Roman" panose="02020603050405020304" pitchFamily="18" charset="0"/>
                  </a:rPr>
                  <a:t>Real domain length average </a:t>
                </a:r>
                <a14:m>
                  <m:oMath xmlns:m="http://schemas.openxmlformats.org/officeDocument/2006/math">
                    <m:r>
                      <a:rPr lang="en-US" altLang="zh-TW" sz="2000" i="1">
                        <a:latin typeface="Cambria Math" panose="02040503050406030204" pitchFamily="18" charset="0"/>
                        <a:ea typeface="Cambria Math" panose="02040503050406030204" pitchFamily="18" charset="0"/>
                      </a:rPr>
                      <m:t>=</m:t>
                    </m:r>
                    <m:r>
                      <m:rPr>
                        <m:nor/>
                      </m:rPr>
                      <a:rPr lang="en-US" altLang="zh-TW" sz="2000">
                        <a:latin typeface="Times New Roman" panose="02020603050405020304" pitchFamily="18" charset="0"/>
                        <a:cs typeface="Times New Roman" panose="02020603050405020304" pitchFamily="18" charset="0"/>
                      </a:rPr>
                      <m:t>14.977</m:t>
                    </m:r>
                    <m:r>
                      <m:rPr>
                        <m:sty m:val="p"/>
                      </m:rPr>
                      <a:rPr lang="en-US" altLang="zh-TW" sz="2000">
                        <a:latin typeface="Cambria Math" panose="02040503050406030204" pitchFamily="18" charset="0"/>
                      </a:rPr>
                      <m:t>μm</m:t>
                    </m:r>
                  </m:oMath>
                </a14:m>
                <a:endParaRPr lang="en-US" altLang="zh-TW" sz="2000">
                  <a:latin typeface="Times New Roman" panose="02020603050405020304" pitchFamily="18" charset="0"/>
                  <a:cs typeface="Times New Roman" panose="02020603050405020304" pitchFamily="18" charset="0"/>
                </a:endParaRPr>
              </a:p>
            </p:txBody>
          </p:sp>
        </mc:Choice>
        <mc:Fallback xmlns="">
          <p:sp>
            <p:nvSpPr>
              <p:cNvPr id="12" name="矩形 11"/>
              <p:cNvSpPr>
                <a:spLocks noRot="1" noChangeAspect="1" noMove="1" noResize="1" noEditPoints="1" noAdjustHandles="1" noChangeArrowheads="1" noChangeShapeType="1" noTextEdit="1"/>
              </p:cNvSpPr>
              <p:nvPr/>
            </p:nvSpPr>
            <p:spPr>
              <a:xfrm>
                <a:off x="6675680" y="6051283"/>
                <a:ext cx="4436536" cy="400110"/>
              </a:xfrm>
              <a:prstGeom prst="rect">
                <a:avLst/>
              </a:prstGeom>
              <a:blipFill>
                <a:blip r:embed="rId6"/>
                <a:stretch>
                  <a:fillRect l="-1374" t="-9231" b="-27692"/>
                </a:stretch>
              </a:blipFill>
            </p:spPr>
            <p:txBody>
              <a:bodyPr/>
              <a:lstStyle/>
              <a:p>
                <a:r>
                  <a:rPr lang="zh-TW" altLang="en-US">
                    <a:noFill/>
                  </a:rPr>
                  <a:t> </a:t>
                </a:r>
              </a:p>
            </p:txBody>
          </p:sp>
        </mc:Fallback>
      </mc:AlternateContent>
      <p:sp>
        <p:nvSpPr>
          <p:cNvPr id="7" name="文字方塊 6"/>
          <p:cNvSpPr txBox="1"/>
          <p:nvPr/>
        </p:nvSpPr>
        <p:spPr>
          <a:xfrm>
            <a:off x="1155560" y="5390359"/>
            <a:ext cx="3595856" cy="923330"/>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pump wavelength</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1064nm</a:t>
            </a:r>
          </a:p>
          <a:p>
            <a:r>
              <a:rPr lang="en-US" altLang="zh-TW">
                <a:latin typeface="Times New Roman" panose="02020603050405020304" pitchFamily="18" charset="0"/>
                <a:cs typeface="Times New Roman" panose="02020603050405020304" pitchFamily="18" charset="0"/>
              </a:rPr>
              <a:t>signal wavelength </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1540</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1550nm</a:t>
            </a:r>
          </a:p>
          <a:p>
            <a:r>
              <a:rPr lang="en-US" altLang="zh-TW">
                <a:latin typeface="Times New Roman" panose="02020603050405020304" pitchFamily="18" charset="0"/>
                <a:cs typeface="Times New Roman" panose="02020603050405020304" pitchFamily="18" charset="0"/>
              </a:rPr>
              <a:t>Crystal temperature : 40℃</a:t>
            </a:r>
          </a:p>
        </p:txBody>
      </p:sp>
      <p:pic>
        <p:nvPicPr>
          <p:cNvPr id="2" name="圖片 1"/>
          <p:cNvPicPr>
            <a:picLocks noChangeAspect="1"/>
          </p:cNvPicPr>
          <p:nvPr/>
        </p:nvPicPr>
        <p:blipFill rotWithShape="1">
          <a:blip r:embed="rId7" cstate="print">
            <a:extLst>
              <a:ext uri="{28A0092B-C50C-407E-A947-70E740481C1C}">
                <a14:useLocalDpi xmlns:a14="http://schemas.microsoft.com/office/drawing/2010/main" val="0"/>
              </a:ext>
            </a:extLst>
          </a:blip>
          <a:srcRect l="6800" t="3192" r="11265" b="4807"/>
          <a:stretch/>
        </p:blipFill>
        <p:spPr>
          <a:xfrm>
            <a:off x="753625" y="1056747"/>
            <a:ext cx="5556739" cy="4411226"/>
          </a:xfrm>
          <a:prstGeom prst="rect">
            <a:avLst/>
          </a:prstGeom>
        </p:spPr>
      </p:pic>
    </p:spTree>
    <p:extLst>
      <p:ext uri="{BB962C8B-B14F-4D97-AF65-F5344CB8AC3E}">
        <p14:creationId xmlns:p14="http://schemas.microsoft.com/office/powerpoint/2010/main" val="2753769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4486048" y="3333199"/>
                <a:ext cx="5102487" cy="972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𝑑</m:t>
                          </m:r>
                        </m:e>
                        <m:sub>
                          <m:r>
                            <a:rPr lang="zh-TW" altLang="en-US" i="1">
                              <a:latin typeface="Cambria Math" panose="02040503050406030204" pitchFamily="18" charset="0"/>
                            </a:rPr>
                            <m:t>𝑒𝑓𝑓</m:t>
                          </m:r>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r>
                            <a:rPr lang="zh-TW" altLang="en-US" i="0">
                              <a:latin typeface="Cambria Math" panose="02040503050406030204" pitchFamily="18" charset="0"/>
                            </a:rPr>
                            <m:t>∆</m:t>
                          </m:r>
                          <m:r>
                            <a:rPr lang="zh-TW" altLang="en-US" i="1">
                              <a:latin typeface="Cambria Math" panose="02040503050406030204" pitchFamily="18" charset="0"/>
                            </a:rPr>
                            <m:t>𝑘𝐿</m:t>
                          </m:r>
                        </m:den>
                      </m:f>
                      <m:d>
                        <m:dPr>
                          <m:begChr m:val="|"/>
                          <m:endChr m:val="|"/>
                          <m:ctrlPr>
                            <a:rPr lang="zh-TW" altLang="en-US" i="1">
                              <a:latin typeface="Cambria Math" panose="02040503050406030204" pitchFamily="18" charset="0"/>
                            </a:rPr>
                          </m:ctrlPr>
                        </m:dPr>
                        <m:e>
                          <m:r>
                            <a:rPr lang="zh-TW" altLang="en-US" i="0">
                              <a:latin typeface="Cambria Math" panose="02040503050406030204" pitchFamily="18" charset="0"/>
                            </a:rPr>
                            <m:t>1−</m:t>
                          </m:r>
                          <m:sSup>
                            <m:sSupPr>
                              <m:ctrlPr>
                                <a:rPr lang="zh-TW" altLang="en-US" i="1">
                                  <a:latin typeface="Cambria Math" panose="02040503050406030204" pitchFamily="18" charset="0"/>
                                </a:rPr>
                              </m:ctrlPr>
                            </m:sSupPr>
                            <m:e>
                              <m:sSup>
                                <m:sSupPr>
                                  <m:ctrlPr>
                                    <a:rPr lang="zh-TW" altLang="en-US" i="1">
                                      <a:latin typeface="Cambria Math" panose="02040503050406030204" pitchFamily="18" charset="0"/>
                                    </a:rPr>
                                  </m:ctrlPr>
                                </m:sSupPr>
                                <m:e>
                                  <m:d>
                                    <m:dPr>
                                      <m:ctrlPr>
                                        <a:rPr lang="zh-TW" altLang="en-US" i="1">
                                          <a:latin typeface="Cambria Math" panose="02040503050406030204" pitchFamily="18" charset="0"/>
                                        </a:rPr>
                                      </m:ctrlPr>
                                    </m:dPr>
                                    <m:e>
                                      <m:r>
                                        <a:rPr lang="zh-TW" altLang="en-US" i="0">
                                          <a:latin typeface="Cambria Math" panose="02040503050406030204" pitchFamily="18" charset="0"/>
                                        </a:rPr>
                                        <m:t>−1</m:t>
                                      </m:r>
                                    </m:e>
                                  </m:d>
                                </m:e>
                                <m:sup>
                                  <m:r>
                                    <a:rPr lang="zh-TW" altLang="en-US" i="1">
                                      <a:latin typeface="Cambria Math" panose="02040503050406030204" pitchFamily="18" charset="0"/>
                                    </a:rPr>
                                    <m:t>𝑁</m:t>
                                  </m:r>
                                </m:sup>
                              </m:sSup>
                              <m:r>
                                <a:rPr lang="zh-TW" altLang="en-US" i="1">
                                  <a:latin typeface="Cambria Math" panose="02040503050406030204" pitchFamily="18" charset="0"/>
                                </a:rPr>
                                <m:t>𝑒</m:t>
                              </m:r>
                            </m:e>
                            <m:sup>
                              <m:r>
                                <a:rPr lang="zh-TW" altLang="en-US" i="1">
                                  <a:latin typeface="Cambria Math" panose="02040503050406030204" pitchFamily="18" charset="0"/>
                                </a:rPr>
                                <m:t>𝑖</m:t>
                              </m:r>
                              <m:r>
                                <a:rPr lang="zh-TW" altLang="en-US" i="0">
                                  <a:latin typeface="Cambria Math" panose="02040503050406030204" pitchFamily="18" charset="0"/>
                                </a:rPr>
                                <m:t>∆</m:t>
                              </m:r>
                              <m:r>
                                <a:rPr lang="zh-TW" altLang="en-US" i="1">
                                  <a:latin typeface="Cambria Math" panose="02040503050406030204" pitchFamily="18" charset="0"/>
                                </a:rPr>
                                <m:t>𝑘𝐿</m:t>
                              </m:r>
                            </m:sup>
                          </m:sSup>
                          <m:r>
                            <a:rPr lang="zh-TW" altLang="en-US" i="0">
                              <a:latin typeface="Cambria Math" panose="02040503050406030204" pitchFamily="18" charset="0"/>
                            </a:rPr>
                            <m:t>+</m:t>
                          </m:r>
                          <m:nary>
                            <m:naryPr>
                              <m:chr m:val="∑"/>
                              <m:limLoc m:val="undOvr"/>
                              <m:ctrlPr>
                                <a:rPr lang="zh-TW" altLang="en-US" i="1">
                                  <a:latin typeface="Cambria Math" panose="02040503050406030204" pitchFamily="18" charset="0"/>
                                </a:rPr>
                              </m:ctrlPr>
                            </m:naryPr>
                            <m:sub>
                              <m:r>
                                <a:rPr lang="zh-TW" altLang="en-US" i="1">
                                  <a:latin typeface="Cambria Math" panose="02040503050406030204" pitchFamily="18" charset="0"/>
                                </a:rPr>
                                <m:t>𝑛</m:t>
                              </m:r>
                              <m:r>
                                <a:rPr lang="zh-TW" altLang="en-US" i="0">
                                  <a:latin typeface="Cambria Math" panose="02040503050406030204" pitchFamily="18" charset="0"/>
                                </a:rPr>
                                <m:t>=1</m:t>
                              </m:r>
                            </m:sub>
                            <m:sup>
                              <m:r>
                                <a:rPr lang="zh-TW" altLang="en-US" i="1">
                                  <a:latin typeface="Cambria Math" panose="02040503050406030204" pitchFamily="18" charset="0"/>
                                </a:rPr>
                                <m:t>𝑁</m:t>
                              </m:r>
                            </m:sup>
                            <m:e>
                              <m:r>
                                <a:rPr lang="zh-TW" altLang="en-US" i="0">
                                  <a:latin typeface="Cambria Math" panose="02040503050406030204" pitchFamily="18" charset="0"/>
                                </a:rPr>
                                <m:t>2</m:t>
                              </m:r>
                              <m:sSup>
                                <m:sSupPr>
                                  <m:ctrlPr>
                                    <a:rPr lang="zh-TW" altLang="en-US" i="1">
                                      <a:latin typeface="Cambria Math" panose="02040503050406030204" pitchFamily="18" charset="0"/>
                                    </a:rPr>
                                  </m:ctrlPr>
                                </m:sSupPr>
                                <m:e>
                                  <m:sSup>
                                    <m:sSupPr>
                                      <m:ctrlPr>
                                        <a:rPr lang="zh-TW" altLang="en-US" i="1">
                                          <a:latin typeface="Cambria Math" panose="02040503050406030204" pitchFamily="18" charset="0"/>
                                        </a:rPr>
                                      </m:ctrlPr>
                                    </m:sSupPr>
                                    <m:e>
                                      <m:d>
                                        <m:dPr>
                                          <m:ctrlPr>
                                            <a:rPr lang="zh-TW" altLang="en-US" i="1">
                                              <a:latin typeface="Cambria Math" panose="02040503050406030204" pitchFamily="18" charset="0"/>
                                            </a:rPr>
                                          </m:ctrlPr>
                                        </m:dPr>
                                        <m:e>
                                          <m:r>
                                            <a:rPr lang="zh-TW" altLang="en-US" i="0">
                                              <a:latin typeface="Cambria Math" panose="02040503050406030204" pitchFamily="18" charset="0"/>
                                            </a:rPr>
                                            <m:t>−1</m:t>
                                          </m:r>
                                        </m:e>
                                      </m:d>
                                    </m:e>
                                    <m:sup>
                                      <m:r>
                                        <a:rPr lang="zh-TW" altLang="en-US" i="1">
                                          <a:latin typeface="Cambria Math" panose="02040503050406030204" pitchFamily="18" charset="0"/>
                                        </a:rPr>
                                        <m:t>𝑛</m:t>
                                      </m:r>
                                    </m:sup>
                                  </m:sSup>
                                  <m:r>
                                    <a:rPr lang="zh-TW" altLang="en-US" i="1">
                                      <a:latin typeface="Cambria Math" panose="02040503050406030204" pitchFamily="18" charset="0"/>
                                    </a:rPr>
                                    <m:t>𝑒</m:t>
                                  </m:r>
                                </m:e>
                                <m:sup>
                                  <m:r>
                                    <a:rPr lang="zh-TW" altLang="en-US" i="1">
                                      <a:latin typeface="Cambria Math" panose="02040503050406030204" pitchFamily="18" charset="0"/>
                                    </a:rPr>
                                    <m:t>𝑖</m:t>
                                  </m:r>
                                  <m:r>
                                    <a:rPr lang="zh-TW" altLang="en-US" i="0">
                                      <a:latin typeface="Cambria Math" panose="02040503050406030204" pitchFamily="18" charset="0"/>
                                    </a:rPr>
                                    <m:t>∆</m:t>
                                  </m:r>
                                  <m:r>
                                    <a:rPr lang="zh-TW" altLang="en-US" i="1">
                                      <a:latin typeface="Cambria Math" panose="02040503050406030204" pitchFamily="18" charset="0"/>
                                    </a:rPr>
                                    <m:t>𝑘</m:t>
                                  </m:r>
                                  <m:sSub>
                                    <m:sSubPr>
                                      <m:ctrlPr>
                                        <a:rPr lang="zh-TW" altLang="en-US" i="1">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𝑛</m:t>
                                      </m:r>
                                    </m:sub>
                                  </m:sSub>
                                </m:sup>
                              </m:sSup>
                            </m:e>
                          </m:nary>
                        </m:e>
                      </m:d>
                    </m:oMath>
                  </m:oMathPara>
                </a14:m>
                <a:endParaRPr lang="zh-TW" altLang="en-US"/>
              </a:p>
            </p:txBody>
          </p:sp>
        </mc:Choice>
        <mc:Fallback xmlns="">
          <p:sp>
            <p:nvSpPr>
              <p:cNvPr id="3" name="矩形 2"/>
              <p:cNvSpPr>
                <a:spLocks noRot="1" noChangeAspect="1" noMove="1" noResize="1" noEditPoints="1" noAdjustHandles="1" noChangeArrowheads="1" noChangeShapeType="1" noTextEdit="1"/>
              </p:cNvSpPr>
              <p:nvPr/>
            </p:nvSpPr>
            <p:spPr>
              <a:xfrm>
                <a:off x="4486048" y="3333199"/>
                <a:ext cx="5102487" cy="97270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486048" y="1497530"/>
                <a:ext cx="7223099" cy="11717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𝑂𝐹</m:t>
                      </m:r>
                      <m:r>
                        <a:rPr lang="zh-TW" altLang="en-US" i="0">
                          <a:latin typeface="Cambria Math" panose="02040503050406030204" pitchFamily="18" charset="0"/>
                        </a:rPr>
                        <m:t>=</m:t>
                      </m:r>
                      <m:nary>
                        <m:naryPr>
                          <m:chr m:val="∑"/>
                          <m:limLoc m:val="undOvr"/>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=0</m:t>
                          </m:r>
                        </m:sub>
                        <m:sup>
                          <m:r>
                            <a:rPr lang="zh-TW" altLang="en-US" i="1">
                              <a:latin typeface="Cambria Math" panose="02040503050406030204" pitchFamily="18" charset="0"/>
                            </a:rPr>
                            <m:t>𝑛</m:t>
                          </m:r>
                        </m:sup>
                        <m:e>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𝑤</m:t>
                                  </m:r>
                                </m:e>
                                <m:sub>
                                  <m:r>
                                    <a:rPr lang="zh-TW" altLang="en-US" i="1">
                                      <a:latin typeface="Cambria Math" panose="02040503050406030204" pitchFamily="18" charset="0"/>
                                    </a:rPr>
                                    <m:t>𝑖</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𝑖</m:t>
                                      </m:r>
                                    </m:sub>
                                  </m:sSub>
                                </m:e>
                              </m:d>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𝑖</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𝑖</m:t>
                                          </m:r>
                                        </m:sub>
                                      </m:sSub>
                                    </m:e>
                                  </m:d>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a:rPr lang="zh-TW" altLang="en-US" i="1">
                                              <a:latin typeface="Cambria Math" panose="02040503050406030204" pitchFamily="18" charset="0"/>
                                            </a:rPr>
                                            <m:t>𝑖</m:t>
                                          </m:r>
                                        </m:sub>
                                      </m:sSub>
                                    </m:e>
                                  </m:d>
                                </m:e>
                              </m:d>
                            </m:e>
                          </m:d>
                          <m:r>
                            <a:rPr lang="zh-TW" altLang="en-US" i="0">
                              <a:latin typeface="Cambria Math" panose="02040503050406030204" pitchFamily="18" charset="0"/>
                            </a:rPr>
                            <m:t>+</m:t>
                          </m:r>
                          <m:r>
                            <a:rPr lang="zh-TW" altLang="en-US" i="1">
                              <a:latin typeface="Cambria Math" panose="02040503050406030204" pitchFamily="18" charset="0"/>
                            </a:rPr>
                            <m:t>𝛽</m:t>
                          </m:r>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func>
                                <m:funcPr>
                                  <m:ctrlPr>
                                    <a:rPr lang="zh-TW" altLang="en-US" i="1">
                                      <a:latin typeface="Cambria Math" panose="02040503050406030204" pitchFamily="18" charset="0"/>
                                    </a:rPr>
                                  </m:ctrlPr>
                                </m:funcPr>
                                <m:fName>
                                  <m:r>
                                    <a:rPr lang="zh-TW" altLang="en-US" i="1">
                                      <a:latin typeface="Cambria Math" panose="02040503050406030204" pitchFamily="18" charset="0"/>
                                    </a:rPr>
                                    <m:t>𝑚𝑎𝑥</m:t>
                                  </m:r>
                                </m:fName>
                                <m:e>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e>
                                  </m:d>
                                </m:e>
                              </m:func>
                              <m:r>
                                <a:rPr lang="zh-TW" altLang="en-US" i="0">
                                  <a:latin typeface="Cambria Math" panose="02040503050406030204" pitchFamily="18" charset="0"/>
                                </a:rPr>
                                <m:t>−</m:t>
                              </m:r>
                              <m:func>
                                <m:funcPr>
                                  <m:ctrlPr>
                                    <a:rPr lang="zh-TW" altLang="en-US" i="1">
                                      <a:latin typeface="Cambria Math" panose="02040503050406030204" pitchFamily="18" charset="0"/>
                                    </a:rPr>
                                  </m:ctrlPr>
                                </m:funcPr>
                                <m:fName>
                                  <m:r>
                                    <a:rPr lang="zh-TW" altLang="en-US" i="1">
                                      <a:latin typeface="Cambria Math" panose="02040503050406030204" pitchFamily="18" charset="0"/>
                                    </a:rPr>
                                    <m:t>𝑚𝑖𝑛</m:t>
                                  </m:r>
                                </m:fName>
                                <m:e>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zh-TW" altLang="en-US" i="1">
                                              <a:latin typeface="Cambria Math" panose="02040503050406030204" pitchFamily="18" charset="0"/>
                                            </a:rPr>
                                            <m:t>𝑒𝑓𝑓</m:t>
                                          </m:r>
                                        </m:sub>
                                      </m:sSub>
                                    </m:e>
                                  </m:d>
                                </m:e>
                              </m:func>
                            </m:e>
                          </m:d>
                        </m:e>
                      </m:nary>
                    </m:oMath>
                  </m:oMathPara>
                </a14:m>
                <a:endParaRPr lang="en-US" altLang="zh-TW" dirty="0"/>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𝐸𝑂</m:t>
                          </m:r>
                        </m:sub>
                      </m:sSub>
                      <m:r>
                        <a:rPr lang="en-US" altLang="zh-TW" i="1">
                          <a:latin typeface="Cambria Math" panose="02040503050406030204" pitchFamily="18" charset="0"/>
                        </a:rPr>
                        <m:t>×</m:t>
                      </m:r>
                      <m:d>
                        <m:dPr>
                          <m:begChr m:val="|"/>
                          <m:endChr m:val="|"/>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𝛾</m:t>
                              </m:r>
                            </m:e>
                            <m:sub>
                              <m:r>
                                <a:rPr lang="en-US" altLang="zh-TW" i="1">
                                  <a:latin typeface="Cambria Math" panose="02040503050406030204" pitchFamily="18" charset="0"/>
                                </a:rPr>
                                <m:t>𝑡𝑎𝑟𝑔𝑒𝑡</m:t>
                              </m:r>
                            </m:sub>
                          </m:sSub>
                          <m:r>
                            <a:rPr lang="en-US" altLang="zh-TW" i="1">
                              <a:latin typeface="Cambria Math" panose="02040503050406030204" pitchFamily="18" charset="0"/>
                            </a:rPr>
                            <m:t>−</m:t>
                          </m:r>
                          <m:r>
                            <a:rPr lang="en-US" altLang="zh-TW" i="1">
                              <a:latin typeface="Cambria Math" panose="02040503050406030204" pitchFamily="18" charset="0"/>
                            </a:rPr>
                            <m:t>𝛾</m:t>
                          </m:r>
                        </m:e>
                      </m:d>
                    </m:oMath>
                  </m:oMathPara>
                </a14:m>
                <a:endParaRPr lang="zh-TW" altLang="en-US" dirty="0"/>
              </a:p>
            </p:txBody>
          </p:sp>
        </mc:Choice>
        <mc:Fallback xmlns="">
          <p:sp>
            <p:nvSpPr>
              <p:cNvPr id="4" name="矩形 3"/>
              <p:cNvSpPr>
                <a:spLocks noRot="1" noChangeAspect="1" noMove="1" noResize="1" noEditPoints="1" noAdjustHandles="1" noChangeArrowheads="1" noChangeShapeType="1" noTextEdit="1"/>
              </p:cNvSpPr>
              <p:nvPr/>
            </p:nvSpPr>
            <p:spPr>
              <a:xfrm>
                <a:off x="4486048" y="1497530"/>
                <a:ext cx="7223099" cy="1171731"/>
              </a:xfrm>
              <a:prstGeom prst="rect">
                <a:avLst/>
              </a:prstGeom>
              <a:blipFill>
                <a:blip r:embed="rId4"/>
                <a:stretch>
                  <a:fillRect b="-15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320142" y="1032468"/>
                <a:ext cx="3687291" cy="2101857"/>
              </a:xfrm>
              <a:prstGeom prst="rect">
                <a:avLst/>
              </a:prstGeom>
              <a:noFill/>
            </p:spPr>
            <p:txBody>
              <a:bodyPr wrap="none" rtlCol="0">
                <a:spAutoFit/>
              </a:bodyPr>
              <a:lstStyle/>
              <a:p>
                <a:r>
                  <a:rPr lang="en-US" altLang="zh-TW" sz="1600">
                    <a:latin typeface="Times New Roman" panose="02020603050405020304" pitchFamily="18" charset="0"/>
                    <a:cs typeface="Times New Roman" panose="02020603050405020304" pitchFamily="18" charset="0"/>
                  </a:rPr>
                  <a:t>n</a:t>
                </a:r>
                <a:r>
                  <a:rPr lang="zh-TW" altLang="en-US" sz="1600">
                    <a:latin typeface="Times New Roman" panose="02020603050405020304" pitchFamily="18" charset="0"/>
                    <a:cs typeface="Times New Roman" panose="02020603050405020304" pitchFamily="18" charset="0"/>
                  </a:rPr>
                  <a:t>：</a:t>
                </a:r>
                <a:r>
                  <a:rPr lang="en-US" altLang="zh-TW" sz="1600">
                    <a:latin typeface="Times New Roman" panose="02020603050405020304" pitchFamily="18" charset="0"/>
                    <a:cs typeface="Times New Roman" panose="02020603050405020304" pitchFamily="18" charset="0"/>
                  </a:rPr>
                  <a:t>number of signals</a:t>
                </a:r>
              </a:p>
              <a:p>
                <a14:m>
                  <m:oMath xmlns:m="http://schemas.openxmlformats.org/officeDocument/2006/math">
                    <m:sSub>
                      <m:sSubPr>
                        <m:ctrlPr>
                          <a:rPr lang="zh-TW" altLang="en-US" sz="1600" i="1">
                            <a:latin typeface="Cambria Math" panose="02040503050406030204" pitchFamily="18" charset="0"/>
                          </a:rPr>
                        </m:ctrlPr>
                      </m:sSubPr>
                      <m:e>
                        <m:r>
                          <a:rPr lang="zh-TW" altLang="en-US" sz="1600" i="1">
                            <a:latin typeface="Cambria Math" panose="02040503050406030204" pitchFamily="18" charset="0"/>
                          </a:rPr>
                          <m:t>𝜂</m:t>
                        </m:r>
                      </m:e>
                      <m:sub>
                        <m:r>
                          <a:rPr lang="zh-TW" altLang="en-US" sz="1600" i="1">
                            <a:latin typeface="Cambria Math" panose="02040503050406030204" pitchFamily="18" charset="0"/>
                          </a:rPr>
                          <m:t>𝑖</m:t>
                        </m:r>
                      </m:sub>
                    </m:sSub>
                  </m:oMath>
                </a14:m>
                <a:r>
                  <a:rPr lang="zh-TW" altLang="en-US" sz="1600">
                    <a:latin typeface="Times New Roman" panose="02020603050405020304" pitchFamily="18" charset="0"/>
                    <a:cs typeface="Times New Roman" panose="02020603050405020304" pitchFamily="18" charset="0"/>
                  </a:rPr>
                  <a:t>：</a:t>
                </a:r>
                <a:r>
                  <a:rPr lang="en-US" altLang="zh-TW" sz="1600">
                    <a:latin typeface="Times New Roman" pitchFamily="18" charset="0"/>
                    <a:cs typeface="Times New Roman" pitchFamily="18" charset="0"/>
                  </a:rPr>
                  <a:t>efficiency target</a:t>
                </a:r>
              </a:p>
              <a:p>
                <a14:m>
                  <m:oMath xmlns:m="http://schemas.openxmlformats.org/officeDocument/2006/math">
                    <m:sSub>
                      <m:sSubPr>
                        <m:ctrlPr>
                          <a:rPr lang="zh-TW" altLang="en-US" sz="1600" i="1">
                            <a:latin typeface="Cambria Math" panose="02040503050406030204" pitchFamily="18" charset="0"/>
                          </a:rPr>
                        </m:ctrlPr>
                      </m:sSubPr>
                      <m:e>
                        <m:r>
                          <a:rPr lang="zh-TW" altLang="en-US" sz="1600" i="1">
                            <a:latin typeface="Cambria Math" panose="02040503050406030204" pitchFamily="18" charset="0"/>
                          </a:rPr>
                          <m:t>𝜂</m:t>
                        </m:r>
                      </m:e>
                      <m:sub>
                        <m:r>
                          <a:rPr lang="zh-TW" altLang="en-US" sz="1600" i="1">
                            <a:latin typeface="Cambria Math" panose="02040503050406030204" pitchFamily="18" charset="0"/>
                          </a:rPr>
                          <m:t>𝑒𝑓𝑓</m:t>
                        </m:r>
                      </m:sub>
                    </m:sSub>
                  </m:oMath>
                </a14:m>
                <a:r>
                  <a:rPr lang="zh-TW" altLang="en-US" sz="1600">
                    <a:latin typeface="Times New Roman" pitchFamily="18" charset="0"/>
                    <a:cs typeface="Times New Roman" pitchFamily="18" charset="0"/>
                  </a:rPr>
                  <a:t>：</a:t>
                </a:r>
                <a:r>
                  <a:rPr lang="en-US" altLang="zh-TW" sz="1600">
                    <a:latin typeface="Times New Roman" pitchFamily="18" charset="0"/>
                    <a:cs typeface="Times New Roman" pitchFamily="18" charset="0"/>
                  </a:rPr>
                  <a:t>efficiency</a:t>
                </a:r>
              </a:p>
              <a:p>
                <a14:m>
                  <m:oMath xmlns:m="http://schemas.openxmlformats.org/officeDocument/2006/math">
                    <m:sSub>
                      <m:sSubPr>
                        <m:ctrlPr>
                          <a:rPr lang="zh-TW" altLang="en-US" sz="1600" i="1">
                            <a:latin typeface="Cambria Math" panose="02040503050406030204" pitchFamily="18" charset="0"/>
                          </a:rPr>
                        </m:ctrlPr>
                      </m:sSubPr>
                      <m:e>
                        <m:r>
                          <a:rPr lang="zh-TW" altLang="en-US" sz="1600" i="1">
                            <a:latin typeface="Cambria Math" panose="02040503050406030204" pitchFamily="18" charset="0"/>
                          </a:rPr>
                          <m:t>𝑤</m:t>
                        </m:r>
                      </m:e>
                      <m:sub>
                        <m:r>
                          <a:rPr lang="zh-TW" altLang="en-US" sz="1600" i="1">
                            <a:latin typeface="Cambria Math" panose="02040503050406030204" pitchFamily="18" charset="0"/>
                          </a:rPr>
                          <m:t>𝑖</m:t>
                        </m:r>
                      </m:sub>
                    </m:sSub>
                  </m:oMath>
                </a14:m>
                <a:r>
                  <a:rPr lang="zh-TW" altLang="en-US" sz="1600">
                    <a:latin typeface="Times New Roman" pitchFamily="18" charset="0"/>
                    <a:cs typeface="Times New Roman" pitchFamily="18" charset="0"/>
                  </a:rPr>
                  <a:t>：</a:t>
                </a:r>
                <a:r>
                  <a:rPr lang="en-US" altLang="zh-TW" sz="1600">
                    <a:latin typeface="Times New Roman" pitchFamily="18" charset="0"/>
                    <a:cs typeface="Times New Roman" pitchFamily="18" charset="0"/>
                  </a:rPr>
                  <a:t>efficiency weighting</a:t>
                </a:r>
              </a:p>
              <a:p>
                <a14:m>
                  <m:oMath xmlns:m="http://schemas.openxmlformats.org/officeDocument/2006/math">
                    <m:r>
                      <a:rPr lang="zh-TW" altLang="en-US" sz="1600" i="1">
                        <a:latin typeface="Cambria Math" panose="02040503050406030204" pitchFamily="18" charset="0"/>
                      </a:rPr>
                      <m:t>𝛽</m:t>
                    </m:r>
                  </m:oMath>
                </a14:m>
                <a:r>
                  <a:rPr lang="zh-TW" altLang="en-US" sz="1600">
                    <a:latin typeface="Times New Roman" pitchFamily="18" charset="0"/>
                    <a:cs typeface="Times New Roman" pitchFamily="18" charset="0"/>
                  </a:rPr>
                  <a:t>：</a:t>
                </a:r>
                <a:r>
                  <a:rPr lang="en-US" altLang="zh-TW" sz="1600" i="1">
                    <a:latin typeface="Times New Roman" pitchFamily="18" charset="0"/>
                    <a:cs typeface="Times New Roman" pitchFamily="18" charset="0"/>
                  </a:rPr>
                  <a:t> </a:t>
                </a:r>
                <a:r>
                  <a:rPr lang="en-US" altLang="zh-TW" sz="1600">
                    <a:latin typeface="Times New Roman" pitchFamily="18" charset="0"/>
                    <a:cs typeface="Times New Roman" pitchFamily="18" charset="0"/>
                  </a:rPr>
                  <a:t>equalization weighting</a:t>
                </a:r>
              </a:p>
              <a:p>
                <a14:m>
                  <m:oMath xmlns:m="http://schemas.openxmlformats.org/officeDocument/2006/math">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𝛾</m:t>
                        </m:r>
                      </m:e>
                      <m:sub>
                        <m:r>
                          <a:rPr lang="en-US" altLang="zh-TW" sz="1600" i="1">
                            <a:latin typeface="Cambria Math" panose="02040503050406030204" pitchFamily="18" charset="0"/>
                          </a:rPr>
                          <m:t>𝑡𝑎𝑟𝑔𝑒𝑡</m:t>
                        </m:r>
                      </m:sub>
                    </m:sSub>
                  </m:oMath>
                </a14:m>
                <a:r>
                  <a:rPr lang="zh-TW" altLang="en-US" sz="1600">
                    <a:latin typeface="Times New Roman" pitchFamily="18" charset="0"/>
                    <a:cs typeface="Times New Roman" pitchFamily="18" charset="0"/>
                  </a:rPr>
                  <a:t>：</a:t>
                </a:r>
                <a:r>
                  <a:rPr lang="en-US" altLang="zh-TW" sz="1600">
                    <a:latin typeface="Times New Roman" pitchFamily="18" charset="0"/>
                    <a:cs typeface="Times New Roman" pitchFamily="18" charset="0"/>
                  </a:rPr>
                  <a:t>domain length difference target</a:t>
                </a:r>
              </a:p>
              <a:p>
                <a14:m>
                  <m:oMath xmlns:m="http://schemas.openxmlformats.org/officeDocument/2006/math">
                    <m:r>
                      <a:rPr lang="en-US" altLang="zh-TW" sz="1600" i="1">
                        <a:latin typeface="Cambria Math" panose="02040503050406030204" pitchFamily="18" charset="0"/>
                      </a:rPr>
                      <m:t>𝛾</m:t>
                    </m:r>
                  </m:oMath>
                </a14:m>
                <a:r>
                  <a:rPr lang="zh-TW" altLang="en-US" sz="1600">
                    <a:latin typeface="Times New Roman" pitchFamily="18" charset="0"/>
                    <a:cs typeface="Times New Roman" pitchFamily="18" charset="0"/>
                  </a:rPr>
                  <a:t>：</a:t>
                </a:r>
                <a:r>
                  <a:rPr lang="en-US" altLang="zh-TW" sz="1600">
                    <a:latin typeface="Times New Roman" pitchFamily="18" charset="0"/>
                    <a:cs typeface="Times New Roman" pitchFamily="18" charset="0"/>
                  </a:rPr>
                  <a:t> domain length difference</a:t>
                </a:r>
              </a:p>
              <a:p>
                <a14:m>
                  <m:oMath xmlns:m="http://schemas.openxmlformats.org/officeDocument/2006/math">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𝑤</m:t>
                        </m:r>
                      </m:e>
                      <m:sub>
                        <m:r>
                          <a:rPr lang="en-US" altLang="zh-TW" sz="1600" i="1">
                            <a:latin typeface="Cambria Math" panose="02040503050406030204" pitchFamily="18" charset="0"/>
                          </a:rPr>
                          <m:t>𝐸𝑂</m:t>
                        </m:r>
                      </m:sub>
                    </m:sSub>
                  </m:oMath>
                </a14:m>
                <a:r>
                  <a:rPr lang="zh-TW" altLang="en-US" sz="1600">
                    <a:latin typeface="Times New Roman" pitchFamily="18" charset="0"/>
                    <a:cs typeface="Times New Roman" pitchFamily="18" charset="0"/>
                  </a:rPr>
                  <a:t>：</a:t>
                </a:r>
                <a:r>
                  <a:rPr lang="en-US" altLang="zh-TW" sz="1600">
                    <a:latin typeface="Times New Roman" pitchFamily="18" charset="0"/>
                    <a:cs typeface="Times New Roman" pitchFamily="18" charset="0"/>
                  </a:rPr>
                  <a:t>domain length difference</a:t>
                </a:r>
                <a:r>
                  <a:rPr lang="zh-TW" altLang="en-US" sz="1600">
                    <a:latin typeface="Times New Roman" pitchFamily="18" charset="0"/>
                    <a:cs typeface="Times New Roman" pitchFamily="18" charset="0"/>
                  </a:rPr>
                  <a:t> </a:t>
                </a:r>
                <a:r>
                  <a:rPr lang="en-US" altLang="zh-TW" sz="1600">
                    <a:latin typeface="Times New Roman" pitchFamily="18" charset="0"/>
                    <a:cs typeface="Times New Roman" pitchFamily="18" charset="0"/>
                  </a:rPr>
                  <a:t>weighting</a:t>
                </a:r>
              </a:p>
            </p:txBody>
          </p:sp>
        </mc:Choice>
        <mc:Fallback xmlns="">
          <p:sp>
            <p:nvSpPr>
              <p:cNvPr id="5" name="文字方塊 4"/>
              <p:cNvSpPr txBox="1">
                <a:spLocks noRot="1" noChangeAspect="1" noMove="1" noResize="1" noEditPoints="1" noAdjustHandles="1" noChangeArrowheads="1" noChangeShapeType="1" noTextEdit="1"/>
              </p:cNvSpPr>
              <p:nvPr/>
            </p:nvSpPr>
            <p:spPr>
              <a:xfrm>
                <a:off x="320142" y="1032468"/>
                <a:ext cx="3687291" cy="2101857"/>
              </a:xfrm>
              <a:prstGeom prst="rect">
                <a:avLst/>
              </a:prstGeom>
              <a:blipFill>
                <a:blip r:embed="rId5"/>
                <a:stretch>
                  <a:fillRect l="-993" t="-870" b="-289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320142" y="3132567"/>
                <a:ext cx="2739853" cy="1373966"/>
              </a:xfrm>
              <a:prstGeom prst="rect">
                <a:avLst/>
              </a:prstGeom>
              <a:noFill/>
            </p:spPr>
            <p:txBody>
              <a:bodyPr wrap="none" rtlCol="0">
                <a:spAutoFit/>
              </a:bodyPr>
              <a:lstStyle/>
              <a:p>
                <a14:m>
                  <m:oMath xmlns:m="http://schemas.openxmlformats.org/officeDocument/2006/math">
                    <m:sSub>
                      <m:sSubPr>
                        <m:ctrlPr>
                          <a:rPr lang="zh-TW" altLang="en-US" sz="1600" i="1">
                            <a:latin typeface="Cambria Math" panose="02040503050406030204" pitchFamily="18" charset="0"/>
                          </a:rPr>
                        </m:ctrlPr>
                      </m:sSubPr>
                      <m:e>
                        <m:r>
                          <a:rPr lang="zh-TW" altLang="en-US" sz="1600" i="1">
                            <a:latin typeface="Cambria Math" panose="02040503050406030204" pitchFamily="18" charset="0"/>
                          </a:rPr>
                          <m:t>𝑑</m:t>
                        </m:r>
                      </m:e>
                      <m:sub>
                        <m:r>
                          <a:rPr lang="zh-TW" altLang="en-US" sz="1600" i="1">
                            <a:latin typeface="Cambria Math" panose="02040503050406030204" pitchFamily="18" charset="0"/>
                          </a:rPr>
                          <m:t>𝑒𝑓𝑓</m:t>
                        </m:r>
                      </m:sub>
                    </m:sSub>
                  </m:oMath>
                </a14:m>
                <a:r>
                  <a:rPr lang="zh-TW" altLang="en-US" sz="1600">
                    <a:latin typeface="Times New Roman" pitchFamily="18" charset="0"/>
                    <a:cs typeface="Times New Roman" pitchFamily="18" charset="0"/>
                  </a:rPr>
                  <a:t>：</a:t>
                </a:r>
                <a:r>
                  <a:rPr lang="en-US" altLang="zh-TW" sz="1600" err="1">
                    <a:latin typeface="Times New Roman" pitchFamily="18" charset="0"/>
                    <a:cs typeface="Times New Roman" pitchFamily="18" charset="0"/>
                  </a:rPr>
                  <a:t>fourier</a:t>
                </a:r>
                <a:r>
                  <a:rPr lang="en-US" altLang="zh-TW" sz="1600">
                    <a:latin typeface="Times New Roman" pitchFamily="18" charset="0"/>
                    <a:cs typeface="Times New Roman" pitchFamily="18" charset="0"/>
                  </a:rPr>
                  <a:t> coefficient</a:t>
                </a:r>
              </a:p>
              <a:p>
                <a14:m>
                  <m:oMath xmlns:m="http://schemas.openxmlformats.org/officeDocument/2006/math">
                    <m:r>
                      <a:rPr lang="zh-TW" altLang="en-US" sz="1600">
                        <a:latin typeface="Cambria Math" panose="02040503050406030204" pitchFamily="18" charset="0"/>
                      </a:rPr>
                      <m:t>∆</m:t>
                    </m:r>
                    <m:r>
                      <a:rPr lang="zh-TW" altLang="en-US" sz="1600" i="1">
                        <a:latin typeface="Cambria Math" panose="02040503050406030204" pitchFamily="18" charset="0"/>
                      </a:rPr>
                      <m:t>𝑘</m:t>
                    </m:r>
                    <m:r>
                      <a:rPr lang="zh-TW" altLang="en-US" sz="1600" i="1">
                        <a:latin typeface="Cambria Math" panose="02040503050406030204" pitchFamily="18" charset="0"/>
                      </a:rPr>
                      <m:t>：</m:t>
                    </m:r>
                  </m:oMath>
                </a14:m>
                <a:r>
                  <a:rPr lang="en-US" altLang="zh-TW" sz="1600">
                    <a:latin typeface="Times New Roman" pitchFamily="18" charset="0"/>
                    <a:cs typeface="Times New Roman" pitchFamily="18" charset="0"/>
                  </a:rPr>
                  <a:t>phase matching condition</a:t>
                </a:r>
              </a:p>
              <a:p>
                <a14:m>
                  <m:oMath xmlns:m="http://schemas.openxmlformats.org/officeDocument/2006/math">
                    <m:r>
                      <a:rPr lang="zh-TW" altLang="en-US" sz="1600" i="1">
                        <a:latin typeface="Cambria Math" panose="02040503050406030204" pitchFamily="18" charset="0"/>
                      </a:rPr>
                      <m:t>𝐿</m:t>
                    </m:r>
                    <m:r>
                      <a:rPr lang="zh-TW" altLang="en-US" sz="1600" i="1" smtClean="0">
                        <a:latin typeface="Cambria Math" panose="02040503050406030204" pitchFamily="18" charset="0"/>
                      </a:rPr>
                      <m:t>：</m:t>
                    </m:r>
                  </m:oMath>
                </a14:m>
                <a:r>
                  <a:rPr lang="en-US" altLang="zh-TW" sz="1600">
                    <a:latin typeface="Times New Roman" pitchFamily="18" charset="0"/>
                    <a:cs typeface="Times New Roman" pitchFamily="18" charset="0"/>
                  </a:rPr>
                  <a:t>crystal length</a:t>
                </a:r>
              </a:p>
              <a:p>
                <a14:m>
                  <m:oMath xmlns:m="http://schemas.openxmlformats.org/officeDocument/2006/math">
                    <m:r>
                      <m:rPr>
                        <m:sty m:val="p"/>
                      </m:rPr>
                      <a:rPr lang="zh-TW" altLang="en-US" sz="1600" i="0">
                        <a:latin typeface="Cambria Math" panose="02040503050406030204" pitchFamily="18" charset="0"/>
                      </a:rPr>
                      <m:t>N</m:t>
                    </m:r>
                    <m:r>
                      <a:rPr lang="zh-TW" altLang="en-US" sz="1600" i="0" smtClean="0">
                        <a:latin typeface="Cambria Math" panose="02040503050406030204" pitchFamily="18" charset="0"/>
                      </a:rPr>
                      <m:t>：</m:t>
                    </m:r>
                  </m:oMath>
                </a14:m>
                <a:r>
                  <a:rPr lang="en-US" altLang="zh-TW" sz="1600">
                    <a:latin typeface="Times New Roman" pitchFamily="18" charset="0"/>
                    <a:cs typeface="Times New Roman" pitchFamily="18" charset="0"/>
                  </a:rPr>
                  <a:t> unit block number</a:t>
                </a:r>
              </a:p>
              <a:p>
                <a14:m>
                  <m:oMath xmlns:m="http://schemas.openxmlformats.org/officeDocument/2006/math">
                    <m:sSub>
                      <m:sSubPr>
                        <m:ctrlPr>
                          <a:rPr lang="zh-TW" altLang="en-US" sz="1600" i="1">
                            <a:latin typeface="Cambria Math" panose="02040503050406030204" pitchFamily="18" charset="0"/>
                          </a:rPr>
                        </m:ctrlPr>
                      </m:sSubPr>
                      <m:e>
                        <m:r>
                          <a:rPr lang="zh-TW" altLang="en-US" sz="1600" i="1">
                            <a:latin typeface="Cambria Math" panose="02040503050406030204" pitchFamily="18" charset="0"/>
                          </a:rPr>
                          <m:t>𝑍</m:t>
                        </m:r>
                      </m:e>
                      <m:sub>
                        <m:r>
                          <a:rPr lang="zh-TW" altLang="en-US" sz="1600" i="1">
                            <a:latin typeface="Cambria Math" panose="02040503050406030204" pitchFamily="18" charset="0"/>
                          </a:rPr>
                          <m:t>𝑛</m:t>
                        </m:r>
                      </m:sub>
                    </m:sSub>
                    <m:r>
                      <a:rPr lang="zh-TW" altLang="en-US" sz="1600" i="1">
                        <a:latin typeface="Cambria Math" panose="02040503050406030204" pitchFamily="18" charset="0"/>
                      </a:rPr>
                      <m:t>：</m:t>
                    </m:r>
                  </m:oMath>
                </a14:m>
                <a:r>
                  <a:rPr lang="en-US" altLang="zh-TW" sz="1600">
                    <a:latin typeface="Times New Roman" pitchFamily="18" charset="0"/>
                    <a:cs typeface="Times New Roman" pitchFamily="18" charset="0"/>
                  </a:rPr>
                  <a:t>domain position</a:t>
                </a:r>
              </a:p>
            </p:txBody>
          </p:sp>
        </mc:Choice>
        <mc:Fallback xmlns="">
          <p:sp>
            <p:nvSpPr>
              <p:cNvPr id="6" name="文字方塊 5"/>
              <p:cNvSpPr txBox="1">
                <a:spLocks noRot="1" noChangeAspect="1" noMove="1" noResize="1" noEditPoints="1" noAdjustHandles="1" noChangeArrowheads="1" noChangeShapeType="1" noTextEdit="1"/>
              </p:cNvSpPr>
              <p:nvPr/>
            </p:nvSpPr>
            <p:spPr>
              <a:xfrm>
                <a:off x="320142" y="3132567"/>
                <a:ext cx="2739853" cy="1373966"/>
              </a:xfrm>
              <a:prstGeom prst="rect">
                <a:avLst/>
              </a:prstGeom>
              <a:blipFill>
                <a:blip r:embed="rId6"/>
                <a:stretch>
                  <a:fillRect t="-1333" b="-2667"/>
                </a:stretch>
              </a:blipFill>
            </p:spPr>
            <p:txBody>
              <a:bodyPr/>
              <a:lstStyle/>
              <a:p>
                <a:r>
                  <a:rPr lang="zh-TW" altLang="en-US">
                    <a:noFill/>
                  </a:rPr>
                  <a:t> </a:t>
                </a:r>
              </a:p>
            </p:txBody>
          </p:sp>
        </mc:Fallback>
      </mc:AlternateContent>
      <p:grpSp>
        <p:nvGrpSpPr>
          <p:cNvPr id="7" name="群組 6"/>
          <p:cNvGrpSpPr>
            <a:grpSpLocks noChangeAspect="1"/>
          </p:cNvGrpSpPr>
          <p:nvPr/>
        </p:nvGrpSpPr>
        <p:grpSpPr>
          <a:xfrm>
            <a:off x="143005" y="5137804"/>
            <a:ext cx="4041563" cy="1143055"/>
            <a:chOff x="1746169" y="3362086"/>
            <a:chExt cx="7348287" cy="2078282"/>
          </a:xfrm>
        </p:grpSpPr>
        <p:sp>
          <p:nvSpPr>
            <p:cNvPr id="8" name="立方體 7"/>
            <p:cNvSpPr/>
            <p:nvPr/>
          </p:nvSpPr>
          <p:spPr>
            <a:xfrm>
              <a:off x="1884169" y="3362086"/>
              <a:ext cx="1676836" cy="1406770"/>
            </a:xfrm>
            <a:prstGeom prst="cube">
              <a:avLst>
                <a:gd name="adj" fmla="val 60339"/>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立方體 8"/>
            <p:cNvSpPr/>
            <p:nvPr/>
          </p:nvSpPr>
          <p:spPr>
            <a:xfrm>
              <a:off x="2713158" y="3362087"/>
              <a:ext cx="1919831" cy="1406770"/>
            </a:xfrm>
            <a:prstGeom prst="cube">
              <a:avLst>
                <a:gd name="adj" fmla="val 60359"/>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立方體 9"/>
            <p:cNvSpPr/>
            <p:nvPr/>
          </p:nvSpPr>
          <p:spPr>
            <a:xfrm>
              <a:off x="3797737" y="3362086"/>
              <a:ext cx="1514336" cy="1406770"/>
            </a:xfrm>
            <a:prstGeom prst="cube">
              <a:avLst>
                <a:gd name="adj" fmla="val 59713"/>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立方體 10"/>
            <p:cNvSpPr/>
            <p:nvPr/>
          </p:nvSpPr>
          <p:spPr>
            <a:xfrm>
              <a:off x="4473926" y="3362086"/>
              <a:ext cx="2464309" cy="1406770"/>
            </a:xfrm>
            <a:prstGeom prst="cube">
              <a:avLst>
                <a:gd name="adj" fmla="val 5971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立方體 11"/>
            <p:cNvSpPr/>
            <p:nvPr/>
          </p:nvSpPr>
          <p:spPr>
            <a:xfrm>
              <a:off x="6101570" y="3362086"/>
              <a:ext cx="1715171" cy="1406770"/>
            </a:xfrm>
            <a:prstGeom prst="cube">
              <a:avLst>
                <a:gd name="adj" fmla="val 5971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立方體 12"/>
            <p:cNvSpPr/>
            <p:nvPr/>
          </p:nvSpPr>
          <p:spPr>
            <a:xfrm>
              <a:off x="6975231" y="3362086"/>
              <a:ext cx="2119225" cy="1406770"/>
            </a:xfrm>
            <a:prstGeom prst="cube">
              <a:avLst>
                <a:gd name="adj" fmla="val 60185"/>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向上箭號 13"/>
            <p:cNvSpPr/>
            <p:nvPr/>
          </p:nvSpPr>
          <p:spPr>
            <a:xfrm>
              <a:off x="2115043" y="4292222"/>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上箭號 14"/>
            <p:cNvSpPr/>
            <p:nvPr/>
          </p:nvSpPr>
          <p:spPr>
            <a:xfrm>
              <a:off x="3975836"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向上箭號 15"/>
            <p:cNvSpPr/>
            <p:nvPr/>
          </p:nvSpPr>
          <p:spPr>
            <a:xfrm>
              <a:off x="634568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向上箭號 16"/>
            <p:cNvSpPr/>
            <p:nvPr/>
          </p:nvSpPr>
          <p:spPr>
            <a:xfrm flipV="1">
              <a:off x="309101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上箭號 17"/>
            <p:cNvSpPr/>
            <p:nvPr/>
          </p:nvSpPr>
          <p:spPr>
            <a:xfrm flipV="1">
              <a:off x="5180245"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向上箭號 18"/>
            <p:cNvSpPr/>
            <p:nvPr/>
          </p:nvSpPr>
          <p:spPr>
            <a:xfrm flipV="1">
              <a:off x="7458437" y="4292221"/>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0" name="文字方塊 19"/>
                <p:cNvSpPr txBox="1"/>
                <p:nvPr/>
              </p:nvSpPr>
              <p:spPr>
                <a:xfrm>
                  <a:off x="2347819" y="4768856"/>
                  <a:ext cx="7947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2347819" y="4768856"/>
                  <a:ext cx="794777" cy="369332"/>
                </a:xfrm>
                <a:prstGeom prst="rect">
                  <a:avLst/>
                </a:prstGeom>
                <a:blipFill>
                  <a:blip r:embed="rId7"/>
                  <a:stretch>
                    <a:fillRect b="-84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3424345" y="4768856"/>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2</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1" name="文字方塊 20"/>
                <p:cNvSpPr txBox="1">
                  <a:spLocks noRot="1" noChangeAspect="1" noMove="1" noResize="1" noEditPoints="1" noAdjustHandles="1" noChangeArrowheads="1" noChangeShapeType="1" noTextEdit="1"/>
                </p:cNvSpPr>
                <p:nvPr/>
              </p:nvSpPr>
              <p:spPr>
                <a:xfrm>
                  <a:off x="3424345" y="4768856"/>
                  <a:ext cx="803702" cy="369332"/>
                </a:xfrm>
                <a:prstGeom prst="rect">
                  <a:avLst/>
                </a:prstGeom>
                <a:blipFill>
                  <a:blip r:embed="rId8"/>
                  <a:stretch>
                    <a:fillRect b="-84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4093008" y="4768856"/>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3</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 name="文字方塊 21"/>
                <p:cNvSpPr txBox="1">
                  <a:spLocks noRot="1" noChangeAspect="1" noMove="1" noResize="1" noEditPoints="1" noAdjustHandles="1" noChangeArrowheads="1" noChangeShapeType="1" noTextEdit="1"/>
                </p:cNvSpPr>
                <p:nvPr/>
              </p:nvSpPr>
              <p:spPr>
                <a:xfrm>
                  <a:off x="4093008" y="4768856"/>
                  <a:ext cx="803702" cy="369332"/>
                </a:xfrm>
                <a:prstGeom prst="rect">
                  <a:avLst/>
                </a:prstGeom>
                <a:blipFill>
                  <a:blip r:embed="rId9"/>
                  <a:stretch>
                    <a:fillRect b="-84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6405152" y="4768855"/>
                  <a:ext cx="1296275" cy="6715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𝑛</m:t>
                            </m:r>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 name="文字方塊 22"/>
                <p:cNvSpPr txBox="1">
                  <a:spLocks noRot="1" noChangeAspect="1" noMove="1" noResize="1" noEditPoints="1" noAdjustHandles="1" noChangeArrowheads="1" noChangeShapeType="1" noTextEdit="1"/>
                </p:cNvSpPr>
                <p:nvPr/>
              </p:nvSpPr>
              <p:spPr>
                <a:xfrm>
                  <a:off x="6405152" y="4768855"/>
                  <a:ext cx="1296275" cy="671513"/>
                </a:xfrm>
                <a:prstGeom prst="rect">
                  <a:avLst/>
                </a:prstGeom>
                <a:blipFill>
                  <a:blip r:embed="rId10"/>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7824381" y="4768855"/>
                  <a:ext cx="896981" cy="6715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𝑛</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4" name="文字方塊 23"/>
                <p:cNvSpPr txBox="1">
                  <a:spLocks noRot="1" noChangeAspect="1" noMove="1" noResize="1" noEditPoints="1" noAdjustHandles="1" noChangeArrowheads="1" noChangeShapeType="1" noTextEdit="1"/>
                </p:cNvSpPr>
                <p:nvPr/>
              </p:nvSpPr>
              <p:spPr>
                <a:xfrm>
                  <a:off x="7824381" y="4768855"/>
                  <a:ext cx="896981" cy="671513"/>
                </a:xfrm>
                <a:prstGeom prst="rect">
                  <a:avLst/>
                </a:prstGeom>
                <a:blipFill>
                  <a:blip r:embed="rId11"/>
                  <a:stretch>
                    <a:fillRect/>
                  </a:stretch>
                </a:blipFill>
              </p:spPr>
              <p:txBody>
                <a:bodyPr/>
                <a:lstStyle/>
                <a:p>
                  <a:r>
                    <a:rPr lang="zh-TW" altLang="en-US">
                      <a:noFill/>
                    </a:rPr>
                    <a:t> </a:t>
                  </a:r>
                </a:p>
              </p:txBody>
            </p:sp>
          </mc:Fallback>
        </mc:AlternateContent>
        <p:sp>
          <p:nvSpPr>
            <p:cNvPr id="25" name="文字方塊 24"/>
            <p:cNvSpPr txBox="1"/>
            <p:nvPr/>
          </p:nvSpPr>
          <p:spPr>
            <a:xfrm>
              <a:off x="1746169" y="4768856"/>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0</a:t>
              </a:r>
              <a:endParaRPr lang="zh-TW" altLang="en-US">
                <a:latin typeface="Times New Roman" panose="02020603050405020304" pitchFamily="18" charset="0"/>
                <a:cs typeface="Times New Roman" panose="02020603050405020304" pitchFamily="18" charset="0"/>
              </a:endParaRPr>
            </a:p>
          </p:txBody>
        </p:sp>
        <p:sp>
          <p:nvSpPr>
            <p:cNvPr id="32" name="文字方塊 31"/>
            <p:cNvSpPr txBox="1"/>
            <p:nvPr/>
          </p:nvSpPr>
          <p:spPr>
            <a:xfrm>
              <a:off x="5373186" y="4768856"/>
              <a:ext cx="41549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a:t>
              </a:r>
              <a:endParaRPr lang="zh-TW" altLang="en-US">
                <a:latin typeface="Times New Roman" panose="02020603050405020304" pitchFamily="18" charset="0"/>
                <a:cs typeface="Times New Roman" panose="02020603050405020304" pitchFamily="18" charset="0"/>
              </a:endParaRPr>
            </a:p>
          </p:txBody>
        </p:sp>
      </p:grpSp>
      <p:sp>
        <p:nvSpPr>
          <p:cNvPr id="34" name="文字方塊 33"/>
          <p:cNvSpPr txBox="1"/>
          <p:nvPr/>
        </p:nvSpPr>
        <p:spPr>
          <a:xfrm>
            <a:off x="0" y="87923"/>
            <a:ext cx="12191999" cy="584775"/>
          </a:xfrm>
          <a:prstGeom prst="rect">
            <a:avLst/>
          </a:prstGeom>
          <a:noFill/>
        </p:spPr>
        <p:txBody>
          <a:bodyPr wrap="square" rtlCol="0">
            <a:spAutoFit/>
          </a:bodyPr>
          <a:lstStyle/>
          <a:p>
            <a:pPr marL="0" lvl="2" algn="ctr"/>
            <a:r>
              <a:rPr lang="en-US" altLang="zh-TW" sz="3200" b="1" i="1"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Nonperiodic</a:t>
            </a: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optical </a:t>
            </a:r>
            <a:r>
              <a:rPr lang="en-US" altLang="zh-TW" sz="3200" b="1" i="1"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superlattice</a:t>
            </a: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design</a:t>
            </a:r>
          </a:p>
        </p:txBody>
      </p:sp>
      <mc:AlternateContent xmlns:mc="http://schemas.openxmlformats.org/markup-compatibility/2006" xmlns:a14="http://schemas.microsoft.com/office/drawing/2010/main">
        <mc:Choice Requires="a14">
          <p:sp>
            <p:nvSpPr>
              <p:cNvPr id="2" name="文字方塊 1"/>
              <p:cNvSpPr txBox="1"/>
              <p:nvPr/>
            </p:nvSpPr>
            <p:spPr>
              <a:xfrm>
                <a:off x="5072837" y="4774716"/>
                <a:ext cx="4684111" cy="1499898"/>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n=2(1540nm</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1550nm)</a:t>
                </a:r>
              </a:p>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en-US" altLang="zh-TW" i="1">
                            <a:latin typeface="Cambria Math" panose="02040503050406030204" pitchFamily="18" charset="0"/>
                          </a:rPr>
                          <m:t>1</m:t>
                        </m:r>
                      </m:sub>
                    </m:sSub>
                    <m:r>
                      <a:rPr lang="en-US" altLang="zh-TW" i="1">
                        <a:latin typeface="Cambria Math" panose="02040503050406030204" pitchFamily="18" charset="0"/>
                      </a:rPr>
                      <m:t>=2/</m:t>
                    </m:r>
                    <m:r>
                      <a:rPr lang="zh-TW" altLang="en-US" i="1" smtClean="0">
                        <a:latin typeface="Cambria Math" panose="02040503050406030204" pitchFamily="18" charset="0"/>
                      </a:rPr>
                      <m:t>𝜋</m:t>
                    </m:r>
                  </m:oMath>
                </a14:m>
                <a:r>
                  <a:rPr lang="zh-TW" alt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𝜂</m:t>
                        </m:r>
                      </m:e>
                      <m:sub>
                        <m:r>
                          <a:rPr lang="en-US" altLang="zh-TW" i="1">
                            <a:latin typeface="Cambria Math" panose="02040503050406030204" pitchFamily="18" charset="0"/>
                          </a:rPr>
                          <m:t>2</m:t>
                        </m:r>
                      </m:sub>
                    </m:sSub>
                    <m:r>
                      <a:rPr lang="en-US" altLang="zh-TW" i="1">
                        <a:latin typeface="Cambria Math" panose="02040503050406030204" pitchFamily="18" charset="0"/>
                      </a:rPr>
                      <m:t>=2/</m:t>
                    </m:r>
                    <m:r>
                      <a:rPr lang="zh-TW" altLang="en-US" i="1">
                        <a:latin typeface="Cambria Math" panose="02040503050406030204" pitchFamily="18" charset="0"/>
                      </a:rPr>
                      <m:t>𝜋</m:t>
                    </m:r>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𝑤</m:t>
                        </m:r>
                      </m:e>
                      <m:sub>
                        <m:r>
                          <a:rPr lang="en-US" altLang="zh-TW" i="1">
                            <a:latin typeface="Cambria Math" panose="02040503050406030204" pitchFamily="18" charset="0"/>
                          </a:rPr>
                          <m:t>1</m:t>
                        </m:r>
                      </m:sub>
                    </m:sSub>
                    <m:r>
                      <a:rPr lang="en-US" altLang="zh-TW" b="0" i="1" smtClean="0">
                        <a:latin typeface="Cambria Math" panose="02040503050406030204" pitchFamily="18" charset="0"/>
                      </a:rPr>
                      <m:t>=1</m:t>
                    </m:r>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𝑤</m:t>
                        </m:r>
                      </m:e>
                      <m:sub>
                        <m:r>
                          <a:rPr lang="en-US" altLang="zh-TW" i="1">
                            <a:latin typeface="Cambria Math" panose="02040503050406030204" pitchFamily="18" charset="0"/>
                          </a:rPr>
                          <m:t>2</m:t>
                        </m:r>
                      </m:sub>
                    </m:sSub>
                    <m:r>
                      <a:rPr lang="en-US" altLang="zh-TW" i="1">
                        <a:latin typeface="Cambria Math" panose="02040503050406030204" pitchFamily="18" charset="0"/>
                      </a:rPr>
                      <m:t>=1</m:t>
                    </m:r>
                  </m:oMath>
                </a14:m>
                <a:r>
                  <a:rPr lang="zh-TW" altLang="en-US" dirty="0">
                    <a:latin typeface="Times New Roman" panose="02020603050405020304" pitchFamily="18" charset="0"/>
                    <a:cs typeface="Times New Roman" panose="02020603050405020304" pitchFamily="18" charset="0"/>
                  </a:rPr>
                  <a:t>、</a:t>
                </a:r>
                <a14:m>
                  <m:oMath xmlns:m="http://schemas.openxmlformats.org/officeDocument/2006/math">
                    <m:r>
                      <a:rPr lang="zh-TW" altLang="en-US" i="1">
                        <a:latin typeface="Cambria Math" panose="02040503050406030204" pitchFamily="18" charset="0"/>
                      </a:rPr>
                      <m:t>𝛽</m:t>
                    </m:r>
                    <m:r>
                      <a:rPr lang="en-US" altLang="zh-TW" i="1" smtClean="0">
                        <a:latin typeface="Cambria Math" panose="02040503050406030204" pitchFamily="18" charset="0"/>
                      </a:rPr>
                      <m:t>=</m:t>
                    </m:r>
                    <m:r>
                      <a:rPr lang="en-US" altLang="zh-TW" i="1">
                        <a:latin typeface="Cambria Math" panose="02040503050406030204" pitchFamily="18" charset="0"/>
                      </a:rPr>
                      <m:t>0</m:t>
                    </m:r>
                    <m:r>
                      <a:rPr lang="en-US" altLang="zh-TW" i="1" smtClean="0">
                        <a:latin typeface="Cambria Math" panose="02040503050406030204" pitchFamily="18" charset="0"/>
                      </a:rPr>
                      <m:t>.</m:t>
                    </m:r>
                    <m:r>
                      <a:rPr lang="en-US" altLang="zh-TW" i="1">
                        <a:latin typeface="Cambria Math" panose="02040503050406030204" pitchFamily="18" charset="0"/>
                      </a:rPr>
                      <m:t>3</m:t>
                    </m:r>
                  </m:oMath>
                </a14:m>
                <a:r>
                  <a:rPr lang="zh-TW" altLang="en-US" i="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𝐸𝑂</m:t>
                        </m:r>
                      </m:sub>
                    </m:sSub>
                    <m:r>
                      <a:rPr lang="en-US" altLang="zh-TW" i="1">
                        <a:latin typeface="Cambria Math" panose="02040503050406030204" pitchFamily="18" charset="0"/>
                      </a:rPr>
                      <m:t>=</m:t>
                    </m:r>
                    <m:r>
                      <a:rPr lang="en-US" altLang="zh-TW" b="0" i="1" smtClean="0">
                        <a:latin typeface="Cambria Math" panose="02040503050406030204" pitchFamily="18" charset="0"/>
                      </a:rPr>
                      <m:t>0.</m:t>
                    </m:r>
                    <m:r>
                      <a:rPr lang="en-US" altLang="zh-TW" i="1">
                        <a:latin typeface="Cambria Math" panose="02040503050406030204" pitchFamily="18" charset="0"/>
                      </a:rPr>
                      <m:t>1</m:t>
                    </m:r>
                  </m:oMath>
                </a14:m>
                <a:r>
                  <a:rPr lang="zh-TW" altLang="en-US" dirty="0">
                    <a:latin typeface="Times New Roman" panose="02020603050405020304" pitchFamily="18" charset="0"/>
                    <a:cs typeface="Times New Roman" panose="02020603050405020304" pitchFamily="18" charset="0"/>
                  </a:rPr>
                  <a:t> </a:t>
                </a:r>
                <a:endParaRPr lang="en-US" altLang="zh-TW" i="1"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𝛾</m:t>
                        </m:r>
                      </m:e>
                      <m:sub>
                        <m:r>
                          <a:rPr lang="en-US" altLang="zh-TW" i="1">
                            <a:latin typeface="Cambria Math" panose="02040503050406030204" pitchFamily="18" charset="0"/>
                          </a:rPr>
                          <m:t>𝑡𝑎𝑟𝑔𝑒𝑡</m:t>
                        </m:r>
                      </m:sub>
                    </m:sSub>
                    <m:r>
                      <a:rPr lang="en-US" altLang="zh-TW" i="1">
                        <a:latin typeface="Cambria Math" panose="02040503050406030204" pitchFamily="18" charset="0"/>
                      </a:rPr>
                      <m:t>=0.4</m:t>
                    </m:r>
                    <m:r>
                      <a:rPr lang="en-US" altLang="zh-TW" b="0" i="1" smtClean="0">
                        <a:latin typeface="Cambria Math" panose="02040503050406030204" pitchFamily="18" charset="0"/>
                      </a:rPr>
                      <m:t>3</m:t>
                    </m:r>
                  </m:oMath>
                </a14:m>
                <a:r>
                  <a:rPr lang="zh-TW" altLang="en-US" dirty="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zh-TW" altLang="en-US" i="1">
                        <a:latin typeface="Cambria Math" panose="02040503050406030204" pitchFamily="18" charset="0"/>
                      </a:rPr>
                      <m:t>𝐿</m:t>
                    </m:r>
                    <m:r>
                      <a:rPr lang="en-US" altLang="zh-TW" i="1" smtClean="0">
                        <a:latin typeface="Cambria Math" panose="02040503050406030204" pitchFamily="18" charset="0"/>
                      </a:rPr>
                      <m:t>=</m:t>
                    </m:r>
                    <m:r>
                      <a:rPr lang="en-US" altLang="zh-TW" i="1">
                        <a:latin typeface="Cambria Math" panose="02040503050406030204" pitchFamily="18" charset="0"/>
                      </a:rPr>
                      <m:t>4</m:t>
                    </m:r>
                    <m:r>
                      <m:rPr>
                        <m:sty m:val="p"/>
                      </m:rPr>
                      <a:rPr lang="en-US" altLang="zh-TW" i="1" smtClean="0">
                        <a:latin typeface="Cambria Math" panose="02040503050406030204" pitchFamily="18" charset="0"/>
                      </a:rPr>
                      <m:t>c</m:t>
                    </m:r>
                    <m:r>
                      <m:rPr>
                        <m:sty m:val="p"/>
                      </m:rPr>
                      <a:rPr lang="en-US" altLang="zh-TW" i="1">
                        <a:latin typeface="Cambria Math" panose="02040503050406030204" pitchFamily="18" charset="0"/>
                      </a:rPr>
                      <m:t>m</m:t>
                    </m:r>
                  </m:oMath>
                </a14:m>
                <a:r>
                  <a:rPr lang="zh-TW" altLang="en-US" dirty="0">
                    <a:latin typeface="Times New Roman" panose="02020603050405020304" pitchFamily="18" charset="0"/>
                    <a:cs typeface="Times New Roman" panose="02020603050405020304" pitchFamily="18" charset="0"/>
                  </a:rPr>
                  <a:t> 、 </a:t>
                </a:r>
                <a14:m>
                  <m:oMath xmlns:m="http://schemas.openxmlformats.org/officeDocument/2006/math">
                    <m:r>
                      <m:rPr>
                        <m:sty m:val="p"/>
                      </m:rPr>
                      <a:rPr lang="zh-TW" altLang="en-US">
                        <a:latin typeface="Cambria Math" panose="02040503050406030204" pitchFamily="18" charset="0"/>
                      </a:rPr>
                      <m:t>N</m:t>
                    </m:r>
                    <m:r>
                      <a:rPr lang="en-US" altLang="zh-TW" i="1">
                        <a:latin typeface="Cambria Math" panose="02040503050406030204" pitchFamily="18" charset="0"/>
                      </a:rPr>
                      <m:t>=2670</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 name="文字方塊 1"/>
              <p:cNvSpPr txBox="1">
                <a:spLocks noRot="1" noChangeAspect="1" noMove="1" noResize="1" noEditPoints="1" noAdjustHandles="1" noChangeArrowheads="1" noChangeShapeType="1" noTextEdit="1"/>
              </p:cNvSpPr>
              <p:nvPr/>
            </p:nvSpPr>
            <p:spPr>
              <a:xfrm>
                <a:off x="5072837" y="4774716"/>
                <a:ext cx="4684111" cy="1499898"/>
              </a:xfrm>
              <a:prstGeom prst="rect">
                <a:avLst/>
              </a:prstGeom>
              <a:blipFill>
                <a:blip r:embed="rId12"/>
                <a:stretch>
                  <a:fillRect l="-1040" t="-2033"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5091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0" y="87923"/>
            <a:ext cx="12191999" cy="584775"/>
          </a:xfrm>
          <a:prstGeom prst="rect">
            <a:avLst/>
          </a:prstGeom>
          <a:noFill/>
        </p:spPr>
        <p:txBody>
          <a:bodyPr wrap="square" rtlCol="0">
            <a:spAutoFit/>
          </a:bodyPr>
          <a:lstStyle/>
          <a:p>
            <a:pPr marL="0" lvl="2"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Simulation result of asymmetric domain length structure </a:t>
            </a:r>
          </a:p>
        </p:txBody>
      </p:sp>
      <p:pic>
        <p:nvPicPr>
          <p:cNvPr id="8" name="圖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4848" y="1205867"/>
            <a:ext cx="5813090" cy="4109812"/>
          </a:xfrm>
          <a:prstGeom prst="rect">
            <a:avLst/>
          </a:prstGeom>
        </p:spPr>
      </p:pic>
      <p:pic>
        <p:nvPicPr>
          <p:cNvPr id="10" name="圖片 9"/>
          <p:cNvPicPr/>
          <p:nvPr/>
        </p:nvPicPr>
        <p:blipFill>
          <a:blip r:embed="rId4">
            <a:extLst>
              <a:ext uri="{28A0092B-C50C-407E-A947-70E740481C1C}">
                <a14:useLocalDpi xmlns:a14="http://schemas.microsoft.com/office/drawing/2010/main" val="0"/>
              </a:ext>
            </a:extLst>
          </a:blip>
          <a:stretch>
            <a:fillRect/>
          </a:stretch>
        </p:blipFill>
        <p:spPr>
          <a:xfrm>
            <a:off x="6675680" y="1388793"/>
            <a:ext cx="4723130" cy="3743960"/>
          </a:xfrm>
          <a:prstGeom prst="rect">
            <a:avLst/>
          </a:prstGeom>
        </p:spPr>
      </p:pic>
      <mc:AlternateContent xmlns:mc="http://schemas.openxmlformats.org/markup-compatibility/2006" xmlns:a14="http://schemas.microsoft.com/office/drawing/2010/main">
        <mc:Choice Requires="a14">
          <p:sp>
            <p:nvSpPr>
              <p:cNvPr id="20" name="矩形 19"/>
              <p:cNvSpPr/>
              <p:nvPr/>
            </p:nvSpPr>
            <p:spPr>
              <a:xfrm>
                <a:off x="6675680" y="5448738"/>
                <a:ext cx="4723130" cy="707886"/>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Real</a:t>
                </a:r>
                <a:r>
                  <a:rPr lang="en-US" altLang="zh-TW" sz="2000" dirty="0">
                    <a:solidFill>
                      <a:srgbClr val="FF0000"/>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domain length average </a:t>
                </a:r>
                <a14:m>
                  <m:oMath xmlns:m="http://schemas.openxmlformats.org/officeDocument/2006/math">
                    <m:r>
                      <a:rPr lang="en-US" altLang="zh-TW" sz="2000" i="1">
                        <a:latin typeface="Cambria Math" panose="02040503050406030204" pitchFamily="18" charset="0"/>
                        <a:ea typeface="Cambria Math" panose="02040503050406030204" pitchFamily="18" charset="0"/>
                      </a:rPr>
                      <m:t>=8.4774</m:t>
                    </m:r>
                    <m:r>
                      <m:rPr>
                        <m:sty m:val="p"/>
                      </m:rPr>
                      <a:rPr lang="en-US" altLang="zh-TW" sz="2000">
                        <a:latin typeface="Cambria Math" panose="02040503050406030204" pitchFamily="18" charset="0"/>
                      </a:rPr>
                      <m:t>μm</m:t>
                    </m:r>
                  </m:oMath>
                </a14:m>
                <a:endParaRPr lang="en-US" altLang="zh-TW" sz="2000" dirty="0">
                  <a:latin typeface="Times New Roman" panose="02020603050405020304" pitchFamily="18" charset="0"/>
                </a:endParaRPr>
              </a:p>
              <a:p>
                <a:r>
                  <a:rPr lang="zh-TW"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2</m:t>
                    </m:r>
                    <m:r>
                      <a:rPr lang="en-US" altLang="zh-TW" sz="2000" i="1" dirty="0" smtClean="0">
                        <a:latin typeface="Cambria Math" panose="02040503050406030204" pitchFamily="18" charset="0"/>
                        <a:cs typeface="Times New Roman" panose="02020603050405020304" pitchFamily="18" charset="0"/>
                      </a:rPr>
                      <m:t>1</m:t>
                    </m:r>
                    <m:r>
                      <a:rPr lang="en-US" altLang="zh-TW" sz="2000" i="1" dirty="0">
                        <a:latin typeface="Cambria Math" panose="02040503050406030204" pitchFamily="18" charset="0"/>
                        <a:cs typeface="Times New Roman" panose="02020603050405020304" pitchFamily="18" charset="0"/>
                      </a:rPr>
                      <m:t>.</m:t>
                    </m:r>
                    <m:r>
                      <a:rPr lang="en-US" altLang="zh-TW" sz="2000" i="1" dirty="0" smtClean="0">
                        <a:latin typeface="Cambria Math" panose="02040503050406030204" pitchFamily="18" charset="0"/>
                        <a:cs typeface="Times New Roman" panose="02020603050405020304" pitchFamily="18" charset="0"/>
                      </a:rPr>
                      <m:t>4</m:t>
                    </m:r>
                    <m:r>
                      <a:rPr lang="en-US" altLang="zh-TW" sz="2000" i="1" dirty="0">
                        <a:latin typeface="Cambria Math" panose="02040503050406030204" pitchFamily="18" charset="0"/>
                        <a:cs typeface="Times New Roman" panose="02020603050405020304" pitchFamily="18" charset="0"/>
                      </a:rPr>
                      <m:t>7</m:t>
                    </m:r>
                    <m:r>
                      <a:rPr lang="en-US" altLang="zh-TW" sz="2000" i="1" dirty="0" smtClean="0">
                        <a:latin typeface="Cambria Math" panose="02040503050406030204" pitchFamily="18" charset="0"/>
                        <a:cs typeface="Times New Roman" panose="02020603050405020304" pitchFamily="18" charset="0"/>
                      </a:rPr>
                      <m:t>6</m:t>
                    </m:r>
                    <m:r>
                      <a:rPr lang="en-US" altLang="zh-TW" sz="2000" i="1" dirty="0">
                        <a:latin typeface="Cambria Math" panose="02040503050406030204" pitchFamily="18" charset="0"/>
                        <a:cs typeface="Times New Roman" panose="02020603050405020304" pitchFamily="18" charset="0"/>
                      </a:rPr>
                      <m:t>6</m:t>
                    </m:r>
                    <m:r>
                      <m:rPr>
                        <m:sty m:val="p"/>
                      </m:rPr>
                      <a:rPr lang="en-US" altLang="zh-TW" sz="2000">
                        <a:latin typeface="Cambria Math" panose="02040503050406030204" pitchFamily="18" charset="0"/>
                      </a:rPr>
                      <m:t>μm</m:t>
                    </m:r>
                  </m:oMath>
                </a14:m>
                <a:endParaRPr lang="en-US" altLang="zh-TW" sz="2000" dirty="0">
                  <a:latin typeface="Times New Roman" panose="02020603050405020304" pitchFamily="18" charset="0"/>
                </a:endParaRPr>
              </a:p>
            </p:txBody>
          </p:sp>
        </mc:Choice>
        <mc:Fallback xmlns="">
          <p:sp>
            <p:nvSpPr>
              <p:cNvPr id="20" name="矩形 19"/>
              <p:cNvSpPr>
                <a:spLocks noRot="1" noChangeAspect="1" noMove="1" noResize="1" noEditPoints="1" noAdjustHandles="1" noChangeArrowheads="1" noChangeShapeType="1" noTextEdit="1"/>
              </p:cNvSpPr>
              <p:nvPr/>
            </p:nvSpPr>
            <p:spPr>
              <a:xfrm>
                <a:off x="6675680" y="5448738"/>
                <a:ext cx="4723130" cy="707886"/>
              </a:xfrm>
              <a:prstGeom prst="rect">
                <a:avLst/>
              </a:prstGeom>
              <a:blipFill>
                <a:blip r:embed="rId5"/>
                <a:stretch>
                  <a:fillRect l="-1290" t="-5172" b="-4310"/>
                </a:stretch>
              </a:blipFill>
            </p:spPr>
            <p:txBody>
              <a:bodyPr/>
              <a:lstStyle/>
              <a:p>
                <a:r>
                  <a:rPr lang="zh-TW" altLang="en-US">
                    <a:noFill/>
                  </a:rPr>
                  <a:t> </a:t>
                </a:r>
              </a:p>
            </p:txBody>
          </p:sp>
        </mc:Fallback>
      </mc:AlternateContent>
      <p:sp>
        <p:nvSpPr>
          <p:cNvPr id="12" name="文字方塊 11"/>
          <p:cNvSpPr txBox="1"/>
          <p:nvPr/>
        </p:nvSpPr>
        <p:spPr>
          <a:xfrm>
            <a:off x="1155560" y="5390359"/>
            <a:ext cx="3595856" cy="923330"/>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pump wavelength</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1064nm</a:t>
            </a:r>
          </a:p>
          <a:p>
            <a:r>
              <a:rPr lang="en-US" altLang="zh-TW">
                <a:latin typeface="Times New Roman" panose="02020603050405020304" pitchFamily="18" charset="0"/>
                <a:cs typeface="Times New Roman" panose="02020603050405020304" pitchFamily="18" charset="0"/>
              </a:rPr>
              <a:t>signal wavelength </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1540</a:t>
            </a:r>
            <a:r>
              <a:rPr lang="zh-TW" altLang="en-US">
                <a:latin typeface="Times New Roman" panose="02020603050405020304" pitchFamily="18" charset="0"/>
                <a:cs typeface="Times New Roman" panose="02020603050405020304" pitchFamily="18" charset="0"/>
              </a:rPr>
              <a:t>、</a:t>
            </a:r>
            <a:r>
              <a:rPr lang="en-US" altLang="zh-TW">
                <a:latin typeface="Times New Roman" panose="02020603050405020304" pitchFamily="18" charset="0"/>
                <a:cs typeface="Times New Roman" panose="02020603050405020304" pitchFamily="18" charset="0"/>
              </a:rPr>
              <a:t>1550nm</a:t>
            </a:r>
          </a:p>
          <a:p>
            <a:r>
              <a:rPr lang="en-US" altLang="zh-TW">
                <a:latin typeface="Times New Roman" panose="02020603050405020304" pitchFamily="18" charset="0"/>
                <a:cs typeface="Times New Roman" panose="02020603050405020304" pitchFamily="18" charset="0"/>
              </a:rPr>
              <a:t>Crystal temperature : 40℃</a:t>
            </a:r>
          </a:p>
        </p:txBody>
      </p:sp>
      <p:sp>
        <p:nvSpPr>
          <p:cNvPr id="2" name="矩形 1"/>
          <p:cNvSpPr/>
          <p:nvPr/>
        </p:nvSpPr>
        <p:spPr>
          <a:xfrm>
            <a:off x="6675680" y="6156624"/>
            <a:ext cx="3118161"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Duty-cycle=71.69%/28.31%</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014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接點 4"/>
          <p:cNvCxnSpPr/>
          <p:nvPr/>
        </p:nvCxnSpPr>
        <p:spPr>
          <a:xfrm flipV="1">
            <a:off x="2805232" y="1582617"/>
            <a:ext cx="6840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文字方塊 5"/>
          <p:cNvSpPr txBox="1"/>
          <p:nvPr/>
        </p:nvSpPr>
        <p:spPr>
          <a:xfrm>
            <a:off x="2393851" y="4886053"/>
            <a:ext cx="1688091" cy="461665"/>
          </a:xfrm>
          <a:prstGeom prst="rect">
            <a:avLst/>
          </a:prstGeom>
          <a:noFill/>
        </p:spPr>
        <p:txBody>
          <a:bodyPr wrap="none" rtlCol="0">
            <a:spAutoFit/>
          </a:bodyPr>
          <a:lstStyle/>
          <a:p>
            <a:r>
              <a:rPr lang="en-US" altLang="zh-TW" sz="2400" err="1">
                <a:latin typeface="Times New Roman" panose="02020603050405020304" pitchFamily="18" charset="0"/>
                <a:cs typeface="Times New Roman" panose="02020603050405020304" pitchFamily="18" charset="0"/>
              </a:rPr>
              <a:t>dL</a:t>
            </a:r>
            <a:r>
              <a:rPr lang="en-US" altLang="zh-TW" sz="2400">
                <a:latin typeface="Times New Roman" panose="02020603050405020304" pitchFamily="18" charset="0"/>
                <a:cs typeface="Times New Roman" panose="02020603050405020304" pitchFamily="18" charset="0"/>
              </a:rPr>
              <a:t> = 0.3954</a:t>
            </a:r>
            <a:endParaRPr lang="zh-TW" altLang="en-US" sz="2400">
              <a:latin typeface="Times New Roman" panose="02020603050405020304" pitchFamily="18" charset="0"/>
              <a:cs typeface="Times New Roman" panose="02020603050405020304" pitchFamily="18" charset="0"/>
            </a:endParaRPr>
          </a:p>
        </p:txBody>
      </p:sp>
      <p:sp>
        <p:nvSpPr>
          <p:cNvPr id="7" name="文字方塊 6"/>
          <p:cNvSpPr txBox="1"/>
          <p:nvPr/>
        </p:nvSpPr>
        <p:spPr>
          <a:xfrm>
            <a:off x="8088203" y="4907205"/>
            <a:ext cx="1688091" cy="461665"/>
          </a:xfrm>
          <a:prstGeom prst="rect">
            <a:avLst/>
          </a:prstGeom>
          <a:noFill/>
        </p:spPr>
        <p:txBody>
          <a:bodyPr wrap="none" rtlCol="0">
            <a:spAutoFit/>
          </a:bodyPr>
          <a:lstStyle/>
          <a:p>
            <a:r>
              <a:rPr lang="en-US" altLang="zh-TW" sz="2400" err="1">
                <a:latin typeface="Times New Roman" panose="02020603050405020304" pitchFamily="18" charset="0"/>
                <a:cs typeface="Times New Roman" panose="02020603050405020304" pitchFamily="18" charset="0"/>
              </a:rPr>
              <a:t>dL</a:t>
            </a:r>
            <a:r>
              <a:rPr lang="en-US" altLang="zh-TW" sz="2400">
                <a:latin typeface="Times New Roman" panose="02020603050405020304" pitchFamily="18" charset="0"/>
                <a:cs typeface="Times New Roman" panose="02020603050405020304" pitchFamily="18" charset="0"/>
              </a:rPr>
              <a:t> = 0.4341</a:t>
            </a:r>
            <a:endParaRPr lang="zh-TW" altLang="en-US" sz="24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p:cNvSpPr/>
              <p:nvPr/>
            </p:nvSpPr>
            <p:spPr>
              <a:xfrm>
                <a:off x="382275" y="5655867"/>
                <a:ext cx="2011576" cy="8279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𝑑𝐿</m:t>
                      </m:r>
                      <m:r>
                        <a:rPr lang="en-US" altLang="zh-TW" sz="2400" b="0" i="1" smtClean="0">
                          <a:latin typeface="Cambria Math" panose="02040503050406030204" pitchFamily="18" charset="0"/>
                          <a:cs typeface="Times New Roman" panose="02020603050405020304" pitchFamily="18" charset="0"/>
                        </a:rPr>
                        <m:t>=</m:t>
                      </m:r>
                      <m:f>
                        <m:fPr>
                          <m:ctrlPr>
                            <a:rPr lang="en-US" altLang="zh-TW" sz="2400" b="0" i="1" smtClean="0">
                              <a:latin typeface="Cambria Math" panose="02040503050406030204" pitchFamily="18" charset="0"/>
                              <a:cs typeface="Times New Roman" panose="02020603050405020304" pitchFamily="18" charset="0"/>
                            </a:rPr>
                          </m:ctrlPr>
                        </m:fPr>
                        <m:num>
                          <m:sSup>
                            <m:sSupPr>
                              <m:ctrlPr>
                                <a:rPr lang="en-US" altLang="zh-TW" sz="2400" i="1">
                                  <a:latin typeface="Cambria Math" panose="02040503050406030204" pitchFamily="18" charset="0"/>
                                  <a:cs typeface="Times New Roman" panose="02020603050405020304" pitchFamily="18" charset="0"/>
                                </a:rPr>
                              </m:ctrlPr>
                            </m:sSupPr>
                            <m:e>
                              <m:r>
                                <a:rPr lang="en-US" altLang="zh-TW" sz="2400" i="1">
                                  <a:latin typeface="Cambria Math" panose="02040503050406030204" pitchFamily="18" charset="0"/>
                                  <a:cs typeface="Times New Roman" panose="02020603050405020304" pitchFamily="18" charset="0"/>
                                </a:rPr>
                                <m:t>𝐿</m:t>
                              </m:r>
                            </m:e>
                            <m:sup>
                              <m:r>
                                <a:rPr lang="en-US" altLang="zh-TW" sz="2400" i="1">
                                  <a:latin typeface="Cambria Math" panose="02040503050406030204" pitchFamily="18" charset="0"/>
                                  <a:cs typeface="Times New Roman" panose="02020603050405020304" pitchFamily="18" charset="0"/>
                                </a:rPr>
                                <m:t>+</m:t>
                              </m:r>
                            </m:sup>
                          </m:sSup>
                          <m:r>
                            <a:rPr lang="en-US" altLang="zh-TW" sz="2400" b="0" i="1" smtClean="0">
                              <a:latin typeface="Cambria Math" panose="02040503050406030204" pitchFamily="18" charset="0"/>
                              <a:cs typeface="Times New Roman" panose="02020603050405020304" pitchFamily="18" charset="0"/>
                            </a:rPr>
                            <m:t>−</m:t>
                          </m:r>
                          <m:sSup>
                            <m:sSupPr>
                              <m:ctrlPr>
                                <a:rPr lang="en-US" altLang="zh-TW" sz="2400" i="1">
                                  <a:latin typeface="Cambria Math" panose="02040503050406030204" pitchFamily="18" charset="0"/>
                                  <a:cs typeface="Times New Roman" panose="02020603050405020304" pitchFamily="18" charset="0"/>
                                </a:rPr>
                              </m:ctrlPr>
                            </m:sSupPr>
                            <m:e>
                              <m:r>
                                <a:rPr lang="en-US" altLang="zh-TW" sz="2400" i="1">
                                  <a:latin typeface="Cambria Math" panose="02040503050406030204" pitchFamily="18" charset="0"/>
                                  <a:cs typeface="Times New Roman" panose="02020603050405020304" pitchFamily="18" charset="0"/>
                                </a:rPr>
                                <m:t>𝐿</m:t>
                              </m:r>
                            </m:e>
                            <m:sup>
                              <m:r>
                                <a:rPr lang="en-US" altLang="zh-TW" sz="2400" b="0" i="1" smtClean="0">
                                  <a:latin typeface="Cambria Math" panose="02040503050406030204" pitchFamily="18" charset="0"/>
                                  <a:cs typeface="Times New Roman" panose="02020603050405020304" pitchFamily="18" charset="0"/>
                                </a:rPr>
                                <m:t>−</m:t>
                              </m:r>
                            </m:sup>
                          </m:sSup>
                        </m:num>
                        <m:den>
                          <m:sSup>
                            <m:sSupPr>
                              <m:ctrlPr>
                                <a:rPr lang="en-US" altLang="zh-TW" sz="2400" b="0" i="1" smtClean="0">
                                  <a:latin typeface="Cambria Math" panose="02040503050406030204" pitchFamily="18" charset="0"/>
                                  <a:cs typeface="Times New Roman" panose="02020603050405020304" pitchFamily="18" charset="0"/>
                                </a:rPr>
                              </m:ctrlPr>
                            </m:sSupPr>
                            <m:e>
                              <m:r>
                                <a:rPr lang="en-US" altLang="zh-TW" sz="2400" b="0" i="1" smtClean="0">
                                  <a:latin typeface="Cambria Math" panose="02040503050406030204" pitchFamily="18" charset="0"/>
                                  <a:cs typeface="Times New Roman" panose="02020603050405020304" pitchFamily="18" charset="0"/>
                                </a:rPr>
                                <m:t>𝐿</m:t>
                              </m:r>
                            </m:e>
                            <m:sup>
                              <m:r>
                                <a:rPr lang="en-US" altLang="zh-TW" sz="2400" b="0" i="1" smtClean="0">
                                  <a:latin typeface="Cambria Math" panose="02040503050406030204" pitchFamily="18" charset="0"/>
                                  <a:cs typeface="Times New Roman" panose="02020603050405020304" pitchFamily="18" charset="0"/>
                                </a:rPr>
                                <m:t>+</m:t>
                              </m:r>
                            </m:sup>
                          </m:sSup>
                          <m:r>
                            <a:rPr lang="en-US" altLang="zh-TW" sz="2400" b="0" i="1" smtClean="0">
                              <a:latin typeface="Cambria Math" panose="02040503050406030204" pitchFamily="18" charset="0"/>
                              <a:cs typeface="Times New Roman" panose="02020603050405020304" pitchFamily="18" charset="0"/>
                            </a:rPr>
                            <m:t>+</m:t>
                          </m:r>
                          <m:sSup>
                            <m:sSupPr>
                              <m:ctrlPr>
                                <a:rPr lang="en-US" altLang="zh-TW" sz="2400" i="1">
                                  <a:latin typeface="Cambria Math" panose="02040503050406030204" pitchFamily="18" charset="0"/>
                                  <a:cs typeface="Times New Roman" panose="02020603050405020304" pitchFamily="18" charset="0"/>
                                </a:rPr>
                              </m:ctrlPr>
                            </m:sSupPr>
                            <m:e>
                              <m:r>
                                <a:rPr lang="en-US" altLang="zh-TW" sz="2400" i="1">
                                  <a:latin typeface="Cambria Math" panose="02040503050406030204" pitchFamily="18" charset="0"/>
                                  <a:cs typeface="Times New Roman" panose="02020603050405020304" pitchFamily="18" charset="0"/>
                                </a:rPr>
                                <m:t>𝐿</m:t>
                              </m:r>
                            </m:e>
                            <m:sup>
                              <m:r>
                                <a:rPr lang="en-US" altLang="zh-TW" sz="2400" b="0" i="1" smtClean="0">
                                  <a:latin typeface="Cambria Math" panose="02040503050406030204" pitchFamily="18" charset="0"/>
                                  <a:cs typeface="Times New Roman" panose="02020603050405020304" pitchFamily="18" charset="0"/>
                                </a:rPr>
                                <m:t>−</m:t>
                              </m:r>
                            </m:sup>
                          </m:sSup>
                        </m:den>
                      </m:f>
                    </m:oMath>
                  </m:oMathPara>
                </a14:m>
                <a:endParaRPr lang="zh-TW" altLang="en-US" sz="2400"/>
              </a:p>
            </p:txBody>
          </p:sp>
        </mc:Choice>
        <mc:Fallback xmlns="">
          <p:sp>
            <p:nvSpPr>
              <p:cNvPr id="8" name="矩形 7"/>
              <p:cNvSpPr>
                <a:spLocks noRot="1" noChangeAspect="1" noMove="1" noResize="1" noEditPoints="1" noAdjustHandles="1" noChangeArrowheads="1" noChangeShapeType="1" noTextEdit="1"/>
              </p:cNvSpPr>
              <p:nvPr/>
            </p:nvSpPr>
            <p:spPr>
              <a:xfrm>
                <a:off x="382275" y="5655867"/>
                <a:ext cx="2011576" cy="827919"/>
              </a:xfrm>
              <a:prstGeom prst="rect">
                <a:avLst/>
              </a:prstGeom>
              <a:blipFill>
                <a:blip r:embed="rId5"/>
                <a:stretch>
                  <a:fillRect/>
                </a:stretch>
              </a:blipFill>
            </p:spPr>
            <p:txBody>
              <a:bodyPr/>
              <a:lstStyle/>
              <a:p>
                <a:r>
                  <a:rPr lang="zh-TW" altLang="en-US">
                    <a:noFill/>
                  </a:rPr>
                  <a:t> </a:t>
                </a:r>
              </a:p>
            </p:txBody>
          </p:sp>
        </mc:Fallback>
      </mc:AlternateContent>
      <p:sp>
        <p:nvSpPr>
          <p:cNvPr id="9" name="文字方塊 8"/>
          <p:cNvSpPr txBox="1"/>
          <p:nvPr/>
        </p:nvSpPr>
        <p:spPr>
          <a:xfrm>
            <a:off x="4315478" y="5838995"/>
            <a:ext cx="3819507" cy="461665"/>
          </a:xfrm>
          <a:prstGeom prst="rect">
            <a:avLst/>
          </a:prstGeom>
          <a:noFill/>
        </p:spPr>
        <p:txBody>
          <a:bodyPr wrap="none" rtlCol="0">
            <a:spAutoFit/>
          </a:bodyPr>
          <a:lstStyle/>
          <a:p>
            <a:r>
              <a:rPr lang="en-US" altLang="zh-TW" sz="2400">
                <a:solidFill>
                  <a:srgbClr val="FF0000"/>
                </a:solidFill>
                <a:latin typeface="Times New Roman" panose="02020603050405020304" pitchFamily="18" charset="0"/>
                <a:cs typeface="Times New Roman" panose="02020603050405020304" pitchFamily="18" charset="0"/>
              </a:rPr>
              <a:t>tuning rate ~ 1.1 times larger </a:t>
            </a:r>
            <a:endParaRPr lang="zh-TW" altLang="en-US" sz="2400">
              <a:solidFill>
                <a:srgbClr val="FF0000"/>
              </a:solidFill>
              <a:latin typeface="Times New Roman" panose="02020603050405020304" pitchFamily="18" charset="0"/>
              <a:cs typeface="Times New Roman" panose="02020603050405020304" pitchFamily="18" charset="0"/>
            </a:endParaRPr>
          </a:p>
        </p:txBody>
      </p:sp>
      <p:sp>
        <p:nvSpPr>
          <p:cNvPr id="10" name="文字方塊 9"/>
          <p:cNvSpPr txBox="1"/>
          <p:nvPr/>
        </p:nvSpPr>
        <p:spPr>
          <a:xfrm>
            <a:off x="0" y="87923"/>
            <a:ext cx="12191999" cy="584775"/>
          </a:xfrm>
          <a:prstGeom prst="rect">
            <a:avLst/>
          </a:prstGeom>
          <a:noFill/>
        </p:spPr>
        <p:txBody>
          <a:bodyPr wrap="square" rtlCol="0">
            <a:spAutoFit/>
          </a:bodyPr>
          <a:lstStyle/>
          <a:p>
            <a:pPr marL="0" lvl="2"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Simulation result of SA and GA in asymmetric structure </a:t>
            </a:r>
          </a:p>
        </p:txBody>
      </p:sp>
      <p:pic>
        <p:nvPicPr>
          <p:cNvPr id="12" name="圖片 11"/>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6000" t="3370" r="6759" b="5055"/>
          <a:stretch/>
        </p:blipFill>
        <p:spPr>
          <a:xfrm>
            <a:off x="500557" y="799452"/>
            <a:ext cx="5494015" cy="4077191"/>
          </a:xfrm>
          <a:prstGeom prst="rect">
            <a:avLst/>
          </a:prstGeom>
        </p:spPr>
      </p:pic>
      <p:pic>
        <p:nvPicPr>
          <p:cNvPr id="13" name="圖片 12"/>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5579" t="3036" r="6660" b="4656"/>
          <a:stretch/>
        </p:blipFill>
        <p:spPr>
          <a:xfrm>
            <a:off x="6175324" y="799153"/>
            <a:ext cx="5526762" cy="4109826"/>
          </a:xfrm>
          <a:prstGeom prst="rect">
            <a:avLst/>
          </a:prstGeom>
        </p:spPr>
      </p:pic>
      <p:sp>
        <p:nvSpPr>
          <p:cNvPr id="2" name="文字方塊 1"/>
          <p:cNvSpPr txBox="1"/>
          <p:nvPr/>
        </p:nvSpPr>
        <p:spPr>
          <a:xfrm>
            <a:off x="2900781" y="859787"/>
            <a:ext cx="693565"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SA</a:t>
            </a:r>
            <a:endParaRPr lang="zh-TW" altLang="en-US" sz="2800" dirty="0">
              <a:latin typeface="Times New Roman" panose="02020603050405020304" pitchFamily="18" charset="0"/>
              <a:cs typeface="Times New Roman" panose="02020603050405020304" pitchFamily="18" charset="0"/>
            </a:endParaRPr>
          </a:p>
        </p:txBody>
      </p:sp>
      <p:sp>
        <p:nvSpPr>
          <p:cNvPr id="11" name="文字方塊 10"/>
          <p:cNvSpPr txBox="1"/>
          <p:nvPr/>
        </p:nvSpPr>
        <p:spPr>
          <a:xfrm>
            <a:off x="8576937" y="859787"/>
            <a:ext cx="710622"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GA</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4599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marL="0" lvl="2"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Fabrication process</a:t>
            </a:r>
            <a:endParaRPr lang="en-US" altLang="zh-TW" sz="3200"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 name="群組 2"/>
          <p:cNvGrpSpPr>
            <a:grpSpLocks noChangeAspect="1"/>
          </p:cNvGrpSpPr>
          <p:nvPr/>
        </p:nvGrpSpPr>
        <p:grpSpPr>
          <a:xfrm>
            <a:off x="2602696" y="1160576"/>
            <a:ext cx="6929153" cy="5553716"/>
            <a:chOff x="2980592" y="975945"/>
            <a:chExt cx="5774293" cy="4628096"/>
          </a:xfrm>
        </p:grpSpPr>
        <p:sp>
          <p:nvSpPr>
            <p:cNvPr id="4" name="立方體 3"/>
            <p:cNvSpPr/>
            <p:nvPr/>
          </p:nvSpPr>
          <p:spPr>
            <a:xfrm>
              <a:off x="2980592" y="993530"/>
              <a:ext cx="1800000" cy="540000"/>
            </a:xfrm>
            <a:prstGeom prst="cube">
              <a:avLst>
                <a:gd name="adj" fmla="val 78729"/>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立方體 4"/>
            <p:cNvSpPr/>
            <p:nvPr/>
          </p:nvSpPr>
          <p:spPr>
            <a:xfrm>
              <a:off x="6456485" y="993530"/>
              <a:ext cx="1800000" cy="540000"/>
            </a:xfrm>
            <a:prstGeom prst="cube">
              <a:avLst>
                <a:gd name="adj" fmla="val 78729"/>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立方體 5"/>
            <p:cNvSpPr/>
            <p:nvPr/>
          </p:nvSpPr>
          <p:spPr>
            <a:xfrm>
              <a:off x="6456485" y="975945"/>
              <a:ext cx="1799491" cy="439616"/>
            </a:xfrm>
            <a:prstGeom prst="cube">
              <a:avLst>
                <a:gd name="adj" fmla="val 95011"/>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立方體 6"/>
            <p:cNvSpPr/>
            <p:nvPr/>
          </p:nvSpPr>
          <p:spPr>
            <a:xfrm>
              <a:off x="6456485" y="2842846"/>
              <a:ext cx="1800000" cy="540000"/>
            </a:xfrm>
            <a:prstGeom prst="cube">
              <a:avLst>
                <a:gd name="adj" fmla="val 78729"/>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立方體 7"/>
            <p:cNvSpPr/>
            <p:nvPr/>
          </p:nvSpPr>
          <p:spPr>
            <a:xfrm>
              <a:off x="6456485" y="2825261"/>
              <a:ext cx="1799491" cy="439616"/>
            </a:xfrm>
            <a:prstGeom prst="cube">
              <a:avLst>
                <a:gd name="adj" fmla="val 95011"/>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p:cNvGrpSpPr/>
            <p:nvPr/>
          </p:nvGrpSpPr>
          <p:grpSpPr>
            <a:xfrm>
              <a:off x="6456485" y="2505069"/>
              <a:ext cx="1799491" cy="439616"/>
              <a:chOff x="6113584" y="3085361"/>
              <a:chExt cx="1799491" cy="439616"/>
            </a:xfrm>
          </p:grpSpPr>
          <p:sp>
            <p:nvSpPr>
              <p:cNvPr id="53" name="立方體 52"/>
              <p:cNvSpPr/>
              <p:nvPr/>
            </p:nvSpPr>
            <p:spPr>
              <a:xfrm>
                <a:off x="6113584" y="3085361"/>
                <a:ext cx="1799491" cy="439616"/>
              </a:xfrm>
              <a:prstGeom prst="cube">
                <a:avLst>
                  <a:gd name="adj" fmla="val 95011"/>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平行四邊形 53"/>
              <p:cNvSpPr/>
              <p:nvPr/>
            </p:nvSpPr>
            <p:spPr>
              <a:xfrm>
                <a:off x="6278880" y="315643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平行四邊形 54"/>
              <p:cNvSpPr/>
              <p:nvPr/>
            </p:nvSpPr>
            <p:spPr>
              <a:xfrm>
                <a:off x="6383655" y="315643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平行四邊形 55"/>
              <p:cNvSpPr/>
              <p:nvPr/>
            </p:nvSpPr>
            <p:spPr>
              <a:xfrm>
                <a:off x="6488430" y="315643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平行四邊形 56"/>
              <p:cNvSpPr/>
              <p:nvPr/>
            </p:nvSpPr>
            <p:spPr>
              <a:xfrm>
                <a:off x="6593205" y="315643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平行四邊形 57"/>
              <p:cNvSpPr/>
              <p:nvPr/>
            </p:nvSpPr>
            <p:spPr>
              <a:xfrm>
                <a:off x="6698052" y="315643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平行四邊形 58"/>
              <p:cNvSpPr/>
              <p:nvPr/>
            </p:nvSpPr>
            <p:spPr>
              <a:xfrm>
                <a:off x="6801545" y="3158050"/>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平行四邊形 59"/>
              <p:cNvSpPr/>
              <p:nvPr/>
            </p:nvSpPr>
            <p:spPr>
              <a:xfrm>
                <a:off x="6905038" y="3158050"/>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平行四邊形 60"/>
              <p:cNvSpPr/>
              <p:nvPr/>
            </p:nvSpPr>
            <p:spPr>
              <a:xfrm>
                <a:off x="7014217" y="3155483"/>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平行四邊形 61"/>
              <p:cNvSpPr/>
              <p:nvPr/>
            </p:nvSpPr>
            <p:spPr>
              <a:xfrm>
                <a:off x="7130185" y="3155483"/>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平行四邊形 62"/>
              <p:cNvSpPr/>
              <p:nvPr/>
            </p:nvSpPr>
            <p:spPr>
              <a:xfrm>
                <a:off x="7238848" y="3153871"/>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平行四邊形 63"/>
              <p:cNvSpPr/>
              <p:nvPr/>
            </p:nvSpPr>
            <p:spPr>
              <a:xfrm>
                <a:off x="7355331" y="3153871"/>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平行四邊形 64"/>
              <p:cNvSpPr/>
              <p:nvPr/>
            </p:nvSpPr>
            <p:spPr>
              <a:xfrm>
                <a:off x="7458759" y="3153871"/>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 name="群組 9"/>
            <p:cNvGrpSpPr/>
            <p:nvPr/>
          </p:nvGrpSpPr>
          <p:grpSpPr>
            <a:xfrm>
              <a:off x="2980592" y="2825261"/>
              <a:ext cx="1800000" cy="557585"/>
              <a:chOff x="2637691" y="3423138"/>
              <a:chExt cx="1800000" cy="557585"/>
            </a:xfrm>
          </p:grpSpPr>
          <p:sp>
            <p:nvSpPr>
              <p:cNvPr id="39" name="立方體 38"/>
              <p:cNvSpPr/>
              <p:nvPr/>
            </p:nvSpPr>
            <p:spPr>
              <a:xfrm>
                <a:off x="2637691" y="3440723"/>
                <a:ext cx="1800000" cy="540000"/>
              </a:xfrm>
              <a:prstGeom prst="cube">
                <a:avLst>
                  <a:gd name="adj" fmla="val 78729"/>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立方體 39"/>
              <p:cNvSpPr/>
              <p:nvPr/>
            </p:nvSpPr>
            <p:spPr>
              <a:xfrm>
                <a:off x="2637691" y="3423138"/>
                <a:ext cx="1799491" cy="439616"/>
              </a:xfrm>
              <a:prstGeom prst="cube">
                <a:avLst>
                  <a:gd name="adj" fmla="val 95011"/>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平行四邊形 40"/>
              <p:cNvSpPr/>
              <p:nvPr/>
            </p:nvSpPr>
            <p:spPr>
              <a:xfrm>
                <a:off x="2802610" y="3507392"/>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平行四邊形 41"/>
              <p:cNvSpPr/>
              <p:nvPr/>
            </p:nvSpPr>
            <p:spPr>
              <a:xfrm>
                <a:off x="2907385" y="3507392"/>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平行四邊形 42"/>
              <p:cNvSpPr/>
              <p:nvPr/>
            </p:nvSpPr>
            <p:spPr>
              <a:xfrm>
                <a:off x="3012160" y="3507392"/>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平行四邊形 43"/>
              <p:cNvSpPr/>
              <p:nvPr/>
            </p:nvSpPr>
            <p:spPr>
              <a:xfrm>
                <a:off x="3116935" y="3507392"/>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平行四邊形 44"/>
              <p:cNvSpPr/>
              <p:nvPr/>
            </p:nvSpPr>
            <p:spPr>
              <a:xfrm>
                <a:off x="3221782" y="3507392"/>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平行四邊形 45"/>
              <p:cNvSpPr/>
              <p:nvPr/>
            </p:nvSpPr>
            <p:spPr>
              <a:xfrm>
                <a:off x="3325275" y="3509004"/>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平行四邊形 46"/>
              <p:cNvSpPr/>
              <p:nvPr/>
            </p:nvSpPr>
            <p:spPr>
              <a:xfrm>
                <a:off x="3428768" y="3509004"/>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平行四邊形 47"/>
              <p:cNvSpPr/>
              <p:nvPr/>
            </p:nvSpPr>
            <p:spPr>
              <a:xfrm>
                <a:off x="3537947" y="3506437"/>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平行四邊形 48"/>
              <p:cNvSpPr/>
              <p:nvPr/>
            </p:nvSpPr>
            <p:spPr>
              <a:xfrm>
                <a:off x="3653915" y="3506437"/>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平行四邊形 49"/>
              <p:cNvSpPr/>
              <p:nvPr/>
            </p:nvSpPr>
            <p:spPr>
              <a:xfrm>
                <a:off x="3762578" y="3504825"/>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平行四邊形 50"/>
              <p:cNvSpPr/>
              <p:nvPr/>
            </p:nvSpPr>
            <p:spPr>
              <a:xfrm>
                <a:off x="3879061" y="3504825"/>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平行四邊形 51"/>
              <p:cNvSpPr/>
              <p:nvPr/>
            </p:nvSpPr>
            <p:spPr>
              <a:xfrm>
                <a:off x="3982489" y="3504825"/>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1" name="群組 10"/>
            <p:cNvGrpSpPr/>
            <p:nvPr/>
          </p:nvGrpSpPr>
          <p:grpSpPr>
            <a:xfrm>
              <a:off x="2980848" y="4674577"/>
              <a:ext cx="1800000" cy="557585"/>
              <a:chOff x="2637947" y="5272454"/>
              <a:chExt cx="1800000" cy="557585"/>
            </a:xfrm>
          </p:grpSpPr>
          <p:sp>
            <p:nvSpPr>
              <p:cNvPr id="25" name="立方體 24"/>
              <p:cNvSpPr/>
              <p:nvPr/>
            </p:nvSpPr>
            <p:spPr>
              <a:xfrm>
                <a:off x="2637947" y="5290039"/>
                <a:ext cx="1800000" cy="540000"/>
              </a:xfrm>
              <a:prstGeom prst="cube">
                <a:avLst>
                  <a:gd name="adj" fmla="val 78729"/>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立方體 25"/>
              <p:cNvSpPr/>
              <p:nvPr/>
            </p:nvSpPr>
            <p:spPr>
              <a:xfrm>
                <a:off x="2637947" y="5272454"/>
                <a:ext cx="1799491" cy="439616"/>
              </a:xfrm>
              <a:prstGeom prst="cube">
                <a:avLst>
                  <a:gd name="adj" fmla="val 95011"/>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平行四邊形 26"/>
              <p:cNvSpPr/>
              <p:nvPr/>
            </p:nvSpPr>
            <p:spPr>
              <a:xfrm>
                <a:off x="2802866" y="535670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平行四邊形 27"/>
              <p:cNvSpPr/>
              <p:nvPr/>
            </p:nvSpPr>
            <p:spPr>
              <a:xfrm>
                <a:off x="2907641" y="535670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平行四邊形 28"/>
              <p:cNvSpPr/>
              <p:nvPr/>
            </p:nvSpPr>
            <p:spPr>
              <a:xfrm>
                <a:off x="3012416" y="535670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平行四邊形 29"/>
              <p:cNvSpPr/>
              <p:nvPr/>
            </p:nvSpPr>
            <p:spPr>
              <a:xfrm>
                <a:off x="3117191" y="535670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平行四邊形 30"/>
              <p:cNvSpPr/>
              <p:nvPr/>
            </p:nvSpPr>
            <p:spPr>
              <a:xfrm>
                <a:off x="3222038" y="5356708"/>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平行四邊形 31"/>
              <p:cNvSpPr/>
              <p:nvPr/>
            </p:nvSpPr>
            <p:spPr>
              <a:xfrm>
                <a:off x="3325531" y="5358320"/>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平行四邊形 32"/>
              <p:cNvSpPr/>
              <p:nvPr/>
            </p:nvSpPr>
            <p:spPr>
              <a:xfrm>
                <a:off x="3429024" y="5358320"/>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平行四邊形 33"/>
              <p:cNvSpPr/>
              <p:nvPr/>
            </p:nvSpPr>
            <p:spPr>
              <a:xfrm>
                <a:off x="3538203" y="5355753"/>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平行四邊形 34"/>
              <p:cNvSpPr/>
              <p:nvPr/>
            </p:nvSpPr>
            <p:spPr>
              <a:xfrm>
                <a:off x="3654171" y="5355753"/>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平行四邊形 35"/>
              <p:cNvSpPr/>
              <p:nvPr/>
            </p:nvSpPr>
            <p:spPr>
              <a:xfrm>
                <a:off x="3762834" y="5354141"/>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平行四邊形 36"/>
              <p:cNvSpPr/>
              <p:nvPr/>
            </p:nvSpPr>
            <p:spPr>
              <a:xfrm>
                <a:off x="3879317" y="5354141"/>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平行四邊形 37"/>
              <p:cNvSpPr/>
              <p:nvPr/>
            </p:nvSpPr>
            <p:spPr>
              <a:xfrm>
                <a:off x="3982745" y="5354141"/>
                <a:ext cx="288973" cy="257908"/>
              </a:xfrm>
              <a:prstGeom prst="parallelogram">
                <a:avLst>
                  <a:gd name="adj" fmla="val 987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2" name="文字方塊 11"/>
            <p:cNvSpPr txBox="1"/>
            <p:nvPr/>
          </p:nvSpPr>
          <p:spPr>
            <a:xfrm>
              <a:off x="3241618" y="1625397"/>
              <a:ext cx="1067600" cy="307777"/>
            </a:xfrm>
            <a:prstGeom prst="rect">
              <a:avLst/>
            </a:prstGeom>
            <a:noFill/>
          </p:spPr>
          <p:txBody>
            <a:bodyPr wrap="none" rtlCol="0">
              <a:spAutoFit/>
            </a:bodyPr>
            <a:lstStyle/>
            <a:p>
              <a:r>
                <a:rPr lang="en-US" altLang="zh-TW">
                  <a:latin typeface="Times New Roman" panose="02020603050405020304" pitchFamily="18" charset="0"/>
                  <a:ea typeface="標楷體" panose="03000509000000000000" pitchFamily="65" charset="-120"/>
                  <a:cs typeface="Times New Roman" panose="02020603050405020304" pitchFamily="18" charset="0"/>
                </a:rPr>
                <a:t>1.</a:t>
              </a:r>
              <a:r>
                <a:rPr lang="zh-TW" altLang="en-US">
                  <a:latin typeface="Times New Roman" panose="02020603050405020304" pitchFamily="18" charset="0"/>
                  <a:ea typeface="標楷體" panose="03000509000000000000" pitchFamily="65" charset="-120"/>
                  <a:cs typeface="Times New Roman" panose="02020603050405020304" pitchFamily="18" charset="0"/>
                </a:rPr>
                <a:t>清洗晶片</a:t>
              </a:r>
            </a:p>
          </p:txBody>
        </p:sp>
        <p:sp>
          <p:nvSpPr>
            <p:cNvPr id="13" name="文字方塊 12"/>
            <p:cNvSpPr txBox="1"/>
            <p:nvPr/>
          </p:nvSpPr>
          <p:spPr>
            <a:xfrm>
              <a:off x="6484837" y="1625397"/>
              <a:ext cx="1452321" cy="307777"/>
            </a:xfrm>
            <a:prstGeom prst="rect">
              <a:avLst/>
            </a:prstGeom>
            <a:noFill/>
          </p:spPr>
          <p:txBody>
            <a:bodyPr wrap="none" rtlCol="0">
              <a:spAutoFit/>
            </a:bodyPr>
            <a:lstStyle/>
            <a:p>
              <a:r>
                <a:rPr lang="en-US" altLang="zh-TW">
                  <a:latin typeface="Times New Roman" panose="02020603050405020304" pitchFamily="18" charset="0"/>
                  <a:ea typeface="標楷體" panose="03000509000000000000" pitchFamily="65" charset="-120"/>
                  <a:cs typeface="Times New Roman" panose="02020603050405020304" pitchFamily="18" charset="0"/>
                </a:rPr>
                <a:t>2.</a:t>
              </a:r>
              <a:r>
                <a:rPr lang="zh-TW" altLang="en-US">
                  <a:latin typeface="Times New Roman" panose="02020603050405020304" pitchFamily="18" charset="0"/>
                  <a:ea typeface="標楷體" panose="03000509000000000000" pitchFamily="65" charset="-120"/>
                  <a:cs typeface="Times New Roman" panose="02020603050405020304" pitchFamily="18" charset="0"/>
                </a:rPr>
                <a:t>上光阻、軟烤</a:t>
              </a:r>
            </a:p>
          </p:txBody>
        </p:sp>
        <p:sp>
          <p:nvSpPr>
            <p:cNvPr id="14" name="文字方塊 13"/>
            <p:cNvSpPr txBox="1"/>
            <p:nvPr/>
          </p:nvSpPr>
          <p:spPr>
            <a:xfrm>
              <a:off x="6929217" y="3455025"/>
              <a:ext cx="682879" cy="307777"/>
            </a:xfrm>
            <a:prstGeom prst="rect">
              <a:avLst/>
            </a:prstGeom>
            <a:noFill/>
          </p:spPr>
          <p:txBody>
            <a:bodyPr wrap="none" rtlCol="0">
              <a:spAutoFit/>
            </a:bodyPr>
            <a:lstStyle/>
            <a:p>
              <a:r>
                <a:rPr lang="en-US" altLang="zh-TW">
                  <a:latin typeface="Times New Roman" panose="02020603050405020304" pitchFamily="18" charset="0"/>
                  <a:ea typeface="標楷體" panose="03000509000000000000" pitchFamily="65" charset="-120"/>
                  <a:cs typeface="Times New Roman" panose="02020603050405020304" pitchFamily="18" charset="0"/>
                </a:rPr>
                <a:t>3.</a:t>
              </a:r>
              <a:r>
                <a:rPr lang="zh-TW" altLang="en-US">
                  <a:latin typeface="Times New Roman" panose="02020603050405020304" pitchFamily="18" charset="0"/>
                  <a:ea typeface="標楷體" panose="03000509000000000000" pitchFamily="65" charset="-120"/>
                  <a:cs typeface="Times New Roman" panose="02020603050405020304" pitchFamily="18" charset="0"/>
                </a:rPr>
                <a:t>曝光</a:t>
              </a:r>
            </a:p>
          </p:txBody>
        </p:sp>
        <p:sp>
          <p:nvSpPr>
            <p:cNvPr id="15" name="文字方塊 14"/>
            <p:cNvSpPr txBox="1"/>
            <p:nvPr/>
          </p:nvSpPr>
          <p:spPr>
            <a:xfrm>
              <a:off x="3240840" y="3456777"/>
              <a:ext cx="1259960" cy="307777"/>
            </a:xfrm>
            <a:prstGeom prst="rect">
              <a:avLst/>
            </a:prstGeom>
            <a:noFill/>
          </p:spPr>
          <p:txBody>
            <a:bodyPr wrap="none" rtlCol="0">
              <a:spAutoFit/>
            </a:bodyPr>
            <a:lstStyle/>
            <a:p>
              <a:r>
                <a:rPr lang="en-US" altLang="zh-TW">
                  <a:latin typeface="Times New Roman" panose="02020603050405020304" pitchFamily="18" charset="0"/>
                  <a:ea typeface="標楷體" panose="03000509000000000000" pitchFamily="65" charset="-120"/>
                  <a:cs typeface="Times New Roman" panose="02020603050405020304" pitchFamily="18" charset="0"/>
                </a:rPr>
                <a:t>4.</a:t>
              </a:r>
              <a:r>
                <a:rPr lang="zh-TW" altLang="en-US">
                  <a:latin typeface="Times New Roman" panose="02020603050405020304" pitchFamily="18" charset="0"/>
                  <a:ea typeface="標楷體" panose="03000509000000000000" pitchFamily="65" charset="-120"/>
                  <a:cs typeface="Times New Roman" panose="02020603050405020304" pitchFamily="18" charset="0"/>
                </a:rPr>
                <a:t>顯影、定影</a:t>
              </a:r>
            </a:p>
          </p:txBody>
        </p:sp>
        <p:sp>
          <p:nvSpPr>
            <p:cNvPr id="16" name="文字方塊 15"/>
            <p:cNvSpPr txBox="1"/>
            <p:nvPr/>
          </p:nvSpPr>
          <p:spPr>
            <a:xfrm>
              <a:off x="3459836" y="5296264"/>
              <a:ext cx="682879" cy="307777"/>
            </a:xfrm>
            <a:prstGeom prst="rect">
              <a:avLst/>
            </a:prstGeom>
            <a:noFill/>
          </p:spPr>
          <p:txBody>
            <a:bodyPr wrap="none" rtlCol="0">
              <a:spAutoFit/>
            </a:bodyPr>
            <a:lstStyle/>
            <a:p>
              <a:r>
                <a:rPr lang="en-US" altLang="zh-TW">
                  <a:latin typeface="Times New Roman" panose="02020603050405020304" pitchFamily="18" charset="0"/>
                  <a:ea typeface="標楷體" panose="03000509000000000000" pitchFamily="65" charset="-120"/>
                  <a:cs typeface="Times New Roman" panose="02020603050405020304" pitchFamily="18" charset="0"/>
                </a:rPr>
                <a:t>5.</a:t>
              </a:r>
              <a:r>
                <a:rPr lang="zh-TW" altLang="en-US">
                  <a:latin typeface="Times New Roman" panose="02020603050405020304" pitchFamily="18" charset="0"/>
                  <a:ea typeface="標楷體" panose="03000509000000000000" pitchFamily="65" charset="-120"/>
                  <a:cs typeface="Times New Roman" panose="02020603050405020304" pitchFamily="18" charset="0"/>
                </a:rPr>
                <a:t>硬烤</a:t>
              </a:r>
            </a:p>
          </p:txBody>
        </p:sp>
        <p:sp>
          <p:nvSpPr>
            <p:cNvPr id="17" name="向右箭號 16"/>
            <p:cNvSpPr/>
            <p:nvPr/>
          </p:nvSpPr>
          <p:spPr>
            <a:xfrm>
              <a:off x="5249261" y="1263530"/>
              <a:ext cx="738554" cy="149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右箭號 17"/>
            <p:cNvSpPr/>
            <p:nvPr/>
          </p:nvSpPr>
          <p:spPr>
            <a:xfrm flipH="1">
              <a:off x="5229743" y="3035902"/>
              <a:ext cx="738554" cy="149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向右箭號 18"/>
            <p:cNvSpPr/>
            <p:nvPr/>
          </p:nvSpPr>
          <p:spPr>
            <a:xfrm rot="5400000">
              <a:off x="7176944" y="2140112"/>
              <a:ext cx="324000" cy="149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向右箭號 19"/>
            <p:cNvSpPr/>
            <p:nvPr/>
          </p:nvSpPr>
          <p:spPr>
            <a:xfrm rot="5400000">
              <a:off x="3760081" y="4103735"/>
              <a:ext cx="324000" cy="1494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直線單箭頭接點 20"/>
            <p:cNvCxnSpPr/>
            <p:nvPr/>
          </p:nvCxnSpPr>
          <p:spPr>
            <a:xfrm>
              <a:off x="7946146" y="1200330"/>
              <a:ext cx="400657" cy="1472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8255976" y="1227694"/>
              <a:ext cx="495862" cy="282128"/>
            </a:xfrm>
            <a:prstGeom prst="rect">
              <a:avLst/>
            </a:prstGeom>
          </p:spPr>
          <p:txBody>
            <a:bodyPr wrap="none">
              <a:spAutoFit/>
            </a:bodyPr>
            <a:lstStyle/>
            <a:p>
              <a:r>
                <a:rPr lang="zh-TW" altLang="en-US" sz="1600">
                  <a:latin typeface="Times New Roman" panose="02020603050405020304" pitchFamily="18" charset="0"/>
                  <a:ea typeface="標楷體" panose="03000509000000000000" pitchFamily="65" charset="-120"/>
                  <a:cs typeface="Times New Roman" panose="02020603050405020304" pitchFamily="18" charset="0"/>
                </a:rPr>
                <a:t>光阻</a:t>
              </a:r>
              <a:endParaRPr lang="zh-TW" altLang="en-US" sz="1600"/>
            </a:p>
          </p:txBody>
        </p:sp>
        <p:cxnSp>
          <p:nvCxnSpPr>
            <p:cNvPr id="23" name="直線單箭頭接點 22"/>
            <p:cNvCxnSpPr/>
            <p:nvPr/>
          </p:nvCxnSpPr>
          <p:spPr>
            <a:xfrm>
              <a:off x="7967892" y="2691982"/>
              <a:ext cx="400657" cy="1472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259023" y="2734730"/>
              <a:ext cx="495862" cy="282128"/>
            </a:xfrm>
            <a:prstGeom prst="rect">
              <a:avLst/>
            </a:prstGeom>
          </p:spPr>
          <p:txBody>
            <a:bodyPr wrap="none">
              <a:spAutoFit/>
            </a:bodyPr>
            <a:lstStyle/>
            <a:p>
              <a:r>
                <a:rPr lang="zh-TW" altLang="en-US" sz="1600">
                  <a:latin typeface="Times New Roman" panose="02020603050405020304" pitchFamily="18" charset="0"/>
                  <a:ea typeface="標楷體" panose="03000509000000000000" pitchFamily="65" charset="-120"/>
                  <a:cs typeface="Times New Roman" panose="02020603050405020304" pitchFamily="18" charset="0"/>
                </a:rPr>
                <a:t>光罩</a:t>
              </a:r>
              <a:endParaRPr lang="zh-TW" altLang="en-US" sz="1600"/>
            </a:p>
          </p:txBody>
        </p:sp>
      </p:grpSp>
    </p:spTree>
    <p:extLst>
      <p:ext uri="{BB962C8B-B14F-4D97-AF65-F5344CB8AC3E}">
        <p14:creationId xmlns:p14="http://schemas.microsoft.com/office/powerpoint/2010/main" val="3293686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marL="0" lvl="2"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Fabrication process</a:t>
            </a:r>
            <a:endParaRPr lang="en-US" altLang="zh-TW" sz="3200"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 name="群組 2"/>
          <p:cNvGrpSpPr/>
          <p:nvPr/>
        </p:nvGrpSpPr>
        <p:grpSpPr>
          <a:xfrm>
            <a:off x="0" y="1553072"/>
            <a:ext cx="7998280" cy="3720827"/>
            <a:chOff x="1341134" y="1175004"/>
            <a:chExt cx="7998280" cy="3720827"/>
          </a:xfrm>
        </p:grpSpPr>
        <p:grpSp>
          <p:nvGrpSpPr>
            <p:cNvPr id="4" name="群組 3"/>
            <p:cNvGrpSpPr/>
            <p:nvPr/>
          </p:nvGrpSpPr>
          <p:grpSpPr>
            <a:xfrm>
              <a:off x="2593727" y="2185978"/>
              <a:ext cx="2880003" cy="1915923"/>
              <a:chOff x="2708027" y="1526555"/>
              <a:chExt cx="2880003" cy="1915923"/>
            </a:xfrm>
          </p:grpSpPr>
          <p:grpSp>
            <p:nvGrpSpPr>
              <p:cNvPr id="24" name="群組 23"/>
              <p:cNvGrpSpPr/>
              <p:nvPr/>
            </p:nvGrpSpPr>
            <p:grpSpPr>
              <a:xfrm>
                <a:off x="2708029" y="1639523"/>
                <a:ext cx="2880001" cy="720000"/>
                <a:chOff x="2708029" y="1639523"/>
                <a:chExt cx="2880001" cy="720000"/>
              </a:xfrm>
            </p:grpSpPr>
            <p:cxnSp>
              <p:nvCxnSpPr>
                <p:cNvPr id="55" name="直線接點 54"/>
                <p:cNvCxnSpPr/>
                <p:nvPr/>
              </p:nvCxnSpPr>
              <p:spPr>
                <a:xfrm>
                  <a:off x="2708029" y="1639523"/>
                  <a:ext cx="28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線接點 55"/>
                <p:cNvCxnSpPr/>
                <p:nvPr/>
              </p:nvCxnSpPr>
              <p:spPr>
                <a:xfrm>
                  <a:off x="2708029" y="1639523"/>
                  <a:ext cx="0" cy="72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線接點 56"/>
                <p:cNvCxnSpPr/>
                <p:nvPr/>
              </p:nvCxnSpPr>
              <p:spPr>
                <a:xfrm>
                  <a:off x="5588028" y="1639523"/>
                  <a:ext cx="1" cy="72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線接點 57"/>
                <p:cNvCxnSpPr/>
                <p:nvPr/>
              </p:nvCxnSpPr>
              <p:spPr>
                <a:xfrm rot="5400000">
                  <a:off x="2978031" y="208952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接點 58"/>
                <p:cNvCxnSpPr/>
                <p:nvPr/>
              </p:nvCxnSpPr>
              <p:spPr>
                <a:xfrm rot="5400000">
                  <a:off x="5318030" y="208952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線接點 59"/>
                <p:cNvCxnSpPr/>
                <p:nvPr/>
              </p:nvCxnSpPr>
              <p:spPr>
                <a:xfrm flipV="1">
                  <a:off x="3248031" y="2219960"/>
                  <a:ext cx="0" cy="139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接點 60"/>
                <p:cNvCxnSpPr/>
                <p:nvPr/>
              </p:nvCxnSpPr>
              <p:spPr>
                <a:xfrm flipV="1">
                  <a:off x="5048030" y="2219891"/>
                  <a:ext cx="0" cy="46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線接點 61"/>
                <p:cNvCxnSpPr/>
                <p:nvPr/>
              </p:nvCxnSpPr>
              <p:spPr>
                <a:xfrm rot="5400000">
                  <a:off x="4148030" y="1319960"/>
                  <a:ext cx="0" cy="180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線接點 62"/>
                <p:cNvCxnSpPr/>
                <p:nvPr/>
              </p:nvCxnSpPr>
              <p:spPr>
                <a:xfrm flipV="1">
                  <a:off x="5048030" y="2312723"/>
                  <a:ext cx="0" cy="46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線接點 63"/>
                <p:cNvCxnSpPr/>
                <p:nvPr/>
              </p:nvCxnSpPr>
              <p:spPr>
                <a:xfrm rot="5400000">
                  <a:off x="5318030" y="1995284"/>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線接點 64"/>
                <p:cNvCxnSpPr/>
                <p:nvPr/>
              </p:nvCxnSpPr>
              <p:spPr>
                <a:xfrm rot="5400000">
                  <a:off x="5318030" y="204272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群組 24"/>
              <p:cNvGrpSpPr/>
              <p:nvPr/>
            </p:nvGrpSpPr>
            <p:grpSpPr>
              <a:xfrm flipV="1">
                <a:off x="2708027" y="2606438"/>
                <a:ext cx="2880001" cy="720000"/>
                <a:chOff x="2708029" y="1639523"/>
                <a:chExt cx="2880001" cy="720000"/>
              </a:xfrm>
            </p:grpSpPr>
            <p:cxnSp>
              <p:nvCxnSpPr>
                <p:cNvPr id="44" name="直線接點 43"/>
                <p:cNvCxnSpPr/>
                <p:nvPr/>
              </p:nvCxnSpPr>
              <p:spPr>
                <a:xfrm>
                  <a:off x="2708029" y="1639523"/>
                  <a:ext cx="28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a:off x="2708029" y="1639523"/>
                  <a:ext cx="0" cy="72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a:off x="5588028" y="1639523"/>
                  <a:ext cx="1" cy="72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p:cNvCxnSpPr/>
                <p:nvPr/>
              </p:nvCxnSpPr>
              <p:spPr>
                <a:xfrm rot="5400000">
                  <a:off x="2978031" y="208952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接點 47"/>
                <p:cNvCxnSpPr/>
                <p:nvPr/>
              </p:nvCxnSpPr>
              <p:spPr>
                <a:xfrm rot="5400000">
                  <a:off x="5318030" y="208952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接點 48"/>
                <p:cNvCxnSpPr/>
                <p:nvPr/>
              </p:nvCxnSpPr>
              <p:spPr>
                <a:xfrm flipV="1">
                  <a:off x="3248031" y="2219960"/>
                  <a:ext cx="0" cy="139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p:cNvCxnSpPr/>
                <p:nvPr/>
              </p:nvCxnSpPr>
              <p:spPr>
                <a:xfrm flipV="1">
                  <a:off x="5048030" y="2219891"/>
                  <a:ext cx="0" cy="46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rot="5400000">
                  <a:off x="4148030" y="1319960"/>
                  <a:ext cx="0" cy="180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接點 51"/>
                <p:cNvCxnSpPr/>
                <p:nvPr/>
              </p:nvCxnSpPr>
              <p:spPr>
                <a:xfrm flipV="1">
                  <a:off x="5048030" y="2312723"/>
                  <a:ext cx="0" cy="46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接點 52"/>
                <p:cNvCxnSpPr/>
                <p:nvPr/>
              </p:nvCxnSpPr>
              <p:spPr>
                <a:xfrm rot="5400000">
                  <a:off x="5318030" y="1995284"/>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接點 53"/>
                <p:cNvCxnSpPr/>
                <p:nvPr/>
              </p:nvCxnSpPr>
              <p:spPr>
                <a:xfrm rot="5400000">
                  <a:off x="5318030" y="2042723"/>
                  <a:ext cx="0" cy="5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橢圓 25"/>
              <p:cNvSpPr/>
              <p:nvPr/>
            </p:nvSpPr>
            <p:spPr>
              <a:xfrm>
                <a:off x="2999740" y="2330227"/>
                <a:ext cx="72000" cy="72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2999740" y="2562817"/>
                <a:ext cx="72000" cy="72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5246028" y="2330470"/>
                <a:ext cx="72000" cy="72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5246028" y="2564404"/>
                <a:ext cx="72000" cy="72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0" name="群組 29"/>
              <p:cNvGrpSpPr/>
              <p:nvPr/>
            </p:nvGrpSpPr>
            <p:grpSpPr>
              <a:xfrm>
                <a:off x="4057650" y="1526555"/>
                <a:ext cx="180340" cy="797856"/>
                <a:chOff x="4057857" y="1531620"/>
                <a:chExt cx="180340" cy="797856"/>
              </a:xfrm>
            </p:grpSpPr>
            <p:sp>
              <p:nvSpPr>
                <p:cNvPr id="42" name="矩形 41"/>
                <p:cNvSpPr/>
                <p:nvPr/>
              </p:nvSpPr>
              <p:spPr>
                <a:xfrm>
                  <a:off x="4057857" y="2225732"/>
                  <a:ext cx="180340" cy="103744"/>
                </a:xfrm>
                <a:prstGeom prst="rect">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p:cNvSpPr/>
                <p:nvPr/>
              </p:nvSpPr>
              <p:spPr>
                <a:xfrm>
                  <a:off x="4107180" y="1531620"/>
                  <a:ext cx="81280" cy="688340"/>
                </a:xfrm>
                <a:prstGeom prst="rect">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 name="群組 30"/>
              <p:cNvGrpSpPr/>
              <p:nvPr/>
            </p:nvGrpSpPr>
            <p:grpSpPr>
              <a:xfrm flipH="1" flipV="1">
                <a:off x="4057650" y="2644622"/>
                <a:ext cx="180340" cy="797856"/>
                <a:chOff x="4250959" y="2312723"/>
                <a:chExt cx="180340" cy="797856"/>
              </a:xfrm>
            </p:grpSpPr>
            <p:sp>
              <p:nvSpPr>
                <p:cNvPr id="40" name="矩形 39"/>
                <p:cNvSpPr/>
                <p:nvPr/>
              </p:nvSpPr>
              <p:spPr>
                <a:xfrm>
                  <a:off x="4250959" y="3006835"/>
                  <a:ext cx="180340" cy="103744"/>
                </a:xfrm>
                <a:prstGeom prst="rect">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p:cNvSpPr/>
                <p:nvPr/>
              </p:nvSpPr>
              <p:spPr>
                <a:xfrm>
                  <a:off x="4300282" y="2312723"/>
                  <a:ext cx="81280" cy="688340"/>
                </a:xfrm>
                <a:prstGeom prst="rect">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2" name="矩形 31"/>
              <p:cNvSpPr/>
              <p:nvPr/>
            </p:nvSpPr>
            <p:spPr>
              <a:xfrm>
                <a:off x="2977613" y="2475617"/>
                <a:ext cx="2339999" cy="80284"/>
              </a:xfrm>
              <a:prstGeom prst="rect">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p:cNvSpPr/>
              <p:nvPr/>
            </p:nvSpPr>
            <p:spPr>
              <a:xfrm>
                <a:off x="2977613" y="2396701"/>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5103914" y="2401421"/>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3347989" y="2396701"/>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3718365" y="2396701"/>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p:cNvSpPr/>
              <p:nvPr/>
            </p:nvSpPr>
            <p:spPr>
              <a:xfrm>
                <a:off x="4040763" y="2404114"/>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p:cNvSpPr/>
              <p:nvPr/>
            </p:nvSpPr>
            <p:spPr>
              <a:xfrm>
                <a:off x="4363161" y="2401421"/>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p:cNvSpPr/>
              <p:nvPr/>
            </p:nvSpPr>
            <p:spPr>
              <a:xfrm>
                <a:off x="4733537" y="2403866"/>
                <a:ext cx="217170" cy="72000"/>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 name="直線接點 4"/>
            <p:cNvCxnSpPr>
              <a:stCxn id="43" idx="0"/>
            </p:cNvCxnSpPr>
            <p:nvPr/>
          </p:nvCxnSpPr>
          <p:spPr>
            <a:xfrm flipV="1">
              <a:off x="4033313" y="1546860"/>
              <a:ext cx="0" cy="6391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線接點 5"/>
            <p:cNvCxnSpPr>
              <a:endCxn id="41" idx="0"/>
            </p:cNvCxnSpPr>
            <p:nvPr/>
          </p:nvCxnSpPr>
          <p:spPr>
            <a:xfrm flipV="1">
              <a:off x="4033312" y="4101901"/>
              <a:ext cx="415" cy="6391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4033312" y="1546860"/>
              <a:ext cx="14896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4033311" y="4741019"/>
              <a:ext cx="22669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a:endCxn id="10" idx="2"/>
            </p:cNvCxnSpPr>
            <p:nvPr/>
          </p:nvCxnSpPr>
          <p:spPr>
            <a:xfrm flipH="1" flipV="1">
              <a:off x="6300216" y="1918716"/>
              <a:ext cx="0" cy="2823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522976" y="1175004"/>
              <a:ext cx="1554480" cy="743712"/>
            </a:xfrm>
            <a:prstGeom prst="rect">
              <a:avLst/>
            </a:prstGeom>
            <a:solidFill>
              <a:schemeClr val="bg2">
                <a:lumMod val="9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tx1"/>
                  </a:solidFill>
                  <a:latin typeface="標楷體" panose="03000509000000000000" pitchFamily="65" charset="-120"/>
                  <a:ea typeface="標楷體" panose="03000509000000000000" pitchFamily="65" charset="-120"/>
                </a:rPr>
                <a:t>高功率電壓放大器</a:t>
              </a:r>
            </a:p>
          </p:txBody>
        </p:sp>
        <p:cxnSp>
          <p:nvCxnSpPr>
            <p:cNvPr id="11" name="直線接點 10"/>
            <p:cNvCxnSpPr/>
            <p:nvPr/>
          </p:nvCxnSpPr>
          <p:spPr>
            <a:xfrm>
              <a:off x="7077456" y="1546860"/>
              <a:ext cx="14896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flipV="1">
              <a:off x="8567120" y="1546860"/>
              <a:ext cx="0" cy="6391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784934" y="2159002"/>
              <a:ext cx="1554480" cy="743712"/>
            </a:xfrm>
            <a:prstGeom prst="rect">
              <a:avLst/>
            </a:prstGeom>
            <a:solidFill>
              <a:schemeClr val="bg2">
                <a:lumMod val="9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資料擷取卡</a:t>
              </a:r>
              <a:r>
                <a:rPr lang="en-US" altLang="zh-TW">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(DAQ)</a:t>
              </a:r>
              <a:endParaRPr lang="zh-TW" altLang="en-US">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4" name="直線接點 13"/>
            <p:cNvCxnSpPr>
              <a:endCxn id="13" idx="2"/>
            </p:cNvCxnSpPr>
            <p:nvPr/>
          </p:nvCxnSpPr>
          <p:spPr>
            <a:xfrm flipV="1">
              <a:off x="8562174" y="2902714"/>
              <a:ext cx="0" cy="636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2199283" y="2840317"/>
              <a:ext cx="716637" cy="1731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1597248" y="3107760"/>
              <a:ext cx="607859" cy="369332"/>
            </a:xfrm>
            <a:prstGeom prst="rect">
              <a:avLst/>
            </a:prstGeom>
            <a:noFill/>
          </p:spPr>
          <p:txBody>
            <a:bodyPr wrap="none" rtlCol="0">
              <a:spAutoFit/>
            </a:bodyPr>
            <a:lstStyle/>
            <a:p>
              <a:r>
                <a:rPr lang="en-US" altLang="zh-TW" err="1">
                  <a:latin typeface="Times New Roman" panose="02020603050405020304" pitchFamily="18" charset="0"/>
                  <a:cs typeface="Times New Roman" panose="02020603050405020304" pitchFamily="18" charset="0"/>
                </a:rPr>
                <a:t>LiCl</a:t>
              </a:r>
              <a:endParaRPr lang="zh-TW" altLang="en-US">
                <a:latin typeface="Times New Roman" panose="02020603050405020304" pitchFamily="18" charset="0"/>
                <a:cs typeface="Times New Roman" panose="02020603050405020304" pitchFamily="18" charset="0"/>
              </a:endParaRPr>
            </a:p>
          </p:txBody>
        </p:sp>
        <p:sp>
          <p:nvSpPr>
            <p:cNvPr id="17" name="文字方塊 16"/>
            <p:cNvSpPr txBox="1"/>
            <p:nvPr/>
          </p:nvSpPr>
          <p:spPr>
            <a:xfrm>
              <a:off x="1341134" y="3573065"/>
              <a:ext cx="800219"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fixture</a:t>
              </a:r>
              <a:endParaRPr lang="zh-TW" altLang="en-US">
                <a:latin typeface="Times New Roman" panose="02020603050405020304" pitchFamily="18" charset="0"/>
                <a:cs typeface="Times New Roman" panose="02020603050405020304" pitchFamily="18" charset="0"/>
              </a:endParaRPr>
            </a:p>
          </p:txBody>
        </p:sp>
        <p:cxnSp>
          <p:nvCxnSpPr>
            <p:cNvPr id="18" name="直線單箭頭接點 17"/>
            <p:cNvCxnSpPr/>
            <p:nvPr/>
          </p:nvCxnSpPr>
          <p:spPr>
            <a:xfrm flipV="1">
              <a:off x="2137608" y="3781649"/>
              <a:ext cx="942875" cy="117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2159295" y="3312661"/>
              <a:ext cx="1536554" cy="12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1487745" y="2539822"/>
              <a:ext cx="748923" cy="369332"/>
            </a:xfrm>
            <a:prstGeom prst="rect">
              <a:avLst/>
            </a:prstGeom>
            <a:noFill/>
          </p:spPr>
          <p:txBody>
            <a:bodyPr wrap="none" rtlCol="0">
              <a:spAutoFit/>
            </a:bodyPr>
            <a:lstStyle/>
            <a:p>
              <a:r>
                <a:rPr lang="en-US" altLang="zh-TW" err="1">
                  <a:latin typeface="Times New Roman" panose="02020603050405020304" pitchFamily="18" charset="0"/>
                  <a:cs typeface="Times New Roman" panose="02020603050405020304" pitchFamily="18" charset="0"/>
                </a:rPr>
                <a:t>o-ring</a:t>
              </a:r>
              <a:endParaRPr lang="zh-TW" altLang="en-US">
                <a:latin typeface="Times New Roman" panose="02020603050405020304" pitchFamily="18" charset="0"/>
                <a:cs typeface="Times New Roman" panose="02020603050405020304" pitchFamily="18" charset="0"/>
              </a:endParaRPr>
            </a:p>
          </p:txBody>
        </p:sp>
        <p:cxnSp>
          <p:nvCxnSpPr>
            <p:cNvPr id="21" name="直線單箭頭接點 20"/>
            <p:cNvCxnSpPr/>
            <p:nvPr/>
          </p:nvCxnSpPr>
          <p:spPr>
            <a:xfrm flipV="1">
              <a:off x="2159295" y="2958759"/>
              <a:ext cx="1444770" cy="3477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39239" y="3265860"/>
              <a:ext cx="1400175" cy="126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矩形 22"/>
            <p:cNvSpPr/>
            <p:nvPr/>
          </p:nvSpPr>
          <p:spPr>
            <a:xfrm>
              <a:off x="8215723" y="4526499"/>
              <a:ext cx="620684" cy="369332"/>
            </a:xfrm>
            <a:prstGeom prst="rect">
              <a:avLst/>
            </a:prstGeom>
          </p:spPr>
          <p:txBody>
            <a:bodyPr wrap="none">
              <a:spAutoFit/>
            </a:bodyPr>
            <a:lstStyle/>
            <a:p>
              <a:pPr algn="ctr"/>
              <a:r>
                <a:rPr lang="en-US" altLang="zh-TW">
                  <a:latin typeface="Times New Roman" panose="02020603050405020304" pitchFamily="18" charset="0"/>
                  <a:ea typeface="標楷體" panose="03000509000000000000" pitchFamily="65" charset="-120"/>
                  <a:cs typeface="Times New Roman" panose="02020603050405020304" pitchFamily="18" charset="0"/>
                </a:rPr>
                <a:t>(PC)</a:t>
              </a: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grpSp>
      <p:pic>
        <p:nvPicPr>
          <p:cNvPr id="66" name="圖片 6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3609" y="1338496"/>
            <a:ext cx="3895682" cy="2261812"/>
          </a:xfrm>
          <a:prstGeom prst="rect">
            <a:avLst/>
          </a:prstGeom>
        </p:spPr>
      </p:pic>
      <p:pic>
        <p:nvPicPr>
          <p:cNvPr id="67" name="圖片 6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0189" y="4266106"/>
            <a:ext cx="3822523" cy="1572904"/>
          </a:xfrm>
          <a:prstGeom prst="rect">
            <a:avLst/>
          </a:prstGeom>
        </p:spPr>
      </p:pic>
    </p:spTree>
    <p:extLst>
      <p:ext uri="{BB962C8B-B14F-4D97-AF65-F5344CB8AC3E}">
        <p14:creationId xmlns:p14="http://schemas.microsoft.com/office/powerpoint/2010/main" val="1747464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marL="0" lvl="2"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Fabrication process</a:t>
            </a:r>
            <a:endParaRPr lang="en-US" altLang="zh-TW" sz="3200"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 name="群組 2"/>
          <p:cNvGrpSpPr/>
          <p:nvPr/>
        </p:nvGrpSpPr>
        <p:grpSpPr>
          <a:xfrm>
            <a:off x="397298" y="1322229"/>
            <a:ext cx="4846948" cy="5573007"/>
            <a:chOff x="490734" y="1245454"/>
            <a:chExt cx="4846948" cy="5573007"/>
          </a:xfrm>
        </p:grpSpPr>
        <p:sp>
          <p:nvSpPr>
            <p:cNvPr id="4" name="立方體 3"/>
            <p:cNvSpPr/>
            <p:nvPr/>
          </p:nvSpPr>
          <p:spPr>
            <a:xfrm rot="7188804">
              <a:off x="631500" y="2056965"/>
              <a:ext cx="3276000" cy="1652977"/>
            </a:xfrm>
            <a:prstGeom prst="cube">
              <a:avLst>
                <a:gd name="adj" fmla="val 81701"/>
              </a:avLst>
            </a:prstGeom>
            <a:solidFill>
              <a:schemeClr val="accent1">
                <a:lumMod val="75000"/>
              </a:schemeClr>
            </a:solidFill>
            <a:ln>
              <a:solidFill>
                <a:schemeClr val="accent1">
                  <a:lumMod val="50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1432132" y="5812006"/>
              <a:ext cx="1043927" cy="369515"/>
            </a:xfrm>
            <a:prstGeom prst="rect">
              <a:avLst/>
            </a:prstGeom>
            <a:noFill/>
          </p:spPr>
          <p:txBody>
            <a:bodyPr wrap="none" rtlCol="0">
              <a:spAutoFit/>
            </a:bodyPr>
            <a:lstStyle/>
            <a:p>
              <a:r>
                <a:rPr lang="en-US" altLang="zh-TW" sz="1200">
                  <a:latin typeface="Cambria Math" panose="02040503050406030204" pitchFamily="18" charset="0"/>
                  <a:ea typeface="Cambria Math" panose="02040503050406030204" pitchFamily="18" charset="0"/>
                </a:rPr>
                <a:t>0.5mm</a:t>
              </a:r>
              <a:endParaRPr lang="zh-TW" altLang="en-US" sz="1200">
                <a:latin typeface="Cambria Math" panose="02040503050406030204" pitchFamily="18" charset="0"/>
                <a:ea typeface="標楷體" panose="03000509000000000000" pitchFamily="65" charset="-120"/>
              </a:endParaRPr>
            </a:p>
          </p:txBody>
        </p:sp>
        <p:sp>
          <p:nvSpPr>
            <p:cNvPr id="6" name="文字方塊 5"/>
            <p:cNvSpPr txBox="1"/>
            <p:nvPr/>
          </p:nvSpPr>
          <p:spPr>
            <a:xfrm>
              <a:off x="1829617" y="6010023"/>
              <a:ext cx="1043927" cy="369515"/>
            </a:xfrm>
            <a:prstGeom prst="rect">
              <a:avLst/>
            </a:prstGeom>
            <a:noFill/>
          </p:spPr>
          <p:txBody>
            <a:bodyPr wrap="none" rtlCol="0">
              <a:spAutoFit/>
            </a:bodyPr>
            <a:lstStyle/>
            <a:p>
              <a:r>
                <a:rPr lang="en-US" altLang="zh-TW" sz="1200">
                  <a:latin typeface="Cambria Math" panose="02040503050406030204" pitchFamily="18" charset="0"/>
                  <a:ea typeface="Cambria Math" panose="02040503050406030204" pitchFamily="18" charset="0"/>
                </a:rPr>
                <a:t>0.5mm</a:t>
              </a:r>
              <a:endParaRPr lang="zh-TW" altLang="en-US" sz="1200">
                <a:latin typeface="Cambria Math" panose="02040503050406030204" pitchFamily="18" charset="0"/>
                <a:ea typeface="標楷體" panose="03000509000000000000" pitchFamily="65" charset="-120"/>
              </a:endParaRPr>
            </a:p>
          </p:txBody>
        </p:sp>
        <p:sp>
          <p:nvSpPr>
            <p:cNvPr id="7" name="文字方塊 6"/>
            <p:cNvSpPr txBox="1"/>
            <p:nvPr/>
          </p:nvSpPr>
          <p:spPr>
            <a:xfrm>
              <a:off x="2277816" y="1516357"/>
              <a:ext cx="1319739" cy="307776"/>
            </a:xfrm>
            <a:prstGeom prst="rect">
              <a:avLst/>
            </a:prstGeom>
            <a:noFill/>
          </p:spPr>
          <p:txBody>
            <a:bodyPr wrap="square" rtlCol="0">
              <a:spAutoFit/>
            </a:bodyPr>
            <a:lstStyle/>
            <a:p>
              <a:r>
                <a:rPr lang="zh-TW" altLang="en-US" sz="1400">
                  <a:latin typeface="標楷體" panose="03000509000000000000" pitchFamily="65" charset="-120"/>
                  <a:ea typeface="標楷體" panose="03000509000000000000" pitchFamily="65" charset="-120"/>
                </a:rPr>
                <a:t>陪拋片</a:t>
              </a:r>
            </a:p>
          </p:txBody>
        </p:sp>
        <p:sp>
          <p:nvSpPr>
            <p:cNvPr id="8" name="文字方塊 7"/>
            <p:cNvSpPr txBox="1"/>
            <p:nvPr/>
          </p:nvSpPr>
          <p:spPr>
            <a:xfrm>
              <a:off x="4029796" y="2499939"/>
              <a:ext cx="1307886" cy="307776"/>
            </a:xfrm>
            <a:prstGeom prst="rect">
              <a:avLst/>
            </a:prstGeom>
            <a:noFill/>
          </p:spPr>
          <p:txBody>
            <a:bodyPr wrap="square" rtlCol="0">
              <a:spAutoFit/>
            </a:bodyPr>
            <a:lstStyle/>
            <a:p>
              <a:r>
                <a:rPr lang="zh-TW" altLang="en-US" sz="1400">
                  <a:latin typeface="標楷體" panose="03000509000000000000" pitchFamily="65" charset="-120"/>
                  <a:ea typeface="標楷體" panose="03000509000000000000" pitchFamily="65" charset="-120"/>
                </a:rPr>
                <a:t>陪拋片</a:t>
              </a:r>
            </a:p>
          </p:txBody>
        </p:sp>
        <p:sp>
          <p:nvSpPr>
            <p:cNvPr id="10" name="文字方塊 9"/>
            <p:cNvSpPr txBox="1"/>
            <p:nvPr/>
          </p:nvSpPr>
          <p:spPr>
            <a:xfrm>
              <a:off x="3353326" y="1820125"/>
              <a:ext cx="691881" cy="369332"/>
            </a:xfrm>
            <a:prstGeom prst="rect">
              <a:avLst/>
            </a:prstGeom>
            <a:noFill/>
          </p:spPr>
          <p:txBody>
            <a:bodyPr wrap="square" rtlCol="0">
              <a:spAutoFit/>
            </a:bodyPr>
            <a:lstStyle/>
            <a:p>
              <a:r>
                <a:rPr lang="en-US" altLang="zh-TW">
                  <a:latin typeface="Cambria Math" panose="02040503050406030204" pitchFamily="18" charset="0"/>
                  <a:ea typeface="Cambria Math" panose="02040503050406030204" pitchFamily="18" charset="0"/>
                </a:rPr>
                <a:t>CLN</a:t>
              </a:r>
              <a:endParaRPr lang="zh-TW" altLang="en-US" sz="1600">
                <a:latin typeface="Cambria Math" panose="02040503050406030204" pitchFamily="18" charset="0"/>
                <a:ea typeface="標楷體" panose="03000509000000000000" pitchFamily="65" charset="-120"/>
              </a:endParaRPr>
            </a:p>
          </p:txBody>
        </p:sp>
        <p:grpSp>
          <p:nvGrpSpPr>
            <p:cNvPr id="11" name="群組 10"/>
            <p:cNvGrpSpPr/>
            <p:nvPr/>
          </p:nvGrpSpPr>
          <p:grpSpPr>
            <a:xfrm rot="7200000">
              <a:off x="-45978" y="1825423"/>
              <a:ext cx="5529750" cy="4456325"/>
              <a:chOff x="1083738" y="1670120"/>
              <a:chExt cx="4145263" cy="2745379"/>
            </a:xfrm>
            <a:solidFill>
              <a:schemeClr val="accent1">
                <a:lumMod val="40000"/>
                <a:lumOff val="60000"/>
              </a:schemeClr>
            </a:solidFill>
          </p:grpSpPr>
          <p:sp>
            <p:nvSpPr>
              <p:cNvPr id="16" name="立方體 15"/>
              <p:cNvSpPr/>
              <p:nvPr/>
            </p:nvSpPr>
            <p:spPr>
              <a:xfrm>
                <a:off x="1083738" y="1910015"/>
                <a:ext cx="4141930" cy="2505484"/>
              </a:xfrm>
              <a:prstGeom prst="cube">
                <a:avLst>
                  <a:gd name="adj" fmla="val 88433"/>
                </a:avLst>
              </a:prstGeom>
              <a:grpFill/>
              <a:ln>
                <a:solidFill>
                  <a:schemeClr val="accent1">
                    <a:lumMod val="60000"/>
                    <a:lumOff val="40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立方體 16"/>
              <p:cNvSpPr/>
              <p:nvPr/>
            </p:nvSpPr>
            <p:spPr>
              <a:xfrm>
                <a:off x="1087069" y="1670120"/>
                <a:ext cx="4141932" cy="2505484"/>
              </a:xfrm>
              <a:prstGeom prst="cube">
                <a:avLst>
                  <a:gd name="adj" fmla="val 88433"/>
                </a:avLst>
              </a:prstGeom>
              <a:grpFill/>
              <a:ln>
                <a:solidFill>
                  <a:schemeClr val="accent1">
                    <a:lumMod val="60000"/>
                    <a:lumOff val="40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立方體 17"/>
              <p:cNvSpPr/>
              <p:nvPr/>
            </p:nvSpPr>
            <p:spPr>
              <a:xfrm rot="21588804">
                <a:off x="1337253" y="2504018"/>
                <a:ext cx="2455786" cy="1020201"/>
              </a:xfrm>
              <a:prstGeom prst="cube">
                <a:avLst>
                  <a:gd name="adj" fmla="val 81701"/>
                </a:avLst>
              </a:prstGeom>
              <a:solidFill>
                <a:schemeClr val="accent1">
                  <a:lumMod val="75000"/>
                </a:schemeClr>
              </a:solidFill>
              <a:ln>
                <a:solidFill>
                  <a:schemeClr val="accent1">
                    <a:lumMod val="50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2" name="文字方塊 11"/>
            <p:cNvSpPr txBox="1"/>
            <p:nvPr/>
          </p:nvSpPr>
          <p:spPr>
            <a:xfrm>
              <a:off x="2546844" y="3855805"/>
              <a:ext cx="912223" cy="369515"/>
            </a:xfrm>
            <a:prstGeom prst="rect">
              <a:avLst/>
            </a:prstGeom>
            <a:noFill/>
          </p:spPr>
          <p:txBody>
            <a:bodyPr wrap="square" rtlCol="0">
              <a:spAutoFit/>
            </a:bodyPr>
            <a:lstStyle/>
            <a:p>
              <a:r>
                <a:rPr lang="en-US" altLang="zh-TW" sz="1200">
                  <a:latin typeface="Cambria Math" panose="02040503050406030204" pitchFamily="18" charset="0"/>
                  <a:ea typeface="Cambria Math" panose="02040503050406030204" pitchFamily="18" charset="0"/>
                </a:rPr>
                <a:t>1mm</a:t>
              </a:r>
              <a:endParaRPr lang="zh-TW" altLang="en-US" sz="1600">
                <a:latin typeface="Cambria Math" panose="02040503050406030204" pitchFamily="18" charset="0"/>
                <a:ea typeface="標楷體" panose="03000509000000000000" pitchFamily="65" charset="-120"/>
              </a:endParaRPr>
            </a:p>
          </p:txBody>
        </p:sp>
        <p:sp>
          <p:nvSpPr>
            <p:cNvPr id="13" name="文字方塊 12"/>
            <p:cNvSpPr txBox="1"/>
            <p:nvPr/>
          </p:nvSpPr>
          <p:spPr>
            <a:xfrm>
              <a:off x="937044" y="3525065"/>
              <a:ext cx="912223" cy="369515"/>
            </a:xfrm>
            <a:prstGeom prst="rect">
              <a:avLst/>
            </a:prstGeom>
            <a:noFill/>
          </p:spPr>
          <p:txBody>
            <a:bodyPr wrap="square" rtlCol="0">
              <a:spAutoFit/>
            </a:bodyPr>
            <a:lstStyle/>
            <a:p>
              <a:r>
                <a:rPr lang="en-US" altLang="zh-TW" sz="1200">
                  <a:latin typeface="Cambria Math" panose="02040503050406030204" pitchFamily="18" charset="0"/>
                  <a:ea typeface="Cambria Math" panose="02040503050406030204" pitchFamily="18" charset="0"/>
                </a:rPr>
                <a:t>1mm</a:t>
              </a:r>
              <a:endParaRPr lang="zh-TW" altLang="en-US" sz="1600">
                <a:latin typeface="Cambria Math" panose="02040503050406030204" pitchFamily="18" charset="0"/>
                <a:ea typeface="標楷體" panose="03000509000000000000" pitchFamily="65" charset="-120"/>
              </a:endParaRPr>
            </a:p>
          </p:txBody>
        </p:sp>
        <p:cxnSp>
          <p:nvCxnSpPr>
            <p:cNvPr id="14" name="直線單箭頭接點 13"/>
            <p:cNvCxnSpPr/>
            <p:nvPr/>
          </p:nvCxnSpPr>
          <p:spPr>
            <a:xfrm>
              <a:off x="2351580" y="4040563"/>
              <a:ext cx="208683" cy="98503"/>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2055589" y="5809168"/>
              <a:ext cx="295992" cy="187065"/>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1469450" y="3611319"/>
              <a:ext cx="208683" cy="98503"/>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flipV="1">
              <a:off x="1974537" y="2937814"/>
              <a:ext cx="0" cy="295200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1680283" y="1925212"/>
              <a:ext cx="912223" cy="276999"/>
            </a:xfrm>
            <a:prstGeom prst="rect">
              <a:avLst/>
            </a:prstGeom>
            <a:noFill/>
          </p:spPr>
          <p:txBody>
            <a:bodyPr wrap="square" rtlCol="0">
              <a:spAutoFit/>
            </a:bodyPr>
            <a:lstStyle/>
            <a:p>
              <a:r>
                <a:rPr lang="en-US" altLang="zh-TW" sz="1200">
                  <a:latin typeface="Cambria Math" panose="02040503050406030204" pitchFamily="18" charset="0"/>
                  <a:ea typeface="Cambria Math" panose="02040503050406030204" pitchFamily="18" charset="0"/>
                </a:rPr>
                <a:t>7mm</a:t>
              </a:r>
              <a:endParaRPr lang="zh-TW" altLang="en-US" sz="1600">
                <a:latin typeface="Cambria Math" panose="02040503050406030204" pitchFamily="18" charset="0"/>
                <a:ea typeface="標楷體" panose="03000509000000000000" pitchFamily="65" charset="-120"/>
              </a:endParaRPr>
            </a:p>
          </p:txBody>
        </p:sp>
        <p:sp>
          <p:nvSpPr>
            <p:cNvPr id="26" name="文字方塊 25"/>
            <p:cNvSpPr txBox="1"/>
            <p:nvPr/>
          </p:nvSpPr>
          <p:spPr>
            <a:xfrm>
              <a:off x="1573791" y="4152856"/>
              <a:ext cx="465192" cy="276999"/>
            </a:xfrm>
            <a:prstGeom prst="rect">
              <a:avLst/>
            </a:prstGeom>
            <a:noFill/>
          </p:spPr>
          <p:txBody>
            <a:bodyPr wrap="none" rtlCol="0">
              <a:spAutoFit/>
            </a:bodyPr>
            <a:lstStyle/>
            <a:p>
              <a:r>
                <a:rPr lang="en-US" altLang="zh-TW" sz="1200">
                  <a:latin typeface="Cambria Math" panose="02040503050406030204" pitchFamily="18" charset="0"/>
                  <a:ea typeface="Cambria Math" panose="02040503050406030204" pitchFamily="18" charset="0"/>
                </a:rPr>
                <a:t>4cm</a:t>
              </a:r>
              <a:endParaRPr lang="zh-TW" altLang="en-US" sz="1200">
                <a:latin typeface="Cambria Math" panose="02040503050406030204" pitchFamily="18" charset="0"/>
                <a:ea typeface="標楷體" panose="03000509000000000000" pitchFamily="65" charset="-120"/>
              </a:endParaRPr>
            </a:p>
          </p:txBody>
        </p:sp>
      </p:grpSp>
      <p:pic>
        <p:nvPicPr>
          <p:cNvPr id="27" name="圖片 26"/>
          <p:cNvPicPr>
            <a:picLocks noChangeAspect="1"/>
          </p:cNvPicPr>
          <p:nvPr/>
        </p:nvPicPr>
        <p:blipFill rotWithShape="1">
          <a:blip r:embed="rId2">
            <a:extLst>
              <a:ext uri="{28A0092B-C50C-407E-A947-70E740481C1C}">
                <a14:useLocalDpi xmlns:a14="http://schemas.microsoft.com/office/drawing/2010/main" val="0"/>
              </a:ext>
            </a:extLst>
          </a:blip>
          <a:srcRect b="19256"/>
          <a:stretch/>
        </p:blipFill>
        <p:spPr>
          <a:xfrm>
            <a:off x="5537323" y="985657"/>
            <a:ext cx="4876800" cy="2953297"/>
          </a:xfrm>
          <a:prstGeom prst="rect">
            <a:avLst/>
          </a:prstGeom>
        </p:spPr>
      </p:pic>
      <p:pic>
        <p:nvPicPr>
          <p:cNvPr id="28" name="圖片 27"/>
          <p:cNvPicPr>
            <a:picLocks noChangeAspect="1"/>
          </p:cNvPicPr>
          <p:nvPr/>
        </p:nvPicPr>
        <p:blipFill rotWithShape="1">
          <a:blip r:embed="rId3" cstate="print">
            <a:extLst>
              <a:ext uri="{28A0092B-C50C-407E-A947-70E740481C1C}">
                <a14:useLocalDpi xmlns:a14="http://schemas.microsoft.com/office/drawing/2010/main" val="0"/>
              </a:ext>
            </a:extLst>
          </a:blip>
          <a:srcRect l="23676" t="15598" r="29316" b="21838"/>
          <a:stretch/>
        </p:blipFill>
        <p:spPr>
          <a:xfrm rot="16200000">
            <a:off x="7379564" y="3364999"/>
            <a:ext cx="2417884" cy="4290646"/>
          </a:xfrm>
          <a:prstGeom prst="rect">
            <a:avLst/>
          </a:prstGeom>
        </p:spPr>
      </p:pic>
      <p:sp>
        <p:nvSpPr>
          <p:cNvPr id="9" name="矩形 8"/>
          <p:cNvSpPr/>
          <p:nvPr/>
        </p:nvSpPr>
        <p:spPr>
          <a:xfrm>
            <a:off x="843608" y="1223800"/>
            <a:ext cx="774571" cy="369332"/>
          </a:xfrm>
          <a:prstGeom prst="rect">
            <a:avLst/>
          </a:prstGeom>
        </p:spPr>
        <p:txBody>
          <a:bodyPr wrap="none">
            <a:spAutoFit/>
          </a:bodyPr>
          <a:lstStyle/>
          <a:p>
            <a:r>
              <a:rPr lang="en-US" altLang="zh-TW" b="1" u="heavy">
                <a:latin typeface="Times New Roman" panose="02020603050405020304" pitchFamily="18" charset="0"/>
                <a:cs typeface="Times New Roman" panose="02020603050405020304" pitchFamily="18" charset="0"/>
              </a:rPr>
              <a:t>polish</a:t>
            </a:r>
          </a:p>
        </p:txBody>
      </p:sp>
      <p:sp>
        <p:nvSpPr>
          <p:cNvPr id="25" name="矩形 24"/>
          <p:cNvSpPr/>
          <p:nvPr/>
        </p:nvSpPr>
        <p:spPr>
          <a:xfrm>
            <a:off x="4667625" y="983180"/>
            <a:ext cx="902811" cy="369332"/>
          </a:xfrm>
          <a:prstGeom prst="rect">
            <a:avLst/>
          </a:prstGeom>
        </p:spPr>
        <p:txBody>
          <a:bodyPr wrap="none">
            <a:spAutoFit/>
          </a:bodyPr>
          <a:lstStyle/>
          <a:p>
            <a:r>
              <a:rPr lang="en-US" altLang="zh-TW" b="1" u="heavy" dirty="0">
                <a:latin typeface="Times New Roman" panose="02020603050405020304" pitchFamily="18" charset="0"/>
                <a:cs typeface="Times New Roman" panose="02020603050405020304" pitchFamily="18" charset="0"/>
              </a:rPr>
              <a:t>etching</a:t>
            </a:r>
          </a:p>
        </p:txBody>
      </p:sp>
      <p:sp>
        <p:nvSpPr>
          <p:cNvPr id="29" name="矩形 28"/>
          <p:cNvSpPr/>
          <p:nvPr/>
        </p:nvSpPr>
        <p:spPr>
          <a:xfrm>
            <a:off x="4510034" y="4368130"/>
            <a:ext cx="1905330" cy="369332"/>
          </a:xfrm>
          <a:prstGeom prst="rect">
            <a:avLst/>
          </a:prstGeom>
        </p:spPr>
        <p:txBody>
          <a:bodyPr wrap="none">
            <a:spAutoFit/>
          </a:bodyPr>
          <a:lstStyle/>
          <a:p>
            <a:r>
              <a:rPr lang="en-US" altLang="zh-TW" b="1" u="heavy" dirty="0">
                <a:latin typeface="Times New Roman" panose="02020603050405020304" pitchFamily="18" charset="0"/>
                <a:cs typeface="Times New Roman" panose="02020603050405020304" pitchFamily="18" charset="0"/>
              </a:rPr>
              <a:t>electrode</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coating</a:t>
            </a:r>
          </a:p>
        </p:txBody>
      </p:sp>
    </p:spTree>
    <p:extLst>
      <p:ext uri="{BB962C8B-B14F-4D97-AF65-F5344CB8AC3E}">
        <p14:creationId xmlns:p14="http://schemas.microsoft.com/office/powerpoint/2010/main" val="541226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txBox="1">
            <a:spLocks/>
          </p:cNvSpPr>
          <p:nvPr/>
        </p:nvSpPr>
        <p:spPr>
          <a:xfrm>
            <a:off x="457287" y="1028251"/>
            <a:ext cx="4626103" cy="4985688"/>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Introduction</a:t>
            </a:r>
          </a:p>
          <a:p>
            <a:pPr lvl="2">
              <a:lnSpc>
                <a:spcPct val="100000"/>
              </a:lnSpc>
            </a:pPr>
            <a:r>
              <a:rPr lang="en-US" altLang="zh-TW" sz="1400" b="1" dirty="0">
                <a:latin typeface="Times New Roman" panose="02020603050405020304" pitchFamily="18" charset="0"/>
                <a:cs typeface="Times New Roman" panose="02020603050405020304" pitchFamily="18" charset="0"/>
              </a:rPr>
              <a:t>OPO</a:t>
            </a:r>
            <a:r>
              <a:rPr lang="zh-TW" altLang="en-US" sz="1400" b="1" dirty="0">
                <a:latin typeface="Times New Roman" panose="02020603050405020304" pitchFamily="18" charset="0"/>
                <a:cs typeface="Times New Roman" panose="02020603050405020304" pitchFamily="18" charset="0"/>
              </a:rPr>
              <a:t> </a:t>
            </a:r>
            <a:r>
              <a:rPr lang="en-US" altLang="zh-TW" sz="1400" b="1" dirty="0">
                <a:latin typeface="Times New Roman" panose="02020603050405020304" pitchFamily="18" charset="0"/>
                <a:cs typeface="Times New Roman" panose="02020603050405020304" pitchFamily="18" charset="0"/>
              </a:rPr>
              <a:t>spectral tuning</a:t>
            </a: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Effect</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Device Design and Fabrication</a:t>
            </a:r>
          </a:p>
          <a:p>
            <a:pPr lvl="2"/>
            <a:r>
              <a:rPr lang="en-US" altLang="zh-TW" sz="1400" b="1" dirty="0">
                <a:latin typeface="Times New Roman" panose="02020603050405020304" pitchFamily="18" charset="0"/>
                <a:cs typeface="Times New Roman" panose="02020603050405020304" pitchFamily="18" charset="0"/>
              </a:rPr>
              <a:t>Genetic algorithm</a:t>
            </a:r>
          </a:p>
          <a:p>
            <a:pPr lvl="2"/>
            <a:r>
              <a:rPr lang="en-US" altLang="zh-TW" sz="1400" b="1" dirty="0" err="1">
                <a:latin typeface="Times New Roman" panose="02020603050405020304" pitchFamily="18" charset="0"/>
                <a:cs typeface="Times New Roman" panose="02020603050405020304" pitchFamily="18" charset="0"/>
              </a:rPr>
              <a:t>Nonperiodic</a:t>
            </a:r>
            <a:r>
              <a:rPr lang="en-US" altLang="zh-TW" sz="1400" b="1" dirty="0">
                <a:latin typeface="Times New Roman" panose="02020603050405020304" pitchFamily="18" charset="0"/>
                <a:cs typeface="Times New Roman" panose="02020603050405020304" pitchFamily="18" charset="0"/>
              </a:rPr>
              <a:t> optical </a:t>
            </a:r>
            <a:r>
              <a:rPr lang="en-US" altLang="zh-TW" sz="1400" b="1" dirty="0" err="1">
                <a:latin typeface="Times New Roman" panose="02020603050405020304" pitchFamily="18" charset="0"/>
                <a:cs typeface="Times New Roman" panose="02020603050405020304" pitchFamily="18" charset="0"/>
              </a:rPr>
              <a:t>superlattice</a:t>
            </a:r>
            <a:r>
              <a:rPr lang="en-US" altLang="zh-TW" sz="1400" b="1" dirty="0">
                <a:latin typeface="Times New Roman" panose="02020603050405020304" pitchFamily="18" charset="0"/>
                <a:cs typeface="Times New Roman" panose="02020603050405020304" pitchFamily="18" charset="0"/>
              </a:rPr>
              <a:t> design</a:t>
            </a: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Experimental Results and Analysis </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Experimental set-up</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Measurement</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Analysis</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p>
        </p:txBody>
      </p:sp>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9826" y="898030"/>
            <a:ext cx="4081272" cy="2763774"/>
          </a:xfrm>
          <a:prstGeom prst="rect">
            <a:avLst/>
          </a:prstGeom>
        </p:spPr>
      </p:pic>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9826" y="3661804"/>
            <a:ext cx="4082605" cy="3060573"/>
          </a:xfrm>
          <a:prstGeom prst="rect">
            <a:avLst/>
          </a:prstGeom>
        </p:spPr>
      </p:pic>
    </p:spTree>
    <p:extLst>
      <p:ext uri="{BB962C8B-B14F-4D97-AF65-F5344CB8AC3E}">
        <p14:creationId xmlns:p14="http://schemas.microsoft.com/office/powerpoint/2010/main" val="673992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文字方塊 68"/>
          <p:cNvSpPr txBox="1"/>
          <p:nvPr/>
        </p:nvSpPr>
        <p:spPr>
          <a:xfrm>
            <a:off x="0" y="87923"/>
            <a:ext cx="12191999" cy="584775"/>
          </a:xfrm>
          <a:prstGeom prst="rect">
            <a:avLst/>
          </a:prstGeom>
          <a:noFill/>
        </p:spPr>
        <p:txBody>
          <a:bodyPr wrap="square" rtlCol="0">
            <a:spAutoFit/>
          </a:bodyPr>
          <a:lstStyle/>
          <a:p>
            <a:pPr marL="0" lvl="2"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Experimental set-up</a:t>
            </a:r>
          </a:p>
        </p:txBody>
      </p:sp>
      <p:grpSp>
        <p:nvGrpSpPr>
          <p:cNvPr id="79" name="群組 78"/>
          <p:cNvGrpSpPr/>
          <p:nvPr/>
        </p:nvGrpSpPr>
        <p:grpSpPr>
          <a:xfrm>
            <a:off x="1256255" y="1188056"/>
            <a:ext cx="9525798" cy="3450845"/>
            <a:chOff x="834223" y="1327700"/>
            <a:chExt cx="9525798" cy="3450845"/>
          </a:xfrm>
        </p:grpSpPr>
        <p:pic>
          <p:nvPicPr>
            <p:cNvPr id="80" name="圖片 79"/>
            <p:cNvPicPr>
              <a:picLocks noChangeAspect="1"/>
            </p:cNvPicPr>
            <p:nvPr/>
          </p:nvPicPr>
          <p:blipFill>
            <a:blip r:embed="rId3">
              <a:clrChange>
                <a:clrFrom>
                  <a:srgbClr val="FFFFFF"/>
                </a:clrFrom>
                <a:clrTo>
                  <a:srgbClr val="FFFFFF">
                    <a:alpha val="0"/>
                  </a:srgbClr>
                </a:clrTo>
              </a:clrChange>
            </a:blip>
            <a:stretch>
              <a:fillRect/>
            </a:stretch>
          </p:blipFill>
          <p:spPr>
            <a:xfrm>
              <a:off x="4783934" y="1327700"/>
              <a:ext cx="3000607" cy="1620000"/>
            </a:xfrm>
            <a:prstGeom prst="rect">
              <a:avLst/>
            </a:prstGeom>
          </p:spPr>
        </p:pic>
        <p:cxnSp>
          <p:nvCxnSpPr>
            <p:cNvPr id="81" name="直線接點 80"/>
            <p:cNvCxnSpPr/>
            <p:nvPr/>
          </p:nvCxnSpPr>
          <p:spPr>
            <a:xfrm>
              <a:off x="6343162" y="2686343"/>
              <a:ext cx="1749934" cy="1773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圓柱 81"/>
            <p:cNvSpPr/>
            <p:nvPr/>
          </p:nvSpPr>
          <p:spPr>
            <a:xfrm rot="5400000">
              <a:off x="4817870" y="3788546"/>
              <a:ext cx="216000" cy="720000"/>
            </a:xfrm>
            <a:prstGeom prst="can">
              <a:avLst>
                <a:gd name="adj" fmla="val 4581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83" name="圖片 82"/>
            <p:cNvPicPr>
              <a:picLocks noChangeAspect="1"/>
            </p:cNvPicPr>
            <p:nvPr/>
          </p:nvPicPr>
          <p:blipFill rotWithShape="1">
            <a:blip r:embed="rId4">
              <a:clrChange>
                <a:clrFrom>
                  <a:srgbClr val="FFFFFF"/>
                </a:clrFrom>
                <a:clrTo>
                  <a:srgbClr val="FFFFFF">
                    <a:alpha val="0"/>
                  </a:srgbClr>
                </a:clrTo>
              </a:clrChange>
            </a:blip>
            <a:srcRect l="2126" t="4619" r="1204" b="2416"/>
            <a:stretch/>
          </p:blipFill>
          <p:spPr>
            <a:xfrm>
              <a:off x="834223" y="2031790"/>
              <a:ext cx="3133442" cy="1620000"/>
            </a:xfrm>
            <a:prstGeom prst="rect">
              <a:avLst/>
            </a:prstGeom>
          </p:spPr>
        </p:pic>
        <p:cxnSp>
          <p:nvCxnSpPr>
            <p:cNvPr id="84" name="弧形接點 83"/>
            <p:cNvCxnSpPr/>
            <p:nvPr/>
          </p:nvCxnSpPr>
          <p:spPr>
            <a:xfrm>
              <a:off x="3124420" y="3260323"/>
              <a:ext cx="1441450" cy="888223"/>
            </a:xfrm>
            <a:prstGeom prst="curvedConnector3">
              <a:avLst/>
            </a:prstGeom>
            <a:ln w="19050">
              <a:solidFill>
                <a:schemeClr val="tx1"/>
              </a:solidFill>
            </a:ln>
            <a:effectLst>
              <a:glow rad="63500">
                <a:schemeClr val="tx1">
                  <a:alpha val="40000"/>
                </a:schemeClr>
              </a:glow>
            </a:effectLst>
          </p:spPr>
          <p:style>
            <a:lnRef idx="1">
              <a:schemeClr val="accent1"/>
            </a:lnRef>
            <a:fillRef idx="0">
              <a:schemeClr val="accent1"/>
            </a:fillRef>
            <a:effectRef idx="0">
              <a:schemeClr val="accent1"/>
            </a:effectRef>
            <a:fontRef idx="minor">
              <a:schemeClr val="tx1"/>
            </a:fontRef>
          </p:style>
        </p:cxnSp>
        <p:sp>
          <p:nvSpPr>
            <p:cNvPr id="85" name="橢圓 84"/>
            <p:cNvSpPr/>
            <p:nvPr/>
          </p:nvSpPr>
          <p:spPr>
            <a:xfrm>
              <a:off x="3845145" y="3546244"/>
              <a:ext cx="324000" cy="324000"/>
            </a:xfrm>
            <a:prstGeom prst="ellipse">
              <a:avLst/>
            </a:prstGeom>
            <a:noFill/>
            <a:ln w="19050">
              <a:solidFill>
                <a:schemeClr val="tx1"/>
              </a:solidFill>
            </a:ln>
            <a:effectLst>
              <a:glow rad="63500">
                <a:schemeClr val="tx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橢圓 85"/>
            <p:cNvSpPr/>
            <p:nvPr/>
          </p:nvSpPr>
          <p:spPr>
            <a:xfrm>
              <a:off x="5409115" y="3518545"/>
              <a:ext cx="540000" cy="1260000"/>
            </a:xfrm>
            <a:prstGeom prst="ellipse">
              <a:avLst/>
            </a:prstGeom>
            <a:solidFill>
              <a:schemeClr val="accent1">
                <a:lumMod val="40000"/>
                <a:lumOff val="60000"/>
              </a:schemeClr>
            </a:solidFill>
            <a:ln>
              <a:solidFill>
                <a:schemeClr val="accent1">
                  <a:lumMod val="60000"/>
                  <a:lumOff val="40000"/>
                </a:schemeClr>
              </a:solidFill>
            </a:ln>
            <a:effectLst>
              <a:outerShdw blurRad="127000" dist="38100" dir="2700000" algn="ctr">
                <a:srgbClr val="000000">
                  <a:alpha val="45000"/>
                </a:srgbClr>
              </a:outerShdw>
            </a:effectLst>
            <a:scene3d>
              <a:camera prst="isometricOffAxis2Right"/>
              <a:lightRig rig="soft" dir="t">
                <a:rot lat="0" lon="0" rev="0"/>
              </a:lightRig>
            </a:scene3d>
            <a:sp3d prstMaterial="translucentPowder">
              <a:bevelT w="2032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橢圓 86"/>
            <p:cNvSpPr/>
            <p:nvPr/>
          </p:nvSpPr>
          <p:spPr>
            <a:xfrm>
              <a:off x="5897862" y="3788546"/>
              <a:ext cx="360000" cy="720000"/>
            </a:xfrm>
            <a:prstGeom prst="ellipse">
              <a:avLst/>
            </a:prstGeom>
            <a:solidFill>
              <a:schemeClr val="accent1">
                <a:lumMod val="40000"/>
                <a:lumOff val="60000"/>
              </a:schemeClr>
            </a:solidFill>
            <a:ln>
              <a:solidFill>
                <a:schemeClr val="accent1">
                  <a:lumMod val="60000"/>
                  <a:lumOff val="40000"/>
                </a:schemeClr>
              </a:solidFill>
            </a:ln>
            <a:effectLst>
              <a:outerShdw blurRad="127000" dist="38100" dir="2700000" algn="ctr">
                <a:srgbClr val="000000">
                  <a:alpha val="45000"/>
                </a:srgbClr>
              </a:outerShdw>
            </a:effectLst>
            <a:scene3d>
              <a:camera prst="isometricOffAxis2Right"/>
              <a:lightRig rig="soft" dir="t">
                <a:rot lat="0" lon="0" rev="0"/>
              </a:lightRig>
            </a:scene3d>
            <a:sp3d prstMaterial="translucentPowder">
              <a:bevelT w="2032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橢圓 87"/>
            <p:cNvSpPr/>
            <p:nvPr/>
          </p:nvSpPr>
          <p:spPr>
            <a:xfrm>
              <a:off x="6381385" y="3788546"/>
              <a:ext cx="360000" cy="720000"/>
            </a:xfrm>
            <a:prstGeom prst="ellipse">
              <a:avLst/>
            </a:prstGeom>
            <a:solidFill>
              <a:schemeClr val="accent1">
                <a:lumMod val="40000"/>
                <a:lumOff val="60000"/>
              </a:schemeClr>
            </a:solidFill>
            <a:ln>
              <a:solidFill>
                <a:schemeClr val="accent1">
                  <a:lumMod val="60000"/>
                  <a:lumOff val="40000"/>
                </a:schemeClr>
              </a:solidFill>
            </a:ln>
            <a:scene3d>
              <a:camera prst="isometricOffAxis2Right"/>
              <a:lightRig rig="threePt" dir="t"/>
            </a:scene3d>
            <a:sp3d>
              <a:bevelT w="127000" h="10795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立方體 88"/>
            <p:cNvSpPr/>
            <p:nvPr/>
          </p:nvSpPr>
          <p:spPr>
            <a:xfrm>
              <a:off x="6653729" y="4040546"/>
              <a:ext cx="520933" cy="216000"/>
            </a:xfrm>
            <a:prstGeom prst="cube">
              <a:avLst>
                <a:gd name="adj" fmla="val 2445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立方體 89"/>
            <p:cNvSpPr/>
            <p:nvPr/>
          </p:nvSpPr>
          <p:spPr>
            <a:xfrm>
              <a:off x="7223901" y="3905220"/>
              <a:ext cx="1741210" cy="486650"/>
            </a:xfrm>
            <a:prstGeom prst="cube">
              <a:avLst>
                <a:gd name="adj" fmla="val 72089"/>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平行四邊形 90"/>
            <p:cNvSpPr/>
            <p:nvPr/>
          </p:nvSpPr>
          <p:spPr>
            <a:xfrm>
              <a:off x="7223901" y="3905220"/>
              <a:ext cx="1741210" cy="351326"/>
            </a:xfrm>
            <a:prstGeom prst="parallelogram">
              <a:avLst>
                <a:gd name="adj" fmla="val 100063"/>
              </a:avLst>
            </a:prstGeom>
            <a:gradFill>
              <a:gsLst>
                <a:gs pos="0">
                  <a:srgbClr val="E6DCAC"/>
                </a:gs>
                <a:gs pos="12000">
                  <a:srgbClr val="E6D78A"/>
                </a:gs>
                <a:gs pos="30000">
                  <a:srgbClr val="C7AC4C"/>
                </a:gs>
                <a:gs pos="45000">
                  <a:srgbClr val="E6D78A"/>
                </a:gs>
                <a:gs pos="77000">
                  <a:srgbClr val="C7AC4C"/>
                </a:gs>
                <a:gs pos="100000">
                  <a:srgbClr val="E6DCAC"/>
                </a:gs>
              </a:gsLst>
              <a:lin ang="540000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立方體 91"/>
            <p:cNvSpPr/>
            <p:nvPr/>
          </p:nvSpPr>
          <p:spPr>
            <a:xfrm>
              <a:off x="8838393" y="3972883"/>
              <a:ext cx="757444" cy="351324"/>
            </a:xfrm>
            <a:prstGeom prst="cube">
              <a:avLst>
                <a:gd name="adj" fmla="val 72089"/>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橢圓 92"/>
            <p:cNvSpPr/>
            <p:nvPr/>
          </p:nvSpPr>
          <p:spPr>
            <a:xfrm>
              <a:off x="9550021" y="3518545"/>
              <a:ext cx="540000" cy="1260000"/>
            </a:xfrm>
            <a:prstGeom prst="ellipse">
              <a:avLst/>
            </a:prstGeom>
            <a:solidFill>
              <a:schemeClr val="accent1">
                <a:lumMod val="60000"/>
                <a:lumOff val="40000"/>
              </a:schemeClr>
            </a:solidFill>
            <a:ln>
              <a:solidFill>
                <a:schemeClr val="accent1">
                  <a:lumMod val="60000"/>
                  <a:lumOff val="40000"/>
                </a:schemeClr>
              </a:solidFill>
            </a:ln>
            <a:scene3d>
              <a:camera prst="isometricOffAxis2Right"/>
              <a:lightRig rig="threePt" dir="t"/>
            </a:scene3d>
            <a:sp3d extrusionH="88900">
              <a:bevelT w="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平行四邊形 93"/>
            <p:cNvSpPr/>
            <p:nvPr/>
          </p:nvSpPr>
          <p:spPr>
            <a:xfrm>
              <a:off x="8838394" y="3972883"/>
              <a:ext cx="757444" cy="248758"/>
            </a:xfrm>
            <a:prstGeom prst="parallelogram">
              <a:avLst>
                <a:gd name="adj" fmla="val 100063"/>
              </a:avLst>
            </a:pr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5" name="直線接點 94"/>
            <p:cNvCxnSpPr/>
            <p:nvPr/>
          </p:nvCxnSpPr>
          <p:spPr>
            <a:xfrm>
              <a:off x="6673362" y="2635543"/>
              <a:ext cx="1428809" cy="1261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接點 95"/>
            <p:cNvCxnSpPr/>
            <p:nvPr/>
          </p:nvCxnSpPr>
          <p:spPr>
            <a:xfrm flipH="1">
              <a:off x="8102230" y="3896280"/>
              <a:ext cx="0" cy="10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接點 96"/>
            <p:cNvCxnSpPr/>
            <p:nvPr/>
          </p:nvCxnSpPr>
          <p:spPr>
            <a:xfrm flipH="1">
              <a:off x="8092646" y="4389893"/>
              <a:ext cx="0" cy="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橢圓 97"/>
            <p:cNvSpPr/>
            <p:nvPr/>
          </p:nvSpPr>
          <p:spPr>
            <a:xfrm>
              <a:off x="9820021" y="3518545"/>
              <a:ext cx="540000" cy="1260000"/>
            </a:xfrm>
            <a:prstGeom prst="ellipse">
              <a:avLst/>
            </a:prstGeom>
            <a:solidFill>
              <a:schemeClr val="accent1">
                <a:lumMod val="60000"/>
                <a:lumOff val="40000"/>
              </a:schemeClr>
            </a:solidFill>
            <a:ln>
              <a:solidFill>
                <a:schemeClr val="accent1">
                  <a:lumMod val="60000"/>
                  <a:lumOff val="40000"/>
                </a:schemeClr>
              </a:solidFill>
            </a:ln>
            <a:scene3d>
              <a:camera prst="isometricOffAxis2Right"/>
              <a:lightRig rig="threePt" dir="t"/>
            </a:scene3d>
            <a:sp3d extrusionH="88900">
              <a:bevelT w="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9" name="文字方塊 98"/>
          <p:cNvSpPr txBox="1"/>
          <p:nvPr/>
        </p:nvSpPr>
        <p:spPr>
          <a:xfrm>
            <a:off x="1256255" y="1395390"/>
            <a:ext cx="2537874" cy="646331"/>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LIMO 809nm diode laser</a:t>
            </a:r>
          </a:p>
          <a:p>
            <a:r>
              <a:rPr lang="en-US" altLang="zh-TW">
                <a:latin typeface="Times New Roman" panose="02020603050405020304" pitchFamily="18" charset="0"/>
                <a:cs typeface="Times New Roman" panose="02020603050405020304" pitchFamily="18" charset="0"/>
              </a:rPr>
              <a:t>(LDC1000)</a:t>
            </a:r>
            <a:endParaRPr lang="zh-TW" altLang="en-US">
              <a:latin typeface="Times New Roman" panose="02020603050405020304" pitchFamily="18" charset="0"/>
              <a:cs typeface="Times New Roman" panose="02020603050405020304" pitchFamily="18" charset="0"/>
            </a:endParaRPr>
          </a:p>
        </p:txBody>
      </p:sp>
      <p:sp>
        <p:nvSpPr>
          <p:cNvPr id="100" name="文字方塊 99"/>
          <p:cNvSpPr txBox="1"/>
          <p:nvPr/>
        </p:nvSpPr>
        <p:spPr>
          <a:xfrm>
            <a:off x="5205966" y="715854"/>
            <a:ext cx="1454244" cy="646331"/>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power supply</a:t>
            </a:r>
          </a:p>
          <a:p>
            <a:r>
              <a:rPr lang="en-US" altLang="zh-TW">
                <a:latin typeface="Times New Roman" panose="02020603050405020304" pitchFamily="18" charset="0"/>
                <a:cs typeface="Times New Roman" panose="02020603050405020304" pitchFamily="18" charset="0"/>
              </a:rPr>
              <a:t>(BHK1000)</a:t>
            </a:r>
            <a:endParaRPr lang="zh-TW" altLang="en-US">
              <a:latin typeface="Times New Roman" panose="02020603050405020304" pitchFamily="18" charset="0"/>
              <a:cs typeface="Times New Roman" panose="02020603050405020304" pitchFamily="18" charset="0"/>
            </a:endParaRPr>
          </a:p>
        </p:txBody>
      </p:sp>
      <p:sp>
        <p:nvSpPr>
          <p:cNvPr id="101" name="文字方塊 100"/>
          <p:cNvSpPr txBox="1"/>
          <p:nvPr/>
        </p:nvSpPr>
        <p:spPr>
          <a:xfrm>
            <a:off x="5851245" y="4638901"/>
            <a:ext cx="42832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F1</a:t>
            </a:r>
            <a:endParaRPr lang="zh-TW" altLang="en-US">
              <a:latin typeface="Times New Roman" panose="02020603050405020304" pitchFamily="18" charset="0"/>
              <a:cs typeface="Times New Roman" panose="02020603050405020304" pitchFamily="18" charset="0"/>
            </a:endParaRPr>
          </a:p>
        </p:txBody>
      </p:sp>
      <p:sp>
        <p:nvSpPr>
          <p:cNvPr id="102" name="文字方塊 101"/>
          <p:cNvSpPr txBox="1"/>
          <p:nvPr/>
        </p:nvSpPr>
        <p:spPr>
          <a:xfrm>
            <a:off x="6289589" y="4638901"/>
            <a:ext cx="42832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F2</a:t>
            </a:r>
            <a:endParaRPr lang="zh-TW" altLang="en-US">
              <a:latin typeface="Times New Roman" panose="02020603050405020304" pitchFamily="18" charset="0"/>
              <a:cs typeface="Times New Roman" panose="02020603050405020304" pitchFamily="18" charset="0"/>
            </a:endParaRPr>
          </a:p>
        </p:txBody>
      </p:sp>
      <p:sp>
        <p:nvSpPr>
          <p:cNvPr id="103" name="文字方塊 102"/>
          <p:cNvSpPr txBox="1"/>
          <p:nvPr/>
        </p:nvSpPr>
        <p:spPr>
          <a:xfrm>
            <a:off x="6741896" y="4638901"/>
            <a:ext cx="505267"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M1</a:t>
            </a:r>
            <a:endParaRPr lang="zh-TW" altLang="en-US">
              <a:latin typeface="Times New Roman" panose="02020603050405020304" pitchFamily="18" charset="0"/>
              <a:cs typeface="Times New Roman" panose="02020603050405020304" pitchFamily="18" charset="0"/>
            </a:endParaRPr>
          </a:p>
        </p:txBody>
      </p:sp>
      <p:sp>
        <p:nvSpPr>
          <p:cNvPr id="104" name="文字方塊 103"/>
          <p:cNvSpPr txBox="1"/>
          <p:nvPr/>
        </p:nvSpPr>
        <p:spPr>
          <a:xfrm>
            <a:off x="6803417" y="5320294"/>
            <a:ext cx="1107996"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Nd:YVO</a:t>
            </a:r>
            <a:r>
              <a:rPr lang="en-US" altLang="zh-TW" baseline="-25000">
                <a:latin typeface="Times New Roman" panose="02020603050405020304" pitchFamily="18" charset="0"/>
                <a:cs typeface="Times New Roman" panose="02020603050405020304" pitchFamily="18" charset="0"/>
              </a:rPr>
              <a:t>4</a:t>
            </a:r>
            <a:endParaRPr lang="zh-TW" altLang="en-US">
              <a:latin typeface="Times New Roman" panose="02020603050405020304" pitchFamily="18" charset="0"/>
              <a:cs typeface="Times New Roman" panose="02020603050405020304" pitchFamily="18" charset="0"/>
            </a:endParaRPr>
          </a:p>
        </p:txBody>
      </p:sp>
      <p:cxnSp>
        <p:nvCxnSpPr>
          <p:cNvPr id="105" name="直線接點 104"/>
          <p:cNvCxnSpPr/>
          <p:nvPr/>
        </p:nvCxnSpPr>
        <p:spPr>
          <a:xfrm>
            <a:off x="7336227" y="4184562"/>
            <a:ext cx="0" cy="10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6" name="直線接點 105"/>
          <p:cNvCxnSpPr/>
          <p:nvPr/>
        </p:nvCxnSpPr>
        <p:spPr>
          <a:xfrm>
            <a:off x="9639147" y="4250249"/>
            <a:ext cx="0" cy="10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7" name="文字方塊 106"/>
          <p:cNvSpPr txBox="1"/>
          <p:nvPr/>
        </p:nvSpPr>
        <p:spPr>
          <a:xfrm>
            <a:off x="9085149" y="5395935"/>
            <a:ext cx="111440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EO Bragg</a:t>
            </a:r>
            <a:endParaRPr lang="zh-TW" altLang="en-US">
              <a:latin typeface="Times New Roman" panose="02020603050405020304" pitchFamily="18" charset="0"/>
              <a:cs typeface="Times New Roman" panose="02020603050405020304" pitchFamily="18" charset="0"/>
            </a:endParaRPr>
          </a:p>
        </p:txBody>
      </p:sp>
      <p:sp>
        <p:nvSpPr>
          <p:cNvPr id="108" name="文字方塊 107"/>
          <p:cNvSpPr txBox="1"/>
          <p:nvPr/>
        </p:nvSpPr>
        <p:spPr>
          <a:xfrm>
            <a:off x="9856839" y="4605583"/>
            <a:ext cx="505267"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M2</a:t>
            </a:r>
            <a:endParaRPr lang="zh-TW" altLang="en-US">
              <a:latin typeface="Times New Roman" panose="02020603050405020304" pitchFamily="18" charset="0"/>
              <a:cs typeface="Times New Roman" panose="02020603050405020304" pitchFamily="18" charset="0"/>
            </a:endParaRPr>
          </a:p>
        </p:txBody>
      </p:sp>
      <p:sp>
        <p:nvSpPr>
          <p:cNvPr id="109" name="文字方塊 108"/>
          <p:cNvSpPr txBox="1"/>
          <p:nvPr/>
        </p:nvSpPr>
        <p:spPr>
          <a:xfrm>
            <a:off x="10255175" y="4605583"/>
            <a:ext cx="505267"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M3</a:t>
            </a:r>
            <a:endParaRPr lang="zh-TW" altLang="en-US">
              <a:latin typeface="Times New Roman" panose="02020603050405020304" pitchFamily="18" charset="0"/>
              <a:cs typeface="Times New Roman" panose="02020603050405020304" pitchFamily="18" charset="0"/>
            </a:endParaRPr>
          </a:p>
        </p:txBody>
      </p:sp>
      <p:cxnSp>
        <p:nvCxnSpPr>
          <p:cNvPr id="110" name="直線接點 109"/>
          <p:cNvCxnSpPr/>
          <p:nvPr/>
        </p:nvCxnSpPr>
        <p:spPr>
          <a:xfrm>
            <a:off x="8514678" y="4434915"/>
            <a:ext cx="0" cy="54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1" name="文字方塊 110"/>
          <p:cNvSpPr txBox="1"/>
          <p:nvPr/>
        </p:nvSpPr>
        <p:spPr>
          <a:xfrm>
            <a:off x="8191512" y="4960241"/>
            <a:ext cx="646331"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OPO</a:t>
            </a:r>
            <a:endParaRPr lang="zh-TW" altLang="en-US">
              <a:latin typeface="Times New Roman" panose="02020603050405020304" pitchFamily="18" charset="0"/>
              <a:cs typeface="Times New Roman" panose="02020603050405020304" pitchFamily="18" charset="0"/>
            </a:endParaRPr>
          </a:p>
        </p:txBody>
      </p:sp>
      <p:sp>
        <p:nvSpPr>
          <p:cNvPr id="112" name="文字方塊 111"/>
          <p:cNvSpPr txBox="1"/>
          <p:nvPr/>
        </p:nvSpPr>
        <p:spPr>
          <a:xfrm>
            <a:off x="921792" y="5534561"/>
            <a:ext cx="7284781" cy="1323439"/>
          </a:xfrm>
          <a:prstGeom prst="rect">
            <a:avLst/>
          </a:prstGeom>
          <a:noFill/>
        </p:spPr>
        <p:txBody>
          <a:bodyPr wrap="square" rtlCol="0">
            <a:spAutoFit/>
          </a:bodyPr>
          <a:lstStyle/>
          <a:p>
            <a:r>
              <a:rPr lang="en-US" altLang="zh-TW" sz="1600">
                <a:latin typeface="Times New Roman" panose="02020603050405020304" pitchFamily="18" charset="0"/>
                <a:cs typeface="Times New Roman" panose="02020603050405020304" pitchFamily="18" charset="0"/>
              </a:rPr>
              <a:t>F1</a:t>
            </a:r>
            <a:r>
              <a:rPr lang="zh-TW" altLang="en-US" sz="1600">
                <a:latin typeface="Times New Roman" panose="02020603050405020304" pitchFamily="18" charset="0"/>
                <a:cs typeface="Times New Roman" panose="02020603050405020304" pitchFamily="18" charset="0"/>
              </a:rPr>
              <a:t>：</a:t>
            </a:r>
            <a:r>
              <a:rPr lang="en-US" altLang="zh-TW" sz="1600">
                <a:latin typeface="Times New Roman" panose="02020603050405020304" pitchFamily="18" charset="0"/>
                <a:cs typeface="Times New Roman" panose="02020603050405020304" pitchFamily="18" charset="0"/>
              </a:rPr>
              <a:t>f=25mm</a:t>
            </a:r>
          </a:p>
          <a:p>
            <a:r>
              <a:rPr lang="en-US" altLang="zh-TW" sz="1600">
                <a:latin typeface="Times New Roman" panose="02020603050405020304" pitchFamily="18" charset="0"/>
                <a:cs typeface="Times New Roman" panose="02020603050405020304" pitchFamily="18" charset="0"/>
              </a:rPr>
              <a:t>F2</a:t>
            </a:r>
            <a:r>
              <a:rPr lang="zh-TW" altLang="en-US" sz="1600">
                <a:latin typeface="Times New Roman" panose="02020603050405020304" pitchFamily="18" charset="0"/>
                <a:cs typeface="Times New Roman" panose="02020603050405020304" pitchFamily="18" charset="0"/>
              </a:rPr>
              <a:t>：</a:t>
            </a:r>
            <a:r>
              <a:rPr lang="en-US" altLang="zh-TW" sz="1600">
                <a:latin typeface="Times New Roman" panose="02020603050405020304" pitchFamily="18" charset="0"/>
                <a:cs typeface="Times New Roman" panose="02020603050405020304" pitchFamily="18" charset="0"/>
              </a:rPr>
              <a:t>f=12.8mm</a:t>
            </a:r>
          </a:p>
          <a:p>
            <a:r>
              <a:rPr lang="en-US" altLang="zh-TW" sz="1600">
                <a:latin typeface="Times New Roman" panose="02020603050405020304" pitchFamily="18" charset="0"/>
                <a:cs typeface="Times New Roman" panose="02020603050405020304" pitchFamily="18" charset="0"/>
              </a:rPr>
              <a:t>M1</a:t>
            </a:r>
            <a:r>
              <a:rPr lang="zh-TW" altLang="en-US" sz="1600">
                <a:latin typeface="Times New Roman" panose="02020603050405020304" pitchFamily="18" charset="0"/>
                <a:cs typeface="Times New Roman" panose="02020603050405020304" pitchFamily="18" charset="0"/>
              </a:rPr>
              <a:t>：</a:t>
            </a:r>
            <a:r>
              <a:rPr lang="en-US" altLang="zh-TW" sz="1600" err="1">
                <a:latin typeface="Times New Roman" panose="02020603050405020304" pitchFamily="18" charset="0"/>
                <a:cs typeface="Times New Roman" panose="02020603050405020304" pitchFamily="18" charset="0"/>
              </a:rPr>
              <a:t>pl</a:t>
            </a:r>
            <a:r>
              <a:rPr lang="en-US" altLang="zh-TW" sz="1600">
                <a:latin typeface="Times New Roman" panose="02020603050405020304" pitchFamily="18" charset="0"/>
                <a:cs typeface="Times New Roman" panose="02020603050405020304" pitchFamily="18" charset="0"/>
              </a:rPr>
              <a:t>/</a:t>
            </a:r>
            <a:r>
              <a:rPr lang="en-US" altLang="zh-TW" sz="1600" err="1">
                <a:latin typeface="Times New Roman" panose="02020603050405020304" pitchFamily="18" charset="0"/>
                <a:cs typeface="Times New Roman" panose="02020603050405020304" pitchFamily="18" charset="0"/>
              </a:rPr>
              <a:t>cv,ROC</a:t>
            </a:r>
            <a:r>
              <a:rPr lang="en-US" altLang="zh-TW" sz="1600">
                <a:latin typeface="Times New Roman" panose="02020603050405020304" pitchFamily="18" charset="0"/>
                <a:cs typeface="Times New Roman" panose="02020603050405020304" pitchFamily="18" charset="0"/>
              </a:rPr>
              <a:t>=150mm,T~93%@809nm,R~99%@1064nm,R~99%@1550nm</a:t>
            </a:r>
          </a:p>
          <a:p>
            <a:r>
              <a:rPr lang="en-US" altLang="zh-TW" sz="1600">
                <a:latin typeface="Times New Roman" panose="02020603050405020304" pitchFamily="18" charset="0"/>
                <a:cs typeface="Times New Roman" panose="02020603050405020304" pitchFamily="18" charset="0"/>
              </a:rPr>
              <a:t>M2</a:t>
            </a:r>
            <a:r>
              <a:rPr lang="zh-TW" altLang="en-US" sz="1600">
                <a:latin typeface="Times New Roman" panose="02020603050405020304" pitchFamily="18" charset="0"/>
                <a:cs typeface="Times New Roman" panose="02020603050405020304" pitchFamily="18" charset="0"/>
              </a:rPr>
              <a:t>：</a:t>
            </a:r>
            <a:r>
              <a:rPr lang="en-US" altLang="zh-TW" sz="1600" err="1">
                <a:latin typeface="Times New Roman" panose="02020603050405020304" pitchFamily="18" charset="0"/>
                <a:cs typeface="Times New Roman" panose="02020603050405020304" pitchFamily="18" charset="0"/>
              </a:rPr>
              <a:t>pl</a:t>
            </a:r>
            <a:r>
              <a:rPr lang="en-US" altLang="zh-TW" sz="1600">
                <a:latin typeface="Times New Roman" panose="02020603050405020304" pitchFamily="18" charset="0"/>
                <a:cs typeface="Times New Roman" panose="02020603050405020304" pitchFamily="18" charset="0"/>
              </a:rPr>
              <a:t>/pl,R~99%@1064nm,T~95%@1550nm</a:t>
            </a:r>
          </a:p>
          <a:p>
            <a:r>
              <a:rPr lang="en-US" altLang="zh-TW" sz="1600">
                <a:latin typeface="Times New Roman" panose="02020603050405020304" pitchFamily="18" charset="0"/>
                <a:cs typeface="Times New Roman" panose="02020603050405020304" pitchFamily="18" charset="0"/>
              </a:rPr>
              <a:t>M3</a:t>
            </a:r>
            <a:r>
              <a:rPr lang="zh-TW" altLang="en-US" sz="1600">
                <a:latin typeface="Times New Roman" panose="02020603050405020304" pitchFamily="18" charset="0"/>
                <a:cs typeface="Times New Roman" panose="02020603050405020304" pitchFamily="18" charset="0"/>
              </a:rPr>
              <a:t>：</a:t>
            </a:r>
            <a:r>
              <a:rPr lang="en-US" altLang="zh-TW" sz="1600" err="1">
                <a:latin typeface="Times New Roman" panose="02020603050405020304" pitchFamily="18" charset="0"/>
                <a:cs typeface="Times New Roman" panose="02020603050405020304" pitchFamily="18" charset="0"/>
              </a:rPr>
              <a:t>pl</a:t>
            </a:r>
            <a:r>
              <a:rPr lang="en-US" altLang="zh-TW" sz="1600">
                <a:latin typeface="Times New Roman" panose="02020603050405020304" pitchFamily="18" charset="0"/>
                <a:cs typeface="Times New Roman" panose="02020603050405020304" pitchFamily="18" charset="0"/>
              </a:rPr>
              <a:t>/</a:t>
            </a:r>
            <a:r>
              <a:rPr lang="en-US" altLang="zh-TW" sz="1600" err="1">
                <a:latin typeface="Times New Roman" panose="02020603050405020304" pitchFamily="18" charset="0"/>
                <a:cs typeface="Times New Roman" panose="02020603050405020304" pitchFamily="18" charset="0"/>
              </a:rPr>
              <a:t>pl</a:t>
            </a:r>
            <a:r>
              <a:rPr lang="en-US" altLang="zh-TW" sz="1600">
                <a:latin typeface="Times New Roman" panose="02020603050405020304" pitchFamily="18" charset="0"/>
                <a:cs typeface="Times New Roman" panose="02020603050405020304" pitchFamily="18" charset="0"/>
              </a:rPr>
              <a:t>, R~95%@1550nm</a:t>
            </a:r>
          </a:p>
        </p:txBody>
      </p:sp>
    </p:spTree>
    <p:extLst>
      <p:ext uri="{BB962C8B-B14F-4D97-AF65-F5344CB8AC3E}">
        <p14:creationId xmlns:p14="http://schemas.microsoft.com/office/powerpoint/2010/main" val="877316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2" name="矩形 1"/>
          <p:cNvSpPr/>
          <p:nvPr/>
        </p:nvSpPr>
        <p:spPr>
          <a:xfrm>
            <a:off x="1518740" y="5645484"/>
            <a:ext cx="3659976" cy="369332"/>
          </a:xfrm>
          <a:prstGeom prst="rect">
            <a:avLst/>
          </a:prstGeom>
        </p:spPr>
        <p:txBody>
          <a:bodyPr wrap="none">
            <a:spAutoFit/>
          </a:bodyPr>
          <a:lstStyle/>
          <a:p>
            <a:r>
              <a:rPr lang="zh-TW" altLang="en-US" kern="0" dirty="0">
                <a:latin typeface="Times New Roman" panose="02020603050405020304" pitchFamily="18" charset="0"/>
                <a:ea typeface="標楷體" panose="03000509000000000000" pitchFamily="65" charset="-120"/>
              </a:rPr>
              <a:t>中心波長：</a:t>
            </a:r>
            <a:r>
              <a:rPr lang="en-US" altLang="zh-TW" kern="0" dirty="0">
                <a:latin typeface="Times New Roman" panose="02020603050405020304" pitchFamily="18" charset="0"/>
                <a:ea typeface="標楷體" panose="03000509000000000000" pitchFamily="65" charset="-120"/>
              </a:rPr>
              <a:t>1540.11nm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1549.37nm</a:t>
            </a:r>
            <a:endParaRPr lang="zh-TW" altLang="en-US" dirty="0"/>
          </a:p>
        </p:txBody>
      </p:sp>
      <p:sp>
        <p:nvSpPr>
          <p:cNvPr id="6" name="矩形 5"/>
          <p:cNvSpPr/>
          <p:nvPr/>
        </p:nvSpPr>
        <p:spPr>
          <a:xfrm>
            <a:off x="1980405" y="6014816"/>
            <a:ext cx="3198311" cy="369332"/>
          </a:xfrm>
          <a:prstGeom prst="rect">
            <a:avLst/>
          </a:prstGeom>
        </p:spPr>
        <p:txBody>
          <a:bodyPr wrap="none">
            <a:spAutoFit/>
          </a:bodyPr>
          <a:lstStyle/>
          <a:p>
            <a:r>
              <a:rPr lang="zh-TW" altLang="en-US" kern="0" dirty="0">
                <a:latin typeface="Times New Roman" panose="02020603050405020304" pitchFamily="18" charset="0"/>
                <a:ea typeface="標楷體" panose="03000509000000000000" pitchFamily="65" charset="-120"/>
              </a:rPr>
              <a:t>頻寬：</a:t>
            </a:r>
            <a:r>
              <a:rPr lang="en-US" altLang="zh-TW" kern="0" dirty="0">
                <a:latin typeface="Times New Roman" panose="02020603050405020304" pitchFamily="18" charset="0"/>
                <a:ea typeface="標楷體" panose="03000509000000000000" pitchFamily="65" charset="-120"/>
              </a:rPr>
              <a:t>0.28972nm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0.31355nm</a:t>
            </a:r>
            <a:endParaRPr lang="zh-TW" altLang="en-US" dirty="0"/>
          </a:p>
        </p:txBody>
      </p:sp>
      <p:pic>
        <p:nvPicPr>
          <p:cNvPr id="5" name="圖片 4"/>
          <p:cNvPicPr>
            <a:picLocks noChangeAspect="1"/>
          </p:cNvPicPr>
          <p:nvPr/>
        </p:nvPicPr>
        <p:blipFill rotWithShape="1">
          <a:blip r:embed="rId3" cstate="print">
            <a:extLst>
              <a:ext uri="{28A0092B-C50C-407E-A947-70E740481C1C}">
                <a14:useLocalDpi xmlns:a14="http://schemas.microsoft.com/office/drawing/2010/main" val="0"/>
              </a:ext>
            </a:extLst>
          </a:blip>
          <a:srcRect l="6543" t="3370" r="4738" b="4176"/>
          <a:stretch/>
        </p:blipFill>
        <p:spPr>
          <a:xfrm>
            <a:off x="209456" y="1212517"/>
            <a:ext cx="6107211" cy="4432967"/>
          </a:xfrm>
          <a:prstGeom prst="rect">
            <a:avLst/>
          </a:prstGeom>
        </p:spPr>
      </p:pic>
      <p:sp>
        <p:nvSpPr>
          <p:cNvPr id="11" name="文字方塊 10"/>
          <p:cNvSpPr txBox="1"/>
          <p:nvPr/>
        </p:nvSpPr>
        <p:spPr>
          <a:xfrm>
            <a:off x="2416421" y="857364"/>
            <a:ext cx="232627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OPO</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spectrum</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fitting</a:t>
            </a:r>
            <a:endParaRPr lang="zh-TW" altLang="en-US" b="1" u="heavy" dirty="0">
              <a:latin typeface="Times New Roman" panose="02020603050405020304" pitchFamily="18" charset="0"/>
              <a:cs typeface="Times New Roman" panose="02020603050405020304" pitchFamily="18" charset="0"/>
            </a:endParaRPr>
          </a:p>
        </p:txBody>
      </p:sp>
      <p:sp>
        <p:nvSpPr>
          <p:cNvPr id="12" name="矩形 11"/>
          <p:cNvSpPr/>
          <p:nvPr/>
        </p:nvSpPr>
        <p:spPr>
          <a:xfrm>
            <a:off x="1525152" y="6384148"/>
            <a:ext cx="1620957" cy="369332"/>
          </a:xfrm>
          <a:prstGeom prst="rect">
            <a:avLst/>
          </a:prstGeom>
        </p:spPr>
        <p:txBody>
          <a:bodyPr wrap="none">
            <a:spAutoFit/>
          </a:bodyPr>
          <a:lstStyle/>
          <a:p>
            <a:r>
              <a:rPr lang="en-US" altLang="zh-TW" kern="0" dirty="0">
                <a:latin typeface="Times New Roman" panose="02020603050405020304" pitchFamily="18" charset="0"/>
                <a:ea typeface="標楷體" panose="03000509000000000000" pitchFamily="65" charset="-120"/>
              </a:rPr>
              <a:t>round trip</a:t>
            </a:r>
            <a:r>
              <a:rPr lang="zh-TW" altLang="en-US" kern="0" dirty="0">
                <a:latin typeface="Times New Roman" panose="02020603050405020304" pitchFamily="18" charset="0"/>
                <a:ea typeface="標楷體" panose="03000509000000000000" pitchFamily="65" charset="-120"/>
              </a:rPr>
              <a:t>：</a:t>
            </a:r>
            <a:r>
              <a:rPr lang="en-US" altLang="zh-TW" kern="0" dirty="0">
                <a:latin typeface="Times New Roman" panose="02020603050405020304" pitchFamily="18" charset="0"/>
                <a:ea typeface="標楷體" panose="03000509000000000000" pitchFamily="65" charset="-120"/>
              </a:rPr>
              <a:t>11</a:t>
            </a:r>
            <a:endParaRPr lang="zh-TW" altLang="en-US" dirty="0"/>
          </a:p>
        </p:txBody>
      </p:sp>
      <p:pic>
        <p:nvPicPr>
          <p:cNvPr id="13" name="圖片 12"/>
          <p:cNvPicPr>
            <a:picLocks noChangeAspect="1"/>
          </p:cNvPicPr>
          <p:nvPr/>
        </p:nvPicPr>
        <p:blipFill rotWithShape="1">
          <a:blip r:embed="rId4" cstate="print">
            <a:extLst>
              <a:ext uri="{28A0092B-C50C-407E-A947-70E740481C1C}">
                <a14:useLocalDpi xmlns:a14="http://schemas.microsoft.com/office/drawing/2010/main" val="0"/>
              </a:ext>
            </a:extLst>
          </a:blip>
          <a:srcRect l="6849" t="3222" r="11171" b="4469"/>
          <a:stretch/>
        </p:blipFill>
        <p:spPr>
          <a:xfrm>
            <a:off x="6316667" y="1212517"/>
            <a:ext cx="5643314" cy="4426015"/>
          </a:xfrm>
          <a:prstGeom prst="rect">
            <a:avLst/>
          </a:prstGeom>
        </p:spPr>
      </p:pic>
      <p:sp>
        <p:nvSpPr>
          <p:cNvPr id="14" name="文字方塊 13"/>
          <p:cNvSpPr txBox="1"/>
          <p:nvPr/>
        </p:nvSpPr>
        <p:spPr>
          <a:xfrm>
            <a:off x="8026481" y="857364"/>
            <a:ext cx="2018501"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OPG,OPO</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spectra</a:t>
            </a:r>
            <a:endParaRPr lang="zh-TW" altLang="en-US" b="1" u="heavy" dirty="0">
              <a:latin typeface="Times New Roman" panose="02020603050405020304" pitchFamily="18" charset="0"/>
              <a:cs typeface="Times New Roman" panose="02020603050405020304" pitchFamily="18" charset="0"/>
            </a:endParaRPr>
          </a:p>
        </p:txBody>
      </p:sp>
      <p:sp>
        <p:nvSpPr>
          <p:cNvPr id="15" name="矩形 14"/>
          <p:cNvSpPr/>
          <p:nvPr/>
        </p:nvSpPr>
        <p:spPr>
          <a:xfrm>
            <a:off x="7539168" y="5645484"/>
            <a:ext cx="3313728" cy="369332"/>
          </a:xfrm>
          <a:prstGeom prst="rect">
            <a:avLst/>
          </a:prstGeom>
        </p:spPr>
        <p:txBody>
          <a:bodyPr wrap="none">
            <a:spAutoFit/>
          </a:bodyPr>
          <a:lstStyle/>
          <a:p>
            <a:r>
              <a:rPr lang="zh-TW" altLang="en-US" kern="0" dirty="0">
                <a:latin typeface="Times New Roman" panose="02020603050405020304" pitchFamily="18" charset="0"/>
                <a:ea typeface="標楷體" panose="03000509000000000000" pitchFamily="65" charset="-120"/>
              </a:rPr>
              <a:t>頻寬：</a:t>
            </a:r>
            <a:r>
              <a:rPr lang="en-US" altLang="zh-TW" kern="0" dirty="0">
                <a:latin typeface="Times New Roman" panose="02020603050405020304" pitchFamily="18" charset="0"/>
                <a:ea typeface="標楷體" panose="03000509000000000000" pitchFamily="65" charset="-120"/>
              </a:rPr>
              <a:t>1.41958nm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1.44987nm</a:t>
            </a:r>
            <a:endParaRPr lang="zh-TW" altLang="en-US" dirty="0"/>
          </a:p>
        </p:txBody>
      </p:sp>
      <p:sp>
        <p:nvSpPr>
          <p:cNvPr id="16" name="矩形 15"/>
          <p:cNvSpPr/>
          <p:nvPr/>
        </p:nvSpPr>
        <p:spPr>
          <a:xfrm>
            <a:off x="7539168" y="5937872"/>
            <a:ext cx="3057247" cy="523220"/>
          </a:xfrm>
          <a:prstGeom prst="rect">
            <a:avLst/>
          </a:prstGeom>
        </p:spPr>
        <p:txBody>
          <a:bodyPr wrap="none">
            <a:spAutoFit/>
          </a:bodyPr>
          <a:lstStyle/>
          <a:p>
            <a:r>
              <a:rPr lang="zh-TW" altLang="en-US" sz="2800" kern="0" dirty="0">
                <a:solidFill>
                  <a:srgbClr val="FF0000"/>
                </a:solidFill>
                <a:latin typeface="Times New Roman" panose="02020603050405020304" pitchFamily="18" charset="0"/>
                <a:ea typeface="標楷體" panose="03000509000000000000" pitchFamily="65" charset="-120"/>
              </a:rPr>
              <a:t>窄化</a:t>
            </a:r>
            <a:r>
              <a:rPr lang="en-US" altLang="zh-TW" sz="2800" kern="0" dirty="0">
                <a:solidFill>
                  <a:srgbClr val="FF0000"/>
                </a:solidFill>
                <a:latin typeface="Times New Roman" panose="02020603050405020304" pitchFamily="18" charset="0"/>
                <a:ea typeface="標楷體" panose="03000509000000000000" pitchFamily="65" charset="-120"/>
              </a:rPr>
              <a:t>4.9</a:t>
            </a:r>
            <a:r>
              <a:rPr lang="zh-TW" altLang="en-US" sz="2800" kern="0" dirty="0">
                <a:solidFill>
                  <a:srgbClr val="FF0000"/>
                </a:solidFill>
                <a:latin typeface="Times New Roman" panose="02020603050405020304" pitchFamily="18" charset="0"/>
                <a:ea typeface="標楷體" panose="03000509000000000000" pitchFamily="65" charset="-120"/>
              </a:rPr>
              <a:t>倍與</a:t>
            </a:r>
            <a:r>
              <a:rPr lang="en-US" altLang="zh-TW" sz="2800" kern="0" dirty="0">
                <a:solidFill>
                  <a:srgbClr val="FF0000"/>
                </a:solidFill>
                <a:latin typeface="Times New Roman" panose="02020603050405020304" pitchFamily="18" charset="0"/>
                <a:ea typeface="標楷體" panose="03000509000000000000" pitchFamily="65" charset="-120"/>
              </a:rPr>
              <a:t>4.62</a:t>
            </a:r>
            <a:r>
              <a:rPr lang="zh-TW" altLang="en-US" sz="2800" kern="0" dirty="0">
                <a:solidFill>
                  <a:srgbClr val="FF0000"/>
                </a:solidFill>
                <a:latin typeface="Times New Roman" panose="02020603050405020304" pitchFamily="18" charset="0"/>
                <a:ea typeface="標楷體" panose="03000509000000000000" pitchFamily="65" charset="-120"/>
              </a:rPr>
              <a:t>倍</a:t>
            </a:r>
            <a:endParaRPr lang="zh-TW" altLang="en-US" sz="2800" dirty="0">
              <a:solidFill>
                <a:srgbClr val="FF0000"/>
              </a:solidFill>
            </a:endParaRPr>
          </a:p>
        </p:txBody>
      </p:sp>
      <mc:AlternateContent xmlns:mc="http://schemas.openxmlformats.org/markup-compatibility/2006" xmlns:a14="http://schemas.microsoft.com/office/drawing/2010/main">
        <mc:Choice Requires="a14">
          <p:sp>
            <p:nvSpPr>
              <p:cNvPr id="17" name="矩形 16"/>
              <p:cNvSpPr/>
              <p:nvPr/>
            </p:nvSpPr>
            <p:spPr>
              <a:xfrm>
                <a:off x="3146109" y="6384148"/>
                <a:ext cx="1636282"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n-US" altLang="zh-TW" i="1" kern="0" smtClean="0">
                              <a:latin typeface="Cambria Math" panose="02040503050406030204" pitchFamily="18" charset="0"/>
                              <a:ea typeface="標楷體" panose="03000509000000000000" pitchFamily="65" charset="-120"/>
                            </a:rPr>
                          </m:ctrlPr>
                        </m:radPr>
                        <m:deg/>
                        <m:e>
                          <m:r>
                            <a:rPr lang="en-US" altLang="zh-TW" i="1" kern="0">
                              <a:latin typeface="Cambria Math" panose="02040503050406030204" pitchFamily="18" charset="0"/>
                              <a:ea typeface="標楷體" panose="03000509000000000000" pitchFamily="65" charset="-120"/>
                            </a:rPr>
                            <m:t>1</m:t>
                          </m:r>
                          <m:r>
                            <a:rPr lang="en-US" altLang="zh-TW" i="1" kern="0" smtClean="0">
                              <a:latin typeface="Cambria Math" panose="02040503050406030204" pitchFamily="18" charset="0"/>
                              <a:ea typeface="標楷體" panose="03000509000000000000" pitchFamily="65" charset="-120"/>
                            </a:rPr>
                            <m:t>1</m:t>
                          </m:r>
                        </m:e>
                      </m:rad>
                      <m:r>
                        <a:rPr lang="en-US" altLang="zh-TW" i="1" kern="0">
                          <a:latin typeface="Cambria Math" panose="02040503050406030204" pitchFamily="18" charset="0"/>
                          <a:ea typeface="標楷體" panose="03000509000000000000" pitchFamily="65" charset="-120"/>
                        </a:rPr>
                        <m:t>=</m:t>
                      </m:r>
                      <m:r>
                        <a:rPr lang="en-US" altLang="zh-TW" i="1" kern="0" smtClean="0">
                          <a:latin typeface="Cambria Math" panose="02040503050406030204" pitchFamily="18" charset="0"/>
                          <a:ea typeface="標楷體" panose="03000509000000000000" pitchFamily="65" charset="-120"/>
                        </a:rPr>
                        <m:t>3</m:t>
                      </m:r>
                      <m:r>
                        <a:rPr lang="en-US" altLang="zh-TW" i="1" kern="0">
                          <a:latin typeface="Cambria Math" panose="02040503050406030204" pitchFamily="18" charset="0"/>
                          <a:ea typeface="標楷體" panose="03000509000000000000" pitchFamily="65" charset="-120"/>
                        </a:rPr>
                        <m:t>.</m:t>
                      </m:r>
                      <m:r>
                        <a:rPr lang="en-US" altLang="zh-TW" i="1" kern="0" smtClean="0">
                          <a:latin typeface="Cambria Math" panose="02040503050406030204" pitchFamily="18" charset="0"/>
                          <a:ea typeface="標楷體" panose="03000509000000000000" pitchFamily="65" charset="-120"/>
                        </a:rPr>
                        <m:t>3</m:t>
                      </m:r>
                      <m:r>
                        <a:rPr lang="en-US" altLang="zh-TW" i="1" kern="0">
                          <a:latin typeface="Cambria Math" panose="02040503050406030204" pitchFamily="18" charset="0"/>
                          <a:ea typeface="標楷體" panose="03000509000000000000" pitchFamily="65" charset="-120"/>
                        </a:rPr>
                        <m:t>1</m:t>
                      </m:r>
                      <m:r>
                        <a:rPr lang="en-US" altLang="zh-TW" i="1" kern="0" smtClean="0">
                          <a:latin typeface="Cambria Math" panose="02040503050406030204" pitchFamily="18" charset="0"/>
                          <a:ea typeface="標楷體" panose="03000509000000000000" pitchFamily="65" charset="-120"/>
                        </a:rPr>
                        <m:t>6</m:t>
                      </m:r>
                      <m:r>
                        <a:rPr lang="en-US" altLang="zh-TW" i="1" kern="0">
                          <a:latin typeface="Cambria Math" panose="02040503050406030204" pitchFamily="18" charset="0"/>
                          <a:ea typeface="標楷體" panose="03000509000000000000" pitchFamily="65" charset="-120"/>
                        </a:rPr>
                        <m:t>6</m:t>
                      </m:r>
                    </m:oMath>
                  </m:oMathPara>
                </a14:m>
                <a:endParaRPr lang="zh-TW"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146109" y="6384148"/>
                <a:ext cx="1636282" cy="401970"/>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60530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286601" y="5891056"/>
                <a:ext cx="4319901"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1)</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0.3644</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den>
                      </m:f>
                    </m:oMath>
                  </m:oMathPara>
                </a14:m>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+0.3</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89</m:t>
                      </m:r>
                      <m:r>
                        <a:rPr lang="en-US" altLang="zh-TW" kern="0">
                          <a:latin typeface="Cambria Math" panose="02040503050406030204" pitchFamily="18" charset="0"/>
                          <a:ea typeface="標楷體" panose="03000509000000000000" pitchFamily="65" charset="-120"/>
                          <a:cs typeface="Times New Roman" panose="02020603050405020304" pitchFamily="18" charset="0"/>
                        </a:rPr>
                        <m:t>9</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den>
                      </m:f>
                    </m:oMath>
                  </m:oMathPara>
                </a14:m>
                <a:endParaRPr lang="zh-TW"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286601" y="5891056"/>
                <a:ext cx="4319901" cy="646331"/>
              </a:xfrm>
              <a:prstGeom prst="rect">
                <a:avLst/>
              </a:prstGeom>
              <a:blipFill>
                <a:blip r:embed="rId3"/>
                <a:stretch>
                  <a:fillRect t="-66038" r="-7334" b="-100943"/>
                </a:stretch>
              </a:blipFill>
            </p:spPr>
            <p:txBody>
              <a:bodyPr/>
              <a:lstStyle/>
              <a:p>
                <a:r>
                  <a:rPr lang="zh-TW" altLang="en-US">
                    <a:noFill/>
                  </a:rPr>
                  <a:t> </a:t>
                </a:r>
              </a:p>
            </p:txBody>
          </p:sp>
        </mc:Fallback>
      </mc:AlternateContent>
      <p:sp>
        <p:nvSpPr>
          <p:cNvPr id="3" name="矩形 2"/>
          <p:cNvSpPr/>
          <p:nvPr/>
        </p:nvSpPr>
        <p:spPr>
          <a:xfrm>
            <a:off x="1615762" y="5444924"/>
            <a:ext cx="3659976" cy="369332"/>
          </a:xfrm>
          <a:prstGeom prst="rect">
            <a:avLst/>
          </a:prstGeom>
        </p:spPr>
        <p:txBody>
          <a:bodyPr wrap="none">
            <a:spAutoFit/>
          </a:bodyPr>
          <a:lstStyle/>
          <a:p>
            <a:r>
              <a:rPr lang="zh-TW" altLang="en-US" kern="0" dirty="0">
                <a:latin typeface="Times New Roman" panose="02020603050405020304" pitchFamily="18" charset="0"/>
                <a:ea typeface="標楷體" panose="03000509000000000000" pitchFamily="65" charset="-120"/>
              </a:rPr>
              <a:t>中心波長：</a:t>
            </a:r>
            <a:r>
              <a:rPr lang="en-US" altLang="zh-TW" kern="0" dirty="0">
                <a:latin typeface="Times New Roman" panose="02020603050405020304" pitchFamily="18" charset="0"/>
                <a:ea typeface="標楷體" panose="03000509000000000000" pitchFamily="65" charset="-120"/>
              </a:rPr>
              <a:t>1569.26nm</a:t>
            </a:r>
            <a:r>
              <a:rPr lang="zh-TW" altLang="zh-TW" kern="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kern="0" dirty="0">
                <a:latin typeface="Times New Roman" panose="02020603050405020304" pitchFamily="18" charset="0"/>
                <a:ea typeface="標楷體" panose="03000509000000000000" pitchFamily="65" charset="-120"/>
              </a:rPr>
              <a:t>1580.56nm</a:t>
            </a:r>
            <a:endParaRPr lang="zh-TW" altLang="en-US" dirty="0"/>
          </a:p>
        </p:txBody>
      </p:sp>
      <p:pic>
        <p:nvPicPr>
          <p:cNvPr id="4" name="圖片 3"/>
          <p:cNvPicPr>
            <a:picLocks noChangeAspect="1"/>
          </p:cNvPicPr>
          <p:nvPr/>
        </p:nvPicPr>
        <p:blipFill rotWithShape="1">
          <a:blip r:embed="rId4" cstate="print">
            <a:extLst>
              <a:ext uri="{28A0092B-C50C-407E-A947-70E740481C1C}">
                <a14:useLocalDpi xmlns:a14="http://schemas.microsoft.com/office/drawing/2010/main" val="0"/>
              </a:ext>
            </a:extLst>
          </a:blip>
          <a:srcRect l="2929" t="3137" r="10086" b="4314"/>
          <a:stretch/>
        </p:blipFill>
        <p:spPr>
          <a:xfrm>
            <a:off x="348269" y="1007402"/>
            <a:ext cx="5987847" cy="4437522"/>
          </a:xfrm>
          <a:prstGeom prst="rect">
            <a:avLst/>
          </a:prstGeom>
        </p:spPr>
      </p:pic>
      <p:pic>
        <p:nvPicPr>
          <p:cNvPr id="8" name="圖片 7"/>
          <p:cNvPicPr>
            <a:picLocks noChangeAspect="1"/>
          </p:cNvPicPr>
          <p:nvPr/>
        </p:nvPicPr>
        <p:blipFill rotWithShape="1">
          <a:blip r:embed="rId5" cstate="print">
            <a:extLst>
              <a:ext uri="{28A0092B-C50C-407E-A947-70E740481C1C}">
                <a14:useLocalDpi xmlns:a14="http://schemas.microsoft.com/office/drawing/2010/main" val="0"/>
              </a:ext>
            </a:extLst>
          </a:blip>
          <a:srcRect l="6543" t="11135" r="13518" b="4176"/>
          <a:stretch/>
        </p:blipFill>
        <p:spPr>
          <a:xfrm>
            <a:off x="6336116" y="1384272"/>
            <a:ext cx="5502816" cy="4060652"/>
          </a:xfrm>
          <a:prstGeom prst="rect">
            <a:avLst/>
          </a:prstGeom>
        </p:spPr>
      </p:pic>
      <p:sp>
        <p:nvSpPr>
          <p:cNvPr id="9" name="文字方塊 8"/>
          <p:cNvSpPr txBox="1"/>
          <p:nvPr/>
        </p:nvSpPr>
        <p:spPr>
          <a:xfrm>
            <a:off x="1188081" y="843819"/>
            <a:ext cx="4087657"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OPO</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spectra under temperature tuning</a:t>
            </a:r>
            <a:endParaRPr lang="zh-TW" altLang="en-US" b="1" u="heavy"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字方塊 9"/>
              <p:cNvSpPr txBox="1"/>
              <p:nvPr/>
            </p:nvSpPr>
            <p:spPr>
              <a:xfrm>
                <a:off x="7781206" y="843819"/>
                <a:ext cx="365035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Calculated OPO</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spectrum at 120</a:t>
                </a:r>
                <a14:m>
                  <m:oMath xmlns:m="http://schemas.openxmlformats.org/officeDocument/2006/math">
                    <m:r>
                      <a:rPr lang="en-US" altLang="zh-TW" b="1" i="1" u="heavy" kern="0">
                        <a:latin typeface="Cambria Math" panose="02040503050406030204" pitchFamily="18" charset="0"/>
                        <a:ea typeface="標楷體" panose="03000509000000000000" pitchFamily="65" charset="-120"/>
                        <a:cs typeface="Times New Roman" panose="02020603050405020304" pitchFamily="18" charset="0"/>
                      </a:rPr>
                      <m:t>℃</m:t>
                    </m:r>
                  </m:oMath>
                </a14:m>
                <a:endParaRPr lang="zh-TW" altLang="en-US" b="1" u="heavy" dirty="0">
                  <a:latin typeface="Times New Roman" panose="02020603050405020304" pitchFamily="18" charset="0"/>
                  <a:cs typeface="Times New Roman" panose="02020603050405020304" pitchFamily="18" charset="0"/>
                </a:endParaRPr>
              </a:p>
            </p:txBody>
          </p:sp>
        </mc:Choice>
        <mc:Fallback xmlns="">
          <p:sp>
            <p:nvSpPr>
              <p:cNvPr id="10" name="文字方塊 9"/>
              <p:cNvSpPr txBox="1">
                <a:spLocks noRot="1" noChangeAspect="1" noMove="1" noResize="1" noEditPoints="1" noAdjustHandles="1" noChangeArrowheads="1" noChangeShapeType="1" noTextEdit="1"/>
              </p:cNvSpPr>
              <p:nvPr/>
            </p:nvSpPr>
            <p:spPr>
              <a:xfrm>
                <a:off x="7781206" y="843819"/>
                <a:ext cx="3650358" cy="369332"/>
              </a:xfrm>
              <a:prstGeom prst="rect">
                <a:avLst/>
              </a:prstGeom>
              <a:blipFill>
                <a:blip r:embed="rId6"/>
                <a:stretch>
                  <a:fillRect l="-1336" t="-8197" b="-24590"/>
                </a:stretch>
              </a:blipFill>
            </p:spPr>
            <p:txBody>
              <a:bodyPr/>
              <a:lstStyle/>
              <a:p>
                <a:r>
                  <a:rPr lang="zh-TW" altLang="en-US">
                    <a:noFill/>
                  </a:rPr>
                  <a:t> </a:t>
                </a:r>
              </a:p>
            </p:txBody>
          </p:sp>
        </mc:Fallback>
      </mc:AlternateContent>
      <p:sp>
        <p:nvSpPr>
          <p:cNvPr id="11" name="文字方塊 10"/>
          <p:cNvSpPr txBox="1"/>
          <p:nvPr/>
        </p:nvSpPr>
        <p:spPr>
          <a:xfrm>
            <a:off x="8123446" y="5814111"/>
            <a:ext cx="2504212" cy="40011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relative intensity~32%</a:t>
            </a:r>
            <a:endParaRPr lang="zh-TW" altLang="en-US" sz="2000" dirty="0">
              <a:latin typeface="Times New Roman" panose="02020603050405020304" pitchFamily="18" charset="0"/>
              <a:cs typeface="Times New Roman" panose="02020603050405020304" pitchFamily="18" charset="0"/>
            </a:endParaRPr>
          </a:p>
        </p:txBody>
      </p:sp>
      <p:sp>
        <p:nvSpPr>
          <p:cNvPr id="12" name="文字方塊 11"/>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Tree>
    <p:extLst>
      <p:ext uri="{BB962C8B-B14F-4D97-AF65-F5344CB8AC3E}">
        <p14:creationId xmlns:p14="http://schemas.microsoft.com/office/powerpoint/2010/main" val="1600509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94451" y="6036519"/>
            <a:ext cx="3335400" cy="461665"/>
          </a:xfrm>
          <a:prstGeom prst="rect">
            <a:avLst/>
          </a:prstGeom>
        </p:spPr>
        <p:txBody>
          <a:bodyPr wrap="none">
            <a:spAutoFit/>
          </a:bodyPr>
          <a:lstStyle/>
          <a:p>
            <a:r>
              <a:rPr lang="en-US" altLang="zh-TW" sz="2400">
                <a:solidFill>
                  <a:srgbClr val="FF0000"/>
                </a:solidFill>
                <a:latin typeface="Times New Roman" panose="02020603050405020304" pitchFamily="18" charset="0"/>
                <a:cs typeface="Times New Roman" panose="02020603050405020304" pitchFamily="18" charset="0"/>
              </a:rPr>
              <a:t>Photorefractive effect ???</a:t>
            </a:r>
          </a:p>
        </p:txBody>
      </p:sp>
      <p:sp>
        <p:nvSpPr>
          <p:cNvPr id="4" name="矩形 3"/>
          <p:cNvSpPr/>
          <p:nvPr/>
        </p:nvSpPr>
        <p:spPr>
          <a:xfrm>
            <a:off x="1018970" y="4334106"/>
            <a:ext cx="2156360" cy="461665"/>
          </a:xfrm>
          <a:prstGeom prst="rect">
            <a:avLst/>
          </a:prstGeom>
        </p:spPr>
        <p:txBody>
          <a:bodyPr wrap="none">
            <a:spAutoFit/>
          </a:bodyPr>
          <a:lstStyle/>
          <a:p>
            <a:r>
              <a:rPr lang="en-US" altLang="zh-TW" sz="2400" u="heavy">
                <a:latin typeface="Times New Roman" panose="02020603050405020304" pitchFamily="18" charset="0"/>
                <a:cs typeface="Times New Roman" panose="02020603050405020304" pitchFamily="18" charset="0"/>
              </a:rPr>
              <a:t>Beam distortion</a:t>
            </a:r>
          </a:p>
        </p:txBody>
      </p:sp>
      <p:sp>
        <p:nvSpPr>
          <p:cNvPr id="5" name="矩形 4"/>
          <p:cNvSpPr/>
          <p:nvPr/>
        </p:nvSpPr>
        <p:spPr>
          <a:xfrm>
            <a:off x="8621488" y="4841562"/>
            <a:ext cx="2415277" cy="461665"/>
          </a:xfrm>
          <a:prstGeom prst="rect">
            <a:avLst/>
          </a:prstGeom>
        </p:spPr>
        <p:txBody>
          <a:bodyPr wrap="none">
            <a:spAutoFit/>
          </a:bodyPr>
          <a:lstStyle/>
          <a:p>
            <a:r>
              <a:rPr lang="en-US" altLang="zh-TW" sz="2400" u="heavy">
                <a:latin typeface="Times New Roman" panose="02020603050405020304" pitchFamily="18" charset="0"/>
                <a:cs typeface="Times New Roman" panose="02020603050405020304" pitchFamily="18" charset="0"/>
              </a:rPr>
              <a:t>Space charge drift</a:t>
            </a:r>
          </a:p>
        </p:txBody>
      </p:sp>
      <p:cxnSp>
        <p:nvCxnSpPr>
          <p:cNvPr id="7" name="直線單箭頭接點 6"/>
          <p:cNvCxnSpPr/>
          <p:nvPr/>
        </p:nvCxnSpPr>
        <p:spPr>
          <a:xfrm>
            <a:off x="3622615" y="4334106"/>
            <a:ext cx="2352387" cy="16301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a:stCxn id="11" idx="2"/>
          </p:cNvCxnSpPr>
          <p:nvPr/>
        </p:nvCxnSpPr>
        <p:spPr>
          <a:xfrm flipH="1">
            <a:off x="6343023" y="4847784"/>
            <a:ext cx="1717955" cy="11165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0" y="87928"/>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 problem</a:t>
            </a:r>
            <a:endParaRPr lang="zh-TW" altLang="en-US" sz="3200"/>
          </a:p>
        </p:txBody>
      </p:sp>
      <p:sp>
        <p:nvSpPr>
          <p:cNvPr id="2" name="文字方塊 1"/>
          <p:cNvSpPr txBox="1"/>
          <p:nvPr/>
        </p:nvSpPr>
        <p:spPr>
          <a:xfrm>
            <a:off x="141112" y="1378412"/>
            <a:ext cx="12062918" cy="461665"/>
          </a:xfrm>
          <a:prstGeom prst="rect">
            <a:avLst/>
          </a:prstGeom>
          <a:noFill/>
        </p:spPr>
        <p:txBody>
          <a:bodyPr wrap="non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When an electric field along z-axis is applied, the signal intensity gradually decreased over time.</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grpSp>
        <p:nvGrpSpPr>
          <p:cNvPr id="10" name="群組 9"/>
          <p:cNvGrpSpPr>
            <a:grpSpLocks noChangeAspect="1"/>
          </p:cNvGrpSpPr>
          <p:nvPr/>
        </p:nvGrpSpPr>
        <p:grpSpPr>
          <a:xfrm>
            <a:off x="5975002" y="1911153"/>
            <a:ext cx="4171951" cy="2936631"/>
            <a:chOff x="2101362" y="659422"/>
            <a:chExt cx="8343900" cy="5873263"/>
          </a:xfrm>
        </p:grpSpPr>
        <p:pic>
          <p:nvPicPr>
            <p:cNvPr id="11" name="圖片 10"/>
            <p:cNvPicPr>
              <a:picLocks noChangeAspect="1"/>
            </p:cNvPicPr>
            <p:nvPr/>
          </p:nvPicPr>
          <p:blipFill rotWithShape="1">
            <a:blip r:embed="rId3" cstate="print">
              <a:extLst>
                <a:ext uri="{28A0092B-C50C-407E-A947-70E740481C1C}">
                  <a14:useLocalDpi xmlns:a14="http://schemas.microsoft.com/office/drawing/2010/main" val="0"/>
                </a:ext>
              </a:extLst>
            </a:blip>
            <a:srcRect l="8811" t="9615" r="5152" b="4744"/>
            <a:stretch/>
          </p:blipFill>
          <p:spPr>
            <a:xfrm>
              <a:off x="2101362" y="659422"/>
              <a:ext cx="8343900" cy="5873263"/>
            </a:xfrm>
            <a:prstGeom prst="rect">
              <a:avLst/>
            </a:prstGeom>
          </p:spPr>
        </p:pic>
        <p:cxnSp>
          <p:nvCxnSpPr>
            <p:cNvPr id="12" name="直線接點 11"/>
            <p:cNvCxnSpPr/>
            <p:nvPr/>
          </p:nvCxnSpPr>
          <p:spPr>
            <a:xfrm flipV="1">
              <a:off x="2981584" y="1600200"/>
              <a:ext cx="4913908" cy="4092231"/>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線接點 14"/>
            <p:cNvCxnSpPr/>
            <p:nvPr/>
          </p:nvCxnSpPr>
          <p:spPr>
            <a:xfrm flipH="1" flipV="1">
              <a:off x="2981584" y="791308"/>
              <a:ext cx="4412748" cy="4901123"/>
            </a:xfrm>
            <a:prstGeom prst="line">
              <a:avLst/>
            </a:prstGeom>
            <a:ln w="19050">
              <a:solidFill>
                <a:srgbClr val="0012C0"/>
              </a:solidFill>
            </a:ln>
          </p:spPr>
          <p:style>
            <a:lnRef idx="1">
              <a:schemeClr val="accent1"/>
            </a:lnRef>
            <a:fillRef idx="0">
              <a:schemeClr val="accent1"/>
            </a:fillRef>
            <a:effectRef idx="0">
              <a:schemeClr val="accent1"/>
            </a:effectRef>
            <a:fontRef idx="minor">
              <a:schemeClr val="tx1"/>
            </a:fontRef>
          </p:style>
        </p:cxnSp>
      </p:grpSp>
      <p:grpSp>
        <p:nvGrpSpPr>
          <p:cNvPr id="19" name="群組 18"/>
          <p:cNvGrpSpPr/>
          <p:nvPr/>
        </p:nvGrpSpPr>
        <p:grpSpPr>
          <a:xfrm>
            <a:off x="1146606" y="2816239"/>
            <a:ext cx="1080000" cy="1080000"/>
            <a:chOff x="5179925" y="1581360"/>
            <a:chExt cx="1080000" cy="1080000"/>
          </a:xfrm>
        </p:grpSpPr>
        <p:sp>
          <p:nvSpPr>
            <p:cNvPr id="20" name="橢圓 19"/>
            <p:cNvSpPr/>
            <p:nvPr/>
          </p:nvSpPr>
          <p:spPr>
            <a:xfrm>
              <a:off x="5179925" y="1581360"/>
              <a:ext cx="1080000" cy="1080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5359925" y="1761360"/>
              <a:ext cx="720000" cy="72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5449925" y="1851360"/>
              <a:ext cx="540000" cy="540000"/>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5539925" y="1941360"/>
              <a:ext cx="360000" cy="36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4" name="向右箭號 23"/>
          <p:cNvSpPr/>
          <p:nvPr/>
        </p:nvSpPr>
        <p:spPr>
          <a:xfrm>
            <a:off x="2396717" y="3193854"/>
            <a:ext cx="1225898" cy="3247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5" name="群組 24"/>
          <p:cNvGrpSpPr/>
          <p:nvPr/>
        </p:nvGrpSpPr>
        <p:grpSpPr>
          <a:xfrm>
            <a:off x="3792726" y="2636238"/>
            <a:ext cx="1080000" cy="1440000"/>
            <a:chOff x="5179925" y="1581360"/>
            <a:chExt cx="1080000" cy="1080000"/>
          </a:xfrm>
        </p:grpSpPr>
        <p:sp>
          <p:nvSpPr>
            <p:cNvPr id="26" name="橢圓 25"/>
            <p:cNvSpPr/>
            <p:nvPr/>
          </p:nvSpPr>
          <p:spPr>
            <a:xfrm>
              <a:off x="5179925" y="1581360"/>
              <a:ext cx="1080000" cy="1080000"/>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5359925" y="1761360"/>
              <a:ext cx="720000" cy="72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5449925" y="1851360"/>
              <a:ext cx="540000" cy="540000"/>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5539925" y="1941360"/>
              <a:ext cx="360000" cy="360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223172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rotWithShape="1">
          <a:blip r:embed="rId3">
            <a:extLst>
              <a:ext uri="{28A0092B-C50C-407E-A947-70E740481C1C}">
                <a14:useLocalDpi xmlns:a14="http://schemas.microsoft.com/office/drawing/2010/main" val="0"/>
              </a:ext>
            </a:extLst>
          </a:blip>
          <a:srcRect l="4719" t="15080" r="8572" b="17586"/>
          <a:stretch/>
        </p:blipFill>
        <p:spPr>
          <a:xfrm>
            <a:off x="2131695" y="1120140"/>
            <a:ext cx="7928611" cy="4617721"/>
          </a:xfrm>
          <a:prstGeom prst="rect">
            <a:avLst/>
          </a:prstGeom>
        </p:spPr>
      </p:pic>
      <p:sp>
        <p:nvSpPr>
          <p:cNvPr id="4" name="文字方塊 3"/>
          <p:cNvSpPr txBox="1"/>
          <p:nvPr/>
        </p:nvSpPr>
        <p:spPr>
          <a:xfrm>
            <a:off x="0" y="87928"/>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 problem</a:t>
            </a:r>
            <a:endParaRPr lang="zh-TW" altLang="en-US" sz="3200"/>
          </a:p>
        </p:txBody>
      </p:sp>
    </p:spTree>
    <p:extLst>
      <p:ext uri="{BB962C8B-B14F-4D97-AF65-F5344CB8AC3E}">
        <p14:creationId xmlns:p14="http://schemas.microsoft.com/office/powerpoint/2010/main" val="1397434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4" name="矩形 3"/>
          <p:cNvSpPr/>
          <p:nvPr/>
        </p:nvSpPr>
        <p:spPr>
          <a:xfrm>
            <a:off x="475184" y="861625"/>
            <a:ext cx="2873544"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Crystal temperature : 40℃</a:t>
            </a:r>
          </a:p>
        </p:txBody>
      </p:sp>
      <p:sp>
        <p:nvSpPr>
          <p:cNvPr id="5" name="文字方塊 4"/>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sp>
        <p:nvSpPr>
          <p:cNvPr id="8" name="文字方塊 7"/>
          <p:cNvSpPr txBox="1"/>
          <p:nvPr/>
        </p:nvSpPr>
        <p:spPr>
          <a:xfrm>
            <a:off x="5824086" y="861625"/>
            <a:ext cx="1665841"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OPG</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spectrum</a:t>
            </a:r>
            <a:endParaRPr lang="zh-TW" altLang="en-US" b="1" u="heavy"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rotWithShape="1">
          <a:blip r:embed="rId3" cstate="print">
            <a:extLst>
              <a:ext uri="{28A0092B-C50C-407E-A947-70E740481C1C}">
                <a14:useLocalDpi xmlns:a14="http://schemas.microsoft.com/office/drawing/2010/main" val="0"/>
              </a:ext>
            </a:extLst>
          </a:blip>
          <a:srcRect l="3392" t="3232" r="6228" b="4558"/>
          <a:stretch/>
        </p:blipFill>
        <p:spPr>
          <a:xfrm>
            <a:off x="344559" y="1399229"/>
            <a:ext cx="6129495" cy="4421275"/>
          </a:xfrm>
          <a:prstGeom prst="rect">
            <a:avLst/>
          </a:prstGeom>
        </p:spPr>
      </p:pic>
      <p:pic>
        <p:nvPicPr>
          <p:cNvPr id="9" name="圖片 8"/>
          <p:cNvPicPr>
            <a:picLocks noChangeAspect="1"/>
          </p:cNvPicPr>
          <p:nvPr/>
        </p:nvPicPr>
        <p:blipFill rotWithShape="1">
          <a:blip r:embed="rId4" cstate="print">
            <a:extLst>
              <a:ext uri="{28A0092B-C50C-407E-A947-70E740481C1C}">
                <a14:useLocalDpi xmlns:a14="http://schemas.microsoft.com/office/drawing/2010/main" val="0"/>
              </a:ext>
            </a:extLst>
          </a:blip>
          <a:srcRect l="7551" t="10604" r="13181" b="4941"/>
          <a:stretch/>
        </p:blipFill>
        <p:spPr>
          <a:xfrm>
            <a:off x="6474054" y="1585123"/>
            <a:ext cx="5375869" cy="4049486"/>
          </a:xfrm>
          <a:prstGeom prst="rect">
            <a:avLst/>
          </a:prstGeom>
        </p:spPr>
      </p:pic>
      <mc:AlternateContent xmlns:mc="http://schemas.openxmlformats.org/markup-compatibility/2006" xmlns:a14="http://schemas.microsoft.com/office/drawing/2010/main">
        <mc:Choice Requires="a14">
          <p:sp>
            <p:nvSpPr>
              <p:cNvPr id="10" name="矩形 9"/>
              <p:cNvSpPr/>
              <p:nvPr/>
            </p:nvSpPr>
            <p:spPr>
              <a:xfrm>
                <a:off x="6828561" y="5820503"/>
                <a:ext cx="4886659" cy="646331"/>
              </a:xfrm>
              <a:prstGeom prst="rect">
                <a:avLst/>
              </a:prstGeom>
            </p:spPr>
            <p:txBody>
              <a:bodyPr wrap="none">
                <a:spAutoFit/>
              </a:bodyPr>
              <a:lstStyle/>
              <a:p>
                <a:r>
                  <a:rPr lang="zh-TW" altLang="en-US" b="0" kern="0" dirty="0">
                    <a:ea typeface="標楷體" panose="03000509000000000000" pitchFamily="65" charset="-120"/>
                    <a:cs typeface="Times New Roman" panose="02020603050405020304" pitchFamily="18" charset="0"/>
                  </a:rPr>
                  <a:t> </a:t>
                </a:r>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4</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3</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6</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2</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𝑚𝑚</m:t>
                        </m:r>
                      </m:den>
                    </m:f>
                  </m:oMath>
                </a14:m>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kern="0" dirty="0">
                    <a:ea typeface="標楷體" panose="03000509000000000000" pitchFamily="65" charset="-120"/>
                    <a:cs typeface="Times New Roman" panose="02020603050405020304" pitchFamily="18" charset="0"/>
                  </a:rPr>
                  <a:t> </a:t>
                </a:r>
                <a14:m>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7</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𝑚𝑚</m:t>
                        </m:r>
                      </m:den>
                    </m:f>
                  </m:oMath>
                </a14:m>
                <a:endParaRPr lang="zh-TW"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6828561" y="5820503"/>
                <a:ext cx="4886659" cy="646331"/>
              </a:xfrm>
              <a:prstGeom prst="rect">
                <a:avLst/>
              </a:prstGeom>
              <a:blipFill>
                <a:blip r:embed="rId5"/>
                <a:stretch>
                  <a:fillRect t="-66981" b="-1009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87104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p:cNvPicPr>
            <a:picLocks noChangeAspect="1"/>
          </p:cNvPicPr>
          <p:nvPr/>
        </p:nvPicPr>
        <p:blipFill rotWithShape="1">
          <a:blip r:embed="rId3" cstate="print">
            <a:extLst>
              <a:ext uri="{28A0092B-C50C-407E-A947-70E740481C1C}">
                <a14:useLocalDpi xmlns:a14="http://schemas.microsoft.com/office/drawing/2010/main" val="0"/>
              </a:ext>
            </a:extLst>
          </a:blip>
          <a:srcRect l="6913" t="11154" r="13136" b="4743"/>
          <a:stretch/>
        </p:blipFill>
        <p:spPr>
          <a:xfrm>
            <a:off x="6304189" y="1816829"/>
            <a:ext cx="5503642" cy="4032554"/>
          </a:xfrm>
          <a:prstGeom prst="rect">
            <a:avLst/>
          </a:prstGeom>
        </p:spPr>
      </p:pic>
      <p:sp>
        <p:nvSpPr>
          <p:cNvPr id="2" name="文字方塊 1"/>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5" name="文字方塊 4"/>
          <p:cNvSpPr txBox="1"/>
          <p:nvPr/>
        </p:nvSpPr>
        <p:spPr>
          <a:xfrm>
            <a:off x="2479501" y="1026455"/>
            <a:ext cx="1822935" cy="461665"/>
          </a:xfrm>
          <a:prstGeom prst="rect">
            <a:avLst/>
          </a:prstGeom>
          <a:noFill/>
        </p:spPr>
        <p:txBody>
          <a:bodyPr wrap="none" rtlCol="0">
            <a:spAutoFit/>
          </a:bodyPr>
          <a:lstStyle/>
          <a:p>
            <a:r>
              <a:rPr lang="en-US" altLang="zh-TW" sz="2400" u="heavy" dirty="0">
                <a:latin typeface="Times New Roman" panose="02020603050405020304" pitchFamily="18" charset="0"/>
                <a:cs typeface="Times New Roman" panose="02020603050405020304" pitchFamily="18" charset="0"/>
              </a:rPr>
              <a:t>measurement</a:t>
            </a:r>
            <a:endParaRPr lang="zh-TW" altLang="en-US" sz="2400" u="heavy"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p:cNvSpPr/>
              <p:nvPr/>
            </p:nvSpPr>
            <p:spPr>
              <a:xfrm>
                <a:off x="6940495" y="5911398"/>
                <a:ext cx="4506747"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4</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8</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𝑚𝑚</m:t>
                          </m:r>
                        </m:den>
                      </m:f>
                    </m:oMath>
                  </m:oMathPara>
                </a14:m>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3</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𝑚𝑚</m:t>
                          </m:r>
                        </m:den>
                      </m:f>
                    </m:oMath>
                  </m:oMathPara>
                </a14:m>
                <a:endParaRPr lang="zh-TW"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6940495" y="5911398"/>
                <a:ext cx="4506747" cy="646331"/>
              </a:xfrm>
              <a:prstGeom prst="rect">
                <a:avLst/>
              </a:prstGeom>
              <a:blipFill>
                <a:blip r:embed="rId4"/>
                <a:stretch>
                  <a:fillRect t="-66038" b="-100943"/>
                </a:stretch>
              </a:blipFill>
            </p:spPr>
            <p:txBody>
              <a:bodyPr/>
              <a:lstStyle/>
              <a:p>
                <a:r>
                  <a:rPr lang="zh-TW" altLang="en-US">
                    <a:noFill/>
                  </a:rPr>
                  <a:t> </a:t>
                </a:r>
              </a:p>
            </p:txBody>
          </p:sp>
        </mc:Fallback>
      </mc:AlternateContent>
      <p:pic>
        <p:nvPicPr>
          <p:cNvPr id="3" name="圖片 2"/>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1336438"/>
            <a:ext cx="6781939" cy="4794781"/>
          </a:xfrm>
          <a:prstGeom prst="rect">
            <a:avLst/>
          </a:prstGeom>
        </p:spPr>
      </p:pic>
      <p:sp>
        <p:nvSpPr>
          <p:cNvPr id="16" name="矩形 15"/>
          <p:cNvSpPr/>
          <p:nvPr/>
        </p:nvSpPr>
        <p:spPr>
          <a:xfrm>
            <a:off x="475184" y="861625"/>
            <a:ext cx="2873544"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Crystal temperature : 40℃</a:t>
            </a:r>
          </a:p>
        </p:txBody>
      </p:sp>
      <p:sp>
        <p:nvSpPr>
          <p:cNvPr id="18" name="文字方塊 17"/>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sp>
        <p:nvSpPr>
          <p:cNvPr id="19" name="文字方塊 18"/>
          <p:cNvSpPr txBox="1"/>
          <p:nvPr/>
        </p:nvSpPr>
        <p:spPr>
          <a:xfrm>
            <a:off x="5824086" y="861625"/>
            <a:ext cx="1665841"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OPO</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spectrum</a:t>
            </a:r>
            <a:endParaRPr lang="zh-TW" altLang="en-US" b="1" u="heav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538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16" name="矩形 15"/>
          <p:cNvSpPr/>
          <p:nvPr/>
        </p:nvSpPr>
        <p:spPr>
          <a:xfrm>
            <a:off x="475184" y="861625"/>
            <a:ext cx="2873544"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Crystal temperature : 40℃</a:t>
            </a:r>
          </a:p>
        </p:txBody>
      </p:sp>
      <p:sp>
        <p:nvSpPr>
          <p:cNvPr id="17" name="文字方塊 16"/>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rotWithShape="1">
          <a:blip r:embed="rId3" cstate="print">
            <a:extLst>
              <a:ext uri="{28A0092B-C50C-407E-A947-70E740481C1C}">
                <a14:useLocalDpi xmlns:a14="http://schemas.microsoft.com/office/drawing/2010/main" val="0"/>
              </a:ext>
            </a:extLst>
          </a:blip>
          <a:srcRect l="6812" t="9534" r="13328" b="4753"/>
          <a:stretch/>
        </p:blipFill>
        <p:spPr>
          <a:xfrm>
            <a:off x="603898" y="1374112"/>
            <a:ext cx="5416061" cy="4109776"/>
          </a:xfrm>
          <a:prstGeom prst="rect">
            <a:avLst/>
          </a:prstGeom>
        </p:spPr>
      </p:pic>
      <p:pic>
        <p:nvPicPr>
          <p:cNvPr id="7" name="圖片 6"/>
          <p:cNvPicPr>
            <a:picLocks noChangeAspect="1"/>
          </p:cNvPicPr>
          <p:nvPr/>
        </p:nvPicPr>
        <p:blipFill rotWithShape="1">
          <a:blip r:embed="rId4" cstate="print">
            <a:extLst>
              <a:ext uri="{28A0092B-C50C-407E-A947-70E740481C1C}">
                <a14:useLocalDpi xmlns:a14="http://schemas.microsoft.com/office/drawing/2010/main" val="0"/>
              </a:ext>
            </a:extLst>
          </a:blip>
          <a:srcRect l="7119" t="9969" r="11095" b="5156"/>
          <a:stretch/>
        </p:blipFill>
        <p:spPr>
          <a:xfrm>
            <a:off x="6019959" y="1394209"/>
            <a:ext cx="5546691" cy="4069582"/>
          </a:xfrm>
          <a:prstGeom prst="rect">
            <a:avLst/>
          </a:prstGeom>
        </p:spPr>
      </p:pic>
      <p:sp>
        <p:nvSpPr>
          <p:cNvPr id="8" name="文字方塊 7"/>
          <p:cNvSpPr txBox="1"/>
          <p:nvPr/>
        </p:nvSpPr>
        <p:spPr>
          <a:xfrm>
            <a:off x="5792026" y="858700"/>
            <a:ext cx="232627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OPO</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spectrum</a:t>
            </a:r>
            <a:r>
              <a:rPr lang="zh-TW" altLang="en-US" b="1" u="heavy" dirty="0">
                <a:latin typeface="Times New Roman" panose="02020603050405020304" pitchFamily="18" charset="0"/>
                <a:cs typeface="Times New Roman" panose="02020603050405020304" pitchFamily="18" charset="0"/>
              </a:rPr>
              <a:t> </a:t>
            </a:r>
            <a:r>
              <a:rPr lang="en-US" altLang="zh-TW" b="1" u="heavy" dirty="0">
                <a:latin typeface="Times New Roman" panose="02020603050405020304" pitchFamily="18" charset="0"/>
                <a:cs typeface="Times New Roman" panose="02020603050405020304" pitchFamily="18" charset="0"/>
              </a:rPr>
              <a:t>fitting</a:t>
            </a:r>
            <a:endParaRPr lang="zh-TW" altLang="en-US" b="1" u="heav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573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5184" y="861625"/>
            <a:ext cx="2873544" cy="369332"/>
          </a:xfrm>
          <a:prstGeom prst="rect">
            <a:avLst/>
          </a:prstGeom>
        </p:spPr>
        <p:txBody>
          <a:bodyPr wrap="none">
            <a:spAutoFit/>
          </a:bodyPr>
          <a:lstStyle/>
          <a:p>
            <a:pPr algn="ctr"/>
            <a:r>
              <a:rPr lang="en-US" altLang="zh-TW" b="1" u="heavy">
                <a:latin typeface="Times New Roman" pitchFamily="18" charset="0"/>
                <a:cs typeface="Times New Roman" pitchFamily="18" charset="0"/>
              </a:rPr>
              <a:t>Crystal temperature : 60℃</a:t>
            </a:r>
          </a:p>
        </p:txBody>
      </p:sp>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6" name="文字方塊 5"/>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rotWithShape="1">
          <a:blip r:embed="rId3" cstate="print">
            <a:extLst>
              <a:ext uri="{28A0092B-C50C-407E-A947-70E740481C1C}">
                <a14:useLocalDpi xmlns:a14="http://schemas.microsoft.com/office/drawing/2010/main" val="0"/>
              </a:ext>
            </a:extLst>
          </a:blip>
          <a:srcRect l="3371" t="3077" r="6421" b="4872"/>
          <a:stretch/>
        </p:blipFill>
        <p:spPr>
          <a:xfrm>
            <a:off x="331910" y="1230956"/>
            <a:ext cx="6117852" cy="4413644"/>
          </a:xfrm>
          <a:prstGeom prst="rect">
            <a:avLst/>
          </a:prstGeom>
        </p:spPr>
      </p:pic>
      <p:pic>
        <p:nvPicPr>
          <p:cNvPr id="8" name="圖片 7"/>
          <p:cNvPicPr>
            <a:picLocks noChangeAspect="1"/>
          </p:cNvPicPr>
          <p:nvPr/>
        </p:nvPicPr>
        <p:blipFill rotWithShape="1">
          <a:blip r:embed="rId4" cstate="print">
            <a:extLst>
              <a:ext uri="{28A0092B-C50C-407E-A947-70E740481C1C}">
                <a14:useLocalDpi xmlns:a14="http://schemas.microsoft.com/office/drawing/2010/main" val="0"/>
              </a:ext>
            </a:extLst>
          </a:blip>
          <a:srcRect l="6913" t="11154" r="13494" b="4487"/>
          <a:stretch/>
        </p:blipFill>
        <p:spPr>
          <a:xfrm>
            <a:off x="6449762" y="1415364"/>
            <a:ext cx="5478999" cy="4044829"/>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7073746" y="5644600"/>
                <a:ext cx="4630178" cy="646331"/>
              </a:xfrm>
              <a:prstGeom prst="rect">
                <a:avLst/>
              </a:prstGeom>
            </p:spPr>
            <p:txBody>
              <a:bodyPr wrap="none">
                <a:spAutoFit/>
              </a:bodyPr>
              <a:lstStyle/>
              <a:p>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3</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kern="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dirty="0"/>
                  <a:t> </a:t>
                </a:r>
              </a:p>
            </p:txBody>
          </p:sp>
        </mc:Choice>
        <mc:Fallback xmlns="">
          <p:sp>
            <p:nvSpPr>
              <p:cNvPr id="9" name="矩形 8"/>
              <p:cNvSpPr>
                <a:spLocks noRot="1" noChangeAspect="1" noMove="1" noResize="1" noEditPoints="1" noAdjustHandles="1" noChangeArrowheads="1" noChangeShapeType="1" noTextEdit="1"/>
              </p:cNvSpPr>
              <p:nvPr/>
            </p:nvSpPr>
            <p:spPr>
              <a:xfrm>
                <a:off x="7073746" y="5644600"/>
                <a:ext cx="4630178" cy="646331"/>
              </a:xfrm>
              <a:prstGeom prst="rect">
                <a:avLst/>
              </a:prstGeom>
              <a:blipFill>
                <a:blip r:embed="rId5"/>
                <a:stretch>
                  <a:fillRect l="-263" t="-66038" b="-1009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60102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5184" y="861625"/>
            <a:ext cx="2873544" cy="369332"/>
          </a:xfrm>
          <a:prstGeom prst="rect">
            <a:avLst/>
          </a:prstGeom>
        </p:spPr>
        <p:txBody>
          <a:bodyPr wrap="none">
            <a:spAutoFit/>
          </a:bodyPr>
          <a:lstStyle/>
          <a:p>
            <a:pPr algn="ctr"/>
            <a:r>
              <a:rPr lang="en-US" altLang="zh-TW" b="1" u="heavy">
                <a:latin typeface="Times New Roman" pitchFamily="18" charset="0"/>
                <a:cs typeface="Times New Roman" pitchFamily="18" charset="0"/>
              </a:rPr>
              <a:t>Crystal temperature : 80℃</a:t>
            </a:r>
          </a:p>
        </p:txBody>
      </p:sp>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4" name="文字方塊 3"/>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rotWithShape="1">
          <a:blip r:embed="rId3" cstate="print">
            <a:extLst>
              <a:ext uri="{28A0092B-C50C-407E-A947-70E740481C1C}">
                <a14:useLocalDpi xmlns:a14="http://schemas.microsoft.com/office/drawing/2010/main" val="0"/>
              </a:ext>
            </a:extLst>
          </a:blip>
          <a:srcRect l="2893" t="3205" r="5721" b="4359"/>
          <a:stretch/>
        </p:blipFill>
        <p:spPr>
          <a:xfrm>
            <a:off x="253463" y="1212948"/>
            <a:ext cx="6290801" cy="4432104"/>
          </a:xfrm>
          <a:prstGeom prst="rect">
            <a:avLst/>
          </a:prstGeom>
        </p:spPr>
      </p:pic>
      <p:pic>
        <p:nvPicPr>
          <p:cNvPr id="6" name="圖片 5"/>
          <p:cNvPicPr>
            <a:picLocks noChangeAspect="1"/>
          </p:cNvPicPr>
          <p:nvPr/>
        </p:nvPicPr>
        <p:blipFill rotWithShape="1">
          <a:blip r:embed="rId4" cstate="print">
            <a:extLst>
              <a:ext uri="{28A0092B-C50C-407E-A947-70E740481C1C}">
                <a14:useLocalDpi xmlns:a14="http://schemas.microsoft.com/office/drawing/2010/main" val="0"/>
              </a:ext>
            </a:extLst>
          </a:blip>
          <a:srcRect l="7181" t="9615" r="13404" b="4872"/>
          <a:stretch/>
        </p:blipFill>
        <p:spPr>
          <a:xfrm>
            <a:off x="6544264" y="1378919"/>
            <a:ext cx="5466745" cy="4100161"/>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7073746" y="5644600"/>
                <a:ext cx="4634987" cy="646331"/>
              </a:xfrm>
              <a:prstGeom prst="rect">
                <a:avLst/>
              </a:prstGeom>
            </p:spPr>
            <p:txBody>
              <a:bodyPr wrap="none">
                <a:spAutoFit/>
              </a:bodyPr>
              <a:lstStyle/>
              <a:p>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kern="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dirty="0"/>
                  <a:t> </a:t>
                </a:r>
              </a:p>
            </p:txBody>
          </p:sp>
        </mc:Choice>
        <mc:Fallback xmlns="">
          <p:sp>
            <p:nvSpPr>
              <p:cNvPr id="7" name="矩形 6"/>
              <p:cNvSpPr>
                <a:spLocks noRot="1" noChangeAspect="1" noMove="1" noResize="1" noEditPoints="1" noAdjustHandles="1" noChangeArrowheads="1" noChangeShapeType="1" noTextEdit="1"/>
              </p:cNvSpPr>
              <p:nvPr/>
            </p:nvSpPr>
            <p:spPr>
              <a:xfrm>
                <a:off x="7073746" y="5644600"/>
                <a:ext cx="4634987" cy="646331"/>
              </a:xfrm>
              <a:prstGeom prst="rect">
                <a:avLst/>
              </a:prstGeom>
              <a:blipFill>
                <a:blip r:embed="rId5"/>
                <a:stretch>
                  <a:fillRect l="-263" t="-66038" b="-1009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503210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7476" y="861625"/>
            <a:ext cx="2988960" cy="369332"/>
          </a:xfrm>
          <a:prstGeom prst="rect">
            <a:avLst/>
          </a:prstGeom>
        </p:spPr>
        <p:txBody>
          <a:bodyPr wrap="none">
            <a:spAutoFit/>
          </a:bodyPr>
          <a:lstStyle/>
          <a:p>
            <a:pPr algn="ctr"/>
            <a:r>
              <a:rPr lang="en-US" altLang="zh-TW" b="1" u="heavy">
                <a:latin typeface="Times New Roman" pitchFamily="18" charset="0"/>
                <a:cs typeface="Times New Roman" pitchFamily="18" charset="0"/>
              </a:rPr>
              <a:t>Crystal temperature : 100℃</a:t>
            </a:r>
          </a:p>
        </p:txBody>
      </p:sp>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4" name="文字方塊 3"/>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rotWithShape="1">
          <a:blip r:embed="rId3" cstate="print">
            <a:extLst>
              <a:ext uri="{28A0092B-C50C-407E-A947-70E740481C1C}">
                <a14:useLocalDpi xmlns:a14="http://schemas.microsoft.com/office/drawing/2010/main" val="0"/>
              </a:ext>
            </a:extLst>
          </a:blip>
          <a:srcRect l="2803" t="3205" r="5721" b="4103"/>
          <a:stretch/>
        </p:blipFill>
        <p:spPr>
          <a:xfrm>
            <a:off x="216511" y="1206811"/>
            <a:ext cx="6296997" cy="4444378"/>
          </a:xfrm>
          <a:prstGeom prst="rect">
            <a:avLst/>
          </a:prstGeom>
        </p:spPr>
      </p:pic>
      <p:pic>
        <p:nvPicPr>
          <p:cNvPr id="7" name="圖片 6"/>
          <p:cNvPicPr>
            <a:picLocks noChangeAspect="1"/>
          </p:cNvPicPr>
          <p:nvPr/>
        </p:nvPicPr>
        <p:blipFill rotWithShape="1">
          <a:blip r:embed="rId4" cstate="print">
            <a:extLst>
              <a:ext uri="{28A0092B-C50C-407E-A947-70E740481C1C}">
                <a14:useLocalDpi xmlns:a14="http://schemas.microsoft.com/office/drawing/2010/main" val="0"/>
              </a:ext>
            </a:extLst>
          </a:blip>
          <a:srcRect l="6913" t="11154" r="13494" b="4359"/>
          <a:stretch/>
        </p:blipFill>
        <p:spPr>
          <a:xfrm>
            <a:off x="6513508" y="1403517"/>
            <a:ext cx="5478999" cy="4050966"/>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7073746" y="5644600"/>
                <a:ext cx="4634987" cy="646331"/>
              </a:xfrm>
              <a:prstGeom prst="rect">
                <a:avLst/>
              </a:prstGeom>
            </p:spPr>
            <p:txBody>
              <a:bodyPr wrap="none">
                <a:spAutoFit/>
              </a:bodyPr>
              <a:lstStyle/>
              <a:p>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4</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kern="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.5</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8</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dirty="0"/>
                  <a:t> </a:t>
                </a:r>
              </a:p>
            </p:txBody>
          </p:sp>
        </mc:Choice>
        <mc:Fallback xmlns="">
          <p:sp>
            <p:nvSpPr>
              <p:cNvPr id="8" name="矩形 7"/>
              <p:cNvSpPr>
                <a:spLocks noRot="1" noChangeAspect="1" noMove="1" noResize="1" noEditPoints="1" noAdjustHandles="1" noChangeArrowheads="1" noChangeShapeType="1" noTextEdit="1"/>
              </p:cNvSpPr>
              <p:nvPr/>
            </p:nvSpPr>
            <p:spPr>
              <a:xfrm>
                <a:off x="7073746" y="5644600"/>
                <a:ext cx="4634987" cy="646331"/>
              </a:xfrm>
              <a:prstGeom prst="rect">
                <a:avLst/>
              </a:prstGeom>
              <a:blipFill>
                <a:blip r:embed="rId5"/>
                <a:stretch>
                  <a:fillRect l="-263" t="-66038" b="-1009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27243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7476" y="861625"/>
            <a:ext cx="2988960"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Crystal temperature : 120℃</a:t>
            </a:r>
          </a:p>
        </p:txBody>
      </p:sp>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sp>
        <p:nvSpPr>
          <p:cNvPr id="4" name="文字方塊 3"/>
          <p:cNvSpPr txBox="1"/>
          <p:nvPr/>
        </p:nvSpPr>
        <p:spPr>
          <a:xfrm>
            <a:off x="3380788" y="861625"/>
            <a:ext cx="2411238" cy="369332"/>
          </a:xfrm>
          <a:prstGeom prst="rect">
            <a:avLst/>
          </a:prstGeom>
          <a:noFill/>
        </p:spPr>
        <p:txBody>
          <a:bodyPr wrap="none" rtlCol="0">
            <a:spAutoFit/>
          </a:bodyPr>
          <a:lstStyle/>
          <a:p>
            <a:r>
              <a:rPr lang="en-US" altLang="zh-TW" b="1" u="heavy" dirty="0">
                <a:latin typeface="Times New Roman" panose="02020603050405020304" pitchFamily="18" charset="0"/>
                <a:cs typeface="Times New Roman" panose="02020603050405020304" pitchFamily="18" charset="0"/>
              </a:rPr>
              <a:t>Duty-cycle=70%~75%</a:t>
            </a:r>
            <a:endParaRPr lang="zh-TW" altLang="en-US" b="1" u="heavy"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rotWithShape="1">
          <a:blip r:embed="rId3" cstate="print">
            <a:extLst>
              <a:ext uri="{28A0092B-C50C-407E-A947-70E740481C1C}">
                <a14:useLocalDpi xmlns:a14="http://schemas.microsoft.com/office/drawing/2010/main" val="0"/>
              </a:ext>
            </a:extLst>
          </a:blip>
          <a:srcRect l="2982" t="3205" r="5721" b="4359"/>
          <a:stretch/>
        </p:blipFill>
        <p:spPr>
          <a:xfrm>
            <a:off x="261660" y="1212948"/>
            <a:ext cx="6284675" cy="4432104"/>
          </a:xfrm>
          <a:prstGeom prst="rect">
            <a:avLst/>
          </a:prstGeom>
        </p:spPr>
      </p:pic>
      <p:pic>
        <p:nvPicPr>
          <p:cNvPr id="6" name="圖片 5"/>
          <p:cNvPicPr>
            <a:picLocks noChangeAspect="1"/>
          </p:cNvPicPr>
          <p:nvPr/>
        </p:nvPicPr>
        <p:blipFill rotWithShape="1">
          <a:blip r:embed="rId4" cstate="print">
            <a:extLst>
              <a:ext uri="{28A0092B-C50C-407E-A947-70E740481C1C}">
                <a14:useLocalDpi xmlns:a14="http://schemas.microsoft.com/office/drawing/2010/main" val="0"/>
              </a:ext>
            </a:extLst>
          </a:blip>
          <a:srcRect l="7002" t="9488" r="13583" b="4360"/>
          <a:stretch/>
        </p:blipFill>
        <p:spPr>
          <a:xfrm>
            <a:off x="6541136" y="1363600"/>
            <a:ext cx="5466745" cy="4130799"/>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7073746" y="5644600"/>
                <a:ext cx="4763227" cy="646331"/>
              </a:xfrm>
              <a:prstGeom prst="rect">
                <a:avLst/>
              </a:prstGeom>
            </p:spPr>
            <p:txBody>
              <a:bodyPr wrap="none">
                <a:spAutoFit/>
              </a:bodyPr>
              <a:lstStyle/>
              <a:p>
                <a14:m>
                  <m:oMath xmlns:m="http://schemas.openxmlformats.org/officeDocument/2006/math">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b="0" i="0" kern="0" smtClea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0.</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7</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1</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kern="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kern="0" dirty="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tuning</m:t>
                    </m:r>
                    <m:r>
                      <a:rPr lang="en-US" altLang="zh-TW" kern="0">
                        <a:latin typeface="Cambria Math" panose="02040503050406030204" pitchFamily="18" charset="0"/>
                        <a:ea typeface="標楷體" panose="03000509000000000000" pitchFamily="65" charset="-120"/>
                        <a:cs typeface="Times New Roman" panose="02020603050405020304" pitchFamily="18" charset="0"/>
                      </a:rPr>
                      <m:t> </m:t>
                    </m:r>
                    <m:r>
                      <m:rPr>
                        <m:sty m:val="p"/>
                      </m:rPr>
                      <a:rPr lang="en-US" altLang="zh-TW" kern="0">
                        <a:latin typeface="Cambria Math" panose="02040503050406030204" pitchFamily="18" charset="0"/>
                        <a:ea typeface="標楷體" panose="03000509000000000000" pitchFamily="65" charset="-120"/>
                        <a:cs typeface="Times New Roman" panose="02020603050405020304" pitchFamily="18" charset="0"/>
                      </a:rPr>
                      <m:t>rate</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i="1" kern="0">
                        <a:latin typeface="Cambria Math" panose="02040503050406030204" pitchFamily="18" charset="0"/>
                        <a:ea typeface="標楷體" panose="03000509000000000000" pitchFamily="65" charset="-120"/>
                        <a:cs typeface="Times New Roman" panose="02020603050405020304" pitchFamily="18" charset="0"/>
                      </a:rPr>
                      <m:t>signal</m:t>
                    </m:r>
                    <m:r>
                      <a:rPr lang="zh-TW" altLang="en-US" i="1" kern="0"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zh-TW" altLang="en-US"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Cambria Math" panose="02040503050406030204" pitchFamily="18" charset="0"/>
                        <a:cs typeface="Times New Roman" panose="02020603050405020304" pitchFamily="18" charset="0"/>
                      </a:rPr>
                      <m:t>±</m:t>
                    </m:r>
                    <m:r>
                      <a:rPr lang="en-US" altLang="zh-TW" kern="0">
                        <a:latin typeface="Cambria Math" panose="02040503050406030204" pitchFamily="18" charset="0"/>
                        <a:ea typeface="標楷體" panose="03000509000000000000" pitchFamily="65" charset="-120"/>
                        <a:cs typeface="Times New Roman" panose="02020603050405020304" pitchFamily="18" charset="0"/>
                      </a:rPr>
                      <m:t>0</m:t>
                    </m:r>
                    <m:r>
                      <a:rPr lang="en-US" altLang="zh-TW" b="0" i="1" kern="0"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7</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3</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2</m:t>
                    </m:r>
                    <m:r>
                      <a:rPr lang="en-US" altLang="zh-TW" i="1" kern="0" smtClean="0">
                        <a:latin typeface="Cambria Math" panose="02040503050406030204" pitchFamily="18" charset="0"/>
                        <a:ea typeface="標楷體" panose="03000509000000000000" pitchFamily="65" charset="-120"/>
                        <a:cs typeface="Times New Roman" panose="02020603050405020304" pitchFamily="18" charset="0"/>
                      </a:rPr>
                      <m:t>5</m:t>
                    </m:r>
                    <m:f>
                      <m:fPr>
                        <m:type m:val="lin"/>
                        <m:ctrlPr>
                          <a:rPr lang="zh-TW" altLang="zh-TW" i="1" ker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0">
                            <a:latin typeface="Cambria Math" panose="02040503050406030204" pitchFamily="18" charset="0"/>
                            <a:ea typeface="標楷體" panose="03000509000000000000" pitchFamily="65" charset="-120"/>
                            <a:cs typeface="Times New Roman" panose="02020603050405020304" pitchFamily="18" charset="0"/>
                          </a:rPr>
                          <m:t>𝑛𝑚</m:t>
                        </m:r>
                      </m:num>
                      <m:den>
                        <m:r>
                          <a:rPr lang="en-US" altLang="zh-TW" i="1" kern="0">
                            <a:latin typeface="Cambria Math" panose="02040503050406030204" pitchFamily="18" charset="0"/>
                            <a:ea typeface="標楷體" panose="03000509000000000000" pitchFamily="65" charset="-120"/>
                            <a:cs typeface="Times New Roman" panose="02020603050405020304" pitchFamily="18" charset="0"/>
                          </a:rPr>
                          <m:t>𝑘𝑉</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0">
                            <a:latin typeface="Cambria Math" panose="02040503050406030204" pitchFamily="18" charset="0"/>
                            <a:ea typeface="標楷體" panose="03000509000000000000" pitchFamily="65" charset="-120"/>
                            <a:cs typeface="Times New Roman" panose="02020603050405020304" pitchFamily="18" charset="0"/>
                          </a:rPr>
                          <m:t>𝑚𝑚</m:t>
                        </m:r>
                      </m:den>
                    </m:f>
                  </m:oMath>
                </a14:m>
                <a:r>
                  <a:rPr lang="zh-TW" altLang="en-US" dirty="0"/>
                  <a:t> </a:t>
                </a:r>
              </a:p>
            </p:txBody>
          </p:sp>
        </mc:Choice>
        <mc:Fallback xmlns="">
          <p:sp>
            <p:nvSpPr>
              <p:cNvPr id="7" name="矩形 6"/>
              <p:cNvSpPr>
                <a:spLocks noRot="1" noChangeAspect="1" noMove="1" noResize="1" noEditPoints="1" noAdjustHandles="1" noChangeArrowheads="1" noChangeShapeType="1" noTextEdit="1"/>
              </p:cNvSpPr>
              <p:nvPr/>
            </p:nvSpPr>
            <p:spPr>
              <a:xfrm>
                <a:off x="7073746" y="5644600"/>
                <a:ext cx="4763227" cy="646331"/>
              </a:xfrm>
              <a:prstGeom prst="rect">
                <a:avLst/>
              </a:prstGeom>
              <a:blipFill>
                <a:blip r:embed="rId5"/>
                <a:stretch>
                  <a:fillRect l="-256" t="-66038" b="-1009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68561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2474680397"/>
                  </p:ext>
                </p:extLst>
              </p:nvPr>
            </p:nvGraphicFramePr>
            <p:xfrm>
              <a:off x="227996" y="2887950"/>
              <a:ext cx="11736000" cy="3744000"/>
            </p:xfrm>
            <a:graphic>
              <a:graphicData uri="http://schemas.openxmlformats.org/drawingml/2006/table">
                <a:tbl>
                  <a:tblPr firstRow="1" firstCol="1" bandRow="1">
                    <a:tableStyleId>{616DA210-FB5B-4158-B5E0-FEB733F419BA}</a:tableStyleId>
                  </a:tblPr>
                  <a:tblGrid>
                    <a:gridCol w="1080000">
                      <a:extLst>
                        <a:ext uri="{9D8B030D-6E8A-4147-A177-3AD203B41FA5}">
                          <a16:colId xmlns:a16="http://schemas.microsoft.com/office/drawing/2014/main" val="2265481386"/>
                        </a:ext>
                      </a:extLst>
                    </a:gridCol>
                    <a:gridCol w="1332000">
                      <a:extLst>
                        <a:ext uri="{9D8B030D-6E8A-4147-A177-3AD203B41FA5}">
                          <a16:colId xmlns:a16="http://schemas.microsoft.com/office/drawing/2014/main" val="3787224448"/>
                        </a:ext>
                      </a:extLst>
                    </a:gridCol>
                    <a:gridCol w="1332000">
                      <a:extLst>
                        <a:ext uri="{9D8B030D-6E8A-4147-A177-3AD203B41FA5}">
                          <a16:colId xmlns:a16="http://schemas.microsoft.com/office/drawing/2014/main" val="162785606"/>
                        </a:ext>
                      </a:extLst>
                    </a:gridCol>
                    <a:gridCol w="1332000">
                      <a:extLst>
                        <a:ext uri="{9D8B030D-6E8A-4147-A177-3AD203B41FA5}">
                          <a16:colId xmlns:a16="http://schemas.microsoft.com/office/drawing/2014/main" val="3264749150"/>
                        </a:ext>
                      </a:extLst>
                    </a:gridCol>
                    <a:gridCol w="1332000">
                      <a:extLst>
                        <a:ext uri="{9D8B030D-6E8A-4147-A177-3AD203B41FA5}">
                          <a16:colId xmlns:a16="http://schemas.microsoft.com/office/drawing/2014/main" val="3344289369"/>
                        </a:ext>
                      </a:extLst>
                    </a:gridCol>
                    <a:gridCol w="1332000">
                      <a:extLst>
                        <a:ext uri="{9D8B030D-6E8A-4147-A177-3AD203B41FA5}">
                          <a16:colId xmlns:a16="http://schemas.microsoft.com/office/drawing/2014/main" val="964625319"/>
                        </a:ext>
                      </a:extLst>
                    </a:gridCol>
                    <a:gridCol w="1332000">
                      <a:extLst>
                        <a:ext uri="{9D8B030D-6E8A-4147-A177-3AD203B41FA5}">
                          <a16:colId xmlns:a16="http://schemas.microsoft.com/office/drawing/2014/main" val="1384318870"/>
                        </a:ext>
                      </a:extLst>
                    </a:gridCol>
                    <a:gridCol w="1332000">
                      <a:extLst>
                        <a:ext uri="{9D8B030D-6E8A-4147-A177-3AD203B41FA5}">
                          <a16:colId xmlns:a16="http://schemas.microsoft.com/office/drawing/2014/main" val="1230070991"/>
                        </a:ext>
                      </a:extLst>
                    </a:gridCol>
                    <a:gridCol w="1332000">
                      <a:extLst>
                        <a:ext uri="{9D8B030D-6E8A-4147-A177-3AD203B41FA5}">
                          <a16:colId xmlns:a16="http://schemas.microsoft.com/office/drawing/2014/main" val="1891771021"/>
                        </a:ext>
                      </a:extLst>
                    </a:gridCol>
                  </a:tblGrid>
                  <a:tr h="468000">
                    <a:tc rowSpan="3">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 </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4">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Signal 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4">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Signal 2</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15003232"/>
                      </a:ext>
                    </a:extLst>
                  </a:tr>
                  <a:tr h="468000">
                    <a:tc vMerge="1">
                      <a:txBody>
                        <a:bodyPr/>
                        <a:lstStyle/>
                        <a:p>
                          <a:pPr algn="ctr">
                            <a:lnSpc>
                              <a:spcPct val="150000"/>
                            </a:lnSpc>
                            <a:spcAft>
                              <a:spcPts val="0"/>
                            </a:spcAft>
                            <a:tabLst>
                              <a:tab pos="4681855" algn="l"/>
                            </a:tabLst>
                          </a:pP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2">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measured</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alpha val="20000"/>
                          </a:schemeClr>
                        </a:solidFill>
                      </a:tcPr>
                    </a:tc>
                    <a:tc hMerge="1">
                      <a:txBody>
                        <a:bodyPr/>
                        <a:lstStyle/>
                        <a:p>
                          <a:endParaRPr lang="zh-TW" altLang="en-US"/>
                        </a:p>
                      </a:txBody>
                      <a:tcPr/>
                    </a:tc>
                    <a:tc gridSpan="2">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simulated</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alpha val="20000"/>
                          </a:schemeClr>
                        </a:solidFill>
                      </a:tcPr>
                    </a:tc>
                    <a:tc hMerge="1">
                      <a:txBody>
                        <a:bodyPr/>
                        <a:lstStyle/>
                        <a:p>
                          <a:endParaRPr lang="zh-TW" altLang="en-US"/>
                        </a:p>
                      </a:txBody>
                      <a:tcPr/>
                    </a:tc>
                    <a:tc gridSpan="2">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kern="100" dirty="0">
                              <a:effectLst/>
                              <a:latin typeface="Times New Roman" panose="02020603050405020304" pitchFamily="18" charset="0"/>
                              <a:cs typeface="Times New Roman" panose="02020603050405020304" pitchFamily="18" charset="0"/>
                            </a:rPr>
                            <a:t>measured</a:t>
                          </a:r>
                          <a:endParaRPr lang="zh-TW" alt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alpha val="20000"/>
                          </a:schemeClr>
                        </a:solidFill>
                      </a:tcPr>
                    </a:tc>
                    <a:tc hMerge="1">
                      <a:txBody>
                        <a:bodyPr/>
                        <a:lstStyle/>
                        <a:p>
                          <a:endParaRPr lang="zh-TW" altLang="en-US"/>
                        </a:p>
                      </a:txBody>
                      <a:tcPr/>
                    </a:tc>
                    <a:tc gridSpan="2">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kern="100" dirty="0">
                              <a:effectLst/>
                              <a:latin typeface="Times New Roman" panose="02020603050405020304" pitchFamily="18" charset="0"/>
                              <a:cs typeface="Times New Roman" panose="02020603050405020304" pitchFamily="18" charset="0"/>
                            </a:rPr>
                            <a:t>simulated</a:t>
                          </a:r>
                          <a:endParaRPr lang="zh-TW" alt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alpha val="20000"/>
                          </a:schemeClr>
                        </a:solidFill>
                      </a:tcPr>
                    </a:tc>
                    <a:tc hMerge="1">
                      <a:txBody>
                        <a:bodyPr/>
                        <a:lstStyle/>
                        <a:p>
                          <a:endParaRPr lang="zh-TW" altLang="en-US"/>
                        </a:p>
                      </a:txBody>
                      <a:tcPr/>
                    </a:tc>
                    <a:extLst>
                      <a:ext uri="{0D108BD9-81ED-4DB2-BD59-A6C34878D82A}">
                        <a16:rowId xmlns:a16="http://schemas.microsoft.com/office/drawing/2014/main" val="2388180280"/>
                      </a:ext>
                    </a:extLst>
                  </a:tr>
                  <a:tr h="468000">
                    <a:tc vMerge="1">
                      <a:txBody>
                        <a:bodyPr/>
                        <a:lstStyle/>
                        <a:p>
                          <a:pPr algn="ctr">
                            <a:lnSpc>
                              <a:spcPct val="150000"/>
                            </a:lnSpc>
                            <a:spcAft>
                              <a:spcPts val="0"/>
                            </a:spcAft>
                            <a:tabLst>
                              <a:tab pos="4681855" algn="l"/>
                            </a:tabLst>
                          </a:pP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0803076"/>
                      </a:ext>
                    </a:extLst>
                  </a:tr>
                  <a:tr h="468000">
                    <a:tc>
                      <a:txBody>
                        <a:bodyPr/>
                        <a:lstStyle/>
                        <a:p>
                          <a:pPr algn="ctr">
                            <a:lnSpc>
                              <a:spcPct val="150000"/>
                            </a:lnSpc>
                            <a:spcAft>
                              <a:spcPts val="0"/>
                            </a:spcAft>
                            <a:tabLst>
                              <a:tab pos="4681855" algn="l"/>
                            </a:tabLst>
                          </a:pPr>
                          <a:r>
                            <a:rPr lang="en-US" sz="2000" b="0" kern="100" dirty="0">
                              <a:effectLst/>
                              <a:latin typeface="Times New Roman" panose="02020603050405020304" pitchFamily="18" charset="0"/>
                              <a:cs typeface="Times New Roman" panose="02020603050405020304" pitchFamily="18" charset="0"/>
                            </a:rPr>
                            <a:t>40</a:t>
                          </a:r>
                          <a14:m>
                            <m:oMath xmlns:m="http://schemas.openxmlformats.org/officeDocument/2006/math">
                              <m:r>
                                <a:rPr lang="en-US" sz="2000" b="0" kern="100">
                                  <a:effectLst/>
                                  <a:latin typeface="Cambria Math" panose="02040503050406030204" pitchFamily="18" charset="0"/>
                                </a:rPr>
                                <m:t>℃</m:t>
                              </m:r>
                            </m:oMath>
                          </a14:m>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0.48</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1540.4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0.5211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1540</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1549.63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0.55805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1550</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916354591"/>
                      </a:ext>
                    </a:extLst>
                  </a:tr>
                  <a:tr h="468000">
                    <a:tc>
                      <a:txBody>
                        <a:bodyPr/>
                        <a:lstStyle/>
                        <a:p>
                          <a:pPr algn="ctr">
                            <a:lnSpc>
                              <a:spcPct val="150000"/>
                            </a:lnSpc>
                            <a:spcAft>
                              <a:spcPts val="0"/>
                            </a:spcAft>
                            <a:tabLst>
                              <a:tab pos="4681855" algn="l"/>
                            </a:tabLst>
                          </a:pPr>
                          <a:r>
                            <a:rPr lang="en-US" sz="2000" b="0" kern="100" dirty="0">
                              <a:effectLst/>
                              <a:latin typeface="Times New Roman" panose="02020603050405020304" pitchFamily="18" charset="0"/>
                              <a:cs typeface="Times New Roman" panose="02020603050405020304" pitchFamily="18" charset="0"/>
                            </a:rPr>
                            <a:t>60</a:t>
                          </a:r>
                          <a14:m>
                            <m:oMath xmlns:m="http://schemas.openxmlformats.org/officeDocument/2006/math">
                              <m:r>
                                <a:rPr lang="en-US" sz="2000" b="0" kern="100">
                                  <a:effectLst/>
                                  <a:latin typeface="Cambria Math" panose="02040503050406030204" pitchFamily="18" charset="0"/>
                                </a:rPr>
                                <m:t>℃</m:t>
                              </m:r>
                            </m:oMath>
                          </a14:m>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1546.19</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0.54235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1545.743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1555.85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0.5851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1556.205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81345393"/>
                      </a:ext>
                    </a:extLst>
                  </a:tr>
                  <a:tr h="468000">
                    <a:tc>
                      <a:txBody>
                        <a:bodyPr/>
                        <a:lstStyle/>
                        <a:p>
                          <a:pPr algn="ctr">
                            <a:lnSpc>
                              <a:spcPct val="150000"/>
                            </a:lnSpc>
                            <a:spcAft>
                              <a:spcPts val="0"/>
                            </a:spcAft>
                            <a:tabLst>
                              <a:tab pos="4681855" algn="l"/>
                            </a:tabLst>
                          </a:pPr>
                          <a:r>
                            <a:rPr lang="en-US" sz="2000" b="0" kern="100" dirty="0">
                              <a:effectLst/>
                              <a:latin typeface="Times New Roman" panose="02020603050405020304" pitchFamily="18" charset="0"/>
                              <a:cs typeface="Times New Roman" panose="02020603050405020304" pitchFamily="18" charset="0"/>
                            </a:rPr>
                            <a:t>80</a:t>
                          </a:r>
                          <a14:m>
                            <m:oMath xmlns:m="http://schemas.openxmlformats.org/officeDocument/2006/math">
                              <m:r>
                                <a:rPr lang="en-US" sz="2000" b="0" kern="100">
                                  <a:effectLst/>
                                  <a:latin typeface="Cambria Math" panose="02040503050406030204" pitchFamily="18" charset="0"/>
                                </a:rPr>
                                <m:t>℃</m:t>
                              </m:r>
                            </m:oMath>
                          </a14:m>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0.555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1553.06</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0.5723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1552.134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1563.33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0.6166</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1563.124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92998744"/>
                      </a:ext>
                    </a:extLst>
                  </a:tr>
                  <a:tr h="468000">
                    <a:tc>
                      <a:txBody>
                        <a:bodyPr/>
                        <a:lstStyle/>
                        <a:p>
                          <a:pPr algn="ctr">
                            <a:lnSpc>
                              <a:spcPct val="150000"/>
                            </a:lnSpc>
                            <a:spcAft>
                              <a:spcPts val="0"/>
                            </a:spcAft>
                            <a:tabLst>
                              <a:tab pos="4681855" algn="l"/>
                            </a:tabLst>
                          </a:pPr>
                          <a:r>
                            <a:rPr lang="en-US" sz="2000" b="0" kern="100" dirty="0">
                              <a:effectLst/>
                              <a:latin typeface="Times New Roman" panose="02020603050405020304" pitchFamily="18" charset="0"/>
                              <a:cs typeface="Times New Roman" panose="02020603050405020304" pitchFamily="18" charset="0"/>
                            </a:rPr>
                            <a:t>100</a:t>
                          </a:r>
                          <a14:m>
                            <m:oMath xmlns:m="http://schemas.openxmlformats.org/officeDocument/2006/math">
                              <m:r>
                                <a:rPr lang="en-US" sz="2000" b="0" kern="100">
                                  <a:effectLst/>
                                  <a:latin typeface="Cambria Math" panose="02040503050406030204" pitchFamily="18" charset="0"/>
                                </a:rPr>
                                <m:t>℃</m:t>
                              </m:r>
                            </m:oMath>
                          </a14:m>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0.545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1560.95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0.60425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1559.256</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0.585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1571.47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0.65355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1570.87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318628762"/>
                      </a:ext>
                    </a:extLst>
                  </a:tr>
                  <a:tr h="468000">
                    <a:tc>
                      <a:txBody>
                        <a:bodyPr/>
                        <a:lstStyle/>
                        <a:p>
                          <a:pPr algn="ctr">
                            <a:lnSpc>
                              <a:spcPct val="150000"/>
                            </a:lnSpc>
                            <a:spcAft>
                              <a:spcPts val="0"/>
                            </a:spcAft>
                            <a:tabLst>
                              <a:tab pos="4681855" algn="l"/>
                            </a:tabLst>
                          </a:pPr>
                          <a:r>
                            <a:rPr lang="en-US" sz="2000" b="0" kern="100" dirty="0">
                              <a:effectLst/>
                              <a:latin typeface="Times New Roman" panose="02020603050405020304" pitchFamily="18" charset="0"/>
                              <a:cs typeface="Times New Roman" panose="02020603050405020304" pitchFamily="18" charset="0"/>
                            </a:rPr>
                            <a:t>120</a:t>
                          </a:r>
                          <a14:m>
                            <m:oMath xmlns:m="http://schemas.openxmlformats.org/officeDocument/2006/math">
                              <m:r>
                                <a:rPr lang="en-US" sz="2000" b="0" kern="100">
                                  <a:effectLst/>
                                  <a:latin typeface="Cambria Math" panose="02040503050406030204" pitchFamily="18" charset="0"/>
                                </a:rPr>
                                <m:t>℃</m:t>
                              </m:r>
                            </m:oMath>
                          </a14:m>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1" kern="0" dirty="0">
                              <a:effectLst/>
                              <a:latin typeface="Times New Roman" panose="02020603050405020304" pitchFamily="18" charset="0"/>
                              <a:cs typeface="Times New Roman" panose="02020603050405020304" pitchFamily="18" charset="0"/>
                            </a:rPr>
                            <a:t>0.7125</a:t>
                          </a:r>
                          <a:endParaRPr lang="zh-TW" sz="20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1568.77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0.6418</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1567.224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b="1" kern="0" dirty="0">
                              <a:effectLst/>
                              <a:latin typeface="Times New Roman" panose="02020603050405020304" pitchFamily="18" charset="0"/>
                              <a:cs typeface="Times New Roman" panose="02020603050405020304" pitchFamily="18" charset="0"/>
                            </a:rPr>
                            <a:t>0.7325</a:t>
                          </a:r>
                          <a:endParaRPr lang="zh-TW" sz="20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1579.87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0.6971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a:effectLst/>
                              <a:latin typeface="Times New Roman" panose="02020603050405020304" pitchFamily="18" charset="0"/>
                              <a:cs typeface="Times New Roman" panose="02020603050405020304" pitchFamily="18" charset="0"/>
                            </a:rPr>
                            <a:t>1579.565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04991712"/>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2474680397"/>
                  </p:ext>
                </p:extLst>
              </p:nvPr>
            </p:nvGraphicFramePr>
            <p:xfrm>
              <a:off x="227996" y="2887950"/>
              <a:ext cx="11736000" cy="3744000"/>
            </p:xfrm>
            <a:graphic>
              <a:graphicData uri="http://schemas.openxmlformats.org/drawingml/2006/table">
                <a:tbl>
                  <a:tblPr firstRow="1" firstCol="1" bandRow="1">
                    <a:tableStyleId>{616DA210-FB5B-4158-B5E0-FEB733F419BA}</a:tableStyleId>
                  </a:tblPr>
                  <a:tblGrid>
                    <a:gridCol w="1080000">
                      <a:extLst>
                        <a:ext uri="{9D8B030D-6E8A-4147-A177-3AD203B41FA5}">
                          <a16:colId xmlns:a16="http://schemas.microsoft.com/office/drawing/2014/main" val="2265481386"/>
                        </a:ext>
                      </a:extLst>
                    </a:gridCol>
                    <a:gridCol w="1332000">
                      <a:extLst>
                        <a:ext uri="{9D8B030D-6E8A-4147-A177-3AD203B41FA5}">
                          <a16:colId xmlns:a16="http://schemas.microsoft.com/office/drawing/2014/main" val="3787224448"/>
                        </a:ext>
                      </a:extLst>
                    </a:gridCol>
                    <a:gridCol w="1332000">
                      <a:extLst>
                        <a:ext uri="{9D8B030D-6E8A-4147-A177-3AD203B41FA5}">
                          <a16:colId xmlns:a16="http://schemas.microsoft.com/office/drawing/2014/main" val="162785606"/>
                        </a:ext>
                      </a:extLst>
                    </a:gridCol>
                    <a:gridCol w="1332000">
                      <a:extLst>
                        <a:ext uri="{9D8B030D-6E8A-4147-A177-3AD203B41FA5}">
                          <a16:colId xmlns:a16="http://schemas.microsoft.com/office/drawing/2014/main" val="3264749150"/>
                        </a:ext>
                      </a:extLst>
                    </a:gridCol>
                    <a:gridCol w="1332000">
                      <a:extLst>
                        <a:ext uri="{9D8B030D-6E8A-4147-A177-3AD203B41FA5}">
                          <a16:colId xmlns:a16="http://schemas.microsoft.com/office/drawing/2014/main" val="3344289369"/>
                        </a:ext>
                      </a:extLst>
                    </a:gridCol>
                    <a:gridCol w="1332000">
                      <a:extLst>
                        <a:ext uri="{9D8B030D-6E8A-4147-A177-3AD203B41FA5}">
                          <a16:colId xmlns:a16="http://schemas.microsoft.com/office/drawing/2014/main" val="964625319"/>
                        </a:ext>
                      </a:extLst>
                    </a:gridCol>
                    <a:gridCol w="1332000">
                      <a:extLst>
                        <a:ext uri="{9D8B030D-6E8A-4147-A177-3AD203B41FA5}">
                          <a16:colId xmlns:a16="http://schemas.microsoft.com/office/drawing/2014/main" val="1384318870"/>
                        </a:ext>
                      </a:extLst>
                    </a:gridCol>
                    <a:gridCol w="1332000">
                      <a:extLst>
                        <a:ext uri="{9D8B030D-6E8A-4147-A177-3AD203B41FA5}">
                          <a16:colId xmlns:a16="http://schemas.microsoft.com/office/drawing/2014/main" val="1230070991"/>
                        </a:ext>
                      </a:extLst>
                    </a:gridCol>
                    <a:gridCol w="1332000">
                      <a:extLst>
                        <a:ext uri="{9D8B030D-6E8A-4147-A177-3AD203B41FA5}">
                          <a16:colId xmlns:a16="http://schemas.microsoft.com/office/drawing/2014/main" val="1891771021"/>
                        </a:ext>
                      </a:extLst>
                    </a:gridCol>
                  </a:tblGrid>
                  <a:tr h="468000">
                    <a:tc rowSpan="3">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 </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4">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Signal </a:t>
                          </a:r>
                          <a:r>
                            <a:rPr lang="en-US" sz="2000" b="0" kern="0" dirty="0" smtClean="0">
                              <a:effectLst/>
                              <a:latin typeface="Times New Roman" panose="02020603050405020304" pitchFamily="18" charset="0"/>
                              <a:cs typeface="Times New Roman" panose="02020603050405020304" pitchFamily="18" charset="0"/>
                            </a:rPr>
                            <a:t>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4">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Signal </a:t>
                          </a:r>
                          <a:r>
                            <a:rPr lang="en-US" sz="2000" b="0" kern="0" dirty="0" smtClean="0">
                              <a:effectLst/>
                              <a:latin typeface="Times New Roman" panose="02020603050405020304" pitchFamily="18" charset="0"/>
                              <a:cs typeface="Times New Roman" panose="02020603050405020304" pitchFamily="18" charset="0"/>
                            </a:rPr>
                            <a:t>2</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015003232"/>
                      </a:ext>
                    </a:extLst>
                  </a:tr>
                  <a:tr h="468000">
                    <a:tc vMerge="1">
                      <a:txBody>
                        <a:bodyPr/>
                        <a:lstStyle/>
                        <a:p>
                          <a:pPr algn="ctr">
                            <a:lnSpc>
                              <a:spcPct val="150000"/>
                            </a:lnSpc>
                            <a:spcAft>
                              <a:spcPts val="0"/>
                            </a:spcAft>
                            <a:tabLst>
                              <a:tab pos="4681855" algn="l"/>
                            </a:tabLst>
                          </a:pP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2">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measured</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alpha val="20000"/>
                          </a:schemeClr>
                        </a:solidFill>
                      </a:tcPr>
                    </a:tc>
                    <a:tc hMerge="1">
                      <a:txBody>
                        <a:bodyPr/>
                        <a:lstStyle/>
                        <a:p>
                          <a:endParaRPr lang="zh-TW" altLang="en-US"/>
                        </a:p>
                      </a:txBody>
                      <a:tcPr/>
                    </a:tc>
                    <a:tc gridSpan="2">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simulated</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alpha val="20000"/>
                          </a:schemeClr>
                        </a:solidFill>
                      </a:tcPr>
                    </a:tc>
                    <a:tc hMerge="1">
                      <a:txBody>
                        <a:bodyPr/>
                        <a:lstStyle/>
                        <a:p>
                          <a:endParaRPr lang="zh-TW" altLang="en-US"/>
                        </a:p>
                      </a:txBody>
                      <a:tcPr/>
                    </a:tc>
                    <a:tc gridSpan="2">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kern="100" dirty="0" smtClean="0">
                              <a:effectLst/>
                              <a:latin typeface="Times New Roman" panose="02020603050405020304" pitchFamily="18" charset="0"/>
                              <a:cs typeface="Times New Roman" panose="02020603050405020304" pitchFamily="18" charset="0"/>
                            </a:rPr>
                            <a:t>measured</a:t>
                          </a:r>
                          <a:endParaRPr lang="zh-TW" altLang="zh-TW" sz="2000" b="0"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alpha val="20000"/>
                          </a:schemeClr>
                        </a:solidFill>
                      </a:tcPr>
                    </a:tc>
                    <a:tc hMerge="1">
                      <a:txBody>
                        <a:bodyPr/>
                        <a:lstStyle/>
                        <a:p>
                          <a:endParaRPr lang="zh-TW" altLang="en-US"/>
                        </a:p>
                      </a:txBody>
                      <a:tcPr/>
                    </a:tc>
                    <a:tc gridSpan="2">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kern="100" dirty="0" smtClean="0">
                              <a:effectLst/>
                              <a:latin typeface="Times New Roman" panose="02020603050405020304" pitchFamily="18" charset="0"/>
                              <a:cs typeface="Times New Roman" panose="02020603050405020304" pitchFamily="18" charset="0"/>
                            </a:rPr>
                            <a:t>simulated</a:t>
                          </a:r>
                          <a:endParaRPr lang="zh-TW" altLang="zh-TW" sz="2000" b="0" kern="100" dirty="0" smtClean="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alpha val="20000"/>
                          </a:schemeClr>
                        </a:solidFill>
                      </a:tcPr>
                    </a:tc>
                    <a:tc hMerge="1">
                      <a:txBody>
                        <a:bodyPr/>
                        <a:lstStyle/>
                        <a:p>
                          <a:endParaRPr lang="zh-TW" altLang="en-US"/>
                        </a:p>
                      </a:txBody>
                      <a:tcPr/>
                    </a:tc>
                    <a:extLst>
                      <a:ext uri="{0D108BD9-81ED-4DB2-BD59-A6C34878D82A}">
                        <a16:rowId xmlns:a16="http://schemas.microsoft.com/office/drawing/2014/main" val="2388180280"/>
                      </a:ext>
                    </a:extLst>
                  </a:tr>
                  <a:tr h="468000">
                    <a:tc vMerge="1">
                      <a:txBody>
                        <a:bodyPr/>
                        <a:lstStyle/>
                        <a:p>
                          <a:pPr algn="ctr">
                            <a:lnSpc>
                              <a:spcPct val="150000"/>
                            </a:lnSpc>
                            <a:spcAft>
                              <a:spcPts val="0"/>
                            </a:spcAft>
                            <a:tabLst>
                              <a:tab pos="4681855" algn="l"/>
                            </a:tabLst>
                          </a:pP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tuning rate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wavelength</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0803076"/>
                      </a:ext>
                    </a:extLst>
                  </a:tr>
                  <a:tr h="468000">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5" t="-301299" r="-989266" b="-424675"/>
                          </a:stretch>
                        </a:blip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0.48</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1540.4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0.5211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1540</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1549.63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0.55805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1550</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916354591"/>
                      </a:ext>
                    </a:extLst>
                  </a:tr>
                  <a:tr h="468000">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5" t="-406579" r="-989266" b="-330263"/>
                          </a:stretch>
                        </a:blip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1546.19</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0.54235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1545.743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1555.85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0.5851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1556.205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81345393"/>
                      </a:ext>
                    </a:extLst>
                  </a:tr>
                  <a:tr h="468000">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5" t="-500000" r="-989266" b="-225974"/>
                          </a:stretch>
                        </a:blip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0.555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1553.06</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0.5723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1552.134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1563.33</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0.6166</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1563.124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92998744"/>
                      </a:ext>
                    </a:extLst>
                  </a:tr>
                  <a:tr h="468000">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5" t="-600000" r="-989266" b="-125974"/>
                          </a:stretch>
                        </a:blip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0.545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1560.95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0.60425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1559.256</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kern="0" dirty="0">
                              <a:effectLst/>
                              <a:latin typeface="Times New Roman" panose="02020603050405020304" pitchFamily="18" charset="0"/>
                              <a:cs typeface="Times New Roman" panose="02020603050405020304" pitchFamily="18" charset="0"/>
                            </a:rPr>
                            <a:t>0.585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1571.47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0.65355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1570.87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318628762"/>
                      </a:ext>
                    </a:extLst>
                  </a:tr>
                  <a:tr h="468000">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65" t="-700000" r="-989266" b="-25974"/>
                          </a:stretch>
                        </a:blipFill>
                      </a:tcPr>
                    </a:tc>
                    <a:tc>
                      <a:txBody>
                        <a:bodyPr/>
                        <a:lstStyle/>
                        <a:p>
                          <a:pPr algn="ctr">
                            <a:lnSpc>
                              <a:spcPct val="150000"/>
                            </a:lnSpc>
                            <a:spcAft>
                              <a:spcPts val="0"/>
                            </a:spcAft>
                            <a:tabLst>
                              <a:tab pos="4681855" algn="l"/>
                            </a:tabLst>
                          </a:pPr>
                          <a:r>
                            <a:rPr lang="en-US" sz="2000" b="1" kern="0" dirty="0">
                              <a:effectLst/>
                              <a:latin typeface="Times New Roman" panose="02020603050405020304" pitchFamily="18" charset="0"/>
                              <a:cs typeface="Times New Roman" panose="02020603050405020304" pitchFamily="18" charset="0"/>
                            </a:rPr>
                            <a:t>0.7125</a:t>
                          </a:r>
                          <a:endParaRPr lang="zh-TW" sz="20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1568.77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0.6418</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1567.224</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sz="2000" b="1" kern="0" dirty="0">
                              <a:effectLst/>
                              <a:latin typeface="Times New Roman" panose="02020603050405020304" pitchFamily="18" charset="0"/>
                              <a:cs typeface="Times New Roman" panose="02020603050405020304" pitchFamily="18" charset="0"/>
                            </a:rPr>
                            <a:t>0.7325</a:t>
                          </a:r>
                          <a:endParaRPr lang="zh-TW" sz="20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1579.87</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0.6971</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Aft>
                              <a:spcPts val="0"/>
                            </a:spcAft>
                            <a:tabLst>
                              <a:tab pos="4681855" algn="l"/>
                            </a:tabLst>
                          </a:pPr>
                          <a:r>
                            <a:rPr lang="en-US" altLang="zh-TW" sz="2000" kern="100" dirty="0" smtClean="0">
                              <a:effectLst/>
                              <a:latin typeface="Times New Roman" panose="02020603050405020304" pitchFamily="18" charset="0"/>
                              <a:cs typeface="Times New Roman" panose="02020603050405020304" pitchFamily="18" charset="0"/>
                            </a:rPr>
                            <a:t>1579.565</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04991712"/>
                      </a:ext>
                    </a:extLst>
                  </a:tr>
                </a:tbl>
              </a:graphicData>
            </a:graphic>
          </p:graphicFrame>
        </mc:Fallback>
      </mc:AlternateContent>
      <p:sp>
        <p:nvSpPr>
          <p:cNvPr id="3" name="文字方塊 2"/>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Analysis</a:t>
            </a:r>
          </a:p>
        </p:txBody>
      </p:sp>
      <mc:AlternateContent xmlns:mc="http://schemas.openxmlformats.org/markup-compatibility/2006" xmlns:a14="http://schemas.microsoft.com/office/drawing/2010/main">
        <mc:Choice Requires="a14">
          <p:sp>
            <p:nvSpPr>
              <p:cNvPr id="4" name="矩形 3"/>
              <p:cNvSpPr/>
              <p:nvPr/>
            </p:nvSpPr>
            <p:spPr>
              <a:xfrm>
                <a:off x="3739742" y="865169"/>
                <a:ext cx="4712509" cy="21250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TW" altLang="en-US" i="1" smtClean="0">
                              <a:latin typeface="Cambria Math" panose="02040503050406030204" pitchFamily="18" charset="0"/>
                            </a:rPr>
                          </m:ctrlPr>
                        </m:sSupPr>
                        <m:e>
                          <m:r>
                            <a:rPr lang="zh-TW" altLang="en-US">
                              <a:latin typeface="Cambria Math" panose="02040503050406030204" pitchFamily="18" charset="0"/>
                            </a:rPr>
                            <m:t>∆</m:t>
                          </m:r>
                          <m:acc>
                            <m:accPr>
                              <m:chr m:val="⃑"/>
                              <m:ctrlPr>
                                <a:rPr lang="zh-TW" altLang="en-US" i="1">
                                  <a:latin typeface="Cambria Math" panose="02040503050406030204" pitchFamily="18" charset="0"/>
                                </a:rPr>
                              </m:ctrlPr>
                            </m:accPr>
                            <m:e>
                              <m:r>
                                <a:rPr lang="zh-TW" altLang="en-US" i="1">
                                  <a:latin typeface="Cambria Math" panose="02040503050406030204" pitchFamily="18" charset="0"/>
                                </a:rPr>
                                <m:t>𝑘</m:t>
                              </m:r>
                            </m:e>
                          </m:acc>
                        </m:e>
                        <m:sup>
                          <m:r>
                            <a:rPr lang="zh-TW" altLang="en-US" i="0">
                              <a:latin typeface="Cambria Math" panose="02040503050406030204" pitchFamily="18" charset="0"/>
                            </a:rPr>
                            <m:t>′</m:t>
                          </m:r>
                        </m:sup>
                      </m:sSup>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p</m:t>
                              </m:r>
                            </m:sub>
                          </m:sSub>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p</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s</m:t>
                                  </m:r>
                                </m:sub>
                              </m:sSub>
                            </m:e>
                            <m:sup>
                              <m:r>
                                <a:rPr lang="zh-TW" altLang="en-US" i="0">
                                  <a:latin typeface="Cambria Math" panose="02040503050406030204" pitchFamily="18" charset="0"/>
                                </a:rPr>
                                <m:t>′</m:t>
                              </m:r>
                            </m:sup>
                          </m:sSup>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s</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b="0" i="0" smtClean="0">
                                      <a:latin typeface="Cambria Math" panose="02040503050406030204" pitchFamily="18" charset="0"/>
                                    </a:rPr>
                                    <m:t>i</m:t>
                                  </m:r>
                                </m:sub>
                              </m:sSub>
                            </m:e>
                            <m:sup>
                              <m:r>
                                <a:rPr lang="zh-TW" altLang="en-US" i="0">
                                  <a:latin typeface="Cambria Math" panose="02040503050406030204" pitchFamily="18" charset="0"/>
                                </a:rPr>
                                <m:t>′</m:t>
                              </m:r>
                            </m:sup>
                          </m:sSup>
                        </m:den>
                      </m:f>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m:rPr>
                                  <m:sty m:val="p"/>
                                </m:rPr>
                                <a:rPr lang="en-US" altLang="zh-TW" b="0" i="0" smtClean="0">
                                  <a:latin typeface="Cambria Math" panose="02040503050406030204" pitchFamily="18" charset="0"/>
                                </a:rPr>
                                <m:t>i</m:t>
                              </m:r>
                            </m:sub>
                          </m:sSub>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2</m:t>
                          </m:r>
                          <m:r>
                            <a:rPr lang="zh-TW" altLang="en-US" i="1">
                              <a:latin typeface="Cambria Math" panose="02040503050406030204" pitchFamily="18" charset="0"/>
                            </a:rPr>
                            <m:t>𝑚</m:t>
                          </m:r>
                          <m:r>
                            <a:rPr lang="zh-TW" altLang="en-US" i="1">
                              <a:latin typeface="Cambria Math" panose="02040503050406030204" pitchFamily="18" charset="0"/>
                            </a:rPr>
                            <m:t>𝜋</m:t>
                          </m:r>
                        </m:num>
                        <m:den>
                          <m:sSup>
                            <m:sSupPr>
                              <m:ctrlPr>
                                <a:rPr lang="zh-TW" altLang="en-US" i="1">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r>
                            <a:rPr lang="zh-TW" altLang="en-US" i="0">
                              <a:latin typeface="Cambria Math" panose="02040503050406030204" pitchFamily="18" charset="0"/>
                            </a:rPr>
                            <m:t>+</m:t>
                          </m:r>
                          <m:sSup>
                            <m:sSupPr>
                              <m:ctrlPr>
                                <a:rPr lang="zh-TW" altLang="en-US" i="1">
                                  <a:latin typeface="Cambria Math" panose="02040503050406030204" pitchFamily="18" charset="0"/>
                                </a:rPr>
                              </m:ctrlPr>
                            </m:sSupPr>
                            <m:e>
                              <m:r>
                                <a:rPr lang="zh-TW" altLang="en-US" i="1">
                                  <a:latin typeface="Cambria Math" panose="02040503050406030204" pitchFamily="18" charset="0"/>
                                </a:rPr>
                                <m:t>𝑙</m:t>
                              </m:r>
                            </m:e>
                            <m:sup>
                              <m:r>
                                <a:rPr lang="zh-TW" altLang="en-US" i="0">
                                  <a:latin typeface="Cambria Math" panose="02040503050406030204" pitchFamily="18" charset="0"/>
                                </a:rPr>
                                <m:t>−</m:t>
                              </m:r>
                            </m:sup>
                          </m:sSup>
                        </m:den>
                      </m:f>
                    </m:oMath>
                  </m:oMathPara>
                </a14:m>
                <a:endParaRPr lang="en-US" altLang="zh-TW" dirty="0"/>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d>
                        <m:dPr>
                          <m:ctrlPr>
                            <a:rPr lang="zh-TW" altLang="zh-TW" i="1">
                              <a:latin typeface="Cambria Math" panose="02040503050406030204" pitchFamily="18" charset="0"/>
                            </a:rPr>
                          </m:ctrlPr>
                        </m:dPr>
                        <m:e>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𝑝</m:t>
                                  </m:r>
                                </m:sub>
                              </m:sSub>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𝑝</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𝑠</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𝑠</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𝑖</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𝑖</m:t>
                                  </m:r>
                                </m:sub>
                              </m:sSub>
                            </m:sub>
                            <m:sup>
                              <m:r>
                                <a:rPr lang="en-US" altLang="zh-TW" i="1">
                                  <a:latin typeface="Cambria Math" panose="02040503050406030204" pitchFamily="18" charset="0"/>
                                </a:rPr>
                                <m:t>+</m:t>
                              </m:r>
                            </m:sup>
                          </m:sSubSup>
                        </m:e>
                      </m:d>
                      <m:r>
                        <a:rPr lang="en-US" altLang="zh-TW" i="1">
                          <a:latin typeface="Cambria Math" panose="02040503050406030204" pitchFamily="18" charset="0"/>
                        </a:rPr>
                        <m:t>×</m:t>
                      </m:r>
                      <m:f>
                        <m:fPr>
                          <m:ctrlPr>
                            <a:rPr lang="zh-TW" altLang="zh-TW" i="1">
                              <a:latin typeface="Cambria Math" panose="02040503050406030204" pitchFamily="18" charset="0"/>
                            </a:rPr>
                          </m:ctrlPr>
                        </m:fPr>
                        <m:num>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num>
                        <m:den>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den>
                      </m:f>
                    </m:oMath>
                  </m:oMathPara>
                </a14:m>
                <a:endParaRPr lang="en-US" altLang="zh-TW" dirty="0"/>
              </a:p>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d>
                        <m:dPr>
                          <m:ctrlPr>
                            <a:rPr lang="zh-TW" altLang="zh-TW" i="1">
                              <a:latin typeface="Cambria Math" panose="02040503050406030204" pitchFamily="18" charset="0"/>
                            </a:rPr>
                          </m:ctrlPr>
                        </m:dPr>
                        <m:e>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𝑝</m:t>
                                  </m:r>
                                </m:sub>
                              </m:sSub>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𝑝</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𝑠</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𝑠</m:t>
                                  </m:r>
                                </m:sub>
                              </m:sSub>
                            </m:sub>
                            <m:sup>
                              <m:r>
                                <a:rPr lang="en-US" altLang="zh-TW" i="1">
                                  <a:latin typeface="Cambria Math" panose="02040503050406030204" pitchFamily="18" charset="0"/>
                                </a:rPr>
                                <m:t>−</m:t>
                              </m:r>
                            </m:sup>
                          </m:sSubSup>
                          <m:r>
                            <a:rPr lang="en-US" altLang="zh-TW" i="1">
                              <a:latin typeface="Cambria Math" panose="02040503050406030204" pitchFamily="18" charset="0"/>
                            </a:rPr>
                            <m:t>−</m:t>
                          </m:r>
                          <m:f>
                            <m:fPr>
                              <m:ctrlPr>
                                <a:rPr lang="zh-TW" altLang="zh-TW" i="1">
                                  <a:latin typeface="Cambria Math" panose="02040503050406030204" pitchFamily="18" charset="0"/>
                                </a:rPr>
                              </m:ctrlPr>
                            </m:fPr>
                            <m:num>
                              <m:r>
                                <a:rPr lang="en-US" altLang="zh-TW" i="1">
                                  <a:latin typeface="Cambria Math" panose="02040503050406030204" pitchFamily="18" charset="0"/>
                                </a:rPr>
                                <m:t>2</m:t>
                              </m:r>
                              <m:r>
                                <a:rPr lang="en-US" altLang="zh-TW" i="1">
                                  <a:latin typeface="Cambria Math" panose="02040503050406030204" pitchFamily="18" charset="0"/>
                                </a:rPr>
                                <m:t>𝜋</m:t>
                              </m:r>
                            </m:num>
                            <m:den>
                              <m:sSup>
                                <m:sSupPr>
                                  <m:ctrlPr>
                                    <a:rPr lang="zh-TW" altLang="zh-TW" i="1">
                                      <a:latin typeface="Cambria Math" panose="02040503050406030204" pitchFamily="18" charset="0"/>
                                    </a:rPr>
                                  </m:ctrlPr>
                                </m:sSup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b="0" i="1" smtClean="0">
                                          <a:latin typeface="Cambria Math" panose="02040503050406030204" pitchFamily="18" charset="0"/>
                                        </a:rPr>
                                        <m:t>𝑖</m:t>
                                      </m:r>
                                    </m:sub>
                                  </m:sSub>
                                </m:e>
                                <m:sup>
                                  <m:r>
                                    <a:rPr lang="en-US" altLang="zh-TW" i="1">
                                      <a:latin typeface="Cambria Math" panose="02040503050406030204" pitchFamily="18" charset="0"/>
                                    </a:rPr>
                                    <m:t>′</m:t>
                                  </m:r>
                                </m:sup>
                              </m:sSup>
                            </m:den>
                          </m:f>
                          <m:sSubSup>
                            <m:sSubSupPr>
                              <m:ctrlPr>
                                <a:rPr lang="zh-TW" altLang="zh-TW" i="1">
                                  <a:latin typeface="Cambria Math" panose="02040503050406030204" pitchFamily="18" charset="0"/>
                                </a:rPr>
                              </m:ctrlPr>
                            </m:sSubSupPr>
                            <m:e>
                              <m:r>
                                <a:rPr lang="en-US" altLang="zh-TW" i="1">
                                  <a:latin typeface="Cambria Math" panose="02040503050406030204" pitchFamily="18" charset="0"/>
                                </a:rPr>
                                <m:t>∆</m:t>
                              </m:r>
                              <m:r>
                                <a:rPr lang="en-US" altLang="zh-TW" i="1">
                                  <a:latin typeface="Cambria Math" panose="02040503050406030204" pitchFamily="18" charset="0"/>
                                </a:rPr>
                                <m:t>𝑛</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𝜔</m:t>
                                  </m:r>
                                </m:e>
                                <m:sub>
                                  <m:r>
                                    <a:rPr lang="en-US" altLang="zh-TW" b="0" i="1" smtClean="0">
                                      <a:latin typeface="Cambria Math" panose="02040503050406030204" pitchFamily="18" charset="0"/>
                                    </a:rPr>
                                    <m:t>𝑖</m:t>
                                  </m:r>
                                </m:sub>
                              </m:sSub>
                            </m:sub>
                            <m:sup>
                              <m:r>
                                <a:rPr lang="en-US" altLang="zh-TW" i="1">
                                  <a:latin typeface="Cambria Math" panose="02040503050406030204" pitchFamily="18" charset="0"/>
                                </a:rPr>
                                <m:t>−</m:t>
                              </m:r>
                            </m:sup>
                          </m:sSubSup>
                        </m:e>
                      </m:d>
                      <m:r>
                        <a:rPr lang="en-US" altLang="zh-TW" i="1">
                          <a:latin typeface="Cambria Math" panose="02040503050406030204" pitchFamily="18" charset="0"/>
                        </a:rPr>
                        <m:t>×</m:t>
                      </m:r>
                      <m:f>
                        <m:fPr>
                          <m:ctrlPr>
                            <a:rPr lang="zh-TW" altLang="zh-TW" i="1">
                              <a:latin typeface="Cambria Math" panose="02040503050406030204" pitchFamily="18" charset="0"/>
                            </a:rPr>
                          </m:ctrlPr>
                        </m:fPr>
                        <m:num>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num>
                        <m:den>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zh-TW" altLang="zh-TW" i="1">
                                  <a:latin typeface="Cambria Math" panose="02040503050406030204" pitchFamily="18" charset="0"/>
                                </a:rPr>
                              </m:ctrlPr>
                            </m:sSupPr>
                            <m:e>
                              <m:r>
                                <a:rPr lang="en-US" altLang="zh-TW" i="1">
                                  <a:latin typeface="Cambria Math" panose="02040503050406030204" pitchFamily="18" charset="0"/>
                                </a:rPr>
                                <m:t>𝑙</m:t>
                              </m:r>
                            </m:e>
                            <m:sup>
                              <m:r>
                                <a:rPr lang="en-US" altLang="zh-TW" i="1">
                                  <a:latin typeface="Cambria Math" panose="02040503050406030204" pitchFamily="18" charset="0"/>
                                </a:rPr>
                                <m:t>−</m:t>
                              </m:r>
                            </m:sup>
                          </m:sSup>
                        </m:den>
                      </m:f>
                    </m:oMath>
                  </m:oMathPara>
                </a14:m>
                <a:endParaRPr lang="zh-TW" altLang="en-US" dirty="0"/>
              </a:p>
            </p:txBody>
          </p:sp>
        </mc:Choice>
        <mc:Fallback xmlns="">
          <p:sp>
            <p:nvSpPr>
              <p:cNvPr id="4" name="矩形 3"/>
              <p:cNvSpPr>
                <a:spLocks noRot="1" noChangeAspect="1" noMove="1" noResize="1" noEditPoints="1" noAdjustHandles="1" noChangeArrowheads="1" noChangeShapeType="1" noTextEdit="1"/>
              </p:cNvSpPr>
              <p:nvPr/>
            </p:nvSpPr>
            <p:spPr>
              <a:xfrm>
                <a:off x="3739742" y="865169"/>
                <a:ext cx="4712509" cy="2125069"/>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75630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lvl="2" algn="ctr">
              <a:lnSpc>
                <a:spcPct val="100000"/>
              </a:lnSpc>
            </a:pP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Measurements</a:t>
            </a:r>
          </a:p>
        </p:txBody>
      </p:sp>
      <p:pic>
        <p:nvPicPr>
          <p:cNvPr id="5" name="圖片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8282" t="9325" r="2968" b="4123"/>
          <a:stretch/>
        </p:blipFill>
        <p:spPr>
          <a:xfrm>
            <a:off x="1004588" y="1296581"/>
            <a:ext cx="3910652" cy="2696083"/>
          </a:xfrm>
          <a:prstGeom prst="rect">
            <a:avLst/>
          </a:prstGeom>
        </p:spPr>
      </p:pic>
      <p:grpSp>
        <p:nvGrpSpPr>
          <p:cNvPr id="6" name="群組 5"/>
          <p:cNvGrpSpPr>
            <a:grpSpLocks noChangeAspect="1"/>
          </p:cNvGrpSpPr>
          <p:nvPr/>
        </p:nvGrpSpPr>
        <p:grpSpPr>
          <a:xfrm>
            <a:off x="1102763" y="4144919"/>
            <a:ext cx="3714301" cy="2713081"/>
            <a:chOff x="1925515" y="487937"/>
            <a:chExt cx="8239373" cy="6018371"/>
          </a:xfrm>
        </p:grpSpPr>
        <p:pic>
          <p:nvPicPr>
            <p:cNvPr id="7" name="圖片 6"/>
            <p:cNvPicPr>
              <a:picLocks noChangeAspect="1"/>
            </p:cNvPicPr>
            <p:nvPr/>
          </p:nvPicPr>
          <p:blipFill rotWithShape="1">
            <a:blip r:embed="rId4" cstate="print">
              <a:extLst>
                <a:ext uri="{28A0092B-C50C-407E-A947-70E740481C1C}">
                  <a14:useLocalDpi xmlns:a14="http://schemas.microsoft.com/office/drawing/2010/main" val="0"/>
                </a:ext>
              </a:extLst>
            </a:blip>
            <a:srcRect l="6996" t="10640" r="13040" b="5128"/>
            <a:stretch/>
          </p:blipFill>
          <p:spPr>
            <a:xfrm>
              <a:off x="1925515" y="729762"/>
              <a:ext cx="7754816" cy="5776546"/>
            </a:xfrm>
            <a:prstGeom prst="rect">
              <a:avLst/>
            </a:prstGeom>
          </p:spPr>
        </p:pic>
        <mc:AlternateContent xmlns:mc="http://schemas.openxmlformats.org/markup-compatibility/2006" xmlns:a14="http://schemas.microsoft.com/office/drawing/2010/main">
          <mc:Choice Requires="a14">
            <p:sp>
              <p:nvSpPr>
                <p:cNvPr id="8" name="文字方塊 7"/>
                <p:cNvSpPr txBox="1"/>
                <p:nvPr/>
              </p:nvSpPr>
              <p:spPr>
                <a:xfrm>
                  <a:off x="5420651" y="487937"/>
                  <a:ext cx="4744237" cy="628116"/>
                </a:xfrm>
                <a:prstGeom prst="rect">
                  <a:avLst/>
                </a:prstGeom>
                <a:noFill/>
              </p:spPr>
              <p:txBody>
                <a:bodyPr wrap="none" rtlCol="0">
                  <a:spAutoFit/>
                </a:bodyPr>
                <a:lstStyle/>
                <a:p>
                  <a:r>
                    <a:rPr lang="en-US" altLang="zh-TW" sz="1400" dirty="0">
                      <a:latin typeface="Times New Roman" panose="02020603050405020304" pitchFamily="18" charset="0"/>
                      <a:cs typeface="Times New Roman" panose="02020603050405020304" pitchFamily="18" charset="0"/>
                    </a:rPr>
                    <a:t>signal pulse fluctuation</a:t>
                  </a:r>
                  <a:r>
                    <a:rPr lang="zh-TW" altLang="en-US" sz="1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9%</a:t>
                  </a:r>
                  <a:endParaRPr lang="zh-TW" altLang="en-US" sz="1400" dirty="0">
                    <a:latin typeface="Times New Roman" panose="02020603050405020304" pitchFamily="18" charset="0"/>
                    <a:cs typeface="Times New Roman" panose="02020603050405020304" pitchFamily="18" charset="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5420651" y="487937"/>
                  <a:ext cx="4744237" cy="628116"/>
                </a:xfrm>
                <a:prstGeom prst="rect">
                  <a:avLst/>
                </a:prstGeom>
                <a:blipFill>
                  <a:blip r:embed="rId5"/>
                  <a:stretch>
                    <a:fillRect l="-855" t="-4348" r="-8262" b="-30435"/>
                  </a:stretch>
                </a:blipFill>
              </p:spPr>
              <p:txBody>
                <a:bodyPr/>
                <a:lstStyle/>
                <a:p>
                  <a:r>
                    <a:rPr lang="zh-TW" altLang="en-US">
                      <a:noFill/>
                    </a:rPr>
                    <a:t> </a:t>
                  </a:r>
                </a:p>
              </p:txBody>
            </p:sp>
          </mc:Fallback>
        </mc:AlternateContent>
      </p:grpSp>
      <p:sp>
        <p:nvSpPr>
          <p:cNvPr id="9" name="矩形 8"/>
          <p:cNvSpPr/>
          <p:nvPr/>
        </p:nvSpPr>
        <p:spPr>
          <a:xfrm>
            <a:off x="1123193" y="927249"/>
            <a:ext cx="3673442"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LIMO</a:t>
            </a:r>
            <a:r>
              <a:rPr lang="zh-TW" altLang="en-US" b="1" u="heavy" dirty="0">
                <a:latin typeface="Times New Roman" pitchFamily="18" charset="0"/>
                <a:cs typeface="Times New Roman" pitchFamily="18" charset="0"/>
              </a:rPr>
              <a:t> </a:t>
            </a:r>
            <a:r>
              <a:rPr lang="en-US" altLang="zh-TW" b="1" u="heavy" dirty="0">
                <a:latin typeface="Times New Roman" pitchFamily="18" charset="0"/>
                <a:cs typeface="Times New Roman" pitchFamily="18" charset="0"/>
              </a:rPr>
              <a:t>diode</a:t>
            </a:r>
            <a:r>
              <a:rPr lang="zh-TW" altLang="en-US" b="1" u="heavy" dirty="0">
                <a:latin typeface="Times New Roman" pitchFamily="18" charset="0"/>
                <a:cs typeface="Times New Roman" pitchFamily="18" charset="0"/>
              </a:rPr>
              <a:t> </a:t>
            </a:r>
            <a:r>
              <a:rPr lang="en-US" altLang="zh-TW" b="1" u="heavy" dirty="0">
                <a:latin typeface="Times New Roman" pitchFamily="18" charset="0"/>
                <a:cs typeface="Times New Roman" pitchFamily="18" charset="0"/>
              </a:rPr>
              <a:t>laser</a:t>
            </a:r>
            <a:r>
              <a:rPr lang="zh-TW" altLang="en-US" b="1" u="heavy" dirty="0">
                <a:latin typeface="Times New Roman" pitchFamily="18" charset="0"/>
                <a:cs typeface="Times New Roman" pitchFamily="18" charset="0"/>
              </a:rPr>
              <a:t> </a:t>
            </a:r>
            <a:r>
              <a:rPr lang="en-US" altLang="zh-TW" b="1" u="heavy" dirty="0">
                <a:latin typeface="Times New Roman" pitchFamily="18" charset="0"/>
                <a:cs typeface="Times New Roman" pitchFamily="18" charset="0"/>
              </a:rPr>
              <a:t>power: 16A~20A</a:t>
            </a:r>
          </a:p>
        </p:txBody>
      </p:sp>
      <p:sp>
        <p:nvSpPr>
          <p:cNvPr id="14" name="矩形 13"/>
          <p:cNvSpPr/>
          <p:nvPr/>
        </p:nvSpPr>
        <p:spPr>
          <a:xfrm>
            <a:off x="7437164" y="927249"/>
            <a:ext cx="2255746"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Electric field:0V/mm</a:t>
            </a:r>
          </a:p>
        </p:txBody>
      </p:sp>
      <p:sp>
        <p:nvSpPr>
          <p:cNvPr id="15" name="矩形 14"/>
          <p:cNvSpPr/>
          <p:nvPr/>
        </p:nvSpPr>
        <p:spPr>
          <a:xfrm>
            <a:off x="7264037" y="3855302"/>
            <a:ext cx="2601995" cy="369332"/>
          </a:xfrm>
          <a:prstGeom prst="rect">
            <a:avLst/>
          </a:prstGeom>
        </p:spPr>
        <p:txBody>
          <a:bodyPr wrap="none">
            <a:spAutoFit/>
          </a:bodyPr>
          <a:lstStyle/>
          <a:p>
            <a:pPr algn="ctr"/>
            <a:r>
              <a:rPr lang="en-US" altLang="zh-TW" b="1" u="heavy" dirty="0">
                <a:latin typeface="Times New Roman" pitchFamily="18" charset="0"/>
                <a:cs typeface="Times New Roman" pitchFamily="18" charset="0"/>
              </a:rPr>
              <a:t>Electric field:1000V/mm</a:t>
            </a:r>
          </a:p>
        </p:txBody>
      </p:sp>
      <p:sp>
        <p:nvSpPr>
          <p:cNvPr id="16" name="矩形 15"/>
          <p:cNvSpPr/>
          <p:nvPr/>
        </p:nvSpPr>
        <p:spPr>
          <a:xfrm>
            <a:off x="9204633" y="1880763"/>
            <a:ext cx="1322798" cy="461665"/>
          </a:xfrm>
          <a:prstGeom prst="rect">
            <a:avLst/>
          </a:prstGeom>
        </p:spPr>
        <p:txBody>
          <a:bodyPr wrap="none">
            <a:spAutoFit/>
          </a:bodyPr>
          <a:lstStyle/>
          <a:p>
            <a:pPr algn="ctr"/>
            <a:r>
              <a:rPr lang="en-US" altLang="zh-TW" sz="2400" b="1" dirty="0">
                <a:latin typeface="Times New Roman" pitchFamily="18" charset="0"/>
                <a:cs typeface="Times New Roman" pitchFamily="18" charset="0"/>
              </a:rPr>
              <a:t>4.7656ns</a:t>
            </a:r>
          </a:p>
        </p:txBody>
      </p:sp>
      <p:sp>
        <p:nvSpPr>
          <p:cNvPr id="17" name="矩形 16"/>
          <p:cNvSpPr/>
          <p:nvPr/>
        </p:nvSpPr>
        <p:spPr>
          <a:xfrm>
            <a:off x="9204633" y="4808816"/>
            <a:ext cx="1322798" cy="461665"/>
          </a:xfrm>
          <a:prstGeom prst="rect">
            <a:avLst/>
          </a:prstGeom>
        </p:spPr>
        <p:txBody>
          <a:bodyPr wrap="none">
            <a:spAutoFit/>
          </a:bodyPr>
          <a:lstStyle/>
          <a:p>
            <a:pPr algn="ctr"/>
            <a:r>
              <a:rPr lang="en-US" altLang="zh-TW" sz="2400" b="1" dirty="0">
                <a:latin typeface="Times New Roman" pitchFamily="18" charset="0"/>
                <a:cs typeface="Times New Roman" pitchFamily="18" charset="0"/>
              </a:rPr>
              <a:t>4.9062ns</a:t>
            </a:r>
          </a:p>
        </p:txBody>
      </p:sp>
      <p:pic>
        <p:nvPicPr>
          <p:cNvPr id="3" name="圖片 2"/>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6539" t="11212" r="12486" b="4545"/>
          <a:stretch/>
        </p:blipFill>
        <p:spPr>
          <a:xfrm>
            <a:off x="6773348" y="1256880"/>
            <a:ext cx="3583371" cy="2596672"/>
          </a:xfrm>
          <a:prstGeom prst="rect">
            <a:avLst/>
          </a:prstGeom>
        </p:spPr>
      </p:pic>
      <p:pic>
        <p:nvPicPr>
          <p:cNvPr id="11" name="圖片 10"/>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l="6490" t="10754" r="12537" b="4398"/>
          <a:stretch/>
        </p:blipFill>
        <p:spPr>
          <a:xfrm>
            <a:off x="6773437" y="4144919"/>
            <a:ext cx="3583282" cy="2615320"/>
          </a:xfrm>
          <a:prstGeom prst="rect">
            <a:avLst/>
          </a:prstGeom>
        </p:spPr>
      </p:pic>
    </p:spTree>
    <p:extLst>
      <p:ext uri="{BB962C8B-B14F-4D97-AF65-F5344CB8AC3E}">
        <p14:creationId xmlns:p14="http://schemas.microsoft.com/office/powerpoint/2010/main" val="3955379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p:cNvSpPr txBox="1">
            <a:spLocks/>
          </p:cNvSpPr>
          <p:nvPr/>
        </p:nvSpPr>
        <p:spPr>
          <a:xfrm>
            <a:off x="457287" y="1028251"/>
            <a:ext cx="4626103" cy="4985688"/>
          </a:xfrm>
          <a:prstGeom prst="rect">
            <a:avLst/>
          </a:prstGeom>
          <a:no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Introduction</a:t>
            </a:r>
          </a:p>
          <a:p>
            <a:pPr lvl="2">
              <a:lnSpc>
                <a:spcPct val="100000"/>
              </a:lnSpc>
            </a:pPr>
            <a:r>
              <a:rPr lang="en-US" altLang="zh-TW" sz="1400" b="1" dirty="0">
                <a:latin typeface="Times New Roman" panose="02020603050405020304" pitchFamily="18" charset="0"/>
                <a:cs typeface="Times New Roman" panose="02020603050405020304" pitchFamily="18" charset="0"/>
              </a:rPr>
              <a:t>OPO</a:t>
            </a:r>
            <a:r>
              <a:rPr lang="zh-TW" altLang="en-US" sz="1400" b="1" dirty="0">
                <a:latin typeface="Times New Roman" panose="02020603050405020304" pitchFamily="18" charset="0"/>
                <a:cs typeface="Times New Roman" panose="02020603050405020304" pitchFamily="18" charset="0"/>
              </a:rPr>
              <a:t> </a:t>
            </a:r>
            <a:r>
              <a:rPr lang="en-US" altLang="zh-TW" sz="1400" b="1" dirty="0">
                <a:latin typeface="Times New Roman" panose="02020603050405020304" pitchFamily="18" charset="0"/>
                <a:cs typeface="Times New Roman" panose="02020603050405020304" pitchFamily="18" charset="0"/>
              </a:rPr>
              <a:t>spectral tuning</a:t>
            </a: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Effect</a:t>
            </a: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Device Design and Fabrication</a:t>
            </a:r>
          </a:p>
          <a:p>
            <a:pPr lvl="2"/>
            <a:r>
              <a:rPr lang="en-US" altLang="zh-TW" sz="1400" b="1" dirty="0">
                <a:latin typeface="Times New Roman" panose="02020603050405020304" pitchFamily="18" charset="0"/>
                <a:cs typeface="Times New Roman" panose="02020603050405020304" pitchFamily="18" charset="0"/>
              </a:rPr>
              <a:t>Genetic algorithm</a:t>
            </a:r>
          </a:p>
          <a:p>
            <a:pPr lvl="2"/>
            <a:r>
              <a:rPr lang="en-US" altLang="zh-TW" sz="1400" b="1" dirty="0" err="1">
                <a:latin typeface="Times New Roman" panose="02020603050405020304" pitchFamily="18" charset="0"/>
                <a:cs typeface="Times New Roman" panose="02020603050405020304" pitchFamily="18" charset="0"/>
              </a:rPr>
              <a:t>Nonperiodic</a:t>
            </a:r>
            <a:r>
              <a:rPr lang="en-US" altLang="zh-TW" sz="1400" b="1" dirty="0">
                <a:latin typeface="Times New Roman" panose="02020603050405020304" pitchFamily="18" charset="0"/>
                <a:cs typeface="Times New Roman" panose="02020603050405020304" pitchFamily="18" charset="0"/>
              </a:rPr>
              <a:t> optical </a:t>
            </a:r>
            <a:r>
              <a:rPr lang="en-US" altLang="zh-TW" sz="1400" b="1" dirty="0" err="1">
                <a:latin typeface="Times New Roman" panose="02020603050405020304" pitchFamily="18" charset="0"/>
                <a:cs typeface="Times New Roman" panose="02020603050405020304" pitchFamily="18" charset="0"/>
              </a:rPr>
              <a:t>superlattice</a:t>
            </a:r>
            <a:r>
              <a:rPr lang="en-US" altLang="zh-TW" sz="1400" b="1" dirty="0">
                <a:latin typeface="Times New Roman" panose="02020603050405020304" pitchFamily="18" charset="0"/>
                <a:cs typeface="Times New Roman" panose="02020603050405020304" pitchFamily="18" charset="0"/>
              </a:rPr>
              <a:t> design</a:t>
            </a: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lnSpc>
                <a:spcPct val="100000"/>
              </a:lnSpc>
            </a:pPr>
            <a:r>
              <a:rPr lang="en-US" altLang="zh-TW" sz="1400" b="1" dirty="0">
                <a:latin typeface="Times New Roman" panose="02020603050405020304" pitchFamily="18" charset="0"/>
                <a:cs typeface="Times New Roman" panose="02020603050405020304" pitchFamily="18" charset="0"/>
              </a:rPr>
              <a:t>Experimental set-up</a:t>
            </a:r>
          </a:p>
          <a:p>
            <a:pPr lvl="2">
              <a:lnSpc>
                <a:spcPct val="100000"/>
              </a:lnSpc>
            </a:pPr>
            <a:r>
              <a:rPr lang="en-US" altLang="zh-TW" sz="1400" b="1" dirty="0">
                <a:latin typeface="Times New Roman" panose="02020603050405020304" pitchFamily="18" charset="0"/>
                <a:cs typeface="Times New Roman" panose="02020603050405020304" pitchFamily="18" charset="0"/>
              </a:rPr>
              <a:t>Measurement</a:t>
            </a:r>
          </a:p>
          <a:p>
            <a:pPr lvl="2">
              <a:lnSpc>
                <a:spcPct val="100000"/>
              </a:lnSpc>
            </a:pPr>
            <a:r>
              <a:rPr lang="en-US" altLang="zh-TW" sz="1400" b="1" dirty="0">
                <a:latin typeface="Times New Roman" panose="02020603050405020304" pitchFamily="18" charset="0"/>
                <a:cs typeface="Times New Roman" panose="02020603050405020304" pitchFamily="18" charset="0"/>
              </a:rPr>
              <a:t>Analysis</a:t>
            </a:r>
          </a:p>
          <a:p>
            <a:pPr marL="571500" indent="-571500">
              <a:lnSpc>
                <a:spcPct val="100000"/>
              </a:lnSpc>
              <a:buFont typeface="Arial" panose="020B0604020202020204" pitchFamily="34" charset="0"/>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Conclusions and future work</a:t>
            </a:r>
          </a:p>
        </p:txBody>
      </p:sp>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9826" y="898030"/>
            <a:ext cx="4081272" cy="2763774"/>
          </a:xfrm>
          <a:prstGeom prst="rect">
            <a:avLst/>
          </a:prstGeom>
        </p:spPr>
      </p:pic>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9826" y="3661804"/>
            <a:ext cx="4082605" cy="3060573"/>
          </a:xfrm>
          <a:prstGeom prst="rect">
            <a:avLst/>
          </a:prstGeom>
        </p:spPr>
      </p:pic>
    </p:spTree>
    <p:extLst>
      <p:ext uri="{BB962C8B-B14F-4D97-AF65-F5344CB8AC3E}">
        <p14:creationId xmlns:p14="http://schemas.microsoft.com/office/powerpoint/2010/main" val="2017074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Conclusions</a:t>
            </a:r>
            <a:endParaRPr lang="zh-TW" altLang="en-US" sz="3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矩形 2"/>
          <p:cNvSpPr/>
          <p:nvPr/>
        </p:nvSpPr>
        <p:spPr>
          <a:xfrm>
            <a:off x="418511" y="1160558"/>
            <a:ext cx="11354976" cy="5632311"/>
          </a:xfrm>
          <a:prstGeom prst="rect">
            <a:avLst/>
          </a:prstGeom>
        </p:spPr>
        <p:txBody>
          <a:bodyPr wrap="square">
            <a:spAutoFit/>
          </a:bodyPr>
          <a:lstStyle/>
          <a:p>
            <a:pPr marL="342900" indent="-342900">
              <a:lnSpc>
                <a:spcPct val="150000"/>
              </a:lnSpc>
              <a:buFont typeface="+mj-lt"/>
              <a:buAutoNum type="arabicPeriod"/>
            </a:pPr>
            <a:r>
              <a:rPr lang="en-US" altLang="zh-TW" sz="2000" dirty="0">
                <a:latin typeface="Times New Roman" panose="02020603050405020304" pitchFamily="18" charset="0"/>
                <a:cs typeface="Times New Roman" panose="02020603050405020304" pitchFamily="18" charset="0"/>
              </a:rPr>
              <a:t>We developed a genetic algorithm to calculate a </a:t>
            </a:r>
            <a:r>
              <a:rPr lang="en-US" altLang="zh-TW" sz="2000" dirty="0" err="1">
                <a:latin typeface="Times New Roman" panose="02020603050405020304" pitchFamily="18" charset="0"/>
                <a:cs typeface="Times New Roman" panose="02020603050405020304" pitchFamily="18" charset="0"/>
              </a:rPr>
              <a:t>nonperiodic</a:t>
            </a:r>
            <a:r>
              <a:rPr lang="en-US" altLang="zh-TW" sz="2000" dirty="0">
                <a:latin typeface="Times New Roman" panose="02020603050405020304" pitchFamily="18" charset="0"/>
                <a:cs typeface="Times New Roman" panose="02020603050405020304" pitchFamily="18" charset="0"/>
              </a:rPr>
              <a:t> optical </a:t>
            </a:r>
            <a:r>
              <a:rPr lang="en-US" altLang="zh-TW" sz="2000" dirty="0" err="1">
                <a:latin typeface="Times New Roman" panose="02020603050405020304" pitchFamily="18" charset="0"/>
                <a:cs typeface="Times New Roman" panose="02020603050405020304" pitchFamily="18" charset="0"/>
              </a:rPr>
              <a:t>superlattice</a:t>
            </a:r>
            <a:r>
              <a:rPr lang="en-US" altLang="zh-TW" sz="2000" b="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structure in LiNbO</a:t>
            </a:r>
            <a:r>
              <a:rPr lang="en-US" altLang="zh-TW" sz="2000" baseline="-25000" dirty="0">
                <a:latin typeface="Times New Roman" panose="02020603050405020304" pitchFamily="18" charset="0"/>
                <a:cs typeface="Times New Roman" panose="02020603050405020304" pitchFamily="18" charset="0"/>
              </a:rPr>
              <a:t>3</a:t>
            </a:r>
            <a:r>
              <a:rPr lang="en-US" altLang="zh-TW" sz="2000" dirty="0">
                <a:latin typeface="Times New Roman" panose="02020603050405020304" pitchFamily="18" charset="0"/>
                <a:cs typeface="Times New Roman" panose="02020603050405020304" pitchFamily="18" charset="0"/>
              </a:rPr>
              <a:t> crystal for achieving EO spectrum tuning in multiline </a:t>
            </a:r>
            <a:r>
              <a:rPr lang="en-US" altLang="zh-TW" sz="2000" dirty="0" err="1">
                <a:latin typeface="Times New Roman" panose="02020603050405020304" pitchFamily="18" charset="0"/>
                <a:cs typeface="Times New Roman" panose="02020603050405020304" pitchFamily="18" charset="0"/>
              </a:rPr>
              <a:t>intracavity</a:t>
            </a:r>
            <a:r>
              <a:rPr lang="en-US" altLang="zh-TW" sz="2000" dirty="0">
                <a:latin typeface="Times New Roman" panose="02020603050405020304" pitchFamily="18" charset="0"/>
                <a:cs typeface="Times New Roman" panose="02020603050405020304" pitchFamily="18" charset="0"/>
              </a:rPr>
              <a:t> OPOs.</a:t>
            </a:r>
          </a:p>
          <a:p>
            <a:pPr marL="342900" indent="-342900">
              <a:lnSpc>
                <a:spcPct val="150000"/>
              </a:lnSpc>
              <a:buFont typeface="+mj-lt"/>
              <a:buAutoNum type="arabicPeriod"/>
            </a:pPr>
            <a:r>
              <a:rPr lang="en-US" altLang="zh-TW" sz="2000" dirty="0">
                <a:latin typeface="Times New Roman" panose="02020603050405020304" pitchFamily="18" charset="0"/>
                <a:cs typeface="Times New Roman" panose="02020603050405020304" pitchFamily="18" charset="0"/>
              </a:rPr>
              <a:t>We successfully achieve a highest spectral tuning rate of &gt;0.7 nm/(kV/mm) in a dual signal APPLN EO OPO system in telecom C band region.</a:t>
            </a:r>
          </a:p>
          <a:p>
            <a:pPr marL="342900" indent="-342900">
              <a:lnSpc>
                <a:spcPct val="150000"/>
              </a:lnSpc>
              <a:buFont typeface="+mj-lt"/>
              <a:buAutoNum type="arabicPeriod"/>
            </a:pPr>
            <a:endParaRPr lang="en-US" altLang="zh-TW" sz="2000" dirty="0">
              <a:latin typeface="Times New Roman" pitchFamily="18" charset="0"/>
              <a:cs typeface="Times New Roman" pitchFamily="18" charset="0"/>
            </a:endParaRPr>
          </a:p>
          <a:p>
            <a:pPr marL="342900" indent="-342900">
              <a:lnSpc>
                <a:spcPct val="150000"/>
              </a:lnSpc>
              <a:buFont typeface="+mj-lt"/>
              <a:buAutoNum type="arabicPeriod"/>
            </a:pPr>
            <a:endParaRPr lang="en-US" altLang="zh-TW" sz="2000" dirty="0">
              <a:latin typeface="Times New Roman" pitchFamily="18" charset="0"/>
              <a:cs typeface="Times New Roman" pitchFamily="18" charset="0"/>
            </a:endParaRPr>
          </a:p>
          <a:p>
            <a:pPr marL="342900" indent="-342900">
              <a:lnSpc>
                <a:spcPct val="150000"/>
              </a:lnSpc>
              <a:buFont typeface="+mj-lt"/>
              <a:buAutoNum type="arabicPeriod"/>
            </a:pPr>
            <a:endParaRPr lang="en-US" altLang="zh-TW" sz="2000" dirty="0">
              <a:latin typeface="Times New Roman" pitchFamily="18" charset="0"/>
              <a:cs typeface="Times New Roman" pitchFamily="18" charset="0"/>
            </a:endParaRPr>
          </a:p>
          <a:p>
            <a:pPr marL="342900" indent="-342900">
              <a:lnSpc>
                <a:spcPct val="150000"/>
              </a:lnSpc>
              <a:buFont typeface="+mj-lt"/>
              <a:buAutoNum type="arabicPeriod"/>
            </a:pPr>
            <a:endParaRPr lang="en-US" altLang="zh-TW" sz="2000" dirty="0">
              <a:latin typeface="Times New Roman" pitchFamily="18" charset="0"/>
              <a:cs typeface="Times New Roman" pitchFamily="18" charset="0"/>
            </a:endParaRPr>
          </a:p>
          <a:p>
            <a:pPr marL="342900" indent="-342900">
              <a:lnSpc>
                <a:spcPct val="150000"/>
              </a:lnSpc>
              <a:buFont typeface="+mj-lt"/>
              <a:buAutoNum type="arabicPeriod"/>
            </a:pPr>
            <a:endParaRPr lang="en-US" altLang="zh-TW" sz="2000" dirty="0">
              <a:latin typeface="Times New Roman" pitchFamily="18" charset="0"/>
              <a:cs typeface="Times New Roman" pitchFamily="18" charset="0"/>
            </a:endParaRPr>
          </a:p>
          <a:p>
            <a:pPr marL="342900" indent="-342900">
              <a:lnSpc>
                <a:spcPct val="150000"/>
              </a:lnSpc>
              <a:buFont typeface="+mj-lt"/>
              <a:buAutoNum type="arabicPeriod"/>
            </a:pPr>
            <a:endParaRPr lang="en-US" altLang="zh-TW" sz="2000" dirty="0">
              <a:latin typeface="Times New Roman" pitchFamily="18" charset="0"/>
              <a:cs typeface="Times New Roman" pitchFamily="18" charset="0"/>
            </a:endParaRPr>
          </a:p>
          <a:p>
            <a:pPr marL="342900" indent="-342900">
              <a:lnSpc>
                <a:spcPct val="150000"/>
              </a:lnSpc>
              <a:buFont typeface="+mj-lt"/>
              <a:buAutoNum type="arabicPeriod"/>
            </a:pPr>
            <a:r>
              <a:rPr lang="en-US" altLang="zh-TW" sz="2000" dirty="0">
                <a:latin typeface="Times New Roman" pitchFamily="18" charset="0"/>
                <a:cs typeface="Times New Roman" pitchFamily="18" charset="0"/>
              </a:rPr>
              <a:t>We encountered a measurement problem of power decay with time, the origin is not yet found. The use of a cw OPO is desirable for reducing the problem as well as for having highly narrowed OPO lines.</a:t>
            </a:r>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2832767193"/>
                  </p:ext>
                </p:extLst>
              </p:nvPr>
            </p:nvGraphicFramePr>
            <p:xfrm>
              <a:off x="2024935" y="3322552"/>
              <a:ext cx="7925560" cy="1609600"/>
            </p:xfrm>
            <a:graphic>
              <a:graphicData uri="http://schemas.openxmlformats.org/drawingml/2006/table">
                <a:tbl>
                  <a:tblPr firstRow="1" firstCol="1" bandRow="1">
                    <a:tableStyleId>{616DA210-FB5B-4158-B5E0-FEB733F419BA}</a:tableStyleId>
                  </a:tblPr>
                  <a:tblGrid>
                    <a:gridCol w="2641562">
                      <a:extLst>
                        <a:ext uri="{9D8B030D-6E8A-4147-A177-3AD203B41FA5}">
                          <a16:colId xmlns:a16="http://schemas.microsoft.com/office/drawing/2014/main" val="1590374079"/>
                        </a:ext>
                      </a:extLst>
                    </a:gridCol>
                    <a:gridCol w="2641562">
                      <a:extLst>
                        <a:ext uri="{9D8B030D-6E8A-4147-A177-3AD203B41FA5}">
                          <a16:colId xmlns:a16="http://schemas.microsoft.com/office/drawing/2014/main" val="3498467408"/>
                        </a:ext>
                      </a:extLst>
                    </a:gridCol>
                    <a:gridCol w="2642436">
                      <a:extLst>
                        <a:ext uri="{9D8B030D-6E8A-4147-A177-3AD203B41FA5}">
                          <a16:colId xmlns:a16="http://schemas.microsoft.com/office/drawing/2014/main" val="3086251582"/>
                        </a:ext>
                      </a:extLst>
                    </a:gridCol>
                  </a:tblGrid>
                  <a:tr h="0">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 </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b="0" dirty="0">
                              <a:latin typeface="Times New Roman" panose="02020603050405020304" pitchFamily="18" charset="0"/>
                              <a:cs typeface="Times New Roman" panose="02020603050405020304" pitchFamily="18" charset="0"/>
                            </a:rPr>
                            <a:t>previous work</a:t>
                          </a:r>
                          <a:endParaRPr lang="zh-TW" altLang="en-US" sz="2000" b="0" dirty="0">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b="0" kern="100" dirty="0">
                              <a:effectLst/>
                              <a:latin typeface="Times New Roman" panose="02020603050405020304" pitchFamily="18" charset="0"/>
                              <a:ea typeface="標楷體" panose="03000509000000000000" pitchFamily="65" charset="-120"/>
                              <a:cs typeface="Times New Roman" panose="02020603050405020304" pitchFamily="18" charset="0"/>
                            </a:rPr>
                            <a:t>this </a:t>
                          </a:r>
                          <a:r>
                            <a:rPr lang="en-US" altLang="zh-TW" sz="2000" b="0" kern="1200" dirty="0">
                              <a:effectLst/>
                              <a:latin typeface="Times New Roman" panose="02020603050405020304" pitchFamily="18" charset="0"/>
                              <a:ea typeface="+mn-ea"/>
                              <a:cs typeface="Times New Roman" panose="02020603050405020304" pitchFamily="18" charset="0"/>
                            </a:rPr>
                            <a:t>work</a:t>
                          </a:r>
                          <a:endParaRPr lang="zh-TW" altLang="en-US" sz="2000" b="0" dirty="0">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3203152"/>
                      </a:ext>
                    </a:extLst>
                  </a:tr>
                  <a:tr h="0">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conversion efficiency</a:t>
                          </a:r>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b="0" kern="0" dirty="0">
                              <a:effectLst/>
                              <a:latin typeface="Times New Roman" panose="02020603050405020304" pitchFamily="18" charset="0"/>
                              <a:ea typeface="+mn-ea"/>
                              <a:cs typeface="Times New Roman" panose="02020603050405020304" pitchFamily="18" charset="0"/>
                            </a:rPr>
                            <a:t>~13%</a:t>
                          </a:r>
                          <a:endParaRPr lang="zh-TW" sz="2000" b="0" kern="100" dirty="0">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same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8331096"/>
                      </a:ext>
                    </a:extLst>
                  </a:tr>
                  <a:tr h="0">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spectral-shape fidelity</a:t>
                          </a:r>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low</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high</a:t>
                          </a:r>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1971559"/>
                      </a:ext>
                    </a:extLst>
                  </a:tr>
                  <a:tr h="0">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tuning rate(nm/kV/mm)</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0.46 nm/</a:t>
                          </a:r>
                          <a14:m>
                            <m:oMath xmlns:m="http://schemas.openxmlformats.org/officeDocument/2006/math">
                              <m:f>
                                <m:fPr>
                                  <m:type m:val="lin"/>
                                  <m:ctrlPr>
                                    <a:rPr lang="zh-TW" sz="2000" b="0" i="1" kern="100">
                                      <a:effectLst/>
                                      <a:latin typeface="Cambria Math" panose="02040503050406030204" pitchFamily="18" charset="0"/>
                                    </a:rPr>
                                  </m:ctrlPr>
                                </m:fPr>
                                <m:num>
                                  <m:r>
                                    <a:rPr lang="en-US" sz="2000" b="0" i="1" kern="100">
                                      <a:effectLst/>
                                      <a:latin typeface="Cambria Math" panose="02040503050406030204" pitchFamily="18" charset="0"/>
                                    </a:rPr>
                                    <m:t>𝑘𝑉</m:t>
                                  </m:r>
                                </m:num>
                                <m:den>
                                  <m:r>
                                    <a:rPr lang="en-US" sz="2000" b="0" i="1" kern="100">
                                      <a:effectLst/>
                                      <a:latin typeface="Cambria Math" panose="02040503050406030204" pitchFamily="18" charset="0"/>
                                    </a:rPr>
                                    <m:t>𝑚𝑚</m:t>
                                  </m:r>
                                </m:den>
                              </m:f>
                            </m:oMath>
                          </a14:m>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0.7325 nm/</a:t>
                          </a:r>
                          <a14:m>
                            <m:oMath xmlns:m="http://schemas.openxmlformats.org/officeDocument/2006/math">
                              <m:f>
                                <m:fPr>
                                  <m:type m:val="lin"/>
                                  <m:ctrlPr>
                                    <a:rPr lang="zh-TW" sz="2000" b="0" i="1" kern="100">
                                      <a:effectLst/>
                                      <a:latin typeface="Cambria Math" panose="02040503050406030204" pitchFamily="18" charset="0"/>
                                    </a:rPr>
                                  </m:ctrlPr>
                                </m:fPr>
                                <m:num>
                                  <m:r>
                                    <a:rPr lang="en-US" sz="2000" b="0" i="1" kern="100">
                                      <a:effectLst/>
                                      <a:latin typeface="Cambria Math" panose="02040503050406030204" pitchFamily="18" charset="0"/>
                                    </a:rPr>
                                    <m:t>𝑘𝑉</m:t>
                                  </m:r>
                                </m:num>
                                <m:den>
                                  <m:r>
                                    <a:rPr lang="en-US" sz="2000" b="0" i="1" kern="100">
                                      <a:effectLst/>
                                      <a:latin typeface="Cambria Math" panose="02040503050406030204" pitchFamily="18" charset="0"/>
                                    </a:rPr>
                                    <m:t>𝑚𝑚</m:t>
                                  </m:r>
                                </m:den>
                              </m:f>
                            </m:oMath>
                          </a14:m>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96094448"/>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2832767193"/>
                  </p:ext>
                </p:extLst>
              </p:nvPr>
            </p:nvGraphicFramePr>
            <p:xfrm>
              <a:off x="2024935" y="3322552"/>
              <a:ext cx="7925560" cy="1828800"/>
            </p:xfrm>
            <a:graphic>
              <a:graphicData uri="http://schemas.openxmlformats.org/drawingml/2006/table">
                <a:tbl>
                  <a:tblPr firstRow="1" firstCol="1" bandRow="1">
                    <a:tableStyleId>{616DA210-FB5B-4158-B5E0-FEB733F419BA}</a:tableStyleId>
                  </a:tblPr>
                  <a:tblGrid>
                    <a:gridCol w="2641562">
                      <a:extLst>
                        <a:ext uri="{9D8B030D-6E8A-4147-A177-3AD203B41FA5}">
                          <a16:colId xmlns:a16="http://schemas.microsoft.com/office/drawing/2014/main" val="1590374079"/>
                        </a:ext>
                      </a:extLst>
                    </a:gridCol>
                    <a:gridCol w="2641562">
                      <a:extLst>
                        <a:ext uri="{9D8B030D-6E8A-4147-A177-3AD203B41FA5}">
                          <a16:colId xmlns:a16="http://schemas.microsoft.com/office/drawing/2014/main" val="3498467408"/>
                        </a:ext>
                      </a:extLst>
                    </a:gridCol>
                    <a:gridCol w="2642436">
                      <a:extLst>
                        <a:ext uri="{9D8B030D-6E8A-4147-A177-3AD203B41FA5}">
                          <a16:colId xmlns:a16="http://schemas.microsoft.com/office/drawing/2014/main" val="3086251582"/>
                        </a:ext>
                      </a:extLst>
                    </a:gridCol>
                  </a:tblGrid>
                  <a:tr h="457200">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 </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b="0" dirty="0" smtClean="0">
                              <a:latin typeface="Times New Roman" panose="02020603050405020304" pitchFamily="18" charset="0"/>
                              <a:cs typeface="Times New Roman" panose="02020603050405020304" pitchFamily="18" charset="0"/>
                            </a:rPr>
                            <a:t>previous work</a:t>
                          </a:r>
                          <a:endParaRPr lang="zh-TW" altLang="en-US" sz="2000" b="0" dirty="0">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50000"/>
                            </a:lnSpc>
                            <a:spcBef>
                              <a:spcPts val="0"/>
                            </a:spcBef>
                            <a:spcAft>
                              <a:spcPts val="0"/>
                            </a:spcAft>
                            <a:buClrTx/>
                            <a:buSzTx/>
                            <a:buFontTx/>
                            <a:buNone/>
                            <a:tabLst>
                              <a:tab pos="4681855" algn="l"/>
                            </a:tabLst>
                            <a:defRPr/>
                          </a:pPr>
                          <a:r>
                            <a:rPr lang="en-US" altLang="zh-TW" sz="2000" b="0" kern="100" dirty="0" smtClean="0">
                              <a:effectLst/>
                              <a:latin typeface="Times New Roman" panose="02020603050405020304" pitchFamily="18" charset="0"/>
                              <a:ea typeface="標楷體" panose="03000509000000000000" pitchFamily="65" charset="-120"/>
                              <a:cs typeface="Times New Roman" panose="02020603050405020304" pitchFamily="18" charset="0"/>
                            </a:rPr>
                            <a:t>this </a:t>
                          </a:r>
                          <a:r>
                            <a:rPr lang="en-US" altLang="zh-TW" sz="2000" b="0" kern="1200" dirty="0" smtClean="0">
                              <a:effectLst/>
                              <a:latin typeface="Times New Roman" panose="02020603050405020304" pitchFamily="18" charset="0"/>
                              <a:ea typeface="+mn-ea"/>
                              <a:cs typeface="Times New Roman" panose="02020603050405020304" pitchFamily="18" charset="0"/>
                            </a:rPr>
                            <a:t>work</a:t>
                          </a:r>
                          <a:endParaRPr lang="zh-TW" altLang="en-US" sz="2000" b="0" dirty="0" smtClean="0">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3203152"/>
                      </a:ext>
                    </a:extLst>
                  </a:tr>
                  <a:tr h="457200">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conversion efficiency</a:t>
                          </a:r>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altLang="zh-TW" sz="2000" b="0" kern="0" dirty="0" smtClean="0">
                              <a:effectLst/>
                              <a:latin typeface="Times New Roman" panose="02020603050405020304" pitchFamily="18" charset="0"/>
                              <a:ea typeface="+mn-ea"/>
                              <a:cs typeface="Times New Roman" panose="02020603050405020304" pitchFamily="18" charset="0"/>
                            </a:rPr>
                            <a:t>~13%</a:t>
                          </a:r>
                          <a:endParaRPr lang="zh-TW" sz="2000" b="0" kern="100" dirty="0">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dirty="0" smtClean="0">
                              <a:effectLst/>
                              <a:latin typeface="Times New Roman" panose="02020603050405020304" pitchFamily="18" charset="0"/>
                              <a:cs typeface="Times New Roman" panose="02020603050405020304" pitchFamily="18" charset="0"/>
                            </a:rPr>
                            <a:t>same</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8331096"/>
                      </a:ext>
                    </a:extLst>
                  </a:tr>
                  <a:tr h="457200">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spectral-shape fidelity</a:t>
                          </a:r>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low</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0"/>
                            </a:spcAft>
                            <a:tabLst>
                              <a:tab pos="4681855" algn="l"/>
                            </a:tabLst>
                          </a:pPr>
                          <a:r>
                            <a:rPr lang="en-US" sz="2000" b="0" kern="0">
                              <a:effectLst/>
                              <a:latin typeface="Times New Roman" panose="02020603050405020304" pitchFamily="18" charset="0"/>
                              <a:cs typeface="Times New Roman" panose="02020603050405020304" pitchFamily="18" charset="0"/>
                            </a:rPr>
                            <a:t>high</a:t>
                          </a:r>
                          <a:endParaRPr lang="zh-TW" sz="2000" b="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1971559"/>
                      </a:ext>
                    </a:extLst>
                  </a:tr>
                  <a:tr h="457200">
                    <a:tc>
                      <a:txBody>
                        <a:bodyPr/>
                        <a:lstStyle/>
                        <a:p>
                          <a:pPr algn="ctr">
                            <a:lnSpc>
                              <a:spcPct val="150000"/>
                            </a:lnSpc>
                            <a:spcAft>
                              <a:spcPts val="0"/>
                            </a:spcAft>
                            <a:tabLst>
                              <a:tab pos="4681855" algn="l"/>
                            </a:tabLst>
                          </a:pPr>
                          <a:r>
                            <a:rPr lang="en-US" sz="2000" b="0" kern="0" dirty="0">
                              <a:effectLst/>
                              <a:latin typeface="Times New Roman" panose="02020603050405020304" pitchFamily="18" charset="0"/>
                              <a:cs typeface="Times New Roman" panose="02020603050405020304" pitchFamily="18" charset="0"/>
                            </a:rPr>
                            <a:t>tuning rate(nm/kV/mm)</a:t>
                          </a:r>
                          <a:endParaRPr lang="zh-TW" sz="2000" b="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462" t="-304000" r="-100693" b="-156000"/>
                          </a:stretch>
                        </a:blip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304000" r="-461" b="-156000"/>
                          </a:stretch>
                        </a:blipFill>
                      </a:tcPr>
                    </a:tc>
                    <a:extLst>
                      <a:ext uri="{0D108BD9-81ED-4DB2-BD59-A6C34878D82A}">
                        <a16:rowId xmlns:a16="http://schemas.microsoft.com/office/drawing/2014/main" val="3596094448"/>
                      </a:ext>
                    </a:extLst>
                  </a:tr>
                </a:tbl>
              </a:graphicData>
            </a:graphic>
          </p:graphicFrame>
        </mc:Fallback>
      </mc:AlternateContent>
    </p:spTree>
    <p:extLst>
      <p:ext uri="{BB962C8B-B14F-4D97-AF65-F5344CB8AC3E}">
        <p14:creationId xmlns:p14="http://schemas.microsoft.com/office/powerpoint/2010/main" val="897932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work</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424658" y="1372290"/>
            <a:ext cx="5650201" cy="3171634"/>
          </a:xfrm>
          <a:prstGeom prst="rect">
            <a:avLst/>
          </a:prstGeom>
        </p:spPr>
      </p:pic>
      <p:sp>
        <p:nvSpPr>
          <p:cNvPr id="4" name="矩形 3"/>
          <p:cNvSpPr/>
          <p:nvPr/>
        </p:nvSpPr>
        <p:spPr>
          <a:xfrm>
            <a:off x="8427217" y="6211669"/>
            <a:ext cx="3764783" cy="646331"/>
          </a:xfrm>
          <a:prstGeom prst="rect">
            <a:avLst/>
          </a:prstGeom>
        </p:spPr>
        <p:txBody>
          <a:bodyPr wrap="square">
            <a:spAutoFit/>
          </a:bodyPr>
          <a:lstStyle/>
          <a:p>
            <a:r>
              <a:rPr lang="en-US" altLang="zh-TW" b="1" i="1">
                <a:solidFill>
                  <a:schemeClr val="accent2">
                    <a:lumMod val="50000"/>
                  </a:schemeClr>
                </a:solidFill>
                <a:latin typeface="Times New Roman" panose="02020603050405020304" pitchFamily="18" charset="0"/>
                <a:cs typeface="Times New Roman" panose="02020603050405020304" pitchFamily="18" charset="0"/>
              </a:rPr>
              <a:t>Gross, P., et al.</a:t>
            </a:r>
          </a:p>
          <a:p>
            <a:r>
              <a:rPr lang="en-US" altLang="zh-TW" i="1">
                <a:solidFill>
                  <a:schemeClr val="accent2">
                    <a:lumMod val="50000"/>
                  </a:schemeClr>
                </a:solidFill>
                <a:latin typeface="Times New Roman" panose="02020603050405020304" pitchFamily="18" charset="0"/>
                <a:cs typeface="Times New Roman" panose="02020603050405020304" pitchFamily="18" charset="0"/>
              </a:rPr>
              <a:t>Optics letters, 27(16), 1433-1435,2002</a:t>
            </a:r>
            <a:endParaRPr lang="zh-TW" altLang="en-US" i="1">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5" name="文字方塊 4"/>
          <p:cNvSpPr txBox="1"/>
          <p:nvPr/>
        </p:nvSpPr>
        <p:spPr>
          <a:xfrm>
            <a:off x="1867917" y="4981906"/>
            <a:ext cx="2467342" cy="523220"/>
          </a:xfrm>
          <a:prstGeom prst="rect">
            <a:avLst/>
          </a:prstGeom>
          <a:noFill/>
        </p:spPr>
        <p:txBody>
          <a:bodyPr wrap="none" rtlCol="0">
            <a:spAutoFit/>
          </a:bodyPr>
          <a:lstStyle/>
          <a:p>
            <a:r>
              <a:rPr lang="en-US" altLang="zh-TW" sz="2800">
                <a:solidFill>
                  <a:srgbClr val="FF0000"/>
                </a:solidFill>
                <a:latin typeface="Times New Roman" panose="02020603050405020304" pitchFamily="18" charset="0"/>
                <a:cs typeface="Times New Roman" panose="02020603050405020304" pitchFamily="18" charset="0"/>
              </a:rPr>
              <a:t>9.44nm/kV/mm</a:t>
            </a:r>
            <a:endParaRPr lang="zh-TW" altLang="en-US" sz="2800">
              <a:solidFill>
                <a:srgbClr val="FF0000"/>
              </a:solidFill>
              <a:latin typeface="Times New Roman" panose="02020603050405020304" pitchFamily="18" charset="0"/>
              <a:cs typeface="Times New Roman" panose="02020603050405020304" pitchFamily="18" charset="0"/>
            </a:endParaRPr>
          </a:p>
        </p:txBody>
      </p:sp>
      <p:grpSp>
        <p:nvGrpSpPr>
          <p:cNvPr id="32" name="群組 31"/>
          <p:cNvGrpSpPr>
            <a:grpSpLocks noChangeAspect="1"/>
          </p:cNvGrpSpPr>
          <p:nvPr/>
        </p:nvGrpSpPr>
        <p:grpSpPr>
          <a:xfrm>
            <a:off x="6095999" y="2395399"/>
            <a:ext cx="5878615" cy="1420882"/>
            <a:chOff x="3809849" y="2887760"/>
            <a:chExt cx="7348287" cy="1776102"/>
          </a:xfrm>
        </p:grpSpPr>
        <p:sp>
          <p:nvSpPr>
            <p:cNvPr id="7" name="立方體 6"/>
            <p:cNvSpPr/>
            <p:nvPr/>
          </p:nvSpPr>
          <p:spPr>
            <a:xfrm>
              <a:off x="3947849" y="2887760"/>
              <a:ext cx="1676836" cy="1406770"/>
            </a:xfrm>
            <a:prstGeom prst="cube">
              <a:avLst>
                <a:gd name="adj" fmla="val 60339"/>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立方體 7"/>
            <p:cNvSpPr/>
            <p:nvPr/>
          </p:nvSpPr>
          <p:spPr>
            <a:xfrm>
              <a:off x="4776838" y="2887761"/>
              <a:ext cx="1919831" cy="1406770"/>
            </a:xfrm>
            <a:prstGeom prst="cube">
              <a:avLst>
                <a:gd name="adj" fmla="val 60359"/>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立方體 8"/>
            <p:cNvSpPr/>
            <p:nvPr/>
          </p:nvSpPr>
          <p:spPr>
            <a:xfrm>
              <a:off x="5861417" y="2887760"/>
              <a:ext cx="1514336" cy="1406770"/>
            </a:xfrm>
            <a:prstGeom prst="cube">
              <a:avLst>
                <a:gd name="adj" fmla="val 59713"/>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立方體 9"/>
            <p:cNvSpPr/>
            <p:nvPr/>
          </p:nvSpPr>
          <p:spPr>
            <a:xfrm>
              <a:off x="6537606" y="2887760"/>
              <a:ext cx="2464309" cy="1406770"/>
            </a:xfrm>
            <a:prstGeom prst="cube">
              <a:avLst>
                <a:gd name="adj" fmla="val 59714"/>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立方體 10"/>
            <p:cNvSpPr/>
            <p:nvPr/>
          </p:nvSpPr>
          <p:spPr>
            <a:xfrm>
              <a:off x="8165250" y="2887760"/>
              <a:ext cx="1715171" cy="1406770"/>
            </a:xfrm>
            <a:prstGeom prst="cube">
              <a:avLst>
                <a:gd name="adj" fmla="val 59714"/>
              </a:avLst>
            </a:prstGeom>
            <a:solidFill>
              <a:schemeClr val="bg2">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立方體 11"/>
            <p:cNvSpPr/>
            <p:nvPr/>
          </p:nvSpPr>
          <p:spPr>
            <a:xfrm>
              <a:off x="9038911" y="2887760"/>
              <a:ext cx="2119225" cy="1406770"/>
            </a:xfrm>
            <a:prstGeom prst="cube">
              <a:avLst>
                <a:gd name="adj" fmla="val 60185"/>
              </a:avLst>
            </a:prstGeom>
            <a:solidFill>
              <a:schemeClr val="accent3">
                <a:lumMod val="5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向上箭號 12"/>
            <p:cNvSpPr/>
            <p:nvPr/>
          </p:nvSpPr>
          <p:spPr>
            <a:xfrm>
              <a:off x="4178723" y="3817896"/>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向上箭號 13"/>
            <p:cNvSpPr/>
            <p:nvPr/>
          </p:nvSpPr>
          <p:spPr>
            <a:xfrm>
              <a:off x="6039516" y="3817895"/>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向上箭號 14"/>
            <p:cNvSpPr/>
            <p:nvPr/>
          </p:nvSpPr>
          <p:spPr>
            <a:xfrm>
              <a:off x="8409365" y="3817895"/>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向上箭號 15"/>
            <p:cNvSpPr/>
            <p:nvPr/>
          </p:nvSpPr>
          <p:spPr>
            <a:xfrm flipV="1">
              <a:off x="5154695" y="3817895"/>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向上箭號 16"/>
            <p:cNvSpPr/>
            <p:nvPr/>
          </p:nvSpPr>
          <p:spPr>
            <a:xfrm flipV="1">
              <a:off x="7243925" y="3817895"/>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上箭號 17"/>
            <p:cNvSpPr/>
            <p:nvPr/>
          </p:nvSpPr>
          <p:spPr>
            <a:xfrm flipV="1">
              <a:off x="9522117" y="3817895"/>
              <a:ext cx="368628" cy="395653"/>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 name="文字方塊 18"/>
                <p:cNvSpPr txBox="1"/>
                <p:nvPr/>
              </p:nvSpPr>
              <p:spPr>
                <a:xfrm>
                  <a:off x="4411499" y="4294530"/>
                  <a:ext cx="7947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19" name="文字方塊 18"/>
                <p:cNvSpPr txBox="1">
                  <a:spLocks noRot="1" noChangeAspect="1" noMove="1" noResize="1" noEditPoints="1" noAdjustHandles="1" noChangeArrowheads="1" noChangeShapeType="1" noTextEdit="1"/>
                </p:cNvSpPr>
                <p:nvPr/>
              </p:nvSpPr>
              <p:spPr>
                <a:xfrm>
                  <a:off x="4411499" y="4294530"/>
                  <a:ext cx="794777" cy="369332"/>
                </a:xfrm>
                <a:prstGeom prst="rect">
                  <a:avLst/>
                </a:prstGeom>
                <a:blipFill>
                  <a:blip r:embed="rId4"/>
                  <a:stretch>
                    <a:fillRect b="-270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5488025" y="4294530"/>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2</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5488025" y="4294530"/>
                  <a:ext cx="803702" cy="369332"/>
                </a:xfrm>
                <a:prstGeom prst="rect">
                  <a:avLst/>
                </a:prstGeom>
                <a:blipFill>
                  <a:blip r:embed="rId5"/>
                  <a:stretch>
                    <a:fillRect b="-270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6156688" y="4294530"/>
                  <a:ext cx="803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3</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1" name="文字方塊 20"/>
                <p:cNvSpPr txBox="1">
                  <a:spLocks noRot="1" noChangeAspect="1" noMove="1" noResize="1" noEditPoints="1" noAdjustHandles="1" noChangeArrowheads="1" noChangeShapeType="1" noTextEdit="1"/>
                </p:cNvSpPr>
                <p:nvPr/>
              </p:nvSpPr>
              <p:spPr>
                <a:xfrm>
                  <a:off x="6156688" y="4294530"/>
                  <a:ext cx="803702" cy="369332"/>
                </a:xfrm>
                <a:prstGeom prst="rect">
                  <a:avLst/>
                </a:prstGeom>
                <a:blipFill>
                  <a:blip r:embed="rId6"/>
                  <a:stretch>
                    <a:fillRect b="-270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8468833" y="4294530"/>
                  <a:ext cx="12269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𝑁</m:t>
                            </m:r>
                            <m:r>
                              <a:rPr lang="en-US" altLang="zh-TW" b="0" i="1" smtClean="0">
                                <a:latin typeface="Cambria Math" panose="02040503050406030204" pitchFamily="18" charset="0"/>
                                <a:cs typeface="Times New Roman" panose="02020603050405020304" pitchFamily="18" charset="0"/>
                              </a:rPr>
                              <m:t>−1</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2" name="文字方塊 21"/>
                <p:cNvSpPr txBox="1">
                  <a:spLocks noRot="1" noChangeAspect="1" noMove="1" noResize="1" noEditPoints="1" noAdjustHandles="1" noChangeArrowheads="1" noChangeShapeType="1" noTextEdit="1"/>
                </p:cNvSpPr>
                <p:nvPr/>
              </p:nvSpPr>
              <p:spPr>
                <a:xfrm>
                  <a:off x="8468833" y="4294530"/>
                  <a:ext cx="1226952" cy="369332"/>
                </a:xfrm>
                <a:prstGeom prst="rect">
                  <a:avLst/>
                </a:prstGeom>
                <a:blipFill>
                  <a:blip r:embed="rId7"/>
                  <a:stretch>
                    <a:fillRect b="-270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9888062" y="4294530"/>
                  <a:ext cx="8586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𝑍</m:t>
                            </m:r>
                          </m:e>
                          <m:sub>
                            <m:r>
                              <a:rPr lang="en-US" altLang="zh-TW" b="0" i="1" smtClean="0">
                                <a:latin typeface="Cambria Math" panose="02040503050406030204" pitchFamily="18" charset="0"/>
                                <a:cs typeface="Times New Roman" panose="02020603050405020304" pitchFamily="18" charset="0"/>
                              </a:rPr>
                              <m:t>𝑁</m:t>
                            </m:r>
                          </m:sub>
                        </m:sSub>
                      </m:oMath>
                    </m:oMathPara>
                  </a14:m>
                  <a:endParaRPr lang="zh-TW" altLang="en-US">
                    <a:latin typeface="Times New Roman" panose="02020603050405020304" pitchFamily="18" charset="0"/>
                    <a:cs typeface="Times New Roman" panose="02020603050405020304" pitchFamily="18" charset="0"/>
                  </a:endParaRPr>
                </a:p>
              </p:txBody>
            </p:sp>
          </mc:Choice>
          <mc:Fallback xmlns="">
            <p:sp>
              <p:nvSpPr>
                <p:cNvPr id="23" name="文字方塊 22"/>
                <p:cNvSpPr txBox="1">
                  <a:spLocks noRot="1" noChangeAspect="1" noMove="1" noResize="1" noEditPoints="1" noAdjustHandles="1" noChangeArrowheads="1" noChangeShapeType="1" noTextEdit="1"/>
                </p:cNvSpPr>
                <p:nvPr/>
              </p:nvSpPr>
              <p:spPr>
                <a:xfrm>
                  <a:off x="9888062" y="4294530"/>
                  <a:ext cx="858651" cy="369332"/>
                </a:xfrm>
                <a:prstGeom prst="rect">
                  <a:avLst/>
                </a:prstGeom>
                <a:blipFill>
                  <a:blip r:embed="rId8"/>
                  <a:stretch>
                    <a:fillRect b="-27083"/>
                  </a:stretch>
                </a:blipFill>
              </p:spPr>
              <p:txBody>
                <a:bodyPr/>
                <a:lstStyle/>
                <a:p>
                  <a:r>
                    <a:rPr lang="zh-TW" altLang="en-US">
                      <a:noFill/>
                    </a:rPr>
                    <a:t> </a:t>
                  </a:r>
                </a:p>
              </p:txBody>
            </p:sp>
          </mc:Fallback>
        </mc:AlternateContent>
        <p:sp>
          <p:nvSpPr>
            <p:cNvPr id="24" name="文字方塊 23"/>
            <p:cNvSpPr txBox="1"/>
            <p:nvPr/>
          </p:nvSpPr>
          <p:spPr>
            <a:xfrm>
              <a:off x="3809849" y="4294530"/>
              <a:ext cx="300082"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0</a:t>
              </a:r>
              <a:endParaRPr lang="zh-TW" altLang="en-US">
                <a:latin typeface="Times New Roman" panose="02020603050405020304" pitchFamily="18" charset="0"/>
                <a:cs typeface="Times New Roman" panose="02020603050405020304" pitchFamily="18" charset="0"/>
              </a:endParaRPr>
            </a:p>
          </p:txBody>
        </p:sp>
        <p:sp>
          <p:nvSpPr>
            <p:cNvPr id="31" name="文字方塊 30"/>
            <p:cNvSpPr txBox="1"/>
            <p:nvPr/>
          </p:nvSpPr>
          <p:spPr>
            <a:xfrm>
              <a:off x="7436866" y="4294530"/>
              <a:ext cx="415498"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a:t>
              </a:r>
              <a:endParaRPr lang="zh-TW" alt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34717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0" y="87923"/>
            <a:ext cx="12191999" cy="584775"/>
          </a:xfrm>
          <a:prstGeom prst="rect">
            <a:avLst/>
          </a:prstGeom>
          <a:noFill/>
        </p:spPr>
        <p:txBody>
          <a:bodyPr wrap="square" rtlCol="0">
            <a:spAutoFit/>
          </a:bodyPr>
          <a:lstStyle/>
          <a:p>
            <a:pPr algn="ctr"/>
            <a:r>
              <a:rPr lang="en-US" altLang="zh-TW"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work</a:t>
            </a:r>
            <a:endParaRPr lang="zh-TW" altLang="en-US" sz="3200" b="1"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81" name="群組 80"/>
          <p:cNvGrpSpPr/>
          <p:nvPr/>
        </p:nvGrpSpPr>
        <p:grpSpPr>
          <a:xfrm>
            <a:off x="1074371" y="1706695"/>
            <a:ext cx="10043256" cy="3205359"/>
            <a:chOff x="918364" y="1274616"/>
            <a:chExt cx="10043256" cy="3205359"/>
          </a:xfrm>
        </p:grpSpPr>
        <p:sp>
          <p:nvSpPr>
            <p:cNvPr id="82" name="矩形 81"/>
            <p:cNvSpPr/>
            <p:nvPr/>
          </p:nvSpPr>
          <p:spPr>
            <a:xfrm rot="1200000" flipH="1">
              <a:off x="7831116" y="3219975"/>
              <a:ext cx="360000" cy="1260000"/>
            </a:xfrm>
            <a:prstGeom prst="rect">
              <a:avLst/>
            </a:prstGeom>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橢圓 82"/>
            <p:cNvSpPr/>
            <p:nvPr/>
          </p:nvSpPr>
          <p:spPr>
            <a:xfrm rot="1200000" flipH="1">
              <a:off x="7683063" y="3158431"/>
              <a:ext cx="360000" cy="1260000"/>
            </a:xfrm>
            <a:prstGeom prst="ellipse">
              <a:avLst/>
            </a:prstGeom>
            <a:solidFill>
              <a:schemeClr val="bg1"/>
            </a:solidFill>
            <a:ln>
              <a:solidFill>
                <a:schemeClr val="bg1"/>
              </a:solidFill>
            </a:ln>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4" name="直線接點 83"/>
            <p:cNvCxnSpPr/>
            <p:nvPr/>
          </p:nvCxnSpPr>
          <p:spPr>
            <a:xfrm flipV="1">
              <a:off x="2358364" y="3849975"/>
              <a:ext cx="2412000" cy="0"/>
            </a:xfrm>
            <a:prstGeom prst="line">
              <a:avLst/>
            </a:prstGeom>
            <a:ln>
              <a:solidFill>
                <a:srgbClr val="FFC000"/>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918364" y="3579975"/>
              <a:ext cx="1260000" cy="54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p:nvSpPr>
          <p:spPr>
            <a:xfrm>
              <a:off x="2178364" y="3759975"/>
              <a:ext cx="180000" cy="180000"/>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橢圓 86"/>
            <p:cNvSpPr/>
            <p:nvPr/>
          </p:nvSpPr>
          <p:spPr>
            <a:xfrm>
              <a:off x="3438364" y="3219975"/>
              <a:ext cx="360000" cy="1260000"/>
            </a:xfrm>
            <a:prstGeom prst="ellipse">
              <a:avLst/>
            </a:prstGeom>
            <a:solidFill>
              <a:schemeClr val="accent1">
                <a:lumMod val="60000"/>
                <a:lumOff val="40000"/>
              </a:schemeClr>
            </a:solidFill>
            <a:ln>
              <a:solidFill>
                <a:schemeClr val="accent1">
                  <a:lumMod val="40000"/>
                  <a:lumOff val="60000"/>
                </a:schemeClr>
              </a:solidFill>
            </a:ln>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橢圓 87"/>
            <p:cNvSpPr/>
            <p:nvPr/>
          </p:nvSpPr>
          <p:spPr>
            <a:xfrm>
              <a:off x="4056757" y="3219975"/>
              <a:ext cx="360000" cy="1260000"/>
            </a:xfrm>
            <a:prstGeom prst="ellipse">
              <a:avLst/>
            </a:prstGeom>
            <a:solidFill>
              <a:schemeClr val="accent1">
                <a:lumMod val="60000"/>
                <a:lumOff val="40000"/>
              </a:schemeClr>
            </a:solidFill>
            <a:ln>
              <a:solidFill>
                <a:schemeClr val="accent1">
                  <a:lumMod val="40000"/>
                  <a:lumOff val="60000"/>
                </a:schemeClr>
              </a:solidFill>
            </a:ln>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p:nvSpPr>
          <p:spPr>
            <a:xfrm rot="-1200000">
              <a:off x="4726168" y="3210450"/>
              <a:ext cx="360000" cy="1260000"/>
            </a:xfrm>
            <a:prstGeom prst="rect">
              <a:avLst/>
            </a:prstGeom>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p:cNvSpPr/>
            <p:nvPr/>
          </p:nvSpPr>
          <p:spPr>
            <a:xfrm rot="-1200000">
              <a:off x="4901763" y="3153300"/>
              <a:ext cx="360000" cy="1260000"/>
            </a:xfrm>
            <a:prstGeom prst="ellipse">
              <a:avLst/>
            </a:prstGeom>
            <a:solidFill>
              <a:schemeClr val="bg1"/>
            </a:solidFill>
            <a:ln>
              <a:solidFill>
                <a:schemeClr val="bg1"/>
              </a:solidFill>
            </a:ln>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1" name="直線接點 90"/>
            <p:cNvCxnSpPr/>
            <p:nvPr/>
          </p:nvCxnSpPr>
          <p:spPr>
            <a:xfrm flipV="1">
              <a:off x="4901763" y="3849975"/>
              <a:ext cx="3132000" cy="0"/>
            </a:xfrm>
            <a:prstGeom prst="line">
              <a:avLst/>
            </a:prstGeom>
            <a:ln>
              <a:solidFill>
                <a:srgbClr val="FFC000"/>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rot="1440000">
              <a:off x="4821739" y="1278136"/>
              <a:ext cx="360000" cy="1260000"/>
            </a:xfrm>
            <a:prstGeom prst="rect">
              <a:avLst/>
            </a:prstGeom>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p:nvSpPr>
          <p:spPr>
            <a:xfrm rot="20160000" flipH="1">
              <a:off x="7823221" y="1274616"/>
              <a:ext cx="360000" cy="1260000"/>
            </a:xfrm>
            <a:prstGeom prst="rect">
              <a:avLst/>
            </a:prstGeom>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4" name="直線接點 93"/>
            <p:cNvCxnSpPr>
              <a:stCxn id="92" idx="3"/>
              <a:endCxn id="93" idx="3"/>
            </p:cNvCxnSpPr>
            <p:nvPr/>
          </p:nvCxnSpPr>
          <p:spPr>
            <a:xfrm flipV="1">
              <a:off x="5166177" y="1977829"/>
              <a:ext cx="2672606" cy="0"/>
            </a:xfrm>
            <a:prstGeom prst="line">
              <a:avLst/>
            </a:prstGeom>
            <a:ln>
              <a:solidFill>
                <a:srgbClr val="FFC000"/>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95" name="直線接點 94"/>
            <p:cNvCxnSpPr>
              <a:stCxn id="92" idx="3"/>
              <a:endCxn id="83" idx="2"/>
            </p:cNvCxnSpPr>
            <p:nvPr/>
          </p:nvCxnSpPr>
          <p:spPr>
            <a:xfrm>
              <a:off x="5166176" y="1981349"/>
              <a:ext cx="2880000" cy="1868646"/>
            </a:xfrm>
            <a:prstGeom prst="line">
              <a:avLst/>
            </a:prstGeom>
            <a:ln>
              <a:solidFill>
                <a:srgbClr val="FFC000"/>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96" name="直線接點 95"/>
            <p:cNvCxnSpPr>
              <a:stCxn id="90" idx="2"/>
              <a:endCxn id="93" idx="3"/>
            </p:cNvCxnSpPr>
            <p:nvPr/>
          </p:nvCxnSpPr>
          <p:spPr>
            <a:xfrm flipV="1">
              <a:off x="4912618" y="1977829"/>
              <a:ext cx="2880000" cy="1867035"/>
            </a:xfrm>
            <a:prstGeom prst="line">
              <a:avLst/>
            </a:prstGeom>
            <a:ln>
              <a:solidFill>
                <a:srgbClr val="FFC000"/>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7" name="矩形 96"/>
            <p:cNvSpPr/>
            <p:nvPr/>
          </p:nvSpPr>
          <p:spPr>
            <a:xfrm>
              <a:off x="5633878" y="3641430"/>
              <a:ext cx="1675367" cy="424167"/>
            </a:xfrm>
            <a:prstGeom prst="rect">
              <a:avLst/>
            </a:prstGeom>
            <a:solidFill>
              <a:srgbClr val="FFC000"/>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8" name="直線接點 97"/>
            <p:cNvCxnSpPr/>
            <p:nvPr/>
          </p:nvCxnSpPr>
          <p:spPr>
            <a:xfrm>
              <a:off x="6208672" y="3641430"/>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線接點 98"/>
            <p:cNvCxnSpPr/>
            <p:nvPr/>
          </p:nvCxnSpPr>
          <p:spPr>
            <a:xfrm>
              <a:off x="5675272" y="3641429"/>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線接點 99"/>
            <p:cNvCxnSpPr/>
            <p:nvPr/>
          </p:nvCxnSpPr>
          <p:spPr>
            <a:xfrm>
              <a:off x="6747980" y="3641419"/>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線接點 100"/>
            <p:cNvCxnSpPr/>
            <p:nvPr/>
          </p:nvCxnSpPr>
          <p:spPr>
            <a:xfrm>
              <a:off x="5719087" y="3641428"/>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線接點 101"/>
            <p:cNvCxnSpPr/>
            <p:nvPr/>
          </p:nvCxnSpPr>
          <p:spPr>
            <a:xfrm>
              <a:off x="5760997" y="3641428"/>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接點 102"/>
            <p:cNvCxnSpPr/>
            <p:nvPr/>
          </p:nvCxnSpPr>
          <p:spPr>
            <a:xfrm>
              <a:off x="5801002" y="3641428"/>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線接點 103"/>
            <p:cNvCxnSpPr/>
            <p:nvPr/>
          </p:nvCxnSpPr>
          <p:spPr>
            <a:xfrm>
              <a:off x="5839102" y="3641427"/>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線接點 104"/>
            <p:cNvCxnSpPr/>
            <p:nvPr/>
          </p:nvCxnSpPr>
          <p:spPr>
            <a:xfrm>
              <a:off x="5877202" y="3641427"/>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接點 105"/>
            <p:cNvCxnSpPr/>
            <p:nvPr/>
          </p:nvCxnSpPr>
          <p:spPr>
            <a:xfrm>
              <a:off x="5913397" y="3641427"/>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線接點 106"/>
            <p:cNvCxnSpPr/>
            <p:nvPr/>
          </p:nvCxnSpPr>
          <p:spPr>
            <a:xfrm>
              <a:off x="5949592" y="3641427"/>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線接點 107"/>
            <p:cNvCxnSpPr/>
            <p:nvPr/>
          </p:nvCxnSpPr>
          <p:spPr>
            <a:xfrm>
              <a:off x="5985787" y="3641427"/>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線接點 108"/>
            <p:cNvCxnSpPr/>
            <p:nvPr/>
          </p:nvCxnSpPr>
          <p:spPr>
            <a:xfrm>
              <a:off x="6020077" y="3641426"/>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線接點 109"/>
            <p:cNvCxnSpPr/>
            <p:nvPr/>
          </p:nvCxnSpPr>
          <p:spPr>
            <a:xfrm>
              <a:off x="6058177" y="3641425"/>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線接點 110"/>
            <p:cNvCxnSpPr/>
            <p:nvPr/>
          </p:nvCxnSpPr>
          <p:spPr>
            <a:xfrm>
              <a:off x="6096277" y="3641424"/>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線接點 111"/>
            <p:cNvCxnSpPr/>
            <p:nvPr/>
          </p:nvCxnSpPr>
          <p:spPr>
            <a:xfrm>
              <a:off x="6130567"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線接點 112"/>
            <p:cNvCxnSpPr/>
            <p:nvPr/>
          </p:nvCxnSpPr>
          <p:spPr>
            <a:xfrm>
              <a:off x="6168667"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線接點 113"/>
            <p:cNvCxnSpPr/>
            <p:nvPr/>
          </p:nvCxnSpPr>
          <p:spPr>
            <a:xfrm>
              <a:off x="6778267" y="3641425"/>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線接點 114"/>
            <p:cNvCxnSpPr/>
            <p:nvPr/>
          </p:nvCxnSpPr>
          <p:spPr>
            <a:xfrm>
              <a:off x="6822082" y="3641424"/>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線接點 115"/>
            <p:cNvCxnSpPr/>
            <p:nvPr/>
          </p:nvCxnSpPr>
          <p:spPr>
            <a:xfrm>
              <a:off x="6863992" y="3641424"/>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線接點 116"/>
            <p:cNvCxnSpPr/>
            <p:nvPr/>
          </p:nvCxnSpPr>
          <p:spPr>
            <a:xfrm>
              <a:off x="6903997" y="3641424"/>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線接點 117"/>
            <p:cNvCxnSpPr/>
            <p:nvPr/>
          </p:nvCxnSpPr>
          <p:spPr>
            <a:xfrm>
              <a:off x="6942097"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線接點 118"/>
            <p:cNvCxnSpPr/>
            <p:nvPr/>
          </p:nvCxnSpPr>
          <p:spPr>
            <a:xfrm>
              <a:off x="6980197"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線接點 119"/>
            <p:cNvCxnSpPr/>
            <p:nvPr/>
          </p:nvCxnSpPr>
          <p:spPr>
            <a:xfrm>
              <a:off x="7016392"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線接點 120"/>
            <p:cNvCxnSpPr/>
            <p:nvPr/>
          </p:nvCxnSpPr>
          <p:spPr>
            <a:xfrm>
              <a:off x="7052587"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線接點 121"/>
            <p:cNvCxnSpPr/>
            <p:nvPr/>
          </p:nvCxnSpPr>
          <p:spPr>
            <a:xfrm>
              <a:off x="7088782" y="3641423"/>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線接點 122"/>
            <p:cNvCxnSpPr/>
            <p:nvPr/>
          </p:nvCxnSpPr>
          <p:spPr>
            <a:xfrm>
              <a:off x="7123072" y="3641422"/>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線接點 123"/>
            <p:cNvCxnSpPr/>
            <p:nvPr/>
          </p:nvCxnSpPr>
          <p:spPr>
            <a:xfrm>
              <a:off x="7161172" y="3641421"/>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線接點 124"/>
            <p:cNvCxnSpPr/>
            <p:nvPr/>
          </p:nvCxnSpPr>
          <p:spPr>
            <a:xfrm>
              <a:off x="7199272" y="3641420"/>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線接點 125"/>
            <p:cNvCxnSpPr/>
            <p:nvPr/>
          </p:nvCxnSpPr>
          <p:spPr>
            <a:xfrm>
              <a:off x="7233562" y="3641419"/>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線接點 126"/>
            <p:cNvCxnSpPr/>
            <p:nvPr/>
          </p:nvCxnSpPr>
          <p:spPr>
            <a:xfrm>
              <a:off x="7271662" y="3641419"/>
              <a:ext cx="0" cy="4241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向右箭號 127"/>
            <p:cNvSpPr/>
            <p:nvPr/>
          </p:nvSpPr>
          <p:spPr>
            <a:xfrm>
              <a:off x="8459132" y="3697169"/>
              <a:ext cx="1045411" cy="30561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 name="文字方塊 128"/>
            <p:cNvSpPr txBox="1"/>
            <p:nvPr/>
          </p:nvSpPr>
          <p:spPr>
            <a:xfrm>
              <a:off x="9539436" y="3673400"/>
              <a:ext cx="1422184" cy="369332"/>
            </a:xfrm>
            <a:prstGeom prst="rect">
              <a:avLst/>
            </a:prstGeom>
            <a:noFill/>
          </p:spPr>
          <p:txBody>
            <a:bodyPr wrap="none" rtlCol="0">
              <a:spAutoFit/>
            </a:bodyPr>
            <a:lstStyle/>
            <a:p>
              <a:r>
                <a:rPr lang="en-US" altLang="zh-TW">
                  <a:latin typeface="Times New Roman" panose="02020603050405020304" pitchFamily="18" charset="0"/>
                  <a:cs typeface="Times New Roman" panose="02020603050405020304" pitchFamily="18" charset="0"/>
                </a:rPr>
                <a:t>Signal output</a:t>
              </a:r>
              <a:endParaRPr lang="zh-TW" altLang="en-US">
                <a:latin typeface="Times New Roman" panose="02020603050405020304" pitchFamily="18" charset="0"/>
                <a:cs typeface="Times New Roman" panose="02020603050405020304" pitchFamily="18" charset="0"/>
              </a:endParaRPr>
            </a:p>
          </p:txBody>
        </p:sp>
      </p:grpSp>
      <p:sp>
        <p:nvSpPr>
          <p:cNvPr id="3" name="矩形 2"/>
          <p:cNvSpPr/>
          <p:nvPr/>
        </p:nvSpPr>
        <p:spPr>
          <a:xfrm>
            <a:off x="705369" y="3602962"/>
            <a:ext cx="2044342" cy="400110"/>
          </a:xfrm>
          <a:prstGeom prst="rect">
            <a:avLst/>
          </a:prstGeom>
        </p:spPr>
        <p:txBody>
          <a:bodyPr wrap="none">
            <a:spAutoFit/>
          </a:bodyPr>
          <a:lstStyle/>
          <a:p>
            <a:r>
              <a:rPr lang="en-US" altLang="zh-TW" sz="2000" dirty="0">
                <a:latin typeface="Times New Roman" panose="02020603050405020304" pitchFamily="18" charset="0"/>
                <a:cs typeface="Times New Roman" panose="02020603050405020304" pitchFamily="18" charset="0"/>
              </a:rPr>
              <a:t>1064nm CW</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laser</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101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1884067" y="3013502"/>
            <a:ext cx="8402933" cy="830997"/>
          </a:xfrm>
          <a:prstGeom prst="rect">
            <a:avLst/>
          </a:prstGeom>
          <a:solidFill>
            <a:srgbClr val="FFFFD8">
              <a:alpha val="77000"/>
            </a:srgbClr>
          </a:solidFill>
        </p:spPr>
        <p:txBody>
          <a:bodyPr wrap="square" rtlCol="0">
            <a:spAutoFit/>
          </a:bodyPr>
          <a:lstStyle/>
          <a:p>
            <a:pPr algn="ctr"/>
            <a:r>
              <a:rPr lang="en-US" altLang="zh-TW" sz="4400" b="1" i="1" dirty="0">
                <a:latin typeface="Times New Roman" panose="02020603050405020304" pitchFamily="18" charset="0"/>
                <a:cs typeface="Times New Roman" panose="02020603050405020304" pitchFamily="18" charset="0"/>
              </a:rPr>
              <a:t>Thank you for </a:t>
            </a:r>
            <a:r>
              <a:rPr lang="en-US" altLang="zh-TW" sz="4800" b="1" i="1" dirty="0">
                <a:latin typeface="Times New Roman" panose="02020603050405020304" pitchFamily="18" charset="0"/>
                <a:cs typeface="Times New Roman" panose="02020603050405020304" pitchFamily="18" charset="0"/>
              </a:rPr>
              <a:t>your</a:t>
            </a:r>
            <a:r>
              <a:rPr lang="en-US" altLang="zh-TW" sz="4400" b="1" i="1" dirty="0">
                <a:latin typeface="Times New Roman" panose="02020603050405020304" pitchFamily="18" charset="0"/>
                <a:cs typeface="Times New Roman" panose="02020603050405020304" pitchFamily="18" charset="0"/>
              </a:rPr>
              <a:t> attention!</a:t>
            </a:r>
            <a:endParaRPr lang="zh-TW" altLang="en-US" sz="4400" b="1" i="1" dirty="0">
              <a:latin typeface="Times New Roman" panose="02020603050405020304" pitchFamily="18" charset="0"/>
              <a:cs typeface="Times New Roman" panose="02020603050405020304" pitchFamily="18" charset="0"/>
            </a:endParaRPr>
          </a:p>
        </p:txBody>
      </p:sp>
      <p:sp>
        <p:nvSpPr>
          <p:cNvPr id="4" name="矩形 3"/>
          <p:cNvSpPr/>
          <p:nvPr/>
        </p:nvSpPr>
        <p:spPr>
          <a:xfrm>
            <a:off x="3650459" y="2644170"/>
            <a:ext cx="4891083" cy="369332"/>
          </a:xfrm>
          <a:prstGeom prst="rect">
            <a:avLst/>
          </a:prstGeom>
        </p:spPr>
        <p:txBody>
          <a:bodyPr wrap="none">
            <a:spAutoFit/>
          </a:bodyPr>
          <a:lstStyle/>
          <a:p>
            <a:r>
              <a:rPr lang="en-US" altLang="zh-TW" i="1">
                <a:solidFill>
                  <a:schemeClr val="bg1"/>
                </a:solidFill>
                <a:latin typeface="Times New Roman" panose="02020603050405020304" pitchFamily="18" charset="0"/>
                <a:cs typeface="Times New Roman" panose="02020603050405020304" pitchFamily="18" charset="0"/>
              </a:rPr>
              <a:t>Nonlinear Integrated Laser Photonics Lab (NILP)</a:t>
            </a:r>
          </a:p>
        </p:txBody>
      </p:sp>
    </p:spTree>
    <p:extLst>
      <p:ext uri="{BB962C8B-B14F-4D97-AF65-F5344CB8AC3E}">
        <p14:creationId xmlns:p14="http://schemas.microsoft.com/office/powerpoint/2010/main" val="2497051548"/>
      </p:ext>
    </p:extLst>
  </p:cSld>
  <p:clrMapOvr>
    <a:masterClrMapping/>
  </p:clrMapOvr>
</p:sld>
</file>

<file path=ppt/theme/theme1.xml><?xml version="1.0" encoding="utf-8"?>
<a:theme xmlns:a="http://schemas.openxmlformats.org/drawingml/2006/main" name="Office Theme">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21206</TotalTime>
  <Words>6303</Words>
  <Application>Microsoft Office PowerPoint</Application>
  <PresentationFormat>Widescreen</PresentationFormat>
  <Paragraphs>619</Paragraphs>
  <Slides>45</Slides>
  <Notes>37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57" baseType="lpstr">
      <vt:lpstr>微軟正黑體</vt:lpstr>
      <vt:lpstr>新細明體</vt:lpstr>
      <vt:lpstr>標楷體</vt:lpstr>
      <vt:lpstr>Arial</vt:lpstr>
      <vt:lpstr>Calibri</vt:lpstr>
      <vt:lpstr>Calibri Light</vt:lpstr>
      <vt:lpstr>Cambria Math</vt:lpstr>
      <vt:lpstr>Times New Roman</vt:lpstr>
      <vt:lpstr>Wingdings</vt:lpstr>
      <vt:lpstr>Office Theme</vt:lpstr>
      <vt:lpstr>方程式</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電光非週期性晶疇極化反轉鈮酸鋰定向耦合器 Electro-Optic Aperiodically Poled Lithium Niobate Directional Couplers</dc:title>
  <dc:creator>AKI</dc:creator>
  <cp:lastModifiedBy>Dat Pham</cp:lastModifiedBy>
  <cp:revision>549</cp:revision>
  <dcterms:created xsi:type="dcterms:W3CDTF">2019-07-15T07:48:31Z</dcterms:created>
  <dcterms:modified xsi:type="dcterms:W3CDTF">2021-07-23T09:35:03Z</dcterms:modified>
</cp:coreProperties>
</file>