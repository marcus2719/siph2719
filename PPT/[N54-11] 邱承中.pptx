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omments/comment1.xml" ContentType="application/vnd.openxmlformats-officedocument.presentationml.comment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59" r:id="rId1"/>
    <p:sldMasterId id="2147484071" r:id="rId2"/>
  </p:sldMasterIdLst>
  <p:notesMasterIdLst>
    <p:notesMasterId r:id="rId81"/>
  </p:notesMasterIdLst>
  <p:sldIdLst>
    <p:sldId id="256" r:id="rId3"/>
    <p:sldId id="257" r:id="rId4"/>
    <p:sldId id="267" r:id="rId5"/>
    <p:sldId id="342" r:id="rId6"/>
    <p:sldId id="259" r:id="rId7"/>
    <p:sldId id="262" r:id="rId8"/>
    <p:sldId id="353" r:id="rId9"/>
    <p:sldId id="334" r:id="rId10"/>
    <p:sldId id="335" r:id="rId11"/>
    <p:sldId id="337" r:id="rId12"/>
    <p:sldId id="338" r:id="rId13"/>
    <p:sldId id="339" r:id="rId14"/>
    <p:sldId id="340" r:id="rId15"/>
    <p:sldId id="341" r:id="rId16"/>
    <p:sldId id="268" r:id="rId17"/>
    <p:sldId id="266" r:id="rId18"/>
    <p:sldId id="269" r:id="rId19"/>
    <p:sldId id="326" r:id="rId20"/>
    <p:sldId id="355" r:id="rId21"/>
    <p:sldId id="270" r:id="rId22"/>
    <p:sldId id="265" r:id="rId23"/>
    <p:sldId id="327" r:id="rId24"/>
    <p:sldId id="274" r:id="rId25"/>
    <p:sldId id="286" r:id="rId26"/>
    <p:sldId id="277" r:id="rId27"/>
    <p:sldId id="275" r:id="rId28"/>
    <p:sldId id="276" r:id="rId29"/>
    <p:sldId id="278" r:id="rId30"/>
    <p:sldId id="320" r:id="rId31"/>
    <p:sldId id="279" r:id="rId32"/>
    <p:sldId id="330" r:id="rId33"/>
    <p:sldId id="281" r:id="rId34"/>
    <p:sldId id="282" r:id="rId35"/>
    <p:sldId id="285" r:id="rId36"/>
    <p:sldId id="283" r:id="rId37"/>
    <p:sldId id="284" r:id="rId38"/>
    <p:sldId id="287" r:id="rId39"/>
    <p:sldId id="288" r:id="rId40"/>
    <p:sldId id="289" r:id="rId41"/>
    <p:sldId id="290" r:id="rId42"/>
    <p:sldId id="291" r:id="rId43"/>
    <p:sldId id="292" r:id="rId44"/>
    <p:sldId id="324" r:id="rId45"/>
    <p:sldId id="293" r:id="rId46"/>
    <p:sldId id="300" r:id="rId47"/>
    <p:sldId id="323" r:id="rId48"/>
    <p:sldId id="301" r:id="rId49"/>
    <p:sldId id="304" r:id="rId50"/>
    <p:sldId id="305" r:id="rId51"/>
    <p:sldId id="322" r:id="rId52"/>
    <p:sldId id="306" r:id="rId53"/>
    <p:sldId id="325" r:id="rId54"/>
    <p:sldId id="311" r:id="rId55"/>
    <p:sldId id="312" r:id="rId56"/>
    <p:sldId id="313" r:id="rId57"/>
    <p:sldId id="308" r:id="rId58"/>
    <p:sldId id="309" r:id="rId59"/>
    <p:sldId id="314" r:id="rId60"/>
    <p:sldId id="310" r:id="rId61"/>
    <p:sldId id="317" r:id="rId62"/>
    <p:sldId id="318" r:id="rId63"/>
    <p:sldId id="319" r:id="rId64"/>
    <p:sldId id="328" r:id="rId65"/>
    <p:sldId id="354" r:id="rId66"/>
    <p:sldId id="348" r:id="rId67"/>
    <p:sldId id="258" r:id="rId68"/>
    <p:sldId id="352" r:id="rId69"/>
    <p:sldId id="343" r:id="rId70"/>
    <p:sldId id="351" r:id="rId71"/>
    <p:sldId id="356" r:id="rId72"/>
    <p:sldId id="344" r:id="rId73"/>
    <p:sldId id="345" r:id="rId74"/>
    <p:sldId id="346" r:id="rId75"/>
    <p:sldId id="280" r:id="rId76"/>
    <p:sldId id="347" r:id="rId77"/>
    <p:sldId id="349" r:id="rId78"/>
    <p:sldId id="261" r:id="rId79"/>
    <p:sldId id="350" r:id="rId8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承中" initials="承中" lastIdx="2" clrIdx="0">
    <p:extLst>
      <p:ext uri="{19B8F6BF-5375-455C-9EA6-DF929625EA0E}">
        <p15:presenceInfo xmlns:p15="http://schemas.microsoft.com/office/powerpoint/2012/main" userId="d659273e8b22da3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10C1"/>
    <a:srgbClr val="FF3B3B"/>
    <a:srgbClr val="E4D2F2"/>
    <a:srgbClr val="C9DBFF"/>
    <a:srgbClr val="D9F5FF"/>
    <a:srgbClr val="D9E6FF"/>
    <a:srgbClr val="E5F8FF"/>
    <a:srgbClr val="E7F4D8"/>
    <a:srgbClr val="FFFFB9"/>
    <a:srgbClr val="FFF1C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4343" autoAdjust="0"/>
  </p:normalViewPr>
  <p:slideViewPr>
    <p:cSldViewPr snapToGrid="0">
      <p:cViewPr varScale="1">
        <p:scale>
          <a:sx n="64" d="100"/>
          <a:sy n="64" d="100"/>
        </p:scale>
        <p:origin x="864" y="77"/>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viewProps" Target="view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notesMaster" Target="notesMasters/notesMaster1.xml"/><Relationship Id="rId86"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61" Type="http://schemas.openxmlformats.org/officeDocument/2006/relationships/slide" Target="slides/slide59.xml"/><Relationship Id="rId82"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2-10-08T21:14:31.985" idx="2">
    <p:pos x="10" y="10"/>
    <p:text/>
    <p:extLst>
      <p:ext uri="{C676402C-5697-4E1C-873F-D02D1690AC5C}">
        <p15:threadingInfo xmlns:p15="http://schemas.microsoft.com/office/powerpoint/2012/main" timeZoneBias="-4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0BFB91-F2E6-4932-9BE0-9065E36BF35A}" type="datetimeFigureOut">
              <a:rPr lang="zh-TW" altLang="en-US" smtClean="0"/>
              <a:t>2022/10/11</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E72010-84F5-475A-802D-FB41B8E7F8A9}" type="slidenum">
              <a:rPr lang="zh-TW" altLang="en-US" smtClean="0"/>
              <a:t>‹#›</a:t>
            </a:fld>
            <a:endParaRPr lang="zh-TW" altLang="en-US"/>
          </a:p>
        </p:txBody>
      </p:sp>
    </p:spTree>
    <p:extLst>
      <p:ext uri="{BB962C8B-B14F-4D97-AF65-F5344CB8AC3E}">
        <p14:creationId xmlns:p14="http://schemas.microsoft.com/office/powerpoint/2010/main" val="14918050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各位口委老師、同學大家好，我是邱承中，今天我的研究主題是</a:t>
            </a:r>
            <a:endParaRPr lang="en-US" altLang="zh-TW" dirty="0"/>
          </a:p>
          <a:p>
            <a:r>
              <a:rPr lang="zh-TW" altLang="en-US" dirty="0"/>
              <a:t>概念上就利用一片</a:t>
            </a:r>
            <a:r>
              <a:rPr lang="en-US" altLang="zh-TW" dirty="0"/>
              <a:t>LN</a:t>
            </a:r>
            <a:r>
              <a:rPr lang="zh-TW" altLang="en-US" dirty="0"/>
              <a:t>晶片，利用半導體製程的手法將將四種結構合在單一晶片上達到光路的積體化，並利用</a:t>
            </a: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電光調制達成單一晶片產生雙偏振正交光子對</a:t>
            </a: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1</a:t>
            </a:fld>
            <a:endParaRPr lang="zh-TW" altLang="en-US"/>
          </a:p>
        </p:txBody>
      </p:sp>
    </p:spTree>
    <p:extLst>
      <p:ext uri="{BB962C8B-B14F-4D97-AF65-F5344CB8AC3E}">
        <p14:creationId xmlns:p14="http://schemas.microsoft.com/office/powerpoint/2010/main" val="30639788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這是我的</a:t>
            </a:r>
            <a:r>
              <a:rPr lang="en-US" altLang="zh-TW" dirty="0"/>
              <a:t>Outline</a:t>
            </a:r>
            <a:r>
              <a:rPr lang="zh-TW" altLang="en-US" dirty="0"/>
              <a:t>。首先我會介紹我的應用，研究動機 以及我的研究目標，，然後是本研究所使用到的工作原理，再來是晶片的設計、模擬</a:t>
            </a:r>
            <a:r>
              <a:rPr lang="en-US" altLang="zh-TW" dirty="0"/>
              <a:t>, </a:t>
            </a:r>
            <a:r>
              <a:rPr lang="zh-TW" altLang="en-US" dirty="0"/>
              <a:t>再來是晶片製程，接著是實驗的量測結果與分析，最後是結論與未來展望。</a:t>
            </a:r>
          </a:p>
          <a:p>
            <a:endParaRPr lang="zh-TW" altLang="en-US" dirty="0"/>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2</a:t>
            </a:fld>
            <a:endParaRPr lang="zh-TW" altLang="en-US"/>
          </a:p>
        </p:txBody>
      </p:sp>
    </p:spTree>
    <p:extLst>
      <p:ext uri="{BB962C8B-B14F-4D97-AF65-F5344CB8AC3E}">
        <p14:creationId xmlns:p14="http://schemas.microsoft.com/office/powerpoint/2010/main" val="33309892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量子的應用非常廣，比如說在</a:t>
            </a:r>
            <a:r>
              <a:rPr lang="zh-TW" altLang="en-US" b="0" i="0" dirty="0">
                <a:solidFill>
                  <a:srgbClr val="202124"/>
                </a:solidFill>
                <a:effectLst/>
                <a:latin typeface="Google Sans"/>
              </a:rPr>
              <a:t>量子測量</a:t>
            </a:r>
            <a:r>
              <a:rPr lang="en-US" altLang="zh-TW" b="0" i="0" dirty="0">
                <a:solidFill>
                  <a:srgbClr val="202124"/>
                </a:solidFill>
                <a:effectLst/>
                <a:latin typeface="Google Sans"/>
              </a:rPr>
              <a:t>(Quantum metrology)</a:t>
            </a:r>
            <a:r>
              <a:rPr lang="zh-TW" altLang="en-US" b="0" i="0" dirty="0">
                <a:solidFill>
                  <a:srgbClr val="202124"/>
                </a:solidFill>
                <a:effectLst/>
                <a:latin typeface="Google Sans"/>
              </a:rPr>
              <a:t>、量子模擬</a:t>
            </a:r>
            <a:r>
              <a:rPr lang="en-US" altLang="zh-TW" b="0" i="0" dirty="0">
                <a:solidFill>
                  <a:srgbClr val="202124"/>
                </a:solidFill>
                <a:effectLst/>
                <a:latin typeface="Google Sans"/>
              </a:rPr>
              <a:t>(quantum simulation)</a:t>
            </a:r>
            <a:r>
              <a:rPr lang="zh-TW" altLang="en-US" b="0" i="0" dirty="0">
                <a:solidFill>
                  <a:srgbClr val="202124"/>
                </a:solidFill>
                <a:effectLst/>
                <a:latin typeface="Google Sans"/>
              </a:rPr>
              <a:t>、量子計算</a:t>
            </a:r>
            <a:r>
              <a:rPr lang="en-US" altLang="zh-TW" b="0" i="0" dirty="0">
                <a:solidFill>
                  <a:srgbClr val="202124"/>
                </a:solidFill>
                <a:effectLst/>
                <a:latin typeface="Google Sans"/>
              </a:rPr>
              <a:t>(Quantum computing)</a:t>
            </a:r>
            <a:r>
              <a:rPr lang="zh-TW" altLang="en-US" b="0" i="0" dirty="0">
                <a:solidFill>
                  <a:srgbClr val="202124"/>
                </a:solidFill>
                <a:effectLst/>
                <a:latin typeface="Google Sans"/>
              </a:rPr>
              <a:t> 、量子通訊等。</a:t>
            </a:r>
            <a:endParaRPr lang="en-US" altLang="zh-TW" dirty="0"/>
          </a:p>
          <a:p>
            <a:r>
              <a:rPr lang="zh-TW" altLang="en-US" dirty="0"/>
              <a:t>尤其在量子的通訊中，最近中國</a:t>
            </a:r>
            <a:r>
              <a:rPr lang="zh-TW" altLang="en-US" b="0" i="0" dirty="0">
                <a:solidFill>
                  <a:srgbClr val="000000"/>
                </a:solidFill>
                <a:effectLst/>
                <a:latin typeface="Microsoft YaHei" panose="020B0503020204020204" pitchFamily="34" charset="-122"/>
                <a:ea typeface="Microsoft YaHei" panose="020B0503020204020204" pitchFamily="34" charset="-122"/>
              </a:rPr>
              <a:t>“墨子號”在國際上實現千公裡級量子密鑰分發利用</a:t>
            </a:r>
            <a:r>
              <a:rPr lang="en-US" altLang="zh-TW" b="0" i="0" dirty="0">
                <a:solidFill>
                  <a:srgbClr val="202124"/>
                </a:solidFill>
                <a:effectLst/>
                <a:latin typeface="Google Sans"/>
              </a:rPr>
              <a:t>entangle photon</a:t>
            </a:r>
            <a:r>
              <a:rPr lang="zh-TW" altLang="en-US" b="0" i="0" dirty="0">
                <a:solidFill>
                  <a:srgbClr val="000000"/>
                </a:solidFill>
                <a:effectLst/>
                <a:latin typeface="Microsoft YaHei" panose="020B0503020204020204" pitchFamily="34" charset="-122"/>
                <a:ea typeface="Microsoft YaHei" panose="020B0503020204020204" pitchFamily="34" charset="-122"/>
              </a:rPr>
              <a:t>，代表著未來量子通信網絡將可以覆蓋全球，並且就代表著</a:t>
            </a:r>
            <a:r>
              <a:rPr lang="zh-TW" altLang="en-US" b="0" i="0" dirty="0">
                <a:solidFill>
                  <a:srgbClr val="202124"/>
                </a:solidFill>
                <a:effectLst/>
                <a:latin typeface="Google Sans"/>
              </a:rPr>
              <a:t>量子通訊傳輸所需的這個</a:t>
            </a:r>
            <a:r>
              <a:rPr lang="en-US" altLang="zh-TW" b="0" i="0" dirty="0">
                <a:solidFill>
                  <a:srgbClr val="202124"/>
                </a:solidFill>
                <a:effectLst/>
                <a:latin typeface="Google Sans"/>
              </a:rPr>
              <a:t>entangle photon source</a:t>
            </a:r>
            <a:r>
              <a:rPr lang="zh-TW" altLang="en-US" b="0" i="0" dirty="0">
                <a:solidFill>
                  <a:srgbClr val="202124"/>
                </a:solidFill>
                <a:effectLst/>
                <a:latin typeface="Google Sans"/>
              </a:rPr>
              <a:t>將變得非常的重要</a:t>
            </a:r>
            <a:endParaRPr lang="en-US" altLang="zh-TW" b="0" i="0" dirty="0">
              <a:solidFill>
                <a:srgbClr val="000000"/>
              </a:solidFill>
              <a:effectLst/>
              <a:latin typeface="Microsoft YaHei" panose="020B0503020204020204" pitchFamily="34" charset="-122"/>
              <a:ea typeface="Microsoft YaHei" panose="020B0503020204020204" pitchFamily="34" charset="-122"/>
            </a:endParaRPr>
          </a:p>
        </p:txBody>
      </p:sp>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015F893-DC37-4D86-87E6-4581D5262153}"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TW" altLang="en-US" sz="12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23889666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而在</a:t>
            </a:r>
            <a:r>
              <a:rPr lang="en-US" altLang="zh-TW" dirty="0"/>
              <a:t>2004</a:t>
            </a:r>
            <a:r>
              <a:rPr lang="zh-TW" altLang="en-US" dirty="0"/>
              <a:t>年日本的一個研究團隊利用這樣的兩片</a:t>
            </a:r>
            <a:r>
              <a:rPr lang="en-US" altLang="zh-TW" dirty="0"/>
              <a:t>SPDC</a:t>
            </a:r>
            <a:r>
              <a:rPr lang="zh-TW" altLang="en-US" dirty="0"/>
              <a:t> </a:t>
            </a:r>
            <a:r>
              <a:rPr lang="en-US" altLang="zh-TW" dirty="0"/>
              <a:t>type 0</a:t>
            </a:r>
            <a:r>
              <a:rPr lang="zh-TW" altLang="en-US" dirty="0"/>
              <a:t>的架構來產生出雙偏振糾纏的光子對，那他們是利用概念上他們是兩片</a:t>
            </a:r>
            <a:r>
              <a:rPr lang="en-US" altLang="zh-TW" dirty="0"/>
              <a:t>type 0</a:t>
            </a:r>
            <a:r>
              <a:rPr lang="zh-TW" altLang="en-US" dirty="0"/>
              <a:t>其中一端加上</a:t>
            </a:r>
            <a:r>
              <a:rPr lang="en-US" altLang="zh-TW" dirty="0"/>
              <a:t>PC</a:t>
            </a:r>
            <a:r>
              <a:rPr lang="zh-TW" altLang="en-US" dirty="0"/>
              <a:t>來控制其偏振轉為水平，接著兩光子對間的相位差，他們使用一穩定相位的回售系統，所以最後他們就利用這樣的架構來產生出偏振糾纏光子對，而因為</a:t>
            </a:r>
            <a:r>
              <a:rPr lang="en-US" altLang="zh-TW" dirty="0"/>
              <a:t>type 0</a:t>
            </a:r>
            <a:r>
              <a:rPr lang="zh-TW" altLang="en-US" dirty="0"/>
              <a:t>相對於</a:t>
            </a:r>
            <a:r>
              <a:rPr lang="en-US" altLang="zh-TW" dirty="0"/>
              <a:t>type2</a:t>
            </a:r>
            <a:r>
              <a:rPr lang="zh-TW" altLang="en-US" dirty="0"/>
              <a:t>除了轉換效率好外，且頻寬較寬，所以到了</a:t>
            </a:r>
            <a:r>
              <a:rPr lang="en-US" altLang="zh-TW" dirty="0"/>
              <a:t>2013</a:t>
            </a:r>
            <a:r>
              <a:rPr lang="zh-TW" altLang="en-US" dirty="0"/>
              <a:t>年利用這樣的</a:t>
            </a:r>
            <a:r>
              <a:rPr lang="en-US" altLang="zh-TW" dirty="0"/>
              <a:t>entangle photon source </a:t>
            </a:r>
            <a:r>
              <a:rPr lang="zh-TW" altLang="en-US" dirty="0"/>
              <a:t>達成在多用戶網絡傳輸</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而在</a:t>
            </a:r>
            <a:r>
              <a:rPr lang="en-US" altLang="zh-TW" dirty="0"/>
              <a:t>2022</a:t>
            </a:r>
            <a:r>
              <a:rPr lang="zh-TW" altLang="en-US" dirty="0"/>
              <a:t>年 使用塞格尼干涉儀的架構 利用</a:t>
            </a:r>
            <a:r>
              <a:rPr lang="en-US" altLang="zh-TW" dirty="0"/>
              <a:t>PPLN type 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i="0" dirty="0">
                <a:solidFill>
                  <a:srgbClr val="222222"/>
                </a:solidFill>
                <a:effectLst/>
                <a:latin typeface="-apple-system"/>
              </a:rPr>
              <a:t>(b) can be applied to broadband entanglement-distribution network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i="0" dirty="0">
                <a:solidFill>
                  <a:srgbClr val="222222"/>
                </a:solidFill>
                <a:effectLst/>
                <a:latin typeface="-apple-system"/>
              </a:rPr>
              <a:t>The setup does not require any stabilization besides the temperature control of the PPLN/WR because of the monolithic structure of PPLN/WR and the phase stability of a </a:t>
            </a:r>
            <a:r>
              <a:rPr lang="en-US" altLang="zh-TW" b="0" i="0" dirty="0" err="1">
                <a:solidFill>
                  <a:srgbClr val="222222"/>
                </a:solidFill>
                <a:effectLst/>
                <a:latin typeface="-apple-system"/>
              </a:rPr>
              <a:t>Sagnac</a:t>
            </a:r>
            <a:r>
              <a:rPr lang="en-US" altLang="zh-TW" b="0" i="0" dirty="0">
                <a:solidFill>
                  <a:srgbClr val="222222"/>
                </a:solidFill>
                <a:effectLst/>
                <a:latin typeface="-apple-system"/>
              </a:rPr>
              <a:t> interferometer</a:t>
            </a:r>
            <a:endParaRPr lang="en-US" altLang="zh-TW" dirty="0"/>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5</a:t>
            </a:fld>
            <a:endParaRPr lang="zh-TW" altLang="en-US"/>
          </a:p>
        </p:txBody>
      </p:sp>
    </p:spTree>
    <p:extLst>
      <p:ext uri="{BB962C8B-B14F-4D97-AF65-F5344CB8AC3E}">
        <p14:creationId xmlns:p14="http://schemas.microsoft.com/office/powerpoint/2010/main" val="5768921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所以概念上如果我們要產生雙偏振正交光子對，一般來說可以利用兩片</a:t>
            </a:r>
            <a:r>
              <a:rPr lang="en-US" altLang="zh-TW" dirty="0"/>
              <a:t>SPDC</a:t>
            </a:r>
            <a:r>
              <a:rPr lang="zh-TW" altLang="en-US" dirty="0"/>
              <a:t> </a:t>
            </a:r>
            <a:r>
              <a:rPr lang="en-US" altLang="zh-TW" dirty="0"/>
              <a:t>type0</a:t>
            </a:r>
            <a:r>
              <a:rPr lang="zh-TW" altLang="en-US" dirty="0"/>
              <a:t>的</a:t>
            </a:r>
            <a:r>
              <a:rPr lang="en-US" altLang="zh-TW" dirty="0"/>
              <a:t>PPLN</a:t>
            </a:r>
            <a:r>
              <a:rPr lang="zh-TW" altLang="en-US" dirty="0"/>
              <a:t>晶片再加上，一</a:t>
            </a:r>
            <a:r>
              <a:rPr lang="en-US" altLang="zh-TW" dirty="0"/>
              <a:t>polarization controller</a:t>
            </a:r>
            <a:r>
              <a:rPr lang="zh-TW" altLang="en-US" dirty="0"/>
              <a:t>才可產生出兩隊光子</a:t>
            </a:r>
            <a:r>
              <a:rPr lang="zh-TW" altLang="en-US"/>
              <a:t>對，但是由上述的架構皆需要較大的空間極多的原件來完成</a:t>
            </a:r>
            <a:endParaRPr lang="en-US" altLang="zh-TW" dirty="0"/>
          </a:p>
          <a:p>
            <a:r>
              <a:rPr lang="zh-TW" altLang="en-US" dirty="0"/>
              <a:t>所以此研究的目標</a:t>
            </a:r>
            <a:r>
              <a:rPr lang="en-US" altLang="zh-TW" dirty="0"/>
              <a:t>r</a:t>
            </a:r>
            <a:r>
              <a:rPr lang="zh-TW" altLang="en-US" dirty="0"/>
              <a:t>就是將上面個個元件坐進一單一晶片上，藉此達成光路的積體化，將這兩片</a:t>
            </a:r>
            <a:r>
              <a:rPr lang="en-US" altLang="zh-TW" dirty="0"/>
              <a:t>type0</a:t>
            </a:r>
            <a:r>
              <a:rPr lang="zh-TW" altLang="en-US" dirty="0"/>
              <a:t>晶片做在一片上並且中間加上一段可以控制偏振的結構，即可調整項為的結構，史地只需用一晶片經由雷射打入後能產生兩對偏振正交的光子對，再加上可以利用最後一段的結構調製</a:t>
            </a:r>
            <a:r>
              <a:rPr lang="en-US" altLang="zh-TW" dirty="0"/>
              <a:t>H</a:t>
            </a:r>
            <a:r>
              <a:rPr lang="zh-TW" altLang="en-US" dirty="0"/>
              <a:t>和</a:t>
            </a:r>
            <a:r>
              <a:rPr lang="en-US" altLang="zh-TW" dirty="0"/>
              <a:t>V</a:t>
            </a:r>
            <a:r>
              <a:rPr lang="zh-TW" altLang="en-US" dirty="0"/>
              <a:t>之間的相位</a:t>
            </a:r>
            <a:endParaRPr lang="en-US" altLang="zh-TW" dirty="0"/>
          </a:p>
          <a:p>
            <a:r>
              <a:rPr lang="en-US" altLang="zh-TW" dirty="0"/>
              <a:t>(</a:t>
            </a:r>
            <a:r>
              <a:rPr lang="zh-TW" altLang="en-US" dirty="0"/>
              <a:t>未來在經過外部的架構設計實現成為</a:t>
            </a:r>
            <a:r>
              <a:rPr lang="en-US" altLang="zh-TW" dirty="0"/>
              <a:t>Entangled photon sources)</a:t>
            </a:r>
            <a:endParaRPr lang="zh-TW" altLang="en-US" dirty="0"/>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6</a:t>
            </a:fld>
            <a:endParaRPr lang="zh-TW" altLang="en-US"/>
          </a:p>
        </p:txBody>
      </p:sp>
    </p:spTree>
    <p:extLst>
      <p:ext uri="{BB962C8B-B14F-4D97-AF65-F5344CB8AC3E}">
        <p14:creationId xmlns:p14="http://schemas.microsoft.com/office/powerpoint/2010/main" val="2788206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在</a:t>
            </a:r>
            <a:r>
              <a:rPr lang="en-US" altLang="zh-TW" dirty="0"/>
              <a:t>2004</a:t>
            </a:r>
            <a:r>
              <a:rPr lang="zh-TW" altLang="en-US" dirty="0"/>
              <a:t>年日本的一個研究團隊利用這樣的架構來產生出雙偏振糾纏的光子對，那概念上他們是兩片</a:t>
            </a:r>
            <a:r>
              <a:rPr lang="en-US" altLang="zh-TW" dirty="0"/>
              <a:t>type 0</a:t>
            </a:r>
            <a:r>
              <a:rPr lang="zh-TW" altLang="en-US" dirty="0"/>
              <a:t>其中一端加上</a:t>
            </a:r>
            <a:r>
              <a:rPr lang="en-US" altLang="zh-TW" dirty="0"/>
              <a:t>PC</a:t>
            </a:r>
            <a:r>
              <a:rPr lang="zh-TW" altLang="en-US" dirty="0"/>
              <a:t>來控制其偏振轉為水平，接著兩光子對間的相位差，他們使用一穩相位的回售系統，所以最後他們就利用這樣的架構來產生出偏振糾纏光子對，所以未來可以利用這一片只有</a:t>
            </a:r>
            <a:r>
              <a:rPr lang="en-US" altLang="zh-TW" dirty="0"/>
              <a:t>4.6cm</a:t>
            </a:r>
            <a:r>
              <a:rPr lang="zh-TW" altLang="en-US" dirty="0"/>
              <a:t>的晶片實現成為</a:t>
            </a:r>
            <a:r>
              <a:rPr lang="en-US" altLang="zh-TW" dirty="0"/>
              <a:t>Entangled photon sources</a:t>
            </a:r>
          </a:p>
          <a:p>
            <a:r>
              <a:rPr lang="zh-TW" altLang="en-US" dirty="0"/>
              <a:t>到了</a:t>
            </a:r>
            <a:r>
              <a:rPr lang="en-US" altLang="zh-TW" dirty="0"/>
              <a:t>2013</a:t>
            </a:r>
            <a:r>
              <a:rPr lang="zh-TW" altLang="en-US" dirty="0"/>
              <a:t>年使用這</a:t>
            </a:r>
            <a:r>
              <a:rPr lang="en-US" altLang="zh-TW" dirty="0"/>
              <a:t>entangle photon </a:t>
            </a:r>
            <a:r>
              <a:rPr lang="en-US" altLang="zh-TW" dirty="0" err="1"/>
              <a:t>sourse</a:t>
            </a:r>
            <a:r>
              <a:rPr lang="en-US" altLang="zh-TW" dirty="0"/>
              <a:t> </a:t>
            </a:r>
            <a:r>
              <a:rPr lang="zh-TW" altLang="en-US" dirty="0"/>
              <a:t>達成在多用戶網絡傳輸中</a:t>
            </a:r>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7</a:t>
            </a:fld>
            <a:endParaRPr lang="zh-TW" altLang="en-US"/>
          </a:p>
        </p:txBody>
      </p:sp>
    </p:spTree>
    <p:extLst>
      <p:ext uri="{BB962C8B-B14F-4D97-AF65-F5344CB8AC3E}">
        <p14:creationId xmlns:p14="http://schemas.microsoft.com/office/powerpoint/2010/main" val="31370166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所以要如何利用這四段式結構的晶片來產生兩隊雙偏振正交光子對呢</a:t>
            </a:r>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8</a:t>
            </a:fld>
            <a:endParaRPr lang="zh-TW" altLang="en-US"/>
          </a:p>
        </p:txBody>
      </p:sp>
    </p:spTree>
    <p:extLst>
      <p:ext uri="{BB962C8B-B14F-4D97-AF65-F5344CB8AC3E}">
        <p14:creationId xmlns:p14="http://schemas.microsoft.com/office/powerpoint/2010/main" val="29771731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首先我們先把他猜成分別四段單一結構來看</a:t>
            </a:r>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9</a:t>
            </a:fld>
            <a:endParaRPr lang="zh-TW" altLang="en-US"/>
          </a:p>
        </p:txBody>
      </p:sp>
    </p:spTree>
    <p:extLst>
      <p:ext uri="{BB962C8B-B14F-4D97-AF65-F5344CB8AC3E}">
        <p14:creationId xmlns:p14="http://schemas.microsoft.com/office/powerpoint/2010/main" val="23902915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當</a:t>
            </a:r>
            <a:r>
              <a:rPr lang="en-US" altLang="zh-TW" dirty="0"/>
              <a:t>785pump</a:t>
            </a:r>
            <a:r>
              <a:rPr lang="zh-TW" altLang="en-US" dirty="0"/>
              <a:t>光打入第一端</a:t>
            </a:r>
            <a:r>
              <a:rPr lang="en-US" altLang="zh-TW" dirty="0"/>
              <a:t>SPDCtype0</a:t>
            </a:r>
            <a:r>
              <a:rPr lang="zh-TW" altLang="en-US" dirty="0"/>
              <a:t>結構後會產生垂直篇證的光子隊再加上</a:t>
            </a:r>
            <a:r>
              <a:rPr lang="en-US" altLang="zh-TW" dirty="0"/>
              <a:t>pump</a:t>
            </a:r>
            <a:r>
              <a:rPr lang="zh-TW" altLang="en-US" dirty="0"/>
              <a:t>光，</a:t>
            </a:r>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10</a:t>
            </a:fld>
            <a:endParaRPr lang="zh-TW" altLang="en-US"/>
          </a:p>
        </p:txBody>
      </p:sp>
    </p:spTree>
    <p:extLst>
      <p:ext uri="{BB962C8B-B14F-4D97-AF65-F5344CB8AC3E}">
        <p14:creationId xmlns:p14="http://schemas.microsoft.com/office/powerpoint/2010/main" val="18186733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接著再經過第二段擁有偏振轉化功能的結構將垂直偏振的光子隊旋轉成水頻的偏振，所以道再為止有</a:t>
            </a:r>
            <a:r>
              <a:rPr lang="en-US" altLang="zh-TW" dirty="0"/>
              <a:t>pump</a:t>
            </a:r>
            <a:r>
              <a:rPr lang="zh-TW" altLang="en-US" dirty="0"/>
              <a:t> </a:t>
            </a:r>
            <a:r>
              <a:rPr lang="en-US" altLang="zh-TW" dirty="0"/>
              <a:t>laser</a:t>
            </a:r>
            <a:r>
              <a:rPr lang="zh-TW" altLang="en-US" dirty="0"/>
              <a:t>及水頻偏振的光子隊</a:t>
            </a:r>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11</a:t>
            </a:fld>
            <a:endParaRPr lang="zh-TW" altLang="en-US"/>
          </a:p>
        </p:txBody>
      </p:sp>
    </p:spTree>
    <p:extLst>
      <p:ext uri="{BB962C8B-B14F-4D97-AF65-F5344CB8AC3E}">
        <p14:creationId xmlns:p14="http://schemas.microsoft.com/office/powerpoint/2010/main" val="2314493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那接下來</a:t>
            </a:r>
            <a:r>
              <a:rPr lang="en-US" altLang="zh-TW" dirty="0"/>
              <a:t>pump</a:t>
            </a:r>
            <a:r>
              <a:rPr lang="zh-TW" altLang="en-US" dirty="0"/>
              <a:t>光經過第三段也就是與前段</a:t>
            </a:r>
            <a:r>
              <a:rPr lang="en-US" altLang="zh-TW" dirty="0"/>
              <a:t>SPDC</a:t>
            </a:r>
            <a:r>
              <a:rPr lang="zh-TW" altLang="en-US" dirty="0"/>
              <a:t>一樣為</a:t>
            </a:r>
            <a:r>
              <a:rPr lang="en-US" altLang="zh-TW" dirty="0"/>
              <a:t>type0</a:t>
            </a:r>
            <a:r>
              <a:rPr lang="zh-TW" altLang="en-US" dirty="0"/>
              <a:t>的結構後同樣產生垂直偏振的光子對，所以道這第三段結構結束為止有</a:t>
            </a:r>
            <a:r>
              <a:rPr lang="en-US" altLang="zh-TW" dirty="0"/>
              <a:t>pump</a:t>
            </a:r>
            <a:r>
              <a:rPr lang="zh-TW" altLang="en-US" dirty="0"/>
              <a:t> </a:t>
            </a:r>
            <a:r>
              <a:rPr lang="en-US" altLang="zh-TW" dirty="0"/>
              <a:t>laser</a:t>
            </a:r>
            <a:r>
              <a:rPr lang="zh-TW" altLang="en-US" dirty="0"/>
              <a:t>及水頻及垂直偏振的光子隊，</a:t>
            </a:r>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12</a:t>
            </a:fld>
            <a:endParaRPr lang="zh-TW" altLang="en-US"/>
          </a:p>
        </p:txBody>
      </p:sp>
    </p:spTree>
    <p:extLst>
      <p:ext uri="{BB962C8B-B14F-4D97-AF65-F5344CB8AC3E}">
        <p14:creationId xmlns:p14="http://schemas.microsoft.com/office/powerpoint/2010/main" val="18770740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，而在這光路型肘的過程中兩隊互為正交的光子隊之間的相位差，可裡用最後一段擁有相位調制工能得結構，來補償兩者間的相位</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13</a:t>
            </a:fld>
            <a:endParaRPr lang="zh-TW" altLang="en-US"/>
          </a:p>
        </p:txBody>
      </p:sp>
    </p:spTree>
    <p:extLst>
      <p:ext uri="{BB962C8B-B14F-4D97-AF65-F5344CB8AC3E}">
        <p14:creationId xmlns:p14="http://schemas.microsoft.com/office/powerpoint/2010/main" val="40820321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所以最後由入社波長為</a:t>
            </a:r>
            <a:r>
              <a:rPr lang="en-US" altLang="zh-TW" dirty="0"/>
              <a:t>785nm</a:t>
            </a:r>
            <a:r>
              <a:rPr lang="zh-TW" altLang="en-US" dirty="0"/>
              <a:t>的</a:t>
            </a:r>
            <a:r>
              <a:rPr lang="en-US" altLang="zh-TW" dirty="0"/>
              <a:t>pump</a:t>
            </a:r>
            <a:r>
              <a:rPr lang="zh-TW" altLang="en-US" dirty="0"/>
              <a:t>光後，利用此四段的晶片結構設計，可產生兩隊雙偏振正交光子對</a:t>
            </a:r>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14</a:t>
            </a:fld>
            <a:endParaRPr lang="zh-TW" altLang="en-US"/>
          </a:p>
        </p:txBody>
      </p:sp>
    </p:spTree>
    <p:extLst>
      <p:ext uri="{BB962C8B-B14F-4D97-AF65-F5344CB8AC3E}">
        <p14:creationId xmlns:p14="http://schemas.microsoft.com/office/powerpoint/2010/main" val="14032954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所以接下來讓我們來了解此晶片四段中每段的工作原理</a:t>
            </a:r>
          </a:p>
        </p:txBody>
      </p:sp>
      <p:sp>
        <p:nvSpPr>
          <p:cNvPr id="4" name="投影片編號版面配置區 3"/>
          <p:cNvSpPr>
            <a:spLocks noGrp="1"/>
          </p:cNvSpPr>
          <p:nvPr>
            <p:ph type="sldNum" sz="quarter" idx="5"/>
          </p:nvPr>
        </p:nvSpPr>
        <p:spPr/>
        <p:txBody>
          <a:bodyPr/>
          <a:lstStyle/>
          <a:p>
            <a:fld id="{CFE72010-84F5-475A-802D-FB41B8E7F8A9}" type="slidenum">
              <a:rPr lang="zh-TW" altLang="en-US" smtClean="0"/>
              <a:t>15</a:t>
            </a:fld>
            <a:endParaRPr lang="zh-TW" altLang="en-US"/>
          </a:p>
        </p:txBody>
      </p:sp>
    </p:spTree>
    <p:extLst>
      <p:ext uri="{BB962C8B-B14F-4D97-AF65-F5344CB8AC3E}">
        <p14:creationId xmlns:p14="http://schemas.microsoft.com/office/powerpoint/2010/main" val="34292591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我</a:t>
            </a:r>
            <a:r>
              <a:rPr lang="en-US" altLang="zh-TW" dirty="0"/>
              <a:t>SPDC</a:t>
            </a:r>
            <a:r>
              <a:rPr lang="zh-TW" altLang="en-US" dirty="0"/>
              <a:t>設計為</a:t>
            </a:r>
            <a:r>
              <a:rPr lang="en-US" altLang="zh-TW" b="0" i="0" dirty="0">
                <a:solidFill>
                  <a:srgbClr val="EA4335"/>
                </a:solidFill>
                <a:effectLst/>
                <a:latin typeface="arial" panose="020B0604020202020204" pitchFamily="34" charset="0"/>
              </a:rPr>
              <a:t>degenerate</a:t>
            </a:r>
            <a:r>
              <a:rPr lang="zh-TW" altLang="en-US" b="0" i="0" dirty="0">
                <a:solidFill>
                  <a:srgbClr val="EA4335"/>
                </a:solidFill>
                <a:effectLst/>
                <a:latin typeface="arial" panose="020B0604020202020204" pitchFamily="34" charset="0"/>
              </a:rPr>
              <a:t> </a:t>
            </a:r>
            <a:r>
              <a:rPr lang="en-US" altLang="zh-TW" dirty="0"/>
              <a:t>type0</a:t>
            </a:r>
            <a:r>
              <a:rPr lang="zh-TW" altLang="en-US" dirty="0"/>
              <a:t>，所以由左圖可看出與</a:t>
            </a:r>
            <a:r>
              <a:rPr lang="en-US" altLang="zh-TW" dirty="0"/>
              <a:t>SHG</a:t>
            </a:r>
            <a:r>
              <a:rPr lang="zh-TW" altLang="en-US" dirty="0"/>
              <a:t>互為反向的過程，所以在之後的量測上我們可以先利用量測</a:t>
            </a:r>
            <a:r>
              <a:rPr lang="en-US" altLang="zh-TW" dirty="0"/>
              <a:t>SHG</a:t>
            </a:r>
            <a:r>
              <a:rPr lang="zh-TW" altLang="en-US" dirty="0"/>
              <a:t>來找到特定溫度下滿足</a:t>
            </a:r>
            <a:r>
              <a:rPr lang="en-US" altLang="zh-TW" dirty="0"/>
              <a:t>SPDC</a:t>
            </a:r>
            <a:r>
              <a:rPr lang="zh-TW" altLang="en-US" dirty="0"/>
              <a:t>相位匹配的中心波長，</a:t>
            </a:r>
            <a:endParaRPr lang="en-US" altLang="zh-TW" dirty="0"/>
          </a:p>
          <a:p>
            <a:r>
              <a:rPr lang="zh-TW" altLang="en-US" dirty="0"/>
              <a:t>納在這邊當我們選定</a:t>
            </a:r>
            <a:r>
              <a:rPr lang="en-US" altLang="zh-TW" dirty="0"/>
              <a:t>LN</a:t>
            </a:r>
            <a:r>
              <a:rPr lang="zh-TW" altLang="en-US" dirty="0"/>
              <a:t>的晶體長度與波長後，要得到最好的轉換效率須滿足能量及動量守恆</a:t>
            </a:r>
            <a:endParaRPr lang="en-US" altLang="zh-TW" dirty="0"/>
          </a:p>
          <a:p>
            <a:r>
              <a:rPr lang="zh-TW" altLang="en-US" dirty="0"/>
              <a:t>能量守恆在自然狀態下就能夠被環境自行補足，然而動量守恆則不行，若能夠滿足右圖的動量守恆條件，其滿足的條件我們就稱之為相位匹配條件，但要滿足右圖的條件，則必須要搭配特定的入射角度以及溫度，且若因為環境導致角度及溫度稍有改變，則會使相位不匹配，造成轉換效率上大幅降低</a:t>
            </a:r>
          </a:p>
          <a:p>
            <a:r>
              <a:rPr lang="zh-TW" altLang="en-US" dirty="0"/>
              <a:t>所以為了達成動量守恆，在這裡我們引入準相位匹配</a:t>
            </a:r>
            <a:r>
              <a:rPr lang="en-US" altLang="zh-TW" dirty="0"/>
              <a:t>(Quasi Phase Matching, QPM)</a:t>
            </a:r>
            <a:r>
              <a:rPr lang="zh-TW" altLang="en-US" dirty="0"/>
              <a:t>的概念，我們就可利用這個</a:t>
            </a:r>
            <a:r>
              <a:rPr lang="zh-TW" altLang="el-GR" dirty="0"/>
              <a:t>𝑘𝛬</a:t>
            </a:r>
            <a:r>
              <a:rPr lang="zh-TW" altLang="en-US" dirty="0"/>
              <a:t>來補償相位不匹配項，而這𝑘𝛬項可以從週期性晶疇反轉結構來達成</a:t>
            </a:r>
            <a:endParaRPr lang="en-US" altLang="zh-TW" dirty="0"/>
          </a:p>
          <a:p>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，由此式∆</a:t>
            </a:r>
            <a:r>
              <a:rPr lang="en-US" altLang="zh-TW" dirty="0"/>
              <a:t>k</a:t>
            </a:r>
            <a:r>
              <a:rPr lang="zh-TW" altLang="en-US" dirty="0"/>
              <a:t>為準相位匹配條件，所以當∆</a:t>
            </a:r>
            <a:r>
              <a:rPr lang="en-US" altLang="zh-TW" dirty="0"/>
              <a:t>k</a:t>
            </a:r>
            <a:r>
              <a:rPr lang="zh-TW" altLang="en-US" dirty="0"/>
              <a:t>不為</a:t>
            </a:r>
            <a:r>
              <a:rPr lang="en-US" altLang="zh-TW" dirty="0"/>
              <a:t>0</a:t>
            </a:r>
            <a:r>
              <a:rPr lang="zh-TW" altLang="en-US" dirty="0"/>
              <a:t>，代表模態間的能量轉換有破壞性干涉，會減少效率，所以我們利用</a:t>
            </a:r>
            <a:r>
              <a:rPr lang="en-US" altLang="zh-TW" dirty="0"/>
              <a:t>k</a:t>
            </a:r>
            <a:r>
              <a:rPr lang="el-GR" altLang="zh-TW" baseline="-25000" dirty="0"/>
              <a:t>Λ</a:t>
            </a:r>
            <a:r>
              <a:rPr lang="en-US" altLang="zh-TW" baseline="-25000" dirty="0"/>
              <a:t>(</a:t>
            </a:r>
            <a:r>
              <a:rPr lang="en-US" altLang="zh-TW" baseline="-25000" dirty="0" err="1"/>
              <a:t>lamda</a:t>
            </a:r>
            <a:r>
              <a:rPr lang="en-US" altLang="zh-TW" baseline="-25000" dirty="0"/>
              <a:t>)</a:t>
            </a:r>
            <a:r>
              <a:rPr lang="zh-TW" altLang="en-US" dirty="0"/>
              <a:t>來補償相位不匹配使</a:t>
            </a:r>
            <a:r>
              <a:rPr lang="en-US" altLang="zh-TW" sz="1200" dirty="0">
                <a:latin typeface="arial" panose="020B0604020202020204" pitchFamily="34" charset="0"/>
              </a:rPr>
              <a:t>∆</a:t>
            </a:r>
            <a:r>
              <a:rPr lang="en-US" altLang="zh-TW" dirty="0"/>
              <a:t>K=0</a:t>
            </a:r>
            <a:r>
              <a:rPr lang="zh-TW" altLang="en-US" dirty="0"/>
              <a:t>藉此達成相位匹配使其動量守恆，讓其模態間之能量轉換為建設性干涉，得以進行高效率的頻率轉換機制。</a:t>
            </a:r>
          </a:p>
          <a:p>
            <a:endParaRPr lang="zh-TW" altLang="en-US" dirty="0"/>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16</a:t>
            </a:fld>
            <a:endParaRPr lang="zh-TW" altLang="en-US"/>
          </a:p>
        </p:txBody>
      </p:sp>
    </p:spTree>
    <p:extLst>
      <p:ext uri="{BB962C8B-B14F-4D97-AF65-F5344CB8AC3E}">
        <p14:creationId xmlns:p14="http://schemas.microsoft.com/office/powerpoint/2010/main" val="10750667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而要製作週期性晶疇反轉的結構，我們就必須使用極化反轉</a:t>
            </a:r>
            <a:r>
              <a:rPr lang="en-US" altLang="zh-TW" dirty="0"/>
              <a:t>(Poling)</a:t>
            </a:r>
            <a:r>
              <a:rPr lang="zh-TW" altLang="en-US" dirty="0"/>
              <a:t>的技術，而要如何使其經籌集化方向反轉，使其達到準相位匹配呢，就是利用鈮酸鋰本身具有雙穩態特性，稱為正極化方向與負極化方向，其根據為鋰離子與鈮離子相對於氧平面的位置不同，而要使極化方向從一個其中一個穩態轉到另一個穩態， 必須要施加一高壓電場，來使其極化方向發生改變，所以透過這正負晶疇交錯排列的結構來達到準相位匹配</a:t>
            </a:r>
            <a:endParaRPr lang="en-US" altLang="zh-TW" dirty="0"/>
          </a:p>
          <a:p>
            <a:endParaRPr lang="en-US" altLang="zh-TW" dirty="0"/>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17</a:t>
            </a:fld>
            <a:endParaRPr lang="zh-TW" altLang="en-US"/>
          </a:p>
        </p:txBody>
      </p:sp>
    </p:spTree>
    <p:extLst>
      <p:ext uri="{BB962C8B-B14F-4D97-AF65-F5344CB8AC3E}">
        <p14:creationId xmlns:p14="http://schemas.microsoft.com/office/powerpoint/2010/main" val="20840706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接下來我們將進行</a:t>
            </a:r>
            <a:r>
              <a:rPr lang="en-US" altLang="zh-TW" dirty="0"/>
              <a:t>EOPMC</a:t>
            </a:r>
            <a:r>
              <a:rPr lang="zh-TW" altLang="en-US" dirty="0"/>
              <a:t>可以控制偏振的這個結構其工作原理</a:t>
            </a:r>
          </a:p>
        </p:txBody>
      </p:sp>
      <p:sp>
        <p:nvSpPr>
          <p:cNvPr id="4" name="投影片編號版面配置區 3"/>
          <p:cNvSpPr>
            <a:spLocks noGrp="1"/>
          </p:cNvSpPr>
          <p:nvPr>
            <p:ph type="sldNum" sz="quarter" idx="5"/>
          </p:nvPr>
        </p:nvSpPr>
        <p:spPr/>
        <p:txBody>
          <a:bodyPr/>
          <a:lstStyle/>
          <a:p>
            <a:fld id="{CFE72010-84F5-475A-802D-FB41B8E7F8A9}" type="slidenum">
              <a:rPr lang="zh-TW" altLang="en-US" smtClean="0"/>
              <a:t>18</a:t>
            </a:fld>
            <a:endParaRPr lang="zh-TW" altLang="en-US"/>
          </a:p>
        </p:txBody>
      </p:sp>
    </p:spTree>
    <p:extLst>
      <p:ext uri="{BB962C8B-B14F-4D97-AF65-F5344CB8AC3E}">
        <p14:creationId xmlns:p14="http://schemas.microsoft.com/office/powerpoint/2010/main" val="40615203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其達到偏振模態轉換的機制與索爾克濾波器相似，索爾克濾波器原理為當輸入一</a:t>
            </a:r>
            <a:r>
              <a:rPr lang="en-US" altLang="zh-TW" dirty="0"/>
              <a:t>TM</a:t>
            </a:r>
            <a:r>
              <a:rPr lang="zh-TW" altLang="en-US" dirty="0"/>
              <a:t>垂直偏振的光進入這樣一旋轉正負</a:t>
            </a:r>
            <a:r>
              <a:rPr lang="en-US" altLang="zh-TW" dirty="0"/>
              <a:t>θ</a:t>
            </a:r>
            <a:r>
              <a:rPr lang="zh-TW" altLang="en-US" dirty="0"/>
              <a:t>且厚度為</a:t>
            </a:r>
            <a:r>
              <a:rPr lang="en-US" altLang="zh-TW" dirty="0"/>
              <a:t>t</a:t>
            </a:r>
            <a:r>
              <a:rPr lang="zh-TW" altLang="en-US" dirty="0"/>
              <a:t>週期性的交錯排列半波版後，史的我最後出來的光與入射光偏振互為正交，所以概念上我們就是將這樣的結構坐在</a:t>
            </a:r>
            <a:r>
              <a:rPr lang="en-US" altLang="zh-TW" dirty="0"/>
              <a:t>LN</a:t>
            </a:r>
            <a:r>
              <a:rPr lang="zh-TW" altLang="en-US" dirty="0"/>
              <a:t>晶體上，那怎麼做呢</a:t>
            </a:r>
            <a:endParaRPr lang="en-US" altLang="zh-TW" dirty="0"/>
          </a:p>
          <a:p>
            <a:endParaRPr lang="en-US" altLang="zh-TW" dirty="0"/>
          </a:p>
          <a:p>
            <a:r>
              <a:rPr lang="zh-TW" altLang="en-US" dirty="0"/>
              <a:t>光若經過一個週期的半波板</a:t>
            </a:r>
            <a:r>
              <a:rPr lang="en-US" altLang="zh-TW" dirty="0"/>
              <a:t>(+θ</a:t>
            </a:r>
            <a:r>
              <a:rPr lang="zh-TW" altLang="en-US" dirty="0"/>
              <a:t>、−</a:t>
            </a:r>
            <a:r>
              <a:rPr lang="en-US" altLang="zh-TW" dirty="0"/>
              <a:t>θ)</a:t>
            </a:r>
            <a:r>
              <a:rPr lang="zh-TW" altLang="en-US" dirty="0"/>
              <a:t>，偏振光就會旋轉</a:t>
            </a:r>
            <a:r>
              <a:rPr lang="en-US" altLang="zh-TW" dirty="0"/>
              <a:t>4θ</a:t>
            </a:r>
            <a:r>
              <a:rPr lang="zh-TW" altLang="en-US" dirty="0"/>
              <a:t>角，如果有 </a:t>
            </a:r>
            <a:r>
              <a:rPr lang="en-US" altLang="zh-TW" dirty="0"/>
              <a:t>N </a:t>
            </a:r>
            <a:r>
              <a:rPr lang="zh-TW" altLang="en-US" dirty="0"/>
              <a:t>個週期的</a:t>
            </a:r>
          </a:p>
          <a:p>
            <a:r>
              <a:rPr lang="zh-TW" altLang="en-US" dirty="0"/>
              <a:t>半波板，偏振光就會旋轉</a:t>
            </a:r>
            <a:r>
              <a:rPr lang="en-US" altLang="zh-TW" dirty="0"/>
              <a:t>4Nθ</a:t>
            </a:r>
            <a:r>
              <a:rPr lang="zh-TW" altLang="en-US" dirty="0"/>
              <a:t>角</a:t>
            </a:r>
            <a:endParaRPr lang="en-US" altLang="zh-TW" dirty="0"/>
          </a:p>
          <a:p>
            <a:r>
              <a:rPr lang="en-US" altLang="zh-TW" dirty="0"/>
              <a:t>(</a:t>
            </a:r>
            <a:r>
              <a:rPr lang="zh-TW" altLang="en-US" sz="1200" b="0" i="0" u="none" strike="noStrike" kern="1200" baseline="0" dirty="0">
                <a:solidFill>
                  <a:schemeClr val="tx1"/>
                </a:solidFill>
                <a:latin typeface="+mn-lt"/>
                <a:ea typeface="+mn-ea"/>
                <a:cs typeface="+mn-cs"/>
              </a:rPr>
              <a:t>當每片半波版厚度滿足</a:t>
            </a:r>
            <a:r>
              <a:rPr lang="en-US" altLang="zh-TW" sz="1200" b="0" i="0" u="none" strike="noStrike" kern="1200" baseline="0" dirty="0">
                <a:solidFill>
                  <a:schemeClr val="tx1"/>
                </a:solidFill>
                <a:latin typeface="+mn-lt"/>
                <a:ea typeface="+mn-ea"/>
                <a:cs typeface="+mn-cs"/>
              </a:rPr>
              <a:t>t</a:t>
            </a:r>
            <a:r>
              <a:rPr lang="zh-TW" altLang="en-US" sz="1200" b="0" i="0" u="none" strike="noStrike" kern="1200" baseline="0" dirty="0">
                <a:solidFill>
                  <a:schemeClr val="tx1"/>
                </a:solidFill>
                <a:latin typeface="+mn-lt"/>
                <a:ea typeface="+mn-ea"/>
                <a:cs typeface="+mn-cs"/>
              </a:rPr>
              <a:t>時</a:t>
            </a:r>
            <a:r>
              <a:rPr lang="en-US" altLang="zh-TW" sz="1200" b="0" i="0" u="none" strike="noStrike" kern="1200" baseline="0" dirty="0">
                <a:solidFill>
                  <a:schemeClr val="tx1"/>
                </a:solidFill>
                <a:latin typeface="+mn-lt"/>
                <a:ea typeface="+mn-ea"/>
                <a:cs typeface="+mn-cs"/>
              </a:rPr>
              <a:t>, </a:t>
            </a:r>
            <a:r>
              <a:rPr lang="zh-TW" altLang="en-US" dirty="0"/>
              <a:t>經過第一、二半波板後輸出的偏振光就會與原垂直偏振光夾</a:t>
            </a:r>
            <a:r>
              <a:rPr lang="en-US" altLang="zh-TW" dirty="0"/>
              <a:t>4θ</a:t>
            </a:r>
            <a:r>
              <a:rPr lang="zh-TW" altLang="en-US" dirty="0"/>
              <a:t>角</a:t>
            </a:r>
            <a:r>
              <a:rPr lang="en-US" altLang="zh-TW" dirty="0"/>
              <a:t>, </a:t>
            </a:r>
            <a:r>
              <a:rPr lang="zh-TW" altLang="en-US" dirty="0"/>
              <a:t>以此方式</a:t>
            </a:r>
            <a:r>
              <a:rPr lang="en-US" altLang="zh-TW" dirty="0"/>
              <a:t>cascade</a:t>
            </a:r>
            <a:r>
              <a:rPr lang="zh-TW" altLang="en-US" dirty="0"/>
              <a:t>直到輸出光與輸入光互為正交</a:t>
            </a:r>
            <a:endParaRPr lang="en-US" altLang="zh-TW" dirty="0"/>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19</a:t>
            </a:fld>
            <a:endParaRPr lang="zh-TW" altLang="en-US"/>
          </a:p>
        </p:txBody>
      </p:sp>
    </p:spTree>
    <p:extLst>
      <p:ext uri="{BB962C8B-B14F-4D97-AF65-F5344CB8AC3E}">
        <p14:creationId xmlns:p14="http://schemas.microsoft.com/office/powerpoint/2010/main" val="28240419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t>那我們要介紹利用在</a:t>
                </a:r>
                <a:r>
                  <a:rPr lang="en-US" altLang="zh-TW" sz="1200" dirty="0"/>
                  <a:t>LN</a:t>
                </a:r>
                <a:r>
                  <a:rPr lang="zh-TW" altLang="en-US" sz="1200" dirty="0"/>
                  <a:t>上施加</a:t>
                </a:r>
                <a:r>
                  <a:rPr lang="en-US" altLang="zh-TW" sz="1200" dirty="0"/>
                  <a:t>y</a:t>
                </a:r>
                <a:r>
                  <a:rPr lang="zh-TW" altLang="en-US" sz="1200" dirty="0"/>
                  <a:t>方向電場產生</a:t>
                </a:r>
                <a:r>
                  <a:rPr lang="en-US" altLang="zh-TW" sz="1200" dirty="0"/>
                  <a:t>EO</a:t>
                </a:r>
                <a:r>
                  <a:rPr lang="zh-TW" altLang="en-US" sz="1200" dirty="0"/>
                  <a:t> </a:t>
                </a:r>
                <a:r>
                  <a:rPr lang="en-US" altLang="zh-TW" sz="1200" dirty="0"/>
                  <a:t>effect </a:t>
                </a:r>
                <a:r>
                  <a:rPr lang="zh-TW" altLang="en-US" sz="1200" dirty="0"/>
                  <a:t>首先我們要從其反介電張量</a:t>
                </a:r>
                <a:r>
                  <a:rPr lang="en-US" altLang="zh-TW" sz="1200" dirty="0"/>
                  <a:t>(impermeability tensor)=</a:t>
                </a:r>
                <a14:m>
                  <m:oMath xmlns:m="http://schemas.openxmlformats.org/officeDocument/2006/math">
                    <m:acc>
                      <m:accPr>
                        <m:chr m:val="⃡"/>
                        <m:ctrlPr>
                          <a:rPr lang="en-US" altLang="zh-TW" sz="1200" i="1" smtClean="0">
                            <a:latin typeface="Cambria Math" panose="02040503050406030204" pitchFamily="18" charset="0"/>
                          </a:rPr>
                        </m:ctrlPr>
                      </m:accPr>
                      <m:e>
                        <m:r>
                          <a:rPr lang="zh-TW" altLang="en-US" sz="1200" i="1">
                            <a:latin typeface="Cambria Math" panose="02040503050406030204" pitchFamily="18" charset="0"/>
                          </a:rPr>
                          <m:t>𝞰</m:t>
                        </m:r>
                      </m:e>
                    </m:acc>
                    <m:r>
                      <a:rPr lang="zh-TW" altLang="en-US" sz="1200" i="1">
                        <a:latin typeface="Cambria Math" panose="02040503050406030204" pitchFamily="18" charset="0"/>
                      </a:rPr>
                      <m:t> </m:t>
                    </m:r>
                  </m:oMath>
                </a14:m>
                <a:r>
                  <a:rPr lang="en-US" altLang="zh-TW" sz="1200" baseline="-25000" dirty="0" err="1"/>
                  <a:t>ij</a:t>
                </a:r>
                <a:r>
                  <a:rPr lang="en-US" altLang="zh-TW" sz="1200" baseline="-25000" dirty="0"/>
                  <a:t> </a:t>
                </a:r>
                <a:r>
                  <a:rPr lang="en-US" altLang="zh-TW" sz="1200" baseline="0" dirty="0"/>
                  <a:t>(</a:t>
                </a:r>
                <a:r>
                  <a:rPr lang="zh-TW" altLang="en-US" sz="1200" baseline="0" dirty="0"/>
                  <a:t>一</a:t>
                </a:r>
                <a:r>
                  <a:rPr lang="en-US" altLang="zh-TW" sz="1200" baseline="0" dirty="0"/>
                  <a:t>ta)</a:t>
                </a:r>
                <a:r>
                  <a:rPr lang="zh-TW" altLang="en-US" sz="1200" baseline="0" dirty="0"/>
                  <a:t>開始</a:t>
                </a:r>
                <a:endParaRPr lang="en-US" altLang="zh-TW" sz="1200" baseline="0" dirty="0"/>
              </a:p>
              <a:p>
                <a:pPr marL="0" indent="0">
                  <a:buNone/>
                </a:pPr>
                <a:r>
                  <a:rPr lang="zh-TW" altLang="en-US" sz="1200" dirty="0"/>
                  <a:t>當施加</a:t>
                </a:r>
                <a:r>
                  <a:rPr lang="en-US" altLang="zh-TW" sz="1200" dirty="0"/>
                  <a:t>y</a:t>
                </a:r>
                <a:r>
                  <a:rPr lang="zh-TW" altLang="en-US" sz="1200" dirty="0"/>
                  <a:t>方向電場時使的反介電張量隨電場變化，其變化量為下面這個式子</a:t>
                </a:r>
                <a:endParaRPr lang="en-US" altLang="zh-TW" sz="1200" dirty="0"/>
              </a:p>
              <a:p>
                <a:pPr marL="0" indent="0">
                  <a:buNone/>
                </a:pPr>
                <a14:m>
                  <m:oMath xmlns:m="http://schemas.openxmlformats.org/officeDocument/2006/math">
                    <m:acc>
                      <m:accPr>
                        <m:chr m:val="⃡"/>
                        <m:ctrlPr>
                          <a:rPr lang="en-US" altLang="zh-TW" sz="1200" i="1" smtClean="0">
                            <a:latin typeface="Cambria Math" panose="02040503050406030204" pitchFamily="18" charset="0"/>
                          </a:rPr>
                        </m:ctrlPr>
                      </m:accPr>
                      <m:e>
                        <m:r>
                          <a:rPr lang="zh-TW" altLang="en-US" sz="1200" i="1">
                            <a:latin typeface="Cambria Math" panose="02040503050406030204" pitchFamily="18" charset="0"/>
                          </a:rPr>
                          <m:t>𝞰</m:t>
                        </m:r>
                      </m:e>
                    </m:acc>
                    <m:r>
                      <a:rPr lang="zh-TW" altLang="en-US" sz="1200" i="1">
                        <a:latin typeface="Cambria Math" panose="02040503050406030204" pitchFamily="18" charset="0"/>
                      </a:rPr>
                      <m:t> </m:t>
                    </m:r>
                  </m:oMath>
                </a14:m>
                <a:r>
                  <a:rPr lang="en-US" altLang="zh-TW" sz="1200" baseline="-25000" dirty="0"/>
                  <a:t>ij</a:t>
                </a:r>
                <a:r>
                  <a:rPr lang="en-US" altLang="zh-TW" sz="1200" dirty="0"/>
                  <a:t>(E) = </a:t>
                </a:r>
                <a14:m>
                  <m:oMath xmlns:m="http://schemas.openxmlformats.org/officeDocument/2006/math">
                    <m:acc>
                      <m:accPr>
                        <m:chr m:val="⃡"/>
                        <m:ctrlPr>
                          <a:rPr lang="en-US" altLang="zh-TW" sz="1200" i="1">
                            <a:latin typeface="Cambria Math" panose="02040503050406030204" pitchFamily="18" charset="0"/>
                          </a:rPr>
                        </m:ctrlPr>
                      </m:accPr>
                      <m:e>
                        <m:r>
                          <a:rPr lang="zh-TW" altLang="en-US" sz="1200" i="1">
                            <a:latin typeface="Cambria Math" panose="02040503050406030204" pitchFamily="18" charset="0"/>
                          </a:rPr>
                          <m:t>𝞰</m:t>
                        </m:r>
                      </m:e>
                    </m:acc>
                    <m:r>
                      <a:rPr lang="zh-TW" altLang="en-US" sz="1200" i="1">
                        <a:latin typeface="Cambria Math" panose="02040503050406030204" pitchFamily="18" charset="0"/>
                      </a:rPr>
                      <m:t> </m:t>
                    </m:r>
                  </m:oMath>
                </a14:m>
                <a:r>
                  <a:rPr lang="en-US" altLang="zh-TW" sz="1200" baseline="-25000" dirty="0" err="1"/>
                  <a:t>ij</a:t>
                </a:r>
                <a:r>
                  <a:rPr lang="en-US" altLang="zh-TW" sz="1200" dirty="0"/>
                  <a:t>(0) + </a:t>
                </a:r>
                <a14:m>
                  <m:oMath xmlns:m="http://schemas.openxmlformats.org/officeDocument/2006/math">
                    <m:nary>
                      <m:naryPr>
                        <m:chr m:val="∑"/>
                        <m:limLoc m:val="subSup"/>
                        <m:supHide m:val="on"/>
                        <m:ctrlPr>
                          <a:rPr lang="en-US" altLang="zh-TW" sz="1200" i="1" smtClean="0">
                            <a:latin typeface="Cambria Math" panose="02040503050406030204" pitchFamily="18" charset="0"/>
                          </a:rPr>
                        </m:ctrlPr>
                      </m:naryPr>
                      <m:sub>
                        <m:r>
                          <m:rPr>
                            <m:brk m:alnAt="9"/>
                          </m:rPr>
                          <a:rPr lang="en-US" altLang="zh-TW" sz="1200" b="0" i="1" smtClean="0">
                            <a:latin typeface="Cambria Math" panose="02040503050406030204" pitchFamily="18" charset="0"/>
                          </a:rPr>
                          <m:t>𝑘</m:t>
                        </m:r>
                      </m:sub>
                      <m:sup/>
                      <m:e>
                        <m:acc>
                          <m:accPr>
                            <m:chr m:val="⃡"/>
                            <m:ctrlPr>
                              <a:rPr lang="en-US" altLang="zh-TW" sz="1200" i="1">
                                <a:latin typeface="Cambria Math" panose="02040503050406030204" pitchFamily="18" charset="0"/>
                              </a:rPr>
                            </m:ctrlPr>
                          </m:accPr>
                          <m:e>
                            <m:r>
                              <a:rPr lang="en-US" altLang="zh-TW" sz="1200" b="0" i="1" smtClean="0">
                                <a:latin typeface="Cambria Math" panose="02040503050406030204" pitchFamily="18" charset="0"/>
                              </a:rPr>
                              <m:t>𝑟</m:t>
                            </m:r>
                          </m:e>
                        </m:acc>
                        <m:r>
                          <a:rPr lang="zh-TW" altLang="en-US" sz="1200" i="1">
                            <a:latin typeface="Cambria Math" panose="02040503050406030204" pitchFamily="18" charset="0"/>
                          </a:rPr>
                          <m:t> </m:t>
                        </m:r>
                        <m:r>
                          <m:rPr>
                            <m:nor/>
                          </m:rPr>
                          <a:rPr lang="en-US" altLang="zh-TW" sz="1200" baseline="-25000" dirty="0"/>
                          <m:t>ij</m:t>
                        </m:r>
                        <m:r>
                          <m:rPr>
                            <m:nor/>
                          </m:rPr>
                          <a:rPr lang="en-US" altLang="zh-TW" sz="1200" b="0" i="0" baseline="-25000" dirty="0" smtClean="0"/>
                          <m:t>k</m:t>
                        </m:r>
                      </m:e>
                    </m:nary>
                  </m:oMath>
                </a14:m>
                <a:r>
                  <a:rPr lang="en-US" altLang="zh-TW" sz="1200" dirty="0"/>
                  <a:t>E</a:t>
                </a:r>
                <a:r>
                  <a:rPr lang="en-US" altLang="zh-TW" sz="1200" baseline="-25000" dirty="0"/>
                  <a:t>k</a:t>
                </a:r>
                <a:r>
                  <a:rPr lang="en-US" altLang="zh-TW" sz="1200" dirty="0"/>
                  <a:t> + </a:t>
                </a:r>
                <a14:m>
                  <m:oMath xmlns:m="http://schemas.openxmlformats.org/officeDocument/2006/math">
                    <m:nary>
                      <m:naryPr>
                        <m:chr m:val="∑"/>
                        <m:limLoc m:val="subSup"/>
                        <m:supHide m:val="on"/>
                        <m:ctrlPr>
                          <a:rPr lang="en-US" altLang="zh-TW" sz="1200" i="1" smtClean="0">
                            <a:latin typeface="Cambria Math" panose="02040503050406030204" pitchFamily="18" charset="0"/>
                          </a:rPr>
                        </m:ctrlPr>
                      </m:naryPr>
                      <m:sub>
                        <m:r>
                          <m:rPr>
                            <m:brk m:alnAt="9"/>
                          </m:rPr>
                          <a:rPr lang="en-US" altLang="zh-TW" sz="1200" i="1">
                            <a:latin typeface="Cambria Math" panose="02040503050406030204" pitchFamily="18" charset="0"/>
                          </a:rPr>
                          <m:t>𝑘</m:t>
                        </m:r>
                        <m:r>
                          <a:rPr lang="en-US" altLang="zh-TW" sz="1200" b="0" i="1" smtClean="0">
                            <a:latin typeface="Cambria Math" panose="02040503050406030204" pitchFamily="18" charset="0"/>
                          </a:rPr>
                          <m:t>𝑙</m:t>
                        </m:r>
                      </m:sub>
                      <m:sup/>
                      <m:e>
                        <m:acc>
                          <m:accPr>
                            <m:chr m:val="⃡"/>
                            <m:ctrlPr>
                              <a:rPr lang="en-US" altLang="zh-TW" sz="1200" i="1" smtClean="0">
                                <a:latin typeface="Cambria Math" panose="02040503050406030204" pitchFamily="18" charset="0"/>
                              </a:rPr>
                            </m:ctrlPr>
                          </m:accPr>
                          <m:e>
                            <m:r>
                              <m:rPr>
                                <m:sty m:val="p"/>
                              </m:rPr>
                              <a:rPr lang="el-GR" altLang="zh-TW" sz="1200" i="1">
                                <a:latin typeface="Cambria Math" panose="02040503050406030204" pitchFamily="18" charset="0"/>
                              </a:rPr>
                              <m:t>ς</m:t>
                            </m:r>
                          </m:e>
                        </m:acc>
                        <m:r>
                          <m:rPr>
                            <m:nor/>
                          </m:rPr>
                          <a:rPr lang="en-US" altLang="zh-TW" sz="1200" baseline="-25000" dirty="0"/>
                          <m:t>ijk</m:t>
                        </m:r>
                      </m:e>
                    </m:nary>
                  </m:oMath>
                </a14:m>
                <a:r>
                  <a:rPr lang="en-US" altLang="zh-TW" sz="1200" dirty="0"/>
                  <a:t>E</a:t>
                </a:r>
                <a:r>
                  <a:rPr lang="en-US" altLang="zh-TW" sz="1200" baseline="-25000" dirty="0"/>
                  <a:t>k</a:t>
                </a:r>
                <a:r>
                  <a:rPr lang="en-US" altLang="zh-TW" sz="1200" dirty="0"/>
                  <a:t>E</a:t>
                </a:r>
                <a14:m>
                  <m:oMath xmlns:m="http://schemas.openxmlformats.org/officeDocument/2006/math">
                    <m:r>
                      <m:rPr>
                        <m:brk m:alnAt="9"/>
                      </m:rPr>
                      <a:rPr lang="en-US" altLang="zh-TW" sz="1200" i="1" baseline="-25000">
                        <a:latin typeface="Cambria Math" panose="02040503050406030204" pitchFamily="18" charset="0"/>
                      </a:rPr>
                      <m:t>𝑙</m:t>
                    </m:r>
                  </m:oMath>
                </a14:m>
                <a:endParaRPr lang="en-US" altLang="zh-TW" sz="1200" baseline="-25000" dirty="0"/>
              </a:p>
              <a:p>
                <a:pPr marL="0" indent="0">
                  <a:buNone/>
                </a:pPr>
                <a:r>
                  <a:rPr lang="zh-TW" altLang="en-US" sz="1200" dirty="0"/>
                  <a:t>因為我們這邊要討論得為</a:t>
                </a:r>
                <a:r>
                  <a:rPr lang="en-US" altLang="zh-TW" sz="1200" dirty="0"/>
                  <a:t>Pockels effect</a:t>
                </a:r>
                <a:r>
                  <a:rPr lang="zh-TW" altLang="en-US" sz="1200" dirty="0"/>
                  <a:t>，所以</a:t>
                </a:r>
                <a:r>
                  <a:rPr lang="en-US" altLang="zh-TW" sz="1200" dirty="0"/>
                  <a:t>Kerr effect</a:t>
                </a:r>
                <a:r>
                  <a:rPr lang="zh-TW" altLang="en-US" sz="1200" dirty="0"/>
                  <a:t>的地方我們就將其省略</a:t>
                </a:r>
                <a:endParaRPr lang="en-US" altLang="zh-TW" sz="1200" dirty="0"/>
              </a:p>
              <a:p>
                <a:pPr marL="0" indent="0">
                  <a:buNone/>
                </a:pPr>
                <a:r>
                  <a:rPr lang="zh-TW" altLang="en-US" sz="1200" dirty="0"/>
                  <a:t>我們可以將</a:t>
                </a:r>
                <a14:m>
                  <m:oMath xmlns:m="http://schemas.openxmlformats.org/officeDocument/2006/math">
                    <m:acc>
                      <m:accPr>
                        <m:chr m:val="⃡"/>
                        <m:ctrlPr>
                          <a:rPr lang="zh-TW" altLang="zh-TW" sz="1800" i="1" kern="1200" smtClean="0">
                            <a:solidFill>
                              <a:srgbClr val="000000"/>
                            </a:solidFill>
                            <a:effectLst/>
                            <a:latin typeface="Cambria Math" panose="02040503050406030204" pitchFamily="18" charset="0"/>
                            <a:ea typeface="Cambria Math" panose="02040503050406030204" pitchFamily="18" charset="0"/>
                            <a:cs typeface="+mn-cs"/>
                          </a:rPr>
                        </m:ctrlPr>
                      </m:accPr>
                      <m:e>
                        <m:r>
                          <m:rPr>
                            <m:sty m:val="p"/>
                          </m:rPr>
                          <a:rPr lang="en-US" altLang="zh-TW" sz="1200" kern="1200">
                            <a:solidFill>
                              <a:srgbClr val="000000"/>
                            </a:solidFill>
                            <a:effectLst/>
                            <a:latin typeface="Cambria Math" panose="02040503050406030204" pitchFamily="18" charset="0"/>
                            <a:ea typeface="標楷體" panose="03000509000000000000" pitchFamily="65" charset="-120"/>
                            <a:cs typeface="+mn-cs"/>
                          </a:rPr>
                          <m:t>η</m:t>
                        </m:r>
                      </m:e>
                    </m:acc>
                    <m:r>
                      <a:rPr lang="en-US" altLang="zh-TW" sz="1200" i="1" kern="1200">
                        <a:solidFill>
                          <a:srgbClr val="000000"/>
                        </a:solidFill>
                        <a:effectLst/>
                        <a:latin typeface="Cambria Math" panose="02040503050406030204" pitchFamily="18" charset="0"/>
                        <a:ea typeface="標楷體" panose="03000509000000000000" pitchFamily="65" charset="-120"/>
                        <a:cs typeface="+mn-cs"/>
                      </a:rPr>
                      <m:t> </m:t>
                    </m:r>
                  </m:oMath>
                </a14:m>
                <a:r>
                  <a:rPr lang="en-US" altLang="zh-TW" sz="1200" kern="1200" baseline="-25000" dirty="0" err="1">
                    <a:solidFill>
                      <a:srgbClr val="000000"/>
                    </a:solidFill>
                    <a:effectLst/>
                    <a:latin typeface="Times New Roman" panose="02020603050405020304" pitchFamily="18" charset="0"/>
                    <a:ea typeface="標楷體" panose="03000509000000000000" pitchFamily="65" charset="-120"/>
                    <a:cs typeface="+mn-cs"/>
                  </a:rPr>
                  <a:t>ij</a:t>
                </a:r>
                <a:r>
                  <a:rPr lang="zh-TW" altLang="en-US" sz="1200" dirty="0"/>
                  <a:t>表示成這樣的式子</a:t>
                </a:r>
                <a:endParaRPr lang="en-US" altLang="zh-TW" sz="1200" dirty="0"/>
              </a:p>
              <a:p>
                <a:pPr marL="0" indent="0">
                  <a:buNone/>
                </a:pPr>
                <a:r>
                  <a:rPr lang="zh-TW" altLang="en-US" sz="1200" dirty="0"/>
                  <a:t>而</a:t>
                </a:r>
                <a14:m>
                  <m:oMath xmlns:m="http://schemas.openxmlformats.org/officeDocument/2006/math">
                    <m:r>
                      <a:rPr lang="zh-TW" altLang="en-US" sz="1200" i="1" smtClean="0">
                        <a:latin typeface="Cambria Math" panose="02040503050406030204" pitchFamily="18" charset="0"/>
                      </a:rPr>
                      <m:t>𝞰</m:t>
                    </m:r>
                  </m:oMath>
                </a14:m>
                <a:r>
                  <a:rPr lang="en-US" altLang="zh-TW" sz="1200" baseline="-25000" dirty="0" err="1"/>
                  <a:t>ij</a:t>
                </a:r>
                <a:r>
                  <a:rPr lang="en-US" altLang="zh-TW" sz="1200" dirty="0"/>
                  <a:t>(0) </a:t>
                </a:r>
                <a:r>
                  <a:rPr lang="zh-TW" altLang="en-US" sz="1200" dirty="0"/>
                  <a:t>可表示為這樣的矩陣</a:t>
                </a:r>
                <a:endParaRPr lang="en-US" altLang="zh-TW" sz="1200" dirty="0"/>
              </a:p>
              <a:p>
                <a:pPr marL="0" indent="0">
                  <a:buNone/>
                </a:pPr>
                <a:r>
                  <a:rPr lang="zh-TW" altLang="en-US" sz="1200" dirty="0"/>
                  <a:t>鋰酸鈮</a:t>
                </a:r>
                <a:r>
                  <a:rPr lang="zh-TW" altLang="zh-TW" sz="1800" kern="1200" dirty="0">
                    <a:solidFill>
                      <a:srgbClr val="000000"/>
                    </a:solidFill>
                    <a:effectLst/>
                    <a:latin typeface="Times New Roman" panose="02020603050405020304" pitchFamily="18" charset="0"/>
                    <a:ea typeface="標楷體" panose="03000509000000000000" pitchFamily="65" charset="-120"/>
                    <a:cs typeface="+mn-cs"/>
                  </a:rPr>
                  <a:t>施加</a:t>
                </a:r>
                <a:r>
                  <a:rPr lang="en-US" altLang="zh-TW" sz="1800" kern="1200" dirty="0">
                    <a:solidFill>
                      <a:srgbClr val="000000"/>
                    </a:solidFill>
                    <a:effectLst/>
                    <a:latin typeface="Times New Roman" panose="02020603050405020304" pitchFamily="18" charset="0"/>
                    <a:ea typeface="標楷體" panose="03000509000000000000" pitchFamily="65" charset="-120"/>
                    <a:cs typeface="+mn-cs"/>
                  </a:rPr>
                  <a:t>y</a:t>
                </a:r>
                <a:r>
                  <a:rPr lang="zh-TW" altLang="en-US" sz="1800" kern="1200" dirty="0">
                    <a:solidFill>
                      <a:srgbClr val="000000"/>
                    </a:solidFill>
                    <a:effectLst/>
                    <a:latin typeface="Times New Roman" panose="02020603050405020304" pitchFamily="18" charset="0"/>
                    <a:ea typeface="標楷體" panose="03000509000000000000" pitchFamily="65" charset="-120"/>
                    <a:cs typeface="+mn-cs"/>
                  </a:rPr>
                  <a:t>方向</a:t>
                </a:r>
                <a:r>
                  <a:rPr lang="zh-TW" altLang="zh-TW" sz="1800" kern="1200" dirty="0">
                    <a:solidFill>
                      <a:srgbClr val="000000"/>
                    </a:solidFill>
                    <a:effectLst/>
                    <a:latin typeface="Times New Roman" panose="02020603050405020304" pitchFamily="18" charset="0"/>
                    <a:ea typeface="標楷體" panose="03000509000000000000" pitchFamily="65" charset="-120"/>
                    <a:cs typeface="+mn-cs"/>
                  </a:rPr>
                  <a:t>電場後</a:t>
                </a:r>
                <a:r>
                  <a:rPr lang="zh-TW" altLang="zh-TW" sz="1200" kern="1200" dirty="0">
                    <a:solidFill>
                      <a:schemeClr val="tx1"/>
                    </a:solidFill>
                    <a:effectLst/>
                    <a:latin typeface="+mn-lt"/>
                    <a:ea typeface="+mn-ea"/>
                    <a:cs typeface="+mn-cs"/>
                  </a:rPr>
                  <a:t>介電張量的變化量∆ </a:t>
                </a:r>
                <a14:m>
                  <m:oMath xmlns:m="http://schemas.openxmlformats.org/officeDocument/2006/math">
                    <m:acc>
                      <m:accPr>
                        <m:chr m:val="⃡"/>
                        <m:ctrlPr>
                          <a:rPr lang="zh-TW" altLang="zh-TW" sz="1200" i="1" kern="1200">
                            <a:solidFill>
                              <a:schemeClr val="tx1"/>
                            </a:solidFill>
                            <a:effectLst/>
                            <a:latin typeface="Cambria Math" panose="02040503050406030204" pitchFamily="18" charset="0"/>
                            <a:ea typeface="+mn-ea"/>
                            <a:cs typeface="+mn-cs"/>
                          </a:rPr>
                        </m:ctrlPr>
                      </m:accPr>
                      <m:e>
                        <m:r>
                          <m:rPr>
                            <m:sty m:val="p"/>
                          </m:rPr>
                          <a:rPr lang="en-US" altLang="zh-TW" sz="1200" kern="1200">
                            <a:solidFill>
                              <a:schemeClr val="tx1"/>
                            </a:solidFill>
                            <a:effectLst/>
                            <a:latin typeface="Cambria Math" panose="02040503050406030204" pitchFamily="18" charset="0"/>
                            <a:ea typeface="+mn-ea"/>
                            <a:cs typeface="+mn-cs"/>
                          </a:rPr>
                          <m:t>η</m:t>
                        </m:r>
                      </m:e>
                    </m:acc>
                    <m:r>
                      <a:rPr lang="en-US" altLang="zh-TW" sz="1200" i="1" kern="1200">
                        <a:solidFill>
                          <a:schemeClr val="tx1"/>
                        </a:solidFill>
                        <a:effectLst/>
                        <a:latin typeface="Cambria Math" panose="02040503050406030204" pitchFamily="18" charset="0"/>
                        <a:ea typeface="+mn-ea"/>
                        <a:cs typeface="+mn-cs"/>
                      </a:rPr>
                      <m:t> </m:t>
                    </m:r>
                  </m:oMath>
                </a14:m>
                <a:r>
                  <a:rPr lang="en-US" altLang="zh-TW" sz="1200" kern="1200" baseline="-25000" dirty="0" err="1">
                    <a:solidFill>
                      <a:schemeClr val="tx1"/>
                    </a:solidFill>
                    <a:effectLst/>
                    <a:latin typeface="+mn-lt"/>
                    <a:ea typeface="+mn-ea"/>
                    <a:cs typeface="+mn-cs"/>
                  </a:rPr>
                  <a:t>ij</a:t>
                </a:r>
                <a:r>
                  <a:rPr lang="zh-TW" altLang="zh-TW" sz="1200" kern="1200" dirty="0">
                    <a:solidFill>
                      <a:schemeClr val="tx1"/>
                    </a:solidFill>
                    <a:effectLst/>
                    <a:latin typeface="+mn-lt"/>
                    <a:ea typeface="+mn-ea"/>
                    <a:cs typeface="+mn-cs"/>
                  </a:rPr>
                  <a:t>以矩陣表示</a:t>
                </a:r>
                <a:endParaRPr lang="en-US" altLang="zh-TW"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latin typeface="Times New Roman" panose="02020603050405020304" pitchFamily="18" charset="0"/>
                    <a:cs typeface="Times New Roman" panose="02020603050405020304" pitchFamily="18" charset="0"/>
                  </a:rPr>
                  <a:t>矩陣結果</a:t>
                </a:r>
                <a14:m>
                  <m:oMath xmlns:m="http://schemas.openxmlformats.org/officeDocument/2006/math">
                    <m:r>
                      <m:rPr>
                        <m:nor/>
                      </m:rPr>
                      <a:rPr lang="en-US" altLang="zh-TW" sz="1200" dirty="0" smtClean="0">
                        <a:latin typeface="arial" panose="020B0604020202020204" pitchFamily="34" charset="0"/>
                      </a:rPr>
                      <m:t>∆</m:t>
                    </m:r>
                    <m:r>
                      <a:rPr lang="zh-TW" altLang="en-US" i="1">
                        <a:latin typeface="Cambria Math" panose="02040503050406030204" pitchFamily="18" charset="0"/>
                      </a:rPr>
                      <m:t>𝞰</m:t>
                    </m:r>
                    <m:r>
                      <m:rPr>
                        <m:nor/>
                      </m:rPr>
                      <a:rPr lang="en-US" altLang="zh-TW" baseline="-25000" dirty="0" err="1"/>
                      <m:t>ij</m:t>
                    </m:r>
                    <m:r>
                      <m:rPr>
                        <m:nor/>
                      </m:rPr>
                      <a:rPr lang="en-US" altLang="zh-TW" dirty="0"/>
                      <m:t>(</m:t>
                    </m:r>
                    <m:r>
                      <a:rPr lang="en-US" altLang="zh-TW" i="1">
                        <a:latin typeface="Cambria Math" panose="02040503050406030204" pitchFamily="18" charset="0"/>
                      </a:rPr>
                      <m:t>𝐸</m:t>
                    </m:r>
                    <m:r>
                      <a:rPr lang="en-US" altLang="zh-TW" i="1" baseline="-25000">
                        <a:latin typeface="Cambria Math" panose="02040503050406030204" pitchFamily="18" charset="0"/>
                      </a:rPr>
                      <m:t>𝑦</m:t>
                    </m:r>
                    <m:r>
                      <m:rPr>
                        <m:nor/>
                      </m:rPr>
                      <a:rPr lang="en-US" altLang="zh-TW" dirty="0"/>
                      <m:t>)</m:t>
                    </m:r>
                  </m:oMath>
                </a14:m>
                <a:endParaRPr lang="en-US" altLang="zh-TW"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latin typeface="Times New Roman" panose="02020603050405020304" pitchFamily="18" charset="0"/>
                    <a:cs typeface="Times New Roman" panose="02020603050405020304" pitchFamily="18" charset="0"/>
                  </a:rPr>
                  <a:t>所以我們最後可以得到這樣的矩陣</a:t>
                </a:r>
                <a14:m>
                  <m:oMath xmlns:m="http://schemas.openxmlformats.org/officeDocument/2006/math">
                    <m:r>
                      <a:rPr lang="zh-TW" altLang="en-US" i="1" smtClean="0">
                        <a:latin typeface="Cambria Math" panose="02040503050406030204" pitchFamily="18" charset="0"/>
                      </a:rPr>
                      <m:t>𝞰</m:t>
                    </m:r>
                  </m:oMath>
                </a14:m>
                <a:r>
                  <a:rPr lang="en-US" altLang="zh-TW" baseline="-25000" dirty="0" err="1"/>
                  <a:t>ij</a:t>
                </a:r>
                <a:r>
                  <a:rPr lang="en-US" altLang="zh-TW" sz="1200" dirty="0"/>
                  <a:t>(</a:t>
                </a:r>
                <a14:m>
                  <m:oMath xmlns:m="http://schemas.openxmlformats.org/officeDocument/2006/math">
                    <m:r>
                      <a:rPr lang="en-US" altLang="zh-TW" i="1">
                        <a:latin typeface="Cambria Math" panose="02040503050406030204" pitchFamily="18" charset="0"/>
                      </a:rPr>
                      <m:t>𝐸</m:t>
                    </m:r>
                    <m:r>
                      <a:rPr lang="en-US" altLang="zh-TW" i="1" baseline="-25000">
                        <a:latin typeface="Cambria Math" panose="02040503050406030204" pitchFamily="18" charset="0"/>
                      </a:rPr>
                      <m:t>𝑦</m:t>
                    </m:r>
                  </m:oMath>
                </a14:m>
                <a:r>
                  <a:rPr lang="en-US" altLang="zh-TW" sz="1200" dirty="0"/>
                  <a:t>)</a:t>
                </a:r>
                <a:r>
                  <a:rPr lang="zh-TW" altLang="en-US" sz="1200" dirty="0"/>
                  <a:t> </a:t>
                </a:r>
                <a:endParaRPr lang="en-US" altLang="zh-TW" sz="1200" dirty="0">
                  <a:latin typeface="Times New Roman" panose="02020603050405020304" pitchFamily="18" charset="0"/>
                  <a:cs typeface="Times New Roman" panose="02020603050405020304" pitchFamily="18" charset="0"/>
                </a:endParaRPr>
              </a:p>
              <a:p>
                <a:pPr marL="0" indent="0">
                  <a:buNone/>
                </a:pPr>
                <a:r>
                  <a:rPr lang="zh-TW" altLang="en-US" sz="1200" dirty="0"/>
                  <a:t>所以我們將其整理成橢球方程式後</a:t>
                </a:r>
                <a:r>
                  <a:rPr lang="en-US" altLang="zh-TW" sz="1200" dirty="0"/>
                  <a:t>::</a:t>
                </a:r>
              </a:p>
              <a:p>
                <a:pPr marL="0" indent="0">
                  <a:buNone/>
                </a:pPr>
                <a:r>
                  <a:rPr lang="zh-TW" altLang="en-US" sz="1200" dirty="0"/>
                  <a:t>因由此式可以看到</a:t>
                </a:r>
                <a14:m>
                  <m:oMath xmlns:m="http://schemas.openxmlformats.org/officeDocument/2006/math">
                    <m:r>
                      <a:rPr lang="zh-TW" altLang="en-US" sz="1200" i="1" dirty="0" smtClean="0">
                        <a:latin typeface="Cambria Math" panose="02040503050406030204" pitchFamily="18" charset="0"/>
                      </a:rPr>
                      <m:t>多一個</m:t>
                    </m:r>
                    <m:r>
                      <m:rPr>
                        <m:sty m:val="p"/>
                      </m:rPr>
                      <a:rPr lang="en-US" altLang="zh-TW" sz="1200" i="1" dirty="0" smtClean="0">
                        <a:latin typeface="Cambria Math" panose="02040503050406030204" pitchFamily="18" charset="0"/>
                      </a:rPr>
                      <m:t>y</m:t>
                    </m:r>
                    <m:r>
                      <a:rPr lang="zh-TW" altLang="en-US" sz="1200" i="1" dirty="0" smtClean="0">
                        <a:latin typeface="Cambria Math" panose="02040503050406030204" pitchFamily="18" charset="0"/>
                      </a:rPr>
                      <m:t>橢球項</m:t>
                    </m:r>
                    <m:r>
                      <a:rPr lang="zh-TW" altLang="en-US" sz="1200" i="1" dirty="0">
                        <a:latin typeface="Cambria Math" panose="02040503050406030204" pitchFamily="18" charset="0"/>
                      </a:rPr>
                      <m:t>，所以我們針對此</m:t>
                    </m:r>
                    <m:r>
                      <a:rPr lang="en-US" altLang="zh-TW" sz="1200" b="0" i="1" dirty="0" smtClean="0">
                        <a:latin typeface="Cambria Math" panose="02040503050406030204" pitchFamily="18" charset="0"/>
                      </a:rPr>
                      <m:t>𝑒𝑞𝑢𝑎𝑡𝑖𝑜𝑛</m:t>
                    </m:r>
                    <m:r>
                      <a:rPr lang="zh-TW" altLang="en-US" sz="1200" b="0" i="1" dirty="0" smtClean="0">
                        <a:latin typeface="Cambria Math" panose="02040503050406030204" pitchFamily="18" charset="0"/>
                      </a:rPr>
                      <m:t>做</m:t>
                    </m:r>
                    <m:r>
                      <a:rPr lang="en-US" altLang="zh-TW" sz="1200" b="0" i="1" dirty="0" smtClean="0">
                        <a:latin typeface="Cambria Math" panose="02040503050406030204" pitchFamily="18" charset="0"/>
                      </a:rPr>
                      <m:t>𝑦𝑧</m:t>
                    </m:r>
                    <m:r>
                      <a:rPr lang="zh-TW" altLang="en-US" sz="1200" i="1" dirty="0">
                        <a:latin typeface="Cambria Math" panose="02040503050406030204" pitchFamily="18" charset="0"/>
                      </a:rPr>
                      <m:t>平面沿</m:t>
                    </m:r>
                    <m:r>
                      <a:rPr lang="zh-TW" altLang="en-US" sz="1200" i="1" smtClean="0">
                        <a:latin typeface="Cambria Math" panose="02040503050406030204" pitchFamily="18" charset="0"/>
                      </a:rPr>
                      <m:t>𝜃</m:t>
                    </m:r>
                    <m:r>
                      <a:rPr lang="zh-TW" altLang="en-US" sz="1200" i="1" smtClean="0">
                        <a:latin typeface="Cambria Math" panose="02040503050406030204" pitchFamily="18" charset="0"/>
                      </a:rPr>
                      <m:t>角做旋轉</m:t>
                    </m:r>
                  </m:oMath>
                </a14:m>
                <a:endParaRPr lang="en-US" altLang="zh-TW" sz="1200" dirty="0"/>
              </a:p>
              <a:p>
                <a:pPr marL="0" indent="0">
                  <a:buNone/>
                </a:pPr>
                <a:r>
                  <a:rPr lang="zh-TW" altLang="en-US" sz="1200" dirty="0">
                    <a:latin typeface="Times New Roman" panose="02020603050405020304" pitchFamily="18" charset="0"/>
                    <a:cs typeface="Times New Roman" panose="02020603050405020304" pitchFamily="18" charset="0"/>
                  </a:rPr>
                  <a:t>所以可以得到當在單一</a:t>
                </a:r>
                <a:r>
                  <a:rPr lang="en-US" altLang="zh-TW" sz="1200" dirty="0">
                    <a:latin typeface="Times New Roman" panose="02020603050405020304" pitchFamily="18" charset="0"/>
                    <a:cs typeface="Times New Roman" panose="02020603050405020304" pitchFamily="18" charset="0"/>
                  </a:rPr>
                  <a:t>LN</a:t>
                </a:r>
                <a:r>
                  <a:rPr lang="zh-TW" altLang="en-US" sz="1200" dirty="0">
                    <a:latin typeface="Times New Roman" panose="02020603050405020304" pitchFamily="18" charset="0"/>
                    <a:cs typeface="Times New Roman" panose="02020603050405020304" pitchFamily="18" charset="0"/>
                  </a:rPr>
                  <a:t>做施加</a:t>
                </a:r>
                <a:r>
                  <a:rPr lang="en-US" altLang="zh-TW" sz="1200" dirty="0">
                    <a:latin typeface="Times New Roman" panose="02020603050405020304" pitchFamily="18" charset="0"/>
                    <a:cs typeface="Times New Roman" panose="02020603050405020304" pitchFamily="18" charset="0"/>
                  </a:rPr>
                  <a:t>y</a:t>
                </a:r>
                <a:r>
                  <a:rPr lang="zh-TW" altLang="en-US" sz="1200" dirty="0">
                    <a:latin typeface="Times New Roman" panose="02020603050405020304" pitchFamily="18" charset="0"/>
                    <a:cs typeface="Times New Roman" panose="02020603050405020304" pitchFamily="18" charset="0"/>
                  </a:rPr>
                  <a:t>方向電場其主軸的旋轉情形</a:t>
                </a:r>
                <a:r>
                  <a:rPr lang="en-US" altLang="zh-TW" sz="1200" dirty="0">
                    <a:latin typeface="Times New Roman" panose="02020603050405020304" pitchFamily="18" charset="0"/>
                    <a:cs typeface="Times New Roman" panose="02020603050405020304" pitchFamily="18" charset="0"/>
                  </a:rPr>
                  <a:t>(</a:t>
                </a:r>
                <a:r>
                  <a:rPr lang="zh-TW" altLang="en-US" sz="1200" dirty="0">
                    <a:latin typeface="Times New Roman" panose="02020603050405020304" pitchFamily="18" charset="0"/>
                    <a:cs typeface="Times New Roman" panose="02020603050405020304" pitchFamily="18" charset="0"/>
                  </a:rPr>
                  <a:t>主軸世光軸嗎</a:t>
                </a:r>
                <a:r>
                  <a:rPr lang="en-US" altLang="zh-TW" sz="1200" dirty="0">
                    <a:latin typeface="Times New Roman" panose="02020603050405020304" pitchFamily="18" charset="0"/>
                    <a:cs typeface="Times New Roman" panose="02020603050405020304" pitchFamily="18" charset="0"/>
                  </a:rPr>
                  <a:t>??)</a:t>
                </a:r>
              </a:p>
              <a:p>
                <a:pPr marL="0" indent="0">
                  <a:buNone/>
                </a:pPr>
                <a:r>
                  <a:rPr lang="zh-TW" altLang="en-US" sz="1200" dirty="0">
                    <a:latin typeface="Times New Roman" panose="02020603050405020304" pitchFamily="18" charset="0"/>
                    <a:cs typeface="Times New Roman" panose="02020603050405020304" pitchFamily="18" charset="0"/>
                  </a:rPr>
                  <a:t>所以如果今天是一個經籌極化方向向上的</a:t>
                </a:r>
                <a:r>
                  <a:rPr lang="en-US" altLang="zh-TW" sz="1200" dirty="0">
                    <a:latin typeface="Times New Roman" panose="02020603050405020304" pitchFamily="18" charset="0"/>
                    <a:cs typeface="Times New Roman" panose="02020603050405020304" pitchFamily="18" charset="0"/>
                  </a:rPr>
                  <a:t>LN</a:t>
                </a:r>
                <a:r>
                  <a:rPr lang="zh-TW" altLang="en-US" sz="1200" dirty="0">
                    <a:latin typeface="Times New Roman" panose="02020603050405020304" pitchFamily="18" charset="0"/>
                    <a:cs typeface="Times New Roman" panose="02020603050405020304" pitchFamily="18" charset="0"/>
                  </a:rPr>
                  <a:t>其，所以當我施加如下電場其為項佐旋轉</a:t>
                </a:r>
                <a:r>
                  <a:rPr lang="en-US" altLang="zh-TW" dirty="0"/>
                  <a:t>theta</a:t>
                </a:r>
                <a:r>
                  <a:rPr lang="zh-TW" altLang="en-US" dirty="0"/>
                  <a:t>角</a:t>
                </a:r>
                <a:endParaRPr lang="en-US" altLang="zh-TW" dirty="0"/>
              </a:p>
              <a:p>
                <a:pPr marL="0" indent="0">
                  <a:buNone/>
                </a:pPr>
                <a:r>
                  <a:rPr lang="zh-TW" altLang="en-US" sz="1200" dirty="0">
                    <a:latin typeface="Times New Roman" panose="02020603050405020304" pitchFamily="18" charset="0"/>
                    <a:cs typeface="Times New Roman" panose="02020603050405020304" pitchFamily="18" charset="0"/>
                  </a:rPr>
                  <a:t>當我變成經籌極化方向向下的</a:t>
                </a:r>
                <a:r>
                  <a:rPr lang="en-US" altLang="zh-TW" sz="1200" dirty="0">
                    <a:latin typeface="Times New Roman" panose="02020603050405020304" pitchFamily="18" charset="0"/>
                    <a:cs typeface="Times New Roman" panose="02020603050405020304" pitchFamily="18" charset="0"/>
                  </a:rPr>
                  <a:t>LN</a:t>
                </a:r>
                <a:r>
                  <a:rPr lang="zh-TW" altLang="en-US" sz="1200" dirty="0">
                    <a:latin typeface="Times New Roman" panose="02020603050405020304" pitchFamily="18" charset="0"/>
                    <a:cs typeface="Times New Roman" panose="02020603050405020304" pitchFamily="18" charset="0"/>
                  </a:rPr>
                  <a:t>，則因為其</a:t>
                </a:r>
                <a:r>
                  <a:rPr lang="en-US" altLang="zh-TW" sz="1200" dirty="0">
                    <a:latin typeface="Times New Roman" panose="02020603050405020304" pitchFamily="18" charset="0"/>
                    <a:cs typeface="Times New Roman" panose="02020603050405020304" pitchFamily="18" charset="0"/>
                  </a:rPr>
                  <a:t>EO</a:t>
                </a:r>
                <a:r>
                  <a:rPr lang="zh-TW" altLang="en-US" sz="1200" dirty="0">
                    <a:latin typeface="Times New Roman" panose="02020603050405020304" pitchFamily="18" charset="0"/>
                    <a:cs typeface="Times New Roman" panose="02020603050405020304" pitchFamily="18" charset="0"/>
                  </a:rPr>
                  <a:t>係數改為負</a:t>
                </a:r>
                <a:r>
                  <a:rPr lang="en-US" altLang="zh-TW" dirty="0"/>
                  <a:t>r51</a:t>
                </a:r>
                <a:r>
                  <a:rPr lang="zh-TW" altLang="en-US" dirty="0"/>
                  <a:t>，所以其</a:t>
                </a:r>
                <a:r>
                  <a:rPr lang="en-US" altLang="zh-TW" dirty="0"/>
                  <a:t>theta</a:t>
                </a:r>
                <a:r>
                  <a:rPr lang="zh-TW" altLang="en-US" dirty="0"/>
                  <a:t>將改為向右旋轉</a:t>
                </a:r>
                <a:endParaRPr lang="en-US" altLang="zh-TW" dirty="0"/>
              </a:p>
              <a:p>
                <a:pPr marL="0" indent="0">
                  <a:buNone/>
                </a:pPr>
                <a:r>
                  <a:rPr lang="zh-TW" altLang="en-US" sz="1200" dirty="0">
                    <a:latin typeface="Times New Roman" panose="02020603050405020304" pitchFamily="18" charset="0"/>
                    <a:cs typeface="Times New Roman" panose="02020603050405020304" pitchFamily="18" charset="0"/>
                  </a:rPr>
                  <a:t>所以我們就是利用這樣</a:t>
                </a:r>
                <a:r>
                  <a:rPr lang="en-US" altLang="zh-TW" sz="1200" dirty="0">
                    <a:latin typeface="Times New Roman" panose="02020603050405020304" pitchFamily="18" charset="0"/>
                    <a:cs typeface="Times New Roman" panose="02020603050405020304" pitchFamily="18" charset="0"/>
                  </a:rPr>
                  <a:t>LN</a:t>
                </a:r>
                <a:r>
                  <a:rPr lang="zh-TW" altLang="en-US" sz="1200" dirty="0">
                    <a:latin typeface="Times New Roman" panose="02020603050405020304" pitchFamily="18" charset="0"/>
                    <a:cs typeface="Times New Roman" panose="02020603050405020304" pitchFamily="18" charset="0"/>
                  </a:rPr>
                  <a:t>的施加</a:t>
                </a:r>
                <a:r>
                  <a:rPr lang="en-US" altLang="zh-TW" sz="1200" dirty="0">
                    <a:latin typeface="Times New Roman" panose="02020603050405020304" pitchFamily="18" charset="0"/>
                    <a:cs typeface="Times New Roman" panose="02020603050405020304" pitchFamily="18" charset="0"/>
                  </a:rPr>
                  <a:t>y</a:t>
                </a:r>
                <a:r>
                  <a:rPr lang="zh-TW" altLang="en-US" sz="1200" dirty="0">
                    <a:latin typeface="Times New Roman" panose="02020603050405020304" pitchFamily="18" charset="0"/>
                    <a:cs typeface="Times New Roman" panose="02020603050405020304" pitchFamily="18" charset="0"/>
                  </a:rPr>
                  <a:t>方向電場且正負經籌週期性的排列方式來達成</a:t>
                </a:r>
                <a:r>
                  <a:rPr lang="zh-TW" altLang="en-US" dirty="0"/>
                  <a:t>與索爾克濾波器相似的偏振模態轉換機制</a:t>
                </a:r>
                <a:endParaRPr lang="en-US" altLang="zh-TW"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1200" dirty="0">
                  <a:latin typeface="Times New Roman" panose="02020603050405020304" pitchFamily="18" charset="0"/>
                  <a:cs typeface="Times New Roman" panose="02020603050405020304" pitchFamily="18" charset="0"/>
                </a:endParaRPr>
              </a:p>
              <a:p>
                <a:pPr marL="0" indent="0">
                  <a:buNone/>
                </a:pPr>
                <a:endParaRPr lang="zh-TW" altLang="en-US" dirty="0"/>
              </a:p>
            </p:txBody>
          </p:sp>
        </mc:Choice>
        <mc:Fallback xmlns="">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t>非等向性材料鋰酸鈮其反介電張量</a:t>
                </a:r>
                <a:r>
                  <a:rPr lang="en-US" altLang="zh-TW" sz="1200" dirty="0"/>
                  <a:t>(impermeability tensor)=</a:t>
                </a:r>
                <a:r>
                  <a:rPr lang="zh-TW" altLang="en-US" sz="1200" i="0">
                    <a:latin typeface="Cambria Math" panose="02040503050406030204" pitchFamily="18" charset="0"/>
                  </a:rPr>
                  <a:t>𝞰</a:t>
                </a:r>
                <a:r>
                  <a:rPr lang="en-US" altLang="zh-TW" sz="1200" i="0">
                    <a:latin typeface="Cambria Math" panose="02040503050406030204" pitchFamily="18" charset="0"/>
                  </a:rPr>
                  <a:t> ⃡</a:t>
                </a:r>
                <a:r>
                  <a:rPr lang="zh-TW" altLang="en-US" sz="1200" i="0">
                    <a:latin typeface="Cambria Math" panose="02040503050406030204" pitchFamily="18" charset="0"/>
                  </a:rPr>
                  <a:t>  </a:t>
                </a:r>
                <a:r>
                  <a:rPr lang="en-US" altLang="zh-TW" sz="1200" baseline="-25000" dirty="0"/>
                  <a:t>ij </a:t>
                </a:r>
                <a:endParaRPr lang="en-US" altLang="zh-TW" sz="1200" dirty="0"/>
              </a:p>
              <a:p>
                <a:pPr marL="0" indent="0">
                  <a:buNone/>
                </a:pPr>
                <a:r>
                  <a:rPr lang="zh-TW" altLang="en-US" sz="1200" dirty="0"/>
                  <a:t>當施加電場時使的反介電張量隨電場變化，其變化量為</a:t>
                </a:r>
                <a:endParaRPr lang="en-US" altLang="zh-TW" sz="1200" dirty="0"/>
              </a:p>
              <a:p>
                <a:pPr marL="0" indent="0">
                  <a:buNone/>
                </a:pPr>
                <a:r>
                  <a:rPr lang="zh-TW" altLang="en-US" sz="1200" i="0">
                    <a:latin typeface="Cambria Math" panose="02040503050406030204" pitchFamily="18" charset="0"/>
                  </a:rPr>
                  <a:t>𝞰</a:t>
                </a:r>
                <a:r>
                  <a:rPr lang="en-US" altLang="zh-TW" sz="1200" i="0">
                    <a:latin typeface="Cambria Math" panose="02040503050406030204" pitchFamily="18" charset="0"/>
                  </a:rPr>
                  <a:t> ⃡</a:t>
                </a:r>
                <a:r>
                  <a:rPr lang="zh-TW" altLang="en-US" sz="1200" i="0">
                    <a:latin typeface="Cambria Math" panose="02040503050406030204" pitchFamily="18" charset="0"/>
                  </a:rPr>
                  <a:t>  </a:t>
                </a:r>
                <a:r>
                  <a:rPr lang="en-US" altLang="zh-TW" sz="1200" baseline="-25000" dirty="0"/>
                  <a:t>ij</a:t>
                </a:r>
                <a:r>
                  <a:rPr lang="en-US" altLang="zh-TW" sz="1200" dirty="0"/>
                  <a:t>(E) = </a:t>
                </a:r>
                <a:r>
                  <a:rPr lang="zh-TW" altLang="en-US" sz="1200" i="0">
                    <a:latin typeface="Cambria Math" panose="02040503050406030204" pitchFamily="18" charset="0"/>
                  </a:rPr>
                  <a:t>𝞰</a:t>
                </a:r>
                <a:r>
                  <a:rPr lang="en-US" altLang="zh-TW" sz="1200" i="0">
                    <a:latin typeface="Cambria Math" panose="02040503050406030204" pitchFamily="18" charset="0"/>
                  </a:rPr>
                  <a:t> ⃡</a:t>
                </a:r>
                <a:r>
                  <a:rPr lang="zh-TW" altLang="en-US" sz="1200" i="0">
                    <a:latin typeface="Cambria Math" panose="02040503050406030204" pitchFamily="18" charset="0"/>
                  </a:rPr>
                  <a:t>  </a:t>
                </a:r>
                <a:r>
                  <a:rPr lang="en-US" altLang="zh-TW" sz="1200" baseline="-25000" dirty="0" err="1"/>
                  <a:t>ij</a:t>
                </a:r>
                <a:r>
                  <a:rPr lang="en-US" altLang="zh-TW" sz="1200" dirty="0"/>
                  <a:t>(0) + </a:t>
                </a:r>
                <a:r>
                  <a:rPr lang="en-US" altLang="zh-TW" sz="1200" i="0">
                    <a:latin typeface="Cambria Math" panose="02040503050406030204" pitchFamily="18" charset="0"/>
                  </a:rPr>
                  <a:t>∑2</a:t>
                </a:r>
                <a:r>
                  <a:rPr lang="en-US" altLang="zh-TW" sz="1200" b="0" i="0">
                    <a:latin typeface="Cambria Math" panose="02040503050406030204" pitchFamily="18" charset="0"/>
                  </a:rPr>
                  <a:t>_𝑘</a:t>
                </a:r>
                <a:r>
                  <a:rPr lang="en-US" altLang="zh-TW" sz="1200" b="0" i="0" baseline="-25000" dirty="0">
                    <a:latin typeface="Cambria Math" panose="02040503050406030204" pitchFamily="18" charset="0"/>
                  </a:rPr>
                  <a:t>▒</a:t>
                </a:r>
                <a:r>
                  <a:rPr lang="en-US" altLang="zh-TW" sz="1200" b="0" i="0" baseline="-25000">
                    <a:latin typeface="Cambria Math" panose="02040503050406030204" pitchFamily="18" charset="0"/>
                  </a:rPr>
                  <a:t>〖</a:t>
                </a:r>
                <a:r>
                  <a:rPr lang="en-US" altLang="zh-TW" sz="1200" b="0" i="0">
                    <a:latin typeface="Cambria Math" panose="02040503050406030204" pitchFamily="18" charset="0"/>
                  </a:rPr>
                  <a:t>𝑟 ⃡</a:t>
                </a:r>
                <a:r>
                  <a:rPr lang="zh-TW" altLang="en-US" sz="1200" b="0" i="0">
                    <a:latin typeface="Cambria Math" panose="02040503050406030204" pitchFamily="18" charset="0"/>
                  </a:rPr>
                  <a:t> </a:t>
                </a:r>
                <a:r>
                  <a:rPr lang="zh-TW" altLang="en-US" sz="1200" i="0">
                    <a:latin typeface="Cambria Math" panose="02040503050406030204" pitchFamily="18" charset="0"/>
                  </a:rPr>
                  <a:t> </a:t>
                </a:r>
                <a:r>
                  <a:rPr lang="en-US" altLang="zh-TW" sz="1200" i="0" baseline="-25000" dirty="0">
                    <a:latin typeface="Cambria Math" panose="02040503050406030204" pitchFamily="18" charset="0"/>
                  </a:rPr>
                  <a:t>"</a:t>
                </a:r>
                <a:r>
                  <a:rPr lang="en-US" altLang="zh-TW" sz="1200" i="0" baseline="-25000" dirty="0"/>
                  <a:t>ij</a:t>
                </a:r>
                <a:r>
                  <a:rPr lang="en-US" altLang="zh-TW" sz="1200" b="0" i="0" baseline="-25000" dirty="0"/>
                  <a:t>k</a:t>
                </a:r>
                <a:r>
                  <a:rPr lang="en-US" altLang="zh-TW" sz="1200" b="0" i="0" baseline="-25000" dirty="0">
                    <a:latin typeface="Cambria Math" panose="02040503050406030204" pitchFamily="18" charset="0"/>
                  </a:rPr>
                  <a:t>" </a:t>
                </a:r>
                <a:r>
                  <a:rPr lang="en-US" altLang="zh-TW" sz="1200" b="0" i="0" baseline="-25000">
                    <a:latin typeface="Cambria Math" panose="02040503050406030204" pitchFamily="18" charset="0"/>
                  </a:rPr>
                  <a:t>〗</a:t>
                </a:r>
                <a:r>
                  <a:rPr lang="en-US" altLang="zh-TW" sz="1200" dirty="0"/>
                  <a:t>E</a:t>
                </a:r>
                <a:r>
                  <a:rPr lang="en-US" altLang="zh-TW" sz="1200" baseline="-25000" dirty="0"/>
                  <a:t>k</a:t>
                </a:r>
                <a:r>
                  <a:rPr lang="en-US" altLang="zh-TW" sz="1200" dirty="0"/>
                  <a:t> + </a:t>
                </a:r>
                <a:r>
                  <a:rPr lang="en-US" altLang="zh-TW" sz="1200" i="0">
                    <a:latin typeface="Cambria Math" panose="02040503050406030204" pitchFamily="18" charset="0"/>
                  </a:rPr>
                  <a:t>∑2</a:t>
                </a:r>
                <a:r>
                  <a:rPr lang="en-US" altLang="zh-TW" sz="1200" b="0" i="0">
                    <a:latin typeface="Cambria Math" panose="02040503050406030204" pitchFamily="18" charset="0"/>
                  </a:rPr>
                  <a:t>_</a:t>
                </a:r>
                <a:r>
                  <a:rPr lang="en-US" altLang="zh-TW" sz="1200" i="0">
                    <a:latin typeface="Cambria Math" panose="02040503050406030204" pitchFamily="18" charset="0"/>
                  </a:rPr>
                  <a:t>𝑘</a:t>
                </a:r>
                <a:r>
                  <a:rPr lang="en-US" altLang="zh-TW" sz="1200" b="0" i="0">
                    <a:latin typeface="Cambria Math" panose="02040503050406030204" pitchFamily="18" charset="0"/>
                  </a:rPr>
                  <a:t>𝑙</a:t>
                </a:r>
                <a:r>
                  <a:rPr lang="en-US" altLang="zh-TW" sz="1200" b="0" i="0" baseline="-25000" dirty="0">
                    <a:latin typeface="Cambria Math" panose="02040503050406030204" pitchFamily="18" charset="0"/>
                  </a:rPr>
                  <a:t>▒</a:t>
                </a:r>
                <a:r>
                  <a:rPr lang="en-US" altLang="zh-TW" sz="1200" b="0" i="0" baseline="-25000">
                    <a:latin typeface="Cambria Math" panose="02040503050406030204" pitchFamily="18" charset="0"/>
                  </a:rPr>
                  <a:t>〖</a:t>
                </a:r>
                <a:r>
                  <a:rPr lang="el-GR" altLang="zh-TW" sz="1200" i="0">
                    <a:latin typeface="Cambria Math" panose="02040503050406030204" pitchFamily="18" charset="0"/>
                  </a:rPr>
                  <a:t>ς</a:t>
                </a:r>
                <a:r>
                  <a:rPr lang="en-US" altLang="zh-TW" sz="1200" i="0">
                    <a:latin typeface="Cambria Math" panose="02040503050406030204" pitchFamily="18" charset="0"/>
                  </a:rPr>
                  <a:t> ⃡</a:t>
                </a:r>
                <a:r>
                  <a:rPr lang="en-US" altLang="zh-TW" sz="1200" i="0" baseline="-25000" dirty="0">
                    <a:latin typeface="Cambria Math" panose="02040503050406030204" pitchFamily="18" charset="0"/>
                  </a:rPr>
                  <a:t>"</a:t>
                </a:r>
                <a:r>
                  <a:rPr lang="en-US" altLang="zh-TW" sz="1200" i="0" baseline="-25000" dirty="0"/>
                  <a:t>ijk</a:t>
                </a:r>
                <a:r>
                  <a:rPr lang="en-US" altLang="zh-TW" sz="1200" i="0" baseline="-25000" dirty="0">
                    <a:latin typeface="Cambria Math" panose="02040503050406030204" pitchFamily="18" charset="0"/>
                  </a:rPr>
                  <a:t>" </a:t>
                </a:r>
                <a:r>
                  <a:rPr lang="en-US" altLang="zh-TW" sz="1200" i="0" baseline="-25000">
                    <a:latin typeface="Cambria Math" panose="02040503050406030204" pitchFamily="18" charset="0"/>
                  </a:rPr>
                  <a:t>〗</a:t>
                </a:r>
                <a:r>
                  <a:rPr lang="en-US" altLang="zh-TW" sz="1200" dirty="0"/>
                  <a:t>E</a:t>
                </a:r>
                <a:r>
                  <a:rPr lang="en-US" altLang="zh-TW" sz="1200" baseline="-25000" dirty="0"/>
                  <a:t>k</a:t>
                </a:r>
                <a:r>
                  <a:rPr lang="en-US" altLang="zh-TW" sz="1200" dirty="0"/>
                  <a:t>E</a:t>
                </a:r>
                <a:r>
                  <a:rPr lang="en-US" altLang="zh-TW" sz="1200" i="0" baseline="-25000">
                    <a:latin typeface="Cambria Math" panose="02040503050406030204" pitchFamily="18" charset="0"/>
                  </a:rPr>
                  <a:t>𝑙</a:t>
                </a:r>
                <a:endParaRPr lang="en-US" altLang="zh-TW" sz="1200" baseline="-25000" dirty="0"/>
              </a:p>
              <a:p>
                <a:pPr marL="0" indent="0">
                  <a:buNone/>
                </a:pPr>
                <a:r>
                  <a:rPr lang="en-US" altLang="zh-TW" sz="1200" b="0" i="0">
                    <a:latin typeface="Cambria Math" panose="02040503050406030204" pitchFamily="18" charset="0"/>
                  </a:rPr>
                  <a:t>𝑟 ⃡</a:t>
                </a:r>
                <a:r>
                  <a:rPr lang="zh-TW" altLang="en-US" sz="1200" b="0" i="0">
                    <a:latin typeface="Cambria Math" panose="02040503050406030204" pitchFamily="18" charset="0"/>
                  </a:rPr>
                  <a:t> </a:t>
                </a:r>
                <a:r>
                  <a:rPr lang="zh-TW" altLang="en-US" sz="1200" i="0">
                    <a:latin typeface="Cambria Math" panose="02040503050406030204" pitchFamily="18" charset="0"/>
                  </a:rPr>
                  <a:t> </a:t>
                </a:r>
                <a:r>
                  <a:rPr lang="en-US" altLang="zh-TW" sz="1200" i="0" baseline="-25000" dirty="0">
                    <a:latin typeface="Cambria Math" panose="02040503050406030204" pitchFamily="18" charset="0"/>
                  </a:rPr>
                  <a:t>"ij</a:t>
                </a:r>
                <a:r>
                  <a:rPr lang="en-US" altLang="zh-TW" sz="1200" b="0" i="0" baseline="-25000" dirty="0">
                    <a:latin typeface="Cambria Math" panose="02040503050406030204" pitchFamily="18" charset="0"/>
                  </a:rPr>
                  <a:t>k</a:t>
                </a:r>
                <a:r>
                  <a:rPr lang="zh-TW" altLang="en-US" sz="1200" b="0" i="0" baseline="-25000" dirty="0"/>
                  <a:t>"</a:t>
                </a:r>
                <a:r>
                  <a:rPr lang="zh-TW" altLang="en-US" sz="1200" dirty="0"/>
                  <a:t>為第一階線性</a:t>
                </a:r>
                <a:r>
                  <a:rPr lang="en-US" altLang="zh-TW" sz="1200" dirty="0"/>
                  <a:t>(Pockels effect)</a:t>
                </a:r>
                <a:r>
                  <a:rPr lang="zh-TW" altLang="en-US" sz="1200" dirty="0"/>
                  <a:t>的電光係數，而</a:t>
                </a:r>
                <a:r>
                  <a:rPr lang="en-US" altLang="zh-TW" sz="1200" dirty="0"/>
                  <a:t> </a:t>
                </a:r>
                <a:r>
                  <a:rPr lang="el-GR" altLang="zh-TW" sz="1200" i="0">
                    <a:latin typeface="Cambria Math" panose="02040503050406030204" pitchFamily="18" charset="0"/>
                  </a:rPr>
                  <a:t>ς</a:t>
                </a:r>
                <a:r>
                  <a:rPr lang="en-US" altLang="zh-TW" sz="1200" i="0">
                    <a:latin typeface="Cambria Math" panose="02040503050406030204" pitchFamily="18" charset="0"/>
                  </a:rPr>
                  <a:t> ⃡</a:t>
                </a:r>
                <a:r>
                  <a:rPr lang="en-US" altLang="zh-TW" sz="1200" i="0" baseline="-25000" dirty="0">
                    <a:latin typeface="Cambria Math" panose="02040503050406030204" pitchFamily="18" charset="0"/>
                  </a:rPr>
                  <a:t>"ijk</a:t>
                </a:r>
                <a:r>
                  <a:rPr lang="zh-TW" altLang="en-US" sz="1200" i="0" baseline="-25000" dirty="0"/>
                  <a:t>"</a:t>
                </a:r>
                <a:r>
                  <a:rPr lang="zh-TW" altLang="en-US" sz="1200" dirty="0"/>
                  <a:t>為第二階</a:t>
                </a:r>
                <a:r>
                  <a:rPr lang="en-US" altLang="zh-TW" sz="1200" dirty="0"/>
                  <a:t>(Kerr effect)</a:t>
                </a:r>
                <a:r>
                  <a:rPr lang="zh-TW" altLang="en-US" sz="1200" dirty="0"/>
                  <a:t>的電光係數，因為第二階電光係數遠小於第一階的電光係數，所以我們可以忽略第二階，所以我們可以將反介電張量式子表示成</a:t>
                </a:r>
                <a:endParaRPr lang="en-US" altLang="zh-TW" sz="1200" dirty="0"/>
              </a:p>
              <a:p>
                <a:pPr marL="0" indent="0">
                  <a:buNone/>
                </a:pPr>
                <a:r>
                  <a:rPr lang="zh-TW" altLang="en-US" sz="1200" dirty="0"/>
                  <a:t>鋰酸鈮其一階線性電光係數張量為</a:t>
                </a:r>
                <a:r>
                  <a:rPr lang="en-US" altLang="zh-TW" sz="120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i="0">
                    <a:latin typeface="Cambria Math" panose="02040503050406030204" pitchFamily="18" charset="0"/>
                  </a:rPr>
                  <a:t>𝑟 ⃡</a:t>
                </a:r>
                <a:r>
                  <a:rPr lang="zh-TW" altLang="en-US" sz="1200" b="0" i="0">
                    <a:latin typeface="Cambria Math" panose="02040503050406030204" pitchFamily="18" charset="0"/>
                  </a:rPr>
                  <a:t> </a:t>
                </a:r>
                <a:r>
                  <a:rPr lang="zh-TW" altLang="en-US" sz="1200" i="0">
                    <a:latin typeface="Cambria Math" panose="02040503050406030204" pitchFamily="18" charset="0"/>
                  </a:rPr>
                  <a:t> </a:t>
                </a:r>
                <a:r>
                  <a:rPr lang="en-US" altLang="zh-TW" sz="1200" i="0" baseline="-25000" dirty="0">
                    <a:latin typeface="Cambria Math" panose="02040503050406030204" pitchFamily="18" charset="0"/>
                  </a:rPr>
                  <a:t>"ij</a:t>
                </a:r>
                <a:r>
                  <a:rPr lang="en-US" altLang="zh-TW" sz="1200" b="0" i="0" baseline="-25000" dirty="0">
                    <a:latin typeface="Cambria Math" panose="02040503050406030204" pitchFamily="18" charset="0"/>
                  </a:rPr>
                  <a:t>k</a:t>
                </a:r>
                <a:r>
                  <a:rPr lang="zh-TW" altLang="en-US" sz="1200" b="0" i="0" baseline="-25000" dirty="0"/>
                  <a:t>"</a:t>
                </a:r>
                <a:r>
                  <a:rPr lang="zh-TW" altLang="en-US" sz="1200" dirty="0"/>
                  <a:t> </a:t>
                </a:r>
                <a:r>
                  <a:rPr lang="en-US" altLang="zh-TW" sz="1200" dirty="0"/>
                  <a:t>=</a:t>
                </a:r>
                <a:r>
                  <a:rPr lang="zh-TW" altLang="en-US" sz="1200" dirty="0"/>
                  <a:t> </a:t>
                </a:r>
                <a:r>
                  <a:rPr lang="en-US" altLang="zh-TW" sz="1200" i="0">
                    <a:latin typeface="Cambria Math" panose="02040503050406030204" pitchFamily="18" charset="0"/>
                  </a:rPr>
                  <a:t>[■8(■8(</a:t>
                </a:r>
                <a:r>
                  <a:rPr lang="en-US" altLang="zh-TW" sz="1200" b="0" i="0">
                    <a:latin typeface="Cambria Math" panose="02040503050406030204" pitchFamily="18" charset="0"/>
                  </a:rPr>
                  <a:t>      </a:t>
                </a:r>
                <a:r>
                  <a:rPr lang="en-US" altLang="zh-TW" sz="1200" i="0">
                    <a:latin typeface="Cambria Math" panose="02040503050406030204" pitchFamily="18" charset="0"/>
                  </a:rPr>
                  <a:t>0&amp;</a:t>
                </a:r>
                <a:r>
                  <a:rPr lang="en-US" altLang="zh-TW" sz="1200" b="0" i="0">
                    <a:latin typeface="Cambria Math" panose="02040503050406030204" pitchFamily="18" charset="0"/>
                  </a:rPr>
                  <a:t>−𝑟</a:t>
                </a:r>
                <a:r>
                  <a:rPr lang="en-US" altLang="zh-TW" sz="1200" b="0" i="0" baseline="-25000">
                    <a:latin typeface="Cambria Math" panose="02040503050406030204" pitchFamily="18" charset="0"/>
                  </a:rPr>
                  <a:t>22&amp;</a:t>
                </a:r>
                <a:r>
                  <a:rPr lang="en-US" altLang="zh-TW" sz="1200" b="0" i="0">
                    <a:latin typeface="Cambria Math" panose="02040503050406030204" pitchFamily="18" charset="0"/>
                  </a:rPr>
                  <a:t>𝑟</a:t>
                </a:r>
                <a:r>
                  <a:rPr lang="en-US" altLang="zh-TW" sz="1200" b="0" i="0" baseline="-25000">
                    <a:latin typeface="Cambria Math" panose="02040503050406030204" pitchFamily="18" charset="0"/>
                  </a:rPr>
                  <a:t>33@</a:t>
                </a:r>
                <a:r>
                  <a:rPr lang="en-US" altLang="zh-TW" sz="1200" b="0" i="0">
                    <a:latin typeface="Cambria Math" panose="02040503050406030204" pitchFamily="18" charset="0"/>
                  </a:rPr>
                  <a:t>      </a:t>
                </a:r>
                <a:r>
                  <a:rPr lang="en-US" altLang="zh-TW" sz="1200" i="0">
                    <a:latin typeface="Cambria Math" panose="02040503050406030204" pitchFamily="18" charset="0"/>
                  </a:rPr>
                  <a:t>0&amp;</a:t>
                </a:r>
                <a:r>
                  <a:rPr lang="en-US" altLang="zh-TW" sz="1200" b="0" i="0">
                    <a:latin typeface="Cambria Math" panose="02040503050406030204" pitchFamily="18" charset="0"/>
                  </a:rPr>
                  <a:t>𝑟</a:t>
                </a:r>
                <a:r>
                  <a:rPr lang="en-US" altLang="zh-TW" sz="1200" b="0" i="0" baseline="-25000">
                    <a:latin typeface="Cambria Math" panose="02040503050406030204" pitchFamily="18" charset="0"/>
                  </a:rPr>
                  <a:t>22&amp;</a:t>
                </a:r>
                <a:r>
                  <a:rPr lang="en-US" altLang="zh-TW" sz="1200" b="0" i="0">
                    <a:latin typeface="Cambria Math" panose="02040503050406030204" pitchFamily="18" charset="0"/>
                  </a:rPr>
                  <a:t>𝑟</a:t>
                </a:r>
                <a:r>
                  <a:rPr lang="en-US" altLang="zh-TW" sz="1200" b="0" i="0" baseline="-25000">
                    <a:latin typeface="Cambria Math" panose="02040503050406030204" pitchFamily="18" charset="0"/>
                  </a:rPr>
                  <a:t>13@</a:t>
                </a:r>
                <a:r>
                  <a:rPr lang="en-US" altLang="zh-TW" sz="1200" b="0" i="0">
                    <a:latin typeface="Cambria Math" panose="02040503050406030204" pitchFamily="18" charset="0"/>
                  </a:rPr>
                  <a:t>      </a:t>
                </a:r>
                <a:r>
                  <a:rPr lang="en-US" altLang="zh-TW" sz="1200" i="0">
                    <a:latin typeface="Cambria Math" panose="02040503050406030204" pitchFamily="18" charset="0"/>
                  </a:rPr>
                  <a:t>0&amp;0&amp;</a:t>
                </a:r>
                <a:r>
                  <a:rPr lang="en-US" altLang="zh-TW" sz="1200" b="0" i="0">
                    <a:latin typeface="Cambria Math" panose="02040503050406030204" pitchFamily="18" charset="0"/>
                  </a:rPr>
                  <a:t>𝑟</a:t>
                </a:r>
                <a:r>
                  <a:rPr lang="en-US" altLang="zh-TW" sz="1200" b="0" i="0" baseline="-25000">
                    <a:latin typeface="Cambria Math" panose="02040503050406030204" pitchFamily="18" charset="0"/>
                  </a:rPr>
                  <a:t>33)@■8(</a:t>
                </a:r>
                <a:r>
                  <a:rPr lang="en-US" altLang="zh-TW" sz="1200" i="0">
                    <a:latin typeface="Cambria Math" panose="02040503050406030204" pitchFamily="18" charset="0"/>
                  </a:rPr>
                  <a:t>0&amp;</a:t>
                </a:r>
                <a:r>
                  <a:rPr lang="en-US" altLang="zh-TW" sz="1200" b="0" i="0">
                    <a:latin typeface="Cambria Math" panose="02040503050406030204" pitchFamily="18" charset="0"/>
                  </a:rPr>
                  <a:t>𝑟</a:t>
                </a:r>
                <a:r>
                  <a:rPr lang="en-US" altLang="zh-TW" sz="1200" b="0" i="0" baseline="-25000">
                    <a:latin typeface="Cambria Math" panose="02040503050406030204" pitchFamily="18" charset="0"/>
                  </a:rPr>
                  <a:t>51&amp;</a:t>
                </a:r>
                <a:r>
                  <a:rPr lang="en-US" altLang="zh-TW" sz="1200" i="0">
                    <a:latin typeface="Cambria Math" panose="02040503050406030204" pitchFamily="18" charset="0"/>
                  </a:rPr>
                  <a:t>0@</a:t>
                </a:r>
                <a:r>
                  <a:rPr lang="en-US" altLang="zh-TW" sz="1200" b="0" i="0">
                    <a:latin typeface="Cambria Math" panose="02040503050406030204" pitchFamily="18" charset="0"/>
                  </a:rPr>
                  <a:t>𝑟</a:t>
                </a:r>
                <a:r>
                  <a:rPr lang="en-US" altLang="zh-TW" sz="1200" b="0" i="0" baseline="-25000">
                    <a:latin typeface="Cambria Math" panose="02040503050406030204" pitchFamily="18" charset="0"/>
                  </a:rPr>
                  <a:t>51&amp;</a:t>
                </a:r>
                <a:r>
                  <a:rPr lang="en-US" altLang="zh-TW" sz="1200" i="0">
                    <a:latin typeface="Cambria Math" panose="02040503050406030204" pitchFamily="18" charset="0"/>
                  </a:rPr>
                  <a:t>0&amp;0@</a:t>
                </a:r>
                <a:r>
                  <a:rPr lang="en-US" altLang="zh-TW" sz="1200" b="0" i="0">
                    <a:latin typeface="Cambria Math" panose="02040503050406030204" pitchFamily="18" charset="0"/>
                  </a:rPr>
                  <a:t>−𝑟</a:t>
                </a:r>
                <a:r>
                  <a:rPr lang="en-US" altLang="zh-TW" sz="1200" b="0" i="0" baseline="-25000">
                    <a:latin typeface="Cambria Math" panose="02040503050406030204" pitchFamily="18" charset="0"/>
                  </a:rPr>
                  <a:t>22&amp;</a:t>
                </a:r>
                <a:r>
                  <a:rPr lang="en-US" altLang="zh-TW" sz="1200" i="0">
                    <a:latin typeface="Cambria Math" panose="02040503050406030204" pitchFamily="18" charset="0"/>
                  </a:rPr>
                  <a:t>0&amp;0))]</a:t>
                </a:r>
                <a:r>
                  <a:rPr lang="zh-TW" altLang="en-US" sz="1200" i="0">
                    <a:latin typeface="Cambria Math" panose="02040503050406030204" pitchFamily="18" charset="0"/>
                  </a:rPr>
                  <a:t>𝞰</a:t>
                </a:r>
                <a:r>
                  <a:rPr lang="en-US" altLang="zh-TW" sz="1200" baseline="-25000" dirty="0" err="1"/>
                  <a:t>ij</a:t>
                </a:r>
                <a:r>
                  <a:rPr lang="en-US" altLang="zh-TW" sz="1200" dirty="0"/>
                  <a:t>(0) =</a:t>
                </a:r>
                <a:r>
                  <a:rPr lang="en-US" altLang="zh-TW" sz="1200" i="0">
                    <a:latin typeface="Cambria Math" panose="02040503050406030204" pitchFamily="18" charset="0"/>
                  </a:rPr>
                  <a:t>⌈■8(</a:t>
                </a:r>
                <a:r>
                  <a:rPr lang="en-US" altLang="zh-TW" sz="1200" b="0" i="0">
                    <a:latin typeface="Cambria Math" panose="02040503050406030204" pitchFamily="18" charset="0"/>
                  </a:rPr>
                  <a:t>1/(𝑛_𝑜^2 )&amp;0&amp;0@0&amp;</a:t>
                </a:r>
                <a:r>
                  <a:rPr lang="en-US" altLang="zh-TW" sz="1200" i="0">
                    <a:latin typeface="Cambria Math" panose="02040503050406030204" pitchFamily="18" charset="0"/>
                  </a:rPr>
                  <a:t>1/(𝑛_𝑜^2 )&amp;</a:t>
                </a:r>
                <a:r>
                  <a:rPr lang="en-US" altLang="zh-TW" sz="1200" b="0" i="0">
                    <a:latin typeface="Cambria Math" panose="02040503050406030204" pitchFamily="18" charset="0"/>
                  </a:rPr>
                  <a:t>0@0&amp;0&amp;</a:t>
                </a:r>
                <a:r>
                  <a:rPr lang="en-US" altLang="zh-TW" sz="1200" i="0">
                    <a:latin typeface="Cambria Math" panose="02040503050406030204" pitchFamily="18" charset="0"/>
                  </a:rPr>
                  <a:t>1/(𝑛_</a:t>
                </a:r>
                <a:r>
                  <a:rPr lang="en-US" altLang="zh-TW" sz="1200" b="0" i="0">
                    <a:latin typeface="Cambria Math" panose="02040503050406030204" pitchFamily="18" charset="0"/>
                  </a:rPr>
                  <a:t>𝑒^</a:t>
                </a:r>
                <a:r>
                  <a:rPr lang="en-US" altLang="zh-TW" sz="1200" i="0">
                    <a:latin typeface="Cambria Math" panose="02040503050406030204" pitchFamily="18" charset="0"/>
                  </a:rPr>
                  <a:t>2 ))⌉</a:t>
                </a:r>
                <a:r>
                  <a:rPr lang="zh-TW" altLang="en-US" sz="1200" i="0">
                    <a:latin typeface="Cambria Math" panose="02040503050406030204" pitchFamily="18" charset="0"/>
                  </a:rPr>
                  <a:t>為</a:t>
                </a:r>
                <a:r>
                  <a:rPr lang="en-US" altLang="zh-TW" sz="1200" dirty="0">
                    <a:latin typeface="Times New Roman" panose="02020603050405020304" pitchFamily="18" charset="0"/>
                    <a:cs typeface="Times New Roman" panose="02020603050405020304" pitchFamily="18" charset="0"/>
                  </a:rPr>
                  <a:t>Impermeability tensor of negative uniaxial crystal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dirty="0">
                  <a:latin typeface="Times New Roman" panose="02020603050405020304" pitchFamily="18" charset="0"/>
                  <a:cs typeface="Times New Roman" panose="02020603050405020304" pitchFamily="18" charset="0"/>
                </a:endParaRPr>
              </a:p>
              <a:p>
                <a:pPr marL="0" indent="0">
                  <a:buNone/>
                </a:pPr>
                <a:r>
                  <a:rPr lang="zh-TW" altLang="en-US" sz="1200" dirty="0"/>
                  <a:t>由此我們得到施加</a:t>
                </a:r>
                <a:r>
                  <a:rPr lang="en-US" altLang="zh-TW" sz="1200" dirty="0"/>
                  <a:t>y</a:t>
                </a:r>
                <a:r>
                  <a:rPr lang="zh-TW" altLang="en-US" sz="1200" dirty="0"/>
                  <a:t>方向電場後其折射率橢球如下</a:t>
                </a:r>
                <a:r>
                  <a:rPr lang="en-US" altLang="zh-TW" sz="1200" dirty="0"/>
                  <a:t>:</a:t>
                </a:r>
              </a:p>
              <a:p>
                <a:pPr marL="0" indent="0">
                  <a:buNone/>
                </a:pPr>
                <a:r>
                  <a:rPr lang="en-US" altLang="zh-TW" sz="1200" dirty="0"/>
                  <a:t>(</a:t>
                </a:r>
                <a:r>
                  <a:rPr lang="en-US" altLang="zh-TW" sz="1200" i="0">
                    <a:latin typeface="Cambria Math" panose="02040503050406030204" pitchFamily="18" charset="0"/>
                  </a:rPr>
                  <a:t>1/(𝑛_𝑜^2 )−𝑟</a:t>
                </a:r>
                <a:r>
                  <a:rPr lang="en-US" altLang="zh-TW" sz="1200" i="0" baseline="-25000">
                    <a:latin typeface="Cambria Math" panose="02040503050406030204" pitchFamily="18" charset="0"/>
                  </a:rPr>
                  <a:t>22</a:t>
                </a:r>
                <a:r>
                  <a:rPr lang="en-US" altLang="zh-TW" sz="1200" i="0">
                    <a:latin typeface="Cambria Math" panose="02040503050406030204" pitchFamily="18" charset="0"/>
                  </a:rPr>
                  <a:t>E</a:t>
                </a:r>
                <a:r>
                  <a:rPr lang="en-US" altLang="zh-TW" sz="1200" i="0" baseline="-25000">
                    <a:latin typeface="Cambria Math" panose="02040503050406030204" pitchFamily="18" charset="0"/>
                  </a:rPr>
                  <a:t>𝑦</a:t>
                </a:r>
                <a:r>
                  <a:rPr lang="en-US" altLang="zh-TW" sz="1200" dirty="0"/>
                  <a:t>)</a:t>
                </a:r>
                <a:r>
                  <a:rPr lang="en-US" altLang="zh-TW" sz="1200" b="0" i="0" dirty="0">
                    <a:latin typeface="Cambria Math" panose="02040503050406030204" pitchFamily="18" charset="0"/>
                  </a:rPr>
                  <a:t>𝑥</a:t>
                </a:r>
                <a:r>
                  <a:rPr lang="en-US" altLang="zh-TW" sz="1200" b="0" i="0" baseline="30000" dirty="0">
                    <a:latin typeface="Cambria Math" panose="02040503050406030204" pitchFamily="18" charset="0"/>
                  </a:rPr>
                  <a:t>2</a:t>
                </a:r>
                <a:r>
                  <a:rPr lang="en-US" altLang="zh-TW" sz="1200" b="0" i="0" dirty="0">
                    <a:latin typeface="Cambria Math" panose="02040503050406030204" pitchFamily="18" charset="0"/>
                  </a:rPr>
                  <a:t>+(</a:t>
                </a:r>
                <a:r>
                  <a:rPr lang="en-US" altLang="zh-TW" sz="1200" i="0">
                    <a:latin typeface="Cambria Math" panose="02040503050406030204" pitchFamily="18" charset="0"/>
                  </a:rPr>
                  <a:t>1/(𝑛_𝑜^2 )+𝑟</a:t>
                </a:r>
                <a:r>
                  <a:rPr lang="en-US" altLang="zh-TW" sz="1200" i="0" baseline="-25000">
                    <a:latin typeface="Cambria Math" panose="02040503050406030204" pitchFamily="18" charset="0"/>
                  </a:rPr>
                  <a:t>22</a:t>
                </a:r>
                <a:r>
                  <a:rPr lang="en-US" altLang="zh-TW" sz="1200" i="0">
                    <a:latin typeface="Cambria Math" panose="02040503050406030204" pitchFamily="18" charset="0"/>
                  </a:rPr>
                  <a:t>E</a:t>
                </a:r>
                <a:r>
                  <a:rPr lang="en-US" altLang="zh-TW" sz="1200" i="0" baseline="-25000">
                    <a:latin typeface="Cambria Math" panose="02040503050406030204" pitchFamily="18" charset="0"/>
                  </a:rPr>
                  <a:t>𝑦</a:t>
                </a:r>
                <a:r>
                  <a:rPr lang="en-US" altLang="zh-TW" sz="1200" dirty="0"/>
                  <a:t>)</a:t>
                </a:r>
                <a:r>
                  <a:rPr lang="en-US" altLang="zh-TW" sz="1200" b="0" i="0" dirty="0">
                    <a:latin typeface="Cambria Math" panose="02040503050406030204" pitchFamily="18" charset="0"/>
                  </a:rPr>
                  <a:t>𝑦</a:t>
                </a:r>
                <a:r>
                  <a:rPr lang="en-US" altLang="zh-TW" sz="1200" b="0" i="0" baseline="30000" dirty="0">
                    <a:latin typeface="Cambria Math" panose="02040503050406030204" pitchFamily="18" charset="0"/>
                  </a:rPr>
                  <a:t>2</a:t>
                </a:r>
                <a:r>
                  <a:rPr lang="en-US" altLang="zh-TW" sz="1200" b="0" i="0" dirty="0">
                    <a:latin typeface="Cambria Math" panose="02040503050406030204" pitchFamily="18" charset="0"/>
                  </a:rPr>
                  <a:t>+(</a:t>
                </a:r>
                <a:r>
                  <a:rPr lang="en-US" altLang="zh-TW" sz="1200" i="0">
                    <a:latin typeface="Cambria Math" panose="02040503050406030204" pitchFamily="18" charset="0"/>
                  </a:rPr>
                  <a:t>1/(𝑛_𝑒^2 )</a:t>
                </a:r>
                <a:r>
                  <a:rPr lang="en-US" altLang="zh-TW" sz="1200" dirty="0"/>
                  <a:t>)</a:t>
                </a:r>
                <a:r>
                  <a:rPr lang="en-US" altLang="zh-TW" sz="1200" b="0" i="0" dirty="0">
                    <a:latin typeface="Cambria Math" panose="02040503050406030204" pitchFamily="18" charset="0"/>
                  </a:rPr>
                  <a:t>𝑧</a:t>
                </a:r>
                <a:r>
                  <a:rPr lang="en-US" altLang="zh-TW" sz="1200" b="0" i="0" baseline="30000" dirty="0">
                    <a:latin typeface="Cambria Math" panose="02040503050406030204" pitchFamily="18" charset="0"/>
                  </a:rPr>
                  <a:t>2</a:t>
                </a:r>
                <a:r>
                  <a:rPr lang="en-US" altLang="zh-TW" sz="1200" b="0" i="0" dirty="0">
                    <a:latin typeface="Cambria Math" panose="02040503050406030204" pitchFamily="18" charset="0"/>
                  </a:rPr>
                  <a:t>+(2</a:t>
                </a:r>
                <a:r>
                  <a:rPr lang="en-US" altLang="zh-TW" sz="1200" i="0">
                    <a:latin typeface="Cambria Math" panose="02040503050406030204" pitchFamily="18" charset="0"/>
                  </a:rPr>
                  <a:t>𝑟</a:t>
                </a:r>
                <a:r>
                  <a:rPr lang="en-US" altLang="zh-TW" sz="1200" i="0" baseline="-25000">
                    <a:latin typeface="Cambria Math" panose="02040503050406030204" pitchFamily="18" charset="0"/>
                  </a:rPr>
                  <a:t>51</a:t>
                </a:r>
                <a:r>
                  <a:rPr lang="en-US" altLang="zh-TW" sz="1200" i="0">
                    <a:latin typeface="Cambria Math" panose="02040503050406030204" pitchFamily="18" charset="0"/>
                  </a:rPr>
                  <a:t>𝐸</a:t>
                </a:r>
                <a:r>
                  <a:rPr lang="en-US" altLang="zh-TW" sz="1200" i="0" baseline="-25000">
                    <a:latin typeface="Cambria Math" panose="02040503050406030204" pitchFamily="18" charset="0"/>
                  </a:rPr>
                  <a:t>𝑦</a:t>
                </a:r>
                <a:r>
                  <a:rPr lang="en-US" altLang="zh-TW" sz="1200" b="0" i="0">
                    <a:latin typeface="Cambria Math" panose="02040503050406030204" pitchFamily="18" charset="0"/>
                  </a:rPr>
                  <a:t>)</a:t>
                </a:r>
                <a:r>
                  <a:rPr lang="en-US" altLang="zh-TW" sz="1200" b="0" i="0" dirty="0">
                    <a:latin typeface="Cambria Math" panose="02040503050406030204" pitchFamily="18" charset="0"/>
                  </a:rPr>
                  <a:t>𝑦𝑧</a:t>
                </a:r>
                <a:r>
                  <a:rPr lang="en-US" altLang="zh-TW" sz="1200" dirty="0"/>
                  <a:t> = 1</a:t>
                </a:r>
              </a:p>
              <a:p>
                <a:pPr marL="0" indent="0">
                  <a:buNone/>
                </a:pPr>
                <a:r>
                  <a:rPr lang="zh-TW" altLang="en-US" sz="1200" dirty="0"/>
                  <a:t>因折射率橢球多出一項光軸璇轉項</a:t>
                </a:r>
                <a:r>
                  <a:rPr lang="en-US" altLang="zh-TW" sz="1200" b="0" i="0" dirty="0">
                    <a:latin typeface="Cambria Math" panose="02040503050406030204" pitchFamily="18" charset="0"/>
                  </a:rPr>
                  <a:t>(2</a:t>
                </a:r>
                <a:r>
                  <a:rPr lang="en-US" altLang="zh-TW" sz="1200" i="0">
                    <a:latin typeface="Cambria Math" panose="02040503050406030204" pitchFamily="18" charset="0"/>
                  </a:rPr>
                  <a:t>𝑟</a:t>
                </a:r>
                <a:r>
                  <a:rPr lang="en-US" altLang="zh-TW" sz="1200" i="0" baseline="-25000">
                    <a:latin typeface="Cambria Math" panose="02040503050406030204" pitchFamily="18" charset="0"/>
                  </a:rPr>
                  <a:t>51</a:t>
                </a:r>
                <a:r>
                  <a:rPr lang="en-US" altLang="zh-TW" sz="1200" i="0">
                    <a:latin typeface="Cambria Math" panose="02040503050406030204" pitchFamily="18" charset="0"/>
                  </a:rPr>
                  <a:t>𝐸</a:t>
                </a:r>
                <a:r>
                  <a:rPr lang="en-US" altLang="zh-TW" sz="1200" i="0" baseline="-25000">
                    <a:latin typeface="Cambria Math" panose="02040503050406030204" pitchFamily="18" charset="0"/>
                  </a:rPr>
                  <a:t>𝑦</a:t>
                </a:r>
                <a:r>
                  <a:rPr lang="en-US" altLang="zh-TW" sz="1200" b="0" i="0">
                    <a:latin typeface="Cambria Math" panose="02040503050406030204" pitchFamily="18" charset="0"/>
                  </a:rPr>
                  <a:t>)</a:t>
                </a:r>
                <a:r>
                  <a:rPr lang="en-US" altLang="zh-TW" sz="1200" b="0" i="0" dirty="0">
                    <a:latin typeface="Cambria Math" panose="02040503050406030204" pitchFamily="18" charset="0"/>
                  </a:rPr>
                  <a:t>𝑦𝑧</a:t>
                </a:r>
                <a:r>
                  <a:rPr lang="zh-TW" altLang="en-US" sz="1200" i="0" dirty="0">
                    <a:latin typeface="Cambria Math" panose="02040503050406030204" pitchFamily="18" charset="0"/>
                  </a:rPr>
                  <a:t>，所以我們沿</a:t>
                </a:r>
                <a:r>
                  <a:rPr lang="en-US" altLang="zh-TW" sz="1200" b="0" i="0" dirty="0">
                    <a:latin typeface="Cambria Math" panose="02040503050406030204" pitchFamily="18" charset="0"/>
                  </a:rPr>
                  <a:t>𝑦𝑧</a:t>
                </a:r>
                <a:r>
                  <a:rPr lang="zh-TW" altLang="en-US" sz="1200" i="0" dirty="0">
                    <a:latin typeface="Cambria Math" panose="02040503050406030204" pitchFamily="18" charset="0"/>
                  </a:rPr>
                  <a:t>平面旋轉光軸</a:t>
                </a:r>
                <a:r>
                  <a:rPr lang="zh-TW" altLang="en-US" sz="1200" dirty="0"/>
                  <a:t>一角度</a:t>
                </a:r>
                <a:r>
                  <a:rPr lang="zh-TW" altLang="en-US" sz="1200" i="0">
                    <a:latin typeface="Cambria Math" panose="02040503050406030204" pitchFamily="18" charset="0"/>
                  </a:rPr>
                  <a:t>𝜃</a:t>
                </a:r>
                <a:r>
                  <a:rPr lang="zh-TW" altLang="en-US" sz="1200" dirty="0"/>
                  <a:t>重新定義新的座標軸</a:t>
                </a:r>
                <a:r>
                  <a:rPr lang="en-US" altLang="zh-TW" sz="1200" dirty="0"/>
                  <a:t>:</a:t>
                </a:r>
              </a:p>
              <a:p>
                <a:pPr marL="0" indent="0">
                  <a:buNone/>
                </a:pPr>
                <a:r>
                  <a:rPr lang="en-US" altLang="zh-TW" sz="1200" i="0">
                    <a:latin typeface="Cambria Math" panose="02040503050406030204" pitchFamily="18" charset="0"/>
                  </a:rPr>
                  <a:t>[■8(</a:t>
                </a:r>
                <a:r>
                  <a:rPr lang="en-US" altLang="zh-TW" sz="1200" b="0" i="0">
                    <a:latin typeface="Cambria Math" panose="02040503050406030204" pitchFamily="18" charset="0"/>
                  </a:rPr>
                  <a:t>𝑦@𝑧)]</a:t>
                </a:r>
                <a:r>
                  <a:rPr lang="zh-TW" altLang="en-US" sz="1200" dirty="0"/>
                  <a:t> </a:t>
                </a:r>
                <a:r>
                  <a:rPr lang="en-US" altLang="zh-TW" sz="1200" dirty="0"/>
                  <a:t>=</a:t>
                </a:r>
                <a:r>
                  <a:rPr lang="zh-TW" altLang="en-US" sz="1200" dirty="0"/>
                  <a:t> </a:t>
                </a:r>
                <a:r>
                  <a:rPr lang="en-US" altLang="zh-TW" sz="1200" i="0">
                    <a:latin typeface="Cambria Math" panose="02040503050406030204" pitchFamily="18" charset="0"/>
                  </a:rPr>
                  <a:t>[■8(cos⁡</a:t>
                </a:r>
                <a:r>
                  <a:rPr lang="zh-TW" altLang="en-US" sz="1200" i="0">
                    <a:latin typeface="Cambria Math" panose="02040503050406030204" pitchFamily="18" charset="0"/>
                  </a:rPr>
                  <a:t>𝜃&amp;</a:t>
                </a:r>
                <a:r>
                  <a:rPr lang="en-US" altLang="zh-TW" sz="1200" b="0" i="0">
                    <a:latin typeface="Cambria Math" panose="02040503050406030204" pitchFamily="18" charset="0"/>
                  </a:rPr>
                  <a:t>−</a:t>
                </a:r>
                <a:r>
                  <a:rPr lang="en-US" altLang="zh-TW" sz="1200" i="0">
                    <a:latin typeface="Cambria Math" panose="02040503050406030204" pitchFamily="18" charset="0"/>
                  </a:rPr>
                  <a:t>sin⁡</a:t>
                </a:r>
                <a:r>
                  <a:rPr lang="zh-TW" altLang="en-US" sz="1200" i="0">
                    <a:latin typeface="Cambria Math" panose="02040503050406030204" pitchFamily="18" charset="0"/>
                  </a:rPr>
                  <a:t>𝜃@</a:t>
                </a:r>
                <a:r>
                  <a:rPr lang="en-US" altLang="zh-TW" sz="1200" i="0">
                    <a:latin typeface="Cambria Math" panose="02040503050406030204" pitchFamily="18" charset="0"/>
                  </a:rPr>
                  <a:t>sin⁡</a:t>
                </a:r>
                <a:r>
                  <a:rPr lang="zh-TW" altLang="en-US" sz="1200" i="0">
                    <a:latin typeface="Cambria Math" panose="02040503050406030204" pitchFamily="18" charset="0"/>
                  </a:rPr>
                  <a:t>𝜃&amp;</a:t>
                </a:r>
                <a:r>
                  <a:rPr lang="en-US" altLang="zh-TW" sz="1200" i="0">
                    <a:latin typeface="Cambria Math" panose="02040503050406030204" pitchFamily="18" charset="0"/>
                  </a:rPr>
                  <a:t>cos⁡</a:t>
                </a:r>
                <a:r>
                  <a:rPr lang="zh-TW" altLang="en-US" sz="1200" i="0">
                    <a:latin typeface="Cambria Math" panose="02040503050406030204" pitchFamily="18" charset="0"/>
                  </a:rPr>
                  <a:t>𝜃 )]</a:t>
                </a:r>
                <a:r>
                  <a:rPr lang="en-US" altLang="zh-TW" sz="1200" i="0">
                    <a:latin typeface="Cambria Math" panose="02040503050406030204" pitchFamily="18" charset="0"/>
                  </a:rPr>
                  <a:t>[■8(</a:t>
                </a:r>
                <a:r>
                  <a:rPr lang="en-US" altLang="zh-TW" sz="1200" b="0" i="0">
                    <a:latin typeface="Cambria Math" panose="02040503050406030204" pitchFamily="18" charset="0"/>
                  </a:rPr>
                  <a:t>𝑦′@𝑧′)]</a:t>
                </a:r>
                <a:endParaRPr lang="en-US" altLang="zh-TW"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1200" dirty="0">
                  <a:latin typeface="Times New Roman" panose="02020603050405020304" pitchFamily="18" charset="0"/>
                  <a:cs typeface="Times New Roman" panose="02020603050405020304" pitchFamily="18" charset="0"/>
                </a:endParaRPr>
              </a:p>
              <a:p>
                <a:pPr marL="0" indent="0">
                  <a:buNone/>
                </a:pPr>
                <a:endParaRPr lang="zh-TW" altLang="en-US" dirty="0"/>
              </a:p>
            </p:txBody>
          </p:sp>
        </mc:Fallback>
      </mc:AlternateContent>
      <p:sp>
        <p:nvSpPr>
          <p:cNvPr id="4" name="投影片編號版面配置區 3"/>
          <p:cNvSpPr>
            <a:spLocks noGrp="1"/>
          </p:cNvSpPr>
          <p:nvPr>
            <p:ph type="sldNum" sz="quarter" idx="5"/>
          </p:nvPr>
        </p:nvSpPr>
        <p:spPr/>
        <p:txBody>
          <a:bodyPr/>
          <a:lstStyle/>
          <a:p>
            <a:fld id="{7015F893-DC37-4D86-87E6-4581D5262153}" type="slidenum">
              <a:rPr lang="zh-TW" altLang="en-US" smtClean="0"/>
              <a:t>20</a:t>
            </a:fld>
            <a:endParaRPr lang="zh-TW" altLang="en-US"/>
          </a:p>
        </p:txBody>
      </p:sp>
    </p:spTree>
    <p:extLst>
      <p:ext uri="{BB962C8B-B14F-4D97-AF65-F5344CB8AC3E}">
        <p14:creationId xmlns:p14="http://schemas.microsoft.com/office/powerpoint/2010/main" val="11945390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其達到偏振模態轉換的機制與索爾克濾波器相似，索爾克濾波器原理為當輸入一</a:t>
            </a:r>
            <a:r>
              <a:rPr lang="en-US" altLang="zh-TW" dirty="0"/>
              <a:t>TM</a:t>
            </a:r>
            <a:r>
              <a:rPr lang="zh-TW" altLang="en-US" dirty="0"/>
              <a:t>垂直偏振的光進入這樣一旋轉正負</a:t>
            </a:r>
            <a:r>
              <a:rPr lang="en-US" altLang="zh-TW" dirty="0"/>
              <a:t>θ</a:t>
            </a:r>
            <a:r>
              <a:rPr lang="zh-TW" altLang="en-US" dirty="0"/>
              <a:t>且厚度為</a:t>
            </a:r>
            <a:r>
              <a:rPr lang="en-US" altLang="zh-TW" dirty="0"/>
              <a:t>t</a:t>
            </a:r>
            <a:r>
              <a:rPr lang="zh-TW" altLang="en-US" dirty="0"/>
              <a:t>週期性的交錯排列半波版後，史的我最後出來的光與入射光偏振互為正交，所以概念上我們就是將這樣的結構坐在</a:t>
            </a:r>
            <a:r>
              <a:rPr lang="en-US" altLang="zh-TW" dirty="0"/>
              <a:t>LN</a:t>
            </a:r>
            <a:r>
              <a:rPr lang="zh-TW" altLang="en-US" dirty="0"/>
              <a:t>晶體上，藉由施加</a:t>
            </a:r>
            <a:r>
              <a:rPr lang="en-US" altLang="zh-TW" dirty="0"/>
              <a:t>y</a:t>
            </a:r>
            <a:r>
              <a:rPr lang="zh-TW" altLang="en-US" dirty="0"/>
              <a:t>方向電場使得</a:t>
            </a:r>
            <a:r>
              <a:rPr lang="en-US" altLang="zh-TW" dirty="0"/>
              <a:t>LN</a:t>
            </a:r>
            <a:r>
              <a:rPr lang="zh-TW" altLang="en-US" dirty="0"/>
              <a:t>光軸</a:t>
            </a:r>
            <a:r>
              <a:rPr lang="en-US" altLang="zh-TW" dirty="0"/>
              <a:t>+θ</a:t>
            </a:r>
            <a:r>
              <a:rPr lang="zh-TW" altLang="en-US" dirty="0"/>
              <a:t>與−</a:t>
            </a:r>
            <a:r>
              <a:rPr lang="en-US" altLang="zh-TW" dirty="0"/>
              <a:t>θ</a:t>
            </a:r>
            <a:r>
              <a:rPr lang="zh-TW" altLang="en-US" dirty="0"/>
              <a:t>角的交錯旋轉，進而達到偏振模態的改變</a:t>
            </a:r>
            <a:endParaRPr lang="en-US" altLang="zh-TW" dirty="0"/>
          </a:p>
          <a:p>
            <a:endParaRPr lang="en-US" altLang="zh-TW" dirty="0"/>
          </a:p>
          <a:p>
            <a:r>
              <a:rPr lang="zh-TW" altLang="en-US" dirty="0"/>
              <a:t>光若經過一個週期的半波板</a:t>
            </a:r>
            <a:r>
              <a:rPr lang="en-US" altLang="zh-TW" dirty="0"/>
              <a:t>(+θ</a:t>
            </a:r>
            <a:r>
              <a:rPr lang="zh-TW" altLang="en-US" dirty="0"/>
              <a:t>、−</a:t>
            </a:r>
            <a:r>
              <a:rPr lang="en-US" altLang="zh-TW" dirty="0"/>
              <a:t>θ)</a:t>
            </a:r>
            <a:r>
              <a:rPr lang="zh-TW" altLang="en-US" dirty="0"/>
              <a:t>，偏振光就會旋轉</a:t>
            </a:r>
            <a:r>
              <a:rPr lang="en-US" altLang="zh-TW" dirty="0"/>
              <a:t>4θ</a:t>
            </a:r>
            <a:r>
              <a:rPr lang="zh-TW" altLang="en-US" dirty="0"/>
              <a:t>角，如果有 </a:t>
            </a:r>
            <a:r>
              <a:rPr lang="en-US" altLang="zh-TW" dirty="0"/>
              <a:t>N </a:t>
            </a:r>
            <a:r>
              <a:rPr lang="zh-TW" altLang="en-US" dirty="0"/>
              <a:t>個週期的</a:t>
            </a:r>
          </a:p>
          <a:p>
            <a:r>
              <a:rPr lang="zh-TW" altLang="en-US" dirty="0"/>
              <a:t>半波板，偏振光就會旋轉</a:t>
            </a:r>
            <a:r>
              <a:rPr lang="en-US" altLang="zh-TW" dirty="0"/>
              <a:t>4Nθ</a:t>
            </a:r>
            <a:r>
              <a:rPr lang="zh-TW" altLang="en-US" dirty="0"/>
              <a:t>角</a:t>
            </a:r>
            <a:endParaRPr lang="en-US" altLang="zh-TW" dirty="0"/>
          </a:p>
          <a:p>
            <a:r>
              <a:rPr lang="en-US" altLang="zh-TW" dirty="0"/>
              <a:t>(</a:t>
            </a:r>
            <a:r>
              <a:rPr lang="zh-TW" altLang="en-US" sz="1200" b="0" i="0" u="none" strike="noStrike" kern="1200" baseline="0" dirty="0">
                <a:solidFill>
                  <a:schemeClr val="tx1"/>
                </a:solidFill>
                <a:latin typeface="+mn-lt"/>
                <a:ea typeface="+mn-ea"/>
                <a:cs typeface="+mn-cs"/>
              </a:rPr>
              <a:t>當每片半波版厚度滿足</a:t>
            </a:r>
            <a:r>
              <a:rPr lang="en-US" altLang="zh-TW" sz="1200" b="0" i="0" u="none" strike="noStrike" kern="1200" baseline="0" dirty="0">
                <a:solidFill>
                  <a:schemeClr val="tx1"/>
                </a:solidFill>
                <a:latin typeface="+mn-lt"/>
                <a:ea typeface="+mn-ea"/>
                <a:cs typeface="+mn-cs"/>
              </a:rPr>
              <a:t>t</a:t>
            </a:r>
            <a:r>
              <a:rPr lang="zh-TW" altLang="en-US" sz="1200" b="0" i="0" u="none" strike="noStrike" kern="1200" baseline="0" dirty="0">
                <a:solidFill>
                  <a:schemeClr val="tx1"/>
                </a:solidFill>
                <a:latin typeface="+mn-lt"/>
                <a:ea typeface="+mn-ea"/>
                <a:cs typeface="+mn-cs"/>
              </a:rPr>
              <a:t>時</a:t>
            </a:r>
            <a:r>
              <a:rPr lang="en-US" altLang="zh-TW" sz="1200" b="0" i="0" u="none" strike="noStrike" kern="1200" baseline="0" dirty="0">
                <a:solidFill>
                  <a:schemeClr val="tx1"/>
                </a:solidFill>
                <a:latin typeface="+mn-lt"/>
                <a:ea typeface="+mn-ea"/>
                <a:cs typeface="+mn-cs"/>
              </a:rPr>
              <a:t>, </a:t>
            </a:r>
            <a:r>
              <a:rPr lang="zh-TW" altLang="en-US" dirty="0"/>
              <a:t>經過第一、二半波板後輸出的偏振光就會與原垂直偏振光夾</a:t>
            </a:r>
            <a:r>
              <a:rPr lang="en-US" altLang="zh-TW" dirty="0"/>
              <a:t>4θ</a:t>
            </a:r>
            <a:r>
              <a:rPr lang="zh-TW" altLang="en-US" dirty="0"/>
              <a:t>角</a:t>
            </a:r>
            <a:r>
              <a:rPr lang="en-US" altLang="zh-TW" dirty="0"/>
              <a:t>, </a:t>
            </a:r>
            <a:r>
              <a:rPr lang="zh-TW" altLang="en-US" dirty="0"/>
              <a:t>以此方式</a:t>
            </a:r>
            <a:r>
              <a:rPr lang="en-US" altLang="zh-TW" dirty="0"/>
              <a:t>cascade</a:t>
            </a:r>
            <a:r>
              <a:rPr lang="zh-TW" altLang="en-US" dirty="0"/>
              <a:t>直到輸出光與輸入光互為正交</a:t>
            </a:r>
            <a:endParaRPr lang="en-US" altLang="zh-TW" dirty="0"/>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21</a:t>
            </a:fld>
            <a:endParaRPr lang="zh-TW" altLang="en-US"/>
          </a:p>
        </p:txBody>
      </p:sp>
    </p:spTree>
    <p:extLst>
      <p:ext uri="{BB962C8B-B14F-4D97-AF65-F5344CB8AC3E}">
        <p14:creationId xmlns:p14="http://schemas.microsoft.com/office/powerpoint/2010/main" val="17944318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一樣這邊與剛上書的家</a:t>
                </a:r>
                <a:r>
                  <a:rPr lang="en-US" altLang="zh-TW" dirty="0"/>
                  <a:t>y</a:t>
                </a:r>
                <a:r>
                  <a:rPr lang="zh-TW" altLang="en-US" dirty="0"/>
                  <a:t>方向電場式子相似，但我們這次為</a:t>
                </a:r>
                <a:r>
                  <a:rPr lang="zh-TW" altLang="zh-TW" sz="1800" kern="1200" dirty="0">
                    <a:solidFill>
                      <a:srgbClr val="000000"/>
                    </a:solidFill>
                    <a:effectLst/>
                    <a:latin typeface="Times New Roman" panose="02020603050405020304" pitchFamily="18" charset="0"/>
                    <a:ea typeface="標楷體" panose="03000509000000000000" pitchFamily="65" charset="-120"/>
                    <a:cs typeface="+mn-cs"/>
                  </a:rPr>
                  <a:t>施加</a:t>
                </a:r>
                <a:r>
                  <a:rPr lang="en-US" altLang="zh-TW" sz="1800" kern="1200" dirty="0">
                    <a:solidFill>
                      <a:srgbClr val="000000"/>
                    </a:solidFill>
                    <a:effectLst/>
                    <a:latin typeface="Times New Roman" panose="02020603050405020304" pitchFamily="18" charset="0"/>
                    <a:ea typeface="標楷體" panose="03000509000000000000" pitchFamily="65" charset="-120"/>
                    <a:cs typeface="+mn-cs"/>
                  </a:rPr>
                  <a:t>z</a:t>
                </a:r>
                <a:r>
                  <a:rPr lang="zh-TW" altLang="en-US" sz="1800" kern="1200" dirty="0">
                    <a:solidFill>
                      <a:srgbClr val="000000"/>
                    </a:solidFill>
                    <a:effectLst/>
                    <a:latin typeface="Times New Roman" panose="02020603050405020304" pitchFamily="18" charset="0"/>
                    <a:ea typeface="標楷體" panose="03000509000000000000" pitchFamily="65" charset="-120"/>
                    <a:cs typeface="+mn-cs"/>
                  </a:rPr>
                  <a:t>方向</a:t>
                </a:r>
                <a:r>
                  <a:rPr lang="zh-TW" altLang="zh-TW" sz="1800" kern="1200" dirty="0">
                    <a:solidFill>
                      <a:srgbClr val="000000"/>
                    </a:solidFill>
                    <a:effectLst/>
                    <a:latin typeface="Times New Roman" panose="02020603050405020304" pitchFamily="18" charset="0"/>
                    <a:ea typeface="標楷體" panose="03000509000000000000" pitchFamily="65" charset="-120"/>
                    <a:cs typeface="+mn-cs"/>
                  </a:rPr>
                  <a:t>電場後</a:t>
                </a:r>
                <a:r>
                  <a:rPr lang="zh-TW" altLang="zh-TW" sz="1200" kern="1200" dirty="0">
                    <a:solidFill>
                      <a:schemeClr val="tx1"/>
                    </a:solidFill>
                    <a:effectLst/>
                    <a:latin typeface="+mn-lt"/>
                    <a:ea typeface="+mn-ea"/>
                    <a:cs typeface="+mn-cs"/>
                  </a:rPr>
                  <a:t>介電張量的變化量∆ </a:t>
                </a:r>
                <a14:m>
                  <m:oMath xmlns:m="http://schemas.openxmlformats.org/officeDocument/2006/math">
                    <m:acc>
                      <m:accPr>
                        <m:chr m:val="⃡"/>
                        <m:ctrlPr>
                          <a:rPr lang="zh-TW" altLang="zh-TW" sz="1200" i="1" kern="1200">
                            <a:solidFill>
                              <a:schemeClr val="tx1"/>
                            </a:solidFill>
                            <a:effectLst/>
                            <a:latin typeface="Cambria Math" panose="02040503050406030204" pitchFamily="18" charset="0"/>
                            <a:ea typeface="+mn-ea"/>
                            <a:cs typeface="+mn-cs"/>
                          </a:rPr>
                        </m:ctrlPr>
                      </m:accPr>
                      <m:e>
                        <m:r>
                          <m:rPr>
                            <m:sty m:val="p"/>
                          </m:rPr>
                          <a:rPr lang="en-US" altLang="zh-TW" sz="1200" kern="1200">
                            <a:solidFill>
                              <a:schemeClr val="tx1"/>
                            </a:solidFill>
                            <a:effectLst/>
                            <a:latin typeface="Cambria Math" panose="02040503050406030204" pitchFamily="18" charset="0"/>
                            <a:ea typeface="+mn-ea"/>
                            <a:cs typeface="+mn-cs"/>
                          </a:rPr>
                          <m:t>η</m:t>
                        </m:r>
                      </m:e>
                    </m:acc>
                    <m:r>
                      <a:rPr lang="en-US" altLang="zh-TW" sz="1200" i="1" kern="1200">
                        <a:solidFill>
                          <a:schemeClr val="tx1"/>
                        </a:solidFill>
                        <a:effectLst/>
                        <a:latin typeface="Cambria Math" panose="02040503050406030204" pitchFamily="18" charset="0"/>
                        <a:ea typeface="+mn-ea"/>
                        <a:cs typeface="+mn-cs"/>
                      </a:rPr>
                      <m:t> </m:t>
                    </m:r>
                  </m:oMath>
                </a14:m>
                <a:r>
                  <a:rPr lang="en-US" altLang="zh-TW" sz="1200" kern="1200" baseline="-25000" dirty="0" err="1">
                    <a:solidFill>
                      <a:schemeClr val="tx1"/>
                    </a:solidFill>
                    <a:effectLst/>
                    <a:latin typeface="+mn-lt"/>
                    <a:ea typeface="+mn-ea"/>
                    <a:cs typeface="+mn-cs"/>
                  </a:rPr>
                  <a:t>ij</a:t>
                </a:r>
                <a:r>
                  <a:rPr lang="zh-TW" altLang="zh-TW" sz="1200" kern="1200" dirty="0">
                    <a:solidFill>
                      <a:schemeClr val="tx1"/>
                    </a:solidFill>
                    <a:effectLst/>
                    <a:latin typeface="+mn-lt"/>
                    <a:ea typeface="+mn-ea"/>
                    <a:cs typeface="+mn-cs"/>
                  </a:rPr>
                  <a:t>以</a:t>
                </a:r>
                <a:r>
                  <a:rPr lang="zh-TW" altLang="en-US" sz="1200" kern="1200" dirty="0">
                    <a:solidFill>
                      <a:schemeClr val="tx1"/>
                    </a:solidFill>
                    <a:effectLst/>
                    <a:latin typeface="+mn-lt"/>
                    <a:ea typeface="+mn-ea"/>
                    <a:cs typeface="+mn-cs"/>
                  </a:rPr>
                  <a:t>這樣的</a:t>
                </a:r>
                <a:r>
                  <a:rPr lang="zh-TW" altLang="zh-TW" sz="1200" kern="1200" dirty="0">
                    <a:solidFill>
                      <a:schemeClr val="tx1"/>
                    </a:solidFill>
                    <a:effectLst/>
                    <a:latin typeface="+mn-lt"/>
                    <a:ea typeface="+mn-ea"/>
                    <a:cs typeface="+mn-cs"/>
                  </a:rPr>
                  <a:t>矩陣表示</a:t>
                </a:r>
                <a:endParaRPr lang="en-US" altLang="zh-TW"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latin typeface="Times New Roman" panose="02020603050405020304" pitchFamily="18" charset="0"/>
                    <a:cs typeface="Times New Roman" panose="02020603050405020304" pitchFamily="18" charset="0"/>
                  </a:rPr>
                  <a:t>所以會得到這樣的矩陣結果</a:t>
                </a:r>
                <a:r>
                  <a:rPr lang="en-US" altLang="zh-TW" sz="1200" dirty="0">
                    <a:latin typeface="arial" panose="020B0604020202020204" pitchFamily="34" charset="0"/>
                  </a:rPr>
                  <a:t>∆</a:t>
                </a:r>
                <a14:m>
                  <m:oMath xmlns:m="http://schemas.openxmlformats.org/officeDocument/2006/math">
                    <m:r>
                      <a:rPr lang="zh-TW" altLang="en-US" i="1">
                        <a:latin typeface="Cambria Math" panose="02040503050406030204" pitchFamily="18" charset="0"/>
                      </a:rPr>
                      <m:t>𝞰</m:t>
                    </m:r>
                  </m:oMath>
                </a14:m>
                <a:r>
                  <a:rPr lang="en-US" altLang="zh-TW" baseline="-25000" dirty="0" err="1"/>
                  <a:t>ij</a:t>
                </a:r>
                <a:r>
                  <a:rPr lang="en-US" altLang="zh-TW" dirty="0"/>
                  <a:t>(</a:t>
                </a:r>
                <a14:m>
                  <m:oMath xmlns:m="http://schemas.openxmlformats.org/officeDocument/2006/math">
                    <m:r>
                      <a:rPr lang="en-US" altLang="zh-TW" i="1">
                        <a:latin typeface="Cambria Math" panose="02040503050406030204" pitchFamily="18" charset="0"/>
                      </a:rPr>
                      <m:t>𝐸</m:t>
                    </m:r>
                    <m:r>
                      <a:rPr lang="en-US" altLang="zh-TW" b="0" i="1" baseline="-25000" smtClean="0">
                        <a:latin typeface="Cambria Math" panose="02040503050406030204" pitchFamily="18" charset="0"/>
                      </a:rPr>
                      <m:t>𝑧</m:t>
                    </m:r>
                  </m:oMath>
                </a14:m>
                <a:r>
                  <a:rPr lang="en-US" altLang="zh-TW" dirty="0"/>
                  <a:t>) </a:t>
                </a:r>
                <a:endParaRPr lang="en-US" altLang="zh-TW"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latin typeface="Times New Roman" panose="02020603050405020304" pitchFamily="18" charset="0"/>
                    <a:cs typeface="Times New Roman" panose="02020603050405020304" pitchFamily="18" charset="0"/>
                  </a:rPr>
                  <a:t>所以我們最後可以得到這樣的矩陣</a:t>
                </a:r>
                <a14:m>
                  <m:oMath xmlns:m="http://schemas.openxmlformats.org/officeDocument/2006/math">
                    <m:r>
                      <a:rPr lang="zh-TW" altLang="en-US" i="1" smtClean="0">
                        <a:latin typeface="Cambria Math" panose="02040503050406030204" pitchFamily="18" charset="0"/>
                      </a:rPr>
                      <m:t>𝞰</m:t>
                    </m:r>
                  </m:oMath>
                </a14:m>
                <a:r>
                  <a:rPr lang="en-US" altLang="zh-TW" baseline="-25000" dirty="0" err="1"/>
                  <a:t>ij</a:t>
                </a:r>
                <a:r>
                  <a:rPr lang="en-US" altLang="zh-TW" sz="1200" dirty="0"/>
                  <a:t>(</a:t>
                </a:r>
                <a14:m>
                  <m:oMath xmlns:m="http://schemas.openxmlformats.org/officeDocument/2006/math">
                    <m:r>
                      <a:rPr lang="en-US" altLang="zh-TW" i="1">
                        <a:latin typeface="Cambria Math" panose="02040503050406030204" pitchFamily="18" charset="0"/>
                      </a:rPr>
                      <m:t>𝐸</m:t>
                    </m:r>
                    <m:r>
                      <a:rPr lang="en-US" altLang="zh-TW" b="0" i="1" baseline="-25000" smtClean="0">
                        <a:latin typeface="Cambria Math" panose="02040503050406030204" pitchFamily="18" charset="0"/>
                      </a:rPr>
                      <m:t>𝑧</m:t>
                    </m:r>
                  </m:oMath>
                </a14:m>
                <a:r>
                  <a:rPr lang="en-US" altLang="zh-TW" sz="1200" dirty="0"/>
                  <a:t>)</a:t>
                </a:r>
                <a:r>
                  <a:rPr lang="zh-TW" altLang="en-US" sz="1200" dirty="0"/>
                  <a:t> </a:t>
                </a:r>
                <a:endParaRPr lang="en-US" altLang="zh-TW" sz="1200" dirty="0">
                  <a:latin typeface="Times New Roman" panose="02020603050405020304" pitchFamily="18" charset="0"/>
                  <a:cs typeface="Times New Roman" panose="02020603050405020304" pitchFamily="18" charset="0"/>
                </a:endParaRPr>
              </a:p>
              <a:p>
                <a:pPr marL="0" indent="0">
                  <a:buNone/>
                </a:pPr>
                <a:r>
                  <a:rPr lang="zh-TW" altLang="en-US" sz="1200" dirty="0"/>
                  <a:t>所以我們將其整理成橢球方程式後</a:t>
                </a:r>
                <a:r>
                  <a:rPr lang="en-US" altLang="zh-TW" sz="120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kern="1200" dirty="0">
                    <a:solidFill>
                      <a:srgbClr val="000000"/>
                    </a:solidFill>
                    <a:effectLst/>
                    <a:latin typeface="Times New Roman" panose="02020603050405020304" pitchFamily="18" charset="0"/>
                    <a:ea typeface="標楷體" panose="03000509000000000000" pitchFamily="65" charset="-120"/>
                    <a:cs typeface="+mn-cs"/>
                  </a:rPr>
                  <a:t>所以當施加</a:t>
                </a:r>
                <a:r>
                  <a:rPr lang="en-US" altLang="zh-TW" sz="1800" kern="1200" dirty="0">
                    <a:solidFill>
                      <a:srgbClr val="000000"/>
                    </a:solidFill>
                    <a:effectLst/>
                    <a:latin typeface="Times New Roman" panose="02020603050405020304" pitchFamily="18" charset="0"/>
                    <a:ea typeface="標楷體" panose="03000509000000000000" pitchFamily="65" charset="-120"/>
                    <a:cs typeface="+mn-cs"/>
                  </a:rPr>
                  <a:t>z</a:t>
                </a:r>
                <a:r>
                  <a:rPr lang="zh-TW" altLang="zh-TW" sz="1800" kern="1200" dirty="0">
                    <a:solidFill>
                      <a:srgbClr val="000000"/>
                    </a:solidFill>
                    <a:effectLst/>
                    <a:latin typeface="Times New Roman" panose="02020603050405020304" pitchFamily="18" charset="0"/>
                    <a:ea typeface="標楷體" panose="03000509000000000000" pitchFamily="65" charset="-120"/>
                    <a:cs typeface="+mn-cs"/>
                  </a:rPr>
                  <a:t>方向電場時其</a:t>
                </a:r>
                <a14:m>
                  <m:oMath xmlns:m="http://schemas.openxmlformats.org/officeDocument/2006/math">
                    <m:sSub>
                      <m:sSubPr>
                        <m:ctrlPr>
                          <a:rPr lang="zh-TW" altLang="zh-TW" sz="1800" i="1" kern="1200">
                            <a:solidFill>
                              <a:srgbClr val="000000"/>
                            </a:solidFill>
                            <a:effectLst/>
                            <a:latin typeface="Cambria Math" panose="02040503050406030204" pitchFamily="18" charset="0"/>
                            <a:ea typeface="Cambria Math" panose="02040503050406030204" pitchFamily="18" charset="0"/>
                            <a:cs typeface="+mn-cs"/>
                          </a:rPr>
                        </m:ctrlPr>
                      </m:sSubPr>
                      <m:e>
                        <m:r>
                          <a:rPr lang="en-US" altLang="zh-TW" sz="1800" i="1" kern="1200">
                            <a:solidFill>
                              <a:srgbClr val="000000"/>
                            </a:solidFill>
                            <a:effectLst/>
                            <a:latin typeface="Cambria Math" panose="02040503050406030204" pitchFamily="18" charset="0"/>
                            <a:ea typeface="標楷體" panose="03000509000000000000" pitchFamily="65" charset="-120"/>
                            <a:cs typeface="+mn-cs"/>
                          </a:rPr>
                          <m:t>𝑛</m:t>
                        </m:r>
                      </m:e>
                      <m:sub>
                        <m:r>
                          <a:rPr lang="en-US" altLang="zh-TW" sz="1800" i="1" kern="1200">
                            <a:solidFill>
                              <a:srgbClr val="000000"/>
                            </a:solidFill>
                            <a:effectLst/>
                            <a:latin typeface="Cambria Math" panose="02040503050406030204" pitchFamily="18" charset="0"/>
                            <a:ea typeface="標楷體" panose="03000509000000000000" pitchFamily="65" charset="-120"/>
                            <a:cs typeface="+mn-cs"/>
                          </a:rPr>
                          <m:t>𝑒</m:t>
                        </m:r>
                      </m:sub>
                    </m:sSub>
                    <m:r>
                      <a:rPr lang="en-US" altLang="zh-TW" sz="1800" i="1" kern="1200">
                        <a:solidFill>
                          <a:srgbClr val="000000"/>
                        </a:solidFill>
                        <a:effectLst/>
                        <a:latin typeface="Cambria Math" panose="02040503050406030204" pitchFamily="18" charset="0"/>
                        <a:ea typeface="標楷體" panose="03000509000000000000" pitchFamily="65" charset="-120"/>
                        <a:cs typeface="+mn-cs"/>
                      </a:rPr>
                      <m:t> </m:t>
                    </m:r>
                  </m:oMath>
                </a14:m>
                <a:r>
                  <a:rPr lang="zh-TW" altLang="zh-TW" sz="1800" kern="1200" dirty="0">
                    <a:solidFill>
                      <a:srgbClr val="000000"/>
                    </a:solidFill>
                    <a:effectLst/>
                    <a:latin typeface="Times New Roman" panose="02020603050405020304" pitchFamily="18" charset="0"/>
                    <a:ea typeface="標楷體" panose="03000509000000000000" pitchFamily="65" charset="-120"/>
                    <a:cs typeface="+mn-cs"/>
                  </a:rPr>
                  <a:t>及</a:t>
                </a:r>
                <a14:m>
                  <m:oMath xmlns:m="http://schemas.openxmlformats.org/officeDocument/2006/math">
                    <m:sSub>
                      <m:sSubPr>
                        <m:ctrlPr>
                          <a:rPr lang="zh-TW" altLang="zh-TW" sz="1800" i="1" kern="1200">
                            <a:solidFill>
                              <a:srgbClr val="000000"/>
                            </a:solidFill>
                            <a:effectLst/>
                            <a:latin typeface="Cambria Math" panose="02040503050406030204" pitchFamily="18" charset="0"/>
                            <a:ea typeface="Cambria Math" panose="02040503050406030204" pitchFamily="18" charset="0"/>
                            <a:cs typeface="+mn-cs"/>
                          </a:rPr>
                        </m:ctrlPr>
                      </m:sSubPr>
                      <m:e>
                        <m:r>
                          <a:rPr lang="en-US" altLang="zh-TW" sz="1800" i="1" kern="1200">
                            <a:solidFill>
                              <a:srgbClr val="000000"/>
                            </a:solidFill>
                            <a:effectLst/>
                            <a:latin typeface="Cambria Math" panose="02040503050406030204" pitchFamily="18" charset="0"/>
                            <a:ea typeface="標楷體" panose="03000509000000000000" pitchFamily="65" charset="-120"/>
                            <a:cs typeface="+mn-cs"/>
                          </a:rPr>
                          <m:t>𝑛</m:t>
                        </m:r>
                      </m:e>
                      <m:sub>
                        <m:r>
                          <a:rPr lang="en-US" altLang="zh-TW" sz="1800" i="1" kern="1200">
                            <a:solidFill>
                              <a:srgbClr val="000000"/>
                            </a:solidFill>
                            <a:effectLst/>
                            <a:latin typeface="Cambria Math" panose="02040503050406030204" pitchFamily="18" charset="0"/>
                            <a:ea typeface="標楷體" panose="03000509000000000000" pitchFamily="65" charset="-120"/>
                            <a:cs typeface="+mn-cs"/>
                          </a:rPr>
                          <m:t>𝑜</m:t>
                        </m:r>
                      </m:sub>
                    </m:sSub>
                    <m:r>
                      <a:rPr lang="en-US" altLang="zh-TW" sz="1800" i="1" kern="1200">
                        <a:solidFill>
                          <a:srgbClr val="000000"/>
                        </a:solidFill>
                        <a:effectLst/>
                        <a:latin typeface="Cambria Math" panose="02040503050406030204" pitchFamily="18" charset="0"/>
                        <a:ea typeface="標楷體" panose="03000509000000000000" pitchFamily="65" charset="-120"/>
                        <a:cs typeface="+mn-cs"/>
                      </a:rPr>
                      <m:t> </m:t>
                    </m:r>
                  </m:oMath>
                </a14:m>
                <a:r>
                  <a:rPr lang="zh-TW" altLang="en-US" sz="1800" kern="1200" dirty="0">
                    <a:solidFill>
                      <a:srgbClr val="000000"/>
                    </a:solidFill>
                    <a:effectLst/>
                    <a:latin typeface="Times New Roman" panose="02020603050405020304" pitchFamily="18" charset="0"/>
                    <a:ea typeface="標楷體" panose="03000509000000000000" pitchFamily="65" charset="-120"/>
                    <a:cs typeface="+mn-cs"/>
                  </a:rPr>
                  <a:t>折射率</a:t>
                </a:r>
                <a:r>
                  <a:rPr lang="zh-TW" altLang="zh-TW" sz="1800" kern="1200" dirty="0">
                    <a:solidFill>
                      <a:srgbClr val="000000"/>
                    </a:solidFill>
                    <a:effectLst/>
                    <a:latin typeface="Times New Roman" panose="02020603050405020304" pitchFamily="18" charset="0"/>
                    <a:ea typeface="標楷體" panose="03000509000000000000" pitchFamily="65" charset="-120"/>
                    <a:cs typeface="+mn-cs"/>
                  </a:rPr>
                  <a:t>變化可分別表示成</a:t>
                </a:r>
                <a:r>
                  <a:rPr lang="en-US" altLang="zh-TW" sz="1800" kern="1200" dirty="0">
                    <a:solidFill>
                      <a:srgbClr val="000000"/>
                    </a:solidFill>
                    <a:effectLst/>
                    <a:latin typeface="Times New Roman" panose="02020603050405020304" pitchFamily="18" charset="0"/>
                    <a:ea typeface="標楷體" panose="03000509000000000000" pitchFamily="65" charset="-120"/>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kern="1200" dirty="0">
                    <a:solidFill>
                      <a:srgbClr val="000000"/>
                    </a:solidFill>
                    <a:effectLst/>
                    <a:latin typeface="Times New Roman" panose="02020603050405020304" pitchFamily="18" charset="0"/>
                    <a:ea typeface="標楷體" panose="03000509000000000000" pitchFamily="65" charset="-120"/>
                    <a:cs typeface="+mn-cs"/>
                  </a:rPr>
                  <a:t>所以當施加</a:t>
                </a:r>
                <a:r>
                  <a:rPr lang="en-US" altLang="zh-TW" sz="1800" kern="1200" dirty="0">
                    <a:solidFill>
                      <a:srgbClr val="000000"/>
                    </a:solidFill>
                    <a:effectLst/>
                    <a:latin typeface="Times New Roman" panose="02020603050405020304" pitchFamily="18" charset="0"/>
                    <a:ea typeface="標楷體" panose="03000509000000000000" pitchFamily="65" charset="-120"/>
                    <a:cs typeface="+mn-cs"/>
                  </a:rPr>
                  <a:t>z</a:t>
                </a:r>
                <a:r>
                  <a:rPr lang="zh-TW" altLang="zh-TW" sz="1800" kern="1200" dirty="0">
                    <a:solidFill>
                      <a:srgbClr val="000000"/>
                    </a:solidFill>
                    <a:effectLst/>
                    <a:latin typeface="Times New Roman" panose="02020603050405020304" pitchFamily="18" charset="0"/>
                    <a:ea typeface="標楷體" panose="03000509000000000000" pitchFamily="65" charset="-120"/>
                    <a:cs typeface="+mn-cs"/>
                  </a:rPr>
                  <a:t>方向電場時</a:t>
                </a:r>
                <a14:m>
                  <m:oMath xmlns:m="http://schemas.openxmlformats.org/officeDocument/2006/math">
                    <m:sSub>
                      <m:sSubPr>
                        <m:ctrlPr>
                          <a:rPr lang="zh-TW" altLang="zh-TW" sz="1800" i="1" kern="1200">
                            <a:solidFill>
                              <a:srgbClr val="000000"/>
                            </a:solidFill>
                            <a:effectLst/>
                            <a:latin typeface="Cambria Math" panose="02040503050406030204" pitchFamily="18" charset="0"/>
                            <a:ea typeface="Cambria Math" panose="02040503050406030204" pitchFamily="18" charset="0"/>
                            <a:cs typeface="+mn-cs"/>
                          </a:rPr>
                        </m:ctrlPr>
                      </m:sSubPr>
                      <m:e>
                        <m:r>
                          <a:rPr lang="en-US" altLang="zh-TW" sz="1800" i="1" kern="1200">
                            <a:solidFill>
                              <a:srgbClr val="000000"/>
                            </a:solidFill>
                            <a:effectLst/>
                            <a:latin typeface="Cambria Math" panose="02040503050406030204" pitchFamily="18" charset="0"/>
                            <a:ea typeface="標楷體" panose="03000509000000000000" pitchFamily="65" charset="-120"/>
                            <a:cs typeface="+mn-cs"/>
                          </a:rPr>
                          <m:t>𝑛</m:t>
                        </m:r>
                      </m:e>
                      <m:sub>
                        <m:r>
                          <a:rPr lang="en-US" altLang="zh-TW" sz="1800" i="1" kern="1200">
                            <a:solidFill>
                              <a:srgbClr val="000000"/>
                            </a:solidFill>
                            <a:effectLst/>
                            <a:latin typeface="Cambria Math" panose="02040503050406030204" pitchFamily="18" charset="0"/>
                            <a:ea typeface="標楷體" panose="03000509000000000000" pitchFamily="65" charset="-120"/>
                            <a:cs typeface="+mn-cs"/>
                          </a:rPr>
                          <m:t>𝑒</m:t>
                        </m:r>
                      </m:sub>
                    </m:sSub>
                  </m:oMath>
                </a14:m>
                <a:r>
                  <a:rPr lang="zh-TW" altLang="zh-TW" sz="1800" kern="1200" dirty="0">
                    <a:solidFill>
                      <a:srgbClr val="000000"/>
                    </a:solidFill>
                    <a:effectLst/>
                    <a:latin typeface="Times New Roman" panose="02020603050405020304" pitchFamily="18" charset="0"/>
                    <a:ea typeface="標楷體" panose="03000509000000000000" pitchFamily="65" charset="-120"/>
                    <a:cs typeface="+mn-cs"/>
                  </a:rPr>
                  <a:t>及</a:t>
                </a:r>
                <a14:m>
                  <m:oMath xmlns:m="http://schemas.openxmlformats.org/officeDocument/2006/math">
                    <m:sSub>
                      <m:sSubPr>
                        <m:ctrlPr>
                          <a:rPr lang="zh-TW" altLang="zh-TW" sz="1800" i="1" kern="1200">
                            <a:solidFill>
                              <a:srgbClr val="000000"/>
                            </a:solidFill>
                            <a:effectLst/>
                            <a:latin typeface="Cambria Math" panose="02040503050406030204" pitchFamily="18" charset="0"/>
                            <a:ea typeface="Cambria Math" panose="02040503050406030204" pitchFamily="18" charset="0"/>
                            <a:cs typeface="+mn-cs"/>
                          </a:rPr>
                        </m:ctrlPr>
                      </m:sSubPr>
                      <m:e>
                        <m:r>
                          <a:rPr lang="en-US" altLang="zh-TW" sz="1800" i="1" kern="1200">
                            <a:solidFill>
                              <a:srgbClr val="000000"/>
                            </a:solidFill>
                            <a:effectLst/>
                            <a:latin typeface="Cambria Math" panose="02040503050406030204" pitchFamily="18" charset="0"/>
                            <a:ea typeface="標楷體" panose="03000509000000000000" pitchFamily="65" charset="-120"/>
                            <a:cs typeface="+mn-cs"/>
                          </a:rPr>
                          <m:t>𝑛</m:t>
                        </m:r>
                      </m:e>
                      <m:sub>
                        <m:r>
                          <a:rPr lang="en-US" altLang="zh-TW" sz="1800" i="1" kern="1200">
                            <a:solidFill>
                              <a:srgbClr val="000000"/>
                            </a:solidFill>
                            <a:effectLst/>
                            <a:latin typeface="Cambria Math" panose="02040503050406030204" pitchFamily="18" charset="0"/>
                            <a:ea typeface="標楷體" panose="03000509000000000000" pitchFamily="65" charset="-120"/>
                            <a:cs typeface="+mn-cs"/>
                          </a:rPr>
                          <m:t>𝑜</m:t>
                        </m:r>
                      </m:sub>
                    </m:sSub>
                    <m:r>
                      <a:rPr lang="en-US" altLang="zh-TW" sz="1800" i="1" kern="1200">
                        <a:solidFill>
                          <a:srgbClr val="000000"/>
                        </a:solidFill>
                        <a:effectLst/>
                        <a:latin typeface="Cambria Math" panose="02040503050406030204" pitchFamily="18" charset="0"/>
                        <a:ea typeface="標楷體" panose="03000509000000000000" pitchFamily="65" charset="-120"/>
                        <a:cs typeface="+mn-cs"/>
                      </a:rPr>
                      <m:t> </m:t>
                    </m:r>
                  </m:oMath>
                </a14:m>
                <a:r>
                  <a:rPr lang="zh-TW" altLang="zh-TW" sz="1800" kern="1200" dirty="0">
                    <a:solidFill>
                      <a:srgbClr val="000000"/>
                    </a:solidFill>
                    <a:effectLst/>
                    <a:latin typeface="Times New Roman" panose="02020603050405020304" pitchFamily="18" charset="0"/>
                    <a:ea typeface="標楷體" panose="03000509000000000000" pitchFamily="65" charset="-120"/>
                    <a:cs typeface="+mn-cs"/>
                  </a:rPr>
                  <a:t>兩者間的折射率變化可表示為</a:t>
                </a:r>
                <a:r>
                  <a:rPr lang="zh-TW" altLang="zh-TW" sz="1800" kern="1200" dirty="0">
                    <a:solidFill>
                      <a:srgbClr val="000000"/>
                    </a:solidFill>
                    <a:effectLst/>
                    <a:latin typeface="Times New Roman" panose="02020603050405020304" pitchFamily="18" charset="0"/>
                    <a:ea typeface="ＭＳ 明朝" panose="02020609040205080304" pitchFamily="49" charset="-128"/>
                    <a:cs typeface="ＭＳ 明朝" panose="02020609040205080304" pitchFamily="49" charset="-128"/>
                  </a:rPr>
                  <a:t>∆</a:t>
                </a:r>
                <a:r>
                  <a:rPr lang="en-US" altLang="zh-TW" sz="1800" kern="1200" dirty="0">
                    <a:solidFill>
                      <a:srgbClr val="000000"/>
                    </a:solidFill>
                    <a:effectLst/>
                    <a:latin typeface="Times New Roman" panose="02020603050405020304" pitchFamily="18" charset="0"/>
                    <a:ea typeface="標楷體" panose="03000509000000000000" pitchFamily="65" charset="-120"/>
                    <a:cs typeface="+mn-cs"/>
                  </a:rPr>
                  <a:t>n:</a:t>
                </a:r>
                <a:endParaRPr lang="zh-TW" altLang="zh-TW" sz="1800" dirty="0">
                  <a:effectLst/>
                  <a:latin typeface="新細明體" panose="02020500000000000000" pitchFamily="18" charset="-120"/>
                  <a:ea typeface="新細明體" panose="02020500000000000000" pitchFamily="18" charset="-120"/>
                  <a:cs typeface="新細明體" panose="02020500000000000000" pitchFamily="18"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kern="1200" dirty="0">
                    <a:solidFill>
                      <a:srgbClr val="000000"/>
                    </a:solidFill>
                    <a:effectLst/>
                    <a:latin typeface="Times New Roman" panose="02020603050405020304" pitchFamily="18" charset="0"/>
                    <a:ea typeface="標楷體" panose="03000509000000000000" pitchFamily="65" charset="-120"/>
                    <a:cs typeface="+mn-cs"/>
                  </a:rPr>
                  <a:t>所以</a:t>
                </a:r>
                <a:r>
                  <a:rPr lang="zh-TW" altLang="en-US" sz="1800" kern="1200" dirty="0">
                    <a:solidFill>
                      <a:srgbClr val="000000"/>
                    </a:solidFill>
                    <a:effectLst/>
                    <a:latin typeface="Times New Roman" panose="02020603050405020304" pitchFamily="18" charset="0"/>
                    <a:ea typeface="標楷體" panose="03000509000000000000" pitchFamily="65" charset="-120"/>
                    <a:cs typeface="+mn-cs"/>
                  </a:rPr>
                  <a:t>最後下式為</a:t>
                </a:r>
                <a:r>
                  <a:rPr lang="zh-TW" altLang="zh-TW" sz="1800" kern="1200" dirty="0">
                    <a:solidFill>
                      <a:srgbClr val="000000"/>
                    </a:solidFill>
                    <a:effectLst/>
                    <a:latin typeface="Times New Roman" panose="02020603050405020304" pitchFamily="18" charset="0"/>
                    <a:ea typeface="標楷體" panose="03000509000000000000" pitchFamily="65" charset="-120"/>
                    <a:cs typeface="+mn-cs"/>
                  </a:rPr>
                  <a:t>加上</a:t>
                </a:r>
                <a:r>
                  <a:rPr lang="en-US" altLang="zh-TW" sz="1800" kern="1200" dirty="0">
                    <a:solidFill>
                      <a:srgbClr val="000000"/>
                    </a:solidFill>
                    <a:effectLst/>
                    <a:latin typeface="Times New Roman" panose="02020603050405020304" pitchFamily="18" charset="0"/>
                    <a:ea typeface="標楷體" panose="03000509000000000000" pitchFamily="65" charset="-120"/>
                    <a:cs typeface="+mn-cs"/>
                  </a:rPr>
                  <a:t>Z</a:t>
                </a:r>
                <a:r>
                  <a:rPr lang="zh-TW" altLang="zh-TW" sz="1800" kern="1200" dirty="0">
                    <a:solidFill>
                      <a:srgbClr val="000000"/>
                    </a:solidFill>
                    <a:effectLst/>
                    <a:latin typeface="Times New Roman" panose="02020603050405020304" pitchFamily="18" charset="0"/>
                    <a:ea typeface="標楷體" panose="03000509000000000000" pitchFamily="65" charset="-120"/>
                    <a:cs typeface="+mn-cs"/>
                  </a:rPr>
                  <a:t>方向電場使</a:t>
                </a:r>
                <a:r>
                  <a:rPr lang="en-US" altLang="zh-TW" sz="1800" kern="1200" dirty="0">
                    <a:solidFill>
                      <a:srgbClr val="000000"/>
                    </a:solidFill>
                    <a:effectLst/>
                    <a:latin typeface="Times New Roman" panose="02020603050405020304" pitchFamily="18" charset="0"/>
                    <a:ea typeface="標楷體" panose="03000509000000000000" pitchFamily="65" charset="-120"/>
                    <a:cs typeface="+mn-cs"/>
                  </a:rPr>
                  <a:t>LN</a:t>
                </a:r>
                <a:r>
                  <a:rPr lang="zh-TW" altLang="zh-TW" sz="1800" kern="1200" dirty="0">
                    <a:solidFill>
                      <a:srgbClr val="000000"/>
                    </a:solidFill>
                    <a:effectLst/>
                    <a:latin typeface="Times New Roman" panose="02020603050405020304" pitchFamily="18" charset="0"/>
                    <a:ea typeface="標楷體" panose="03000509000000000000" pitchFamily="65" charset="-120"/>
                    <a:cs typeface="+mn-cs"/>
                  </a:rPr>
                  <a:t>其</a:t>
                </a:r>
                <a:r>
                  <a:rPr lang="en-US" altLang="zh-TW" sz="1800" kern="1200" dirty="0">
                    <a:solidFill>
                      <a:srgbClr val="000000"/>
                    </a:solidFill>
                    <a:effectLst/>
                    <a:latin typeface="Times New Roman" panose="02020603050405020304" pitchFamily="18" charset="0"/>
                    <a:ea typeface="標楷體" panose="03000509000000000000" pitchFamily="65" charset="-120"/>
                    <a:cs typeface="+mn-cs"/>
                  </a:rPr>
                  <a:t>TM</a:t>
                </a:r>
                <a:r>
                  <a:rPr lang="zh-TW" altLang="zh-TW" sz="1800" kern="1200" dirty="0">
                    <a:solidFill>
                      <a:srgbClr val="000000"/>
                    </a:solidFill>
                    <a:effectLst/>
                    <a:latin typeface="Times New Roman" panose="02020603050405020304" pitchFamily="18" charset="0"/>
                    <a:ea typeface="標楷體" panose="03000509000000000000" pitchFamily="65" charset="-120"/>
                    <a:cs typeface="+mn-cs"/>
                  </a:rPr>
                  <a:t>與</a:t>
                </a:r>
                <a:r>
                  <a:rPr lang="en-US" altLang="zh-TW" sz="1800" kern="1200" dirty="0">
                    <a:solidFill>
                      <a:srgbClr val="000000"/>
                    </a:solidFill>
                    <a:effectLst/>
                    <a:latin typeface="Times New Roman" panose="02020603050405020304" pitchFamily="18" charset="0"/>
                    <a:ea typeface="標楷體" panose="03000509000000000000" pitchFamily="65" charset="-120"/>
                    <a:cs typeface="+mn-cs"/>
                  </a:rPr>
                  <a:t>TE</a:t>
                </a:r>
                <a:r>
                  <a:rPr lang="zh-TW" altLang="zh-TW" sz="1800" kern="1200" dirty="0">
                    <a:solidFill>
                      <a:srgbClr val="000000"/>
                    </a:solidFill>
                    <a:effectLst/>
                    <a:latin typeface="Times New Roman" panose="02020603050405020304" pitchFamily="18" charset="0"/>
                    <a:ea typeface="標楷體" panose="03000509000000000000" pitchFamily="65" charset="-120"/>
                    <a:cs typeface="+mn-cs"/>
                  </a:rPr>
                  <a:t>的折射率發生改變藉此調整相位其相位偏移量式子可表示如下</a:t>
                </a:r>
                <a:r>
                  <a:rPr lang="en-US" altLang="zh-TW" sz="1800" kern="1200" dirty="0">
                    <a:solidFill>
                      <a:srgbClr val="000000"/>
                    </a:solidFill>
                    <a:effectLst/>
                    <a:latin typeface="Times New Roman" panose="02020603050405020304" pitchFamily="18" charset="0"/>
                    <a:ea typeface="標楷體" panose="03000509000000000000" pitchFamily="65" charset="-120"/>
                    <a:cs typeface="+mn-cs"/>
                  </a:rPr>
                  <a:t>:</a:t>
                </a:r>
                <a:endParaRPr lang="zh-TW" altLang="zh-TW" sz="1800" dirty="0">
                  <a:effectLst/>
                  <a:latin typeface="新細明體" panose="02020500000000000000" pitchFamily="18" charset="-120"/>
                  <a:ea typeface="新細明體" panose="02020500000000000000" pitchFamily="18" charset="-120"/>
                  <a:cs typeface="新細明體" panose="02020500000000000000" pitchFamily="18"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zh-TW" sz="1800" dirty="0">
                  <a:effectLst/>
                  <a:latin typeface="新細明體" panose="02020500000000000000" pitchFamily="18" charset="-120"/>
                  <a:ea typeface="新細明體" panose="02020500000000000000" pitchFamily="18" charset="-120"/>
                  <a:cs typeface="新細明體" panose="02020500000000000000" pitchFamily="18" charset="-120"/>
                </a:endParaRPr>
              </a:p>
              <a:p>
                <a:endParaRPr lang="en-US" altLang="zh-TW"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a:p>
                <a:endParaRPr lang="zh-TW" altLang="en-US" dirty="0"/>
              </a:p>
            </p:txBody>
          </p:sp>
        </mc:Choice>
        <mc:Fallback xmlns="">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一樣這邊與剛上書的家</a:t>
                </a:r>
                <a:r>
                  <a:rPr lang="en-US" altLang="zh-TW" dirty="0"/>
                  <a:t>y</a:t>
                </a:r>
                <a:r>
                  <a:rPr lang="zh-TW" altLang="en-US" dirty="0"/>
                  <a:t>方向電場式子相似，但我們這次為</a:t>
                </a:r>
                <a:r>
                  <a:rPr lang="zh-TW" altLang="zh-TW" sz="1800" kern="1200" dirty="0">
                    <a:solidFill>
                      <a:srgbClr val="000000"/>
                    </a:solidFill>
                    <a:effectLst/>
                    <a:latin typeface="Times New Roman" panose="02020603050405020304" pitchFamily="18" charset="0"/>
                    <a:ea typeface="標楷體" panose="03000509000000000000" pitchFamily="65" charset="-120"/>
                    <a:cs typeface="+mn-cs"/>
                  </a:rPr>
                  <a:t>施加</a:t>
                </a:r>
                <a:r>
                  <a:rPr lang="en-US" altLang="zh-TW" sz="1800" kern="1200" dirty="0">
                    <a:solidFill>
                      <a:srgbClr val="000000"/>
                    </a:solidFill>
                    <a:effectLst/>
                    <a:latin typeface="Times New Roman" panose="02020603050405020304" pitchFamily="18" charset="0"/>
                    <a:ea typeface="標楷體" panose="03000509000000000000" pitchFamily="65" charset="-120"/>
                    <a:cs typeface="+mn-cs"/>
                  </a:rPr>
                  <a:t>z</a:t>
                </a:r>
                <a:r>
                  <a:rPr lang="zh-TW" altLang="en-US" sz="1800" kern="1200" dirty="0">
                    <a:solidFill>
                      <a:srgbClr val="000000"/>
                    </a:solidFill>
                    <a:effectLst/>
                    <a:latin typeface="Times New Roman" panose="02020603050405020304" pitchFamily="18" charset="0"/>
                    <a:ea typeface="標楷體" panose="03000509000000000000" pitchFamily="65" charset="-120"/>
                    <a:cs typeface="+mn-cs"/>
                  </a:rPr>
                  <a:t>方向</a:t>
                </a:r>
                <a:r>
                  <a:rPr lang="zh-TW" altLang="zh-TW" sz="1800" kern="1200" dirty="0">
                    <a:solidFill>
                      <a:srgbClr val="000000"/>
                    </a:solidFill>
                    <a:effectLst/>
                    <a:latin typeface="Times New Roman" panose="02020603050405020304" pitchFamily="18" charset="0"/>
                    <a:ea typeface="標楷體" panose="03000509000000000000" pitchFamily="65" charset="-120"/>
                    <a:cs typeface="+mn-cs"/>
                  </a:rPr>
                  <a:t>電場後</a:t>
                </a:r>
                <a:r>
                  <a:rPr lang="zh-TW" altLang="zh-TW" sz="1200" kern="1200" dirty="0">
                    <a:solidFill>
                      <a:schemeClr val="tx1"/>
                    </a:solidFill>
                    <a:effectLst/>
                    <a:latin typeface="+mn-lt"/>
                    <a:ea typeface="+mn-ea"/>
                    <a:cs typeface="+mn-cs"/>
                  </a:rPr>
                  <a:t>介電張量的變化量∆ </a:t>
                </a:r>
                <a:r>
                  <a:rPr lang="en-US" altLang="zh-TW" sz="1200" i="0" kern="1200">
                    <a:solidFill>
                      <a:schemeClr val="tx1"/>
                    </a:solidFill>
                    <a:effectLst/>
                    <a:latin typeface="Cambria Math" panose="02040503050406030204" pitchFamily="18" charset="0"/>
                    <a:ea typeface="+mn-ea"/>
                    <a:cs typeface="+mn-cs"/>
                  </a:rPr>
                  <a:t>η</a:t>
                </a:r>
                <a:r>
                  <a:rPr lang="zh-TW" altLang="zh-TW" sz="1200" i="0" kern="1200">
                    <a:solidFill>
                      <a:schemeClr val="tx1"/>
                    </a:solidFill>
                    <a:effectLst/>
                    <a:latin typeface="Cambria Math" panose="02040503050406030204" pitchFamily="18" charset="0"/>
                    <a:ea typeface="+mn-ea"/>
                    <a:cs typeface="+mn-cs"/>
                  </a:rPr>
                  <a:t> ⃡</a:t>
                </a:r>
                <a:r>
                  <a:rPr lang="en-US" altLang="zh-TW" sz="1200" i="0" kern="1200">
                    <a:solidFill>
                      <a:schemeClr val="tx1"/>
                    </a:solidFill>
                    <a:effectLst/>
                    <a:latin typeface="Cambria Math" panose="02040503050406030204" pitchFamily="18" charset="0"/>
                    <a:ea typeface="+mn-ea"/>
                    <a:cs typeface="+mn-cs"/>
                  </a:rPr>
                  <a:t>  </a:t>
                </a:r>
                <a:r>
                  <a:rPr lang="en-US" altLang="zh-TW" sz="1200" kern="1200" baseline="-25000" dirty="0" err="1">
                    <a:solidFill>
                      <a:schemeClr val="tx1"/>
                    </a:solidFill>
                    <a:effectLst/>
                    <a:latin typeface="+mn-lt"/>
                    <a:ea typeface="+mn-ea"/>
                    <a:cs typeface="+mn-cs"/>
                  </a:rPr>
                  <a:t>ij</a:t>
                </a:r>
                <a:r>
                  <a:rPr lang="zh-TW" altLang="zh-TW" sz="1200" kern="1200" dirty="0">
                    <a:solidFill>
                      <a:schemeClr val="tx1"/>
                    </a:solidFill>
                    <a:effectLst/>
                    <a:latin typeface="+mn-lt"/>
                    <a:ea typeface="+mn-ea"/>
                    <a:cs typeface="+mn-cs"/>
                  </a:rPr>
                  <a:t>以</a:t>
                </a:r>
                <a:r>
                  <a:rPr lang="zh-TW" altLang="en-US" sz="1200" kern="1200" dirty="0">
                    <a:solidFill>
                      <a:schemeClr val="tx1"/>
                    </a:solidFill>
                    <a:effectLst/>
                    <a:latin typeface="+mn-lt"/>
                    <a:ea typeface="+mn-ea"/>
                    <a:cs typeface="+mn-cs"/>
                  </a:rPr>
                  <a:t>這樣的</a:t>
                </a:r>
                <a:r>
                  <a:rPr lang="zh-TW" altLang="zh-TW" sz="1200" kern="1200" dirty="0">
                    <a:solidFill>
                      <a:schemeClr val="tx1"/>
                    </a:solidFill>
                    <a:effectLst/>
                    <a:latin typeface="+mn-lt"/>
                    <a:ea typeface="+mn-ea"/>
                    <a:cs typeface="+mn-cs"/>
                  </a:rPr>
                  <a:t>矩陣表示</a:t>
                </a:r>
                <a:endParaRPr lang="en-US" altLang="zh-TW"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latin typeface="Times New Roman" panose="02020603050405020304" pitchFamily="18" charset="0"/>
                    <a:cs typeface="Times New Roman" panose="02020603050405020304" pitchFamily="18" charset="0"/>
                  </a:rPr>
                  <a:t>所以會得到這樣的矩陣結果</a:t>
                </a:r>
                <a:r>
                  <a:rPr lang="en-US" altLang="zh-TW" i="0">
                    <a:latin typeface="Cambria Math" panose="02040503050406030204" pitchFamily="18" charset="0"/>
                  </a:rPr>
                  <a:t>(■8(■8(𝑟</a:t>
                </a:r>
                <a:r>
                  <a:rPr lang="en-US" altLang="zh-TW" b="0" i="0" baseline="-25000">
                    <a:latin typeface="Cambria Math" panose="02040503050406030204" pitchFamily="18" charset="0"/>
                  </a:rPr>
                  <a:t>13</a:t>
                </a:r>
                <a:r>
                  <a:rPr lang="en-US" altLang="zh-TW" i="0">
                    <a:latin typeface="Cambria Math" panose="02040503050406030204" pitchFamily="18" charset="0"/>
                  </a:rPr>
                  <a:t>E</a:t>
                </a:r>
                <a:r>
                  <a:rPr lang="en-US" altLang="zh-TW" b="0" i="0" baseline="-25000">
                    <a:latin typeface="Cambria Math" panose="02040503050406030204" pitchFamily="18" charset="0"/>
                  </a:rPr>
                  <a:t>𝑧@</a:t>
                </a:r>
                <a:r>
                  <a:rPr lang="en-US" altLang="zh-TW" i="0">
                    <a:latin typeface="Cambria Math" panose="02040503050406030204" pitchFamily="18" charset="0"/>
                  </a:rPr>
                  <a:t>𝑟</a:t>
                </a:r>
                <a:r>
                  <a:rPr lang="en-US" altLang="zh-TW" b="0" i="0" baseline="-25000">
                    <a:latin typeface="Cambria Math" panose="02040503050406030204" pitchFamily="18" charset="0"/>
                  </a:rPr>
                  <a:t>13</a:t>
                </a:r>
                <a:r>
                  <a:rPr lang="en-US" altLang="zh-TW" i="0">
                    <a:latin typeface="Cambria Math" panose="02040503050406030204" pitchFamily="18" charset="0"/>
                  </a:rPr>
                  <a:t>E</a:t>
                </a:r>
                <a:r>
                  <a:rPr lang="en-US" altLang="zh-TW" b="0" i="0" baseline="-25000">
                    <a:latin typeface="Cambria Math" panose="02040503050406030204" pitchFamily="18" charset="0"/>
                  </a:rPr>
                  <a:t>𝑧)@■8(</a:t>
                </a:r>
                <a:r>
                  <a:rPr lang="en-US" altLang="zh-TW" i="0">
                    <a:latin typeface="Cambria Math" panose="02040503050406030204" pitchFamily="18" charset="0"/>
                  </a:rPr>
                  <a:t>𝑟</a:t>
                </a:r>
                <a:r>
                  <a:rPr lang="en-US" altLang="zh-TW" b="0" i="0" baseline="-25000">
                    <a:latin typeface="Cambria Math" panose="02040503050406030204" pitchFamily="18" charset="0"/>
                  </a:rPr>
                  <a:t>33</a:t>
                </a:r>
                <a:r>
                  <a:rPr lang="en-US" altLang="zh-TW" i="0">
                    <a:latin typeface="Cambria Math" panose="02040503050406030204" pitchFamily="18" charset="0"/>
                  </a:rPr>
                  <a:t>E</a:t>
                </a:r>
                <a:r>
                  <a:rPr lang="en-US" altLang="zh-TW" i="0" baseline="-25000">
                    <a:latin typeface="Cambria Math" panose="02040503050406030204" pitchFamily="18" charset="0"/>
                  </a:rPr>
                  <a:t>𝑧@</a:t>
                </a:r>
                <a:r>
                  <a:rPr lang="en-US" altLang="zh-TW" i="0">
                    <a:latin typeface="Cambria Math" panose="02040503050406030204" pitchFamily="18" charset="0"/>
                  </a:rPr>
                  <a:t>0)@■8(</a:t>
                </a:r>
                <a:r>
                  <a:rPr lang="en-US" altLang="zh-TW" b="0" i="0">
                    <a:latin typeface="Cambria Math" panose="02040503050406030204" pitchFamily="18" charset="0"/>
                  </a:rPr>
                  <a:t>0@0)))</a:t>
                </a:r>
                <a:endParaRPr lang="en-US" altLang="zh-TW"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latin typeface="Times New Roman" panose="02020603050405020304" pitchFamily="18" charset="0"/>
                    <a:cs typeface="Times New Roman" panose="02020603050405020304" pitchFamily="18" charset="0"/>
                  </a:rPr>
                  <a:t>所以我們最後可以得到這樣的矩陣</a:t>
                </a:r>
                <a:r>
                  <a:rPr lang="zh-TW" altLang="en-US" i="0">
                    <a:latin typeface="Cambria Math" panose="02040503050406030204" pitchFamily="18" charset="0"/>
                  </a:rPr>
                  <a:t>𝞰</a:t>
                </a:r>
                <a:r>
                  <a:rPr lang="en-US" altLang="zh-TW" baseline="-25000" dirty="0" err="1"/>
                  <a:t>ij</a:t>
                </a:r>
                <a:r>
                  <a:rPr lang="en-US" altLang="zh-TW" sz="1200" dirty="0"/>
                  <a:t>(</a:t>
                </a:r>
                <a:r>
                  <a:rPr lang="en-US" altLang="zh-TW" i="0">
                    <a:latin typeface="Cambria Math" panose="02040503050406030204" pitchFamily="18" charset="0"/>
                  </a:rPr>
                  <a:t>𝐸</a:t>
                </a:r>
                <a:r>
                  <a:rPr lang="en-US" altLang="zh-TW" b="0" i="0" baseline="-25000">
                    <a:latin typeface="Cambria Math" panose="02040503050406030204" pitchFamily="18" charset="0"/>
                  </a:rPr>
                  <a:t>𝑧</a:t>
                </a:r>
                <a:r>
                  <a:rPr lang="en-US" altLang="zh-TW" sz="1200" dirty="0"/>
                  <a:t>)</a:t>
                </a:r>
                <a:r>
                  <a:rPr lang="zh-TW" altLang="en-US" sz="1200" dirty="0"/>
                  <a:t> </a:t>
                </a:r>
                <a:endParaRPr lang="en-US" altLang="zh-TW"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dirty="0">
                  <a:latin typeface="Times New Roman" panose="02020603050405020304" pitchFamily="18" charset="0"/>
                  <a:cs typeface="Times New Roman" panose="02020603050405020304" pitchFamily="18" charset="0"/>
                </a:endParaRPr>
              </a:p>
              <a:p>
                <a:pPr marL="0" indent="0">
                  <a:buNone/>
                </a:pPr>
                <a:r>
                  <a:rPr lang="zh-TW" altLang="en-US" sz="1200" dirty="0"/>
                  <a:t>所以我們將其整理成橢球方程式後</a:t>
                </a:r>
                <a:r>
                  <a:rPr lang="en-US" altLang="zh-TW" sz="1200" dirty="0"/>
                  <a:t>::</a:t>
                </a:r>
              </a:p>
              <a:p>
                <a:r>
                  <a:rPr lang="en-US" altLang="zh-TW" sz="1200" dirty="0"/>
                  <a:t>(</a:t>
                </a:r>
                <a:r>
                  <a:rPr lang="en-US" altLang="zh-TW" sz="1200" i="0">
                    <a:latin typeface="Cambria Math" panose="02040503050406030204" pitchFamily="18" charset="0"/>
                  </a:rPr>
                  <a:t>1/(𝑛_𝑜^2 )</a:t>
                </a:r>
                <a:r>
                  <a:rPr lang="en-US" altLang="zh-TW" sz="1200" b="0" i="0">
                    <a:latin typeface="Cambria Math" panose="02040503050406030204" pitchFamily="18" charset="0"/>
                  </a:rPr>
                  <a:t>+</a:t>
                </a:r>
                <a:r>
                  <a:rPr lang="en-US" altLang="zh-TW" sz="1200" i="0">
                    <a:latin typeface="Cambria Math" panose="02040503050406030204" pitchFamily="18" charset="0"/>
                  </a:rPr>
                  <a:t>𝑟</a:t>
                </a:r>
                <a:r>
                  <a:rPr lang="en-US" altLang="zh-TW" sz="1200" b="0" i="0" baseline="-25000">
                    <a:latin typeface="Cambria Math" panose="02040503050406030204" pitchFamily="18" charset="0"/>
                  </a:rPr>
                  <a:t>13</a:t>
                </a:r>
                <a:r>
                  <a:rPr lang="en-US" altLang="zh-TW" sz="1200" i="0">
                    <a:latin typeface="Cambria Math" panose="02040503050406030204" pitchFamily="18" charset="0"/>
                  </a:rPr>
                  <a:t>E</a:t>
                </a:r>
                <a:r>
                  <a:rPr lang="en-US" altLang="zh-TW" sz="1200" b="0" i="0" baseline="-25000">
                    <a:latin typeface="Cambria Math" panose="02040503050406030204" pitchFamily="18" charset="0"/>
                  </a:rPr>
                  <a:t>𝑧</a:t>
                </a:r>
                <a:r>
                  <a:rPr lang="en-US" altLang="zh-TW" sz="1200" dirty="0"/>
                  <a:t>)</a:t>
                </a:r>
                <a:r>
                  <a:rPr lang="en-US" altLang="zh-TW" sz="1200" b="0" i="0" dirty="0">
                    <a:latin typeface="Cambria Math" panose="02040503050406030204" pitchFamily="18" charset="0"/>
                  </a:rPr>
                  <a:t>𝑥</a:t>
                </a:r>
                <a:r>
                  <a:rPr lang="en-US" altLang="zh-TW" sz="1200" b="0" i="0" baseline="30000" dirty="0">
                    <a:latin typeface="Cambria Math" panose="02040503050406030204" pitchFamily="18" charset="0"/>
                  </a:rPr>
                  <a:t>2</a:t>
                </a:r>
                <a:r>
                  <a:rPr lang="en-US" altLang="zh-TW" sz="1200" b="0" i="0" dirty="0">
                    <a:latin typeface="Cambria Math" panose="02040503050406030204" pitchFamily="18" charset="0"/>
                  </a:rPr>
                  <a:t>+(</a:t>
                </a:r>
                <a:r>
                  <a:rPr lang="en-US" altLang="zh-TW" sz="1200" i="0">
                    <a:latin typeface="Cambria Math" panose="02040503050406030204" pitchFamily="18" charset="0"/>
                  </a:rPr>
                  <a:t>1/(𝑛_𝑜^2 )+𝑟</a:t>
                </a:r>
                <a:r>
                  <a:rPr lang="en-US" altLang="zh-TW" sz="1200" b="0" i="0" baseline="-25000">
                    <a:latin typeface="Cambria Math" panose="02040503050406030204" pitchFamily="18" charset="0"/>
                  </a:rPr>
                  <a:t>13</a:t>
                </a:r>
                <a:r>
                  <a:rPr lang="en-US" altLang="zh-TW" sz="1200" i="0">
                    <a:latin typeface="Cambria Math" panose="02040503050406030204" pitchFamily="18" charset="0"/>
                  </a:rPr>
                  <a:t>E</a:t>
                </a:r>
                <a:r>
                  <a:rPr lang="en-US" altLang="zh-TW" sz="1200" b="0" i="0" baseline="-25000">
                    <a:latin typeface="Cambria Math" panose="02040503050406030204" pitchFamily="18" charset="0"/>
                  </a:rPr>
                  <a:t>𝑧</a:t>
                </a:r>
                <a:r>
                  <a:rPr lang="en-US" altLang="zh-TW" sz="1200" dirty="0"/>
                  <a:t>)</a:t>
                </a:r>
                <a:r>
                  <a:rPr lang="en-US" altLang="zh-TW" sz="1200" b="0" i="0" dirty="0">
                    <a:latin typeface="Cambria Math" panose="02040503050406030204" pitchFamily="18" charset="0"/>
                  </a:rPr>
                  <a:t>𝑦</a:t>
                </a:r>
                <a:r>
                  <a:rPr lang="en-US" altLang="zh-TW" sz="1200" b="0" i="0" baseline="30000" dirty="0">
                    <a:latin typeface="Cambria Math" panose="02040503050406030204" pitchFamily="18" charset="0"/>
                  </a:rPr>
                  <a:t>2</a:t>
                </a:r>
                <a:r>
                  <a:rPr lang="en-US" altLang="zh-TW" sz="1200" b="0" i="0" dirty="0">
                    <a:latin typeface="Cambria Math" panose="02040503050406030204" pitchFamily="18" charset="0"/>
                  </a:rPr>
                  <a:t>+(</a:t>
                </a:r>
                <a:r>
                  <a:rPr lang="en-US" altLang="zh-TW" sz="1200" i="0">
                    <a:latin typeface="Cambria Math" panose="02040503050406030204" pitchFamily="18" charset="0"/>
                  </a:rPr>
                  <a:t>1/(𝑛_𝑒^2 )</a:t>
                </a:r>
                <a:r>
                  <a:rPr lang="en-US" altLang="zh-TW" sz="1200" dirty="0"/>
                  <a:t>+</a:t>
                </a:r>
                <a:r>
                  <a:rPr lang="en-US" altLang="zh-TW" dirty="0"/>
                  <a:t> </a:t>
                </a:r>
                <a:r>
                  <a:rPr lang="en-US" altLang="zh-TW" i="0">
                    <a:latin typeface="Cambria Math" panose="02040503050406030204" pitchFamily="18" charset="0"/>
                  </a:rPr>
                  <a:t>𝑟</a:t>
                </a:r>
                <a:r>
                  <a:rPr lang="en-US" altLang="zh-TW" b="0" i="0" baseline="-25000">
                    <a:latin typeface="Cambria Math" panose="02040503050406030204" pitchFamily="18" charset="0"/>
                  </a:rPr>
                  <a:t>3</a:t>
                </a:r>
                <a:r>
                  <a:rPr lang="en-US" altLang="zh-TW" i="0" baseline="-25000">
                    <a:latin typeface="Cambria Math" panose="02040503050406030204" pitchFamily="18" charset="0"/>
                  </a:rPr>
                  <a:t>3</a:t>
                </a:r>
                <a:r>
                  <a:rPr lang="en-US" altLang="zh-TW" i="0">
                    <a:latin typeface="Cambria Math" panose="02040503050406030204" pitchFamily="18" charset="0"/>
                  </a:rPr>
                  <a:t>E</a:t>
                </a:r>
                <a:r>
                  <a:rPr lang="en-US" altLang="zh-TW" i="0" baseline="-25000">
                    <a:latin typeface="Cambria Math" panose="02040503050406030204" pitchFamily="18" charset="0"/>
                  </a:rPr>
                  <a:t>𝑧</a:t>
                </a:r>
                <a:r>
                  <a:rPr lang="en-US" altLang="zh-TW" sz="1200" dirty="0"/>
                  <a:t>)</a:t>
                </a:r>
                <a:r>
                  <a:rPr lang="en-US" altLang="zh-TW" sz="1200" b="0" i="0" dirty="0">
                    <a:latin typeface="Cambria Math" panose="02040503050406030204" pitchFamily="18" charset="0"/>
                  </a:rPr>
                  <a:t>𝑧</a:t>
                </a:r>
                <a:r>
                  <a:rPr lang="en-US" altLang="zh-TW" sz="1200" b="0" i="0" baseline="30000" dirty="0">
                    <a:latin typeface="Cambria Math" panose="02040503050406030204" pitchFamily="18" charset="0"/>
                  </a:rPr>
                  <a:t>2</a:t>
                </a:r>
                <a:r>
                  <a:rPr lang="en-US" altLang="zh-TW" sz="1200" dirty="0"/>
                  <a:t>= 1</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kern="1200" dirty="0">
                    <a:solidFill>
                      <a:srgbClr val="000000"/>
                    </a:solidFill>
                    <a:effectLst/>
                    <a:latin typeface="Times New Roman" panose="02020603050405020304" pitchFamily="18" charset="0"/>
                    <a:ea typeface="標楷體" panose="03000509000000000000" pitchFamily="65" charset="-120"/>
                    <a:cs typeface="+mn-cs"/>
                  </a:rPr>
                  <a:t>所以當施加</a:t>
                </a:r>
                <a:r>
                  <a:rPr lang="en-US" altLang="zh-TW" sz="1800" kern="1200" dirty="0">
                    <a:solidFill>
                      <a:srgbClr val="000000"/>
                    </a:solidFill>
                    <a:effectLst/>
                    <a:latin typeface="Times New Roman" panose="02020603050405020304" pitchFamily="18" charset="0"/>
                    <a:ea typeface="標楷體" panose="03000509000000000000" pitchFamily="65" charset="-120"/>
                    <a:cs typeface="+mn-cs"/>
                  </a:rPr>
                  <a:t>z</a:t>
                </a:r>
                <a:r>
                  <a:rPr lang="zh-TW" altLang="zh-TW" sz="1800" kern="1200" dirty="0">
                    <a:solidFill>
                      <a:srgbClr val="000000"/>
                    </a:solidFill>
                    <a:effectLst/>
                    <a:latin typeface="Times New Roman" panose="02020603050405020304" pitchFamily="18" charset="0"/>
                    <a:ea typeface="標楷體" panose="03000509000000000000" pitchFamily="65" charset="-120"/>
                    <a:cs typeface="+mn-cs"/>
                  </a:rPr>
                  <a:t>方向電場時其</a:t>
                </a:r>
                <a:r>
                  <a:rPr lang="en-US" altLang="zh-TW" sz="1800" i="0" kern="1200">
                    <a:solidFill>
                      <a:srgbClr val="000000"/>
                    </a:solidFill>
                    <a:effectLst/>
                    <a:latin typeface="Cambria Math" panose="02040503050406030204" pitchFamily="18" charset="0"/>
                    <a:ea typeface="標楷體" panose="03000509000000000000" pitchFamily="65" charset="-120"/>
                    <a:cs typeface="+mn-cs"/>
                  </a:rPr>
                  <a:t>𝑛</a:t>
                </a:r>
                <a:r>
                  <a:rPr lang="zh-TW" altLang="zh-TW" sz="1800" i="0" kern="1200">
                    <a:solidFill>
                      <a:srgbClr val="000000"/>
                    </a:solidFill>
                    <a:effectLst/>
                    <a:latin typeface="Cambria Math" panose="02040503050406030204" pitchFamily="18" charset="0"/>
                    <a:ea typeface="標楷體" panose="03000509000000000000" pitchFamily="65" charset="-120"/>
                    <a:cs typeface="+mn-cs"/>
                  </a:rPr>
                  <a:t>_</a:t>
                </a:r>
                <a:r>
                  <a:rPr lang="en-US" altLang="zh-TW" sz="1800" i="0" kern="1200">
                    <a:solidFill>
                      <a:srgbClr val="000000"/>
                    </a:solidFill>
                    <a:effectLst/>
                    <a:latin typeface="Cambria Math" panose="02040503050406030204" pitchFamily="18" charset="0"/>
                    <a:ea typeface="標楷體" panose="03000509000000000000" pitchFamily="65" charset="-120"/>
                    <a:cs typeface="+mn-cs"/>
                  </a:rPr>
                  <a:t>𝑒  </a:t>
                </a:r>
                <a:r>
                  <a:rPr lang="zh-TW" altLang="zh-TW" sz="1800" kern="1200" dirty="0">
                    <a:solidFill>
                      <a:srgbClr val="000000"/>
                    </a:solidFill>
                    <a:effectLst/>
                    <a:latin typeface="Times New Roman" panose="02020603050405020304" pitchFamily="18" charset="0"/>
                    <a:ea typeface="標楷體" panose="03000509000000000000" pitchFamily="65" charset="-120"/>
                    <a:cs typeface="+mn-cs"/>
                  </a:rPr>
                  <a:t>及</a:t>
                </a:r>
                <a:r>
                  <a:rPr lang="en-US" altLang="zh-TW" sz="1800" i="0" kern="1200">
                    <a:solidFill>
                      <a:srgbClr val="000000"/>
                    </a:solidFill>
                    <a:effectLst/>
                    <a:latin typeface="Cambria Math" panose="02040503050406030204" pitchFamily="18" charset="0"/>
                    <a:ea typeface="標楷體" panose="03000509000000000000" pitchFamily="65" charset="-120"/>
                    <a:cs typeface="+mn-cs"/>
                  </a:rPr>
                  <a:t>𝑛</a:t>
                </a:r>
                <a:r>
                  <a:rPr lang="zh-TW" altLang="zh-TW" sz="1800" i="0" kern="1200">
                    <a:solidFill>
                      <a:srgbClr val="000000"/>
                    </a:solidFill>
                    <a:effectLst/>
                    <a:latin typeface="Cambria Math" panose="02040503050406030204" pitchFamily="18" charset="0"/>
                    <a:ea typeface="標楷體" panose="03000509000000000000" pitchFamily="65" charset="-120"/>
                    <a:cs typeface="+mn-cs"/>
                  </a:rPr>
                  <a:t>_</a:t>
                </a:r>
                <a:r>
                  <a:rPr lang="en-US" altLang="zh-TW" sz="1800" i="0" kern="1200">
                    <a:solidFill>
                      <a:srgbClr val="000000"/>
                    </a:solidFill>
                    <a:effectLst/>
                    <a:latin typeface="Cambria Math" panose="02040503050406030204" pitchFamily="18" charset="0"/>
                    <a:ea typeface="標楷體" panose="03000509000000000000" pitchFamily="65" charset="-120"/>
                    <a:cs typeface="+mn-cs"/>
                  </a:rPr>
                  <a:t>𝑜  </a:t>
                </a:r>
                <a:r>
                  <a:rPr lang="zh-TW" altLang="en-US" sz="1800" kern="1200" dirty="0">
                    <a:solidFill>
                      <a:srgbClr val="000000"/>
                    </a:solidFill>
                    <a:effectLst/>
                    <a:latin typeface="Times New Roman" panose="02020603050405020304" pitchFamily="18" charset="0"/>
                    <a:ea typeface="標楷體" panose="03000509000000000000" pitchFamily="65" charset="-120"/>
                    <a:cs typeface="+mn-cs"/>
                  </a:rPr>
                  <a:t>折射率</a:t>
                </a:r>
                <a:r>
                  <a:rPr lang="zh-TW" altLang="zh-TW" sz="1800" kern="1200" dirty="0">
                    <a:solidFill>
                      <a:srgbClr val="000000"/>
                    </a:solidFill>
                    <a:effectLst/>
                    <a:latin typeface="Times New Roman" panose="02020603050405020304" pitchFamily="18" charset="0"/>
                    <a:ea typeface="標楷體" panose="03000509000000000000" pitchFamily="65" charset="-120"/>
                    <a:cs typeface="+mn-cs"/>
                  </a:rPr>
                  <a:t>變化可分別表示成</a:t>
                </a:r>
                <a:r>
                  <a:rPr lang="en-US" altLang="zh-TW" sz="1800" kern="1200" dirty="0">
                    <a:solidFill>
                      <a:srgbClr val="000000"/>
                    </a:solidFill>
                    <a:effectLst/>
                    <a:latin typeface="Times New Roman" panose="02020603050405020304" pitchFamily="18" charset="0"/>
                    <a:ea typeface="標楷體" panose="03000509000000000000" pitchFamily="65" charset="-120"/>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kern="1200" dirty="0">
                    <a:solidFill>
                      <a:srgbClr val="000000"/>
                    </a:solidFill>
                    <a:effectLst/>
                    <a:latin typeface="Times New Roman" panose="02020603050405020304" pitchFamily="18" charset="0"/>
                    <a:ea typeface="標楷體" panose="03000509000000000000" pitchFamily="65" charset="-120"/>
                    <a:cs typeface="+mn-cs"/>
                  </a:rPr>
                  <a:t>所以當施加</a:t>
                </a:r>
                <a:r>
                  <a:rPr lang="en-US" altLang="zh-TW" sz="1800" kern="1200" dirty="0">
                    <a:solidFill>
                      <a:srgbClr val="000000"/>
                    </a:solidFill>
                    <a:effectLst/>
                    <a:latin typeface="Times New Roman" panose="02020603050405020304" pitchFamily="18" charset="0"/>
                    <a:ea typeface="標楷體" panose="03000509000000000000" pitchFamily="65" charset="-120"/>
                    <a:cs typeface="+mn-cs"/>
                  </a:rPr>
                  <a:t>z</a:t>
                </a:r>
                <a:r>
                  <a:rPr lang="zh-TW" altLang="zh-TW" sz="1800" kern="1200" dirty="0">
                    <a:solidFill>
                      <a:srgbClr val="000000"/>
                    </a:solidFill>
                    <a:effectLst/>
                    <a:latin typeface="Times New Roman" panose="02020603050405020304" pitchFamily="18" charset="0"/>
                    <a:ea typeface="標楷體" panose="03000509000000000000" pitchFamily="65" charset="-120"/>
                    <a:cs typeface="+mn-cs"/>
                  </a:rPr>
                  <a:t>方向電場時</a:t>
                </a:r>
                <a:r>
                  <a:rPr lang="en-US" altLang="zh-TW" sz="1800" i="0" kern="1200">
                    <a:solidFill>
                      <a:srgbClr val="000000"/>
                    </a:solidFill>
                    <a:effectLst/>
                    <a:latin typeface="Cambria Math" panose="02040503050406030204" pitchFamily="18" charset="0"/>
                    <a:ea typeface="標楷體" panose="03000509000000000000" pitchFamily="65" charset="-120"/>
                    <a:cs typeface="+mn-cs"/>
                  </a:rPr>
                  <a:t>𝑛</a:t>
                </a:r>
                <a:r>
                  <a:rPr lang="zh-TW" altLang="zh-TW" sz="1800" i="0" kern="1200">
                    <a:solidFill>
                      <a:srgbClr val="000000"/>
                    </a:solidFill>
                    <a:effectLst/>
                    <a:latin typeface="Cambria Math" panose="02040503050406030204" pitchFamily="18" charset="0"/>
                    <a:ea typeface="標楷體" panose="03000509000000000000" pitchFamily="65" charset="-120"/>
                    <a:cs typeface="+mn-cs"/>
                  </a:rPr>
                  <a:t>_</a:t>
                </a:r>
                <a:r>
                  <a:rPr lang="en-US" altLang="zh-TW" sz="1800" i="0" kern="1200">
                    <a:solidFill>
                      <a:srgbClr val="000000"/>
                    </a:solidFill>
                    <a:effectLst/>
                    <a:latin typeface="Cambria Math" panose="02040503050406030204" pitchFamily="18" charset="0"/>
                    <a:ea typeface="標楷體" panose="03000509000000000000" pitchFamily="65" charset="-120"/>
                    <a:cs typeface="+mn-cs"/>
                  </a:rPr>
                  <a:t>𝑒</a:t>
                </a:r>
                <a:r>
                  <a:rPr lang="zh-TW" altLang="zh-TW" sz="1800" kern="1200" dirty="0">
                    <a:solidFill>
                      <a:srgbClr val="000000"/>
                    </a:solidFill>
                    <a:effectLst/>
                    <a:latin typeface="Times New Roman" panose="02020603050405020304" pitchFamily="18" charset="0"/>
                    <a:ea typeface="標楷體" panose="03000509000000000000" pitchFamily="65" charset="-120"/>
                    <a:cs typeface="+mn-cs"/>
                  </a:rPr>
                  <a:t>及</a:t>
                </a:r>
                <a:r>
                  <a:rPr lang="en-US" altLang="zh-TW" sz="1800" i="0" kern="1200">
                    <a:solidFill>
                      <a:srgbClr val="000000"/>
                    </a:solidFill>
                    <a:effectLst/>
                    <a:latin typeface="Cambria Math" panose="02040503050406030204" pitchFamily="18" charset="0"/>
                    <a:ea typeface="標楷體" panose="03000509000000000000" pitchFamily="65" charset="-120"/>
                    <a:cs typeface="+mn-cs"/>
                  </a:rPr>
                  <a:t>𝑛</a:t>
                </a:r>
                <a:r>
                  <a:rPr lang="zh-TW" altLang="zh-TW" sz="1800" i="0" kern="1200">
                    <a:solidFill>
                      <a:srgbClr val="000000"/>
                    </a:solidFill>
                    <a:effectLst/>
                    <a:latin typeface="Cambria Math" panose="02040503050406030204" pitchFamily="18" charset="0"/>
                    <a:ea typeface="標楷體" panose="03000509000000000000" pitchFamily="65" charset="-120"/>
                    <a:cs typeface="+mn-cs"/>
                  </a:rPr>
                  <a:t>_</a:t>
                </a:r>
                <a:r>
                  <a:rPr lang="en-US" altLang="zh-TW" sz="1800" i="0" kern="1200">
                    <a:solidFill>
                      <a:srgbClr val="000000"/>
                    </a:solidFill>
                    <a:effectLst/>
                    <a:latin typeface="Cambria Math" panose="02040503050406030204" pitchFamily="18" charset="0"/>
                    <a:ea typeface="標楷體" panose="03000509000000000000" pitchFamily="65" charset="-120"/>
                    <a:cs typeface="+mn-cs"/>
                  </a:rPr>
                  <a:t>𝑜  </a:t>
                </a:r>
                <a:r>
                  <a:rPr lang="zh-TW" altLang="zh-TW" sz="1800" kern="1200" dirty="0">
                    <a:solidFill>
                      <a:srgbClr val="000000"/>
                    </a:solidFill>
                    <a:effectLst/>
                    <a:latin typeface="Times New Roman" panose="02020603050405020304" pitchFamily="18" charset="0"/>
                    <a:ea typeface="標楷體" panose="03000509000000000000" pitchFamily="65" charset="-120"/>
                    <a:cs typeface="+mn-cs"/>
                  </a:rPr>
                  <a:t>兩者間的折射率變化可表示為</a:t>
                </a:r>
                <a:r>
                  <a:rPr lang="zh-TW" altLang="zh-TW" sz="1800" kern="1200" dirty="0">
                    <a:solidFill>
                      <a:srgbClr val="000000"/>
                    </a:solidFill>
                    <a:effectLst/>
                    <a:latin typeface="Times New Roman" panose="02020603050405020304" pitchFamily="18" charset="0"/>
                    <a:ea typeface="ＭＳ 明朝" panose="02020609040205080304" pitchFamily="49" charset="-128"/>
                    <a:cs typeface="ＭＳ 明朝" panose="02020609040205080304" pitchFamily="49" charset="-128"/>
                  </a:rPr>
                  <a:t>∆</a:t>
                </a:r>
                <a:r>
                  <a:rPr lang="en-US" altLang="zh-TW" sz="1800" kern="1200" dirty="0">
                    <a:solidFill>
                      <a:srgbClr val="000000"/>
                    </a:solidFill>
                    <a:effectLst/>
                    <a:latin typeface="Times New Roman" panose="02020603050405020304" pitchFamily="18" charset="0"/>
                    <a:ea typeface="標楷體" panose="03000509000000000000" pitchFamily="65" charset="-120"/>
                    <a:cs typeface="+mn-cs"/>
                  </a:rPr>
                  <a:t>n:</a:t>
                </a:r>
                <a:endParaRPr lang="zh-TW" altLang="zh-TW" sz="1800" dirty="0">
                  <a:effectLst/>
                  <a:latin typeface="新細明體" panose="02020500000000000000" pitchFamily="18" charset="-120"/>
                  <a:ea typeface="新細明體" panose="02020500000000000000" pitchFamily="18" charset="-120"/>
                  <a:cs typeface="新細明體" panose="02020500000000000000" pitchFamily="18"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kern="1200" dirty="0">
                    <a:solidFill>
                      <a:srgbClr val="000000"/>
                    </a:solidFill>
                    <a:effectLst/>
                    <a:latin typeface="Times New Roman" panose="02020603050405020304" pitchFamily="18" charset="0"/>
                    <a:ea typeface="標楷體" panose="03000509000000000000" pitchFamily="65" charset="-120"/>
                    <a:cs typeface="+mn-cs"/>
                  </a:rPr>
                  <a:t>所以</a:t>
                </a:r>
                <a:r>
                  <a:rPr lang="zh-TW" altLang="en-US" sz="1800" kern="1200" dirty="0">
                    <a:solidFill>
                      <a:srgbClr val="000000"/>
                    </a:solidFill>
                    <a:effectLst/>
                    <a:latin typeface="Times New Roman" panose="02020603050405020304" pitchFamily="18" charset="0"/>
                    <a:ea typeface="標楷體" panose="03000509000000000000" pitchFamily="65" charset="-120"/>
                    <a:cs typeface="+mn-cs"/>
                  </a:rPr>
                  <a:t>最後下式為</a:t>
                </a:r>
                <a:r>
                  <a:rPr lang="zh-TW" altLang="zh-TW" sz="1800" kern="1200" dirty="0">
                    <a:solidFill>
                      <a:srgbClr val="000000"/>
                    </a:solidFill>
                    <a:effectLst/>
                    <a:latin typeface="Times New Roman" panose="02020603050405020304" pitchFamily="18" charset="0"/>
                    <a:ea typeface="標楷體" panose="03000509000000000000" pitchFamily="65" charset="-120"/>
                    <a:cs typeface="+mn-cs"/>
                  </a:rPr>
                  <a:t>加上</a:t>
                </a:r>
                <a:r>
                  <a:rPr lang="en-US" altLang="zh-TW" sz="1800" kern="1200" dirty="0">
                    <a:solidFill>
                      <a:srgbClr val="000000"/>
                    </a:solidFill>
                    <a:effectLst/>
                    <a:latin typeface="Times New Roman" panose="02020603050405020304" pitchFamily="18" charset="0"/>
                    <a:ea typeface="標楷體" panose="03000509000000000000" pitchFamily="65" charset="-120"/>
                    <a:cs typeface="+mn-cs"/>
                  </a:rPr>
                  <a:t>Z</a:t>
                </a:r>
                <a:r>
                  <a:rPr lang="zh-TW" altLang="zh-TW" sz="1800" kern="1200" dirty="0">
                    <a:solidFill>
                      <a:srgbClr val="000000"/>
                    </a:solidFill>
                    <a:effectLst/>
                    <a:latin typeface="Times New Roman" panose="02020603050405020304" pitchFamily="18" charset="0"/>
                    <a:ea typeface="標楷體" panose="03000509000000000000" pitchFamily="65" charset="-120"/>
                    <a:cs typeface="+mn-cs"/>
                  </a:rPr>
                  <a:t>方向電場使</a:t>
                </a:r>
                <a:r>
                  <a:rPr lang="en-US" altLang="zh-TW" sz="1800" kern="1200" dirty="0">
                    <a:solidFill>
                      <a:srgbClr val="000000"/>
                    </a:solidFill>
                    <a:effectLst/>
                    <a:latin typeface="Times New Roman" panose="02020603050405020304" pitchFamily="18" charset="0"/>
                    <a:ea typeface="標楷體" panose="03000509000000000000" pitchFamily="65" charset="-120"/>
                    <a:cs typeface="+mn-cs"/>
                  </a:rPr>
                  <a:t>LN</a:t>
                </a:r>
                <a:r>
                  <a:rPr lang="zh-TW" altLang="zh-TW" sz="1800" kern="1200" dirty="0">
                    <a:solidFill>
                      <a:srgbClr val="000000"/>
                    </a:solidFill>
                    <a:effectLst/>
                    <a:latin typeface="Times New Roman" panose="02020603050405020304" pitchFamily="18" charset="0"/>
                    <a:ea typeface="標楷體" panose="03000509000000000000" pitchFamily="65" charset="-120"/>
                    <a:cs typeface="+mn-cs"/>
                  </a:rPr>
                  <a:t>其</a:t>
                </a:r>
                <a:r>
                  <a:rPr lang="en-US" altLang="zh-TW" sz="1800" kern="1200" dirty="0">
                    <a:solidFill>
                      <a:srgbClr val="000000"/>
                    </a:solidFill>
                    <a:effectLst/>
                    <a:latin typeface="Times New Roman" panose="02020603050405020304" pitchFamily="18" charset="0"/>
                    <a:ea typeface="標楷體" panose="03000509000000000000" pitchFamily="65" charset="-120"/>
                    <a:cs typeface="+mn-cs"/>
                  </a:rPr>
                  <a:t>TM</a:t>
                </a:r>
                <a:r>
                  <a:rPr lang="zh-TW" altLang="zh-TW" sz="1800" kern="1200" dirty="0">
                    <a:solidFill>
                      <a:srgbClr val="000000"/>
                    </a:solidFill>
                    <a:effectLst/>
                    <a:latin typeface="Times New Roman" panose="02020603050405020304" pitchFamily="18" charset="0"/>
                    <a:ea typeface="標楷體" panose="03000509000000000000" pitchFamily="65" charset="-120"/>
                    <a:cs typeface="+mn-cs"/>
                  </a:rPr>
                  <a:t>與</a:t>
                </a:r>
                <a:r>
                  <a:rPr lang="en-US" altLang="zh-TW" sz="1800" kern="1200" dirty="0">
                    <a:solidFill>
                      <a:srgbClr val="000000"/>
                    </a:solidFill>
                    <a:effectLst/>
                    <a:latin typeface="Times New Roman" panose="02020603050405020304" pitchFamily="18" charset="0"/>
                    <a:ea typeface="標楷體" panose="03000509000000000000" pitchFamily="65" charset="-120"/>
                    <a:cs typeface="+mn-cs"/>
                  </a:rPr>
                  <a:t>TE</a:t>
                </a:r>
                <a:r>
                  <a:rPr lang="zh-TW" altLang="zh-TW" sz="1800" kern="1200" dirty="0">
                    <a:solidFill>
                      <a:srgbClr val="000000"/>
                    </a:solidFill>
                    <a:effectLst/>
                    <a:latin typeface="Times New Roman" panose="02020603050405020304" pitchFamily="18" charset="0"/>
                    <a:ea typeface="標楷體" panose="03000509000000000000" pitchFamily="65" charset="-120"/>
                    <a:cs typeface="+mn-cs"/>
                  </a:rPr>
                  <a:t>的折射率發生改變藉此調整相位其相位偏移量式子可表示如下</a:t>
                </a:r>
                <a:r>
                  <a:rPr lang="en-US" altLang="zh-TW" sz="1800" kern="1200" dirty="0">
                    <a:solidFill>
                      <a:srgbClr val="000000"/>
                    </a:solidFill>
                    <a:effectLst/>
                    <a:latin typeface="Times New Roman" panose="02020603050405020304" pitchFamily="18" charset="0"/>
                    <a:ea typeface="標楷體" panose="03000509000000000000" pitchFamily="65" charset="-120"/>
                    <a:cs typeface="+mn-cs"/>
                  </a:rPr>
                  <a:t>:</a:t>
                </a:r>
                <a:endParaRPr lang="zh-TW" altLang="zh-TW" sz="1800" dirty="0">
                  <a:effectLst/>
                  <a:latin typeface="新細明體" panose="02020500000000000000" pitchFamily="18" charset="-120"/>
                  <a:ea typeface="新細明體" panose="02020500000000000000" pitchFamily="18" charset="-120"/>
                  <a:cs typeface="新細明體" panose="02020500000000000000" pitchFamily="18"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zh-TW" sz="1800" dirty="0">
                  <a:effectLst/>
                  <a:latin typeface="新細明體" panose="02020500000000000000" pitchFamily="18" charset="-120"/>
                  <a:ea typeface="新細明體" panose="02020500000000000000" pitchFamily="18" charset="-120"/>
                  <a:cs typeface="新細明體" panose="02020500000000000000" pitchFamily="18" charset="-120"/>
                </a:endParaRPr>
              </a:p>
              <a:p>
                <a:endParaRPr lang="en-US" altLang="zh-TW"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a:p>
                <a:endParaRPr lang="zh-TW" altLang="en-US" dirty="0"/>
              </a:p>
            </p:txBody>
          </p:sp>
        </mc:Fallback>
      </mc:AlternateContent>
      <p:sp>
        <p:nvSpPr>
          <p:cNvPr id="4" name="投影片編號版面配置區 3"/>
          <p:cNvSpPr>
            <a:spLocks noGrp="1"/>
          </p:cNvSpPr>
          <p:nvPr>
            <p:ph type="sldNum" sz="quarter" idx="5"/>
          </p:nvPr>
        </p:nvSpPr>
        <p:spPr/>
        <p:txBody>
          <a:bodyPr/>
          <a:lstStyle/>
          <a:p>
            <a:fld id="{7015F893-DC37-4D86-87E6-4581D5262153}" type="slidenum">
              <a:rPr lang="zh-TW" altLang="en-US" smtClean="0"/>
              <a:t>23</a:t>
            </a:fld>
            <a:endParaRPr lang="zh-TW" altLang="en-US"/>
          </a:p>
        </p:txBody>
      </p:sp>
    </p:spTree>
    <p:extLst>
      <p:ext uri="{BB962C8B-B14F-4D97-AF65-F5344CB8AC3E}">
        <p14:creationId xmlns:p14="http://schemas.microsoft.com/office/powerpoint/2010/main" val="37033857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APPLN </a:t>
            </a:r>
            <a:r>
              <a:rPr lang="zh-TW" altLang="en-US" dirty="0"/>
              <a:t>的</a:t>
            </a:r>
            <a:r>
              <a:rPr lang="en-US" altLang="zh-TW" dirty="0"/>
              <a:t>EOPMC12nm</a:t>
            </a:r>
            <a:endParaRPr lang="zh-TW" altLang="en-US" dirty="0"/>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25</a:t>
            </a:fld>
            <a:endParaRPr lang="zh-TW" altLang="en-US"/>
          </a:p>
        </p:txBody>
      </p:sp>
    </p:spTree>
    <p:extLst>
      <p:ext uri="{BB962C8B-B14F-4D97-AF65-F5344CB8AC3E}">
        <p14:creationId xmlns:p14="http://schemas.microsoft.com/office/powerpoint/2010/main" val="14044263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Ppt </a:t>
            </a:r>
            <a:r>
              <a:rPr lang="zh-TW" altLang="en-US" dirty="0"/>
              <a:t>頻寬 達到</a:t>
            </a:r>
            <a:r>
              <a:rPr lang="en-US" altLang="zh-TW" dirty="0" err="1"/>
              <a:t>Vpi</a:t>
            </a:r>
            <a:r>
              <a:rPr lang="zh-TW" altLang="en-US" dirty="0"/>
              <a:t>的情況下的轉換效率圖</a:t>
            </a:r>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26</a:t>
            </a:fld>
            <a:endParaRPr lang="zh-TW" altLang="en-US"/>
          </a:p>
        </p:txBody>
      </p:sp>
    </p:spTree>
    <p:extLst>
      <p:ext uri="{BB962C8B-B14F-4D97-AF65-F5344CB8AC3E}">
        <p14:creationId xmlns:p14="http://schemas.microsoft.com/office/powerpoint/2010/main" val="566282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基因演算法是通過模擬生物自然演化過程來尋找最佳解，在演算法中，每一個個體都是一個解，而複數個個體可以組成一群組，其中每個個體內都有不同的基因串，</a:t>
            </a:r>
            <a:r>
              <a:rPr lang="zh-TW" altLang="en-US" sz="1800" kern="0" dirty="0">
                <a:effectLst/>
                <a:latin typeface="Times New Roman" panose="02020603050405020304" pitchFamily="18" charset="0"/>
                <a:ea typeface="標楷體" panose="03000509000000000000" pitchFamily="65" charset="-120"/>
                <a:cs typeface="新細明體" panose="02020500000000000000" pitchFamily="18" charset="-120"/>
              </a:rPr>
              <a:t>所以在這邊我們即可利用交來</a:t>
            </a:r>
            <a:r>
              <a:rPr lang="zh-TW"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來改變最終解特性，在每代演化找到最佳解的過程中，我們會加入</a:t>
            </a:r>
            <a:r>
              <a:rPr lang="zh-TW" altLang="en-US" sz="1800" kern="0" dirty="0">
                <a:effectLst/>
                <a:latin typeface="Times New Roman" panose="02020603050405020304" pitchFamily="18" charset="0"/>
                <a:ea typeface="標楷體" panose="03000509000000000000" pitchFamily="65" charset="-120"/>
                <a:cs typeface="新細明體" panose="02020500000000000000" pitchFamily="18" charset="-120"/>
              </a:rPr>
              <a:t>一點</a:t>
            </a:r>
            <a:r>
              <a:rPr lang="zh-TW"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突變這個變數使演算法的解有隨機性，經過我們演化數</a:t>
            </a:r>
            <a:r>
              <a:rPr lang="zh-TW" altLang="en-US" sz="1800" kern="0" dirty="0">
                <a:effectLst/>
                <a:latin typeface="Times New Roman" panose="02020603050405020304" pitchFamily="18" charset="0"/>
                <a:ea typeface="標楷體" panose="03000509000000000000" pitchFamily="65" charset="-120"/>
                <a:cs typeface="新細明體" panose="02020500000000000000" pitchFamily="18" charset="-120"/>
              </a:rPr>
              <a:t>個</a:t>
            </a:r>
            <a:r>
              <a:rPr lang="zh-TW"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世代變化，每次都會先判斷其適應性，接著進行繁演使的適應度高的比適應度低的有更高的機率可以產生下一代，最後漸漸地向最佳解收斂。</a:t>
            </a:r>
            <a:endParaRPr lang="en-US" altLang="zh-TW" sz="1800" kern="0" dirty="0">
              <a:effectLst/>
              <a:latin typeface="Times New Roman" panose="02020603050405020304" pitchFamily="18" charset="0"/>
              <a:ea typeface="標楷體" panose="03000509000000000000" pitchFamily="65" charset="-120"/>
              <a:cs typeface="新細明體" panose="02020500000000000000" pitchFamily="18"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800" kern="0" dirty="0">
                <a:effectLst/>
                <a:latin typeface="Times New Roman" panose="02020603050405020304" pitchFamily="18" charset="0"/>
                <a:ea typeface="標楷體" panose="03000509000000000000" pitchFamily="65" charset="-120"/>
                <a:cs typeface="Times New Roman" panose="02020603050405020304" pitchFamily="18" charset="0"/>
              </a:rPr>
              <a:t>所以剛開始會設定初始的參數，利盧</a:t>
            </a:r>
            <a:r>
              <a:rPr lang="en-US" altLang="zh-TW" sz="1800" kern="0" dirty="0">
                <a:effectLst/>
                <a:latin typeface="Times New Roman" panose="02020603050405020304" pitchFamily="18" charset="0"/>
                <a:ea typeface="標楷體" panose="03000509000000000000" pitchFamily="65" charset="-120"/>
                <a:cs typeface="Times New Roman" panose="02020603050405020304" pitchFamily="18" charset="0"/>
              </a:rPr>
              <a:t>EOPMC</a:t>
            </a:r>
            <a:r>
              <a:rPr lang="zh-TW" altLang="en-US" sz="1800" kern="0" dirty="0">
                <a:effectLst/>
                <a:latin typeface="Times New Roman" panose="02020603050405020304" pitchFamily="18" charset="0"/>
                <a:ea typeface="標楷體" panose="03000509000000000000" pitchFamily="65" charset="-120"/>
                <a:cs typeface="Times New Roman" panose="02020603050405020304" pitchFamily="18" charset="0"/>
              </a:rPr>
              <a:t>結構的長度，每塊晶疇長度，需要進行偏振轉換的波長，所需施家的電壓，接著產生最初的族群後代入目標函數進行演算</a:t>
            </a:r>
            <a:endParaRPr lang="zh-TW" alt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p>
            <a:endParaRPr lang="zh-TW" altLang="en-US" dirty="0"/>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27</a:t>
            </a:fld>
            <a:endParaRPr lang="zh-TW" altLang="en-US"/>
          </a:p>
        </p:txBody>
      </p:sp>
    </p:spTree>
    <p:extLst>
      <p:ext uri="{BB962C8B-B14F-4D97-AF65-F5344CB8AC3E}">
        <p14:creationId xmlns:p14="http://schemas.microsoft.com/office/powerpoint/2010/main" val="26782415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zh-TW" altLang="en-US" dirty="0"/>
                  <a:t>所以如左上角這</a:t>
                </a:r>
                <a:r>
                  <a:rPr lang="en-US" altLang="zh-TW" dirty="0"/>
                  <a:t>Ae </a:t>
                </a:r>
                <a:r>
                  <a:rPr lang="en-US" altLang="zh-TW" dirty="0" err="1"/>
                  <a:t>Ao</a:t>
                </a:r>
                <a:r>
                  <a:rPr lang="zh-TW" altLang="en-US" dirty="0"/>
                  <a:t>代表入社的電磁波場，當期經啜一塊經稠的變化      </a:t>
                </a:r>
                <a:r>
                  <a:rPr lang="en-US" altLang="zh-TW" dirty="0"/>
                  <a:t>T=</a:t>
                </a:r>
                <a:r>
                  <a:rPr lang="zh-TW" altLang="en-US" dirty="0"/>
                  <a:t>光進入京籌後期兩道光穿透的形式</a:t>
                </a:r>
                <a:endParaRPr lang="en-US" altLang="zh-TW" dirty="0"/>
              </a:p>
              <a:p>
                <a:r>
                  <a:rPr lang="zh-TW" altLang="en-US" dirty="0"/>
                  <a:t>所以我</a:t>
                </a:r>
                <a:r>
                  <a:rPr lang="en-US" altLang="zh-TW" dirty="0"/>
                  <a:t>OF</a:t>
                </a:r>
                <a:r>
                  <a:rPr lang="zh-TW" altLang="en-US" dirty="0"/>
                  <a:t>的設計如下，基本上基因演算法最後</a:t>
                </a:r>
                <a:r>
                  <a:rPr lang="en-US" altLang="zh-TW" dirty="0"/>
                  <a:t>OF</a:t>
                </a:r>
                <a:r>
                  <a:rPr lang="zh-TW" altLang="en-US" dirty="0"/>
                  <a:t>會收斂制</a:t>
                </a:r>
                <a:r>
                  <a:rPr lang="en-US" altLang="zh-TW" dirty="0"/>
                  <a:t>0</a:t>
                </a:r>
                <a:r>
                  <a:rPr lang="zh-TW" altLang="en-US" dirty="0"/>
                  <a:t>，所以我將</a:t>
                </a:r>
                <a14:m>
                  <m:oMath xmlns:m="http://schemas.openxmlformats.org/officeDocument/2006/math">
                    <m:sSub>
                      <m:sSubPr>
                        <m:ctrlPr>
                          <a:rPr lang="zh-TW" altLang="en-US" sz="1200" i="1" smtClean="0">
                            <a:latin typeface="Cambria Math" panose="02040503050406030204" pitchFamily="18" charset="0"/>
                          </a:rPr>
                        </m:ctrlPr>
                      </m:sSubPr>
                      <m:e>
                        <m:r>
                          <a:rPr lang="zh-TW" altLang="en-US" sz="1200" i="1">
                            <a:latin typeface="Cambria Math" panose="02040503050406030204" pitchFamily="18" charset="0"/>
                          </a:rPr>
                          <m:t>𝑇</m:t>
                        </m:r>
                      </m:e>
                      <m:sub>
                        <m:r>
                          <a:rPr lang="en-US" altLang="zh-TW" sz="1200" i="1">
                            <a:latin typeface="Cambria Math" panose="02040503050406030204" pitchFamily="18" charset="0"/>
                          </a:rPr>
                          <m:t>𝑜𝑏𝑗𝑒𝑐𝑡</m:t>
                        </m:r>
                      </m:sub>
                    </m:sSub>
                  </m:oMath>
                </a14:m>
                <a:r>
                  <a:rPr lang="zh-TW" altLang="en-US" dirty="0"/>
                  <a:t>設為</a:t>
                </a:r>
                <a:r>
                  <a:rPr lang="en-US" altLang="zh-TW" dirty="0"/>
                  <a:t>1</a:t>
                </a:r>
                <a:r>
                  <a:rPr lang="zh-TW" altLang="en-US" dirty="0"/>
                  <a:t>，然後最終目標為我所指定的要轉換的中心波長其轉換效率要為</a:t>
                </a:r>
                <a:r>
                  <a:rPr lang="en-US" altLang="zh-TW" dirty="0"/>
                  <a:t>1</a:t>
                </a:r>
                <a:r>
                  <a:rPr lang="zh-TW" altLang="en-US" dirty="0"/>
                  <a:t>，所以從這裡可以看出原始為單一波長進行偏振轉換其為週期性的極化反轉結構，而當我需要多波長時因每個中心波長都有不同的週期，所以我利用基因演算法將其晶疇結構進行演算找到最佳解合成一非洲期的結構，當施加</a:t>
                </a:r>
                <a:r>
                  <a:rPr lang="en-US" altLang="zh-TW" dirty="0"/>
                  <a:t>25V</a:t>
                </a:r>
                <a:r>
                  <a:rPr lang="zh-TW" altLang="en-US" dirty="0"/>
                  <a:t>時可達到我這</a:t>
                </a:r>
                <a:r>
                  <a:rPr lang="en-US" altLang="zh-TW" dirty="0"/>
                  <a:t>broadband</a:t>
                </a:r>
                <a:r>
                  <a:rPr lang="zh-TW" altLang="en-US" dirty="0"/>
                  <a:t>的</a:t>
                </a:r>
                <a:r>
                  <a:rPr lang="en-US" altLang="zh-TW" dirty="0"/>
                  <a:t>EOPMC</a:t>
                </a:r>
                <a:r>
                  <a:rPr lang="zh-TW" altLang="en-US" dirty="0"/>
                  <a:t>轉換的最佳解</a:t>
                </a:r>
                <a:endParaRPr lang="en-US" altLang="zh-TW" dirty="0"/>
              </a:p>
              <a:p>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量測</a:t>
                </a:r>
                <a:r>
                  <a:rPr lang="en-US" altLang="zh-TW" dirty="0"/>
                  <a:t>V =55V  </a:t>
                </a:r>
                <a:r>
                  <a:rPr lang="zh-TW" altLang="en-US" dirty="0"/>
                  <a:t>原</a:t>
                </a:r>
                <a:r>
                  <a:rPr lang="en-US" altLang="zh-TW" dirty="0"/>
                  <a:t>25V=E=</a:t>
                </a:r>
                <a:r>
                  <a:rPr lang="zh-TW" altLang="en-US" dirty="0"/>
                  <a:t> </a:t>
                </a:r>
                <a:r>
                  <a:rPr lang="en-US" altLang="zh-TW" dirty="0"/>
                  <a:t>1.786</a:t>
                </a:r>
                <a:r>
                  <a:rPr lang="zh-TW" altLang="en-US" dirty="0"/>
                  <a:t> </a:t>
                </a:r>
                <a:r>
                  <a:rPr lang="en-US" altLang="zh-TW" dirty="0" err="1"/>
                  <a:t>kv</a:t>
                </a:r>
                <a:r>
                  <a:rPr lang="en-US" altLang="zh-TW" dirty="0"/>
                  <a:t>/mm  =1786*14*E(-3)</a:t>
                </a:r>
                <a:endParaRPr lang="zh-TW" altLang="en-US" dirty="0"/>
              </a:p>
            </p:txBody>
          </p:sp>
        </mc:Choice>
        <mc:Fallback xmlns="">
          <p:sp>
            <p:nvSpPr>
              <p:cNvPr id="3" name="備忘稿版面配置區 2"/>
              <p:cNvSpPr>
                <a:spLocks noGrp="1"/>
              </p:cNvSpPr>
              <p:nvPr>
                <p:ph type="body" idx="1"/>
              </p:nvPr>
            </p:nvSpPr>
            <p:spPr/>
            <p:txBody>
              <a:bodyPr/>
              <a:lstStyle/>
              <a:p>
                <a:r>
                  <a:rPr lang="en-US" altLang="zh-TW" dirty="0"/>
                  <a:t>for an incident ordinary wave, the transmittance of the optical power in this EO APLN filter can be defined as </a:t>
                </a:r>
                <a:r>
                  <a:rPr lang="en-US" altLang="zh-TW" sz="1200" kern="0" dirty="0">
                    <a:effectLst/>
                    <a:latin typeface="Times New Roman" panose="02020603050405020304" pitchFamily="18" charset="0"/>
                    <a:ea typeface="標楷體" panose="03000509000000000000" pitchFamily="65" charset="-120"/>
                    <a:cs typeface="新細明體" panose="02020500000000000000" pitchFamily="18" charset="-120"/>
                  </a:rPr>
                  <a:t>T = </a:t>
                </a:r>
                <a:r>
                  <a:rPr lang="zh-TW" altLang="zh-TW" sz="1200" i="0" kern="0">
                    <a:effectLst/>
                    <a:latin typeface="Cambria Math" panose="02040503050406030204" pitchFamily="18" charset="0"/>
                  </a:rPr>
                  <a:t>|(</a:t>
                </a:r>
                <a:r>
                  <a:rPr lang="en-US" altLang="zh-TW" sz="1200" i="0" kern="0">
                    <a:effectLst/>
                    <a:latin typeface="Cambria Math" panose="02040503050406030204" pitchFamily="18" charset="0"/>
                    <a:ea typeface="標楷體" panose="03000509000000000000" pitchFamily="65" charset="-120"/>
                    <a:cs typeface="新細明體" panose="02020500000000000000" pitchFamily="18" charset="-120"/>
                  </a:rPr>
                  <a:t>𝐴</a:t>
                </a:r>
                <a:r>
                  <a:rPr lang="zh-TW" altLang="zh-TW" sz="1200" i="0" kern="0">
                    <a:effectLst/>
                    <a:latin typeface="Cambria Math" panose="02040503050406030204" pitchFamily="18" charset="0"/>
                    <a:ea typeface="標楷體" panose="03000509000000000000" pitchFamily="65" charset="-120"/>
                    <a:cs typeface="新細明體" panose="02020500000000000000" pitchFamily="18" charset="-120"/>
                  </a:rPr>
                  <a:t>_</a:t>
                </a:r>
                <a:r>
                  <a:rPr lang="en-US" altLang="zh-TW" sz="1200" i="0" kern="0">
                    <a:effectLst/>
                    <a:latin typeface="Cambria Math" panose="02040503050406030204" pitchFamily="18" charset="0"/>
                    <a:ea typeface="標楷體" panose="03000509000000000000" pitchFamily="65" charset="-120"/>
                    <a:cs typeface="新細明體" panose="02020500000000000000" pitchFamily="18" charset="-120"/>
                  </a:rPr>
                  <a:t>𝑒 (𝑥</a:t>
                </a:r>
                <a:r>
                  <a:rPr lang="zh-TW" altLang="zh-TW" sz="1200" i="0" kern="0">
                    <a:effectLst/>
                    <a:latin typeface="Cambria Math" panose="02040503050406030204" pitchFamily="18" charset="0"/>
                    <a:ea typeface="標楷體" panose="03000509000000000000" pitchFamily="65" charset="-120"/>
                    <a:cs typeface="新細明體" panose="02020500000000000000" pitchFamily="18" charset="-120"/>
                  </a:rPr>
                  <a:t>_</a:t>
                </a:r>
                <a:r>
                  <a:rPr lang="en-US" altLang="zh-TW" sz="1200" i="0" kern="0">
                    <a:effectLst/>
                    <a:latin typeface="Cambria Math" panose="02040503050406030204" pitchFamily="18" charset="0"/>
                    <a:ea typeface="標楷體" panose="03000509000000000000" pitchFamily="65" charset="-120"/>
                    <a:cs typeface="新細明體" panose="02020500000000000000" pitchFamily="18" charset="-120"/>
                  </a:rPr>
                  <a:t>𝑁)</a:t>
                </a:r>
                <a:r>
                  <a:rPr lang="zh-TW" altLang="zh-TW" sz="1200" i="0" kern="0">
                    <a:effectLst/>
                    <a:latin typeface="Cambria Math" panose="02040503050406030204" pitchFamily="18" charset="0"/>
                    <a:ea typeface="標楷體" panose="03000509000000000000" pitchFamily="65" charset="-120"/>
                    <a:cs typeface="新細明體" panose="02020500000000000000" pitchFamily="18" charset="-120"/>
                  </a:rPr>
                  <a:t>)/</a:t>
                </a:r>
                <a:r>
                  <a:rPr lang="en-US" altLang="zh-TW" sz="1200" i="0" kern="0">
                    <a:effectLst/>
                    <a:latin typeface="Cambria Math" panose="02040503050406030204" pitchFamily="18" charset="0"/>
                    <a:ea typeface="標楷體" panose="03000509000000000000" pitchFamily="65" charset="-120"/>
                    <a:cs typeface="新細明體" panose="02020500000000000000" pitchFamily="18" charset="-120"/>
                  </a:rPr>
                  <a:t>𝐴</a:t>
                </a:r>
                <a:r>
                  <a:rPr lang="zh-TW" altLang="zh-TW" sz="1200" i="0" kern="0">
                    <a:effectLst/>
                    <a:latin typeface="Cambria Math" panose="02040503050406030204" pitchFamily="18" charset="0"/>
                    <a:ea typeface="標楷體" panose="03000509000000000000" pitchFamily="65" charset="-120"/>
                    <a:cs typeface="新細明體" panose="02020500000000000000" pitchFamily="18" charset="-120"/>
                  </a:rPr>
                  <a:t>_(</a:t>
                </a:r>
                <a:r>
                  <a:rPr lang="en-US" altLang="zh-TW" sz="1200" i="0" kern="0">
                    <a:effectLst/>
                    <a:latin typeface="Cambria Math" panose="02040503050406030204" pitchFamily="18" charset="0"/>
                    <a:ea typeface="標楷體" panose="03000509000000000000" pitchFamily="65" charset="-120"/>
                    <a:cs typeface="新細明體" panose="02020500000000000000" pitchFamily="18" charset="-120"/>
                  </a:rPr>
                  <a:t>𝑜(0)</a:t>
                </a:r>
                <a:r>
                  <a:rPr lang="zh-TW" altLang="zh-TW" sz="1200" i="0" kern="0">
                    <a:effectLst/>
                    <a:latin typeface="Cambria Math" panose="02040503050406030204" pitchFamily="18" charset="0"/>
                    <a:ea typeface="標楷體" panose="03000509000000000000" pitchFamily="65" charset="-120"/>
                    <a:cs typeface="新細明體" panose="02020500000000000000" pitchFamily="18" charset="-120"/>
                  </a:rPr>
                  <a:t>)</a:t>
                </a:r>
                <a:r>
                  <a:rPr lang="en-US" altLang="zh-TW" sz="1200" i="0" kern="0">
                    <a:effectLst/>
                    <a:latin typeface="Cambria Math" panose="02040503050406030204" pitchFamily="18" charset="0"/>
                    <a:ea typeface="標楷體" panose="03000509000000000000" pitchFamily="65" charset="-120"/>
                    <a:cs typeface="新細明體" panose="02020500000000000000" pitchFamily="18" charset="-120"/>
                  </a:rPr>
                  <a:t> |</a:t>
                </a:r>
                <a:r>
                  <a:rPr lang="zh-TW" altLang="zh-TW" sz="1200" i="0" kern="0">
                    <a:effectLst/>
                    <a:latin typeface="Cambria Math" panose="02040503050406030204" pitchFamily="18" charset="0"/>
                    <a:ea typeface="標楷體" panose="03000509000000000000" pitchFamily="65" charset="-120"/>
                    <a:cs typeface="新細明體" panose="02020500000000000000" pitchFamily="18" charset="-120"/>
                  </a:rPr>
                  <a:t>^</a:t>
                </a:r>
                <a:r>
                  <a:rPr lang="en-US" altLang="zh-TW" sz="1200" i="0" kern="0">
                    <a:effectLst/>
                    <a:latin typeface="Cambria Math" panose="02040503050406030204" pitchFamily="18" charset="0"/>
                    <a:ea typeface="標楷體" panose="03000509000000000000" pitchFamily="65" charset="-120"/>
                    <a:cs typeface="新細明體" panose="02020500000000000000" pitchFamily="18" charset="-120"/>
                  </a:rPr>
                  <a:t>2</a:t>
                </a:r>
                <a:endParaRPr lang="en-US" altLang="zh-TW" dirty="0"/>
              </a:p>
              <a:p>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量測</a:t>
                </a:r>
                <a:r>
                  <a:rPr lang="en-US" altLang="zh-TW" dirty="0"/>
                  <a:t>V =55V  </a:t>
                </a:r>
                <a:r>
                  <a:rPr lang="zh-TW" altLang="en-US" dirty="0"/>
                  <a:t>原</a:t>
                </a:r>
                <a:r>
                  <a:rPr lang="en-US" altLang="zh-TW" dirty="0"/>
                  <a:t>25V=E=</a:t>
                </a:r>
                <a:r>
                  <a:rPr lang="zh-TW" altLang="en-US" dirty="0"/>
                  <a:t> </a:t>
                </a:r>
                <a:r>
                  <a:rPr lang="en-US" altLang="zh-TW" dirty="0"/>
                  <a:t>1.786</a:t>
                </a:r>
                <a:r>
                  <a:rPr lang="zh-TW" altLang="en-US" dirty="0"/>
                  <a:t> </a:t>
                </a:r>
                <a:r>
                  <a:rPr lang="en-US" altLang="zh-TW" dirty="0" err="1"/>
                  <a:t>kv</a:t>
                </a:r>
                <a:r>
                  <a:rPr lang="en-US" altLang="zh-TW" dirty="0"/>
                  <a:t>/mm  =1786*14*E(-3)</a:t>
                </a:r>
                <a:endParaRPr lang="zh-TW" altLang="en-US" dirty="0"/>
              </a:p>
            </p:txBody>
          </p:sp>
        </mc:Fallback>
      </mc:AlternateContent>
      <p:sp>
        <p:nvSpPr>
          <p:cNvPr id="4" name="投影片編號版面配置區 3"/>
          <p:cNvSpPr>
            <a:spLocks noGrp="1"/>
          </p:cNvSpPr>
          <p:nvPr>
            <p:ph type="sldNum" sz="quarter" idx="5"/>
          </p:nvPr>
        </p:nvSpPr>
        <p:spPr/>
        <p:txBody>
          <a:bodyPr/>
          <a:lstStyle/>
          <a:p>
            <a:fld id="{7015F893-DC37-4D86-87E6-4581D5262153}" type="slidenum">
              <a:rPr lang="zh-TW" altLang="en-US" smtClean="0"/>
              <a:t>28</a:t>
            </a:fld>
            <a:endParaRPr lang="zh-TW" altLang="en-US"/>
          </a:p>
        </p:txBody>
      </p:sp>
    </p:spTree>
    <p:extLst>
      <p:ext uri="{BB962C8B-B14F-4D97-AF65-F5344CB8AC3E}">
        <p14:creationId xmlns:p14="http://schemas.microsoft.com/office/powerpoint/2010/main" val="7694953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接下來為我第四段的結構利用施加</a:t>
            </a:r>
            <a:r>
              <a:rPr lang="en-US" altLang="zh-TW" dirty="0"/>
              <a:t>Z</a:t>
            </a:r>
            <a:r>
              <a:rPr lang="zh-TW" altLang="en-US" dirty="0"/>
              <a:t>芳下電場進行向為調製的模擬，由右圖可以看到當我施加</a:t>
            </a:r>
            <a:r>
              <a:rPr lang="en-US" altLang="zh-TW" dirty="0"/>
              <a:t>18.2V</a:t>
            </a:r>
            <a:r>
              <a:rPr lang="zh-TW" altLang="en-US" dirty="0"/>
              <a:t> </a:t>
            </a:r>
            <a:r>
              <a:rPr lang="en-US" altLang="zh-TW" dirty="0"/>
              <a:t>TM</a:t>
            </a:r>
            <a:r>
              <a:rPr lang="zh-TW" altLang="en-US" dirty="0"/>
              <a:t>和</a:t>
            </a:r>
            <a:r>
              <a:rPr lang="en-US" altLang="zh-TW" dirty="0"/>
              <a:t>TE</a:t>
            </a:r>
            <a:r>
              <a:rPr lang="zh-TW" altLang="en-US" dirty="0"/>
              <a:t>間的相位可調製</a:t>
            </a:r>
            <a:r>
              <a:rPr lang="en-US" altLang="zh-TW" dirty="0"/>
              <a:t>pi</a:t>
            </a:r>
          </a:p>
          <a:p>
            <a:r>
              <a:rPr lang="zh-TW" altLang="en-US" dirty="0"/>
              <a:t>量測</a:t>
            </a:r>
            <a:r>
              <a:rPr lang="en-US" altLang="zh-TW" dirty="0"/>
              <a:t>=25V</a:t>
            </a:r>
            <a:r>
              <a:rPr lang="zh-TW" altLang="en-US" dirty="0"/>
              <a:t>    </a:t>
            </a:r>
            <a:r>
              <a:rPr lang="en-US" altLang="zh-TW" dirty="0"/>
              <a:t>E=</a:t>
            </a:r>
            <a:r>
              <a:rPr lang="zh-TW" altLang="en-US" dirty="0"/>
              <a:t> </a:t>
            </a:r>
            <a:r>
              <a:rPr lang="en-US" altLang="zh-TW" dirty="0"/>
              <a:t>1.3</a:t>
            </a:r>
            <a:r>
              <a:rPr lang="zh-TW" altLang="en-US" dirty="0"/>
              <a:t> </a:t>
            </a:r>
            <a:r>
              <a:rPr lang="en-US" altLang="zh-TW" dirty="0" err="1"/>
              <a:t>kv</a:t>
            </a:r>
            <a:r>
              <a:rPr lang="en-US" altLang="zh-TW" dirty="0"/>
              <a:t>/mm  =1300*14*E(-3) = 18V</a:t>
            </a:r>
            <a:r>
              <a:rPr lang="zh-TW" altLang="en-US" dirty="0"/>
              <a:t>  利用</a:t>
            </a:r>
            <a:endParaRPr lang="en-US" altLang="zh-TW" dirty="0"/>
          </a:p>
          <a:p>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30</a:t>
            </a:fld>
            <a:endParaRPr lang="zh-TW" altLang="en-US"/>
          </a:p>
        </p:txBody>
      </p:sp>
    </p:spTree>
    <p:extLst>
      <p:ext uri="{BB962C8B-B14F-4D97-AF65-F5344CB8AC3E}">
        <p14:creationId xmlns:p14="http://schemas.microsoft.com/office/powerpoint/2010/main" val="41957402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所以由剛的</a:t>
            </a:r>
            <a:r>
              <a:rPr lang="en-US" altLang="zh-TW" dirty="0"/>
              <a:t>EOPMC</a:t>
            </a:r>
            <a:r>
              <a:rPr lang="zh-TW" altLang="en-US" dirty="0"/>
              <a:t>與</a:t>
            </a:r>
            <a:r>
              <a:rPr lang="en-US" altLang="zh-TW" dirty="0"/>
              <a:t>EO</a:t>
            </a:r>
            <a:r>
              <a:rPr lang="zh-TW" altLang="en-US" dirty="0"/>
              <a:t> </a:t>
            </a:r>
            <a:r>
              <a:rPr lang="en-US" altLang="zh-TW" dirty="0"/>
              <a:t>Phase modulator</a:t>
            </a:r>
            <a:r>
              <a:rPr lang="zh-TW" altLang="en-US" dirty="0"/>
              <a:t>模擬知道所需施家的電壓，接下來我們將進行</a:t>
            </a:r>
            <a:r>
              <a:rPr lang="en-US" altLang="zh-TW" dirty="0"/>
              <a:t>EOPMC</a:t>
            </a:r>
            <a:r>
              <a:rPr lang="zh-TW" altLang="en-US" dirty="0"/>
              <a:t>及</a:t>
            </a:r>
            <a:r>
              <a:rPr lang="en-US" altLang="zh-TW" dirty="0"/>
              <a:t>EO</a:t>
            </a:r>
            <a:r>
              <a:rPr lang="zh-TW" altLang="en-US" dirty="0"/>
              <a:t> </a:t>
            </a:r>
            <a:r>
              <a:rPr lang="en-US" altLang="zh-TW" dirty="0"/>
              <a:t>Phase modulator</a:t>
            </a:r>
            <a:r>
              <a:rPr lang="zh-TW" altLang="en-US" dirty="0"/>
              <a:t>的電極設計，這是我</a:t>
            </a:r>
            <a:r>
              <a:rPr lang="en-US" altLang="zh-TW" dirty="0"/>
              <a:t>EOPMC</a:t>
            </a:r>
            <a:r>
              <a:rPr lang="zh-TW" altLang="en-US" dirty="0"/>
              <a:t>電極的設計，電極為設計在波導兩端，所以由頗面圖可看出當我施加電壓時，由圖可以看出當我設計這樣的電極時，其電力線的分布，可以看出當電力線經過波導時為</a:t>
            </a:r>
            <a:r>
              <a:rPr lang="en-US" altLang="zh-TW" dirty="0"/>
              <a:t>y</a:t>
            </a:r>
            <a:r>
              <a:rPr lang="zh-TW" altLang="en-US" dirty="0"/>
              <a:t>方向。</a:t>
            </a:r>
            <a:endParaRPr lang="en-US" altLang="zh-TW" dirty="0"/>
          </a:p>
          <a:p>
            <a:r>
              <a:rPr lang="zh-TW" altLang="en-US" dirty="0"/>
              <a:t>而右圖為</a:t>
            </a:r>
            <a:r>
              <a:rPr lang="en-US" altLang="zh-TW" dirty="0"/>
              <a:t>EO Phase modulator</a:t>
            </a:r>
            <a:r>
              <a:rPr lang="zh-TW" altLang="en-US" dirty="0"/>
              <a:t>電極的設計，由圖可看出當施加電壓時，由圖可以看出當我設計這樣的電極時，其電力線的分布，可以看出當電力線經過波導時為</a:t>
            </a:r>
            <a:r>
              <a:rPr lang="en-US" altLang="zh-TW" dirty="0"/>
              <a:t>z</a:t>
            </a:r>
            <a:r>
              <a:rPr lang="zh-TW" altLang="en-US" dirty="0"/>
              <a:t>方向</a:t>
            </a:r>
            <a:endParaRPr lang="en-US" altLang="zh-TW" dirty="0"/>
          </a:p>
          <a:p>
            <a:r>
              <a:rPr lang="zh-TW" altLang="en-US" dirty="0"/>
              <a:t>量測</a:t>
            </a:r>
            <a:r>
              <a:rPr lang="en-US" altLang="zh-TW" dirty="0"/>
              <a:t>=25V</a:t>
            </a:r>
            <a:r>
              <a:rPr lang="zh-TW" altLang="en-US" dirty="0"/>
              <a:t>    </a:t>
            </a:r>
            <a:r>
              <a:rPr lang="en-US" altLang="zh-TW" dirty="0"/>
              <a:t>E=</a:t>
            </a:r>
            <a:r>
              <a:rPr lang="zh-TW" altLang="en-US" dirty="0"/>
              <a:t> </a:t>
            </a:r>
            <a:r>
              <a:rPr lang="en-US" altLang="zh-TW" dirty="0"/>
              <a:t>1.3</a:t>
            </a:r>
            <a:r>
              <a:rPr lang="zh-TW" altLang="en-US" dirty="0"/>
              <a:t> </a:t>
            </a:r>
            <a:r>
              <a:rPr lang="en-US" altLang="zh-TW" dirty="0" err="1"/>
              <a:t>kv</a:t>
            </a:r>
            <a:r>
              <a:rPr lang="en-US" altLang="zh-TW" dirty="0"/>
              <a:t>/mm  =1300*14*E(-3) = 18V</a:t>
            </a:r>
            <a:r>
              <a:rPr lang="zh-TW" altLang="en-US" dirty="0"/>
              <a:t>  利用</a:t>
            </a:r>
            <a:endParaRPr lang="en-US" altLang="zh-TW" dirty="0"/>
          </a:p>
          <a:p>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31</a:t>
            </a:fld>
            <a:endParaRPr lang="zh-TW" altLang="en-US"/>
          </a:p>
        </p:txBody>
      </p:sp>
    </p:spTree>
    <p:extLst>
      <p:ext uri="{BB962C8B-B14F-4D97-AF65-F5344CB8AC3E}">
        <p14:creationId xmlns:p14="http://schemas.microsoft.com/office/powerpoint/2010/main" val="15663444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所以以下為利用</a:t>
            </a:r>
            <a:r>
              <a:rPr lang="en-US" altLang="zh-TW" dirty="0" err="1"/>
              <a:t>comsol</a:t>
            </a:r>
            <a:r>
              <a:rPr lang="zh-TW" altLang="en-US" dirty="0"/>
              <a:t>模擬當施加</a:t>
            </a:r>
            <a:r>
              <a:rPr lang="en-US" altLang="zh-TW" dirty="0"/>
              <a:t>y</a:t>
            </a:r>
            <a:r>
              <a:rPr lang="zh-TW" altLang="en-US" dirty="0"/>
              <a:t>方向電壓時此電極結構的設計，實際上波導在</a:t>
            </a:r>
            <a:r>
              <a:rPr lang="en-US" altLang="zh-TW" dirty="0"/>
              <a:t>y</a:t>
            </a:r>
            <a:r>
              <a:rPr lang="zh-TW" altLang="en-US" dirty="0"/>
              <a:t>方向電壓時的電場及電力線分布，而由圖可看出因波導在兩電極中間所以實際上需要加到</a:t>
            </a:r>
            <a:r>
              <a:rPr lang="en-US" altLang="zh-TW" dirty="0"/>
              <a:t>51V</a:t>
            </a:r>
            <a:r>
              <a:rPr lang="zh-TW" altLang="en-US" dirty="0"/>
              <a:t>波導中間</a:t>
            </a:r>
            <a:r>
              <a:rPr lang="en-US" altLang="zh-TW" dirty="0"/>
              <a:t>y</a:t>
            </a:r>
            <a:r>
              <a:rPr lang="zh-TW" altLang="en-US" dirty="0"/>
              <a:t>方下電壓才可達到</a:t>
            </a:r>
            <a:r>
              <a:rPr lang="en-US" altLang="zh-TW" dirty="0"/>
              <a:t>25V</a:t>
            </a:r>
          </a:p>
          <a:p>
            <a:endParaRPr lang="en-US" altLang="zh-TW" dirty="0"/>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32</a:t>
            </a:fld>
            <a:endParaRPr lang="zh-TW" altLang="en-US"/>
          </a:p>
        </p:txBody>
      </p:sp>
    </p:spTree>
    <p:extLst>
      <p:ext uri="{BB962C8B-B14F-4D97-AF65-F5344CB8AC3E}">
        <p14:creationId xmlns:p14="http://schemas.microsoft.com/office/powerpoint/2010/main" val="32710640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以下為利用</a:t>
            </a:r>
            <a:r>
              <a:rPr lang="en-US" altLang="zh-TW" dirty="0" err="1"/>
              <a:t>comsol</a:t>
            </a:r>
            <a:r>
              <a:rPr lang="zh-TW" altLang="en-US" dirty="0"/>
              <a:t>模擬當施加</a:t>
            </a:r>
            <a:r>
              <a:rPr lang="en-US" altLang="zh-TW" dirty="0"/>
              <a:t>z</a:t>
            </a:r>
            <a:r>
              <a:rPr lang="zh-TW" altLang="en-US" dirty="0"/>
              <a:t>方向電壓時此電極結構的設計，實際上波導在</a:t>
            </a:r>
            <a:r>
              <a:rPr lang="en-US" altLang="zh-TW" dirty="0"/>
              <a:t>z</a:t>
            </a:r>
            <a:r>
              <a:rPr lang="zh-TW" altLang="en-US" dirty="0"/>
              <a:t>方向電壓時的電場及電力線分布，而由圖可看出因波導在電極下方所以實際上需要電壓一樣為</a:t>
            </a:r>
            <a:r>
              <a:rPr lang="en-US" altLang="zh-TW" dirty="0"/>
              <a:t>18.2V</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33</a:t>
            </a:fld>
            <a:endParaRPr lang="zh-TW" altLang="en-US"/>
          </a:p>
        </p:txBody>
      </p:sp>
    </p:spTree>
    <p:extLst>
      <p:ext uri="{BB962C8B-B14F-4D97-AF65-F5344CB8AC3E}">
        <p14:creationId xmlns:p14="http://schemas.microsoft.com/office/powerpoint/2010/main" val="31811246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所以接下來開始解說如何利用半導體製程將此四段結構作在意晶片內，製成種共分成</a:t>
            </a:r>
            <a:r>
              <a:rPr lang="en-US" altLang="zh-TW" dirty="0"/>
              <a:t>3</a:t>
            </a:r>
            <a:r>
              <a:rPr lang="zh-TW" altLang="en-US" dirty="0"/>
              <a:t>大部分晶片上波導的製作，接著是</a:t>
            </a:r>
            <a:r>
              <a:rPr lang="en-US" altLang="zh-TW" dirty="0"/>
              <a:t>Poling</a:t>
            </a:r>
            <a:r>
              <a:rPr lang="zh-TW" altLang="en-US" dirty="0"/>
              <a:t> </a:t>
            </a:r>
            <a:r>
              <a:rPr lang="en-US" altLang="zh-TW" dirty="0"/>
              <a:t>process</a:t>
            </a:r>
            <a:r>
              <a:rPr lang="zh-TW" altLang="en-US" dirty="0"/>
              <a:t>也就是在離酸尼上做出正負非洲期與周期的經籌結構，接這最後將電極金屬結構度在晶片上。</a:t>
            </a:r>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35</a:t>
            </a:fld>
            <a:endParaRPr lang="zh-TW" altLang="en-US"/>
          </a:p>
        </p:txBody>
      </p:sp>
    </p:spTree>
    <p:extLst>
      <p:ext uri="{BB962C8B-B14F-4D97-AF65-F5344CB8AC3E}">
        <p14:creationId xmlns:p14="http://schemas.microsoft.com/office/powerpoint/2010/main" val="9979004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所以第一步為將晶片清洗，將晶片清洗乾淨後開始進入塗佈光阻，去邊去背，與軟烤的步驟，接下進行曝光反轉烤顯影，最後就會得到如右圖波導的</a:t>
            </a:r>
            <a:r>
              <a:rPr lang="zh-TW" altLang="zh-TW" sz="1800" dirty="0">
                <a:effectLst/>
                <a:ea typeface="標楷體" panose="03000509000000000000" pitchFamily="65" charset="-120"/>
                <a:cs typeface="Times New Roman" panose="02020603050405020304" pitchFamily="18" charset="0"/>
              </a:rPr>
              <a:t>曝光</a:t>
            </a:r>
            <a:r>
              <a:rPr lang="zh-TW" altLang="en-US" sz="1800" dirty="0">
                <a:effectLst/>
                <a:ea typeface="標楷體" panose="03000509000000000000" pitchFamily="65" charset="-120"/>
                <a:cs typeface="Times New Roman" panose="02020603050405020304" pitchFamily="18" charset="0"/>
              </a:rPr>
              <a:t>後的</a:t>
            </a:r>
            <a:r>
              <a:rPr lang="zh-TW" altLang="zh-TW" sz="1800" dirty="0">
                <a:effectLst/>
                <a:ea typeface="標楷體" panose="03000509000000000000" pitchFamily="65" charset="-120"/>
                <a:cs typeface="Times New Roman" panose="02020603050405020304" pitchFamily="18" charset="0"/>
              </a:rPr>
              <a:t>結果</a:t>
            </a:r>
            <a:endParaRPr lang="zh-TW" altLang="en-US" dirty="0"/>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36</a:t>
            </a:fld>
            <a:endParaRPr lang="zh-TW" altLang="en-US"/>
          </a:p>
        </p:txBody>
      </p:sp>
    </p:spTree>
    <p:extLst>
      <p:ext uri="{BB962C8B-B14F-4D97-AF65-F5344CB8AC3E}">
        <p14:creationId xmlns:p14="http://schemas.microsoft.com/office/powerpoint/2010/main" val="41987431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接著將晶片度上鈦模後，接著</a:t>
            </a:r>
            <a:r>
              <a:rPr lang="en-US" altLang="zh-TW" dirty="0"/>
              <a:t>lift off</a:t>
            </a:r>
            <a:r>
              <a:rPr lang="zh-TW" altLang="en-US" dirty="0"/>
              <a:t>，最後將晶片切成設計的大小後，放入高溫盧館進行燒鈦使鈦擴散致晶體形成波導，完成波導的製作，但因為燒鈦過程鋰酸鈮會因為高溫而有熱電效應造成一層薄薄的極化反轉，所以需要將正</a:t>
            </a:r>
            <a:r>
              <a:rPr lang="en-US" altLang="zh-TW" dirty="0"/>
              <a:t>Z</a:t>
            </a:r>
            <a:r>
              <a:rPr lang="zh-TW" altLang="en-US" dirty="0"/>
              <a:t>面拋掉</a:t>
            </a:r>
            <a:r>
              <a:rPr lang="en-US" altLang="zh-TW" dirty="0"/>
              <a:t>0.05mm</a:t>
            </a:r>
            <a:r>
              <a:rPr lang="zh-TW" altLang="en-US" dirty="0"/>
              <a:t>。</a:t>
            </a:r>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37</a:t>
            </a:fld>
            <a:endParaRPr lang="zh-TW" altLang="en-US"/>
          </a:p>
        </p:txBody>
      </p:sp>
    </p:spTree>
    <p:extLst>
      <p:ext uri="{BB962C8B-B14F-4D97-AF65-F5344CB8AC3E}">
        <p14:creationId xmlns:p14="http://schemas.microsoft.com/office/powerpoint/2010/main" val="2718354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接下來進入到極化反轉結構製成的流程，期剛開始黃光微影與前面波導製程相似，一 樣將晶片進行清洗，接著將晶片清洗乾淨後開始進入塗佈光阻，去邊去背，與軟烤的步驟，接下進行曝光顯影，最後就會得到如右圖波導的曝光後的結果</a:t>
            </a:r>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38</a:t>
            </a:fld>
            <a:endParaRPr lang="zh-TW" altLang="en-US"/>
          </a:p>
        </p:txBody>
      </p:sp>
    </p:spTree>
    <p:extLst>
      <p:ext uri="{BB962C8B-B14F-4D97-AF65-F5344CB8AC3E}">
        <p14:creationId xmlns:p14="http://schemas.microsoft.com/office/powerpoint/2010/main" val="31444267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接著將顯影完的晶片拿去硬烤目的是為了將光祖烤乾烤硬，因後面校利用如右圖加高電壓的製程方式將離酸尼晶片做極化反轉，所以需要將光祖烤乾藉此阻擋高電壓將無須極化反轉的位置打壞，接著使用</a:t>
            </a:r>
            <a:r>
              <a:rPr lang="en-US" altLang="zh-TW" dirty="0"/>
              <a:t>HF</a:t>
            </a:r>
            <a:r>
              <a:rPr lang="zh-TW" altLang="en-US" dirty="0"/>
              <a:t>進行蝕刻，得到右圖的結構，接著將晶片的兩個端面拋亮，目的是使我們的晶片端面平整，減少當我們進行量測時光纖耦合進波導的損耗</a:t>
            </a:r>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39</a:t>
            </a:fld>
            <a:endParaRPr lang="zh-TW" altLang="en-US"/>
          </a:p>
        </p:txBody>
      </p:sp>
    </p:spTree>
    <p:extLst>
      <p:ext uri="{BB962C8B-B14F-4D97-AF65-F5344CB8AC3E}">
        <p14:creationId xmlns:p14="http://schemas.microsoft.com/office/powerpoint/2010/main" val="294043062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接下來進入到電極結構製成的流程，期剛開始黃光微影與前面波導製程一樣，將晶片進行清洗，接著將晶片清洗乾淨後開始進入塗佈光阻，去邊去背，與軟烤的步驟，接下進行曝光反轉烤顯影，最後就會得到如右圖波導的曝光後的結果</a:t>
            </a:r>
          </a:p>
          <a:p>
            <a:endParaRPr lang="zh-TW" altLang="en-US" dirty="0"/>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40</a:t>
            </a:fld>
            <a:endParaRPr lang="zh-TW" altLang="en-US"/>
          </a:p>
        </p:txBody>
      </p:sp>
    </p:spTree>
    <p:extLst>
      <p:ext uri="{BB962C8B-B14F-4D97-AF65-F5344CB8AC3E}">
        <p14:creationId xmlns:p14="http://schemas.microsoft.com/office/powerpoint/2010/main" val="224461875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接著進行鍍膜，鮮度上議層</a:t>
            </a:r>
            <a:r>
              <a:rPr lang="en-US" altLang="zh-TW" dirty="0"/>
              <a:t>SiO2</a:t>
            </a:r>
            <a:r>
              <a:rPr lang="zh-TW" altLang="en-US" dirty="0"/>
              <a:t>其目的是當作一層</a:t>
            </a:r>
            <a:r>
              <a:rPr lang="en-US" altLang="zh-TW" dirty="0"/>
              <a:t>buffer</a:t>
            </a:r>
            <a:r>
              <a:rPr lang="zh-TW" altLang="en-US" dirty="0"/>
              <a:t>，因為在波導上直接鍍上金屬會使的當光進入波導後會造成損耗，鍍完</a:t>
            </a:r>
            <a:r>
              <a:rPr lang="en-US" altLang="zh-TW" dirty="0"/>
              <a:t>SiO2</a:t>
            </a:r>
            <a:r>
              <a:rPr lang="zh-TW" altLang="en-US" dirty="0"/>
              <a:t>後接著會鍍上</a:t>
            </a:r>
            <a:r>
              <a:rPr lang="en-US" altLang="zh-TW" dirty="0"/>
              <a:t>Ni</a:t>
            </a:r>
            <a:r>
              <a:rPr lang="zh-TW" altLang="en-US" dirty="0"/>
              <a:t>和</a:t>
            </a:r>
            <a:r>
              <a:rPr lang="en-US" altLang="zh-TW" dirty="0"/>
              <a:t>Au</a:t>
            </a:r>
            <a:r>
              <a:rPr lang="zh-TW" altLang="en-US" dirty="0"/>
              <a:t>，用</a:t>
            </a:r>
            <a:r>
              <a:rPr lang="en-US" altLang="zh-TW" dirty="0"/>
              <a:t>E-gun</a:t>
            </a:r>
            <a:r>
              <a:rPr lang="zh-TW" altLang="en-US" dirty="0"/>
              <a:t>鍍</a:t>
            </a:r>
            <a:r>
              <a:rPr lang="en-US" altLang="zh-TW" dirty="0"/>
              <a:t>Ni 50nm</a:t>
            </a:r>
            <a:r>
              <a:rPr lang="zh-TW" altLang="en-US" dirty="0"/>
              <a:t>目的是為了使</a:t>
            </a:r>
            <a:r>
              <a:rPr lang="en-US" altLang="zh-TW" dirty="0"/>
              <a:t>Au</a:t>
            </a:r>
            <a:r>
              <a:rPr lang="zh-TW" altLang="en-US" dirty="0"/>
              <a:t>可以較容易附著在</a:t>
            </a:r>
            <a:r>
              <a:rPr lang="en-US" altLang="zh-TW" dirty="0"/>
              <a:t>SiO2</a:t>
            </a:r>
            <a:r>
              <a:rPr lang="zh-TW" altLang="en-US" dirty="0"/>
              <a:t>上因為金的附著力較差，接著再鍍上金</a:t>
            </a:r>
            <a:r>
              <a:rPr lang="en-US" altLang="zh-TW" dirty="0"/>
              <a:t>150nm</a:t>
            </a:r>
            <a:r>
              <a:rPr lang="zh-TW" altLang="en-US" dirty="0"/>
              <a:t>，接著進行</a:t>
            </a:r>
            <a:r>
              <a:rPr lang="en-US" altLang="zh-TW" dirty="0"/>
              <a:t>lift off</a:t>
            </a:r>
            <a:r>
              <a:rPr lang="zh-TW" altLang="en-US" dirty="0"/>
              <a:t>得到右圖的結構</a:t>
            </a:r>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41</a:t>
            </a:fld>
            <a:endParaRPr lang="zh-TW" altLang="en-US"/>
          </a:p>
        </p:txBody>
      </p:sp>
    </p:spTree>
    <p:extLst>
      <p:ext uri="{BB962C8B-B14F-4D97-AF65-F5344CB8AC3E}">
        <p14:creationId xmlns:p14="http://schemas.microsoft.com/office/powerpoint/2010/main" val="3578230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所以到這邊我晶片的製程就結束了，所以統整一下此四段的晶片結構第一步為坐上波導，接著在晶體上做上</a:t>
            </a:r>
            <a:r>
              <a:rPr lang="en-US" altLang="zh-TW" dirty="0"/>
              <a:t>SPDC&amp;EOPMC</a:t>
            </a:r>
            <a:r>
              <a:rPr lang="zh-TW" altLang="en-US" dirty="0"/>
              <a:t>極化反轉的結構最後再度上</a:t>
            </a:r>
            <a:r>
              <a:rPr lang="en-US" altLang="zh-TW" dirty="0"/>
              <a:t>EOPMC</a:t>
            </a:r>
            <a:r>
              <a:rPr lang="zh-TW" altLang="en-US" dirty="0"/>
              <a:t>與</a:t>
            </a:r>
            <a:r>
              <a:rPr lang="en-US" altLang="zh-TW" dirty="0"/>
              <a:t>EO</a:t>
            </a:r>
            <a:r>
              <a:rPr lang="zh-TW" altLang="en-US" dirty="0"/>
              <a:t>加在</a:t>
            </a:r>
            <a:r>
              <a:rPr lang="en-US" altLang="zh-TW" dirty="0"/>
              <a:t>y</a:t>
            </a:r>
            <a:r>
              <a:rPr lang="zh-TW" altLang="en-US" dirty="0"/>
              <a:t>與</a:t>
            </a:r>
            <a:r>
              <a:rPr lang="en-US" altLang="zh-TW" dirty="0"/>
              <a:t>z</a:t>
            </a:r>
            <a:r>
              <a:rPr lang="zh-TW" altLang="en-US" dirty="0"/>
              <a:t>方向的電極結構，所以右圖為晶片完成後的圖</a:t>
            </a:r>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42</a:t>
            </a:fld>
            <a:endParaRPr lang="zh-TW" altLang="en-US"/>
          </a:p>
        </p:txBody>
      </p:sp>
    </p:spTree>
    <p:extLst>
      <p:ext uri="{BB962C8B-B14F-4D97-AF65-F5344CB8AC3E}">
        <p14:creationId xmlns:p14="http://schemas.microsoft.com/office/powerpoint/2010/main" val="381448027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晶片完成之後</a:t>
            </a:r>
            <a:r>
              <a:rPr lang="en-US" altLang="zh-TW" dirty="0"/>
              <a:t>, </a:t>
            </a:r>
            <a:r>
              <a:rPr lang="zh-TW" altLang="en-US" dirty="0"/>
              <a:t>進入到量測的階段，第一步為進行</a:t>
            </a:r>
            <a:r>
              <a:rPr lang="en-US" altLang="zh-TW" dirty="0"/>
              <a:t>SHG</a:t>
            </a:r>
            <a:r>
              <a:rPr lang="zh-TW" altLang="en-US" dirty="0"/>
              <a:t>的量測</a:t>
            </a:r>
          </a:p>
        </p:txBody>
      </p:sp>
      <p:sp>
        <p:nvSpPr>
          <p:cNvPr id="4" name="投影片編號版面配置區 3"/>
          <p:cNvSpPr>
            <a:spLocks noGrp="1"/>
          </p:cNvSpPr>
          <p:nvPr>
            <p:ph type="sldNum" sz="quarter" idx="5"/>
          </p:nvPr>
        </p:nvSpPr>
        <p:spPr/>
        <p:txBody>
          <a:bodyPr/>
          <a:lstStyle/>
          <a:p>
            <a:fld id="{CFE72010-84F5-475A-802D-FB41B8E7F8A9}" type="slidenum">
              <a:rPr lang="zh-TW" altLang="en-US" smtClean="0"/>
              <a:t>43</a:t>
            </a:fld>
            <a:endParaRPr lang="zh-TW" altLang="en-US"/>
          </a:p>
        </p:txBody>
      </p:sp>
    </p:spTree>
    <p:extLst>
      <p:ext uri="{BB962C8B-B14F-4D97-AF65-F5344CB8AC3E}">
        <p14:creationId xmlns:p14="http://schemas.microsoft.com/office/powerpoint/2010/main" val="426841020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以下為我進行</a:t>
            </a:r>
            <a:r>
              <a:rPr lang="en-US" altLang="zh-TW" dirty="0"/>
              <a:t>SHG</a:t>
            </a:r>
            <a:r>
              <a:rPr lang="zh-TW" altLang="en-US" dirty="0"/>
              <a:t>量測的量測架構，首先我們將此波長可調的</a:t>
            </a:r>
            <a:r>
              <a:rPr lang="en-US" altLang="zh-TW" dirty="0"/>
              <a:t>laser</a:t>
            </a:r>
            <a:r>
              <a:rPr lang="zh-TW" altLang="en-US" dirty="0"/>
              <a:t>打入</a:t>
            </a:r>
            <a:r>
              <a:rPr lang="en-US" altLang="zh-TW" dirty="0"/>
              <a:t>EDFA</a:t>
            </a:r>
            <a:r>
              <a:rPr lang="zh-TW" altLang="en-US" dirty="0"/>
              <a:t>將其功率放大後，接著利用</a:t>
            </a:r>
            <a:r>
              <a:rPr lang="en-US" altLang="zh-TW" dirty="0"/>
              <a:t>polarization </a:t>
            </a:r>
            <a:r>
              <a:rPr lang="en-US" altLang="zh-TW" dirty="0" err="1"/>
              <a:t>cotroller</a:t>
            </a:r>
            <a:r>
              <a:rPr lang="zh-TW" altLang="en-US" dirty="0"/>
              <a:t>將其偏振控制為</a:t>
            </a:r>
            <a:r>
              <a:rPr lang="en-US" altLang="zh-TW" dirty="0"/>
              <a:t>TM</a:t>
            </a:r>
            <a:r>
              <a:rPr lang="zh-TW" altLang="en-US" dirty="0"/>
              <a:t>的入射光，接著將光利用光纖耦合進入波導後，將從晶片出來的光利用物竟進行收光，並將光聚焦在</a:t>
            </a:r>
            <a:r>
              <a:rPr lang="en-US" altLang="zh-TW" dirty="0"/>
              <a:t>power meter</a:t>
            </a:r>
            <a:r>
              <a:rPr lang="zh-TW" altLang="en-US" dirty="0"/>
              <a:t>上量測其功率質，量測期不同溫度下，所產生出來的</a:t>
            </a:r>
            <a:r>
              <a:rPr lang="en-US" altLang="zh-TW" dirty="0"/>
              <a:t>SHG</a:t>
            </a:r>
            <a:r>
              <a:rPr lang="zh-TW" altLang="en-US" dirty="0"/>
              <a:t>相位匹配也就是轉換效率最好的中心波長為何</a:t>
            </a:r>
            <a:endParaRPr lang="en-US" altLang="zh-TW" dirty="0"/>
          </a:p>
          <a:p>
            <a:endParaRPr lang="en-US" altLang="zh-TW" dirty="0"/>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44</a:t>
            </a:fld>
            <a:endParaRPr lang="zh-TW" altLang="en-US"/>
          </a:p>
        </p:txBody>
      </p:sp>
    </p:spTree>
    <p:extLst>
      <p:ext uri="{BB962C8B-B14F-4D97-AF65-F5344CB8AC3E}">
        <p14:creationId xmlns:p14="http://schemas.microsoft.com/office/powerpoint/2010/main" val="43682129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所以量完測試片後了解了每個不同周期及溫度的</a:t>
            </a:r>
            <a:r>
              <a:rPr lang="en-US" altLang="zh-TW" dirty="0"/>
              <a:t>tuning rate</a:t>
            </a:r>
            <a:r>
              <a:rPr lang="zh-TW" altLang="en-US" dirty="0"/>
              <a:t>後接下來我們會利用此結果進行正式片</a:t>
            </a:r>
            <a:r>
              <a:rPr lang="en-US" altLang="zh-TW" dirty="0"/>
              <a:t>SPDC</a:t>
            </a:r>
            <a:r>
              <a:rPr lang="zh-TW" altLang="en-US" dirty="0"/>
              <a:t>周期的設計，所以此圖為正式片也就是擁有兩段</a:t>
            </a:r>
            <a:r>
              <a:rPr lang="en-US" altLang="zh-TW" dirty="0"/>
              <a:t>SPDC</a:t>
            </a:r>
            <a:r>
              <a:rPr lang="zh-TW" altLang="en-US" dirty="0"/>
              <a:t> </a:t>
            </a:r>
            <a:r>
              <a:rPr lang="en-US" altLang="zh-TW" dirty="0"/>
              <a:t>PPLN</a:t>
            </a:r>
            <a:r>
              <a:rPr lang="zh-TW" altLang="en-US" dirty="0"/>
              <a:t>結構的</a:t>
            </a:r>
            <a:r>
              <a:rPr lang="en-US" altLang="zh-TW" dirty="0"/>
              <a:t>SHG</a:t>
            </a:r>
            <a:r>
              <a:rPr lang="zh-TW" altLang="en-US" dirty="0"/>
              <a:t>量測，而此量測目的是</a:t>
            </a:r>
            <a:r>
              <a:rPr lang="zh-TW" altLang="zh-TW" sz="1800" dirty="0">
                <a:effectLst/>
                <a:ea typeface="標楷體" panose="03000509000000000000" pitchFamily="65" charset="-120"/>
                <a:cs typeface="Times New Roman" panose="02020603050405020304" pitchFamily="18" charset="0"/>
              </a:rPr>
              <a:t>確認二倍頻</a:t>
            </a:r>
            <a:r>
              <a:rPr lang="zh-TW" altLang="en-US" sz="1800" dirty="0">
                <a:effectLst/>
                <a:ea typeface="標楷體" panose="03000509000000000000" pitchFamily="65" charset="-120"/>
                <a:cs typeface="Times New Roman" panose="02020603050405020304" pitchFamily="18" charset="0"/>
              </a:rPr>
              <a:t>再</a:t>
            </a:r>
            <a:r>
              <a:rPr lang="en-US" altLang="zh-TW" sz="1800" dirty="0">
                <a:effectLst/>
                <a:ea typeface="標楷體" panose="03000509000000000000" pitchFamily="65" charset="-120"/>
                <a:cs typeface="Times New Roman" panose="02020603050405020304" pitchFamily="18" charset="0"/>
              </a:rPr>
              <a:t>784.5nm</a:t>
            </a:r>
            <a:r>
              <a:rPr lang="zh-TW" altLang="zh-TW" sz="1800" dirty="0">
                <a:effectLst/>
                <a:ea typeface="標楷體" panose="03000509000000000000" pitchFamily="65" charset="-120"/>
                <a:cs typeface="Times New Roman" panose="02020603050405020304" pitchFamily="18" charset="0"/>
              </a:rPr>
              <a:t>其相位匹配的溫度</a:t>
            </a:r>
            <a:r>
              <a:rPr lang="zh-TW" altLang="en-US" sz="1800" dirty="0">
                <a:effectLst/>
                <a:ea typeface="標楷體" panose="03000509000000000000" pitchFamily="65" charset="-120"/>
                <a:cs typeface="Times New Roman" panose="02020603050405020304" pitchFamily="18" charset="0"/>
              </a:rPr>
              <a:t>，因</a:t>
            </a:r>
            <a:r>
              <a:rPr lang="en-US" altLang="zh-TW" sz="1800" dirty="0">
                <a:effectLst/>
                <a:ea typeface="標楷體" panose="03000509000000000000" pitchFamily="65" charset="-120"/>
                <a:cs typeface="Times New Roman" panose="02020603050405020304" pitchFamily="18" charset="0"/>
              </a:rPr>
              <a:t>SPDC</a:t>
            </a:r>
            <a:r>
              <a:rPr lang="zh-TW" altLang="en-US" sz="1800" dirty="0">
                <a:effectLst/>
                <a:ea typeface="標楷體" panose="03000509000000000000" pitchFamily="65" charset="-120"/>
                <a:cs typeface="Times New Roman" panose="02020603050405020304" pitchFamily="18" charset="0"/>
              </a:rPr>
              <a:t>所需的入射光雷射其波長為</a:t>
            </a:r>
            <a:r>
              <a:rPr lang="en-US" altLang="zh-TW" sz="1800" dirty="0">
                <a:effectLst/>
                <a:ea typeface="標楷體" panose="03000509000000000000" pitchFamily="65" charset="-120"/>
                <a:cs typeface="Times New Roman" panose="02020603050405020304" pitchFamily="18" charset="0"/>
              </a:rPr>
              <a:t>84.5nm</a:t>
            </a:r>
            <a:r>
              <a:rPr lang="zh-TW" altLang="en-US" sz="1800" dirty="0">
                <a:effectLst/>
                <a:ea typeface="標楷體" panose="03000509000000000000" pitchFamily="65" charset="-120"/>
                <a:cs typeface="Times New Roman" panose="02020603050405020304" pitchFamily="18" charset="0"/>
              </a:rPr>
              <a:t>，所以我們最終目的為觀察二倍頻和</a:t>
            </a:r>
            <a:r>
              <a:rPr lang="en-US" altLang="zh-TW" sz="1800" dirty="0">
                <a:effectLst/>
                <a:ea typeface="標楷體" panose="03000509000000000000" pitchFamily="65" charset="-120"/>
                <a:cs typeface="Times New Roman" panose="02020603050405020304" pitchFamily="18" charset="0"/>
              </a:rPr>
              <a:t>EOPMC</a:t>
            </a:r>
            <a:r>
              <a:rPr lang="zh-TW" altLang="en-US" sz="1800" dirty="0">
                <a:effectLst/>
                <a:ea typeface="標楷體" panose="03000509000000000000" pitchFamily="65" charset="-120"/>
                <a:cs typeface="Times New Roman" panose="02020603050405020304" pitchFamily="18" charset="0"/>
              </a:rPr>
              <a:t>中心波長是否重合，如果重合這樣即可成功將</a:t>
            </a:r>
            <a:r>
              <a:rPr lang="en-US" altLang="zh-TW" sz="1800" dirty="0">
                <a:effectLst/>
                <a:ea typeface="標楷體" panose="03000509000000000000" pitchFamily="65" charset="-120"/>
                <a:cs typeface="Times New Roman" panose="02020603050405020304" pitchFamily="18" charset="0"/>
              </a:rPr>
              <a:t>784.5</a:t>
            </a:r>
            <a:r>
              <a:rPr lang="zh-TW" altLang="en-US" sz="1800" dirty="0">
                <a:effectLst/>
                <a:ea typeface="標楷體" panose="03000509000000000000" pitchFamily="65" charset="-120"/>
                <a:cs typeface="Times New Roman" panose="02020603050405020304" pitchFamily="18" charset="0"/>
              </a:rPr>
              <a:t>的雷射打入晶片中產生下轉換的光子對，再藉由</a:t>
            </a:r>
            <a:r>
              <a:rPr lang="en-US" altLang="zh-TW" sz="1800" dirty="0">
                <a:effectLst/>
                <a:ea typeface="標楷體" panose="03000509000000000000" pitchFamily="65" charset="-120"/>
                <a:cs typeface="Times New Roman" panose="02020603050405020304" pitchFamily="18" charset="0"/>
              </a:rPr>
              <a:t>EOPMC</a:t>
            </a:r>
            <a:r>
              <a:rPr lang="zh-TW" altLang="en-US" sz="1800" dirty="0">
                <a:effectLst/>
                <a:ea typeface="標楷體" panose="03000509000000000000" pitchFamily="65" charset="-120"/>
                <a:cs typeface="Times New Roman" panose="02020603050405020304" pitchFamily="18" charset="0"/>
              </a:rPr>
              <a:t>將第一段</a:t>
            </a:r>
            <a:r>
              <a:rPr lang="en-US" altLang="zh-TW" sz="1800" dirty="0">
                <a:effectLst/>
                <a:ea typeface="標楷體" panose="03000509000000000000" pitchFamily="65" charset="-120"/>
                <a:cs typeface="Times New Roman" panose="02020603050405020304" pitchFamily="18" charset="0"/>
              </a:rPr>
              <a:t>SPDC</a:t>
            </a:r>
            <a:r>
              <a:rPr lang="zh-TW" altLang="en-US" sz="1800" dirty="0">
                <a:effectLst/>
                <a:ea typeface="標楷體" panose="03000509000000000000" pitchFamily="65" charset="-120"/>
                <a:cs typeface="Times New Roman" panose="02020603050405020304" pitchFamily="18" charset="0"/>
              </a:rPr>
              <a:t>期光子對偏振進行轉換。</a:t>
            </a:r>
            <a:endParaRPr lang="zh-TW" altLang="en-US" dirty="0"/>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45</a:t>
            </a:fld>
            <a:endParaRPr lang="zh-TW" altLang="en-US"/>
          </a:p>
        </p:txBody>
      </p:sp>
    </p:spTree>
    <p:extLst>
      <p:ext uri="{BB962C8B-B14F-4D97-AF65-F5344CB8AC3E}">
        <p14:creationId xmlns:p14="http://schemas.microsoft.com/office/powerpoint/2010/main" val="236733319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所以接下來我們將進入到</a:t>
            </a:r>
            <a:r>
              <a:rPr lang="en-US" altLang="zh-TW" dirty="0"/>
              <a:t>EOPMC</a:t>
            </a:r>
            <a:r>
              <a:rPr lang="zh-TW" altLang="en-US" dirty="0"/>
              <a:t> </a:t>
            </a:r>
            <a:r>
              <a:rPr lang="en-US" altLang="zh-TW" dirty="0"/>
              <a:t>PPLN</a:t>
            </a:r>
            <a:r>
              <a:rPr lang="zh-TW" altLang="en-US" dirty="0"/>
              <a:t>與</a:t>
            </a:r>
            <a:r>
              <a:rPr lang="en-US" altLang="zh-TW" dirty="0"/>
              <a:t>APPLN</a:t>
            </a:r>
            <a:r>
              <a:rPr lang="zh-TW" altLang="en-US" dirty="0"/>
              <a:t>的量測架構介紹與結果分析</a:t>
            </a:r>
          </a:p>
        </p:txBody>
      </p:sp>
      <p:sp>
        <p:nvSpPr>
          <p:cNvPr id="4" name="投影片編號版面配置區 3"/>
          <p:cNvSpPr>
            <a:spLocks noGrp="1"/>
          </p:cNvSpPr>
          <p:nvPr>
            <p:ph type="sldNum" sz="quarter" idx="5"/>
          </p:nvPr>
        </p:nvSpPr>
        <p:spPr/>
        <p:txBody>
          <a:bodyPr/>
          <a:lstStyle/>
          <a:p>
            <a:fld id="{CFE72010-84F5-475A-802D-FB41B8E7F8A9}" type="slidenum">
              <a:rPr lang="zh-TW" altLang="en-US" smtClean="0"/>
              <a:t>46</a:t>
            </a:fld>
            <a:endParaRPr lang="zh-TW" altLang="en-US"/>
          </a:p>
        </p:txBody>
      </p:sp>
    </p:spTree>
    <p:extLst>
      <p:ext uri="{BB962C8B-B14F-4D97-AF65-F5344CB8AC3E}">
        <p14:creationId xmlns:p14="http://schemas.microsoft.com/office/powerpoint/2010/main" val="240905544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量測極化反轉偏振轉換器時為利用</a:t>
            </a:r>
            <a:r>
              <a:rPr lang="en-US" altLang="zh-TW" dirty="0"/>
              <a:t>ECL</a:t>
            </a:r>
            <a:r>
              <a:rPr lang="zh-TW" altLang="en-US" dirty="0"/>
              <a:t>此雷射為可調雷射其可調的範圍的波長範圍為</a:t>
            </a:r>
            <a:r>
              <a:rPr lang="en-US" altLang="zh-TW" dirty="0"/>
              <a:t>1525nm</a:t>
            </a:r>
            <a:r>
              <a:rPr lang="zh-TW" altLang="en-US" dirty="0"/>
              <a:t>到</a:t>
            </a:r>
            <a:r>
              <a:rPr lang="en-US" altLang="zh-TW" dirty="0"/>
              <a:t>1630nm</a:t>
            </a:r>
            <a:r>
              <a:rPr lang="zh-TW" altLang="en-US" dirty="0"/>
              <a:t>，接著我們再將光纖接到偏振控制器</a:t>
            </a:r>
            <a:r>
              <a:rPr lang="en-US" altLang="zh-TW" dirty="0"/>
              <a:t>(polarization controller)</a:t>
            </a:r>
            <a:r>
              <a:rPr lang="zh-TW" altLang="en-US" dirty="0"/>
              <a:t>上，其目的是為了控制入射光的偏振為</a:t>
            </a:r>
            <a:r>
              <a:rPr lang="en-US" altLang="zh-TW" dirty="0"/>
              <a:t>TM</a:t>
            </a:r>
            <a:r>
              <a:rPr lang="zh-TW" altLang="en-US" dirty="0"/>
              <a:t>偏振光，接著利用光纖將光偶合入晶片波導中，接著將晶片出來的光利用物竟進行收光，</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接著利用 </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PBS</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將</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TM</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偏振光打入</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beam profile</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觀察</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TM</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端其出光模態，而</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PBS</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的另一端</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TE</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偏振模態端則擺放光功率偵測器用來偵測當施加電壓時偵測器顯示的光功率值，最後將檢測到的光強傳到電腦上，在上述的量測過程中我們會先調整溫度控制器到我們設計的溫度後打開電壓，接下來開始調整</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ECL</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打入晶片的波長觀察</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beam profile</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上</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TM</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偏振模態的變化，當調整</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ECL</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波長時到旋轉到</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TE</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偏振光的中心波長時，在</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TM</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端的偏振光從</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beam profile</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看</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TM</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模態會變小，接著開關電壓</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觀察</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EPMC</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因開關電壓使的</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TM</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偏振</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轉換</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到</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TE</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模態，</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接著</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調整電壓值使其達到最好的轉換效率，最後量測從晶片出來的輸出光其經過物鏡收光後經過</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PBS</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的</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TE</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偏振那端打入</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detector</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內</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在特定的波長下進行偏振轉換其</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功率值</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得</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變化。</a:t>
            </a:r>
            <a:endParaRPr lang="zh-TW" alt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p>
            <a:endParaRPr lang="zh-TW" altLang="en-US" dirty="0"/>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47</a:t>
            </a:fld>
            <a:endParaRPr lang="zh-TW" altLang="en-US"/>
          </a:p>
        </p:txBody>
      </p:sp>
    </p:spTree>
    <p:extLst>
      <p:ext uri="{BB962C8B-B14F-4D97-AF65-F5344CB8AC3E}">
        <p14:creationId xmlns:p14="http://schemas.microsoft.com/office/powerpoint/2010/main" val="226007080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由上圖可看到非週期性極化反轉偏振轉換器的量測與模擬結果相符合，在</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y</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方向施加電壓</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55</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伏特，其轉換效率</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在</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1569nm</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時</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最高可達</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99%</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以上</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，且由圖可看到有</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7nm</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的頻寬其轉換效率可達</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90%</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以上</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整替</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EOPMC</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轉換效率</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bandwidth</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為</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12nm)</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a:t>
            </a:r>
            <a:endParaRPr lang="zh-TW" altLang="en-US" dirty="0"/>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48</a:t>
            </a:fld>
            <a:endParaRPr lang="zh-TW" altLang="en-US"/>
          </a:p>
        </p:txBody>
      </p:sp>
    </p:spTree>
    <p:extLst>
      <p:ext uri="{BB962C8B-B14F-4D97-AF65-F5344CB8AC3E}">
        <p14:creationId xmlns:p14="http://schemas.microsoft.com/office/powerpoint/2010/main" val="348611895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indent="304800" algn="just">
              <a:lnSpc>
                <a:spcPct val="200000"/>
              </a:lnSpc>
            </a:pP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所以藉由上面非線性的量測結果，我們可以得知和模擬相比</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SPDC</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與</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EOPMC</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其達到相位匹配得到最好的轉換效率其中心波長在</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1569</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時所對應的溫度為</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106</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度，掌握了在此溫度</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最後</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SPDC</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可以利用</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EOPMC</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將其</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photon pair</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進行轉換後</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後</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接下來我們將進入到相位調製的量測。</a:t>
            </a:r>
            <a:endParaRPr lang="zh-TW" alt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p>
            <a:endParaRPr lang="zh-TW" altLang="en-US" dirty="0"/>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49</a:t>
            </a:fld>
            <a:endParaRPr lang="zh-TW" altLang="en-US"/>
          </a:p>
        </p:txBody>
      </p:sp>
    </p:spTree>
    <p:extLst>
      <p:ext uri="{BB962C8B-B14F-4D97-AF65-F5344CB8AC3E}">
        <p14:creationId xmlns:p14="http://schemas.microsoft.com/office/powerpoint/2010/main" val="191649400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zh-TW" altLang="en-US" dirty="0"/>
                  <a:t>在加</a:t>
                </a:r>
                <a:r>
                  <a:rPr lang="en-US" altLang="zh-TW" dirty="0"/>
                  <a:t>z</a:t>
                </a:r>
                <a:r>
                  <a:rPr lang="zh-TW" altLang="en-US" dirty="0"/>
                  <a:t>方向電場進行相位調製的量測架構及結果，我們是利用上面架構來量測得到實際上</a:t>
                </a:r>
                <a14:m>
                  <m:oMath xmlns:m="http://schemas.openxmlformats.org/officeDocument/2006/math">
                    <m:sSub>
                      <m:sSubPr>
                        <m:ctrlPr>
                          <a:rPr lang="en-US" altLang="zh-TW" sz="1200" i="1" smtClean="0">
                            <a:latin typeface="Cambria Math" panose="02040503050406030204" pitchFamily="18" charset="0"/>
                          </a:rPr>
                        </m:ctrlPr>
                      </m:sSubPr>
                      <m:e>
                        <m:r>
                          <m:rPr>
                            <m:sty m:val="p"/>
                          </m:rPr>
                          <a:rPr lang="en-US" altLang="zh-TW" sz="1200" i="1">
                            <a:latin typeface="Cambria Math" panose="02040503050406030204" pitchFamily="18" charset="0"/>
                          </a:rPr>
                          <m:t>V</m:t>
                        </m:r>
                      </m:e>
                      <m:sub>
                        <m:r>
                          <a:rPr lang="zh-TW" altLang="en-US" sz="1200" i="1" smtClean="0">
                            <a:latin typeface="Cambria Math" panose="02040503050406030204" pitchFamily="18" charset="0"/>
                          </a:rPr>
                          <m:t>𝜋</m:t>
                        </m:r>
                      </m:sub>
                    </m:sSub>
                  </m:oMath>
                </a14:m>
                <a:r>
                  <a:rPr lang="zh-TW" altLang="en-US" dirty="0"/>
                  <a:t>所需施加的電壓，</a:t>
                </a:r>
                <a:r>
                  <a:rPr lang="zh-TW" altLang="zh-TW" sz="1200" kern="1200" dirty="0">
                    <a:solidFill>
                      <a:schemeClr val="tx1"/>
                    </a:solidFill>
                    <a:effectLst/>
                    <a:latin typeface="+mn-lt"/>
                    <a:ea typeface="+mn-ea"/>
                    <a:cs typeface="+mn-cs"/>
                  </a:rPr>
                  <a:t>相位調製的量測為利用</a:t>
                </a:r>
                <a:r>
                  <a:rPr lang="en-US" altLang="zh-TW" sz="1200" kern="1200" dirty="0">
                    <a:solidFill>
                      <a:schemeClr val="tx1"/>
                    </a:solidFill>
                    <a:effectLst/>
                    <a:latin typeface="+mn-lt"/>
                    <a:ea typeface="+mn-ea"/>
                    <a:cs typeface="+mn-cs"/>
                  </a:rPr>
                  <a:t>ECL</a:t>
                </a:r>
                <a:r>
                  <a:rPr lang="zh-TW" altLang="zh-TW" sz="1200" kern="1200" dirty="0">
                    <a:solidFill>
                      <a:schemeClr val="tx1"/>
                    </a:solidFill>
                    <a:effectLst/>
                    <a:latin typeface="+mn-lt"/>
                    <a:ea typeface="+mn-ea"/>
                    <a:cs typeface="+mn-cs"/>
                  </a:rPr>
                  <a:t>雷射將</a:t>
                </a:r>
                <a:r>
                  <a:rPr lang="zh-TW" altLang="en-US" sz="1200" kern="1200" dirty="0">
                    <a:solidFill>
                      <a:schemeClr val="tx1"/>
                    </a:solidFill>
                    <a:effectLst/>
                    <a:latin typeface="+mn-lt"/>
                    <a:ea typeface="+mn-ea"/>
                    <a:cs typeface="+mn-cs"/>
                  </a:rPr>
                  <a:t>波長</a:t>
                </a:r>
                <a:r>
                  <a:rPr lang="en-US" altLang="zh-TW" sz="1200" kern="1200" dirty="0">
                    <a:solidFill>
                      <a:schemeClr val="tx1"/>
                    </a:solidFill>
                    <a:effectLst/>
                    <a:latin typeface="+mn-lt"/>
                    <a:ea typeface="+mn-ea"/>
                    <a:cs typeface="+mn-cs"/>
                  </a:rPr>
                  <a:t>1569nm</a:t>
                </a:r>
                <a:r>
                  <a:rPr lang="zh-TW" altLang="zh-TW" sz="1200" kern="1200" dirty="0">
                    <a:solidFill>
                      <a:schemeClr val="tx1"/>
                    </a:solidFill>
                    <a:effectLst/>
                    <a:latin typeface="+mn-lt"/>
                    <a:ea typeface="+mn-ea"/>
                    <a:cs typeface="+mn-cs"/>
                  </a:rPr>
                  <a:t>光打入晶片中，入射光會將其偏振調整為</a:t>
                </a:r>
                <a:r>
                  <a:rPr lang="en-US" altLang="zh-TW" sz="1200" kern="1200" dirty="0">
                    <a:solidFill>
                      <a:schemeClr val="tx1"/>
                    </a:solidFill>
                    <a:effectLst/>
                    <a:latin typeface="+mn-lt"/>
                    <a:ea typeface="+mn-ea"/>
                    <a:cs typeface="+mn-cs"/>
                  </a:rPr>
                  <a:t>45</a:t>
                </a:r>
                <a:r>
                  <a:rPr lang="zh-TW" altLang="zh-TW" sz="1200" kern="1200" dirty="0">
                    <a:solidFill>
                      <a:schemeClr val="tx1"/>
                    </a:solidFill>
                    <a:effectLst/>
                    <a:latin typeface="+mn-lt"/>
                    <a:ea typeface="+mn-ea"/>
                    <a:cs typeface="+mn-cs"/>
                  </a:rPr>
                  <a:t>度的線偏振，</a:t>
                </a:r>
                <a:r>
                  <a:rPr lang="zh-TW" altLang="en-US" sz="1200" kern="1200" dirty="0">
                    <a:solidFill>
                      <a:schemeClr val="tx1"/>
                    </a:solidFill>
                    <a:effectLst/>
                    <a:latin typeface="+mn-lt"/>
                    <a:ea typeface="+mn-ea"/>
                    <a:cs typeface="+mn-cs"/>
                  </a:rPr>
                  <a:t>而</a:t>
                </a:r>
                <a:r>
                  <a:rPr lang="zh-TW" altLang="zh-TW" sz="1200" kern="1200" dirty="0">
                    <a:solidFill>
                      <a:schemeClr val="tx1"/>
                    </a:solidFill>
                    <a:effectLst/>
                    <a:latin typeface="+mn-lt"/>
                    <a:ea typeface="+mn-ea"/>
                    <a:cs typeface="+mn-cs"/>
                  </a:rPr>
                  <a:t>偏振片將其調整為</a:t>
                </a:r>
                <a:r>
                  <a:rPr lang="en-US" altLang="zh-TW" sz="1200" kern="1200" dirty="0">
                    <a:solidFill>
                      <a:schemeClr val="tx1"/>
                    </a:solidFill>
                    <a:effectLst/>
                    <a:latin typeface="+mn-lt"/>
                    <a:ea typeface="+mn-ea"/>
                    <a:cs typeface="+mn-cs"/>
                  </a:rPr>
                  <a:t>45</a:t>
                </a:r>
                <a:r>
                  <a:rPr lang="zh-TW" altLang="zh-TW" sz="1200" kern="1200" dirty="0">
                    <a:solidFill>
                      <a:schemeClr val="tx1"/>
                    </a:solidFill>
                    <a:effectLst/>
                    <a:latin typeface="+mn-lt"/>
                    <a:ea typeface="+mn-ea"/>
                    <a:cs typeface="+mn-cs"/>
                  </a:rPr>
                  <a:t>度偏振打入偏振片能得到最大功率後，接著將加電壓的探針分別插在電極的正負極，並開始施加電壓，量測不同電壓下光功率計上顯示的功率變化，藉此量測出不同電壓下對應的功率變化來得知其相位的變化，當無施加任何電壓時其偏振分量與原始相位可看成</a:t>
                </a:r>
                <a:r>
                  <a:rPr lang="en-US" altLang="zh-TW" sz="1200" kern="1200" dirty="0">
                    <a:solidFill>
                      <a:schemeClr val="tx1"/>
                    </a:solidFill>
                    <a:effectLst/>
                    <a:latin typeface="+mn-lt"/>
                    <a:ea typeface="+mn-ea"/>
                    <a:cs typeface="+mn-cs"/>
                  </a:rPr>
                  <a:t>45</a:t>
                </a:r>
                <a:r>
                  <a:rPr lang="zh-TW" altLang="zh-TW" sz="1200" kern="1200" dirty="0">
                    <a:solidFill>
                      <a:schemeClr val="tx1"/>
                    </a:solidFill>
                    <a:effectLst/>
                    <a:latin typeface="+mn-lt"/>
                    <a:ea typeface="+mn-ea"/>
                    <a:cs typeface="+mn-cs"/>
                  </a:rPr>
                  <a:t>度偏振分量</a:t>
                </a:r>
                <a:r>
                  <a:rPr lang="en-US" altLang="zh-TW" sz="1200" kern="1200" dirty="0">
                    <a:solidFill>
                      <a:schemeClr val="tx1"/>
                    </a:solidFill>
                    <a:effectLst/>
                    <a:latin typeface="+mn-lt"/>
                    <a:ea typeface="+mn-ea"/>
                    <a:cs typeface="+mn-cs"/>
                  </a:rPr>
                  <a:t>H + “</a:t>
                </a:r>
                <a:r>
                  <a:rPr lang="en-US" altLang="zh-TW" sz="1200" kern="1200" dirty="0" err="1">
                    <a:solidFill>
                      <a:schemeClr val="tx1"/>
                    </a:solidFill>
                    <a:effectLst/>
                    <a:latin typeface="+mn-lt"/>
                    <a:ea typeface="+mn-ea"/>
                    <a:cs typeface="+mn-cs"/>
                  </a:rPr>
                  <a:t>ej</a:t>
                </a:r>
                <a:r>
                  <a:rPr lang="en-US" altLang="zh-TW" sz="1200" kern="1200" dirty="0">
                    <a:solidFill>
                      <a:schemeClr val="tx1"/>
                    </a:solidFill>
                    <a:effectLst/>
                    <a:latin typeface="+mn-lt"/>
                    <a:ea typeface="+mn-ea"/>
                    <a:cs typeface="+mn-cs"/>
                  </a:rPr>
                  <a:t>” ∅ V,∅=0</a:t>
                </a:r>
                <a:r>
                  <a:rPr lang="zh-TW" altLang="en-US" sz="1200" kern="1200" dirty="0">
                    <a:solidFill>
                      <a:schemeClr val="tx1"/>
                    </a:solidFill>
                    <a:effectLst/>
                    <a:latin typeface="+mn-lt"/>
                    <a:ea typeface="+mn-ea"/>
                    <a:cs typeface="+mn-cs"/>
                  </a:rPr>
                  <a:t>，而當施加半電壓時其偏振分量及相位變化可表示成</a:t>
                </a:r>
                <a:r>
                  <a:rPr lang="en-US" altLang="zh-TW"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圓偏振</a:t>
                </a:r>
                <a:r>
                  <a:rPr lang="en-US" altLang="zh-TW" sz="1200" kern="1200" dirty="0">
                    <a:solidFill>
                      <a:schemeClr val="tx1"/>
                    </a:solidFill>
                    <a:effectLst/>
                    <a:latin typeface="+mn-lt"/>
                    <a:ea typeface="+mn-ea"/>
                    <a:cs typeface="+mn-cs"/>
                  </a:rPr>
                  <a:t>” </a:t>
                </a:r>
                <a:r>
                  <a:rPr lang="zh-TW" altLang="en-US" sz="1200" kern="1200" dirty="0">
                    <a:solidFill>
                      <a:schemeClr val="tx1"/>
                    </a:solidFill>
                    <a:effectLst/>
                    <a:latin typeface="+mn-lt"/>
                    <a:ea typeface="+mn-ea"/>
                    <a:cs typeface="+mn-cs"/>
                  </a:rPr>
                  <a:t>分量</a:t>
                </a:r>
                <a:r>
                  <a:rPr lang="en-US" altLang="zh-TW" sz="1200" kern="1200" dirty="0">
                    <a:solidFill>
                      <a:schemeClr val="tx1"/>
                    </a:solidFill>
                    <a:effectLst/>
                    <a:latin typeface="+mn-lt"/>
                    <a:ea typeface="+mn-ea"/>
                    <a:cs typeface="+mn-cs"/>
                  </a:rPr>
                  <a:t>H + </a:t>
                </a:r>
                <a:r>
                  <a:rPr lang="en-US" altLang="zh-TW" sz="1200" kern="1200" dirty="0" err="1">
                    <a:solidFill>
                      <a:schemeClr val="tx1"/>
                    </a:solidFill>
                    <a:effectLst/>
                    <a:latin typeface="+mn-lt"/>
                    <a:ea typeface="+mn-ea"/>
                    <a:cs typeface="+mn-cs"/>
                  </a:rPr>
                  <a:t>iV</a:t>
                </a:r>
                <a:r>
                  <a:rPr lang="en-US" altLang="zh-TW" sz="1200" kern="1200" dirty="0">
                    <a:solidFill>
                      <a:schemeClr val="tx1"/>
                    </a:solidFill>
                    <a:effectLst/>
                    <a:latin typeface="+mn-lt"/>
                    <a:ea typeface="+mn-ea"/>
                    <a:cs typeface="+mn-cs"/>
                  </a:rPr>
                  <a:t>,∅=π/2</a:t>
                </a:r>
                <a:r>
                  <a:rPr lang="zh-TW" altLang="en-US" sz="1200" kern="1200" dirty="0">
                    <a:solidFill>
                      <a:schemeClr val="tx1"/>
                    </a:solidFill>
                    <a:effectLst/>
                    <a:latin typeface="+mn-lt"/>
                    <a:ea typeface="+mn-ea"/>
                    <a:cs typeface="+mn-cs"/>
                  </a:rPr>
                  <a:t>，所以其在</a:t>
                </a:r>
                <a:r>
                  <a:rPr lang="en-US" altLang="zh-TW" sz="1200" kern="1200" dirty="0">
                    <a:solidFill>
                      <a:schemeClr val="tx1"/>
                    </a:solidFill>
                    <a:effectLst/>
                    <a:latin typeface="+mn-lt"/>
                    <a:ea typeface="+mn-ea"/>
                    <a:cs typeface="+mn-cs"/>
                  </a:rPr>
                  <a:t>power meter</a:t>
                </a:r>
                <a:r>
                  <a:rPr lang="zh-TW" altLang="en-US" sz="1200" kern="1200" dirty="0">
                    <a:solidFill>
                      <a:schemeClr val="tx1"/>
                    </a:solidFill>
                    <a:effectLst/>
                    <a:latin typeface="+mn-lt"/>
                    <a:ea typeface="+mn-ea"/>
                    <a:cs typeface="+mn-cs"/>
                  </a:rPr>
                  <a:t>所量到的數值為原始</a:t>
                </a:r>
                <a:r>
                  <a:rPr lang="en-US" altLang="zh-TW" sz="1200" kern="1200" dirty="0">
                    <a:solidFill>
                      <a:schemeClr val="tx1"/>
                    </a:solidFill>
                    <a:effectLst/>
                    <a:latin typeface="+mn-lt"/>
                    <a:ea typeface="+mn-ea"/>
                    <a:cs typeface="+mn-cs"/>
                  </a:rPr>
                  <a:t>power</a:t>
                </a:r>
                <a:r>
                  <a:rPr lang="zh-TW" altLang="en-US" sz="1200" kern="1200" dirty="0">
                    <a:solidFill>
                      <a:schemeClr val="tx1"/>
                    </a:solidFill>
                    <a:effectLst/>
                    <a:latin typeface="+mn-lt"/>
                    <a:ea typeface="+mn-ea"/>
                    <a:cs typeface="+mn-cs"/>
                  </a:rPr>
                  <a:t>的一半，而當施加全電壓時其偏振分量與偏振分量可表使成</a:t>
                </a:r>
                <a:r>
                  <a:rPr lang="en-US" altLang="zh-TW" sz="1200" kern="1200" dirty="0">
                    <a:solidFill>
                      <a:schemeClr val="tx1"/>
                    </a:solidFill>
                    <a:effectLst/>
                    <a:latin typeface="+mn-lt"/>
                    <a:ea typeface="+mn-ea"/>
                    <a:cs typeface="+mn-cs"/>
                  </a:rPr>
                  <a:t>-45</a:t>
                </a:r>
                <a:r>
                  <a:rPr lang="zh-TW" altLang="en-US" sz="1200" kern="1200" dirty="0">
                    <a:solidFill>
                      <a:schemeClr val="tx1"/>
                    </a:solidFill>
                    <a:effectLst/>
                    <a:latin typeface="+mn-lt"/>
                    <a:ea typeface="+mn-ea"/>
                    <a:cs typeface="+mn-cs"/>
                  </a:rPr>
                  <a:t>度偏振分量</a:t>
                </a:r>
                <a:r>
                  <a:rPr lang="en-US" altLang="zh-TW" sz="1200" kern="1200" dirty="0">
                    <a:solidFill>
                      <a:schemeClr val="tx1"/>
                    </a:solidFill>
                    <a:effectLst/>
                    <a:latin typeface="+mn-lt"/>
                    <a:ea typeface="+mn-ea"/>
                    <a:cs typeface="+mn-cs"/>
                  </a:rPr>
                  <a:t>H – V,∅=π</a:t>
                </a:r>
                <a:r>
                  <a:rPr lang="zh-TW" altLang="en-US" sz="1200" kern="1200" dirty="0">
                    <a:solidFill>
                      <a:schemeClr val="tx1"/>
                    </a:solidFill>
                    <a:effectLst/>
                    <a:latin typeface="+mn-lt"/>
                    <a:ea typeface="+mn-ea"/>
                    <a:cs typeface="+mn-cs"/>
                  </a:rPr>
                  <a:t>，所以其在</a:t>
                </a:r>
                <a:r>
                  <a:rPr lang="en-US" altLang="zh-TW" sz="1200" kern="1200" dirty="0">
                    <a:solidFill>
                      <a:schemeClr val="tx1"/>
                    </a:solidFill>
                    <a:effectLst/>
                    <a:latin typeface="+mn-lt"/>
                    <a:ea typeface="+mn-ea"/>
                    <a:cs typeface="+mn-cs"/>
                  </a:rPr>
                  <a:t>power meter</a:t>
                </a:r>
                <a:r>
                  <a:rPr lang="zh-TW" altLang="en-US" sz="1200" kern="1200" dirty="0">
                    <a:solidFill>
                      <a:schemeClr val="tx1"/>
                    </a:solidFill>
                    <a:effectLst/>
                    <a:latin typeface="+mn-lt"/>
                    <a:ea typeface="+mn-ea"/>
                    <a:cs typeface="+mn-cs"/>
                  </a:rPr>
                  <a:t>所量到的數值最小，所以由左下角的量測結果可知</a:t>
                </a:r>
                <a14:m>
                  <m:oMath xmlns:m="http://schemas.openxmlformats.org/officeDocument/2006/math">
                    <m:sSub>
                      <m:sSubPr>
                        <m:ctrlPr>
                          <a:rPr lang="en-US" altLang="zh-TW" sz="1200" i="1" smtClean="0">
                            <a:latin typeface="Cambria Math" panose="02040503050406030204" pitchFamily="18" charset="0"/>
                          </a:rPr>
                        </m:ctrlPr>
                      </m:sSubPr>
                      <m:e>
                        <m:r>
                          <m:rPr>
                            <m:sty m:val="p"/>
                          </m:rPr>
                          <a:rPr lang="en-US" altLang="zh-TW" sz="1200" i="1">
                            <a:latin typeface="Cambria Math" panose="02040503050406030204" pitchFamily="18" charset="0"/>
                          </a:rPr>
                          <m:t>V</m:t>
                        </m:r>
                      </m:e>
                      <m:sub>
                        <m:r>
                          <a:rPr lang="zh-TW" altLang="en-US" sz="1200" i="1" smtClean="0">
                            <a:latin typeface="Cambria Math" panose="02040503050406030204" pitchFamily="18" charset="0"/>
                          </a:rPr>
                          <m:t>𝜋</m:t>
                        </m:r>
                      </m:sub>
                    </m:sSub>
                  </m:oMath>
                </a14:m>
                <a:r>
                  <a:rPr lang="zh-TW" altLang="en-US" sz="1200" dirty="0"/>
                  <a:t> </a:t>
                </a:r>
                <a:r>
                  <a:rPr lang="en-US" altLang="zh-TW" sz="1200" dirty="0"/>
                  <a:t>=</a:t>
                </a:r>
                <a:r>
                  <a:rPr lang="zh-TW" altLang="en-US" sz="1200" dirty="0"/>
                  <a:t> </a:t>
                </a:r>
                <a:r>
                  <a:rPr lang="en-US" altLang="zh-TW" sz="1200" dirty="0"/>
                  <a:t>25V</a:t>
                </a:r>
                <a:r>
                  <a:rPr lang="zh-TW" altLang="en-US" sz="1200" dirty="0"/>
                  <a:t> ，當施加</a:t>
                </a:r>
                <a:r>
                  <a:rPr lang="en-US" altLang="zh-TW" sz="1200" dirty="0"/>
                  <a:t>25V</a:t>
                </a:r>
                <a:r>
                  <a:rPr lang="zh-TW" altLang="en-US" sz="1200" dirty="0"/>
                  <a:t>時</a:t>
                </a:r>
                <a:r>
                  <a:rPr lang="en-US" altLang="zh-TW" sz="1200" dirty="0"/>
                  <a:t>H</a:t>
                </a:r>
                <a:r>
                  <a:rPr lang="zh-TW" altLang="en-US" sz="1200" dirty="0"/>
                  <a:t>和</a:t>
                </a:r>
                <a:r>
                  <a:rPr lang="en-US" altLang="zh-TW" sz="1200" dirty="0"/>
                  <a:t>V</a:t>
                </a:r>
                <a:r>
                  <a:rPr lang="zh-TW" altLang="en-US" sz="1200" dirty="0"/>
                  <a:t>間的相位可調制</a:t>
                </a:r>
                <a:r>
                  <a:rPr lang="en-US" altLang="zh-TW" sz="1200" dirty="0"/>
                  <a:t>pi</a:t>
                </a:r>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在加</a:t>
                </a:r>
                <a:r>
                  <a:rPr lang="en-US" altLang="zh-TW" dirty="0"/>
                  <a:t>z</a:t>
                </a:r>
                <a:r>
                  <a:rPr lang="zh-TW" altLang="en-US" dirty="0"/>
                  <a:t>方向電場進行相位調製的量測架構及結果，我們是利用上面架構來量測得到實際上</a:t>
                </a:r>
                <a:r>
                  <a:rPr lang="en-US" altLang="zh-TW" sz="1200" i="0">
                    <a:latin typeface="Cambria Math" panose="02040503050406030204" pitchFamily="18" charset="0"/>
                  </a:rPr>
                  <a:t>V_</a:t>
                </a:r>
                <a:r>
                  <a:rPr lang="zh-TW" altLang="en-US" sz="1200" i="0">
                    <a:latin typeface="Cambria Math" panose="02040503050406030204" pitchFamily="18" charset="0"/>
                  </a:rPr>
                  <a:t>𝜋</a:t>
                </a:r>
                <a:r>
                  <a:rPr lang="zh-TW" altLang="en-US" dirty="0"/>
                  <a:t>所需施加的電壓，</a:t>
                </a:r>
                <a:r>
                  <a:rPr lang="zh-TW" altLang="zh-TW" sz="1200" kern="1200" dirty="0">
                    <a:solidFill>
                      <a:schemeClr val="tx1"/>
                    </a:solidFill>
                    <a:effectLst/>
                    <a:latin typeface="+mn-lt"/>
                    <a:ea typeface="+mn-ea"/>
                    <a:cs typeface="+mn-cs"/>
                  </a:rPr>
                  <a:t>相位調製的量測為利用</a:t>
                </a:r>
                <a:r>
                  <a:rPr lang="en-US" altLang="zh-TW" sz="1200" kern="1200" dirty="0">
                    <a:solidFill>
                      <a:schemeClr val="tx1"/>
                    </a:solidFill>
                    <a:effectLst/>
                    <a:latin typeface="+mn-lt"/>
                    <a:ea typeface="+mn-ea"/>
                    <a:cs typeface="+mn-cs"/>
                  </a:rPr>
                  <a:t>ECL</a:t>
                </a:r>
                <a:r>
                  <a:rPr lang="zh-TW" altLang="zh-TW" sz="1200" kern="1200" dirty="0">
                    <a:solidFill>
                      <a:schemeClr val="tx1"/>
                    </a:solidFill>
                    <a:effectLst/>
                    <a:latin typeface="+mn-lt"/>
                    <a:ea typeface="+mn-ea"/>
                    <a:cs typeface="+mn-cs"/>
                  </a:rPr>
                  <a:t>雷射將</a:t>
                </a:r>
                <a:r>
                  <a:rPr lang="zh-TW" altLang="en-US" sz="1200" kern="1200" dirty="0">
                    <a:solidFill>
                      <a:schemeClr val="tx1"/>
                    </a:solidFill>
                    <a:effectLst/>
                    <a:latin typeface="+mn-lt"/>
                    <a:ea typeface="+mn-ea"/>
                    <a:cs typeface="+mn-cs"/>
                  </a:rPr>
                  <a:t>波長</a:t>
                </a:r>
                <a:r>
                  <a:rPr lang="en-US" altLang="zh-TW" sz="1200" kern="1200" dirty="0">
                    <a:solidFill>
                      <a:schemeClr val="tx1"/>
                    </a:solidFill>
                    <a:effectLst/>
                    <a:latin typeface="+mn-lt"/>
                    <a:ea typeface="+mn-ea"/>
                    <a:cs typeface="+mn-cs"/>
                  </a:rPr>
                  <a:t>1569nm</a:t>
                </a:r>
                <a:r>
                  <a:rPr lang="zh-TW" altLang="zh-TW" sz="1200" kern="1200" dirty="0">
                    <a:solidFill>
                      <a:schemeClr val="tx1"/>
                    </a:solidFill>
                    <a:effectLst/>
                    <a:latin typeface="+mn-lt"/>
                    <a:ea typeface="+mn-ea"/>
                    <a:cs typeface="+mn-cs"/>
                  </a:rPr>
                  <a:t>光打入晶片中，入射光會將其偏振調整為</a:t>
                </a:r>
                <a:r>
                  <a:rPr lang="en-US" altLang="zh-TW" sz="1200" kern="1200" dirty="0">
                    <a:solidFill>
                      <a:schemeClr val="tx1"/>
                    </a:solidFill>
                    <a:effectLst/>
                    <a:latin typeface="+mn-lt"/>
                    <a:ea typeface="+mn-ea"/>
                    <a:cs typeface="+mn-cs"/>
                  </a:rPr>
                  <a:t>45</a:t>
                </a:r>
                <a:r>
                  <a:rPr lang="zh-TW" altLang="zh-TW" sz="1200" kern="1200" dirty="0">
                    <a:solidFill>
                      <a:schemeClr val="tx1"/>
                    </a:solidFill>
                    <a:effectLst/>
                    <a:latin typeface="+mn-lt"/>
                    <a:ea typeface="+mn-ea"/>
                    <a:cs typeface="+mn-cs"/>
                  </a:rPr>
                  <a:t>度的線偏振，</a:t>
                </a:r>
                <a:r>
                  <a:rPr lang="zh-TW" altLang="en-US" sz="1200" kern="1200" dirty="0">
                    <a:solidFill>
                      <a:schemeClr val="tx1"/>
                    </a:solidFill>
                    <a:effectLst/>
                    <a:latin typeface="+mn-lt"/>
                    <a:ea typeface="+mn-ea"/>
                    <a:cs typeface="+mn-cs"/>
                  </a:rPr>
                  <a:t>而</a:t>
                </a:r>
                <a:r>
                  <a:rPr lang="zh-TW" altLang="zh-TW" sz="1200" kern="1200" dirty="0">
                    <a:solidFill>
                      <a:schemeClr val="tx1"/>
                    </a:solidFill>
                    <a:effectLst/>
                    <a:latin typeface="+mn-lt"/>
                    <a:ea typeface="+mn-ea"/>
                    <a:cs typeface="+mn-cs"/>
                  </a:rPr>
                  <a:t>偏振片將其調整為</a:t>
                </a:r>
                <a:r>
                  <a:rPr lang="en-US" altLang="zh-TW" sz="1200" kern="1200" dirty="0">
                    <a:solidFill>
                      <a:schemeClr val="tx1"/>
                    </a:solidFill>
                    <a:effectLst/>
                    <a:latin typeface="+mn-lt"/>
                    <a:ea typeface="+mn-ea"/>
                    <a:cs typeface="+mn-cs"/>
                  </a:rPr>
                  <a:t>45</a:t>
                </a:r>
                <a:r>
                  <a:rPr lang="zh-TW" altLang="zh-TW" sz="1200" kern="1200" dirty="0">
                    <a:solidFill>
                      <a:schemeClr val="tx1"/>
                    </a:solidFill>
                    <a:effectLst/>
                    <a:latin typeface="+mn-lt"/>
                    <a:ea typeface="+mn-ea"/>
                    <a:cs typeface="+mn-cs"/>
                  </a:rPr>
                  <a:t>度偏振打入偏振片能得到最大功率後，接著將加電壓的探針分別插在電極的正負極，並開始施加電壓，量測不同電壓下光功率計上顯示的功率變化，藉此量測出不同電壓下對應的功率變化來得知其相位的變化，當無施加任何電壓時其偏振分量與原始相位可看成</a:t>
                </a:r>
                <a:r>
                  <a:rPr lang="en-US" altLang="zh-TW" sz="1200" kern="1200" dirty="0">
                    <a:solidFill>
                      <a:schemeClr val="tx1"/>
                    </a:solidFill>
                    <a:effectLst/>
                    <a:latin typeface="+mn-lt"/>
                    <a:ea typeface="+mn-ea"/>
                    <a:cs typeface="+mn-cs"/>
                  </a:rPr>
                  <a:t>45</a:t>
                </a:r>
                <a:r>
                  <a:rPr lang="zh-TW" altLang="zh-TW" sz="1200" kern="1200" dirty="0">
                    <a:solidFill>
                      <a:schemeClr val="tx1"/>
                    </a:solidFill>
                    <a:effectLst/>
                    <a:latin typeface="+mn-lt"/>
                    <a:ea typeface="+mn-ea"/>
                    <a:cs typeface="+mn-cs"/>
                  </a:rPr>
                  <a:t>度偏振分量</a:t>
                </a:r>
                <a:r>
                  <a:rPr lang="en-US" altLang="zh-TW" sz="1200" kern="1200" dirty="0">
                    <a:solidFill>
                      <a:schemeClr val="tx1"/>
                    </a:solidFill>
                    <a:effectLst/>
                    <a:latin typeface="+mn-lt"/>
                    <a:ea typeface="+mn-ea"/>
                    <a:cs typeface="+mn-cs"/>
                  </a:rPr>
                  <a:t>H + “</a:t>
                </a:r>
                <a:r>
                  <a:rPr lang="en-US" altLang="zh-TW" sz="1200" kern="1200" dirty="0" err="1">
                    <a:solidFill>
                      <a:schemeClr val="tx1"/>
                    </a:solidFill>
                    <a:effectLst/>
                    <a:latin typeface="+mn-lt"/>
                    <a:ea typeface="+mn-ea"/>
                    <a:cs typeface="+mn-cs"/>
                  </a:rPr>
                  <a:t>ej</a:t>
                </a:r>
                <a:r>
                  <a:rPr lang="en-US" altLang="zh-TW" sz="1200" kern="1200" dirty="0">
                    <a:solidFill>
                      <a:schemeClr val="tx1"/>
                    </a:solidFill>
                    <a:effectLst/>
                    <a:latin typeface="+mn-lt"/>
                    <a:ea typeface="+mn-ea"/>
                    <a:cs typeface="+mn-cs"/>
                  </a:rPr>
                  <a:t>” ∅ V,∅=0</a:t>
                </a:r>
                <a:r>
                  <a:rPr lang="zh-TW" altLang="en-US" sz="1200" kern="1200" dirty="0">
                    <a:solidFill>
                      <a:schemeClr val="tx1"/>
                    </a:solidFill>
                    <a:effectLst/>
                    <a:latin typeface="+mn-lt"/>
                    <a:ea typeface="+mn-ea"/>
                    <a:cs typeface="+mn-cs"/>
                  </a:rPr>
                  <a:t>，而當施加半電壓時其偏振分量及相位變化可表示成</a:t>
                </a:r>
                <a:r>
                  <a:rPr lang="en-US" altLang="zh-TW"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圓偏振</a:t>
                </a:r>
                <a:r>
                  <a:rPr lang="en-US" altLang="zh-TW" sz="1200" kern="1200" dirty="0">
                    <a:solidFill>
                      <a:schemeClr val="tx1"/>
                    </a:solidFill>
                    <a:effectLst/>
                    <a:latin typeface="+mn-lt"/>
                    <a:ea typeface="+mn-ea"/>
                    <a:cs typeface="+mn-cs"/>
                  </a:rPr>
                  <a:t>” </a:t>
                </a:r>
                <a:r>
                  <a:rPr lang="zh-TW" altLang="en-US" sz="1200" kern="1200" dirty="0">
                    <a:solidFill>
                      <a:schemeClr val="tx1"/>
                    </a:solidFill>
                    <a:effectLst/>
                    <a:latin typeface="+mn-lt"/>
                    <a:ea typeface="+mn-ea"/>
                    <a:cs typeface="+mn-cs"/>
                  </a:rPr>
                  <a:t>分量</a:t>
                </a:r>
                <a:r>
                  <a:rPr lang="en-US" altLang="zh-TW" sz="1200" kern="1200" dirty="0">
                    <a:solidFill>
                      <a:schemeClr val="tx1"/>
                    </a:solidFill>
                    <a:effectLst/>
                    <a:latin typeface="+mn-lt"/>
                    <a:ea typeface="+mn-ea"/>
                    <a:cs typeface="+mn-cs"/>
                  </a:rPr>
                  <a:t>H + </a:t>
                </a:r>
                <a:r>
                  <a:rPr lang="en-US" altLang="zh-TW" sz="1200" kern="1200" dirty="0" err="1">
                    <a:solidFill>
                      <a:schemeClr val="tx1"/>
                    </a:solidFill>
                    <a:effectLst/>
                    <a:latin typeface="+mn-lt"/>
                    <a:ea typeface="+mn-ea"/>
                    <a:cs typeface="+mn-cs"/>
                  </a:rPr>
                  <a:t>iV</a:t>
                </a:r>
                <a:r>
                  <a:rPr lang="en-US" altLang="zh-TW" sz="1200" kern="1200" dirty="0">
                    <a:solidFill>
                      <a:schemeClr val="tx1"/>
                    </a:solidFill>
                    <a:effectLst/>
                    <a:latin typeface="+mn-lt"/>
                    <a:ea typeface="+mn-ea"/>
                    <a:cs typeface="+mn-cs"/>
                  </a:rPr>
                  <a:t>,∅=π/2</a:t>
                </a:r>
                <a:r>
                  <a:rPr lang="zh-TW" altLang="en-US" sz="1200" kern="1200" dirty="0">
                    <a:solidFill>
                      <a:schemeClr val="tx1"/>
                    </a:solidFill>
                    <a:effectLst/>
                    <a:latin typeface="+mn-lt"/>
                    <a:ea typeface="+mn-ea"/>
                    <a:cs typeface="+mn-cs"/>
                  </a:rPr>
                  <a:t>，所以其在</a:t>
                </a:r>
                <a:r>
                  <a:rPr lang="en-US" altLang="zh-TW" sz="1200" kern="1200" dirty="0">
                    <a:solidFill>
                      <a:schemeClr val="tx1"/>
                    </a:solidFill>
                    <a:effectLst/>
                    <a:latin typeface="+mn-lt"/>
                    <a:ea typeface="+mn-ea"/>
                    <a:cs typeface="+mn-cs"/>
                  </a:rPr>
                  <a:t>power meter</a:t>
                </a:r>
                <a:r>
                  <a:rPr lang="zh-TW" altLang="en-US" sz="1200" kern="1200" dirty="0">
                    <a:solidFill>
                      <a:schemeClr val="tx1"/>
                    </a:solidFill>
                    <a:effectLst/>
                    <a:latin typeface="+mn-lt"/>
                    <a:ea typeface="+mn-ea"/>
                    <a:cs typeface="+mn-cs"/>
                  </a:rPr>
                  <a:t>所量到的數值為原始</a:t>
                </a:r>
                <a:r>
                  <a:rPr lang="en-US" altLang="zh-TW" sz="1200" kern="1200" dirty="0">
                    <a:solidFill>
                      <a:schemeClr val="tx1"/>
                    </a:solidFill>
                    <a:effectLst/>
                    <a:latin typeface="+mn-lt"/>
                    <a:ea typeface="+mn-ea"/>
                    <a:cs typeface="+mn-cs"/>
                  </a:rPr>
                  <a:t>power</a:t>
                </a:r>
                <a:r>
                  <a:rPr lang="zh-TW" altLang="en-US" sz="1200" kern="1200" dirty="0">
                    <a:solidFill>
                      <a:schemeClr val="tx1"/>
                    </a:solidFill>
                    <a:effectLst/>
                    <a:latin typeface="+mn-lt"/>
                    <a:ea typeface="+mn-ea"/>
                    <a:cs typeface="+mn-cs"/>
                  </a:rPr>
                  <a:t>的一半，而當施加全電壓時其偏振分量與偏振分量可表使成</a:t>
                </a:r>
                <a:r>
                  <a:rPr lang="en-US" altLang="zh-TW" sz="1200" kern="1200" dirty="0">
                    <a:solidFill>
                      <a:schemeClr val="tx1"/>
                    </a:solidFill>
                    <a:effectLst/>
                    <a:latin typeface="+mn-lt"/>
                    <a:ea typeface="+mn-ea"/>
                    <a:cs typeface="+mn-cs"/>
                  </a:rPr>
                  <a:t>-45</a:t>
                </a:r>
                <a:r>
                  <a:rPr lang="zh-TW" altLang="en-US" sz="1200" kern="1200" dirty="0">
                    <a:solidFill>
                      <a:schemeClr val="tx1"/>
                    </a:solidFill>
                    <a:effectLst/>
                    <a:latin typeface="+mn-lt"/>
                    <a:ea typeface="+mn-ea"/>
                    <a:cs typeface="+mn-cs"/>
                  </a:rPr>
                  <a:t>度偏振分量</a:t>
                </a:r>
                <a:r>
                  <a:rPr lang="en-US" altLang="zh-TW" sz="1200" kern="1200" dirty="0">
                    <a:solidFill>
                      <a:schemeClr val="tx1"/>
                    </a:solidFill>
                    <a:effectLst/>
                    <a:latin typeface="+mn-lt"/>
                    <a:ea typeface="+mn-ea"/>
                    <a:cs typeface="+mn-cs"/>
                  </a:rPr>
                  <a:t>H – V,∅=π</a:t>
                </a:r>
                <a:r>
                  <a:rPr lang="zh-TW" altLang="en-US" sz="1200" kern="1200" dirty="0">
                    <a:solidFill>
                      <a:schemeClr val="tx1"/>
                    </a:solidFill>
                    <a:effectLst/>
                    <a:latin typeface="+mn-lt"/>
                    <a:ea typeface="+mn-ea"/>
                    <a:cs typeface="+mn-cs"/>
                  </a:rPr>
                  <a:t>，所以其在</a:t>
                </a:r>
                <a:r>
                  <a:rPr lang="en-US" altLang="zh-TW" sz="1200" kern="1200" dirty="0">
                    <a:solidFill>
                      <a:schemeClr val="tx1"/>
                    </a:solidFill>
                    <a:effectLst/>
                    <a:latin typeface="+mn-lt"/>
                    <a:ea typeface="+mn-ea"/>
                    <a:cs typeface="+mn-cs"/>
                  </a:rPr>
                  <a:t>power meter</a:t>
                </a:r>
                <a:r>
                  <a:rPr lang="zh-TW" altLang="en-US" sz="1200" kern="1200" dirty="0">
                    <a:solidFill>
                      <a:schemeClr val="tx1"/>
                    </a:solidFill>
                    <a:effectLst/>
                    <a:latin typeface="+mn-lt"/>
                    <a:ea typeface="+mn-ea"/>
                    <a:cs typeface="+mn-cs"/>
                  </a:rPr>
                  <a:t>所量到的數值最小，所以由左下角的量測結果可知</a:t>
                </a:r>
                <a:r>
                  <a:rPr lang="en-US" altLang="zh-TW" sz="1200" i="0">
                    <a:latin typeface="Cambria Math" panose="02040503050406030204" pitchFamily="18" charset="0"/>
                  </a:rPr>
                  <a:t>V_</a:t>
                </a:r>
                <a:r>
                  <a:rPr lang="zh-TW" altLang="en-US" sz="1200" i="0">
                    <a:latin typeface="Cambria Math" panose="02040503050406030204" pitchFamily="18" charset="0"/>
                  </a:rPr>
                  <a:t>𝜋</a:t>
                </a:r>
                <a:r>
                  <a:rPr lang="zh-TW" altLang="en-US" sz="1200" dirty="0"/>
                  <a:t> </a:t>
                </a:r>
                <a:r>
                  <a:rPr lang="en-US" altLang="zh-TW" sz="1200" dirty="0"/>
                  <a:t>=</a:t>
                </a:r>
                <a:r>
                  <a:rPr lang="zh-TW" altLang="en-US" sz="1200" dirty="0"/>
                  <a:t> </a:t>
                </a:r>
                <a:r>
                  <a:rPr lang="en-US" altLang="zh-TW" sz="1200" dirty="0"/>
                  <a:t>25V</a:t>
                </a:r>
                <a:r>
                  <a:rPr lang="zh-TW" altLang="en-US" sz="1200" dirty="0"/>
                  <a:t> ，當施加</a:t>
                </a:r>
                <a:r>
                  <a:rPr lang="en-US" altLang="zh-TW" sz="1200" dirty="0"/>
                  <a:t>25V</a:t>
                </a:r>
                <a:r>
                  <a:rPr lang="zh-TW" altLang="en-US" sz="1200" dirty="0"/>
                  <a:t>時</a:t>
                </a:r>
                <a:r>
                  <a:rPr lang="en-US" altLang="zh-TW" sz="1200" dirty="0"/>
                  <a:t>H</a:t>
                </a:r>
                <a:r>
                  <a:rPr lang="zh-TW" altLang="en-US" sz="1200" dirty="0"/>
                  <a:t>和</a:t>
                </a:r>
                <a:r>
                  <a:rPr lang="en-US" altLang="zh-TW" sz="1200" dirty="0"/>
                  <a:t>V</a:t>
                </a:r>
                <a:r>
                  <a:rPr lang="zh-TW" altLang="en-US" sz="1200" dirty="0"/>
                  <a:t>間的相位可調制</a:t>
                </a:r>
                <a:r>
                  <a:rPr lang="en-US" altLang="zh-TW" sz="1200" dirty="0"/>
                  <a:t>pi</a:t>
                </a:r>
                <a:endParaRPr lang="zh-TW" altLang="en-US" dirty="0"/>
              </a:p>
            </p:txBody>
          </p:sp>
        </mc:Fallback>
      </mc:AlternateContent>
      <p:sp>
        <p:nvSpPr>
          <p:cNvPr id="4" name="投影片編號版面配置區 3"/>
          <p:cNvSpPr>
            <a:spLocks noGrp="1"/>
          </p:cNvSpPr>
          <p:nvPr>
            <p:ph type="sldNum" sz="quarter" idx="5"/>
          </p:nvPr>
        </p:nvSpPr>
        <p:spPr/>
        <p:txBody>
          <a:bodyPr/>
          <a:lstStyle/>
          <a:p>
            <a:fld id="{7015F893-DC37-4D86-87E6-4581D5262153}" type="slidenum">
              <a:rPr lang="zh-TW" altLang="en-US" smtClean="0"/>
              <a:t>51</a:t>
            </a:fld>
            <a:endParaRPr lang="zh-TW" altLang="en-US"/>
          </a:p>
        </p:txBody>
      </p:sp>
    </p:spTree>
    <p:extLst>
      <p:ext uri="{BB962C8B-B14F-4D97-AF65-F5344CB8AC3E}">
        <p14:creationId xmlns:p14="http://schemas.microsoft.com/office/powerpoint/2010/main" val="72147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藉</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由上述量測的二倍頻和</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EOPMC</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得到的量測結果得到</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SPDC</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 </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degenerate</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位置在</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106</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度且可利用</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EOPMC</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將其偏振轉換後</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，接下來將進入到量子特性的量測</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，利用</a:t>
            </a: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電光調制來產生雙偏振正交光子對的量測架構及結果</a:t>
            </a:r>
            <a:endParaRPr lang="zh-TW" altLang="en-US" dirty="0"/>
          </a:p>
        </p:txBody>
      </p:sp>
      <p:sp>
        <p:nvSpPr>
          <p:cNvPr id="4" name="投影片編號版面配置區 3"/>
          <p:cNvSpPr>
            <a:spLocks noGrp="1"/>
          </p:cNvSpPr>
          <p:nvPr>
            <p:ph type="sldNum" sz="quarter" idx="5"/>
          </p:nvPr>
        </p:nvSpPr>
        <p:spPr/>
        <p:txBody>
          <a:bodyPr/>
          <a:lstStyle/>
          <a:p>
            <a:fld id="{CFE72010-84F5-475A-802D-FB41B8E7F8A9}" type="slidenum">
              <a:rPr lang="zh-TW" altLang="en-US" smtClean="0"/>
              <a:t>52</a:t>
            </a:fld>
            <a:endParaRPr lang="zh-TW" altLang="en-US"/>
          </a:p>
        </p:txBody>
      </p:sp>
    </p:spTree>
    <p:extLst>
      <p:ext uri="{BB962C8B-B14F-4D97-AF65-F5344CB8AC3E}">
        <p14:creationId xmlns:p14="http://schemas.microsoft.com/office/powerpoint/2010/main" val="98432265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在架設量測量子對的光路時第一步一樣是先利用一台</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1550nm</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的雷射，用來對準值光</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將光對入</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collimator</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內再接上</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fiber</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 </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BS</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，接著改接回</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785nm</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的雷射連接</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PC</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，將</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入射</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光調整為</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TM</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偏振光，接著將</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利用</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光纖耦合到晶片</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內的光利用</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物鏡收光，接著</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利用</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785nm</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的</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pump filter</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將</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pump</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光濾除</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後</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，產生出的垂直偏振的</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光</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子對</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打入</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PBS</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反射到下面的光路</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接著</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將光利用兩個反射鏡打入準直器內，接著將準直器後街的光纖後面接上光纖分光器</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(BS fiber)</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將重晶片產生的光子對分開，最後在接到單光子偵測器中進行光子對的量測。</a:t>
            </a:r>
            <a:endParaRPr lang="zh-TW" alt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p>
            <a:endParaRPr lang="zh-TW" altLang="en-US" dirty="0"/>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53</a:t>
            </a:fld>
            <a:endParaRPr lang="zh-TW" altLang="en-US"/>
          </a:p>
        </p:txBody>
      </p:sp>
    </p:spTree>
    <p:extLst>
      <p:ext uri="{BB962C8B-B14F-4D97-AF65-F5344CB8AC3E}">
        <p14:creationId xmlns:p14="http://schemas.microsoft.com/office/powerpoint/2010/main" val="225284773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kern="100" dirty="0">
                <a:effectLst/>
                <a:latin typeface="Calibri" panose="020F0502020204030204" pitchFamily="34" charset="0"/>
                <a:ea typeface="標楷體" panose="03000509000000000000" pitchFamily="65" charset="-120"/>
                <a:cs typeface="Times New Roman" panose="02020603050405020304" pitchFamily="18" charset="0"/>
              </a:rPr>
              <a:t>接下來會施加依照古典量測施加</a:t>
            </a:r>
            <a:r>
              <a:rPr lang="en-US" altLang="zh-TW" sz="1200" kern="100" dirty="0">
                <a:effectLst/>
                <a:latin typeface="Calibri" panose="020F0502020204030204" pitchFamily="34" charset="0"/>
                <a:ea typeface="標楷體" panose="03000509000000000000" pitchFamily="65" charset="-120"/>
                <a:cs typeface="Times New Roman" panose="02020603050405020304" pitchFamily="18" charset="0"/>
              </a:rPr>
              <a:t>55V</a:t>
            </a:r>
            <a:r>
              <a:rPr lang="zh-TW" altLang="en-US" sz="1200" kern="100" dirty="0">
                <a:effectLst/>
                <a:latin typeface="Calibri" panose="020F0502020204030204" pitchFamily="34" charset="0"/>
                <a:ea typeface="標楷體" panose="03000509000000000000" pitchFamily="65" charset="-120"/>
                <a:cs typeface="Times New Roman" panose="02020603050405020304" pitchFamily="18" charset="0"/>
              </a:rPr>
              <a:t>電壓量測</a:t>
            </a:r>
            <a:r>
              <a:rPr lang="en-US" altLang="zh-TW" sz="1200" kern="100" dirty="0">
                <a:effectLst/>
                <a:latin typeface="Calibri" panose="020F0502020204030204" pitchFamily="34" charset="0"/>
                <a:ea typeface="標楷體" panose="03000509000000000000" pitchFamily="65" charset="-120"/>
                <a:cs typeface="Times New Roman" panose="02020603050405020304" pitchFamily="18" charset="0"/>
              </a:rPr>
              <a:t>TM</a:t>
            </a:r>
            <a:r>
              <a:rPr lang="zh-TW" altLang="en-US" sz="1200" kern="100" dirty="0">
                <a:effectLst/>
                <a:latin typeface="Calibri" panose="020F0502020204030204" pitchFamily="34" charset="0"/>
                <a:ea typeface="標楷體" panose="03000509000000000000" pitchFamily="65" charset="-120"/>
                <a:cs typeface="Times New Roman" panose="02020603050405020304" pitchFamily="18" charset="0"/>
              </a:rPr>
              <a:t>端的</a:t>
            </a:r>
            <a:r>
              <a:rPr lang="en-US" altLang="zh-TW" sz="1200" kern="100" dirty="0">
                <a:effectLst/>
                <a:latin typeface="Calibri" panose="020F0502020204030204" pitchFamily="34" charset="0"/>
                <a:ea typeface="標楷體" panose="03000509000000000000" pitchFamily="65" charset="-120"/>
                <a:cs typeface="Times New Roman" panose="02020603050405020304" pitchFamily="18" charset="0"/>
              </a:rPr>
              <a:t>photon pair</a:t>
            </a:r>
            <a:r>
              <a:rPr lang="zh-TW" altLang="en-US" sz="1200" kern="100" dirty="0">
                <a:effectLst/>
                <a:latin typeface="Calibri" panose="020F0502020204030204" pitchFamily="34" charset="0"/>
                <a:ea typeface="標楷體" panose="03000509000000000000" pitchFamily="65" charset="-120"/>
                <a:cs typeface="Times New Roman" panose="02020603050405020304" pitchFamily="18" charset="0"/>
              </a:rPr>
              <a:t>，</a:t>
            </a:r>
            <a:endParaRPr lang="zh-TW" alt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a:p>
            <a:endParaRPr lang="zh-TW" altLang="en-US" dirty="0"/>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54</a:t>
            </a:fld>
            <a:endParaRPr lang="zh-TW" altLang="en-US"/>
          </a:p>
        </p:txBody>
      </p:sp>
    </p:spTree>
    <p:extLst>
      <p:ext uri="{BB962C8B-B14F-4D97-AF65-F5344CB8AC3E}">
        <p14:creationId xmlns:p14="http://schemas.microsoft.com/office/powerpoint/2010/main" val="49868939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kern="100" dirty="0">
                <a:effectLst/>
                <a:latin typeface="Calibri" panose="020F0502020204030204" pitchFamily="34" charset="0"/>
                <a:ea typeface="標楷體" panose="03000509000000000000" pitchFamily="65" charset="-120"/>
                <a:cs typeface="Times New Roman" panose="02020603050405020304" pitchFamily="18" charset="0"/>
              </a:rPr>
              <a:t>接著會再</a:t>
            </a:r>
            <a:r>
              <a:rPr lang="en-US" altLang="zh-TW" sz="1200" kern="100" dirty="0">
                <a:effectLst/>
                <a:latin typeface="Calibri" panose="020F0502020204030204" pitchFamily="34" charset="0"/>
                <a:ea typeface="標楷體" panose="03000509000000000000" pitchFamily="65" charset="-120"/>
                <a:cs typeface="Times New Roman" panose="02020603050405020304" pitchFamily="18" charset="0"/>
              </a:rPr>
              <a:t>PBS</a:t>
            </a:r>
            <a:r>
              <a:rPr lang="zh-TW" altLang="en-US" sz="1200" kern="100" dirty="0">
                <a:effectLst/>
                <a:latin typeface="Calibri" panose="020F0502020204030204" pitchFamily="34" charset="0"/>
                <a:ea typeface="標楷體" panose="03000509000000000000" pitchFamily="65" charset="-120"/>
                <a:cs typeface="Times New Roman" panose="02020603050405020304" pitchFamily="18" charset="0"/>
              </a:rPr>
              <a:t>的</a:t>
            </a:r>
            <a:r>
              <a:rPr lang="en-US" altLang="zh-TW" sz="1200" kern="100" dirty="0">
                <a:effectLst/>
                <a:latin typeface="Calibri" panose="020F0502020204030204" pitchFamily="34" charset="0"/>
                <a:ea typeface="標楷體" panose="03000509000000000000" pitchFamily="65" charset="-120"/>
                <a:cs typeface="Times New Roman" panose="02020603050405020304" pitchFamily="18" charset="0"/>
              </a:rPr>
              <a:t>TM</a:t>
            </a:r>
            <a:r>
              <a:rPr lang="zh-TW" altLang="en-US" sz="1200" kern="100" dirty="0">
                <a:effectLst/>
                <a:latin typeface="Calibri" panose="020F0502020204030204" pitchFamily="34" charset="0"/>
                <a:ea typeface="標楷體" panose="03000509000000000000" pitchFamily="65" charset="-120"/>
                <a:cs typeface="Times New Roman" panose="02020603050405020304" pitchFamily="18" charset="0"/>
              </a:rPr>
              <a:t>端放上擋板量測加電壓後由</a:t>
            </a:r>
            <a:r>
              <a:rPr lang="en-US" altLang="zh-TW" sz="1200" kern="100" dirty="0">
                <a:effectLst/>
                <a:latin typeface="Calibri" panose="020F0502020204030204" pitchFamily="34" charset="0"/>
                <a:ea typeface="標楷體" panose="03000509000000000000" pitchFamily="65" charset="-120"/>
                <a:cs typeface="Times New Roman" panose="02020603050405020304" pitchFamily="18" charset="0"/>
              </a:rPr>
              <a:t>EOPPMC</a:t>
            </a:r>
            <a:r>
              <a:rPr lang="zh-TW" altLang="en-US" sz="1200" kern="100" dirty="0">
                <a:effectLst/>
                <a:latin typeface="Calibri" panose="020F0502020204030204" pitchFamily="34" charset="0"/>
                <a:ea typeface="標楷體" panose="03000509000000000000" pitchFamily="65" charset="-120"/>
                <a:cs typeface="Times New Roman" panose="02020603050405020304" pitchFamily="18" charset="0"/>
              </a:rPr>
              <a:t>將原先晶片前半部的</a:t>
            </a:r>
            <a:r>
              <a:rPr lang="en-US" altLang="zh-TW" sz="1200" kern="100" dirty="0">
                <a:effectLst/>
                <a:latin typeface="Calibri" panose="020F0502020204030204" pitchFamily="34" charset="0"/>
                <a:ea typeface="標楷體" panose="03000509000000000000" pitchFamily="65" charset="-120"/>
                <a:cs typeface="Times New Roman" panose="02020603050405020304" pitchFamily="18" charset="0"/>
              </a:rPr>
              <a:t>photon pair</a:t>
            </a:r>
            <a:r>
              <a:rPr lang="zh-TW" altLang="en-US" sz="1200" kern="100" dirty="0">
                <a:effectLst/>
                <a:latin typeface="Calibri" panose="020F0502020204030204" pitchFamily="34" charset="0"/>
                <a:ea typeface="標楷體" panose="03000509000000000000" pitchFamily="65" charset="-120"/>
                <a:cs typeface="Times New Roman" panose="02020603050405020304" pitchFamily="18" charset="0"/>
              </a:rPr>
              <a:t>轉換為水平偏振的</a:t>
            </a:r>
            <a:r>
              <a:rPr lang="en-US" altLang="zh-TW" sz="1200" kern="100" dirty="0">
                <a:effectLst/>
                <a:latin typeface="Calibri" panose="020F0502020204030204" pitchFamily="34" charset="0"/>
                <a:ea typeface="標楷體" panose="03000509000000000000" pitchFamily="65" charset="-120"/>
                <a:cs typeface="Times New Roman" panose="02020603050405020304" pitchFamily="18" charset="0"/>
              </a:rPr>
              <a:t>photon pair</a:t>
            </a:r>
            <a:r>
              <a:rPr lang="zh-TW" altLang="en-US" sz="1200" kern="100" dirty="0">
                <a:effectLst/>
                <a:latin typeface="Calibri" panose="020F0502020204030204" pitchFamily="34" charset="0"/>
                <a:ea typeface="標楷體" panose="03000509000000000000" pitchFamily="65" charset="-120"/>
                <a:cs typeface="Times New Roman" panose="02020603050405020304" pitchFamily="18" charset="0"/>
              </a:rPr>
              <a:t>數</a:t>
            </a:r>
            <a:endParaRPr lang="en-US" altLang="zh-TW" sz="1200" kern="100" dirty="0">
              <a:effectLst/>
              <a:latin typeface="Calibri" panose="020F0502020204030204" pitchFamily="34" charset="0"/>
              <a:ea typeface="標楷體" panose="03000509000000000000" pitchFamily="65" charset="-120"/>
              <a:cs typeface="Times New Roman" panose="02020603050405020304" pitchFamily="18" charset="0"/>
            </a:endParaRPr>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55</a:t>
            </a:fld>
            <a:endParaRPr lang="zh-TW" altLang="en-US"/>
          </a:p>
        </p:txBody>
      </p:sp>
    </p:spTree>
    <p:extLst>
      <p:ext uri="{BB962C8B-B14F-4D97-AF65-F5344CB8AC3E}">
        <p14:creationId xmlns:p14="http://schemas.microsoft.com/office/powerpoint/2010/main" val="203190302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所以這五張圖就是利用上述的量測架構在施加電壓後產生</a:t>
            </a:r>
            <a:r>
              <a:rPr lang="zh-TW" altLang="en-US" sz="1200" b="1" dirty="0">
                <a:latin typeface="Times New Roman" panose="02020603050405020304" pitchFamily="18" charset="0"/>
                <a:ea typeface="標楷體" panose="03000509000000000000" pitchFamily="65" charset="-120"/>
                <a:cs typeface="Times New Roman" panose="02020603050405020304" pitchFamily="18" charset="0"/>
              </a:rPr>
              <a:t>雙偏振正交光子對的量測結果</a:t>
            </a:r>
            <a:endParaRPr lang="zh-TW" altLang="en-US" dirty="0"/>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56</a:t>
            </a:fld>
            <a:endParaRPr lang="zh-TW" altLang="en-US"/>
          </a:p>
        </p:txBody>
      </p:sp>
    </p:spTree>
    <p:extLst>
      <p:ext uri="{BB962C8B-B14F-4D97-AF65-F5344CB8AC3E}">
        <p14:creationId xmlns:p14="http://schemas.microsoft.com/office/powerpoint/2010/main" val="427338395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此量測結果為施加不同電壓時</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TE</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的</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photon pair</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量測結果，</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由</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右</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圖可看出其施加不同電壓後因電壓不同所以其旋轉的角度不同造成其有不同的光子對數量，由此圖可得知施加電壓光子對數量變化</a:t>
            </a:r>
            <a:r>
              <a:rPr lang="zh-TW" altLang="en-US" sz="1800" kern="100" dirty="0">
                <a:effectLst/>
                <a:latin typeface="Calibri" panose="020F0502020204030204" pitchFamily="34" charset="0"/>
                <a:ea typeface="標楷體" panose="03000509000000000000" pitchFamily="65" charset="-120"/>
                <a:cs typeface="Times New Roman" panose="02020603050405020304" pitchFamily="18" charset="0"/>
              </a:rPr>
              <a:t>。</a:t>
            </a:r>
            <a:endPar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而其中有幾樣本點較偏離</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sine</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的曲線，其因目前的量測架構較不穩定光路容易受到外界擾動。</a:t>
            </a:r>
            <a:endParaRPr lang="zh-TW" alt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57</a:t>
            </a:fld>
            <a:endParaRPr lang="zh-TW" altLang="en-US"/>
          </a:p>
        </p:txBody>
      </p:sp>
    </p:spTree>
    <p:extLst>
      <p:ext uri="{BB962C8B-B14F-4D97-AF65-F5344CB8AC3E}">
        <p14:creationId xmlns:p14="http://schemas.microsoft.com/office/powerpoint/2010/main" val="562052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所以綜合以上</a:t>
            </a:r>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59</a:t>
            </a:fld>
            <a:endParaRPr lang="zh-TW" altLang="en-US"/>
          </a:p>
        </p:txBody>
      </p:sp>
    </p:spTree>
    <p:extLst>
      <p:ext uri="{BB962C8B-B14F-4D97-AF65-F5344CB8AC3E}">
        <p14:creationId xmlns:p14="http://schemas.microsoft.com/office/powerpoint/2010/main" val="157011130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800" dirty="0">
                <a:effectLst/>
                <a:ea typeface="標楷體" panose="03000509000000000000" pitchFamily="65" charset="-120"/>
                <a:cs typeface="Times New Roman" panose="02020603050405020304" pitchFamily="18" charset="0"/>
              </a:rPr>
              <a:t>所以由前面可以看到我們可以利用單一晶片產生雙偏振正交光子對</a:t>
            </a:r>
            <a:endParaRPr lang="en-US" altLang="zh-TW" sz="1800" dirty="0">
              <a:effectLst/>
              <a:ea typeface="標楷體" panose="03000509000000000000" pitchFamily="65" charset="-120"/>
              <a:cs typeface="Times New Roman" panose="02020603050405020304" pitchFamily="18" charset="0"/>
            </a:endParaRPr>
          </a:p>
          <a:p>
            <a:r>
              <a:rPr lang="zh-TW" altLang="en-US" sz="1800" dirty="0">
                <a:effectLst/>
                <a:ea typeface="標楷體" panose="03000509000000000000" pitchFamily="65" charset="-120"/>
                <a:cs typeface="Times New Roman" panose="02020603050405020304" pitchFamily="18" charset="0"/>
              </a:rPr>
              <a:t>納在未來呢</a:t>
            </a:r>
            <a:r>
              <a:rPr lang="zh-TW" altLang="zh-TW" sz="1800" dirty="0">
                <a:effectLst/>
                <a:ea typeface="標楷體" panose="03000509000000000000" pitchFamily="65" charset="-120"/>
                <a:cs typeface="Times New Roman" panose="02020603050405020304" pitchFamily="18" charset="0"/>
              </a:rPr>
              <a:t>架設上圖的</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phase lock</a:t>
            </a:r>
            <a:r>
              <a:rPr lang="zh-TW" altLang="zh-TW" sz="1800" dirty="0">
                <a:effectLst/>
                <a:latin typeface="Cambria Math" panose="02040503050406030204" pitchFamily="18" charset="0"/>
                <a:ea typeface="標楷體" panose="03000509000000000000" pitchFamily="65" charset="-120"/>
                <a:cs typeface="Cambria Math" panose="02040503050406030204" pitchFamily="18" charset="0"/>
              </a:rPr>
              <a:t>回授系統，首先我們先利用</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ECL</a:t>
            </a:r>
            <a:r>
              <a:rPr lang="zh-TW" altLang="zh-TW" sz="1800" dirty="0">
                <a:effectLst/>
                <a:latin typeface="Cambria Math" panose="02040503050406030204" pitchFamily="18" charset="0"/>
                <a:ea typeface="標楷體" panose="03000509000000000000" pitchFamily="65" charset="-120"/>
                <a:cs typeface="Cambria Math" panose="02040503050406030204" pitchFamily="18" charset="0"/>
              </a:rPr>
              <a:t>打入一偏振為</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45</a:t>
            </a:r>
            <a:r>
              <a:rPr lang="zh-TW" altLang="zh-TW" sz="1800" dirty="0">
                <a:effectLst/>
                <a:latin typeface="Cambria Math" panose="02040503050406030204" pitchFamily="18" charset="0"/>
                <a:ea typeface="標楷體" panose="03000509000000000000" pitchFamily="65" charset="-120"/>
                <a:cs typeface="Cambria Math" panose="02040503050406030204" pitchFamily="18" charset="0"/>
              </a:rPr>
              <a:t>°的入射光進入晶片，藉此來模擬產生出來的</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a:t>
            </a:r>
            <a:r>
              <a:rPr lang="en-US" altLang="zh-TW" sz="1800" dirty="0">
                <a:effectLst/>
                <a:latin typeface="標楷體" panose="03000509000000000000" pitchFamily="65" charset="-120"/>
                <a:cs typeface="Times New Roman" panose="02020603050405020304" pitchFamily="18" charset="0"/>
              </a:rPr>
              <a:t>HH</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a:t>
            </a:r>
            <a:r>
              <a:rPr lang="zh-TW" altLang="zh-TW" sz="1800" dirty="0">
                <a:effectLst/>
                <a:latin typeface="Cambria Math" panose="02040503050406030204" pitchFamily="18" charset="0"/>
                <a:ea typeface="標楷體" panose="03000509000000000000" pitchFamily="65" charset="-120"/>
                <a:cs typeface="Cambria Math" panose="02040503050406030204" pitchFamily="18" charset="0"/>
              </a:rPr>
              <a:t>和</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|VV⟩</a:t>
            </a:r>
            <a:r>
              <a:rPr lang="zh-TW" altLang="zh-TW" sz="1800" dirty="0">
                <a:effectLst/>
                <a:latin typeface="Cambria Math" panose="02040503050406030204" pitchFamily="18" charset="0"/>
                <a:ea typeface="標楷體" panose="03000509000000000000" pitchFamily="65" charset="-120"/>
                <a:cs typeface="Cambria Math" panose="02040503050406030204" pitchFamily="18" charset="0"/>
              </a:rPr>
              <a:t>的光子對，接著利用</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PBS</a:t>
            </a:r>
            <a:r>
              <a:rPr lang="zh-TW" altLang="zh-TW" sz="1800" dirty="0">
                <a:effectLst/>
                <a:latin typeface="Cambria Math" panose="02040503050406030204" pitchFamily="18" charset="0"/>
                <a:ea typeface="標楷體" panose="03000509000000000000" pitchFamily="65" charset="-120"/>
                <a:cs typeface="Cambria Math" panose="02040503050406030204" pitchFamily="18" charset="0"/>
              </a:rPr>
              <a:t>將</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45</a:t>
            </a:r>
            <a:r>
              <a:rPr lang="zh-TW" altLang="zh-TW" sz="1800" dirty="0">
                <a:effectLst/>
                <a:latin typeface="Cambria Math" panose="02040503050406030204" pitchFamily="18" charset="0"/>
                <a:ea typeface="標楷體" panose="03000509000000000000" pitchFamily="65" charset="-120"/>
                <a:cs typeface="Cambria Math" panose="02040503050406030204" pitchFamily="18" charset="0"/>
              </a:rPr>
              <a:t>°的偏振分成水平和垂直分量的偏振，分別再藉由另兩個反射鏡將兩哥分量的光合起來後，後面再擺設一</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45</a:t>
            </a:r>
            <a:r>
              <a:rPr lang="zh-TW" altLang="zh-TW" sz="1800" dirty="0">
                <a:effectLst/>
                <a:latin typeface="Cambria Math" panose="02040503050406030204" pitchFamily="18" charset="0"/>
                <a:ea typeface="標楷體" panose="03000509000000000000" pitchFamily="65" charset="-120"/>
                <a:cs typeface="Cambria Math" panose="02040503050406030204" pitchFamily="18" charset="0"/>
              </a:rPr>
              <a:t>°的偏振片接著</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detector</a:t>
            </a:r>
            <a:r>
              <a:rPr lang="zh-TW" altLang="zh-TW" sz="1800" dirty="0">
                <a:effectLst/>
                <a:latin typeface="Cambria Math" panose="02040503050406030204" pitchFamily="18" charset="0"/>
                <a:ea typeface="標楷體" panose="03000509000000000000" pitchFamily="65" charset="-120"/>
                <a:cs typeface="Cambria Math" panose="02040503050406030204" pitchFamily="18" charset="0"/>
              </a:rPr>
              <a:t>收光，利用</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power supply</a:t>
            </a:r>
            <a:r>
              <a:rPr lang="zh-TW" altLang="zh-TW" sz="1800" dirty="0">
                <a:effectLst/>
                <a:latin typeface="Cambria Math" panose="02040503050406030204" pitchFamily="18" charset="0"/>
                <a:ea typeface="標楷體" panose="03000509000000000000" pitchFamily="65" charset="-120"/>
                <a:cs typeface="Cambria Math" panose="02040503050406030204" pitchFamily="18" charset="0"/>
              </a:rPr>
              <a:t>施加電壓來控制相位使其相位控制在</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45</a:t>
            </a:r>
            <a:r>
              <a:rPr lang="zh-TW" altLang="zh-TW" sz="1800" dirty="0">
                <a:effectLst/>
                <a:latin typeface="Cambria Math" panose="02040503050406030204" pitchFamily="18" charset="0"/>
                <a:ea typeface="標楷體" panose="03000509000000000000" pitchFamily="65" charset="-120"/>
                <a:cs typeface="Cambria Math" panose="02040503050406030204" pitchFamily="18" charset="0"/>
              </a:rPr>
              <a:t>°的偏振狀態，而要怎麼使其相位可以穩住呢，首先</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45</a:t>
            </a:r>
            <a:r>
              <a:rPr lang="zh-TW" altLang="zh-TW" sz="1800" dirty="0">
                <a:effectLst/>
                <a:latin typeface="Cambria Math" panose="02040503050406030204" pitchFamily="18" charset="0"/>
                <a:ea typeface="標楷體" panose="03000509000000000000" pitchFamily="65" charset="-120"/>
                <a:cs typeface="Cambria Math" panose="02040503050406030204" pitchFamily="18" charset="0"/>
              </a:rPr>
              <a:t>°的偏振進入</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detector</a:t>
            </a:r>
            <a:r>
              <a:rPr lang="zh-TW" altLang="zh-TW" sz="1800" dirty="0">
                <a:effectLst/>
                <a:latin typeface="Cambria Math" panose="02040503050406030204" pitchFamily="18" charset="0"/>
                <a:ea typeface="標楷體" panose="03000509000000000000" pitchFamily="65" charset="-120"/>
                <a:cs typeface="Cambria Math" panose="02040503050406030204" pitchFamily="18" charset="0"/>
              </a:rPr>
              <a:t>後因為外在環境相位擾動的影響，所以利用示波器監控其偵測器收到的波型並將其中一個訊號傳給回授的設備，並且游回授的設備控制</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power supply</a:t>
            </a:r>
            <a:r>
              <a:rPr lang="zh-TW" altLang="zh-TW" sz="1800" dirty="0">
                <a:effectLst/>
                <a:latin typeface="Cambria Math" panose="02040503050406030204" pitchFamily="18" charset="0"/>
                <a:ea typeface="標楷體" panose="03000509000000000000" pitchFamily="65" charset="-120"/>
                <a:cs typeface="Cambria Math" panose="02040503050406030204" pitchFamily="18" charset="0"/>
              </a:rPr>
              <a:t>所需施加將相位條回的電壓，接著再利用</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detector</a:t>
            </a:r>
            <a:r>
              <a:rPr lang="zh-TW" altLang="zh-TW" sz="1800" dirty="0">
                <a:effectLst/>
                <a:latin typeface="Cambria Math" panose="02040503050406030204" pitchFamily="18" charset="0"/>
                <a:ea typeface="標楷體" panose="03000509000000000000" pitchFamily="65" charset="-120"/>
                <a:cs typeface="Cambria Math" panose="02040503050406030204" pitchFamily="18" charset="0"/>
              </a:rPr>
              <a:t>收到的訊號給示波器及回授系統，將相位調整，藉此來穩定相位。</a:t>
            </a:r>
            <a:endParaRPr lang="zh-TW" altLang="en-US" dirty="0"/>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60</a:t>
            </a:fld>
            <a:endParaRPr lang="zh-TW" altLang="en-US"/>
          </a:p>
        </p:txBody>
      </p:sp>
    </p:spTree>
    <p:extLst>
      <p:ext uri="{BB962C8B-B14F-4D97-AF65-F5344CB8AC3E}">
        <p14:creationId xmlns:p14="http://schemas.microsoft.com/office/powerpoint/2010/main" val="30524301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Phase lock</a:t>
            </a:r>
            <a:r>
              <a:rPr lang="zh-TW" altLang="zh-TW" sz="1800" dirty="0">
                <a:effectLst/>
                <a:latin typeface="Cambria Math" panose="02040503050406030204" pitchFamily="18" charset="0"/>
                <a:ea typeface="標楷體" panose="03000509000000000000" pitchFamily="65" charset="-120"/>
                <a:cs typeface="Cambria Math" panose="02040503050406030204" pitchFamily="18" charset="0"/>
              </a:rPr>
              <a:t>的回授系統完成後，接下來需在量測雙光子對的量子架構上加上干涉儀的架構找出</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a:t>
            </a:r>
            <a:r>
              <a:rPr lang="en-US" altLang="zh-TW" sz="1800" dirty="0">
                <a:effectLst/>
                <a:latin typeface="標楷體" panose="03000509000000000000" pitchFamily="65" charset="-120"/>
                <a:cs typeface="Times New Roman" panose="02020603050405020304" pitchFamily="18" charset="0"/>
              </a:rPr>
              <a:t>HH</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a:t>
            </a:r>
            <a:r>
              <a:rPr lang="zh-TW" altLang="zh-TW" sz="1800" dirty="0">
                <a:effectLst/>
                <a:latin typeface="Cambria Math" panose="02040503050406030204" pitchFamily="18" charset="0"/>
                <a:ea typeface="標楷體" panose="03000509000000000000" pitchFamily="65" charset="-120"/>
                <a:cs typeface="Cambria Math" panose="02040503050406030204" pitchFamily="18" charset="0"/>
              </a:rPr>
              <a:t>和</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|VV⟩</a:t>
            </a:r>
            <a:r>
              <a:rPr lang="zh-TW" altLang="zh-TW" sz="1800" dirty="0">
                <a:effectLst/>
                <a:latin typeface="Cambria Math" panose="02040503050406030204" pitchFamily="18" charset="0"/>
                <a:ea typeface="標楷體" panose="03000509000000000000" pitchFamily="65" charset="-120"/>
                <a:cs typeface="Cambria Math" panose="02040503050406030204" pitchFamily="18" charset="0"/>
              </a:rPr>
              <a:t>兩光子對的</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delay</a:t>
            </a:r>
            <a:r>
              <a:rPr lang="zh-TW" altLang="zh-TW" sz="1800" dirty="0">
                <a:effectLst/>
                <a:latin typeface="Cambria Math" panose="02040503050406030204" pitchFamily="18" charset="0"/>
                <a:ea typeface="標楷體" panose="03000509000000000000" pitchFamily="65" charset="-120"/>
                <a:cs typeface="Cambria Math" panose="02040503050406030204" pitchFamily="18" charset="0"/>
              </a:rPr>
              <a:t>，接著再加上</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Phase lock</a:t>
            </a:r>
            <a:r>
              <a:rPr lang="zh-TW" altLang="zh-TW" sz="1800" dirty="0">
                <a:effectLst/>
                <a:latin typeface="Cambria Math" panose="02040503050406030204" pitchFamily="18" charset="0"/>
                <a:ea typeface="標楷體" panose="03000509000000000000" pitchFamily="65" charset="-120"/>
                <a:cs typeface="Cambria Math" panose="02040503050406030204" pitchFamily="18" charset="0"/>
              </a:rPr>
              <a:t>的回授系統完成後可開始量測，而量測貝爾態可利用量子段成掃描</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a:t>
            </a:r>
            <a:r>
              <a:rPr lang="en-US"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Quantum state tomography</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a:t>
            </a:r>
            <a:r>
              <a:rPr lang="zh-TW" altLang="zh-TW" sz="1800" dirty="0">
                <a:effectLst/>
                <a:latin typeface="Cambria Math" panose="02040503050406030204" pitchFamily="18" charset="0"/>
                <a:ea typeface="標楷體" panose="03000509000000000000" pitchFamily="65" charset="-120"/>
                <a:cs typeface="Cambria Math" panose="02040503050406030204" pitchFamily="18" charset="0"/>
              </a:rPr>
              <a:t>的量測架構來進行量測</a:t>
            </a:r>
            <a:r>
              <a:rPr lang="zh-TW" altLang="en-US" sz="1800" dirty="0">
                <a:effectLst/>
                <a:latin typeface="Cambria Math" panose="02040503050406030204" pitchFamily="18" charset="0"/>
                <a:ea typeface="標楷體" panose="03000509000000000000" pitchFamily="65" charset="-120"/>
                <a:cs typeface="Cambria Math" panose="02040503050406030204" pitchFamily="18" charset="0"/>
              </a:rPr>
              <a:t>其量子特性，所以未來我們可以利用這樣的晶片來產生</a:t>
            </a:r>
            <a:r>
              <a:rPr lang="en-US" altLang="zh-TW" sz="1800" dirty="0">
                <a:solidFill>
                  <a:srgbClr val="222222"/>
                </a:solidFill>
                <a:latin typeface="-apple-system"/>
              </a:rPr>
              <a:t>broadband entanglement</a:t>
            </a:r>
            <a:r>
              <a:rPr lang="zh-TW" altLang="en-US" sz="1800" dirty="0">
                <a:solidFill>
                  <a:srgbClr val="222222"/>
                </a:solidFill>
                <a:latin typeface="-apple-system"/>
              </a:rPr>
              <a:t>  </a:t>
            </a:r>
            <a:r>
              <a:rPr lang="en-US" altLang="zh-TW" sz="1800" dirty="0">
                <a:solidFill>
                  <a:srgbClr val="222222"/>
                </a:solidFill>
                <a:latin typeface="-apple-system"/>
              </a:rPr>
              <a:t>photon source</a:t>
            </a:r>
            <a:r>
              <a:rPr lang="zh-TW" altLang="en-US" sz="1800" dirty="0">
                <a:solidFill>
                  <a:srgbClr val="222222"/>
                </a:solidFill>
                <a:latin typeface="-apple-system"/>
              </a:rPr>
              <a:t>進行</a:t>
            </a:r>
            <a:r>
              <a:rPr lang="en-US" altLang="zh-TW" sz="1800" dirty="0">
                <a:solidFill>
                  <a:srgbClr val="222222"/>
                </a:solidFill>
                <a:latin typeface="-apple-system"/>
              </a:rPr>
              <a:t>Quantum key-distribution network</a:t>
            </a:r>
            <a:r>
              <a:rPr lang="zh-TW" altLang="en-US" sz="1800" dirty="0"/>
              <a:t> </a:t>
            </a:r>
            <a:endParaRPr lang="zh-TW" altLang="en-US" dirty="0"/>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61</a:t>
            </a:fld>
            <a:endParaRPr lang="zh-TW" altLang="en-US"/>
          </a:p>
        </p:txBody>
      </p:sp>
    </p:spTree>
    <p:extLst>
      <p:ext uri="{BB962C8B-B14F-4D97-AF65-F5344CB8AC3E}">
        <p14:creationId xmlns:p14="http://schemas.microsoft.com/office/powerpoint/2010/main" val="410236355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CFE72010-84F5-475A-802D-FB41B8E7F8A9}" type="slidenum">
              <a:rPr lang="zh-TW" altLang="en-US" smtClean="0"/>
              <a:t>62</a:t>
            </a:fld>
            <a:endParaRPr lang="zh-TW" altLang="en-US"/>
          </a:p>
        </p:txBody>
      </p:sp>
    </p:spTree>
    <p:extLst>
      <p:ext uri="{BB962C8B-B14F-4D97-AF65-F5344CB8AC3E}">
        <p14:creationId xmlns:p14="http://schemas.microsoft.com/office/powerpoint/2010/main" val="31619187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63</a:t>
            </a:fld>
            <a:endParaRPr lang="zh-TW" altLang="en-US"/>
          </a:p>
        </p:txBody>
      </p:sp>
    </p:spTree>
    <p:extLst>
      <p:ext uri="{BB962C8B-B14F-4D97-AF65-F5344CB8AC3E}">
        <p14:creationId xmlns:p14="http://schemas.microsoft.com/office/powerpoint/2010/main" val="164966038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所以講道</a:t>
                </a:r>
                <a:r>
                  <a:rPr lang="en-US" altLang="zh-TW" dirty="0"/>
                  <a:t>QKD</a:t>
                </a:r>
                <a:r>
                  <a:rPr lang="zh-TW" altLang="en-US" dirty="0"/>
                  <a:t>我們就來大概了解一下其運作原理</a:t>
                </a:r>
                <a:endParaRPr lang="en-US" altLang="zh-TW" dirty="0"/>
              </a:p>
              <a:p>
                <a:pPr algn="just">
                  <a:buFont typeface="+mj-lt"/>
                  <a:buAutoNum type="arabicPeriod"/>
                </a:pPr>
                <a:r>
                  <a:rPr lang="en-US" altLang="zh-TW" b="0" i="0" dirty="0">
                    <a:solidFill>
                      <a:srgbClr val="555555"/>
                    </a:solidFill>
                    <a:effectLst/>
                    <a:latin typeface="helvetica neue"/>
                  </a:rPr>
                  <a:t>Alice </a:t>
                </a:r>
                <a:r>
                  <a:rPr lang="zh-TW" altLang="en-US" b="0" i="0" dirty="0">
                    <a:solidFill>
                      <a:srgbClr val="555555"/>
                    </a:solidFill>
                    <a:effectLst/>
                    <a:latin typeface="helvetica neue"/>
                  </a:rPr>
                  <a:t>送出四種角度的光子</a:t>
                </a:r>
              </a:p>
              <a:p>
                <a:pPr algn="just">
                  <a:buFont typeface="+mj-lt"/>
                  <a:buAutoNum type="arabicPeriod"/>
                </a:pPr>
                <a:r>
                  <a:rPr lang="en-US" altLang="zh-TW" b="0" i="0" dirty="0">
                    <a:solidFill>
                      <a:srgbClr val="555555"/>
                    </a:solidFill>
                    <a:effectLst/>
                    <a:latin typeface="helvetica neue"/>
                  </a:rPr>
                  <a:t>Bob </a:t>
                </a:r>
                <a:r>
                  <a:rPr lang="zh-TW" altLang="en-US" b="0" i="0" dirty="0">
                    <a:solidFill>
                      <a:srgbClr val="555555"/>
                    </a:solidFill>
                    <a:effectLst/>
                    <a:latin typeface="helvetica neue"/>
                  </a:rPr>
                  <a:t>隨機以兩種頻道測量 </a:t>
                </a:r>
                <a:r>
                  <a:rPr lang="en-US" altLang="zh-TW" b="0" i="0" dirty="0">
                    <a:solidFill>
                      <a:srgbClr val="555555"/>
                    </a:solidFill>
                    <a:effectLst/>
                    <a:latin typeface="helvetica neue"/>
                  </a:rPr>
                  <a:t>(</a:t>
                </a:r>
                <a:r>
                  <a:rPr lang="zh-TW" altLang="en-US" b="0" i="0" dirty="0">
                    <a:solidFill>
                      <a:srgbClr val="555555"/>
                    </a:solidFill>
                    <a:effectLst/>
                    <a:latin typeface="helvetica neue"/>
                  </a:rPr>
                  <a:t>用何種頻道需記錄下來</a:t>
                </a:r>
                <a:r>
                  <a:rPr lang="en-US" altLang="zh-TW" b="0" i="0" dirty="0">
                    <a:solidFill>
                      <a:srgbClr val="555555"/>
                    </a:solidFill>
                    <a:effectLst/>
                    <a:latin typeface="helvetica neue"/>
                  </a:rPr>
                  <a:t>)</a:t>
                </a:r>
              </a:p>
              <a:p>
                <a:pPr algn="just">
                  <a:buFont typeface="+mj-lt"/>
                  <a:buAutoNum type="arabicPeriod"/>
                </a:pPr>
                <a:r>
                  <a:rPr lang="en-US" altLang="zh-TW" b="0" i="0" dirty="0">
                    <a:solidFill>
                      <a:srgbClr val="555555"/>
                    </a:solidFill>
                    <a:effectLst/>
                    <a:latin typeface="helvetica neue"/>
                  </a:rPr>
                  <a:t>Bob </a:t>
                </a:r>
                <a:r>
                  <a:rPr lang="zh-TW" altLang="en-US" b="0" i="0" dirty="0">
                    <a:solidFill>
                      <a:srgbClr val="555555"/>
                    </a:solidFill>
                    <a:effectLst/>
                    <a:latin typeface="helvetica neue"/>
                  </a:rPr>
                  <a:t>在公開的網路上宣布使用哪些頻道</a:t>
                </a:r>
              </a:p>
              <a:p>
                <a:pPr algn="just">
                  <a:buFont typeface="+mj-lt"/>
                  <a:buAutoNum type="arabicPeriod"/>
                </a:pPr>
                <a:r>
                  <a:rPr lang="en-US" altLang="zh-TW" b="0" i="0" dirty="0">
                    <a:solidFill>
                      <a:srgbClr val="555555"/>
                    </a:solidFill>
                    <a:effectLst/>
                    <a:latin typeface="helvetica neue"/>
                  </a:rPr>
                  <a:t>Alice </a:t>
                </a:r>
                <a:r>
                  <a:rPr lang="zh-TW" altLang="en-US" b="0" i="0" dirty="0">
                    <a:solidFill>
                      <a:srgbClr val="555555"/>
                    </a:solidFill>
                    <a:effectLst/>
                    <a:latin typeface="helvetica neue"/>
                  </a:rPr>
                  <a:t>在公開的網路上告知 </a:t>
                </a:r>
                <a:r>
                  <a:rPr lang="en-US" altLang="zh-TW" b="0" i="0" dirty="0">
                    <a:solidFill>
                      <a:srgbClr val="555555"/>
                    </a:solidFill>
                    <a:effectLst/>
                    <a:latin typeface="helvetica neue"/>
                  </a:rPr>
                  <a:t>Bob </a:t>
                </a:r>
                <a:r>
                  <a:rPr lang="zh-TW" altLang="en-US" b="0" i="0" dirty="0">
                    <a:solidFill>
                      <a:srgbClr val="555555"/>
                    </a:solidFill>
                    <a:effectLst/>
                    <a:latin typeface="helvetica neue"/>
                  </a:rPr>
                  <a:t>哪些光子使用錯誤的頻道</a:t>
                </a:r>
              </a:p>
              <a:p>
                <a:pPr algn="just">
                  <a:buFont typeface="+mj-lt"/>
                  <a:buAutoNum type="arabicPeriod"/>
                </a:pPr>
                <a:r>
                  <a:rPr lang="en-US" altLang="zh-TW" b="0" i="0" dirty="0">
                    <a:solidFill>
                      <a:srgbClr val="555555"/>
                    </a:solidFill>
                    <a:effectLst/>
                    <a:latin typeface="helvetica neue"/>
                  </a:rPr>
                  <a:t>Alice </a:t>
                </a:r>
                <a:r>
                  <a:rPr lang="zh-TW" altLang="en-US" b="0" i="0" dirty="0">
                    <a:solidFill>
                      <a:srgbClr val="555555"/>
                    </a:solidFill>
                    <a:effectLst/>
                    <a:latin typeface="helvetica neue"/>
                  </a:rPr>
                  <a:t>和 </a:t>
                </a:r>
                <a:r>
                  <a:rPr lang="en-US" altLang="zh-TW" b="0" i="0" dirty="0">
                    <a:solidFill>
                      <a:srgbClr val="555555"/>
                    </a:solidFill>
                    <a:effectLst/>
                    <a:latin typeface="helvetica neue"/>
                  </a:rPr>
                  <a:t>Bob </a:t>
                </a:r>
                <a:r>
                  <a:rPr lang="zh-TW" altLang="en-US" b="0" i="0" dirty="0">
                    <a:solidFill>
                      <a:srgbClr val="555555"/>
                    </a:solidFill>
                    <a:effectLst/>
                    <a:latin typeface="helvetica neue"/>
                  </a:rPr>
                  <a:t>把這些使用錯誤頻道的光子丟棄</a:t>
                </a:r>
              </a:p>
              <a:p>
                <a:pPr algn="just">
                  <a:buFont typeface="+mj-lt"/>
                  <a:buAutoNum type="arabicPeriod"/>
                </a:pPr>
                <a:r>
                  <a:rPr lang="en-US" altLang="zh-TW" b="0" i="0" dirty="0">
                    <a:solidFill>
                      <a:srgbClr val="555555"/>
                    </a:solidFill>
                    <a:effectLst/>
                    <a:latin typeface="helvetica neue"/>
                  </a:rPr>
                  <a:t>Alice </a:t>
                </a:r>
                <a:r>
                  <a:rPr lang="zh-TW" altLang="en-US" b="0" i="0" dirty="0">
                    <a:solidFill>
                      <a:srgbClr val="555555"/>
                    </a:solidFill>
                    <a:effectLst/>
                    <a:latin typeface="helvetica neue"/>
                  </a:rPr>
                  <a:t>和 </a:t>
                </a:r>
                <a:r>
                  <a:rPr lang="en-US" altLang="zh-TW" b="0" i="0" dirty="0">
                    <a:solidFill>
                      <a:srgbClr val="555555"/>
                    </a:solidFill>
                    <a:effectLst/>
                    <a:latin typeface="helvetica neue"/>
                  </a:rPr>
                  <a:t>Bob </a:t>
                </a:r>
                <a:r>
                  <a:rPr lang="zh-TW" altLang="en-US" b="0" i="0" dirty="0">
                    <a:solidFill>
                      <a:srgbClr val="555555"/>
                    </a:solidFill>
                    <a:effectLst/>
                    <a:latin typeface="helvetica neue"/>
                  </a:rPr>
                  <a:t>從剩下的光子隨機選擇一些，在公開的網路上比對結果。若完全一樣，則可確定沒有駭客竊聽。</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i="0">
                    <a:latin typeface="Cambria Math" panose="02040503050406030204" pitchFamily="18" charset="0"/>
                  </a:rPr>
                  <a:t>"在這裡鍵入方程式。</a:t>
                </a:r>
                <a:r>
                  <a:rPr lang="zh-TW" altLang="en-US" i="0">
                    <a:latin typeface="Cambria Math" panose="02040503050406030204" pitchFamily="18" charset="0"/>
                  </a:rPr>
                  <a:t>"</a:t>
                </a:r>
                <a:r>
                  <a:rPr lang="en-US" altLang="zh-TW" dirty="0"/>
                  <a:t>Alice </a:t>
                </a:r>
                <a:r>
                  <a:rPr lang="zh-TW" altLang="en-US" dirty="0"/>
                  <a:t>一共傳了六顆光子，而第</a:t>
                </a:r>
                <a:r>
                  <a:rPr lang="en-US" altLang="zh-TW" dirty="0"/>
                  <a:t>2</a:t>
                </a:r>
                <a:r>
                  <a:rPr lang="zh-TW" altLang="en-US" dirty="0"/>
                  <a:t> </a:t>
                </a:r>
                <a:r>
                  <a:rPr lang="en-US" altLang="zh-TW" dirty="0"/>
                  <a:t>3</a:t>
                </a:r>
                <a:r>
                  <a:rPr lang="zh-TW" altLang="en-US" dirty="0"/>
                  <a:t> </a:t>
                </a:r>
                <a:r>
                  <a:rPr lang="en-US" altLang="zh-TW" dirty="0"/>
                  <a:t>4</a:t>
                </a:r>
                <a:r>
                  <a:rPr lang="zh-TW" altLang="en-US" dirty="0"/>
                  <a:t> 顆光子 </a:t>
                </a:r>
                <a:r>
                  <a:rPr lang="en-US" altLang="zh-TW" dirty="0"/>
                  <a:t>Bob </a:t>
                </a:r>
                <a:r>
                  <a:rPr lang="zh-TW" altLang="en-US" dirty="0"/>
                  <a:t>使用錯誤的頻道，所以 </a:t>
                </a:r>
                <a:r>
                  <a:rPr lang="en-US" altLang="zh-TW" dirty="0"/>
                  <a:t>Alice </a:t>
                </a:r>
                <a:r>
                  <a:rPr lang="zh-TW" altLang="en-US" dirty="0"/>
                  <a:t>會在公開的網路上告訴 </a:t>
                </a:r>
                <a:r>
                  <a:rPr lang="en-US" altLang="zh-TW" dirty="0"/>
                  <a:t>Bob 2</a:t>
                </a:r>
                <a:r>
                  <a:rPr lang="zh-TW" altLang="en-US" dirty="0"/>
                  <a:t> </a:t>
                </a:r>
                <a:r>
                  <a:rPr lang="en-US" altLang="zh-TW" dirty="0"/>
                  <a:t>3</a:t>
                </a:r>
                <a:r>
                  <a:rPr lang="zh-TW" altLang="en-US" dirty="0"/>
                  <a:t> </a:t>
                </a:r>
                <a:r>
                  <a:rPr lang="en-US" altLang="zh-TW" dirty="0"/>
                  <a:t>4</a:t>
                </a:r>
                <a:r>
                  <a:rPr lang="zh-TW" altLang="en-US" dirty="0"/>
                  <a:t>顆的測量結果需要丟棄，雙方使用相同的頻道測量，</a:t>
                </a:r>
                <a:r>
                  <a:rPr lang="en-US" altLang="zh-TW" dirty="0"/>
                  <a:t>Bob </a:t>
                </a:r>
                <a:r>
                  <a:rPr lang="zh-TW" altLang="en-US" dirty="0"/>
                  <a:t>必定可以得到相同的資訊</a:t>
                </a:r>
                <a:r>
                  <a:rPr lang="zh-TW" altLang="en-US" sz="1200" dirty="0">
                    <a:effectLst/>
                    <a:latin typeface="Times New Roman" panose="02020603050405020304" pitchFamily="18" charset="0"/>
                    <a:ea typeface="標楷體" panose="03000509000000000000" pitchFamily="65" charset="-120"/>
                  </a:rPr>
                  <a:t>，</a:t>
                </a:r>
                <a:r>
                  <a:rPr lang="zh-TW" altLang="en-US" dirty="0"/>
                  <a:t>但如果有一定比例的位元是錯誤的，則通訊過程代表有駭客竊聽。</a:t>
                </a:r>
                <a:r>
                  <a:rPr lang="en-US" altLang="zh-TW" dirty="0"/>
                  <a:t>Alice </a:t>
                </a:r>
                <a:r>
                  <a:rPr lang="zh-TW" altLang="en-US" dirty="0"/>
                  <a:t>和 </a:t>
                </a:r>
                <a:r>
                  <a:rPr lang="en-US" altLang="zh-TW" dirty="0"/>
                  <a:t>Bob </a:t>
                </a:r>
                <a:r>
                  <a:rPr lang="zh-TW" altLang="en-US" dirty="0"/>
                  <a:t>再放棄這次協定，重新開始，基於量子力學「測量會改變光子狀態」的特性，量子密鑰傳輸協定確保任何竊聽必然會被發現。</a:t>
                </a:r>
              </a:p>
              <a:p>
                <a:r>
                  <a:rPr lang="zh-TW" altLang="en-US" sz="1200" dirty="0">
                    <a:effectLst/>
                    <a:latin typeface="Times New Roman" panose="02020603050405020304" pitchFamily="18" charset="0"/>
                    <a:ea typeface="標楷體" panose="03000509000000000000" pitchFamily="65" charset="-120"/>
                  </a:rPr>
                  <a:t>所以也就代表著產生這個糾纏光子隊的</a:t>
                </a:r>
                <a:r>
                  <a:rPr lang="zh-TW" altLang="zh-TW" sz="1200" dirty="0">
                    <a:effectLst/>
                    <a:latin typeface="Times New Roman" panose="02020603050405020304" pitchFamily="18" charset="0"/>
                    <a:ea typeface="標楷體" panose="03000509000000000000" pitchFamily="65" charset="-120"/>
                    <a:cs typeface="Times New Roman" panose="02020603050405020304" pitchFamily="18" charset="0"/>
                  </a:rPr>
                  <a:t>量子光源</a:t>
                </a:r>
                <a:r>
                  <a:rPr lang="zh-TW" altLang="en-US" sz="1200" dirty="0">
                    <a:effectLst/>
                    <a:latin typeface="Times New Roman" panose="02020603050405020304" pitchFamily="18" charset="0"/>
                    <a:ea typeface="標楷體" panose="03000509000000000000" pitchFamily="65" charset="-120"/>
                    <a:cs typeface="Times New Roman" panose="02020603050405020304" pitchFamily="18" charset="0"/>
                  </a:rPr>
                  <a:t>對於</a:t>
                </a:r>
                <a:r>
                  <a:rPr lang="en-US" altLang="zh-TW" sz="1200" dirty="0">
                    <a:effectLst/>
                    <a:latin typeface="Times New Roman" panose="02020603050405020304" pitchFamily="18" charset="0"/>
                    <a:ea typeface="標楷體" panose="03000509000000000000" pitchFamily="65" charset="-120"/>
                    <a:cs typeface="Times New Roman" panose="02020603050405020304" pitchFamily="18" charset="0"/>
                  </a:rPr>
                  <a:t>quantum</a:t>
                </a:r>
                <a:r>
                  <a:rPr lang="en-US" altLang="zh-TW" sz="1200" baseline="0" dirty="0">
                    <a:effectLst/>
                    <a:latin typeface="Times New Roman" panose="02020603050405020304" pitchFamily="18" charset="0"/>
                    <a:ea typeface="標楷體" panose="03000509000000000000" pitchFamily="65" charset="-120"/>
                    <a:cs typeface="Times New Roman" panose="02020603050405020304" pitchFamily="18" charset="0"/>
                  </a:rPr>
                  <a:t> communication</a:t>
                </a:r>
                <a:r>
                  <a:rPr lang="zh-TW" altLang="en-US" sz="1200" dirty="0">
                    <a:effectLst/>
                    <a:latin typeface="Times New Roman" panose="02020603050405020304" pitchFamily="18" charset="0"/>
                    <a:ea typeface="標楷體" panose="03000509000000000000" pitchFamily="65" charset="-120"/>
                    <a:cs typeface="Times New Roman" panose="02020603050405020304" pitchFamily="18" charset="0"/>
                  </a:rPr>
                  <a:t>非常重要</a:t>
                </a:r>
                <a:endParaRPr lang="en-US" altLang="zh-TW" dirty="0"/>
              </a:p>
              <a:p>
                <a:endParaRPr lang="zh-TW" altLang="en-US" dirty="0"/>
              </a:p>
            </p:txBody>
          </p:sp>
        </mc:Fallback>
      </mc:AlternateContent>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015F893-DC37-4D86-87E6-4581D5262153}"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zh-TW" altLang="en-US" sz="12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109795803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所以講道</a:t>
                </a:r>
                <a:r>
                  <a:rPr lang="en-US" altLang="zh-TW" dirty="0"/>
                  <a:t>QKD</a:t>
                </a:r>
                <a:r>
                  <a:rPr lang="zh-TW" altLang="en-US" dirty="0"/>
                  <a:t>我們就來大概了解一下其運作原理</a:t>
                </a:r>
                <a:endParaRPr lang="en-US" altLang="zh-TW" dirty="0"/>
              </a:p>
              <a:p>
                <a:pPr algn="just">
                  <a:buFont typeface="+mj-lt"/>
                  <a:buAutoNum type="arabicPeriod"/>
                </a:pPr>
                <a:r>
                  <a:rPr lang="en-US" altLang="zh-TW" b="0" i="0" dirty="0">
                    <a:solidFill>
                      <a:srgbClr val="555555"/>
                    </a:solidFill>
                    <a:effectLst/>
                    <a:latin typeface="helvetica neue"/>
                  </a:rPr>
                  <a:t>Alice </a:t>
                </a:r>
                <a:r>
                  <a:rPr lang="zh-TW" altLang="en-US" b="0" i="0" dirty="0">
                    <a:solidFill>
                      <a:srgbClr val="555555"/>
                    </a:solidFill>
                    <a:effectLst/>
                    <a:latin typeface="helvetica neue"/>
                  </a:rPr>
                  <a:t>送出四種角度的光子</a:t>
                </a:r>
              </a:p>
              <a:p>
                <a:pPr algn="just">
                  <a:buFont typeface="+mj-lt"/>
                  <a:buAutoNum type="arabicPeriod"/>
                </a:pPr>
                <a:r>
                  <a:rPr lang="en-US" altLang="zh-TW" b="0" i="0" dirty="0">
                    <a:solidFill>
                      <a:srgbClr val="555555"/>
                    </a:solidFill>
                    <a:effectLst/>
                    <a:latin typeface="helvetica neue"/>
                  </a:rPr>
                  <a:t>Bob </a:t>
                </a:r>
                <a:r>
                  <a:rPr lang="zh-TW" altLang="en-US" b="0" i="0" dirty="0">
                    <a:solidFill>
                      <a:srgbClr val="555555"/>
                    </a:solidFill>
                    <a:effectLst/>
                    <a:latin typeface="helvetica neue"/>
                  </a:rPr>
                  <a:t>隨機以兩種頻道測量 </a:t>
                </a:r>
                <a:r>
                  <a:rPr lang="en-US" altLang="zh-TW" b="0" i="0" dirty="0">
                    <a:solidFill>
                      <a:srgbClr val="555555"/>
                    </a:solidFill>
                    <a:effectLst/>
                    <a:latin typeface="helvetica neue"/>
                  </a:rPr>
                  <a:t>(</a:t>
                </a:r>
                <a:r>
                  <a:rPr lang="zh-TW" altLang="en-US" b="0" i="0" dirty="0">
                    <a:solidFill>
                      <a:srgbClr val="555555"/>
                    </a:solidFill>
                    <a:effectLst/>
                    <a:latin typeface="helvetica neue"/>
                  </a:rPr>
                  <a:t>用何種頻道需記錄下來</a:t>
                </a:r>
                <a:r>
                  <a:rPr lang="en-US" altLang="zh-TW" b="0" i="0" dirty="0">
                    <a:solidFill>
                      <a:srgbClr val="555555"/>
                    </a:solidFill>
                    <a:effectLst/>
                    <a:latin typeface="helvetica neue"/>
                  </a:rPr>
                  <a:t>)</a:t>
                </a:r>
              </a:p>
              <a:p>
                <a:pPr algn="just">
                  <a:buFont typeface="+mj-lt"/>
                  <a:buAutoNum type="arabicPeriod"/>
                </a:pPr>
                <a:r>
                  <a:rPr lang="en-US" altLang="zh-TW" b="0" i="0" dirty="0">
                    <a:solidFill>
                      <a:srgbClr val="555555"/>
                    </a:solidFill>
                    <a:effectLst/>
                    <a:latin typeface="helvetica neue"/>
                  </a:rPr>
                  <a:t>Bob </a:t>
                </a:r>
                <a:r>
                  <a:rPr lang="zh-TW" altLang="en-US" b="0" i="0" dirty="0">
                    <a:solidFill>
                      <a:srgbClr val="555555"/>
                    </a:solidFill>
                    <a:effectLst/>
                    <a:latin typeface="helvetica neue"/>
                  </a:rPr>
                  <a:t>在公開的網路上宣布使用哪些頻道</a:t>
                </a:r>
              </a:p>
              <a:p>
                <a:pPr algn="just">
                  <a:buFont typeface="+mj-lt"/>
                  <a:buAutoNum type="arabicPeriod"/>
                </a:pPr>
                <a:r>
                  <a:rPr lang="en-US" altLang="zh-TW" b="0" i="0" dirty="0">
                    <a:solidFill>
                      <a:srgbClr val="555555"/>
                    </a:solidFill>
                    <a:effectLst/>
                    <a:latin typeface="helvetica neue"/>
                  </a:rPr>
                  <a:t>Alice </a:t>
                </a:r>
                <a:r>
                  <a:rPr lang="zh-TW" altLang="en-US" b="0" i="0" dirty="0">
                    <a:solidFill>
                      <a:srgbClr val="555555"/>
                    </a:solidFill>
                    <a:effectLst/>
                    <a:latin typeface="helvetica neue"/>
                  </a:rPr>
                  <a:t>在公開的網路上告知 </a:t>
                </a:r>
                <a:r>
                  <a:rPr lang="en-US" altLang="zh-TW" b="0" i="0" dirty="0">
                    <a:solidFill>
                      <a:srgbClr val="555555"/>
                    </a:solidFill>
                    <a:effectLst/>
                    <a:latin typeface="helvetica neue"/>
                  </a:rPr>
                  <a:t>Bob </a:t>
                </a:r>
                <a:r>
                  <a:rPr lang="zh-TW" altLang="en-US" b="0" i="0" dirty="0">
                    <a:solidFill>
                      <a:srgbClr val="555555"/>
                    </a:solidFill>
                    <a:effectLst/>
                    <a:latin typeface="helvetica neue"/>
                  </a:rPr>
                  <a:t>哪些光子使用錯誤的頻道</a:t>
                </a:r>
              </a:p>
              <a:p>
                <a:pPr algn="just">
                  <a:buFont typeface="+mj-lt"/>
                  <a:buAutoNum type="arabicPeriod"/>
                </a:pPr>
                <a:r>
                  <a:rPr lang="en-US" altLang="zh-TW" b="0" i="0" dirty="0">
                    <a:solidFill>
                      <a:srgbClr val="555555"/>
                    </a:solidFill>
                    <a:effectLst/>
                    <a:latin typeface="helvetica neue"/>
                  </a:rPr>
                  <a:t>Alice </a:t>
                </a:r>
                <a:r>
                  <a:rPr lang="zh-TW" altLang="en-US" b="0" i="0" dirty="0">
                    <a:solidFill>
                      <a:srgbClr val="555555"/>
                    </a:solidFill>
                    <a:effectLst/>
                    <a:latin typeface="helvetica neue"/>
                  </a:rPr>
                  <a:t>和 </a:t>
                </a:r>
                <a:r>
                  <a:rPr lang="en-US" altLang="zh-TW" b="0" i="0" dirty="0">
                    <a:solidFill>
                      <a:srgbClr val="555555"/>
                    </a:solidFill>
                    <a:effectLst/>
                    <a:latin typeface="helvetica neue"/>
                  </a:rPr>
                  <a:t>Bob </a:t>
                </a:r>
                <a:r>
                  <a:rPr lang="zh-TW" altLang="en-US" b="0" i="0" dirty="0">
                    <a:solidFill>
                      <a:srgbClr val="555555"/>
                    </a:solidFill>
                    <a:effectLst/>
                    <a:latin typeface="helvetica neue"/>
                  </a:rPr>
                  <a:t>把這些使用錯誤頻道的光子丟棄</a:t>
                </a:r>
              </a:p>
              <a:p>
                <a:pPr algn="just">
                  <a:buFont typeface="+mj-lt"/>
                  <a:buAutoNum type="arabicPeriod"/>
                </a:pPr>
                <a:r>
                  <a:rPr lang="en-US" altLang="zh-TW" b="0" i="0" dirty="0">
                    <a:solidFill>
                      <a:srgbClr val="555555"/>
                    </a:solidFill>
                    <a:effectLst/>
                    <a:latin typeface="helvetica neue"/>
                  </a:rPr>
                  <a:t>Alice </a:t>
                </a:r>
                <a:r>
                  <a:rPr lang="zh-TW" altLang="en-US" b="0" i="0" dirty="0">
                    <a:solidFill>
                      <a:srgbClr val="555555"/>
                    </a:solidFill>
                    <a:effectLst/>
                    <a:latin typeface="helvetica neue"/>
                  </a:rPr>
                  <a:t>和 </a:t>
                </a:r>
                <a:r>
                  <a:rPr lang="en-US" altLang="zh-TW" b="0" i="0" dirty="0">
                    <a:solidFill>
                      <a:srgbClr val="555555"/>
                    </a:solidFill>
                    <a:effectLst/>
                    <a:latin typeface="helvetica neue"/>
                  </a:rPr>
                  <a:t>Bob </a:t>
                </a:r>
                <a:r>
                  <a:rPr lang="zh-TW" altLang="en-US" b="0" i="0" dirty="0">
                    <a:solidFill>
                      <a:srgbClr val="555555"/>
                    </a:solidFill>
                    <a:effectLst/>
                    <a:latin typeface="helvetica neue"/>
                  </a:rPr>
                  <a:t>從剩下的光子隨機選擇一些，在公開的網路上比對結果。若完全一樣，則可確定沒有駭客竊聽。</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i="0">
                    <a:latin typeface="Cambria Math" panose="02040503050406030204" pitchFamily="18" charset="0"/>
                  </a:rPr>
                  <a:t>"在這裡鍵入方程式。</a:t>
                </a:r>
                <a:r>
                  <a:rPr lang="zh-TW" altLang="en-US" i="0">
                    <a:latin typeface="Cambria Math" panose="02040503050406030204" pitchFamily="18" charset="0"/>
                  </a:rPr>
                  <a:t>"</a:t>
                </a:r>
                <a:r>
                  <a:rPr lang="en-US" altLang="zh-TW" dirty="0"/>
                  <a:t>Alice </a:t>
                </a:r>
                <a:r>
                  <a:rPr lang="zh-TW" altLang="en-US" dirty="0"/>
                  <a:t>一共傳了六顆光子，而第</a:t>
                </a:r>
                <a:r>
                  <a:rPr lang="en-US" altLang="zh-TW" dirty="0"/>
                  <a:t>2</a:t>
                </a:r>
                <a:r>
                  <a:rPr lang="zh-TW" altLang="en-US" dirty="0"/>
                  <a:t> </a:t>
                </a:r>
                <a:r>
                  <a:rPr lang="en-US" altLang="zh-TW" dirty="0"/>
                  <a:t>3</a:t>
                </a:r>
                <a:r>
                  <a:rPr lang="zh-TW" altLang="en-US" dirty="0"/>
                  <a:t> </a:t>
                </a:r>
                <a:r>
                  <a:rPr lang="en-US" altLang="zh-TW" dirty="0"/>
                  <a:t>4</a:t>
                </a:r>
                <a:r>
                  <a:rPr lang="zh-TW" altLang="en-US" dirty="0"/>
                  <a:t> 顆光子 </a:t>
                </a:r>
                <a:r>
                  <a:rPr lang="en-US" altLang="zh-TW" dirty="0"/>
                  <a:t>Bob </a:t>
                </a:r>
                <a:r>
                  <a:rPr lang="zh-TW" altLang="en-US" dirty="0"/>
                  <a:t>使用錯誤的頻道，所以 </a:t>
                </a:r>
                <a:r>
                  <a:rPr lang="en-US" altLang="zh-TW" dirty="0"/>
                  <a:t>Alice </a:t>
                </a:r>
                <a:r>
                  <a:rPr lang="zh-TW" altLang="en-US" dirty="0"/>
                  <a:t>會在公開的網路上告訴 </a:t>
                </a:r>
                <a:r>
                  <a:rPr lang="en-US" altLang="zh-TW" dirty="0"/>
                  <a:t>Bob 2</a:t>
                </a:r>
                <a:r>
                  <a:rPr lang="zh-TW" altLang="en-US" dirty="0"/>
                  <a:t> </a:t>
                </a:r>
                <a:r>
                  <a:rPr lang="en-US" altLang="zh-TW" dirty="0"/>
                  <a:t>3</a:t>
                </a:r>
                <a:r>
                  <a:rPr lang="zh-TW" altLang="en-US" dirty="0"/>
                  <a:t> </a:t>
                </a:r>
                <a:r>
                  <a:rPr lang="en-US" altLang="zh-TW" dirty="0"/>
                  <a:t>4</a:t>
                </a:r>
                <a:r>
                  <a:rPr lang="zh-TW" altLang="en-US" dirty="0"/>
                  <a:t>顆的測量結果需要丟棄，雙方使用相同的頻道測量，</a:t>
                </a:r>
                <a:r>
                  <a:rPr lang="en-US" altLang="zh-TW" dirty="0"/>
                  <a:t>Bob </a:t>
                </a:r>
                <a:r>
                  <a:rPr lang="zh-TW" altLang="en-US" dirty="0"/>
                  <a:t>必定可以得到相同的資訊</a:t>
                </a:r>
                <a:r>
                  <a:rPr lang="zh-TW" altLang="en-US" sz="1200" dirty="0">
                    <a:effectLst/>
                    <a:latin typeface="Times New Roman" panose="02020603050405020304" pitchFamily="18" charset="0"/>
                    <a:ea typeface="標楷體" panose="03000509000000000000" pitchFamily="65" charset="-120"/>
                  </a:rPr>
                  <a:t>，</a:t>
                </a:r>
                <a:r>
                  <a:rPr lang="zh-TW" altLang="en-US" dirty="0"/>
                  <a:t>但如果有一定比例的位元是錯誤的，則通訊過程代表有駭客竊聽。</a:t>
                </a:r>
                <a:r>
                  <a:rPr lang="en-US" altLang="zh-TW" dirty="0"/>
                  <a:t>Alice </a:t>
                </a:r>
                <a:r>
                  <a:rPr lang="zh-TW" altLang="en-US" dirty="0"/>
                  <a:t>和 </a:t>
                </a:r>
                <a:r>
                  <a:rPr lang="en-US" altLang="zh-TW" dirty="0"/>
                  <a:t>Bob </a:t>
                </a:r>
                <a:r>
                  <a:rPr lang="zh-TW" altLang="en-US" dirty="0"/>
                  <a:t>再放棄這次協定，重新開始，基於量子力學「測量會改變光子狀態」的特性，量子密鑰傳輸協定確保任何竊聽必然會被發現。</a:t>
                </a:r>
              </a:p>
              <a:p>
                <a:r>
                  <a:rPr lang="zh-TW" altLang="en-US" sz="1200" dirty="0">
                    <a:effectLst/>
                    <a:latin typeface="Times New Roman" panose="02020603050405020304" pitchFamily="18" charset="0"/>
                    <a:ea typeface="標楷體" panose="03000509000000000000" pitchFamily="65" charset="-120"/>
                  </a:rPr>
                  <a:t>所以也就代表著產生這個糾纏光子隊的</a:t>
                </a:r>
                <a:r>
                  <a:rPr lang="zh-TW" altLang="zh-TW" sz="1200" dirty="0">
                    <a:effectLst/>
                    <a:latin typeface="Times New Roman" panose="02020603050405020304" pitchFamily="18" charset="0"/>
                    <a:ea typeface="標楷體" panose="03000509000000000000" pitchFamily="65" charset="-120"/>
                    <a:cs typeface="Times New Roman" panose="02020603050405020304" pitchFamily="18" charset="0"/>
                  </a:rPr>
                  <a:t>量子光源</a:t>
                </a:r>
                <a:r>
                  <a:rPr lang="zh-TW" altLang="en-US" sz="1200" dirty="0">
                    <a:effectLst/>
                    <a:latin typeface="Times New Roman" panose="02020603050405020304" pitchFamily="18" charset="0"/>
                    <a:ea typeface="標楷體" panose="03000509000000000000" pitchFamily="65" charset="-120"/>
                    <a:cs typeface="Times New Roman" panose="02020603050405020304" pitchFamily="18" charset="0"/>
                  </a:rPr>
                  <a:t>對於</a:t>
                </a:r>
                <a:r>
                  <a:rPr lang="en-US" altLang="zh-TW" sz="1200" dirty="0">
                    <a:effectLst/>
                    <a:latin typeface="Times New Roman" panose="02020603050405020304" pitchFamily="18" charset="0"/>
                    <a:ea typeface="標楷體" panose="03000509000000000000" pitchFamily="65" charset="-120"/>
                    <a:cs typeface="Times New Roman" panose="02020603050405020304" pitchFamily="18" charset="0"/>
                  </a:rPr>
                  <a:t>quantum</a:t>
                </a:r>
                <a:r>
                  <a:rPr lang="en-US" altLang="zh-TW" sz="1200" baseline="0" dirty="0">
                    <a:effectLst/>
                    <a:latin typeface="Times New Roman" panose="02020603050405020304" pitchFamily="18" charset="0"/>
                    <a:ea typeface="標楷體" panose="03000509000000000000" pitchFamily="65" charset="-120"/>
                    <a:cs typeface="Times New Roman" panose="02020603050405020304" pitchFamily="18" charset="0"/>
                  </a:rPr>
                  <a:t> communication</a:t>
                </a:r>
                <a:r>
                  <a:rPr lang="zh-TW" altLang="en-US" sz="1200" dirty="0">
                    <a:effectLst/>
                    <a:latin typeface="Times New Roman" panose="02020603050405020304" pitchFamily="18" charset="0"/>
                    <a:ea typeface="標楷體" panose="03000509000000000000" pitchFamily="65" charset="-120"/>
                    <a:cs typeface="Times New Roman" panose="02020603050405020304" pitchFamily="18" charset="0"/>
                  </a:rPr>
                  <a:t>非常重要</a:t>
                </a:r>
                <a:endParaRPr lang="en-US" altLang="zh-TW" dirty="0"/>
              </a:p>
              <a:p>
                <a:endParaRPr lang="zh-TW" altLang="en-US" dirty="0"/>
              </a:p>
            </p:txBody>
          </p:sp>
        </mc:Fallback>
      </mc:AlternateContent>
      <p:sp>
        <p:nvSpPr>
          <p:cNvPr id="4" name="投影片編號版面配置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015F893-DC37-4D86-87E6-4581D5262153}"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zh-TW" altLang="en-US" sz="12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410980017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en-US" altLang="zh-TW" dirty="0"/>
                  <a:t>1.</a:t>
                </a:r>
                <a:r>
                  <a:rPr lang="zh-TW" altLang="en-US" dirty="0"/>
                  <a:t>在</a:t>
                </a:r>
                <a:r>
                  <a:rPr lang="en-US" altLang="zh-TW" dirty="0"/>
                  <a:t>2008</a:t>
                </a:r>
                <a:r>
                  <a:rPr lang="zh-TW" altLang="en-US" dirty="0"/>
                  <a:t>年德國的一批研究者利用兩塊</a:t>
                </a:r>
                <a:r>
                  <a:rPr lang="en-US" altLang="zh-TW" dirty="0"/>
                  <a:t>BBO</a:t>
                </a:r>
                <a:r>
                  <a:rPr lang="zh-TW" altLang="en-US" dirty="0"/>
                  <a:t> </a:t>
                </a:r>
                <a:r>
                  <a:rPr lang="en-US" altLang="zh-TW" dirty="0"/>
                  <a:t>type1</a:t>
                </a:r>
                <a:r>
                  <a:rPr lang="zh-TW" altLang="en-US" dirty="0"/>
                  <a:t>的晶體，輸入</a:t>
                </a:r>
                <a:r>
                  <a:rPr lang="en-US" altLang="zh-TW" dirty="0"/>
                  <a:t>45</a:t>
                </a:r>
                <a:r>
                  <a:rPr lang="zh-TW" altLang="en-US" dirty="0"/>
                  <a:t>度的偏振光成功產生出</a:t>
                </a:r>
                <a:r>
                  <a:rPr lang="en-US" altLang="zh-TW" dirty="0"/>
                  <a:t>1/</a:t>
                </a:r>
                <a14:m>
                  <m:oMath xmlns:m="http://schemas.openxmlformats.org/officeDocument/2006/math">
                    <m:rad>
                      <m:radPr>
                        <m:degHide m:val="on"/>
                        <m:ctrlPr>
                          <a:rPr lang="en-US" altLang="zh-TW" i="1" smtClean="0">
                            <a:latin typeface="Cambria Math" panose="02040503050406030204" pitchFamily="18" charset="0"/>
                          </a:rPr>
                        </m:ctrlPr>
                      </m:radPr>
                      <m:deg/>
                      <m:e>
                        <m:r>
                          <a:rPr lang="en-US" altLang="zh-TW" b="0" i="1" smtClean="0">
                            <a:latin typeface="Cambria Math" panose="02040503050406030204" pitchFamily="18" charset="0"/>
                          </a:rPr>
                          <m:t>2</m:t>
                        </m:r>
                      </m:e>
                    </m:rad>
                  </m:oMath>
                </a14:m>
                <a:r>
                  <a:rPr lang="en-US" altLang="zh-TW" dirty="0"/>
                  <a:t>HH</a:t>
                </a:r>
                <a:r>
                  <a:rPr lang="zh-TW" altLang="en-US" dirty="0"/>
                  <a:t>和</a:t>
                </a:r>
                <a:r>
                  <a:rPr lang="en-US" altLang="zh-TW" dirty="0"/>
                  <a:t>VV</a:t>
                </a:r>
                <a:r>
                  <a:rPr lang="zh-TW" altLang="en-US" dirty="0"/>
                  <a:t>的</a:t>
                </a:r>
                <a:r>
                  <a:rPr lang="en-US" altLang="zh-TW" dirty="0"/>
                  <a:t>entangle state(Collinear source of polarization-entangled photon pairs at nondegenerate wavelengths)</a:t>
                </a:r>
              </a:p>
              <a:p>
                <a:r>
                  <a:rPr lang="en-US" altLang="zh-TW" dirty="0"/>
                  <a:t>2.</a:t>
                </a:r>
                <a:r>
                  <a:rPr lang="zh-TW" altLang="en-US" dirty="0"/>
                  <a:t>使用</a:t>
                </a:r>
                <a:r>
                  <a:rPr lang="en-US" altLang="zh-TW" dirty="0" err="1"/>
                  <a:t>Sagnac</a:t>
                </a:r>
                <a:r>
                  <a:rPr lang="en-US" altLang="zh-TW" dirty="0"/>
                  <a:t> interferometer</a:t>
                </a:r>
                <a:r>
                  <a:rPr lang="zh-TW" altLang="en-US" dirty="0"/>
                  <a:t>產生</a:t>
                </a:r>
                <a:r>
                  <a:rPr lang="en-US" altLang="zh-TW" dirty="0"/>
                  <a:t>HH+VV</a:t>
                </a:r>
                <a:r>
                  <a:rPr lang="zh-TW" altLang="en-US" dirty="0"/>
                  <a:t> </a:t>
                </a:r>
                <a:r>
                  <a:rPr lang="en-US" altLang="zh-TW" dirty="0"/>
                  <a:t>photon pair</a:t>
                </a:r>
              </a:p>
              <a:p>
                <a:r>
                  <a:rPr lang="en-US" altLang="zh-TW" dirty="0"/>
                  <a:t>3.</a:t>
                </a:r>
                <a:r>
                  <a:rPr lang="zh-TW" altLang="en-US" dirty="0"/>
                  <a:t>使用</a:t>
                </a:r>
                <a:r>
                  <a:rPr lang="en-US" altLang="zh-TW" dirty="0"/>
                  <a:t>type0 PPLN</a:t>
                </a:r>
                <a:r>
                  <a:rPr lang="zh-TW" altLang="en-US" dirty="0"/>
                  <a:t>轉</a:t>
                </a:r>
                <a:r>
                  <a:rPr lang="en-US" altLang="zh-TW" dirty="0"/>
                  <a:t>45</a:t>
                </a:r>
                <a:r>
                  <a:rPr lang="zh-TW" altLang="en-US" dirty="0"/>
                  <a:t>度再經由後面的量測架構懺生</a:t>
                </a:r>
                <a:r>
                  <a:rPr lang="en-US" altLang="zh-TW" dirty="0"/>
                  <a:t>/</a:t>
                </a:r>
                <a14:m>
                  <m:oMath xmlns:m="http://schemas.openxmlformats.org/officeDocument/2006/math">
                    <m:rad>
                      <m:radPr>
                        <m:degHide m:val="on"/>
                        <m:ctrlPr>
                          <a:rPr lang="en-US" altLang="zh-TW" i="1" smtClean="0">
                            <a:latin typeface="Cambria Math" panose="02040503050406030204" pitchFamily="18" charset="0"/>
                          </a:rPr>
                        </m:ctrlPr>
                      </m:radPr>
                      <m:deg/>
                      <m:e>
                        <m:r>
                          <a:rPr lang="en-US" altLang="zh-TW" b="0" i="1" smtClean="0">
                            <a:latin typeface="Cambria Math" panose="02040503050406030204" pitchFamily="18" charset="0"/>
                          </a:rPr>
                          <m:t>2</m:t>
                        </m:r>
                      </m:e>
                    </m:rad>
                  </m:oMath>
                </a14:m>
                <a:r>
                  <a:rPr lang="en-US" altLang="zh-TW" dirty="0"/>
                  <a:t>HH</a:t>
                </a:r>
                <a:r>
                  <a:rPr lang="zh-TW" altLang="en-US" dirty="0"/>
                  <a:t>和</a:t>
                </a:r>
                <a:r>
                  <a:rPr lang="en-US" altLang="zh-TW" dirty="0"/>
                  <a:t>VV</a:t>
                </a:r>
                <a:r>
                  <a:rPr lang="zh-TW" altLang="en-US" dirty="0"/>
                  <a:t>的</a:t>
                </a:r>
                <a:r>
                  <a:rPr lang="en-US" altLang="zh-TW" dirty="0"/>
                  <a:t>entangle state</a:t>
                </a:r>
              </a:p>
              <a:p>
                <a:endParaRPr lang="zh-TW" altLang="en-US" dirty="0"/>
              </a:p>
            </p:txBody>
          </p:sp>
        </mc:Choice>
        <mc:Fallback xmlns="">
          <p:sp>
            <p:nvSpPr>
              <p:cNvPr id="3" name="備忘稿版面配置區 2"/>
              <p:cNvSpPr>
                <a:spLocks noGrp="1"/>
              </p:cNvSpPr>
              <p:nvPr>
                <p:ph type="body" idx="1"/>
              </p:nvPr>
            </p:nvSpPr>
            <p:spPr/>
            <p:txBody>
              <a:bodyPr/>
              <a:lstStyle/>
              <a:p>
                <a:r>
                  <a:rPr lang="en-US" altLang="zh-TW" dirty="0"/>
                  <a:t>1.</a:t>
                </a:r>
                <a:r>
                  <a:rPr lang="zh-TW" altLang="en-US" dirty="0"/>
                  <a:t>在</a:t>
                </a:r>
                <a:r>
                  <a:rPr lang="en-US" altLang="zh-TW" dirty="0"/>
                  <a:t>2008</a:t>
                </a:r>
                <a:r>
                  <a:rPr lang="zh-TW" altLang="en-US" dirty="0"/>
                  <a:t>年德國的一批研究者利用兩塊</a:t>
                </a:r>
                <a:r>
                  <a:rPr lang="en-US" altLang="zh-TW" dirty="0"/>
                  <a:t>BBO</a:t>
                </a:r>
                <a:r>
                  <a:rPr lang="zh-TW" altLang="en-US" dirty="0"/>
                  <a:t> </a:t>
                </a:r>
                <a:r>
                  <a:rPr lang="en-US" altLang="zh-TW" dirty="0"/>
                  <a:t>type1</a:t>
                </a:r>
                <a:r>
                  <a:rPr lang="zh-TW" altLang="en-US" dirty="0"/>
                  <a:t>的晶體，輸入</a:t>
                </a:r>
                <a:r>
                  <a:rPr lang="en-US" altLang="zh-TW" dirty="0"/>
                  <a:t>45</a:t>
                </a:r>
                <a:r>
                  <a:rPr lang="zh-TW" altLang="en-US" dirty="0"/>
                  <a:t>度的偏振光成功產生出</a:t>
                </a:r>
                <a:r>
                  <a:rPr lang="en-US" altLang="zh-TW" dirty="0"/>
                  <a:t>1/</a:t>
                </a:r>
                <a:r>
                  <a:rPr lang="en-US" altLang="zh-TW" i="0">
                    <a:latin typeface="Cambria Math" panose="02040503050406030204" pitchFamily="18" charset="0"/>
                  </a:rPr>
                  <a:t>√</a:t>
                </a:r>
                <a:r>
                  <a:rPr lang="en-US" altLang="zh-TW" b="0" i="0">
                    <a:latin typeface="Cambria Math" panose="02040503050406030204" pitchFamily="18" charset="0"/>
                  </a:rPr>
                  <a:t>2</a:t>
                </a:r>
                <a:r>
                  <a:rPr lang="en-US" altLang="zh-TW" dirty="0"/>
                  <a:t>HH</a:t>
                </a:r>
                <a:r>
                  <a:rPr lang="zh-TW" altLang="en-US" dirty="0"/>
                  <a:t>和</a:t>
                </a:r>
                <a:r>
                  <a:rPr lang="en-US" altLang="zh-TW" dirty="0"/>
                  <a:t>VV</a:t>
                </a:r>
                <a:r>
                  <a:rPr lang="zh-TW" altLang="en-US" dirty="0"/>
                  <a:t>的</a:t>
                </a:r>
                <a:r>
                  <a:rPr lang="en-US" altLang="zh-TW" dirty="0"/>
                  <a:t>entangle state(Collinear source of polarization-entangled photon pairs at nondegenerate wavelengths)</a:t>
                </a:r>
              </a:p>
              <a:p>
                <a:r>
                  <a:rPr lang="en-US" altLang="zh-TW" dirty="0"/>
                  <a:t>2.</a:t>
                </a:r>
                <a:r>
                  <a:rPr lang="zh-TW" altLang="en-US" dirty="0"/>
                  <a:t>使用</a:t>
                </a:r>
                <a:r>
                  <a:rPr lang="en-US" altLang="zh-TW" dirty="0" err="1"/>
                  <a:t>Sagnac</a:t>
                </a:r>
                <a:r>
                  <a:rPr lang="en-US" altLang="zh-TW" dirty="0"/>
                  <a:t> interferometer</a:t>
                </a:r>
                <a:r>
                  <a:rPr lang="zh-TW" altLang="en-US" dirty="0"/>
                  <a:t>產生</a:t>
                </a:r>
                <a:r>
                  <a:rPr lang="en-US" altLang="zh-TW" dirty="0"/>
                  <a:t>HH+VV</a:t>
                </a:r>
                <a:r>
                  <a:rPr lang="zh-TW" altLang="en-US" dirty="0"/>
                  <a:t> </a:t>
                </a:r>
                <a:r>
                  <a:rPr lang="en-US" altLang="zh-TW" dirty="0"/>
                  <a:t>photon pair</a:t>
                </a:r>
              </a:p>
              <a:p>
                <a:r>
                  <a:rPr lang="en-US" altLang="zh-TW" dirty="0"/>
                  <a:t>3.</a:t>
                </a:r>
                <a:r>
                  <a:rPr lang="zh-TW" altLang="en-US" dirty="0"/>
                  <a:t>使用</a:t>
                </a:r>
                <a:r>
                  <a:rPr lang="en-US" altLang="zh-TW" dirty="0"/>
                  <a:t>type0 PPLN</a:t>
                </a:r>
                <a:r>
                  <a:rPr lang="zh-TW" altLang="en-US" dirty="0"/>
                  <a:t>轉</a:t>
                </a:r>
                <a:r>
                  <a:rPr lang="en-US" altLang="zh-TW" dirty="0"/>
                  <a:t>45</a:t>
                </a:r>
                <a:r>
                  <a:rPr lang="zh-TW" altLang="en-US" dirty="0"/>
                  <a:t>度再經由後面的量測架構懺生</a:t>
                </a:r>
                <a:r>
                  <a:rPr lang="en-US" altLang="zh-TW" dirty="0"/>
                  <a:t>/</a:t>
                </a:r>
                <a:r>
                  <a:rPr lang="en-US" altLang="zh-TW" i="0">
                    <a:latin typeface="Cambria Math" panose="02040503050406030204" pitchFamily="18" charset="0"/>
                  </a:rPr>
                  <a:t>√</a:t>
                </a:r>
                <a:r>
                  <a:rPr lang="en-US" altLang="zh-TW" b="0" i="0">
                    <a:latin typeface="Cambria Math" panose="02040503050406030204" pitchFamily="18" charset="0"/>
                  </a:rPr>
                  <a:t>2</a:t>
                </a:r>
                <a:r>
                  <a:rPr lang="en-US" altLang="zh-TW" dirty="0"/>
                  <a:t>HH</a:t>
                </a:r>
                <a:r>
                  <a:rPr lang="zh-TW" altLang="en-US" dirty="0"/>
                  <a:t>和</a:t>
                </a:r>
                <a:r>
                  <a:rPr lang="en-US" altLang="zh-TW" dirty="0"/>
                  <a:t>VV</a:t>
                </a:r>
                <a:r>
                  <a:rPr lang="zh-TW" altLang="en-US" dirty="0"/>
                  <a:t>的</a:t>
                </a:r>
                <a:r>
                  <a:rPr lang="en-US" altLang="zh-TW" dirty="0"/>
                  <a:t>entangle state</a:t>
                </a:r>
              </a:p>
              <a:p>
                <a:endParaRPr lang="zh-TW" altLang="en-US" dirty="0"/>
              </a:p>
            </p:txBody>
          </p:sp>
        </mc:Fallback>
      </mc:AlternateContent>
      <p:sp>
        <p:nvSpPr>
          <p:cNvPr id="4" name="投影片編號版面配置區 3"/>
          <p:cNvSpPr>
            <a:spLocks noGrp="1"/>
          </p:cNvSpPr>
          <p:nvPr>
            <p:ph type="sldNum" sz="quarter" idx="5"/>
          </p:nvPr>
        </p:nvSpPr>
        <p:spPr/>
        <p:txBody>
          <a:bodyPr/>
          <a:lstStyle/>
          <a:p>
            <a:fld id="{7015F893-DC37-4D86-87E6-4581D5262153}" type="slidenum">
              <a:rPr lang="zh-TW" altLang="en-US" smtClean="0"/>
              <a:t>66</a:t>
            </a:fld>
            <a:endParaRPr lang="zh-TW" altLang="en-US"/>
          </a:p>
        </p:txBody>
      </p:sp>
    </p:spTree>
    <p:extLst>
      <p:ext uri="{BB962C8B-B14F-4D97-AF65-F5344CB8AC3E}">
        <p14:creationId xmlns:p14="http://schemas.microsoft.com/office/powerpoint/2010/main" val="8737151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所以最後由入社波長為</a:t>
            </a:r>
            <a:r>
              <a:rPr lang="en-US" altLang="zh-TW" dirty="0"/>
              <a:t>785nm</a:t>
            </a:r>
            <a:r>
              <a:rPr lang="zh-TW" altLang="en-US" dirty="0"/>
              <a:t>的</a:t>
            </a:r>
            <a:r>
              <a:rPr lang="en-US" altLang="zh-TW" dirty="0"/>
              <a:t>pump</a:t>
            </a:r>
            <a:r>
              <a:rPr lang="zh-TW" altLang="en-US" dirty="0"/>
              <a:t>光後，利用此四段的晶片結構設計，可產生兩隊雙偏振正交光子對</a:t>
            </a:r>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67</a:t>
            </a:fld>
            <a:endParaRPr lang="zh-TW" altLang="en-US"/>
          </a:p>
        </p:txBody>
      </p:sp>
    </p:spTree>
    <p:extLst>
      <p:ext uri="{BB962C8B-B14F-4D97-AF65-F5344CB8AC3E}">
        <p14:creationId xmlns:p14="http://schemas.microsoft.com/office/powerpoint/2010/main" val="12234602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而要製作週期性晶疇反轉的結構，我們就必須使用極化反轉</a:t>
            </a:r>
            <a:r>
              <a:rPr lang="en-US" altLang="zh-TW" dirty="0"/>
              <a:t>(Poling)</a:t>
            </a:r>
            <a:r>
              <a:rPr lang="zh-TW" altLang="en-US" dirty="0"/>
              <a:t>的技術。</a:t>
            </a:r>
          </a:p>
          <a:p>
            <a:r>
              <a:rPr lang="zh-TW" altLang="en-US" dirty="0"/>
              <a:t>由此式∆</a:t>
            </a:r>
            <a:r>
              <a:rPr lang="en-US" altLang="zh-TW" dirty="0"/>
              <a:t>k</a:t>
            </a:r>
            <a:r>
              <a:rPr lang="zh-TW" altLang="en-US" dirty="0"/>
              <a:t>為準相位匹配條件，所以當∆</a:t>
            </a:r>
            <a:r>
              <a:rPr lang="en-US" altLang="zh-TW" dirty="0"/>
              <a:t>k</a:t>
            </a:r>
            <a:r>
              <a:rPr lang="zh-TW" altLang="en-US" dirty="0"/>
              <a:t>不為</a:t>
            </a:r>
            <a:r>
              <a:rPr lang="en-US" altLang="zh-TW" dirty="0"/>
              <a:t>0</a:t>
            </a:r>
            <a:r>
              <a:rPr lang="zh-TW" altLang="en-US" dirty="0"/>
              <a:t>，代表模態間的能量轉換有破壞性干涉，會減少效率，如果在</a:t>
            </a:r>
            <a:r>
              <a:rPr lang="en-US" altLang="zh-TW" sz="1200" dirty="0">
                <a:latin typeface="arial" panose="020B0604020202020204" pitchFamily="34" charset="0"/>
              </a:rPr>
              <a:t>∆</a:t>
            </a:r>
            <a:r>
              <a:rPr lang="en-US" altLang="zh-TW" dirty="0"/>
              <a:t>K=0</a:t>
            </a:r>
            <a:r>
              <a:rPr lang="zh-TW" altLang="en-US" dirty="0"/>
              <a:t>則稱此情形為相位匹配，即模態間之能量轉換為建設性干涉，其模態間的能量轉移為持續且有效率的成長，得以進行高效率的頻率轉換機制。透過週期性的結構調變非線性係數，利用</a:t>
            </a:r>
            <a:r>
              <a:rPr lang="en-US" altLang="zh-TW" dirty="0"/>
              <a:t>km</a:t>
            </a:r>
            <a:r>
              <a:rPr lang="zh-TW" altLang="en-US" dirty="0"/>
              <a:t>來補償相位不匹配使其動量守恆，∆</a:t>
            </a:r>
            <a:r>
              <a:rPr lang="en-US" altLang="zh-TW" dirty="0"/>
              <a:t>k</a:t>
            </a:r>
            <a:r>
              <a:rPr lang="zh-TW" altLang="en-US" dirty="0"/>
              <a:t>為準相位匹配條件，所以當∆</a:t>
            </a:r>
            <a:r>
              <a:rPr lang="en-US" altLang="zh-TW" dirty="0" err="1"/>
              <a:t>kQ</a:t>
            </a:r>
            <a:r>
              <a:rPr lang="en-US" altLang="zh-TW" dirty="0"/>
              <a:t>=0</a:t>
            </a:r>
            <a:r>
              <a:rPr lang="zh-TW" altLang="en-US" dirty="0"/>
              <a:t>時有最高的頻率轉換效率∆</a:t>
            </a:r>
            <a:r>
              <a:rPr lang="en-US" altLang="zh-TW" dirty="0" err="1"/>
              <a:t>kQ</a:t>
            </a:r>
            <a:r>
              <a:rPr lang="en-US" altLang="zh-TW" dirty="0"/>
              <a:t>=k3-k1-k2- 2πm/Λ</a:t>
            </a:r>
            <a:r>
              <a:rPr lang="zh-TW" altLang="en-US" dirty="0"/>
              <a:t>，</a:t>
            </a:r>
            <a:r>
              <a:rPr lang="en-US" altLang="zh-TW" dirty="0"/>
              <a:t>(km=2πm/Λ)  </a:t>
            </a:r>
            <a:r>
              <a:rPr lang="zh-TW" altLang="en-US" dirty="0"/>
              <a:t>為不匹配的補償。</a:t>
            </a:r>
            <a:endParaRPr lang="en-US" altLang="zh-TW" dirty="0"/>
          </a:p>
          <a:p>
            <a:r>
              <a:rPr lang="zh-TW" altLang="en-US" dirty="0"/>
              <a:t>鈮酸鋰有穩定的自發偏振方向也就是具有兩種鐵電相</a:t>
            </a:r>
            <a:r>
              <a:rPr lang="en-US" altLang="zh-TW" dirty="0"/>
              <a:t>(Ferroelectric Phase)</a:t>
            </a:r>
            <a:r>
              <a:rPr lang="zh-TW" altLang="en-US" dirty="0"/>
              <a:t>的穩態，這就是代表正和負</a:t>
            </a:r>
            <a:r>
              <a:rPr lang="en-US" altLang="zh-TW" dirty="0"/>
              <a:t>z</a:t>
            </a:r>
            <a:r>
              <a:rPr lang="zh-TW" altLang="en-US" dirty="0"/>
              <a:t>的極化方向，所以如果要改變齊集化方向就需要跨過這兩個穩態之間的位能障礙，所以此時我們對其施加一個電場來使其自發偏振變成反向就等於使其晶疇極化方向相反藉此讓晶疇電城另一個穩態，我們稱之為極化反轉，而此電壓稱為矯頑電場，因此我們就可以施加此電壓來達成。</a:t>
            </a:r>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68</a:t>
            </a:fld>
            <a:endParaRPr lang="zh-TW" altLang="en-US"/>
          </a:p>
        </p:txBody>
      </p:sp>
    </p:spTree>
    <p:extLst>
      <p:ext uri="{BB962C8B-B14F-4D97-AF65-F5344CB8AC3E}">
        <p14:creationId xmlns:p14="http://schemas.microsoft.com/office/powerpoint/2010/main" val="109008116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由此式∆</a:t>
            </a:r>
            <a:r>
              <a:rPr lang="en-US" altLang="zh-TW" dirty="0"/>
              <a:t>k</a:t>
            </a:r>
            <a:r>
              <a:rPr lang="zh-TW" altLang="en-US" dirty="0"/>
              <a:t>為準相位匹配條件，所以當∆</a:t>
            </a:r>
            <a:r>
              <a:rPr lang="en-US" altLang="zh-TW" dirty="0"/>
              <a:t>k</a:t>
            </a:r>
            <a:r>
              <a:rPr lang="zh-TW" altLang="en-US" dirty="0"/>
              <a:t>不為</a:t>
            </a:r>
            <a:r>
              <a:rPr lang="en-US" altLang="zh-TW" dirty="0"/>
              <a:t>0</a:t>
            </a:r>
            <a:r>
              <a:rPr lang="zh-TW" altLang="en-US" dirty="0"/>
              <a:t>，代表模態間的能量轉換有破壞性干涉，會減少效率，如果在</a:t>
            </a:r>
            <a:r>
              <a:rPr lang="en-US" altLang="zh-TW" sz="1200" dirty="0">
                <a:latin typeface="arial" panose="020B0604020202020204" pitchFamily="34" charset="0"/>
              </a:rPr>
              <a:t>∆</a:t>
            </a:r>
            <a:r>
              <a:rPr lang="en-US" altLang="zh-TW" dirty="0"/>
              <a:t>K=0</a:t>
            </a:r>
            <a:r>
              <a:rPr lang="zh-TW" altLang="en-US" dirty="0"/>
              <a:t>則稱此情形為相位匹配，即模態間之能量轉換為建設性干涉，其模態間的能量轉移為持續且有效率的成長，得以進行高效率的頻率轉換機制。透過週期性的結構調變非線性係數，利用</a:t>
            </a:r>
            <a:r>
              <a:rPr lang="en-US" altLang="zh-TW" dirty="0"/>
              <a:t>km</a:t>
            </a:r>
            <a:r>
              <a:rPr lang="zh-TW" altLang="en-US" dirty="0"/>
              <a:t>來補償相位不匹配使其動量守恆，∆</a:t>
            </a:r>
            <a:r>
              <a:rPr lang="en-US" altLang="zh-TW" dirty="0"/>
              <a:t>k</a:t>
            </a:r>
            <a:r>
              <a:rPr lang="zh-TW" altLang="en-US" dirty="0"/>
              <a:t>為準相位匹配條件，所以當∆</a:t>
            </a:r>
            <a:r>
              <a:rPr lang="en-US" altLang="zh-TW" dirty="0" err="1"/>
              <a:t>kQ</a:t>
            </a:r>
            <a:r>
              <a:rPr lang="en-US" altLang="zh-TW" dirty="0"/>
              <a:t>=0</a:t>
            </a:r>
            <a:r>
              <a:rPr lang="zh-TW" altLang="en-US" dirty="0"/>
              <a:t>時有最高的頻率轉換效率∆</a:t>
            </a:r>
            <a:r>
              <a:rPr lang="en-US" altLang="zh-TW" dirty="0" err="1"/>
              <a:t>kQ</a:t>
            </a:r>
            <a:r>
              <a:rPr lang="en-US" altLang="zh-TW" dirty="0"/>
              <a:t>=k3-k1-k2- 2πm/Λ</a:t>
            </a:r>
            <a:r>
              <a:rPr lang="zh-TW" altLang="en-US" dirty="0"/>
              <a:t>，</a:t>
            </a:r>
            <a:r>
              <a:rPr lang="en-US" altLang="zh-TW" dirty="0"/>
              <a:t>(km=2πm/Λ)  </a:t>
            </a:r>
            <a:r>
              <a:rPr lang="zh-TW" altLang="en-US" dirty="0"/>
              <a:t>為不匹配的補償。</a:t>
            </a:r>
            <a:endParaRPr lang="en-US" altLang="zh-TW" dirty="0"/>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69</a:t>
            </a:fld>
            <a:endParaRPr lang="zh-TW" altLang="en-US"/>
          </a:p>
        </p:txBody>
      </p:sp>
    </p:spTree>
    <p:extLst>
      <p:ext uri="{BB962C8B-B14F-4D97-AF65-F5344CB8AC3E}">
        <p14:creationId xmlns:p14="http://schemas.microsoft.com/office/powerpoint/2010/main" val="348302571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800" dirty="0">
                <a:effectLst/>
                <a:ea typeface="標楷體" panose="03000509000000000000" pitchFamily="65" charset="-120"/>
                <a:cs typeface="Times New Roman" panose="02020603050405020304" pitchFamily="18" charset="0"/>
              </a:rPr>
              <a:t>所以由前面可以看到我們可以利用單一晶片產生雙偏振正交光子對</a:t>
            </a:r>
            <a:endParaRPr lang="en-US" altLang="zh-TW" sz="1800" dirty="0">
              <a:effectLst/>
              <a:ea typeface="標楷體" panose="03000509000000000000" pitchFamily="65" charset="-120"/>
              <a:cs typeface="Times New Roman" panose="02020603050405020304" pitchFamily="18" charset="0"/>
            </a:endParaRPr>
          </a:p>
          <a:p>
            <a:r>
              <a:rPr lang="zh-TW" altLang="en-US" sz="1800" dirty="0">
                <a:effectLst/>
                <a:ea typeface="標楷體" panose="03000509000000000000" pitchFamily="65" charset="-120"/>
                <a:cs typeface="Times New Roman" panose="02020603050405020304" pitchFamily="18" charset="0"/>
              </a:rPr>
              <a:t>納在未來呢</a:t>
            </a:r>
            <a:r>
              <a:rPr lang="zh-TW" altLang="zh-TW" sz="1800" dirty="0">
                <a:effectLst/>
                <a:ea typeface="標楷體" panose="03000509000000000000" pitchFamily="65" charset="-120"/>
                <a:cs typeface="Times New Roman" panose="02020603050405020304" pitchFamily="18" charset="0"/>
              </a:rPr>
              <a:t>架設上圖的</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phase lock</a:t>
            </a:r>
            <a:r>
              <a:rPr lang="zh-TW" altLang="zh-TW" sz="1800" dirty="0">
                <a:effectLst/>
                <a:latin typeface="Cambria Math" panose="02040503050406030204" pitchFamily="18" charset="0"/>
                <a:ea typeface="標楷體" panose="03000509000000000000" pitchFamily="65" charset="-120"/>
                <a:cs typeface="Cambria Math" panose="02040503050406030204" pitchFamily="18" charset="0"/>
              </a:rPr>
              <a:t>回授系統，首先我們先利用</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ECL</a:t>
            </a:r>
            <a:r>
              <a:rPr lang="zh-TW" altLang="zh-TW" sz="1800" dirty="0">
                <a:effectLst/>
                <a:latin typeface="Cambria Math" panose="02040503050406030204" pitchFamily="18" charset="0"/>
                <a:ea typeface="標楷體" panose="03000509000000000000" pitchFamily="65" charset="-120"/>
                <a:cs typeface="Cambria Math" panose="02040503050406030204" pitchFamily="18" charset="0"/>
              </a:rPr>
              <a:t>打入一偏振為</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45</a:t>
            </a:r>
            <a:r>
              <a:rPr lang="zh-TW" altLang="zh-TW" sz="1800" dirty="0">
                <a:effectLst/>
                <a:latin typeface="Cambria Math" panose="02040503050406030204" pitchFamily="18" charset="0"/>
                <a:ea typeface="標楷體" panose="03000509000000000000" pitchFamily="65" charset="-120"/>
                <a:cs typeface="Cambria Math" panose="02040503050406030204" pitchFamily="18" charset="0"/>
              </a:rPr>
              <a:t>°的入射光進入晶片，藉此來模擬產生出來的</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a:t>
            </a:r>
            <a:r>
              <a:rPr lang="en-US" altLang="zh-TW" sz="1800" dirty="0">
                <a:effectLst/>
                <a:latin typeface="標楷體" panose="03000509000000000000" pitchFamily="65" charset="-120"/>
                <a:cs typeface="Times New Roman" panose="02020603050405020304" pitchFamily="18" charset="0"/>
              </a:rPr>
              <a:t>HH</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a:t>
            </a:r>
            <a:r>
              <a:rPr lang="zh-TW" altLang="zh-TW" sz="1800" dirty="0">
                <a:effectLst/>
                <a:latin typeface="Cambria Math" panose="02040503050406030204" pitchFamily="18" charset="0"/>
                <a:ea typeface="標楷體" panose="03000509000000000000" pitchFamily="65" charset="-120"/>
                <a:cs typeface="Cambria Math" panose="02040503050406030204" pitchFamily="18" charset="0"/>
              </a:rPr>
              <a:t>和</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|VV⟩</a:t>
            </a:r>
            <a:r>
              <a:rPr lang="zh-TW" altLang="zh-TW" sz="1800" dirty="0">
                <a:effectLst/>
                <a:latin typeface="Cambria Math" panose="02040503050406030204" pitchFamily="18" charset="0"/>
                <a:ea typeface="標楷體" panose="03000509000000000000" pitchFamily="65" charset="-120"/>
                <a:cs typeface="Cambria Math" panose="02040503050406030204" pitchFamily="18" charset="0"/>
              </a:rPr>
              <a:t>的光子對，接著利用</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PBS</a:t>
            </a:r>
            <a:r>
              <a:rPr lang="zh-TW" altLang="zh-TW" sz="1800" dirty="0">
                <a:effectLst/>
                <a:latin typeface="Cambria Math" panose="02040503050406030204" pitchFamily="18" charset="0"/>
                <a:ea typeface="標楷體" panose="03000509000000000000" pitchFamily="65" charset="-120"/>
                <a:cs typeface="Cambria Math" panose="02040503050406030204" pitchFamily="18" charset="0"/>
              </a:rPr>
              <a:t>將</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45</a:t>
            </a:r>
            <a:r>
              <a:rPr lang="zh-TW" altLang="zh-TW" sz="1800" dirty="0">
                <a:effectLst/>
                <a:latin typeface="Cambria Math" panose="02040503050406030204" pitchFamily="18" charset="0"/>
                <a:ea typeface="標楷體" panose="03000509000000000000" pitchFamily="65" charset="-120"/>
                <a:cs typeface="Cambria Math" panose="02040503050406030204" pitchFamily="18" charset="0"/>
              </a:rPr>
              <a:t>°的偏振分成水平和垂直分量的偏振，分別再藉由另兩個反射鏡將兩哥分量的光合起來後，後面再擺設一</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45</a:t>
            </a:r>
            <a:r>
              <a:rPr lang="zh-TW" altLang="zh-TW" sz="1800" dirty="0">
                <a:effectLst/>
                <a:latin typeface="Cambria Math" panose="02040503050406030204" pitchFamily="18" charset="0"/>
                <a:ea typeface="標楷體" panose="03000509000000000000" pitchFamily="65" charset="-120"/>
                <a:cs typeface="Cambria Math" panose="02040503050406030204" pitchFamily="18" charset="0"/>
              </a:rPr>
              <a:t>°的偏振片接著</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detector</a:t>
            </a:r>
            <a:r>
              <a:rPr lang="zh-TW" altLang="zh-TW" sz="1800" dirty="0">
                <a:effectLst/>
                <a:latin typeface="Cambria Math" panose="02040503050406030204" pitchFamily="18" charset="0"/>
                <a:ea typeface="標楷體" panose="03000509000000000000" pitchFamily="65" charset="-120"/>
                <a:cs typeface="Cambria Math" panose="02040503050406030204" pitchFamily="18" charset="0"/>
              </a:rPr>
              <a:t>收光，利用</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power supply</a:t>
            </a:r>
            <a:r>
              <a:rPr lang="zh-TW" altLang="zh-TW" sz="1800" dirty="0">
                <a:effectLst/>
                <a:latin typeface="Cambria Math" panose="02040503050406030204" pitchFamily="18" charset="0"/>
                <a:ea typeface="標楷體" panose="03000509000000000000" pitchFamily="65" charset="-120"/>
                <a:cs typeface="Cambria Math" panose="02040503050406030204" pitchFamily="18" charset="0"/>
              </a:rPr>
              <a:t>施加電壓來控制相位使其相位控制在</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45</a:t>
            </a:r>
            <a:r>
              <a:rPr lang="zh-TW" altLang="zh-TW" sz="1800" dirty="0">
                <a:effectLst/>
                <a:latin typeface="Cambria Math" panose="02040503050406030204" pitchFamily="18" charset="0"/>
                <a:ea typeface="標楷體" panose="03000509000000000000" pitchFamily="65" charset="-120"/>
                <a:cs typeface="Cambria Math" panose="02040503050406030204" pitchFamily="18" charset="0"/>
              </a:rPr>
              <a:t>°的偏振狀態，而要怎麼使其相位可以穩住呢，首先</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45</a:t>
            </a:r>
            <a:r>
              <a:rPr lang="zh-TW" altLang="zh-TW" sz="1800" dirty="0">
                <a:effectLst/>
                <a:latin typeface="Cambria Math" panose="02040503050406030204" pitchFamily="18" charset="0"/>
                <a:ea typeface="標楷體" panose="03000509000000000000" pitchFamily="65" charset="-120"/>
                <a:cs typeface="Cambria Math" panose="02040503050406030204" pitchFamily="18" charset="0"/>
              </a:rPr>
              <a:t>°的偏振進入</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detector</a:t>
            </a:r>
            <a:r>
              <a:rPr lang="zh-TW" altLang="zh-TW" sz="1800" dirty="0">
                <a:effectLst/>
                <a:latin typeface="Cambria Math" panose="02040503050406030204" pitchFamily="18" charset="0"/>
                <a:ea typeface="標楷體" panose="03000509000000000000" pitchFamily="65" charset="-120"/>
                <a:cs typeface="Cambria Math" panose="02040503050406030204" pitchFamily="18" charset="0"/>
              </a:rPr>
              <a:t>後因為外在環境相位擾動的影響，所以利用示波器監控其偵測器收到的波型並將其中一個訊號傳給回授的設備，並且游回授的設備控制</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power supply</a:t>
            </a:r>
            <a:r>
              <a:rPr lang="zh-TW" altLang="zh-TW" sz="1800" dirty="0">
                <a:effectLst/>
                <a:latin typeface="Cambria Math" panose="02040503050406030204" pitchFamily="18" charset="0"/>
                <a:ea typeface="標楷體" panose="03000509000000000000" pitchFamily="65" charset="-120"/>
                <a:cs typeface="Cambria Math" panose="02040503050406030204" pitchFamily="18" charset="0"/>
              </a:rPr>
              <a:t>所需施加將相位條回的電壓，接著再利用</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detector</a:t>
            </a:r>
            <a:r>
              <a:rPr lang="zh-TW" altLang="zh-TW" sz="1800" dirty="0">
                <a:effectLst/>
                <a:latin typeface="Cambria Math" panose="02040503050406030204" pitchFamily="18" charset="0"/>
                <a:ea typeface="標楷體" panose="03000509000000000000" pitchFamily="65" charset="-120"/>
                <a:cs typeface="Cambria Math" panose="02040503050406030204" pitchFamily="18" charset="0"/>
              </a:rPr>
              <a:t>收到的訊號給示波器及回授系統，將相位調整，藉此來穩定相位。</a:t>
            </a:r>
            <a:endParaRPr lang="zh-TW" altLang="en-US" dirty="0"/>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70</a:t>
            </a:fld>
            <a:endParaRPr lang="zh-TW" altLang="en-US"/>
          </a:p>
        </p:txBody>
      </p:sp>
    </p:spTree>
    <p:extLst>
      <p:ext uri="{BB962C8B-B14F-4D97-AF65-F5344CB8AC3E}">
        <p14:creationId xmlns:p14="http://schemas.microsoft.com/office/powerpoint/2010/main" val="91822090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接下來要來解說，由左圖可以看出因我</a:t>
            </a:r>
            <a:r>
              <a:rPr lang="en-US" altLang="zh-TW" dirty="0"/>
              <a:t>SPDC</a:t>
            </a:r>
            <a:r>
              <a:rPr lang="zh-TW" altLang="en-US" dirty="0"/>
              <a:t>為</a:t>
            </a:r>
            <a:r>
              <a:rPr lang="en-US" altLang="zh-TW" dirty="0"/>
              <a:t>type0</a:t>
            </a:r>
            <a:r>
              <a:rPr lang="zh-TW" altLang="en-US" dirty="0"/>
              <a:t>為</a:t>
            </a:r>
            <a:r>
              <a:rPr lang="en-US" altLang="zh-TW" b="0" i="0" dirty="0">
                <a:solidFill>
                  <a:srgbClr val="EA4335"/>
                </a:solidFill>
                <a:effectLst/>
                <a:latin typeface="arial" panose="020B0604020202020204" pitchFamily="34" charset="0"/>
              </a:rPr>
              <a:t>degenerate</a:t>
            </a:r>
            <a:r>
              <a:rPr lang="zh-TW" altLang="en-US" dirty="0"/>
              <a:t>，所以由其與</a:t>
            </a:r>
            <a:r>
              <a:rPr lang="en-US" altLang="zh-TW" dirty="0"/>
              <a:t>SHG</a:t>
            </a:r>
            <a:r>
              <a:rPr lang="zh-TW" altLang="en-US" dirty="0"/>
              <a:t>違反像過程，當我們選定</a:t>
            </a:r>
            <a:r>
              <a:rPr lang="en-US" altLang="zh-TW" dirty="0"/>
              <a:t>LN</a:t>
            </a:r>
            <a:r>
              <a:rPr lang="zh-TW" altLang="en-US" dirty="0"/>
              <a:t>的晶體長度與波長後，要得到最好的轉換效率須滿足能量及動量守恆</a:t>
            </a:r>
            <a:r>
              <a:rPr lang="en-US" altLang="zh-TW" dirty="0"/>
              <a:t>ℎ</a:t>
            </a:r>
            <a:r>
              <a:rPr lang="zh-TW" altLang="en-US" dirty="0"/>
              <a:t>𝜐</a:t>
            </a:r>
            <a:r>
              <a:rPr lang="en-US" altLang="zh-TW" dirty="0"/>
              <a:t>1 = h</a:t>
            </a:r>
            <a:r>
              <a:rPr lang="zh-TW" altLang="en-US" dirty="0"/>
              <a:t>𝜐</a:t>
            </a:r>
            <a:r>
              <a:rPr lang="en-US" altLang="zh-TW" dirty="0"/>
              <a:t>2 + ℎ</a:t>
            </a:r>
            <a:r>
              <a:rPr lang="zh-TW" altLang="en-US" dirty="0"/>
              <a:t>𝜐</a:t>
            </a:r>
            <a:r>
              <a:rPr lang="en-US" altLang="zh-TW" dirty="0"/>
              <a:t>3</a:t>
            </a:r>
          </a:p>
          <a:p>
            <a:r>
              <a:rPr lang="zh-TW" altLang="en-US" dirty="0"/>
              <a:t>能量守恆在自然狀態下就能夠被環境自行補足，然而動量守恆則不行，若能夠滿足如同</a:t>
            </a:r>
          </a:p>
          <a:p>
            <a:r>
              <a:rPr lang="zh-TW" altLang="en-US" dirty="0"/>
              <a:t>右圖的守恆條件，其滿足的條件我們就稱之為相位匹配條件，但要滿足右圖的條件，則必須要搭配特定的入射角度以及溫度，且若因為環境導致角度及溫度稍有改變，則會使相位不匹配，造成轉換效率上大幅降低</a:t>
            </a:r>
          </a:p>
          <a:p>
            <a:r>
              <a:rPr lang="zh-TW" altLang="en-US" dirty="0"/>
              <a:t>所以為了達成動量守恆，在這裡我們引入了從週期性晶疇反轉結構所提供的𝑘𝛬，此時稱為準相位匹配</a:t>
            </a:r>
            <a:r>
              <a:rPr lang="en-US" altLang="zh-TW" dirty="0"/>
              <a:t>(Quasi Phase Matching, QPM)</a:t>
            </a:r>
            <a:r>
              <a:rPr lang="zh-TW" altLang="en-US" dirty="0"/>
              <a:t>，其公式為</a:t>
            </a:r>
            <a:r>
              <a:rPr lang="en-US" altLang="zh-TW" dirty="0"/>
              <a:t>:</a:t>
            </a:r>
          </a:p>
          <a:p>
            <a:r>
              <a:rPr lang="en-US" altLang="zh-TW" dirty="0"/>
              <a:t>Δ</a:t>
            </a:r>
            <a:r>
              <a:rPr lang="zh-TW" altLang="en-US" dirty="0"/>
              <a:t>𝑘 </a:t>
            </a:r>
            <a:r>
              <a:rPr lang="en-US" altLang="zh-TW" dirty="0"/>
              <a:t>= </a:t>
            </a:r>
            <a:r>
              <a:rPr lang="zh-TW" altLang="en-US" dirty="0"/>
              <a:t>𝑘</a:t>
            </a:r>
            <a:r>
              <a:rPr lang="en-US" altLang="zh-TW" dirty="0"/>
              <a:t>1 − </a:t>
            </a:r>
            <a:r>
              <a:rPr lang="zh-TW" altLang="en-US" dirty="0"/>
              <a:t>𝑘</a:t>
            </a:r>
            <a:r>
              <a:rPr lang="en-US" altLang="zh-TW" dirty="0"/>
              <a:t>2 − </a:t>
            </a:r>
            <a:r>
              <a:rPr lang="zh-TW" altLang="en-US" dirty="0"/>
              <a:t>𝑘</a:t>
            </a:r>
            <a:r>
              <a:rPr lang="en-US" altLang="zh-TW" dirty="0"/>
              <a:t>3 − </a:t>
            </a:r>
            <a:r>
              <a:rPr lang="zh-TW" altLang="en-US" dirty="0"/>
              <a:t>𝑘𝛬 </a:t>
            </a:r>
            <a:r>
              <a:rPr lang="en-US" altLang="zh-TW" dirty="0"/>
              <a:t>( 11)</a:t>
            </a:r>
            <a:r>
              <a:rPr lang="zh-TW" altLang="en-US" dirty="0"/>
              <a:t>再補是一動量來補償相位不匹配</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71</a:t>
            </a:fld>
            <a:endParaRPr lang="zh-TW" altLang="en-US"/>
          </a:p>
        </p:txBody>
      </p:sp>
    </p:spTree>
    <p:extLst>
      <p:ext uri="{BB962C8B-B14F-4D97-AF65-F5344CB8AC3E}">
        <p14:creationId xmlns:p14="http://schemas.microsoft.com/office/powerpoint/2010/main" val="245667681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t>我們會在離酸尼上施加</a:t>
                </a:r>
                <a:r>
                  <a:rPr lang="en-US" altLang="zh-TW" sz="1200" dirty="0"/>
                  <a:t>y</a:t>
                </a:r>
                <a:r>
                  <a:rPr lang="zh-TW" altLang="en-US" sz="1200" dirty="0"/>
                  <a:t>方向電場，要介紹</a:t>
                </a:r>
                <a:r>
                  <a:rPr lang="en-US" altLang="zh-TW" sz="1200" dirty="0"/>
                  <a:t>LN</a:t>
                </a:r>
                <a:r>
                  <a:rPr lang="zh-TW" altLang="en-US" sz="1200" dirty="0"/>
                  <a:t>的</a:t>
                </a:r>
                <a:r>
                  <a:rPr lang="en-US" altLang="zh-TW" sz="1200" dirty="0"/>
                  <a:t>EO</a:t>
                </a:r>
                <a:r>
                  <a:rPr lang="zh-TW" altLang="en-US" sz="1200" dirty="0"/>
                  <a:t> </a:t>
                </a:r>
                <a:r>
                  <a:rPr lang="en-US" altLang="zh-TW" sz="1200" dirty="0"/>
                  <a:t>effect </a:t>
                </a:r>
                <a:r>
                  <a:rPr lang="zh-TW" altLang="en-US" sz="1200" dirty="0"/>
                  <a:t>首先我們要從其反介電張量</a:t>
                </a:r>
                <a:r>
                  <a:rPr lang="en-US" altLang="zh-TW" sz="1200" dirty="0"/>
                  <a:t>(impermeability tensor)=</a:t>
                </a:r>
                <a14:m>
                  <m:oMath xmlns:m="http://schemas.openxmlformats.org/officeDocument/2006/math">
                    <m:acc>
                      <m:accPr>
                        <m:chr m:val="⃡"/>
                        <m:ctrlPr>
                          <a:rPr lang="en-US" altLang="zh-TW" sz="1200" i="1" smtClean="0">
                            <a:latin typeface="Cambria Math" panose="02040503050406030204" pitchFamily="18" charset="0"/>
                          </a:rPr>
                        </m:ctrlPr>
                      </m:accPr>
                      <m:e>
                        <m:r>
                          <a:rPr lang="zh-TW" altLang="en-US" sz="1200" i="1">
                            <a:latin typeface="Cambria Math" panose="02040503050406030204" pitchFamily="18" charset="0"/>
                          </a:rPr>
                          <m:t>𝞰</m:t>
                        </m:r>
                      </m:e>
                    </m:acc>
                    <m:r>
                      <a:rPr lang="zh-TW" altLang="en-US" sz="1200" i="1">
                        <a:latin typeface="Cambria Math" panose="02040503050406030204" pitchFamily="18" charset="0"/>
                      </a:rPr>
                      <m:t> </m:t>
                    </m:r>
                  </m:oMath>
                </a14:m>
                <a:r>
                  <a:rPr lang="en-US" altLang="zh-TW" sz="1200" baseline="-25000" dirty="0" err="1"/>
                  <a:t>ij</a:t>
                </a:r>
                <a:r>
                  <a:rPr lang="en-US" altLang="zh-TW" sz="1200" baseline="-25000" dirty="0"/>
                  <a:t> </a:t>
                </a:r>
                <a:r>
                  <a:rPr lang="zh-TW" altLang="en-US" sz="1200" baseline="0" dirty="0"/>
                  <a:t>開始</a:t>
                </a:r>
                <a:endParaRPr lang="en-US" altLang="zh-TW" sz="1200" baseline="0" dirty="0"/>
              </a:p>
              <a:p>
                <a:pPr marL="0" indent="0">
                  <a:buNone/>
                </a:pPr>
                <a:r>
                  <a:rPr lang="zh-TW" altLang="en-US" sz="1200" dirty="0"/>
                  <a:t>當施加</a:t>
                </a:r>
                <a:r>
                  <a:rPr lang="en-US" altLang="zh-TW" sz="1200" dirty="0"/>
                  <a:t>y</a:t>
                </a:r>
                <a:r>
                  <a:rPr lang="zh-TW" altLang="en-US" sz="1200" dirty="0"/>
                  <a:t>方向電場時使的反介電張量隨電場變化，其變化量為下面這個式子</a:t>
                </a:r>
                <a:endParaRPr lang="en-US" altLang="zh-TW" sz="1200" dirty="0"/>
              </a:p>
              <a:p>
                <a:pPr marL="0" indent="0">
                  <a:buNone/>
                </a:pPr>
                <a14:m>
                  <m:oMath xmlns:m="http://schemas.openxmlformats.org/officeDocument/2006/math">
                    <m:acc>
                      <m:accPr>
                        <m:chr m:val="⃡"/>
                        <m:ctrlPr>
                          <a:rPr lang="en-US" altLang="zh-TW" sz="1200" i="1" smtClean="0">
                            <a:latin typeface="Cambria Math" panose="02040503050406030204" pitchFamily="18" charset="0"/>
                          </a:rPr>
                        </m:ctrlPr>
                      </m:accPr>
                      <m:e>
                        <m:r>
                          <a:rPr lang="zh-TW" altLang="en-US" sz="1200" i="1">
                            <a:latin typeface="Cambria Math" panose="02040503050406030204" pitchFamily="18" charset="0"/>
                          </a:rPr>
                          <m:t>𝞰</m:t>
                        </m:r>
                      </m:e>
                    </m:acc>
                    <m:r>
                      <a:rPr lang="zh-TW" altLang="en-US" sz="1200" i="1">
                        <a:latin typeface="Cambria Math" panose="02040503050406030204" pitchFamily="18" charset="0"/>
                      </a:rPr>
                      <m:t> </m:t>
                    </m:r>
                  </m:oMath>
                </a14:m>
                <a:r>
                  <a:rPr lang="en-US" altLang="zh-TW" sz="1200" baseline="-25000" dirty="0"/>
                  <a:t>ij</a:t>
                </a:r>
                <a:r>
                  <a:rPr lang="en-US" altLang="zh-TW" sz="1200" dirty="0"/>
                  <a:t>(E) = </a:t>
                </a:r>
                <a14:m>
                  <m:oMath xmlns:m="http://schemas.openxmlformats.org/officeDocument/2006/math">
                    <m:acc>
                      <m:accPr>
                        <m:chr m:val="⃡"/>
                        <m:ctrlPr>
                          <a:rPr lang="en-US" altLang="zh-TW" sz="1200" i="1">
                            <a:latin typeface="Cambria Math" panose="02040503050406030204" pitchFamily="18" charset="0"/>
                          </a:rPr>
                        </m:ctrlPr>
                      </m:accPr>
                      <m:e>
                        <m:r>
                          <a:rPr lang="zh-TW" altLang="en-US" sz="1200" i="1">
                            <a:latin typeface="Cambria Math" panose="02040503050406030204" pitchFamily="18" charset="0"/>
                          </a:rPr>
                          <m:t>𝞰</m:t>
                        </m:r>
                      </m:e>
                    </m:acc>
                    <m:r>
                      <a:rPr lang="zh-TW" altLang="en-US" sz="1200" i="1">
                        <a:latin typeface="Cambria Math" panose="02040503050406030204" pitchFamily="18" charset="0"/>
                      </a:rPr>
                      <m:t> </m:t>
                    </m:r>
                  </m:oMath>
                </a14:m>
                <a:r>
                  <a:rPr lang="en-US" altLang="zh-TW" sz="1200" baseline="-25000" dirty="0" err="1"/>
                  <a:t>ij</a:t>
                </a:r>
                <a:r>
                  <a:rPr lang="en-US" altLang="zh-TW" sz="1200" dirty="0"/>
                  <a:t>(0) + </a:t>
                </a:r>
                <a14:m>
                  <m:oMath xmlns:m="http://schemas.openxmlformats.org/officeDocument/2006/math">
                    <m:nary>
                      <m:naryPr>
                        <m:chr m:val="∑"/>
                        <m:limLoc m:val="subSup"/>
                        <m:supHide m:val="on"/>
                        <m:ctrlPr>
                          <a:rPr lang="en-US" altLang="zh-TW" sz="1200" i="1" smtClean="0">
                            <a:latin typeface="Cambria Math" panose="02040503050406030204" pitchFamily="18" charset="0"/>
                          </a:rPr>
                        </m:ctrlPr>
                      </m:naryPr>
                      <m:sub>
                        <m:r>
                          <m:rPr>
                            <m:brk m:alnAt="9"/>
                          </m:rPr>
                          <a:rPr lang="en-US" altLang="zh-TW" sz="1200" b="0" i="1" smtClean="0">
                            <a:latin typeface="Cambria Math" panose="02040503050406030204" pitchFamily="18" charset="0"/>
                          </a:rPr>
                          <m:t>𝑘</m:t>
                        </m:r>
                      </m:sub>
                      <m:sup/>
                      <m:e>
                        <m:acc>
                          <m:accPr>
                            <m:chr m:val="⃡"/>
                            <m:ctrlPr>
                              <a:rPr lang="en-US" altLang="zh-TW" sz="1200" i="1">
                                <a:latin typeface="Cambria Math" panose="02040503050406030204" pitchFamily="18" charset="0"/>
                              </a:rPr>
                            </m:ctrlPr>
                          </m:accPr>
                          <m:e>
                            <m:r>
                              <a:rPr lang="en-US" altLang="zh-TW" sz="1200" b="0" i="1" smtClean="0">
                                <a:latin typeface="Cambria Math" panose="02040503050406030204" pitchFamily="18" charset="0"/>
                              </a:rPr>
                              <m:t>𝑟</m:t>
                            </m:r>
                          </m:e>
                        </m:acc>
                        <m:r>
                          <a:rPr lang="zh-TW" altLang="en-US" sz="1200" i="1">
                            <a:latin typeface="Cambria Math" panose="02040503050406030204" pitchFamily="18" charset="0"/>
                          </a:rPr>
                          <m:t> </m:t>
                        </m:r>
                        <m:r>
                          <m:rPr>
                            <m:nor/>
                          </m:rPr>
                          <a:rPr lang="en-US" altLang="zh-TW" sz="1200" baseline="-25000" dirty="0"/>
                          <m:t>ij</m:t>
                        </m:r>
                        <m:r>
                          <m:rPr>
                            <m:nor/>
                          </m:rPr>
                          <a:rPr lang="en-US" altLang="zh-TW" sz="1200" b="0" i="0" baseline="-25000" dirty="0" smtClean="0"/>
                          <m:t>k</m:t>
                        </m:r>
                      </m:e>
                    </m:nary>
                  </m:oMath>
                </a14:m>
                <a:r>
                  <a:rPr lang="en-US" altLang="zh-TW" sz="1200" dirty="0"/>
                  <a:t>E</a:t>
                </a:r>
                <a:r>
                  <a:rPr lang="en-US" altLang="zh-TW" sz="1200" baseline="-25000" dirty="0"/>
                  <a:t>k</a:t>
                </a:r>
                <a:r>
                  <a:rPr lang="en-US" altLang="zh-TW" sz="1200" dirty="0"/>
                  <a:t> + </a:t>
                </a:r>
                <a14:m>
                  <m:oMath xmlns:m="http://schemas.openxmlformats.org/officeDocument/2006/math">
                    <m:nary>
                      <m:naryPr>
                        <m:chr m:val="∑"/>
                        <m:limLoc m:val="subSup"/>
                        <m:supHide m:val="on"/>
                        <m:ctrlPr>
                          <a:rPr lang="en-US" altLang="zh-TW" sz="1200" i="1" smtClean="0">
                            <a:latin typeface="Cambria Math" panose="02040503050406030204" pitchFamily="18" charset="0"/>
                          </a:rPr>
                        </m:ctrlPr>
                      </m:naryPr>
                      <m:sub>
                        <m:r>
                          <m:rPr>
                            <m:brk m:alnAt="9"/>
                          </m:rPr>
                          <a:rPr lang="en-US" altLang="zh-TW" sz="1200" i="1">
                            <a:latin typeface="Cambria Math" panose="02040503050406030204" pitchFamily="18" charset="0"/>
                          </a:rPr>
                          <m:t>𝑘</m:t>
                        </m:r>
                        <m:r>
                          <a:rPr lang="en-US" altLang="zh-TW" sz="1200" b="0" i="1" smtClean="0">
                            <a:latin typeface="Cambria Math" panose="02040503050406030204" pitchFamily="18" charset="0"/>
                          </a:rPr>
                          <m:t>𝑙</m:t>
                        </m:r>
                      </m:sub>
                      <m:sup/>
                      <m:e>
                        <m:acc>
                          <m:accPr>
                            <m:chr m:val="⃡"/>
                            <m:ctrlPr>
                              <a:rPr lang="en-US" altLang="zh-TW" sz="1200" i="1" smtClean="0">
                                <a:latin typeface="Cambria Math" panose="02040503050406030204" pitchFamily="18" charset="0"/>
                              </a:rPr>
                            </m:ctrlPr>
                          </m:accPr>
                          <m:e>
                            <m:r>
                              <m:rPr>
                                <m:sty m:val="p"/>
                              </m:rPr>
                              <a:rPr lang="el-GR" altLang="zh-TW" sz="1200" i="1">
                                <a:latin typeface="Cambria Math" panose="02040503050406030204" pitchFamily="18" charset="0"/>
                              </a:rPr>
                              <m:t>ς</m:t>
                            </m:r>
                          </m:e>
                        </m:acc>
                        <m:r>
                          <m:rPr>
                            <m:nor/>
                          </m:rPr>
                          <a:rPr lang="en-US" altLang="zh-TW" sz="1200" baseline="-25000" dirty="0"/>
                          <m:t>ijk</m:t>
                        </m:r>
                      </m:e>
                    </m:nary>
                  </m:oMath>
                </a14:m>
                <a:r>
                  <a:rPr lang="en-US" altLang="zh-TW" sz="1200" dirty="0"/>
                  <a:t>E</a:t>
                </a:r>
                <a:r>
                  <a:rPr lang="en-US" altLang="zh-TW" sz="1200" baseline="-25000" dirty="0"/>
                  <a:t>k</a:t>
                </a:r>
                <a:r>
                  <a:rPr lang="en-US" altLang="zh-TW" sz="1200" dirty="0"/>
                  <a:t>E</a:t>
                </a:r>
                <a14:m>
                  <m:oMath xmlns:m="http://schemas.openxmlformats.org/officeDocument/2006/math">
                    <m:r>
                      <m:rPr>
                        <m:brk m:alnAt="9"/>
                      </m:rPr>
                      <a:rPr lang="en-US" altLang="zh-TW" sz="1200" i="1" baseline="-25000">
                        <a:latin typeface="Cambria Math" panose="02040503050406030204" pitchFamily="18" charset="0"/>
                      </a:rPr>
                      <m:t>𝑙</m:t>
                    </m:r>
                  </m:oMath>
                </a14:m>
                <a:endParaRPr lang="en-US" altLang="zh-TW" sz="1200" baseline="-25000" dirty="0"/>
              </a:p>
              <a:p>
                <a:pPr marL="0" indent="0">
                  <a:buNone/>
                </a:pPr>
                <a14:m>
                  <m:oMath xmlns:m="http://schemas.openxmlformats.org/officeDocument/2006/math">
                    <m:acc>
                      <m:accPr>
                        <m:chr m:val="⃡"/>
                        <m:ctrlPr>
                          <a:rPr lang="en-US" altLang="zh-TW" sz="1200" i="1" smtClean="0">
                            <a:latin typeface="Cambria Math" panose="02040503050406030204" pitchFamily="18" charset="0"/>
                          </a:rPr>
                        </m:ctrlPr>
                      </m:accPr>
                      <m:e>
                        <m:r>
                          <a:rPr lang="en-US" altLang="zh-TW" sz="1200" b="0" i="1" smtClean="0">
                            <a:latin typeface="Cambria Math" panose="02040503050406030204" pitchFamily="18" charset="0"/>
                          </a:rPr>
                          <m:t>𝑟</m:t>
                        </m:r>
                      </m:e>
                    </m:acc>
                    <m:r>
                      <a:rPr lang="zh-TW" altLang="en-US" sz="1200" i="1">
                        <a:latin typeface="Cambria Math" panose="02040503050406030204" pitchFamily="18" charset="0"/>
                      </a:rPr>
                      <m:t> </m:t>
                    </m:r>
                    <m:r>
                      <m:rPr>
                        <m:nor/>
                      </m:rPr>
                      <a:rPr lang="en-US" altLang="zh-TW" sz="1200" baseline="-25000" dirty="0"/>
                      <m:t>ij</m:t>
                    </m:r>
                    <m:r>
                      <m:rPr>
                        <m:nor/>
                      </m:rPr>
                      <a:rPr lang="en-US" altLang="zh-TW" sz="1200" b="0" i="0" baseline="-25000" dirty="0" smtClean="0"/>
                      <m:t>k</m:t>
                    </m:r>
                  </m:oMath>
                </a14:m>
                <a:r>
                  <a:rPr lang="zh-TW" altLang="en-US" sz="1200" dirty="0"/>
                  <a:t>為第一階線性</a:t>
                </a:r>
                <a:r>
                  <a:rPr lang="en-US" altLang="zh-TW" sz="1200" dirty="0"/>
                  <a:t>(Pockels effect)</a:t>
                </a:r>
                <a:r>
                  <a:rPr lang="zh-TW" altLang="en-US" sz="1200" dirty="0"/>
                  <a:t>的電光係數，而</a:t>
                </a:r>
                <a:r>
                  <a:rPr lang="en-US" altLang="zh-TW" sz="1200" dirty="0"/>
                  <a:t> </a:t>
                </a:r>
                <a14:m>
                  <m:oMath xmlns:m="http://schemas.openxmlformats.org/officeDocument/2006/math">
                    <m:acc>
                      <m:accPr>
                        <m:chr m:val="⃡"/>
                        <m:ctrlPr>
                          <a:rPr lang="en-US" altLang="zh-TW" sz="1200" i="1">
                            <a:latin typeface="Cambria Math" panose="02040503050406030204" pitchFamily="18" charset="0"/>
                          </a:rPr>
                        </m:ctrlPr>
                      </m:accPr>
                      <m:e>
                        <m:r>
                          <m:rPr>
                            <m:sty m:val="p"/>
                          </m:rPr>
                          <a:rPr lang="el-GR" altLang="zh-TW" sz="1200" i="1">
                            <a:latin typeface="Cambria Math" panose="02040503050406030204" pitchFamily="18" charset="0"/>
                          </a:rPr>
                          <m:t>ς</m:t>
                        </m:r>
                      </m:e>
                    </m:acc>
                    <m:r>
                      <m:rPr>
                        <m:nor/>
                      </m:rPr>
                      <a:rPr lang="en-US" altLang="zh-TW" sz="1200" baseline="-25000" dirty="0"/>
                      <m:t>ijk</m:t>
                    </m:r>
                  </m:oMath>
                </a14:m>
                <a:r>
                  <a:rPr lang="zh-TW" altLang="en-US" sz="1200" dirty="0"/>
                  <a:t>為第二階</a:t>
                </a:r>
                <a:r>
                  <a:rPr lang="en-US" altLang="zh-TW" sz="1200" dirty="0"/>
                  <a:t>(Kerr effect)</a:t>
                </a:r>
                <a:r>
                  <a:rPr lang="zh-TW" altLang="en-US" sz="1200" dirty="0"/>
                  <a:t>的電光係數，因為第二階電光係數遠小於第一階的電光係數，所以我們可以忽略第二階，所以我們可以將反介電張量式子表示成</a:t>
                </a:r>
                <a:endParaRPr lang="en-US" altLang="zh-TW" sz="1200" dirty="0"/>
              </a:p>
              <a:p>
                <a:pPr marL="0" indent="0">
                  <a:buNone/>
                </a:pPr>
                <a:r>
                  <a:rPr lang="zh-TW" altLang="en-US" sz="1200" dirty="0"/>
                  <a:t>鋰酸鈮其一階線性電光係數張量為</a:t>
                </a:r>
                <a:r>
                  <a:rPr lang="en-US" altLang="zh-TW" sz="1200" dirty="0"/>
                  <a:t>:</a:t>
                </a: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acc>
                      <m:accPr>
                        <m:chr m:val="⃡"/>
                        <m:ctrlPr>
                          <a:rPr lang="en-US" altLang="zh-TW" sz="1200" i="1" smtClean="0">
                            <a:latin typeface="Cambria Math" panose="02040503050406030204" pitchFamily="18" charset="0"/>
                          </a:rPr>
                        </m:ctrlPr>
                      </m:accPr>
                      <m:e>
                        <m:r>
                          <a:rPr lang="en-US" altLang="zh-TW" sz="1200" b="0" i="1" smtClean="0">
                            <a:latin typeface="Cambria Math" panose="02040503050406030204" pitchFamily="18" charset="0"/>
                          </a:rPr>
                          <m:t>𝑟</m:t>
                        </m:r>
                      </m:e>
                    </m:acc>
                    <m:r>
                      <a:rPr lang="zh-TW" altLang="en-US" sz="1200" i="1">
                        <a:latin typeface="Cambria Math" panose="02040503050406030204" pitchFamily="18" charset="0"/>
                      </a:rPr>
                      <m:t> </m:t>
                    </m:r>
                    <m:r>
                      <m:rPr>
                        <m:nor/>
                      </m:rPr>
                      <a:rPr lang="en-US" altLang="zh-TW" sz="1200" baseline="-25000" dirty="0"/>
                      <m:t>ij</m:t>
                    </m:r>
                    <m:r>
                      <m:rPr>
                        <m:nor/>
                      </m:rPr>
                      <a:rPr lang="en-US" altLang="zh-TW" sz="1200" b="0" i="0" baseline="-25000" dirty="0" smtClean="0"/>
                      <m:t>k</m:t>
                    </m:r>
                  </m:oMath>
                </a14:m>
                <a:r>
                  <a:rPr lang="zh-TW" altLang="en-US" sz="1200" dirty="0"/>
                  <a:t> </a:t>
                </a:r>
                <a:r>
                  <a:rPr lang="en-US" altLang="zh-TW" sz="1200" dirty="0"/>
                  <a:t>=</a:t>
                </a:r>
                <a:r>
                  <a:rPr lang="zh-TW" altLang="en-US" sz="1200" dirty="0"/>
                  <a:t> </a:t>
                </a:r>
                <a14:m>
                  <m:oMath xmlns:m="http://schemas.openxmlformats.org/officeDocument/2006/math">
                    <m:d>
                      <m:dPr>
                        <m:begChr m:val="["/>
                        <m:endChr m:val="]"/>
                        <m:ctrlPr>
                          <a:rPr lang="en-US" altLang="zh-TW" sz="1200" i="1" smtClean="0">
                            <a:latin typeface="Cambria Math" panose="02040503050406030204" pitchFamily="18" charset="0"/>
                          </a:rPr>
                        </m:ctrlPr>
                      </m:dPr>
                      <m:e>
                        <m:m>
                          <m:mPr>
                            <m:mcs>
                              <m:mc>
                                <m:mcPr>
                                  <m:count m:val="1"/>
                                  <m:mcJc m:val="center"/>
                                </m:mcPr>
                              </m:mc>
                            </m:mcs>
                            <m:ctrlPr>
                              <a:rPr lang="en-US" altLang="zh-TW" sz="1200" i="1" smtClean="0">
                                <a:latin typeface="Cambria Math" panose="02040503050406030204" pitchFamily="18" charset="0"/>
                              </a:rPr>
                            </m:ctrlPr>
                          </m:mPr>
                          <m:mr>
                            <m:e>
                              <m:m>
                                <m:mPr>
                                  <m:mcs>
                                    <m:mc>
                                      <m:mcPr>
                                        <m:count m:val="3"/>
                                        <m:mcJc m:val="center"/>
                                      </m:mcPr>
                                    </m:mc>
                                  </m:mcs>
                                  <m:ctrlPr>
                                    <a:rPr lang="en-US" altLang="zh-TW" sz="1200" i="1" smtClean="0">
                                      <a:latin typeface="Cambria Math" panose="02040503050406030204" pitchFamily="18" charset="0"/>
                                    </a:rPr>
                                  </m:ctrlPr>
                                </m:mPr>
                                <m:mr>
                                  <m:e>
                                    <m:r>
                                      <m:rPr>
                                        <m:brk m:alnAt="7"/>
                                      </m:rPr>
                                      <a:rPr lang="en-US" altLang="zh-TW" sz="1200" b="0" i="1" smtClean="0">
                                        <a:latin typeface="Cambria Math" panose="02040503050406030204" pitchFamily="18" charset="0"/>
                                      </a:rPr>
                                      <m:t> </m:t>
                                    </m:r>
                                    <m:r>
                                      <a:rPr lang="en-US" altLang="zh-TW" sz="1200" b="0" i="1" smtClean="0">
                                        <a:latin typeface="Cambria Math" panose="02040503050406030204" pitchFamily="18" charset="0"/>
                                      </a:rPr>
                                      <m:t>     </m:t>
                                    </m:r>
                                    <m:r>
                                      <a:rPr lang="en-US" altLang="zh-TW" sz="1200" i="1">
                                        <a:latin typeface="Cambria Math" panose="02040503050406030204" pitchFamily="18" charset="0"/>
                                      </a:rPr>
                                      <m:t>0</m:t>
                                    </m:r>
                                  </m:e>
                                  <m:e>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𝑟</m:t>
                                    </m:r>
                                    <m:r>
                                      <a:rPr lang="en-US" altLang="zh-TW" sz="1200" b="0" i="1" baseline="-25000" smtClean="0">
                                        <a:latin typeface="Cambria Math" panose="02040503050406030204" pitchFamily="18" charset="0"/>
                                      </a:rPr>
                                      <m:t>22</m:t>
                                    </m:r>
                                  </m:e>
                                  <m:e>
                                    <m:r>
                                      <a:rPr lang="en-US" altLang="zh-TW" sz="1200" b="0" i="1" smtClean="0">
                                        <a:latin typeface="Cambria Math" panose="02040503050406030204" pitchFamily="18" charset="0"/>
                                      </a:rPr>
                                      <m:t>𝑟</m:t>
                                    </m:r>
                                    <m:r>
                                      <a:rPr lang="en-US" altLang="zh-TW" sz="1200" b="0" i="1" baseline="-25000" smtClean="0">
                                        <a:latin typeface="Cambria Math" panose="02040503050406030204" pitchFamily="18" charset="0"/>
                                      </a:rPr>
                                      <m:t>33</m:t>
                                    </m:r>
                                  </m:e>
                                </m:mr>
                                <m:mr>
                                  <m:e>
                                    <m:r>
                                      <a:rPr lang="en-US" altLang="zh-TW" sz="1200" b="0" i="1" smtClean="0">
                                        <a:latin typeface="Cambria Math" panose="02040503050406030204" pitchFamily="18" charset="0"/>
                                      </a:rPr>
                                      <m:t>      </m:t>
                                    </m:r>
                                    <m:r>
                                      <a:rPr lang="en-US" altLang="zh-TW" sz="1200" i="1">
                                        <a:latin typeface="Cambria Math" panose="02040503050406030204" pitchFamily="18" charset="0"/>
                                      </a:rPr>
                                      <m:t>0</m:t>
                                    </m:r>
                                  </m:e>
                                  <m:e>
                                    <m:r>
                                      <a:rPr lang="en-US" altLang="zh-TW" sz="1200" b="0" i="1" smtClean="0">
                                        <a:latin typeface="Cambria Math" panose="02040503050406030204" pitchFamily="18" charset="0"/>
                                      </a:rPr>
                                      <m:t>𝑟</m:t>
                                    </m:r>
                                    <m:r>
                                      <a:rPr lang="en-US" altLang="zh-TW" sz="1200" b="0" i="1" baseline="-25000" smtClean="0">
                                        <a:latin typeface="Cambria Math" panose="02040503050406030204" pitchFamily="18" charset="0"/>
                                      </a:rPr>
                                      <m:t>22</m:t>
                                    </m:r>
                                  </m:e>
                                  <m:e>
                                    <m:r>
                                      <a:rPr lang="en-US" altLang="zh-TW" sz="1200" b="0" i="1" smtClean="0">
                                        <a:latin typeface="Cambria Math" panose="02040503050406030204" pitchFamily="18" charset="0"/>
                                      </a:rPr>
                                      <m:t>𝑟</m:t>
                                    </m:r>
                                    <m:r>
                                      <a:rPr lang="en-US" altLang="zh-TW" sz="1200" b="0" i="1" baseline="-25000" smtClean="0">
                                        <a:latin typeface="Cambria Math" panose="02040503050406030204" pitchFamily="18" charset="0"/>
                                      </a:rPr>
                                      <m:t>13</m:t>
                                    </m:r>
                                  </m:e>
                                </m:mr>
                                <m:mr>
                                  <m:e>
                                    <m:r>
                                      <a:rPr lang="en-US" altLang="zh-TW" sz="1200" b="0" i="1" smtClean="0">
                                        <a:latin typeface="Cambria Math" panose="02040503050406030204" pitchFamily="18" charset="0"/>
                                      </a:rPr>
                                      <m:t>      </m:t>
                                    </m:r>
                                    <m:r>
                                      <a:rPr lang="en-US" altLang="zh-TW" sz="1200" i="1">
                                        <a:latin typeface="Cambria Math" panose="02040503050406030204" pitchFamily="18" charset="0"/>
                                      </a:rPr>
                                      <m:t>0</m:t>
                                    </m:r>
                                  </m:e>
                                  <m:e>
                                    <m:r>
                                      <a:rPr lang="en-US" altLang="zh-TW" sz="1200" i="1">
                                        <a:latin typeface="Cambria Math" panose="02040503050406030204" pitchFamily="18" charset="0"/>
                                      </a:rPr>
                                      <m:t>0</m:t>
                                    </m:r>
                                  </m:e>
                                  <m:e>
                                    <m:r>
                                      <a:rPr lang="en-US" altLang="zh-TW" sz="1200" b="0" i="1" smtClean="0">
                                        <a:latin typeface="Cambria Math" panose="02040503050406030204" pitchFamily="18" charset="0"/>
                                      </a:rPr>
                                      <m:t>𝑟</m:t>
                                    </m:r>
                                    <m:r>
                                      <a:rPr lang="en-US" altLang="zh-TW" sz="1200" b="0" i="1" baseline="-25000" smtClean="0">
                                        <a:latin typeface="Cambria Math" panose="02040503050406030204" pitchFamily="18" charset="0"/>
                                      </a:rPr>
                                      <m:t>33</m:t>
                                    </m:r>
                                  </m:e>
                                </m:mr>
                              </m:m>
                            </m:e>
                          </m:mr>
                          <m:mr>
                            <m:e>
                              <m:m>
                                <m:mPr>
                                  <m:mcs>
                                    <m:mc>
                                      <m:mcPr>
                                        <m:count m:val="3"/>
                                        <m:mcJc m:val="center"/>
                                      </m:mcPr>
                                    </m:mc>
                                  </m:mcs>
                                  <m:ctrlPr>
                                    <a:rPr lang="en-US" altLang="zh-TW" sz="1200" i="1" smtClean="0">
                                      <a:latin typeface="Cambria Math" panose="02040503050406030204" pitchFamily="18" charset="0"/>
                                    </a:rPr>
                                  </m:ctrlPr>
                                </m:mPr>
                                <m:mr>
                                  <m:e>
                                    <m:r>
                                      <m:rPr>
                                        <m:brk m:alnAt="7"/>
                                      </m:rPr>
                                      <a:rPr lang="en-US" altLang="zh-TW" sz="1200" i="1">
                                        <a:latin typeface="Cambria Math" panose="02040503050406030204" pitchFamily="18" charset="0"/>
                                      </a:rPr>
                                      <m:t>0</m:t>
                                    </m:r>
                                  </m:e>
                                  <m:e>
                                    <m:r>
                                      <a:rPr lang="en-US" altLang="zh-TW" sz="1200" b="0" i="1" smtClean="0">
                                        <a:latin typeface="Cambria Math" panose="02040503050406030204" pitchFamily="18" charset="0"/>
                                      </a:rPr>
                                      <m:t>𝑟</m:t>
                                    </m:r>
                                    <m:r>
                                      <a:rPr lang="en-US" altLang="zh-TW" sz="1200" b="0" i="1" baseline="-25000" smtClean="0">
                                        <a:latin typeface="Cambria Math" panose="02040503050406030204" pitchFamily="18" charset="0"/>
                                      </a:rPr>
                                      <m:t>51</m:t>
                                    </m:r>
                                  </m:e>
                                  <m:e>
                                    <m:r>
                                      <a:rPr lang="en-US" altLang="zh-TW" sz="1200" i="1">
                                        <a:latin typeface="Cambria Math" panose="02040503050406030204" pitchFamily="18" charset="0"/>
                                      </a:rPr>
                                      <m:t>0</m:t>
                                    </m:r>
                                  </m:e>
                                </m:mr>
                                <m:mr>
                                  <m:e>
                                    <m:r>
                                      <a:rPr lang="en-US" altLang="zh-TW" sz="1200" b="0" i="1" smtClean="0">
                                        <a:latin typeface="Cambria Math" panose="02040503050406030204" pitchFamily="18" charset="0"/>
                                      </a:rPr>
                                      <m:t>𝑟</m:t>
                                    </m:r>
                                    <m:r>
                                      <a:rPr lang="en-US" altLang="zh-TW" sz="1200" b="0" i="1" baseline="-25000" smtClean="0">
                                        <a:latin typeface="Cambria Math" panose="02040503050406030204" pitchFamily="18" charset="0"/>
                                      </a:rPr>
                                      <m:t>51</m:t>
                                    </m:r>
                                  </m:e>
                                  <m:e>
                                    <m:r>
                                      <a:rPr lang="en-US" altLang="zh-TW" sz="1200" i="1">
                                        <a:latin typeface="Cambria Math" panose="02040503050406030204" pitchFamily="18" charset="0"/>
                                      </a:rPr>
                                      <m:t>0</m:t>
                                    </m:r>
                                  </m:e>
                                  <m:e>
                                    <m:r>
                                      <a:rPr lang="en-US" altLang="zh-TW" sz="1200" i="1">
                                        <a:latin typeface="Cambria Math" panose="02040503050406030204" pitchFamily="18" charset="0"/>
                                      </a:rPr>
                                      <m:t>0</m:t>
                                    </m:r>
                                  </m:e>
                                </m:mr>
                                <m:mr>
                                  <m:e>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𝑟</m:t>
                                    </m:r>
                                    <m:r>
                                      <a:rPr lang="en-US" altLang="zh-TW" sz="1200" b="0" i="1" baseline="-25000" smtClean="0">
                                        <a:latin typeface="Cambria Math" panose="02040503050406030204" pitchFamily="18" charset="0"/>
                                      </a:rPr>
                                      <m:t>22</m:t>
                                    </m:r>
                                  </m:e>
                                  <m:e>
                                    <m:r>
                                      <a:rPr lang="en-US" altLang="zh-TW" sz="1200" i="1">
                                        <a:latin typeface="Cambria Math" panose="02040503050406030204" pitchFamily="18" charset="0"/>
                                      </a:rPr>
                                      <m:t>0</m:t>
                                    </m:r>
                                  </m:e>
                                  <m:e>
                                    <m:r>
                                      <a:rPr lang="en-US" altLang="zh-TW" sz="1200" i="1">
                                        <a:latin typeface="Cambria Math" panose="02040503050406030204" pitchFamily="18" charset="0"/>
                                      </a:rPr>
                                      <m:t>0</m:t>
                                    </m:r>
                                  </m:e>
                                </m:mr>
                              </m:m>
                            </m:e>
                          </m:mr>
                        </m:m>
                      </m:e>
                    </m:d>
                    <m:r>
                      <a:rPr lang="zh-TW" altLang="en-US" sz="1200" i="1" smtClean="0">
                        <a:latin typeface="Cambria Math" panose="02040503050406030204" pitchFamily="18" charset="0"/>
                      </a:rPr>
                      <m:t>𝞰</m:t>
                    </m:r>
                  </m:oMath>
                </a14:m>
                <a:r>
                  <a:rPr lang="en-US" altLang="zh-TW" sz="1200" baseline="-25000" dirty="0" err="1"/>
                  <a:t>ij</a:t>
                </a:r>
                <a:r>
                  <a:rPr lang="en-US" altLang="zh-TW" sz="1200" dirty="0"/>
                  <a:t>(0) =</a:t>
                </a:r>
                <a14:m>
                  <m:oMath xmlns:m="http://schemas.openxmlformats.org/officeDocument/2006/math">
                    <m:d>
                      <m:dPr>
                        <m:begChr m:val="⌈"/>
                        <m:endChr m:val="⌉"/>
                        <m:ctrlPr>
                          <a:rPr lang="en-US" altLang="zh-TW" sz="1200" i="1" smtClean="0">
                            <a:latin typeface="Cambria Math" panose="02040503050406030204" pitchFamily="18" charset="0"/>
                          </a:rPr>
                        </m:ctrlPr>
                      </m:dPr>
                      <m:e>
                        <m:m>
                          <m:mPr>
                            <m:mcs>
                              <m:mc>
                                <m:mcPr>
                                  <m:count m:val="3"/>
                                  <m:mcJc m:val="center"/>
                                </m:mcPr>
                              </m:mc>
                            </m:mcs>
                            <m:ctrlPr>
                              <a:rPr lang="en-US" altLang="zh-TW" sz="1200" i="1" smtClean="0">
                                <a:latin typeface="Cambria Math" panose="02040503050406030204" pitchFamily="18" charset="0"/>
                              </a:rPr>
                            </m:ctrlPr>
                          </m:mPr>
                          <m:mr>
                            <m:e>
                              <m:f>
                                <m:fPr>
                                  <m:ctrlPr>
                                    <a:rPr lang="en-US" altLang="zh-TW" sz="1200" i="1" smtClean="0">
                                      <a:latin typeface="Cambria Math" panose="02040503050406030204" pitchFamily="18" charset="0"/>
                                    </a:rPr>
                                  </m:ctrlPr>
                                </m:fPr>
                                <m:num>
                                  <m:r>
                                    <a:rPr lang="en-US" altLang="zh-TW" sz="1200" b="0" i="1" smtClean="0">
                                      <a:latin typeface="Cambria Math" panose="02040503050406030204" pitchFamily="18" charset="0"/>
                                    </a:rPr>
                                    <m:t>1</m:t>
                                  </m:r>
                                </m:num>
                                <m:den>
                                  <m:sSubSup>
                                    <m:sSubSupPr>
                                      <m:ctrlPr>
                                        <a:rPr lang="en-US" altLang="zh-TW" sz="1200" i="1" smtClean="0">
                                          <a:latin typeface="Cambria Math" panose="02040503050406030204" pitchFamily="18" charset="0"/>
                                        </a:rPr>
                                      </m:ctrlPr>
                                    </m:sSubSupPr>
                                    <m:e>
                                      <m:r>
                                        <a:rPr lang="en-US" altLang="zh-TW" sz="1200" b="0" i="1" smtClean="0">
                                          <a:latin typeface="Cambria Math" panose="02040503050406030204" pitchFamily="18" charset="0"/>
                                        </a:rPr>
                                        <m:t>𝑛</m:t>
                                      </m:r>
                                    </m:e>
                                    <m:sub>
                                      <m:r>
                                        <a:rPr lang="en-US" altLang="zh-TW" sz="1200" b="0" i="1" smtClean="0">
                                          <a:latin typeface="Cambria Math" panose="02040503050406030204" pitchFamily="18" charset="0"/>
                                        </a:rPr>
                                        <m:t>𝑜</m:t>
                                      </m:r>
                                    </m:sub>
                                    <m:sup>
                                      <m:r>
                                        <a:rPr lang="en-US" altLang="zh-TW" sz="1200" b="0" i="1" smtClean="0">
                                          <a:latin typeface="Cambria Math" panose="02040503050406030204" pitchFamily="18" charset="0"/>
                                        </a:rPr>
                                        <m:t>2</m:t>
                                      </m:r>
                                    </m:sup>
                                  </m:sSubSup>
                                </m:den>
                              </m:f>
                            </m:e>
                            <m:e>
                              <m:r>
                                <a:rPr lang="en-US" altLang="zh-TW" sz="1200" b="0" i="1" smtClean="0">
                                  <a:latin typeface="Cambria Math" panose="02040503050406030204" pitchFamily="18" charset="0"/>
                                </a:rPr>
                                <m:t>0</m:t>
                              </m:r>
                            </m:e>
                            <m:e>
                              <m:r>
                                <a:rPr lang="en-US" altLang="zh-TW" sz="1200" b="0" i="1" smtClean="0">
                                  <a:latin typeface="Cambria Math" panose="02040503050406030204" pitchFamily="18" charset="0"/>
                                </a:rPr>
                                <m:t>0</m:t>
                              </m:r>
                            </m:e>
                          </m:mr>
                          <m:mr>
                            <m:e>
                              <m:r>
                                <a:rPr lang="en-US" altLang="zh-TW" sz="1200" b="0" i="1" smtClean="0">
                                  <a:latin typeface="Cambria Math" panose="02040503050406030204" pitchFamily="18" charset="0"/>
                                </a:rPr>
                                <m:t>0</m:t>
                              </m:r>
                            </m:e>
                            <m:e>
                              <m:f>
                                <m:fPr>
                                  <m:ctrlPr>
                                    <a:rPr lang="en-US" altLang="zh-TW" sz="1200" i="1">
                                      <a:latin typeface="Cambria Math" panose="02040503050406030204" pitchFamily="18" charset="0"/>
                                    </a:rPr>
                                  </m:ctrlPr>
                                </m:fPr>
                                <m:num>
                                  <m:r>
                                    <a:rPr lang="en-US" altLang="zh-TW" sz="1200" i="1">
                                      <a:latin typeface="Cambria Math" panose="02040503050406030204" pitchFamily="18" charset="0"/>
                                    </a:rPr>
                                    <m:t>1</m:t>
                                  </m:r>
                                </m:num>
                                <m:den>
                                  <m:sSubSup>
                                    <m:sSubSupPr>
                                      <m:ctrlPr>
                                        <a:rPr lang="en-US" altLang="zh-TW" sz="1200" i="1">
                                          <a:latin typeface="Cambria Math" panose="02040503050406030204" pitchFamily="18" charset="0"/>
                                        </a:rPr>
                                      </m:ctrlPr>
                                    </m:sSubSupPr>
                                    <m:e>
                                      <m:r>
                                        <a:rPr lang="en-US" altLang="zh-TW" sz="1200" i="1">
                                          <a:latin typeface="Cambria Math" panose="02040503050406030204" pitchFamily="18" charset="0"/>
                                        </a:rPr>
                                        <m:t>𝑛</m:t>
                                      </m:r>
                                    </m:e>
                                    <m:sub>
                                      <m:r>
                                        <a:rPr lang="en-US" altLang="zh-TW" sz="1200" i="1">
                                          <a:latin typeface="Cambria Math" panose="02040503050406030204" pitchFamily="18" charset="0"/>
                                        </a:rPr>
                                        <m:t>𝑜</m:t>
                                      </m:r>
                                    </m:sub>
                                    <m:sup>
                                      <m:r>
                                        <a:rPr lang="en-US" altLang="zh-TW" sz="1200" i="1">
                                          <a:latin typeface="Cambria Math" panose="02040503050406030204" pitchFamily="18" charset="0"/>
                                        </a:rPr>
                                        <m:t>2</m:t>
                                      </m:r>
                                    </m:sup>
                                  </m:sSubSup>
                                </m:den>
                              </m:f>
                            </m:e>
                            <m:e>
                              <m:r>
                                <a:rPr lang="en-US" altLang="zh-TW" sz="1200" b="0" i="1" smtClean="0">
                                  <a:latin typeface="Cambria Math" panose="02040503050406030204" pitchFamily="18" charset="0"/>
                                </a:rPr>
                                <m:t>0</m:t>
                              </m:r>
                            </m:e>
                          </m:mr>
                          <m:mr>
                            <m:e>
                              <m:r>
                                <a:rPr lang="en-US" altLang="zh-TW" sz="1200" b="0" i="1" smtClean="0">
                                  <a:latin typeface="Cambria Math" panose="02040503050406030204" pitchFamily="18" charset="0"/>
                                </a:rPr>
                                <m:t>0</m:t>
                              </m:r>
                            </m:e>
                            <m:e>
                              <m:r>
                                <a:rPr lang="en-US" altLang="zh-TW" sz="1200" b="0" i="1" smtClean="0">
                                  <a:latin typeface="Cambria Math" panose="02040503050406030204" pitchFamily="18" charset="0"/>
                                </a:rPr>
                                <m:t>0</m:t>
                              </m:r>
                            </m:e>
                            <m:e>
                              <m:f>
                                <m:fPr>
                                  <m:ctrlPr>
                                    <a:rPr lang="en-US" altLang="zh-TW" sz="1200" i="1">
                                      <a:latin typeface="Cambria Math" panose="02040503050406030204" pitchFamily="18" charset="0"/>
                                    </a:rPr>
                                  </m:ctrlPr>
                                </m:fPr>
                                <m:num>
                                  <m:r>
                                    <a:rPr lang="en-US" altLang="zh-TW" sz="1200" i="1">
                                      <a:latin typeface="Cambria Math" panose="02040503050406030204" pitchFamily="18" charset="0"/>
                                    </a:rPr>
                                    <m:t>1</m:t>
                                  </m:r>
                                </m:num>
                                <m:den>
                                  <m:sSubSup>
                                    <m:sSubSupPr>
                                      <m:ctrlPr>
                                        <a:rPr lang="en-US" altLang="zh-TW" sz="1200" i="1">
                                          <a:latin typeface="Cambria Math" panose="02040503050406030204" pitchFamily="18" charset="0"/>
                                        </a:rPr>
                                      </m:ctrlPr>
                                    </m:sSubSupPr>
                                    <m:e>
                                      <m:r>
                                        <a:rPr lang="en-US" altLang="zh-TW" sz="1200" i="1">
                                          <a:latin typeface="Cambria Math" panose="02040503050406030204" pitchFamily="18" charset="0"/>
                                        </a:rPr>
                                        <m:t>𝑛</m:t>
                                      </m:r>
                                    </m:e>
                                    <m:sub>
                                      <m:r>
                                        <a:rPr lang="en-US" altLang="zh-TW" sz="1200" b="0" i="1" smtClean="0">
                                          <a:latin typeface="Cambria Math" panose="02040503050406030204" pitchFamily="18" charset="0"/>
                                        </a:rPr>
                                        <m:t>𝑒</m:t>
                                      </m:r>
                                    </m:sub>
                                    <m:sup>
                                      <m:r>
                                        <a:rPr lang="en-US" altLang="zh-TW" sz="1200" i="1">
                                          <a:latin typeface="Cambria Math" panose="02040503050406030204" pitchFamily="18" charset="0"/>
                                        </a:rPr>
                                        <m:t>2</m:t>
                                      </m:r>
                                    </m:sup>
                                  </m:sSubSup>
                                </m:den>
                              </m:f>
                            </m:e>
                          </m:mr>
                        </m:m>
                      </m:e>
                    </m:d>
                    <m:r>
                      <a:rPr lang="zh-TW" altLang="en-US" sz="1200" i="1">
                        <a:latin typeface="Cambria Math" panose="02040503050406030204" pitchFamily="18" charset="0"/>
                      </a:rPr>
                      <m:t>為</m:t>
                    </m:r>
                  </m:oMath>
                </a14:m>
                <a:r>
                  <a:rPr lang="en-US" altLang="zh-TW" sz="1200" dirty="0">
                    <a:latin typeface="Times New Roman" panose="02020603050405020304" pitchFamily="18" charset="0"/>
                    <a:cs typeface="Times New Roman" panose="02020603050405020304" pitchFamily="18" charset="0"/>
                  </a:rPr>
                  <a:t>Impermeability tensor of negative uniaxial crystal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dirty="0">
                  <a:latin typeface="Times New Roman" panose="02020603050405020304" pitchFamily="18" charset="0"/>
                  <a:cs typeface="Times New Roman" panose="02020603050405020304" pitchFamily="18" charset="0"/>
                </a:endParaRPr>
              </a:p>
              <a:p>
                <a:pPr marL="0" indent="0">
                  <a:buNone/>
                </a:pPr>
                <a:r>
                  <a:rPr lang="zh-TW" altLang="en-US" sz="1200" dirty="0"/>
                  <a:t>由此我們得到施加</a:t>
                </a:r>
                <a:r>
                  <a:rPr lang="en-US" altLang="zh-TW" sz="1200" dirty="0"/>
                  <a:t>y</a:t>
                </a:r>
                <a:r>
                  <a:rPr lang="zh-TW" altLang="en-US" sz="1200" dirty="0"/>
                  <a:t>方向電場後其折射率橢球如下</a:t>
                </a:r>
                <a:r>
                  <a:rPr lang="en-US" altLang="zh-TW" sz="1200" dirty="0"/>
                  <a:t>:</a:t>
                </a:r>
              </a:p>
              <a:p>
                <a:pPr marL="0" indent="0">
                  <a:buNone/>
                </a:pPr>
                <a:r>
                  <a:rPr lang="en-US" altLang="zh-TW" sz="1200" dirty="0"/>
                  <a:t>(</a:t>
                </a:r>
                <a14:m>
                  <m:oMath xmlns:m="http://schemas.openxmlformats.org/officeDocument/2006/math">
                    <m:f>
                      <m:fPr>
                        <m:ctrlPr>
                          <a:rPr lang="en-US" altLang="zh-TW" sz="1200" i="1" smtClean="0">
                            <a:latin typeface="Cambria Math" panose="02040503050406030204" pitchFamily="18" charset="0"/>
                          </a:rPr>
                        </m:ctrlPr>
                      </m:fPr>
                      <m:num>
                        <m:r>
                          <a:rPr lang="en-US" altLang="zh-TW" sz="1200" i="1">
                            <a:latin typeface="Cambria Math" panose="02040503050406030204" pitchFamily="18" charset="0"/>
                          </a:rPr>
                          <m:t>1</m:t>
                        </m:r>
                      </m:num>
                      <m:den>
                        <m:sSubSup>
                          <m:sSubSupPr>
                            <m:ctrlPr>
                              <a:rPr lang="en-US" altLang="zh-TW" sz="1200" i="1">
                                <a:latin typeface="Cambria Math" panose="02040503050406030204" pitchFamily="18" charset="0"/>
                              </a:rPr>
                            </m:ctrlPr>
                          </m:sSubSupPr>
                          <m:e>
                            <m:r>
                              <a:rPr lang="en-US" altLang="zh-TW" sz="1200" i="1">
                                <a:latin typeface="Cambria Math" panose="02040503050406030204" pitchFamily="18" charset="0"/>
                              </a:rPr>
                              <m:t>𝑛</m:t>
                            </m:r>
                          </m:e>
                          <m:sub>
                            <m:r>
                              <a:rPr lang="en-US" altLang="zh-TW" sz="1200" i="1">
                                <a:latin typeface="Cambria Math" panose="02040503050406030204" pitchFamily="18" charset="0"/>
                              </a:rPr>
                              <m:t>𝑜</m:t>
                            </m:r>
                          </m:sub>
                          <m:sup>
                            <m:r>
                              <a:rPr lang="en-US" altLang="zh-TW" sz="1200" i="1">
                                <a:latin typeface="Cambria Math" panose="02040503050406030204" pitchFamily="18" charset="0"/>
                              </a:rPr>
                              <m:t>2</m:t>
                            </m:r>
                          </m:sup>
                        </m:sSubSup>
                      </m:den>
                    </m:f>
                    <m:r>
                      <a:rPr lang="en-US" altLang="zh-TW" sz="1200" i="1">
                        <a:latin typeface="Cambria Math" panose="02040503050406030204" pitchFamily="18" charset="0"/>
                      </a:rPr>
                      <m:t>−</m:t>
                    </m:r>
                    <m:r>
                      <a:rPr lang="en-US" altLang="zh-TW" sz="1200" i="1">
                        <a:latin typeface="Cambria Math" panose="02040503050406030204" pitchFamily="18" charset="0"/>
                      </a:rPr>
                      <m:t>𝑟</m:t>
                    </m:r>
                    <m:r>
                      <a:rPr lang="en-US" altLang="zh-TW" sz="1200" i="1" baseline="-25000">
                        <a:latin typeface="Cambria Math" panose="02040503050406030204" pitchFamily="18" charset="0"/>
                      </a:rPr>
                      <m:t>22</m:t>
                    </m:r>
                    <m:r>
                      <m:rPr>
                        <m:sty m:val="p"/>
                      </m:rPr>
                      <a:rPr lang="en-US" altLang="zh-TW" sz="1200" i="1">
                        <a:latin typeface="Cambria Math" panose="02040503050406030204" pitchFamily="18" charset="0"/>
                      </a:rPr>
                      <m:t>E</m:t>
                    </m:r>
                    <m:r>
                      <a:rPr lang="en-US" altLang="zh-TW" sz="1200" i="1" baseline="-25000">
                        <a:latin typeface="Cambria Math" panose="02040503050406030204" pitchFamily="18" charset="0"/>
                      </a:rPr>
                      <m:t>𝑦</m:t>
                    </m:r>
                  </m:oMath>
                </a14:m>
                <a:r>
                  <a:rPr lang="en-US" altLang="zh-TW" sz="1200" dirty="0"/>
                  <a:t>)</a:t>
                </a:r>
                <a14:m>
                  <m:oMath xmlns:m="http://schemas.openxmlformats.org/officeDocument/2006/math">
                    <m:r>
                      <a:rPr lang="en-US" altLang="zh-TW" sz="1200" b="0" i="1" dirty="0" smtClean="0">
                        <a:latin typeface="Cambria Math" panose="02040503050406030204" pitchFamily="18" charset="0"/>
                      </a:rPr>
                      <m:t>𝑥</m:t>
                    </m:r>
                    <m:r>
                      <a:rPr lang="en-US" altLang="zh-TW" sz="1200" b="0" i="1" baseline="30000" dirty="0" smtClean="0">
                        <a:latin typeface="Cambria Math" panose="02040503050406030204" pitchFamily="18" charset="0"/>
                      </a:rPr>
                      <m:t>2</m:t>
                    </m:r>
                    <m:r>
                      <a:rPr lang="en-US" altLang="zh-TW" sz="1200" b="0" i="1" dirty="0" smtClean="0">
                        <a:latin typeface="Cambria Math" panose="02040503050406030204" pitchFamily="18" charset="0"/>
                      </a:rPr>
                      <m:t>+(</m:t>
                    </m:r>
                    <m:f>
                      <m:fPr>
                        <m:ctrlPr>
                          <a:rPr lang="en-US" altLang="zh-TW" sz="1200" i="1">
                            <a:latin typeface="Cambria Math" panose="02040503050406030204" pitchFamily="18" charset="0"/>
                          </a:rPr>
                        </m:ctrlPr>
                      </m:fPr>
                      <m:num>
                        <m:r>
                          <a:rPr lang="en-US" altLang="zh-TW" sz="1200" i="1">
                            <a:latin typeface="Cambria Math" panose="02040503050406030204" pitchFamily="18" charset="0"/>
                          </a:rPr>
                          <m:t>1</m:t>
                        </m:r>
                      </m:num>
                      <m:den>
                        <m:sSubSup>
                          <m:sSubSupPr>
                            <m:ctrlPr>
                              <a:rPr lang="en-US" altLang="zh-TW" sz="1200" i="1">
                                <a:latin typeface="Cambria Math" panose="02040503050406030204" pitchFamily="18" charset="0"/>
                              </a:rPr>
                            </m:ctrlPr>
                          </m:sSubSupPr>
                          <m:e>
                            <m:r>
                              <a:rPr lang="en-US" altLang="zh-TW" sz="1200" i="1">
                                <a:latin typeface="Cambria Math" panose="02040503050406030204" pitchFamily="18" charset="0"/>
                              </a:rPr>
                              <m:t>𝑛</m:t>
                            </m:r>
                          </m:e>
                          <m:sub>
                            <m:r>
                              <a:rPr lang="en-US" altLang="zh-TW" sz="1200" i="1">
                                <a:latin typeface="Cambria Math" panose="02040503050406030204" pitchFamily="18" charset="0"/>
                              </a:rPr>
                              <m:t>𝑜</m:t>
                            </m:r>
                          </m:sub>
                          <m:sup>
                            <m:r>
                              <a:rPr lang="en-US" altLang="zh-TW" sz="1200" i="1">
                                <a:latin typeface="Cambria Math" panose="02040503050406030204" pitchFamily="18" charset="0"/>
                              </a:rPr>
                              <m:t>2</m:t>
                            </m:r>
                          </m:sup>
                        </m:sSubSup>
                      </m:den>
                    </m:f>
                    <m:r>
                      <a:rPr lang="en-US" altLang="zh-TW" sz="1200" i="1">
                        <a:latin typeface="Cambria Math" panose="02040503050406030204" pitchFamily="18" charset="0"/>
                      </a:rPr>
                      <m:t>+</m:t>
                    </m:r>
                    <m:r>
                      <a:rPr lang="en-US" altLang="zh-TW" sz="1200" i="1">
                        <a:latin typeface="Cambria Math" panose="02040503050406030204" pitchFamily="18" charset="0"/>
                      </a:rPr>
                      <m:t>𝑟</m:t>
                    </m:r>
                    <m:r>
                      <a:rPr lang="en-US" altLang="zh-TW" sz="1200" i="1" baseline="-25000">
                        <a:latin typeface="Cambria Math" panose="02040503050406030204" pitchFamily="18" charset="0"/>
                      </a:rPr>
                      <m:t>22</m:t>
                    </m:r>
                    <m:r>
                      <m:rPr>
                        <m:sty m:val="p"/>
                      </m:rPr>
                      <a:rPr lang="en-US" altLang="zh-TW" sz="1200" i="1">
                        <a:latin typeface="Cambria Math" panose="02040503050406030204" pitchFamily="18" charset="0"/>
                      </a:rPr>
                      <m:t>E</m:t>
                    </m:r>
                    <m:r>
                      <a:rPr lang="en-US" altLang="zh-TW" sz="1200" i="1" baseline="-25000">
                        <a:latin typeface="Cambria Math" panose="02040503050406030204" pitchFamily="18" charset="0"/>
                      </a:rPr>
                      <m:t>𝑦</m:t>
                    </m:r>
                  </m:oMath>
                </a14:m>
                <a:r>
                  <a:rPr lang="en-US" altLang="zh-TW" sz="1200" dirty="0"/>
                  <a:t>)</a:t>
                </a:r>
                <a14:m>
                  <m:oMath xmlns:m="http://schemas.openxmlformats.org/officeDocument/2006/math">
                    <m:r>
                      <a:rPr lang="en-US" altLang="zh-TW" sz="1200" b="0" i="1" dirty="0" smtClean="0">
                        <a:latin typeface="Cambria Math" panose="02040503050406030204" pitchFamily="18" charset="0"/>
                      </a:rPr>
                      <m:t>𝑦</m:t>
                    </m:r>
                    <m:r>
                      <a:rPr lang="en-US" altLang="zh-TW" sz="1200" b="0" i="1" baseline="30000" dirty="0" smtClean="0">
                        <a:latin typeface="Cambria Math" panose="02040503050406030204" pitchFamily="18" charset="0"/>
                      </a:rPr>
                      <m:t>2</m:t>
                    </m:r>
                    <m:r>
                      <a:rPr lang="en-US" altLang="zh-TW" sz="1200" b="0" i="1" dirty="0" smtClean="0">
                        <a:latin typeface="Cambria Math" panose="02040503050406030204" pitchFamily="18" charset="0"/>
                      </a:rPr>
                      <m:t>+(</m:t>
                    </m:r>
                    <m:f>
                      <m:fPr>
                        <m:ctrlPr>
                          <a:rPr lang="en-US" altLang="zh-TW" sz="1200" i="1">
                            <a:latin typeface="Cambria Math" panose="02040503050406030204" pitchFamily="18" charset="0"/>
                          </a:rPr>
                        </m:ctrlPr>
                      </m:fPr>
                      <m:num>
                        <m:r>
                          <a:rPr lang="en-US" altLang="zh-TW" sz="1200" i="1">
                            <a:latin typeface="Cambria Math" panose="02040503050406030204" pitchFamily="18" charset="0"/>
                          </a:rPr>
                          <m:t>1</m:t>
                        </m:r>
                      </m:num>
                      <m:den>
                        <m:sSubSup>
                          <m:sSubSupPr>
                            <m:ctrlPr>
                              <a:rPr lang="en-US" altLang="zh-TW" sz="1200" i="1">
                                <a:latin typeface="Cambria Math" panose="02040503050406030204" pitchFamily="18" charset="0"/>
                              </a:rPr>
                            </m:ctrlPr>
                          </m:sSubSupPr>
                          <m:e>
                            <m:r>
                              <a:rPr lang="en-US" altLang="zh-TW" sz="1200" i="1">
                                <a:latin typeface="Cambria Math" panose="02040503050406030204" pitchFamily="18" charset="0"/>
                              </a:rPr>
                              <m:t>𝑛</m:t>
                            </m:r>
                          </m:e>
                          <m:sub>
                            <m:r>
                              <a:rPr lang="en-US" altLang="zh-TW" sz="1200" i="1">
                                <a:latin typeface="Cambria Math" panose="02040503050406030204" pitchFamily="18" charset="0"/>
                              </a:rPr>
                              <m:t>𝑒</m:t>
                            </m:r>
                          </m:sub>
                          <m:sup>
                            <m:r>
                              <a:rPr lang="en-US" altLang="zh-TW" sz="1200" i="1">
                                <a:latin typeface="Cambria Math" panose="02040503050406030204" pitchFamily="18" charset="0"/>
                              </a:rPr>
                              <m:t>2</m:t>
                            </m:r>
                          </m:sup>
                        </m:sSubSup>
                      </m:den>
                    </m:f>
                  </m:oMath>
                </a14:m>
                <a:r>
                  <a:rPr lang="en-US" altLang="zh-TW" sz="1200" dirty="0"/>
                  <a:t>)</a:t>
                </a:r>
                <a14:m>
                  <m:oMath xmlns:m="http://schemas.openxmlformats.org/officeDocument/2006/math">
                    <m:r>
                      <a:rPr lang="en-US" altLang="zh-TW" sz="1200" b="0" i="1" dirty="0" smtClean="0">
                        <a:latin typeface="Cambria Math" panose="02040503050406030204" pitchFamily="18" charset="0"/>
                      </a:rPr>
                      <m:t>𝑧</m:t>
                    </m:r>
                    <m:r>
                      <a:rPr lang="en-US" altLang="zh-TW" sz="1200" b="0" i="1" baseline="30000" dirty="0" smtClean="0">
                        <a:latin typeface="Cambria Math" panose="02040503050406030204" pitchFamily="18" charset="0"/>
                      </a:rPr>
                      <m:t>2</m:t>
                    </m:r>
                    <m:r>
                      <a:rPr lang="en-US" altLang="zh-TW" sz="1200" b="0" i="1" dirty="0" smtClean="0">
                        <a:latin typeface="Cambria Math" panose="02040503050406030204" pitchFamily="18" charset="0"/>
                      </a:rPr>
                      <m:t>+(2</m:t>
                    </m:r>
                    <m:r>
                      <a:rPr lang="en-US" altLang="zh-TW" sz="1200" i="1">
                        <a:latin typeface="Cambria Math" panose="02040503050406030204" pitchFamily="18" charset="0"/>
                      </a:rPr>
                      <m:t>𝑟</m:t>
                    </m:r>
                    <m:r>
                      <a:rPr lang="en-US" altLang="zh-TW" sz="1200" i="1" baseline="-25000">
                        <a:latin typeface="Cambria Math" panose="02040503050406030204" pitchFamily="18" charset="0"/>
                      </a:rPr>
                      <m:t>51</m:t>
                    </m:r>
                    <m:r>
                      <a:rPr lang="en-US" altLang="zh-TW" sz="1200" i="1">
                        <a:latin typeface="Cambria Math" panose="02040503050406030204" pitchFamily="18" charset="0"/>
                      </a:rPr>
                      <m:t>𝐸</m:t>
                    </m:r>
                    <m:r>
                      <a:rPr lang="en-US" altLang="zh-TW" sz="1200" i="1" baseline="-25000">
                        <a:latin typeface="Cambria Math" panose="02040503050406030204" pitchFamily="18" charset="0"/>
                      </a:rPr>
                      <m:t>𝑦</m:t>
                    </m:r>
                    <m:r>
                      <a:rPr lang="en-US" altLang="zh-TW" sz="1200" b="0" i="1" smtClean="0">
                        <a:latin typeface="Cambria Math" panose="02040503050406030204" pitchFamily="18" charset="0"/>
                      </a:rPr>
                      <m:t>)</m:t>
                    </m:r>
                    <m:r>
                      <a:rPr lang="en-US" altLang="zh-TW" sz="1200" b="0" i="1" dirty="0" smtClean="0">
                        <a:latin typeface="Cambria Math" panose="02040503050406030204" pitchFamily="18" charset="0"/>
                      </a:rPr>
                      <m:t>𝑦𝑧</m:t>
                    </m:r>
                  </m:oMath>
                </a14:m>
                <a:r>
                  <a:rPr lang="en-US" altLang="zh-TW" sz="1200" dirty="0"/>
                  <a:t> = 1</a:t>
                </a:r>
              </a:p>
              <a:p>
                <a:pPr marL="0" indent="0">
                  <a:buNone/>
                </a:pPr>
                <a:r>
                  <a:rPr lang="zh-TW" altLang="en-US" sz="1200" dirty="0"/>
                  <a:t>因折射率橢球多出一項光軸璇轉項</a:t>
                </a:r>
                <a14:m>
                  <m:oMath xmlns:m="http://schemas.openxmlformats.org/officeDocument/2006/math">
                    <m:r>
                      <a:rPr lang="en-US" altLang="zh-TW" sz="1200" b="0" i="1" dirty="0" smtClean="0">
                        <a:latin typeface="Cambria Math" panose="02040503050406030204" pitchFamily="18" charset="0"/>
                      </a:rPr>
                      <m:t>(2</m:t>
                    </m:r>
                    <m:r>
                      <a:rPr lang="en-US" altLang="zh-TW" sz="1200" i="1">
                        <a:latin typeface="Cambria Math" panose="02040503050406030204" pitchFamily="18" charset="0"/>
                      </a:rPr>
                      <m:t>𝑟</m:t>
                    </m:r>
                    <m:r>
                      <a:rPr lang="en-US" altLang="zh-TW" sz="1200" i="1" baseline="-25000">
                        <a:latin typeface="Cambria Math" panose="02040503050406030204" pitchFamily="18" charset="0"/>
                      </a:rPr>
                      <m:t>51</m:t>
                    </m:r>
                    <m:r>
                      <a:rPr lang="en-US" altLang="zh-TW" sz="1200" i="1">
                        <a:latin typeface="Cambria Math" panose="02040503050406030204" pitchFamily="18" charset="0"/>
                      </a:rPr>
                      <m:t>𝐸</m:t>
                    </m:r>
                    <m:r>
                      <a:rPr lang="en-US" altLang="zh-TW" sz="1200" i="1" baseline="-25000">
                        <a:latin typeface="Cambria Math" panose="02040503050406030204" pitchFamily="18" charset="0"/>
                      </a:rPr>
                      <m:t>𝑦</m:t>
                    </m:r>
                    <m:r>
                      <a:rPr lang="en-US" altLang="zh-TW" sz="1200" b="0" i="1" smtClean="0">
                        <a:latin typeface="Cambria Math" panose="02040503050406030204" pitchFamily="18" charset="0"/>
                      </a:rPr>
                      <m:t>)</m:t>
                    </m:r>
                    <m:r>
                      <a:rPr lang="en-US" altLang="zh-TW" sz="1200" b="0" i="1" dirty="0" smtClean="0">
                        <a:latin typeface="Cambria Math" panose="02040503050406030204" pitchFamily="18" charset="0"/>
                      </a:rPr>
                      <m:t>𝑦𝑧</m:t>
                    </m:r>
                    <m:r>
                      <a:rPr lang="zh-TW" altLang="en-US" sz="1200" i="1" dirty="0">
                        <a:latin typeface="Cambria Math" panose="02040503050406030204" pitchFamily="18" charset="0"/>
                      </a:rPr>
                      <m:t>，所以我們沿</m:t>
                    </m:r>
                    <m:r>
                      <a:rPr lang="en-US" altLang="zh-TW" sz="1200" b="0" i="1" dirty="0" smtClean="0">
                        <a:latin typeface="Cambria Math" panose="02040503050406030204" pitchFamily="18" charset="0"/>
                      </a:rPr>
                      <m:t>𝑦𝑧</m:t>
                    </m:r>
                    <m:r>
                      <a:rPr lang="zh-TW" altLang="en-US" sz="1200" i="1" dirty="0">
                        <a:latin typeface="Cambria Math" panose="02040503050406030204" pitchFamily="18" charset="0"/>
                      </a:rPr>
                      <m:t>平面旋轉光軸</m:t>
                    </m:r>
                  </m:oMath>
                </a14:m>
                <a:r>
                  <a:rPr lang="zh-TW" altLang="en-US" sz="1200" dirty="0"/>
                  <a:t>一角度</a:t>
                </a:r>
                <a14:m>
                  <m:oMath xmlns:m="http://schemas.openxmlformats.org/officeDocument/2006/math">
                    <m:r>
                      <a:rPr lang="zh-TW" altLang="en-US" sz="1200" i="1" smtClean="0">
                        <a:latin typeface="Cambria Math" panose="02040503050406030204" pitchFamily="18" charset="0"/>
                      </a:rPr>
                      <m:t>𝜃</m:t>
                    </m:r>
                  </m:oMath>
                </a14:m>
                <a:r>
                  <a:rPr lang="zh-TW" altLang="en-US" sz="1200" dirty="0"/>
                  <a:t>重新定義新的座標軸</a:t>
                </a:r>
                <a:r>
                  <a:rPr lang="en-US" altLang="zh-TW" sz="1200" dirty="0"/>
                  <a:t>:</a:t>
                </a:r>
              </a:p>
              <a:p>
                <a:pPr marL="0" indent="0">
                  <a:buNone/>
                </a:pPr>
                <a14:m>
                  <m:oMath xmlns:m="http://schemas.openxmlformats.org/officeDocument/2006/math">
                    <m:d>
                      <m:dPr>
                        <m:begChr m:val="["/>
                        <m:endChr m:val="]"/>
                        <m:ctrlPr>
                          <a:rPr lang="en-US" altLang="zh-TW" sz="1200" i="1" smtClean="0">
                            <a:latin typeface="Cambria Math" panose="02040503050406030204" pitchFamily="18" charset="0"/>
                          </a:rPr>
                        </m:ctrlPr>
                      </m:dPr>
                      <m:e>
                        <m:m>
                          <m:mPr>
                            <m:mcs>
                              <m:mc>
                                <m:mcPr>
                                  <m:count m:val="1"/>
                                  <m:mcJc m:val="center"/>
                                </m:mcPr>
                              </m:mc>
                            </m:mcs>
                            <m:ctrlPr>
                              <a:rPr lang="en-US" altLang="zh-TW" sz="1200" i="1" smtClean="0">
                                <a:latin typeface="Cambria Math" panose="02040503050406030204" pitchFamily="18" charset="0"/>
                              </a:rPr>
                            </m:ctrlPr>
                          </m:mPr>
                          <m:mr>
                            <m:e>
                              <m:r>
                                <m:rPr>
                                  <m:brk m:alnAt="7"/>
                                </m:rPr>
                                <a:rPr lang="en-US" altLang="zh-TW" sz="1200" b="0" i="1" smtClean="0">
                                  <a:latin typeface="Cambria Math" panose="02040503050406030204" pitchFamily="18" charset="0"/>
                                </a:rPr>
                                <m:t>𝑦</m:t>
                              </m:r>
                            </m:e>
                          </m:mr>
                          <m:mr>
                            <m:e>
                              <m:r>
                                <a:rPr lang="en-US" altLang="zh-TW" sz="1200" b="0" i="1" smtClean="0">
                                  <a:latin typeface="Cambria Math" panose="02040503050406030204" pitchFamily="18" charset="0"/>
                                </a:rPr>
                                <m:t>𝑧</m:t>
                              </m:r>
                            </m:e>
                          </m:mr>
                        </m:m>
                      </m:e>
                    </m:d>
                  </m:oMath>
                </a14:m>
                <a:r>
                  <a:rPr lang="zh-TW" altLang="en-US" sz="1200" dirty="0"/>
                  <a:t> </a:t>
                </a:r>
                <a:r>
                  <a:rPr lang="en-US" altLang="zh-TW" sz="1200" dirty="0"/>
                  <a:t>=</a:t>
                </a:r>
                <a:r>
                  <a:rPr lang="zh-TW" altLang="en-US" sz="1200" dirty="0"/>
                  <a:t> </a:t>
                </a:r>
                <a14:m>
                  <m:oMath xmlns:m="http://schemas.openxmlformats.org/officeDocument/2006/math">
                    <m:d>
                      <m:dPr>
                        <m:begChr m:val="["/>
                        <m:endChr m:val="]"/>
                        <m:ctrlPr>
                          <a:rPr lang="en-US" altLang="zh-TW" sz="1200" i="1" smtClean="0">
                            <a:latin typeface="Cambria Math" panose="02040503050406030204" pitchFamily="18" charset="0"/>
                          </a:rPr>
                        </m:ctrlPr>
                      </m:dPr>
                      <m:e>
                        <m:m>
                          <m:mPr>
                            <m:mcs>
                              <m:mc>
                                <m:mcPr>
                                  <m:count m:val="2"/>
                                  <m:mcJc m:val="center"/>
                                </m:mcPr>
                              </m:mc>
                            </m:mcs>
                            <m:ctrlPr>
                              <a:rPr lang="en-US" altLang="zh-TW" sz="1200" i="1" smtClean="0">
                                <a:latin typeface="Cambria Math" panose="02040503050406030204" pitchFamily="18" charset="0"/>
                              </a:rPr>
                            </m:ctrlPr>
                          </m:mPr>
                          <m:mr>
                            <m:e>
                              <m:func>
                                <m:funcPr>
                                  <m:ctrlPr>
                                    <a:rPr lang="en-US" altLang="zh-TW" sz="1200" i="1" smtClean="0">
                                      <a:latin typeface="Cambria Math" panose="02040503050406030204" pitchFamily="18" charset="0"/>
                                    </a:rPr>
                                  </m:ctrlPr>
                                </m:funcPr>
                                <m:fName>
                                  <m:r>
                                    <m:rPr>
                                      <m:sty m:val="p"/>
                                      <m:brk m:alnAt="7"/>
                                    </m:rPr>
                                    <a:rPr lang="en-US" altLang="zh-TW" sz="1200" i="0" smtClean="0">
                                      <a:latin typeface="Cambria Math" panose="02040503050406030204" pitchFamily="18" charset="0"/>
                                    </a:rPr>
                                    <m:t>c</m:t>
                                  </m:r>
                                  <m:r>
                                    <m:rPr>
                                      <m:sty m:val="p"/>
                                    </m:rPr>
                                    <a:rPr lang="en-US" altLang="zh-TW" sz="1200" i="0" smtClean="0">
                                      <a:latin typeface="Cambria Math" panose="02040503050406030204" pitchFamily="18" charset="0"/>
                                    </a:rPr>
                                    <m:t>os</m:t>
                                  </m:r>
                                </m:fName>
                                <m:e>
                                  <m:r>
                                    <a:rPr lang="zh-TW" altLang="en-US" sz="1200" i="1">
                                      <a:latin typeface="Cambria Math" panose="02040503050406030204" pitchFamily="18" charset="0"/>
                                    </a:rPr>
                                    <m:t>𝜃</m:t>
                                  </m:r>
                                </m:e>
                              </m:func>
                            </m:e>
                            <m:e>
                              <m:r>
                                <a:rPr lang="en-US" altLang="zh-TW" sz="1200" b="0" i="1" smtClean="0">
                                  <a:latin typeface="Cambria Math" panose="02040503050406030204" pitchFamily="18" charset="0"/>
                                </a:rPr>
                                <m:t>−</m:t>
                              </m:r>
                              <m:func>
                                <m:funcPr>
                                  <m:ctrlPr>
                                    <a:rPr lang="en-US" altLang="zh-TW" sz="1200" i="1">
                                      <a:latin typeface="Cambria Math" panose="02040503050406030204" pitchFamily="18" charset="0"/>
                                    </a:rPr>
                                  </m:ctrlPr>
                                </m:funcPr>
                                <m:fName>
                                  <m:r>
                                    <m:rPr>
                                      <m:sty m:val="p"/>
                                    </m:rPr>
                                    <a:rPr lang="en-US" altLang="zh-TW" sz="1200">
                                      <a:latin typeface="Cambria Math" panose="02040503050406030204" pitchFamily="18" charset="0"/>
                                    </a:rPr>
                                    <m:t>sin</m:t>
                                  </m:r>
                                </m:fName>
                                <m:e>
                                  <m:r>
                                    <a:rPr lang="zh-TW" altLang="en-US" sz="1200" i="1">
                                      <a:latin typeface="Cambria Math" panose="02040503050406030204" pitchFamily="18" charset="0"/>
                                    </a:rPr>
                                    <m:t>𝜃</m:t>
                                  </m:r>
                                </m:e>
                              </m:func>
                            </m:e>
                          </m:mr>
                          <m:mr>
                            <m:e>
                              <m:func>
                                <m:funcPr>
                                  <m:ctrlPr>
                                    <a:rPr lang="en-US" altLang="zh-TW" sz="1200" i="1" smtClean="0">
                                      <a:latin typeface="Cambria Math" panose="02040503050406030204" pitchFamily="18" charset="0"/>
                                    </a:rPr>
                                  </m:ctrlPr>
                                </m:funcPr>
                                <m:fName>
                                  <m:r>
                                    <m:rPr>
                                      <m:sty m:val="p"/>
                                    </m:rPr>
                                    <a:rPr lang="en-US" altLang="zh-TW" sz="1200" i="0" smtClean="0">
                                      <a:latin typeface="Cambria Math" panose="02040503050406030204" pitchFamily="18" charset="0"/>
                                    </a:rPr>
                                    <m:t>sin</m:t>
                                  </m:r>
                                </m:fName>
                                <m:e>
                                  <m:r>
                                    <a:rPr lang="zh-TW" altLang="en-US" sz="1200" i="1">
                                      <a:latin typeface="Cambria Math" panose="02040503050406030204" pitchFamily="18" charset="0"/>
                                    </a:rPr>
                                    <m:t>𝜃</m:t>
                                  </m:r>
                                </m:e>
                              </m:func>
                            </m:e>
                            <m:e>
                              <m:func>
                                <m:funcPr>
                                  <m:ctrlPr>
                                    <a:rPr lang="en-US" altLang="zh-TW" sz="1200" i="1">
                                      <a:latin typeface="Cambria Math" panose="02040503050406030204" pitchFamily="18" charset="0"/>
                                    </a:rPr>
                                  </m:ctrlPr>
                                </m:funcPr>
                                <m:fName>
                                  <m:r>
                                    <m:rPr>
                                      <m:sty m:val="p"/>
                                      <m:brk m:alnAt="7"/>
                                    </m:rPr>
                                    <a:rPr lang="en-US" altLang="zh-TW" sz="1200">
                                      <a:latin typeface="Cambria Math" panose="02040503050406030204" pitchFamily="18" charset="0"/>
                                    </a:rPr>
                                    <m:t>c</m:t>
                                  </m:r>
                                  <m:r>
                                    <m:rPr>
                                      <m:sty m:val="p"/>
                                    </m:rPr>
                                    <a:rPr lang="en-US" altLang="zh-TW" sz="1200">
                                      <a:latin typeface="Cambria Math" panose="02040503050406030204" pitchFamily="18" charset="0"/>
                                    </a:rPr>
                                    <m:t>os</m:t>
                                  </m:r>
                                </m:fName>
                                <m:e>
                                  <m:r>
                                    <a:rPr lang="zh-TW" altLang="en-US" sz="1200" i="1">
                                      <a:latin typeface="Cambria Math" panose="02040503050406030204" pitchFamily="18" charset="0"/>
                                    </a:rPr>
                                    <m:t>𝜃</m:t>
                                  </m:r>
                                </m:e>
                              </m:func>
                            </m:e>
                          </m:mr>
                        </m:m>
                      </m:e>
                    </m:d>
                    <m:d>
                      <m:dPr>
                        <m:begChr m:val="["/>
                        <m:endChr m:val="]"/>
                        <m:ctrlPr>
                          <a:rPr lang="en-US" altLang="zh-TW" sz="1200" i="1" smtClean="0">
                            <a:latin typeface="Cambria Math" panose="02040503050406030204" pitchFamily="18" charset="0"/>
                          </a:rPr>
                        </m:ctrlPr>
                      </m:dPr>
                      <m:e>
                        <m:m>
                          <m:mPr>
                            <m:mcs>
                              <m:mc>
                                <m:mcPr>
                                  <m:count m:val="1"/>
                                  <m:mcJc m:val="center"/>
                                </m:mcPr>
                              </m:mc>
                            </m:mcs>
                            <m:ctrlPr>
                              <a:rPr lang="en-US" altLang="zh-TW" sz="1200" i="1" smtClean="0">
                                <a:latin typeface="Cambria Math" panose="02040503050406030204" pitchFamily="18" charset="0"/>
                              </a:rPr>
                            </m:ctrlPr>
                          </m:mPr>
                          <m:mr>
                            <m:e>
                              <m:r>
                                <m:rPr>
                                  <m:brk m:alnAt="7"/>
                                </m:rPr>
                                <a:rPr lang="en-US" altLang="zh-TW" sz="1200" b="0" i="1" smtClean="0">
                                  <a:latin typeface="Cambria Math" panose="02040503050406030204" pitchFamily="18" charset="0"/>
                                </a:rPr>
                                <m:t>𝑦</m:t>
                              </m:r>
                              <m:r>
                                <a:rPr lang="en-US" altLang="zh-TW" sz="1200" b="0" i="1" smtClean="0">
                                  <a:latin typeface="Cambria Math" panose="02040503050406030204" pitchFamily="18" charset="0"/>
                                </a:rPr>
                                <m:t>′</m:t>
                              </m:r>
                            </m:e>
                          </m:mr>
                          <m:mr>
                            <m:e>
                              <m:r>
                                <a:rPr lang="en-US" altLang="zh-TW" sz="1200" b="0" i="1" smtClean="0">
                                  <a:latin typeface="Cambria Math" panose="02040503050406030204" pitchFamily="18" charset="0"/>
                                </a:rPr>
                                <m:t>𝑧</m:t>
                              </m:r>
                              <m:r>
                                <a:rPr lang="en-US" altLang="zh-TW" sz="1200" b="0" i="1" smtClean="0">
                                  <a:latin typeface="Cambria Math" panose="02040503050406030204" pitchFamily="18" charset="0"/>
                                </a:rPr>
                                <m:t>′</m:t>
                              </m:r>
                            </m:e>
                          </m:mr>
                        </m:m>
                      </m:e>
                    </m:d>
                  </m:oMath>
                </a14:m>
                <a:endParaRPr lang="en-US" altLang="zh-TW" sz="1200" dirty="0">
                  <a:latin typeface="Times New Roman" panose="02020603050405020304" pitchFamily="18" charset="0"/>
                  <a:cs typeface="Times New Roman" panose="02020603050405020304" pitchFamily="18" charset="0"/>
                </a:endParaRPr>
              </a:p>
              <a:p>
                <a:r>
                  <a:rPr lang="zh-TW" altLang="en-US" dirty="0"/>
                  <a:t>離軸項</a:t>
                </a:r>
                <a:r>
                  <a:rPr lang="en-US" altLang="zh-TW" dirty="0"/>
                  <a:t>(</a:t>
                </a:r>
                <a:r>
                  <a:rPr lang="zh-TW" altLang="en-US" dirty="0"/>
                  <a:t>歪橢球</a:t>
                </a:r>
                <a:r>
                  <a:rPr lang="en-US" altLang="zh-TW" dirty="0"/>
                  <a:t>)</a:t>
                </a:r>
                <a:r>
                  <a:rPr lang="zh-TW" altLang="en-US" dirty="0"/>
                  <a:t>去除，所以我們需要將光軸沿 著 </a:t>
                </a:r>
                <a:r>
                  <a:rPr lang="en-US" altLang="zh-TW" dirty="0"/>
                  <a:t>y-z </a:t>
                </a:r>
                <a:r>
                  <a:rPr lang="zh-TW" altLang="en-US" dirty="0"/>
                  <a:t>平面旋轉一</a:t>
                </a:r>
                <a:r>
                  <a:rPr lang="en-US" altLang="zh-TW" dirty="0"/>
                  <a:t>θ</a:t>
                </a:r>
                <a:r>
                  <a:rPr lang="zh-TW" altLang="en-US" dirty="0"/>
                  <a:t>角</a:t>
                </a:r>
                <a:endParaRPr lang="en-US" altLang="zh-TW" dirty="0"/>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t>鈮酸鋰晶體負晶疇</a:t>
                </a:r>
                <a:r>
                  <a:rPr lang="en-US" altLang="zh-TW" dirty="0"/>
                  <a:t>r51</a:t>
                </a:r>
                <a:r>
                  <a:rPr lang="zh-TW" altLang="en-US" dirty="0"/>
                  <a:t>為負，光軸選旋轉角為負</a:t>
                </a:r>
                <a:r>
                  <a:rPr lang="en-US" altLang="zh-TW" dirty="0"/>
                  <a:t>theta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1200" dirty="0">
                  <a:latin typeface="Times New Roman" panose="02020603050405020304" pitchFamily="18" charset="0"/>
                  <a:cs typeface="Times New Roman" panose="02020603050405020304" pitchFamily="18" charset="0"/>
                </a:endParaRPr>
              </a:p>
              <a:p>
                <a:pPr marL="0" indent="0">
                  <a:buNone/>
                </a:pPr>
                <a:endParaRPr lang="zh-TW" altLang="en-US" dirty="0"/>
              </a:p>
            </p:txBody>
          </p:sp>
        </mc:Choice>
        <mc:Fallback xmlns="">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t>非等向性材料鋰酸鈮其反介電張量</a:t>
                </a:r>
                <a:r>
                  <a:rPr lang="en-US" altLang="zh-TW" sz="1200" dirty="0"/>
                  <a:t>(impermeability tensor)=</a:t>
                </a:r>
                <a:r>
                  <a:rPr lang="zh-TW" altLang="en-US" sz="1200" i="0">
                    <a:latin typeface="Cambria Math" panose="02040503050406030204" pitchFamily="18" charset="0"/>
                  </a:rPr>
                  <a:t>𝞰</a:t>
                </a:r>
                <a:r>
                  <a:rPr lang="en-US" altLang="zh-TW" sz="1200" i="0">
                    <a:latin typeface="Cambria Math" panose="02040503050406030204" pitchFamily="18" charset="0"/>
                  </a:rPr>
                  <a:t> ⃡</a:t>
                </a:r>
                <a:r>
                  <a:rPr lang="zh-TW" altLang="en-US" sz="1200" i="0">
                    <a:latin typeface="Cambria Math" panose="02040503050406030204" pitchFamily="18" charset="0"/>
                  </a:rPr>
                  <a:t>  </a:t>
                </a:r>
                <a:r>
                  <a:rPr lang="en-US" altLang="zh-TW" sz="1200" baseline="-25000" dirty="0"/>
                  <a:t>ij </a:t>
                </a:r>
                <a:endParaRPr lang="en-US" altLang="zh-TW" sz="1200" dirty="0"/>
              </a:p>
              <a:p>
                <a:pPr marL="0" indent="0">
                  <a:buNone/>
                </a:pPr>
                <a:r>
                  <a:rPr lang="zh-TW" altLang="en-US" sz="1200" dirty="0"/>
                  <a:t>當施加電場時使的反介電張量隨電場變化，其變化量為</a:t>
                </a:r>
                <a:endParaRPr lang="en-US" altLang="zh-TW" sz="1200" dirty="0"/>
              </a:p>
              <a:p>
                <a:pPr marL="0" indent="0">
                  <a:buNone/>
                </a:pPr>
                <a:r>
                  <a:rPr lang="zh-TW" altLang="en-US" sz="1200" i="0">
                    <a:latin typeface="Cambria Math" panose="02040503050406030204" pitchFamily="18" charset="0"/>
                  </a:rPr>
                  <a:t>𝞰</a:t>
                </a:r>
                <a:r>
                  <a:rPr lang="en-US" altLang="zh-TW" sz="1200" i="0">
                    <a:latin typeface="Cambria Math" panose="02040503050406030204" pitchFamily="18" charset="0"/>
                  </a:rPr>
                  <a:t> ⃡</a:t>
                </a:r>
                <a:r>
                  <a:rPr lang="zh-TW" altLang="en-US" sz="1200" i="0">
                    <a:latin typeface="Cambria Math" panose="02040503050406030204" pitchFamily="18" charset="0"/>
                  </a:rPr>
                  <a:t>  </a:t>
                </a:r>
                <a:r>
                  <a:rPr lang="en-US" altLang="zh-TW" sz="1200" baseline="-25000" dirty="0"/>
                  <a:t>ij</a:t>
                </a:r>
                <a:r>
                  <a:rPr lang="en-US" altLang="zh-TW" sz="1200" dirty="0"/>
                  <a:t>(E) = </a:t>
                </a:r>
                <a:r>
                  <a:rPr lang="zh-TW" altLang="en-US" sz="1200" i="0">
                    <a:latin typeface="Cambria Math" panose="02040503050406030204" pitchFamily="18" charset="0"/>
                  </a:rPr>
                  <a:t>𝞰</a:t>
                </a:r>
                <a:r>
                  <a:rPr lang="en-US" altLang="zh-TW" sz="1200" i="0">
                    <a:latin typeface="Cambria Math" panose="02040503050406030204" pitchFamily="18" charset="0"/>
                  </a:rPr>
                  <a:t> ⃡</a:t>
                </a:r>
                <a:r>
                  <a:rPr lang="zh-TW" altLang="en-US" sz="1200" i="0">
                    <a:latin typeface="Cambria Math" panose="02040503050406030204" pitchFamily="18" charset="0"/>
                  </a:rPr>
                  <a:t>  </a:t>
                </a:r>
                <a:r>
                  <a:rPr lang="en-US" altLang="zh-TW" sz="1200" baseline="-25000" dirty="0" err="1"/>
                  <a:t>ij</a:t>
                </a:r>
                <a:r>
                  <a:rPr lang="en-US" altLang="zh-TW" sz="1200" dirty="0"/>
                  <a:t>(0) + </a:t>
                </a:r>
                <a:r>
                  <a:rPr lang="en-US" altLang="zh-TW" sz="1200" i="0">
                    <a:latin typeface="Cambria Math" panose="02040503050406030204" pitchFamily="18" charset="0"/>
                  </a:rPr>
                  <a:t>∑2</a:t>
                </a:r>
                <a:r>
                  <a:rPr lang="en-US" altLang="zh-TW" sz="1200" b="0" i="0">
                    <a:latin typeface="Cambria Math" panose="02040503050406030204" pitchFamily="18" charset="0"/>
                  </a:rPr>
                  <a:t>_𝑘</a:t>
                </a:r>
                <a:r>
                  <a:rPr lang="en-US" altLang="zh-TW" sz="1200" b="0" i="0" baseline="-25000" dirty="0">
                    <a:latin typeface="Cambria Math" panose="02040503050406030204" pitchFamily="18" charset="0"/>
                  </a:rPr>
                  <a:t>▒</a:t>
                </a:r>
                <a:r>
                  <a:rPr lang="en-US" altLang="zh-TW" sz="1200" b="0" i="0" baseline="-25000">
                    <a:latin typeface="Cambria Math" panose="02040503050406030204" pitchFamily="18" charset="0"/>
                  </a:rPr>
                  <a:t>〖</a:t>
                </a:r>
                <a:r>
                  <a:rPr lang="en-US" altLang="zh-TW" sz="1200" b="0" i="0">
                    <a:latin typeface="Cambria Math" panose="02040503050406030204" pitchFamily="18" charset="0"/>
                  </a:rPr>
                  <a:t>𝑟 ⃡</a:t>
                </a:r>
                <a:r>
                  <a:rPr lang="zh-TW" altLang="en-US" sz="1200" b="0" i="0">
                    <a:latin typeface="Cambria Math" panose="02040503050406030204" pitchFamily="18" charset="0"/>
                  </a:rPr>
                  <a:t> </a:t>
                </a:r>
                <a:r>
                  <a:rPr lang="zh-TW" altLang="en-US" sz="1200" i="0">
                    <a:latin typeface="Cambria Math" panose="02040503050406030204" pitchFamily="18" charset="0"/>
                  </a:rPr>
                  <a:t> </a:t>
                </a:r>
                <a:r>
                  <a:rPr lang="en-US" altLang="zh-TW" sz="1200" i="0" baseline="-25000" dirty="0">
                    <a:latin typeface="Cambria Math" panose="02040503050406030204" pitchFamily="18" charset="0"/>
                  </a:rPr>
                  <a:t>"</a:t>
                </a:r>
                <a:r>
                  <a:rPr lang="en-US" altLang="zh-TW" sz="1200" i="0" baseline="-25000" dirty="0"/>
                  <a:t>ij</a:t>
                </a:r>
                <a:r>
                  <a:rPr lang="en-US" altLang="zh-TW" sz="1200" b="0" i="0" baseline="-25000" dirty="0"/>
                  <a:t>k</a:t>
                </a:r>
                <a:r>
                  <a:rPr lang="en-US" altLang="zh-TW" sz="1200" b="0" i="0" baseline="-25000" dirty="0">
                    <a:latin typeface="Cambria Math" panose="02040503050406030204" pitchFamily="18" charset="0"/>
                  </a:rPr>
                  <a:t>" </a:t>
                </a:r>
                <a:r>
                  <a:rPr lang="en-US" altLang="zh-TW" sz="1200" b="0" i="0" baseline="-25000">
                    <a:latin typeface="Cambria Math" panose="02040503050406030204" pitchFamily="18" charset="0"/>
                  </a:rPr>
                  <a:t>〗</a:t>
                </a:r>
                <a:r>
                  <a:rPr lang="en-US" altLang="zh-TW" sz="1200" dirty="0"/>
                  <a:t>E</a:t>
                </a:r>
                <a:r>
                  <a:rPr lang="en-US" altLang="zh-TW" sz="1200" baseline="-25000" dirty="0"/>
                  <a:t>k</a:t>
                </a:r>
                <a:r>
                  <a:rPr lang="en-US" altLang="zh-TW" sz="1200" dirty="0"/>
                  <a:t> + </a:t>
                </a:r>
                <a:r>
                  <a:rPr lang="en-US" altLang="zh-TW" sz="1200" i="0">
                    <a:latin typeface="Cambria Math" panose="02040503050406030204" pitchFamily="18" charset="0"/>
                  </a:rPr>
                  <a:t>∑2</a:t>
                </a:r>
                <a:r>
                  <a:rPr lang="en-US" altLang="zh-TW" sz="1200" b="0" i="0">
                    <a:latin typeface="Cambria Math" panose="02040503050406030204" pitchFamily="18" charset="0"/>
                  </a:rPr>
                  <a:t>_</a:t>
                </a:r>
                <a:r>
                  <a:rPr lang="en-US" altLang="zh-TW" sz="1200" i="0">
                    <a:latin typeface="Cambria Math" panose="02040503050406030204" pitchFamily="18" charset="0"/>
                  </a:rPr>
                  <a:t>𝑘</a:t>
                </a:r>
                <a:r>
                  <a:rPr lang="en-US" altLang="zh-TW" sz="1200" b="0" i="0">
                    <a:latin typeface="Cambria Math" panose="02040503050406030204" pitchFamily="18" charset="0"/>
                  </a:rPr>
                  <a:t>𝑙</a:t>
                </a:r>
                <a:r>
                  <a:rPr lang="en-US" altLang="zh-TW" sz="1200" b="0" i="0" baseline="-25000" dirty="0">
                    <a:latin typeface="Cambria Math" panose="02040503050406030204" pitchFamily="18" charset="0"/>
                  </a:rPr>
                  <a:t>▒</a:t>
                </a:r>
                <a:r>
                  <a:rPr lang="en-US" altLang="zh-TW" sz="1200" b="0" i="0" baseline="-25000">
                    <a:latin typeface="Cambria Math" panose="02040503050406030204" pitchFamily="18" charset="0"/>
                  </a:rPr>
                  <a:t>〖</a:t>
                </a:r>
                <a:r>
                  <a:rPr lang="el-GR" altLang="zh-TW" sz="1200" i="0">
                    <a:latin typeface="Cambria Math" panose="02040503050406030204" pitchFamily="18" charset="0"/>
                  </a:rPr>
                  <a:t>ς</a:t>
                </a:r>
                <a:r>
                  <a:rPr lang="en-US" altLang="zh-TW" sz="1200" i="0">
                    <a:latin typeface="Cambria Math" panose="02040503050406030204" pitchFamily="18" charset="0"/>
                  </a:rPr>
                  <a:t> ⃡</a:t>
                </a:r>
                <a:r>
                  <a:rPr lang="en-US" altLang="zh-TW" sz="1200" i="0" baseline="-25000" dirty="0">
                    <a:latin typeface="Cambria Math" panose="02040503050406030204" pitchFamily="18" charset="0"/>
                  </a:rPr>
                  <a:t>"</a:t>
                </a:r>
                <a:r>
                  <a:rPr lang="en-US" altLang="zh-TW" sz="1200" i="0" baseline="-25000" dirty="0"/>
                  <a:t>ijk</a:t>
                </a:r>
                <a:r>
                  <a:rPr lang="en-US" altLang="zh-TW" sz="1200" i="0" baseline="-25000" dirty="0">
                    <a:latin typeface="Cambria Math" panose="02040503050406030204" pitchFamily="18" charset="0"/>
                  </a:rPr>
                  <a:t>" </a:t>
                </a:r>
                <a:r>
                  <a:rPr lang="en-US" altLang="zh-TW" sz="1200" i="0" baseline="-25000">
                    <a:latin typeface="Cambria Math" panose="02040503050406030204" pitchFamily="18" charset="0"/>
                  </a:rPr>
                  <a:t>〗</a:t>
                </a:r>
                <a:r>
                  <a:rPr lang="en-US" altLang="zh-TW" sz="1200" dirty="0"/>
                  <a:t>E</a:t>
                </a:r>
                <a:r>
                  <a:rPr lang="en-US" altLang="zh-TW" sz="1200" baseline="-25000" dirty="0"/>
                  <a:t>k</a:t>
                </a:r>
                <a:r>
                  <a:rPr lang="en-US" altLang="zh-TW" sz="1200" dirty="0"/>
                  <a:t>E</a:t>
                </a:r>
                <a:r>
                  <a:rPr lang="en-US" altLang="zh-TW" sz="1200" i="0" baseline="-25000">
                    <a:latin typeface="Cambria Math" panose="02040503050406030204" pitchFamily="18" charset="0"/>
                  </a:rPr>
                  <a:t>𝑙</a:t>
                </a:r>
                <a:endParaRPr lang="en-US" altLang="zh-TW" sz="1200" baseline="-25000" dirty="0"/>
              </a:p>
              <a:p>
                <a:pPr marL="0" indent="0">
                  <a:buNone/>
                </a:pPr>
                <a:r>
                  <a:rPr lang="en-US" altLang="zh-TW" sz="1200" b="0" i="0">
                    <a:latin typeface="Cambria Math" panose="02040503050406030204" pitchFamily="18" charset="0"/>
                  </a:rPr>
                  <a:t>𝑟 ⃡</a:t>
                </a:r>
                <a:r>
                  <a:rPr lang="zh-TW" altLang="en-US" sz="1200" b="0" i="0">
                    <a:latin typeface="Cambria Math" panose="02040503050406030204" pitchFamily="18" charset="0"/>
                  </a:rPr>
                  <a:t> </a:t>
                </a:r>
                <a:r>
                  <a:rPr lang="zh-TW" altLang="en-US" sz="1200" i="0">
                    <a:latin typeface="Cambria Math" panose="02040503050406030204" pitchFamily="18" charset="0"/>
                  </a:rPr>
                  <a:t> </a:t>
                </a:r>
                <a:r>
                  <a:rPr lang="en-US" altLang="zh-TW" sz="1200" i="0" baseline="-25000" dirty="0">
                    <a:latin typeface="Cambria Math" panose="02040503050406030204" pitchFamily="18" charset="0"/>
                  </a:rPr>
                  <a:t>"ij</a:t>
                </a:r>
                <a:r>
                  <a:rPr lang="en-US" altLang="zh-TW" sz="1200" b="0" i="0" baseline="-25000" dirty="0">
                    <a:latin typeface="Cambria Math" panose="02040503050406030204" pitchFamily="18" charset="0"/>
                  </a:rPr>
                  <a:t>k</a:t>
                </a:r>
                <a:r>
                  <a:rPr lang="zh-TW" altLang="en-US" sz="1200" b="0" i="0" baseline="-25000" dirty="0"/>
                  <a:t>"</a:t>
                </a:r>
                <a:r>
                  <a:rPr lang="zh-TW" altLang="en-US" sz="1200" dirty="0"/>
                  <a:t>為第一階線性</a:t>
                </a:r>
                <a:r>
                  <a:rPr lang="en-US" altLang="zh-TW" sz="1200" dirty="0"/>
                  <a:t>(Pockels effect)</a:t>
                </a:r>
                <a:r>
                  <a:rPr lang="zh-TW" altLang="en-US" sz="1200" dirty="0"/>
                  <a:t>的電光係數，而</a:t>
                </a:r>
                <a:r>
                  <a:rPr lang="en-US" altLang="zh-TW" sz="1200" dirty="0"/>
                  <a:t> </a:t>
                </a:r>
                <a:r>
                  <a:rPr lang="el-GR" altLang="zh-TW" sz="1200" i="0">
                    <a:latin typeface="Cambria Math" panose="02040503050406030204" pitchFamily="18" charset="0"/>
                  </a:rPr>
                  <a:t>ς</a:t>
                </a:r>
                <a:r>
                  <a:rPr lang="en-US" altLang="zh-TW" sz="1200" i="0">
                    <a:latin typeface="Cambria Math" panose="02040503050406030204" pitchFamily="18" charset="0"/>
                  </a:rPr>
                  <a:t> ⃡</a:t>
                </a:r>
                <a:r>
                  <a:rPr lang="en-US" altLang="zh-TW" sz="1200" i="0" baseline="-25000" dirty="0">
                    <a:latin typeface="Cambria Math" panose="02040503050406030204" pitchFamily="18" charset="0"/>
                  </a:rPr>
                  <a:t>"ijk</a:t>
                </a:r>
                <a:r>
                  <a:rPr lang="zh-TW" altLang="en-US" sz="1200" i="0" baseline="-25000" dirty="0"/>
                  <a:t>"</a:t>
                </a:r>
                <a:r>
                  <a:rPr lang="zh-TW" altLang="en-US" sz="1200" dirty="0"/>
                  <a:t>為第二階</a:t>
                </a:r>
                <a:r>
                  <a:rPr lang="en-US" altLang="zh-TW" sz="1200" dirty="0"/>
                  <a:t>(Kerr effect)</a:t>
                </a:r>
                <a:r>
                  <a:rPr lang="zh-TW" altLang="en-US" sz="1200" dirty="0"/>
                  <a:t>的電光係數，因為第二階電光係數遠小於第一階的電光係數，所以我們可以忽略第二階，所以我們可以將反介電張量式子表示成</a:t>
                </a:r>
                <a:endParaRPr lang="en-US" altLang="zh-TW" sz="1200" dirty="0"/>
              </a:p>
              <a:p>
                <a:pPr marL="0" indent="0">
                  <a:buNone/>
                </a:pPr>
                <a:r>
                  <a:rPr lang="zh-TW" altLang="en-US" sz="1200" dirty="0"/>
                  <a:t>鋰酸鈮其一階線性電光係數張量為</a:t>
                </a:r>
                <a:r>
                  <a:rPr lang="en-US" altLang="zh-TW" sz="120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i="0">
                    <a:latin typeface="Cambria Math" panose="02040503050406030204" pitchFamily="18" charset="0"/>
                  </a:rPr>
                  <a:t>𝑟 ⃡</a:t>
                </a:r>
                <a:r>
                  <a:rPr lang="zh-TW" altLang="en-US" sz="1200" b="0" i="0">
                    <a:latin typeface="Cambria Math" panose="02040503050406030204" pitchFamily="18" charset="0"/>
                  </a:rPr>
                  <a:t> </a:t>
                </a:r>
                <a:r>
                  <a:rPr lang="zh-TW" altLang="en-US" sz="1200" i="0">
                    <a:latin typeface="Cambria Math" panose="02040503050406030204" pitchFamily="18" charset="0"/>
                  </a:rPr>
                  <a:t> </a:t>
                </a:r>
                <a:r>
                  <a:rPr lang="en-US" altLang="zh-TW" sz="1200" i="0" baseline="-25000" dirty="0">
                    <a:latin typeface="Cambria Math" panose="02040503050406030204" pitchFamily="18" charset="0"/>
                  </a:rPr>
                  <a:t>"ij</a:t>
                </a:r>
                <a:r>
                  <a:rPr lang="en-US" altLang="zh-TW" sz="1200" b="0" i="0" baseline="-25000" dirty="0">
                    <a:latin typeface="Cambria Math" panose="02040503050406030204" pitchFamily="18" charset="0"/>
                  </a:rPr>
                  <a:t>k</a:t>
                </a:r>
                <a:r>
                  <a:rPr lang="zh-TW" altLang="en-US" sz="1200" b="0" i="0" baseline="-25000" dirty="0"/>
                  <a:t>"</a:t>
                </a:r>
                <a:r>
                  <a:rPr lang="zh-TW" altLang="en-US" sz="1200" dirty="0"/>
                  <a:t> </a:t>
                </a:r>
                <a:r>
                  <a:rPr lang="en-US" altLang="zh-TW" sz="1200" dirty="0"/>
                  <a:t>=</a:t>
                </a:r>
                <a:r>
                  <a:rPr lang="zh-TW" altLang="en-US" sz="1200" dirty="0"/>
                  <a:t> </a:t>
                </a:r>
                <a:r>
                  <a:rPr lang="en-US" altLang="zh-TW" sz="1200" i="0">
                    <a:latin typeface="Cambria Math" panose="02040503050406030204" pitchFamily="18" charset="0"/>
                  </a:rPr>
                  <a:t>[■8(■8(</a:t>
                </a:r>
                <a:r>
                  <a:rPr lang="en-US" altLang="zh-TW" sz="1200" b="0" i="0">
                    <a:latin typeface="Cambria Math" panose="02040503050406030204" pitchFamily="18" charset="0"/>
                  </a:rPr>
                  <a:t>      </a:t>
                </a:r>
                <a:r>
                  <a:rPr lang="en-US" altLang="zh-TW" sz="1200" i="0">
                    <a:latin typeface="Cambria Math" panose="02040503050406030204" pitchFamily="18" charset="0"/>
                  </a:rPr>
                  <a:t>0&amp;</a:t>
                </a:r>
                <a:r>
                  <a:rPr lang="en-US" altLang="zh-TW" sz="1200" b="0" i="0">
                    <a:latin typeface="Cambria Math" panose="02040503050406030204" pitchFamily="18" charset="0"/>
                  </a:rPr>
                  <a:t>−𝑟</a:t>
                </a:r>
                <a:r>
                  <a:rPr lang="en-US" altLang="zh-TW" sz="1200" b="0" i="0" baseline="-25000">
                    <a:latin typeface="Cambria Math" panose="02040503050406030204" pitchFamily="18" charset="0"/>
                  </a:rPr>
                  <a:t>22&amp;</a:t>
                </a:r>
                <a:r>
                  <a:rPr lang="en-US" altLang="zh-TW" sz="1200" b="0" i="0">
                    <a:latin typeface="Cambria Math" panose="02040503050406030204" pitchFamily="18" charset="0"/>
                  </a:rPr>
                  <a:t>𝑟</a:t>
                </a:r>
                <a:r>
                  <a:rPr lang="en-US" altLang="zh-TW" sz="1200" b="0" i="0" baseline="-25000">
                    <a:latin typeface="Cambria Math" panose="02040503050406030204" pitchFamily="18" charset="0"/>
                  </a:rPr>
                  <a:t>33@</a:t>
                </a:r>
                <a:r>
                  <a:rPr lang="en-US" altLang="zh-TW" sz="1200" b="0" i="0">
                    <a:latin typeface="Cambria Math" panose="02040503050406030204" pitchFamily="18" charset="0"/>
                  </a:rPr>
                  <a:t>      </a:t>
                </a:r>
                <a:r>
                  <a:rPr lang="en-US" altLang="zh-TW" sz="1200" i="0">
                    <a:latin typeface="Cambria Math" panose="02040503050406030204" pitchFamily="18" charset="0"/>
                  </a:rPr>
                  <a:t>0&amp;</a:t>
                </a:r>
                <a:r>
                  <a:rPr lang="en-US" altLang="zh-TW" sz="1200" b="0" i="0">
                    <a:latin typeface="Cambria Math" panose="02040503050406030204" pitchFamily="18" charset="0"/>
                  </a:rPr>
                  <a:t>𝑟</a:t>
                </a:r>
                <a:r>
                  <a:rPr lang="en-US" altLang="zh-TW" sz="1200" b="0" i="0" baseline="-25000">
                    <a:latin typeface="Cambria Math" panose="02040503050406030204" pitchFamily="18" charset="0"/>
                  </a:rPr>
                  <a:t>22&amp;</a:t>
                </a:r>
                <a:r>
                  <a:rPr lang="en-US" altLang="zh-TW" sz="1200" b="0" i="0">
                    <a:latin typeface="Cambria Math" panose="02040503050406030204" pitchFamily="18" charset="0"/>
                  </a:rPr>
                  <a:t>𝑟</a:t>
                </a:r>
                <a:r>
                  <a:rPr lang="en-US" altLang="zh-TW" sz="1200" b="0" i="0" baseline="-25000">
                    <a:latin typeface="Cambria Math" panose="02040503050406030204" pitchFamily="18" charset="0"/>
                  </a:rPr>
                  <a:t>13@</a:t>
                </a:r>
                <a:r>
                  <a:rPr lang="en-US" altLang="zh-TW" sz="1200" b="0" i="0">
                    <a:latin typeface="Cambria Math" panose="02040503050406030204" pitchFamily="18" charset="0"/>
                  </a:rPr>
                  <a:t>      </a:t>
                </a:r>
                <a:r>
                  <a:rPr lang="en-US" altLang="zh-TW" sz="1200" i="0">
                    <a:latin typeface="Cambria Math" panose="02040503050406030204" pitchFamily="18" charset="0"/>
                  </a:rPr>
                  <a:t>0&amp;0&amp;</a:t>
                </a:r>
                <a:r>
                  <a:rPr lang="en-US" altLang="zh-TW" sz="1200" b="0" i="0">
                    <a:latin typeface="Cambria Math" panose="02040503050406030204" pitchFamily="18" charset="0"/>
                  </a:rPr>
                  <a:t>𝑟</a:t>
                </a:r>
                <a:r>
                  <a:rPr lang="en-US" altLang="zh-TW" sz="1200" b="0" i="0" baseline="-25000">
                    <a:latin typeface="Cambria Math" panose="02040503050406030204" pitchFamily="18" charset="0"/>
                  </a:rPr>
                  <a:t>33)@■8(</a:t>
                </a:r>
                <a:r>
                  <a:rPr lang="en-US" altLang="zh-TW" sz="1200" i="0">
                    <a:latin typeface="Cambria Math" panose="02040503050406030204" pitchFamily="18" charset="0"/>
                  </a:rPr>
                  <a:t>0&amp;</a:t>
                </a:r>
                <a:r>
                  <a:rPr lang="en-US" altLang="zh-TW" sz="1200" b="0" i="0">
                    <a:latin typeface="Cambria Math" panose="02040503050406030204" pitchFamily="18" charset="0"/>
                  </a:rPr>
                  <a:t>𝑟</a:t>
                </a:r>
                <a:r>
                  <a:rPr lang="en-US" altLang="zh-TW" sz="1200" b="0" i="0" baseline="-25000">
                    <a:latin typeface="Cambria Math" panose="02040503050406030204" pitchFamily="18" charset="0"/>
                  </a:rPr>
                  <a:t>51&amp;</a:t>
                </a:r>
                <a:r>
                  <a:rPr lang="en-US" altLang="zh-TW" sz="1200" i="0">
                    <a:latin typeface="Cambria Math" panose="02040503050406030204" pitchFamily="18" charset="0"/>
                  </a:rPr>
                  <a:t>0@</a:t>
                </a:r>
                <a:r>
                  <a:rPr lang="en-US" altLang="zh-TW" sz="1200" b="0" i="0">
                    <a:latin typeface="Cambria Math" panose="02040503050406030204" pitchFamily="18" charset="0"/>
                  </a:rPr>
                  <a:t>𝑟</a:t>
                </a:r>
                <a:r>
                  <a:rPr lang="en-US" altLang="zh-TW" sz="1200" b="0" i="0" baseline="-25000">
                    <a:latin typeface="Cambria Math" panose="02040503050406030204" pitchFamily="18" charset="0"/>
                  </a:rPr>
                  <a:t>51&amp;</a:t>
                </a:r>
                <a:r>
                  <a:rPr lang="en-US" altLang="zh-TW" sz="1200" i="0">
                    <a:latin typeface="Cambria Math" panose="02040503050406030204" pitchFamily="18" charset="0"/>
                  </a:rPr>
                  <a:t>0&amp;0@</a:t>
                </a:r>
                <a:r>
                  <a:rPr lang="en-US" altLang="zh-TW" sz="1200" b="0" i="0">
                    <a:latin typeface="Cambria Math" panose="02040503050406030204" pitchFamily="18" charset="0"/>
                  </a:rPr>
                  <a:t>−𝑟</a:t>
                </a:r>
                <a:r>
                  <a:rPr lang="en-US" altLang="zh-TW" sz="1200" b="0" i="0" baseline="-25000">
                    <a:latin typeface="Cambria Math" panose="02040503050406030204" pitchFamily="18" charset="0"/>
                  </a:rPr>
                  <a:t>22&amp;</a:t>
                </a:r>
                <a:r>
                  <a:rPr lang="en-US" altLang="zh-TW" sz="1200" i="0">
                    <a:latin typeface="Cambria Math" panose="02040503050406030204" pitchFamily="18" charset="0"/>
                  </a:rPr>
                  <a:t>0&amp;0))]</a:t>
                </a:r>
                <a:r>
                  <a:rPr lang="zh-TW" altLang="en-US" sz="1200" i="0">
                    <a:latin typeface="Cambria Math" panose="02040503050406030204" pitchFamily="18" charset="0"/>
                  </a:rPr>
                  <a:t>𝞰</a:t>
                </a:r>
                <a:r>
                  <a:rPr lang="en-US" altLang="zh-TW" sz="1200" baseline="-25000" dirty="0" err="1"/>
                  <a:t>ij</a:t>
                </a:r>
                <a:r>
                  <a:rPr lang="en-US" altLang="zh-TW" sz="1200" dirty="0"/>
                  <a:t>(0) =</a:t>
                </a:r>
                <a:r>
                  <a:rPr lang="en-US" altLang="zh-TW" sz="1200" i="0">
                    <a:latin typeface="Cambria Math" panose="02040503050406030204" pitchFamily="18" charset="0"/>
                  </a:rPr>
                  <a:t>⌈■8(</a:t>
                </a:r>
                <a:r>
                  <a:rPr lang="en-US" altLang="zh-TW" sz="1200" b="0" i="0">
                    <a:latin typeface="Cambria Math" panose="02040503050406030204" pitchFamily="18" charset="0"/>
                  </a:rPr>
                  <a:t>1/(𝑛_𝑜^2 )&amp;0&amp;0@0&amp;</a:t>
                </a:r>
                <a:r>
                  <a:rPr lang="en-US" altLang="zh-TW" sz="1200" i="0">
                    <a:latin typeface="Cambria Math" panose="02040503050406030204" pitchFamily="18" charset="0"/>
                  </a:rPr>
                  <a:t>1/(𝑛_𝑜^2 )&amp;</a:t>
                </a:r>
                <a:r>
                  <a:rPr lang="en-US" altLang="zh-TW" sz="1200" b="0" i="0">
                    <a:latin typeface="Cambria Math" panose="02040503050406030204" pitchFamily="18" charset="0"/>
                  </a:rPr>
                  <a:t>0@0&amp;0&amp;</a:t>
                </a:r>
                <a:r>
                  <a:rPr lang="en-US" altLang="zh-TW" sz="1200" i="0">
                    <a:latin typeface="Cambria Math" panose="02040503050406030204" pitchFamily="18" charset="0"/>
                  </a:rPr>
                  <a:t>1/(𝑛_</a:t>
                </a:r>
                <a:r>
                  <a:rPr lang="en-US" altLang="zh-TW" sz="1200" b="0" i="0">
                    <a:latin typeface="Cambria Math" panose="02040503050406030204" pitchFamily="18" charset="0"/>
                  </a:rPr>
                  <a:t>𝑒^</a:t>
                </a:r>
                <a:r>
                  <a:rPr lang="en-US" altLang="zh-TW" sz="1200" i="0">
                    <a:latin typeface="Cambria Math" panose="02040503050406030204" pitchFamily="18" charset="0"/>
                  </a:rPr>
                  <a:t>2 ))⌉</a:t>
                </a:r>
                <a:r>
                  <a:rPr lang="zh-TW" altLang="en-US" sz="1200" i="0">
                    <a:latin typeface="Cambria Math" panose="02040503050406030204" pitchFamily="18" charset="0"/>
                  </a:rPr>
                  <a:t>為</a:t>
                </a:r>
                <a:r>
                  <a:rPr lang="en-US" altLang="zh-TW" sz="1200" dirty="0">
                    <a:latin typeface="Times New Roman" panose="02020603050405020304" pitchFamily="18" charset="0"/>
                    <a:cs typeface="Times New Roman" panose="02020603050405020304" pitchFamily="18" charset="0"/>
                  </a:rPr>
                  <a:t>Impermeability tensor of negative uniaxial crystal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dirty="0">
                  <a:latin typeface="Times New Roman" panose="02020603050405020304" pitchFamily="18" charset="0"/>
                  <a:cs typeface="Times New Roman" panose="02020603050405020304" pitchFamily="18" charset="0"/>
                </a:endParaRPr>
              </a:p>
              <a:p>
                <a:pPr marL="0" indent="0">
                  <a:buNone/>
                </a:pPr>
                <a:r>
                  <a:rPr lang="zh-TW" altLang="en-US" sz="1200" dirty="0"/>
                  <a:t>由此我們得到施加</a:t>
                </a:r>
                <a:r>
                  <a:rPr lang="en-US" altLang="zh-TW" sz="1200" dirty="0"/>
                  <a:t>y</a:t>
                </a:r>
                <a:r>
                  <a:rPr lang="zh-TW" altLang="en-US" sz="1200" dirty="0"/>
                  <a:t>方向電場後其折射率橢球如下</a:t>
                </a:r>
                <a:r>
                  <a:rPr lang="en-US" altLang="zh-TW" sz="1200" dirty="0"/>
                  <a:t>:</a:t>
                </a:r>
              </a:p>
              <a:p>
                <a:pPr marL="0" indent="0">
                  <a:buNone/>
                </a:pPr>
                <a:r>
                  <a:rPr lang="en-US" altLang="zh-TW" sz="1200" dirty="0"/>
                  <a:t>(</a:t>
                </a:r>
                <a:r>
                  <a:rPr lang="en-US" altLang="zh-TW" sz="1200" i="0">
                    <a:latin typeface="Cambria Math" panose="02040503050406030204" pitchFamily="18" charset="0"/>
                  </a:rPr>
                  <a:t>1/(𝑛_𝑜^2 )−𝑟</a:t>
                </a:r>
                <a:r>
                  <a:rPr lang="en-US" altLang="zh-TW" sz="1200" i="0" baseline="-25000">
                    <a:latin typeface="Cambria Math" panose="02040503050406030204" pitchFamily="18" charset="0"/>
                  </a:rPr>
                  <a:t>22</a:t>
                </a:r>
                <a:r>
                  <a:rPr lang="en-US" altLang="zh-TW" sz="1200" i="0">
                    <a:latin typeface="Cambria Math" panose="02040503050406030204" pitchFamily="18" charset="0"/>
                  </a:rPr>
                  <a:t>E</a:t>
                </a:r>
                <a:r>
                  <a:rPr lang="en-US" altLang="zh-TW" sz="1200" i="0" baseline="-25000">
                    <a:latin typeface="Cambria Math" panose="02040503050406030204" pitchFamily="18" charset="0"/>
                  </a:rPr>
                  <a:t>𝑦</a:t>
                </a:r>
                <a:r>
                  <a:rPr lang="en-US" altLang="zh-TW" sz="1200" dirty="0"/>
                  <a:t>)</a:t>
                </a:r>
                <a:r>
                  <a:rPr lang="en-US" altLang="zh-TW" sz="1200" b="0" i="0" dirty="0">
                    <a:latin typeface="Cambria Math" panose="02040503050406030204" pitchFamily="18" charset="0"/>
                  </a:rPr>
                  <a:t>𝑥</a:t>
                </a:r>
                <a:r>
                  <a:rPr lang="en-US" altLang="zh-TW" sz="1200" b="0" i="0" baseline="30000" dirty="0">
                    <a:latin typeface="Cambria Math" panose="02040503050406030204" pitchFamily="18" charset="0"/>
                  </a:rPr>
                  <a:t>2</a:t>
                </a:r>
                <a:r>
                  <a:rPr lang="en-US" altLang="zh-TW" sz="1200" b="0" i="0" dirty="0">
                    <a:latin typeface="Cambria Math" panose="02040503050406030204" pitchFamily="18" charset="0"/>
                  </a:rPr>
                  <a:t>+(</a:t>
                </a:r>
                <a:r>
                  <a:rPr lang="en-US" altLang="zh-TW" sz="1200" i="0">
                    <a:latin typeface="Cambria Math" panose="02040503050406030204" pitchFamily="18" charset="0"/>
                  </a:rPr>
                  <a:t>1/(𝑛_𝑜^2 )+𝑟</a:t>
                </a:r>
                <a:r>
                  <a:rPr lang="en-US" altLang="zh-TW" sz="1200" i="0" baseline="-25000">
                    <a:latin typeface="Cambria Math" panose="02040503050406030204" pitchFamily="18" charset="0"/>
                  </a:rPr>
                  <a:t>22</a:t>
                </a:r>
                <a:r>
                  <a:rPr lang="en-US" altLang="zh-TW" sz="1200" i="0">
                    <a:latin typeface="Cambria Math" panose="02040503050406030204" pitchFamily="18" charset="0"/>
                  </a:rPr>
                  <a:t>E</a:t>
                </a:r>
                <a:r>
                  <a:rPr lang="en-US" altLang="zh-TW" sz="1200" i="0" baseline="-25000">
                    <a:latin typeface="Cambria Math" panose="02040503050406030204" pitchFamily="18" charset="0"/>
                  </a:rPr>
                  <a:t>𝑦</a:t>
                </a:r>
                <a:r>
                  <a:rPr lang="en-US" altLang="zh-TW" sz="1200" dirty="0"/>
                  <a:t>)</a:t>
                </a:r>
                <a:r>
                  <a:rPr lang="en-US" altLang="zh-TW" sz="1200" b="0" i="0" dirty="0">
                    <a:latin typeface="Cambria Math" panose="02040503050406030204" pitchFamily="18" charset="0"/>
                  </a:rPr>
                  <a:t>𝑦</a:t>
                </a:r>
                <a:r>
                  <a:rPr lang="en-US" altLang="zh-TW" sz="1200" b="0" i="0" baseline="30000" dirty="0">
                    <a:latin typeface="Cambria Math" panose="02040503050406030204" pitchFamily="18" charset="0"/>
                  </a:rPr>
                  <a:t>2</a:t>
                </a:r>
                <a:r>
                  <a:rPr lang="en-US" altLang="zh-TW" sz="1200" b="0" i="0" dirty="0">
                    <a:latin typeface="Cambria Math" panose="02040503050406030204" pitchFamily="18" charset="0"/>
                  </a:rPr>
                  <a:t>+(</a:t>
                </a:r>
                <a:r>
                  <a:rPr lang="en-US" altLang="zh-TW" sz="1200" i="0">
                    <a:latin typeface="Cambria Math" panose="02040503050406030204" pitchFamily="18" charset="0"/>
                  </a:rPr>
                  <a:t>1/(𝑛_𝑒^2 )</a:t>
                </a:r>
                <a:r>
                  <a:rPr lang="en-US" altLang="zh-TW" sz="1200" dirty="0"/>
                  <a:t>)</a:t>
                </a:r>
                <a:r>
                  <a:rPr lang="en-US" altLang="zh-TW" sz="1200" b="0" i="0" dirty="0">
                    <a:latin typeface="Cambria Math" panose="02040503050406030204" pitchFamily="18" charset="0"/>
                  </a:rPr>
                  <a:t>𝑧</a:t>
                </a:r>
                <a:r>
                  <a:rPr lang="en-US" altLang="zh-TW" sz="1200" b="0" i="0" baseline="30000" dirty="0">
                    <a:latin typeface="Cambria Math" panose="02040503050406030204" pitchFamily="18" charset="0"/>
                  </a:rPr>
                  <a:t>2</a:t>
                </a:r>
                <a:r>
                  <a:rPr lang="en-US" altLang="zh-TW" sz="1200" b="0" i="0" dirty="0">
                    <a:latin typeface="Cambria Math" panose="02040503050406030204" pitchFamily="18" charset="0"/>
                  </a:rPr>
                  <a:t>+(2</a:t>
                </a:r>
                <a:r>
                  <a:rPr lang="en-US" altLang="zh-TW" sz="1200" i="0">
                    <a:latin typeface="Cambria Math" panose="02040503050406030204" pitchFamily="18" charset="0"/>
                  </a:rPr>
                  <a:t>𝑟</a:t>
                </a:r>
                <a:r>
                  <a:rPr lang="en-US" altLang="zh-TW" sz="1200" i="0" baseline="-25000">
                    <a:latin typeface="Cambria Math" panose="02040503050406030204" pitchFamily="18" charset="0"/>
                  </a:rPr>
                  <a:t>51</a:t>
                </a:r>
                <a:r>
                  <a:rPr lang="en-US" altLang="zh-TW" sz="1200" i="0">
                    <a:latin typeface="Cambria Math" panose="02040503050406030204" pitchFamily="18" charset="0"/>
                  </a:rPr>
                  <a:t>𝐸</a:t>
                </a:r>
                <a:r>
                  <a:rPr lang="en-US" altLang="zh-TW" sz="1200" i="0" baseline="-25000">
                    <a:latin typeface="Cambria Math" panose="02040503050406030204" pitchFamily="18" charset="0"/>
                  </a:rPr>
                  <a:t>𝑦</a:t>
                </a:r>
                <a:r>
                  <a:rPr lang="en-US" altLang="zh-TW" sz="1200" b="0" i="0">
                    <a:latin typeface="Cambria Math" panose="02040503050406030204" pitchFamily="18" charset="0"/>
                  </a:rPr>
                  <a:t>)</a:t>
                </a:r>
                <a:r>
                  <a:rPr lang="en-US" altLang="zh-TW" sz="1200" b="0" i="0" dirty="0">
                    <a:latin typeface="Cambria Math" panose="02040503050406030204" pitchFamily="18" charset="0"/>
                  </a:rPr>
                  <a:t>𝑦𝑧</a:t>
                </a:r>
                <a:r>
                  <a:rPr lang="en-US" altLang="zh-TW" sz="1200" dirty="0"/>
                  <a:t> = 1</a:t>
                </a:r>
              </a:p>
              <a:p>
                <a:pPr marL="0" indent="0">
                  <a:buNone/>
                </a:pPr>
                <a:r>
                  <a:rPr lang="zh-TW" altLang="en-US" sz="1200" dirty="0"/>
                  <a:t>因折射率橢球多出一項光軸璇轉項</a:t>
                </a:r>
                <a:r>
                  <a:rPr lang="en-US" altLang="zh-TW" sz="1200" b="0" i="0" dirty="0">
                    <a:latin typeface="Cambria Math" panose="02040503050406030204" pitchFamily="18" charset="0"/>
                  </a:rPr>
                  <a:t>(2</a:t>
                </a:r>
                <a:r>
                  <a:rPr lang="en-US" altLang="zh-TW" sz="1200" i="0">
                    <a:latin typeface="Cambria Math" panose="02040503050406030204" pitchFamily="18" charset="0"/>
                  </a:rPr>
                  <a:t>𝑟</a:t>
                </a:r>
                <a:r>
                  <a:rPr lang="en-US" altLang="zh-TW" sz="1200" i="0" baseline="-25000">
                    <a:latin typeface="Cambria Math" panose="02040503050406030204" pitchFamily="18" charset="0"/>
                  </a:rPr>
                  <a:t>51</a:t>
                </a:r>
                <a:r>
                  <a:rPr lang="en-US" altLang="zh-TW" sz="1200" i="0">
                    <a:latin typeface="Cambria Math" panose="02040503050406030204" pitchFamily="18" charset="0"/>
                  </a:rPr>
                  <a:t>𝐸</a:t>
                </a:r>
                <a:r>
                  <a:rPr lang="en-US" altLang="zh-TW" sz="1200" i="0" baseline="-25000">
                    <a:latin typeface="Cambria Math" panose="02040503050406030204" pitchFamily="18" charset="0"/>
                  </a:rPr>
                  <a:t>𝑦</a:t>
                </a:r>
                <a:r>
                  <a:rPr lang="en-US" altLang="zh-TW" sz="1200" b="0" i="0">
                    <a:latin typeface="Cambria Math" panose="02040503050406030204" pitchFamily="18" charset="0"/>
                  </a:rPr>
                  <a:t>)</a:t>
                </a:r>
                <a:r>
                  <a:rPr lang="en-US" altLang="zh-TW" sz="1200" b="0" i="0" dirty="0">
                    <a:latin typeface="Cambria Math" panose="02040503050406030204" pitchFamily="18" charset="0"/>
                  </a:rPr>
                  <a:t>𝑦𝑧</a:t>
                </a:r>
                <a:r>
                  <a:rPr lang="zh-TW" altLang="en-US" sz="1200" i="0" dirty="0">
                    <a:latin typeface="Cambria Math" panose="02040503050406030204" pitchFamily="18" charset="0"/>
                  </a:rPr>
                  <a:t>，所以我們沿</a:t>
                </a:r>
                <a:r>
                  <a:rPr lang="en-US" altLang="zh-TW" sz="1200" b="0" i="0" dirty="0">
                    <a:latin typeface="Cambria Math" panose="02040503050406030204" pitchFamily="18" charset="0"/>
                  </a:rPr>
                  <a:t>𝑦𝑧</a:t>
                </a:r>
                <a:r>
                  <a:rPr lang="zh-TW" altLang="en-US" sz="1200" i="0" dirty="0">
                    <a:latin typeface="Cambria Math" panose="02040503050406030204" pitchFamily="18" charset="0"/>
                  </a:rPr>
                  <a:t>平面旋轉光軸</a:t>
                </a:r>
                <a:r>
                  <a:rPr lang="zh-TW" altLang="en-US" sz="1200" dirty="0"/>
                  <a:t>一角度</a:t>
                </a:r>
                <a:r>
                  <a:rPr lang="zh-TW" altLang="en-US" sz="1200" i="0">
                    <a:latin typeface="Cambria Math" panose="02040503050406030204" pitchFamily="18" charset="0"/>
                  </a:rPr>
                  <a:t>𝜃</a:t>
                </a:r>
                <a:r>
                  <a:rPr lang="zh-TW" altLang="en-US" sz="1200" dirty="0"/>
                  <a:t>重新定義新的座標軸</a:t>
                </a:r>
                <a:r>
                  <a:rPr lang="en-US" altLang="zh-TW" sz="1200" dirty="0"/>
                  <a:t>:</a:t>
                </a:r>
              </a:p>
              <a:p>
                <a:pPr marL="0" indent="0">
                  <a:buNone/>
                </a:pPr>
                <a:r>
                  <a:rPr lang="en-US" altLang="zh-TW" sz="1200" i="0">
                    <a:latin typeface="Cambria Math" panose="02040503050406030204" pitchFamily="18" charset="0"/>
                  </a:rPr>
                  <a:t>[■8(</a:t>
                </a:r>
                <a:r>
                  <a:rPr lang="en-US" altLang="zh-TW" sz="1200" b="0" i="0">
                    <a:latin typeface="Cambria Math" panose="02040503050406030204" pitchFamily="18" charset="0"/>
                  </a:rPr>
                  <a:t>𝑦@𝑧)]</a:t>
                </a:r>
                <a:r>
                  <a:rPr lang="zh-TW" altLang="en-US" sz="1200" dirty="0"/>
                  <a:t> </a:t>
                </a:r>
                <a:r>
                  <a:rPr lang="en-US" altLang="zh-TW" sz="1200" dirty="0"/>
                  <a:t>=</a:t>
                </a:r>
                <a:r>
                  <a:rPr lang="zh-TW" altLang="en-US" sz="1200" dirty="0"/>
                  <a:t> </a:t>
                </a:r>
                <a:r>
                  <a:rPr lang="en-US" altLang="zh-TW" sz="1200" i="0">
                    <a:latin typeface="Cambria Math" panose="02040503050406030204" pitchFamily="18" charset="0"/>
                  </a:rPr>
                  <a:t>[■8(cos⁡</a:t>
                </a:r>
                <a:r>
                  <a:rPr lang="zh-TW" altLang="en-US" sz="1200" i="0">
                    <a:latin typeface="Cambria Math" panose="02040503050406030204" pitchFamily="18" charset="0"/>
                  </a:rPr>
                  <a:t>𝜃&amp;</a:t>
                </a:r>
                <a:r>
                  <a:rPr lang="en-US" altLang="zh-TW" sz="1200" b="0" i="0">
                    <a:latin typeface="Cambria Math" panose="02040503050406030204" pitchFamily="18" charset="0"/>
                  </a:rPr>
                  <a:t>−</a:t>
                </a:r>
                <a:r>
                  <a:rPr lang="en-US" altLang="zh-TW" sz="1200" i="0">
                    <a:latin typeface="Cambria Math" panose="02040503050406030204" pitchFamily="18" charset="0"/>
                  </a:rPr>
                  <a:t>sin⁡</a:t>
                </a:r>
                <a:r>
                  <a:rPr lang="zh-TW" altLang="en-US" sz="1200" i="0">
                    <a:latin typeface="Cambria Math" panose="02040503050406030204" pitchFamily="18" charset="0"/>
                  </a:rPr>
                  <a:t>𝜃@</a:t>
                </a:r>
                <a:r>
                  <a:rPr lang="en-US" altLang="zh-TW" sz="1200" i="0">
                    <a:latin typeface="Cambria Math" panose="02040503050406030204" pitchFamily="18" charset="0"/>
                  </a:rPr>
                  <a:t>sin⁡</a:t>
                </a:r>
                <a:r>
                  <a:rPr lang="zh-TW" altLang="en-US" sz="1200" i="0">
                    <a:latin typeface="Cambria Math" panose="02040503050406030204" pitchFamily="18" charset="0"/>
                  </a:rPr>
                  <a:t>𝜃&amp;</a:t>
                </a:r>
                <a:r>
                  <a:rPr lang="en-US" altLang="zh-TW" sz="1200" i="0">
                    <a:latin typeface="Cambria Math" panose="02040503050406030204" pitchFamily="18" charset="0"/>
                  </a:rPr>
                  <a:t>cos⁡</a:t>
                </a:r>
                <a:r>
                  <a:rPr lang="zh-TW" altLang="en-US" sz="1200" i="0">
                    <a:latin typeface="Cambria Math" panose="02040503050406030204" pitchFamily="18" charset="0"/>
                  </a:rPr>
                  <a:t>𝜃 )]</a:t>
                </a:r>
                <a:r>
                  <a:rPr lang="en-US" altLang="zh-TW" sz="1200" i="0">
                    <a:latin typeface="Cambria Math" panose="02040503050406030204" pitchFamily="18" charset="0"/>
                  </a:rPr>
                  <a:t>[■8(</a:t>
                </a:r>
                <a:r>
                  <a:rPr lang="en-US" altLang="zh-TW" sz="1200" b="0" i="0">
                    <a:latin typeface="Cambria Math" panose="02040503050406030204" pitchFamily="18" charset="0"/>
                  </a:rPr>
                  <a:t>𝑦′@𝑧′)]</a:t>
                </a:r>
                <a:endParaRPr lang="en-US" altLang="zh-TW"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1200" dirty="0">
                  <a:latin typeface="Times New Roman" panose="02020603050405020304" pitchFamily="18" charset="0"/>
                  <a:cs typeface="Times New Roman" panose="02020603050405020304" pitchFamily="18" charset="0"/>
                </a:endParaRPr>
              </a:p>
              <a:p>
                <a:pPr marL="0" indent="0">
                  <a:buNone/>
                </a:pPr>
                <a:endParaRPr lang="zh-TW" altLang="en-US" dirty="0"/>
              </a:p>
            </p:txBody>
          </p:sp>
        </mc:Fallback>
      </mc:AlternateContent>
      <p:sp>
        <p:nvSpPr>
          <p:cNvPr id="4" name="投影片編號版面配置區 3"/>
          <p:cNvSpPr>
            <a:spLocks noGrp="1"/>
          </p:cNvSpPr>
          <p:nvPr>
            <p:ph type="sldNum" sz="quarter" idx="5"/>
          </p:nvPr>
        </p:nvSpPr>
        <p:spPr/>
        <p:txBody>
          <a:bodyPr/>
          <a:lstStyle/>
          <a:p>
            <a:fld id="{7015F893-DC37-4D86-87E6-4581D5262153}" type="slidenum">
              <a:rPr lang="zh-TW" altLang="en-US" smtClean="0"/>
              <a:t>72</a:t>
            </a:fld>
            <a:endParaRPr lang="zh-TW" altLang="en-US"/>
          </a:p>
        </p:txBody>
      </p:sp>
    </p:spTree>
    <p:extLst>
      <p:ext uri="{BB962C8B-B14F-4D97-AF65-F5344CB8AC3E}">
        <p14:creationId xmlns:p14="http://schemas.microsoft.com/office/powerpoint/2010/main" val="249801975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基因演算法是通過模擬生物自然演化過程來尋找最佳解，在演算法中，每一個個體都是一個解，而複數個個體可以組成一群組，其中每個個體內都有不同的基因串，</a:t>
            </a:r>
            <a:r>
              <a:rPr lang="zh-TW" altLang="en-US" sz="1800" kern="0" dirty="0">
                <a:effectLst/>
                <a:latin typeface="Times New Roman" panose="02020603050405020304" pitchFamily="18" charset="0"/>
                <a:ea typeface="標楷體" panose="03000509000000000000" pitchFamily="65" charset="-120"/>
                <a:cs typeface="新細明體" panose="02020500000000000000" pitchFamily="18" charset="-120"/>
              </a:rPr>
              <a:t>所以在這邊我們即可利用交來</a:t>
            </a:r>
            <a:r>
              <a:rPr lang="zh-TW"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來改變最終解特性，在每代演化找到最佳解的過程中，我們會加入突變這個變數使演算法的解有隨機性，目的是為了避免初始定的族群被侷限在區域最佳解中，經過我們設定的演化世代數變化，每次都會先判斷其適應性，接著進行繁演使的適應度高的比適應度低的有更高的機率可以產生下一代，最後漸漸地向最佳解收斂。</a:t>
            </a:r>
            <a:endParaRPr lang="zh-TW" alt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p>
            <a:endParaRPr lang="zh-TW" altLang="en-US" dirty="0"/>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73</a:t>
            </a:fld>
            <a:endParaRPr lang="zh-TW" altLang="en-US"/>
          </a:p>
        </p:txBody>
      </p:sp>
    </p:spTree>
    <p:extLst>
      <p:ext uri="{BB962C8B-B14F-4D97-AF65-F5344CB8AC3E}">
        <p14:creationId xmlns:p14="http://schemas.microsoft.com/office/powerpoint/2010/main" val="397664257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zh-TW" altLang="en-US" dirty="0"/>
                  <a:t>當</a:t>
                </a:r>
                <a:r>
                  <a:rPr lang="en-US" altLang="zh-TW" dirty="0"/>
                  <a:t>TM</a:t>
                </a:r>
                <a:r>
                  <a:rPr lang="zh-TW" altLang="en-US" dirty="0"/>
                  <a:t>和</a:t>
                </a:r>
                <a:r>
                  <a:rPr lang="en-US" altLang="zh-TW" dirty="0"/>
                  <a:t>TE</a:t>
                </a:r>
                <a:r>
                  <a:rPr lang="zh-TW" altLang="en-US" dirty="0"/>
                  <a:t>的電池波場通過任意一塊單位晶疇時期可表示城這樣的式</a:t>
                </a:r>
                <a14:m>
                  <m:oMath xmlns:m="http://schemas.openxmlformats.org/officeDocument/2006/math">
                    <m:sSub>
                      <m:sSubPr>
                        <m:ctrlPr>
                          <a:rPr lang="zh-TW" altLang="zh-TW" sz="1200" i="1" kern="100"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𝑜</m:t>
                        </m:r>
                      </m:sub>
                    </m:sSub>
                    <m:d>
                      <m:dPr>
                        <m:ctrlPr>
                          <a:rPr lang="zh-TW" altLang="zh-TW" sz="12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+1</m:t>
                            </m:r>
                          </m:sub>
                        </m:sSub>
                      </m:e>
                    </m:d>
                  </m:oMath>
                </a14:m>
                <a:r>
                  <a:rPr lang="en-US" altLang="zh-TW" dirty="0"/>
                  <a:t>&amp;</a:t>
                </a:r>
                <a14:m>
                  <m:oMath xmlns:m="http://schemas.openxmlformats.org/officeDocument/2006/math">
                    <m:sSub>
                      <m:sSubPr>
                        <m:ctrlPr>
                          <a:rPr lang="zh-TW" altLang="zh-TW" sz="120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200" i="1">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200" i="1">
                            <a:latin typeface="Cambria Math" panose="02040503050406030204" pitchFamily="18" charset="0"/>
                            <a:ea typeface="標楷體" panose="03000509000000000000" pitchFamily="65" charset="-120"/>
                            <a:cs typeface="Times New Roman" panose="02020603050405020304" pitchFamily="18" charset="0"/>
                          </a:rPr>
                          <m:t>𝑒</m:t>
                        </m:r>
                      </m:sub>
                    </m:sSub>
                    <m:d>
                      <m:dPr>
                        <m:ctrlPr>
                          <a:rPr lang="zh-TW" altLang="zh-TW" sz="1200" i="1">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2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200" i="1">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200" i="1" smtClean="0">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200" i="1">
                                <a:latin typeface="Cambria Math" panose="02040503050406030204" pitchFamily="18" charset="0"/>
                                <a:ea typeface="標楷體" panose="03000509000000000000" pitchFamily="65" charset="-120"/>
                                <a:cs typeface="Times New Roman" panose="02020603050405020304" pitchFamily="18" charset="0"/>
                              </a:rPr>
                              <m:t>+1</m:t>
                            </m:r>
                          </m:sub>
                        </m:sSub>
                      </m:e>
                    </m:d>
                  </m:oMath>
                </a14:m>
                <a:endParaRPr lang="en-US" altLang="zh-TW" dirty="0"/>
              </a:p>
              <a:p>
                <a:r>
                  <a:rPr lang="zh-TW" altLang="en-US" dirty="0"/>
                  <a:t>所以當我們要設定在我們要設定我們需要轉換的中心波長其</a:t>
                </a:r>
                <a14:m>
                  <m:oMath xmlns:m="http://schemas.openxmlformats.org/officeDocument/2006/math">
                    <m:sSub>
                      <m:sSubPr>
                        <m:ctrlPr>
                          <a:rPr lang="zh-TW" altLang="zh-TW" i="1" kern="0" smtClean="0">
                            <a:effectLst/>
                            <a:latin typeface="Cambria Math" panose="02040503050406030204" pitchFamily="18" charset="0"/>
                            <a:ea typeface="Cambria Math" panose="02040503050406030204" pitchFamily="18" charset="0"/>
                            <a:cs typeface="新細明體" panose="02020500000000000000" pitchFamily="18" charset="-120"/>
                          </a:rPr>
                        </m:ctrlPr>
                      </m:sSubPr>
                      <m:e>
                        <m:r>
                          <a:rPr lang="en-US" altLang="zh-TW" sz="1200" i="1" kern="0">
                            <a:effectLst/>
                            <a:latin typeface="Cambria Math" panose="02040503050406030204" pitchFamily="18" charset="0"/>
                            <a:ea typeface="標楷體" panose="03000509000000000000" pitchFamily="65" charset="-120"/>
                            <a:cs typeface="新細明體" panose="02020500000000000000" pitchFamily="18" charset="-120"/>
                          </a:rPr>
                          <m:t>𝐴</m:t>
                        </m:r>
                      </m:e>
                      <m:sub>
                        <m:r>
                          <a:rPr lang="en-US" altLang="zh-TW" sz="1200" b="0" i="1" kern="0" smtClean="0">
                            <a:effectLst/>
                            <a:latin typeface="Cambria Math" panose="02040503050406030204" pitchFamily="18" charset="0"/>
                            <a:ea typeface="標楷體" panose="03000509000000000000" pitchFamily="65" charset="-120"/>
                            <a:cs typeface="新細明體" panose="02020500000000000000" pitchFamily="18" charset="-120"/>
                          </a:rPr>
                          <m:t>𝑒</m:t>
                        </m:r>
                      </m:sub>
                    </m:sSub>
                    <m:d>
                      <m:dPr>
                        <m:ctrlPr>
                          <a:rPr lang="zh-TW" altLang="zh-TW" i="1" kern="0">
                            <a:effectLst/>
                            <a:latin typeface="Cambria Math" panose="02040503050406030204" pitchFamily="18" charset="0"/>
                            <a:ea typeface="Cambria Math" panose="02040503050406030204" pitchFamily="18" charset="0"/>
                            <a:cs typeface="新細明體" panose="02020500000000000000" pitchFamily="18" charset="-120"/>
                          </a:rPr>
                        </m:ctrlPr>
                      </m:dPr>
                      <m:e>
                        <m:r>
                          <a:rPr lang="en-US" altLang="zh-TW" sz="1200" i="1" kern="0">
                            <a:effectLst/>
                            <a:latin typeface="Cambria Math" panose="02040503050406030204" pitchFamily="18" charset="0"/>
                            <a:ea typeface="標楷體" panose="03000509000000000000" pitchFamily="65" charset="-120"/>
                            <a:cs typeface="新細明體" panose="02020500000000000000" pitchFamily="18" charset="-120"/>
                          </a:rPr>
                          <m:t>0</m:t>
                        </m:r>
                      </m:e>
                    </m:d>
                    <m:r>
                      <a:rPr lang="zh-TW" altLang="en-US" sz="1200" i="1" kern="0">
                        <a:effectLst/>
                        <a:latin typeface="Cambria Math" panose="02040503050406030204" pitchFamily="18" charset="0"/>
                        <a:ea typeface="標楷體" panose="03000509000000000000" pitchFamily="65" charset="-120"/>
                        <a:cs typeface="新細明體" panose="02020500000000000000" pitchFamily="18" charset="-120"/>
                      </a:rPr>
                      <m:t>為</m:t>
                    </m:r>
                    <m:r>
                      <a:rPr lang="en-US" altLang="zh-TW" sz="1200" b="0" i="1" kern="0" smtClean="0">
                        <a:effectLst/>
                        <a:latin typeface="Cambria Math" panose="02040503050406030204" pitchFamily="18" charset="0"/>
                        <a:ea typeface="標楷體" panose="03000509000000000000" pitchFamily="65" charset="-120"/>
                        <a:cs typeface="新細明體" panose="02020500000000000000" pitchFamily="18" charset="-120"/>
                      </a:rPr>
                      <m:t>1</m:t>
                    </m:r>
                  </m:oMath>
                </a14:m>
                <a:r>
                  <a:rPr lang="en-US" altLang="zh-TW" sz="1200" kern="0" dirty="0">
                    <a:effectLst/>
                    <a:latin typeface="Times New Roman" panose="02020603050405020304" pitchFamily="18" charset="0"/>
                    <a:ea typeface="標楷體" panose="03000509000000000000" pitchFamily="65" charset="-120"/>
                    <a:cs typeface="新細明體" panose="02020500000000000000" pitchFamily="18" charset="-120"/>
                  </a:rPr>
                  <a:t>,</a:t>
                </a:r>
                <a:r>
                  <a:rPr lang="zh-TW" altLang="en-US" sz="1200" i="1" kern="0" dirty="0">
                    <a:effectLst/>
                    <a:latin typeface="Times New Roman" panose="02020603050405020304" pitchFamily="18" charset="0"/>
                    <a:ea typeface="標楷體" panose="03000509000000000000" pitchFamily="65" charset="-120"/>
                    <a:cs typeface="新細明體" panose="02020500000000000000" pitchFamily="18" charset="-120"/>
                  </a:rPr>
                  <a:t>代表初始入射純</a:t>
                </a:r>
                <a:r>
                  <a:rPr lang="en-US" altLang="zh-TW" sz="1200" i="1" kern="0" dirty="0">
                    <a:effectLst/>
                    <a:latin typeface="Times New Roman" panose="02020603050405020304" pitchFamily="18" charset="0"/>
                    <a:ea typeface="標楷體" panose="03000509000000000000" pitchFamily="65" charset="-120"/>
                    <a:cs typeface="新細明體" panose="02020500000000000000" pitchFamily="18" charset="-120"/>
                  </a:rPr>
                  <a:t>TM</a:t>
                </a:r>
                <a:r>
                  <a:rPr lang="zh-TW" altLang="en-US" sz="1200" i="1" kern="0" dirty="0">
                    <a:effectLst/>
                    <a:latin typeface="Times New Roman" panose="02020603050405020304" pitchFamily="18" charset="0"/>
                    <a:ea typeface="標楷體" panose="03000509000000000000" pitchFamily="65" charset="-120"/>
                    <a:cs typeface="新細明體" panose="02020500000000000000" pitchFamily="18" charset="-120"/>
                  </a:rPr>
                  <a:t>光所以</a:t>
                </a:r>
                <a:r>
                  <a:rPr lang="en-US" altLang="zh-TW" sz="1200" i="1" kern="0" dirty="0">
                    <a:effectLst/>
                    <a:latin typeface="Times New Roman" panose="02020603050405020304" pitchFamily="18" charset="0"/>
                    <a:ea typeface="標楷體" panose="03000509000000000000" pitchFamily="65" charset="-120"/>
                    <a:cs typeface="新細明體" panose="02020500000000000000" pitchFamily="18" charset="-120"/>
                  </a:rPr>
                  <a:t>TE</a:t>
                </a:r>
                <a:r>
                  <a:rPr lang="zh-TW" altLang="en-US" sz="1200" i="1" kern="0" dirty="0">
                    <a:effectLst/>
                    <a:latin typeface="Times New Roman" panose="02020603050405020304" pitchFamily="18" charset="0"/>
                    <a:ea typeface="標楷體" panose="03000509000000000000" pitchFamily="65" charset="-120"/>
                    <a:cs typeface="新細明體" panose="02020500000000000000" pitchFamily="18" charset="-120"/>
                  </a:rPr>
                  <a:t>光為</a:t>
                </a:r>
                <a:r>
                  <a:rPr lang="en-US" altLang="zh-TW" sz="1200" i="1" kern="0" dirty="0">
                    <a:effectLst/>
                    <a:latin typeface="Times New Roman" panose="02020603050405020304" pitchFamily="18" charset="0"/>
                    <a:ea typeface="標楷體" panose="03000509000000000000" pitchFamily="65" charset="-120"/>
                    <a:cs typeface="新細明體" panose="02020500000000000000" pitchFamily="18" charset="-120"/>
                  </a:rPr>
                  <a:t>0</a:t>
                </a:r>
                <a:r>
                  <a:rPr lang="zh-TW" altLang="en-US" sz="1200" i="1" kern="0" dirty="0">
                    <a:effectLst/>
                    <a:latin typeface="Times New Roman" panose="02020603050405020304" pitchFamily="18" charset="0"/>
                    <a:ea typeface="標楷體" panose="03000509000000000000" pitchFamily="65" charset="-120"/>
                    <a:cs typeface="新細明體" panose="02020500000000000000" pitchFamily="18" charset="-120"/>
                  </a:rPr>
                  <a:t>，所以當光通過整塊晶疇後，</a:t>
                </a:r>
                <a:endParaRPr lang="en-US" altLang="zh-TW" sz="1200" i="1" kern="0" dirty="0">
                  <a:effectLst/>
                  <a:latin typeface="Times New Roman" panose="02020603050405020304" pitchFamily="18" charset="0"/>
                  <a:ea typeface="標楷體" panose="03000509000000000000" pitchFamily="65" charset="-120"/>
                  <a:cs typeface="新細明體" panose="02020500000000000000" pitchFamily="18" charset="-120"/>
                </a:endParaRPr>
              </a:p>
              <a:p>
                <a:r>
                  <a:rPr lang="zh-TW" altLang="en-US" sz="1200" i="1" kern="0" dirty="0">
                    <a:effectLst/>
                    <a:latin typeface="Times New Roman" panose="02020603050405020304" pitchFamily="18" charset="0"/>
                    <a:ea typeface="標楷體" panose="03000509000000000000" pitchFamily="65" charset="-120"/>
                    <a:cs typeface="新細明體" panose="02020500000000000000" pitchFamily="18" charset="-120"/>
                  </a:rPr>
                  <a:t>我將其穿透光定義為這樣的形勢</a:t>
                </a:r>
                <a:endParaRPr lang="zh-TW" altLang="en-US" dirty="0"/>
              </a:p>
            </p:txBody>
          </p:sp>
        </mc:Choice>
        <mc:Fallback xmlns="">
          <p:sp>
            <p:nvSpPr>
              <p:cNvPr id="3" name="備忘稿版面配置區 2"/>
              <p:cNvSpPr>
                <a:spLocks noGrp="1"/>
              </p:cNvSpPr>
              <p:nvPr>
                <p:ph type="body" idx="1"/>
              </p:nvPr>
            </p:nvSpPr>
            <p:spPr/>
            <p:txBody>
              <a:bodyPr/>
              <a:lstStyle/>
              <a:p>
                <a:r>
                  <a:rPr lang="zh-TW"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由上面的提到的理論可知要達到相位匹配是藉由鈮酸鋰正負晶疇的排列來達成每個</a:t>
                </a:r>
                <a:r>
                  <a:rPr lang="en-US"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+z</a:t>
                </a:r>
                <a:r>
                  <a:rPr lang="zh-TW"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a:t>
                </a:r>
                <a:r>
                  <a:rPr lang="en-US"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-z</a:t>
                </a:r>
                <a:r>
                  <a:rPr lang="zh-TW"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的晶疇可以</a:t>
                </a:r>
                <a:r>
                  <a:rPr lang="en-US" altLang="zh-TW" sz="1800" i="0" kern="0">
                    <a:effectLst/>
                    <a:latin typeface="Cambria Math" panose="02040503050406030204" pitchFamily="18" charset="0"/>
                    <a:ea typeface="標楷體" panose="03000509000000000000" pitchFamily="65" charset="-120"/>
                    <a:cs typeface="新細明體" panose="02020500000000000000" pitchFamily="18" charset="-120"/>
                  </a:rPr>
                  <a:t>∆𝑥</a:t>
                </a:r>
                <a:r>
                  <a:rPr lang="zh-TW"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表示其晶疇變數來表示其在程式中以</a:t>
                </a:r>
                <a:r>
                  <a:rPr lang="en-US"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+1</a:t>
                </a:r>
                <a:r>
                  <a:rPr lang="zh-TW"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a:t>
                </a:r>
                <a:r>
                  <a:rPr lang="en-US"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-1</a:t>
                </a:r>
                <a:r>
                  <a:rPr lang="zh-TW"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來表示代表</a:t>
                </a:r>
                <a:r>
                  <a:rPr lang="en-US"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+z</a:t>
                </a:r>
                <a:r>
                  <a:rPr lang="zh-TW"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a:t>
                </a:r>
                <a:r>
                  <a:rPr lang="en-US"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-z</a:t>
                </a:r>
                <a:r>
                  <a:rPr lang="zh-TW"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晶疇，在設定個體數晶疇數量</a:t>
                </a:r>
                <a:r>
                  <a:rPr lang="en-US"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NVAR</a:t>
                </a:r>
                <a:r>
                  <a:rPr lang="zh-TW"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及每個最小單位晶疇長度</a:t>
                </a:r>
                <a:r>
                  <a:rPr lang="en-US" altLang="zh-TW" sz="1800" kern="0" dirty="0" err="1">
                    <a:effectLst/>
                    <a:latin typeface="Times New Roman" panose="02020603050405020304" pitchFamily="18" charset="0"/>
                    <a:ea typeface="標楷體" panose="03000509000000000000" pitchFamily="65" charset="-120"/>
                    <a:cs typeface="新細明體" panose="02020500000000000000" pitchFamily="18" charset="-120"/>
                  </a:rPr>
                  <a:t>Mindomain</a:t>
                </a:r>
                <a:r>
                  <a:rPr lang="zh-TW"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，所以由晶疇數量乘以最小單位晶疇</a:t>
                </a:r>
                <a:r>
                  <a:rPr lang="en-US"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NVAR*</a:t>
                </a:r>
                <a:r>
                  <a:rPr lang="en-US" altLang="zh-TW" sz="1800" kern="0" dirty="0" err="1">
                    <a:effectLst/>
                    <a:latin typeface="Times New Roman" panose="02020603050405020304" pitchFamily="18" charset="0"/>
                    <a:ea typeface="標楷體" panose="03000509000000000000" pitchFamily="65" charset="-120"/>
                    <a:cs typeface="新細明體" panose="02020500000000000000" pitchFamily="18" charset="-120"/>
                  </a:rPr>
                  <a:t>Mindomain</a:t>
                </a:r>
                <a:r>
                  <a:rPr lang="zh-TW"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就可以得到</a:t>
                </a:r>
                <a:r>
                  <a:rPr lang="en-US"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EOPMC</a:t>
                </a:r>
                <a:r>
                  <a:rPr lang="zh-TW"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晶體部分晶疇長度，並且設定相位匹配溫度</a:t>
                </a:r>
                <a:r>
                  <a:rPr lang="en-US"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Temp</a:t>
                </a:r>
                <a:r>
                  <a:rPr lang="zh-TW"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，和設定所需加</a:t>
                </a:r>
                <a:r>
                  <a:rPr lang="en-US"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y</a:t>
                </a:r>
                <a:r>
                  <a:rPr lang="zh-TW"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方向電場值，接著我們利用在鈮酸鋰中輸入偏振光藉由電光效應轉換偏振的耦合方程式</a:t>
                </a:r>
                <a:endParaRPr lang="zh-TW" altLang="en-US" dirty="0"/>
              </a:p>
            </p:txBody>
          </p:sp>
        </mc:Fallback>
      </mc:AlternateContent>
      <p:sp>
        <p:nvSpPr>
          <p:cNvPr id="4" name="投影片編號版面配置區 3"/>
          <p:cNvSpPr>
            <a:spLocks noGrp="1"/>
          </p:cNvSpPr>
          <p:nvPr>
            <p:ph type="sldNum" sz="quarter" idx="5"/>
          </p:nvPr>
        </p:nvSpPr>
        <p:spPr/>
        <p:txBody>
          <a:bodyPr/>
          <a:lstStyle/>
          <a:p>
            <a:fld id="{7015F893-DC37-4D86-87E6-4581D5262153}" type="slidenum">
              <a:rPr lang="zh-TW" altLang="en-US" smtClean="0"/>
              <a:t>74</a:t>
            </a:fld>
            <a:endParaRPr lang="zh-TW" altLang="en-US"/>
          </a:p>
        </p:txBody>
      </p:sp>
    </p:spTree>
    <p:extLst>
      <p:ext uri="{BB962C8B-B14F-4D97-AF65-F5344CB8AC3E}">
        <p14:creationId xmlns:p14="http://schemas.microsoft.com/office/powerpoint/2010/main" val="394725586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基因演算法是通過模擬生物自然演化過程來尋找最佳解，在演算法中，每一個個體都是一個解，而複數個個體可以組成一群組，其中每個個體內都有不同的基因串，</a:t>
            </a:r>
            <a:r>
              <a:rPr lang="zh-TW" altLang="en-US" sz="1800" kern="0" dirty="0">
                <a:effectLst/>
                <a:latin typeface="Times New Roman" panose="02020603050405020304" pitchFamily="18" charset="0"/>
                <a:ea typeface="標楷體" panose="03000509000000000000" pitchFamily="65" charset="-120"/>
                <a:cs typeface="新細明體" panose="02020500000000000000" pitchFamily="18" charset="-120"/>
              </a:rPr>
              <a:t>所以在這邊我們即可利用交來</a:t>
            </a:r>
            <a:r>
              <a:rPr lang="zh-TW"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來改變最終解特性，在每代演化找到最佳解的過程中，我們會加入突變這個變數使演算法的解有隨機性，目的是為了避免初始定的族群被侷限在區域最佳解中，經過我們設定的演化世代數變化，每次都會先判斷其適應性，接著進行繁演使的適應度高的比適應度低的有更高的機率可以產生下一代，最後漸漸地向最佳解收斂。</a:t>
            </a:r>
            <a:endParaRPr lang="zh-TW" alt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p>
            <a:endParaRPr lang="zh-TW" altLang="en-US" dirty="0"/>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75</a:t>
            </a:fld>
            <a:endParaRPr lang="zh-TW" altLang="en-US"/>
          </a:p>
        </p:txBody>
      </p:sp>
    </p:spTree>
    <p:extLst>
      <p:ext uri="{BB962C8B-B14F-4D97-AF65-F5344CB8AC3E}">
        <p14:creationId xmlns:p14="http://schemas.microsoft.com/office/powerpoint/2010/main" val="143647787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所以在</a:t>
            </a:r>
            <a:r>
              <a:rPr lang="en-US" altLang="zh-TW" dirty="0"/>
              <a:t>2004</a:t>
            </a:r>
            <a:r>
              <a:rPr lang="zh-TW" altLang="en-US" dirty="0"/>
              <a:t>年日本的一個研究團隊利用兩片</a:t>
            </a:r>
            <a:r>
              <a:rPr lang="en-US" altLang="zh-TW" dirty="0"/>
              <a:t>type 0</a:t>
            </a:r>
          </a:p>
          <a:p>
            <a:r>
              <a:rPr lang="zh-TW" altLang="en-US" dirty="0"/>
              <a:t>並且在</a:t>
            </a:r>
            <a:r>
              <a:rPr lang="en-US" altLang="zh-TW" dirty="0"/>
              <a:t>2008</a:t>
            </a:r>
            <a:r>
              <a:rPr lang="zh-TW" altLang="en-US" dirty="0"/>
              <a:t>年將其運用在局部區域光纖網絡分配</a:t>
            </a:r>
            <a:endParaRPr lang="en-US" altLang="zh-TW" dirty="0"/>
          </a:p>
          <a:p>
            <a:r>
              <a:rPr lang="zh-TW" altLang="en-US" dirty="0"/>
              <a:t>到了</a:t>
            </a:r>
            <a:r>
              <a:rPr lang="en-US" altLang="zh-TW" dirty="0"/>
              <a:t>2003</a:t>
            </a:r>
            <a:r>
              <a:rPr lang="zh-TW" altLang="en-US" dirty="0"/>
              <a:t>年</a:t>
            </a:r>
            <a:endParaRPr lang="en-US" altLang="zh-TW" dirty="0"/>
          </a:p>
          <a:p>
            <a:r>
              <a:rPr lang="zh-TW" altLang="en-US" dirty="0"/>
              <a:t>使用這</a:t>
            </a:r>
            <a:r>
              <a:rPr lang="en-US" altLang="zh-TW" dirty="0"/>
              <a:t>entangle photon </a:t>
            </a:r>
            <a:r>
              <a:rPr lang="en-US" altLang="zh-TW" dirty="0" err="1"/>
              <a:t>sourse</a:t>
            </a:r>
            <a:r>
              <a:rPr lang="en-US" altLang="zh-TW" dirty="0"/>
              <a:t> </a:t>
            </a:r>
            <a:r>
              <a:rPr lang="zh-TW" altLang="en-US" dirty="0"/>
              <a:t>在多用戶網絡傳輸中</a:t>
            </a:r>
          </a:p>
        </p:txBody>
      </p:sp>
      <p:sp>
        <p:nvSpPr>
          <p:cNvPr id="4" name="投影片編號版面配置區 3"/>
          <p:cNvSpPr>
            <a:spLocks noGrp="1"/>
          </p:cNvSpPr>
          <p:nvPr>
            <p:ph type="sldNum" sz="quarter" idx="5"/>
          </p:nvPr>
        </p:nvSpPr>
        <p:spPr/>
        <p:txBody>
          <a:bodyPr/>
          <a:lstStyle/>
          <a:p>
            <a:fld id="{7015F893-DC37-4D86-87E6-4581D5262153}" type="slidenum">
              <a:rPr lang="zh-TW" altLang="en-US" smtClean="0"/>
              <a:t>76</a:t>
            </a:fld>
            <a:endParaRPr lang="zh-TW" altLang="en-US"/>
          </a:p>
        </p:txBody>
      </p:sp>
    </p:spTree>
    <p:extLst>
      <p:ext uri="{BB962C8B-B14F-4D97-AF65-F5344CB8AC3E}">
        <p14:creationId xmlns:p14="http://schemas.microsoft.com/office/powerpoint/2010/main" val="16821759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82D810-794B-4421-25ED-FDAFFE83071A}"/>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329EFE63-B22D-3A57-0B76-D15D3E14DB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2BEE820E-1E61-041C-EA31-7F2F8967B591}"/>
              </a:ext>
            </a:extLst>
          </p:cNvPr>
          <p:cNvSpPr>
            <a:spLocks noGrp="1"/>
          </p:cNvSpPr>
          <p:nvPr>
            <p:ph type="dt" sz="half" idx="10"/>
          </p:nvPr>
        </p:nvSpPr>
        <p:spPr/>
        <p:txBody>
          <a:bodyPr/>
          <a:lstStyle/>
          <a:p>
            <a:fld id="{2CF8131A-5719-4FD7-A9DA-5C072E4ABFF1}" type="datetimeFigureOut">
              <a:rPr lang="zh-TW" altLang="en-US" smtClean="0"/>
              <a:t>2022/10/11</a:t>
            </a:fld>
            <a:endParaRPr lang="zh-TW" altLang="en-US"/>
          </a:p>
        </p:txBody>
      </p:sp>
      <p:sp>
        <p:nvSpPr>
          <p:cNvPr id="5" name="頁尾版面配置區 4">
            <a:extLst>
              <a:ext uri="{FF2B5EF4-FFF2-40B4-BE49-F238E27FC236}">
                <a16:creationId xmlns:a16="http://schemas.microsoft.com/office/drawing/2014/main" id="{1176001B-1D83-ED26-6BE7-74454AFA4D57}"/>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59242BC-54A6-AB4D-C3A0-511DD8FB12E7}"/>
              </a:ext>
            </a:extLst>
          </p:cNvPr>
          <p:cNvSpPr>
            <a:spLocks noGrp="1"/>
          </p:cNvSpPr>
          <p:nvPr>
            <p:ph type="sldNum" sz="quarter" idx="12"/>
          </p:nvPr>
        </p:nvSpPr>
        <p:spPr/>
        <p:txBody>
          <a:bodyPr/>
          <a:lstStyle/>
          <a:p>
            <a:fld id="{3AD3A1E3-BD41-4F23-A733-3FA9E8C555AD}" type="slidenum">
              <a:rPr lang="zh-TW" altLang="en-US" smtClean="0"/>
              <a:t>‹#›</a:t>
            </a:fld>
            <a:endParaRPr lang="zh-TW" altLang="en-US"/>
          </a:p>
        </p:txBody>
      </p:sp>
    </p:spTree>
    <p:extLst>
      <p:ext uri="{BB962C8B-B14F-4D97-AF65-F5344CB8AC3E}">
        <p14:creationId xmlns:p14="http://schemas.microsoft.com/office/powerpoint/2010/main" val="20533422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814E699-6083-0CB9-C66C-7E668E8EF7D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3A3E0EDF-9E7B-F6B7-4987-78C36C85FBE0}"/>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254F857-CF19-FAEC-1224-04D532B15937}"/>
              </a:ext>
            </a:extLst>
          </p:cNvPr>
          <p:cNvSpPr>
            <a:spLocks noGrp="1"/>
          </p:cNvSpPr>
          <p:nvPr>
            <p:ph type="dt" sz="half" idx="10"/>
          </p:nvPr>
        </p:nvSpPr>
        <p:spPr/>
        <p:txBody>
          <a:bodyPr/>
          <a:lstStyle/>
          <a:p>
            <a:fld id="{2CF8131A-5719-4FD7-A9DA-5C072E4ABFF1}" type="datetimeFigureOut">
              <a:rPr lang="zh-TW" altLang="en-US" smtClean="0"/>
              <a:t>2022/10/11</a:t>
            </a:fld>
            <a:endParaRPr lang="zh-TW" altLang="en-US"/>
          </a:p>
        </p:txBody>
      </p:sp>
      <p:sp>
        <p:nvSpPr>
          <p:cNvPr id="5" name="頁尾版面配置區 4">
            <a:extLst>
              <a:ext uri="{FF2B5EF4-FFF2-40B4-BE49-F238E27FC236}">
                <a16:creationId xmlns:a16="http://schemas.microsoft.com/office/drawing/2014/main" id="{72685922-AEA4-70D4-E6ED-65107FA12059}"/>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CDA21C2-4861-EE68-A52E-635C2838B6A9}"/>
              </a:ext>
            </a:extLst>
          </p:cNvPr>
          <p:cNvSpPr>
            <a:spLocks noGrp="1"/>
          </p:cNvSpPr>
          <p:nvPr>
            <p:ph type="sldNum" sz="quarter" idx="12"/>
          </p:nvPr>
        </p:nvSpPr>
        <p:spPr/>
        <p:txBody>
          <a:bodyPr/>
          <a:lstStyle/>
          <a:p>
            <a:fld id="{3AD3A1E3-BD41-4F23-A733-3FA9E8C555AD}" type="slidenum">
              <a:rPr lang="zh-TW" altLang="en-US" smtClean="0"/>
              <a:t>‹#›</a:t>
            </a:fld>
            <a:endParaRPr lang="zh-TW" altLang="en-US"/>
          </a:p>
        </p:txBody>
      </p:sp>
    </p:spTree>
    <p:extLst>
      <p:ext uri="{BB962C8B-B14F-4D97-AF65-F5344CB8AC3E}">
        <p14:creationId xmlns:p14="http://schemas.microsoft.com/office/powerpoint/2010/main" val="1948217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2F3D4FD-078B-EF81-F81C-3831C0D80925}"/>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CE10B45D-B3A5-6E99-2029-3D35BE41BCF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5610207F-866A-062F-F6FC-B1AB02AECE2D}"/>
              </a:ext>
            </a:extLst>
          </p:cNvPr>
          <p:cNvSpPr>
            <a:spLocks noGrp="1"/>
          </p:cNvSpPr>
          <p:nvPr>
            <p:ph type="dt" sz="half" idx="10"/>
          </p:nvPr>
        </p:nvSpPr>
        <p:spPr/>
        <p:txBody>
          <a:bodyPr/>
          <a:lstStyle/>
          <a:p>
            <a:fld id="{2CF8131A-5719-4FD7-A9DA-5C072E4ABFF1}" type="datetimeFigureOut">
              <a:rPr lang="zh-TW" altLang="en-US" smtClean="0"/>
              <a:t>2022/10/11</a:t>
            </a:fld>
            <a:endParaRPr lang="zh-TW" altLang="en-US"/>
          </a:p>
        </p:txBody>
      </p:sp>
      <p:sp>
        <p:nvSpPr>
          <p:cNvPr id="5" name="頁尾版面配置區 4">
            <a:extLst>
              <a:ext uri="{FF2B5EF4-FFF2-40B4-BE49-F238E27FC236}">
                <a16:creationId xmlns:a16="http://schemas.microsoft.com/office/drawing/2014/main" id="{1B75E547-3EB5-78BC-FC81-A64D652DAF5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6CACCA1-0B7B-5BFD-85EB-9523327596A2}"/>
              </a:ext>
            </a:extLst>
          </p:cNvPr>
          <p:cNvSpPr>
            <a:spLocks noGrp="1"/>
          </p:cNvSpPr>
          <p:nvPr>
            <p:ph type="sldNum" sz="quarter" idx="12"/>
          </p:nvPr>
        </p:nvSpPr>
        <p:spPr/>
        <p:txBody>
          <a:bodyPr/>
          <a:lstStyle/>
          <a:p>
            <a:fld id="{3AD3A1E3-BD41-4F23-A733-3FA9E8C555AD}" type="slidenum">
              <a:rPr lang="zh-TW" altLang="en-US" smtClean="0"/>
              <a:t>‹#›</a:t>
            </a:fld>
            <a:endParaRPr lang="zh-TW" altLang="en-US"/>
          </a:p>
        </p:txBody>
      </p:sp>
    </p:spTree>
    <p:extLst>
      <p:ext uri="{BB962C8B-B14F-4D97-AF65-F5344CB8AC3E}">
        <p14:creationId xmlns:p14="http://schemas.microsoft.com/office/powerpoint/2010/main" val="510944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7173073-FBFB-EDC9-2DC4-BC67B2F255EC}"/>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02BB80FB-F41F-8515-9FBB-7815EAF80804}"/>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7203C86E-1A53-64C2-3ED1-FBDB63DB2203}"/>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7ADFE656-D1D6-03C1-F703-B58D5603EC85}"/>
              </a:ext>
            </a:extLst>
          </p:cNvPr>
          <p:cNvSpPr>
            <a:spLocks noGrp="1"/>
          </p:cNvSpPr>
          <p:nvPr>
            <p:ph type="dt" sz="half" idx="10"/>
          </p:nvPr>
        </p:nvSpPr>
        <p:spPr/>
        <p:txBody>
          <a:bodyPr/>
          <a:lstStyle/>
          <a:p>
            <a:fld id="{2CF8131A-5719-4FD7-A9DA-5C072E4ABFF1}" type="datetimeFigureOut">
              <a:rPr lang="zh-TW" altLang="en-US" smtClean="0"/>
              <a:t>2022/10/11</a:t>
            </a:fld>
            <a:endParaRPr lang="zh-TW" altLang="en-US"/>
          </a:p>
        </p:txBody>
      </p:sp>
      <p:sp>
        <p:nvSpPr>
          <p:cNvPr id="6" name="頁尾版面配置區 5">
            <a:extLst>
              <a:ext uri="{FF2B5EF4-FFF2-40B4-BE49-F238E27FC236}">
                <a16:creationId xmlns:a16="http://schemas.microsoft.com/office/drawing/2014/main" id="{DC26AA92-3E02-AA1E-FAB1-0AC85EDFA0C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C7B25B2D-AE97-F925-554D-24D9C6426A50}"/>
              </a:ext>
            </a:extLst>
          </p:cNvPr>
          <p:cNvSpPr>
            <a:spLocks noGrp="1"/>
          </p:cNvSpPr>
          <p:nvPr>
            <p:ph type="sldNum" sz="quarter" idx="12"/>
          </p:nvPr>
        </p:nvSpPr>
        <p:spPr/>
        <p:txBody>
          <a:bodyPr/>
          <a:lstStyle/>
          <a:p>
            <a:fld id="{3AD3A1E3-BD41-4F23-A733-3FA9E8C555AD}" type="slidenum">
              <a:rPr lang="zh-TW" altLang="en-US" smtClean="0"/>
              <a:t>‹#›</a:t>
            </a:fld>
            <a:endParaRPr lang="zh-TW" altLang="en-US"/>
          </a:p>
        </p:txBody>
      </p:sp>
    </p:spTree>
    <p:extLst>
      <p:ext uri="{BB962C8B-B14F-4D97-AF65-F5344CB8AC3E}">
        <p14:creationId xmlns:p14="http://schemas.microsoft.com/office/powerpoint/2010/main" val="2994236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9AE189D-D3F4-F331-D0B5-23E2429594DA}"/>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AE3560CD-2084-6A33-36C5-0AFA8B3ACF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EF23C50F-C7AA-80DD-0093-D543FCCAE933}"/>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DBD038B5-8F66-678D-92DF-55EBDFCE1B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CB93FE9D-59D0-1E6D-4197-241FBCC97B6F}"/>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B730E0AF-76B6-A580-D5BC-1E562ED691D2}"/>
              </a:ext>
            </a:extLst>
          </p:cNvPr>
          <p:cNvSpPr>
            <a:spLocks noGrp="1"/>
          </p:cNvSpPr>
          <p:nvPr>
            <p:ph type="dt" sz="half" idx="10"/>
          </p:nvPr>
        </p:nvSpPr>
        <p:spPr/>
        <p:txBody>
          <a:bodyPr/>
          <a:lstStyle/>
          <a:p>
            <a:fld id="{2CF8131A-5719-4FD7-A9DA-5C072E4ABFF1}" type="datetimeFigureOut">
              <a:rPr lang="zh-TW" altLang="en-US" smtClean="0"/>
              <a:t>2022/10/11</a:t>
            </a:fld>
            <a:endParaRPr lang="zh-TW" altLang="en-US"/>
          </a:p>
        </p:txBody>
      </p:sp>
      <p:sp>
        <p:nvSpPr>
          <p:cNvPr id="8" name="頁尾版面配置區 7">
            <a:extLst>
              <a:ext uri="{FF2B5EF4-FFF2-40B4-BE49-F238E27FC236}">
                <a16:creationId xmlns:a16="http://schemas.microsoft.com/office/drawing/2014/main" id="{9C8573C3-A80E-67AD-0800-8FE73CA8449A}"/>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9DC44C4E-EAA1-9CB7-1BFA-B0B20231FB10}"/>
              </a:ext>
            </a:extLst>
          </p:cNvPr>
          <p:cNvSpPr>
            <a:spLocks noGrp="1"/>
          </p:cNvSpPr>
          <p:nvPr>
            <p:ph type="sldNum" sz="quarter" idx="12"/>
          </p:nvPr>
        </p:nvSpPr>
        <p:spPr/>
        <p:txBody>
          <a:bodyPr/>
          <a:lstStyle/>
          <a:p>
            <a:fld id="{3AD3A1E3-BD41-4F23-A733-3FA9E8C555AD}" type="slidenum">
              <a:rPr lang="zh-TW" altLang="en-US" smtClean="0"/>
              <a:t>‹#›</a:t>
            </a:fld>
            <a:endParaRPr lang="zh-TW" altLang="en-US"/>
          </a:p>
        </p:txBody>
      </p:sp>
    </p:spTree>
    <p:extLst>
      <p:ext uri="{BB962C8B-B14F-4D97-AF65-F5344CB8AC3E}">
        <p14:creationId xmlns:p14="http://schemas.microsoft.com/office/powerpoint/2010/main" val="31007161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3A24950-5E6A-592A-81DA-F65BA483F6FD}"/>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9FA4D16F-73BE-DB48-9D50-2E3B8341315B}"/>
              </a:ext>
            </a:extLst>
          </p:cNvPr>
          <p:cNvSpPr>
            <a:spLocks noGrp="1"/>
          </p:cNvSpPr>
          <p:nvPr>
            <p:ph type="dt" sz="half" idx="10"/>
          </p:nvPr>
        </p:nvSpPr>
        <p:spPr/>
        <p:txBody>
          <a:bodyPr/>
          <a:lstStyle/>
          <a:p>
            <a:fld id="{2CF8131A-5719-4FD7-A9DA-5C072E4ABFF1}" type="datetimeFigureOut">
              <a:rPr lang="zh-TW" altLang="en-US" smtClean="0"/>
              <a:t>2022/10/11</a:t>
            </a:fld>
            <a:endParaRPr lang="zh-TW" altLang="en-US"/>
          </a:p>
        </p:txBody>
      </p:sp>
      <p:sp>
        <p:nvSpPr>
          <p:cNvPr id="4" name="頁尾版面配置區 3">
            <a:extLst>
              <a:ext uri="{FF2B5EF4-FFF2-40B4-BE49-F238E27FC236}">
                <a16:creationId xmlns:a16="http://schemas.microsoft.com/office/drawing/2014/main" id="{AD588819-8A29-C99B-A139-A74DD9DFA4A9}"/>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D7D73C2F-7339-0B5E-A772-B48DC3CB4E66}"/>
              </a:ext>
            </a:extLst>
          </p:cNvPr>
          <p:cNvSpPr>
            <a:spLocks noGrp="1"/>
          </p:cNvSpPr>
          <p:nvPr>
            <p:ph type="sldNum" sz="quarter" idx="12"/>
          </p:nvPr>
        </p:nvSpPr>
        <p:spPr/>
        <p:txBody>
          <a:bodyPr/>
          <a:lstStyle/>
          <a:p>
            <a:fld id="{3AD3A1E3-BD41-4F23-A733-3FA9E8C555AD}" type="slidenum">
              <a:rPr lang="zh-TW" altLang="en-US" smtClean="0"/>
              <a:t>‹#›</a:t>
            </a:fld>
            <a:endParaRPr lang="zh-TW" altLang="en-US"/>
          </a:p>
        </p:txBody>
      </p:sp>
    </p:spTree>
    <p:extLst>
      <p:ext uri="{BB962C8B-B14F-4D97-AF65-F5344CB8AC3E}">
        <p14:creationId xmlns:p14="http://schemas.microsoft.com/office/powerpoint/2010/main" val="41448388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755CD9CF-FF5F-FD87-7FF4-F6A56F12E5C6}"/>
              </a:ext>
            </a:extLst>
          </p:cNvPr>
          <p:cNvSpPr>
            <a:spLocks noGrp="1"/>
          </p:cNvSpPr>
          <p:nvPr>
            <p:ph type="dt" sz="half" idx="10"/>
          </p:nvPr>
        </p:nvSpPr>
        <p:spPr/>
        <p:txBody>
          <a:bodyPr/>
          <a:lstStyle/>
          <a:p>
            <a:fld id="{2CF8131A-5719-4FD7-A9DA-5C072E4ABFF1}" type="datetimeFigureOut">
              <a:rPr lang="zh-TW" altLang="en-US" smtClean="0"/>
              <a:t>2022/10/11</a:t>
            </a:fld>
            <a:endParaRPr lang="zh-TW" altLang="en-US"/>
          </a:p>
        </p:txBody>
      </p:sp>
      <p:sp>
        <p:nvSpPr>
          <p:cNvPr id="3" name="頁尾版面配置區 2">
            <a:extLst>
              <a:ext uri="{FF2B5EF4-FFF2-40B4-BE49-F238E27FC236}">
                <a16:creationId xmlns:a16="http://schemas.microsoft.com/office/drawing/2014/main" id="{AE64B6EF-9FC2-139C-0033-7D8F57E153C8}"/>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F5492BF9-1A20-C8D8-3554-A2904661D2A6}"/>
              </a:ext>
            </a:extLst>
          </p:cNvPr>
          <p:cNvSpPr>
            <a:spLocks noGrp="1"/>
          </p:cNvSpPr>
          <p:nvPr>
            <p:ph type="sldNum" sz="quarter" idx="12"/>
          </p:nvPr>
        </p:nvSpPr>
        <p:spPr/>
        <p:txBody>
          <a:bodyPr/>
          <a:lstStyle/>
          <a:p>
            <a:fld id="{3AD3A1E3-BD41-4F23-A733-3FA9E8C555AD}" type="slidenum">
              <a:rPr lang="zh-TW" altLang="en-US" smtClean="0"/>
              <a:t>‹#›</a:t>
            </a:fld>
            <a:endParaRPr lang="zh-TW" altLang="en-US"/>
          </a:p>
        </p:txBody>
      </p:sp>
    </p:spTree>
    <p:extLst>
      <p:ext uri="{BB962C8B-B14F-4D97-AF65-F5344CB8AC3E}">
        <p14:creationId xmlns:p14="http://schemas.microsoft.com/office/powerpoint/2010/main" val="3226970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620F878-B5CD-E6FE-CFF5-6971190F315A}"/>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1FE819CD-2EA2-F983-5790-6711C43D42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F535B013-747A-7309-9F47-450CC1AEF0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4888A9D9-A431-3668-FF2F-2FBB5664F2FA}"/>
              </a:ext>
            </a:extLst>
          </p:cNvPr>
          <p:cNvSpPr>
            <a:spLocks noGrp="1"/>
          </p:cNvSpPr>
          <p:nvPr>
            <p:ph type="dt" sz="half" idx="10"/>
          </p:nvPr>
        </p:nvSpPr>
        <p:spPr/>
        <p:txBody>
          <a:bodyPr/>
          <a:lstStyle/>
          <a:p>
            <a:fld id="{2CF8131A-5719-4FD7-A9DA-5C072E4ABFF1}" type="datetimeFigureOut">
              <a:rPr lang="zh-TW" altLang="en-US" smtClean="0"/>
              <a:t>2022/10/11</a:t>
            </a:fld>
            <a:endParaRPr lang="zh-TW" altLang="en-US"/>
          </a:p>
        </p:txBody>
      </p:sp>
      <p:sp>
        <p:nvSpPr>
          <p:cNvPr id="6" name="頁尾版面配置區 5">
            <a:extLst>
              <a:ext uri="{FF2B5EF4-FFF2-40B4-BE49-F238E27FC236}">
                <a16:creationId xmlns:a16="http://schemas.microsoft.com/office/drawing/2014/main" id="{7732D6EE-CA70-5E05-1171-C5C81139E35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A62C0AF5-2478-618B-D25B-18A0BD4CF3EC}"/>
              </a:ext>
            </a:extLst>
          </p:cNvPr>
          <p:cNvSpPr>
            <a:spLocks noGrp="1"/>
          </p:cNvSpPr>
          <p:nvPr>
            <p:ph type="sldNum" sz="quarter" idx="12"/>
          </p:nvPr>
        </p:nvSpPr>
        <p:spPr/>
        <p:txBody>
          <a:bodyPr/>
          <a:lstStyle/>
          <a:p>
            <a:fld id="{3AD3A1E3-BD41-4F23-A733-3FA9E8C555AD}" type="slidenum">
              <a:rPr lang="zh-TW" altLang="en-US" smtClean="0"/>
              <a:t>‹#›</a:t>
            </a:fld>
            <a:endParaRPr lang="zh-TW" altLang="en-US"/>
          </a:p>
        </p:txBody>
      </p:sp>
    </p:spTree>
    <p:extLst>
      <p:ext uri="{BB962C8B-B14F-4D97-AF65-F5344CB8AC3E}">
        <p14:creationId xmlns:p14="http://schemas.microsoft.com/office/powerpoint/2010/main" val="1301726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7BE921A-CC67-2FE8-7284-A8313C5FA68C}"/>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BEE6022E-7773-EAFA-2BEB-8C7D538737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73DE5400-CCAC-25D7-BB5F-A07659EEAB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C74D6B53-A82B-CCEE-B2E2-AB82554A801A}"/>
              </a:ext>
            </a:extLst>
          </p:cNvPr>
          <p:cNvSpPr>
            <a:spLocks noGrp="1"/>
          </p:cNvSpPr>
          <p:nvPr>
            <p:ph type="dt" sz="half" idx="10"/>
          </p:nvPr>
        </p:nvSpPr>
        <p:spPr/>
        <p:txBody>
          <a:bodyPr/>
          <a:lstStyle/>
          <a:p>
            <a:fld id="{2CF8131A-5719-4FD7-A9DA-5C072E4ABFF1}" type="datetimeFigureOut">
              <a:rPr lang="zh-TW" altLang="en-US" smtClean="0"/>
              <a:t>2022/10/11</a:t>
            </a:fld>
            <a:endParaRPr lang="zh-TW" altLang="en-US"/>
          </a:p>
        </p:txBody>
      </p:sp>
      <p:sp>
        <p:nvSpPr>
          <p:cNvPr id="6" name="頁尾版面配置區 5">
            <a:extLst>
              <a:ext uri="{FF2B5EF4-FFF2-40B4-BE49-F238E27FC236}">
                <a16:creationId xmlns:a16="http://schemas.microsoft.com/office/drawing/2014/main" id="{AC97E700-18AA-2DE5-ABCE-B85ED6FE59DC}"/>
              </a:ext>
            </a:extLst>
          </p:cNvPr>
          <p:cNvSpPr>
            <a:spLocks noGrp="1"/>
          </p:cNvSpPr>
          <p:nvPr>
            <p:ph type="ftr" sz="quarter" idx="11"/>
          </p:nvPr>
        </p:nvSpPr>
        <p:spPr/>
        <p:txBody>
          <a:bodyPr/>
          <a:lstStyle/>
          <a:p>
            <a:endParaRPr lang="en-US" dirty="0"/>
          </a:p>
        </p:txBody>
      </p:sp>
      <p:sp>
        <p:nvSpPr>
          <p:cNvPr id="7" name="投影片編號版面配置區 6">
            <a:extLst>
              <a:ext uri="{FF2B5EF4-FFF2-40B4-BE49-F238E27FC236}">
                <a16:creationId xmlns:a16="http://schemas.microsoft.com/office/drawing/2014/main" id="{C9E8FC78-367B-017B-E580-1406F9D829FC}"/>
              </a:ext>
            </a:extLst>
          </p:cNvPr>
          <p:cNvSpPr>
            <a:spLocks noGrp="1"/>
          </p:cNvSpPr>
          <p:nvPr>
            <p:ph type="sldNum" sz="quarter" idx="12"/>
          </p:nvPr>
        </p:nvSpPr>
        <p:spPr/>
        <p:txBody>
          <a:bodyPr/>
          <a:lstStyle/>
          <a:p>
            <a:fld id="{3AD3A1E3-BD41-4F23-A733-3FA9E8C555AD}" type="slidenum">
              <a:rPr lang="zh-TW" altLang="en-US" smtClean="0"/>
              <a:t>‹#›</a:t>
            </a:fld>
            <a:endParaRPr lang="zh-TW" altLang="en-US"/>
          </a:p>
        </p:txBody>
      </p:sp>
    </p:spTree>
    <p:extLst>
      <p:ext uri="{BB962C8B-B14F-4D97-AF65-F5344CB8AC3E}">
        <p14:creationId xmlns:p14="http://schemas.microsoft.com/office/powerpoint/2010/main" val="2883065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9F007F5-13FF-9764-DCD5-309348FD0E20}"/>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105351DD-F9D2-077C-97EE-4A4C01F8DCE7}"/>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8FCD729-1AA9-8E80-AD61-19F48278743B}"/>
              </a:ext>
            </a:extLst>
          </p:cNvPr>
          <p:cNvSpPr>
            <a:spLocks noGrp="1"/>
          </p:cNvSpPr>
          <p:nvPr>
            <p:ph type="dt" sz="half" idx="10"/>
          </p:nvPr>
        </p:nvSpPr>
        <p:spPr/>
        <p:txBody>
          <a:bodyPr/>
          <a:lstStyle/>
          <a:p>
            <a:fld id="{2CF8131A-5719-4FD7-A9DA-5C072E4ABFF1}" type="datetimeFigureOut">
              <a:rPr lang="zh-TW" altLang="en-US" smtClean="0"/>
              <a:t>2022/10/11</a:t>
            </a:fld>
            <a:endParaRPr lang="zh-TW" altLang="en-US"/>
          </a:p>
        </p:txBody>
      </p:sp>
      <p:sp>
        <p:nvSpPr>
          <p:cNvPr id="5" name="頁尾版面配置區 4">
            <a:extLst>
              <a:ext uri="{FF2B5EF4-FFF2-40B4-BE49-F238E27FC236}">
                <a16:creationId xmlns:a16="http://schemas.microsoft.com/office/drawing/2014/main" id="{946DFEF1-3537-ED79-D38D-B2D5E78EE6E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43A5F83-3F9A-E962-B894-BADB20C9A60E}"/>
              </a:ext>
            </a:extLst>
          </p:cNvPr>
          <p:cNvSpPr>
            <a:spLocks noGrp="1"/>
          </p:cNvSpPr>
          <p:nvPr>
            <p:ph type="sldNum" sz="quarter" idx="12"/>
          </p:nvPr>
        </p:nvSpPr>
        <p:spPr/>
        <p:txBody>
          <a:bodyPr/>
          <a:lstStyle/>
          <a:p>
            <a:fld id="{3AD3A1E3-BD41-4F23-A733-3FA9E8C555AD}" type="slidenum">
              <a:rPr lang="zh-TW" altLang="en-US" smtClean="0"/>
              <a:t>‹#›</a:t>
            </a:fld>
            <a:endParaRPr lang="zh-TW" altLang="en-US"/>
          </a:p>
        </p:txBody>
      </p:sp>
    </p:spTree>
    <p:extLst>
      <p:ext uri="{BB962C8B-B14F-4D97-AF65-F5344CB8AC3E}">
        <p14:creationId xmlns:p14="http://schemas.microsoft.com/office/powerpoint/2010/main" val="32465814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7C3C5DF4-78D0-6A76-B494-F62D34165FCA}"/>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C227D61F-E1A3-488C-F38B-9D15F2A4EFBB}"/>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4099C5A-41AE-19DB-9190-724D2335437C}"/>
              </a:ext>
            </a:extLst>
          </p:cNvPr>
          <p:cNvSpPr>
            <a:spLocks noGrp="1"/>
          </p:cNvSpPr>
          <p:nvPr>
            <p:ph type="dt" sz="half" idx="10"/>
          </p:nvPr>
        </p:nvSpPr>
        <p:spPr/>
        <p:txBody>
          <a:bodyPr/>
          <a:lstStyle/>
          <a:p>
            <a:fld id="{2CF8131A-5719-4FD7-A9DA-5C072E4ABFF1}" type="datetimeFigureOut">
              <a:rPr lang="zh-TW" altLang="en-US" smtClean="0"/>
              <a:t>2022/10/11</a:t>
            </a:fld>
            <a:endParaRPr lang="zh-TW" altLang="en-US"/>
          </a:p>
        </p:txBody>
      </p:sp>
      <p:sp>
        <p:nvSpPr>
          <p:cNvPr id="5" name="頁尾版面配置區 4">
            <a:extLst>
              <a:ext uri="{FF2B5EF4-FFF2-40B4-BE49-F238E27FC236}">
                <a16:creationId xmlns:a16="http://schemas.microsoft.com/office/drawing/2014/main" id="{F8406185-243A-0E07-9847-89BD296E50B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6F39E05-0717-1DBA-3CFD-6A83B25222E8}"/>
              </a:ext>
            </a:extLst>
          </p:cNvPr>
          <p:cNvSpPr>
            <a:spLocks noGrp="1"/>
          </p:cNvSpPr>
          <p:nvPr>
            <p:ph type="sldNum" sz="quarter" idx="12"/>
          </p:nvPr>
        </p:nvSpPr>
        <p:spPr/>
        <p:txBody>
          <a:bodyPr/>
          <a:lstStyle/>
          <a:p>
            <a:fld id="{3AD3A1E3-BD41-4F23-A733-3FA9E8C555AD}" type="slidenum">
              <a:rPr lang="zh-TW" altLang="en-US" smtClean="0"/>
              <a:t>‹#›</a:t>
            </a:fld>
            <a:endParaRPr lang="zh-TW" altLang="en-US"/>
          </a:p>
        </p:txBody>
      </p:sp>
    </p:spTree>
    <p:extLst>
      <p:ext uri="{BB962C8B-B14F-4D97-AF65-F5344CB8AC3E}">
        <p14:creationId xmlns:p14="http://schemas.microsoft.com/office/powerpoint/2010/main" val="1220931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標題投影片">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zh-TW" altLang="en-US"/>
              <a:t>按一下以編輯母片標題樣式</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A4EB8590-B893-4D81-AABF-5694F658CAA2}" type="datetimeFigureOut">
              <a:rPr lang="zh-TW" altLang="en-US" smtClean="0"/>
              <a:t>2022/10/11</a:t>
            </a:fld>
            <a:endParaRPr lang="zh-TW" alt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zh-TW" altLang="en-US"/>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189B586A-1962-4632-9E59-2A9A8F08A8F6}" type="slidenum">
              <a:rPr lang="zh-TW" altLang="en-US" smtClean="0"/>
              <a:t>‹#›</a:t>
            </a:fld>
            <a:endParaRPr lang="zh-TW" altLang="en-US"/>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152964268"/>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A4EB8590-B893-4D81-AABF-5694F658CAA2}" type="datetimeFigureOut">
              <a:rPr lang="zh-TW" altLang="en-US" smtClean="0"/>
              <a:t>2022/10/11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189B586A-1962-4632-9E59-2A9A8F08A8F6}" type="slidenum">
              <a:rPr lang="zh-TW" altLang="en-US" smtClean="0"/>
              <a:t>‹#›</a:t>
            </a:fld>
            <a:endParaRPr lang="zh-TW" altLang="en-US"/>
          </a:p>
        </p:txBody>
      </p:sp>
    </p:spTree>
    <p:extLst>
      <p:ext uri="{BB962C8B-B14F-4D97-AF65-F5344CB8AC3E}">
        <p14:creationId xmlns:p14="http://schemas.microsoft.com/office/powerpoint/2010/main" val="2174032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章節標題">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zh-TW" altLang="en-US"/>
              <a:t>按一下以編輯母片標題樣式</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A4EB8590-B893-4D81-AABF-5694F658CAA2}" type="datetimeFigureOut">
              <a:rPr lang="zh-TW" altLang="en-US" smtClean="0"/>
              <a:t>2022/10/11</a:t>
            </a:fld>
            <a:endParaRPr lang="zh-TW" alt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zh-TW" alt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189B586A-1962-4632-9E59-2A9A8F08A8F6}" type="slidenum">
              <a:rPr lang="zh-TW" altLang="en-US" smtClean="0"/>
              <a:t>‹#›</a:t>
            </a:fld>
            <a:endParaRPr lang="zh-TW" altLang="en-US"/>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562387516"/>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zh-TW" altLang="en-US"/>
              <a:t>按一下以編輯母片標題樣式</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A4EB8590-B893-4D81-AABF-5694F658CAA2}" type="datetimeFigureOut">
              <a:rPr lang="zh-TW" altLang="en-US" smtClean="0"/>
              <a:t>2022/10/11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189B586A-1962-4632-9E59-2A9A8F08A8F6}" type="slidenum">
              <a:rPr lang="zh-TW" altLang="en-US" smtClean="0"/>
              <a:t>‹#›</a:t>
            </a:fld>
            <a:endParaRPr lang="zh-TW" altLang="en-US"/>
          </a:p>
        </p:txBody>
      </p:sp>
    </p:spTree>
    <p:extLst>
      <p:ext uri="{BB962C8B-B14F-4D97-AF65-F5344CB8AC3E}">
        <p14:creationId xmlns:p14="http://schemas.microsoft.com/office/powerpoint/2010/main" val="7567514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zh-TW" altLang="en-US"/>
              <a:t>按一下以編輯母片標題樣式</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A4EB8590-B893-4D81-AABF-5694F658CAA2}" type="datetimeFigureOut">
              <a:rPr lang="zh-TW" altLang="en-US" smtClean="0"/>
              <a:t>2022/10/11</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189B586A-1962-4632-9E59-2A9A8F08A8F6}" type="slidenum">
              <a:rPr lang="zh-TW" altLang="en-US" smtClean="0"/>
              <a:t>‹#›</a:t>
            </a:fld>
            <a:endParaRPr lang="zh-TW" altLang="en-US"/>
          </a:p>
        </p:txBody>
      </p:sp>
    </p:spTree>
    <p:extLst>
      <p:ext uri="{BB962C8B-B14F-4D97-AF65-F5344CB8AC3E}">
        <p14:creationId xmlns:p14="http://schemas.microsoft.com/office/powerpoint/2010/main" val="19826827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A4EB8590-B893-4D81-AABF-5694F658CAA2}" type="datetimeFigureOut">
              <a:rPr lang="zh-TW" altLang="en-US" smtClean="0"/>
              <a:t>2022/10/11</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189B586A-1962-4632-9E59-2A9A8F08A8F6}" type="slidenum">
              <a:rPr lang="zh-TW" altLang="en-US" smtClean="0"/>
              <a:t>‹#›</a:t>
            </a:fld>
            <a:endParaRPr lang="zh-TW" altLang="en-US"/>
          </a:p>
        </p:txBody>
      </p:sp>
    </p:spTree>
    <p:extLst>
      <p:ext uri="{BB962C8B-B14F-4D97-AF65-F5344CB8AC3E}">
        <p14:creationId xmlns:p14="http://schemas.microsoft.com/office/powerpoint/2010/main" val="26552142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EB8590-B893-4D81-AABF-5694F658CAA2}" type="datetimeFigureOut">
              <a:rPr lang="zh-TW" altLang="en-US" smtClean="0"/>
              <a:t>2022/10/11</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189B586A-1962-4632-9E59-2A9A8F08A8F6}" type="slidenum">
              <a:rPr lang="zh-TW" altLang="en-US" smtClean="0"/>
              <a:t>‹#›</a:t>
            </a:fld>
            <a:endParaRPr lang="zh-TW" altLang="en-US"/>
          </a:p>
        </p:txBody>
      </p:sp>
    </p:spTree>
    <p:extLst>
      <p:ext uri="{BB962C8B-B14F-4D97-AF65-F5344CB8AC3E}">
        <p14:creationId xmlns:p14="http://schemas.microsoft.com/office/powerpoint/2010/main" val="32278104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含輔助字幕的內容">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zh-TW" altLang="en-US"/>
              <a:t>按一下以編輯母片標題樣式</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A4EB8590-B893-4D81-AABF-5694F658CAA2}" type="datetimeFigureOut">
              <a:rPr lang="zh-TW" altLang="en-US" smtClean="0"/>
              <a:t>2022/10/11</a:t>
            </a:fld>
            <a:endParaRPr lang="zh-TW" alt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zh-TW" alt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189B586A-1962-4632-9E59-2A9A8F08A8F6}" type="slidenum">
              <a:rPr lang="zh-TW" altLang="en-US" smtClean="0"/>
              <a:t>‹#›</a:t>
            </a:fld>
            <a:endParaRPr lang="zh-TW" alt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5156767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含輔助字幕的圖片">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A4EB8590-B893-4D81-AABF-5694F658CAA2}" type="datetimeFigureOut">
              <a:rPr lang="zh-TW" altLang="en-US" smtClean="0"/>
              <a:t>2022/10/11</a:t>
            </a:fld>
            <a:endParaRPr lang="zh-TW" alt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189B586A-1962-4632-9E59-2A9A8F08A8F6}" type="slidenum">
              <a:rPr lang="zh-TW" altLang="en-US" smtClean="0"/>
              <a:t>‹#›</a:t>
            </a:fld>
            <a:endParaRPr lang="zh-TW" alt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711779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A4EB8590-B893-4D81-AABF-5694F658CAA2}" type="datetimeFigureOut">
              <a:rPr lang="zh-TW" altLang="en-US" smtClean="0"/>
              <a:t>2022/10/11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189B586A-1962-4632-9E59-2A9A8F08A8F6}" type="slidenum">
              <a:rPr lang="zh-TW" altLang="en-US" smtClean="0"/>
              <a:t>‹#›</a:t>
            </a:fld>
            <a:endParaRPr lang="zh-TW" altLang="en-US"/>
          </a:p>
        </p:txBody>
      </p:sp>
    </p:spTree>
    <p:extLst>
      <p:ext uri="{BB962C8B-B14F-4D97-AF65-F5344CB8AC3E}">
        <p14:creationId xmlns:p14="http://schemas.microsoft.com/office/powerpoint/2010/main" val="36943280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A4EB8590-B893-4D81-AABF-5694F658CAA2}" type="datetimeFigureOut">
              <a:rPr lang="zh-TW" altLang="en-US" smtClean="0"/>
              <a:t>2022/10/11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189B586A-1962-4632-9E59-2A9A8F08A8F6}" type="slidenum">
              <a:rPr lang="zh-TW" altLang="en-US" smtClean="0"/>
              <a:t>‹#›</a:t>
            </a:fld>
            <a:endParaRPr lang="zh-TW" altLang="en-US"/>
          </a:p>
        </p:txBody>
      </p:sp>
    </p:spTree>
    <p:extLst>
      <p:ext uri="{BB962C8B-B14F-4D97-AF65-F5344CB8AC3E}">
        <p14:creationId xmlns:p14="http://schemas.microsoft.com/office/powerpoint/2010/main" val="303962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05D0C22C-399B-A8CE-75C6-BCCFB9AF15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1256D8F-AA7F-F7DA-E428-58818795DC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4250B10-2D08-BBD4-CF8B-03E3D91FFF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F8131A-5719-4FD7-A9DA-5C072E4ABFF1}" type="datetimeFigureOut">
              <a:rPr lang="zh-TW" altLang="en-US" smtClean="0"/>
              <a:t>2022/10/11</a:t>
            </a:fld>
            <a:endParaRPr lang="zh-TW" altLang="en-US"/>
          </a:p>
        </p:txBody>
      </p:sp>
      <p:sp>
        <p:nvSpPr>
          <p:cNvPr id="5" name="頁尾版面配置區 4">
            <a:extLst>
              <a:ext uri="{FF2B5EF4-FFF2-40B4-BE49-F238E27FC236}">
                <a16:creationId xmlns:a16="http://schemas.microsoft.com/office/drawing/2014/main" id="{A49C44C6-5031-9372-6B66-1041F60AC2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BBCF5D7F-FDCE-1906-A2EC-8F8C984D1E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D3A1E3-BD41-4F23-A733-3FA9E8C555AD}" type="slidenum">
              <a:rPr lang="zh-TW" altLang="en-US" smtClean="0"/>
              <a:t>‹#›</a:t>
            </a:fld>
            <a:endParaRPr lang="zh-TW" altLang="en-US"/>
          </a:p>
        </p:txBody>
      </p:sp>
    </p:spTree>
    <p:extLst>
      <p:ext uri="{BB962C8B-B14F-4D97-AF65-F5344CB8AC3E}">
        <p14:creationId xmlns:p14="http://schemas.microsoft.com/office/powerpoint/2010/main" val="520860978"/>
      </p:ext>
    </p:extLst>
  </p:cSld>
  <p:clrMap bg1="lt1" tx1="dk1" bg2="lt2" tx2="dk2" accent1="accent1" accent2="accent2" accent3="accent3" accent4="accent4" accent5="accent5" accent6="accent6" hlink="hlink" folHlink="folHlink"/>
  <p:sldLayoutIdLst>
    <p:sldLayoutId id="2147484060" r:id="rId1"/>
    <p:sldLayoutId id="2147484061" r:id="rId2"/>
    <p:sldLayoutId id="2147484062" r:id="rId3"/>
    <p:sldLayoutId id="2147484063" r:id="rId4"/>
    <p:sldLayoutId id="2147484064" r:id="rId5"/>
    <p:sldLayoutId id="2147484065" r:id="rId6"/>
    <p:sldLayoutId id="2147484066" r:id="rId7"/>
    <p:sldLayoutId id="2147484067" r:id="rId8"/>
    <p:sldLayoutId id="2147484068" r:id="rId9"/>
    <p:sldLayoutId id="2147484069" r:id="rId10"/>
    <p:sldLayoutId id="214748407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A4EB8590-B893-4D81-AABF-5694F658CAA2}" type="datetimeFigureOut">
              <a:rPr lang="zh-TW" altLang="en-US" smtClean="0"/>
              <a:t>2022/10/11</a:t>
            </a:fld>
            <a:endParaRPr lang="zh-TW" alt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zh-TW" altLang="en-US"/>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189B586A-1962-4632-9E59-2A9A8F08A8F6}" type="slidenum">
              <a:rPr lang="zh-TW" altLang="en-US" smtClean="0"/>
              <a:t>‹#›</a:t>
            </a:fld>
            <a:endParaRPr lang="zh-TW" altLang="en-US"/>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940573153"/>
      </p:ext>
    </p:extLst>
  </p:cSld>
  <p:clrMap bg1="lt1" tx1="dk1" bg2="lt2" tx2="dk2" accent1="accent1" accent2="accent2" accent3="accent3" accent4="accent4" accent5="accent5" accent6="accent6" hlink="hlink" folHlink="folHlink"/>
  <p:sldLayoutIdLst>
    <p:sldLayoutId id="2147484072" r:id="rId1"/>
    <p:sldLayoutId id="2147484073" r:id="rId2"/>
    <p:sldLayoutId id="2147484074" r:id="rId3"/>
    <p:sldLayoutId id="2147484075" r:id="rId4"/>
    <p:sldLayoutId id="2147484076" r:id="rId5"/>
    <p:sldLayoutId id="2147484077" r:id="rId6"/>
    <p:sldLayoutId id="2147484078" r:id="rId7"/>
    <p:sldLayoutId id="2147484079" r:id="rId8"/>
    <p:sldLayoutId id="2147484080" r:id="rId9"/>
    <p:sldLayoutId id="2147484081" r:id="rId10"/>
    <p:sldLayoutId id="2147484082"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9.PNG"/><Relationship Id="rId10" Type="http://schemas.openxmlformats.org/officeDocument/2006/relationships/image" Target="../media/image12.png"/><Relationship Id="rId4" Type="http://schemas.openxmlformats.org/officeDocument/2006/relationships/image" Target="../media/image8.PNG"/><Relationship Id="rId9"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5.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7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810.png"/><Relationship Id="rId4" Type="http://schemas.openxmlformats.org/officeDocument/2006/relationships/image" Target="../media/image17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3.png"/><Relationship Id="rId21" Type="http://schemas.openxmlformats.org/officeDocument/2006/relationships/image" Target="../media/image1611.png"/><Relationship Id="rId7" Type="http://schemas.openxmlformats.org/officeDocument/2006/relationships/image" Target="../media/image190.png"/><Relationship Id="rId12" Type="http://schemas.openxmlformats.org/officeDocument/2006/relationships/image" Target="../media/image23.png"/><Relationship Id="rId25"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83.png"/><Relationship Id="rId11" Type="http://schemas.openxmlformats.org/officeDocument/2006/relationships/image" Target="../media/image19.png"/><Relationship Id="rId24" Type="http://schemas.openxmlformats.org/officeDocument/2006/relationships/image" Target="../media/image27.png"/><Relationship Id="rId5" Type="http://schemas.openxmlformats.org/officeDocument/2006/relationships/image" Target="../media/image170.png"/><Relationship Id="rId23" Type="http://schemas.openxmlformats.org/officeDocument/2006/relationships/image" Target="../media/image26.png"/><Relationship Id="rId10" Type="http://schemas.openxmlformats.org/officeDocument/2006/relationships/image" Target="../media/image22.png"/><Relationship Id="rId4" Type="http://schemas.openxmlformats.org/officeDocument/2006/relationships/image" Target="../media/image1610.png"/><Relationship Id="rId9" Type="http://schemas.openxmlformats.org/officeDocument/2006/relationships/image" Target="../media/image21.png"/><Relationship Id="rId22"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8" Type="http://schemas.openxmlformats.org/officeDocument/2006/relationships/image" Target="../media/image390.png"/><Relationship Id="rId13" Type="http://schemas.openxmlformats.org/officeDocument/2006/relationships/image" Target="../media/image440.png"/><Relationship Id="rId18" Type="http://schemas.openxmlformats.org/officeDocument/2006/relationships/image" Target="../media/image36.png"/><Relationship Id="rId3" Type="http://schemas.openxmlformats.org/officeDocument/2006/relationships/image" Target="../media/image3.png"/><Relationship Id="rId7" Type="http://schemas.openxmlformats.org/officeDocument/2006/relationships/image" Target="../media/image380.png"/><Relationship Id="rId12" Type="http://schemas.openxmlformats.org/officeDocument/2006/relationships/image" Target="../media/image430.png"/><Relationship Id="rId17" Type="http://schemas.openxmlformats.org/officeDocument/2006/relationships/image" Target="../media/image35.png"/><Relationship Id="rId2" Type="http://schemas.openxmlformats.org/officeDocument/2006/relationships/notesSlide" Target="../notesSlides/notesSlide19.xml"/><Relationship Id="rId16"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0.png"/><Relationship Id="rId11" Type="http://schemas.openxmlformats.org/officeDocument/2006/relationships/image" Target="../media/image420.png"/><Relationship Id="rId5" Type="http://schemas.openxmlformats.org/officeDocument/2006/relationships/image" Target="../media/image360.png"/><Relationship Id="rId15" Type="http://schemas.openxmlformats.org/officeDocument/2006/relationships/image" Target="../media/image460.png"/><Relationship Id="rId10" Type="http://schemas.openxmlformats.org/officeDocument/2006/relationships/image" Target="../media/image371.png"/><Relationship Id="rId4" Type="http://schemas.openxmlformats.org/officeDocument/2006/relationships/image" Target="../media/image350.png"/><Relationship Id="rId9" Type="http://schemas.openxmlformats.org/officeDocument/2006/relationships/image" Target="../media/image400.png"/><Relationship Id="rId14" Type="http://schemas.openxmlformats.org/officeDocument/2006/relationships/image" Target="../media/image450.png"/></Relationships>
</file>

<file path=ppt/slides/_rels/slide21.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png"/><Relationship Id="rId7" Type="http://schemas.openxmlformats.org/officeDocument/2006/relationships/image" Target="../media/image43.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6.png"/><Relationship Id="rId10" Type="http://schemas.openxmlformats.org/officeDocument/2006/relationships/image" Target="../media/image38.png"/><Relationship Id="rId4" Type="http://schemas.openxmlformats.org/officeDocument/2006/relationships/image" Target="../media/image35.png"/><Relationship Id="rId9" Type="http://schemas.openxmlformats.org/officeDocument/2006/relationships/image" Target="../media/image3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60.png"/><Relationship Id="rId18" Type="http://schemas.openxmlformats.org/officeDocument/2006/relationships/image" Target="../media/image48.png"/><Relationship Id="rId3" Type="http://schemas.openxmlformats.org/officeDocument/2006/relationships/image" Target="../media/image3.png"/><Relationship Id="rId7" Type="http://schemas.openxmlformats.org/officeDocument/2006/relationships/image" Target="../media/image380.png"/><Relationship Id="rId12" Type="http://schemas.openxmlformats.org/officeDocument/2006/relationships/image" Target="../media/image59.png"/><Relationship Id="rId17" Type="http://schemas.openxmlformats.org/officeDocument/2006/relationships/image" Target="../media/image64.png"/><Relationship Id="rId2" Type="http://schemas.openxmlformats.org/officeDocument/2006/relationships/notesSlide" Target="../notesSlides/notesSlide21.xml"/><Relationship Id="rId16" Type="http://schemas.openxmlformats.org/officeDocument/2006/relationships/image" Target="../media/image63.png"/><Relationship Id="rId1" Type="http://schemas.openxmlformats.org/officeDocument/2006/relationships/slideLayout" Target="../slideLayouts/slideLayout2.xml"/><Relationship Id="rId6" Type="http://schemas.openxmlformats.org/officeDocument/2006/relationships/image" Target="../media/image370.png"/><Relationship Id="rId11" Type="http://schemas.openxmlformats.org/officeDocument/2006/relationships/image" Target="../media/image58.png"/><Relationship Id="rId5" Type="http://schemas.openxmlformats.org/officeDocument/2006/relationships/image" Target="../media/image550.png"/><Relationship Id="rId15" Type="http://schemas.openxmlformats.org/officeDocument/2006/relationships/image" Target="../media/image62.png"/><Relationship Id="rId10" Type="http://schemas.openxmlformats.org/officeDocument/2006/relationships/image" Target="../media/image371.png"/><Relationship Id="rId19" Type="http://schemas.openxmlformats.org/officeDocument/2006/relationships/image" Target="../media/image49.png"/><Relationship Id="rId4" Type="http://schemas.openxmlformats.org/officeDocument/2006/relationships/image" Target="../media/image350.png"/><Relationship Id="rId9" Type="http://schemas.openxmlformats.org/officeDocument/2006/relationships/image" Target="../media/image57.png"/><Relationship Id="rId14" Type="http://schemas.openxmlformats.org/officeDocument/2006/relationships/image" Target="../media/image6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png"/><Relationship Id="rId7" Type="http://schemas.openxmlformats.org/officeDocument/2006/relationships/image" Target="../media/image4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comments" Target="../comments/comment1.xml"/><Relationship Id="rId5" Type="http://schemas.openxmlformats.org/officeDocument/2006/relationships/image" Target="../media/image33.png"/><Relationship Id="rId10" Type="http://schemas.openxmlformats.org/officeDocument/2006/relationships/image" Target="../media/image46.png"/><Relationship Id="rId4" Type="http://schemas.openxmlformats.org/officeDocument/2006/relationships/image" Target="../media/image39.png"/><Relationship Id="rId9" Type="http://schemas.openxmlformats.org/officeDocument/2006/relationships/image" Target="../media/image45.png"/></Relationships>
</file>

<file path=ppt/slides/_rels/slide26.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3.png"/><Relationship Id="rId7" Type="http://schemas.openxmlformats.org/officeDocument/2006/relationships/image" Target="../media/image52.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7.png"/><Relationship Id="rId9" Type="http://schemas.openxmlformats.org/officeDocument/2006/relationships/image" Target="../media/image33.png"/></Relationships>
</file>

<file path=ppt/slides/_rels/slide27.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3.png"/><Relationship Id="rId7" Type="http://schemas.openxmlformats.org/officeDocument/2006/relationships/image" Target="../media/image65.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55.png"/><Relationship Id="rId11" Type="http://schemas.openxmlformats.org/officeDocument/2006/relationships/image" Target="../media/image69.png"/><Relationship Id="rId5" Type="http://schemas.openxmlformats.org/officeDocument/2006/relationships/image" Target="../media/image54.png"/><Relationship Id="rId10" Type="http://schemas.openxmlformats.org/officeDocument/2006/relationships/image" Target="../media/image68.png"/><Relationship Id="rId4" Type="http://schemas.openxmlformats.org/officeDocument/2006/relationships/image" Target="../media/image33.png"/><Relationship Id="rId9" Type="http://schemas.openxmlformats.org/officeDocument/2006/relationships/image" Target="../media/image67.png"/></Relationships>
</file>

<file path=ppt/slides/_rels/slide28.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75.png"/><Relationship Id="rId3" Type="http://schemas.openxmlformats.org/officeDocument/2006/relationships/image" Target="../media/image3.png"/><Relationship Id="rId7" Type="http://schemas.openxmlformats.org/officeDocument/2006/relationships/image" Target="../media/image33.png"/><Relationship Id="rId12" Type="http://schemas.openxmlformats.org/officeDocument/2006/relationships/image" Target="../media/image76.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73.png"/><Relationship Id="rId11" Type="http://schemas.openxmlformats.org/officeDocument/2006/relationships/image" Target="../media/image730.png"/><Relationship Id="rId5" Type="http://schemas.openxmlformats.org/officeDocument/2006/relationships/image" Target="../media/image70.png"/><Relationship Id="rId10" Type="http://schemas.openxmlformats.org/officeDocument/2006/relationships/image" Target="../media/image50.png"/><Relationship Id="rId4" Type="http://schemas.openxmlformats.org/officeDocument/2006/relationships/image" Target="../media/image71.png"/><Relationship Id="rId9" Type="http://schemas.openxmlformats.org/officeDocument/2006/relationships/image" Target="../media/image7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8" Type="http://schemas.openxmlformats.org/officeDocument/2006/relationships/image" Target="../media/image77.png"/><Relationship Id="rId13" Type="http://schemas.openxmlformats.org/officeDocument/2006/relationships/image" Target="../media/image700.png"/><Relationship Id="rId3" Type="http://schemas.openxmlformats.org/officeDocument/2006/relationships/image" Target="../media/image3.png"/><Relationship Id="rId7" Type="http://schemas.openxmlformats.org/officeDocument/2006/relationships/image" Target="../media/image95.png"/><Relationship Id="rId12" Type="http://schemas.openxmlformats.org/officeDocument/2006/relationships/image" Target="../media/image101.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93.png"/><Relationship Id="rId11" Type="http://schemas.openxmlformats.org/officeDocument/2006/relationships/image" Target="../media/image100.png"/><Relationship Id="rId5" Type="http://schemas.openxmlformats.org/officeDocument/2006/relationships/image" Target="../media/image98.png"/><Relationship Id="rId10" Type="http://schemas.openxmlformats.org/officeDocument/2006/relationships/image" Target="../media/image79.png"/><Relationship Id="rId4" Type="http://schemas.openxmlformats.org/officeDocument/2006/relationships/image" Target="../media/image78.png"/><Relationship Id="rId9" Type="http://schemas.openxmlformats.org/officeDocument/2006/relationships/image" Target="../media/image720.png"/><Relationship Id="rId14" Type="http://schemas.openxmlformats.org/officeDocument/2006/relationships/image" Target="../media/image710.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81.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53.png"/><Relationship Id="rId4" Type="http://schemas.openxmlformats.org/officeDocument/2006/relationships/image" Target="../media/image79.png"/></Relationships>
</file>

<file path=ppt/slides/_rels/slide32.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3.png"/><Relationship Id="rId7" Type="http://schemas.openxmlformats.org/officeDocument/2006/relationships/image" Target="../media/image83.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82.PNG"/><Relationship Id="rId4" Type="http://schemas.openxmlformats.org/officeDocument/2006/relationships/image" Target="../media/image104.png"/></Relationships>
</file>

<file path=ppt/slides/_rels/slide33.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3.png"/><Relationship Id="rId7" Type="http://schemas.openxmlformats.org/officeDocument/2006/relationships/image" Target="../media/image112.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image" Target="../media/image86.png"/><Relationship Id="rId10" Type="http://schemas.openxmlformats.org/officeDocument/2006/relationships/image" Target="../media/image89.png"/><Relationship Id="rId4" Type="http://schemas.openxmlformats.org/officeDocument/2006/relationships/image" Target="../media/image85.png"/><Relationship Id="rId9" Type="http://schemas.openxmlformats.org/officeDocument/2006/relationships/image" Target="../media/image8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8" Type="http://schemas.openxmlformats.org/officeDocument/2006/relationships/image" Target="../media/image96.png"/><Relationship Id="rId3" Type="http://schemas.openxmlformats.org/officeDocument/2006/relationships/image" Target="../media/image3.png"/><Relationship Id="rId7" Type="http://schemas.openxmlformats.org/officeDocument/2006/relationships/image" Target="../media/image94.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92.png"/><Relationship Id="rId11" Type="http://schemas.openxmlformats.org/officeDocument/2006/relationships/image" Target="../media/image102.png"/><Relationship Id="rId5" Type="http://schemas.openxmlformats.org/officeDocument/2006/relationships/image" Target="../media/image91.png"/><Relationship Id="rId10" Type="http://schemas.openxmlformats.org/officeDocument/2006/relationships/image" Target="../media/image99.png"/><Relationship Id="rId4" Type="http://schemas.openxmlformats.org/officeDocument/2006/relationships/image" Target="../media/image90.png"/><Relationship Id="rId9" Type="http://schemas.openxmlformats.org/officeDocument/2006/relationships/image" Target="../media/image97.pn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6.jp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105.png"/><Relationship Id="rId5" Type="http://schemas.openxmlformats.org/officeDocument/2006/relationships/image" Target="../media/image103.png"/><Relationship Id="rId4" Type="http://schemas.openxmlformats.org/officeDocument/2006/relationships/image" Target="../media/image94.png"/></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9.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94.png"/><Relationship Id="rId5" Type="http://schemas.openxmlformats.org/officeDocument/2006/relationships/image" Target="../media/image108.png"/><Relationship Id="rId4" Type="http://schemas.openxmlformats.org/officeDocument/2006/relationships/image" Target="../media/image107.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6.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113.png"/><Relationship Id="rId5" Type="http://schemas.openxmlformats.org/officeDocument/2006/relationships/image" Target="../media/image111.png"/><Relationship Id="rId4" Type="http://schemas.openxmlformats.org/officeDocument/2006/relationships/image" Target="../media/image110.png"/></Relationships>
</file>

<file path=ppt/slides/_rels/slide39.xml.rels><?xml version="1.0" encoding="UTF-8" standalone="yes"?>
<Relationships xmlns="http://schemas.openxmlformats.org/package/2006/relationships"><Relationship Id="rId8" Type="http://schemas.openxmlformats.org/officeDocument/2006/relationships/image" Target="../media/image117.png"/><Relationship Id="rId3" Type="http://schemas.openxmlformats.org/officeDocument/2006/relationships/image" Target="../media/image3.png"/><Relationship Id="rId7" Type="http://schemas.openxmlformats.org/officeDocument/2006/relationships/image" Target="../media/image116.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96.png"/><Relationship Id="rId5" Type="http://schemas.openxmlformats.org/officeDocument/2006/relationships/image" Target="../media/image115.png"/><Relationship Id="rId4" Type="http://schemas.openxmlformats.org/officeDocument/2006/relationships/image" Target="../media/image114.pn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7.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120.png"/><Relationship Id="rId5" Type="http://schemas.openxmlformats.org/officeDocument/2006/relationships/image" Target="../media/image119.png"/><Relationship Id="rId4" Type="http://schemas.openxmlformats.org/officeDocument/2006/relationships/image" Target="../media/image118.png"/></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23.emf"/><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122.emf"/><Relationship Id="rId5" Type="http://schemas.openxmlformats.org/officeDocument/2006/relationships/image" Target="../media/image121.png"/><Relationship Id="rId4" Type="http://schemas.openxmlformats.org/officeDocument/2006/relationships/image" Target="../media/image97.png"/></Relationships>
</file>

<file path=ppt/slides/_rels/slide42.xml.rels><?xml version="1.0" encoding="UTF-8" standalone="yes"?>
<Relationships xmlns="http://schemas.openxmlformats.org/package/2006/relationships"><Relationship Id="rId8" Type="http://schemas.openxmlformats.org/officeDocument/2006/relationships/image" Target="../media/image128.png"/><Relationship Id="rId3" Type="http://schemas.openxmlformats.org/officeDocument/2006/relationships/image" Target="../media/image3.png"/><Relationship Id="rId7" Type="http://schemas.openxmlformats.org/officeDocument/2006/relationships/image" Target="../media/image127.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126.png"/><Relationship Id="rId5" Type="http://schemas.openxmlformats.org/officeDocument/2006/relationships/image" Target="../media/image125.png"/><Relationship Id="rId4" Type="http://schemas.openxmlformats.org/officeDocument/2006/relationships/image" Target="../media/image124.png"/><Relationship Id="rId9" Type="http://schemas.openxmlformats.org/officeDocument/2006/relationships/image" Target="../media/image129.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130.png"/></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132.png"/><Relationship Id="rId4" Type="http://schemas.openxmlformats.org/officeDocument/2006/relationships/image" Target="../media/image131.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135.png"/><Relationship Id="rId5" Type="http://schemas.openxmlformats.org/officeDocument/2006/relationships/image" Target="../media/image134.png"/><Relationship Id="rId4" Type="http://schemas.openxmlformats.org/officeDocument/2006/relationships/image" Target="../media/image133.png"/></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136.png"/><Relationship Id="rId4" Type="http://schemas.openxmlformats.org/officeDocument/2006/relationships/image" Target="../media/image131.png"/></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139.png"/><Relationship Id="rId5" Type="http://schemas.openxmlformats.org/officeDocument/2006/relationships/image" Target="../media/image138.png"/><Relationship Id="rId4" Type="http://schemas.openxmlformats.org/officeDocument/2006/relationships/image" Target="../media/image13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8" Type="http://schemas.openxmlformats.org/officeDocument/2006/relationships/image" Target="../media/image141.png"/><Relationship Id="rId3" Type="http://schemas.openxmlformats.org/officeDocument/2006/relationships/image" Target="../media/image3.png"/><Relationship Id="rId7" Type="http://schemas.openxmlformats.org/officeDocument/2006/relationships/image" Target="../media/image1570.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1580.png"/><Relationship Id="rId4" Type="http://schemas.openxmlformats.org/officeDocument/2006/relationships/image" Target="../media/image140.png"/><Relationship Id="rId9" Type="http://schemas.openxmlformats.org/officeDocument/2006/relationships/image" Target="../media/image1590.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143.png"/><Relationship Id="rId5" Type="http://schemas.openxmlformats.org/officeDocument/2006/relationships/image" Target="../media/image142.png"/><Relationship Id="rId4" Type="http://schemas.openxmlformats.org/officeDocument/2006/relationships/image" Target="../media/image149.png"/></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media/image144.png"/><Relationship Id="rId4" Type="http://schemas.openxmlformats.org/officeDocument/2006/relationships/image" Target="../media/image1630.png"/></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image" Target="../media/image145.png"/><Relationship Id="rId4" Type="http://schemas.openxmlformats.org/officeDocument/2006/relationships/image" Target="../media/image1630.png"/></Relationships>
</file>

<file path=ppt/slides/_rels/slide56.xml.rels><?xml version="1.0" encoding="UTF-8" standalone="yes"?>
<Relationships xmlns="http://schemas.openxmlformats.org/package/2006/relationships"><Relationship Id="rId8" Type="http://schemas.openxmlformats.org/officeDocument/2006/relationships/image" Target="../media/image151.png"/><Relationship Id="rId3" Type="http://schemas.openxmlformats.org/officeDocument/2006/relationships/image" Target="../media/image3.png"/><Relationship Id="rId7" Type="http://schemas.openxmlformats.org/officeDocument/2006/relationships/image" Target="../media/image150.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148.png"/><Relationship Id="rId5" Type="http://schemas.openxmlformats.org/officeDocument/2006/relationships/image" Target="../media/image147.png"/><Relationship Id="rId4" Type="http://schemas.openxmlformats.org/officeDocument/2006/relationships/image" Target="../media/image146.png"/></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153.png"/><Relationship Id="rId4" Type="http://schemas.openxmlformats.org/officeDocument/2006/relationships/image" Target="../media/image15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154.png"/></Relationships>
</file>

<file path=ppt/slides/_rels/slide6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57.pn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156.png"/><Relationship Id="rId5" Type="http://schemas.openxmlformats.org/officeDocument/2006/relationships/image" Target="../media/image155.png"/><Relationship Id="rId4" Type="http://schemas.openxmlformats.org/officeDocument/2006/relationships/image" Target="../media/image154.png"/></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59.png"/><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158.emf"/><Relationship Id="rId5" Type="http://schemas.openxmlformats.org/officeDocument/2006/relationships/image" Target="../media/image1740.png"/><Relationship Id="rId4" Type="http://schemas.openxmlformats.org/officeDocument/2006/relationships/image" Target="../media/image154.png"/></Relationships>
</file>

<file path=ppt/slides/_rels/slide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160.png"/></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161.jpg"/></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7.xml"/><Relationship Id="rId1" Type="http://schemas.openxmlformats.org/officeDocument/2006/relationships/slideLayout" Target="../slideLayouts/slideLayout2.xml"/><Relationship Id="rId5" Type="http://schemas.openxmlformats.org/officeDocument/2006/relationships/image" Target="../media/image163.png"/><Relationship Id="rId4" Type="http://schemas.openxmlformats.org/officeDocument/2006/relationships/image" Target="../media/image162.png"/></Relationships>
</file>

<file path=ppt/slides/_rels/slide65.xml.rels><?xml version="1.0" encoding="UTF-8" standalone="yes"?>
<Relationships xmlns="http://schemas.openxmlformats.org/package/2006/relationships"><Relationship Id="rId8" Type="http://schemas.openxmlformats.org/officeDocument/2006/relationships/image" Target="../media/image185.png"/><Relationship Id="rId3" Type="http://schemas.openxmlformats.org/officeDocument/2006/relationships/image" Target="../media/image3.png"/><Relationship Id="rId7" Type="http://schemas.openxmlformats.org/officeDocument/2006/relationships/image" Target="../media/image167.png"/><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166.png"/><Relationship Id="rId5" Type="http://schemas.openxmlformats.org/officeDocument/2006/relationships/image" Target="../media/image165.png"/><Relationship Id="rId10" Type="http://schemas.openxmlformats.org/officeDocument/2006/relationships/image" Target="../media/image169.png"/><Relationship Id="rId4" Type="http://schemas.openxmlformats.org/officeDocument/2006/relationships/image" Target="../media/image164.png"/><Relationship Id="rId9" Type="http://schemas.openxmlformats.org/officeDocument/2006/relationships/image" Target="../media/image168.png"/></Relationships>
</file>

<file path=ppt/slides/_rels/slide66.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image" Target="../media/image173.png"/><Relationship Id="rId5" Type="http://schemas.openxmlformats.org/officeDocument/2006/relationships/image" Target="../media/image172.png"/><Relationship Id="rId4" Type="http://schemas.openxmlformats.org/officeDocument/2006/relationships/image" Target="../media/image3.png"/></Relationships>
</file>

<file path=ppt/slides/_rels/slide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8" Type="http://schemas.openxmlformats.org/officeDocument/2006/relationships/image" Target="../media/image175.png"/><Relationship Id="rId3" Type="http://schemas.openxmlformats.org/officeDocument/2006/relationships/image" Target="../media/image1790.png"/><Relationship Id="rId7" Type="http://schemas.openxmlformats.org/officeDocument/2006/relationships/image" Target="../media/image30.png"/><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4.png"/><Relationship Id="rId4" Type="http://schemas.openxmlformats.org/officeDocument/2006/relationships/image" Target="../media/image3.png"/><Relationship Id="rId9" Type="http://schemas.openxmlformats.org/officeDocument/2006/relationships/image" Target="../media/image176.png"/></Relationships>
</file>

<file path=ppt/slides/_rels/slide69.xml.rels><?xml version="1.0" encoding="UTF-8" standalone="yes"?>
<Relationships xmlns="http://schemas.openxmlformats.org/package/2006/relationships"><Relationship Id="rId3" Type="http://schemas.openxmlformats.org/officeDocument/2006/relationships/image" Target="../media/image1860.png"/><Relationship Id="rId7" Type="http://schemas.openxmlformats.org/officeDocument/2006/relationships/image" Target="../media/image175.png"/><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image" Target="../media/image177.png"/><Relationship Id="rId5" Type="http://schemas.openxmlformats.org/officeDocument/2006/relationships/image" Target="../media/image176.png"/><Relationship Id="rId4" Type="http://schemas.openxmlformats.org/officeDocument/2006/relationships/image" Target="../media/image3.png"/></Relationships>
</file>

<file path=ppt/slides/_rels/slide7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image" Target="../media/image157.png"/><Relationship Id="rId5" Type="http://schemas.openxmlformats.org/officeDocument/2006/relationships/image" Target="../media/image155.png"/><Relationship Id="rId4" Type="http://schemas.openxmlformats.org/officeDocument/2006/relationships/image" Target="../media/image154.png"/></Relationships>
</file>

<file path=ppt/slides/_rels/slide71.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184.png"/><Relationship Id="rId18" Type="http://schemas.openxmlformats.org/officeDocument/2006/relationships/image" Target="../media/image300.png"/><Relationship Id="rId3" Type="http://schemas.openxmlformats.org/officeDocument/2006/relationships/image" Target="../media/image3.png"/><Relationship Id="rId21" Type="http://schemas.openxmlformats.org/officeDocument/2006/relationships/image" Target="../media/image184.png"/><Relationship Id="rId7" Type="http://schemas.openxmlformats.org/officeDocument/2006/relationships/image" Target="../media/image190.png"/><Relationship Id="rId12" Type="http://schemas.openxmlformats.org/officeDocument/2006/relationships/image" Target="../media/image180.png"/><Relationship Id="rId17" Type="http://schemas.openxmlformats.org/officeDocument/2006/relationships/image" Target="../media/image290.png"/><Relationship Id="rId2" Type="http://schemas.openxmlformats.org/officeDocument/2006/relationships/notesSlide" Target="../notesSlides/notesSlide64.xml"/><Relationship Id="rId16" Type="http://schemas.openxmlformats.org/officeDocument/2006/relationships/image" Target="../media/image179.png"/><Relationship Id="rId20" Type="http://schemas.openxmlformats.org/officeDocument/2006/relationships/image" Target="../media/image182.png"/><Relationship Id="rId1" Type="http://schemas.openxmlformats.org/officeDocument/2006/relationships/slideLayout" Target="../slideLayouts/slideLayout2.xml"/><Relationship Id="rId6" Type="http://schemas.openxmlformats.org/officeDocument/2006/relationships/image" Target="../media/image183.png"/><Relationship Id="rId11" Type="http://schemas.openxmlformats.org/officeDocument/2006/relationships/image" Target="../media/image178.png"/><Relationship Id="rId5" Type="http://schemas.openxmlformats.org/officeDocument/2006/relationships/image" Target="../media/image170.png"/><Relationship Id="rId15" Type="http://schemas.openxmlformats.org/officeDocument/2006/relationships/image" Target="../media/image270.png"/><Relationship Id="rId10" Type="http://schemas.openxmlformats.org/officeDocument/2006/relationships/image" Target="../media/image22.png"/><Relationship Id="rId19" Type="http://schemas.openxmlformats.org/officeDocument/2006/relationships/image" Target="../media/image180.png"/><Relationship Id="rId4" Type="http://schemas.openxmlformats.org/officeDocument/2006/relationships/image" Target="../media/image1610.png"/><Relationship Id="rId9" Type="http://schemas.openxmlformats.org/officeDocument/2006/relationships/image" Target="../media/image21.png"/><Relationship Id="rId14" Type="http://schemas.openxmlformats.org/officeDocument/2006/relationships/image" Target="../media/image260.png"/></Relationships>
</file>

<file path=ppt/slides/_rels/slide72.xml.rels><?xml version="1.0" encoding="UTF-8" standalone="yes"?>
<Relationships xmlns="http://schemas.openxmlformats.org/package/2006/relationships"><Relationship Id="rId8" Type="http://schemas.openxmlformats.org/officeDocument/2006/relationships/image" Target="../media/image390.png"/><Relationship Id="rId13" Type="http://schemas.openxmlformats.org/officeDocument/2006/relationships/image" Target="../media/image440.png"/><Relationship Id="rId18" Type="http://schemas.openxmlformats.org/officeDocument/2006/relationships/image" Target="../media/image36.png"/><Relationship Id="rId3" Type="http://schemas.openxmlformats.org/officeDocument/2006/relationships/image" Target="../media/image3.png"/><Relationship Id="rId7" Type="http://schemas.openxmlformats.org/officeDocument/2006/relationships/image" Target="../media/image380.png"/><Relationship Id="rId12" Type="http://schemas.openxmlformats.org/officeDocument/2006/relationships/image" Target="../media/image430.png"/><Relationship Id="rId17" Type="http://schemas.openxmlformats.org/officeDocument/2006/relationships/image" Target="../media/image35.png"/><Relationship Id="rId2" Type="http://schemas.openxmlformats.org/officeDocument/2006/relationships/notesSlide" Target="../notesSlides/notesSlide65.xml"/><Relationship Id="rId16"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0.png"/><Relationship Id="rId11" Type="http://schemas.openxmlformats.org/officeDocument/2006/relationships/image" Target="../media/image420.png"/><Relationship Id="rId5" Type="http://schemas.openxmlformats.org/officeDocument/2006/relationships/image" Target="../media/image360.png"/><Relationship Id="rId15" Type="http://schemas.openxmlformats.org/officeDocument/2006/relationships/image" Target="../media/image460.png"/><Relationship Id="rId10" Type="http://schemas.openxmlformats.org/officeDocument/2006/relationships/image" Target="../media/image371.png"/><Relationship Id="rId4" Type="http://schemas.openxmlformats.org/officeDocument/2006/relationships/image" Target="../media/image350.png"/><Relationship Id="rId9" Type="http://schemas.openxmlformats.org/officeDocument/2006/relationships/image" Target="../media/image400.png"/><Relationship Id="rId14" Type="http://schemas.openxmlformats.org/officeDocument/2006/relationships/image" Target="../media/image450.png"/></Relationships>
</file>

<file path=ppt/slides/_rels/slide73.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3.png"/><Relationship Id="rId7" Type="http://schemas.openxmlformats.org/officeDocument/2006/relationships/image" Target="../media/image187.png"/><Relationship Id="rId2" Type="http://schemas.openxmlformats.org/officeDocument/2006/relationships/notesSlide" Target="../notesSlides/notesSlide66.xml"/><Relationship Id="rId1" Type="http://schemas.openxmlformats.org/officeDocument/2006/relationships/slideLayout" Target="../slideLayouts/slideLayout2.xml"/><Relationship Id="rId6" Type="http://schemas.openxmlformats.org/officeDocument/2006/relationships/image" Target="../media/image55.png"/><Relationship Id="rId11" Type="http://schemas.openxmlformats.org/officeDocument/2006/relationships/image" Target="../media/image68.png"/><Relationship Id="rId5" Type="http://schemas.openxmlformats.org/officeDocument/2006/relationships/image" Target="../media/image54.png"/><Relationship Id="rId10" Type="http://schemas.openxmlformats.org/officeDocument/2006/relationships/image" Target="../media/image67.png"/><Relationship Id="rId4" Type="http://schemas.openxmlformats.org/officeDocument/2006/relationships/image" Target="../media/image33.png"/><Relationship Id="rId9" Type="http://schemas.openxmlformats.org/officeDocument/2006/relationships/image" Target="../media/image66.png"/></Relationships>
</file>

<file path=ppt/slides/_rels/slide74.xml.rels><?xml version="1.0" encoding="UTF-8" standalone="yes"?>
<Relationships xmlns="http://schemas.openxmlformats.org/package/2006/relationships"><Relationship Id="rId8" Type="http://schemas.openxmlformats.org/officeDocument/2006/relationships/image" Target="../media/image820.png"/><Relationship Id="rId13" Type="http://schemas.openxmlformats.org/officeDocument/2006/relationships/image" Target="../media/image1870.png"/><Relationship Id="rId18" Type="http://schemas.openxmlformats.org/officeDocument/2006/relationships/image" Target="../media/image195.png"/><Relationship Id="rId3" Type="http://schemas.openxmlformats.org/officeDocument/2006/relationships/image" Target="../media/image3.png"/><Relationship Id="rId21" Type="http://schemas.openxmlformats.org/officeDocument/2006/relationships/image" Target="../media/image198.png"/><Relationship Id="rId7" Type="http://schemas.openxmlformats.org/officeDocument/2006/relationships/image" Target="../media/image810.png"/><Relationship Id="rId12" Type="http://schemas.openxmlformats.org/officeDocument/2006/relationships/image" Target="../media/image1840.png"/><Relationship Id="rId17" Type="http://schemas.openxmlformats.org/officeDocument/2006/relationships/image" Target="../media/image193.png"/><Relationship Id="rId2" Type="http://schemas.openxmlformats.org/officeDocument/2006/relationships/notesSlide" Target="../notesSlides/notesSlide67.xml"/><Relationship Id="rId16" Type="http://schemas.openxmlformats.org/officeDocument/2006/relationships/image" Target="../media/image191.png"/><Relationship Id="rId20" Type="http://schemas.openxmlformats.org/officeDocument/2006/relationships/image" Target="../media/image197.png"/><Relationship Id="rId1" Type="http://schemas.openxmlformats.org/officeDocument/2006/relationships/slideLayout" Target="../slideLayouts/slideLayout2.xml"/><Relationship Id="rId6" Type="http://schemas.openxmlformats.org/officeDocument/2006/relationships/image" Target="../media/image800.PNG"/><Relationship Id="rId11" Type="http://schemas.openxmlformats.org/officeDocument/2006/relationships/image" Target="../media/image850.png"/><Relationship Id="rId5" Type="http://schemas.openxmlformats.org/officeDocument/2006/relationships/image" Target="../media/image1820.png"/><Relationship Id="rId15" Type="http://schemas.openxmlformats.org/officeDocument/2006/relationships/image" Target="../media/image189.png"/><Relationship Id="rId10" Type="http://schemas.openxmlformats.org/officeDocument/2006/relationships/image" Target="../media/image840.png"/><Relationship Id="rId19" Type="http://schemas.openxmlformats.org/officeDocument/2006/relationships/image" Target="../media/image196.png"/><Relationship Id="rId4" Type="http://schemas.openxmlformats.org/officeDocument/2006/relationships/image" Target="../media/image33.png"/><Relationship Id="rId9" Type="http://schemas.openxmlformats.org/officeDocument/2006/relationships/image" Target="../media/image830.png"/><Relationship Id="rId14" Type="http://schemas.openxmlformats.org/officeDocument/2006/relationships/image" Target="../media/image188.png"/><Relationship Id="rId22" Type="http://schemas.openxmlformats.org/officeDocument/2006/relationships/image" Target="../media/image199.png"/></Relationships>
</file>

<file path=ppt/slides/_rels/slide75.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3.png"/><Relationship Id="rId7" Type="http://schemas.openxmlformats.org/officeDocument/2006/relationships/image" Target="../media/image187.png"/><Relationship Id="rId2" Type="http://schemas.openxmlformats.org/officeDocument/2006/relationships/notesSlide" Target="../notesSlides/notesSlide68.xml"/><Relationship Id="rId1" Type="http://schemas.openxmlformats.org/officeDocument/2006/relationships/slideLayout" Target="../slideLayouts/slideLayout2.xml"/><Relationship Id="rId6" Type="http://schemas.openxmlformats.org/officeDocument/2006/relationships/image" Target="../media/image55.png"/><Relationship Id="rId11" Type="http://schemas.openxmlformats.org/officeDocument/2006/relationships/image" Target="../media/image68.png"/><Relationship Id="rId5" Type="http://schemas.openxmlformats.org/officeDocument/2006/relationships/image" Target="../media/image54.png"/><Relationship Id="rId10" Type="http://schemas.openxmlformats.org/officeDocument/2006/relationships/image" Target="../media/image67.png"/><Relationship Id="rId4" Type="http://schemas.openxmlformats.org/officeDocument/2006/relationships/image" Target="../media/image33.png"/><Relationship Id="rId9" Type="http://schemas.openxmlformats.org/officeDocument/2006/relationships/image" Target="../media/image66.png"/></Relationships>
</file>

<file path=ppt/slides/_rels/slide7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9.xml"/><Relationship Id="rId1" Type="http://schemas.openxmlformats.org/officeDocument/2006/relationships/slideLayout" Target="../slideLayouts/slideLayout2.xml"/><Relationship Id="rId6" Type="http://schemas.openxmlformats.org/officeDocument/2006/relationships/image" Target="../media/image192.PNG"/><Relationship Id="rId5" Type="http://schemas.openxmlformats.org/officeDocument/2006/relationships/image" Target="../media/image9.PNG"/><Relationship Id="rId4" Type="http://schemas.openxmlformats.org/officeDocument/2006/relationships/image" Target="../media/image8.PNG"/></Relationships>
</file>

<file path=ppt/slides/_rels/slide77.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image" Target="../media/image193.jp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image" Target="../media/image195.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B234533-BEA9-4A18-9485-B6C4C79A7A38}"/>
              </a:ext>
            </a:extLst>
          </p:cNvPr>
          <p:cNvSpPr>
            <a:spLocks noGrp="1"/>
          </p:cNvSpPr>
          <p:nvPr>
            <p:ph type="ctrTitle"/>
          </p:nvPr>
        </p:nvSpPr>
        <p:spPr>
          <a:xfrm>
            <a:off x="1900878" y="1664042"/>
            <a:ext cx="8390238" cy="2891481"/>
          </a:xfrm>
        </p:spPr>
        <p:txBody>
          <a:bodyPr>
            <a:noAutofit/>
          </a:bodyPr>
          <a:lstStyle/>
          <a:p>
            <a:r>
              <a:rPr lang="zh-TW" altLang="en-US" sz="3200" b="1" dirty="0">
                <a:latin typeface="Times New Roman" panose="02020603050405020304" pitchFamily="18" charset="0"/>
                <a:ea typeface="標楷體" panose="03000509000000000000" pitchFamily="65" charset="-120"/>
                <a:cs typeface="Times New Roman" panose="02020603050405020304" pitchFamily="18" charset="0"/>
              </a:rPr>
              <a:t>電光調制積體週期性晶疇極化反轉鈮酸鋰自發參量下轉換晶片產生雙偏振正交光子對之研究</a:t>
            </a:r>
            <a:br>
              <a:rPr lang="en-US" altLang="zh-TW" sz="3600" b="1" dirty="0">
                <a:latin typeface="Times New Roman" panose="02020603050405020304" pitchFamily="18" charset="0"/>
                <a:ea typeface="標楷體" panose="03000509000000000000" pitchFamily="65" charset="-120"/>
                <a:cs typeface="Times New Roman" panose="02020603050405020304" pitchFamily="18" charset="0"/>
              </a:rPr>
            </a:br>
            <a:r>
              <a:rPr lang="en-US" altLang="zh-TW" sz="3200" b="1" dirty="0">
                <a:latin typeface="Times New Roman" panose="02020603050405020304" pitchFamily="18" charset="0"/>
                <a:ea typeface="標楷體" panose="03000509000000000000" pitchFamily="65" charset="-120"/>
                <a:cs typeface="Times New Roman" panose="02020603050405020304" pitchFamily="18" charset="0"/>
              </a:rPr>
              <a:t>The study of electro-optically controlled integrated periodically poled lithium niobate spontaneous parametric down-conversion chip for dual orthogonal-polarization photon-pair generation</a:t>
            </a:r>
            <a:endParaRPr lang="zh-TW" altLang="en-US" sz="3200" b="1"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5" name="圖片 4">
            <a:extLst>
              <a:ext uri="{FF2B5EF4-FFF2-40B4-BE49-F238E27FC236}">
                <a16:creationId xmlns:a16="http://schemas.microsoft.com/office/drawing/2014/main" id="{7F9D8F63-E862-4B05-99E1-AF95BB756F55}"/>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10850922" y="38148"/>
            <a:ext cx="1341078" cy="714214"/>
          </a:xfrm>
          <a:prstGeom prst="rect">
            <a:avLst/>
          </a:prstGeom>
        </p:spPr>
      </p:pic>
      <p:sp>
        <p:nvSpPr>
          <p:cNvPr id="6" name="投影片編號版面配置區 5">
            <a:extLst>
              <a:ext uri="{FF2B5EF4-FFF2-40B4-BE49-F238E27FC236}">
                <a16:creationId xmlns:a16="http://schemas.microsoft.com/office/drawing/2014/main" id="{577D8087-26B7-43A9-B122-0EF665805D3E}"/>
              </a:ext>
            </a:extLst>
          </p:cNvPr>
          <p:cNvSpPr>
            <a:spLocks noGrp="1"/>
          </p:cNvSpPr>
          <p:nvPr>
            <p:ph type="sldNum" sz="quarter" idx="12"/>
          </p:nvPr>
        </p:nvSpPr>
        <p:spPr>
          <a:xfrm>
            <a:off x="10038000" y="6357601"/>
            <a:ext cx="471600"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1</a:t>
            </a:fld>
            <a:endParaRPr lang="zh-TW" altLang="en-US" b="1" dirty="0">
              <a:latin typeface="Times New Roman" panose="02020603050405020304" pitchFamily="18" charset="0"/>
              <a:cs typeface="Times New Roman" panose="02020603050405020304" pitchFamily="18" charset="0"/>
            </a:endParaRPr>
          </a:p>
        </p:txBody>
      </p:sp>
      <p:pic>
        <p:nvPicPr>
          <p:cNvPr id="9" name="圖片 8">
            <a:extLst>
              <a:ext uri="{FF2B5EF4-FFF2-40B4-BE49-F238E27FC236}">
                <a16:creationId xmlns:a16="http://schemas.microsoft.com/office/drawing/2014/main" id="{813E7B54-416C-5D46-8C6B-D92681A7CF4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79657"/>
            <a:ext cx="3012604" cy="634557"/>
          </a:xfrm>
          <a:prstGeom prst="rect">
            <a:avLst/>
          </a:prstGeom>
        </p:spPr>
      </p:pic>
      <p:pic>
        <p:nvPicPr>
          <p:cNvPr id="13" name="圖片 12">
            <a:extLst>
              <a:ext uri="{FF2B5EF4-FFF2-40B4-BE49-F238E27FC236}">
                <a16:creationId xmlns:a16="http://schemas.microsoft.com/office/drawing/2014/main" id="{79FC3CD7-2775-470F-2FF6-38CEF914E83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5995835"/>
            <a:ext cx="2062699" cy="827105"/>
          </a:xfrm>
          <a:prstGeom prst="rect">
            <a:avLst/>
          </a:prstGeom>
        </p:spPr>
      </p:pic>
      <p:sp>
        <p:nvSpPr>
          <p:cNvPr id="15" name="副標題 2">
            <a:extLst>
              <a:ext uri="{FF2B5EF4-FFF2-40B4-BE49-F238E27FC236}">
                <a16:creationId xmlns:a16="http://schemas.microsoft.com/office/drawing/2014/main" id="{5A39CD31-7D8D-2E59-7059-CA720E09DC98}"/>
              </a:ext>
            </a:extLst>
          </p:cNvPr>
          <p:cNvSpPr>
            <a:spLocks noGrp="1"/>
          </p:cNvSpPr>
          <p:nvPr>
            <p:ph type="subTitle" idx="1"/>
          </p:nvPr>
        </p:nvSpPr>
        <p:spPr>
          <a:xfrm>
            <a:off x="726948" y="4560503"/>
            <a:ext cx="10518850" cy="2297497"/>
          </a:xfrm>
        </p:spPr>
        <p:txBody>
          <a:bodyPr>
            <a:normAutofit/>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邱承中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CHIU,CHENG-CHUNG</a:t>
            </a:r>
          </a:p>
          <a:p>
            <a:r>
              <a:rPr lang="zh-TW" altLang="en-US" sz="2600" dirty="0">
                <a:latin typeface="Times New Roman" panose="02020603050405020304" pitchFamily="18" charset="0"/>
                <a:ea typeface="標楷體" panose="03000509000000000000" pitchFamily="65" charset="-120"/>
                <a:cs typeface="Times New Roman" panose="02020603050405020304" pitchFamily="18" charset="0"/>
              </a:rPr>
              <a:t>指導教授： 陳彥宏 博士</a:t>
            </a:r>
            <a:endParaRPr lang="en-US" altLang="zh-TW" sz="2600" dirty="0">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sz="1800" i="1" dirty="0">
                <a:latin typeface="Times New Roman" panose="02020603050405020304" pitchFamily="18" charset="0"/>
                <a:cs typeface="Times New Roman" panose="02020603050405020304" pitchFamily="18" charset="0"/>
              </a:rPr>
              <a:t>Nonlinear Integrated Laser Photonics Lab (NILP),</a:t>
            </a:r>
          </a:p>
          <a:p>
            <a:r>
              <a:rPr lang="en-US" altLang="zh-TW" sz="1800" i="1" dirty="0">
                <a:latin typeface="Times New Roman" panose="02020603050405020304" pitchFamily="18" charset="0"/>
                <a:cs typeface="Times New Roman" panose="02020603050405020304" pitchFamily="18" charset="0"/>
              </a:rPr>
              <a:t> Department of Optics and Photonics, </a:t>
            </a:r>
          </a:p>
          <a:p>
            <a:r>
              <a:rPr lang="en-US" altLang="zh-TW" sz="1800" i="1" dirty="0">
                <a:latin typeface="Times New Roman" panose="02020603050405020304" pitchFamily="18" charset="0"/>
                <a:cs typeface="Times New Roman" panose="02020603050405020304" pitchFamily="18" charset="0"/>
              </a:rPr>
              <a:t>National Central University, </a:t>
            </a:r>
            <a:r>
              <a:rPr lang="en-US" altLang="zh-TW" sz="1800" i="1" dirty="0" err="1">
                <a:latin typeface="Times New Roman" panose="02020603050405020304" pitchFamily="18" charset="0"/>
                <a:cs typeface="Times New Roman" panose="02020603050405020304" pitchFamily="18" charset="0"/>
              </a:rPr>
              <a:t>Jhongli</a:t>
            </a:r>
            <a:r>
              <a:rPr lang="en-US" altLang="zh-TW" sz="1800" i="1" dirty="0">
                <a:latin typeface="Times New Roman" panose="02020603050405020304" pitchFamily="18" charset="0"/>
                <a:cs typeface="Times New Roman" panose="02020603050405020304" pitchFamily="18" charset="0"/>
              </a:rPr>
              <a:t> 320, Taiwan</a:t>
            </a:r>
          </a:p>
        </p:txBody>
      </p:sp>
    </p:spTree>
    <p:extLst>
      <p:ext uri="{BB962C8B-B14F-4D97-AF65-F5344CB8AC3E}">
        <p14:creationId xmlns:p14="http://schemas.microsoft.com/office/powerpoint/2010/main" val="26169033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vert="horz" lIns="91440" tIns="45720" rIns="91440" bIns="45720" rtlCol="0" anchor="ctr">
            <a:normAutofit/>
          </a:bodyPr>
          <a:lstStyle/>
          <a:p>
            <a:r>
              <a:rPr lang="en-US" altLang="zh-TW" b="1" dirty="0">
                <a:latin typeface="Times New Roman" panose="02020603050405020304" pitchFamily="18" charset="0"/>
                <a:cs typeface="Times New Roman" panose="02020603050405020304" pitchFamily="18" charset="0"/>
              </a:rPr>
              <a:t>Outline</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7785E72D-3875-448F-8D77-75F9CFD57AC4}"/>
              </a:ext>
            </a:extLst>
          </p:cNvPr>
          <p:cNvSpPr>
            <a:spLocks noGrp="1"/>
          </p:cNvSpPr>
          <p:nvPr>
            <p:ph idx="4294967295"/>
          </p:nvPr>
        </p:nvSpPr>
        <p:spPr>
          <a:xfrm>
            <a:off x="300681" y="1011369"/>
            <a:ext cx="7080422" cy="5710108"/>
          </a:xfrm>
        </p:spPr>
        <p:txBody>
          <a:bodyPr>
            <a:normAutofit fontScale="85000" lnSpcReduction="20000"/>
          </a:bodyPr>
          <a:lstStyle/>
          <a:p>
            <a:pPr marL="342900" lvl="0" indent="-342900">
              <a:spcAft>
                <a:spcPts val="0"/>
              </a:spcAft>
              <a:buFont typeface="+mj-lt"/>
              <a:buAutoNum type="romanLcPeriod"/>
            </a:pPr>
            <a:r>
              <a:rPr lang="en-US" altLang="zh-TW" sz="2000" b="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Introduction</a:t>
            </a:r>
            <a:endParaRPr lang="zh-TW" altLang="zh-TW" sz="1100" kern="100" dirty="0">
              <a:solidFill>
                <a:schemeClr val="tx1"/>
              </a:solidFill>
              <a:latin typeface="Calibri" panose="020F0502020204030204" pitchFamily="34" charset="0"/>
              <a:cs typeface="Times New Roman" panose="02020603050405020304" pitchFamily="18" charset="0"/>
            </a:endParaRPr>
          </a:p>
          <a:p>
            <a:pPr marL="800100" lvl="1" indent="-342900">
              <a:buFont typeface="+mj-lt"/>
              <a:buAutoNum type="arabicPeriod"/>
            </a:pPr>
            <a:r>
              <a:rPr lang="en-US" altLang="zh-TW" sz="1600" b="1" i="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Applications</a:t>
            </a:r>
            <a:endParaRPr lang="zh-TW" altLang="zh-TW" sz="1200" kern="100" dirty="0">
              <a:solidFill>
                <a:schemeClr val="tx1"/>
              </a:solidFill>
              <a:latin typeface="Calibri" panose="020F0502020204030204" pitchFamily="34" charset="0"/>
              <a:cs typeface="Times New Roman" panose="02020603050405020304" pitchFamily="18" charset="0"/>
            </a:endParaRPr>
          </a:p>
          <a:p>
            <a:pPr marL="800100" lvl="1" indent="-342900">
              <a:buFont typeface="+mj-lt"/>
              <a:buAutoNum type="arabicPeriod"/>
            </a:pPr>
            <a:r>
              <a:rPr lang="en-US" altLang="zh-TW" sz="1600" b="1" i="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Motivation</a:t>
            </a:r>
            <a:endParaRPr lang="zh-TW" altLang="zh-TW" sz="1200" kern="100" dirty="0">
              <a:solidFill>
                <a:schemeClr val="tx1"/>
              </a:solidFill>
              <a:latin typeface="Calibri" panose="020F0502020204030204" pitchFamily="34" charset="0"/>
              <a:cs typeface="Times New Roman" panose="02020603050405020304" pitchFamily="18" charset="0"/>
            </a:endParaRPr>
          </a:p>
          <a:p>
            <a:pPr marL="800100" lvl="1" indent="-342900">
              <a:buFont typeface="+mj-lt"/>
              <a:buAutoNum type="arabicPeriod"/>
            </a:pPr>
            <a:r>
              <a:rPr lang="en-US" altLang="zh-TW" sz="1600" b="1" i="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Objective</a:t>
            </a:r>
          </a:p>
          <a:p>
            <a:pPr marL="800100" lvl="1" indent="-342900">
              <a:buFont typeface="+mj-lt"/>
              <a:buAutoNum type="arabicPeriod"/>
            </a:pPr>
            <a:endParaRPr lang="zh-TW" altLang="zh-TW" sz="900" kern="100" dirty="0">
              <a:solidFill>
                <a:schemeClr val="tx1"/>
              </a:solidFill>
              <a:latin typeface="Calibri" panose="020F0502020204030204" pitchFamily="34" charset="0"/>
              <a:cs typeface="Times New Roman" panose="02020603050405020304" pitchFamily="18" charset="0"/>
            </a:endParaRPr>
          </a:p>
          <a:p>
            <a:pPr marL="342900" lvl="0" indent="-342900">
              <a:spcAft>
                <a:spcPts val="0"/>
              </a:spcAft>
              <a:buFont typeface="+mj-lt"/>
              <a:buAutoNum type="romanLcPeriod"/>
            </a:pPr>
            <a:r>
              <a:rPr lang="en-US" altLang="zh-TW" sz="2000" b="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Working principles</a:t>
            </a:r>
            <a:endParaRPr lang="zh-TW" altLang="zh-TW" sz="1100" kern="100" dirty="0">
              <a:solidFill>
                <a:schemeClr val="tx1"/>
              </a:solidFill>
              <a:latin typeface="Calibri" panose="020F0502020204030204" pitchFamily="34" charset="0"/>
              <a:cs typeface="Times New Roman" panose="02020603050405020304" pitchFamily="18" charset="0"/>
            </a:endParaRPr>
          </a:p>
          <a:p>
            <a:pPr marL="800100" lvl="1" indent="-342900">
              <a:buFont typeface="+mj-lt"/>
              <a:buAutoNum type="arabicPeriod"/>
            </a:pPr>
            <a:r>
              <a:rPr lang="en-US" altLang="zh-TW" sz="1600" b="1" i="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SHG/SPDC</a:t>
            </a:r>
          </a:p>
          <a:p>
            <a:pPr marL="800100" lvl="1" indent="-342900">
              <a:buFont typeface="+mj-lt"/>
              <a:buAutoNum type="arabicPeriod"/>
            </a:pPr>
            <a:r>
              <a:rPr lang="en-US" altLang="zh-TW" sz="1600" b="1" i="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Electro-Optic Polarization Mode Convertor(EOPMC)</a:t>
            </a:r>
          </a:p>
          <a:p>
            <a:pPr marL="800100" lvl="1" indent="-342900">
              <a:buFont typeface="+mj-lt"/>
              <a:buAutoNum type="arabicPeriod"/>
            </a:pPr>
            <a:r>
              <a:rPr lang="en-US" altLang="zh-TW" sz="1600" b="1" i="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Electro-Optic Effect(EO)</a:t>
            </a:r>
            <a:endParaRPr lang="zh-TW" altLang="zh-TW" sz="900" b="1" i="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marL="342900" lvl="0" indent="-342900">
              <a:spcAft>
                <a:spcPts val="0"/>
              </a:spcAft>
              <a:buFont typeface="+mj-lt"/>
              <a:buAutoNum type="romanLcPeriod"/>
            </a:pPr>
            <a:r>
              <a:rPr lang="en-US" altLang="zh-TW" sz="2000" b="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Device Design and Simulation Results</a:t>
            </a:r>
            <a:endParaRPr lang="zh-TW" altLang="zh-TW" sz="1100" kern="100" dirty="0">
              <a:solidFill>
                <a:schemeClr val="tx1"/>
              </a:solidFill>
              <a:latin typeface="Calibri" panose="020F0502020204030204" pitchFamily="34" charset="0"/>
              <a:cs typeface="Times New Roman" panose="02020603050405020304" pitchFamily="18" charset="0"/>
            </a:endParaRPr>
          </a:p>
          <a:p>
            <a:pPr marL="800100" lvl="1" indent="-342900">
              <a:buFont typeface="+mj-lt"/>
              <a:buAutoNum type="arabicPeriod"/>
            </a:pPr>
            <a:r>
              <a:rPr lang="en-US" altLang="zh-TW" sz="1600" b="1" i="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EOPMC simulation results</a:t>
            </a:r>
            <a:endParaRPr lang="zh-TW" altLang="zh-TW" sz="1200" kern="100" dirty="0">
              <a:solidFill>
                <a:schemeClr val="tx1"/>
              </a:solidFill>
              <a:latin typeface="Calibri" panose="020F0502020204030204" pitchFamily="34" charset="0"/>
              <a:cs typeface="Times New Roman" panose="02020603050405020304" pitchFamily="18" charset="0"/>
            </a:endParaRPr>
          </a:p>
          <a:p>
            <a:pPr marL="800100" lvl="1" indent="-342900">
              <a:buFont typeface="+mj-lt"/>
              <a:buAutoNum type="arabicPeriod"/>
            </a:pPr>
            <a:r>
              <a:rPr lang="en-US" altLang="zh-TW" sz="1600" b="1" i="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EO simulation results</a:t>
            </a:r>
            <a:endParaRPr lang="zh-TW" altLang="zh-TW" sz="1200" kern="100" dirty="0">
              <a:solidFill>
                <a:schemeClr val="tx1"/>
              </a:solidFill>
              <a:latin typeface="Calibri" panose="020F0502020204030204" pitchFamily="34" charset="0"/>
              <a:cs typeface="Times New Roman" panose="02020603050405020304" pitchFamily="18" charset="0"/>
            </a:endParaRPr>
          </a:p>
          <a:p>
            <a:pPr marL="457200" lvl="1" indent="0">
              <a:buNone/>
            </a:pPr>
            <a:endParaRPr lang="zh-TW" altLang="zh-TW" sz="900" kern="100" dirty="0">
              <a:solidFill>
                <a:schemeClr val="tx1"/>
              </a:solidFill>
              <a:latin typeface="Calibri" panose="020F0502020204030204" pitchFamily="34" charset="0"/>
              <a:cs typeface="Times New Roman" panose="02020603050405020304" pitchFamily="18" charset="0"/>
            </a:endParaRPr>
          </a:p>
          <a:p>
            <a:pPr marL="342900" lvl="0" indent="-342900">
              <a:spcAft>
                <a:spcPts val="0"/>
              </a:spcAft>
              <a:buFont typeface="+mj-lt"/>
              <a:buAutoNum type="romanLcPeriod"/>
            </a:pPr>
            <a:r>
              <a:rPr lang="en-US" altLang="zh-TW" sz="2000" b="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Device Fabrication</a:t>
            </a:r>
            <a:endParaRPr lang="zh-TW" altLang="zh-TW" sz="1100" kern="100" dirty="0">
              <a:solidFill>
                <a:schemeClr val="tx1"/>
              </a:solidFill>
              <a:latin typeface="Calibri" panose="020F0502020204030204" pitchFamily="34" charset="0"/>
              <a:cs typeface="Times New Roman" panose="02020603050405020304" pitchFamily="18" charset="0"/>
            </a:endParaRPr>
          </a:p>
          <a:p>
            <a:pPr marL="800100" lvl="1" indent="-342900">
              <a:buFont typeface="+mj-lt"/>
              <a:buAutoNum type="arabicPeriod"/>
            </a:pPr>
            <a:r>
              <a:rPr lang="en-US" altLang="zh-TW" sz="1600" b="1" i="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Fabrication process of waveguide</a:t>
            </a:r>
          </a:p>
          <a:p>
            <a:pPr marL="800100" lvl="1" indent="-342900">
              <a:buFont typeface="+mj-lt"/>
              <a:buAutoNum type="arabicPeriod"/>
            </a:pPr>
            <a:r>
              <a:rPr lang="en-US" altLang="zh-TW" sz="1600" b="1" i="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Poling fabrication</a:t>
            </a:r>
          </a:p>
          <a:p>
            <a:pPr marL="800100" lvl="1" indent="-342900">
              <a:buFont typeface="+mj-lt"/>
              <a:buAutoNum type="arabicPeriod"/>
            </a:pPr>
            <a:r>
              <a:rPr lang="en-US" altLang="zh-TW" sz="1600" b="1" i="1" kern="100" dirty="0">
                <a:latin typeface="Times New Roman" panose="02020603050405020304" pitchFamily="18" charset="0"/>
                <a:ea typeface="標楷體" panose="03000509000000000000" pitchFamily="65" charset="-120"/>
                <a:cs typeface="Times New Roman" panose="02020603050405020304" pitchFamily="18" charset="0"/>
              </a:rPr>
              <a:t>Electrode process</a:t>
            </a:r>
            <a:endParaRPr lang="en-US" altLang="zh-TW" sz="1600" b="1" i="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marL="457200" lvl="1" indent="0">
              <a:buNone/>
            </a:pPr>
            <a:endParaRPr lang="zh-TW" altLang="zh-TW" sz="900" strike="sngStrike" kern="100" dirty="0">
              <a:solidFill>
                <a:schemeClr val="tx1"/>
              </a:solidFill>
              <a:latin typeface="Calibri" panose="020F0502020204030204" pitchFamily="34" charset="0"/>
              <a:cs typeface="Times New Roman" panose="02020603050405020304" pitchFamily="18" charset="0"/>
            </a:endParaRPr>
          </a:p>
          <a:p>
            <a:pPr marL="342900" lvl="0" indent="-342900">
              <a:spcAft>
                <a:spcPts val="0"/>
              </a:spcAft>
              <a:buFont typeface="+mj-lt"/>
              <a:buAutoNum type="romanLcPeriod"/>
            </a:pPr>
            <a:r>
              <a:rPr lang="en-US" altLang="zh-TW" sz="2000" b="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Experimental Setup and Results Analysis</a:t>
            </a:r>
            <a:endParaRPr lang="zh-TW" altLang="zh-TW" sz="1100" kern="100" dirty="0">
              <a:solidFill>
                <a:schemeClr val="tx1"/>
              </a:solidFill>
              <a:latin typeface="Calibri" panose="020F0502020204030204" pitchFamily="34" charset="0"/>
              <a:cs typeface="Times New Roman" panose="02020603050405020304" pitchFamily="18" charset="0"/>
            </a:endParaRPr>
          </a:p>
          <a:p>
            <a:pPr marL="800100" lvl="1" indent="-342900">
              <a:buFont typeface="+mj-lt"/>
              <a:buAutoNum type="arabicPeriod"/>
            </a:pPr>
            <a:r>
              <a:rPr lang="en-US" altLang="zh-TW" sz="1600" b="1" i="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SHG measurement result</a:t>
            </a:r>
          </a:p>
          <a:p>
            <a:pPr marL="800100" lvl="1" indent="-342900">
              <a:buFont typeface="+mj-lt"/>
              <a:buAutoNum type="arabicPeriod"/>
            </a:pPr>
            <a:r>
              <a:rPr lang="en-US" altLang="zh-TW" sz="1600" b="1" i="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EOPMC measurement result</a:t>
            </a:r>
            <a:endParaRPr lang="zh-TW" altLang="zh-TW" sz="1200" kern="100" dirty="0">
              <a:solidFill>
                <a:schemeClr val="tx1"/>
              </a:solidFill>
              <a:latin typeface="Calibri" panose="020F0502020204030204" pitchFamily="34" charset="0"/>
              <a:cs typeface="Times New Roman" panose="02020603050405020304" pitchFamily="18" charset="0"/>
            </a:endParaRPr>
          </a:p>
          <a:p>
            <a:pPr marL="800100" lvl="1" indent="-342900">
              <a:buFont typeface="+mj-lt"/>
              <a:buAutoNum type="arabicPeriod"/>
            </a:pPr>
            <a:r>
              <a:rPr lang="en-US" altLang="zh-TW" sz="1600" b="1" i="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EO measurement result</a:t>
            </a:r>
          </a:p>
          <a:p>
            <a:pPr marL="800100" lvl="1" indent="-342900">
              <a:buFont typeface="+mj-lt"/>
              <a:buAutoNum type="arabicPeriod"/>
            </a:pPr>
            <a:r>
              <a:rPr lang="en-US" altLang="zh-TW" sz="1600" b="1" i="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Photon pair measurement result</a:t>
            </a:r>
          </a:p>
          <a:p>
            <a:pPr marL="800100" lvl="1" indent="-342900">
              <a:buFont typeface="+mj-lt"/>
              <a:buAutoNum type="arabicPeriod"/>
            </a:pPr>
            <a:endParaRPr lang="zh-TW" altLang="zh-TW" sz="900" kern="100" dirty="0">
              <a:solidFill>
                <a:schemeClr val="tx1"/>
              </a:solidFill>
              <a:latin typeface="Calibri" panose="020F0502020204030204" pitchFamily="34" charset="0"/>
              <a:cs typeface="Times New Roman" panose="02020603050405020304" pitchFamily="18" charset="0"/>
            </a:endParaRPr>
          </a:p>
          <a:p>
            <a:pPr marL="342900" lvl="0" indent="-342900">
              <a:spcAft>
                <a:spcPts val="0"/>
              </a:spcAft>
              <a:buFont typeface="+mj-lt"/>
              <a:buAutoNum type="romanLcPeriod"/>
            </a:pPr>
            <a:r>
              <a:rPr lang="en-US" altLang="zh-TW" sz="2000" b="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Conclusions and Future work</a:t>
            </a:r>
            <a:endParaRPr lang="zh-TW" altLang="zh-TW" sz="1100" kern="100" dirty="0">
              <a:solidFill>
                <a:schemeClr val="tx1"/>
              </a:solidFill>
              <a:latin typeface="Calibri" panose="020F0502020204030204" pitchFamily="34" charset="0"/>
              <a:cs typeface="Times New Roman" panose="02020603050405020304" pitchFamily="18" charset="0"/>
            </a:endParaRPr>
          </a:p>
          <a:p>
            <a:pPr marL="0" indent="0">
              <a:lnSpc>
                <a:spcPct val="200000"/>
              </a:lnSpc>
              <a:buNone/>
            </a:pPr>
            <a:endParaRPr lang="zh-TW" altLang="en-US"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0039351" y="6356352"/>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2</a:t>
            </a:fld>
            <a:endParaRPr lang="zh-TW" altLang="en-US" b="1" dirty="0">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BA144DF6-8328-4E2A-ADA3-A59150CE84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pic>
        <p:nvPicPr>
          <p:cNvPr id="11" name="圖片 10">
            <a:extLst>
              <a:ext uri="{FF2B5EF4-FFF2-40B4-BE49-F238E27FC236}">
                <a16:creationId xmlns:a16="http://schemas.microsoft.com/office/drawing/2014/main" id="{36AFB6F9-6E70-6431-204D-B8D686CE54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28238" y="3554854"/>
            <a:ext cx="4263081" cy="3195868"/>
          </a:xfrm>
          <a:prstGeom prst="rect">
            <a:avLst/>
          </a:prstGeom>
          <a:ln>
            <a:noFill/>
          </a:ln>
          <a:effectLst>
            <a:softEdge rad="112500"/>
          </a:effectLst>
        </p:spPr>
      </p:pic>
      <p:pic>
        <p:nvPicPr>
          <p:cNvPr id="13" name="圖片 12">
            <a:extLst>
              <a:ext uri="{FF2B5EF4-FFF2-40B4-BE49-F238E27FC236}">
                <a16:creationId xmlns:a16="http://schemas.microsoft.com/office/drawing/2014/main" id="{745D7F51-13EC-1D53-14DA-445C89CFC983}"/>
              </a:ext>
            </a:extLst>
          </p:cNvPr>
          <p:cNvPicPr>
            <a:picLocks noChangeAspect="1"/>
          </p:cNvPicPr>
          <p:nvPr/>
        </p:nvPicPr>
        <p:blipFill rotWithShape="1">
          <a:blip r:embed="rId5">
            <a:extLst>
              <a:ext uri="{28A0092B-C50C-407E-A947-70E740481C1C}">
                <a14:useLocalDpi xmlns:a14="http://schemas.microsoft.com/office/drawing/2010/main" val="0"/>
              </a:ext>
            </a:extLst>
          </a:blip>
          <a:srcRect t="21947"/>
          <a:stretch/>
        </p:blipFill>
        <p:spPr>
          <a:xfrm>
            <a:off x="7538785" y="881036"/>
            <a:ext cx="4352533" cy="2547964"/>
          </a:xfrm>
          <a:prstGeom prst="rect">
            <a:avLst/>
          </a:prstGeom>
          <a:ln>
            <a:noFill/>
          </a:ln>
          <a:effectLst>
            <a:softEdge rad="112500"/>
          </a:effectLst>
        </p:spPr>
      </p:pic>
    </p:spTree>
    <p:extLst>
      <p:ext uri="{BB962C8B-B14F-4D97-AF65-F5344CB8AC3E}">
        <p14:creationId xmlns:p14="http://schemas.microsoft.com/office/powerpoint/2010/main" val="335385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66F64AE-CAE4-0A78-C8F9-867765DF3067}"/>
              </a:ext>
            </a:extLst>
          </p:cNvPr>
          <p:cNvSpPr>
            <a:spLocks noGrp="1"/>
          </p:cNvSpPr>
          <p:nvPr>
            <p:ph type="ctrTitle"/>
          </p:nvPr>
        </p:nvSpPr>
        <p:spPr/>
        <p:txBody>
          <a:bodyPr/>
          <a:lstStyle/>
          <a:p>
            <a:r>
              <a:rPr lang="en-US" altLang="zh-TW" b="1" dirty="0">
                <a:solidFill>
                  <a:schemeClr val="tx1"/>
                </a:solidFill>
              </a:rPr>
              <a:t>Introduction</a:t>
            </a:r>
            <a:endParaRPr lang="zh-TW" altLang="en-US" b="1" dirty="0">
              <a:solidFill>
                <a:schemeClr val="tx1"/>
              </a:solidFill>
            </a:endParaRPr>
          </a:p>
        </p:txBody>
      </p:sp>
      <p:sp>
        <p:nvSpPr>
          <p:cNvPr id="3" name="副標題 2">
            <a:extLst>
              <a:ext uri="{FF2B5EF4-FFF2-40B4-BE49-F238E27FC236}">
                <a16:creationId xmlns:a16="http://schemas.microsoft.com/office/drawing/2014/main" id="{B1B8DE14-80E4-7564-81F1-A7DA9C966337}"/>
              </a:ext>
            </a:extLst>
          </p:cNvPr>
          <p:cNvSpPr>
            <a:spLocks noGrp="1"/>
          </p:cNvSpPr>
          <p:nvPr>
            <p:ph type="subTitle" idx="1"/>
          </p:nvPr>
        </p:nvSpPr>
        <p:spPr>
          <a:xfrm>
            <a:off x="5315578" y="3956279"/>
            <a:ext cx="4196001" cy="1086237"/>
          </a:xfrm>
        </p:spPr>
        <p:txBody>
          <a:bodyPr>
            <a:normAutofit fontScale="92500" lnSpcReduction="10000"/>
          </a:bodyPr>
          <a:lstStyle/>
          <a:p>
            <a:pPr marL="457200" indent="-457200" algn="l">
              <a:buFont typeface="+mj-lt"/>
              <a:buAutoNum type="arabicPeriod"/>
            </a:pPr>
            <a:r>
              <a:rPr lang="en-US" altLang="zh-TW" dirty="0">
                <a:solidFill>
                  <a:schemeClr val="tx1"/>
                </a:solidFill>
              </a:rPr>
              <a:t>Applications</a:t>
            </a:r>
          </a:p>
          <a:p>
            <a:pPr marL="457200" indent="-457200" algn="l">
              <a:buFont typeface="+mj-lt"/>
              <a:buAutoNum type="arabicPeriod"/>
            </a:pPr>
            <a:r>
              <a:rPr lang="en-US" altLang="zh-TW" dirty="0">
                <a:solidFill>
                  <a:schemeClr val="tx1"/>
                </a:solidFill>
              </a:rPr>
              <a:t>Motivation</a:t>
            </a:r>
          </a:p>
          <a:p>
            <a:pPr marL="457200" indent="-457200" algn="l">
              <a:buFont typeface="+mj-lt"/>
              <a:buAutoNum type="arabicPeriod"/>
            </a:pPr>
            <a:r>
              <a:rPr lang="en-US" altLang="zh-TW" dirty="0">
                <a:solidFill>
                  <a:schemeClr val="tx1"/>
                </a:solidFill>
              </a:rPr>
              <a:t>Objective</a:t>
            </a:r>
          </a:p>
          <a:p>
            <a:endParaRPr lang="zh-TW" altLang="en-US" dirty="0"/>
          </a:p>
        </p:txBody>
      </p:sp>
    </p:spTree>
    <p:extLst>
      <p:ext uri="{BB962C8B-B14F-4D97-AF65-F5344CB8AC3E}">
        <p14:creationId xmlns:p14="http://schemas.microsoft.com/office/powerpoint/2010/main" val="1104639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Applications</a:t>
            </a: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0039351" y="6356352"/>
            <a:ext cx="47110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A51F5D-0E00-425F-A9D9-084622BDD753}" type="slidenum">
              <a:rPr kumimoji="0" lang="zh-TW" altLang="en-US" sz="1200" b="1"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TW" altLang="en-US" sz="1200" b="1"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pic>
        <p:nvPicPr>
          <p:cNvPr id="8" name="圖片 7">
            <a:extLst>
              <a:ext uri="{FF2B5EF4-FFF2-40B4-BE49-F238E27FC236}">
                <a16:creationId xmlns:a16="http://schemas.microsoft.com/office/drawing/2014/main" id="{71D25A74-214E-9534-58F6-E75E0D444A06}"/>
              </a:ext>
            </a:extLst>
          </p:cNvPr>
          <p:cNvPicPr>
            <a:picLocks noChangeAspect="1"/>
          </p:cNvPicPr>
          <p:nvPr/>
        </p:nvPicPr>
        <p:blipFill rotWithShape="1">
          <a:blip r:embed="rId4"/>
          <a:srcRect l="2546" t="1682"/>
          <a:stretch/>
        </p:blipFill>
        <p:spPr>
          <a:xfrm>
            <a:off x="212670" y="1181717"/>
            <a:ext cx="4949755" cy="4963660"/>
          </a:xfrm>
          <a:prstGeom prst="rect">
            <a:avLst/>
          </a:prstGeom>
        </p:spPr>
      </p:pic>
      <p:sp>
        <p:nvSpPr>
          <p:cNvPr id="10" name="箭號: 向右 9">
            <a:extLst>
              <a:ext uri="{FF2B5EF4-FFF2-40B4-BE49-F238E27FC236}">
                <a16:creationId xmlns:a16="http://schemas.microsoft.com/office/drawing/2014/main" id="{35E61604-4672-6F04-16F6-B6C45F6FCD2D}"/>
              </a:ext>
            </a:extLst>
          </p:cNvPr>
          <p:cNvSpPr/>
          <p:nvPr/>
        </p:nvSpPr>
        <p:spPr>
          <a:xfrm>
            <a:off x="5162425" y="3133344"/>
            <a:ext cx="1409169" cy="78117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文字方塊 11">
            <a:extLst>
              <a:ext uri="{FF2B5EF4-FFF2-40B4-BE49-F238E27FC236}">
                <a16:creationId xmlns:a16="http://schemas.microsoft.com/office/drawing/2014/main" id="{AE3C04DE-052D-4CE5-B049-E6F9992A9BA2}"/>
              </a:ext>
            </a:extLst>
          </p:cNvPr>
          <p:cNvSpPr txBox="1"/>
          <p:nvPr/>
        </p:nvSpPr>
        <p:spPr>
          <a:xfrm>
            <a:off x="1303697" y="6261915"/>
            <a:ext cx="2767699" cy="276999"/>
          </a:xfrm>
          <a:prstGeom prst="rect">
            <a:avLst/>
          </a:prstGeom>
          <a:noFill/>
        </p:spPr>
        <p:txBody>
          <a:bodyPr wrap="square">
            <a:spAutoFit/>
          </a:bodyPr>
          <a:lstStyle/>
          <a:p>
            <a:r>
              <a:rPr lang="en-US" altLang="zh-TW" sz="1200" dirty="0"/>
              <a:t>Fundamental Research 1, 50-67 (2021)</a:t>
            </a:r>
            <a:endParaRPr lang="zh-TW" altLang="en-US" sz="1200" dirty="0"/>
          </a:p>
        </p:txBody>
      </p:sp>
      <p:pic>
        <p:nvPicPr>
          <p:cNvPr id="6" name="圖片 5">
            <a:extLst>
              <a:ext uri="{FF2B5EF4-FFF2-40B4-BE49-F238E27FC236}">
                <a16:creationId xmlns:a16="http://schemas.microsoft.com/office/drawing/2014/main" id="{0441A4A6-403F-F7D3-EA63-5A74825057A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64134" y="2366041"/>
            <a:ext cx="4657215" cy="2805972"/>
          </a:xfrm>
          <a:prstGeom prst="rect">
            <a:avLst/>
          </a:prstGeom>
        </p:spPr>
      </p:pic>
      <p:sp>
        <p:nvSpPr>
          <p:cNvPr id="7" name="文字方塊 6">
            <a:extLst>
              <a:ext uri="{FF2B5EF4-FFF2-40B4-BE49-F238E27FC236}">
                <a16:creationId xmlns:a16="http://schemas.microsoft.com/office/drawing/2014/main" id="{4A57B333-8905-EDA3-D7EA-D661336BCBC0}"/>
              </a:ext>
            </a:extLst>
          </p:cNvPr>
          <p:cNvSpPr txBox="1"/>
          <p:nvPr/>
        </p:nvSpPr>
        <p:spPr>
          <a:xfrm>
            <a:off x="8232812" y="5276992"/>
            <a:ext cx="2433582" cy="276999"/>
          </a:xfrm>
          <a:prstGeom prst="rect">
            <a:avLst/>
          </a:prstGeom>
          <a:noFill/>
        </p:spPr>
        <p:txBody>
          <a:bodyPr wrap="square">
            <a:spAutoFit/>
          </a:bodyPr>
          <a:lstStyle/>
          <a:p>
            <a:r>
              <a:rPr lang="da-DK" altLang="zh-TW" sz="1200" dirty="0"/>
              <a:t>Rev. Mod. Phys. 92, 025002 (2020)</a:t>
            </a:r>
          </a:p>
        </p:txBody>
      </p:sp>
    </p:spTree>
    <p:extLst>
      <p:ext uri="{BB962C8B-B14F-4D97-AF65-F5344CB8AC3E}">
        <p14:creationId xmlns:p14="http://schemas.microsoft.com/office/powerpoint/2010/main" val="2920884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Motivation</a:t>
            </a:r>
            <a:endParaRPr lang="zh-TW" altLang="en-US" b="1"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1285402" y="6242192"/>
            <a:ext cx="406850" cy="339081"/>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5</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pic>
        <p:nvPicPr>
          <p:cNvPr id="9" name="圖片 8">
            <a:extLst>
              <a:ext uri="{FF2B5EF4-FFF2-40B4-BE49-F238E27FC236}">
                <a16:creationId xmlns:a16="http://schemas.microsoft.com/office/drawing/2014/main" id="{942E12CE-C8D8-CD0E-2552-3D1835CC04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1071" y="3533302"/>
            <a:ext cx="3659191" cy="2543920"/>
          </a:xfrm>
          <a:prstGeom prst="rect">
            <a:avLst/>
          </a:prstGeom>
        </p:spPr>
      </p:pic>
      <p:pic>
        <p:nvPicPr>
          <p:cNvPr id="11" name="圖片 10">
            <a:extLst>
              <a:ext uri="{FF2B5EF4-FFF2-40B4-BE49-F238E27FC236}">
                <a16:creationId xmlns:a16="http://schemas.microsoft.com/office/drawing/2014/main" id="{4FF6B54A-4284-751A-0139-99D4F0C1ED6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15371" y="3381144"/>
            <a:ext cx="3714142" cy="2496064"/>
          </a:xfrm>
          <a:prstGeom prst="rect">
            <a:avLst/>
          </a:prstGeom>
        </p:spPr>
      </p:pic>
      <p:sp>
        <p:nvSpPr>
          <p:cNvPr id="16" name="文字方塊 15">
            <a:extLst>
              <a:ext uri="{FF2B5EF4-FFF2-40B4-BE49-F238E27FC236}">
                <a16:creationId xmlns:a16="http://schemas.microsoft.com/office/drawing/2014/main" id="{553B265F-A54C-8B56-5CE7-8168FF0EEA32}"/>
              </a:ext>
            </a:extLst>
          </p:cNvPr>
          <p:cNvSpPr txBox="1"/>
          <p:nvPr/>
        </p:nvSpPr>
        <p:spPr>
          <a:xfrm>
            <a:off x="857834" y="6043024"/>
            <a:ext cx="1962320" cy="276999"/>
          </a:xfrm>
          <a:prstGeom prst="rect">
            <a:avLst/>
          </a:prstGeom>
          <a:noFill/>
        </p:spPr>
        <p:txBody>
          <a:bodyPr wrap="square">
            <a:spAutoFit/>
          </a:bodyPr>
          <a:lstStyle/>
          <a:p>
            <a:r>
              <a:rPr lang="nn-NO" altLang="zh-TW" sz="1200" dirty="0"/>
              <a:t> Phys. Lett. 85, 2457 (2004)</a:t>
            </a:r>
            <a:endParaRPr lang="nl-NL" altLang="zh-TW" sz="1200" dirty="0"/>
          </a:p>
        </p:txBody>
      </p:sp>
      <p:sp>
        <p:nvSpPr>
          <p:cNvPr id="17" name="文字方塊 16">
            <a:extLst>
              <a:ext uri="{FF2B5EF4-FFF2-40B4-BE49-F238E27FC236}">
                <a16:creationId xmlns:a16="http://schemas.microsoft.com/office/drawing/2014/main" id="{06EF57AC-1204-702C-C560-209DD3E4110C}"/>
              </a:ext>
            </a:extLst>
          </p:cNvPr>
          <p:cNvSpPr txBox="1"/>
          <p:nvPr/>
        </p:nvSpPr>
        <p:spPr>
          <a:xfrm>
            <a:off x="4779458" y="6043024"/>
            <a:ext cx="2273320" cy="276999"/>
          </a:xfrm>
          <a:prstGeom prst="rect">
            <a:avLst/>
          </a:prstGeom>
          <a:noFill/>
        </p:spPr>
        <p:txBody>
          <a:bodyPr wrap="square">
            <a:spAutoFit/>
          </a:bodyPr>
          <a:lstStyle/>
          <a:p>
            <a:r>
              <a:rPr lang="nn-NO" altLang="zh-TW" sz="1200" dirty="0"/>
              <a:t> </a:t>
            </a:r>
            <a:r>
              <a:rPr lang="en-US" altLang="zh-TW" sz="1200" dirty="0"/>
              <a:t>Opt. Express 21, 29013 (2013)</a:t>
            </a:r>
            <a:endParaRPr lang="nl-NL" altLang="zh-TW" sz="1200" dirty="0"/>
          </a:p>
        </p:txBody>
      </p:sp>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9DFEA7C0-C3C8-35AE-FC02-375E8C51FA4A}"/>
                  </a:ext>
                </a:extLst>
              </p:cNvPr>
              <p:cNvSpPr txBox="1"/>
              <p:nvPr/>
            </p:nvSpPr>
            <p:spPr>
              <a:xfrm>
                <a:off x="1838994" y="1220534"/>
                <a:ext cx="7852213" cy="808170"/>
              </a:xfrm>
              <a:prstGeom prst="rect">
                <a:avLst/>
              </a:prstGeom>
              <a:noFill/>
              <a:ln w="19050">
                <a:solidFill>
                  <a:schemeClr val="accent1"/>
                </a:solidFill>
              </a:ln>
            </p:spPr>
            <p:txBody>
              <a:bodyPr wrap="square">
                <a:spAutoFit/>
              </a:bodyPr>
              <a:lstStyle/>
              <a:p>
                <a:pPr algn="just"/>
                <a:r>
                  <a:rPr lang="en-US" altLang="zh-TW" sz="2000" dirty="0"/>
                  <a:t>Generation of polarization-entangled photon pairs</a:t>
                </a:r>
                <a:r>
                  <a:rPr lang="zh-TW" altLang="en-US" sz="2000" dirty="0"/>
                  <a:t> </a:t>
                </a:r>
                <a:r>
                  <a:rPr kumimoji="0" lang="zh-TW" altLang="zh-TW" sz="18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a:t>
                </a:r>
                <a14:m>
                  <m:oMath xmlns:m="http://schemas.openxmlformats.org/officeDocument/2006/math">
                    <m:f>
                      <m:fPr>
                        <m:ctrlPr>
                          <a:rPr kumimoji="0" lang="zh-TW" altLang="zh-TW"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0" lang="en-US" altLang="zh-TW" sz="1800" b="1" i="1" u="none" strike="noStrike" kern="1200" cap="none" spc="0" normalizeH="0" baseline="0" noProof="0">
                            <a:ln>
                              <a:noFill/>
                            </a:ln>
                            <a:solidFill>
                              <a:prstClr val="black"/>
                            </a:solidFill>
                            <a:effectLst/>
                            <a:uLnTx/>
                            <a:uFillTx/>
                            <a:latin typeface="Cambria Math" panose="02040503050406030204" pitchFamily="18" charset="0"/>
                            <a:cs typeface="+mn-cs"/>
                          </a:rPr>
                          <m:t>1</m:t>
                        </m:r>
                      </m:num>
                      <m:den>
                        <m:rad>
                          <m:radPr>
                            <m:degHide m:val="on"/>
                            <m:ctrlPr>
                              <a:rPr kumimoji="0" lang="zh-TW" altLang="zh-TW" sz="1800" b="1" i="1" u="none" strike="noStrike" kern="1200" cap="none" spc="0" normalizeH="0" baseline="0" noProof="0">
                                <a:ln>
                                  <a:noFill/>
                                </a:ln>
                                <a:solidFill>
                                  <a:prstClr val="black"/>
                                </a:solidFill>
                                <a:effectLst/>
                                <a:uLnTx/>
                                <a:uFillTx/>
                                <a:latin typeface="Cambria Math" panose="02040503050406030204" pitchFamily="18" charset="0"/>
                                <a:cs typeface="+mn-cs"/>
                              </a:rPr>
                            </m:ctrlPr>
                          </m:radPr>
                          <m:deg/>
                          <m:e>
                            <m:r>
                              <a:rPr kumimoji="0" lang="en-US" altLang="zh-TW" sz="1800" b="1" i="1" u="none" strike="noStrike" kern="1200" cap="none" spc="0" normalizeH="0" baseline="0" noProof="0">
                                <a:ln>
                                  <a:noFill/>
                                </a:ln>
                                <a:solidFill>
                                  <a:prstClr val="black"/>
                                </a:solidFill>
                                <a:effectLst/>
                                <a:uLnTx/>
                                <a:uFillTx/>
                                <a:latin typeface="Cambria Math" panose="02040503050406030204" pitchFamily="18" charset="0"/>
                                <a:cs typeface="+mn-cs"/>
                              </a:rPr>
                              <m:t>2</m:t>
                            </m:r>
                          </m:e>
                        </m:rad>
                      </m:den>
                    </m:f>
                  </m:oMath>
                </a14:m>
                <a:r>
                  <a:rPr kumimoji="0" lang="en-US" altLang="zh-TW" sz="1800" b="0" i="1"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(|HH⟩+|VV⟩)</a:t>
                </a:r>
                <a:r>
                  <a:rPr kumimoji="0" lang="zh-TW" altLang="en-US" sz="1800" b="0" i="1"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a:t>
                </a:r>
                <a:r>
                  <a:rPr lang="en-US" altLang="zh-TW" sz="2000" dirty="0">
                    <a:solidFill>
                      <a:srgbClr val="222222"/>
                    </a:solidFill>
                    <a:latin typeface="-apple-system"/>
                  </a:rPr>
                  <a:t>applied to broadband entanglement-distribution network</a:t>
                </a:r>
                <a:r>
                  <a:rPr lang="zh-TW" altLang="en-US" sz="2000" dirty="0"/>
                  <a:t>   </a:t>
                </a:r>
              </a:p>
            </p:txBody>
          </p:sp>
        </mc:Choice>
        <mc:Fallback xmlns="">
          <p:sp>
            <p:nvSpPr>
              <p:cNvPr id="19" name="文字方塊 18">
                <a:extLst>
                  <a:ext uri="{FF2B5EF4-FFF2-40B4-BE49-F238E27FC236}">
                    <a16:creationId xmlns:a16="http://schemas.microsoft.com/office/drawing/2014/main" id="{9DFEA7C0-C3C8-35AE-FC02-375E8C51FA4A}"/>
                  </a:ext>
                </a:extLst>
              </p:cNvPr>
              <p:cNvSpPr txBox="1">
                <a:spLocks noRot="1" noChangeAspect="1" noMove="1" noResize="1" noEditPoints="1" noAdjustHandles="1" noChangeArrowheads="1" noChangeShapeType="1" noTextEdit="1"/>
              </p:cNvSpPr>
              <p:nvPr/>
            </p:nvSpPr>
            <p:spPr>
              <a:xfrm>
                <a:off x="1838994" y="1220534"/>
                <a:ext cx="7852213" cy="808170"/>
              </a:xfrm>
              <a:prstGeom prst="rect">
                <a:avLst/>
              </a:prstGeom>
              <a:blipFill>
                <a:blip r:embed="rId6"/>
                <a:stretch>
                  <a:fillRect l="-775" r="-620" b="-10294"/>
                </a:stretch>
              </a:blipFill>
              <a:ln w="19050">
                <a:solidFill>
                  <a:schemeClr val="accent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9B1AF697-33CC-F432-2019-C9C899D46AE3}"/>
                  </a:ext>
                </a:extLst>
              </p:cNvPr>
              <p:cNvSpPr txBox="1"/>
              <p:nvPr/>
            </p:nvSpPr>
            <p:spPr>
              <a:xfrm>
                <a:off x="375705" y="2253139"/>
                <a:ext cx="3175843" cy="1054391"/>
              </a:xfrm>
              <a:prstGeom prst="rect">
                <a:avLst/>
              </a:prstGeom>
              <a:noFill/>
              <a:ln>
                <a:solidFill>
                  <a:schemeClr val="accent1"/>
                </a:solidFill>
              </a:ln>
            </p:spPr>
            <p:txBody>
              <a:bodyPr wrap="square" rtlCol="0">
                <a:spAutoFit/>
              </a:bodyPr>
              <a:lstStyle/>
              <a:p>
                <a:r>
                  <a:rPr lang="en-US" altLang="zh-TW" dirty="0"/>
                  <a:t>Generation of polarization-entangled</a:t>
                </a:r>
                <a:r>
                  <a:rPr lang="zh-TW" altLang="en-US" dirty="0"/>
                  <a:t> </a:t>
                </a:r>
                <a:r>
                  <a:rPr lang="en-US" altLang="zh-TW" dirty="0"/>
                  <a:t>photon</a:t>
                </a:r>
                <a:r>
                  <a:rPr lang="zh-TW" altLang="en-US" dirty="0"/>
                  <a:t> </a:t>
                </a:r>
                <a:r>
                  <a:rPr lang="en-US" altLang="zh-TW" dirty="0"/>
                  <a:t>pairs</a:t>
                </a:r>
                <a:r>
                  <a:rPr lang="zh-TW" altLang="en-US" dirty="0"/>
                  <a:t> </a:t>
                </a:r>
                <a14:m>
                  <m:oMath xmlns:m="http://schemas.openxmlformats.org/officeDocument/2006/math">
                    <m:f>
                      <m:fPr>
                        <m:ctrlPr>
                          <a:rPr lang="zh-TW" altLang="zh-TW" b="1" i="1" smtClean="0">
                            <a:latin typeface="Cambria Math" panose="02040503050406030204" pitchFamily="18" charset="0"/>
                          </a:rPr>
                        </m:ctrlPr>
                      </m:fPr>
                      <m:num>
                        <m:r>
                          <a:rPr lang="en-US" altLang="zh-TW" b="1" i="1">
                            <a:latin typeface="Cambria Math" panose="02040503050406030204" pitchFamily="18" charset="0"/>
                          </a:rPr>
                          <m:t>1</m:t>
                        </m:r>
                      </m:num>
                      <m:den>
                        <m:rad>
                          <m:radPr>
                            <m:degHide m:val="on"/>
                            <m:ctrlPr>
                              <a:rPr lang="zh-TW" altLang="zh-TW" b="1" i="1">
                                <a:latin typeface="Cambria Math" panose="02040503050406030204" pitchFamily="18" charset="0"/>
                              </a:rPr>
                            </m:ctrlPr>
                          </m:radPr>
                          <m:deg/>
                          <m:e>
                            <m:r>
                              <a:rPr lang="en-US" altLang="zh-TW" b="1" i="1">
                                <a:latin typeface="Cambria Math" panose="02040503050406030204" pitchFamily="18" charset="0"/>
                              </a:rPr>
                              <m:t>2</m:t>
                            </m:r>
                          </m:e>
                        </m:rad>
                      </m:den>
                    </m:f>
                  </m:oMath>
                </a14:m>
                <a:r>
                  <a:rPr lang="en-US" altLang="zh-TW" i="1" dirty="0"/>
                  <a:t>(|HH⟩+|VV⟩) </a:t>
                </a:r>
                <a:endParaRPr lang="zh-TW" altLang="en-US" dirty="0"/>
              </a:p>
            </p:txBody>
          </p:sp>
        </mc:Choice>
        <mc:Fallback xmlns="">
          <p:sp>
            <p:nvSpPr>
              <p:cNvPr id="12" name="文字方塊 11">
                <a:extLst>
                  <a:ext uri="{FF2B5EF4-FFF2-40B4-BE49-F238E27FC236}">
                    <a16:creationId xmlns:a16="http://schemas.microsoft.com/office/drawing/2014/main" id="{9B1AF697-33CC-F432-2019-C9C899D46AE3}"/>
                  </a:ext>
                </a:extLst>
              </p:cNvPr>
              <p:cNvSpPr txBox="1">
                <a:spLocks noRot="1" noChangeAspect="1" noMove="1" noResize="1" noEditPoints="1" noAdjustHandles="1" noChangeArrowheads="1" noChangeShapeType="1" noTextEdit="1"/>
              </p:cNvSpPr>
              <p:nvPr/>
            </p:nvSpPr>
            <p:spPr>
              <a:xfrm>
                <a:off x="375705" y="2253139"/>
                <a:ext cx="3175843" cy="1054391"/>
              </a:xfrm>
              <a:prstGeom prst="rect">
                <a:avLst/>
              </a:prstGeom>
              <a:blipFill>
                <a:blip r:embed="rId7"/>
                <a:stretch>
                  <a:fillRect l="-1530" t="-2857" b="-1143"/>
                </a:stretch>
              </a:blipFill>
              <a:ln>
                <a:solidFill>
                  <a:schemeClr val="accent1"/>
                </a:solidFill>
              </a:ln>
            </p:spPr>
            <p:txBody>
              <a:bodyPr/>
              <a:lstStyle/>
              <a:p>
                <a:r>
                  <a:rPr lang="zh-TW" altLang="en-US">
                    <a:noFill/>
                  </a:rPr>
                  <a:t> </a:t>
                </a:r>
              </a:p>
            </p:txBody>
          </p:sp>
        </mc:Fallback>
      </mc:AlternateContent>
      <p:sp>
        <p:nvSpPr>
          <p:cNvPr id="20" name="文字方塊 19">
            <a:extLst>
              <a:ext uri="{FF2B5EF4-FFF2-40B4-BE49-F238E27FC236}">
                <a16:creationId xmlns:a16="http://schemas.microsoft.com/office/drawing/2014/main" id="{50406689-38F1-0F49-B843-81B3D7F4D098}"/>
              </a:ext>
            </a:extLst>
          </p:cNvPr>
          <p:cNvSpPr txBox="1"/>
          <p:nvPr/>
        </p:nvSpPr>
        <p:spPr>
          <a:xfrm>
            <a:off x="4004247" y="2249610"/>
            <a:ext cx="2963680" cy="923330"/>
          </a:xfrm>
          <a:prstGeom prst="rect">
            <a:avLst/>
          </a:prstGeom>
          <a:noFill/>
          <a:ln>
            <a:solidFill>
              <a:schemeClr val="accent1"/>
            </a:solidFill>
          </a:ln>
        </p:spPr>
        <p:txBody>
          <a:bodyPr wrap="square" rtlCol="0">
            <a:spAutoFit/>
          </a:bodyPr>
          <a:lstStyle/>
          <a:p>
            <a:r>
              <a:rPr lang="en-US" altLang="zh-TW" dirty="0"/>
              <a:t>Use EPS to demonstration entanglement in a multi-user network transmission</a:t>
            </a:r>
            <a:endParaRPr lang="zh-TW" altLang="en-US" dirty="0"/>
          </a:p>
        </p:txBody>
      </p:sp>
      <p:pic>
        <p:nvPicPr>
          <p:cNvPr id="15" name="圖片 14">
            <a:extLst>
              <a:ext uri="{FF2B5EF4-FFF2-40B4-BE49-F238E27FC236}">
                <a16:creationId xmlns:a16="http://schemas.microsoft.com/office/drawing/2014/main" id="{E093B62C-A741-7A2E-4585-25B3C7A45092}"/>
              </a:ext>
            </a:extLst>
          </p:cNvPr>
          <p:cNvPicPr>
            <a:picLocks noChangeAspect="1"/>
          </p:cNvPicPr>
          <p:nvPr/>
        </p:nvPicPr>
        <p:blipFill rotWithShape="1">
          <a:blip r:embed="rId8"/>
          <a:srcRect r="3198"/>
          <a:stretch/>
        </p:blipFill>
        <p:spPr>
          <a:xfrm>
            <a:off x="7388844" y="3215328"/>
            <a:ext cx="4685769" cy="2422138"/>
          </a:xfrm>
          <a:prstGeom prst="rect">
            <a:avLst/>
          </a:prstGeom>
        </p:spPr>
      </p:pic>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00FAEAC7-2185-F4EF-E893-077E0915D666}"/>
                  </a:ext>
                </a:extLst>
              </p:cNvPr>
              <p:cNvSpPr txBox="1"/>
              <p:nvPr/>
            </p:nvSpPr>
            <p:spPr>
              <a:xfrm>
                <a:off x="7723402" y="2249610"/>
                <a:ext cx="3092987" cy="777392"/>
              </a:xfrm>
              <a:prstGeom prst="rect">
                <a:avLst/>
              </a:prstGeom>
              <a:noFill/>
              <a:ln>
                <a:solidFill>
                  <a:schemeClr val="accent1"/>
                </a:solidFill>
              </a:ln>
            </p:spPr>
            <p:txBody>
              <a:bodyPr wrap="square">
                <a:spAutoFit/>
              </a:bodyPr>
              <a:lstStyle/>
              <a:p>
                <a14:m>
                  <m:oMath xmlns:m="http://schemas.openxmlformats.org/officeDocument/2006/math">
                    <m:f>
                      <m:fPr>
                        <m:ctrlPr>
                          <a:rPr kumimoji="0" lang="zh-TW" altLang="zh-TW" sz="18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0" lang="en-US" altLang="zh-TW" sz="1800" b="1" i="1" u="none" strike="noStrike" kern="1200" cap="none" spc="0" normalizeH="0" baseline="0" noProof="0">
                            <a:ln>
                              <a:noFill/>
                            </a:ln>
                            <a:solidFill>
                              <a:prstClr val="black"/>
                            </a:solidFill>
                            <a:effectLst/>
                            <a:uLnTx/>
                            <a:uFillTx/>
                            <a:latin typeface="Cambria Math" panose="02040503050406030204" pitchFamily="18" charset="0"/>
                            <a:cs typeface="+mn-cs"/>
                          </a:rPr>
                          <m:t>1</m:t>
                        </m:r>
                      </m:num>
                      <m:den>
                        <m:rad>
                          <m:radPr>
                            <m:degHide m:val="on"/>
                            <m:ctrlPr>
                              <a:rPr kumimoji="0" lang="zh-TW" altLang="zh-TW" sz="1800" b="1" i="1" u="none" strike="noStrike" kern="1200" cap="none" spc="0" normalizeH="0" baseline="0" noProof="0">
                                <a:ln>
                                  <a:noFill/>
                                </a:ln>
                                <a:solidFill>
                                  <a:prstClr val="black"/>
                                </a:solidFill>
                                <a:effectLst/>
                                <a:uLnTx/>
                                <a:uFillTx/>
                                <a:latin typeface="Cambria Math" panose="02040503050406030204" pitchFamily="18" charset="0"/>
                                <a:cs typeface="+mn-cs"/>
                              </a:rPr>
                            </m:ctrlPr>
                          </m:radPr>
                          <m:deg/>
                          <m:e>
                            <m:r>
                              <a:rPr kumimoji="0" lang="en-US" altLang="zh-TW" sz="1800" b="1" i="1" u="none" strike="noStrike" kern="1200" cap="none" spc="0" normalizeH="0" baseline="0" noProof="0">
                                <a:ln>
                                  <a:noFill/>
                                </a:ln>
                                <a:solidFill>
                                  <a:prstClr val="black"/>
                                </a:solidFill>
                                <a:effectLst/>
                                <a:uLnTx/>
                                <a:uFillTx/>
                                <a:latin typeface="Cambria Math" panose="02040503050406030204" pitchFamily="18" charset="0"/>
                                <a:cs typeface="+mn-cs"/>
                              </a:rPr>
                              <m:t>2</m:t>
                            </m:r>
                          </m:e>
                        </m:rad>
                      </m:den>
                    </m:f>
                  </m:oMath>
                </a14:m>
                <a:r>
                  <a:rPr kumimoji="0" lang="en-US" altLang="zh-TW" sz="1800" b="0" i="1"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(|HH⟩+|VV⟩) in</a:t>
                </a:r>
                <a:r>
                  <a:rPr lang="en-US" altLang="zh-TW" dirty="0"/>
                  <a:t> </a:t>
                </a:r>
                <a:r>
                  <a:rPr lang="en-US" altLang="zh-TW" dirty="0" err="1"/>
                  <a:t>Sagnac</a:t>
                </a:r>
                <a:r>
                  <a:rPr lang="en-US" altLang="zh-TW" dirty="0"/>
                  <a:t>-type interferometer</a:t>
                </a:r>
                <a:r>
                  <a:rPr kumimoji="0" lang="en-US" altLang="zh-TW" sz="1800" b="0" i="1"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a:t>
                </a:r>
                <a:endParaRPr lang="zh-TW" altLang="en-US" dirty="0"/>
              </a:p>
            </p:txBody>
          </p:sp>
        </mc:Choice>
        <mc:Fallback xmlns="">
          <p:sp>
            <p:nvSpPr>
              <p:cNvPr id="21" name="文字方塊 20">
                <a:extLst>
                  <a:ext uri="{FF2B5EF4-FFF2-40B4-BE49-F238E27FC236}">
                    <a16:creationId xmlns:a16="http://schemas.microsoft.com/office/drawing/2014/main" id="{00FAEAC7-2185-F4EF-E893-077E0915D666}"/>
                  </a:ext>
                </a:extLst>
              </p:cNvPr>
              <p:cNvSpPr txBox="1">
                <a:spLocks noRot="1" noChangeAspect="1" noMove="1" noResize="1" noEditPoints="1" noAdjustHandles="1" noChangeArrowheads="1" noChangeShapeType="1" noTextEdit="1"/>
              </p:cNvSpPr>
              <p:nvPr/>
            </p:nvSpPr>
            <p:spPr>
              <a:xfrm>
                <a:off x="7723402" y="2249610"/>
                <a:ext cx="3092987" cy="777392"/>
              </a:xfrm>
              <a:prstGeom prst="rect">
                <a:avLst/>
              </a:prstGeom>
              <a:blipFill>
                <a:blip r:embed="rId9"/>
                <a:stretch>
                  <a:fillRect l="-1572" b="-10000"/>
                </a:stretch>
              </a:blipFill>
              <a:ln>
                <a:solidFill>
                  <a:schemeClr val="accent1"/>
                </a:solidFill>
              </a:ln>
            </p:spPr>
            <p:txBody>
              <a:bodyPr/>
              <a:lstStyle/>
              <a:p>
                <a:r>
                  <a:rPr lang="zh-TW" altLang="en-US">
                    <a:noFill/>
                  </a:rPr>
                  <a:t> </a:t>
                </a:r>
              </a:p>
            </p:txBody>
          </p:sp>
        </mc:Fallback>
      </mc:AlternateContent>
      <p:sp>
        <p:nvSpPr>
          <p:cNvPr id="22" name="文字方塊 21">
            <a:extLst>
              <a:ext uri="{FF2B5EF4-FFF2-40B4-BE49-F238E27FC236}">
                <a16:creationId xmlns:a16="http://schemas.microsoft.com/office/drawing/2014/main" id="{44B8CB22-BB4F-14C2-539F-080C815A2C07}"/>
              </a:ext>
            </a:extLst>
          </p:cNvPr>
          <p:cNvSpPr txBox="1"/>
          <p:nvPr/>
        </p:nvSpPr>
        <p:spPr>
          <a:xfrm>
            <a:off x="8281740" y="6044225"/>
            <a:ext cx="2395710" cy="274596"/>
          </a:xfrm>
          <a:prstGeom prst="rect">
            <a:avLst/>
          </a:prstGeom>
          <a:noFill/>
        </p:spPr>
        <p:txBody>
          <a:bodyPr wrap="square">
            <a:spAutoFit/>
          </a:bodyPr>
          <a:lstStyle/>
          <a:p>
            <a:r>
              <a:rPr lang="nn-NO" altLang="zh-TW" sz="1200" dirty="0"/>
              <a:t>Scientific Reports  8964 (2022) </a:t>
            </a:r>
            <a:endParaRPr lang="nl-NL" altLang="zh-TW" sz="1200" dirty="0"/>
          </a:p>
        </p:txBody>
      </p:sp>
      <p:pic>
        <p:nvPicPr>
          <p:cNvPr id="3" name="圖片 2">
            <a:extLst>
              <a:ext uri="{FF2B5EF4-FFF2-40B4-BE49-F238E27FC236}">
                <a16:creationId xmlns:a16="http://schemas.microsoft.com/office/drawing/2014/main" id="{FE1EEEBA-0990-A93C-B7A8-C6182130DA30}"/>
              </a:ext>
            </a:extLst>
          </p:cNvPr>
          <p:cNvPicPr>
            <a:picLocks noChangeAspect="1"/>
          </p:cNvPicPr>
          <p:nvPr/>
        </p:nvPicPr>
        <p:blipFill>
          <a:blip r:embed="rId10"/>
          <a:stretch>
            <a:fillRect/>
          </a:stretch>
        </p:blipFill>
        <p:spPr>
          <a:xfrm>
            <a:off x="3833448" y="3463340"/>
            <a:ext cx="3380902" cy="2422138"/>
          </a:xfrm>
          <a:prstGeom prst="rect">
            <a:avLst/>
          </a:prstGeom>
        </p:spPr>
      </p:pic>
    </p:spTree>
    <p:extLst>
      <p:ext uri="{BB962C8B-B14F-4D97-AF65-F5344CB8AC3E}">
        <p14:creationId xmlns:p14="http://schemas.microsoft.com/office/powerpoint/2010/main" val="2077094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Motivation</a:t>
            </a:r>
            <a:endParaRPr lang="zh-TW" altLang="en-US" b="1" dirty="0">
              <a:latin typeface="Times New Roman" panose="02020603050405020304" pitchFamily="18" charset="0"/>
              <a:cs typeface="Times New Roman" panose="02020603050405020304" pitchFamily="18" charset="0"/>
            </a:endParaRPr>
          </a:p>
        </p:txBody>
      </p:sp>
      <p:pic>
        <p:nvPicPr>
          <p:cNvPr id="7" name="內容版面配置區 6">
            <a:extLst>
              <a:ext uri="{FF2B5EF4-FFF2-40B4-BE49-F238E27FC236}">
                <a16:creationId xmlns:a16="http://schemas.microsoft.com/office/drawing/2014/main" id="{71ED7967-3457-80C5-9EBE-1C082B7B6347}"/>
              </a:ext>
            </a:extLst>
          </p:cNvPr>
          <p:cNvPicPr>
            <a:picLocks noGrp="1" noChangeAspect="1"/>
          </p:cNvPicPr>
          <p:nvPr>
            <p:ph idx="4294967295"/>
          </p:nvPr>
        </p:nvPicPr>
        <p:blipFill>
          <a:blip r:embed="rId3">
            <a:extLst>
              <a:ext uri="{28A0092B-C50C-407E-A947-70E740481C1C}">
                <a14:useLocalDpi xmlns:a14="http://schemas.microsoft.com/office/drawing/2010/main" val="0"/>
              </a:ext>
            </a:extLst>
          </a:blip>
          <a:stretch>
            <a:fillRect/>
          </a:stretch>
        </p:blipFill>
        <p:spPr>
          <a:xfrm>
            <a:off x="376482" y="3928451"/>
            <a:ext cx="5994173" cy="2355686"/>
          </a:xfrm>
        </p:spPr>
      </p:pic>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1581381" y="6395823"/>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6</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sp>
        <p:nvSpPr>
          <p:cNvPr id="15" name="文字方塊 14">
            <a:extLst>
              <a:ext uri="{FF2B5EF4-FFF2-40B4-BE49-F238E27FC236}">
                <a16:creationId xmlns:a16="http://schemas.microsoft.com/office/drawing/2014/main" id="{278929F1-34FD-8D9A-3105-45A127C06404}"/>
              </a:ext>
            </a:extLst>
          </p:cNvPr>
          <p:cNvSpPr txBox="1"/>
          <p:nvPr/>
        </p:nvSpPr>
        <p:spPr>
          <a:xfrm>
            <a:off x="889603" y="6204395"/>
            <a:ext cx="1962320" cy="276999"/>
          </a:xfrm>
          <a:prstGeom prst="rect">
            <a:avLst/>
          </a:prstGeom>
          <a:noFill/>
        </p:spPr>
        <p:txBody>
          <a:bodyPr wrap="square">
            <a:spAutoFit/>
          </a:bodyPr>
          <a:lstStyle/>
          <a:p>
            <a:r>
              <a:rPr lang="nl-NL" altLang="zh-TW" sz="1200" dirty="0"/>
              <a:t>J. Opt. 18, 104001 (2016)</a:t>
            </a:r>
          </a:p>
        </p:txBody>
      </p:sp>
      <p:sp>
        <p:nvSpPr>
          <p:cNvPr id="3" name="文字方塊 2">
            <a:extLst>
              <a:ext uri="{FF2B5EF4-FFF2-40B4-BE49-F238E27FC236}">
                <a16:creationId xmlns:a16="http://schemas.microsoft.com/office/drawing/2014/main" id="{1D9FC91C-DA69-F77E-F753-9B32B333AD22}"/>
              </a:ext>
            </a:extLst>
          </p:cNvPr>
          <p:cNvSpPr txBox="1"/>
          <p:nvPr/>
        </p:nvSpPr>
        <p:spPr>
          <a:xfrm>
            <a:off x="237733" y="828135"/>
            <a:ext cx="6294095" cy="584775"/>
          </a:xfrm>
          <a:prstGeom prst="rect">
            <a:avLst/>
          </a:prstGeom>
          <a:noFill/>
        </p:spPr>
        <p:txBody>
          <a:bodyPr wrap="none" rtlCol="0">
            <a:spAutoFit/>
          </a:bodyPr>
          <a:lstStyle/>
          <a:p>
            <a:r>
              <a:rPr lang="en-US" altLang="zh-TW" sz="3200" b="1" dirty="0">
                <a:effectLst>
                  <a:outerShdw blurRad="38100" dist="38100" dir="2700000" algn="tl">
                    <a:srgbClr val="000000">
                      <a:alpha val="43137"/>
                    </a:srgbClr>
                  </a:outerShdw>
                </a:effectLst>
              </a:rPr>
              <a:t>Integrated optical circuit in one chip</a:t>
            </a:r>
            <a:endParaRPr lang="zh-TW" altLang="en-US" sz="3200" b="1" dirty="0">
              <a:effectLst>
                <a:outerShdw blurRad="38100" dist="38100" dir="2700000" algn="tl">
                  <a:srgbClr val="000000">
                    <a:alpha val="43137"/>
                  </a:srgbClr>
                </a:outerShdw>
              </a:effectLst>
            </a:endParaRPr>
          </a:p>
        </p:txBody>
      </p:sp>
      <p:sp>
        <p:nvSpPr>
          <p:cNvPr id="6" name="矩形 5">
            <a:extLst>
              <a:ext uri="{FF2B5EF4-FFF2-40B4-BE49-F238E27FC236}">
                <a16:creationId xmlns:a16="http://schemas.microsoft.com/office/drawing/2014/main" id="{68407258-B73B-0BD7-AB18-831C4FEEB6D9}"/>
              </a:ext>
            </a:extLst>
          </p:cNvPr>
          <p:cNvSpPr/>
          <p:nvPr/>
        </p:nvSpPr>
        <p:spPr>
          <a:xfrm>
            <a:off x="2391508" y="3928451"/>
            <a:ext cx="1155560" cy="1676997"/>
          </a:xfrm>
          <a:prstGeom prst="rect">
            <a:avLst/>
          </a:prstGeom>
          <a:noFill/>
          <a:ln w="38100">
            <a:solidFill>
              <a:srgbClr val="00B0F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箭號: 向右 7">
            <a:extLst>
              <a:ext uri="{FF2B5EF4-FFF2-40B4-BE49-F238E27FC236}">
                <a16:creationId xmlns:a16="http://schemas.microsoft.com/office/drawing/2014/main" id="{94DAA717-E25F-B0FD-3A9E-9AF3F0D2D39B}"/>
              </a:ext>
            </a:extLst>
          </p:cNvPr>
          <p:cNvSpPr/>
          <p:nvPr/>
        </p:nvSpPr>
        <p:spPr>
          <a:xfrm>
            <a:off x="5484590" y="4433747"/>
            <a:ext cx="1959429" cy="504930"/>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id="{D21EF18C-C9DD-BBAE-B5E4-AE8205936E52}"/>
              </a:ext>
            </a:extLst>
          </p:cNvPr>
          <p:cNvSpPr/>
          <p:nvPr/>
        </p:nvSpPr>
        <p:spPr>
          <a:xfrm>
            <a:off x="8008988" y="4014950"/>
            <a:ext cx="3837521" cy="1445476"/>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8" name="直線接點 17">
            <a:extLst>
              <a:ext uri="{FF2B5EF4-FFF2-40B4-BE49-F238E27FC236}">
                <a16:creationId xmlns:a16="http://schemas.microsoft.com/office/drawing/2014/main" id="{D6C7CF28-1874-507B-D053-708A72D1410E}"/>
              </a:ext>
            </a:extLst>
          </p:cNvPr>
          <p:cNvCxnSpPr>
            <a:stCxn id="14" idx="1"/>
            <a:endCxn id="14" idx="3"/>
          </p:cNvCxnSpPr>
          <p:nvPr/>
        </p:nvCxnSpPr>
        <p:spPr>
          <a:xfrm>
            <a:off x="8008988" y="4737688"/>
            <a:ext cx="3837521" cy="0"/>
          </a:xfrm>
          <a:prstGeom prst="line">
            <a:avLst/>
          </a:prstGeom>
          <a:ln w="57150">
            <a:solidFill>
              <a:schemeClr val="bg1">
                <a:lumMod val="50000"/>
              </a:schemeClr>
            </a:solidFill>
          </a:ln>
          <a:effectLst>
            <a:glow rad="101600">
              <a:schemeClr val="bg1">
                <a:lumMod val="65000"/>
                <a:alpha val="60000"/>
              </a:schemeClr>
            </a:glow>
          </a:effectLst>
        </p:spPr>
        <p:style>
          <a:lnRef idx="1">
            <a:schemeClr val="accent1"/>
          </a:lnRef>
          <a:fillRef idx="0">
            <a:schemeClr val="accent1"/>
          </a:fillRef>
          <a:effectRef idx="0">
            <a:schemeClr val="accent1"/>
          </a:effectRef>
          <a:fontRef idx="minor">
            <a:schemeClr val="tx1"/>
          </a:fontRef>
        </p:style>
      </p:cxnSp>
      <p:grpSp>
        <p:nvGrpSpPr>
          <p:cNvPr id="20" name="群組 19">
            <a:extLst>
              <a:ext uri="{FF2B5EF4-FFF2-40B4-BE49-F238E27FC236}">
                <a16:creationId xmlns:a16="http://schemas.microsoft.com/office/drawing/2014/main" id="{F68D2E07-D793-FAA0-211E-E8C4FA39C5DB}"/>
              </a:ext>
            </a:extLst>
          </p:cNvPr>
          <p:cNvGrpSpPr/>
          <p:nvPr/>
        </p:nvGrpSpPr>
        <p:grpSpPr>
          <a:xfrm>
            <a:off x="8265159" y="1429518"/>
            <a:ext cx="886383" cy="413115"/>
            <a:chOff x="8338333" y="3971052"/>
            <a:chExt cx="391256" cy="490702"/>
          </a:xfrm>
        </p:grpSpPr>
        <p:sp>
          <p:nvSpPr>
            <p:cNvPr id="46" name="矩形 45">
              <a:extLst>
                <a:ext uri="{FF2B5EF4-FFF2-40B4-BE49-F238E27FC236}">
                  <a16:creationId xmlns:a16="http://schemas.microsoft.com/office/drawing/2014/main" id="{2CFF52B2-1842-8146-AF68-70726849EFEE}"/>
                </a:ext>
              </a:extLst>
            </p:cNvPr>
            <p:cNvSpPr/>
            <p:nvPr/>
          </p:nvSpPr>
          <p:spPr>
            <a:xfrm>
              <a:off x="8387142" y="3971052"/>
              <a:ext cx="45719" cy="488667"/>
            </a:xfrm>
            <a:prstGeom prst="rect">
              <a:avLst/>
            </a:prstGeom>
            <a:solidFill>
              <a:srgbClr val="0070C0">
                <a:alpha val="50000"/>
              </a:srgb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436B9D26-2BBF-D426-DDB6-CDD117C59C9E}"/>
                </a:ext>
              </a:extLst>
            </p:cNvPr>
            <p:cNvSpPr/>
            <p:nvPr/>
          </p:nvSpPr>
          <p:spPr>
            <a:xfrm>
              <a:off x="8338333" y="3971052"/>
              <a:ext cx="45719" cy="488667"/>
            </a:xfrm>
            <a:prstGeom prst="rect">
              <a:avLst/>
            </a:prstGeom>
            <a:solidFill>
              <a:schemeClr val="accent1">
                <a:lumMod val="75000"/>
                <a:alpha val="50000"/>
              </a:scheme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8" name="矩形 47">
              <a:extLst>
                <a:ext uri="{FF2B5EF4-FFF2-40B4-BE49-F238E27FC236}">
                  <a16:creationId xmlns:a16="http://schemas.microsoft.com/office/drawing/2014/main" id="{6DA91A5E-8C81-47EB-DB77-0F7616011637}"/>
                </a:ext>
              </a:extLst>
            </p:cNvPr>
            <p:cNvSpPr/>
            <p:nvPr/>
          </p:nvSpPr>
          <p:spPr>
            <a:xfrm>
              <a:off x="8484752" y="3973087"/>
              <a:ext cx="45719" cy="488667"/>
            </a:xfrm>
            <a:prstGeom prst="rect">
              <a:avLst/>
            </a:prstGeom>
            <a:solidFill>
              <a:srgbClr val="0070C0">
                <a:alpha val="50000"/>
              </a:srgb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9" name="矩形 48">
              <a:extLst>
                <a:ext uri="{FF2B5EF4-FFF2-40B4-BE49-F238E27FC236}">
                  <a16:creationId xmlns:a16="http://schemas.microsoft.com/office/drawing/2014/main" id="{B0C8B1F5-1312-B901-9FEA-E1AFB3B97671}"/>
                </a:ext>
              </a:extLst>
            </p:cNvPr>
            <p:cNvSpPr/>
            <p:nvPr/>
          </p:nvSpPr>
          <p:spPr>
            <a:xfrm>
              <a:off x="8434269" y="3971052"/>
              <a:ext cx="45719" cy="488667"/>
            </a:xfrm>
            <a:prstGeom prst="rect">
              <a:avLst/>
            </a:prstGeom>
            <a:solidFill>
              <a:schemeClr val="accent1">
                <a:lumMod val="75000"/>
                <a:alpha val="50000"/>
              </a:scheme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612A790B-B1E0-4710-CF6F-14249498FB1C}"/>
                </a:ext>
              </a:extLst>
            </p:cNvPr>
            <p:cNvSpPr/>
            <p:nvPr/>
          </p:nvSpPr>
          <p:spPr>
            <a:xfrm>
              <a:off x="8585954" y="3971052"/>
              <a:ext cx="45719" cy="488667"/>
            </a:xfrm>
            <a:prstGeom prst="rect">
              <a:avLst/>
            </a:prstGeom>
            <a:solidFill>
              <a:srgbClr val="0070C0">
                <a:alpha val="50000"/>
              </a:srgb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a:extLst>
                <a:ext uri="{FF2B5EF4-FFF2-40B4-BE49-F238E27FC236}">
                  <a16:creationId xmlns:a16="http://schemas.microsoft.com/office/drawing/2014/main" id="{72ABEEB2-F883-5B02-843A-A91604CFC1EA}"/>
                </a:ext>
              </a:extLst>
            </p:cNvPr>
            <p:cNvSpPr/>
            <p:nvPr/>
          </p:nvSpPr>
          <p:spPr>
            <a:xfrm>
              <a:off x="8534754" y="3971362"/>
              <a:ext cx="45719" cy="488667"/>
            </a:xfrm>
            <a:prstGeom prst="rect">
              <a:avLst/>
            </a:prstGeom>
            <a:solidFill>
              <a:schemeClr val="accent1">
                <a:lumMod val="75000"/>
                <a:alpha val="50000"/>
              </a:scheme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矩形 51">
              <a:extLst>
                <a:ext uri="{FF2B5EF4-FFF2-40B4-BE49-F238E27FC236}">
                  <a16:creationId xmlns:a16="http://schemas.microsoft.com/office/drawing/2014/main" id="{86BCD587-C811-BAFD-BD9F-44871A9AD91C}"/>
                </a:ext>
              </a:extLst>
            </p:cNvPr>
            <p:cNvSpPr/>
            <p:nvPr/>
          </p:nvSpPr>
          <p:spPr>
            <a:xfrm>
              <a:off x="8683870" y="3971052"/>
              <a:ext cx="45719" cy="488667"/>
            </a:xfrm>
            <a:prstGeom prst="rect">
              <a:avLst/>
            </a:prstGeom>
            <a:solidFill>
              <a:srgbClr val="0070C0">
                <a:alpha val="50000"/>
              </a:srgb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3" name="矩形 52">
              <a:extLst>
                <a:ext uri="{FF2B5EF4-FFF2-40B4-BE49-F238E27FC236}">
                  <a16:creationId xmlns:a16="http://schemas.microsoft.com/office/drawing/2014/main" id="{3EC89E30-E827-70BC-F0A1-DDBE380A126F}"/>
                </a:ext>
              </a:extLst>
            </p:cNvPr>
            <p:cNvSpPr/>
            <p:nvPr/>
          </p:nvSpPr>
          <p:spPr>
            <a:xfrm>
              <a:off x="8632706" y="3971052"/>
              <a:ext cx="45719" cy="488667"/>
            </a:xfrm>
            <a:prstGeom prst="rect">
              <a:avLst/>
            </a:prstGeom>
            <a:solidFill>
              <a:schemeClr val="accent1">
                <a:lumMod val="75000"/>
                <a:alpha val="50000"/>
              </a:scheme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21" name="群組 20">
            <a:extLst>
              <a:ext uri="{FF2B5EF4-FFF2-40B4-BE49-F238E27FC236}">
                <a16:creationId xmlns:a16="http://schemas.microsoft.com/office/drawing/2014/main" id="{EB2004B7-CF28-0235-C72A-F86BDFFC74C9}"/>
              </a:ext>
            </a:extLst>
          </p:cNvPr>
          <p:cNvGrpSpPr/>
          <p:nvPr/>
        </p:nvGrpSpPr>
        <p:grpSpPr>
          <a:xfrm>
            <a:off x="10249612" y="1432136"/>
            <a:ext cx="797264" cy="413296"/>
            <a:chOff x="8338333" y="3971052"/>
            <a:chExt cx="391256" cy="490791"/>
          </a:xfrm>
        </p:grpSpPr>
        <p:sp>
          <p:nvSpPr>
            <p:cNvPr id="38" name="矩形 37">
              <a:extLst>
                <a:ext uri="{FF2B5EF4-FFF2-40B4-BE49-F238E27FC236}">
                  <a16:creationId xmlns:a16="http://schemas.microsoft.com/office/drawing/2014/main" id="{BCDDF3D7-98A8-965C-5657-E1DC4C0BD2DC}"/>
                </a:ext>
              </a:extLst>
            </p:cNvPr>
            <p:cNvSpPr/>
            <p:nvPr/>
          </p:nvSpPr>
          <p:spPr>
            <a:xfrm>
              <a:off x="8387142" y="3971052"/>
              <a:ext cx="45719" cy="488667"/>
            </a:xfrm>
            <a:prstGeom prst="rect">
              <a:avLst/>
            </a:prstGeom>
            <a:solidFill>
              <a:srgbClr val="0070C0">
                <a:alpha val="50000"/>
              </a:srgb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矩形 38">
              <a:extLst>
                <a:ext uri="{FF2B5EF4-FFF2-40B4-BE49-F238E27FC236}">
                  <a16:creationId xmlns:a16="http://schemas.microsoft.com/office/drawing/2014/main" id="{6FF40A0B-B579-F57B-AA5B-E595CCCF425C}"/>
                </a:ext>
              </a:extLst>
            </p:cNvPr>
            <p:cNvSpPr/>
            <p:nvPr/>
          </p:nvSpPr>
          <p:spPr>
            <a:xfrm>
              <a:off x="8338333" y="3971052"/>
              <a:ext cx="45719" cy="488667"/>
            </a:xfrm>
            <a:prstGeom prst="rect">
              <a:avLst/>
            </a:prstGeom>
            <a:solidFill>
              <a:schemeClr val="accent1">
                <a:lumMod val="75000"/>
                <a:alpha val="50000"/>
              </a:scheme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矩形 39">
              <a:extLst>
                <a:ext uri="{FF2B5EF4-FFF2-40B4-BE49-F238E27FC236}">
                  <a16:creationId xmlns:a16="http://schemas.microsoft.com/office/drawing/2014/main" id="{0F087141-9314-50BB-EF6F-0C5055633D16}"/>
                </a:ext>
              </a:extLst>
            </p:cNvPr>
            <p:cNvSpPr/>
            <p:nvPr/>
          </p:nvSpPr>
          <p:spPr>
            <a:xfrm>
              <a:off x="8484752" y="3973176"/>
              <a:ext cx="45719" cy="488667"/>
            </a:xfrm>
            <a:prstGeom prst="rect">
              <a:avLst/>
            </a:prstGeom>
            <a:solidFill>
              <a:srgbClr val="0070C0">
                <a:alpha val="50000"/>
              </a:srgb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1" name="矩形 40">
              <a:extLst>
                <a:ext uri="{FF2B5EF4-FFF2-40B4-BE49-F238E27FC236}">
                  <a16:creationId xmlns:a16="http://schemas.microsoft.com/office/drawing/2014/main" id="{495C13AC-7461-77B5-B0C8-5E86ED807822}"/>
                </a:ext>
              </a:extLst>
            </p:cNvPr>
            <p:cNvSpPr/>
            <p:nvPr/>
          </p:nvSpPr>
          <p:spPr>
            <a:xfrm>
              <a:off x="8434269" y="3971052"/>
              <a:ext cx="45719" cy="488667"/>
            </a:xfrm>
            <a:prstGeom prst="rect">
              <a:avLst/>
            </a:prstGeom>
            <a:solidFill>
              <a:schemeClr val="accent1">
                <a:lumMod val="75000"/>
                <a:alpha val="50000"/>
              </a:scheme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矩形 41">
              <a:extLst>
                <a:ext uri="{FF2B5EF4-FFF2-40B4-BE49-F238E27FC236}">
                  <a16:creationId xmlns:a16="http://schemas.microsoft.com/office/drawing/2014/main" id="{0CA8B97A-6657-E7B4-49EA-673BBDE9592B}"/>
                </a:ext>
              </a:extLst>
            </p:cNvPr>
            <p:cNvSpPr/>
            <p:nvPr/>
          </p:nvSpPr>
          <p:spPr>
            <a:xfrm>
              <a:off x="8585954" y="3971052"/>
              <a:ext cx="45719" cy="488667"/>
            </a:xfrm>
            <a:prstGeom prst="rect">
              <a:avLst/>
            </a:prstGeom>
            <a:solidFill>
              <a:srgbClr val="0070C0">
                <a:alpha val="50000"/>
              </a:srgb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3" name="矩形 42">
              <a:extLst>
                <a:ext uri="{FF2B5EF4-FFF2-40B4-BE49-F238E27FC236}">
                  <a16:creationId xmlns:a16="http://schemas.microsoft.com/office/drawing/2014/main" id="{5BE73B68-4F25-30C9-E6A6-D65C6287F79A}"/>
                </a:ext>
              </a:extLst>
            </p:cNvPr>
            <p:cNvSpPr/>
            <p:nvPr/>
          </p:nvSpPr>
          <p:spPr>
            <a:xfrm>
              <a:off x="8534754" y="3971450"/>
              <a:ext cx="45719" cy="488667"/>
            </a:xfrm>
            <a:prstGeom prst="rect">
              <a:avLst/>
            </a:prstGeom>
            <a:solidFill>
              <a:schemeClr val="accent1">
                <a:lumMod val="75000"/>
                <a:alpha val="50000"/>
              </a:scheme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4" name="矩形 43">
              <a:extLst>
                <a:ext uri="{FF2B5EF4-FFF2-40B4-BE49-F238E27FC236}">
                  <a16:creationId xmlns:a16="http://schemas.microsoft.com/office/drawing/2014/main" id="{4BAE84A6-76B0-1317-0708-685F551490E0}"/>
                </a:ext>
              </a:extLst>
            </p:cNvPr>
            <p:cNvSpPr/>
            <p:nvPr/>
          </p:nvSpPr>
          <p:spPr>
            <a:xfrm>
              <a:off x="8683870" y="3971052"/>
              <a:ext cx="45719" cy="488667"/>
            </a:xfrm>
            <a:prstGeom prst="rect">
              <a:avLst/>
            </a:prstGeom>
            <a:solidFill>
              <a:srgbClr val="0070C0">
                <a:alpha val="50000"/>
              </a:srgb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5" name="矩形 44">
              <a:extLst>
                <a:ext uri="{FF2B5EF4-FFF2-40B4-BE49-F238E27FC236}">
                  <a16:creationId xmlns:a16="http://schemas.microsoft.com/office/drawing/2014/main" id="{0A080E9A-84DE-A880-9526-6DE0E70960D1}"/>
                </a:ext>
              </a:extLst>
            </p:cNvPr>
            <p:cNvSpPr/>
            <p:nvPr/>
          </p:nvSpPr>
          <p:spPr>
            <a:xfrm>
              <a:off x="8632706" y="3971052"/>
              <a:ext cx="45719" cy="488667"/>
            </a:xfrm>
            <a:prstGeom prst="rect">
              <a:avLst/>
            </a:prstGeom>
            <a:solidFill>
              <a:schemeClr val="accent1">
                <a:lumMod val="75000"/>
                <a:alpha val="50000"/>
              </a:scheme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22" name="群組 21">
            <a:extLst>
              <a:ext uri="{FF2B5EF4-FFF2-40B4-BE49-F238E27FC236}">
                <a16:creationId xmlns:a16="http://schemas.microsoft.com/office/drawing/2014/main" id="{8F405420-5CAF-3DD1-20CD-8F822B4998AB}"/>
              </a:ext>
            </a:extLst>
          </p:cNvPr>
          <p:cNvGrpSpPr/>
          <p:nvPr/>
        </p:nvGrpSpPr>
        <p:grpSpPr>
          <a:xfrm>
            <a:off x="9464155" y="3324209"/>
            <a:ext cx="569337" cy="240219"/>
            <a:chOff x="7929255" y="881026"/>
            <a:chExt cx="1753698" cy="526791"/>
          </a:xfrm>
        </p:grpSpPr>
        <p:sp>
          <p:nvSpPr>
            <p:cNvPr id="35" name="矩形 34">
              <a:extLst>
                <a:ext uri="{FF2B5EF4-FFF2-40B4-BE49-F238E27FC236}">
                  <a16:creationId xmlns:a16="http://schemas.microsoft.com/office/drawing/2014/main" id="{CE8DCCED-EC0A-91B9-D1A6-97CCEE7DFF96}"/>
                </a:ext>
              </a:extLst>
            </p:cNvPr>
            <p:cNvSpPr/>
            <p:nvPr/>
          </p:nvSpPr>
          <p:spPr>
            <a:xfrm>
              <a:off x="7929255" y="1316069"/>
              <a:ext cx="1742391" cy="9174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矩形 35">
              <a:extLst>
                <a:ext uri="{FF2B5EF4-FFF2-40B4-BE49-F238E27FC236}">
                  <a16:creationId xmlns:a16="http://schemas.microsoft.com/office/drawing/2014/main" id="{BD064EB8-693B-D7B6-5917-C14BC954437E}"/>
                </a:ext>
              </a:extLst>
            </p:cNvPr>
            <p:cNvSpPr/>
            <p:nvPr/>
          </p:nvSpPr>
          <p:spPr>
            <a:xfrm>
              <a:off x="7940562" y="1099162"/>
              <a:ext cx="1742391" cy="9174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矩形 36">
              <a:extLst>
                <a:ext uri="{FF2B5EF4-FFF2-40B4-BE49-F238E27FC236}">
                  <a16:creationId xmlns:a16="http://schemas.microsoft.com/office/drawing/2014/main" id="{FC79A6A6-6E87-B403-9F00-6670D5A9684F}"/>
                </a:ext>
              </a:extLst>
            </p:cNvPr>
            <p:cNvSpPr/>
            <p:nvPr/>
          </p:nvSpPr>
          <p:spPr>
            <a:xfrm>
              <a:off x="7940562" y="881026"/>
              <a:ext cx="1742391" cy="9174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57" name="群組 56">
            <a:extLst>
              <a:ext uri="{FF2B5EF4-FFF2-40B4-BE49-F238E27FC236}">
                <a16:creationId xmlns:a16="http://schemas.microsoft.com/office/drawing/2014/main" id="{9E38AD86-9DD7-636F-4E6B-DB78B03878FA}"/>
              </a:ext>
            </a:extLst>
          </p:cNvPr>
          <p:cNvGrpSpPr/>
          <p:nvPr/>
        </p:nvGrpSpPr>
        <p:grpSpPr>
          <a:xfrm>
            <a:off x="9272408" y="2377185"/>
            <a:ext cx="899726" cy="411401"/>
            <a:chOff x="8846834" y="2128892"/>
            <a:chExt cx="899726" cy="411401"/>
          </a:xfrm>
        </p:grpSpPr>
        <p:grpSp>
          <p:nvGrpSpPr>
            <p:cNvPr id="23" name="群組 22">
              <a:extLst>
                <a:ext uri="{FF2B5EF4-FFF2-40B4-BE49-F238E27FC236}">
                  <a16:creationId xmlns:a16="http://schemas.microsoft.com/office/drawing/2014/main" id="{4D8F5A19-F2EA-2195-51E0-A285AA32858F}"/>
                </a:ext>
              </a:extLst>
            </p:cNvPr>
            <p:cNvGrpSpPr/>
            <p:nvPr/>
          </p:nvGrpSpPr>
          <p:grpSpPr>
            <a:xfrm>
              <a:off x="8872081" y="2128892"/>
              <a:ext cx="842008" cy="411401"/>
              <a:chOff x="7556468" y="3141495"/>
              <a:chExt cx="1823500" cy="1690702"/>
            </a:xfrm>
          </p:grpSpPr>
          <p:sp>
            <p:nvSpPr>
              <p:cNvPr id="27" name="矩形 26">
                <a:extLst>
                  <a:ext uri="{FF2B5EF4-FFF2-40B4-BE49-F238E27FC236}">
                    <a16:creationId xmlns:a16="http://schemas.microsoft.com/office/drawing/2014/main" id="{0A4FAB67-74FC-C0B9-B52D-5C33AE5F99DB}"/>
                  </a:ext>
                </a:extLst>
              </p:cNvPr>
              <p:cNvSpPr/>
              <p:nvPr/>
            </p:nvSpPr>
            <p:spPr>
              <a:xfrm>
                <a:off x="7783949" y="3141495"/>
                <a:ext cx="213079" cy="1683690"/>
              </a:xfrm>
              <a:prstGeom prst="rect">
                <a:avLst/>
              </a:prstGeom>
              <a:solidFill>
                <a:srgbClr val="00B050">
                  <a:alpha val="50000"/>
                </a:srgb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8" name="矩形 27">
                <a:extLst>
                  <a:ext uri="{FF2B5EF4-FFF2-40B4-BE49-F238E27FC236}">
                    <a16:creationId xmlns:a16="http://schemas.microsoft.com/office/drawing/2014/main" id="{3EFC28F5-55CA-C72A-C10F-D00FAA570CE9}"/>
                  </a:ext>
                </a:extLst>
              </p:cNvPr>
              <p:cNvSpPr/>
              <p:nvPr/>
            </p:nvSpPr>
            <p:spPr>
              <a:xfrm>
                <a:off x="7556468" y="3141495"/>
                <a:ext cx="213079" cy="1683690"/>
              </a:xfrm>
              <a:prstGeom prst="rect">
                <a:avLst/>
              </a:prstGeom>
              <a:solidFill>
                <a:srgbClr val="00B050">
                  <a:alpha val="50000"/>
                </a:srgb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9" name="矩形 28">
                <a:extLst>
                  <a:ext uri="{FF2B5EF4-FFF2-40B4-BE49-F238E27FC236}">
                    <a16:creationId xmlns:a16="http://schemas.microsoft.com/office/drawing/2014/main" id="{E4276806-73F3-804B-3705-A060A6E07D02}"/>
                  </a:ext>
                </a:extLst>
              </p:cNvPr>
              <p:cNvSpPr/>
              <p:nvPr/>
            </p:nvSpPr>
            <p:spPr>
              <a:xfrm>
                <a:off x="8238873" y="3148507"/>
                <a:ext cx="213079" cy="1683690"/>
              </a:xfrm>
              <a:prstGeom prst="rect">
                <a:avLst/>
              </a:prstGeom>
              <a:solidFill>
                <a:schemeClr val="accent6">
                  <a:lumMod val="60000"/>
                  <a:lumOff val="40000"/>
                  <a:alpha val="50000"/>
                </a:scheme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0" name="矩形 29">
                <a:extLst>
                  <a:ext uri="{FF2B5EF4-FFF2-40B4-BE49-F238E27FC236}">
                    <a16:creationId xmlns:a16="http://schemas.microsoft.com/office/drawing/2014/main" id="{54364ADD-A48D-4241-A04D-BAAB4B1F31D8}"/>
                  </a:ext>
                </a:extLst>
              </p:cNvPr>
              <p:cNvSpPr/>
              <p:nvPr/>
            </p:nvSpPr>
            <p:spPr>
              <a:xfrm>
                <a:off x="8003590" y="3141495"/>
                <a:ext cx="213079" cy="1683690"/>
              </a:xfrm>
              <a:prstGeom prst="rect">
                <a:avLst/>
              </a:prstGeom>
              <a:solidFill>
                <a:srgbClr val="00B050">
                  <a:alpha val="50000"/>
                </a:srgb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矩形 30">
                <a:extLst>
                  <a:ext uri="{FF2B5EF4-FFF2-40B4-BE49-F238E27FC236}">
                    <a16:creationId xmlns:a16="http://schemas.microsoft.com/office/drawing/2014/main" id="{E200B46B-32E1-A1B1-445B-334C8505347A}"/>
                  </a:ext>
                </a:extLst>
              </p:cNvPr>
              <p:cNvSpPr/>
              <p:nvPr/>
            </p:nvSpPr>
            <p:spPr>
              <a:xfrm>
                <a:off x="8710538" y="3141495"/>
                <a:ext cx="213079" cy="1683690"/>
              </a:xfrm>
              <a:prstGeom prst="rect">
                <a:avLst/>
              </a:prstGeom>
              <a:solidFill>
                <a:schemeClr val="accent6">
                  <a:lumMod val="60000"/>
                  <a:lumOff val="40000"/>
                  <a:alpha val="50000"/>
                </a:scheme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矩形 31">
                <a:extLst>
                  <a:ext uri="{FF2B5EF4-FFF2-40B4-BE49-F238E27FC236}">
                    <a16:creationId xmlns:a16="http://schemas.microsoft.com/office/drawing/2014/main" id="{365A7494-4BA3-D248-9C30-7F62337076D7}"/>
                  </a:ext>
                </a:extLst>
              </p:cNvPr>
              <p:cNvSpPr/>
              <p:nvPr/>
            </p:nvSpPr>
            <p:spPr>
              <a:xfrm>
                <a:off x="8471914" y="3142563"/>
                <a:ext cx="213079" cy="1683690"/>
              </a:xfrm>
              <a:prstGeom prst="rect">
                <a:avLst/>
              </a:prstGeom>
              <a:solidFill>
                <a:srgbClr val="00B050">
                  <a:alpha val="50000"/>
                </a:srgb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3" name="矩形 32">
                <a:extLst>
                  <a:ext uri="{FF2B5EF4-FFF2-40B4-BE49-F238E27FC236}">
                    <a16:creationId xmlns:a16="http://schemas.microsoft.com/office/drawing/2014/main" id="{1E2AA745-4040-D8D2-98F3-32C375B6506B}"/>
                  </a:ext>
                </a:extLst>
              </p:cNvPr>
              <p:cNvSpPr/>
              <p:nvPr/>
            </p:nvSpPr>
            <p:spPr>
              <a:xfrm>
                <a:off x="9166889" y="3141495"/>
                <a:ext cx="213079" cy="1683690"/>
              </a:xfrm>
              <a:prstGeom prst="rect">
                <a:avLst/>
              </a:prstGeom>
              <a:solidFill>
                <a:schemeClr val="accent6">
                  <a:lumMod val="60000"/>
                  <a:lumOff val="40000"/>
                  <a:alpha val="50000"/>
                </a:scheme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4" name="矩形 33">
                <a:extLst>
                  <a:ext uri="{FF2B5EF4-FFF2-40B4-BE49-F238E27FC236}">
                    <a16:creationId xmlns:a16="http://schemas.microsoft.com/office/drawing/2014/main" id="{FC0378BF-06ED-3A88-2DED-0CABA566215B}"/>
                  </a:ext>
                </a:extLst>
              </p:cNvPr>
              <p:cNvSpPr/>
              <p:nvPr/>
            </p:nvSpPr>
            <p:spPr>
              <a:xfrm>
                <a:off x="8928432" y="3141495"/>
                <a:ext cx="213079" cy="1683690"/>
              </a:xfrm>
              <a:prstGeom prst="rect">
                <a:avLst/>
              </a:prstGeom>
              <a:solidFill>
                <a:srgbClr val="00B050">
                  <a:alpha val="50000"/>
                </a:srgb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24" name="群組 23">
              <a:extLst>
                <a:ext uri="{FF2B5EF4-FFF2-40B4-BE49-F238E27FC236}">
                  <a16:creationId xmlns:a16="http://schemas.microsoft.com/office/drawing/2014/main" id="{F019F3BA-527B-2F6B-865B-38CB1DC0EBC7}"/>
                </a:ext>
              </a:extLst>
            </p:cNvPr>
            <p:cNvGrpSpPr/>
            <p:nvPr/>
          </p:nvGrpSpPr>
          <p:grpSpPr>
            <a:xfrm>
              <a:off x="8846834" y="2220738"/>
              <a:ext cx="899726" cy="193748"/>
              <a:chOff x="7008252" y="1816146"/>
              <a:chExt cx="1753697" cy="308655"/>
            </a:xfrm>
          </p:grpSpPr>
          <p:sp>
            <p:nvSpPr>
              <p:cNvPr id="25" name="矩形 24">
                <a:extLst>
                  <a:ext uri="{FF2B5EF4-FFF2-40B4-BE49-F238E27FC236}">
                    <a16:creationId xmlns:a16="http://schemas.microsoft.com/office/drawing/2014/main" id="{CD5311EB-FA70-B7C6-4D72-C368AA87441D}"/>
                  </a:ext>
                </a:extLst>
              </p:cNvPr>
              <p:cNvSpPr/>
              <p:nvPr/>
            </p:nvSpPr>
            <p:spPr>
              <a:xfrm>
                <a:off x="7008252" y="2033053"/>
                <a:ext cx="1742391" cy="9174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矩形 25">
                <a:extLst>
                  <a:ext uri="{FF2B5EF4-FFF2-40B4-BE49-F238E27FC236}">
                    <a16:creationId xmlns:a16="http://schemas.microsoft.com/office/drawing/2014/main" id="{590D78AF-D8B4-93C8-4B79-1E66EDC1958E}"/>
                  </a:ext>
                </a:extLst>
              </p:cNvPr>
              <p:cNvSpPr/>
              <p:nvPr/>
            </p:nvSpPr>
            <p:spPr>
              <a:xfrm>
                <a:off x="7019560" y="1816146"/>
                <a:ext cx="1742389" cy="9174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sp>
        <p:nvSpPr>
          <p:cNvPr id="54" name="文字方塊 53">
            <a:extLst>
              <a:ext uri="{FF2B5EF4-FFF2-40B4-BE49-F238E27FC236}">
                <a16:creationId xmlns:a16="http://schemas.microsoft.com/office/drawing/2014/main" id="{73429CEE-4D49-7D64-F8A9-3AC98B669534}"/>
              </a:ext>
            </a:extLst>
          </p:cNvPr>
          <p:cNvSpPr txBox="1"/>
          <p:nvPr/>
        </p:nvSpPr>
        <p:spPr>
          <a:xfrm>
            <a:off x="8331521" y="4968297"/>
            <a:ext cx="675185" cy="369332"/>
          </a:xfrm>
          <a:prstGeom prst="rect">
            <a:avLst/>
          </a:prstGeom>
          <a:noFill/>
        </p:spPr>
        <p:txBody>
          <a:bodyPr wrap="none" rtlCol="0">
            <a:spAutoFit/>
          </a:bodyPr>
          <a:lstStyle/>
          <a:p>
            <a:r>
              <a:rPr lang="en-US" altLang="zh-TW" dirty="0"/>
              <a:t>SPDC</a:t>
            </a:r>
            <a:endParaRPr lang="zh-TW" altLang="en-US" dirty="0"/>
          </a:p>
        </p:txBody>
      </p:sp>
      <p:sp>
        <p:nvSpPr>
          <p:cNvPr id="55" name="文字方塊 54">
            <a:extLst>
              <a:ext uri="{FF2B5EF4-FFF2-40B4-BE49-F238E27FC236}">
                <a16:creationId xmlns:a16="http://schemas.microsoft.com/office/drawing/2014/main" id="{C91E44A2-7C61-22BE-9312-5E9317A77461}"/>
              </a:ext>
            </a:extLst>
          </p:cNvPr>
          <p:cNvSpPr txBox="1"/>
          <p:nvPr/>
        </p:nvSpPr>
        <p:spPr>
          <a:xfrm>
            <a:off x="8008988" y="999289"/>
            <a:ext cx="3365268" cy="369332"/>
          </a:xfrm>
          <a:prstGeom prst="rect">
            <a:avLst/>
          </a:prstGeom>
          <a:noFill/>
          <a:ln w="19050">
            <a:solidFill>
              <a:srgbClr val="00B0F0"/>
            </a:solidFill>
          </a:ln>
        </p:spPr>
        <p:txBody>
          <a:bodyPr wrap="square" rtlCol="0">
            <a:spAutoFit/>
          </a:bodyPr>
          <a:lstStyle/>
          <a:p>
            <a:r>
              <a:rPr lang="en-US" altLang="zh-TW" dirty="0"/>
              <a:t>Two SPDC</a:t>
            </a:r>
            <a:r>
              <a:rPr lang="zh-TW" altLang="en-US" dirty="0"/>
              <a:t> </a:t>
            </a:r>
            <a:r>
              <a:rPr lang="en-US" altLang="zh-TW" dirty="0"/>
              <a:t>type 0 PPLN structure</a:t>
            </a:r>
            <a:endParaRPr lang="zh-TW" altLang="en-US" dirty="0"/>
          </a:p>
        </p:txBody>
      </p:sp>
      <p:sp>
        <p:nvSpPr>
          <p:cNvPr id="58" name="文字方塊 57">
            <a:extLst>
              <a:ext uri="{FF2B5EF4-FFF2-40B4-BE49-F238E27FC236}">
                <a16:creationId xmlns:a16="http://schemas.microsoft.com/office/drawing/2014/main" id="{A9F64E0F-D23B-8DB7-668D-2AE830BC823C}"/>
              </a:ext>
            </a:extLst>
          </p:cNvPr>
          <p:cNvSpPr txBox="1"/>
          <p:nvPr/>
        </p:nvSpPr>
        <p:spPr>
          <a:xfrm>
            <a:off x="7090543" y="1921544"/>
            <a:ext cx="5044429" cy="369332"/>
          </a:xfrm>
          <a:prstGeom prst="rect">
            <a:avLst/>
          </a:prstGeom>
          <a:noFill/>
          <a:ln w="19050">
            <a:solidFill>
              <a:srgbClr val="00B050"/>
            </a:solidFill>
          </a:ln>
        </p:spPr>
        <p:txBody>
          <a:bodyPr wrap="square" rtlCol="0">
            <a:spAutoFit/>
          </a:bodyPr>
          <a:lstStyle/>
          <a:p>
            <a:r>
              <a:rPr lang="en-US" altLang="zh-TW" dirty="0"/>
              <a:t>Electric-optic polarization mode convertor(EOPMC)</a:t>
            </a:r>
            <a:endParaRPr lang="zh-TW" altLang="en-US" dirty="0"/>
          </a:p>
        </p:txBody>
      </p:sp>
      <p:sp>
        <p:nvSpPr>
          <p:cNvPr id="139" name="文字方塊 138">
            <a:extLst>
              <a:ext uri="{FF2B5EF4-FFF2-40B4-BE49-F238E27FC236}">
                <a16:creationId xmlns:a16="http://schemas.microsoft.com/office/drawing/2014/main" id="{152D8605-9EA1-A67F-E01F-165CFE8275FA}"/>
              </a:ext>
            </a:extLst>
          </p:cNvPr>
          <p:cNvSpPr txBox="1"/>
          <p:nvPr/>
        </p:nvSpPr>
        <p:spPr>
          <a:xfrm>
            <a:off x="9219556" y="4968720"/>
            <a:ext cx="884794" cy="369332"/>
          </a:xfrm>
          <a:prstGeom prst="rect">
            <a:avLst/>
          </a:prstGeom>
          <a:noFill/>
        </p:spPr>
        <p:txBody>
          <a:bodyPr wrap="none" rtlCol="0">
            <a:spAutoFit/>
          </a:bodyPr>
          <a:lstStyle/>
          <a:p>
            <a:r>
              <a:rPr lang="en-US" altLang="zh-TW" dirty="0"/>
              <a:t>EOPMC</a:t>
            </a:r>
            <a:endParaRPr lang="zh-TW" altLang="en-US" dirty="0"/>
          </a:p>
        </p:txBody>
      </p:sp>
      <p:sp>
        <p:nvSpPr>
          <p:cNvPr id="140" name="文字方塊 139">
            <a:extLst>
              <a:ext uri="{FF2B5EF4-FFF2-40B4-BE49-F238E27FC236}">
                <a16:creationId xmlns:a16="http://schemas.microsoft.com/office/drawing/2014/main" id="{BB2A8FE2-0DEC-BB0D-C562-5E93333A4E1B}"/>
              </a:ext>
            </a:extLst>
          </p:cNvPr>
          <p:cNvSpPr txBox="1"/>
          <p:nvPr/>
        </p:nvSpPr>
        <p:spPr>
          <a:xfrm>
            <a:off x="10256959" y="4972946"/>
            <a:ext cx="675185" cy="369332"/>
          </a:xfrm>
          <a:prstGeom prst="rect">
            <a:avLst/>
          </a:prstGeom>
          <a:noFill/>
        </p:spPr>
        <p:txBody>
          <a:bodyPr wrap="none" rtlCol="0">
            <a:spAutoFit/>
          </a:bodyPr>
          <a:lstStyle/>
          <a:p>
            <a:r>
              <a:rPr lang="en-US" altLang="zh-TW" dirty="0"/>
              <a:t>SPDC</a:t>
            </a:r>
            <a:endParaRPr lang="zh-TW" altLang="en-US" dirty="0"/>
          </a:p>
        </p:txBody>
      </p:sp>
      <p:sp>
        <p:nvSpPr>
          <p:cNvPr id="141" name="文字方塊 140">
            <a:extLst>
              <a:ext uri="{FF2B5EF4-FFF2-40B4-BE49-F238E27FC236}">
                <a16:creationId xmlns:a16="http://schemas.microsoft.com/office/drawing/2014/main" id="{5C96C0F0-B6AB-1B92-9311-3AF688B8D272}"/>
              </a:ext>
            </a:extLst>
          </p:cNvPr>
          <p:cNvSpPr txBox="1"/>
          <p:nvPr/>
        </p:nvSpPr>
        <p:spPr>
          <a:xfrm>
            <a:off x="11254457" y="4968297"/>
            <a:ext cx="445571" cy="369332"/>
          </a:xfrm>
          <a:prstGeom prst="rect">
            <a:avLst/>
          </a:prstGeom>
          <a:noFill/>
        </p:spPr>
        <p:txBody>
          <a:bodyPr wrap="none" rtlCol="0">
            <a:spAutoFit/>
          </a:bodyPr>
          <a:lstStyle/>
          <a:p>
            <a:r>
              <a:rPr lang="en-US" altLang="zh-TW" dirty="0"/>
              <a:t>EO</a:t>
            </a:r>
            <a:endParaRPr lang="zh-TW" altLang="en-US" dirty="0"/>
          </a:p>
        </p:txBody>
      </p:sp>
      <p:sp>
        <p:nvSpPr>
          <p:cNvPr id="143" name="文字方塊 142">
            <a:extLst>
              <a:ext uri="{FF2B5EF4-FFF2-40B4-BE49-F238E27FC236}">
                <a16:creationId xmlns:a16="http://schemas.microsoft.com/office/drawing/2014/main" id="{A8FC398A-CB30-AA78-AE4A-70361C66BBAE}"/>
              </a:ext>
            </a:extLst>
          </p:cNvPr>
          <p:cNvSpPr txBox="1"/>
          <p:nvPr/>
        </p:nvSpPr>
        <p:spPr>
          <a:xfrm>
            <a:off x="8280734" y="2847277"/>
            <a:ext cx="3466655" cy="369332"/>
          </a:xfrm>
          <a:prstGeom prst="rect">
            <a:avLst/>
          </a:prstGeom>
          <a:noFill/>
          <a:ln w="19050">
            <a:solidFill>
              <a:srgbClr val="FFC000"/>
            </a:solidFill>
          </a:ln>
        </p:spPr>
        <p:txBody>
          <a:bodyPr wrap="none" rtlCol="0">
            <a:spAutoFit/>
          </a:bodyPr>
          <a:lstStyle/>
          <a:p>
            <a:r>
              <a:rPr lang="en-US" altLang="zh-TW" dirty="0"/>
              <a:t>Electric-optic phase modulator(EO)</a:t>
            </a:r>
            <a:endParaRPr lang="zh-TW" altLang="en-US" dirty="0"/>
          </a:p>
        </p:txBody>
      </p:sp>
      <p:sp>
        <p:nvSpPr>
          <p:cNvPr id="146" name="箭號: 向右 145">
            <a:extLst>
              <a:ext uri="{FF2B5EF4-FFF2-40B4-BE49-F238E27FC236}">
                <a16:creationId xmlns:a16="http://schemas.microsoft.com/office/drawing/2014/main" id="{3A1A1C84-3D1F-1363-B093-6233FEB8BA01}"/>
              </a:ext>
            </a:extLst>
          </p:cNvPr>
          <p:cNvSpPr/>
          <p:nvPr/>
        </p:nvSpPr>
        <p:spPr>
          <a:xfrm rot="5400000">
            <a:off x="9546231" y="5547151"/>
            <a:ext cx="519087" cy="504930"/>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7" name="文字方塊 146">
            <a:extLst>
              <a:ext uri="{FF2B5EF4-FFF2-40B4-BE49-F238E27FC236}">
                <a16:creationId xmlns:a16="http://schemas.microsoft.com/office/drawing/2014/main" id="{FC048032-2F13-D74D-74C7-D051318F90A3}"/>
              </a:ext>
            </a:extLst>
          </p:cNvPr>
          <p:cNvSpPr txBox="1"/>
          <p:nvPr/>
        </p:nvSpPr>
        <p:spPr>
          <a:xfrm>
            <a:off x="8197112" y="6125642"/>
            <a:ext cx="3365268" cy="646331"/>
          </a:xfrm>
          <a:prstGeom prst="rect">
            <a:avLst/>
          </a:prstGeom>
          <a:noFill/>
          <a:ln w="19050">
            <a:solidFill>
              <a:srgbClr val="00B0F0"/>
            </a:solidFill>
          </a:ln>
        </p:spPr>
        <p:txBody>
          <a:bodyPr wrap="square" rtlCol="0">
            <a:spAutoFit/>
          </a:bodyPr>
          <a:lstStyle/>
          <a:p>
            <a:r>
              <a:rPr lang="en-US" altLang="zh-TW" dirty="0"/>
              <a:t>Generation </a:t>
            </a:r>
            <a:r>
              <a:rPr lang="en-US" altLang="zh-TW" sz="1800" dirty="0">
                <a:effectLst/>
                <a:latin typeface="標楷體" panose="03000509000000000000" pitchFamily="65" charset="-120"/>
                <a:cs typeface="Times New Roman" panose="02020603050405020304" pitchFamily="18" charset="0"/>
              </a:rPr>
              <a:t>|HH</a:t>
            </a:r>
            <a:r>
              <a:rPr lang="en-US" altLang="zh-TW" sz="1800" dirty="0">
                <a:effectLst/>
                <a:latin typeface="Cambria Math" panose="02040503050406030204" pitchFamily="18" charset="0"/>
                <a:ea typeface="標楷體" panose="03000509000000000000" pitchFamily="65" charset="-120"/>
                <a:cs typeface="Cambria Math" panose="02040503050406030204" pitchFamily="18" charset="0"/>
              </a:rPr>
              <a:t>⟩ &amp; |VV⟩ photon pair</a:t>
            </a:r>
            <a:r>
              <a:rPr lang="en-US" altLang="zh-TW" dirty="0"/>
              <a:t>  in one chip</a:t>
            </a:r>
            <a:endParaRPr lang="zh-TW" altLang="en-US" dirty="0"/>
          </a:p>
        </p:txBody>
      </p:sp>
      <p:sp>
        <p:nvSpPr>
          <p:cNvPr id="148" name="矩形 147">
            <a:extLst>
              <a:ext uri="{FF2B5EF4-FFF2-40B4-BE49-F238E27FC236}">
                <a16:creationId xmlns:a16="http://schemas.microsoft.com/office/drawing/2014/main" id="{7AE10DE7-3A84-9826-7D2A-55DB1393F5BD}"/>
              </a:ext>
            </a:extLst>
          </p:cNvPr>
          <p:cNvSpPr/>
          <p:nvPr/>
        </p:nvSpPr>
        <p:spPr>
          <a:xfrm>
            <a:off x="3846257" y="4260501"/>
            <a:ext cx="796081" cy="592947"/>
          </a:xfrm>
          <a:prstGeom prst="rect">
            <a:avLst/>
          </a:prstGeom>
          <a:noFill/>
          <a:ln w="38100">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50" name="接點: 弧形 149">
            <a:extLst>
              <a:ext uri="{FF2B5EF4-FFF2-40B4-BE49-F238E27FC236}">
                <a16:creationId xmlns:a16="http://schemas.microsoft.com/office/drawing/2014/main" id="{23BEB6BD-129B-1716-F138-70CC1D59C09E}"/>
              </a:ext>
            </a:extLst>
          </p:cNvPr>
          <p:cNvCxnSpPr>
            <a:cxnSpLocks/>
            <a:stCxn id="6" idx="0"/>
            <a:endCxn id="55" idx="1"/>
          </p:cNvCxnSpPr>
          <p:nvPr/>
        </p:nvCxnSpPr>
        <p:spPr>
          <a:xfrm rot="5400000" flipH="1" flipV="1">
            <a:off x="4116890" y="36353"/>
            <a:ext cx="2744496" cy="5039700"/>
          </a:xfrm>
          <a:prstGeom prst="curvedConnector2">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53" name="接點: 弧形 152">
            <a:extLst>
              <a:ext uri="{FF2B5EF4-FFF2-40B4-BE49-F238E27FC236}">
                <a16:creationId xmlns:a16="http://schemas.microsoft.com/office/drawing/2014/main" id="{D5B8C803-CFFE-9C43-217D-A6F284606EF7}"/>
              </a:ext>
            </a:extLst>
          </p:cNvPr>
          <p:cNvCxnSpPr>
            <a:cxnSpLocks/>
            <a:stCxn id="148" idx="0"/>
            <a:endCxn id="58" idx="1"/>
          </p:cNvCxnSpPr>
          <p:nvPr/>
        </p:nvCxnSpPr>
        <p:spPr>
          <a:xfrm rot="5400000" flipH="1" flipV="1">
            <a:off x="4590275" y="1760234"/>
            <a:ext cx="2154291" cy="2846245"/>
          </a:xfrm>
          <a:prstGeom prst="curvedConnector2">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9" name="左大括弧 8">
            <a:extLst>
              <a:ext uri="{FF2B5EF4-FFF2-40B4-BE49-F238E27FC236}">
                <a16:creationId xmlns:a16="http://schemas.microsoft.com/office/drawing/2014/main" id="{4534B454-CFA7-76DB-095E-6841E51DA9BB}"/>
              </a:ext>
            </a:extLst>
          </p:cNvPr>
          <p:cNvSpPr/>
          <p:nvPr/>
        </p:nvSpPr>
        <p:spPr>
          <a:xfrm rot="16200000">
            <a:off x="2734784" y="5198261"/>
            <a:ext cx="356955" cy="701604"/>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sp>
        <p:nvSpPr>
          <p:cNvPr id="10" name="文字方塊 9">
            <a:extLst>
              <a:ext uri="{FF2B5EF4-FFF2-40B4-BE49-F238E27FC236}">
                <a16:creationId xmlns:a16="http://schemas.microsoft.com/office/drawing/2014/main" id="{ADFEE7A5-AEB6-C40D-AD84-48647D056EE2}"/>
              </a:ext>
            </a:extLst>
          </p:cNvPr>
          <p:cNvSpPr txBox="1"/>
          <p:nvPr/>
        </p:nvSpPr>
        <p:spPr>
          <a:xfrm>
            <a:off x="2694889" y="5715538"/>
            <a:ext cx="548798" cy="276999"/>
          </a:xfrm>
          <a:prstGeom prst="rect">
            <a:avLst/>
          </a:prstGeom>
          <a:noFill/>
        </p:spPr>
        <p:txBody>
          <a:bodyPr wrap="square">
            <a:spAutoFit/>
          </a:bodyPr>
          <a:lstStyle/>
          <a:p>
            <a:r>
              <a:rPr lang="nl-NL" altLang="zh-TW" sz="1200" dirty="0"/>
              <a:t>3cm</a:t>
            </a:r>
          </a:p>
        </p:txBody>
      </p:sp>
      <p:grpSp>
        <p:nvGrpSpPr>
          <p:cNvPr id="132" name="群組 131">
            <a:extLst>
              <a:ext uri="{FF2B5EF4-FFF2-40B4-BE49-F238E27FC236}">
                <a16:creationId xmlns:a16="http://schemas.microsoft.com/office/drawing/2014/main" id="{BAAB26EC-2E5B-DC4D-DC2A-E8624E5F07E9}"/>
              </a:ext>
            </a:extLst>
          </p:cNvPr>
          <p:cNvGrpSpPr/>
          <p:nvPr/>
        </p:nvGrpSpPr>
        <p:grpSpPr>
          <a:xfrm>
            <a:off x="8254962" y="3861478"/>
            <a:ext cx="896579" cy="646319"/>
            <a:chOff x="8254962" y="840483"/>
            <a:chExt cx="896579" cy="646319"/>
          </a:xfrm>
        </p:grpSpPr>
        <p:sp>
          <p:nvSpPr>
            <p:cNvPr id="12" name="文字方塊 11">
              <a:extLst>
                <a:ext uri="{FF2B5EF4-FFF2-40B4-BE49-F238E27FC236}">
                  <a16:creationId xmlns:a16="http://schemas.microsoft.com/office/drawing/2014/main" id="{CDDA7AB7-339F-2E98-CFA5-768EEB35E2CE}"/>
                </a:ext>
              </a:extLst>
            </p:cNvPr>
            <p:cNvSpPr txBox="1"/>
            <p:nvPr/>
          </p:nvSpPr>
          <p:spPr>
            <a:xfrm>
              <a:off x="8457908" y="840483"/>
              <a:ext cx="548798" cy="276999"/>
            </a:xfrm>
            <a:prstGeom prst="rect">
              <a:avLst/>
            </a:prstGeom>
            <a:noFill/>
          </p:spPr>
          <p:txBody>
            <a:bodyPr wrap="square">
              <a:spAutoFit/>
            </a:bodyPr>
            <a:lstStyle/>
            <a:p>
              <a:r>
                <a:rPr lang="nl-NL" altLang="zh-TW" sz="1200" dirty="0"/>
                <a:t>1cm</a:t>
              </a:r>
            </a:p>
          </p:txBody>
        </p:sp>
        <p:sp>
          <p:nvSpPr>
            <p:cNvPr id="13" name="左大括弧 12">
              <a:extLst>
                <a:ext uri="{FF2B5EF4-FFF2-40B4-BE49-F238E27FC236}">
                  <a16:creationId xmlns:a16="http://schemas.microsoft.com/office/drawing/2014/main" id="{20B7538A-B771-647E-83BB-FA898CAB3171}"/>
                </a:ext>
              </a:extLst>
            </p:cNvPr>
            <p:cNvSpPr/>
            <p:nvPr/>
          </p:nvSpPr>
          <p:spPr>
            <a:xfrm rot="5400000">
              <a:off x="8497551" y="832811"/>
              <a:ext cx="411402" cy="896579"/>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grpSp>
      <p:grpSp>
        <p:nvGrpSpPr>
          <p:cNvPr id="133" name="群組 132">
            <a:extLst>
              <a:ext uri="{FF2B5EF4-FFF2-40B4-BE49-F238E27FC236}">
                <a16:creationId xmlns:a16="http://schemas.microsoft.com/office/drawing/2014/main" id="{5EBCCD87-B99C-C90F-C226-291DDDDE070A}"/>
              </a:ext>
            </a:extLst>
          </p:cNvPr>
          <p:cNvGrpSpPr/>
          <p:nvPr/>
        </p:nvGrpSpPr>
        <p:grpSpPr>
          <a:xfrm>
            <a:off x="10230042" y="3815616"/>
            <a:ext cx="816834" cy="697720"/>
            <a:chOff x="10230042" y="794621"/>
            <a:chExt cx="816834" cy="697720"/>
          </a:xfrm>
        </p:grpSpPr>
        <p:sp>
          <p:nvSpPr>
            <p:cNvPr id="130" name="文字方塊 129">
              <a:extLst>
                <a:ext uri="{FF2B5EF4-FFF2-40B4-BE49-F238E27FC236}">
                  <a16:creationId xmlns:a16="http://schemas.microsoft.com/office/drawing/2014/main" id="{0F2D0431-7A82-5A8B-527B-24CE6032DAEC}"/>
                </a:ext>
              </a:extLst>
            </p:cNvPr>
            <p:cNvSpPr txBox="1"/>
            <p:nvPr/>
          </p:nvSpPr>
          <p:spPr>
            <a:xfrm>
              <a:off x="10432988" y="794621"/>
              <a:ext cx="518805" cy="276999"/>
            </a:xfrm>
            <a:prstGeom prst="rect">
              <a:avLst/>
            </a:prstGeom>
            <a:noFill/>
          </p:spPr>
          <p:txBody>
            <a:bodyPr wrap="square">
              <a:spAutoFit/>
            </a:bodyPr>
            <a:lstStyle/>
            <a:p>
              <a:r>
                <a:rPr lang="nl-NL" altLang="zh-TW" sz="1200" dirty="0"/>
                <a:t>1cm</a:t>
              </a:r>
            </a:p>
          </p:txBody>
        </p:sp>
        <p:sp>
          <p:nvSpPr>
            <p:cNvPr id="131" name="左大括弧 130">
              <a:extLst>
                <a:ext uri="{FF2B5EF4-FFF2-40B4-BE49-F238E27FC236}">
                  <a16:creationId xmlns:a16="http://schemas.microsoft.com/office/drawing/2014/main" id="{3BDB290E-02B1-8662-0A0D-5D303C68AD00}"/>
                </a:ext>
              </a:extLst>
            </p:cNvPr>
            <p:cNvSpPr/>
            <p:nvPr/>
          </p:nvSpPr>
          <p:spPr>
            <a:xfrm rot="5400000">
              <a:off x="10407057" y="852522"/>
              <a:ext cx="462804" cy="816834"/>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grpSp>
      <p:grpSp>
        <p:nvGrpSpPr>
          <p:cNvPr id="144" name="群組 143">
            <a:extLst>
              <a:ext uri="{FF2B5EF4-FFF2-40B4-BE49-F238E27FC236}">
                <a16:creationId xmlns:a16="http://schemas.microsoft.com/office/drawing/2014/main" id="{77919BED-3D6B-FE69-AEA6-697EC0995EAC}"/>
              </a:ext>
            </a:extLst>
          </p:cNvPr>
          <p:cNvGrpSpPr/>
          <p:nvPr/>
        </p:nvGrpSpPr>
        <p:grpSpPr>
          <a:xfrm>
            <a:off x="9302731" y="3814707"/>
            <a:ext cx="816834" cy="697720"/>
            <a:chOff x="10230042" y="794621"/>
            <a:chExt cx="816834" cy="697720"/>
          </a:xfrm>
        </p:grpSpPr>
        <p:sp>
          <p:nvSpPr>
            <p:cNvPr id="145" name="文字方塊 144">
              <a:extLst>
                <a:ext uri="{FF2B5EF4-FFF2-40B4-BE49-F238E27FC236}">
                  <a16:creationId xmlns:a16="http://schemas.microsoft.com/office/drawing/2014/main" id="{F2944605-F570-28CB-6FC3-298F74846680}"/>
                </a:ext>
              </a:extLst>
            </p:cNvPr>
            <p:cNvSpPr txBox="1"/>
            <p:nvPr/>
          </p:nvSpPr>
          <p:spPr>
            <a:xfrm>
              <a:off x="10432988" y="794621"/>
              <a:ext cx="518805" cy="276999"/>
            </a:xfrm>
            <a:prstGeom prst="rect">
              <a:avLst/>
            </a:prstGeom>
            <a:noFill/>
          </p:spPr>
          <p:txBody>
            <a:bodyPr wrap="square">
              <a:spAutoFit/>
            </a:bodyPr>
            <a:lstStyle/>
            <a:p>
              <a:r>
                <a:rPr lang="nl-NL" altLang="zh-TW" sz="1200" dirty="0"/>
                <a:t>1cm</a:t>
              </a:r>
            </a:p>
          </p:txBody>
        </p:sp>
        <p:sp>
          <p:nvSpPr>
            <p:cNvPr id="149" name="左大括弧 148">
              <a:extLst>
                <a:ext uri="{FF2B5EF4-FFF2-40B4-BE49-F238E27FC236}">
                  <a16:creationId xmlns:a16="http://schemas.microsoft.com/office/drawing/2014/main" id="{5B984FBB-5DC2-32C1-103B-F731CF2E88BA}"/>
                </a:ext>
              </a:extLst>
            </p:cNvPr>
            <p:cNvSpPr/>
            <p:nvPr/>
          </p:nvSpPr>
          <p:spPr>
            <a:xfrm rot="5400000">
              <a:off x="10407057" y="852522"/>
              <a:ext cx="462804" cy="816834"/>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grpSp>
      <p:grpSp>
        <p:nvGrpSpPr>
          <p:cNvPr id="151" name="群組 150">
            <a:extLst>
              <a:ext uri="{FF2B5EF4-FFF2-40B4-BE49-F238E27FC236}">
                <a16:creationId xmlns:a16="http://schemas.microsoft.com/office/drawing/2014/main" id="{0BD537DB-D8D6-EE9B-0E4A-43B9B1C3A610}"/>
              </a:ext>
            </a:extLst>
          </p:cNvPr>
          <p:cNvGrpSpPr/>
          <p:nvPr/>
        </p:nvGrpSpPr>
        <p:grpSpPr>
          <a:xfrm>
            <a:off x="11244084" y="3682355"/>
            <a:ext cx="660127" cy="801895"/>
            <a:chOff x="10230042" y="690446"/>
            <a:chExt cx="960315" cy="801895"/>
          </a:xfrm>
        </p:grpSpPr>
        <p:sp>
          <p:nvSpPr>
            <p:cNvPr id="152" name="文字方塊 151">
              <a:extLst>
                <a:ext uri="{FF2B5EF4-FFF2-40B4-BE49-F238E27FC236}">
                  <a16:creationId xmlns:a16="http://schemas.microsoft.com/office/drawing/2014/main" id="{E7FF5B59-44A2-669E-3BBB-EC91A15E2121}"/>
                </a:ext>
              </a:extLst>
            </p:cNvPr>
            <p:cNvSpPr txBox="1"/>
            <p:nvPr/>
          </p:nvSpPr>
          <p:spPr>
            <a:xfrm>
              <a:off x="10230042" y="690446"/>
              <a:ext cx="960315" cy="276999"/>
            </a:xfrm>
            <a:prstGeom prst="rect">
              <a:avLst/>
            </a:prstGeom>
            <a:noFill/>
          </p:spPr>
          <p:txBody>
            <a:bodyPr wrap="square">
              <a:spAutoFit/>
            </a:bodyPr>
            <a:lstStyle/>
            <a:p>
              <a:r>
                <a:rPr lang="nl-NL" altLang="zh-TW" sz="1200" dirty="0"/>
                <a:t>0.6cm</a:t>
              </a:r>
            </a:p>
          </p:txBody>
        </p:sp>
        <p:sp>
          <p:nvSpPr>
            <p:cNvPr id="154" name="左大括弧 153">
              <a:extLst>
                <a:ext uri="{FF2B5EF4-FFF2-40B4-BE49-F238E27FC236}">
                  <a16:creationId xmlns:a16="http://schemas.microsoft.com/office/drawing/2014/main" id="{DC5F4BE3-A465-73E1-A3C6-9BD638BCAB1A}"/>
                </a:ext>
              </a:extLst>
            </p:cNvPr>
            <p:cNvSpPr/>
            <p:nvPr/>
          </p:nvSpPr>
          <p:spPr>
            <a:xfrm rot="5400000">
              <a:off x="10407057" y="852522"/>
              <a:ext cx="462804" cy="816834"/>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grpSp>
      <p:sp>
        <p:nvSpPr>
          <p:cNvPr id="155" name="左大括弧 154">
            <a:extLst>
              <a:ext uri="{FF2B5EF4-FFF2-40B4-BE49-F238E27FC236}">
                <a16:creationId xmlns:a16="http://schemas.microsoft.com/office/drawing/2014/main" id="{C9635757-8ED2-D31C-4A26-275A1685CB63}"/>
              </a:ext>
            </a:extLst>
          </p:cNvPr>
          <p:cNvSpPr/>
          <p:nvPr/>
        </p:nvSpPr>
        <p:spPr>
          <a:xfrm rot="5400000">
            <a:off x="4110158" y="3684971"/>
            <a:ext cx="282932" cy="816775"/>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sp>
        <p:nvSpPr>
          <p:cNvPr id="156" name="文字方塊 155">
            <a:extLst>
              <a:ext uri="{FF2B5EF4-FFF2-40B4-BE49-F238E27FC236}">
                <a16:creationId xmlns:a16="http://schemas.microsoft.com/office/drawing/2014/main" id="{405A689A-F5B2-C836-3D1E-348D10A9086F}"/>
              </a:ext>
            </a:extLst>
          </p:cNvPr>
          <p:cNvSpPr txBox="1"/>
          <p:nvPr/>
        </p:nvSpPr>
        <p:spPr>
          <a:xfrm>
            <a:off x="3985287" y="3704718"/>
            <a:ext cx="701605" cy="276999"/>
          </a:xfrm>
          <a:prstGeom prst="rect">
            <a:avLst/>
          </a:prstGeom>
          <a:noFill/>
        </p:spPr>
        <p:txBody>
          <a:bodyPr wrap="square">
            <a:spAutoFit/>
          </a:bodyPr>
          <a:lstStyle/>
          <a:p>
            <a:r>
              <a:rPr lang="nl-NL" altLang="zh-TW" sz="1200" dirty="0"/>
              <a:t>31.7cm</a:t>
            </a:r>
          </a:p>
        </p:txBody>
      </p:sp>
    </p:spTree>
    <p:extLst>
      <p:ext uri="{BB962C8B-B14F-4D97-AF65-F5344CB8AC3E}">
        <p14:creationId xmlns:p14="http://schemas.microsoft.com/office/powerpoint/2010/main" val="549683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2.70833E-6 4.07407E-6 L -0.0013 0.45231 " pathEditMode="relative" rAng="0" ptsTypes="AA">
                                      <p:cBhvr>
                                        <p:cTn id="6" dur="2000" fill="hold"/>
                                        <p:tgtEl>
                                          <p:spTgt spid="20"/>
                                        </p:tgtEl>
                                        <p:attrNameLst>
                                          <p:attrName>ppt_x</p:attrName>
                                          <p:attrName>ppt_y</p:attrName>
                                        </p:attrNameLst>
                                      </p:cBhvr>
                                      <p:rCtr x="-65" y="22616"/>
                                    </p:animMotion>
                                  </p:childTnLst>
                                </p:cTn>
                              </p:par>
                              <p:par>
                                <p:cTn id="7" presetID="42" presetClass="path" presetSubtype="0" accel="50000" decel="50000" fill="hold" nodeType="withEffect">
                                  <p:stCondLst>
                                    <p:cond delay="0"/>
                                  </p:stCondLst>
                                  <p:childTnLst>
                                    <p:animMotion origin="layout" path="M 2.70833E-6 1.11111E-6 L -0.00065 0.45185 " pathEditMode="relative" rAng="0" ptsTypes="AA">
                                      <p:cBhvr>
                                        <p:cTn id="8" dur="2000" fill="hold"/>
                                        <p:tgtEl>
                                          <p:spTgt spid="21"/>
                                        </p:tgtEl>
                                        <p:attrNameLst>
                                          <p:attrName>ppt_x</p:attrName>
                                          <p:attrName>ppt_y</p:attrName>
                                        </p:attrNameLst>
                                      </p:cBhvr>
                                      <p:rCtr x="-39" y="22593"/>
                                    </p:animMotion>
                                  </p:childTnLst>
                                </p:cTn>
                              </p:par>
                              <p:par>
                                <p:cTn id="9" presetID="16" presetClass="entr" presetSubtype="21" fill="hold" nodeType="withEffect">
                                  <p:stCondLst>
                                    <p:cond delay="0"/>
                                  </p:stCondLst>
                                  <p:childTnLst>
                                    <p:set>
                                      <p:cBhvr>
                                        <p:cTn id="10" dur="1" fill="hold">
                                          <p:stCondLst>
                                            <p:cond delay="0"/>
                                          </p:stCondLst>
                                        </p:cTn>
                                        <p:tgtEl>
                                          <p:spTgt spid="150"/>
                                        </p:tgtEl>
                                        <p:attrNameLst>
                                          <p:attrName>style.visibility</p:attrName>
                                        </p:attrNameLst>
                                      </p:cBhvr>
                                      <p:to>
                                        <p:strVal val="visible"/>
                                      </p:to>
                                    </p:set>
                                    <p:animEffect transition="in" filter="barn(inVertical)">
                                      <p:cBhvr>
                                        <p:cTn id="11" dur="500"/>
                                        <p:tgtEl>
                                          <p:spTgt spid="150"/>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133"/>
                                        </p:tgtEl>
                                        <p:attrNameLst>
                                          <p:attrName>style.visibility</p:attrName>
                                        </p:attrNameLst>
                                      </p:cBhvr>
                                      <p:to>
                                        <p:strVal val="visible"/>
                                      </p:to>
                                    </p:set>
                                    <p:animEffect transition="in" filter="fade">
                                      <p:cBhvr>
                                        <p:cTn id="15" dur="500"/>
                                        <p:tgtEl>
                                          <p:spTgt spid="133"/>
                                        </p:tgtEl>
                                      </p:cBhvr>
                                    </p:animEffect>
                                  </p:childTnLst>
                                </p:cTn>
                              </p:par>
                              <p:par>
                                <p:cTn id="16" presetID="10" presetClass="entr" presetSubtype="0" fill="hold" nodeType="withEffect">
                                  <p:stCondLst>
                                    <p:cond delay="0"/>
                                  </p:stCondLst>
                                  <p:childTnLst>
                                    <p:set>
                                      <p:cBhvr>
                                        <p:cTn id="17" dur="1" fill="hold">
                                          <p:stCondLst>
                                            <p:cond delay="0"/>
                                          </p:stCondLst>
                                        </p:cTn>
                                        <p:tgtEl>
                                          <p:spTgt spid="132"/>
                                        </p:tgtEl>
                                        <p:attrNameLst>
                                          <p:attrName>style.visibility</p:attrName>
                                        </p:attrNameLst>
                                      </p:cBhvr>
                                      <p:to>
                                        <p:strVal val="visible"/>
                                      </p:to>
                                    </p:set>
                                    <p:animEffect transition="in" filter="fade">
                                      <p:cBhvr>
                                        <p:cTn id="18" dur="500"/>
                                        <p:tgtEl>
                                          <p:spTgt spid="132"/>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path" presetSubtype="0" accel="50000" decel="50000" fill="hold" nodeType="clickEffect">
                                  <p:stCondLst>
                                    <p:cond delay="0"/>
                                  </p:stCondLst>
                                  <p:childTnLst>
                                    <p:animMotion origin="layout" path="M 4.16667E-6 -3.7037E-7 L -0.00274 0.31412 " pathEditMode="relative" rAng="0" ptsTypes="AA">
                                      <p:cBhvr>
                                        <p:cTn id="22" dur="2000" fill="hold"/>
                                        <p:tgtEl>
                                          <p:spTgt spid="57"/>
                                        </p:tgtEl>
                                        <p:attrNameLst>
                                          <p:attrName>ppt_x</p:attrName>
                                          <p:attrName>ppt_y</p:attrName>
                                        </p:attrNameLst>
                                      </p:cBhvr>
                                      <p:rCtr x="-143" y="15694"/>
                                    </p:animMotion>
                                  </p:childTnLst>
                                </p:cTn>
                              </p:par>
                              <p:par>
                                <p:cTn id="23" presetID="16" presetClass="entr" presetSubtype="21" fill="hold" nodeType="withEffect">
                                  <p:stCondLst>
                                    <p:cond delay="0"/>
                                  </p:stCondLst>
                                  <p:childTnLst>
                                    <p:set>
                                      <p:cBhvr>
                                        <p:cTn id="24" dur="1" fill="hold">
                                          <p:stCondLst>
                                            <p:cond delay="0"/>
                                          </p:stCondLst>
                                        </p:cTn>
                                        <p:tgtEl>
                                          <p:spTgt spid="153"/>
                                        </p:tgtEl>
                                        <p:attrNameLst>
                                          <p:attrName>style.visibility</p:attrName>
                                        </p:attrNameLst>
                                      </p:cBhvr>
                                      <p:to>
                                        <p:strVal val="visible"/>
                                      </p:to>
                                    </p:set>
                                    <p:animEffect transition="in" filter="barn(inVertical)">
                                      <p:cBhvr>
                                        <p:cTn id="25" dur="500"/>
                                        <p:tgtEl>
                                          <p:spTgt spid="153"/>
                                        </p:tgtEl>
                                      </p:cBhvr>
                                    </p:animEffect>
                                  </p:childTnLst>
                                </p:cTn>
                              </p:par>
                            </p:childTnLst>
                          </p:cTn>
                        </p:par>
                        <p:par>
                          <p:cTn id="26" fill="hold">
                            <p:stCondLst>
                              <p:cond delay="2000"/>
                            </p:stCondLst>
                            <p:childTnLst>
                              <p:par>
                                <p:cTn id="27" presetID="10" presetClass="entr" presetSubtype="0" fill="hold" nodeType="afterEffect">
                                  <p:stCondLst>
                                    <p:cond delay="0"/>
                                  </p:stCondLst>
                                  <p:childTnLst>
                                    <p:set>
                                      <p:cBhvr>
                                        <p:cTn id="28" dur="1" fill="hold">
                                          <p:stCondLst>
                                            <p:cond delay="0"/>
                                          </p:stCondLst>
                                        </p:cTn>
                                        <p:tgtEl>
                                          <p:spTgt spid="144"/>
                                        </p:tgtEl>
                                        <p:attrNameLst>
                                          <p:attrName>style.visibility</p:attrName>
                                        </p:attrNameLst>
                                      </p:cBhvr>
                                      <p:to>
                                        <p:strVal val="visible"/>
                                      </p:to>
                                    </p:set>
                                    <p:animEffect transition="in" filter="fade">
                                      <p:cBhvr>
                                        <p:cTn id="29" dur="500"/>
                                        <p:tgtEl>
                                          <p:spTgt spid="144"/>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path" presetSubtype="0" accel="50000" decel="50000" fill="hold" nodeType="clickEffect">
                                  <p:stCondLst>
                                    <p:cond delay="0"/>
                                  </p:stCondLst>
                                  <p:childTnLst>
                                    <p:animMotion origin="layout" path="M 6.25E-7 -3.33333E-6 L 0.14557 0.18843 " pathEditMode="relative" rAng="0" ptsTypes="AA">
                                      <p:cBhvr>
                                        <p:cTn id="33" dur="2000" fill="hold"/>
                                        <p:tgtEl>
                                          <p:spTgt spid="22"/>
                                        </p:tgtEl>
                                        <p:attrNameLst>
                                          <p:attrName>ppt_x</p:attrName>
                                          <p:attrName>ppt_y</p:attrName>
                                        </p:attrNameLst>
                                      </p:cBhvr>
                                      <p:rCtr x="7279" y="9421"/>
                                    </p:animMotion>
                                  </p:childTnLst>
                                </p:cTn>
                              </p:par>
                            </p:childTnLst>
                          </p:cTn>
                        </p:par>
                        <p:par>
                          <p:cTn id="34" fill="hold">
                            <p:stCondLst>
                              <p:cond delay="2000"/>
                            </p:stCondLst>
                            <p:childTnLst>
                              <p:par>
                                <p:cTn id="35" presetID="10" presetClass="entr" presetSubtype="0" fill="hold" nodeType="afterEffect">
                                  <p:stCondLst>
                                    <p:cond delay="0"/>
                                  </p:stCondLst>
                                  <p:childTnLst>
                                    <p:set>
                                      <p:cBhvr>
                                        <p:cTn id="36" dur="1" fill="hold">
                                          <p:stCondLst>
                                            <p:cond delay="0"/>
                                          </p:stCondLst>
                                        </p:cTn>
                                        <p:tgtEl>
                                          <p:spTgt spid="151"/>
                                        </p:tgtEl>
                                        <p:attrNameLst>
                                          <p:attrName>style.visibility</p:attrName>
                                        </p:attrNameLst>
                                      </p:cBhvr>
                                      <p:to>
                                        <p:strVal val="visible"/>
                                      </p:to>
                                    </p:set>
                                    <p:animEffect transition="in" filter="fade">
                                      <p:cBhvr>
                                        <p:cTn id="37" dur="500"/>
                                        <p:tgtEl>
                                          <p:spTgt spid="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Motivation</a:t>
            </a:r>
            <a:endParaRPr lang="zh-TW" altLang="en-US" b="1"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1284991" y="6275021"/>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7</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sp>
        <p:nvSpPr>
          <p:cNvPr id="7" name="文字方塊 6">
            <a:extLst>
              <a:ext uri="{FF2B5EF4-FFF2-40B4-BE49-F238E27FC236}">
                <a16:creationId xmlns:a16="http://schemas.microsoft.com/office/drawing/2014/main" id="{530E31CD-A3D3-95B0-16EE-F8549A5C1EAC}"/>
              </a:ext>
            </a:extLst>
          </p:cNvPr>
          <p:cNvSpPr txBox="1"/>
          <p:nvPr/>
        </p:nvSpPr>
        <p:spPr>
          <a:xfrm>
            <a:off x="2519901" y="990771"/>
            <a:ext cx="7140224" cy="584775"/>
          </a:xfrm>
          <a:prstGeom prst="rect">
            <a:avLst/>
          </a:prstGeom>
          <a:noFill/>
        </p:spPr>
        <p:txBody>
          <a:bodyPr wrap="none" rtlCol="0">
            <a:spAutoFit/>
          </a:bodyPr>
          <a:lstStyle/>
          <a:p>
            <a:r>
              <a:rPr lang="en-US" altLang="zh-TW" sz="3200" b="1" dirty="0">
                <a:effectLst>
                  <a:outerShdw blurRad="38100" dist="38100" dir="2700000" algn="tl">
                    <a:srgbClr val="000000">
                      <a:alpha val="43137"/>
                    </a:srgbClr>
                  </a:outerShdw>
                </a:effectLst>
              </a:rPr>
              <a:t>Integrated optical circuit photon sources </a:t>
            </a:r>
            <a:endParaRPr lang="zh-TW" altLang="en-US" sz="3200" b="1" dirty="0">
              <a:effectLst>
                <a:outerShdw blurRad="38100" dist="38100" dir="2700000" algn="tl">
                  <a:srgbClr val="000000">
                    <a:alpha val="43137"/>
                  </a:srgbClr>
                </a:outerShdw>
              </a:effectLst>
            </a:endParaRPr>
          </a:p>
        </p:txBody>
      </p:sp>
      <p:pic>
        <p:nvPicPr>
          <p:cNvPr id="8" name="內容版面配置區 6">
            <a:extLst>
              <a:ext uri="{FF2B5EF4-FFF2-40B4-BE49-F238E27FC236}">
                <a16:creationId xmlns:a16="http://schemas.microsoft.com/office/drawing/2014/main" id="{53EB5D58-8B62-1D20-69EE-E8ECC8003E1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5211" y="2329460"/>
            <a:ext cx="4424118" cy="1738661"/>
          </a:xfrm>
          <a:prstGeom prst="rect">
            <a:avLst/>
          </a:prstGeom>
        </p:spPr>
      </p:pic>
      <p:pic>
        <p:nvPicPr>
          <p:cNvPr id="13" name="Google Shape;444;p9">
            <a:extLst>
              <a:ext uri="{FF2B5EF4-FFF2-40B4-BE49-F238E27FC236}">
                <a16:creationId xmlns:a16="http://schemas.microsoft.com/office/drawing/2014/main" id="{DC0CB7A6-5324-4301-A962-4259384ED552}"/>
              </a:ext>
            </a:extLst>
          </p:cNvPr>
          <p:cNvPicPr preferRelativeResize="0"/>
          <p:nvPr/>
        </p:nvPicPr>
        <p:blipFill rotWithShape="1">
          <a:blip r:embed="rId5">
            <a:alphaModFix/>
          </a:blip>
          <a:srcRect/>
          <a:stretch/>
        </p:blipFill>
        <p:spPr>
          <a:xfrm>
            <a:off x="865211" y="4746593"/>
            <a:ext cx="217631" cy="224192"/>
          </a:xfrm>
          <a:prstGeom prst="rect">
            <a:avLst/>
          </a:prstGeom>
          <a:noFill/>
          <a:ln>
            <a:noFill/>
          </a:ln>
        </p:spPr>
      </p:pic>
      <p:pic>
        <p:nvPicPr>
          <p:cNvPr id="14" name="Google Shape;443;p9">
            <a:extLst>
              <a:ext uri="{FF2B5EF4-FFF2-40B4-BE49-F238E27FC236}">
                <a16:creationId xmlns:a16="http://schemas.microsoft.com/office/drawing/2014/main" id="{0E84FA3E-D07B-7760-88F8-B04D5548371B}"/>
              </a:ext>
            </a:extLst>
          </p:cNvPr>
          <p:cNvPicPr preferRelativeResize="0"/>
          <p:nvPr/>
        </p:nvPicPr>
        <p:blipFill rotWithShape="1">
          <a:blip r:embed="rId6">
            <a:alphaModFix/>
          </a:blip>
          <a:srcRect/>
          <a:stretch/>
        </p:blipFill>
        <p:spPr>
          <a:xfrm>
            <a:off x="865211" y="5072083"/>
            <a:ext cx="213851" cy="233734"/>
          </a:xfrm>
          <a:prstGeom prst="rect">
            <a:avLst/>
          </a:prstGeom>
          <a:noFill/>
          <a:ln>
            <a:noFill/>
          </a:ln>
        </p:spPr>
      </p:pic>
      <p:sp>
        <p:nvSpPr>
          <p:cNvPr id="18" name="Google Shape;547;p11">
            <a:extLst>
              <a:ext uri="{FF2B5EF4-FFF2-40B4-BE49-F238E27FC236}">
                <a16:creationId xmlns:a16="http://schemas.microsoft.com/office/drawing/2014/main" id="{18492E3C-7720-969A-17F8-3E566E7690B5}"/>
              </a:ext>
            </a:extLst>
          </p:cNvPr>
          <p:cNvSpPr txBox="1"/>
          <p:nvPr/>
        </p:nvSpPr>
        <p:spPr>
          <a:xfrm>
            <a:off x="1137095" y="4637404"/>
            <a:ext cx="3904136" cy="106178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altLang="zh-TW" sz="1400" dirty="0">
                <a:solidFill>
                  <a:schemeClr val="dk2"/>
                </a:solidFill>
                <a:latin typeface="Montserrat"/>
                <a:ea typeface="Montserrat"/>
                <a:cs typeface="Montserrat"/>
                <a:sym typeface="Montserrat"/>
              </a:rPr>
              <a:t>High f</a:t>
            </a:r>
            <a:r>
              <a:rPr lang="en-US" sz="1400" dirty="0">
                <a:solidFill>
                  <a:schemeClr val="dk2"/>
                </a:solidFill>
                <a:latin typeface="Montserrat"/>
                <a:ea typeface="Montserrat"/>
                <a:cs typeface="Montserrat"/>
                <a:sym typeface="Montserrat"/>
              </a:rPr>
              <a:t>abrication tolerance</a:t>
            </a:r>
          </a:p>
          <a:p>
            <a:pPr marL="0" marR="0" lvl="0" indent="0" algn="l" rtl="0">
              <a:lnSpc>
                <a:spcPct val="150000"/>
              </a:lnSpc>
              <a:spcBef>
                <a:spcPts val="0"/>
              </a:spcBef>
              <a:spcAft>
                <a:spcPts val="0"/>
              </a:spcAft>
              <a:buNone/>
            </a:pPr>
            <a:r>
              <a:rPr lang="en-US" sz="1400" dirty="0">
                <a:solidFill>
                  <a:schemeClr val="dk2"/>
                </a:solidFill>
                <a:latin typeface="Montserrat"/>
                <a:ea typeface="Montserrat"/>
                <a:cs typeface="Montserrat"/>
                <a:sym typeface="Montserrat"/>
              </a:rPr>
              <a:t>Requires more optical components</a:t>
            </a:r>
          </a:p>
          <a:p>
            <a:pPr marL="0" marR="0" lvl="0" indent="0" algn="l" rtl="0">
              <a:lnSpc>
                <a:spcPct val="150000"/>
              </a:lnSpc>
              <a:spcBef>
                <a:spcPts val="0"/>
              </a:spcBef>
              <a:spcAft>
                <a:spcPts val="0"/>
              </a:spcAft>
              <a:buNone/>
            </a:pPr>
            <a:r>
              <a:rPr lang="en-US" sz="1400" dirty="0">
                <a:solidFill>
                  <a:schemeClr val="dk2"/>
                </a:solidFill>
                <a:latin typeface="Montserrat"/>
                <a:ea typeface="Montserrat"/>
                <a:cs typeface="Montserrat"/>
                <a:sym typeface="Montserrat"/>
              </a:rPr>
              <a:t>Complied polarization control</a:t>
            </a:r>
            <a:endParaRPr sz="1400" dirty="0"/>
          </a:p>
        </p:txBody>
      </p:sp>
      <p:pic>
        <p:nvPicPr>
          <p:cNvPr id="22" name="Google Shape;443;p9">
            <a:extLst>
              <a:ext uri="{FF2B5EF4-FFF2-40B4-BE49-F238E27FC236}">
                <a16:creationId xmlns:a16="http://schemas.microsoft.com/office/drawing/2014/main" id="{89F516E1-F1AF-85CD-CA65-059D3F2751BE}"/>
              </a:ext>
            </a:extLst>
          </p:cNvPr>
          <p:cNvPicPr preferRelativeResize="0"/>
          <p:nvPr/>
        </p:nvPicPr>
        <p:blipFill rotWithShape="1">
          <a:blip r:embed="rId6">
            <a:alphaModFix/>
          </a:blip>
          <a:srcRect/>
          <a:stretch/>
        </p:blipFill>
        <p:spPr>
          <a:xfrm>
            <a:off x="865211" y="5389932"/>
            <a:ext cx="213851" cy="233734"/>
          </a:xfrm>
          <a:prstGeom prst="rect">
            <a:avLst/>
          </a:prstGeom>
          <a:noFill/>
          <a:ln>
            <a:noFill/>
          </a:ln>
        </p:spPr>
      </p:pic>
      <p:sp>
        <p:nvSpPr>
          <p:cNvPr id="24" name="Google Shape;547;p11">
            <a:extLst>
              <a:ext uri="{FF2B5EF4-FFF2-40B4-BE49-F238E27FC236}">
                <a16:creationId xmlns:a16="http://schemas.microsoft.com/office/drawing/2014/main" id="{47D0C19E-EA1F-AD37-AD5F-E9DE76F4A4D8}"/>
              </a:ext>
            </a:extLst>
          </p:cNvPr>
          <p:cNvSpPr txBox="1"/>
          <p:nvPr/>
        </p:nvSpPr>
        <p:spPr>
          <a:xfrm>
            <a:off x="7012343" y="4637404"/>
            <a:ext cx="4172924" cy="106178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altLang="zh-TW" sz="1400" dirty="0">
                <a:solidFill>
                  <a:schemeClr val="dk2"/>
                </a:solidFill>
                <a:latin typeface="Montserrat"/>
                <a:ea typeface="Montserrat"/>
                <a:cs typeface="Montserrat"/>
                <a:sym typeface="Montserrat"/>
              </a:rPr>
              <a:t>Low fabrication tolerance</a:t>
            </a:r>
          </a:p>
          <a:p>
            <a:pPr marL="0" marR="0" lvl="0" indent="0" algn="l" rtl="0">
              <a:lnSpc>
                <a:spcPct val="150000"/>
              </a:lnSpc>
              <a:spcBef>
                <a:spcPts val="0"/>
              </a:spcBef>
              <a:spcAft>
                <a:spcPts val="0"/>
              </a:spcAft>
              <a:buNone/>
            </a:pPr>
            <a:r>
              <a:rPr lang="en-US" altLang="zh-TW" sz="1400" dirty="0">
                <a:solidFill>
                  <a:schemeClr val="dk2"/>
                </a:solidFill>
                <a:latin typeface="Montserrat"/>
                <a:ea typeface="Montserrat"/>
                <a:cs typeface="Montserrat"/>
                <a:sym typeface="Montserrat"/>
              </a:rPr>
              <a:t>Integrated optical circuit </a:t>
            </a:r>
          </a:p>
          <a:p>
            <a:pPr marL="0" marR="0" lvl="0" indent="0" algn="l" rtl="0">
              <a:lnSpc>
                <a:spcPct val="150000"/>
              </a:lnSpc>
              <a:spcBef>
                <a:spcPts val="0"/>
              </a:spcBef>
              <a:spcAft>
                <a:spcPts val="0"/>
              </a:spcAft>
              <a:buNone/>
            </a:pPr>
            <a:r>
              <a:rPr lang="en-US" altLang="zh-TW" sz="1400" dirty="0">
                <a:solidFill>
                  <a:schemeClr val="dk2"/>
                </a:solidFill>
                <a:latin typeface="Montserrat"/>
                <a:ea typeface="Montserrat"/>
                <a:cs typeface="Montserrat"/>
                <a:sym typeface="Montserrat"/>
              </a:rPr>
              <a:t>fast and tunable polarization control</a:t>
            </a:r>
          </a:p>
        </p:txBody>
      </p:sp>
      <p:pic>
        <p:nvPicPr>
          <p:cNvPr id="26" name="Google Shape;443;p9">
            <a:extLst>
              <a:ext uri="{FF2B5EF4-FFF2-40B4-BE49-F238E27FC236}">
                <a16:creationId xmlns:a16="http://schemas.microsoft.com/office/drawing/2014/main" id="{3A806B4E-7480-9451-3A59-DDF0519D195D}"/>
              </a:ext>
            </a:extLst>
          </p:cNvPr>
          <p:cNvPicPr preferRelativeResize="0"/>
          <p:nvPr/>
        </p:nvPicPr>
        <p:blipFill rotWithShape="1">
          <a:blip r:embed="rId6">
            <a:alphaModFix/>
          </a:blip>
          <a:srcRect/>
          <a:stretch/>
        </p:blipFill>
        <p:spPr>
          <a:xfrm>
            <a:off x="6786460" y="4737051"/>
            <a:ext cx="213851" cy="233734"/>
          </a:xfrm>
          <a:prstGeom prst="rect">
            <a:avLst/>
          </a:prstGeom>
          <a:noFill/>
          <a:ln>
            <a:noFill/>
          </a:ln>
        </p:spPr>
      </p:pic>
      <p:pic>
        <p:nvPicPr>
          <p:cNvPr id="27" name="Google Shape;444;p9">
            <a:extLst>
              <a:ext uri="{FF2B5EF4-FFF2-40B4-BE49-F238E27FC236}">
                <a16:creationId xmlns:a16="http://schemas.microsoft.com/office/drawing/2014/main" id="{E4410CD4-91B2-9BCE-7D64-F30A65EAFE08}"/>
              </a:ext>
            </a:extLst>
          </p:cNvPr>
          <p:cNvPicPr preferRelativeResize="0"/>
          <p:nvPr/>
        </p:nvPicPr>
        <p:blipFill rotWithShape="1">
          <a:blip r:embed="rId5">
            <a:alphaModFix/>
          </a:blip>
          <a:srcRect/>
          <a:stretch/>
        </p:blipFill>
        <p:spPr>
          <a:xfrm>
            <a:off x="6784570" y="5081625"/>
            <a:ext cx="217631" cy="224192"/>
          </a:xfrm>
          <a:prstGeom prst="rect">
            <a:avLst/>
          </a:prstGeom>
          <a:noFill/>
          <a:ln>
            <a:noFill/>
          </a:ln>
        </p:spPr>
      </p:pic>
      <p:pic>
        <p:nvPicPr>
          <p:cNvPr id="28" name="Google Shape;444;p9">
            <a:extLst>
              <a:ext uri="{FF2B5EF4-FFF2-40B4-BE49-F238E27FC236}">
                <a16:creationId xmlns:a16="http://schemas.microsoft.com/office/drawing/2014/main" id="{AE5FF76A-661F-7579-FB4F-91BD2462E479}"/>
              </a:ext>
            </a:extLst>
          </p:cNvPr>
          <p:cNvPicPr preferRelativeResize="0"/>
          <p:nvPr/>
        </p:nvPicPr>
        <p:blipFill rotWithShape="1">
          <a:blip r:embed="rId5">
            <a:alphaModFix/>
          </a:blip>
          <a:srcRect/>
          <a:stretch/>
        </p:blipFill>
        <p:spPr>
          <a:xfrm>
            <a:off x="6786073" y="5394011"/>
            <a:ext cx="217631" cy="224192"/>
          </a:xfrm>
          <a:prstGeom prst="rect">
            <a:avLst/>
          </a:prstGeom>
          <a:noFill/>
          <a:ln>
            <a:noFill/>
          </a:ln>
        </p:spPr>
      </p:pic>
      <p:pic>
        <p:nvPicPr>
          <p:cNvPr id="30" name="圖片 29">
            <a:extLst>
              <a:ext uri="{FF2B5EF4-FFF2-40B4-BE49-F238E27FC236}">
                <a16:creationId xmlns:a16="http://schemas.microsoft.com/office/drawing/2014/main" id="{563A1CFA-B1AD-0790-A88F-487A36D7439C}"/>
              </a:ext>
            </a:extLst>
          </p:cNvPr>
          <p:cNvPicPr>
            <a:picLocks noChangeAspect="1"/>
          </p:cNvPicPr>
          <p:nvPr/>
        </p:nvPicPr>
        <p:blipFill>
          <a:blip r:embed="rId7"/>
          <a:stretch>
            <a:fillRect/>
          </a:stretch>
        </p:blipFill>
        <p:spPr>
          <a:xfrm>
            <a:off x="6784570" y="2438193"/>
            <a:ext cx="4320577" cy="1521193"/>
          </a:xfrm>
          <a:prstGeom prst="rect">
            <a:avLst/>
          </a:prstGeom>
        </p:spPr>
      </p:pic>
      <p:sp>
        <p:nvSpPr>
          <p:cNvPr id="6" name="文字方塊 5">
            <a:extLst>
              <a:ext uri="{FF2B5EF4-FFF2-40B4-BE49-F238E27FC236}">
                <a16:creationId xmlns:a16="http://schemas.microsoft.com/office/drawing/2014/main" id="{EF2F23DE-1030-BCB7-BC41-7899E5CDF33C}"/>
              </a:ext>
            </a:extLst>
          </p:cNvPr>
          <p:cNvSpPr txBox="1"/>
          <p:nvPr/>
        </p:nvSpPr>
        <p:spPr>
          <a:xfrm>
            <a:off x="7217244" y="3489319"/>
            <a:ext cx="1011362" cy="307777"/>
          </a:xfrm>
          <a:prstGeom prst="rect">
            <a:avLst/>
          </a:prstGeom>
          <a:noFill/>
        </p:spPr>
        <p:txBody>
          <a:bodyPr wrap="square">
            <a:spAutoFit/>
          </a:bodyPr>
          <a:lstStyle/>
          <a:p>
            <a:r>
              <a:rPr lang="en-US" altLang="zh-TW" sz="1400" dirty="0"/>
              <a:t>type0</a:t>
            </a:r>
            <a:r>
              <a:rPr lang="en-US" altLang="zh-TW" sz="1400" baseline="-25000" dirty="0"/>
              <a:t>ppln</a:t>
            </a:r>
            <a:endParaRPr lang="zh-TW" altLang="en-US" sz="1400" baseline="-25000" dirty="0"/>
          </a:p>
        </p:txBody>
      </p:sp>
      <p:sp>
        <p:nvSpPr>
          <p:cNvPr id="9" name="文字方塊 8">
            <a:extLst>
              <a:ext uri="{FF2B5EF4-FFF2-40B4-BE49-F238E27FC236}">
                <a16:creationId xmlns:a16="http://schemas.microsoft.com/office/drawing/2014/main" id="{78EEA33B-3C85-316D-2C8E-A7D1B5F12A1D}"/>
              </a:ext>
            </a:extLst>
          </p:cNvPr>
          <p:cNvSpPr txBox="1"/>
          <p:nvPr/>
        </p:nvSpPr>
        <p:spPr>
          <a:xfrm>
            <a:off x="9098805" y="3489320"/>
            <a:ext cx="1011362" cy="307777"/>
          </a:xfrm>
          <a:prstGeom prst="rect">
            <a:avLst/>
          </a:prstGeom>
          <a:noFill/>
        </p:spPr>
        <p:txBody>
          <a:bodyPr wrap="square">
            <a:spAutoFit/>
          </a:bodyPr>
          <a:lstStyle/>
          <a:p>
            <a:r>
              <a:rPr lang="en-US" altLang="zh-TW" sz="1400" dirty="0"/>
              <a:t>type0</a:t>
            </a:r>
            <a:r>
              <a:rPr lang="en-US" altLang="zh-TW" sz="1400" baseline="-25000" dirty="0"/>
              <a:t>ppln</a:t>
            </a:r>
            <a:endParaRPr lang="zh-TW" altLang="en-US" sz="1400" baseline="-25000" dirty="0"/>
          </a:p>
        </p:txBody>
      </p:sp>
      <p:sp>
        <p:nvSpPr>
          <p:cNvPr id="10" name="文字方塊 9">
            <a:extLst>
              <a:ext uri="{FF2B5EF4-FFF2-40B4-BE49-F238E27FC236}">
                <a16:creationId xmlns:a16="http://schemas.microsoft.com/office/drawing/2014/main" id="{A7F0E3B7-5262-B44E-87E3-DA37C9CC32C2}"/>
              </a:ext>
            </a:extLst>
          </p:cNvPr>
          <p:cNvSpPr txBox="1"/>
          <p:nvPr/>
        </p:nvSpPr>
        <p:spPr>
          <a:xfrm>
            <a:off x="8367415" y="3520098"/>
            <a:ext cx="490158" cy="307777"/>
          </a:xfrm>
          <a:prstGeom prst="rect">
            <a:avLst/>
          </a:prstGeom>
          <a:noFill/>
        </p:spPr>
        <p:txBody>
          <a:bodyPr wrap="square">
            <a:spAutoFit/>
          </a:bodyPr>
          <a:lstStyle/>
          <a:p>
            <a:r>
              <a:rPr lang="en-US" altLang="zh-TW" sz="1400" dirty="0"/>
              <a:t>PC</a:t>
            </a:r>
            <a:endParaRPr lang="zh-TW" altLang="en-US" sz="1400" baseline="-25000" dirty="0"/>
          </a:p>
        </p:txBody>
      </p:sp>
      <p:sp>
        <p:nvSpPr>
          <p:cNvPr id="11" name="文字方塊 10">
            <a:extLst>
              <a:ext uri="{FF2B5EF4-FFF2-40B4-BE49-F238E27FC236}">
                <a16:creationId xmlns:a16="http://schemas.microsoft.com/office/drawing/2014/main" id="{5AE1A8FA-6F69-C81D-B915-1F343CACBC79}"/>
              </a:ext>
            </a:extLst>
          </p:cNvPr>
          <p:cNvSpPr txBox="1"/>
          <p:nvPr/>
        </p:nvSpPr>
        <p:spPr>
          <a:xfrm>
            <a:off x="10059926" y="3352056"/>
            <a:ext cx="1394667" cy="523220"/>
          </a:xfrm>
          <a:prstGeom prst="rect">
            <a:avLst/>
          </a:prstGeom>
          <a:noFill/>
        </p:spPr>
        <p:txBody>
          <a:bodyPr wrap="square">
            <a:spAutoFit/>
          </a:bodyPr>
          <a:lstStyle/>
          <a:p>
            <a:r>
              <a:rPr lang="en-US" altLang="zh-TW" sz="1400" dirty="0"/>
              <a:t>Phase modulation</a:t>
            </a:r>
            <a:endParaRPr lang="zh-TW" altLang="en-US" sz="1400" baseline="-25000" dirty="0"/>
          </a:p>
        </p:txBody>
      </p:sp>
    </p:spTree>
    <p:extLst>
      <p:ext uri="{BB962C8B-B14F-4D97-AF65-F5344CB8AC3E}">
        <p14:creationId xmlns:p14="http://schemas.microsoft.com/office/powerpoint/2010/main" val="1985480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Objective</a:t>
            </a:r>
            <a:endParaRPr lang="zh-TW" altLang="en-US" b="1"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0039351" y="6356352"/>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8</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sp>
        <p:nvSpPr>
          <p:cNvPr id="73" name="文字方塊 72">
            <a:extLst>
              <a:ext uri="{FF2B5EF4-FFF2-40B4-BE49-F238E27FC236}">
                <a16:creationId xmlns:a16="http://schemas.microsoft.com/office/drawing/2014/main" id="{6EF3D214-BE01-6D3A-E95D-5D6934C51B50}"/>
              </a:ext>
            </a:extLst>
          </p:cNvPr>
          <p:cNvSpPr txBox="1"/>
          <p:nvPr/>
        </p:nvSpPr>
        <p:spPr>
          <a:xfrm>
            <a:off x="1778509" y="2233351"/>
            <a:ext cx="784189" cy="369332"/>
          </a:xfrm>
          <a:prstGeom prst="rect">
            <a:avLst/>
          </a:prstGeom>
          <a:noFill/>
        </p:spPr>
        <p:txBody>
          <a:bodyPr wrap="none" rtlCol="0">
            <a:spAutoFit/>
          </a:bodyPr>
          <a:lstStyle/>
          <a:p>
            <a:r>
              <a:rPr lang="en-US" altLang="zh-TW" dirty="0"/>
              <a:t>Pump </a:t>
            </a:r>
            <a:endParaRPr lang="zh-TW" altLang="en-US" dirty="0"/>
          </a:p>
        </p:txBody>
      </p:sp>
      <p:sp>
        <p:nvSpPr>
          <p:cNvPr id="74" name="箭號: 向右 73">
            <a:extLst>
              <a:ext uri="{FF2B5EF4-FFF2-40B4-BE49-F238E27FC236}">
                <a16:creationId xmlns:a16="http://schemas.microsoft.com/office/drawing/2014/main" id="{88E76F04-D5FB-F49C-844D-420766D8482D}"/>
              </a:ext>
            </a:extLst>
          </p:cNvPr>
          <p:cNvSpPr/>
          <p:nvPr/>
        </p:nvSpPr>
        <p:spPr>
          <a:xfrm>
            <a:off x="8756407" y="2644357"/>
            <a:ext cx="1754045" cy="307776"/>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7" name="文字方塊 76">
            <a:extLst>
              <a:ext uri="{FF2B5EF4-FFF2-40B4-BE49-F238E27FC236}">
                <a16:creationId xmlns:a16="http://schemas.microsoft.com/office/drawing/2014/main" id="{E0758701-7594-2508-76C9-6A42AE4C57FA}"/>
              </a:ext>
            </a:extLst>
          </p:cNvPr>
          <p:cNvSpPr txBox="1"/>
          <p:nvPr/>
        </p:nvSpPr>
        <p:spPr>
          <a:xfrm>
            <a:off x="8728851" y="2045613"/>
            <a:ext cx="1699828" cy="646331"/>
          </a:xfrm>
          <a:prstGeom prst="rect">
            <a:avLst/>
          </a:prstGeom>
          <a:noFill/>
        </p:spPr>
        <p:txBody>
          <a:bodyPr wrap="square" rtlCol="0">
            <a:spAutoFit/>
          </a:bodyPr>
          <a:lstStyle/>
          <a:p>
            <a:r>
              <a:rPr lang="en-US" altLang="zh-TW" dirty="0"/>
              <a:t>|HH⟩ + |VV⟩ photon pair</a:t>
            </a:r>
          </a:p>
        </p:txBody>
      </p:sp>
      <p:grpSp>
        <p:nvGrpSpPr>
          <p:cNvPr id="86" name="群組 85">
            <a:extLst>
              <a:ext uri="{FF2B5EF4-FFF2-40B4-BE49-F238E27FC236}">
                <a16:creationId xmlns:a16="http://schemas.microsoft.com/office/drawing/2014/main" id="{A40FBE4A-7A06-038D-356F-E691893841AA}"/>
              </a:ext>
            </a:extLst>
          </p:cNvPr>
          <p:cNvGrpSpPr/>
          <p:nvPr/>
        </p:nvGrpSpPr>
        <p:grpSpPr>
          <a:xfrm>
            <a:off x="2986677" y="3483270"/>
            <a:ext cx="1755678" cy="736664"/>
            <a:chOff x="1748077" y="3079921"/>
            <a:chExt cx="1755678" cy="736664"/>
          </a:xfrm>
        </p:grpSpPr>
        <p:sp>
          <p:nvSpPr>
            <p:cNvPr id="78" name="左大括弧 77">
              <a:extLst>
                <a:ext uri="{FF2B5EF4-FFF2-40B4-BE49-F238E27FC236}">
                  <a16:creationId xmlns:a16="http://schemas.microsoft.com/office/drawing/2014/main" id="{D27E4118-1092-E5DE-ED03-3AE49E207554}"/>
                </a:ext>
              </a:extLst>
            </p:cNvPr>
            <p:cNvSpPr/>
            <p:nvPr/>
          </p:nvSpPr>
          <p:spPr>
            <a:xfrm rot="16200000">
              <a:off x="2339692" y="2488306"/>
              <a:ext cx="401957" cy="1585187"/>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sp>
          <p:nvSpPr>
            <p:cNvPr id="82" name="文字方塊 81">
              <a:extLst>
                <a:ext uri="{FF2B5EF4-FFF2-40B4-BE49-F238E27FC236}">
                  <a16:creationId xmlns:a16="http://schemas.microsoft.com/office/drawing/2014/main" id="{A3208C3D-0083-985B-A04E-E72C42B0DA7F}"/>
                </a:ext>
              </a:extLst>
            </p:cNvPr>
            <p:cNvSpPr txBox="1"/>
            <p:nvPr/>
          </p:nvSpPr>
          <p:spPr>
            <a:xfrm>
              <a:off x="2112027" y="3447253"/>
              <a:ext cx="1391728" cy="369332"/>
            </a:xfrm>
            <a:prstGeom prst="rect">
              <a:avLst/>
            </a:prstGeom>
            <a:noFill/>
          </p:spPr>
          <p:txBody>
            <a:bodyPr wrap="none" rtlCol="0">
              <a:spAutoFit/>
            </a:bodyPr>
            <a:lstStyle/>
            <a:p>
              <a:r>
                <a:rPr lang="en-US" altLang="zh-TW" dirty="0"/>
                <a:t>SPDC</a:t>
              </a:r>
              <a:r>
                <a:rPr lang="en-US" altLang="zh-TW" baseline="-25000" dirty="0"/>
                <a:t>type0(1cm)</a:t>
              </a:r>
              <a:endParaRPr lang="zh-TW" altLang="en-US" baseline="-25000" dirty="0"/>
            </a:p>
          </p:txBody>
        </p:sp>
      </p:grpSp>
      <p:grpSp>
        <p:nvGrpSpPr>
          <p:cNvPr id="88" name="群組 87">
            <a:extLst>
              <a:ext uri="{FF2B5EF4-FFF2-40B4-BE49-F238E27FC236}">
                <a16:creationId xmlns:a16="http://schemas.microsoft.com/office/drawing/2014/main" id="{0ECC9EF4-A7FF-821C-B73C-4E878D54F6F0}"/>
              </a:ext>
            </a:extLst>
          </p:cNvPr>
          <p:cNvGrpSpPr/>
          <p:nvPr/>
        </p:nvGrpSpPr>
        <p:grpSpPr>
          <a:xfrm>
            <a:off x="6191859" y="3482201"/>
            <a:ext cx="1662005" cy="774029"/>
            <a:chOff x="4953259" y="3078852"/>
            <a:chExt cx="1662005" cy="774029"/>
          </a:xfrm>
        </p:grpSpPr>
        <p:sp>
          <p:nvSpPr>
            <p:cNvPr id="79" name="左大括弧 78">
              <a:extLst>
                <a:ext uri="{FF2B5EF4-FFF2-40B4-BE49-F238E27FC236}">
                  <a16:creationId xmlns:a16="http://schemas.microsoft.com/office/drawing/2014/main" id="{BEA997C8-D4DA-249F-EA1E-454710297D9A}"/>
                </a:ext>
              </a:extLst>
            </p:cNvPr>
            <p:cNvSpPr/>
            <p:nvPr/>
          </p:nvSpPr>
          <p:spPr>
            <a:xfrm rot="16200000">
              <a:off x="5544874" y="2487237"/>
              <a:ext cx="401957" cy="1585187"/>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sp>
          <p:nvSpPr>
            <p:cNvPr id="83" name="文字方塊 82">
              <a:extLst>
                <a:ext uri="{FF2B5EF4-FFF2-40B4-BE49-F238E27FC236}">
                  <a16:creationId xmlns:a16="http://schemas.microsoft.com/office/drawing/2014/main" id="{C573487F-E807-CC92-83FA-D44175482790}"/>
                </a:ext>
              </a:extLst>
            </p:cNvPr>
            <p:cNvSpPr txBox="1"/>
            <p:nvPr/>
          </p:nvSpPr>
          <p:spPr>
            <a:xfrm>
              <a:off x="5223536" y="3483549"/>
              <a:ext cx="1391728" cy="369332"/>
            </a:xfrm>
            <a:prstGeom prst="rect">
              <a:avLst/>
            </a:prstGeom>
            <a:noFill/>
          </p:spPr>
          <p:txBody>
            <a:bodyPr wrap="none" rtlCol="0">
              <a:spAutoFit/>
            </a:bodyPr>
            <a:lstStyle/>
            <a:p>
              <a:r>
                <a:rPr lang="en-US" altLang="zh-TW" dirty="0"/>
                <a:t>SPDC</a:t>
              </a:r>
              <a:r>
                <a:rPr lang="en-US" altLang="zh-TW" baseline="-25000" dirty="0"/>
                <a:t>type0(1cm)</a:t>
              </a:r>
              <a:endParaRPr lang="zh-TW" altLang="en-US" baseline="-25000" dirty="0"/>
            </a:p>
          </p:txBody>
        </p:sp>
      </p:grpSp>
      <p:grpSp>
        <p:nvGrpSpPr>
          <p:cNvPr id="87" name="群組 86">
            <a:extLst>
              <a:ext uri="{FF2B5EF4-FFF2-40B4-BE49-F238E27FC236}">
                <a16:creationId xmlns:a16="http://schemas.microsoft.com/office/drawing/2014/main" id="{0E57B996-5BB3-8C7B-74F0-22F70682F9AA}"/>
              </a:ext>
            </a:extLst>
          </p:cNvPr>
          <p:cNvGrpSpPr/>
          <p:nvPr/>
        </p:nvGrpSpPr>
        <p:grpSpPr>
          <a:xfrm>
            <a:off x="4595289" y="3461174"/>
            <a:ext cx="1841776" cy="752774"/>
            <a:chOff x="3356689" y="3057825"/>
            <a:chExt cx="1841776" cy="752774"/>
          </a:xfrm>
        </p:grpSpPr>
        <p:sp>
          <p:nvSpPr>
            <p:cNvPr id="80" name="左大括弧 79">
              <a:extLst>
                <a:ext uri="{FF2B5EF4-FFF2-40B4-BE49-F238E27FC236}">
                  <a16:creationId xmlns:a16="http://schemas.microsoft.com/office/drawing/2014/main" id="{1EC118FD-A6E9-3EAD-80CB-2FC1DAE30826}"/>
                </a:ext>
              </a:extLst>
            </p:cNvPr>
            <p:cNvSpPr/>
            <p:nvPr/>
          </p:nvSpPr>
          <p:spPr>
            <a:xfrm rot="16200000">
              <a:off x="3948304" y="2466210"/>
              <a:ext cx="401957" cy="1585187"/>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sp>
          <p:nvSpPr>
            <p:cNvPr id="84" name="文字方塊 83">
              <a:extLst>
                <a:ext uri="{FF2B5EF4-FFF2-40B4-BE49-F238E27FC236}">
                  <a16:creationId xmlns:a16="http://schemas.microsoft.com/office/drawing/2014/main" id="{FA292BB0-11E1-EDBA-C905-23E6DE1C367B}"/>
                </a:ext>
              </a:extLst>
            </p:cNvPr>
            <p:cNvSpPr txBox="1"/>
            <p:nvPr/>
          </p:nvSpPr>
          <p:spPr>
            <a:xfrm>
              <a:off x="3603541" y="3441267"/>
              <a:ext cx="1594924" cy="369332"/>
            </a:xfrm>
            <a:prstGeom prst="rect">
              <a:avLst/>
            </a:prstGeom>
            <a:noFill/>
          </p:spPr>
          <p:txBody>
            <a:bodyPr wrap="none" rtlCol="0">
              <a:spAutoFit/>
            </a:bodyPr>
            <a:lstStyle/>
            <a:p>
              <a:r>
                <a:rPr lang="en-US" altLang="zh-TW" dirty="0" err="1"/>
                <a:t>EOPMC</a:t>
              </a:r>
              <a:r>
                <a:rPr lang="en-US" altLang="zh-TW" baseline="-25000" dirty="0" err="1"/>
                <a:t>appln</a:t>
              </a:r>
              <a:r>
                <a:rPr lang="en-US" altLang="zh-TW" baseline="-25000" dirty="0"/>
                <a:t>(1cm)</a:t>
              </a:r>
              <a:endParaRPr lang="zh-TW" altLang="en-US" baseline="-25000" dirty="0"/>
            </a:p>
          </p:txBody>
        </p:sp>
      </p:grpSp>
      <p:grpSp>
        <p:nvGrpSpPr>
          <p:cNvPr id="89" name="群組 88">
            <a:extLst>
              <a:ext uri="{FF2B5EF4-FFF2-40B4-BE49-F238E27FC236}">
                <a16:creationId xmlns:a16="http://schemas.microsoft.com/office/drawing/2014/main" id="{347010C7-22E3-62D1-1E78-04F47A644FA1}"/>
              </a:ext>
            </a:extLst>
          </p:cNvPr>
          <p:cNvGrpSpPr/>
          <p:nvPr/>
        </p:nvGrpSpPr>
        <p:grpSpPr>
          <a:xfrm>
            <a:off x="7781644" y="3502771"/>
            <a:ext cx="1188945" cy="750719"/>
            <a:chOff x="6543044" y="3099422"/>
            <a:chExt cx="1188945" cy="750719"/>
          </a:xfrm>
        </p:grpSpPr>
        <p:sp>
          <p:nvSpPr>
            <p:cNvPr id="81" name="左大括弧 80">
              <a:extLst>
                <a:ext uri="{FF2B5EF4-FFF2-40B4-BE49-F238E27FC236}">
                  <a16:creationId xmlns:a16="http://schemas.microsoft.com/office/drawing/2014/main" id="{A585A748-0A25-04DE-714B-616326F359B2}"/>
                </a:ext>
              </a:extLst>
            </p:cNvPr>
            <p:cNvSpPr/>
            <p:nvPr/>
          </p:nvSpPr>
          <p:spPr>
            <a:xfrm rot="16200000">
              <a:off x="6811373" y="2831093"/>
              <a:ext cx="401957" cy="938615"/>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sp>
          <p:nvSpPr>
            <p:cNvPr id="85" name="文字方塊 84">
              <a:extLst>
                <a:ext uri="{FF2B5EF4-FFF2-40B4-BE49-F238E27FC236}">
                  <a16:creationId xmlns:a16="http://schemas.microsoft.com/office/drawing/2014/main" id="{A212DB4A-29DD-3FB8-91F1-E3ECB9352948}"/>
                </a:ext>
              </a:extLst>
            </p:cNvPr>
            <p:cNvSpPr txBox="1"/>
            <p:nvPr/>
          </p:nvSpPr>
          <p:spPr>
            <a:xfrm>
              <a:off x="6808723" y="3480809"/>
              <a:ext cx="923266" cy="369332"/>
            </a:xfrm>
            <a:prstGeom prst="rect">
              <a:avLst/>
            </a:prstGeom>
            <a:noFill/>
          </p:spPr>
          <p:txBody>
            <a:bodyPr wrap="none" rtlCol="0">
              <a:spAutoFit/>
            </a:bodyPr>
            <a:lstStyle/>
            <a:p>
              <a:r>
                <a:rPr lang="en-US" altLang="zh-TW" dirty="0"/>
                <a:t>EO</a:t>
              </a:r>
              <a:r>
                <a:rPr lang="en-US" altLang="zh-TW" baseline="-25000" dirty="0"/>
                <a:t>(0.6cm)</a:t>
              </a:r>
              <a:endParaRPr lang="zh-TW" altLang="en-US" baseline="-25000" dirty="0"/>
            </a:p>
          </p:txBody>
        </p:sp>
      </p:grpSp>
      <p:sp>
        <p:nvSpPr>
          <p:cNvPr id="252" name="箭號: 向右 251">
            <a:extLst>
              <a:ext uri="{FF2B5EF4-FFF2-40B4-BE49-F238E27FC236}">
                <a16:creationId xmlns:a16="http://schemas.microsoft.com/office/drawing/2014/main" id="{AD0D8386-EED1-10CE-248D-734398BB2F67}"/>
              </a:ext>
            </a:extLst>
          </p:cNvPr>
          <p:cNvSpPr/>
          <p:nvPr/>
        </p:nvSpPr>
        <p:spPr>
          <a:xfrm>
            <a:off x="1479760" y="2604084"/>
            <a:ext cx="1474713" cy="217083"/>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文字方塊 2">
            <a:extLst>
              <a:ext uri="{FF2B5EF4-FFF2-40B4-BE49-F238E27FC236}">
                <a16:creationId xmlns:a16="http://schemas.microsoft.com/office/drawing/2014/main" id="{BA67EFD7-09FD-60DF-4D4A-D48DA2CA1C93}"/>
              </a:ext>
            </a:extLst>
          </p:cNvPr>
          <p:cNvSpPr txBox="1"/>
          <p:nvPr/>
        </p:nvSpPr>
        <p:spPr>
          <a:xfrm>
            <a:off x="1712933" y="2765210"/>
            <a:ext cx="1238760" cy="461665"/>
          </a:xfrm>
          <a:prstGeom prst="rect">
            <a:avLst/>
          </a:prstGeom>
          <a:noFill/>
        </p:spPr>
        <p:txBody>
          <a:bodyPr wrap="square" rtlCol="0">
            <a:spAutoFit/>
          </a:bodyPr>
          <a:lstStyle/>
          <a:p>
            <a:r>
              <a:rPr lang="en-US" altLang="zh-TW" sz="1200" dirty="0"/>
              <a:t>CW</a:t>
            </a:r>
            <a:r>
              <a:rPr lang="zh-TW" altLang="en-US" sz="1200" dirty="0"/>
              <a:t> </a:t>
            </a:r>
            <a:r>
              <a:rPr lang="en-US" altLang="zh-TW" sz="1200" dirty="0"/>
              <a:t>785nm pump laser </a:t>
            </a:r>
            <a:endParaRPr lang="zh-TW" altLang="en-US" sz="1200" dirty="0"/>
          </a:p>
        </p:txBody>
      </p:sp>
      <p:grpSp>
        <p:nvGrpSpPr>
          <p:cNvPr id="101" name="群組 100">
            <a:extLst>
              <a:ext uri="{FF2B5EF4-FFF2-40B4-BE49-F238E27FC236}">
                <a16:creationId xmlns:a16="http://schemas.microsoft.com/office/drawing/2014/main" id="{64C0AEC3-111C-A4F2-1794-00FE489F00DD}"/>
              </a:ext>
            </a:extLst>
          </p:cNvPr>
          <p:cNvGrpSpPr/>
          <p:nvPr/>
        </p:nvGrpSpPr>
        <p:grpSpPr>
          <a:xfrm>
            <a:off x="2990343" y="1844305"/>
            <a:ext cx="1597732" cy="1615784"/>
            <a:chOff x="1547796" y="4590564"/>
            <a:chExt cx="1597732" cy="1615784"/>
          </a:xfrm>
        </p:grpSpPr>
        <p:grpSp>
          <p:nvGrpSpPr>
            <p:cNvPr id="102" name="群組 101">
              <a:extLst>
                <a:ext uri="{FF2B5EF4-FFF2-40B4-BE49-F238E27FC236}">
                  <a16:creationId xmlns:a16="http://schemas.microsoft.com/office/drawing/2014/main" id="{89A2455A-16D6-6FBA-7676-1C9CB57507A7}"/>
                </a:ext>
              </a:extLst>
            </p:cNvPr>
            <p:cNvGrpSpPr/>
            <p:nvPr/>
          </p:nvGrpSpPr>
          <p:grpSpPr>
            <a:xfrm>
              <a:off x="1547796" y="4590564"/>
              <a:ext cx="1597732" cy="1615784"/>
              <a:chOff x="7755536" y="4682354"/>
              <a:chExt cx="1539881" cy="1413646"/>
            </a:xfrm>
          </p:grpSpPr>
          <p:grpSp>
            <p:nvGrpSpPr>
              <p:cNvPr id="105" name="群組 104">
                <a:extLst>
                  <a:ext uri="{FF2B5EF4-FFF2-40B4-BE49-F238E27FC236}">
                    <a16:creationId xmlns:a16="http://schemas.microsoft.com/office/drawing/2014/main" id="{301F3987-528F-254D-82BC-62FB2F9663BA}"/>
                  </a:ext>
                </a:extLst>
              </p:cNvPr>
              <p:cNvGrpSpPr/>
              <p:nvPr/>
            </p:nvGrpSpPr>
            <p:grpSpPr>
              <a:xfrm>
                <a:off x="7755536" y="4682354"/>
                <a:ext cx="382023" cy="1413646"/>
                <a:chOff x="7755536" y="4682354"/>
                <a:chExt cx="382023" cy="1413646"/>
              </a:xfrm>
            </p:grpSpPr>
            <p:sp>
              <p:nvSpPr>
                <p:cNvPr id="115" name="矩形 114">
                  <a:extLst>
                    <a:ext uri="{FF2B5EF4-FFF2-40B4-BE49-F238E27FC236}">
                      <a16:creationId xmlns:a16="http://schemas.microsoft.com/office/drawing/2014/main" id="{9AF94238-1741-8C03-261F-F0C03623FB1D}"/>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6" name="矩形 115">
                  <a:extLst>
                    <a:ext uri="{FF2B5EF4-FFF2-40B4-BE49-F238E27FC236}">
                      <a16:creationId xmlns:a16="http://schemas.microsoft.com/office/drawing/2014/main" id="{200DD13D-B30A-47E6-A2C0-86115639EBBF}"/>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06" name="群組 105">
                <a:extLst>
                  <a:ext uri="{FF2B5EF4-FFF2-40B4-BE49-F238E27FC236}">
                    <a16:creationId xmlns:a16="http://schemas.microsoft.com/office/drawing/2014/main" id="{DBA695C2-4AAB-38D6-47AC-75C6F8CED136}"/>
                  </a:ext>
                </a:extLst>
              </p:cNvPr>
              <p:cNvGrpSpPr/>
              <p:nvPr/>
            </p:nvGrpSpPr>
            <p:grpSpPr>
              <a:xfrm>
                <a:off x="8136791" y="4682354"/>
                <a:ext cx="382023" cy="1413646"/>
                <a:chOff x="7755536" y="4682354"/>
                <a:chExt cx="382023" cy="1413646"/>
              </a:xfrm>
            </p:grpSpPr>
            <p:sp>
              <p:nvSpPr>
                <p:cNvPr id="113" name="矩形 112">
                  <a:extLst>
                    <a:ext uri="{FF2B5EF4-FFF2-40B4-BE49-F238E27FC236}">
                      <a16:creationId xmlns:a16="http://schemas.microsoft.com/office/drawing/2014/main" id="{A9327C4B-7E09-EBCC-C955-34AE0A140831}"/>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4" name="矩形 113">
                  <a:extLst>
                    <a:ext uri="{FF2B5EF4-FFF2-40B4-BE49-F238E27FC236}">
                      <a16:creationId xmlns:a16="http://schemas.microsoft.com/office/drawing/2014/main" id="{523B3442-F558-FDA1-C68D-FBF10A032DB9}"/>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07" name="群組 106">
                <a:extLst>
                  <a:ext uri="{FF2B5EF4-FFF2-40B4-BE49-F238E27FC236}">
                    <a16:creationId xmlns:a16="http://schemas.microsoft.com/office/drawing/2014/main" id="{F501DF3E-583D-E340-E3A7-B3F191660630}"/>
                  </a:ext>
                </a:extLst>
              </p:cNvPr>
              <p:cNvGrpSpPr/>
              <p:nvPr/>
            </p:nvGrpSpPr>
            <p:grpSpPr>
              <a:xfrm>
                <a:off x="8529017" y="4682354"/>
                <a:ext cx="382023" cy="1413646"/>
                <a:chOff x="7755536" y="4682354"/>
                <a:chExt cx="382023" cy="1413646"/>
              </a:xfrm>
            </p:grpSpPr>
            <p:sp>
              <p:nvSpPr>
                <p:cNvPr id="111" name="矩形 110">
                  <a:extLst>
                    <a:ext uri="{FF2B5EF4-FFF2-40B4-BE49-F238E27FC236}">
                      <a16:creationId xmlns:a16="http://schemas.microsoft.com/office/drawing/2014/main" id="{6CFBA2FC-2C55-71D2-AD77-7A9B902B4E64}"/>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2" name="矩形 111">
                  <a:extLst>
                    <a:ext uri="{FF2B5EF4-FFF2-40B4-BE49-F238E27FC236}">
                      <a16:creationId xmlns:a16="http://schemas.microsoft.com/office/drawing/2014/main" id="{387ECAAC-0038-91AE-A80E-02C77D1A5727}"/>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08" name="群組 107">
                <a:extLst>
                  <a:ext uri="{FF2B5EF4-FFF2-40B4-BE49-F238E27FC236}">
                    <a16:creationId xmlns:a16="http://schemas.microsoft.com/office/drawing/2014/main" id="{65C74DAB-5C35-FF3A-8E9C-9C4A2B14F6E2}"/>
                  </a:ext>
                </a:extLst>
              </p:cNvPr>
              <p:cNvGrpSpPr/>
              <p:nvPr/>
            </p:nvGrpSpPr>
            <p:grpSpPr>
              <a:xfrm>
                <a:off x="8913394" y="4682354"/>
                <a:ext cx="382023" cy="1413646"/>
                <a:chOff x="7755536" y="4682354"/>
                <a:chExt cx="382023" cy="1413646"/>
              </a:xfrm>
            </p:grpSpPr>
            <p:sp>
              <p:nvSpPr>
                <p:cNvPr id="109" name="矩形 108">
                  <a:extLst>
                    <a:ext uri="{FF2B5EF4-FFF2-40B4-BE49-F238E27FC236}">
                      <a16:creationId xmlns:a16="http://schemas.microsoft.com/office/drawing/2014/main" id="{E8C9D7B0-BB7C-5EC7-FD36-375BB1265932}"/>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10" name="矩形 109">
                  <a:extLst>
                    <a:ext uri="{FF2B5EF4-FFF2-40B4-BE49-F238E27FC236}">
                      <a16:creationId xmlns:a16="http://schemas.microsoft.com/office/drawing/2014/main" id="{E17EA9AC-DAF5-C00B-A35B-659C3600D2DE}"/>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103" name="矩形 102">
              <a:extLst>
                <a:ext uri="{FF2B5EF4-FFF2-40B4-BE49-F238E27FC236}">
                  <a16:creationId xmlns:a16="http://schemas.microsoft.com/office/drawing/2014/main" id="{8F3B3FA7-80BE-35DB-1D5F-76F396F1785A}"/>
                </a:ext>
              </a:extLst>
            </p:cNvPr>
            <p:cNvSpPr/>
            <p:nvPr/>
          </p:nvSpPr>
          <p:spPr>
            <a:xfrm>
              <a:off x="1560341" y="5172154"/>
              <a:ext cx="1575773" cy="262714"/>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04" name="矩形 103">
              <a:extLst>
                <a:ext uri="{FF2B5EF4-FFF2-40B4-BE49-F238E27FC236}">
                  <a16:creationId xmlns:a16="http://schemas.microsoft.com/office/drawing/2014/main" id="{0E32B912-5921-EAB5-4733-64FB72C77BDE}"/>
                </a:ext>
              </a:extLst>
            </p:cNvPr>
            <p:cNvSpPr/>
            <p:nvPr/>
          </p:nvSpPr>
          <p:spPr>
            <a:xfrm>
              <a:off x="1554254" y="5982936"/>
              <a:ext cx="1591274" cy="223412"/>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nvGrpSpPr>
          <p:cNvPr id="117" name="群組 116">
            <a:extLst>
              <a:ext uri="{FF2B5EF4-FFF2-40B4-BE49-F238E27FC236}">
                <a16:creationId xmlns:a16="http://schemas.microsoft.com/office/drawing/2014/main" id="{AA1174FF-67C9-C59E-0D9D-7F03C3ACCA75}"/>
              </a:ext>
            </a:extLst>
          </p:cNvPr>
          <p:cNvGrpSpPr/>
          <p:nvPr/>
        </p:nvGrpSpPr>
        <p:grpSpPr>
          <a:xfrm>
            <a:off x="4594533" y="1146041"/>
            <a:ext cx="1598437" cy="2314555"/>
            <a:chOff x="8442672" y="1013979"/>
            <a:chExt cx="1598437" cy="2314555"/>
          </a:xfrm>
        </p:grpSpPr>
        <p:grpSp>
          <p:nvGrpSpPr>
            <p:cNvPr id="118" name="群組 117">
              <a:extLst>
                <a:ext uri="{FF2B5EF4-FFF2-40B4-BE49-F238E27FC236}">
                  <a16:creationId xmlns:a16="http://schemas.microsoft.com/office/drawing/2014/main" id="{BE6634FF-7361-52C9-C6E3-53DF5DB69FD3}"/>
                </a:ext>
              </a:extLst>
            </p:cNvPr>
            <p:cNvGrpSpPr/>
            <p:nvPr/>
          </p:nvGrpSpPr>
          <p:grpSpPr>
            <a:xfrm>
              <a:off x="8442672" y="1013979"/>
              <a:ext cx="1598437" cy="2314554"/>
              <a:chOff x="8442672" y="1013979"/>
              <a:chExt cx="1598437" cy="2314554"/>
            </a:xfrm>
          </p:grpSpPr>
          <p:grpSp>
            <p:nvGrpSpPr>
              <p:cNvPr id="121" name="群組 120">
                <a:extLst>
                  <a:ext uri="{FF2B5EF4-FFF2-40B4-BE49-F238E27FC236}">
                    <a16:creationId xmlns:a16="http://schemas.microsoft.com/office/drawing/2014/main" id="{FEC53B48-432C-78F1-8691-DD601F661218}"/>
                  </a:ext>
                </a:extLst>
              </p:cNvPr>
              <p:cNvGrpSpPr/>
              <p:nvPr/>
            </p:nvGrpSpPr>
            <p:grpSpPr>
              <a:xfrm>
                <a:off x="8443377" y="1712749"/>
                <a:ext cx="1597732" cy="1615784"/>
                <a:chOff x="3923113" y="2277371"/>
                <a:chExt cx="1539881" cy="1413646"/>
              </a:xfrm>
            </p:grpSpPr>
            <p:grpSp>
              <p:nvGrpSpPr>
                <p:cNvPr id="129" name="群組 128">
                  <a:extLst>
                    <a:ext uri="{FF2B5EF4-FFF2-40B4-BE49-F238E27FC236}">
                      <a16:creationId xmlns:a16="http://schemas.microsoft.com/office/drawing/2014/main" id="{766CF997-085B-21F8-F82E-33C35CE4D42F}"/>
                    </a:ext>
                  </a:extLst>
                </p:cNvPr>
                <p:cNvGrpSpPr/>
                <p:nvPr/>
              </p:nvGrpSpPr>
              <p:grpSpPr>
                <a:xfrm>
                  <a:off x="3923113" y="2277371"/>
                  <a:ext cx="382023" cy="1413646"/>
                  <a:chOff x="7755536" y="4682354"/>
                  <a:chExt cx="382023" cy="1413646"/>
                </a:xfrm>
                <a:solidFill>
                  <a:schemeClr val="accent6">
                    <a:lumMod val="60000"/>
                    <a:lumOff val="40000"/>
                  </a:schemeClr>
                </a:solidFill>
              </p:grpSpPr>
              <p:sp>
                <p:nvSpPr>
                  <p:cNvPr id="139" name="矩形 138">
                    <a:extLst>
                      <a:ext uri="{FF2B5EF4-FFF2-40B4-BE49-F238E27FC236}">
                        <a16:creationId xmlns:a16="http://schemas.microsoft.com/office/drawing/2014/main" id="{3E81FB1A-3C18-56C9-300A-647E637FC6D6}"/>
                      </a:ext>
                    </a:extLst>
                  </p:cNvPr>
                  <p:cNvSpPr/>
                  <p:nvPr/>
                </p:nvSpPr>
                <p:spPr>
                  <a:xfrm>
                    <a:off x="7755536"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0" name="矩形 139">
                    <a:extLst>
                      <a:ext uri="{FF2B5EF4-FFF2-40B4-BE49-F238E27FC236}">
                        <a16:creationId xmlns:a16="http://schemas.microsoft.com/office/drawing/2014/main" id="{09FAA40F-A48F-D03D-23EF-2C80C11E2CDC}"/>
                      </a:ext>
                    </a:extLst>
                  </p:cNvPr>
                  <p:cNvSpPr/>
                  <p:nvPr/>
                </p:nvSpPr>
                <p:spPr>
                  <a:xfrm>
                    <a:off x="7946547"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30" name="群組 129">
                  <a:extLst>
                    <a:ext uri="{FF2B5EF4-FFF2-40B4-BE49-F238E27FC236}">
                      <a16:creationId xmlns:a16="http://schemas.microsoft.com/office/drawing/2014/main" id="{E739EF7F-172A-32FC-578A-1C6C5643BCF8}"/>
                    </a:ext>
                  </a:extLst>
                </p:cNvPr>
                <p:cNvGrpSpPr/>
                <p:nvPr/>
              </p:nvGrpSpPr>
              <p:grpSpPr>
                <a:xfrm>
                  <a:off x="4304368" y="2277371"/>
                  <a:ext cx="382023" cy="1413646"/>
                  <a:chOff x="7755536" y="4682354"/>
                  <a:chExt cx="382023" cy="1413646"/>
                </a:xfrm>
                <a:solidFill>
                  <a:schemeClr val="accent6">
                    <a:lumMod val="20000"/>
                    <a:lumOff val="80000"/>
                  </a:schemeClr>
                </a:solidFill>
              </p:grpSpPr>
              <p:sp>
                <p:nvSpPr>
                  <p:cNvPr id="137" name="矩形 136">
                    <a:extLst>
                      <a:ext uri="{FF2B5EF4-FFF2-40B4-BE49-F238E27FC236}">
                        <a16:creationId xmlns:a16="http://schemas.microsoft.com/office/drawing/2014/main" id="{7319DEC1-FD59-0E3E-0790-0F0CD01C637E}"/>
                      </a:ext>
                    </a:extLst>
                  </p:cNvPr>
                  <p:cNvSpPr/>
                  <p:nvPr/>
                </p:nvSpPr>
                <p:spPr>
                  <a:xfrm>
                    <a:off x="7755536"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8" name="矩形 137">
                    <a:extLst>
                      <a:ext uri="{FF2B5EF4-FFF2-40B4-BE49-F238E27FC236}">
                        <a16:creationId xmlns:a16="http://schemas.microsoft.com/office/drawing/2014/main" id="{DF2D68B2-38C1-EC16-7525-A970C8404B35}"/>
                      </a:ext>
                    </a:extLst>
                  </p:cNvPr>
                  <p:cNvSpPr/>
                  <p:nvPr/>
                </p:nvSpPr>
                <p:spPr>
                  <a:xfrm>
                    <a:off x="7946547"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31" name="群組 130">
                  <a:extLst>
                    <a:ext uri="{FF2B5EF4-FFF2-40B4-BE49-F238E27FC236}">
                      <a16:creationId xmlns:a16="http://schemas.microsoft.com/office/drawing/2014/main" id="{20E3635F-37D0-76B2-0686-7A9E67924688}"/>
                    </a:ext>
                  </a:extLst>
                </p:cNvPr>
                <p:cNvGrpSpPr/>
                <p:nvPr/>
              </p:nvGrpSpPr>
              <p:grpSpPr>
                <a:xfrm>
                  <a:off x="4696594" y="2277371"/>
                  <a:ext cx="382023" cy="1413646"/>
                  <a:chOff x="7755536" y="4682354"/>
                  <a:chExt cx="382023" cy="1413646"/>
                </a:xfrm>
              </p:grpSpPr>
              <p:sp>
                <p:nvSpPr>
                  <p:cNvPr id="135" name="矩形 134">
                    <a:extLst>
                      <a:ext uri="{FF2B5EF4-FFF2-40B4-BE49-F238E27FC236}">
                        <a16:creationId xmlns:a16="http://schemas.microsoft.com/office/drawing/2014/main" id="{8E1D28F4-AEAE-AF74-E7B4-F814E3FCBFFF}"/>
                      </a:ext>
                    </a:extLst>
                  </p:cNvPr>
                  <p:cNvSpPr/>
                  <p:nvPr/>
                </p:nvSpPr>
                <p:spPr>
                  <a:xfrm>
                    <a:off x="7755536" y="4682354"/>
                    <a:ext cx="191012" cy="1413646"/>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6" name="矩形 135">
                    <a:extLst>
                      <a:ext uri="{FF2B5EF4-FFF2-40B4-BE49-F238E27FC236}">
                        <a16:creationId xmlns:a16="http://schemas.microsoft.com/office/drawing/2014/main" id="{6AB077C2-D61C-8E5F-345B-19656877631D}"/>
                      </a:ext>
                    </a:extLst>
                  </p:cNvPr>
                  <p:cNvSpPr/>
                  <p:nvPr/>
                </p:nvSpPr>
                <p:spPr>
                  <a:xfrm>
                    <a:off x="7946547" y="4682354"/>
                    <a:ext cx="191012" cy="141364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32" name="群組 131">
                  <a:extLst>
                    <a:ext uri="{FF2B5EF4-FFF2-40B4-BE49-F238E27FC236}">
                      <a16:creationId xmlns:a16="http://schemas.microsoft.com/office/drawing/2014/main" id="{C2820B70-B70E-8B7E-0731-DC69DDE34ED4}"/>
                    </a:ext>
                  </a:extLst>
                </p:cNvPr>
                <p:cNvGrpSpPr/>
                <p:nvPr/>
              </p:nvGrpSpPr>
              <p:grpSpPr>
                <a:xfrm>
                  <a:off x="5080971" y="2277371"/>
                  <a:ext cx="382023" cy="1413646"/>
                  <a:chOff x="7755536" y="4682354"/>
                  <a:chExt cx="382023" cy="1413646"/>
                </a:xfrm>
              </p:grpSpPr>
              <p:sp>
                <p:nvSpPr>
                  <p:cNvPr id="133" name="矩形 132">
                    <a:extLst>
                      <a:ext uri="{FF2B5EF4-FFF2-40B4-BE49-F238E27FC236}">
                        <a16:creationId xmlns:a16="http://schemas.microsoft.com/office/drawing/2014/main" id="{1E5B7CF1-5A31-2834-8134-D2E581A54ABD}"/>
                      </a:ext>
                    </a:extLst>
                  </p:cNvPr>
                  <p:cNvSpPr/>
                  <p:nvPr/>
                </p:nvSpPr>
                <p:spPr>
                  <a:xfrm>
                    <a:off x="7755536" y="4682354"/>
                    <a:ext cx="191012" cy="141364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34" name="矩形 133">
                    <a:extLst>
                      <a:ext uri="{FF2B5EF4-FFF2-40B4-BE49-F238E27FC236}">
                        <a16:creationId xmlns:a16="http://schemas.microsoft.com/office/drawing/2014/main" id="{F1FAA873-8B23-0C89-B681-85B4618454B7}"/>
                      </a:ext>
                    </a:extLst>
                  </p:cNvPr>
                  <p:cNvSpPr/>
                  <p:nvPr/>
                </p:nvSpPr>
                <p:spPr>
                  <a:xfrm>
                    <a:off x="7946547" y="4682354"/>
                    <a:ext cx="191012" cy="1413646"/>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122" name="矩形 121">
                <a:extLst>
                  <a:ext uri="{FF2B5EF4-FFF2-40B4-BE49-F238E27FC236}">
                    <a16:creationId xmlns:a16="http://schemas.microsoft.com/office/drawing/2014/main" id="{40D3E1F0-76F7-5FD8-6492-4E7DFDD7868D}"/>
                  </a:ext>
                </a:extLst>
              </p:cNvPr>
              <p:cNvSpPr/>
              <p:nvPr/>
            </p:nvSpPr>
            <p:spPr>
              <a:xfrm>
                <a:off x="8453352" y="1984590"/>
                <a:ext cx="1585315"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23" name="矩形 122">
                <a:extLst>
                  <a:ext uri="{FF2B5EF4-FFF2-40B4-BE49-F238E27FC236}">
                    <a16:creationId xmlns:a16="http://schemas.microsoft.com/office/drawing/2014/main" id="{14B238CF-41B1-0BB5-3CFE-079F59CBB8E2}"/>
                  </a:ext>
                </a:extLst>
              </p:cNvPr>
              <p:cNvSpPr/>
              <p:nvPr/>
            </p:nvSpPr>
            <p:spPr>
              <a:xfrm>
                <a:off x="8442672" y="2636613"/>
                <a:ext cx="1585315"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124" name="直線接點 123">
                <a:extLst>
                  <a:ext uri="{FF2B5EF4-FFF2-40B4-BE49-F238E27FC236}">
                    <a16:creationId xmlns:a16="http://schemas.microsoft.com/office/drawing/2014/main" id="{997A7917-949F-B745-FFFA-E82CB0AC7EEF}"/>
                  </a:ext>
                </a:extLst>
              </p:cNvPr>
              <p:cNvCxnSpPr>
                <a:cxnSpLocks/>
              </p:cNvCxnSpPr>
              <p:nvPr/>
            </p:nvCxnSpPr>
            <p:spPr>
              <a:xfrm flipH="1" flipV="1">
                <a:off x="8509832" y="1339285"/>
                <a:ext cx="131732" cy="140986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5" name="直線接點 124">
                <a:extLst>
                  <a:ext uri="{FF2B5EF4-FFF2-40B4-BE49-F238E27FC236}">
                    <a16:creationId xmlns:a16="http://schemas.microsoft.com/office/drawing/2014/main" id="{52514C7C-574E-015C-16A1-432DB73CF3BE}"/>
                  </a:ext>
                </a:extLst>
              </p:cNvPr>
              <p:cNvCxnSpPr>
                <a:cxnSpLocks/>
              </p:cNvCxnSpPr>
              <p:nvPr/>
            </p:nvCxnSpPr>
            <p:spPr>
              <a:xfrm flipH="1" flipV="1">
                <a:off x="9436018" y="1025270"/>
                <a:ext cx="101693" cy="10542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直線接點 125">
                <a:extLst>
                  <a:ext uri="{FF2B5EF4-FFF2-40B4-BE49-F238E27FC236}">
                    <a16:creationId xmlns:a16="http://schemas.microsoft.com/office/drawing/2014/main" id="{175F88B5-3758-9C86-90D0-4EF36A7C80E7}"/>
                  </a:ext>
                </a:extLst>
              </p:cNvPr>
              <p:cNvCxnSpPr>
                <a:cxnSpLocks/>
              </p:cNvCxnSpPr>
              <p:nvPr/>
            </p:nvCxnSpPr>
            <p:spPr>
              <a:xfrm flipV="1">
                <a:off x="8508538" y="1264686"/>
                <a:ext cx="232120" cy="8522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7" name="直線接點 126">
                <a:extLst>
                  <a:ext uri="{FF2B5EF4-FFF2-40B4-BE49-F238E27FC236}">
                    <a16:creationId xmlns:a16="http://schemas.microsoft.com/office/drawing/2014/main" id="{A66F3A3F-CAD6-EFA9-A00E-018146A7598B}"/>
                  </a:ext>
                </a:extLst>
              </p:cNvPr>
              <p:cNvCxnSpPr>
                <a:cxnSpLocks/>
              </p:cNvCxnSpPr>
              <p:nvPr/>
            </p:nvCxnSpPr>
            <p:spPr>
              <a:xfrm flipH="1">
                <a:off x="9125726" y="1034920"/>
                <a:ext cx="319098" cy="1220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8" name="橢圓 127">
                <a:extLst>
                  <a:ext uri="{FF2B5EF4-FFF2-40B4-BE49-F238E27FC236}">
                    <a16:creationId xmlns:a16="http://schemas.microsoft.com/office/drawing/2014/main" id="{1CEF08D9-95BD-D954-7561-71BFAE397D39}"/>
                  </a:ext>
                </a:extLst>
              </p:cNvPr>
              <p:cNvSpPr/>
              <p:nvPr/>
            </p:nvSpPr>
            <p:spPr>
              <a:xfrm>
                <a:off x="8736284" y="1013979"/>
                <a:ext cx="382626" cy="378964"/>
              </a:xfrm>
              <a:prstGeom prst="ellipse">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solidFill>
                      <a:schemeClr val="tx1"/>
                    </a:solidFill>
                  </a:rPr>
                  <a:t>V</a:t>
                </a:r>
                <a:endParaRPr lang="zh-TW" altLang="en-US" b="1" dirty="0">
                  <a:solidFill>
                    <a:schemeClr val="tx1"/>
                  </a:solidFill>
                </a:endParaRPr>
              </a:p>
            </p:txBody>
          </p:sp>
        </p:grpSp>
        <p:sp>
          <p:nvSpPr>
            <p:cNvPr id="119" name="矩形 118">
              <a:extLst>
                <a:ext uri="{FF2B5EF4-FFF2-40B4-BE49-F238E27FC236}">
                  <a16:creationId xmlns:a16="http://schemas.microsoft.com/office/drawing/2014/main" id="{A361948E-E54A-8D96-6646-DAF7571AD3F5}"/>
                </a:ext>
              </a:extLst>
            </p:cNvPr>
            <p:cNvSpPr/>
            <p:nvPr/>
          </p:nvSpPr>
          <p:spPr>
            <a:xfrm>
              <a:off x="8456889" y="3089226"/>
              <a:ext cx="1581778" cy="239308"/>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20" name="矩形 119">
              <a:extLst>
                <a:ext uri="{FF2B5EF4-FFF2-40B4-BE49-F238E27FC236}">
                  <a16:creationId xmlns:a16="http://schemas.microsoft.com/office/drawing/2014/main" id="{08F180E6-A801-DC31-2F7A-6C73779BC798}"/>
                </a:ext>
              </a:extLst>
            </p:cNvPr>
            <p:cNvSpPr/>
            <p:nvPr/>
          </p:nvSpPr>
          <p:spPr>
            <a:xfrm>
              <a:off x="8453198" y="2328648"/>
              <a:ext cx="1577675" cy="196537"/>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nvGrpSpPr>
          <p:cNvPr id="141" name="群組 140">
            <a:extLst>
              <a:ext uri="{FF2B5EF4-FFF2-40B4-BE49-F238E27FC236}">
                <a16:creationId xmlns:a16="http://schemas.microsoft.com/office/drawing/2014/main" id="{F8A3FB57-C266-8D36-0119-FA1941A27759}"/>
              </a:ext>
            </a:extLst>
          </p:cNvPr>
          <p:cNvGrpSpPr/>
          <p:nvPr/>
        </p:nvGrpSpPr>
        <p:grpSpPr>
          <a:xfrm>
            <a:off x="6196254" y="1832555"/>
            <a:ext cx="1597732" cy="1615784"/>
            <a:chOff x="1547796" y="4590564"/>
            <a:chExt cx="1597732" cy="1615784"/>
          </a:xfrm>
        </p:grpSpPr>
        <p:grpSp>
          <p:nvGrpSpPr>
            <p:cNvPr id="142" name="群組 141">
              <a:extLst>
                <a:ext uri="{FF2B5EF4-FFF2-40B4-BE49-F238E27FC236}">
                  <a16:creationId xmlns:a16="http://schemas.microsoft.com/office/drawing/2014/main" id="{591293F2-52BE-3B83-8B0C-C1523F213424}"/>
                </a:ext>
              </a:extLst>
            </p:cNvPr>
            <p:cNvGrpSpPr/>
            <p:nvPr/>
          </p:nvGrpSpPr>
          <p:grpSpPr>
            <a:xfrm>
              <a:off x="1547796" y="4590564"/>
              <a:ext cx="1597732" cy="1615784"/>
              <a:chOff x="7755536" y="4682354"/>
              <a:chExt cx="1539881" cy="1413646"/>
            </a:xfrm>
          </p:grpSpPr>
          <p:grpSp>
            <p:nvGrpSpPr>
              <p:cNvPr id="145" name="群組 144">
                <a:extLst>
                  <a:ext uri="{FF2B5EF4-FFF2-40B4-BE49-F238E27FC236}">
                    <a16:creationId xmlns:a16="http://schemas.microsoft.com/office/drawing/2014/main" id="{6CA258A3-3C4E-ABE0-5608-DB522EB94412}"/>
                  </a:ext>
                </a:extLst>
              </p:cNvPr>
              <p:cNvGrpSpPr/>
              <p:nvPr/>
            </p:nvGrpSpPr>
            <p:grpSpPr>
              <a:xfrm>
                <a:off x="7755536" y="4682354"/>
                <a:ext cx="382023" cy="1413646"/>
                <a:chOff x="7755536" y="4682354"/>
                <a:chExt cx="382023" cy="1413646"/>
              </a:xfrm>
            </p:grpSpPr>
            <p:sp>
              <p:nvSpPr>
                <p:cNvPr id="155" name="矩形 154">
                  <a:extLst>
                    <a:ext uri="{FF2B5EF4-FFF2-40B4-BE49-F238E27FC236}">
                      <a16:creationId xmlns:a16="http://schemas.microsoft.com/office/drawing/2014/main" id="{4A40AA4F-165C-0141-618A-B04F2DD4673C}"/>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6" name="矩形 155">
                  <a:extLst>
                    <a:ext uri="{FF2B5EF4-FFF2-40B4-BE49-F238E27FC236}">
                      <a16:creationId xmlns:a16="http://schemas.microsoft.com/office/drawing/2014/main" id="{57FFE6EA-55C4-52B8-4789-4A99E515AF36}"/>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46" name="群組 145">
                <a:extLst>
                  <a:ext uri="{FF2B5EF4-FFF2-40B4-BE49-F238E27FC236}">
                    <a16:creationId xmlns:a16="http://schemas.microsoft.com/office/drawing/2014/main" id="{550E47AC-6A26-B368-CD85-E661ACF2388E}"/>
                  </a:ext>
                </a:extLst>
              </p:cNvPr>
              <p:cNvGrpSpPr/>
              <p:nvPr/>
            </p:nvGrpSpPr>
            <p:grpSpPr>
              <a:xfrm>
                <a:off x="8136791" y="4682354"/>
                <a:ext cx="382023" cy="1413646"/>
                <a:chOff x="7755536" y="4682354"/>
                <a:chExt cx="382023" cy="1413646"/>
              </a:xfrm>
            </p:grpSpPr>
            <p:sp>
              <p:nvSpPr>
                <p:cNvPr id="153" name="矩形 152">
                  <a:extLst>
                    <a:ext uri="{FF2B5EF4-FFF2-40B4-BE49-F238E27FC236}">
                      <a16:creationId xmlns:a16="http://schemas.microsoft.com/office/drawing/2014/main" id="{ACFE40E4-4A0D-244E-FD82-B8FC23536248}"/>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4" name="矩形 153">
                  <a:extLst>
                    <a:ext uri="{FF2B5EF4-FFF2-40B4-BE49-F238E27FC236}">
                      <a16:creationId xmlns:a16="http://schemas.microsoft.com/office/drawing/2014/main" id="{046FEBB8-92CD-C697-47C5-4CBFD1E625F4}"/>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47" name="群組 146">
                <a:extLst>
                  <a:ext uri="{FF2B5EF4-FFF2-40B4-BE49-F238E27FC236}">
                    <a16:creationId xmlns:a16="http://schemas.microsoft.com/office/drawing/2014/main" id="{77218760-80E9-1FB5-9AF0-5A49526A067B}"/>
                  </a:ext>
                </a:extLst>
              </p:cNvPr>
              <p:cNvGrpSpPr/>
              <p:nvPr/>
            </p:nvGrpSpPr>
            <p:grpSpPr>
              <a:xfrm>
                <a:off x="8529017" y="4682354"/>
                <a:ext cx="382023" cy="1413646"/>
                <a:chOff x="7755536" y="4682354"/>
                <a:chExt cx="382023" cy="1413646"/>
              </a:xfrm>
            </p:grpSpPr>
            <p:sp>
              <p:nvSpPr>
                <p:cNvPr id="151" name="矩形 150">
                  <a:extLst>
                    <a:ext uri="{FF2B5EF4-FFF2-40B4-BE49-F238E27FC236}">
                      <a16:creationId xmlns:a16="http://schemas.microsoft.com/office/drawing/2014/main" id="{085A6D9D-A973-68C1-393F-691D560864A7}"/>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2" name="矩形 151">
                  <a:extLst>
                    <a:ext uri="{FF2B5EF4-FFF2-40B4-BE49-F238E27FC236}">
                      <a16:creationId xmlns:a16="http://schemas.microsoft.com/office/drawing/2014/main" id="{73AB6D31-8BA3-5BA6-313C-38C007E34F5B}"/>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48" name="群組 147">
                <a:extLst>
                  <a:ext uri="{FF2B5EF4-FFF2-40B4-BE49-F238E27FC236}">
                    <a16:creationId xmlns:a16="http://schemas.microsoft.com/office/drawing/2014/main" id="{CA711D8E-CD0D-8401-111A-76012E7D05B6}"/>
                  </a:ext>
                </a:extLst>
              </p:cNvPr>
              <p:cNvGrpSpPr/>
              <p:nvPr/>
            </p:nvGrpSpPr>
            <p:grpSpPr>
              <a:xfrm>
                <a:off x="8913394" y="4682354"/>
                <a:ext cx="382023" cy="1413646"/>
                <a:chOff x="7755536" y="4682354"/>
                <a:chExt cx="382023" cy="1413646"/>
              </a:xfrm>
            </p:grpSpPr>
            <p:sp>
              <p:nvSpPr>
                <p:cNvPr id="149" name="矩形 148">
                  <a:extLst>
                    <a:ext uri="{FF2B5EF4-FFF2-40B4-BE49-F238E27FC236}">
                      <a16:creationId xmlns:a16="http://schemas.microsoft.com/office/drawing/2014/main" id="{93BF12DF-7569-F873-F6B3-BCACD0A18F59}"/>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0" name="矩形 149">
                  <a:extLst>
                    <a:ext uri="{FF2B5EF4-FFF2-40B4-BE49-F238E27FC236}">
                      <a16:creationId xmlns:a16="http://schemas.microsoft.com/office/drawing/2014/main" id="{CAA2C9AF-A0EA-F686-A80F-4EC772570167}"/>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143" name="矩形 142">
              <a:extLst>
                <a:ext uri="{FF2B5EF4-FFF2-40B4-BE49-F238E27FC236}">
                  <a16:creationId xmlns:a16="http://schemas.microsoft.com/office/drawing/2014/main" id="{4B3B3C2A-65C3-E268-CA39-1965C1802710}"/>
                </a:ext>
              </a:extLst>
            </p:cNvPr>
            <p:cNvSpPr/>
            <p:nvPr/>
          </p:nvSpPr>
          <p:spPr>
            <a:xfrm>
              <a:off x="1560341" y="5172154"/>
              <a:ext cx="1575773" cy="262714"/>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44" name="矩形 143">
              <a:extLst>
                <a:ext uri="{FF2B5EF4-FFF2-40B4-BE49-F238E27FC236}">
                  <a16:creationId xmlns:a16="http://schemas.microsoft.com/office/drawing/2014/main" id="{25C5AD17-3311-8B5D-D685-16D48E05E88E}"/>
                </a:ext>
              </a:extLst>
            </p:cNvPr>
            <p:cNvSpPr/>
            <p:nvPr/>
          </p:nvSpPr>
          <p:spPr>
            <a:xfrm>
              <a:off x="1554254" y="5982936"/>
              <a:ext cx="1591274" cy="223412"/>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nvGrpSpPr>
          <p:cNvPr id="157" name="群組 156">
            <a:extLst>
              <a:ext uri="{FF2B5EF4-FFF2-40B4-BE49-F238E27FC236}">
                <a16:creationId xmlns:a16="http://schemas.microsoft.com/office/drawing/2014/main" id="{9CDB9CDF-965A-CBA7-3B53-C6EEDAEAB52C}"/>
              </a:ext>
            </a:extLst>
          </p:cNvPr>
          <p:cNvGrpSpPr/>
          <p:nvPr/>
        </p:nvGrpSpPr>
        <p:grpSpPr>
          <a:xfrm>
            <a:off x="7790115" y="781178"/>
            <a:ext cx="978393" cy="2670776"/>
            <a:chOff x="9494716" y="1425376"/>
            <a:chExt cx="978393" cy="2670776"/>
          </a:xfrm>
        </p:grpSpPr>
        <p:grpSp>
          <p:nvGrpSpPr>
            <p:cNvPr id="158" name="群組 157">
              <a:extLst>
                <a:ext uri="{FF2B5EF4-FFF2-40B4-BE49-F238E27FC236}">
                  <a16:creationId xmlns:a16="http://schemas.microsoft.com/office/drawing/2014/main" id="{8363A65D-550A-55A9-F178-7D16630E4C3A}"/>
                </a:ext>
              </a:extLst>
            </p:cNvPr>
            <p:cNvGrpSpPr/>
            <p:nvPr/>
          </p:nvGrpSpPr>
          <p:grpSpPr>
            <a:xfrm>
              <a:off x="9494716" y="1425376"/>
              <a:ext cx="978393" cy="2670776"/>
              <a:chOff x="9494716" y="1425376"/>
              <a:chExt cx="978393" cy="2670776"/>
            </a:xfrm>
          </p:grpSpPr>
          <p:sp>
            <p:nvSpPr>
              <p:cNvPr id="160" name="矩形 159">
                <a:extLst>
                  <a:ext uri="{FF2B5EF4-FFF2-40B4-BE49-F238E27FC236}">
                    <a16:creationId xmlns:a16="http://schemas.microsoft.com/office/drawing/2014/main" id="{054A67F6-675E-9180-9855-B16E536D5D0B}"/>
                  </a:ext>
                </a:extLst>
              </p:cNvPr>
              <p:cNvSpPr/>
              <p:nvPr/>
            </p:nvSpPr>
            <p:spPr>
              <a:xfrm>
                <a:off x="9515898" y="2480154"/>
                <a:ext cx="938615" cy="1615784"/>
              </a:xfrm>
              <a:prstGeom prst="rect">
                <a:avLst/>
              </a:prstGeom>
              <a:solidFill>
                <a:srgbClr val="ECDFF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1" name="矩形 160">
                <a:extLst>
                  <a:ext uri="{FF2B5EF4-FFF2-40B4-BE49-F238E27FC236}">
                    <a16:creationId xmlns:a16="http://schemas.microsoft.com/office/drawing/2014/main" id="{435660A2-B5F2-5912-0993-26E983D0B4CF}"/>
                  </a:ext>
                </a:extLst>
              </p:cNvPr>
              <p:cNvSpPr/>
              <p:nvPr/>
            </p:nvSpPr>
            <p:spPr>
              <a:xfrm>
                <a:off x="9527030" y="3404018"/>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62" name="矩形 161">
                <a:extLst>
                  <a:ext uri="{FF2B5EF4-FFF2-40B4-BE49-F238E27FC236}">
                    <a16:creationId xmlns:a16="http://schemas.microsoft.com/office/drawing/2014/main" id="{B4849790-133A-6858-6B8E-56A81DC322B4}"/>
                  </a:ext>
                </a:extLst>
              </p:cNvPr>
              <p:cNvSpPr/>
              <p:nvPr/>
            </p:nvSpPr>
            <p:spPr>
              <a:xfrm>
                <a:off x="9518613" y="2756692"/>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63" name="矩形 162">
                <a:extLst>
                  <a:ext uri="{FF2B5EF4-FFF2-40B4-BE49-F238E27FC236}">
                    <a16:creationId xmlns:a16="http://schemas.microsoft.com/office/drawing/2014/main" id="{8F2EFFAA-66E2-F842-1C47-48B8ED467550}"/>
                  </a:ext>
                </a:extLst>
              </p:cNvPr>
              <p:cNvSpPr/>
              <p:nvPr/>
            </p:nvSpPr>
            <p:spPr>
              <a:xfrm>
                <a:off x="9518613" y="3070938"/>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164" name="直線接點 163">
                <a:extLst>
                  <a:ext uri="{FF2B5EF4-FFF2-40B4-BE49-F238E27FC236}">
                    <a16:creationId xmlns:a16="http://schemas.microsoft.com/office/drawing/2014/main" id="{54C8C8AF-90A3-71B4-6607-09B3CABB1CDB}"/>
                  </a:ext>
                </a:extLst>
              </p:cNvPr>
              <p:cNvCxnSpPr>
                <a:cxnSpLocks/>
              </p:cNvCxnSpPr>
              <p:nvPr/>
            </p:nvCxnSpPr>
            <p:spPr>
              <a:xfrm flipH="1" flipV="1">
                <a:off x="9623221" y="1835345"/>
                <a:ext cx="33216" cy="138626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5" name="直線接點 164">
                <a:extLst>
                  <a:ext uri="{FF2B5EF4-FFF2-40B4-BE49-F238E27FC236}">
                    <a16:creationId xmlns:a16="http://schemas.microsoft.com/office/drawing/2014/main" id="{7BB7B6C9-D3EE-B149-8BE5-47A4E7338050}"/>
                  </a:ext>
                </a:extLst>
              </p:cNvPr>
              <p:cNvCxnSpPr>
                <a:cxnSpLocks/>
              </p:cNvCxnSpPr>
              <p:nvPr/>
            </p:nvCxnSpPr>
            <p:spPr>
              <a:xfrm flipH="1" flipV="1">
                <a:off x="10265739" y="1460627"/>
                <a:ext cx="58170" cy="138626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直線接點 165">
                <a:extLst>
                  <a:ext uri="{FF2B5EF4-FFF2-40B4-BE49-F238E27FC236}">
                    <a16:creationId xmlns:a16="http://schemas.microsoft.com/office/drawing/2014/main" id="{3F5AE812-8E3A-2E1E-4EDE-7682504CC807}"/>
                  </a:ext>
                </a:extLst>
              </p:cNvPr>
              <p:cNvCxnSpPr>
                <a:cxnSpLocks/>
              </p:cNvCxnSpPr>
              <p:nvPr/>
            </p:nvCxnSpPr>
            <p:spPr>
              <a:xfrm flipV="1">
                <a:off x="9622323" y="1741331"/>
                <a:ext cx="161027" cy="10739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7" name="直線接點 166">
                <a:extLst>
                  <a:ext uri="{FF2B5EF4-FFF2-40B4-BE49-F238E27FC236}">
                    <a16:creationId xmlns:a16="http://schemas.microsoft.com/office/drawing/2014/main" id="{E781812E-A0AF-D5AA-91FA-7581A2CB9F82}"/>
                  </a:ext>
                </a:extLst>
              </p:cNvPr>
              <p:cNvCxnSpPr>
                <a:cxnSpLocks/>
              </p:cNvCxnSpPr>
              <p:nvPr/>
            </p:nvCxnSpPr>
            <p:spPr>
              <a:xfrm flipH="1">
                <a:off x="10050482" y="1451767"/>
                <a:ext cx="221366" cy="1538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68" name="橢圓 167">
                <a:extLst>
                  <a:ext uri="{FF2B5EF4-FFF2-40B4-BE49-F238E27FC236}">
                    <a16:creationId xmlns:a16="http://schemas.microsoft.com/office/drawing/2014/main" id="{E0736239-E48A-0DC9-82B8-5E2AD56C98E1}"/>
                  </a:ext>
                </a:extLst>
              </p:cNvPr>
              <p:cNvSpPr/>
              <p:nvPr/>
            </p:nvSpPr>
            <p:spPr>
              <a:xfrm>
                <a:off x="9780316" y="1425376"/>
                <a:ext cx="265437" cy="477591"/>
              </a:xfrm>
              <a:prstGeom prst="ellipse">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solidFill>
                      <a:schemeClr val="tx1"/>
                    </a:solidFill>
                  </a:rPr>
                  <a:t>V</a:t>
                </a:r>
                <a:endParaRPr lang="zh-TW" altLang="en-US" b="1" dirty="0">
                  <a:solidFill>
                    <a:schemeClr val="tx1"/>
                  </a:solidFill>
                </a:endParaRPr>
              </a:p>
            </p:txBody>
          </p:sp>
          <p:cxnSp>
            <p:nvCxnSpPr>
              <p:cNvPr id="169" name="直線接點 168">
                <a:extLst>
                  <a:ext uri="{FF2B5EF4-FFF2-40B4-BE49-F238E27FC236}">
                    <a16:creationId xmlns:a16="http://schemas.microsoft.com/office/drawing/2014/main" id="{7F7D095E-85CD-7E26-EC7F-1ABADADE4AB8}"/>
                  </a:ext>
                </a:extLst>
              </p:cNvPr>
              <p:cNvCxnSpPr>
                <a:cxnSpLocks/>
              </p:cNvCxnSpPr>
              <p:nvPr/>
            </p:nvCxnSpPr>
            <p:spPr>
              <a:xfrm flipH="1" flipV="1">
                <a:off x="10025966" y="1872909"/>
                <a:ext cx="56004" cy="163966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直線接點 169">
                <a:extLst>
                  <a:ext uri="{FF2B5EF4-FFF2-40B4-BE49-F238E27FC236}">
                    <a16:creationId xmlns:a16="http://schemas.microsoft.com/office/drawing/2014/main" id="{E341BF70-40F0-B8CB-60EA-E7CFE8B7A61F}"/>
                  </a:ext>
                </a:extLst>
              </p:cNvPr>
              <p:cNvCxnSpPr>
                <a:cxnSpLocks/>
              </p:cNvCxnSpPr>
              <p:nvPr/>
            </p:nvCxnSpPr>
            <p:spPr>
              <a:xfrm flipH="1" flipV="1">
                <a:off x="9998614" y="1835343"/>
                <a:ext cx="27352" cy="1243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1" name="矩形 170">
                <a:extLst>
                  <a:ext uri="{FF2B5EF4-FFF2-40B4-BE49-F238E27FC236}">
                    <a16:creationId xmlns:a16="http://schemas.microsoft.com/office/drawing/2014/main" id="{111ED6A7-7E80-20A1-CF59-5C49C169FBC0}"/>
                  </a:ext>
                </a:extLst>
              </p:cNvPr>
              <p:cNvSpPr/>
              <p:nvPr/>
            </p:nvSpPr>
            <p:spPr>
              <a:xfrm>
                <a:off x="9510858" y="3815312"/>
                <a:ext cx="946080" cy="280840"/>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72" name="矩形 171">
                <a:extLst>
                  <a:ext uri="{FF2B5EF4-FFF2-40B4-BE49-F238E27FC236}">
                    <a16:creationId xmlns:a16="http://schemas.microsoft.com/office/drawing/2014/main" id="{9684B33B-34C7-950A-D26F-0C3E653C41D5}"/>
                  </a:ext>
                </a:extLst>
              </p:cNvPr>
              <p:cNvSpPr/>
              <p:nvPr/>
            </p:nvSpPr>
            <p:spPr>
              <a:xfrm>
                <a:off x="9494716" y="3054735"/>
                <a:ext cx="943626" cy="230646"/>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159" name="矩形 158">
              <a:extLst>
                <a:ext uri="{FF2B5EF4-FFF2-40B4-BE49-F238E27FC236}">
                  <a16:creationId xmlns:a16="http://schemas.microsoft.com/office/drawing/2014/main" id="{8185F6AD-6E95-A84F-C0DE-6B24070B7875}"/>
                </a:ext>
              </a:extLst>
            </p:cNvPr>
            <p:cNvSpPr/>
            <p:nvPr/>
          </p:nvSpPr>
          <p:spPr>
            <a:xfrm>
              <a:off x="9513459" y="3054364"/>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spTree>
    <p:extLst>
      <p:ext uri="{BB962C8B-B14F-4D97-AF65-F5344CB8AC3E}">
        <p14:creationId xmlns:p14="http://schemas.microsoft.com/office/powerpoint/2010/main" val="19443614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Objective</a:t>
            </a:r>
            <a:endParaRPr lang="zh-TW" altLang="en-US" b="1"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0039351" y="6356352"/>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9</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grpSp>
        <p:nvGrpSpPr>
          <p:cNvPr id="86" name="群組 85">
            <a:extLst>
              <a:ext uri="{FF2B5EF4-FFF2-40B4-BE49-F238E27FC236}">
                <a16:creationId xmlns:a16="http://schemas.microsoft.com/office/drawing/2014/main" id="{A40FBE4A-7A06-038D-356F-E691893841AA}"/>
              </a:ext>
            </a:extLst>
          </p:cNvPr>
          <p:cNvGrpSpPr/>
          <p:nvPr/>
        </p:nvGrpSpPr>
        <p:grpSpPr>
          <a:xfrm>
            <a:off x="865318" y="4706428"/>
            <a:ext cx="1755678" cy="736664"/>
            <a:chOff x="1748077" y="3079921"/>
            <a:chExt cx="1755678" cy="736664"/>
          </a:xfrm>
        </p:grpSpPr>
        <p:sp>
          <p:nvSpPr>
            <p:cNvPr id="78" name="左大括弧 77">
              <a:extLst>
                <a:ext uri="{FF2B5EF4-FFF2-40B4-BE49-F238E27FC236}">
                  <a16:creationId xmlns:a16="http://schemas.microsoft.com/office/drawing/2014/main" id="{D27E4118-1092-E5DE-ED03-3AE49E207554}"/>
                </a:ext>
              </a:extLst>
            </p:cNvPr>
            <p:cNvSpPr/>
            <p:nvPr/>
          </p:nvSpPr>
          <p:spPr>
            <a:xfrm rot="16200000">
              <a:off x="2339692" y="2488306"/>
              <a:ext cx="401957" cy="1585187"/>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sp>
          <p:nvSpPr>
            <p:cNvPr id="82" name="文字方塊 81">
              <a:extLst>
                <a:ext uri="{FF2B5EF4-FFF2-40B4-BE49-F238E27FC236}">
                  <a16:creationId xmlns:a16="http://schemas.microsoft.com/office/drawing/2014/main" id="{A3208C3D-0083-985B-A04E-E72C42B0DA7F}"/>
                </a:ext>
              </a:extLst>
            </p:cNvPr>
            <p:cNvSpPr txBox="1"/>
            <p:nvPr/>
          </p:nvSpPr>
          <p:spPr>
            <a:xfrm>
              <a:off x="2112027" y="3447253"/>
              <a:ext cx="1391728" cy="369332"/>
            </a:xfrm>
            <a:prstGeom prst="rect">
              <a:avLst/>
            </a:prstGeom>
            <a:noFill/>
          </p:spPr>
          <p:txBody>
            <a:bodyPr wrap="none" rtlCol="0">
              <a:spAutoFit/>
            </a:bodyPr>
            <a:lstStyle/>
            <a:p>
              <a:r>
                <a:rPr lang="en-US" altLang="zh-TW" dirty="0"/>
                <a:t>SPDC</a:t>
              </a:r>
              <a:r>
                <a:rPr lang="en-US" altLang="zh-TW" baseline="-25000" dirty="0"/>
                <a:t>type0(1cm)</a:t>
              </a:r>
              <a:endParaRPr lang="zh-TW" altLang="en-US" baseline="-25000" dirty="0"/>
            </a:p>
          </p:txBody>
        </p:sp>
      </p:grpSp>
      <p:grpSp>
        <p:nvGrpSpPr>
          <p:cNvPr id="88" name="群組 87">
            <a:extLst>
              <a:ext uri="{FF2B5EF4-FFF2-40B4-BE49-F238E27FC236}">
                <a16:creationId xmlns:a16="http://schemas.microsoft.com/office/drawing/2014/main" id="{0ECC9EF4-A7FF-821C-B73C-4E878D54F6F0}"/>
              </a:ext>
            </a:extLst>
          </p:cNvPr>
          <p:cNvGrpSpPr/>
          <p:nvPr/>
        </p:nvGrpSpPr>
        <p:grpSpPr>
          <a:xfrm>
            <a:off x="6122109" y="4669063"/>
            <a:ext cx="1662005" cy="774029"/>
            <a:chOff x="4953259" y="3078852"/>
            <a:chExt cx="1662005" cy="774029"/>
          </a:xfrm>
        </p:grpSpPr>
        <p:sp>
          <p:nvSpPr>
            <p:cNvPr id="79" name="左大括弧 78">
              <a:extLst>
                <a:ext uri="{FF2B5EF4-FFF2-40B4-BE49-F238E27FC236}">
                  <a16:creationId xmlns:a16="http://schemas.microsoft.com/office/drawing/2014/main" id="{BEA997C8-D4DA-249F-EA1E-454710297D9A}"/>
                </a:ext>
              </a:extLst>
            </p:cNvPr>
            <p:cNvSpPr/>
            <p:nvPr/>
          </p:nvSpPr>
          <p:spPr>
            <a:xfrm rot="16200000">
              <a:off x="5544874" y="2487237"/>
              <a:ext cx="401957" cy="1585187"/>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sp>
          <p:nvSpPr>
            <p:cNvPr id="83" name="文字方塊 82">
              <a:extLst>
                <a:ext uri="{FF2B5EF4-FFF2-40B4-BE49-F238E27FC236}">
                  <a16:creationId xmlns:a16="http://schemas.microsoft.com/office/drawing/2014/main" id="{C573487F-E807-CC92-83FA-D44175482790}"/>
                </a:ext>
              </a:extLst>
            </p:cNvPr>
            <p:cNvSpPr txBox="1"/>
            <p:nvPr/>
          </p:nvSpPr>
          <p:spPr>
            <a:xfrm>
              <a:off x="5223536" y="3483549"/>
              <a:ext cx="1391728" cy="369332"/>
            </a:xfrm>
            <a:prstGeom prst="rect">
              <a:avLst/>
            </a:prstGeom>
            <a:noFill/>
          </p:spPr>
          <p:txBody>
            <a:bodyPr wrap="none" rtlCol="0">
              <a:spAutoFit/>
            </a:bodyPr>
            <a:lstStyle/>
            <a:p>
              <a:r>
                <a:rPr lang="en-US" altLang="zh-TW" dirty="0"/>
                <a:t>SPDC</a:t>
              </a:r>
              <a:r>
                <a:rPr lang="en-US" altLang="zh-TW" baseline="-25000" dirty="0"/>
                <a:t>type0(1cm)</a:t>
              </a:r>
              <a:endParaRPr lang="zh-TW" altLang="en-US" baseline="-25000" dirty="0"/>
            </a:p>
          </p:txBody>
        </p:sp>
      </p:grpSp>
      <p:grpSp>
        <p:nvGrpSpPr>
          <p:cNvPr id="87" name="群組 86">
            <a:extLst>
              <a:ext uri="{FF2B5EF4-FFF2-40B4-BE49-F238E27FC236}">
                <a16:creationId xmlns:a16="http://schemas.microsoft.com/office/drawing/2014/main" id="{0E57B996-5BB3-8C7B-74F0-22F70682F9AA}"/>
              </a:ext>
            </a:extLst>
          </p:cNvPr>
          <p:cNvGrpSpPr/>
          <p:nvPr/>
        </p:nvGrpSpPr>
        <p:grpSpPr>
          <a:xfrm>
            <a:off x="3331499" y="4690318"/>
            <a:ext cx="1841776" cy="752774"/>
            <a:chOff x="3356689" y="3057825"/>
            <a:chExt cx="1841776" cy="752774"/>
          </a:xfrm>
        </p:grpSpPr>
        <p:sp>
          <p:nvSpPr>
            <p:cNvPr id="80" name="左大括弧 79">
              <a:extLst>
                <a:ext uri="{FF2B5EF4-FFF2-40B4-BE49-F238E27FC236}">
                  <a16:creationId xmlns:a16="http://schemas.microsoft.com/office/drawing/2014/main" id="{1EC118FD-A6E9-3EAD-80CB-2FC1DAE30826}"/>
                </a:ext>
              </a:extLst>
            </p:cNvPr>
            <p:cNvSpPr/>
            <p:nvPr/>
          </p:nvSpPr>
          <p:spPr>
            <a:xfrm rot="16200000">
              <a:off x="3948304" y="2466210"/>
              <a:ext cx="401957" cy="1585187"/>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sp>
          <p:nvSpPr>
            <p:cNvPr id="84" name="文字方塊 83">
              <a:extLst>
                <a:ext uri="{FF2B5EF4-FFF2-40B4-BE49-F238E27FC236}">
                  <a16:creationId xmlns:a16="http://schemas.microsoft.com/office/drawing/2014/main" id="{FA292BB0-11E1-EDBA-C905-23E6DE1C367B}"/>
                </a:ext>
              </a:extLst>
            </p:cNvPr>
            <p:cNvSpPr txBox="1"/>
            <p:nvPr/>
          </p:nvSpPr>
          <p:spPr>
            <a:xfrm>
              <a:off x="3603541" y="3441267"/>
              <a:ext cx="1594924" cy="369332"/>
            </a:xfrm>
            <a:prstGeom prst="rect">
              <a:avLst/>
            </a:prstGeom>
            <a:noFill/>
          </p:spPr>
          <p:txBody>
            <a:bodyPr wrap="none" rtlCol="0">
              <a:spAutoFit/>
            </a:bodyPr>
            <a:lstStyle/>
            <a:p>
              <a:r>
                <a:rPr lang="en-US" altLang="zh-TW" dirty="0" err="1"/>
                <a:t>EOPMC</a:t>
              </a:r>
              <a:r>
                <a:rPr lang="en-US" altLang="zh-TW" baseline="-25000" dirty="0" err="1"/>
                <a:t>appln</a:t>
              </a:r>
              <a:r>
                <a:rPr lang="en-US" altLang="zh-TW" baseline="-25000" dirty="0"/>
                <a:t>(1cm)</a:t>
              </a:r>
              <a:endParaRPr lang="zh-TW" altLang="en-US" baseline="-25000" dirty="0"/>
            </a:p>
          </p:txBody>
        </p:sp>
      </p:grpSp>
      <p:grpSp>
        <p:nvGrpSpPr>
          <p:cNvPr id="89" name="群組 88">
            <a:extLst>
              <a:ext uri="{FF2B5EF4-FFF2-40B4-BE49-F238E27FC236}">
                <a16:creationId xmlns:a16="http://schemas.microsoft.com/office/drawing/2014/main" id="{347010C7-22E3-62D1-1E78-04F47A644FA1}"/>
              </a:ext>
            </a:extLst>
          </p:cNvPr>
          <p:cNvGrpSpPr/>
          <p:nvPr/>
        </p:nvGrpSpPr>
        <p:grpSpPr>
          <a:xfrm>
            <a:off x="9482919" y="4692373"/>
            <a:ext cx="1188945" cy="750719"/>
            <a:chOff x="6543044" y="3099422"/>
            <a:chExt cx="1188945" cy="750719"/>
          </a:xfrm>
        </p:grpSpPr>
        <p:sp>
          <p:nvSpPr>
            <p:cNvPr id="81" name="左大括弧 80">
              <a:extLst>
                <a:ext uri="{FF2B5EF4-FFF2-40B4-BE49-F238E27FC236}">
                  <a16:creationId xmlns:a16="http://schemas.microsoft.com/office/drawing/2014/main" id="{A585A748-0A25-04DE-714B-616326F359B2}"/>
                </a:ext>
              </a:extLst>
            </p:cNvPr>
            <p:cNvSpPr/>
            <p:nvPr/>
          </p:nvSpPr>
          <p:spPr>
            <a:xfrm rot="16200000">
              <a:off x="6811373" y="2831093"/>
              <a:ext cx="401957" cy="938615"/>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sp>
          <p:nvSpPr>
            <p:cNvPr id="85" name="文字方塊 84">
              <a:extLst>
                <a:ext uri="{FF2B5EF4-FFF2-40B4-BE49-F238E27FC236}">
                  <a16:creationId xmlns:a16="http://schemas.microsoft.com/office/drawing/2014/main" id="{A212DB4A-29DD-3FB8-91F1-E3ECB9352948}"/>
                </a:ext>
              </a:extLst>
            </p:cNvPr>
            <p:cNvSpPr txBox="1"/>
            <p:nvPr/>
          </p:nvSpPr>
          <p:spPr>
            <a:xfrm>
              <a:off x="6808723" y="3480809"/>
              <a:ext cx="923266" cy="369332"/>
            </a:xfrm>
            <a:prstGeom prst="rect">
              <a:avLst/>
            </a:prstGeom>
            <a:noFill/>
          </p:spPr>
          <p:txBody>
            <a:bodyPr wrap="none" rtlCol="0">
              <a:spAutoFit/>
            </a:bodyPr>
            <a:lstStyle/>
            <a:p>
              <a:r>
                <a:rPr lang="en-US" altLang="zh-TW" dirty="0"/>
                <a:t>EO</a:t>
              </a:r>
              <a:r>
                <a:rPr lang="en-US" altLang="zh-TW" baseline="-25000" dirty="0"/>
                <a:t>(0.6cm)</a:t>
              </a:r>
              <a:endParaRPr lang="zh-TW" altLang="en-US" baseline="-25000" dirty="0"/>
            </a:p>
          </p:txBody>
        </p:sp>
      </p:grpSp>
      <p:grpSp>
        <p:nvGrpSpPr>
          <p:cNvPr id="187" name="群組 186">
            <a:extLst>
              <a:ext uri="{FF2B5EF4-FFF2-40B4-BE49-F238E27FC236}">
                <a16:creationId xmlns:a16="http://schemas.microsoft.com/office/drawing/2014/main" id="{643C5346-3317-062F-DF84-0F382BC0F762}"/>
              </a:ext>
            </a:extLst>
          </p:cNvPr>
          <p:cNvGrpSpPr/>
          <p:nvPr/>
        </p:nvGrpSpPr>
        <p:grpSpPr>
          <a:xfrm>
            <a:off x="853028" y="3089993"/>
            <a:ext cx="1597732" cy="1615784"/>
            <a:chOff x="1547796" y="4590564"/>
            <a:chExt cx="1597732" cy="1615784"/>
          </a:xfrm>
        </p:grpSpPr>
        <p:grpSp>
          <p:nvGrpSpPr>
            <p:cNvPr id="6" name="群組 5">
              <a:extLst>
                <a:ext uri="{FF2B5EF4-FFF2-40B4-BE49-F238E27FC236}">
                  <a16:creationId xmlns:a16="http://schemas.microsoft.com/office/drawing/2014/main" id="{D20ED634-A613-01A6-71CF-5FF0C56811B3}"/>
                </a:ext>
              </a:extLst>
            </p:cNvPr>
            <p:cNvGrpSpPr/>
            <p:nvPr/>
          </p:nvGrpSpPr>
          <p:grpSpPr>
            <a:xfrm>
              <a:off x="1547796" y="4590564"/>
              <a:ext cx="1597732" cy="1615784"/>
              <a:chOff x="7755536" y="4682354"/>
              <a:chExt cx="1539881" cy="1413646"/>
            </a:xfrm>
          </p:grpSpPr>
          <p:grpSp>
            <p:nvGrpSpPr>
              <p:cNvPr id="75" name="群組 74">
                <a:extLst>
                  <a:ext uri="{FF2B5EF4-FFF2-40B4-BE49-F238E27FC236}">
                    <a16:creationId xmlns:a16="http://schemas.microsoft.com/office/drawing/2014/main" id="{4C9670E7-88D1-9077-32E5-2F916CB65BD6}"/>
                  </a:ext>
                </a:extLst>
              </p:cNvPr>
              <p:cNvGrpSpPr/>
              <p:nvPr/>
            </p:nvGrpSpPr>
            <p:grpSpPr>
              <a:xfrm>
                <a:off x="7755536" y="4682354"/>
                <a:ext cx="382023" cy="1413646"/>
                <a:chOff x="7755536" y="4682354"/>
                <a:chExt cx="382023" cy="1413646"/>
              </a:xfrm>
            </p:grpSpPr>
            <p:sp>
              <p:nvSpPr>
                <p:cNvPr id="98" name="矩形 97">
                  <a:extLst>
                    <a:ext uri="{FF2B5EF4-FFF2-40B4-BE49-F238E27FC236}">
                      <a16:creationId xmlns:a16="http://schemas.microsoft.com/office/drawing/2014/main" id="{D4714103-9281-C4A3-C7EC-0DB8E8A67DCE}"/>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9" name="矩形 98">
                  <a:extLst>
                    <a:ext uri="{FF2B5EF4-FFF2-40B4-BE49-F238E27FC236}">
                      <a16:creationId xmlns:a16="http://schemas.microsoft.com/office/drawing/2014/main" id="{FC4D2F9A-C88B-4525-8396-2FC97F770CE7}"/>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76" name="群組 75">
                <a:extLst>
                  <a:ext uri="{FF2B5EF4-FFF2-40B4-BE49-F238E27FC236}">
                    <a16:creationId xmlns:a16="http://schemas.microsoft.com/office/drawing/2014/main" id="{9A14E843-2DE4-0EB8-D374-E3F247BB2DCF}"/>
                  </a:ext>
                </a:extLst>
              </p:cNvPr>
              <p:cNvGrpSpPr/>
              <p:nvPr/>
            </p:nvGrpSpPr>
            <p:grpSpPr>
              <a:xfrm>
                <a:off x="8136791" y="4682354"/>
                <a:ext cx="382023" cy="1413646"/>
                <a:chOff x="7755536" y="4682354"/>
                <a:chExt cx="382023" cy="1413646"/>
              </a:xfrm>
            </p:grpSpPr>
            <p:sp>
              <p:nvSpPr>
                <p:cNvPr id="96" name="矩形 95">
                  <a:extLst>
                    <a:ext uri="{FF2B5EF4-FFF2-40B4-BE49-F238E27FC236}">
                      <a16:creationId xmlns:a16="http://schemas.microsoft.com/office/drawing/2014/main" id="{5E1578CD-C5A7-F61E-F9F1-382870E0FE40}"/>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7" name="矩形 96">
                  <a:extLst>
                    <a:ext uri="{FF2B5EF4-FFF2-40B4-BE49-F238E27FC236}">
                      <a16:creationId xmlns:a16="http://schemas.microsoft.com/office/drawing/2014/main" id="{4CA60876-376E-81D1-AAEA-3CA13E2F961A}"/>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90" name="群組 89">
                <a:extLst>
                  <a:ext uri="{FF2B5EF4-FFF2-40B4-BE49-F238E27FC236}">
                    <a16:creationId xmlns:a16="http://schemas.microsoft.com/office/drawing/2014/main" id="{3DB5E330-CB58-A26E-2E7E-CD90AE737277}"/>
                  </a:ext>
                </a:extLst>
              </p:cNvPr>
              <p:cNvGrpSpPr/>
              <p:nvPr/>
            </p:nvGrpSpPr>
            <p:grpSpPr>
              <a:xfrm>
                <a:off x="8529017" y="4682354"/>
                <a:ext cx="382023" cy="1413646"/>
                <a:chOff x="7755536" y="4682354"/>
                <a:chExt cx="382023" cy="1413646"/>
              </a:xfrm>
            </p:grpSpPr>
            <p:sp>
              <p:nvSpPr>
                <p:cNvPr id="94" name="矩形 93">
                  <a:extLst>
                    <a:ext uri="{FF2B5EF4-FFF2-40B4-BE49-F238E27FC236}">
                      <a16:creationId xmlns:a16="http://schemas.microsoft.com/office/drawing/2014/main" id="{B5F65E98-E9A7-2825-FA77-D4ACF3B8C467}"/>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5" name="矩形 94">
                  <a:extLst>
                    <a:ext uri="{FF2B5EF4-FFF2-40B4-BE49-F238E27FC236}">
                      <a16:creationId xmlns:a16="http://schemas.microsoft.com/office/drawing/2014/main" id="{87542D68-2A60-1ED7-7BA1-26A60BEF53F9}"/>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91" name="群組 90">
                <a:extLst>
                  <a:ext uri="{FF2B5EF4-FFF2-40B4-BE49-F238E27FC236}">
                    <a16:creationId xmlns:a16="http://schemas.microsoft.com/office/drawing/2014/main" id="{88F7A957-93F0-20FC-0CC2-F1D6F36ACB45}"/>
                  </a:ext>
                </a:extLst>
              </p:cNvPr>
              <p:cNvGrpSpPr/>
              <p:nvPr/>
            </p:nvGrpSpPr>
            <p:grpSpPr>
              <a:xfrm>
                <a:off x="8913394" y="4682354"/>
                <a:ext cx="382023" cy="1413646"/>
                <a:chOff x="7755536" y="4682354"/>
                <a:chExt cx="382023" cy="1413646"/>
              </a:xfrm>
            </p:grpSpPr>
            <p:sp>
              <p:nvSpPr>
                <p:cNvPr id="92" name="矩形 91">
                  <a:extLst>
                    <a:ext uri="{FF2B5EF4-FFF2-40B4-BE49-F238E27FC236}">
                      <a16:creationId xmlns:a16="http://schemas.microsoft.com/office/drawing/2014/main" id="{2E64A673-DC07-3D3E-AE38-E98B349A23B9}"/>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3" name="矩形 92">
                  <a:extLst>
                    <a:ext uri="{FF2B5EF4-FFF2-40B4-BE49-F238E27FC236}">
                      <a16:creationId xmlns:a16="http://schemas.microsoft.com/office/drawing/2014/main" id="{FE97A7C1-3165-1389-1143-F0CC799D012E}"/>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100" name="矩形 99">
              <a:extLst>
                <a:ext uri="{FF2B5EF4-FFF2-40B4-BE49-F238E27FC236}">
                  <a16:creationId xmlns:a16="http://schemas.microsoft.com/office/drawing/2014/main" id="{BD7CF3CE-D650-3CFD-83E5-03700D0E467F}"/>
                </a:ext>
              </a:extLst>
            </p:cNvPr>
            <p:cNvSpPr/>
            <p:nvPr/>
          </p:nvSpPr>
          <p:spPr>
            <a:xfrm>
              <a:off x="1560341" y="5172154"/>
              <a:ext cx="1575773" cy="262714"/>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86" name="矩形 185">
              <a:extLst>
                <a:ext uri="{FF2B5EF4-FFF2-40B4-BE49-F238E27FC236}">
                  <a16:creationId xmlns:a16="http://schemas.microsoft.com/office/drawing/2014/main" id="{D97C8FBE-0158-A447-B443-16A016E07D72}"/>
                </a:ext>
              </a:extLst>
            </p:cNvPr>
            <p:cNvSpPr/>
            <p:nvPr/>
          </p:nvSpPr>
          <p:spPr>
            <a:xfrm>
              <a:off x="1554254" y="5982936"/>
              <a:ext cx="1591274" cy="223412"/>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193" name="箭號: 向右 192">
            <a:extLst>
              <a:ext uri="{FF2B5EF4-FFF2-40B4-BE49-F238E27FC236}">
                <a16:creationId xmlns:a16="http://schemas.microsoft.com/office/drawing/2014/main" id="{22CEFEFD-2292-4A69-0F5B-E509624EC2B4}"/>
              </a:ext>
            </a:extLst>
          </p:cNvPr>
          <p:cNvSpPr/>
          <p:nvPr/>
        </p:nvSpPr>
        <p:spPr>
          <a:xfrm>
            <a:off x="88860" y="3697690"/>
            <a:ext cx="750491" cy="275824"/>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4" name="文字方塊 193">
            <a:extLst>
              <a:ext uri="{FF2B5EF4-FFF2-40B4-BE49-F238E27FC236}">
                <a16:creationId xmlns:a16="http://schemas.microsoft.com/office/drawing/2014/main" id="{D3C38CEB-DC6A-271E-A15D-F63AAB9E194F}"/>
              </a:ext>
            </a:extLst>
          </p:cNvPr>
          <p:cNvSpPr txBox="1"/>
          <p:nvPr/>
        </p:nvSpPr>
        <p:spPr>
          <a:xfrm>
            <a:off x="108731" y="3456729"/>
            <a:ext cx="618015" cy="307777"/>
          </a:xfrm>
          <a:prstGeom prst="rect">
            <a:avLst/>
          </a:prstGeom>
          <a:noFill/>
        </p:spPr>
        <p:txBody>
          <a:bodyPr wrap="square" rtlCol="0">
            <a:spAutoFit/>
          </a:bodyPr>
          <a:lstStyle/>
          <a:p>
            <a:r>
              <a:rPr lang="en-US" altLang="zh-TW" sz="1400" dirty="0"/>
              <a:t>Pump </a:t>
            </a:r>
            <a:endParaRPr lang="zh-TW" altLang="en-US" sz="1400" dirty="0"/>
          </a:p>
        </p:txBody>
      </p:sp>
      <p:grpSp>
        <p:nvGrpSpPr>
          <p:cNvPr id="235" name="群組 234">
            <a:extLst>
              <a:ext uri="{FF2B5EF4-FFF2-40B4-BE49-F238E27FC236}">
                <a16:creationId xmlns:a16="http://schemas.microsoft.com/office/drawing/2014/main" id="{58001093-5102-6A53-675E-2D0DC04C8F0C}"/>
              </a:ext>
            </a:extLst>
          </p:cNvPr>
          <p:cNvGrpSpPr/>
          <p:nvPr/>
        </p:nvGrpSpPr>
        <p:grpSpPr>
          <a:xfrm>
            <a:off x="3332816" y="2371963"/>
            <a:ext cx="1598437" cy="2314555"/>
            <a:chOff x="8442672" y="1013979"/>
            <a:chExt cx="1598437" cy="2314555"/>
          </a:xfrm>
        </p:grpSpPr>
        <p:grpSp>
          <p:nvGrpSpPr>
            <p:cNvPr id="236" name="群組 235">
              <a:extLst>
                <a:ext uri="{FF2B5EF4-FFF2-40B4-BE49-F238E27FC236}">
                  <a16:creationId xmlns:a16="http://schemas.microsoft.com/office/drawing/2014/main" id="{ED13C53B-29D8-7150-9BDE-8D6B369990FC}"/>
                </a:ext>
              </a:extLst>
            </p:cNvPr>
            <p:cNvGrpSpPr/>
            <p:nvPr/>
          </p:nvGrpSpPr>
          <p:grpSpPr>
            <a:xfrm>
              <a:off x="8442672" y="1013979"/>
              <a:ext cx="1598437" cy="2314554"/>
              <a:chOff x="8442672" y="1013979"/>
              <a:chExt cx="1598437" cy="2314554"/>
            </a:xfrm>
          </p:grpSpPr>
          <p:grpSp>
            <p:nvGrpSpPr>
              <p:cNvPr id="239" name="群組 238">
                <a:extLst>
                  <a:ext uri="{FF2B5EF4-FFF2-40B4-BE49-F238E27FC236}">
                    <a16:creationId xmlns:a16="http://schemas.microsoft.com/office/drawing/2014/main" id="{54406BB5-B5EE-9D1D-1E52-56602CF614B1}"/>
                  </a:ext>
                </a:extLst>
              </p:cNvPr>
              <p:cNvGrpSpPr/>
              <p:nvPr/>
            </p:nvGrpSpPr>
            <p:grpSpPr>
              <a:xfrm>
                <a:off x="8443377" y="1712749"/>
                <a:ext cx="1597732" cy="1615784"/>
                <a:chOff x="3923113" y="2277371"/>
                <a:chExt cx="1539881" cy="1413646"/>
              </a:xfrm>
            </p:grpSpPr>
            <p:grpSp>
              <p:nvGrpSpPr>
                <p:cNvPr id="294" name="群組 293">
                  <a:extLst>
                    <a:ext uri="{FF2B5EF4-FFF2-40B4-BE49-F238E27FC236}">
                      <a16:creationId xmlns:a16="http://schemas.microsoft.com/office/drawing/2014/main" id="{FC0FAA66-FEDD-AF3A-1C1C-0590DD2634A3}"/>
                    </a:ext>
                  </a:extLst>
                </p:cNvPr>
                <p:cNvGrpSpPr/>
                <p:nvPr/>
              </p:nvGrpSpPr>
              <p:grpSpPr>
                <a:xfrm>
                  <a:off x="3923113" y="2277371"/>
                  <a:ext cx="382023" cy="1413646"/>
                  <a:chOff x="7755536" y="4682354"/>
                  <a:chExt cx="382023" cy="1413646"/>
                </a:xfrm>
                <a:solidFill>
                  <a:schemeClr val="accent6">
                    <a:lumMod val="60000"/>
                    <a:lumOff val="40000"/>
                  </a:schemeClr>
                </a:solidFill>
              </p:grpSpPr>
              <p:sp>
                <p:nvSpPr>
                  <p:cNvPr id="304" name="矩形 303">
                    <a:extLst>
                      <a:ext uri="{FF2B5EF4-FFF2-40B4-BE49-F238E27FC236}">
                        <a16:creationId xmlns:a16="http://schemas.microsoft.com/office/drawing/2014/main" id="{D25B2392-EC46-7D58-6D5D-127B0E38A5A8}"/>
                      </a:ext>
                    </a:extLst>
                  </p:cNvPr>
                  <p:cNvSpPr/>
                  <p:nvPr/>
                </p:nvSpPr>
                <p:spPr>
                  <a:xfrm>
                    <a:off x="7755536"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5" name="矩形 304">
                    <a:extLst>
                      <a:ext uri="{FF2B5EF4-FFF2-40B4-BE49-F238E27FC236}">
                        <a16:creationId xmlns:a16="http://schemas.microsoft.com/office/drawing/2014/main" id="{C9E553EF-221A-3321-FC87-F4112418CEC7}"/>
                      </a:ext>
                    </a:extLst>
                  </p:cNvPr>
                  <p:cNvSpPr/>
                  <p:nvPr/>
                </p:nvSpPr>
                <p:spPr>
                  <a:xfrm>
                    <a:off x="7946547"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295" name="群組 294">
                  <a:extLst>
                    <a:ext uri="{FF2B5EF4-FFF2-40B4-BE49-F238E27FC236}">
                      <a16:creationId xmlns:a16="http://schemas.microsoft.com/office/drawing/2014/main" id="{68BE1CC3-B3EB-E89D-59AE-85E5B9A7723B}"/>
                    </a:ext>
                  </a:extLst>
                </p:cNvPr>
                <p:cNvGrpSpPr/>
                <p:nvPr/>
              </p:nvGrpSpPr>
              <p:grpSpPr>
                <a:xfrm>
                  <a:off x="4304368" y="2277371"/>
                  <a:ext cx="382023" cy="1413646"/>
                  <a:chOff x="7755536" y="4682354"/>
                  <a:chExt cx="382023" cy="1413646"/>
                </a:xfrm>
                <a:solidFill>
                  <a:schemeClr val="accent6">
                    <a:lumMod val="20000"/>
                    <a:lumOff val="80000"/>
                  </a:schemeClr>
                </a:solidFill>
              </p:grpSpPr>
              <p:sp>
                <p:nvSpPr>
                  <p:cNvPr id="302" name="矩形 301">
                    <a:extLst>
                      <a:ext uri="{FF2B5EF4-FFF2-40B4-BE49-F238E27FC236}">
                        <a16:creationId xmlns:a16="http://schemas.microsoft.com/office/drawing/2014/main" id="{1F74DE05-CD51-BA35-8858-BF9941D24233}"/>
                      </a:ext>
                    </a:extLst>
                  </p:cNvPr>
                  <p:cNvSpPr/>
                  <p:nvPr/>
                </p:nvSpPr>
                <p:spPr>
                  <a:xfrm>
                    <a:off x="7755536"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3" name="矩形 302">
                    <a:extLst>
                      <a:ext uri="{FF2B5EF4-FFF2-40B4-BE49-F238E27FC236}">
                        <a16:creationId xmlns:a16="http://schemas.microsoft.com/office/drawing/2014/main" id="{64EC3D46-E4B0-3E4A-EFA0-906C6C194617}"/>
                      </a:ext>
                    </a:extLst>
                  </p:cNvPr>
                  <p:cNvSpPr/>
                  <p:nvPr/>
                </p:nvSpPr>
                <p:spPr>
                  <a:xfrm>
                    <a:off x="7946547"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296" name="群組 295">
                  <a:extLst>
                    <a:ext uri="{FF2B5EF4-FFF2-40B4-BE49-F238E27FC236}">
                      <a16:creationId xmlns:a16="http://schemas.microsoft.com/office/drawing/2014/main" id="{D7592430-200D-A221-9627-B75263B46D65}"/>
                    </a:ext>
                  </a:extLst>
                </p:cNvPr>
                <p:cNvGrpSpPr/>
                <p:nvPr/>
              </p:nvGrpSpPr>
              <p:grpSpPr>
                <a:xfrm>
                  <a:off x="4696594" y="2277371"/>
                  <a:ext cx="382023" cy="1413646"/>
                  <a:chOff x="7755536" y="4682354"/>
                  <a:chExt cx="382023" cy="1413646"/>
                </a:xfrm>
              </p:grpSpPr>
              <p:sp>
                <p:nvSpPr>
                  <p:cNvPr id="300" name="矩形 299">
                    <a:extLst>
                      <a:ext uri="{FF2B5EF4-FFF2-40B4-BE49-F238E27FC236}">
                        <a16:creationId xmlns:a16="http://schemas.microsoft.com/office/drawing/2014/main" id="{9276A22F-19C3-09A0-6805-C45AE53D3A12}"/>
                      </a:ext>
                    </a:extLst>
                  </p:cNvPr>
                  <p:cNvSpPr/>
                  <p:nvPr/>
                </p:nvSpPr>
                <p:spPr>
                  <a:xfrm>
                    <a:off x="7755536" y="4682354"/>
                    <a:ext cx="191012" cy="1413646"/>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1" name="矩形 300">
                    <a:extLst>
                      <a:ext uri="{FF2B5EF4-FFF2-40B4-BE49-F238E27FC236}">
                        <a16:creationId xmlns:a16="http://schemas.microsoft.com/office/drawing/2014/main" id="{F197B09E-B457-0128-F12C-50F863019BA6}"/>
                      </a:ext>
                    </a:extLst>
                  </p:cNvPr>
                  <p:cNvSpPr/>
                  <p:nvPr/>
                </p:nvSpPr>
                <p:spPr>
                  <a:xfrm>
                    <a:off x="7946547" y="4682354"/>
                    <a:ext cx="191012" cy="141364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297" name="群組 296">
                  <a:extLst>
                    <a:ext uri="{FF2B5EF4-FFF2-40B4-BE49-F238E27FC236}">
                      <a16:creationId xmlns:a16="http://schemas.microsoft.com/office/drawing/2014/main" id="{1C02879F-40B5-93FC-BC56-77C9625F08E6}"/>
                    </a:ext>
                  </a:extLst>
                </p:cNvPr>
                <p:cNvGrpSpPr/>
                <p:nvPr/>
              </p:nvGrpSpPr>
              <p:grpSpPr>
                <a:xfrm>
                  <a:off x="5080971" y="2277371"/>
                  <a:ext cx="382023" cy="1413646"/>
                  <a:chOff x="7755536" y="4682354"/>
                  <a:chExt cx="382023" cy="1413646"/>
                </a:xfrm>
              </p:grpSpPr>
              <p:sp>
                <p:nvSpPr>
                  <p:cNvPr id="298" name="矩形 297">
                    <a:extLst>
                      <a:ext uri="{FF2B5EF4-FFF2-40B4-BE49-F238E27FC236}">
                        <a16:creationId xmlns:a16="http://schemas.microsoft.com/office/drawing/2014/main" id="{C14D46E3-39D2-50C7-9C73-85D52C515073}"/>
                      </a:ext>
                    </a:extLst>
                  </p:cNvPr>
                  <p:cNvSpPr/>
                  <p:nvPr/>
                </p:nvSpPr>
                <p:spPr>
                  <a:xfrm>
                    <a:off x="7755536" y="4682354"/>
                    <a:ext cx="191012" cy="141364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99" name="矩形 298">
                    <a:extLst>
                      <a:ext uri="{FF2B5EF4-FFF2-40B4-BE49-F238E27FC236}">
                        <a16:creationId xmlns:a16="http://schemas.microsoft.com/office/drawing/2014/main" id="{170A57E1-6B85-A008-45FA-C9DDC726B6EE}"/>
                      </a:ext>
                    </a:extLst>
                  </p:cNvPr>
                  <p:cNvSpPr/>
                  <p:nvPr/>
                </p:nvSpPr>
                <p:spPr>
                  <a:xfrm>
                    <a:off x="7946547" y="4682354"/>
                    <a:ext cx="191012" cy="1413646"/>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241" name="矩形 240">
                <a:extLst>
                  <a:ext uri="{FF2B5EF4-FFF2-40B4-BE49-F238E27FC236}">
                    <a16:creationId xmlns:a16="http://schemas.microsoft.com/office/drawing/2014/main" id="{D73A12A9-3B52-2037-2B74-86FD8705A04F}"/>
                  </a:ext>
                </a:extLst>
              </p:cNvPr>
              <p:cNvSpPr/>
              <p:nvPr/>
            </p:nvSpPr>
            <p:spPr>
              <a:xfrm>
                <a:off x="8453352" y="1984590"/>
                <a:ext cx="1585315"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46" name="矩形 245">
                <a:extLst>
                  <a:ext uri="{FF2B5EF4-FFF2-40B4-BE49-F238E27FC236}">
                    <a16:creationId xmlns:a16="http://schemas.microsoft.com/office/drawing/2014/main" id="{7AAD89B5-EFBD-C61A-C2BE-6DAADC5E40BF}"/>
                  </a:ext>
                </a:extLst>
              </p:cNvPr>
              <p:cNvSpPr/>
              <p:nvPr/>
            </p:nvSpPr>
            <p:spPr>
              <a:xfrm>
                <a:off x="8442672" y="2636613"/>
                <a:ext cx="1585315"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267" name="直線接點 266">
                <a:extLst>
                  <a:ext uri="{FF2B5EF4-FFF2-40B4-BE49-F238E27FC236}">
                    <a16:creationId xmlns:a16="http://schemas.microsoft.com/office/drawing/2014/main" id="{6C909218-F352-E25D-37A2-BF01D9FEC07A}"/>
                  </a:ext>
                </a:extLst>
              </p:cNvPr>
              <p:cNvCxnSpPr>
                <a:cxnSpLocks/>
              </p:cNvCxnSpPr>
              <p:nvPr/>
            </p:nvCxnSpPr>
            <p:spPr>
              <a:xfrm flipH="1" flipV="1">
                <a:off x="8509832" y="1339285"/>
                <a:ext cx="131732" cy="140986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5" name="直線接點 274">
                <a:extLst>
                  <a:ext uri="{FF2B5EF4-FFF2-40B4-BE49-F238E27FC236}">
                    <a16:creationId xmlns:a16="http://schemas.microsoft.com/office/drawing/2014/main" id="{51935ED9-E9B4-0117-0C87-3EFD2084E7DD}"/>
                  </a:ext>
                </a:extLst>
              </p:cNvPr>
              <p:cNvCxnSpPr>
                <a:cxnSpLocks/>
              </p:cNvCxnSpPr>
              <p:nvPr/>
            </p:nvCxnSpPr>
            <p:spPr>
              <a:xfrm flipH="1" flipV="1">
                <a:off x="9436018" y="1025270"/>
                <a:ext cx="101693" cy="10542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1" name="直線接點 290">
                <a:extLst>
                  <a:ext uri="{FF2B5EF4-FFF2-40B4-BE49-F238E27FC236}">
                    <a16:creationId xmlns:a16="http://schemas.microsoft.com/office/drawing/2014/main" id="{16100671-DED2-3706-7B5E-38E183869359}"/>
                  </a:ext>
                </a:extLst>
              </p:cNvPr>
              <p:cNvCxnSpPr>
                <a:cxnSpLocks/>
              </p:cNvCxnSpPr>
              <p:nvPr/>
            </p:nvCxnSpPr>
            <p:spPr>
              <a:xfrm flipV="1">
                <a:off x="8508538" y="1264686"/>
                <a:ext cx="232120" cy="8522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2" name="直線接點 291">
                <a:extLst>
                  <a:ext uri="{FF2B5EF4-FFF2-40B4-BE49-F238E27FC236}">
                    <a16:creationId xmlns:a16="http://schemas.microsoft.com/office/drawing/2014/main" id="{1AD66B2E-33C9-4BB3-E5EE-0AF56DE615FA}"/>
                  </a:ext>
                </a:extLst>
              </p:cNvPr>
              <p:cNvCxnSpPr>
                <a:cxnSpLocks/>
              </p:cNvCxnSpPr>
              <p:nvPr/>
            </p:nvCxnSpPr>
            <p:spPr>
              <a:xfrm flipH="1">
                <a:off x="9125726" y="1034920"/>
                <a:ext cx="319098" cy="1220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93" name="橢圓 292">
                <a:extLst>
                  <a:ext uri="{FF2B5EF4-FFF2-40B4-BE49-F238E27FC236}">
                    <a16:creationId xmlns:a16="http://schemas.microsoft.com/office/drawing/2014/main" id="{614B2AC3-0DA8-D030-65EF-7AD59D024A2F}"/>
                  </a:ext>
                </a:extLst>
              </p:cNvPr>
              <p:cNvSpPr/>
              <p:nvPr/>
            </p:nvSpPr>
            <p:spPr>
              <a:xfrm>
                <a:off x="8736284" y="1013979"/>
                <a:ext cx="382626" cy="378964"/>
              </a:xfrm>
              <a:prstGeom prst="ellipse">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solidFill>
                      <a:schemeClr val="tx1"/>
                    </a:solidFill>
                  </a:rPr>
                  <a:t>V</a:t>
                </a:r>
                <a:endParaRPr lang="zh-TW" altLang="en-US" b="1" dirty="0">
                  <a:solidFill>
                    <a:schemeClr val="tx1"/>
                  </a:solidFill>
                </a:endParaRPr>
              </a:p>
            </p:txBody>
          </p:sp>
        </p:grpSp>
        <p:sp>
          <p:nvSpPr>
            <p:cNvPr id="237" name="矩形 236">
              <a:extLst>
                <a:ext uri="{FF2B5EF4-FFF2-40B4-BE49-F238E27FC236}">
                  <a16:creationId xmlns:a16="http://schemas.microsoft.com/office/drawing/2014/main" id="{BA284123-0556-21AF-67C0-964480CD1FCC}"/>
                </a:ext>
              </a:extLst>
            </p:cNvPr>
            <p:cNvSpPr/>
            <p:nvPr/>
          </p:nvSpPr>
          <p:spPr>
            <a:xfrm>
              <a:off x="8456889" y="3089226"/>
              <a:ext cx="1581778" cy="239308"/>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38" name="矩形 237">
              <a:extLst>
                <a:ext uri="{FF2B5EF4-FFF2-40B4-BE49-F238E27FC236}">
                  <a16:creationId xmlns:a16="http://schemas.microsoft.com/office/drawing/2014/main" id="{B88D2D2F-9625-41EF-F442-09B39E0597E9}"/>
                </a:ext>
              </a:extLst>
            </p:cNvPr>
            <p:cNvSpPr/>
            <p:nvPr/>
          </p:nvSpPr>
          <p:spPr>
            <a:xfrm>
              <a:off x="8453198" y="2328648"/>
              <a:ext cx="1577675" cy="196537"/>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nvGrpSpPr>
          <p:cNvPr id="306" name="群組 305">
            <a:extLst>
              <a:ext uri="{FF2B5EF4-FFF2-40B4-BE49-F238E27FC236}">
                <a16:creationId xmlns:a16="http://schemas.microsoft.com/office/drawing/2014/main" id="{6906D793-AF4D-BF11-CD9C-2674AED87A31}"/>
              </a:ext>
            </a:extLst>
          </p:cNvPr>
          <p:cNvGrpSpPr/>
          <p:nvPr/>
        </p:nvGrpSpPr>
        <p:grpSpPr>
          <a:xfrm>
            <a:off x="6109844" y="3065608"/>
            <a:ext cx="1597732" cy="1615786"/>
            <a:chOff x="1547796" y="4590565"/>
            <a:chExt cx="1597732" cy="1615786"/>
          </a:xfrm>
        </p:grpSpPr>
        <p:grpSp>
          <p:nvGrpSpPr>
            <p:cNvPr id="307" name="群組 306">
              <a:extLst>
                <a:ext uri="{FF2B5EF4-FFF2-40B4-BE49-F238E27FC236}">
                  <a16:creationId xmlns:a16="http://schemas.microsoft.com/office/drawing/2014/main" id="{E16FCB19-D9A4-2C95-4FA8-7A779CED8C53}"/>
                </a:ext>
              </a:extLst>
            </p:cNvPr>
            <p:cNvGrpSpPr/>
            <p:nvPr/>
          </p:nvGrpSpPr>
          <p:grpSpPr>
            <a:xfrm>
              <a:off x="1547796" y="4590565"/>
              <a:ext cx="1597732" cy="1615786"/>
              <a:chOff x="7755536" y="4682353"/>
              <a:chExt cx="1539881" cy="1413647"/>
            </a:xfrm>
          </p:grpSpPr>
          <p:grpSp>
            <p:nvGrpSpPr>
              <p:cNvPr id="310" name="群組 309">
                <a:extLst>
                  <a:ext uri="{FF2B5EF4-FFF2-40B4-BE49-F238E27FC236}">
                    <a16:creationId xmlns:a16="http://schemas.microsoft.com/office/drawing/2014/main" id="{3F9220EE-773C-2042-91E9-E686BA36FAC2}"/>
                  </a:ext>
                </a:extLst>
              </p:cNvPr>
              <p:cNvGrpSpPr/>
              <p:nvPr/>
            </p:nvGrpSpPr>
            <p:grpSpPr>
              <a:xfrm>
                <a:off x="7755536" y="4682354"/>
                <a:ext cx="382023" cy="1413646"/>
                <a:chOff x="7755536" y="4682354"/>
                <a:chExt cx="382023" cy="1413646"/>
              </a:xfrm>
            </p:grpSpPr>
            <p:sp>
              <p:nvSpPr>
                <p:cNvPr id="320" name="矩形 319">
                  <a:extLst>
                    <a:ext uri="{FF2B5EF4-FFF2-40B4-BE49-F238E27FC236}">
                      <a16:creationId xmlns:a16="http://schemas.microsoft.com/office/drawing/2014/main" id="{F9951B22-8E50-35F4-9BC1-309DE28405E9}"/>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1" name="矩形 320">
                  <a:extLst>
                    <a:ext uri="{FF2B5EF4-FFF2-40B4-BE49-F238E27FC236}">
                      <a16:creationId xmlns:a16="http://schemas.microsoft.com/office/drawing/2014/main" id="{FC3A3A17-A4AF-9B2C-891C-453EEBC580EC}"/>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11" name="群組 310">
                <a:extLst>
                  <a:ext uri="{FF2B5EF4-FFF2-40B4-BE49-F238E27FC236}">
                    <a16:creationId xmlns:a16="http://schemas.microsoft.com/office/drawing/2014/main" id="{7EF784CA-A07E-22E1-B563-0E5FD41D2FEA}"/>
                  </a:ext>
                </a:extLst>
              </p:cNvPr>
              <p:cNvGrpSpPr/>
              <p:nvPr/>
            </p:nvGrpSpPr>
            <p:grpSpPr>
              <a:xfrm>
                <a:off x="8136791" y="4682354"/>
                <a:ext cx="382023" cy="1413646"/>
                <a:chOff x="7755536" y="4682354"/>
                <a:chExt cx="382023" cy="1413646"/>
              </a:xfrm>
            </p:grpSpPr>
            <p:sp>
              <p:nvSpPr>
                <p:cNvPr id="318" name="矩形 317">
                  <a:extLst>
                    <a:ext uri="{FF2B5EF4-FFF2-40B4-BE49-F238E27FC236}">
                      <a16:creationId xmlns:a16="http://schemas.microsoft.com/office/drawing/2014/main" id="{C0F35C31-4B97-7F6A-4A15-AC43DD6BAC41}"/>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9" name="矩形 318">
                  <a:extLst>
                    <a:ext uri="{FF2B5EF4-FFF2-40B4-BE49-F238E27FC236}">
                      <a16:creationId xmlns:a16="http://schemas.microsoft.com/office/drawing/2014/main" id="{4D413EF0-D670-6919-DA86-EF299162CBE3}"/>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12" name="群組 311">
                <a:extLst>
                  <a:ext uri="{FF2B5EF4-FFF2-40B4-BE49-F238E27FC236}">
                    <a16:creationId xmlns:a16="http://schemas.microsoft.com/office/drawing/2014/main" id="{6F3EB298-81F6-5941-D21E-12BF2298F268}"/>
                  </a:ext>
                </a:extLst>
              </p:cNvPr>
              <p:cNvGrpSpPr/>
              <p:nvPr/>
            </p:nvGrpSpPr>
            <p:grpSpPr>
              <a:xfrm>
                <a:off x="8529018" y="4682353"/>
                <a:ext cx="382022" cy="1413647"/>
                <a:chOff x="7755537" y="4682353"/>
                <a:chExt cx="382022" cy="1413647"/>
              </a:xfrm>
            </p:grpSpPr>
            <p:sp>
              <p:nvSpPr>
                <p:cNvPr id="316" name="矩形 315">
                  <a:extLst>
                    <a:ext uri="{FF2B5EF4-FFF2-40B4-BE49-F238E27FC236}">
                      <a16:creationId xmlns:a16="http://schemas.microsoft.com/office/drawing/2014/main" id="{9189EDA1-FFDD-5EC9-E5EE-7CEFEDD8CD23}"/>
                    </a:ext>
                  </a:extLst>
                </p:cNvPr>
                <p:cNvSpPr/>
                <p:nvPr/>
              </p:nvSpPr>
              <p:spPr>
                <a:xfrm>
                  <a:off x="7755537" y="4682353"/>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7" name="矩形 316">
                  <a:extLst>
                    <a:ext uri="{FF2B5EF4-FFF2-40B4-BE49-F238E27FC236}">
                      <a16:creationId xmlns:a16="http://schemas.microsoft.com/office/drawing/2014/main" id="{5C7BDBDC-147A-5661-9353-7A97DDFABAC4}"/>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13" name="群組 312">
                <a:extLst>
                  <a:ext uri="{FF2B5EF4-FFF2-40B4-BE49-F238E27FC236}">
                    <a16:creationId xmlns:a16="http://schemas.microsoft.com/office/drawing/2014/main" id="{8C387FD1-D7CA-485C-0986-00E69E20BF8F}"/>
                  </a:ext>
                </a:extLst>
              </p:cNvPr>
              <p:cNvGrpSpPr/>
              <p:nvPr/>
            </p:nvGrpSpPr>
            <p:grpSpPr>
              <a:xfrm>
                <a:off x="8913394" y="4682354"/>
                <a:ext cx="382023" cy="1413646"/>
                <a:chOff x="7755536" y="4682354"/>
                <a:chExt cx="382023" cy="1413646"/>
              </a:xfrm>
            </p:grpSpPr>
            <p:sp>
              <p:nvSpPr>
                <p:cNvPr id="314" name="矩形 313">
                  <a:extLst>
                    <a:ext uri="{FF2B5EF4-FFF2-40B4-BE49-F238E27FC236}">
                      <a16:creationId xmlns:a16="http://schemas.microsoft.com/office/drawing/2014/main" id="{6E4E387E-77D6-776F-CE0C-BF95614F3511}"/>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5" name="矩形 314">
                  <a:extLst>
                    <a:ext uri="{FF2B5EF4-FFF2-40B4-BE49-F238E27FC236}">
                      <a16:creationId xmlns:a16="http://schemas.microsoft.com/office/drawing/2014/main" id="{BA5C0EDD-0953-D791-B052-92FA854CD651}"/>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308" name="矩形 307">
              <a:extLst>
                <a:ext uri="{FF2B5EF4-FFF2-40B4-BE49-F238E27FC236}">
                  <a16:creationId xmlns:a16="http://schemas.microsoft.com/office/drawing/2014/main" id="{7CE9B7CC-0DC7-8CAC-E25C-E90689E689C0}"/>
                </a:ext>
              </a:extLst>
            </p:cNvPr>
            <p:cNvSpPr/>
            <p:nvPr/>
          </p:nvSpPr>
          <p:spPr>
            <a:xfrm>
              <a:off x="1560341" y="5172154"/>
              <a:ext cx="1575773" cy="262714"/>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09" name="矩形 308">
              <a:extLst>
                <a:ext uri="{FF2B5EF4-FFF2-40B4-BE49-F238E27FC236}">
                  <a16:creationId xmlns:a16="http://schemas.microsoft.com/office/drawing/2014/main" id="{15546F46-280F-9D3D-5D14-79CF6D401B82}"/>
                </a:ext>
              </a:extLst>
            </p:cNvPr>
            <p:cNvSpPr/>
            <p:nvPr/>
          </p:nvSpPr>
          <p:spPr>
            <a:xfrm>
              <a:off x="1554254" y="5982936"/>
              <a:ext cx="1591274" cy="223412"/>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nvGrpSpPr>
          <p:cNvPr id="377" name="群組 376">
            <a:extLst>
              <a:ext uri="{FF2B5EF4-FFF2-40B4-BE49-F238E27FC236}">
                <a16:creationId xmlns:a16="http://schemas.microsoft.com/office/drawing/2014/main" id="{B8309ACC-4E37-DD5B-A21B-C1B29A527E15}"/>
              </a:ext>
            </a:extLst>
          </p:cNvPr>
          <p:cNvGrpSpPr/>
          <p:nvPr/>
        </p:nvGrpSpPr>
        <p:grpSpPr>
          <a:xfrm>
            <a:off x="9470450" y="2033926"/>
            <a:ext cx="978393" cy="2670776"/>
            <a:chOff x="9494716" y="1425376"/>
            <a:chExt cx="978393" cy="2670776"/>
          </a:xfrm>
        </p:grpSpPr>
        <p:grpSp>
          <p:nvGrpSpPr>
            <p:cNvPr id="378" name="群組 377">
              <a:extLst>
                <a:ext uri="{FF2B5EF4-FFF2-40B4-BE49-F238E27FC236}">
                  <a16:creationId xmlns:a16="http://schemas.microsoft.com/office/drawing/2014/main" id="{62CDA436-1F4A-2755-51B4-72449D79B4BB}"/>
                </a:ext>
              </a:extLst>
            </p:cNvPr>
            <p:cNvGrpSpPr/>
            <p:nvPr/>
          </p:nvGrpSpPr>
          <p:grpSpPr>
            <a:xfrm>
              <a:off x="9494716" y="1425376"/>
              <a:ext cx="978393" cy="2670776"/>
              <a:chOff x="9494716" y="1425376"/>
              <a:chExt cx="978393" cy="2670776"/>
            </a:xfrm>
          </p:grpSpPr>
          <p:sp>
            <p:nvSpPr>
              <p:cNvPr id="380" name="矩形 379">
                <a:extLst>
                  <a:ext uri="{FF2B5EF4-FFF2-40B4-BE49-F238E27FC236}">
                    <a16:creationId xmlns:a16="http://schemas.microsoft.com/office/drawing/2014/main" id="{0817E433-04B9-C487-776E-4456815221C3}"/>
                  </a:ext>
                </a:extLst>
              </p:cNvPr>
              <p:cNvSpPr/>
              <p:nvPr/>
            </p:nvSpPr>
            <p:spPr>
              <a:xfrm>
                <a:off x="9515898" y="2480154"/>
                <a:ext cx="938615" cy="1615784"/>
              </a:xfrm>
              <a:prstGeom prst="rect">
                <a:avLst/>
              </a:prstGeom>
              <a:solidFill>
                <a:srgbClr val="ECDFF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1" name="矩形 380">
                <a:extLst>
                  <a:ext uri="{FF2B5EF4-FFF2-40B4-BE49-F238E27FC236}">
                    <a16:creationId xmlns:a16="http://schemas.microsoft.com/office/drawing/2014/main" id="{4105BE5C-CA06-4E49-72C4-B6E6B4FDA2AC}"/>
                  </a:ext>
                </a:extLst>
              </p:cNvPr>
              <p:cNvSpPr/>
              <p:nvPr/>
            </p:nvSpPr>
            <p:spPr>
              <a:xfrm>
                <a:off x="9527030" y="3404018"/>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82" name="矩形 381">
                <a:extLst>
                  <a:ext uri="{FF2B5EF4-FFF2-40B4-BE49-F238E27FC236}">
                    <a16:creationId xmlns:a16="http://schemas.microsoft.com/office/drawing/2014/main" id="{5E226601-84D5-1CB2-6FFF-ED08E470BFD1}"/>
                  </a:ext>
                </a:extLst>
              </p:cNvPr>
              <p:cNvSpPr/>
              <p:nvPr/>
            </p:nvSpPr>
            <p:spPr>
              <a:xfrm>
                <a:off x="9518613" y="2756692"/>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83" name="矩形 382">
                <a:extLst>
                  <a:ext uri="{FF2B5EF4-FFF2-40B4-BE49-F238E27FC236}">
                    <a16:creationId xmlns:a16="http://schemas.microsoft.com/office/drawing/2014/main" id="{4F9B8AD3-0279-FB66-263E-C062B45DCF21}"/>
                  </a:ext>
                </a:extLst>
              </p:cNvPr>
              <p:cNvSpPr/>
              <p:nvPr/>
            </p:nvSpPr>
            <p:spPr>
              <a:xfrm>
                <a:off x="9518613" y="3070938"/>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384" name="直線接點 383">
                <a:extLst>
                  <a:ext uri="{FF2B5EF4-FFF2-40B4-BE49-F238E27FC236}">
                    <a16:creationId xmlns:a16="http://schemas.microsoft.com/office/drawing/2014/main" id="{0E762F30-E0A8-3737-CEE3-87ECDBF5F1EA}"/>
                  </a:ext>
                </a:extLst>
              </p:cNvPr>
              <p:cNvCxnSpPr>
                <a:cxnSpLocks/>
              </p:cNvCxnSpPr>
              <p:nvPr/>
            </p:nvCxnSpPr>
            <p:spPr>
              <a:xfrm flipH="1" flipV="1">
                <a:off x="9623221" y="1835345"/>
                <a:ext cx="33216" cy="138626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5" name="直線接點 384">
                <a:extLst>
                  <a:ext uri="{FF2B5EF4-FFF2-40B4-BE49-F238E27FC236}">
                    <a16:creationId xmlns:a16="http://schemas.microsoft.com/office/drawing/2014/main" id="{5DF0B335-B2DC-E0A4-0DCD-E94F48491358}"/>
                  </a:ext>
                </a:extLst>
              </p:cNvPr>
              <p:cNvCxnSpPr>
                <a:cxnSpLocks/>
              </p:cNvCxnSpPr>
              <p:nvPr/>
            </p:nvCxnSpPr>
            <p:spPr>
              <a:xfrm flipH="1" flipV="1">
                <a:off x="10265739" y="1460627"/>
                <a:ext cx="58170" cy="138626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6" name="直線接點 385">
                <a:extLst>
                  <a:ext uri="{FF2B5EF4-FFF2-40B4-BE49-F238E27FC236}">
                    <a16:creationId xmlns:a16="http://schemas.microsoft.com/office/drawing/2014/main" id="{D9843B6F-EE94-F012-144E-A3099639D01E}"/>
                  </a:ext>
                </a:extLst>
              </p:cNvPr>
              <p:cNvCxnSpPr>
                <a:cxnSpLocks/>
              </p:cNvCxnSpPr>
              <p:nvPr/>
            </p:nvCxnSpPr>
            <p:spPr>
              <a:xfrm flipV="1">
                <a:off x="9622323" y="1741331"/>
                <a:ext cx="161027" cy="10739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7" name="直線接點 386">
                <a:extLst>
                  <a:ext uri="{FF2B5EF4-FFF2-40B4-BE49-F238E27FC236}">
                    <a16:creationId xmlns:a16="http://schemas.microsoft.com/office/drawing/2014/main" id="{14A54D30-655B-EB8B-D125-5241EC1CEDA5}"/>
                  </a:ext>
                </a:extLst>
              </p:cNvPr>
              <p:cNvCxnSpPr>
                <a:cxnSpLocks/>
              </p:cNvCxnSpPr>
              <p:nvPr/>
            </p:nvCxnSpPr>
            <p:spPr>
              <a:xfrm flipH="1">
                <a:off x="10050482" y="1451767"/>
                <a:ext cx="221366" cy="1538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88" name="橢圓 387">
                <a:extLst>
                  <a:ext uri="{FF2B5EF4-FFF2-40B4-BE49-F238E27FC236}">
                    <a16:creationId xmlns:a16="http://schemas.microsoft.com/office/drawing/2014/main" id="{C76AD94F-97B0-CB02-F08E-BB77F6D35910}"/>
                  </a:ext>
                </a:extLst>
              </p:cNvPr>
              <p:cNvSpPr/>
              <p:nvPr/>
            </p:nvSpPr>
            <p:spPr>
              <a:xfrm>
                <a:off x="9780316" y="1425376"/>
                <a:ext cx="265437" cy="477591"/>
              </a:xfrm>
              <a:prstGeom prst="ellipse">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solidFill>
                      <a:schemeClr val="tx1"/>
                    </a:solidFill>
                  </a:rPr>
                  <a:t>V</a:t>
                </a:r>
                <a:endParaRPr lang="zh-TW" altLang="en-US" b="1" dirty="0">
                  <a:solidFill>
                    <a:schemeClr val="tx1"/>
                  </a:solidFill>
                </a:endParaRPr>
              </a:p>
            </p:txBody>
          </p:sp>
          <p:cxnSp>
            <p:nvCxnSpPr>
              <p:cNvPr id="389" name="直線接點 388">
                <a:extLst>
                  <a:ext uri="{FF2B5EF4-FFF2-40B4-BE49-F238E27FC236}">
                    <a16:creationId xmlns:a16="http://schemas.microsoft.com/office/drawing/2014/main" id="{603C1131-53E0-989C-B3D9-849D1A94F934}"/>
                  </a:ext>
                </a:extLst>
              </p:cNvPr>
              <p:cNvCxnSpPr>
                <a:cxnSpLocks/>
              </p:cNvCxnSpPr>
              <p:nvPr/>
            </p:nvCxnSpPr>
            <p:spPr>
              <a:xfrm flipH="1" flipV="1">
                <a:off x="10025966" y="1872909"/>
                <a:ext cx="56004" cy="163966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0" name="直線接點 389">
                <a:extLst>
                  <a:ext uri="{FF2B5EF4-FFF2-40B4-BE49-F238E27FC236}">
                    <a16:creationId xmlns:a16="http://schemas.microsoft.com/office/drawing/2014/main" id="{5330714B-4110-1EAE-DFD4-A1DAE9F287D7}"/>
                  </a:ext>
                </a:extLst>
              </p:cNvPr>
              <p:cNvCxnSpPr>
                <a:cxnSpLocks/>
              </p:cNvCxnSpPr>
              <p:nvPr/>
            </p:nvCxnSpPr>
            <p:spPr>
              <a:xfrm flipH="1" flipV="1">
                <a:off x="9998614" y="1835343"/>
                <a:ext cx="27352" cy="1243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91" name="矩形 390">
                <a:extLst>
                  <a:ext uri="{FF2B5EF4-FFF2-40B4-BE49-F238E27FC236}">
                    <a16:creationId xmlns:a16="http://schemas.microsoft.com/office/drawing/2014/main" id="{FA96E96C-F4EF-51EE-EC78-DDEC4053DA0B}"/>
                  </a:ext>
                </a:extLst>
              </p:cNvPr>
              <p:cNvSpPr/>
              <p:nvPr/>
            </p:nvSpPr>
            <p:spPr>
              <a:xfrm>
                <a:off x="9510858" y="3815312"/>
                <a:ext cx="946080" cy="280840"/>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92" name="矩形 391">
                <a:extLst>
                  <a:ext uri="{FF2B5EF4-FFF2-40B4-BE49-F238E27FC236}">
                    <a16:creationId xmlns:a16="http://schemas.microsoft.com/office/drawing/2014/main" id="{662DAB5C-4F75-3842-BAEE-1B4D8C7AB124}"/>
                  </a:ext>
                </a:extLst>
              </p:cNvPr>
              <p:cNvSpPr/>
              <p:nvPr/>
            </p:nvSpPr>
            <p:spPr>
              <a:xfrm>
                <a:off x="9494716" y="3054735"/>
                <a:ext cx="943626" cy="230646"/>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379" name="矩形 378">
              <a:extLst>
                <a:ext uri="{FF2B5EF4-FFF2-40B4-BE49-F238E27FC236}">
                  <a16:creationId xmlns:a16="http://schemas.microsoft.com/office/drawing/2014/main" id="{1B75336E-BD12-1D54-A2AC-1E4B0E0704F9}"/>
                </a:ext>
              </a:extLst>
            </p:cNvPr>
            <p:cNvSpPr/>
            <p:nvPr/>
          </p:nvSpPr>
          <p:spPr>
            <a:xfrm>
              <a:off x="9513459" y="3054364"/>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sp>
        <p:nvSpPr>
          <p:cNvPr id="72" name="文字方塊 71">
            <a:extLst>
              <a:ext uri="{FF2B5EF4-FFF2-40B4-BE49-F238E27FC236}">
                <a16:creationId xmlns:a16="http://schemas.microsoft.com/office/drawing/2014/main" id="{4EDDEB61-4940-7BC9-C8B7-E9DB0C0CFB1E}"/>
              </a:ext>
            </a:extLst>
          </p:cNvPr>
          <p:cNvSpPr txBox="1"/>
          <p:nvPr/>
        </p:nvSpPr>
        <p:spPr>
          <a:xfrm>
            <a:off x="12298" y="3910214"/>
            <a:ext cx="808797" cy="400110"/>
          </a:xfrm>
          <a:prstGeom prst="rect">
            <a:avLst/>
          </a:prstGeom>
          <a:noFill/>
        </p:spPr>
        <p:txBody>
          <a:bodyPr wrap="square" rtlCol="0">
            <a:spAutoFit/>
          </a:bodyPr>
          <a:lstStyle/>
          <a:p>
            <a:r>
              <a:rPr lang="en-US" altLang="zh-TW" sz="1000" dirty="0"/>
              <a:t>CW</a:t>
            </a:r>
            <a:r>
              <a:rPr lang="zh-TW" altLang="en-US" sz="1000" dirty="0"/>
              <a:t> </a:t>
            </a:r>
            <a:r>
              <a:rPr lang="en-US" altLang="zh-TW" sz="1000" dirty="0"/>
              <a:t>785nm pump laser </a:t>
            </a:r>
            <a:endParaRPr lang="zh-TW" altLang="en-US" sz="1000" dirty="0"/>
          </a:p>
        </p:txBody>
      </p:sp>
      <p:grpSp>
        <p:nvGrpSpPr>
          <p:cNvPr id="7" name="群組 6">
            <a:extLst>
              <a:ext uri="{FF2B5EF4-FFF2-40B4-BE49-F238E27FC236}">
                <a16:creationId xmlns:a16="http://schemas.microsoft.com/office/drawing/2014/main" id="{715D6C64-5146-4AEC-08D1-852DBA1531D5}"/>
              </a:ext>
            </a:extLst>
          </p:cNvPr>
          <p:cNvGrpSpPr/>
          <p:nvPr/>
        </p:nvGrpSpPr>
        <p:grpSpPr>
          <a:xfrm>
            <a:off x="1417534" y="3484946"/>
            <a:ext cx="291528" cy="666144"/>
            <a:chOff x="8147879" y="2874761"/>
            <a:chExt cx="320447" cy="747169"/>
          </a:xfrm>
        </p:grpSpPr>
        <p:cxnSp>
          <p:nvCxnSpPr>
            <p:cNvPr id="8" name="直線單箭頭接點 7">
              <a:extLst>
                <a:ext uri="{FF2B5EF4-FFF2-40B4-BE49-F238E27FC236}">
                  <a16:creationId xmlns:a16="http://schemas.microsoft.com/office/drawing/2014/main" id="{ED91E5CC-C3B0-144E-88CA-14AF47AD5B49}"/>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橢圓 8">
              <a:extLst>
                <a:ext uri="{FF2B5EF4-FFF2-40B4-BE49-F238E27FC236}">
                  <a16:creationId xmlns:a16="http://schemas.microsoft.com/office/drawing/2014/main" id="{EA1D2A1B-0EA2-4F0C-000A-F3B5609A1391}"/>
                </a:ext>
              </a:extLst>
            </p:cNvPr>
            <p:cNvSpPr/>
            <p:nvPr/>
          </p:nvSpPr>
          <p:spPr>
            <a:xfrm>
              <a:off x="8147879" y="3074008"/>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dirty="0"/>
            </a:p>
          </p:txBody>
        </p:sp>
      </p:grpSp>
      <p:grpSp>
        <p:nvGrpSpPr>
          <p:cNvPr id="10" name="群組 9">
            <a:extLst>
              <a:ext uri="{FF2B5EF4-FFF2-40B4-BE49-F238E27FC236}">
                <a16:creationId xmlns:a16="http://schemas.microsoft.com/office/drawing/2014/main" id="{E3AC9A4E-DFC1-92D0-9B42-F597757F6FB1}"/>
              </a:ext>
            </a:extLst>
          </p:cNvPr>
          <p:cNvGrpSpPr/>
          <p:nvPr/>
        </p:nvGrpSpPr>
        <p:grpSpPr>
          <a:xfrm>
            <a:off x="1420745" y="3484946"/>
            <a:ext cx="291528" cy="666144"/>
            <a:chOff x="8147879" y="2874761"/>
            <a:chExt cx="320447" cy="747169"/>
          </a:xfrm>
        </p:grpSpPr>
        <p:cxnSp>
          <p:nvCxnSpPr>
            <p:cNvPr id="11" name="直線單箭頭接點 10">
              <a:extLst>
                <a:ext uri="{FF2B5EF4-FFF2-40B4-BE49-F238E27FC236}">
                  <a16:creationId xmlns:a16="http://schemas.microsoft.com/office/drawing/2014/main" id="{134804EF-E6A9-4275-7633-93CB613D6F43}"/>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橢圓 11">
              <a:extLst>
                <a:ext uri="{FF2B5EF4-FFF2-40B4-BE49-F238E27FC236}">
                  <a16:creationId xmlns:a16="http://schemas.microsoft.com/office/drawing/2014/main" id="{78A3167D-DB9D-DBB8-5205-ACD31A4E47E1}"/>
                </a:ext>
              </a:extLst>
            </p:cNvPr>
            <p:cNvSpPr/>
            <p:nvPr/>
          </p:nvSpPr>
          <p:spPr>
            <a:xfrm>
              <a:off x="8147879" y="3074007"/>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dirty="0"/>
            </a:p>
          </p:txBody>
        </p:sp>
      </p:grpSp>
    </p:spTree>
    <p:extLst>
      <p:ext uri="{BB962C8B-B14F-4D97-AF65-F5344CB8AC3E}">
        <p14:creationId xmlns:p14="http://schemas.microsoft.com/office/powerpoint/2010/main" val="1182823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3"/>
                                        </p:tgtEl>
                                        <p:attrNameLst>
                                          <p:attrName>style.visibility</p:attrName>
                                        </p:attrNameLst>
                                      </p:cBhvr>
                                      <p:to>
                                        <p:strVal val="visible"/>
                                      </p:to>
                                    </p:set>
                                    <p:animEffect transition="in" filter="wipe(left)">
                                      <p:cBhvr>
                                        <p:cTn id="7" dur="1000"/>
                                        <p:tgtEl>
                                          <p:spTgt spid="19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94"/>
                                        </p:tgtEl>
                                        <p:attrNameLst>
                                          <p:attrName>style.visibility</p:attrName>
                                        </p:attrNameLst>
                                      </p:cBhvr>
                                      <p:to>
                                        <p:strVal val="visible"/>
                                      </p:to>
                                    </p:set>
                                    <p:animEffect transition="in" filter="wipe(left)">
                                      <p:cBhvr>
                                        <p:cTn id="10" dur="1000"/>
                                        <p:tgtEl>
                                          <p:spTgt spid="194"/>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2"/>
                                        </p:tgtEl>
                                        <p:attrNameLst>
                                          <p:attrName>style.visibility</p:attrName>
                                        </p:attrNameLst>
                                      </p:cBhvr>
                                      <p:to>
                                        <p:strVal val="visible"/>
                                      </p:to>
                                    </p:set>
                                    <p:animEffect transition="in" filter="wipe(left)">
                                      <p:cBhvr>
                                        <p:cTn id="13" dur="1000"/>
                                        <p:tgtEl>
                                          <p:spTgt spid="72"/>
                                        </p:tgtEl>
                                      </p:cBhvr>
                                    </p:animEffect>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 grpId="0" animBg="1"/>
      <p:bldP spid="194" grpId="0"/>
      <p:bldP spid="7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Objective</a:t>
            </a:r>
            <a:endParaRPr lang="zh-TW" altLang="en-US" b="1"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0039351" y="6356352"/>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10</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grpSp>
        <p:nvGrpSpPr>
          <p:cNvPr id="86" name="群組 85">
            <a:extLst>
              <a:ext uri="{FF2B5EF4-FFF2-40B4-BE49-F238E27FC236}">
                <a16:creationId xmlns:a16="http://schemas.microsoft.com/office/drawing/2014/main" id="{A40FBE4A-7A06-038D-356F-E691893841AA}"/>
              </a:ext>
            </a:extLst>
          </p:cNvPr>
          <p:cNvGrpSpPr/>
          <p:nvPr/>
        </p:nvGrpSpPr>
        <p:grpSpPr>
          <a:xfrm>
            <a:off x="865318" y="4706428"/>
            <a:ext cx="1755678" cy="736664"/>
            <a:chOff x="1748077" y="3079921"/>
            <a:chExt cx="1755678" cy="736664"/>
          </a:xfrm>
        </p:grpSpPr>
        <p:sp>
          <p:nvSpPr>
            <p:cNvPr id="78" name="左大括弧 77">
              <a:extLst>
                <a:ext uri="{FF2B5EF4-FFF2-40B4-BE49-F238E27FC236}">
                  <a16:creationId xmlns:a16="http://schemas.microsoft.com/office/drawing/2014/main" id="{D27E4118-1092-E5DE-ED03-3AE49E207554}"/>
                </a:ext>
              </a:extLst>
            </p:cNvPr>
            <p:cNvSpPr/>
            <p:nvPr/>
          </p:nvSpPr>
          <p:spPr>
            <a:xfrm rot="16200000">
              <a:off x="2339692" y="2488306"/>
              <a:ext cx="401957" cy="1585187"/>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sp>
          <p:nvSpPr>
            <p:cNvPr id="82" name="文字方塊 81">
              <a:extLst>
                <a:ext uri="{FF2B5EF4-FFF2-40B4-BE49-F238E27FC236}">
                  <a16:creationId xmlns:a16="http://schemas.microsoft.com/office/drawing/2014/main" id="{A3208C3D-0083-985B-A04E-E72C42B0DA7F}"/>
                </a:ext>
              </a:extLst>
            </p:cNvPr>
            <p:cNvSpPr txBox="1"/>
            <p:nvPr/>
          </p:nvSpPr>
          <p:spPr>
            <a:xfrm>
              <a:off x="2112027" y="3447253"/>
              <a:ext cx="1391728" cy="369332"/>
            </a:xfrm>
            <a:prstGeom prst="rect">
              <a:avLst/>
            </a:prstGeom>
            <a:noFill/>
          </p:spPr>
          <p:txBody>
            <a:bodyPr wrap="none" rtlCol="0">
              <a:spAutoFit/>
            </a:bodyPr>
            <a:lstStyle/>
            <a:p>
              <a:r>
                <a:rPr lang="en-US" altLang="zh-TW" dirty="0"/>
                <a:t>SPDC</a:t>
              </a:r>
              <a:r>
                <a:rPr lang="en-US" altLang="zh-TW" baseline="-25000" dirty="0"/>
                <a:t>type0(1cm)</a:t>
              </a:r>
              <a:endParaRPr lang="zh-TW" altLang="en-US" baseline="-25000" dirty="0"/>
            </a:p>
          </p:txBody>
        </p:sp>
      </p:grpSp>
      <p:grpSp>
        <p:nvGrpSpPr>
          <p:cNvPr id="88" name="群組 87">
            <a:extLst>
              <a:ext uri="{FF2B5EF4-FFF2-40B4-BE49-F238E27FC236}">
                <a16:creationId xmlns:a16="http://schemas.microsoft.com/office/drawing/2014/main" id="{0ECC9EF4-A7FF-821C-B73C-4E878D54F6F0}"/>
              </a:ext>
            </a:extLst>
          </p:cNvPr>
          <p:cNvGrpSpPr/>
          <p:nvPr/>
        </p:nvGrpSpPr>
        <p:grpSpPr>
          <a:xfrm>
            <a:off x="6122109" y="4669063"/>
            <a:ext cx="1662005" cy="774029"/>
            <a:chOff x="4953259" y="3078852"/>
            <a:chExt cx="1662005" cy="774029"/>
          </a:xfrm>
        </p:grpSpPr>
        <p:sp>
          <p:nvSpPr>
            <p:cNvPr id="79" name="左大括弧 78">
              <a:extLst>
                <a:ext uri="{FF2B5EF4-FFF2-40B4-BE49-F238E27FC236}">
                  <a16:creationId xmlns:a16="http://schemas.microsoft.com/office/drawing/2014/main" id="{BEA997C8-D4DA-249F-EA1E-454710297D9A}"/>
                </a:ext>
              </a:extLst>
            </p:cNvPr>
            <p:cNvSpPr/>
            <p:nvPr/>
          </p:nvSpPr>
          <p:spPr>
            <a:xfrm rot="16200000">
              <a:off x="5544874" y="2487237"/>
              <a:ext cx="401957" cy="1585187"/>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sp>
          <p:nvSpPr>
            <p:cNvPr id="83" name="文字方塊 82">
              <a:extLst>
                <a:ext uri="{FF2B5EF4-FFF2-40B4-BE49-F238E27FC236}">
                  <a16:creationId xmlns:a16="http://schemas.microsoft.com/office/drawing/2014/main" id="{C573487F-E807-CC92-83FA-D44175482790}"/>
                </a:ext>
              </a:extLst>
            </p:cNvPr>
            <p:cNvSpPr txBox="1"/>
            <p:nvPr/>
          </p:nvSpPr>
          <p:spPr>
            <a:xfrm>
              <a:off x="5223536" y="3483549"/>
              <a:ext cx="1391728" cy="369332"/>
            </a:xfrm>
            <a:prstGeom prst="rect">
              <a:avLst/>
            </a:prstGeom>
            <a:noFill/>
          </p:spPr>
          <p:txBody>
            <a:bodyPr wrap="none" rtlCol="0">
              <a:spAutoFit/>
            </a:bodyPr>
            <a:lstStyle/>
            <a:p>
              <a:r>
                <a:rPr lang="en-US" altLang="zh-TW" dirty="0"/>
                <a:t>SPDC</a:t>
              </a:r>
              <a:r>
                <a:rPr lang="en-US" altLang="zh-TW" baseline="-25000" dirty="0"/>
                <a:t>type0(1cm)</a:t>
              </a:r>
              <a:endParaRPr lang="zh-TW" altLang="en-US" baseline="-25000" dirty="0"/>
            </a:p>
          </p:txBody>
        </p:sp>
      </p:grpSp>
      <p:grpSp>
        <p:nvGrpSpPr>
          <p:cNvPr id="87" name="群組 86">
            <a:extLst>
              <a:ext uri="{FF2B5EF4-FFF2-40B4-BE49-F238E27FC236}">
                <a16:creationId xmlns:a16="http://schemas.microsoft.com/office/drawing/2014/main" id="{0E57B996-5BB3-8C7B-74F0-22F70682F9AA}"/>
              </a:ext>
            </a:extLst>
          </p:cNvPr>
          <p:cNvGrpSpPr/>
          <p:nvPr/>
        </p:nvGrpSpPr>
        <p:grpSpPr>
          <a:xfrm>
            <a:off x="3331499" y="4690318"/>
            <a:ext cx="1841776" cy="752774"/>
            <a:chOff x="3356689" y="3057825"/>
            <a:chExt cx="1841776" cy="752774"/>
          </a:xfrm>
        </p:grpSpPr>
        <p:sp>
          <p:nvSpPr>
            <p:cNvPr id="80" name="左大括弧 79">
              <a:extLst>
                <a:ext uri="{FF2B5EF4-FFF2-40B4-BE49-F238E27FC236}">
                  <a16:creationId xmlns:a16="http://schemas.microsoft.com/office/drawing/2014/main" id="{1EC118FD-A6E9-3EAD-80CB-2FC1DAE30826}"/>
                </a:ext>
              </a:extLst>
            </p:cNvPr>
            <p:cNvSpPr/>
            <p:nvPr/>
          </p:nvSpPr>
          <p:spPr>
            <a:xfrm rot="16200000">
              <a:off x="3948304" y="2466210"/>
              <a:ext cx="401957" cy="1585187"/>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sp>
          <p:nvSpPr>
            <p:cNvPr id="84" name="文字方塊 83">
              <a:extLst>
                <a:ext uri="{FF2B5EF4-FFF2-40B4-BE49-F238E27FC236}">
                  <a16:creationId xmlns:a16="http://schemas.microsoft.com/office/drawing/2014/main" id="{FA292BB0-11E1-EDBA-C905-23E6DE1C367B}"/>
                </a:ext>
              </a:extLst>
            </p:cNvPr>
            <p:cNvSpPr txBox="1"/>
            <p:nvPr/>
          </p:nvSpPr>
          <p:spPr>
            <a:xfrm>
              <a:off x="3603541" y="3441267"/>
              <a:ext cx="1594924" cy="369332"/>
            </a:xfrm>
            <a:prstGeom prst="rect">
              <a:avLst/>
            </a:prstGeom>
            <a:noFill/>
          </p:spPr>
          <p:txBody>
            <a:bodyPr wrap="none" rtlCol="0">
              <a:spAutoFit/>
            </a:bodyPr>
            <a:lstStyle/>
            <a:p>
              <a:r>
                <a:rPr lang="en-US" altLang="zh-TW" dirty="0" err="1"/>
                <a:t>EOPMC</a:t>
              </a:r>
              <a:r>
                <a:rPr lang="en-US" altLang="zh-TW" baseline="-25000" dirty="0" err="1"/>
                <a:t>appln</a:t>
              </a:r>
              <a:r>
                <a:rPr lang="en-US" altLang="zh-TW" baseline="-25000" dirty="0"/>
                <a:t>(1cm)</a:t>
              </a:r>
              <a:endParaRPr lang="zh-TW" altLang="en-US" baseline="-25000" dirty="0"/>
            </a:p>
          </p:txBody>
        </p:sp>
      </p:grpSp>
      <p:grpSp>
        <p:nvGrpSpPr>
          <p:cNvPr id="89" name="群組 88">
            <a:extLst>
              <a:ext uri="{FF2B5EF4-FFF2-40B4-BE49-F238E27FC236}">
                <a16:creationId xmlns:a16="http://schemas.microsoft.com/office/drawing/2014/main" id="{347010C7-22E3-62D1-1E78-04F47A644FA1}"/>
              </a:ext>
            </a:extLst>
          </p:cNvPr>
          <p:cNvGrpSpPr/>
          <p:nvPr/>
        </p:nvGrpSpPr>
        <p:grpSpPr>
          <a:xfrm>
            <a:off x="9482919" y="4692373"/>
            <a:ext cx="1188945" cy="750719"/>
            <a:chOff x="6543044" y="3099422"/>
            <a:chExt cx="1188945" cy="750719"/>
          </a:xfrm>
        </p:grpSpPr>
        <p:sp>
          <p:nvSpPr>
            <p:cNvPr id="81" name="左大括弧 80">
              <a:extLst>
                <a:ext uri="{FF2B5EF4-FFF2-40B4-BE49-F238E27FC236}">
                  <a16:creationId xmlns:a16="http://schemas.microsoft.com/office/drawing/2014/main" id="{A585A748-0A25-04DE-714B-616326F359B2}"/>
                </a:ext>
              </a:extLst>
            </p:cNvPr>
            <p:cNvSpPr/>
            <p:nvPr/>
          </p:nvSpPr>
          <p:spPr>
            <a:xfrm rot="16200000">
              <a:off x="6811373" y="2831093"/>
              <a:ext cx="401957" cy="938615"/>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sp>
          <p:nvSpPr>
            <p:cNvPr id="85" name="文字方塊 84">
              <a:extLst>
                <a:ext uri="{FF2B5EF4-FFF2-40B4-BE49-F238E27FC236}">
                  <a16:creationId xmlns:a16="http://schemas.microsoft.com/office/drawing/2014/main" id="{A212DB4A-29DD-3FB8-91F1-E3ECB9352948}"/>
                </a:ext>
              </a:extLst>
            </p:cNvPr>
            <p:cNvSpPr txBox="1"/>
            <p:nvPr/>
          </p:nvSpPr>
          <p:spPr>
            <a:xfrm>
              <a:off x="6808723" y="3480809"/>
              <a:ext cx="923266" cy="369332"/>
            </a:xfrm>
            <a:prstGeom prst="rect">
              <a:avLst/>
            </a:prstGeom>
            <a:noFill/>
          </p:spPr>
          <p:txBody>
            <a:bodyPr wrap="none" rtlCol="0">
              <a:spAutoFit/>
            </a:bodyPr>
            <a:lstStyle/>
            <a:p>
              <a:r>
                <a:rPr lang="en-US" altLang="zh-TW" dirty="0"/>
                <a:t>EO</a:t>
              </a:r>
              <a:r>
                <a:rPr lang="en-US" altLang="zh-TW" baseline="-25000" dirty="0"/>
                <a:t>(0.6cm)</a:t>
              </a:r>
              <a:endParaRPr lang="zh-TW" altLang="en-US" baseline="-25000" dirty="0"/>
            </a:p>
          </p:txBody>
        </p:sp>
      </p:grpSp>
      <p:grpSp>
        <p:nvGrpSpPr>
          <p:cNvPr id="187" name="群組 186">
            <a:extLst>
              <a:ext uri="{FF2B5EF4-FFF2-40B4-BE49-F238E27FC236}">
                <a16:creationId xmlns:a16="http://schemas.microsoft.com/office/drawing/2014/main" id="{643C5346-3317-062F-DF84-0F382BC0F762}"/>
              </a:ext>
            </a:extLst>
          </p:cNvPr>
          <p:cNvGrpSpPr/>
          <p:nvPr/>
        </p:nvGrpSpPr>
        <p:grpSpPr>
          <a:xfrm>
            <a:off x="853028" y="3089993"/>
            <a:ext cx="1597732" cy="1615784"/>
            <a:chOff x="1547796" y="4590564"/>
            <a:chExt cx="1597732" cy="1615784"/>
          </a:xfrm>
        </p:grpSpPr>
        <p:grpSp>
          <p:nvGrpSpPr>
            <p:cNvPr id="6" name="群組 5">
              <a:extLst>
                <a:ext uri="{FF2B5EF4-FFF2-40B4-BE49-F238E27FC236}">
                  <a16:creationId xmlns:a16="http://schemas.microsoft.com/office/drawing/2014/main" id="{D20ED634-A613-01A6-71CF-5FF0C56811B3}"/>
                </a:ext>
              </a:extLst>
            </p:cNvPr>
            <p:cNvGrpSpPr/>
            <p:nvPr/>
          </p:nvGrpSpPr>
          <p:grpSpPr>
            <a:xfrm>
              <a:off x="1547796" y="4590564"/>
              <a:ext cx="1597732" cy="1615784"/>
              <a:chOff x="7755536" y="4682354"/>
              <a:chExt cx="1539881" cy="1413646"/>
            </a:xfrm>
          </p:grpSpPr>
          <p:grpSp>
            <p:nvGrpSpPr>
              <p:cNvPr id="75" name="群組 74">
                <a:extLst>
                  <a:ext uri="{FF2B5EF4-FFF2-40B4-BE49-F238E27FC236}">
                    <a16:creationId xmlns:a16="http://schemas.microsoft.com/office/drawing/2014/main" id="{4C9670E7-88D1-9077-32E5-2F916CB65BD6}"/>
                  </a:ext>
                </a:extLst>
              </p:cNvPr>
              <p:cNvGrpSpPr/>
              <p:nvPr/>
            </p:nvGrpSpPr>
            <p:grpSpPr>
              <a:xfrm>
                <a:off x="7755536" y="4682354"/>
                <a:ext cx="382023" cy="1413646"/>
                <a:chOff x="7755536" y="4682354"/>
                <a:chExt cx="382023" cy="1413646"/>
              </a:xfrm>
            </p:grpSpPr>
            <p:sp>
              <p:nvSpPr>
                <p:cNvPr id="98" name="矩形 97">
                  <a:extLst>
                    <a:ext uri="{FF2B5EF4-FFF2-40B4-BE49-F238E27FC236}">
                      <a16:creationId xmlns:a16="http://schemas.microsoft.com/office/drawing/2014/main" id="{D4714103-9281-C4A3-C7EC-0DB8E8A67DCE}"/>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9" name="矩形 98">
                  <a:extLst>
                    <a:ext uri="{FF2B5EF4-FFF2-40B4-BE49-F238E27FC236}">
                      <a16:creationId xmlns:a16="http://schemas.microsoft.com/office/drawing/2014/main" id="{FC4D2F9A-C88B-4525-8396-2FC97F770CE7}"/>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76" name="群組 75">
                <a:extLst>
                  <a:ext uri="{FF2B5EF4-FFF2-40B4-BE49-F238E27FC236}">
                    <a16:creationId xmlns:a16="http://schemas.microsoft.com/office/drawing/2014/main" id="{9A14E843-2DE4-0EB8-D374-E3F247BB2DCF}"/>
                  </a:ext>
                </a:extLst>
              </p:cNvPr>
              <p:cNvGrpSpPr/>
              <p:nvPr/>
            </p:nvGrpSpPr>
            <p:grpSpPr>
              <a:xfrm>
                <a:off x="8136791" y="4682354"/>
                <a:ext cx="382023" cy="1413646"/>
                <a:chOff x="7755536" y="4682354"/>
                <a:chExt cx="382023" cy="1413646"/>
              </a:xfrm>
            </p:grpSpPr>
            <p:sp>
              <p:nvSpPr>
                <p:cNvPr id="96" name="矩形 95">
                  <a:extLst>
                    <a:ext uri="{FF2B5EF4-FFF2-40B4-BE49-F238E27FC236}">
                      <a16:creationId xmlns:a16="http://schemas.microsoft.com/office/drawing/2014/main" id="{5E1578CD-C5A7-F61E-F9F1-382870E0FE40}"/>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7" name="矩形 96">
                  <a:extLst>
                    <a:ext uri="{FF2B5EF4-FFF2-40B4-BE49-F238E27FC236}">
                      <a16:creationId xmlns:a16="http://schemas.microsoft.com/office/drawing/2014/main" id="{4CA60876-376E-81D1-AAEA-3CA13E2F961A}"/>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90" name="群組 89">
                <a:extLst>
                  <a:ext uri="{FF2B5EF4-FFF2-40B4-BE49-F238E27FC236}">
                    <a16:creationId xmlns:a16="http://schemas.microsoft.com/office/drawing/2014/main" id="{3DB5E330-CB58-A26E-2E7E-CD90AE737277}"/>
                  </a:ext>
                </a:extLst>
              </p:cNvPr>
              <p:cNvGrpSpPr/>
              <p:nvPr/>
            </p:nvGrpSpPr>
            <p:grpSpPr>
              <a:xfrm>
                <a:off x="8529017" y="4682354"/>
                <a:ext cx="382023" cy="1413646"/>
                <a:chOff x="7755536" y="4682354"/>
                <a:chExt cx="382023" cy="1413646"/>
              </a:xfrm>
            </p:grpSpPr>
            <p:sp>
              <p:nvSpPr>
                <p:cNvPr id="94" name="矩形 93">
                  <a:extLst>
                    <a:ext uri="{FF2B5EF4-FFF2-40B4-BE49-F238E27FC236}">
                      <a16:creationId xmlns:a16="http://schemas.microsoft.com/office/drawing/2014/main" id="{B5F65E98-E9A7-2825-FA77-D4ACF3B8C467}"/>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5" name="矩形 94">
                  <a:extLst>
                    <a:ext uri="{FF2B5EF4-FFF2-40B4-BE49-F238E27FC236}">
                      <a16:creationId xmlns:a16="http://schemas.microsoft.com/office/drawing/2014/main" id="{87542D68-2A60-1ED7-7BA1-26A60BEF53F9}"/>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91" name="群組 90">
                <a:extLst>
                  <a:ext uri="{FF2B5EF4-FFF2-40B4-BE49-F238E27FC236}">
                    <a16:creationId xmlns:a16="http://schemas.microsoft.com/office/drawing/2014/main" id="{88F7A957-93F0-20FC-0CC2-F1D6F36ACB45}"/>
                  </a:ext>
                </a:extLst>
              </p:cNvPr>
              <p:cNvGrpSpPr/>
              <p:nvPr/>
            </p:nvGrpSpPr>
            <p:grpSpPr>
              <a:xfrm>
                <a:off x="8913394" y="4682354"/>
                <a:ext cx="382023" cy="1413646"/>
                <a:chOff x="7755536" y="4682354"/>
                <a:chExt cx="382023" cy="1413646"/>
              </a:xfrm>
            </p:grpSpPr>
            <p:sp>
              <p:nvSpPr>
                <p:cNvPr id="92" name="矩形 91">
                  <a:extLst>
                    <a:ext uri="{FF2B5EF4-FFF2-40B4-BE49-F238E27FC236}">
                      <a16:creationId xmlns:a16="http://schemas.microsoft.com/office/drawing/2014/main" id="{2E64A673-DC07-3D3E-AE38-E98B349A23B9}"/>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3" name="矩形 92">
                  <a:extLst>
                    <a:ext uri="{FF2B5EF4-FFF2-40B4-BE49-F238E27FC236}">
                      <a16:creationId xmlns:a16="http://schemas.microsoft.com/office/drawing/2014/main" id="{FE97A7C1-3165-1389-1143-F0CC799D012E}"/>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100" name="矩形 99">
              <a:extLst>
                <a:ext uri="{FF2B5EF4-FFF2-40B4-BE49-F238E27FC236}">
                  <a16:creationId xmlns:a16="http://schemas.microsoft.com/office/drawing/2014/main" id="{BD7CF3CE-D650-3CFD-83E5-03700D0E467F}"/>
                </a:ext>
              </a:extLst>
            </p:cNvPr>
            <p:cNvSpPr/>
            <p:nvPr/>
          </p:nvSpPr>
          <p:spPr>
            <a:xfrm>
              <a:off x="1560341" y="5172154"/>
              <a:ext cx="1575773" cy="262714"/>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86" name="矩形 185">
              <a:extLst>
                <a:ext uri="{FF2B5EF4-FFF2-40B4-BE49-F238E27FC236}">
                  <a16:creationId xmlns:a16="http://schemas.microsoft.com/office/drawing/2014/main" id="{D97C8FBE-0158-A447-B443-16A016E07D72}"/>
                </a:ext>
              </a:extLst>
            </p:cNvPr>
            <p:cNvSpPr/>
            <p:nvPr/>
          </p:nvSpPr>
          <p:spPr>
            <a:xfrm>
              <a:off x="1554254" y="5982936"/>
              <a:ext cx="1591274" cy="223412"/>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193" name="箭號: 向右 192">
            <a:extLst>
              <a:ext uri="{FF2B5EF4-FFF2-40B4-BE49-F238E27FC236}">
                <a16:creationId xmlns:a16="http://schemas.microsoft.com/office/drawing/2014/main" id="{22CEFEFD-2292-4A69-0F5B-E509624EC2B4}"/>
              </a:ext>
            </a:extLst>
          </p:cNvPr>
          <p:cNvSpPr/>
          <p:nvPr/>
        </p:nvSpPr>
        <p:spPr>
          <a:xfrm>
            <a:off x="88860" y="3697690"/>
            <a:ext cx="750491" cy="275824"/>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4" name="文字方塊 193">
            <a:extLst>
              <a:ext uri="{FF2B5EF4-FFF2-40B4-BE49-F238E27FC236}">
                <a16:creationId xmlns:a16="http://schemas.microsoft.com/office/drawing/2014/main" id="{D3C38CEB-DC6A-271E-A15D-F63AAB9E194F}"/>
              </a:ext>
            </a:extLst>
          </p:cNvPr>
          <p:cNvSpPr txBox="1"/>
          <p:nvPr/>
        </p:nvSpPr>
        <p:spPr>
          <a:xfrm>
            <a:off x="108731" y="3456729"/>
            <a:ext cx="618015" cy="307777"/>
          </a:xfrm>
          <a:prstGeom prst="rect">
            <a:avLst/>
          </a:prstGeom>
          <a:noFill/>
        </p:spPr>
        <p:txBody>
          <a:bodyPr wrap="square" rtlCol="0">
            <a:spAutoFit/>
          </a:bodyPr>
          <a:lstStyle/>
          <a:p>
            <a:r>
              <a:rPr lang="en-US" altLang="zh-TW" sz="1400" dirty="0"/>
              <a:t>Pump </a:t>
            </a:r>
            <a:endParaRPr lang="zh-TW" altLang="en-US" sz="1400" dirty="0"/>
          </a:p>
        </p:txBody>
      </p:sp>
      <p:grpSp>
        <p:nvGrpSpPr>
          <p:cNvPr id="235" name="群組 234">
            <a:extLst>
              <a:ext uri="{FF2B5EF4-FFF2-40B4-BE49-F238E27FC236}">
                <a16:creationId xmlns:a16="http://schemas.microsoft.com/office/drawing/2014/main" id="{58001093-5102-6A53-675E-2D0DC04C8F0C}"/>
              </a:ext>
            </a:extLst>
          </p:cNvPr>
          <p:cNvGrpSpPr/>
          <p:nvPr/>
        </p:nvGrpSpPr>
        <p:grpSpPr>
          <a:xfrm>
            <a:off x="3332816" y="2371963"/>
            <a:ext cx="1598437" cy="2314555"/>
            <a:chOff x="8442672" y="1013979"/>
            <a:chExt cx="1598437" cy="2314555"/>
          </a:xfrm>
        </p:grpSpPr>
        <p:grpSp>
          <p:nvGrpSpPr>
            <p:cNvPr id="236" name="群組 235">
              <a:extLst>
                <a:ext uri="{FF2B5EF4-FFF2-40B4-BE49-F238E27FC236}">
                  <a16:creationId xmlns:a16="http://schemas.microsoft.com/office/drawing/2014/main" id="{ED13C53B-29D8-7150-9BDE-8D6B369990FC}"/>
                </a:ext>
              </a:extLst>
            </p:cNvPr>
            <p:cNvGrpSpPr/>
            <p:nvPr/>
          </p:nvGrpSpPr>
          <p:grpSpPr>
            <a:xfrm>
              <a:off x="8442672" y="1013979"/>
              <a:ext cx="1598437" cy="2314554"/>
              <a:chOff x="8442672" y="1013979"/>
              <a:chExt cx="1598437" cy="2314554"/>
            </a:xfrm>
          </p:grpSpPr>
          <p:grpSp>
            <p:nvGrpSpPr>
              <p:cNvPr id="239" name="群組 238">
                <a:extLst>
                  <a:ext uri="{FF2B5EF4-FFF2-40B4-BE49-F238E27FC236}">
                    <a16:creationId xmlns:a16="http://schemas.microsoft.com/office/drawing/2014/main" id="{54406BB5-B5EE-9D1D-1E52-56602CF614B1}"/>
                  </a:ext>
                </a:extLst>
              </p:cNvPr>
              <p:cNvGrpSpPr/>
              <p:nvPr/>
            </p:nvGrpSpPr>
            <p:grpSpPr>
              <a:xfrm>
                <a:off x="8443377" y="1712749"/>
                <a:ext cx="1597732" cy="1615784"/>
                <a:chOff x="3923113" y="2277371"/>
                <a:chExt cx="1539881" cy="1413646"/>
              </a:xfrm>
            </p:grpSpPr>
            <p:grpSp>
              <p:nvGrpSpPr>
                <p:cNvPr id="294" name="群組 293">
                  <a:extLst>
                    <a:ext uri="{FF2B5EF4-FFF2-40B4-BE49-F238E27FC236}">
                      <a16:creationId xmlns:a16="http://schemas.microsoft.com/office/drawing/2014/main" id="{FC0FAA66-FEDD-AF3A-1C1C-0590DD2634A3}"/>
                    </a:ext>
                  </a:extLst>
                </p:cNvPr>
                <p:cNvGrpSpPr/>
                <p:nvPr/>
              </p:nvGrpSpPr>
              <p:grpSpPr>
                <a:xfrm>
                  <a:off x="3923113" y="2277371"/>
                  <a:ext cx="382023" cy="1413646"/>
                  <a:chOff x="7755536" y="4682354"/>
                  <a:chExt cx="382023" cy="1413646"/>
                </a:xfrm>
                <a:solidFill>
                  <a:schemeClr val="accent6">
                    <a:lumMod val="60000"/>
                    <a:lumOff val="40000"/>
                  </a:schemeClr>
                </a:solidFill>
              </p:grpSpPr>
              <p:sp>
                <p:nvSpPr>
                  <p:cNvPr id="304" name="矩形 303">
                    <a:extLst>
                      <a:ext uri="{FF2B5EF4-FFF2-40B4-BE49-F238E27FC236}">
                        <a16:creationId xmlns:a16="http://schemas.microsoft.com/office/drawing/2014/main" id="{D25B2392-EC46-7D58-6D5D-127B0E38A5A8}"/>
                      </a:ext>
                    </a:extLst>
                  </p:cNvPr>
                  <p:cNvSpPr/>
                  <p:nvPr/>
                </p:nvSpPr>
                <p:spPr>
                  <a:xfrm>
                    <a:off x="7755536"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5" name="矩形 304">
                    <a:extLst>
                      <a:ext uri="{FF2B5EF4-FFF2-40B4-BE49-F238E27FC236}">
                        <a16:creationId xmlns:a16="http://schemas.microsoft.com/office/drawing/2014/main" id="{C9E553EF-221A-3321-FC87-F4112418CEC7}"/>
                      </a:ext>
                    </a:extLst>
                  </p:cNvPr>
                  <p:cNvSpPr/>
                  <p:nvPr/>
                </p:nvSpPr>
                <p:spPr>
                  <a:xfrm>
                    <a:off x="7946547"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295" name="群組 294">
                  <a:extLst>
                    <a:ext uri="{FF2B5EF4-FFF2-40B4-BE49-F238E27FC236}">
                      <a16:creationId xmlns:a16="http://schemas.microsoft.com/office/drawing/2014/main" id="{68BE1CC3-B3EB-E89D-59AE-85E5B9A7723B}"/>
                    </a:ext>
                  </a:extLst>
                </p:cNvPr>
                <p:cNvGrpSpPr/>
                <p:nvPr/>
              </p:nvGrpSpPr>
              <p:grpSpPr>
                <a:xfrm>
                  <a:off x="4304368" y="2277371"/>
                  <a:ext cx="382023" cy="1413646"/>
                  <a:chOff x="7755536" y="4682354"/>
                  <a:chExt cx="382023" cy="1413646"/>
                </a:xfrm>
                <a:solidFill>
                  <a:schemeClr val="accent6">
                    <a:lumMod val="20000"/>
                    <a:lumOff val="80000"/>
                  </a:schemeClr>
                </a:solidFill>
              </p:grpSpPr>
              <p:sp>
                <p:nvSpPr>
                  <p:cNvPr id="302" name="矩形 301">
                    <a:extLst>
                      <a:ext uri="{FF2B5EF4-FFF2-40B4-BE49-F238E27FC236}">
                        <a16:creationId xmlns:a16="http://schemas.microsoft.com/office/drawing/2014/main" id="{1F74DE05-CD51-BA35-8858-BF9941D24233}"/>
                      </a:ext>
                    </a:extLst>
                  </p:cNvPr>
                  <p:cNvSpPr/>
                  <p:nvPr/>
                </p:nvSpPr>
                <p:spPr>
                  <a:xfrm>
                    <a:off x="7755536"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3" name="矩形 302">
                    <a:extLst>
                      <a:ext uri="{FF2B5EF4-FFF2-40B4-BE49-F238E27FC236}">
                        <a16:creationId xmlns:a16="http://schemas.microsoft.com/office/drawing/2014/main" id="{64EC3D46-E4B0-3E4A-EFA0-906C6C194617}"/>
                      </a:ext>
                    </a:extLst>
                  </p:cNvPr>
                  <p:cNvSpPr/>
                  <p:nvPr/>
                </p:nvSpPr>
                <p:spPr>
                  <a:xfrm>
                    <a:off x="7946547"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296" name="群組 295">
                  <a:extLst>
                    <a:ext uri="{FF2B5EF4-FFF2-40B4-BE49-F238E27FC236}">
                      <a16:creationId xmlns:a16="http://schemas.microsoft.com/office/drawing/2014/main" id="{D7592430-200D-A221-9627-B75263B46D65}"/>
                    </a:ext>
                  </a:extLst>
                </p:cNvPr>
                <p:cNvGrpSpPr/>
                <p:nvPr/>
              </p:nvGrpSpPr>
              <p:grpSpPr>
                <a:xfrm>
                  <a:off x="4696594" y="2277371"/>
                  <a:ext cx="382023" cy="1413646"/>
                  <a:chOff x="7755536" y="4682354"/>
                  <a:chExt cx="382023" cy="1413646"/>
                </a:xfrm>
              </p:grpSpPr>
              <p:sp>
                <p:nvSpPr>
                  <p:cNvPr id="300" name="矩形 299">
                    <a:extLst>
                      <a:ext uri="{FF2B5EF4-FFF2-40B4-BE49-F238E27FC236}">
                        <a16:creationId xmlns:a16="http://schemas.microsoft.com/office/drawing/2014/main" id="{9276A22F-19C3-09A0-6805-C45AE53D3A12}"/>
                      </a:ext>
                    </a:extLst>
                  </p:cNvPr>
                  <p:cNvSpPr/>
                  <p:nvPr/>
                </p:nvSpPr>
                <p:spPr>
                  <a:xfrm>
                    <a:off x="7755536" y="4682354"/>
                    <a:ext cx="191012" cy="1413646"/>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1" name="矩形 300">
                    <a:extLst>
                      <a:ext uri="{FF2B5EF4-FFF2-40B4-BE49-F238E27FC236}">
                        <a16:creationId xmlns:a16="http://schemas.microsoft.com/office/drawing/2014/main" id="{F197B09E-B457-0128-F12C-50F863019BA6}"/>
                      </a:ext>
                    </a:extLst>
                  </p:cNvPr>
                  <p:cNvSpPr/>
                  <p:nvPr/>
                </p:nvSpPr>
                <p:spPr>
                  <a:xfrm>
                    <a:off x="7946547" y="4682354"/>
                    <a:ext cx="191012" cy="141364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297" name="群組 296">
                  <a:extLst>
                    <a:ext uri="{FF2B5EF4-FFF2-40B4-BE49-F238E27FC236}">
                      <a16:creationId xmlns:a16="http://schemas.microsoft.com/office/drawing/2014/main" id="{1C02879F-40B5-93FC-BC56-77C9625F08E6}"/>
                    </a:ext>
                  </a:extLst>
                </p:cNvPr>
                <p:cNvGrpSpPr/>
                <p:nvPr/>
              </p:nvGrpSpPr>
              <p:grpSpPr>
                <a:xfrm>
                  <a:off x="5080971" y="2277371"/>
                  <a:ext cx="382023" cy="1413646"/>
                  <a:chOff x="7755536" y="4682354"/>
                  <a:chExt cx="382023" cy="1413646"/>
                </a:xfrm>
              </p:grpSpPr>
              <p:sp>
                <p:nvSpPr>
                  <p:cNvPr id="298" name="矩形 297">
                    <a:extLst>
                      <a:ext uri="{FF2B5EF4-FFF2-40B4-BE49-F238E27FC236}">
                        <a16:creationId xmlns:a16="http://schemas.microsoft.com/office/drawing/2014/main" id="{C14D46E3-39D2-50C7-9C73-85D52C515073}"/>
                      </a:ext>
                    </a:extLst>
                  </p:cNvPr>
                  <p:cNvSpPr/>
                  <p:nvPr/>
                </p:nvSpPr>
                <p:spPr>
                  <a:xfrm>
                    <a:off x="7755536" y="4682354"/>
                    <a:ext cx="191012" cy="141364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99" name="矩形 298">
                    <a:extLst>
                      <a:ext uri="{FF2B5EF4-FFF2-40B4-BE49-F238E27FC236}">
                        <a16:creationId xmlns:a16="http://schemas.microsoft.com/office/drawing/2014/main" id="{170A57E1-6B85-A008-45FA-C9DDC726B6EE}"/>
                      </a:ext>
                    </a:extLst>
                  </p:cNvPr>
                  <p:cNvSpPr/>
                  <p:nvPr/>
                </p:nvSpPr>
                <p:spPr>
                  <a:xfrm>
                    <a:off x="7946547" y="4682354"/>
                    <a:ext cx="191012" cy="1413646"/>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241" name="矩形 240">
                <a:extLst>
                  <a:ext uri="{FF2B5EF4-FFF2-40B4-BE49-F238E27FC236}">
                    <a16:creationId xmlns:a16="http://schemas.microsoft.com/office/drawing/2014/main" id="{D73A12A9-3B52-2037-2B74-86FD8705A04F}"/>
                  </a:ext>
                </a:extLst>
              </p:cNvPr>
              <p:cNvSpPr/>
              <p:nvPr/>
            </p:nvSpPr>
            <p:spPr>
              <a:xfrm>
                <a:off x="8453352" y="1984590"/>
                <a:ext cx="1585315"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46" name="矩形 245">
                <a:extLst>
                  <a:ext uri="{FF2B5EF4-FFF2-40B4-BE49-F238E27FC236}">
                    <a16:creationId xmlns:a16="http://schemas.microsoft.com/office/drawing/2014/main" id="{7AAD89B5-EFBD-C61A-C2BE-6DAADC5E40BF}"/>
                  </a:ext>
                </a:extLst>
              </p:cNvPr>
              <p:cNvSpPr/>
              <p:nvPr/>
            </p:nvSpPr>
            <p:spPr>
              <a:xfrm>
                <a:off x="8442672" y="2636613"/>
                <a:ext cx="1585315"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267" name="直線接點 266">
                <a:extLst>
                  <a:ext uri="{FF2B5EF4-FFF2-40B4-BE49-F238E27FC236}">
                    <a16:creationId xmlns:a16="http://schemas.microsoft.com/office/drawing/2014/main" id="{6C909218-F352-E25D-37A2-BF01D9FEC07A}"/>
                  </a:ext>
                </a:extLst>
              </p:cNvPr>
              <p:cNvCxnSpPr>
                <a:cxnSpLocks/>
              </p:cNvCxnSpPr>
              <p:nvPr/>
            </p:nvCxnSpPr>
            <p:spPr>
              <a:xfrm flipH="1" flipV="1">
                <a:off x="8509832" y="1339285"/>
                <a:ext cx="131732" cy="140986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5" name="直線接點 274">
                <a:extLst>
                  <a:ext uri="{FF2B5EF4-FFF2-40B4-BE49-F238E27FC236}">
                    <a16:creationId xmlns:a16="http://schemas.microsoft.com/office/drawing/2014/main" id="{51935ED9-E9B4-0117-0C87-3EFD2084E7DD}"/>
                  </a:ext>
                </a:extLst>
              </p:cNvPr>
              <p:cNvCxnSpPr>
                <a:cxnSpLocks/>
              </p:cNvCxnSpPr>
              <p:nvPr/>
            </p:nvCxnSpPr>
            <p:spPr>
              <a:xfrm flipH="1" flipV="1">
                <a:off x="9436018" y="1025270"/>
                <a:ext cx="101693" cy="10542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1" name="直線接點 290">
                <a:extLst>
                  <a:ext uri="{FF2B5EF4-FFF2-40B4-BE49-F238E27FC236}">
                    <a16:creationId xmlns:a16="http://schemas.microsoft.com/office/drawing/2014/main" id="{16100671-DED2-3706-7B5E-38E183869359}"/>
                  </a:ext>
                </a:extLst>
              </p:cNvPr>
              <p:cNvCxnSpPr>
                <a:cxnSpLocks/>
              </p:cNvCxnSpPr>
              <p:nvPr/>
            </p:nvCxnSpPr>
            <p:spPr>
              <a:xfrm flipV="1">
                <a:off x="8508538" y="1264686"/>
                <a:ext cx="232120" cy="8522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2" name="直線接點 291">
                <a:extLst>
                  <a:ext uri="{FF2B5EF4-FFF2-40B4-BE49-F238E27FC236}">
                    <a16:creationId xmlns:a16="http://schemas.microsoft.com/office/drawing/2014/main" id="{1AD66B2E-33C9-4BB3-E5EE-0AF56DE615FA}"/>
                  </a:ext>
                </a:extLst>
              </p:cNvPr>
              <p:cNvCxnSpPr>
                <a:cxnSpLocks/>
              </p:cNvCxnSpPr>
              <p:nvPr/>
            </p:nvCxnSpPr>
            <p:spPr>
              <a:xfrm flipH="1">
                <a:off x="9125726" y="1034920"/>
                <a:ext cx="319098" cy="1220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93" name="橢圓 292">
                <a:extLst>
                  <a:ext uri="{FF2B5EF4-FFF2-40B4-BE49-F238E27FC236}">
                    <a16:creationId xmlns:a16="http://schemas.microsoft.com/office/drawing/2014/main" id="{614B2AC3-0DA8-D030-65EF-7AD59D024A2F}"/>
                  </a:ext>
                </a:extLst>
              </p:cNvPr>
              <p:cNvSpPr/>
              <p:nvPr/>
            </p:nvSpPr>
            <p:spPr>
              <a:xfrm>
                <a:off x="8736284" y="1013979"/>
                <a:ext cx="382626" cy="378964"/>
              </a:xfrm>
              <a:prstGeom prst="ellipse">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solidFill>
                      <a:schemeClr val="tx1"/>
                    </a:solidFill>
                  </a:rPr>
                  <a:t>V</a:t>
                </a:r>
                <a:endParaRPr lang="zh-TW" altLang="en-US" b="1" dirty="0">
                  <a:solidFill>
                    <a:schemeClr val="tx1"/>
                  </a:solidFill>
                </a:endParaRPr>
              </a:p>
            </p:txBody>
          </p:sp>
        </p:grpSp>
        <p:sp>
          <p:nvSpPr>
            <p:cNvPr id="237" name="矩形 236">
              <a:extLst>
                <a:ext uri="{FF2B5EF4-FFF2-40B4-BE49-F238E27FC236}">
                  <a16:creationId xmlns:a16="http://schemas.microsoft.com/office/drawing/2014/main" id="{BA284123-0556-21AF-67C0-964480CD1FCC}"/>
                </a:ext>
              </a:extLst>
            </p:cNvPr>
            <p:cNvSpPr/>
            <p:nvPr/>
          </p:nvSpPr>
          <p:spPr>
            <a:xfrm>
              <a:off x="8456889" y="3089226"/>
              <a:ext cx="1581778" cy="239308"/>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38" name="矩形 237">
              <a:extLst>
                <a:ext uri="{FF2B5EF4-FFF2-40B4-BE49-F238E27FC236}">
                  <a16:creationId xmlns:a16="http://schemas.microsoft.com/office/drawing/2014/main" id="{B88D2D2F-9625-41EF-F442-09B39E0597E9}"/>
                </a:ext>
              </a:extLst>
            </p:cNvPr>
            <p:cNvSpPr/>
            <p:nvPr/>
          </p:nvSpPr>
          <p:spPr>
            <a:xfrm>
              <a:off x="8453198" y="2328648"/>
              <a:ext cx="1577675" cy="196537"/>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nvGrpSpPr>
          <p:cNvPr id="306" name="群組 305">
            <a:extLst>
              <a:ext uri="{FF2B5EF4-FFF2-40B4-BE49-F238E27FC236}">
                <a16:creationId xmlns:a16="http://schemas.microsoft.com/office/drawing/2014/main" id="{6906D793-AF4D-BF11-CD9C-2674AED87A31}"/>
              </a:ext>
            </a:extLst>
          </p:cNvPr>
          <p:cNvGrpSpPr/>
          <p:nvPr/>
        </p:nvGrpSpPr>
        <p:grpSpPr>
          <a:xfrm>
            <a:off x="6109844" y="3065608"/>
            <a:ext cx="1597732" cy="1615786"/>
            <a:chOff x="1547796" y="4590565"/>
            <a:chExt cx="1597732" cy="1615786"/>
          </a:xfrm>
        </p:grpSpPr>
        <p:grpSp>
          <p:nvGrpSpPr>
            <p:cNvPr id="307" name="群組 306">
              <a:extLst>
                <a:ext uri="{FF2B5EF4-FFF2-40B4-BE49-F238E27FC236}">
                  <a16:creationId xmlns:a16="http://schemas.microsoft.com/office/drawing/2014/main" id="{E16FCB19-D9A4-2C95-4FA8-7A779CED8C53}"/>
                </a:ext>
              </a:extLst>
            </p:cNvPr>
            <p:cNvGrpSpPr/>
            <p:nvPr/>
          </p:nvGrpSpPr>
          <p:grpSpPr>
            <a:xfrm>
              <a:off x="1547796" y="4590565"/>
              <a:ext cx="1597732" cy="1615786"/>
              <a:chOff x="7755536" y="4682353"/>
              <a:chExt cx="1539881" cy="1413647"/>
            </a:xfrm>
          </p:grpSpPr>
          <p:grpSp>
            <p:nvGrpSpPr>
              <p:cNvPr id="310" name="群組 309">
                <a:extLst>
                  <a:ext uri="{FF2B5EF4-FFF2-40B4-BE49-F238E27FC236}">
                    <a16:creationId xmlns:a16="http://schemas.microsoft.com/office/drawing/2014/main" id="{3F9220EE-773C-2042-91E9-E686BA36FAC2}"/>
                  </a:ext>
                </a:extLst>
              </p:cNvPr>
              <p:cNvGrpSpPr/>
              <p:nvPr/>
            </p:nvGrpSpPr>
            <p:grpSpPr>
              <a:xfrm>
                <a:off x="7755536" y="4682354"/>
                <a:ext cx="382023" cy="1413646"/>
                <a:chOff x="7755536" y="4682354"/>
                <a:chExt cx="382023" cy="1413646"/>
              </a:xfrm>
            </p:grpSpPr>
            <p:sp>
              <p:nvSpPr>
                <p:cNvPr id="320" name="矩形 319">
                  <a:extLst>
                    <a:ext uri="{FF2B5EF4-FFF2-40B4-BE49-F238E27FC236}">
                      <a16:creationId xmlns:a16="http://schemas.microsoft.com/office/drawing/2014/main" id="{F9951B22-8E50-35F4-9BC1-309DE28405E9}"/>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1" name="矩形 320">
                  <a:extLst>
                    <a:ext uri="{FF2B5EF4-FFF2-40B4-BE49-F238E27FC236}">
                      <a16:creationId xmlns:a16="http://schemas.microsoft.com/office/drawing/2014/main" id="{FC3A3A17-A4AF-9B2C-891C-453EEBC580EC}"/>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11" name="群組 310">
                <a:extLst>
                  <a:ext uri="{FF2B5EF4-FFF2-40B4-BE49-F238E27FC236}">
                    <a16:creationId xmlns:a16="http://schemas.microsoft.com/office/drawing/2014/main" id="{7EF784CA-A07E-22E1-B563-0E5FD41D2FEA}"/>
                  </a:ext>
                </a:extLst>
              </p:cNvPr>
              <p:cNvGrpSpPr/>
              <p:nvPr/>
            </p:nvGrpSpPr>
            <p:grpSpPr>
              <a:xfrm>
                <a:off x="8136791" y="4682354"/>
                <a:ext cx="382023" cy="1413646"/>
                <a:chOff x="7755536" y="4682354"/>
                <a:chExt cx="382023" cy="1413646"/>
              </a:xfrm>
            </p:grpSpPr>
            <p:sp>
              <p:nvSpPr>
                <p:cNvPr id="318" name="矩形 317">
                  <a:extLst>
                    <a:ext uri="{FF2B5EF4-FFF2-40B4-BE49-F238E27FC236}">
                      <a16:creationId xmlns:a16="http://schemas.microsoft.com/office/drawing/2014/main" id="{C0F35C31-4B97-7F6A-4A15-AC43DD6BAC41}"/>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9" name="矩形 318">
                  <a:extLst>
                    <a:ext uri="{FF2B5EF4-FFF2-40B4-BE49-F238E27FC236}">
                      <a16:creationId xmlns:a16="http://schemas.microsoft.com/office/drawing/2014/main" id="{4D413EF0-D670-6919-DA86-EF299162CBE3}"/>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12" name="群組 311">
                <a:extLst>
                  <a:ext uri="{FF2B5EF4-FFF2-40B4-BE49-F238E27FC236}">
                    <a16:creationId xmlns:a16="http://schemas.microsoft.com/office/drawing/2014/main" id="{6F3EB298-81F6-5941-D21E-12BF2298F268}"/>
                  </a:ext>
                </a:extLst>
              </p:cNvPr>
              <p:cNvGrpSpPr/>
              <p:nvPr/>
            </p:nvGrpSpPr>
            <p:grpSpPr>
              <a:xfrm>
                <a:off x="8529018" y="4682353"/>
                <a:ext cx="382022" cy="1413647"/>
                <a:chOff x="7755537" y="4682353"/>
                <a:chExt cx="382022" cy="1413647"/>
              </a:xfrm>
            </p:grpSpPr>
            <p:sp>
              <p:nvSpPr>
                <p:cNvPr id="316" name="矩形 315">
                  <a:extLst>
                    <a:ext uri="{FF2B5EF4-FFF2-40B4-BE49-F238E27FC236}">
                      <a16:creationId xmlns:a16="http://schemas.microsoft.com/office/drawing/2014/main" id="{9189EDA1-FFDD-5EC9-E5EE-7CEFEDD8CD23}"/>
                    </a:ext>
                  </a:extLst>
                </p:cNvPr>
                <p:cNvSpPr/>
                <p:nvPr/>
              </p:nvSpPr>
              <p:spPr>
                <a:xfrm>
                  <a:off x="7755537" y="4682353"/>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7" name="矩形 316">
                  <a:extLst>
                    <a:ext uri="{FF2B5EF4-FFF2-40B4-BE49-F238E27FC236}">
                      <a16:creationId xmlns:a16="http://schemas.microsoft.com/office/drawing/2014/main" id="{5C7BDBDC-147A-5661-9353-7A97DDFABAC4}"/>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13" name="群組 312">
                <a:extLst>
                  <a:ext uri="{FF2B5EF4-FFF2-40B4-BE49-F238E27FC236}">
                    <a16:creationId xmlns:a16="http://schemas.microsoft.com/office/drawing/2014/main" id="{8C387FD1-D7CA-485C-0986-00E69E20BF8F}"/>
                  </a:ext>
                </a:extLst>
              </p:cNvPr>
              <p:cNvGrpSpPr/>
              <p:nvPr/>
            </p:nvGrpSpPr>
            <p:grpSpPr>
              <a:xfrm>
                <a:off x="8913394" y="4682354"/>
                <a:ext cx="382023" cy="1413646"/>
                <a:chOff x="7755536" y="4682354"/>
                <a:chExt cx="382023" cy="1413646"/>
              </a:xfrm>
            </p:grpSpPr>
            <p:sp>
              <p:nvSpPr>
                <p:cNvPr id="314" name="矩形 313">
                  <a:extLst>
                    <a:ext uri="{FF2B5EF4-FFF2-40B4-BE49-F238E27FC236}">
                      <a16:creationId xmlns:a16="http://schemas.microsoft.com/office/drawing/2014/main" id="{6E4E387E-77D6-776F-CE0C-BF95614F3511}"/>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5" name="矩形 314">
                  <a:extLst>
                    <a:ext uri="{FF2B5EF4-FFF2-40B4-BE49-F238E27FC236}">
                      <a16:creationId xmlns:a16="http://schemas.microsoft.com/office/drawing/2014/main" id="{BA5C0EDD-0953-D791-B052-92FA854CD651}"/>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308" name="矩形 307">
              <a:extLst>
                <a:ext uri="{FF2B5EF4-FFF2-40B4-BE49-F238E27FC236}">
                  <a16:creationId xmlns:a16="http://schemas.microsoft.com/office/drawing/2014/main" id="{7CE9B7CC-0DC7-8CAC-E25C-E90689E689C0}"/>
                </a:ext>
              </a:extLst>
            </p:cNvPr>
            <p:cNvSpPr/>
            <p:nvPr/>
          </p:nvSpPr>
          <p:spPr>
            <a:xfrm>
              <a:off x="1560341" y="5172154"/>
              <a:ext cx="1575773" cy="262714"/>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09" name="矩形 308">
              <a:extLst>
                <a:ext uri="{FF2B5EF4-FFF2-40B4-BE49-F238E27FC236}">
                  <a16:creationId xmlns:a16="http://schemas.microsoft.com/office/drawing/2014/main" id="{15546F46-280F-9D3D-5D14-79CF6D401B82}"/>
                </a:ext>
              </a:extLst>
            </p:cNvPr>
            <p:cNvSpPr/>
            <p:nvPr/>
          </p:nvSpPr>
          <p:spPr>
            <a:xfrm>
              <a:off x="1554254" y="5982936"/>
              <a:ext cx="1591274" cy="223412"/>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nvGrpSpPr>
          <p:cNvPr id="377" name="群組 376">
            <a:extLst>
              <a:ext uri="{FF2B5EF4-FFF2-40B4-BE49-F238E27FC236}">
                <a16:creationId xmlns:a16="http://schemas.microsoft.com/office/drawing/2014/main" id="{B8309ACC-4E37-DD5B-A21B-C1B29A527E15}"/>
              </a:ext>
            </a:extLst>
          </p:cNvPr>
          <p:cNvGrpSpPr/>
          <p:nvPr/>
        </p:nvGrpSpPr>
        <p:grpSpPr>
          <a:xfrm>
            <a:off x="9470450" y="2033926"/>
            <a:ext cx="978393" cy="2670776"/>
            <a:chOff x="9494716" y="1425376"/>
            <a:chExt cx="978393" cy="2670776"/>
          </a:xfrm>
        </p:grpSpPr>
        <p:grpSp>
          <p:nvGrpSpPr>
            <p:cNvPr id="378" name="群組 377">
              <a:extLst>
                <a:ext uri="{FF2B5EF4-FFF2-40B4-BE49-F238E27FC236}">
                  <a16:creationId xmlns:a16="http://schemas.microsoft.com/office/drawing/2014/main" id="{62CDA436-1F4A-2755-51B4-72449D79B4BB}"/>
                </a:ext>
              </a:extLst>
            </p:cNvPr>
            <p:cNvGrpSpPr/>
            <p:nvPr/>
          </p:nvGrpSpPr>
          <p:grpSpPr>
            <a:xfrm>
              <a:off x="9494716" y="1425376"/>
              <a:ext cx="978393" cy="2670776"/>
              <a:chOff x="9494716" y="1425376"/>
              <a:chExt cx="978393" cy="2670776"/>
            </a:xfrm>
          </p:grpSpPr>
          <p:sp>
            <p:nvSpPr>
              <p:cNvPr id="380" name="矩形 379">
                <a:extLst>
                  <a:ext uri="{FF2B5EF4-FFF2-40B4-BE49-F238E27FC236}">
                    <a16:creationId xmlns:a16="http://schemas.microsoft.com/office/drawing/2014/main" id="{0817E433-04B9-C487-776E-4456815221C3}"/>
                  </a:ext>
                </a:extLst>
              </p:cNvPr>
              <p:cNvSpPr/>
              <p:nvPr/>
            </p:nvSpPr>
            <p:spPr>
              <a:xfrm>
                <a:off x="9515898" y="2480154"/>
                <a:ext cx="938615" cy="1615784"/>
              </a:xfrm>
              <a:prstGeom prst="rect">
                <a:avLst/>
              </a:prstGeom>
              <a:solidFill>
                <a:srgbClr val="ECDFF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1" name="矩形 380">
                <a:extLst>
                  <a:ext uri="{FF2B5EF4-FFF2-40B4-BE49-F238E27FC236}">
                    <a16:creationId xmlns:a16="http://schemas.microsoft.com/office/drawing/2014/main" id="{4105BE5C-CA06-4E49-72C4-B6E6B4FDA2AC}"/>
                  </a:ext>
                </a:extLst>
              </p:cNvPr>
              <p:cNvSpPr/>
              <p:nvPr/>
            </p:nvSpPr>
            <p:spPr>
              <a:xfrm>
                <a:off x="9527030" y="3404018"/>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82" name="矩形 381">
                <a:extLst>
                  <a:ext uri="{FF2B5EF4-FFF2-40B4-BE49-F238E27FC236}">
                    <a16:creationId xmlns:a16="http://schemas.microsoft.com/office/drawing/2014/main" id="{5E226601-84D5-1CB2-6FFF-ED08E470BFD1}"/>
                  </a:ext>
                </a:extLst>
              </p:cNvPr>
              <p:cNvSpPr/>
              <p:nvPr/>
            </p:nvSpPr>
            <p:spPr>
              <a:xfrm>
                <a:off x="9518613" y="2756692"/>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83" name="矩形 382">
                <a:extLst>
                  <a:ext uri="{FF2B5EF4-FFF2-40B4-BE49-F238E27FC236}">
                    <a16:creationId xmlns:a16="http://schemas.microsoft.com/office/drawing/2014/main" id="{4F9B8AD3-0279-FB66-263E-C062B45DCF21}"/>
                  </a:ext>
                </a:extLst>
              </p:cNvPr>
              <p:cNvSpPr/>
              <p:nvPr/>
            </p:nvSpPr>
            <p:spPr>
              <a:xfrm>
                <a:off x="9518613" y="3070938"/>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384" name="直線接點 383">
                <a:extLst>
                  <a:ext uri="{FF2B5EF4-FFF2-40B4-BE49-F238E27FC236}">
                    <a16:creationId xmlns:a16="http://schemas.microsoft.com/office/drawing/2014/main" id="{0E762F30-E0A8-3737-CEE3-87ECDBF5F1EA}"/>
                  </a:ext>
                </a:extLst>
              </p:cNvPr>
              <p:cNvCxnSpPr>
                <a:cxnSpLocks/>
              </p:cNvCxnSpPr>
              <p:nvPr/>
            </p:nvCxnSpPr>
            <p:spPr>
              <a:xfrm flipH="1" flipV="1">
                <a:off x="9623221" y="1835345"/>
                <a:ext cx="33216" cy="138626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5" name="直線接點 384">
                <a:extLst>
                  <a:ext uri="{FF2B5EF4-FFF2-40B4-BE49-F238E27FC236}">
                    <a16:creationId xmlns:a16="http://schemas.microsoft.com/office/drawing/2014/main" id="{5DF0B335-B2DC-E0A4-0DCD-E94F48491358}"/>
                  </a:ext>
                </a:extLst>
              </p:cNvPr>
              <p:cNvCxnSpPr>
                <a:cxnSpLocks/>
              </p:cNvCxnSpPr>
              <p:nvPr/>
            </p:nvCxnSpPr>
            <p:spPr>
              <a:xfrm flipH="1" flipV="1">
                <a:off x="10265739" y="1460627"/>
                <a:ext cx="58170" cy="138626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6" name="直線接點 385">
                <a:extLst>
                  <a:ext uri="{FF2B5EF4-FFF2-40B4-BE49-F238E27FC236}">
                    <a16:creationId xmlns:a16="http://schemas.microsoft.com/office/drawing/2014/main" id="{D9843B6F-EE94-F012-144E-A3099639D01E}"/>
                  </a:ext>
                </a:extLst>
              </p:cNvPr>
              <p:cNvCxnSpPr>
                <a:cxnSpLocks/>
              </p:cNvCxnSpPr>
              <p:nvPr/>
            </p:nvCxnSpPr>
            <p:spPr>
              <a:xfrm flipV="1">
                <a:off x="9622323" y="1741331"/>
                <a:ext cx="161027" cy="10739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7" name="直線接點 386">
                <a:extLst>
                  <a:ext uri="{FF2B5EF4-FFF2-40B4-BE49-F238E27FC236}">
                    <a16:creationId xmlns:a16="http://schemas.microsoft.com/office/drawing/2014/main" id="{14A54D30-655B-EB8B-D125-5241EC1CEDA5}"/>
                  </a:ext>
                </a:extLst>
              </p:cNvPr>
              <p:cNvCxnSpPr>
                <a:cxnSpLocks/>
              </p:cNvCxnSpPr>
              <p:nvPr/>
            </p:nvCxnSpPr>
            <p:spPr>
              <a:xfrm flipH="1">
                <a:off x="10050482" y="1451767"/>
                <a:ext cx="221366" cy="1538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88" name="橢圓 387">
                <a:extLst>
                  <a:ext uri="{FF2B5EF4-FFF2-40B4-BE49-F238E27FC236}">
                    <a16:creationId xmlns:a16="http://schemas.microsoft.com/office/drawing/2014/main" id="{C76AD94F-97B0-CB02-F08E-BB77F6D35910}"/>
                  </a:ext>
                </a:extLst>
              </p:cNvPr>
              <p:cNvSpPr/>
              <p:nvPr/>
            </p:nvSpPr>
            <p:spPr>
              <a:xfrm>
                <a:off x="9780316" y="1425376"/>
                <a:ext cx="265437" cy="477591"/>
              </a:xfrm>
              <a:prstGeom prst="ellipse">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solidFill>
                      <a:schemeClr val="tx1"/>
                    </a:solidFill>
                  </a:rPr>
                  <a:t>V</a:t>
                </a:r>
                <a:endParaRPr lang="zh-TW" altLang="en-US" b="1" dirty="0">
                  <a:solidFill>
                    <a:schemeClr val="tx1"/>
                  </a:solidFill>
                </a:endParaRPr>
              </a:p>
            </p:txBody>
          </p:sp>
          <p:cxnSp>
            <p:nvCxnSpPr>
              <p:cNvPr id="389" name="直線接點 388">
                <a:extLst>
                  <a:ext uri="{FF2B5EF4-FFF2-40B4-BE49-F238E27FC236}">
                    <a16:creationId xmlns:a16="http://schemas.microsoft.com/office/drawing/2014/main" id="{603C1131-53E0-989C-B3D9-849D1A94F934}"/>
                  </a:ext>
                </a:extLst>
              </p:cNvPr>
              <p:cNvCxnSpPr>
                <a:cxnSpLocks/>
              </p:cNvCxnSpPr>
              <p:nvPr/>
            </p:nvCxnSpPr>
            <p:spPr>
              <a:xfrm flipH="1" flipV="1">
                <a:off x="10025966" y="1872909"/>
                <a:ext cx="56004" cy="163966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0" name="直線接點 389">
                <a:extLst>
                  <a:ext uri="{FF2B5EF4-FFF2-40B4-BE49-F238E27FC236}">
                    <a16:creationId xmlns:a16="http://schemas.microsoft.com/office/drawing/2014/main" id="{5330714B-4110-1EAE-DFD4-A1DAE9F287D7}"/>
                  </a:ext>
                </a:extLst>
              </p:cNvPr>
              <p:cNvCxnSpPr>
                <a:cxnSpLocks/>
              </p:cNvCxnSpPr>
              <p:nvPr/>
            </p:nvCxnSpPr>
            <p:spPr>
              <a:xfrm flipH="1" flipV="1">
                <a:off x="9998614" y="1835343"/>
                <a:ext cx="27352" cy="1243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91" name="矩形 390">
                <a:extLst>
                  <a:ext uri="{FF2B5EF4-FFF2-40B4-BE49-F238E27FC236}">
                    <a16:creationId xmlns:a16="http://schemas.microsoft.com/office/drawing/2014/main" id="{FA96E96C-F4EF-51EE-EC78-DDEC4053DA0B}"/>
                  </a:ext>
                </a:extLst>
              </p:cNvPr>
              <p:cNvSpPr/>
              <p:nvPr/>
            </p:nvSpPr>
            <p:spPr>
              <a:xfrm>
                <a:off x="9510858" y="3815312"/>
                <a:ext cx="946080" cy="280840"/>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92" name="矩形 391">
                <a:extLst>
                  <a:ext uri="{FF2B5EF4-FFF2-40B4-BE49-F238E27FC236}">
                    <a16:creationId xmlns:a16="http://schemas.microsoft.com/office/drawing/2014/main" id="{662DAB5C-4F75-3842-BAEE-1B4D8C7AB124}"/>
                  </a:ext>
                </a:extLst>
              </p:cNvPr>
              <p:cNvSpPr/>
              <p:nvPr/>
            </p:nvSpPr>
            <p:spPr>
              <a:xfrm>
                <a:off x="9494716" y="3054735"/>
                <a:ext cx="943626" cy="230646"/>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379" name="矩形 378">
              <a:extLst>
                <a:ext uri="{FF2B5EF4-FFF2-40B4-BE49-F238E27FC236}">
                  <a16:creationId xmlns:a16="http://schemas.microsoft.com/office/drawing/2014/main" id="{1B75336E-BD12-1D54-A2AC-1E4B0E0704F9}"/>
                </a:ext>
              </a:extLst>
            </p:cNvPr>
            <p:cNvSpPr/>
            <p:nvPr/>
          </p:nvSpPr>
          <p:spPr>
            <a:xfrm>
              <a:off x="9513459" y="3054364"/>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sp>
        <p:nvSpPr>
          <p:cNvPr id="72" name="文字方塊 71">
            <a:extLst>
              <a:ext uri="{FF2B5EF4-FFF2-40B4-BE49-F238E27FC236}">
                <a16:creationId xmlns:a16="http://schemas.microsoft.com/office/drawing/2014/main" id="{4EDDEB61-4940-7BC9-C8B7-E9DB0C0CFB1E}"/>
              </a:ext>
            </a:extLst>
          </p:cNvPr>
          <p:cNvSpPr txBox="1"/>
          <p:nvPr/>
        </p:nvSpPr>
        <p:spPr>
          <a:xfrm>
            <a:off x="12298" y="3910214"/>
            <a:ext cx="808797" cy="400110"/>
          </a:xfrm>
          <a:prstGeom prst="rect">
            <a:avLst/>
          </a:prstGeom>
          <a:noFill/>
        </p:spPr>
        <p:txBody>
          <a:bodyPr wrap="square" rtlCol="0">
            <a:spAutoFit/>
          </a:bodyPr>
          <a:lstStyle/>
          <a:p>
            <a:r>
              <a:rPr lang="en-US" altLang="zh-TW" sz="1000" dirty="0"/>
              <a:t>CW</a:t>
            </a:r>
            <a:r>
              <a:rPr lang="zh-TW" altLang="en-US" sz="1000" dirty="0"/>
              <a:t> </a:t>
            </a:r>
            <a:r>
              <a:rPr lang="en-US" altLang="zh-TW" sz="1000" dirty="0"/>
              <a:t>785nm pump laser </a:t>
            </a:r>
            <a:endParaRPr lang="zh-TW" altLang="en-US" sz="1000" dirty="0"/>
          </a:p>
        </p:txBody>
      </p:sp>
      <p:grpSp>
        <p:nvGrpSpPr>
          <p:cNvPr id="7" name="群組 6">
            <a:extLst>
              <a:ext uri="{FF2B5EF4-FFF2-40B4-BE49-F238E27FC236}">
                <a16:creationId xmlns:a16="http://schemas.microsoft.com/office/drawing/2014/main" id="{715D6C64-5146-4AEC-08D1-852DBA1531D5}"/>
              </a:ext>
            </a:extLst>
          </p:cNvPr>
          <p:cNvGrpSpPr/>
          <p:nvPr/>
        </p:nvGrpSpPr>
        <p:grpSpPr>
          <a:xfrm>
            <a:off x="2739786" y="3998639"/>
            <a:ext cx="291528" cy="666144"/>
            <a:chOff x="8147879" y="2874761"/>
            <a:chExt cx="320447" cy="747169"/>
          </a:xfrm>
        </p:grpSpPr>
        <p:cxnSp>
          <p:nvCxnSpPr>
            <p:cNvPr id="8" name="直線單箭頭接點 7">
              <a:extLst>
                <a:ext uri="{FF2B5EF4-FFF2-40B4-BE49-F238E27FC236}">
                  <a16:creationId xmlns:a16="http://schemas.microsoft.com/office/drawing/2014/main" id="{ED91E5CC-C3B0-144E-88CA-14AF47AD5B49}"/>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橢圓 8">
              <a:extLst>
                <a:ext uri="{FF2B5EF4-FFF2-40B4-BE49-F238E27FC236}">
                  <a16:creationId xmlns:a16="http://schemas.microsoft.com/office/drawing/2014/main" id="{EA1D2A1B-0EA2-4F0C-000A-F3B5609A1391}"/>
                </a:ext>
              </a:extLst>
            </p:cNvPr>
            <p:cNvSpPr/>
            <p:nvPr/>
          </p:nvSpPr>
          <p:spPr>
            <a:xfrm>
              <a:off x="8147879" y="3074008"/>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dirty="0"/>
            </a:p>
          </p:txBody>
        </p:sp>
      </p:grpSp>
      <p:grpSp>
        <p:nvGrpSpPr>
          <p:cNvPr id="10" name="群組 9">
            <a:extLst>
              <a:ext uri="{FF2B5EF4-FFF2-40B4-BE49-F238E27FC236}">
                <a16:creationId xmlns:a16="http://schemas.microsoft.com/office/drawing/2014/main" id="{E3AC9A4E-DFC1-92D0-9B42-F597757F6FB1}"/>
              </a:ext>
            </a:extLst>
          </p:cNvPr>
          <p:cNvGrpSpPr/>
          <p:nvPr/>
        </p:nvGrpSpPr>
        <p:grpSpPr>
          <a:xfrm>
            <a:off x="2781161" y="2827529"/>
            <a:ext cx="291528" cy="666144"/>
            <a:chOff x="8147879" y="2874761"/>
            <a:chExt cx="320447" cy="747169"/>
          </a:xfrm>
        </p:grpSpPr>
        <p:cxnSp>
          <p:nvCxnSpPr>
            <p:cNvPr id="11" name="直線單箭頭接點 10">
              <a:extLst>
                <a:ext uri="{FF2B5EF4-FFF2-40B4-BE49-F238E27FC236}">
                  <a16:creationId xmlns:a16="http://schemas.microsoft.com/office/drawing/2014/main" id="{134804EF-E6A9-4275-7633-93CB613D6F43}"/>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橢圓 11">
              <a:extLst>
                <a:ext uri="{FF2B5EF4-FFF2-40B4-BE49-F238E27FC236}">
                  <a16:creationId xmlns:a16="http://schemas.microsoft.com/office/drawing/2014/main" id="{78A3167D-DB9D-DBB8-5205-ACD31A4E47E1}"/>
                </a:ext>
              </a:extLst>
            </p:cNvPr>
            <p:cNvSpPr/>
            <p:nvPr/>
          </p:nvSpPr>
          <p:spPr>
            <a:xfrm>
              <a:off x="8147879" y="3074007"/>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dirty="0"/>
            </a:p>
          </p:txBody>
        </p:sp>
      </p:grpSp>
      <p:grpSp>
        <p:nvGrpSpPr>
          <p:cNvPr id="3" name="群組 2">
            <a:extLst>
              <a:ext uri="{FF2B5EF4-FFF2-40B4-BE49-F238E27FC236}">
                <a16:creationId xmlns:a16="http://schemas.microsoft.com/office/drawing/2014/main" id="{279CF9A5-C559-1871-3D44-32B70AA39A6D}"/>
              </a:ext>
            </a:extLst>
          </p:cNvPr>
          <p:cNvGrpSpPr/>
          <p:nvPr/>
        </p:nvGrpSpPr>
        <p:grpSpPr>
          <a:xfrm>
            <a:off x="2353117" y="3411092"/>
            <a:ext cx="974947" cy="563274"/>
            <a:chOff x="2276024" y="5015241"/>
            <a:chExt cx="1202006" cy="563274"/>
          </a:xfrm>
        </p:grpSpPr>
        <p:sp>
          <p:nvSpPr>
            <p:cNvPr id="13" name="箭號: 向右 12">
              <a:extLst>
                <a:ext uri="{FF2B5EF4-FFF2-40B4-BE49-F238E27FC236}">
                  <a16:creationId xmlns:a16="http://schemas.microsoft.com/office/drawing/2014/main" id="{8E448193-C9B1-A81B-4089-A597C0AD59DF}"/>
                </a:ext>
              </a:extLst>
            </p:cNvPr>
            <p:cNvSpPr/>
            <p:nvPr/>
          </p:nvSpPr>
          <p:spPr>
            <a:xfrm>
              <a:off x="2413949" y="5273701"/>
              <a:ext cx="1050740" cy="304814"/>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文字方塊 13">
              <a:extLst>
                <a:ext uri="{FF2B5EF4-FFF2-40B4-BE49-F238E27FC236}">
                  <a16:creationId xmlns:a16="http://schemas.microsoft.com/office/drawing/2014/main" id="{CF8E3E30-DD99-C94B-CC41-763133728BF6}"/>
                </a:ext>
              </a:extLst>
            </p:cNvPr>
            <p:cNvSpPr txBox="1"/>
            <p:nvPr/>
          </p:nvSpPr>
          <p:spPr>
            <a:xfrm>
              <a:off x="2276024" y="5015241"/>
              <a:ext cx="1202006" cy="246221"/>
            </a:xfrm>
            <a:prstGeom prst="rect">
              <a:avLst/>
            </a:prstGeom>
            <a:noFill/>
          </p:spPr>
          <p:txBody>
            <a:bodyPr wrap="none" rtlCol="0">
              <a:spAutoFit/>
            </a:bodyPr>
            <a:lstStyle/>
            <a:p>
              <a:r>
                <a:rPr lang="en-US" altLang="zh-TW" sz="1000" dirty="0"/>
                <a:t>|VV⟩</a:t>
              </a:r>
              <a:r>
                <a:rPr lang="en-US" altLang="zh-TW" sz="1000" baseline="-25000" dirty="0"/>
                <a:t>1570</a:t>
              </a:r>
              <a:r>
                <a:rPr lang="en-US" altLang="zh-TW" sz="1000" dirty="0"/>
                <a:t>+Pump</a:t>
              </a:r>
            </a:p>
          </p:txBody>
        </p:sp>
      </p:grpSp>
    </p:spTree>
    <p:extLst>
      <p:ext uri="{BB962C8B-B14F-4D97-AF65-F5344CB8AC3E}">
        <p14:creationId xmlns:p14="http://schemas.microsoft.com/office/powerpoint/2010/main" val="35270412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Objective</a:t>
            </a:r>
            <a:endParaRPr lang="zh-TW" altLang="en-US" b="1"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0039351" y="6356352"/>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11</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grpSp>
        <p:nvGrpSpPr>
          <p:cNvPr id="86" name="群組 85">
            <a:extLst>
              <a:ext uri="{FF2B5EF4-FFF2-40B4-BE49-F238E27FC236}">
                <a16:creationId xmlns:a16="http://schemas.microsoft.com/office/drawing/2014/main" id="{A40FBE4A-7A06-038D-356F-E691893841AA}"/>
              </a:ext>
            </a:extLst>
          </p:cNvPr>
          <p:cNvGrpSpPr/>
          <p:nvPr/>
        </p:nvGrpSpPr>
        <p:grpSpPr>
          <a:xfrm>
            <a:off x="865318" y="4706428"/>
            <a:ext cx="1755678" cy="736664"/>
            <a:chOff x="1748077" y="3079921"/>
            <a:chExt cx="1755678" cy="736664"/>
          </a:xfrm>
        </p:grpSpPr>
        <p:sp>
          <p:nvSpPr>
            <p:cNvPr id="78" name="左大括弧 77">
              <a:extLst>
                <a:ext uri="{FF2B5EF4-FFF2-40B4-BE49-F238E27FC236}">
                  <a16:creationId xmlns:a16="http://schemas.microsoft.com/office/drawing/2014/main" id="{D27E4118-1092-E5DE-ED03-3AE49E207554}"/>
                </a:ext>
              </a:extLst>
            </p:cNvPr>
            <p:cNvSpPr/>
            <p:nvPr/>
          </p:nvSpPr>
          <p:spPr>
            <a:xfrm rot="16200000">
              <a:off x="2339692" y="2488306"/>
              <a:ext cx="401957" cy="1585187"/>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sp>
          <p:nvSpPr>
            <p:cNvPr id="82" name="文字方塊 81">
              <a:extLst>
                <a:ext uri="{FF2B5EF4-FFF2-40B4-BE49-F238E27FC236}">
                  <a16:creationId xmlns:a16="http://schemas.microsoft.com/office/drawing/2014/main" id="{A3208C3D-0083-985B-A04E-E72C42B0DA7F}"/>
                </a:ext>
              </a:extLst>
            </p:cNvPr>
            <p:cNvSpPr txBox="1"/>
            <p:nvPr/>
          </p:nvSpPr>
          <p:spPr>
            <a:xfrm>
              <a:off x="2112027" y="3447253"/>
              <a:ext cx="1391728" cy="369332"/>
            </a:xfrm>
            <a:prstGeom prst="rect">
              <a:avLst/>
            </a:prstGeom>
            <a:noFill/>
          </p:spPr>
          <p:txBody>
            <a:bodyPr wrap="none" rtlCol="0">
              <a:spAutoFit/>
            </a:bodyPr>
            <a:lstStyle/>
            <a:p>
              <a:r>
                <a:rPr lang="en-US" altLang="zh-TW" dirty="0"/>
                <a:t>SPDC</a:t>
              </a:r>
              <a:r>
                <a:rPr lang="en-US" altLang="zh-TW" baseline="-25000" dirty="0"/>
                <a:t>type0(1cm)</a:t>
              </a:r>
              <a:endParaRPr lang="zh-TW" altLang="en-US" baseline="-25000" dirty="0"/>
            </a:p>
          </p:txBody>
        </p:sp>
      </p:grpSp>
      <p:grpSp>
        <p:nvGrpSpPr>
          <p:cNvPr id="88" name="群組 87">
            <a:extLst>
              <a:ext uri="{FF2B5EF4-FFF2-40B4-BE49-F238E27FC236}">
                <a16:creationId xmlns:a16="http://schemas.microsoft.com/office/drawing/2014/main" id="{0ECC9EF4-A7FF-821C-B73C-4E878D54F6F0}"/>
              </a:ext>
            </a:extLst>
          </p:cNvPr>
          <p:cNvGrpSpPr/>
          <p:nvPr/>
        </p:nvGrpSpPr>
        <p:grpSpPr>
          <a:xfrm>
            <a:off x="6122109" y="4669063"/>
            <a:ext cx="1662005" cy="774029"/>
            <a:chOff x="4953259" y="3078852"/>
            <a:chExt cx="1662005" cy="774029"/>
          </a:xfrm>
        </p:grpSpPr>
        <p:sp>
          <p:nvSpPr>
            <p:cNvPr id="79" name="左大括弧 78">
              <a:extLst>
                <a:ext uri="{FF2B5EF4-FFF2-40B4-BE49-F238E27FC236}">
                  <a16:creationId xmlns:a16="http://schemas.microsoft.com/office/drawing/2014/main" id="{BEA997C8-D4DA-249F-EA1E-454710297D9A}"/>
                </a:ext>
              </a:extLst>
            </p:cNvPr>
            <p:cNvSpPr/>
            <p:nvPr/>
          </p:nvSpPr>
          <p:spPr>
            <a:xfrm rot="16200000">
              <a:off x="5544874" y="2487237"/>
              <a:ext cx="401957" cy="1585187"/>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sp>
          <p:nvSpPr>
            <p:cNvPr id="83" name="文字方塊 82">
              <a:extLst>
                <a:ext uri="{FF2B5EF4-FFF2-40B4-BE49-F238E27FC236}">
                  <a16:creationId xmlns:a16="http://schemas.microsoft.com/office/drawing/2014/main" id="{C573487F-E807-CC92-83FA-D44175482790}"/>
                </a:ext>
              </a:extLst>
            </p:cNvPr>
            <p:cNvSpPr txBox="1"/>
            <p:nvPr/>
          </p:nvSpPr>
          <p:spPr>
            <a:xfrm>
              <a:off x="5223536" y="3483549"/>
              <a:ext cx="1391728" cy="369332"/>
            </a:xfrm>
            <a:prstGeom prst="rect">
              <a:avLst/>
            </a:prstGeom>
            <a:noFill/>
          </p:spPr>
          <p:txBody>
            <a:bodyPr wrap="none" rtlCol="0">
              <a:spAutoFit/>
            </a:bodyPr>
            <a:lstStyle/>
            <a:p>
              <a:r>
                <a:rPr lang="en-US" altLang="zh-TW" dirty="0"/>
                <a:t>SPDC</a:t>
              </a:r>
              <a:r>
                <a:rPr lang="en-US" altLang="zh-TW" baseline="-25000" dirty="0"/>
                <a:t>type0(1cm)</a:t>
              </a:r>
              <a:endParaRPr lang="zh-TW" altLang="en-US" baseline="-25000" dirty="0"/>
            </a:p>
          </p:txBody>
        </p:sp>
      </p:grpSp>
      <p:grpSp>
        <p:nvGrpSpPr>
          <p:cNvPr id="87" name="群組 86">
            <a:extLst>
              <a:ext uri="{FF2B5EF4-FFF2-40B4-BE49-F238E27FC236}">
                <a16:creationId xmlns:a16="http://schemas.microsoft.com/office/drawing/2014/main" id="{0E57B996-5BB3-8C7B-74F0-22F70682F9AA}"/>
              </a:ext>
            </a:extLst>
          </p:cNvPr>
          <p:cNvGrpSpPr/>
          <p:nvPr/>
        </p:nvGrpSpPr>
        <p:grpSpPr>
          <a:xfrm>
            <a:off x="3331499" y="4690318"/>
            <a:ext cx="1841776" cy="752774"/>
            <a:chOff x="3356689" y="3057825"/>
            <a:chExt cx="1841776" cy="752774"/>
          </a:xfrm>
        </p:grpSpPr>
        <p:sp>
          <p:nvSpPr>
            <p:cNvPr id="80" name="左大括弧 79">
              <a:extLst>
                <a:ext uri="{FF2B5EF4-FFF2-40B4-BE49-F238E27FC236}">
                  <a16:creationId xmlns:a16="http://schemas.microsoft.com/office/drawing/2014/main" id="{1EC118FD-A6E9-3EAD-80CB-2FC1DAE30826}"/>
                </a:ext>
              </a:extLst>
            </p:cNvPr>
            <p:cNvSpPr/>
            <p:nvPr/>
          </p:nvSpPr>
          <p:spPr>
            <a:xfrm rot="16200000">
              <a:off x="3948304" y="2466210"/>
              <a:ext cx="401957" cy="1585187"/>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sp>
          <p:nvSpPr>
            <p:cNvPr id="84" name="文字方塊 83">
              <a:extLst>
                <a:ext uri="{FF2B5EF4-FFF2-40B4-BE49-F238E27FC236}">
                  <a16:creationId xmlns:a16="http://schemas.microsoft.com/office/drawing/2014/main" id="{FA292BB0-11E1-EDBA-C905-23E6DE1C367B}"/>
                </a:ext>
              </a:extLst>
            </p:cNvPr>
            <p:cNvSpPr txBox="1"/>
            <p:nvPr/>
          </p:nvSpPr>
          <p:spPr>
            <a:xfrm>
              <a:off x="3603541" y="3441267"/>
              <a:ext cx="1594924" cy="369332"/>
            </a:xfrm>
            <a:prstGeom prst="rect">
              <a:avLst/>
            </a:prstGeom>
            <a:noFill/>
          </p:spPr>
          <p:txBody>
            <a:bodyPr wrap="none" rtlCol="0">
              <a:spAutoFit/>
            </a:bodyPr>
            <a:lstStyle/>
            <a:p>
              <a:r>
                <a:rPr lang="en-US" altLang="zh-TW" dirty="0" err="1"/>
                <a:t>EOPMC</a:t>
              </a:r>
              <a:r>
                <a:rPr lang="en-US" altLang="zh-TW" baseline="-25000" dirty="0" err="1"/>
                <a:t>appln</a:t>
              </a:r>
              <a:r>
                <a:rPr lang="en-US" altLang="zh-TW" baseline="-25000" dirty="0"/>
                <a:t>(1cm)</a:t>
              </a:r>
              <a:endParaRPr lang="zh-TW" altLang="en-US" baseline="-25000" dirty="0"/>
            </a:p>
          </p:txBody>
        </p:sp>
      </p:grpSp>
      <p:grpSp>
        <p:nvGrpSpPr>
          <p:cNvPr id="89" name="群組 88">
            <a:extLst>
              <a:ext uri="{FF2B5EF4-FFF2-40B4-BE49-F238E27FC236}">
                <a16:creationId xmlns:a16="http://schemas.microsoft.com/office/drawing/2014/main" id="{347010C7-22E3-62D1-1E78-04F47A644FA1}"/>
              </a:ext>
            </a:extLst>
          </p:cNvPr>
          <p:cNvGrpSpPr/>
          <p:nvPr/>
        </p:nvGrpSpPr>
        <p:grpSpPr>
          <a:xfrm>
            <a:off x="9482919" y="4692373"/>
            <a:ext cx="1188945" cy="750719"/>
            <a:chOff x="6543044" y="3099422"/>
            <a:chExt cx="1188945" cy="750719"/>
          </a:xfrm>
        </p:grpSpPr>
        <p:sp>
          <p:nvSpPr>
            <p:cNvPr id="81" name="左大括弧 80">
              <a:extLst>
                <a:ext uri="{FF2B5EF4-FFF2-40B4-BE49-F238E27FC236}">
                  <a16:creationId xmlns:a16="http://schemas.microsoft.com/office/drawing/2014/main" id="{A585A748-0A25-04DE-714B-616326F359B2}"/>
                </a:ext>
              </a:extLst>
            </p:cNvPr>
            <p:cNvSpPr/>
            <p:nvPr/>
          </p:nvSpPr>
          <p:spPr>
            <a:xfrm rot="16200000">
              <a:off x="6811373" y="2831093"/>
              <a:ext cx="401957" cy="938615"/>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sp>
          <p:nvSpPr>
            <p:cNvPr id="85" name="文字方塊 84">
              <a:extLst>
                <a:ext uri="{FF2B5EF4-FFF2-40B4-BE49-F238E27FC236}">
                  <a16:creationId xmlns:a16="http://schemas.microsoft.com/office/drawing/2014/main" id="{A212DB4A-29DD-3FB8-91F1-E3ECB9352948}"/>
                </a:ext>
              </a:extLst>
            </p:cNvPr>
            <p:cNvSpPr txBox="1"/>
            <p:nvPr/>
          </p:nvSpPr>
          <p:spPr>
            <a:xfrm>
              <a:off x="6808723" y="3480809"/>
              <a:ext cx="923266" cy="369332"/>
            </a:xfrm>
            <a:prstGeom prst="rect">
              <a:avLst/>
            </a:prstGeom>
            <a:noFill/>
          </p:spPr>
          <p:txBody>
            <a:bodyPr wrap="none" rtlCol="0">
              <a:spAutoFit/>
            </a:bodyPr>
            <a:lstStyle/>
            <a:p>
              <a:r>
                <a:rPr lang="en-US" altLang="zh-TW" dirty="0"/>
                <a:t>EO</a:t>
              </a:r>
              <a:r>
                <a:rPr lang="en-US" altLang="zh-TW" baseline="-25000" dirty="0"/>
                <a:t>(0.6cm)</a:t>
              </a:r>
              <a:endParaRPr lang="zh-TW" altLang="en-US" baseline="-25000" dirty="0"/>
            </a:p>
          </p:txBody>
        </p:sp>
      </p:grpSp>
      <p:grpSp>
        <p:nvGrpSpPr>
          <p:cNvPr id="187" name="群組 186">
            <a:extLst>
              <a:ext uri="{FF2B5EF4-FFF2-40B4-BE49-F238E27FC236}">
                <a16:creationId xmlns:a16="http://schemas.microsoft.com/office/drawing/2014/main" id="{643C5346-3317-062F-DF84-0F382BC0F762}"/>
              </a:ext>
            </a:extLst>
          </p:cNvPr>
          <p:cNvGrpSpPr/>
          <p:nvPr/>
        </p:nvGrpSpPr>
        <p:grpSpPr>
          <a:xfrm>
            <a:off x="853028" y="3089993"/>
            <a:ext cx="1597732" cy="1615784"/>
            <a:chOff x="1547796" y="4590564"/>
            <a:chExt cx="1597732" cy="1615784"/>
          </a:xfrm>
        </p:grpSpPr>
        <p:grpSp>
          <p:nvGrpSpPr>
            <p:cNvPr id="6" name="群組 5">
              <a:extLst>
                <a:ext uri="{FF2B5EF4-FFF2-40B4-BE49-F238E27FC236}">
                  <a16:creationId xmlns:a16="http://schemas.microsoft.com/office/drawing/2014/main" id="{D20ED634-A613-01A6-71CF-5FF0C56811B3}"/>
                </a:ext>
              </a:extLst>
            </p:cNvPr>
            <p:cNvGrpSpPr/>
            <p:nvPr/>
          </p:nvGrpSpPr>
          <p:grpSpPr>
            <a:xfrm>
              <a:off x="1547796" y="4590564"/>
              <a:ext cx="1597732" cy="1615784"/>
              <a:chOff x="7755536" y="4682354"/>
              <a:chExt cx="1539881" cy="1413646"/>
            </a:xfrm>
          </p:grpSpPr>
          <p:grpSp>
            <p:nvGrpSpPr>
              <p:cNvPr id="75" name="群組 74">
                <a:extLst>
                  <a:ext uri="{FF2B5EF4-FFF2-40B4-BE49-F238E27FC236}">
                    <a16:creationId xmlns:a16="http://schemas.microsoft.com/office/drawing/2014/main" id="{4C9670E7-88D1-9077-32E5-2F916CB65BD6}"/>
                  </a:ext>
                </a:extLst>
              </p:cNvPr>
              <p:cNvGrpSpPr/>
              <p:nvPr/>
            </p:nvGrpSpPr>
            <p:grpSpPr>
              <a:xfrm>
                <a:off x="7755536" y="4682354"/>
                <a:ext cx="382023" cy="1413646"/>
                <a:chOff x="7755536" y="4682354"/>
                <a:chExt cx="382023" cy="1413646"/>
              </a:xfrm>
            </p:grpSpPr>
            <p:sp>
              <p:nvSpPr>
                <p:cNvPr id="98" name="矩形 97">
                  <a:extLst>
                    <a:ext uri="{FF2B5EF4-FFF2-40B4-BE49-F238E27FC236}">
                      <a16:creationId xmlns:a16="http://schemas.microsoft.com/office/drawing/2014/main" id="{D4714103-9281-C4A3-C7EC-0DB8E8A67DCE}"/>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9" name="矩形 98">
                  <a:extLst>
                    <a:ext uri="{FF2B5EF4-FFF2-40B4-BE49-F238E27FC236}">
                      <a16:creationId xmlns:a16="http://schemas.microsoft.com/office/drawing/2014/main" id="{FC4D2F9A-C88B-4525-8396-2FC97F770CE7}"/>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76" name="群組 75">
                <a:extLst>
                  <a:ext uri="{FF2B5EF4-FFF2-40B4-BE49-F238E27FC236}">
                    <a16:creationId xmlns:a16="http://schemas.microsoft.com/office/drawing/2014/main" id="{9A14E843-2DE4-0EB8-D374-E3F247BB2DCF}"/>
                  </a:ext>
                </a:extLst>
              </p:cNvPr>
              <p:cNvGrpSpPr/>
              <p:nvPr/>
            </p:nvGrpSpPr>
            <p:grpSpPr>
              <a:xfrm>
                <a:off x="8136791" y="4682354"/>
                <a:ext cx="382023" cy="1413646"/>
                <a:chOff x="7755536" y="4682354"/>
                <a:chExt cx="382023" cy="1413646"/>
              </a:xfrm>
            </p:grpSpPr>
            <p:sp>
              <p:nvSpPr>
                <p:cNvPr id="96" name="矩形 95">
                  <a:extLst>
                    <a:ext uri="{FF2B5EF4-FFF2-40B4-BE49-F238E27FC236}">
                      <a16:creationId xmlns:a16="http://schemas.microsoft.com/office/drawing/2014/main" id="{5E1578CD-C5A7-F61E-F9F1-382870E0FE40}"/>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7" name="矩形 96">
                  <a:extLst>
                    <a:ext uri="{FF2B5EF4-FFF2-40B4-BE49-F238E27FC236}">
                      <a16:creationId xmlns:a16="http://schemas.microsoft.com/office/drawing/2014/main" id="{4CA60876-376E-81D1-AAEA-3CA13E2F961A}"/>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90" name="群組 89">
                <a:extLst>
                  <a:ext uri="{FF2B5EF4-FFF2-40B4-BE49-F238E27FC236}">
                    <a16:creationId xmlns:a16="http://schemas.microsoft.com/office/drawing/2014/main" id="{3DB5E330-CB58-A26E-2E7E-CD90AE737277}"/>
                  </a:ext>
                </a:extLst>
              </p:cNvPr>
              <p:cNvGrpSpPr/>
              <p:nvPr/>
            </p:nvGrpSpPr>
            <p:grpSpPr>
              <a:xfrm>
                <a:off x="8529017" y="4682354"/>
                <a:ext cx="382023" cy="1413646"/>
                <a:chOff x="7755536" y="4682354"/>
                <a:chExt cx="382023" cy="1413646"/>
              </a:xfrm>
            </p:grpSpPr>
            <p:sp>
              <p:nvSpPr>
                <p:cNvPr id="94" name="矩形 93">
                  <a:extLst>
                    <a:ext uri="{FF2B5EF4-FFF2-40B4-BE49-F238E27FC236}">
                      <a16:creationId xmlns:a16="http://schemas.microsoft.com/office/drawing/2014/main" id="{B5F65E98-E9A7-2825-FA77-D4ACF3B8C467}"/>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5" name="矩形 94">
                  <a:extLst>
                    <a:ext uri="{FF2B5EF4-FFF2-40B4-BE49-F238E27FC236}">
                      <a16:creationId xmlns:a16="http://schemas.microsoft.com/office/drawing/2014/main" id="{87542D68-2A60-1ED7-7BA1-26A60BEF53F9}"/>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91" name="群組 90">
                <a:extLst>
                  <a:ext uri="{FF2B5EF4-FFF2-40B4-BE49-F238E27FC236}">
                    <a16:creationId xmlns:a16="http://schemas.microsoft.com/office/drawing/2014/main" id="{88F7A957-93F0-20FC-0CC2-F1D6F36ACB45}"/>
                  </a:ext>
                </a:extLst>
              </p:cNvPr>
              <p:cNvGrpSpPr/>
              <p:nvPr/>
            </p:nvGrpSpPr>
            <p:grpSpPr>
              <a:xfrm>
                <a:off x="8913394" y="4682354"/>
                <a:ext cx="382023" cy="1413646"/>
                <a:chOff x="7755536" y="4682354"/>
                <a:chExt cx="382023" cy="1413646"/>
              </a:xfrm>
            </p:grpSpPr>
            <p:sp>
              <p:nvSpPr>
                <p:cNvPr id="92" name="矩形 91">
                  <a:extLst>
                    <a:ext uri="{FF2B5EF4-FFF2-40B4-BE49-F238E27FC236}">
                      <a16:creationId xmlns:a16="http://schemas.microsoft.com/office/drawing/2014/main" id="{2E64A673-DC07-3D3E-AE38-E98B349A23B9}"/>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3" name="矩形 92">
                  <a:extLst>
                    <a:ext uri="{FF2B5EF4-FFF2-40B4-BE49-F238E27FC236}">
                      <a16:creationId xmlns:a16="http://schemas.microsoft.com/office/drawing/2014/main" id="{FE97A7C1-3165-1389-1143-F0CC799D012E}"/>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100" name="矩形 99">
              <a:extLst>
                <a:ext uri="{FF2B5EF4-FFF2-40B4-BE49-F238E27FC236}">
                  <a16:creationId xmlns:a16="http://schemas.microsoft.com/office/drawing/2014/main" id="{BD7CF3CE-D650-3CFD-83E5-03700D0E467F}"/>
                </a:ext>
              </a:extLst>
            </p:cNvPr>
            <p:cNvSpPr/>
            <p:nvPr/>
          </p:nvSpPr>
          <p:spPr>
            <a:xfrm>
              <a:off x="1560341" y="5172154"/>
              <a:ext cx="1575773" cy="262714"/>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86" name="矩形 185">
              <a:extLst>
                <a:ext uri="{FF2B5EF4-FFF2-40B4-BE49-F238E27FC236}">
                  <a16:creationId xmlns:a16="http://schemas.microsoft.com/office/drawing/2014/main" id="{D97C8FBE-0158-A447-B443-16A016E07D72}"/>
                </a:ext>
              </a:extLst>
            </p:cNvPr>
            <p:cNvSpPr/>
            <p:nvPr/>
          </p:nvSpPr>
          <p:spPr>
            <a:xfrm>
              <a:off x="1554254" y="5982936"/>
              <a:ext cx="1591274" cy="223412"/>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193" name="箭號: 向右 192">
            <a:extLst>
              <a:ext uri="{FF2B5EF4-FFF2-40B4-BE49-F238E27FC236}">
                <a16:creationId xmlns:a16="http://schemas.microsoft.com/office/drawing/2014/main" id="{22CEFEFD-2292-4A69-0F5B-E509624EC2B4}"/>
              </a:ext>
            </a:extLst>
          </p:cNvPr>
          <p:cNvSpPr/>
          <p:nvPr/>
        </p:nvSpPr>
        <p:spPr>
          <a:xfrm>
            <a:off x="88860" y="3697690"/>
            <a:ext cx="750491" cy="275824"/>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4" name="文字方塊 193">
            <a:extLst>
              <a:ext uri="{FF2B5EF4-FFF2-40B4-BE49-F238E27FC236}">
                <a16:creationId xmlns:a16="http://schemas.microsoft.com/office/drawing/2014/main" id="{D3C38CEB-DC6A-271E-A15D-F63AAB9E194F}"/>
              </a:ext>
            </a:extLst>
          </p:cNvPr>
          <p:cNvSpPr txBox="1"/>
          <p:nvPr/>
        </p:nvSpPr>
        <p:spPr>
          <a:xfrm>
            <a:off x="108731" y="3456729"/>
            <a:ext cx="618015" cy="307777"/>
          </a:xfrm>
          <a:prstGeom prst="rect">
            <a:avLst/>
          </a:prstGeom>
          <a:noFill/>
        </p:spPr>
        <p:txBody>
          <a:bodyPr wrap="square" rtlCol="0">
            <a:spAutoFit/>
          </a:bodyPr>
          <a:lstStyle/>
          <a:p>
            <a:r>
              <a:rPr lang="en-US" altLang="zh-TW" sz="1400" dirty="0"/>
              <a:t>Pump </a:t>
            </a:r>
            <a:endParaRPr lang="zh-TW" altLang="en-US" sz="1400" dirty="0"/>
          </a:p>
        </p:txBody>
      </p:sp>
      <p:grpSp>
        <p:nvGrpSpPr>
          <p:cNvPr id="235" name="群組 234">
            <a:extLst>
              <a:ext uri="{FF2B5EF4-FFF2-40B4-BE49-F238E27FC236}">
                <a16:creationId xmlns:a16="http://schemas.microsoft.com/office/drawing/2014/main" id="{58001093-5102-6A53-675E-2D0DC04C8F0C}"/>
              </a:ext>
            </a:extLst>
          </p:cNvPr>
          <p:cNvGrpSpPr/>
          <p:nvPr/>
        </p:nvGrpSpPr>
        <p:grpSpPr>
          <a:xfrm>
            <a:off x="3332816" y="2371963"/>
            <a:ext cx="1598437" cy="2314555"/>
            <a:chOff x="8442672" y="1013979"/>
            <a:chExt cx="1598437" cy="2314555"/>
          </a:xfrm>
        </p:grpSpPr>
        <p:grpSp>
          <p:nvGrpSpPr>
            <p:cNvPr id="236" name="群組 235">
              <a:extLst>
                <a:ext uri="{FF2B5EF4-FFF2-40B4-BE49-F238E27FC236}">
                  <a16:creationId xmlns:a16="http://schemas.microsoft.com/office/drawing/2014/main" id="{ED13C53B-29D8-7150-9BDE-8D6B369990FC}"/>
                </a:ext>
              </a:extLst>
            </p:cNvPr>
            <p:cNvGrpSpPr/>
            <p:nvPr/>
          </p:nvGrpSpPr>
          <p:grpSpPr>
            <a:xfrm>
              <a:off x="8442672" y="1013979"/>
              <a:ext cx="1598437" cy="2314554"/>
              <a:chOff x="8442672" y="1013979"/>
              <a:chExt cx="1598437" cy="2314554"/>
            </a:xfrm>
          </p:grpSpPr>
          <p:grpSp>
            <p:nvGrpSpPr>
              <p:cNvPr id="239" name="群組 238">
                <a:extLst>
                  <a:ext uri="{FF2B5EF4-FFF2-40B4-BE49-F238E27FC236}">
                    <a16:creationId xmlns:a16="http://schemas.microsoft.com/office/drawing/2014/main" id="{54406BB5-B5EE-9D1D-1E52-56602CF614B1}"/>
                  </a:ext>
                </a:extLst>
              </p:cNvPr>
              <p:cNvGrpSpPr/>
              <p:nvPr/>
            </p:nvGrpSpPr>
            <p:grpSpPr>
              <a:xfrm>
                <a:off x="8443377" y="1712749"/>
                <a:ext cx="1597732" cy="1615784"/>
                <a:chOff x="3923113" y="2277371"/>
                <a:chExt cx="1539881" cy="1413646"/>
              </a:xfrm>
            </p:grpSpPr>
            <p:grpSp>
              <p:nvGrpSpPr>
                <p:cNvPr id="294" name="群組 293">
                  <a:extLst>
                    <a:ext uri="{FF2B5EF4-FFF2-40B4-BE49-F238E27FC236}">
                      <a16:creationId xmlns:a16="http://schemas.microsoft.com/office/drawing/2014/main" id="{FC0FAA66-FEDD-AF3A-1C1C-0590DD2634A3}"/>
                    </a:ext>
                  </a:extLst>
                </p:cNvPr>
                <p:cNvGrpSpPr/>
                <p:nvPr/>
              </p:nvGrpSpPr>
              <p:grpSpPr>
                <a:xfrm>
                  <a:off x="3923113" y="2277371"/>
                  <a:ext cx="382023" cy="1413646"/>
                  <a:chOff x="7755536" y="4682354"/>
                  <a:chExt cx="382023" cy="1413646"/>
                </a:xfrm>
                <a:solidFill>
                  <a:schemeClr val="accent6">
                    <a:lumMod val="60000"/>
                    <a:lumOff val="40000"/>
                  </a:schemeClr>
                </a:solidFill>
              </p:grpSpPr>
              <p:sp>
                <p:nvSpPr>
                  <p:cNvPr id="304" name="矩形 303">
                    <a:extLst>
                      <a:ext uri="{FF2B5EF4-FFF2-40B4-BE49-F238E27FC236}">
                        <a16:creationId xmlns:a16="http://schemas.microsoft.com/office/drawing/2014/main" id="{D25B2392-EC46-7D58-6D5D-127B0E38A5A8}"/>
                      </a:ext>
                    </a:extLst>
                  </p:cNvPr>
                  <p:cNvSpPr/>
                  <p:nvPr/>
                </p:nvSpPr>
                <p:spPr>
                  <a:xfrm>
                    <a:off x="7755536"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5" name="矩形 304">
                    <a:extLst>
                      <a:ext uri="{FF2B5EF4-FFF2-40B4-BE49-F238E27FC236}">
                        <a16:creationId xmlns:a16="http://schemas.microsoft.com/office/drawing/2014/main" id="{C9E553EF-221A-3321-FC87-F4112418CEC7}"/>
                      </a:ext>
                    </a:extLst>
                  </p:cNvPr>
                  <p:cNvSpPr/>
                  <p:nvPr/>
                </p:nvSpPr>
                <p:spPr>
                  <a:xfrm>
                    <a:off x="7946547"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295" name="群組 294">
                  <a:extLst>
                    <a:ext uri="{FF2B5EF4-FFF2-40B4-BE49-F238E27FC236}">
                      <a16:creationId xmlns:a16="http://schemas.microsoft.com/office/drawing/2014/main" id="{68BE1CC3-B3EB-E89D-59AE-85E5B9A7723B}"/>
                    </a:ext>
                  </a:extLst>
                </p:cNvPr>
                <p:cNvGrpSpPr/>
                <p:nvPr/>
              </p:nvGrpSpPr>
              <p:grpSpPr>
                <a:xfrm>
                  <a:off x="4304368" y="2277371"/>
                  <a:ext cx="382023" cy="1413646"/>
                  <a:chOff x="7755536" y="4682354"/>
                  <a:chExt cx="382023" cy="1413646"/>
                </a:xfrm>
                <a:solidFill>
                  <a:schemeClr val="accent6">
                    <a:lumMod val="20000"/>
                    <a:lumOff val="80000"/>
                  </a:schemeClr>
                </a:solidFill>
              </p:grpSpPr>
              <p:sp>
                <p:nvSpPr>
                  <p:cNvPr id="302" name="矩形 301">
                    <a:extLst>
                      <a:ext uri="{FF2B5EF4-FFF2-40B4-BE49-F238E27FC236}">
                        <a16:creationId xmlns:a16="http://schemas.microsoft.com/office/drawing/2014/main" id="{1F74DE05-CD51-BA35-8858-BF9941D24233}"/>
                      </a:ext>
                    </a:extLst>
                  </p:cNvPr>
                  <p:cNvSpPr/>
                  <p:nvPr/>
                </p:nvSpPr>
                <p:spPr>
                  <a:xfrm>
                    <a:off x="7755536"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3" name="矩形 302">
                    <a:extLst>
                      <a:ext uri="{FF2B5EF4-FFF2-40B4-BE49-F238E27FC236}">
                        <a16:creationId xmlns:a16="http://schemas.microsoft.com/office/drawing/2014/main" id="{64EC3D46-E4B0-3E4A-EFA0-906C6C194617}"/>
                      </a:ext>
                    </a:extLst>
                  </p:cNvPr>
                  <p:cNvSpPr/>
                  <p:nvPr/>
                </p:nvSpPr>
                <p:spPr>
                  <a:xfrm>
                    <a:off x="7946547"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296" name="群組 295">
                  <a:extLst>
                    <a:ext uri="{FF2B5EF4-FFF2-40B4-BE49-F238E27FC236}">
                      <a16:creationId xmlns:a16="http://schemas.microsoft.com/office/drawing/2014/main" id="{D7592430-200D-A221-9627-B75263B46D65}"/>
                    </a:ext>
                  </a:extLst>
                </p:cNvPr>
                <p:cNvGrpSpPr/>
                <p:nvPr/>
              </p:nvGrpSpPr>
              <p:grpSpPr>
                <a:xfrm>
                  <a:off x="4696594" y="2277371"/>
                  <a:ext cx="382023" cy="1413646"/>
                  <a:chOff x="7755536" y="4682354"/>
                  <a:chExt cx="382023" cy="1413646"/>
                </a:xfrm>
              </p:grpSpPr>
              <p:sp>
                <p:nvSpPr>
                  <p:cNvPr id="300" name="矩形 299">
                    <a:extLst>
                      <a:ext uri="{FF2B5EF4-FFF2-40B4-BE49-F238E27FC236}">
                        <a16:creationId xmlns:a16="http://schemas.microsoft.com/office/drawing/2014/main" id="{9276A22F-19C3-09A0-6805-C45AE53D3A12}"/>
                      </a:ext>
                    </a:extLst>
                  </p:cNvPr>
                  <p:cNvSpPr/>
                  <p:nvPr/>
                </p:nvSpPr>
                <p:spPr>
                  <a:xfrm>
                    <a:off x="7755536" y="4682354"/>
                    <a:ext cx="191012" cy="1413646"/>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1" name="矩形 300">
                    <a:extLst>
                      <a:ext uri="{FF2B5EF4-FFF2-40B4-BE49-F238E27FC236}">
                        <a16:creationId xmlns:a16="http://schemas.microsoft.com/office/drawing/2014/main" id="{F197B09E-B457-0128-F12C-50F863019BA6}"/>
                      </a:ext>
                    </a:extLst>
                  </p:cNvPr>
                  <p:cNvSpPr/>
                  <p:nvPr/>
                </p:nvSpPr>
                <p:spPr>
                  <a:xfrm>
                    <a:off x="7946547" y="4682354"/>
                    <a:ext cx="191012" cy="141364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297" name="群組 296">
                  <a:extLst>
                    <a:ext uri="{FF2B5EF4-FFF2-40B4-BE49-F238E27FC236}">
                      <a16:creationId xmlns:a16="http://schemas.microsoft.com/office/drawing/2014/main" id="{1C02879F-40B5-93FC-BC56-77C9625F08E6}"/>
                    </a:ext>
                  </a:extLst>
                </p:cNvPr>
                <p:cNvGrpSpPr/>
                <p:nvPr/>
              </p:nvGrpSpPr>
              <p:grpSpPr>
                <a:xfrm>
                  <a:off x="5080971" y="2277371"/>
                  <a:ext cx="382023" cy="1413646"/>
                  <a:chOff x="7755536" y="4682354"/>
                  <a:chExt cx="382023" cy="1413646"/>
                </a:xfrm>
              </p:grpSpPr>
              <p:sp>
                <p:nvSpPr>
                  <p:cNvPr id="298" name="矩形 297">
                    <a:extLst>
                      <a:ext uri="{FF2B5EF4-FFF2-40B4-BE49-F238E27FC236}">
                        <a16:creationId xmlns:a16="http://schemas.microsoft.com/office/drawing/2014/main" id="{C14D46E3-39D2-50C7-9C73-85D52C515073}"/>
                      </a:ext>
                    </a:extLst>
                  </p:cNvPr>
                  <p:cNvSpPr/>
                  <p:nvPr/>
                </p:nvSpPr>
                <p:spPr>
                  <a:xfrm>
                    <a:off x="7755536" y="4682354"/>
                    <a:ext cx="191012" cy="141364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99" name="矩形 298">
                    <a:extLst>
                      <a:ext uri="{FF2B5EF4-FFF2-40B4-BE49-F238E27FC236}">
                        <a16:creationId xmlns:a16="http://schemas.microsoft.com/office/drawing/2014/main" id="{170A57E1-6B85-A008-45FA-C9DDC726B6EE}"/>
                      </a:ext>
                    </a:extLst>
                  </p:cNvPr>
                  <p:cNvSpPr/>
                  <p:nvPr/>
                </p:nvSpPr>
                <p:spPr>
                  <a:xfrm>
                    <a:off x="7946547" y="4682354"/>
                    <a:ext cx="191012" cy="1413646"/>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241" name="矩形 240">
                <a:extLst>
                  <a:ext uri="{FF2B5EF4-FFF2-40B4-BE49-F238E27FC236}">
                    <a16:creationId xmlns:a16="http://schemas.microsoft.com/office/drawing/2014/main" id="{D73A12A9-3B52-2037-2B74-86FD8705A04F}"/>
                  </a:ext>
                </a:extLst>
              </p:cNvPr>
              <p:cNvSpPr/>
              <p:nvPr/>
            </p:nvSpPr>
            <p:spPr>
              <a:xfrm>
                <a:off x="8453352" y="1984590"/>
                <a:ext cx="1585315"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46" name="矩形 245">
                <a:extLst>
                  <a:ext uri="{FF2B5EF4-FFF2-40B4-BE49-F238E27FC236}">
                    <a16:creationId xmlns:a16="http://schemas.microsoft.com/office/drawing/2014/main" id="{7AAD89B5-EFBD-C61A-C2BE-6DAADC5E40BF}"/>
                  </a:ext>
                </a:extLst>
              </p:cNvPr>
              <p:cNvSpPr/>
              <p:nvPr/>
            </p:nvSpPr>
            <p:spPr>
              <a:xfrm>
                <a:off x="8442672" y="2636613"/>
                <a:ext cx="1585315"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267" name="直線接點 266">
                <a:extLst>
                  <a:ext uri="{FF2B5EF4-FFF2-40B4-BE49-F238E27FC236}">
                    <a16:creationId xmlns:a16="http://schemas.microsoft.com/office/drawing/2014/main" id="{6C909218-F352-E25D-37A2-BF01D9FEC07A}"/>
                  </a:ext>
                </a:extLst>
              </p:cNvPr>
              <p:cNvCxnSpPr>
                <a:cxnSpLocks/>
              </p:cNvCxnSpPr>
              <p:nvPr/>
            </p:nvCxnSpPr>
            <p:spPr>
              <a:xfrm flipH="1" flipV="1">
                <a:off x="8509832" y="1339285"/>
                <a:ext cx="131732" cy="140986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5" name="直線接點 274">
                <a:extLst>
                  <a:ext uri="{FF2B5EF4-FFF2-40B4-BE49-F238E27FC236}">
                    <a16:creationId xmlns:a16="http://schemas.microsoft.com/office/drawing/2014/main" id="{51935ED9-E9B4-0117-0C87-3EFD2084E7DD}"/>
                  </a:ext>
                </a:extLst>
              </p:cNvPr>
              <p:cNvCxnSpPr>
                <a:cxnSpLocks/>
              </p:cNvCxnSpPr>
              <p:nvPr/>
            </p:nvCxnSpPr>
            <p:spPr>
              <a:xfrm flipH="1" flipV="1">
                <a:off x="9436018" y="1025270"/>
                <a:ext cx="101693" cy="10542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1" name="直線接點 290">
                <a:extLst>
                  <a:ext uri="{FF2B5EF4-FFF2-40B4-BE49-F238E27FC236}">
                    <a16:creationId xmlns:a16="http://schemas.microsoft.com/office/drawing/2014/main" id="{16100671-DED2-3706-7B5E-38E183869359}"/>
                  </a:ext>
                </a:extLst>
              </p:cNvPr>
              <p:cNvCxnSpPr>
                <a:cxnSpLocks/>
              </p:cNvCxnSpPr>
              <p:nvPr/>
            </p:nvCxnSpPr>
            <p:spPr>
              <a:xfrm flipV="1">
                <a:off x="8508538" y="1264686"/>
                <a:ext cx="232120" cy="8522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2" name="直線接點 291">
                <a:extLst>
                  <a:ext uri="{FF2B5EF4-FFF2-40B4-BE49-F238E27FC236}">
                    <a16:creationId xmlns:a16="http://schemas.microsoft.com/office/drawing/2014/main" id="{1AD66B2E-33C9-4BB3-E5EE-0AF56DE615FA}"/>
                  </a:ext>
                </a:extLst>
              </p:cNvPr>
              <p:cNvCxnSpPr>
                <a:cxnSpLocks/>
              </p:cNvCxnSpPr>
              <p:nvPr/>
            </p:nvCxnSpPr>
            <p:spPr>
              <a:xfrm flipH="1">
                <a:off x="9125726" y="1034920"/>
                <a:ext cx="319098" cy="1220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93" name="橢圓 292">
                <a:extLst>
                  <a:ext uri="{FF2B5EF4-FFF2-40B4-BE49-F238E27FC236}">
                    <a16:creationId xmlns:a16="http://schemas.microsoft.com/office/drawing/2014/main" id="{614B2AC3-0DA8-D030-65EF-7AD59D024A2F}"/>
                  </a:ext>
                </a:extLst>
              </p:cNvPr>
              <p:cNvSpPr/>
              <p:nvPr/>
            </p:nvSpPr>
            <p:spPr>
              <a:xfrm>
                <a:off x="8736284" y="1013979"/>
                <a:ext cx="382626" cy="378964"/>
              </a:xfrm>
              <a:prstGeom prst="ellipse">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solidFill>
                      <a:schemeClr val="tx1"/>
                    </a:solidFill>
                  </a:rPr>
                  <a:t>V</a:t>
                </a:r>
                <a:endParaRPr lang="zh-TW" altLang="en-US" b="1" dirty="0">
                  <a:solidFill>
                    <a:schemeClr val="tx1"/>
                  </a:solidFill>
                </a:endParaRPr>
              </a:p>
            </p:txBody>
          </p:sp>
        </p:grpSp>
        <p:sp>
          <p:nvSpPr>
            <p:cNvPr id="237" name="矩形 236">
              <a:extLst>
                <a:ext uri="{FF2B5EF4-FFF2-40B4-BE49-F238E27FC236}">
                  <a16:creationId xmlns:a16="http://schemas.microsoft.com/office/drawing/2014/main" id="{BA284123-0556-21AF-67C0-964480CD1FCC}"/>
                </a:ext>
              </a:extLst>
            </p:cNvPr>
            <p:cNvSpPr/>
            <p:nvPr/>
          </p:nvSpPr>
          <p:spPr>
            <a:xfrm>
              <a:off x="8456889" y="3089226"/>
              <a:ext cx="1581778" cy="239308"/>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38" name="矩形 237">
              <a:extLst>
                <a:ext uri="{FF2B5EF4-FFF2-40B4-BE49-F238E27FC236}">
                  <a16:creationId xmlns:a16="http://schemas.microsoft.com/office/drawing/2014/main" id="{B88D2D2F-9625-41EF-F442-09B39E0597E9}"/>
                </a:ext>
              </a:extLst>
            </p:cNvPr>
            <p:cNvSpPr/>
            <p:nvPr/>
          </p:nvSpPr>
          <p:spPr>
            <a:xfrm>
              <a:off x="8453198" y="2328648"/>
              <a:ext cx="1577675" cy="196537"/>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nvGrpSpPr>
          <p:cNvPr id="306" name="群組 305">
            <a:extLst>
              <a:ext uri="{FF2B5EF4-FFF2-40B4-BE49-F238E27FC236}">
                <a16:creationId xmlns:a16="http://schemas.microsoft.com/office/drawing/2014/main" id="{6906D793-AF4D-BF11-CD9C-2674AED87A31}"/>
              </a:ext>
            </a:extLst>
          </p:cNvPr>
          <p:cNvGrpSpPr/>
          <p:nvPr/>
        </p:nvGrpSpPr>
        <p:grpSpPr>
          <a:xfrm>
            <a:off x="6109844" y="3065608"/>
            <a:ext cx="1597732" cy="1615786"/>
            <a:chOff x="1547796" y="4590565"/>
            <a:chExt cx="1597732" cy="1615786"/>
          </a:xfrm>
        </p:grpSpPr>
        <p:grpSp>
          <p:nvGrpSpPr>
            <p:cNvPr id="307" name="群組 306">
              <a:extLst>
                <a:ext uri="{FF2B5EF4-FFF2-40B4-BE49-F238E27FC236}">
                  <a16:creationId xmlns:a16="http://schemas.microsoft.com/office/drawing/2014/main" id="{E16FCB19-D9A4-2C95-4FA8-7A779CED8C53}"/>
                </a:ext>
              </a:extLst>
            </p:cNvPr>
            <p:cNvGrpSpPr/>
            <p:nvPr/>
          </p:nvGrpSpPr>
          <p:grpSpPr>
            <a:xfrm>
              <a:off x="1547796" y="4590565"/>
              <a:ext cx="1597732" cy="1615786"/>
              <a:chOff x="7755536" y="4682353"/>
              <a:chExt cx="1539881" cy="1413647"/>
            </a:xfrm>
          </p:grpSpPr>
          <p:grpSp>
            <p:nvGrpSpPr>
              <p:cNvPr id="310" name="群組 309">
                <a:extLst>
                  <a:ext uri="{FF2B5EF4-FFF2-40B4-BE49-F238E27FC236}">
                    <a16:creationId xmlns:a16="http://schemas.microsoft.com/office/drawing/2014/main" id="{3F9220EE-773C-2042-91E9-E686BA36FAC2}"/>
                  </a:ext>
                </a:extLst>
              </p:cNvPr>
              <p:cNvGrpSpPr/>
              <p:nvPr/>
            </p:nvGrpSpPr>
            <p:grpSpPr>
              <a:xfrm>
                <a:off x="7755536" y="4682354"/>
                <a:ext cx="382023" cy="1413646"/>
                <a:chOff x="7755536" y="4682354"/>
                <a:chExt cx="382023" cy="1413646"/>
              </a:xfrm>
            </p:grpSpPr>
            <p:sp>
              <p:nvSpPr>
                <p:cNvPr id="320" name="矩形 319">
                  <a:extLst>
                    <a:ext uri="{FF2B5EF4-FFF2-40B4-BE49-F238E27FC236}">
                      <a16:creationId xmlns:a16="http://schemas.microsoft.com/office/drawing/2014/main" id="{F9951B22-8E50-35F4-9BC1-309DE28405E9}"/>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1" name="矩形 320">
                  <a:extLst>
                    <a:ext uri="{FF2B5EF4-FFF2-40B4-BE49-F238E27FC236}">
                      <a16:creationId xmlns:a16="http://schemas.microsoft.com/office/drawing/2014/main" id="{FC3A3A17-A4AF-9B2C-891C-453EEBC580EC}"/>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11" name="群組 310">
                <a:extLst>
                  <a:ext uri="{FF2B5EF4-FFF2-40B4-BE49-F238E27FC236}">
                    <a16:creationId xmlns:a16="http://schemas.microsoft.com/office/drawing/2014/main" id="{7EF784CA-A07E-22E1-B563-0E5FD41D2FEA}"/>
                  </a:ext>
                </a:extLst>
              </p:cNvPr>
              <p:cNvGrpSpPr/>
              <p:nvPr/>
            </p:nvGrpSpPr>
            <p:grpSpPr>
              <a:xfrm>
                <a:off x="8136791" y="4682354"/>
                <a:ext cx="382023" cy="1413646"/>
                <a:chOff x="7755536" y="4682354"/>
                <a:chExt cx="382023" cy="1413646"/>
              </a:xfrm>
            </p:grpSpPr>
            <p:sp>
              <p:nvSpPr>
                <p:cNvPr id="318" name="矩形 317">
                  <a:extLst>
                    <a:ext uri="{FF2B5EF4-FFF2-40B4-BE49-F238E27FC236}">
                      <a16:creationId xmlns:a16="http://schemas.microsoft.com/office/drawing/2014/main" id="{C0F35C31-4B97-7F6A-4A15-AC43DD6BAC41}"/>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9" name="矩形 318">
                  <a:extLst>
                    <a:ext uri="{FF2B5EF4-FFF2-40B4-BE49-F238E27FC236}">
                      <a16:creationId xmlns:a16="http://schemas.microsoft.com/office/drawing/2014/main" id="{4D413EF0-D670-6919-DA86-EF299162CBE3}"/>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12" name="群組 311">
                <a:extLst>
                  <a:ext uri="{FF2B5EF4-FFF2-40B4-BE49-F238E27FC236}">
                    <a16:creationId xmlns:a16="http://schemas.microsoft.com/office/drawing/2014/main" id="{6F3EB298-81F6-5941-D21E-12BF2298F268}"/>
                  </a:ext>
                </a:extLst>
              </p:cNvPr>
              <p:cNvGrpSpPr/>
              <p:nvPr/>
            </p:nvGrpSpPr>
            <p:grpSpPr>
              <a:xfrm>
                <a:off x="8529018" y="4682353"/>
                <a:ext cx="382022" cy="1413647"/>
                <a:chOff x="7755537" y="4682353"/>
                <a:chExt cx="382022" cy="1413647"/>
              </a:xfrm>
            </p:grpSpPr>
            <p:sp>
              <p:nvSpPr>
                <p:cNvPr id="316" name="矩形 315">
                  <a:extLst>
                    <a:ext uri="{FF2B5EF4-FFF2-40B4-BE49-F238E27FC236}">
                      <a16:creationId xmlns:a16="http://schemas.microsoft.com/office/drawing/2014/main" id="{9189EDA1-FFDD-5EC9-E5EE-7CEFEDD8CD23}"/>
                    </a:ext>
                  </a:extLst>
                </p:cNvPr>
                <p:cNvSpPr/>
                <p:nvPr/>
              </p:nvSpPr>
              <p:spPr>
                <a:xfrm>
                  <a:off x="7755537" y="4682353"/>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7" name="矩形 316">
                  <a:extLst>
                    <a:ext uri="{FF2B5EF4-FFF2-40B4-BE49-F238E27FC236}">
                      <a16:creationId xmlns:a16="http://schemas.microsoft.com/office/drawing/2014/main" id="{5C7BDBDC-147A-5661-9353-7A97DDFABAC4}"/>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13" name="群組 312">
                <a:extLst>
                  <a:ext uri="{FF2B5EF4-FFF2-40B4-BE49-F238E27FC236}">
                    <a16:creationId xmlns:a16="http://schemas.microsoft.com/office/drawing/2014/main" id="{8C387FD1-D7CA-485C-0986-00E69E20BF8F}"/>
                  </a:ext>
                </a:extLst>
              </p:cNvPr>
              <p:cNvGrpSpPr/>
              <p:nvPr/>
            </p:nvGrpSpPr>
            <p:grpSpPr>
              <a:xfrm>
                <a:off x="8913394" y="4682354"/>
                <a:ext cx="382023" cy="1413646"/>
                <a:chOff x="7755536" y="4682354"/>
                <a:chExt cx="382023" cy="1413646"/>
              </a:xfrm>
            </p:grpSpPr>
            <p:sp>
              <p:nvSpPr>
                <p:cNvPr id="314" name="矩形 313">
                  <a:extLst>
                    <a:ext uri="{FF2B5EF4-FFF2-40B4-BE49-F238E27FC236}">
                      <a16:creationId xmlns:a16="http://schemas.microsoft.com/office/drawing/2014/main" id="{6E4E387E-77D6-776F-CE0C-BF95614F3511}"/>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5" name="矩形 314">
                  <a:extLst>
                    <a:ext uri="{FF2B5EF4-FFF2-40B4-BE49-F238E27FC236}">
                      <a16:creationId xmlns:a16="http://schemas.microsoft.com/office/drawing/2014/main" id="{BA5C0EDD-0953-D791-B052-92FA854CD651}"/>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308" name="矩形 307">
              <a:extLst>
                <a:ext uri="{FF2B5EF4-FFF2-40B4-BE49-F238E27FC236}">
                  <a16:creationId xmlns:a16="http://schemas.microsoft.com/office/drawing/2014/main" id="{7CE9B7CC-0DC7-8CAC-E25C-E90689E689C0}"/>
                </a:ext>
              </a:extLst>
            </p:cNvPr>
            <p:cNvSpPr/>
            <p:nvPr/>
          </p:nvSpPr>
          <p:spPr>
            <a:xfrm>
              <a:off x="1560341" y="5172154"/>
              <a:ext cx="1575773" cy="262714"/>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09" name="矩形 308">
              <a:extLst>
                <a:ext uri="{FF2B5EF4-FFF2-40B4-BE49-F238E27FC236}">
                  <a16:creationId xmlns:a16="http://schemas.microsoft.com/office/drawing/2014/main" id="{15546F46-280F-9D3D-5D14-79CF6D401B82}"/>
                </a:ext>
              </a:extLst>
            </p:cNvPr>
            <p:cNvSpPr/>
            <p:nvPr/>
          </p:nvSpPr>
          <p:spPr>
            <a:xfrm>
              <a:off x="1554254" y="5982936"/>
              <a:ext cx="1591274" cy="223412"/>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nvGrpSpPr>
          <p:cNvPr id="377" name="群組 376">
            <a:extLst>
              <a:ext uri="{FF2B5EF4-FFF2-40B4-BE49-F238E27FC236}">
                <a16:creationId xmlns:a16="http://schemas.microsoft.com/office/drawing/2014/main" id="{B8309ACC-4E37-DD5B-A21B-C1B29A527E15}"/>
              </a:ext>
            </a:extLst>
          </p:cNvPr>
          <p:cNvGrpSpPr/>
          <p:nvPr/>
        </p:nvGrpSpPr>
        <p:grpSpPr>
          <a:xfrm>
            <a:off x="9470450" y="2033926"/>
            <a:ext cx="978393" cy="2670776"/>
            <a:chOff x="9494716" y="1425376"/>
            <a:chExt cx="978393" cy="2670776"/>
          </a:xfrm>
        </p:grpSpPr>
        <p:grpSp>
          <p:nvGrpSpPr>
            <p:cNvPr id="378" name="群組 377">
              <a:extLst>
                <a:ext uri="{FF2B5EF4-FFF2-40B4-BE49-F238E27FC236}">
                  <a16:creationId xmlns:a16="http://schemas.microsoft.com/office/drawing/2014/main" id="{62CDA436-1F4A-2755-51B4-72449D79B4BB}"/>
                </a:ext>
              </a:extLst>
            </p:cNvPr>
            <p:cNvGrpSpPr/>
            <p:nvPr/>
          </p:nvGrpSpPr>
          <p:grpSpPr>
            <a:xfrm>
              <a:off x="9494716" y="1425376"/>
              <a:ext cx="978393" cy="2670776"/>
              <a:chOff x="9494716" y="1425376"/>
              <a:chExt cx="978393" cy="2670776"/>
            </a:xfrm>
          </p:grpSpPr>
          <p:sp>
            <p:nvSpPr>
              <p:cNvPr id="380" name="矩形 379">
                <a:extLst>
                  <a:ext uri="{FF2B5EF4-FFF2-40B4-BE49-F238E27FC236}">
                    <a16:creationId xmlns:a16="http://schemas.microsoft.com/office/drawing/2014/main" id="{0817E433-04B9-C487-776E-4456815221C3}"/>
                  </a:ext>
                </a:extLst>
              </p:cNvPr>
              <p:cNvSpPr/>
              <p:nvPr/>
            </p:nvSpPr>
            <p:spPr>
              <a:xfrm>
                <a:off x="9515898" y="2480154"/>
                <a:ext cx="938615" cy="1615784"/>
              </a:xfrm>
              <a:prstGeom prst="rect">
                <a:avLst/>
              </a:prstGeom>
              <a:solidFill>
                <a:srgbClr val="ECDFF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1" name="矩形 380">
                <a:extLst>
                  <a:ext uri="{FF2B5EF4-FFF2-40B4-BE49-F238E27FC236}">
                    <a16:creationId xmlns:a16="http://schemas.microsoft.com/office/drawing/2014/main" id="{4105BE5C-CA06-4E49-72C4-B6E6B4FDA2AC}"/>
                  </a:ext>
                </a:extLst>
              </p:cNvPr>
              <p:cNvSpPr/>
              <p:nvPr/>
            </p:nvSpPr>
            <p:spPr>
              <a:xfrm>
                <a:off x="9527030" y="3404018"/>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82" name="矩形 381">
                <a:extLst>
                  <a:ext uri="{FF2B5EF4-FFF2-40B4-BE49-F238E27FC236}">
                    <a16:creationId xmlns:a16="http://schemas.microsoft.com/office/drawing/2014/main" id="{5E226601-84D5-1CB2-6FFF-ED08E470BFD1}"/>
                  </a:ext>
                </a:extLst>
              </p:cNvPr>
              <p:cNvSpPr/>
              <p:nvPr/>
            </p:nvSpPr>
            <p:spPr>
              <a:xfrm>
                <a:off x="9518613" y="2756692"/>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83" name="矩形 382">
                <a:extLst>
                  <a:ext uri="{FF2B5EF4-FFF2-40B4-BE49-F238E27FC236}">
                    <a16:creationId xmlns:a16="http://schemas.microsoft.com/office/drawing/2014/main" id="{4F9B8AD3-0279-FB66-263E-C062B45DCF21}"/>
                  </a:ext>
                </a:extLst>
              </p:cNvPr>
              <p:cNvSpPr/>
              <p:nvPr/>
            </p:nvSpPr>
            <p:spPr>
              <a:xfrm>
                <a:off x="9518613" y="3070938"/>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384" name="直線接點 383">
                <a:extLst>
                  <a:ext uri="{FF2B5EF4-FFF2-40B4-BE49-F238E27FC236}">
                    <a16:creationId xmlns:a16="http://schemas.microsoft.com/office/drawing/2014/main" id="{0E762F30-E0A8-3737-CEE3-87ECDBF5F1EA}"/>
                  </a:ext>
                </a:extLst>
              </p:cNvPr>
              <p:cNvCxnSpPr>
                <a:cxnSpLocks/>
              </p:cNvCxnSpPr>
              <p:nvPr/>
            </p:nvCxnSpPr>
            <p:spPr>
              <a:xfrm flipH="1" flipV="1">
                <a:off x="9623221" y="1835345"/>
                <a:ext cx="33216" cy="138626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5" name="直線接點 384">
                <a:extLst>
                  <a:ext uri="{FF2B5EF4-FFF2-40B4-BE49-F238E27FC236}">
                    <a16:creationId xmlns:a16="http://schemas.microsoft.com/office/drawing/2014/main" id="{5DF0B335-B2DC-E0A4-0DCD-E94F48491358}"/>
                  </a:ext>
                </a:extLst>
              </p:cNvPr>
              <p:cNvCxnSpPr>
                <a:cxnSpLocks/>
              </p:cNvCxnSpPr>
              <p:nvPr/>
            </p:nvCxnSpPr>
            <p:spPr>
              <a:xfrm flipH="1" flipV="1">
                <a:off x="10265739" y="1460627"/>
                <a:ext cx="58170" cy="138626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6" name="直線接點 385">
                <a:extLst>
                  <a:ext uri="{FF2B5EF4-FFF2-40B4-BE49-F238E27FC236}">
                    <a16:creationId xmlns:a16="http://schemas.microsoft.com/office/drawing/2014/main" id="{D9843B6F-EE94-F012-144E-A3099639D01E}"/>
                  </a:ext>
                </a:extLst>
              </p:cNvPr>
              <p:cNvCxnSpPr>
                <a:cxnSpLocks/>
              </p:cNvCxnSpPr>
              <p:nvPr/>
            </p:nvCxnSpPr>
            <p:spPr>
              <a:xfrm flipV="1">
                <a:off x="9622323" y="1741331"/>
                <a:ext cx="161027" cy="10739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7" name="直線接點 386">
                <a:extLst>
                  <a:ext uri="{FF2B5EF4-FFF2-40B4-BE49-F238E27FC236}">
                    <a16:creationId xmlns:a16="http://schemas.microsoft.com/office/drawing/2014/main" id="{14A54D30-655B-EB8B-D125-5241EC1CEDA5}"/>
                  </a:ext>
                </a:extLst>
              </p:cNvPr>
              <p:cNvCxnSpPr>
                <a:cxnSpLocks/>
              </p:cNvCxnSpPr>
              <p:nvPr/>
            </p:nvCxnSpPr>
            <p:spPr>
              <a:xfrm flipH="1">
                <a:off x="10050482" y="1451767"/>
                <a:ext cx="221366" cy="1538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88" name="橢圓 387">
                <a:extLst>
                  <a:ext uri="{FF2B5EF4-FFF2-40B4-BE49-F238E27FC236}">
                    <a16:creationId xmlns:a16="http://schemas.microsoft.com/office/drawing/2014/main" id="{C76AD94F-97B0-CB02-F08E-BB77F6D35910}"/>
                  </a:ext>
                </a:extLst>
              </p:cNvPr>
              <p:cNvSpPr/>
              <p:nvPr/>
            </p:nvSpPr>
            <p:spPr>
              <a:xfrm>
                <a:off x="9780316" y="1425376"/>
                <a:ext cx="265437" cy="477591"/>
              </a:xfrm>
              <a:prstGeom prst="ellipse">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solidFill>
                      <a:schemeClr val="tx1"/>
                    </a:solidFill>
                  </a:rPr>
                  <a:t>V</a:t>
                </a:r>
                <a:endParaRPr lang="zh-TW" altLang="en-US" b="1" dirty="0">
                  <a:solidFill>
                    <a:schemeClr val="tx1"/>
                  </a:solidFill>
                </a:endParaRPr>
              </a:p>
            </p:txBody>
          </p:sp>
          <p:cxnSp>
            <p:nvCxnSpPr>
              <p:cNvPr id="389" name="直線接點 388">
                <a:extLst>
                  <a:ext uri="{FF2B5EF4-FFF2-40B4-BE49-F238E27FC236}">
                    <a16:creationId xmlns:a16="http://schemas.microsoft.com/office/drawing/2014/main" id="{603C1131-53E0-989C-B3D9-849D1A94F934}"/>
                  </a:ext>
                </a:extLst>
              </p:cNvPr>
              <p:cNvCxnSpPr>
                <a:cxnSpLocks/>
              </p:cNvCxnSpPr>
              <p:nvPr/>
            </p:nvCxnSpPr>
            <p:spPr>
              <a:xfrm flipH="1" flipV="1">
                <a:off x="10025966" y="1872909"/>
                <a:ext cx="56004" cy="163966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0" name="直線接點 389">
                <a:extLst>
                  <a:ext uri="{FF2B5EF4-FFF2-40B4-BE49-F238E27FC236}">
                    <a16:creationId xmlns:a16="http://schemas.microsoft.com/office/drawing/2014/main" id="{5330714B-4110-1EAE-DFD4-A1DAE9F287D7}"/>
                  </a:ext>
                </a:extLst>
              </p:cNvPr>
              <p:cNvCxnSpPr>
                <a:cxnSpLocks/>
              </p:cNvCxnSpPr>
              <p:nvPr/>
            </p:nvCxnSpPr>
            <p:spPr>
              <a:xfrm flipH="1" flipV="1">
                <a:off x="9998614" y="1835343"/>
                <a:ext cx="27352" cy="1243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91" name="矩形 390">
                <a:extLst>
                  <a:ext uri="{FF2B5EF4-FFF2-40B4-BE49-F238E27FC236}">
                    <a16:creationId xmlns:a16="http://schemas.microsoft.com/office/drawing/2014/main" id="{FA96E96C-F4EF-51EE-EC78-DDEC4053DA0B}"/>
                  </a:ext>
                </a:extLst>
              </p:cNvPr>
              <p:cNvSpPr/>
              <p:nvPr/>
            </p:nvSpPr>
            <p:spPr>
              <a:xfrm>
                <a:off x="9510858" y="3815312"/>
                <a:ext cx="946080" cy="280840"/>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92" name="矩形 391">
                <a:extLst>
                  <a:ext uri="{FF2B5EF4-FFF2-40B4-BE49-F238E27FC236}">
                    <a16:creationId xmlns:a16="http://schemas.microsoft.com/office/drawing/2014/main" id="{662DAB5C-4F75-3842-BAEE-1B4D8C7AB124}"/>
                  </a:ext>
                </a:extLst>
              </p:cNvPr>
              <p:cNvSpPr/>
              <p:nvPr/>
            </p:nvSpPr>
            <p:spPr>
              <a:xfrm>
                <a:off x="9494716" y="3054735"/>
                <a:ext cx="943626" cy="230646"/>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379" name="矩形 378">
              <a:extLst>
                <a:ext uri="{FF2B5EF4-FFF2-40B4-BE49-F238E27FC236}">
                  <a16:creationId xmlns:a16="http://schemas.microsoft.com/office/drawing/2014/main" id="{1B75336E-BD12-1D54-A2AC-1E4B0E0704F9}"/>
                </a:ext>
              </a:extLst>
            </p:cNvPr>
            <p:cNvSpPr/>
            <p:nvPr/>
          </p:nvSpPr>
          <p:spPr>
            <a:xfrm>
              <a:off x="9513459" y="3054364"/>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sp>
        <p:nvSpPr>
          <p:cNvPr id="72" name="文字方塊 71">
            <a:extLst>
              <a:ext uri="{FF2B5EF4-FFF2-40B4-BE49-F238E27FC236}">
                <a16:creationId xmlns:a16="http://schemas.microsoft.com/office/drawing/2014/main" id="{4EDDEB61-4940-7BC9-C8B7-E9DB0C0CFB1E}"/>
              </a:ext>
            </a:extLst>
          </p:cNvPr>
          <p:cNvSpPr txBox="1"/>
          <p:nvPr/>
        </p:nvSpPr>
        <p:spPr>
          <a:xfrm>
            <a:off x="12298" y="3910214"/>
            <a:ext cx="808797" cy="400110"/>
          </a:xfrm>
          <a:prstGeom prst="rect">
            <a:avLst/>
          </a:prstGeom>
          <a:noFill/>
        </p:spPr>
        <p:txBody>
          <a:bodyPr wrap="square" rtlCol="0">
            <a:spAutoFit/>
          </a:bodyPr>
          <a:lstStyle/>
          <a:p>
            <a:r>
              <a:rPr lang="en-US" altLang="zh-TW" sz="1000" dirty="0"/>
              <a:t>CW</a:t>
            </a:r>
            <a:r>
              <a:rPr lang="zh-TW" altLang="en-US" sz="1000" dirty="0"/>
              <a:t> </a:t>
            </a:r>
            <a:r>
              <a:rPr lang="en-US" altLang="zh-TW" sz="1000" dirty="0"/>
              <a:t>785nm pump laser </a:t>
            </a:r>
            <a:endParaRPr lang="zh-TW" altLang="en-US" sz="1000" dirty="0"/>
          </a:p>
        </p:txBody>
      </p:sp>
      <p:grpSp>
        <p:nvGrpSpPr>
          <p:cNvPr id="7" name="群組 6">
            <a:extLst>
              <a:ext uri="{FF2B5EF4-FFF2-40B4-BE49-F238E27FC236}">
                <a16:creationId xmlns:a16="http://schemas.microsoft.com/office/drawing/2014/main" id="{715D6C64-5146-4AEC-08D1-852DBA1531D5}"/>
              </a:ext>
            </a:extLst>
          </p:cNvPr>
          <p:cNvGrpSpPr/>
          <p:nvPr/>
        </p:nvGrpSpPr>
        <p:grpSpPr>
          <a:xfrm rot="5400000">
            <a:off x="5294469" y="3841638"/>
            <a:ext cx="291528" cy="666144"/>
            <a:chOff x="8147879" y="2874761"/>
            <a:chExt cx="320447" cy="747169"/>
          </a:xfrm>
        </p:grpSpPr>
        <p:cxnSp>
          <p:nvCxnSpPr>
            <p:cNvPr id="8" name="直線單箭頭接點 7">
              <a:extLst>
                <a:ext uri="{FF2B5EF4-FFF2-40B4-BE49-F238E27FC236}">
                  <a16:creationId xmlns:a16="http://schemas.microsoft.com/office/drawing/2014/main" id="{ED91E5CC-C3B0-144E-88CA-14AF47AD5B49}"/>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橢圓 8">
              <a:extLst>
                <a:ext uri="{FF2B5EF4-FFF2-40B4-BE49-F238E27FC236}">
                  <a16:creationId xmlns:a16="http://schemas.microsoft.com/office/drawing/2014/main" id="{EA1D2A1B-0EA2-4F0C-000A-F3B5609A1391}"/>
                </a:ext>
              </a:extLst>
            </p:cNvPr>
            <p:cNvSpPr/>
            <p:nvPr/>
          </p:nvSpPr>
          <p:spPr>
            <a:xfrm>
              <a:off x="8147879" y="3074008"/>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dirty="0"/>
            </a:p>
          </p:txBody>
        </p:sp>
      </p:grpSp>
      <p:grpSp>
        <p:nvGrpSpPr>
          <p:cNvPr id="10" name="群組 9">
            <a:extLst>
              <a:ext uri="{FF2B5EF4-FFF2-40B4-BE49-F238E27FC236}">
                <a16:creationId xmlns:a16="http://schemas.microsoft.com/office/drawing/2014/main" id="{E3AC9A4E-DFC1-92D0-9B42-F597757F6FB1}"/>
              </a:ext>
            </a:extLst>
          </p:cNvPr>
          <p:cNvGrpSpPr/>
          <p:nvPr/>
        </p:nvGrpSpPr>
        <p:grpSpPr>
          <a:xfrm rot="5400000">
            <a:off x="5304901" y="2882106"/>
            <a:ext cx="291528" cy="666144"/>
            <a:chOff x="8147879" y="2874761"/>
            <a:chExt cx="320447" cy="747169"/>
          </a:xfrm>
        </p:grpSpPr>
        <p:cxnSp>
          <p:nvCxnSpPr>
            <p:cNvPr id="11" name="直線單箭頭接點 10">
              <a:extLst>
                <a:ext uri="{FF2B5EF4-FFF2-40B4-BE49-F238E27FC236}">
                  <a16:creationId xmlns:a16="http://schemas.microsoft.com/office/drawing/2014/main" id="{134804EF-E6A9-4275-7633-93CB613D6F43}"/>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橢圓 11">
              <a:extLst>
                <a:ext uri="{FF2B5EF4-FFF2-40B4-BE49-F238E27FC236}">
                  <a16:creationId xmlns:a16="http://schemas.microsoft.com/office/drawing/2014/main" id="{78A3167D-DB9D-DBB8-5205-ACD31A4E47E1}"/>
                </a:ext>
              </a:extLst>
            </p:cNvPr>
            <p:cNvSpPr/>
            <p:nvPr/>
          </p:nvSpPr>
          <p:spPr>
            <a:xfrm>
              <a:off x="8147879" y="3074007"/>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dirty="0"/>
            </a:p>
          </p:txBody>
        </p:sp>
      </p:grpSp>
      <p:grpSp>
        <p:nvGrpSpPr>
          <p:cNvPr id="3" name="群組 2">
            <a:extLst>
              <a:ext uri="{FF2B5EF4-FFF2-40B4-BE49-F238E27FC236}">
                <a16:creationId xmlns:a16="http://schemas.microsoft.com/office/drawing/2014/main" id="{279CF9A5-C559-1871-3D44-32B70AA39A6D}"/>
              </a:ext>
            </a:extLst>
          </p:cNvPr>
          <p:cNvGrpSpPr/>
          <p:nvPr/>
        </p:nvGrpSpPr>
        <p:grpSpPr>
          <a:xfrm>
            <a:off x="2353117" y="3411092"/>
            <a:ext cx="974947" cy="563274"/>
            <a:chOff x="2276024" y="5015241"/>
            <a:chExt cx="1202006" cy="563274"/>
          </a:xfrm>
        </p:grpSpPr>
        <p:sp>
          <p:nvSpPr>
            <p:cNvPr id="13" name="箭號: 向右 12">
              <a:extLst>
                <a:ext uri="{FF2B5EF4-FFF2-40B4-BE49-F238E27FC236}">
                  <a16:creationId xmlns:a16="http://schemas.microsoft.com/office/drawing/2014/main" id="{8E448193-C9B1-A81B-4089-A597C0AD59DF}"/>
                </a:ext>
              </a:extLst>
            </p:cNvPr>
            <p:cNvSpPr/>
            <p:nvPr/>
          </p:nvSpPr>
          <p:spPr>
            <a:xfrm>
              <a:off x="2413949" y="5273701"/>
              <a:ext cx="1050740" cy="304814"/>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文字方塊 13">
              <a:extLst>
                <a:ext uri="{FF2B5EF4-FFF2-40B4-BE49-F238E27FC236}">
                  <a16:creationId xmlns:a16="http://schemas.microsoft.com/office/drawing/2014/main" id="{CF8E3E30-DD99-C94B-CC41-763133728BF6}"/>
                </a:ext>
              </a:extLst>
            </p:cNvPr>
            <p:cNvSpPr txBox="1"/>
            <p:nvPr/>
          </p:nvSpPr>
          <p:spPr>
            <a:xfrm>
              <a:off x="2276024" y="5015241"/>
              <a:ext cx="1202006" cy="246221"/>
            </a:xfrm>
            <a:prstGeom prst="rect">
              <a:avLst/>
            </a:prstGeom>
            <a:noFill/>
          </p:spPr>
          <p:txBody>
            <a:bodyPr wrap="none" rtlCol="0">
              <a:spAutoFit/>
            </a:bodyPr>
            <a:lstStyle/>
            <a:p>
              <a:r>
                <a:rPr lang="en-US" altLang="zh-TW" sz="1000" dirty="0"/>
                <a:t>|VV⟩</a:t>
              </a:r>
              <a:r>
                <a:rPr lang="en-US" altLang="zh-TW" sz="1000" baseline="-25000" dirty="0"/>
                <a:t>1570</a:t>
              </a:r>
              <a:r>
                <a:rPr lang="en-US" altLang="zh-TW" sz="1000" dirty="0"/>
                <a:t>+Pump</a:t>
              </a:r>
            </a:p>
          </p:txBody>
        </p:sp>
      </p:grpSp>
      <p:grpSp>
        <p:nvGrpSpPr>
          <p:cNvPr id="15" name="群組 14">
            <a:extLst>
              <a:ext uri="{FF2B5EF4-FFF2-40B4-BE49-F238E27FC236}">
                <a16:creationId xmlns:a16="http://schemas.microsoft.com/office/drawing/2014/main" id="{3A5CCEEC-B19C-721E-9038-A9529EDC0021}"/>
              </a:ext>
            </a:extLst>
          </p:cNvPr>
          <p:cNvGrpSpPr/>
          <p:nvPr/>
        </p:nvGrpSpPr>
        <p:grpSpPr>
          <a:xfrm>
            <a:off x="4872715" y="3395285"/>
            <a:ext cx="1198610" cy="541746"/>
            <a:chOff x="5024538" y="5056387"/>
            <a:chExt cx="1198610" cy="541746"/>
          </a:xfrm>
        </p:grpSpPr>
        <p:sp>
          <p:nvSpPr>
            <p:cNvPr id="16" name="箭號: 向右 15">
              <a:extLst>
                <a:ext uri="{FF2B5EF4-FFF2-40B4-BE49-F238E27FC236}">
                  <a16:creationId xmlns:a16="http://schemas.microsoft.com/office/drawing/2014/main" id="{1FE7F6C0-297E-9A9D-70B3-7244F9E050CC}"/>
                </a:ext>
              </a:extLst>
            </p:cNvPr>
            <p:cNvSpPr/>
            <p:nvPr/>
          </p:nvSpPr>
          <p:spPr>
            <a:xfrm>
              <a:off x="5092594" y="5263580"/>
              <a:ext cx="1130554" cy="334553"/>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文字方塊 16">
              <a:extLst>
                <a:ext uri="{FF2B5EF4-FFF2-40B4-BE49-F238E27FC236}">
                  <a16:creationId xmlns:a16="http://schemas.microsoft.com/office/drawing/2014/main" id="{303FE239-BE43-A0AA-FC43-5BF10AAE6D74}"/>
                </a:ext>
              </a:extLst>
            </p:cNvPr>
            <p:cNvSpPr txBox="1"/>
            <p:nvPr/>
          </p:nvSpPr>
          <p:spPr>
            <a:xfrm>
              <a:off x="5024538" y="5056387"/>
              <a:ext cx="1067921" cy="246221"/>
            </a:xfrm>
            <a:prstGeom prst="rect">
              <a:avLst/>
            </a:prstGeom>
            <a:noFill/>
          </p:spPr>
          <p:txBody>
            <a:bodyPr wrap="none" rtlCol="0">
              <a:spAutoFit/>
            </a:bodyPr>
            <a:lstStyle/>
            <a:p>
              <a:r>
                <a:rPr lang="en-US" altLang="zh-TW" sz="1000" dirty="0"/>
                <a:t>Pump+ |HH⟩</a:t>
              </a:r>
              <a:r>
                <a:rPr lang="en-US" altLang="zh-TW" sz="1000" baseline="-25000" dirty="0"/>
                <a:t> 1570</a:t>
              </a:r>
              <a:r>
                <a:rPr lang="en-US" altLang="zh-TW" sz="1000" dirty="0"/>
                <a:t> </a:t>
              </a:r>
              <a:endParaRPr lang="zh-TW" altLang="en-US" sz="1000" dirty="0"/>
            </a:p>
          </p:txBody>
        </p:sp>
      </p:grpSp>
      <p:grpSp>
        <p:nvGrpSpPr>
          <p:cNvPr id="24" name="群組 23">
            <a:extLst>
              <a:ext uri="{FF2B5EF4-FFF2-40B4-BE49-F238E27FC236}">
                <a16:creationId xmlns:a16="http://schemas.microsoft.com/office/drawing/2014/main" id="{3AF98F08-CB20-655C-2749-7108652B7953}"/>
              </a:ext>
            </a:extLst>
          </p:cNvPr>
          <p:cNvGrpSpPr/>
          <p:nvPr/>
        </p:nvGrpSpPr>
        <p:grpSpPr>
          <a:xfrm>
            <a:off x="6753153" y="3406906"/>
            <a:ext cx="308414" cy="743295"/>
            <a:chOff x="8147879" y="2874761"/>
            <a:chExt cx="320447" cy="747169"/>
          </a:xfrm>
        </p:grpSpPr>
        <p:cxnSp>
          <p:nvCxnSpPr>
            <p:cNvPr id="25" name="直線單箭頭接點 24">
              <a:extLst>
                <a:ext uri="{FF2B5EF4-FFF2-40B4-BE49-F238E27FC236}">
                  <a16:creationId xmlns:a16="http://schemas.microsoft.com/office/drawing/2014/main" id="{2894BCA3-263B-54D1-74DD-FCABC1BFAFC2}"/>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6" name="橢圓 25">
              <a:extLst>
                <a:ext uri="{FF2B5EF4-FFF2-40B4-BE49-F238E27FC236}">
                  <a16:creationId xmlns:a16="http://schemas.microsoft.com/office/drawing/2014/main" id="{0437A1FA-BA66-723F-AC4D-0F4D7F2F164D}"/>
                </a:ext>
              </a:extLst>
            </p:cNvPr>
            <p:cNvSpPr/>
            <p:nvPr/>
          </p:nvSpPr>
          <p:spPr>
            <a:xfrm>
              <a:off x="8147879" y="3074008"/>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dirty="0"/>
            </a:p>
          </p:txBody>
        </p:sp>
      </p:grpSp>
      <p:grpSp>
        <p:nvGrpSpPr>
          <p:cNvPr id="28" name="群組 27">
            <a:extLst>
              <a:ext uri="{FF2B5EF4-FFF2-40B4-BE49-F238E27FC236}">
                <a16:creationId xmlns:a16="http://schemas.microsoft.com/office/drawing/2014/main" id="{C60F48F4-095A-6629-CB24-7268396DC6F7}"/>
              </a:ext>
            </a:extLst>
          </p:cNvPr>
          <p:cNvGrpSpPr/>
          <p:nvPr/>
        </p:nvGrpSpPr>
        <p:grpSpPr>
          <a:xfrm>
            <a:off x="6753400" y="3409855"/>
            <a:ext cx="308414" cy="743295"/>
            <a:chOff x="8147879" y="2874761"/>
            <a:chExt cx="320447" cy="747169"/>
          </a:xfrm>
        </p:grpSpPr>
        <p:cxnSp>
          <p:nvCxnSpPr>
            <p:cNvPr id="29" name="直線單箭頭接點 28">
              <a:extLst>
                <a:ext uri="{FF2B5EF4-FFF2-40B4-BE49-F238E27FC236}">
                  <a16:creationId xmlns:a16="http://schemas.microsoft.com/office/drawing/2014/main" id="{ECFD3E71-4EA2-666D-D6E4-CC839BAF09A2}"/>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橢圓 29">
              <a:extLst>
                <a:ext uri="{FF2B5EF4-FFF2-40B4-BE49-F238E27FC236}">
                  <a16:creationId xmlns:a16="http://schemas.microsoft.com/office/drawing/2014/main" id="{560B66B8-0774-5621-E098-F2D1D84C0362}"/>
                </a:ext>
              </a:extLst>
            </p:cNvPr>
            <p:cNvSpPr/>
            <p:nvPr/>
          </p:nvSpPr>
          <p:spPr>
            <a:xfrm>
              <a:off x="8147879" y="3074008"/>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dirty="0"/>
            </a:p>
          </p:txBody>
        </p:sp>
      </p:grpSp>
    </p:spTree>
    <p:extLst>
      <p:ext uri="{BB962C8B-B14F-4D97-AF65-F5344CB8AC3E}">
        <p14:creationId xmlns:p14="http://schemas.microsoft.com/office/powerpoint/2010/main" val="31218741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000"/>
                                        <p:tgtEl>
                                          <p:spTgt spid="15"/>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500"/>
                                        <p:tgtEl>
                                          <p:spTgt spid="24"/>
                                        </p:tgtEl>
                                      </p:cBhvr>
                                    </p:animEffect>
                                  </p:childTnLst>
                                </p:cTn>
                              </p:par>
                              <p:par>
                                <p:cTn id="12" presetID="10" presetClass="entr" presetSubtype="0" fill="hold" nodeType="with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Objective</a:t>
            </a:r>
            <a:endParaRPr lang="zh-TW" altLang="en-US" b="1"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0039351" y="6356352"/>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12</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grpSp>
        <p:nvGrpSpPr>
          <p:cNvPr id="86" name="群組 85">
            <a:extLst>
              <a:ext uri="{FF2B5EF4-FFF2-40B4-BE49-F238E27FC236}">
                <a16:creationId xmlns:a16="http://schemas.microsoft.com/office/drawing/2014/main" id="{A40FBE4A-7A06-038D-356F-E691893841AA}"/>
              </a:ext>
            </a:extLst>
          </p:cNvPr>
          <p:cNvGrpSpPr/>
          <p:nvPr/>
        </p:nvGrpSpPr>
        <p:grpSpPr>
          <a:xfrm>
            <a:off x="865318" y="4706428"/>
            <a:ext cx="1755678" cy="736664"/>
            <a:chOff x="1748077" y="3079921"/>
            <a:chExt cx="1755678" cy="736664"/>
          </a:xfrm>
        </p:grpSpPr>
        <p:sp>
          <p:nvSpPr>
            <p:cNvPr id="78" name="左大括弧 77">
              <a:extLst>
                <a:ext uri="{FF2B5EF4-FFF2-40B4-BE49-F238E27FC236}">
                  <a16:creationId xmlns:a16="http://schemas.microsoft.com/office/drawing/2014/main" id="{D27E4118-1092-E5DE-ED03-3AE49E207554}"/>
                </a:ext>
              </a:extLst>
            </p:cNvPr>
            <p:cNvSpPr/>
            <p:nvPr/>
          </p:nvSpPr>
          <p:spPr>
            <a:xfrm rot="16200000">
              <a:off x="2339692" y="2488306"/>
              <a:ext cx="401957" cy="1585187"/>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sp>
          <p:nvSpPr>
            <p:cNvPr id="82" name="文字方塊 81">
              <a:extLst>
                <a:ext uri="{FF2B5EF4-FFF2-40B4-BE49-F238E27FC236}">
                  <a16:creationId xmlns:a16="http://schemas.microsoft.com/office/drawing/2014/main" id="{A3208C3D-0083-985B-A04E-E72C42B0DA7F}"/>
                </a:ext>
              </a:extLst>
            </p:cNvPr>
            <p:cNvSpPr txBox="1"/>
            <p:nvPr/>
          </p:nvSpPr>
          <p:spPr>
            <a:xfrm>
              <a:off x="2112027" y="3447253"/>
              <a:ext cx="1391728" cy="369332"/>
            </a:xfrm>
            <a:prstGeom prst="rect">
              <a:avLst/>
            </a:prstGeom>
            <a:noFill/>
          </p:spPr>
          <p:txBody>
            <a:bodyPr wrap="none" rtlCol="0">
              <a:spAutoFit/>
            </a:bodyPr>
            <a:lstStyle/>
            <a:p>
              <a:r>
                <a:rPr lang="en-US" altLang="zh-TW" dirty="0"/>
                <a:t>SPDC</a:t>
              </a:r>
              <a:r>
                <a:rPr lang="en-US" altLang="zh-TW" baseline="-25000" dirty="0"/>
                <a:t>type0(1cm)</a:t>
              </a:r>
              <a:endParaRPr lang="zh-TW" altLang="en-US" baseline="-25000" dirty="0"/>
            </a:p>
          </p:txBody>
        </p:sp>
      </p:grpSp>
      <p:grpSp>
        <p:nvGrpSpPr>
          <p:cNvPr id="88" name="群組 87">
            <a:extLst>
              <a:ext uri="{FF2B5EF4-FFF2-40B4-BE49-F238E27FC236}">
                <a16:creationId xmlns:a16="http://schemas.microsoft.com/office/drawing/2014/main" id="{0ECC9EF4-A7FF-821C-B73C-4E878D54F6F0}"/>
              </a:ext>
            </a:extLst>
          </p:cNvPr>
          <p:cNvGrpSpPr/>
          <p:nvPr/>
        </p:nvGrpSpPr>
        <p:grpSpPr>
          <a:xfrm>
            <a:off x="6122109" y="4669063"/>
            <a:ext cx="1662005" cy="774029"/>
            <a:chOff x="4953259" y="3078852"/>
            <a:chExt cx="1662005" cy="774029"/>
          </a:xfrm>
        </p:grpSpPr>
        <p:sp>
          <p:nvSpPr>
            <p:cNvPr id="79" name="左大括弧 78">
              <a:extLst>
                <a:ext uri="{FF2B5EF4-FFF2-40B4-BE49-F238E27FC236}">
                  <a16:creationId xmlns:a16="http://schemas.microsoft.com/office/drawing/2014/main" id="{BEA997C8-D4DA-249F-EA1E-454710297D9A}"/>
                </a:ext>
              </a:extLst>
            </p:cNvPr>
            <p:cNvSpPr/>
            <p:nvPr/>
          </p:nvSpPr>
          <p:spPr>
            <a:xfrm rot="16200000">
              <a:off x="5544874" y="2487237"/>
              <a:ext cx="401957" cy="1585187"/>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sp>
          <p:nvSpPr>
            <p:cNvPr id="83" name="文字方塊 82">
              <a:extLst>
                <a:ext uri="{FF2B5EF4-FFF2-40B4-BE49-F238E27FC236}">
                  <a16:creationId xmlns:a16="http://schemas.microsoft.com/office/drawing/2014/main" id="{C573487F-E807-CC92-83FA-D44175482790}"/>
                </a:ext>
              </a:extLst>
            </p:cNvPr>
            <p:cNvSpPr txBox="1"/>
            <p:nvPr/>
          </p:nvSpPr>
          <p:spPr>
            <a:xfrm>
              <a:off x="5223536" y="3483549"/>
              <a:ext cx="1391728" cy="369332"/>
            </a:xfrm>
            <a:prstGeom prst="rect">
              <a:avLst/>
            </a:prstGeom>
            <a:noFill/>
          </p:spPr>
          <p:txBody>
            <a:bodyPr wrap="none" rtlCol="0">
              <a:spAutoFit/>
            </a:bodyPr>
            <a:lstStyle/>
            <a:p>
              <a:r>
                <a:rPr lang="en-US" altLang="zh-TW" dirty="0"/>
                <a:t>SPDC</a:t>
              </a:r>
              <a:r>
                <a:rPr lang="en-US" altLang="zh-TW" baseline="-25000" dirty="0"/>
                <a:t>type0(1cm)</a:t>
              </a:r>
              <a:endParaRPr lang="zh-TW" altLang="en-US" baseline="-25000" dirty="0"/>
            </a:p>
          </p:txBody>
        </p:sp>
      </p:grpSp>
      <p:grpSp>
        <p:nvGrpSpPr>
          <p:cNvPr id="87" name="群組 86">
            <a:extLst>
              <a:ext uri="{FF2B5EF4-FFF2-40B4-BE49-F238E27FC236}">
                <a16:creationId xmlns:a16="http://schemas.microsoft.com/office/drawing/2014/main" id="{0E57B996-5BB3-8C7B-74F0-22F70682F9AA}"/>
              </a:ext>
            </a:extLst>
          </p:cNvPr>
          <p:cNvGrpSpPr/>
          <p:nvPr/>
        </p:nvGrpSpPr>
        <p:grpSpPr>
          <a:xfrm>
            <a:off x="3331499" y="4690318"/>
            <a:ext cx="1841776" cy="752774"/>
            <a:chOff x="3356689" y="3057825"/>
            <a:chExt cx="1841776" cy="752774"/>
          </a:xfrm>
        </p:grpSpPr>
        <p:sp>
          <p:nvSpPr>
            <p:cNvPr id="80" name="左大括弧 79">
              <a:extLst>
                <a:ext uri="{FF2B5EF4-FFF2-40B4-BE49-F238E27FC236}">
                  <a16:creationId xmlns:a16="http://schemas.microsoft.com/office/drawing/2014/main" id="{1EC118FD-A6E9-3EAD-80CB-2FC1DAE30826}"/>
                </a:ext>
              </a:extLst>
            </p:cNvPr>
            <p:cNvSpPr/>
            <p:nvPr/>
          </p:nvSpPr>
          <p:spPr>
            <a:xfrm rot="16200000">
              <a:off x="3948304" y="2466210"/>
              <a:ext cx="401957" cy="1585187"/>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sp>
          <p:nvSpPr>
            <p:cNvPr id="84" name="文字方塊 83">
              <a:extLst>
                <a:ext uri="{FF2B5EF4-FFF2-40B4-BE49-F238E27FC236}">
                  <a16:creationId xmlns:a16="http://schemas.microsoft.com/office/drawing/2014/main" id="{FA292BB0-11E1-EDBA-C905-23E6DE1C367B}"/>
                </a:ext>
              </a:extLst>
            </p:cNvPr>
            <p:cNvSpPr txBox="1"/>
            <p:nvPr/>
          </p:nvSpPr>
          <p:spPr>
            <a:xfrm>
              <a:off x="3603541" y="3441267"/>
              <a:ext cx="1594924" cy="369332"/>
            </a:xfrm>
            <a:prstGeom prst="rect">
              <a:avLst/>
            </a:prstGeom>
            <a:noFill/>
          </p:spPr>
          <p:txBody>
            <a:bodyPr wrap="none" rtlCol="0">
              <a:spAutoFit/>
            </a:bodyPr>
            <a:lstStyle/>
            <a:p>
              <a:r>
                <a:rPr lang="en-US" altLang="zh-TW" dirty="0" err="1"/>
                <a:t>EOPMC</a:t>
              </a:r>
              <a:r>
                <a:rPr lang="en-US" altLang="zh-TW" baseline="-25000" dirty="0" err="1"/>
                <a:t>appln</a:t>
              </a:r>
              <a:r>
                <a:rPr lang="en-US" altLang="zh-TW" baseline="-25000" dirty="0"/>
                <a:t>(1cm)</a:t>
              </a:r>
              <a:endParaRPr lang="zh-TW" altLang="en-US" baseline="-25000" dirty="0"/>
            </a:p>
          </p:txBody>
        </p:sp>
      </p:grpSp>
      <p:grpSp>
        <p:nvGrpSpPr>
          <p:cNvPr id="89" name="群組 88">
            <a:extLst>
              <a:ext uri="{FF2B5EF4-FFF2-40B4-BE49-F238E27FC236}">
                <a16:creationId xmlns:a16="http://schemas.microsoft.com/office/drawing/2014/main" id="{347010C7-22E3-62D1-1E78-04F47A644FA1}"/>
              </a:ext>
            </a:extLst>
          </p:cNvPr>
          <p:cNvGrpSpPr/>
          <p:nvPr/>
        </p:nvGrpSpPr>
        <p:grpSpPr>
          <a:xfrm>
            <a:off x="9482919" y="4692373"/>
            <a:ext cx="1188945" cy="750719"/>
            <a:chOff x="6543044" y="3099422"/>
            <a:chExt cx="1188945" cy="750719"/>
          </a:xfrm>
        </p:grpSpPr>
        <p:sp>
          <p:nvSpPr>
            <p:cNvPr id="81" name="左大括弧 80">
              <a:extLst>
                <a:ext uri="{FF2B5EF4-FFF2-40B4-BE49-F238E27FC236}">
                  <a16:creationId xmlns:a16="http://schemas.microsoft.com/office/drawing/2014/main" id="{A585A748-0A25-04DE-714B-616326F359B2}"/>
                </a:ext>
              </a:extLst>
            </p:cNvPr>
            <p:cNvSpPr/>
            <p:nvPr/>
          </p:nvSpPr>
          <p:spPr>
            <a:xfrm rot="16200000">
              <a:off x="6811373" y="2831093"/>
              <a:ext cx="401957" cy="938615"/>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sp>
          <p:nvSpPr>
            <p:cNvPr id="85" name="文字方塊 84">
              <a:extLst>
                <a:ext uri="{FF2B5EF4-FFF2-40B4-BE49-F238E27FC236}">
                  <a16:creationId xmlns:a16="http://schemas.microsoft.com/office/drawing/2014/main" id="{A212DB4A-29DD-3FB8-91F1-E3ECB9352948}"/>
                </a:ext>
              </a:extLst>
            </p:cNvPr>
            <p:cNvSpPr txBox="1"/>
            <p:nvPr/>
          </p:nvSpPr>
          <p:spPr>
            <a:xfrm>
              <a:off x="6808723" y="3480809"/>
              <a:ext cx="923266" cy="369332"/>
            </a:xfrm>
            <a:prstGeom prst="rect">
              <a:avLst/>
            </a:prstGeom>
            <a:noFill/>
          </p:spPr>
          <p:txBody>
            <a:bodyPr wrap="none" rtlCol="0">
              <a:spAutoFit/>
            </a:bodyPr>
            <a:lstStyle/>
            <a:p>
              <a:r>
                <a:rPr lang="en-US" altLang="zh-TW" dirty="0"/>
                <a:t>EO</a:t>
              </a:r>
              <a:r>
                <a:rPr lang="en-US" altLang="zh-TW" baseline="-25000" dirty="0"/>
                <a:t>(0.6cm)</a:t>
              </a:r>
              <a:endParaRPr lang="zh-TW" altLang="en-US" baseline="-25000" dirty="0"/>
            </a:p>
          </p:txBody>
        </p:sp>
      </p:grpSp>
      <p:grpSp>
        <p:nvGrpSpPr>
          <p:cNvPr id="187" name="群組 186">
            <a:extLst>
              <a:ext uri="{FF2B5EF4-FFF2-40B4-BE49-F238E27FC236}">
                <a16:creationId xmlns:a16="http://schemas.microsoft.com/office/drawing/2014/main" id="{643C5346-3317-062F-DF84-0F382BC0F762}"/>
              </a:ext>
            </a:extLst>
          </p:cNvPr>
          <p:cNvGrpSpPr/>
          <p:nvPr/>
        </p:nvGrpSpPr>
        <p:grpSpPr>
          <a:xfrm>
            <a:off x="853028" y="3089993"/>
            <a:ext cx="1597732" cy="1615784"/>
            <a:chOff x="1547796" y="4590564"/>
            <a:chExt cx="1597732" cy="1615784"/>
          </a:xfrm>
        </p:grpSpPr>
        <p:grpSp>
          <p:nvGrpSpPr>
            <p:cNvPr id="6" name="群組 5">
              <a:extLst>
                <a:ext uri="{FF2B5EF4-FFF2-40B4-BE49-F238E27FC236}">
                  <a16:creationId xmlns:a16="http://schemas.microsoft.com/office/drawing/2014/main" id="{D20ED634-A613-01A6-71CF-5FF0C56811B3}"/>
                </a:ext>
              </a:extLst>
            </p:cNvPr>
            <p:cNvGrpSpPr/>
            <p:nvPr/>
          </p:nvGrpSpPr>
          <p:grpSpPr>
            <a:xfrm>
              <a:off x="1547796" y="4590564"/>
              <a:ext cx="1597732" cy="1615784"/>
              <a:chOff x="7755536" y="4682354"/>
              <a:chExt cx="1539881" cy="1413646"/>
            </a:xfrm>
          </p:grpSpPr>
          <p:grpSp>
            <p:nvGrpSpPr>
              <p:cNvPr id="75" name="群組 74">
                <a:extLst>
                  <a:ext uri="{FF2B5EF4-FFF2-40B4-BE49-F238E27FC236}">
                    <a16:creationId xmlns:a16="http://schemas.microsoft.com/office/drawing/2014/main" id="{4C9670E7-88D1-9077-32E5-2F916CB65BD6}"/>
                  </a:ext>
                </a:extLst>
              </p:cNvPr>
              <p:cNvGrpSpPr/>
              <p:nvPr/>
            </p:nvGrpSpPr>
            <p:grpSpPr>
              <a:xfrm>
                <a:off x="7755536" y="4682354"/>
                <a:ext cx="382023" cy="1413646"/>
                <a:chOff x="7755536" y="4682354"/>
                <a:chExt cx="382023" cy="1413646"/>
              </a:xfrm>
            </p:grpSpPr>
            <p:sp>
              <p:nvSpPr>
                <p:cNvPr id="98" name="矩形 97">
                  <a:extLst>
                    <a:ext uri="{FF2B5EF4-FFF2-40B4-BE49-F238E27FC236}">
                      <a16:creationId xmlns:a16="http://schemas.microsoft.com/office/drawing/2014/main" id="{D4714103-9281-C4A3-C7EC-0DB8E8A67DCE}"/>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9" name="矩形 98">
                  <a:extLst>
                    <a:ext uri="{FF2B5EF4-FFF2-40B4-BE49-F238E27FC236}">
                      <a16:creationId xmlns:a16="http://schemas.microsoft.com/office/drawing/2014/main" id="{FC4D2F9A-C88B-4525-8396-2FC97F770CE7}"/>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76" name="群組 75">
                <a:extLst>
                  <a:ext uri="{FF2B5EF4-FFF2-40B4-BE49-F238E27FC236}">
                    <a16:creationId xmlns:a16="http://schemas.microsoft.com/office/drawing/2014/main" id="{9A14E843-2DE4-0EB8-D374-E3F247BB2DCF}"/>
                  </a:ext>
                </a:extLst>
              </p:cNvPr>
              <p:cNvGrpSpPr/>
              <p:nvPr/>
            </p:nvGrpSpPr>
            <p:grpSpPr>
              <a:xfrm>
                <a:off x="8136791" y="4682354"/>
                <a:ext cx="382023" cy="1413646"/>
                <a:chOff x="7755536" y="4682354"/>
                <a:chExt cx="382023" cy="1413646"/>
              </a:xfrm>
            </p:grpSpPr>
            <p:sp>
              <p:nvSpPr>
                <p:cNvPr id="96" name="矩形 95">
                  <a:extLst>
                    <a:ext uri="{FF2B5EF4-FFF2-40B4-BE49-F238E27FC236}">
                      <a16:creationId xmlns:a16="http://schemas.microsoft.com/office/drawing/2014/main" id="{5E1578CD-C5A7-F61E-F9F1-382870E0FE40}"/>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7" name="矩形 96">
                  <a:extLst>
                    <a:ext uri="{FF2B5EF4-FFF2-40B4-BE49-F238E27FC236}">
                      <a16:creationId xmlns:a16="http://schemas.microsoft.com/office/drawing/2014/main" id="{4CA60876-376E-81D1-AAEA-3CA13E2F961A}"/>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90" name="群組 89">
                <a:extLst>
                  <a:ext uri="{FF2B5EF4-FFF2-40B4-BE49-F238E27FC236}">
                    <a16:creationId xmlns:a16="http://schemas.microsoft.com/office/drawing/2014/main" id="{3DB5E330-CB58-A26E-2E7E-CD90AE737277}"/>
                  </a:ext>
                </a:extLst>
              </p:cNvPr>
              <p:cNvGrpSpPr/>
              <p:nvPr/>
            </p:nvGrpSpPr>
            <p:grpSpPr>
              <a:xfrm>
                <a:off x="8529017" y="4682354"/>
                <a:ext cx="382023" cy="1413646"/>
                <a:chOff x="7755536" y="4682354"/>
                <a:chExt cx="382023" cy="1413646"/>
              </a:xfrm>
            </p:grpSpPr>
            <p:sp>
              <p:nvSpPr>
                <p:cNvPr id="94" name="矩形 93">
                  <a:extLst>
                    <a:ext uri="{FF2B5EF4-FFF2-40B4-BE49-F238E27FC236}">
                      <a16:creationId xmlns:a16="http://schemas.microsoft.com/office/drawing/2014/main" id="{B5F65E98-E9A7-2825-FA77-D4ACF3B8C467}"/>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5" name="矩形 94">
                  <a:extLst>
                    <a:ext uri="{FF2B5EF4-FFF2-40B4-BE49-F238E27FC236}">
                      <a16:creationId xmlns:a16="http://schemas.microsoft.com/office/drawing/2014/main" id="{87542D68-2A60-1ED7-7BA1-26A60BEF53F9}"/>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91" name="群組 90">
                <a:extLst>
                  <a:ext uri="{FF2B5EF4-FFF2-40B4-BE49-F238E27FC236}">
                    <a16:creationId xmlns:a16="http://schemas.microsoft.com/office/drawing/2014/main" id="{88F7A957-93F0-20FC-0CC2-F1D6F36ACB45}"/>
                  </a:ext>
                </a:extLst>
              </p:cNvPr>
              <p:cNvGrpSpPr/>
              <p:nvPr/>
            </p:nvGrpSpPr>
            <p:grpSpPr>
              <a:xfrm>
                <a:off x="8913394" y="4682354"/>
                <a:ext cx="382023" cy="1413646"/>
                <a:chOff x="7755536" y="4682354"/>
                <a:chExt cx="382023" cy="1413646"/>
              </a:xfrm>
            </p:grpSpPr>
            <p:sp>
              <p:nvSpPr>
                <p:cNvPr id="92" name="矩形 91">
                  <a:extLst>
                    <a:ext uri="{FF2B5EF4-FFF2-40B4-BE49-F238E27FC236}">
                      <a16:creationId xmlns:a16="http://schemas.microsoft.com/office/drawing/2014/main" id="{2E64A673-DC07-3D3E-AE38-E98B349A23B9}"/>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3" name="矩形 92">
                  <a:extLst>
                    <a:ext uri="{FF2B5EF4-FFF2-40B4-BE49-F238E27FC236}">
                      <a16:creationId xmlns:a16="http://schemas.microsoft.com/office/drawing/2014/main" id="{FE97A7C1-3165-1389-1143-F0CC799D012E}"/>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100" name="矩形 99">
              <a:extLst>
                <a:ext uri="{FF2B5EF4-FFF2-40B4-BE49-F238E27FC236}">
                  <a16:creationId xmlns:a16="http://schemas.microsoft.com/office/drawing/2014/main" id="{BD7CF3CE-D650-3CFD-83E5-03700D0E467F}"/>
                </a:ext>
              </a:extLst>
            </p:cNvPr>
            <p:cNvSpPr/>
            <p:nvPr/>
          </p:nvSpPr>
          <p:spPr>
            <a:xfrm>
              <a:off x="1560341" y="5172154"/>
              <a:ext cx="1575773" cy="262714"/>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86" name="矩形 185">
              <a:extLst>
                <a:ext uri="{FF2B5EF4-FFF2-40B4-BE49-F238E27FC236}">
                  <a16:creationId xmlns:a16="http://schemas.microsoft.com/office/drawing/2014/main" id="{D97C8FBE-0158-A447-B443-16A016E07D72}"/>
                </a:ext>
              </a:extLst>
            </p:cNvPr>
            <p:cNvSpPr/>
            <p:nvPr/>
          </p:nvSpPr>
          <p:spPr>
            <a:xfrm>
              <a:off x="1554254" y="5982936"/>
              <a:ext cx="1591274" cy="223412"/>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193" name="箭號: 向右 192">
            <a:extLst>
              <a:ext uri="{FF2B5EF4-FFF2-40B4-BE49-F238E27FC236}">
                <a16:creationId xmlns:a16="http://schemas.microsoft.com/office/drawing/2014/main" id="{22CEFEFD-2292-4A69-0F5B-E509624EC2B4}"/>
              </a:ext>
            </a:extLst>
          </p:cNvPr>
          <p:cNvSpPr/>
          <p:nvPr/>
        </p:nvSpPr>
        <p:spPr>
          <a:xfrm>
            <a:off x="88860" y="3697690"/>
            <a:ext cx="750491" cy="275824"/>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4" name="文字方塊 193">
            <a:extLst>
              <a:ext uri="{FF2B5EF4-FFF2-40B4-BE49-F238E27FC236}">
                <a16:creationId xmlns:a16="http://schemas.microsoft.com/office/drawing/2014/main" id="{D3C38CEB-DC6A-271E-A15D-F63AAB9E194F}"/>
              </a:ext>
            </a:extLst>
          </p:cNvPr>
          <p:cNvSpPr txBox="1"/>
          <p:nvPr/>
        </p:nvSpPr>
        <p:spPr>
          <a:xfrm>
            <a:off x="108731" y="3456729"/>
            <a:ext cx="618015" cy="307777"/>
          </a:xfrm>
          <a:prstGeom prst="rect">
            <a:avLst/>
          </a:prstGeom>
          <a:noFill/>
        </p:spPr>
        <p:txBody>
          <a:bodyPr wrap="square" rtlCol="0">
            <a:spAutoFit/>
          </a:bodyPr>
          <a:lstStyle/>
          <a:p>
            <a:r>
              <a:rPr lang="en-US" altLang="zh-TW" sz="1400" dirty="0"/>
              <a:t>Pump </a:t>
            </a:r>
            <a:endParaRPr lang="zh-TW" altLang="en-US" sz="1400" dirty="0"/>
          </a:p>
        </p:txBody>
      </p:sp>
      <p:grpSp>
        <p:nvGrpSpPr>
          <p:cNvPr id="235" name="群組 234">
            <a:extLst>
              <a:ext uri="{FF2B5EF4-FFF2-40B4-BE49-F238E27FC236}">
                <a16:creationId xmlns:a16="http://schemas.microsoft.com/office/drawing/2014/main" id="{58001093-5102-6A53-675E-2D0DC04C8F0C}"/>
              </a:ext>
            </a:extLst>
          </p:cNvPr>
          <p:cNvGrpSpPr/>
          <p:nvPr/>
        </p:nvGrpSpPr>
        <p:grpSpPr>
          <a:xfrm>
            <a:off x="3332816" y="2371963"/>
            <a:ext cx="1598437" cy="2314555"/>
            <a:chOff x="8442672" y="1013979"/>
            <a:chExt cx="1598437" cy="2314555"/>
          </a:xfrm>
        </p:grpSpPr>
        <p:grpSp>
          <p:nvGrpSpPr>
            <p:cNvPr id="236" name="群組 235">
              <a:extLst>
                <a:ext uri="{FF2B5EF4-FFF2-40B4-BE49-F238E27FC236}">
                  <a16:creationId xmlns:a16="http://schemas.microsoft.com/office/drawing/2014/main" id="{ED13C53B-29D8-7150-9BDE-8D6B369990FC}"/>
                </a:ext>
              </a:extLst>
            </p:cNvPr>
            <p:cNvGrpSpPr/>
            <p:nvPr/>
          </p:nvGrpSpPr>
          <p:grpSpPr>
            <a:xfrm>
              <a:off x="8442672" y="1013979"/>
              <a:ext cx="1598437" cy="2314554"/>
              <a:chOff x="8442672" y="1013979"/>
              <a:chExt cx="1598437" cy="2314554"/>
            </a:xfrm>
          </p:grpSpPr>
          <p:grpSp>
            <p:nvGrpSpPr>
              <p:cNvPr id="239" name="群組 238">
                <a:extLst>
                  <a:ext uri="{FF2B5EF4-FFF2-40B4-BE49-F238E27FC236}">
                    <a16:creationId xmlns:a16="http://schemas.microsoft.com/office/drawing/2014/main" id="{54406BB5-B5EE-9D1D-1E52-56602CF614B1}"/>
                  </a:ext>
                </a:extLst>
              </p:cNvPr>
              <p:cNvGrpSpPr/>
              <p:nvPr/>
            </p:nvGrpSpPr>
            <p:grpSpPr>
              <a:xfrm>
                <a:off x="8443377" y="1712749"/>
                <a:ext cx="1597732" cy="1615784"/>
                <a:chOff x="3923113" y="2277371"/>
                <a:chExt cx="1539881" cy="1413646"/>
              </a:xfrm>
            </p:grpSpPr>
            <p:grpSp>
              <p:nvGrpSpPr>
                <p:cNvPr id="294" name="群組 293">
                  <a:extLst>
                    <a:ext uri="{FF2B5EF4-FFF2-40B4-BE49-F238E27FC236}">
                      <a16:creationId xmlns:a16="http://schemas.microsoft.com/office/drawing/2014/main" id="{FC0FAA66-FEDD-AF3A-1C1C-0590DD2634A3}"/>
                    </a:ext>
                  </a:extLst>
                </p:cNvPr>
                <p:cNvGrpSpPr/>
                <p:nvPr/>
              </p:nvGrpSpPr>
              <p:grpSpPr>
                <a:xfrm>
                  <a:off x="3923113" y="2277371"/>
                  <a:ext cx="382023" cy="1413646"/>
                  <a:chOff x="7755536" y="4682354"/>
                  <a:chExt cx="382023" cy="1413646"/>
                </a:xfrm>
                <a:solidFill>
                  <a:schemeClr val="accent6">
                    <a:lumMod val="60000"/>
                    <a:lumOff val="40000"/>
                  </a:schemeClr>
                </a:solidFill>
              </p:grpSpPr>
              <p:sp>
                <p:nvSpPr>
                  <p:cNvPr id="304" name="矩形 303">
                    <a:extLst>
                      <a:ext uri="{FF2B5EF4-FFF2-40B4-BE49-F238E27FC236}">
                        <a16:creationId xmlns:a16="http://schemas.microsoft.com/office/drawing/2014/main" id="{D25B2392-EC46-7D58-6D5D-127B0E38A5A8}"/>
                      </a:ext>
                    </a:extLst>
                  </p:cNvPr>
                  <p:cNvSpPr/>
                  <p:nvPr/>
                </p:nvSpPr>
                <p:spPr>
                  <a:xfrm>
                    <a:off x="7755536"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5" name="矩形 304">
                    <a:extLst>
                      <a:ext uri="{FF2B5EF4-FFF2-40B4-BE49-F238E27FC236}">
                        <a16:creationId xmlns:a16="http://schemas.microsoft.com/office/drawing/2014/main" id="{C9E553EF-221A-3321-FC87-F4112418CEC7}"/>
                      </a:ext>
                    </a:extLst>
                  </p:cNvPr>
                  <p:cNvSpPr/>
                  <p:nvPr/>
                </p:nvSpPr>
                <p:spPr>
                  <a:xfrm>
                    <a:off x="7946547"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295" name="群組 294">
                  <a:extLst>
                    <a:ext uri="{FF2B5EF4-FFF2-40B4-BE49-F238E27FC236}">
                      <a16:creationId xmlns:a16="http://schemas.microsoft.com/office/drawing/2014/main" id="{68BE1CC3-B3EB-E89D-59AE-85E5B9A7723B}"/>
                    </a:ext>
                  </a:extLst>
                </p:cNvPr>
                <p:cNvGrpSpPr/>
                <p:nvPr/>
              </p:nvGrpSpPr>
              <p:grpSpPr>
                <a:xfrm>
                  <a:off x="4304368" y="2277371"/>
                  <a:ext cx="382023" cy="1413646"/>
                  <a:chOff x="7755536" y="4682354"/>
                  <a:chExt cx="382023" cy="1413646"/>
                </a:xfrm>
                <a:solidFill>
                  <a:schemeClr val="accent6">
                    <a:lumMod val="20000"/>
                    <a:lumOff val="80000"/>
                  </a:schemeClr>
                </a:solidFill>
              </p:grpSpPr>
              <p:sp>
                <p:nvSpPr>
                  <p:cNvPr id="302" name="矩形 301">
                    <a:extLst>
                      <a:ext uri="{FF2B5EF4-FFF2-40B4-BE49-F238E27FC236}">
                        <a16:creationId xmlns:a16="http://schemas.microsoft.com/office/drawing/2014/main" id="{1F74DE05-CD51-BA35-8858-BF9941D24233}"/>
                      </a:ext>
                    </a:extLst>
                  </p:cNvPr>
                  <p:cNvSpPr/>
                  <p:nvPr/>
                </p:nvSpPr>
                <p:spPr>
                  <a:xfrm>
                    <a:off x="7755536"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3" name="矩形 302">
                    <a:extLst>
                      <a:ext uri="{FF2B5EF4-FFF2-40B4-BE49-F238E27FC236}">
                        <a16:creationId xmlns:a16="http://schemas.microsoft.com/office/drawing/2014/main" id="{64EC3D46-E4B0-3E4A-EFA0-906C6C194617}"/>
                      </a:ext>
                    </a:extLst>
                  </p:cNvPr>
                  <p:cNvSpPr/>
                  <p:nvPr/>
                </p:nvSpPr>
                <p:spPr>
                  <a:xfrm>
                    <a:off x="7946547"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296" name="群組 295">
                  <a:extLst>
                    <a:ext uri="{FF2B5EF4-FFF2-40B4-BE49-F238E27FC236}">
                      <a16:creationId xmlns:a16="http://schemas.microsoft.com/office/drawing/2014/main" id="{D7592430-200D-A221-9627-B75263B46D65}"/>
                    </a:ext>
                  </a:extLst>
                </p:cNvPr>
                <p:cNvGrpSpPr/>
                <p:nvPr/>
              </p:nvGrpSpPr>
              <p:grpSpPr>
                <a:xfrm>
                  <a:off x="4696594" y="2277371"/>
                  <a:ext cx="382023" cy="1413646"/>
                  <a:chOff x="7755536" y="4682354"/>
                  <a:chExt cx="382023" cy="1413646"/>
                </a:xfrm>
              </p:grpSpPr>
              <p:sp>
                <p:nvSpPr>
                  <p:cNvPr id="300" name="矩形 299">
                    <a:extLst>
                      <a:ext uri="{FF2B5EF4-FFF2-40B4-BE49-F238E27FC236}">
                        <a16:creationId xmlns:a16="http://schemas.microsoft.com/office/drawing/2014/main" id="{9276A22F-19C3-09A0-6805-C45AE53D3A12}"/>
                      </a:ext>
                    </a:extLst>
                  </p:cNvPr>
                  <p:cNvSpPr/>
                  <p:nvPr/>
                </p:nvSpPr>
                <p:spPr>
                  <a:xfrm>
                    <a:off x="7755536" y="4682354"/>
                    <a:ext cx="191012" cy="1413646"/>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1" name="矩形 300">
                    <a:extLst>
                      <a:ext uri="{FF2B5EF4-FFF2-40B4-BE49-F238E27FC236}">
                        <a16:creationId xmlns:a16="http://schemas.microsoft.com/office/drawing/2014/main" id="{F197B09E-B457-0128-F12C-50F863019BA6}"/>
                      </a:ext>
                    </a:extLst>
                  </p:cNvPr>
                  <p:cNvSpPr/>
                  <p:nvPr/>
                </p:nvSpPr>
                <p:spPr>
                  <a:xfrm>
                    <a:off x="7946547" y="4682354"/>
                    <a:ext cx="191012" cy="141364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297" name="群組 296">
                  <a:extLst>
                    <a:ext uri="{FF2B5EF4-FFF2-40B4-BE49-F238E27FC236}">
                      <a16:creationId xmlns:a16="http://schemas.microsoft.com/office/drawing/2014/main" id="{1C02879F-40B5-93FC-BC56-77C9625F08E6}"/>
                    </a:ext>
                  </a:extLst>
                </p:cNvPr>
                <p:cNvGrpSpPr/>
                <p:nvPr/>
              </p:nvGrpSpPr>
              <p:grpSpPr>
                <a:xfrm>
                  <a:off x="5080971" y="2277371"/>
                  <a:ext cx="382023" cy="1413646"/>
                  <a:chOff x="7755536" y="4682354"/>
                  <a:chExt cx="382023" cy="1413646"/>
                </a:xfrm>
              </p:grpSpPr>
              <p:sp>
                <p:nvSpPr>
                  <p:cNvPr id="298" name="矩形 297">
                    <a:extLst>
                      <a:ext uri="{FF2B5EF4-FFF2-40B4-BE49-F238E27FC236}">
                        <a16:creationId xmlns:a16="http://schemas.microsoft.com/office/drawing/2014/main" id="{C14D46E3-39D2-50C7-9C73-85D52C515073}"/>
                      </a:ext>
                    </a:extLst>
                  </p:cNvPr>
                  <p:cNvSpPr/>
                  <p:nvPr/>
                </p:nvSpPr>
                <p:spPr>
                  <a:xfrm>
                    <a:off x="7755536" y="4682354"/>
                    <a:ext cx="191012" cy="141364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99" name="矩形 298">
                    <a:extLst>
                      <a:ext uri="{FF2B5EF4-FFF2-40B4-BE49-F238E27FC236}">
                        <a16:creationId xmlns:a16="http://schemas.microsoft.com/office/drawing/2014/main" id="{170A57E1-6B85-A008-45FA-C9DDC726B6EE}"/>
                      </a:ext>
                    </a:extLst>
                  </p:cNvPr>
                  <p:cNvSpPr/>
                  <p:nvPr/>
                </p:nvSpPr>
                <p:spPr>
                  <a:xfrm>
                    <a:off x="7946547" y="4682354"/>
                    <a:ext cx="191012" cy="1413646"/>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241" name="矩形 240">
                <a:extLst>
                  <a:ext uri="{FF2B5EF4-FFF2-40B4-BE49-F238E27FC236}">
                    <a16:creationId xmlns:a16="http://schemas.microsoft.com/office/drawing/2014/main" id="{D73A12A9-3B52-2037-2B74-86FD8705A04F}"/>
                  </a:ext>
                </a:extLst>
              </p:cNvPr>
              <p:cNvSpPr/>
              <p:nvPr/>
            </p:nvSpPr>
            <p:spPr>
              <a:xfrm>
                <a:off x="8453352" y="1984590"/>
                <a:ext cx="1585315"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46" name="矩形 245">
                <a:extLst>
                  <a:ext uri="{FF2B5EF4-FFF2-40B4-BE49-F238E27FC236}">
                    <a16:creationId xmlns:a16="http://schemas.microsoft.com/office/drawing/2014/main" id="{7AAD89B5-EFBD-C61A-C2BE-6DAADC5E40BF}"/>
                  </a:ext>
                </a:extLst>
              </p:cNvPr>
              <p:cNvSpPr/>
              <p:nvPr/>
            </p:nvSpPr>
            <p:spPr>
              <a:xfrm>
                <a:off x="8442672" y="2636613"/>
                <a:ext cx="1585315"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267" name="直線接點 266">
                <a:extLst>
                  <a:ext uri="{FF2B5EF4-FFF2-40B4-BE49-F238E27FC236}">
                    <a16:creationId xmlns:a16="http://schemas.microsoft.com/office/drawing/2014/main" id="{6C909218-F352-E25D-37A2-BF01D9FEC07A}"/>
                  </a:ext>
                </a:extLst>
              </p:cNvPr>
              <p:cNvCxnSpPr>
                <a:cxnSpLocks/>
              </p:cNvCxnSpPr>
              <p:nvPr/>
            </p:nvCxnSpPr>
            <p:spPr>
              <a:xfrm flipH="1" flipV="1">
                <a:off x="8509832" y="1339285"/>
                <a:ext cx="131732" cy="140986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5" name="直線接點 274">
                <a:extLst>
                  <a:ext uri="{FF2B5EF4-FFF2-40B4-BE49-F238E27FC236}">
                    <a16:creationId xmlns:a16="http://schemas.microsoft.com/office/drawing/2014/main" id="{51935ED9-E9B4-0117-0C87-3EFD2084E7DD}"/>
                  </a:ext>
                </a:extLst>
              </p:cNvPr>
              <p:cNvCxnSpPr>
                <a:cxnSpLocks/>
              </p:cNvCxnSpPr>
              <p:nvPr/>
            </p:nvCxnSpPr>
            <p:spPr>
              <a:xfrm flipH="1" flipV="1">
                <a:off x="9436018" y="1025270"/>
                <a:ext cx="101693" cy="10542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1" name="直線接點 290">
                <a:extLst>
                  <a:ext uri="{FF2B5EF4-FFF2-40B4-BE49-F238E27FC236}">
                    <a16:creationId xmlns:a16="http://schemas.microsoft.com/office/drawing/2014/main" id="{16100671-DED2-3706-7B5E-38E183869359}"/>
                  </a:ext>
                </a:extLst>
              </p:cNvPr>
              <p:cNvCxnSpPr>
                <a:cxnSpLocks/>
              </p:cNvCxnSpPr>
              <p:nvPr/>
            </p:nvCxnSpPr>
            <p:spPr>
              <a:xfrm flipV="1">
                <a:off x="8508538" y="1264686"/>
                <a:ext cx="232120" cy="8522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2" name="直線接點 291">
                <a:extLst>
                  <a:ext uri="{FF2B5EF4-FFF2-40B4-BE49-F238E27FC236}">
                    <a16:creationId xmlns:a16="http://schemas.microsoft.com/office/drawing/2014/main" id="{1AD66B2E-33C9-4BB3-E5EE-0AF56DE615FA}"/>
                  </a:ext>
                </a:extLst>
              </p:cNvPr>
              <p:cNvCxnSpPr>
                <a:cxnSpLocks/>
              </p:cNvCxnSpPr>
              <p:nvPr/>
            </p:nvCxnSpPr>
            <p:spPr>
              <a:xfrm flipH="1">
                <a:off x="9125726" y="1034920"/>
                <a:ext cx="319098" cy="1220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93" name="橢圓 292">
                <a:extLst>
                  <a:ext uri="{FF2B5EF4-FFF2-40B4-BE49-F238E27FC236}">
                    <a16:creationId xmlns:a16="http://schemas.microsoft.com/office/drawing/2014/main" id="{614B2AC3-0DA8-D030-65EF-7AD59D024A2F}"/>
                  </a:ext>
                </a:extLst>
              </p:cNvPr>
              <p:cNvSpPr/>
              <p:nvPr/>
            </p:nvSpPr>
            <p:spPr>
              <a:xfrm>
                <a:off x="8736284" y="1013979"/>
                <a:ext cx="382626" cy="378964"/>
              </a:xfrm>
              <a:prstGeom prst="ellipse">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solidFill>
                      <a:schemeClr val="tx1"/>
                    </a:solidFill>
                  </a:rPr>
                  <a:t>V</a:t>
                </a:r>
                <a:endParaRPr lang="zh-TW" altLang="en-US" b="1" dirty="0">
                  <a:solidFill>
                    <a:schemeClr val="tx1"/>
                  </a:solidFill>
                </a:endParaRPr>
              </a:p>
            </p:txBody>
          </p:sp>
        </p:grpSp>
        <p:sp>
          <p:nvSpPr>
            <p:cNvPr id="237" name="矩形 236">
              <a:extLst>
                <a:ext uri="{FF2B5EF4-FFF2-40B4-BE49-F238E27FC236}">
                  <a16:creationId xmlns:a16="http://schemas.microsoft.com/office/drawing/2014/main" id="{BA284123-0556-21AF-67C0-964480CD1FCC}"/>
                </a:ext>
              </a:extLst>
            </p:cNvPr>
            <p:cNvSpPr/>
            <p:nvPr/>
          </p:nvSpPr>
          <p:spPr>
            <a:xfrm>
              <a:off x="8456889" y="3089226"/>
              <a:ext cx="1581778" cy="239308"/>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38" name="矩形 237">
              <a:extLst>
                <a:ext uri="{FF2B5EF4-FFF2-40B4-BE49-F238E27FC236}">
                  <a16:creationId xmlns:a16="http://schemas.microsoft.com/office/drawing/2014/main" id="{B88D2D2F-9625-41EF-F442-09B39E0597E9}"/>
                </a:ext>
              </a:extLst>
            </p:cNvPr>
            <p:cNvSpPr/>
            <p:nvPr/>
          </p:nvSpPr>
          <p:spPr>
            <a:xfrm>
              <a:off x="8453198" y="2328648"/>
              <a:ext cx="1577675" cy="196537"/>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nvGrpSpPr>
          <p:cNvPr id="306" name="群組 305">
            <a:extLst>
              <a:ext uri="{FF2B5EF4-FFF2-40B4-BE49-F238E27FC236}">
                <a16:creationId xmlns:a16="http://schemas.microsoft.com/office/drawing/2014/main" id="{6906D793-AF4D-BF11-CD9C-2674AED87A31}"/>
              </a:ext>
            </a:extLst>
          </p:cNvPr>
          <p:cNvGrpSpPr/>
          <p:nvPr/>
        </p:nvGrpSpPr>
        <p:grpSpPr>
          <a:xfrm>
            <a:off x="6109844" y="3065608"/>
            <a:ext cx="1597732" cy="1615786"/>
            <a:chOff x="1547796" y="4590565"/>
            <a:chExt cx="1597732" cy="1615786"/>
          </a:xfrm>
        </p:grpSpPr>
        <p:grpSp>
          <p:nvGrpSpPr>
            <p:cNvPr id="307" name="群組 306">
              <a:extLst>
                <a:ext uri="{FF2B5EF4-FFF2-40B4-BE49-F238E27FC236}">
                  <a16:creationId xmlns:a16="http://schemas.microsoft.com/office/drawing/2014/main" id="{E16FCB19-D9A4-2C95-4FA8-7A779CED8C53}"/>
                </a:ext>
              </a:extLst>
            </p:cNvPr>
            <p:cNvGrpSpPr/>
            <p:nvPr/>
          </p:nvGrpSpPr>
          <p:grpSpPr>
            <a:xfrm>
              <a:off x="1547796" y="4590565"/>
              <a:ext cx="1597732" cy="1615786"/>
              <a:chOff x="7755536" y="4682353"/>
              <a:chExt cx="1539881" cy="1413647"/>
            </a:xfrm>
          </p:grpSpPr>
          <p:grpSp>
            <p:nvGrpSpPr>
              <p:cNvPr id="310" name="群組 309">
                <a:extLst>
                  <a:ext uri="{FF2B5EF4-FFF2-40B4-BE49-F238E27FC236}">
                    <a16:creationId xmlns:a16="http://schemas.microsoft.com/office/drawing/2014/main" id="{3F9220EE-773C-2042-91E9-E686BA36FAC2}"/>
                  </a:ext>
                </a:extLst>
              </p:cNvPr>
              <p:cNvGrpSpPr/>
              <p:nvPr/>
            </p:nvGrpSpPr>
            <p:grpSpPr>
              <a:xfrm>
                <a:off x="7755536" y="4682354"/>
                <a:ext cx="382023" cy="1413646"/>
                <a:chOff x="7755536" y="4682354"/>
                <a:chExt cx="382023" cy="1413646"/>
              </a:xfrm>
            </p:grpSpPr>
            <p:sp>
              <p:nvSpPr>
                <p:cNvPr id="320" name="矩形 319">
                  <a:extLst>
                    <a:ext uri="{FF2B5EF4-FFF2-40B4-BE49-F238E27FC236}">
                      <a16:creationId xmlns:a16="http://schemas.microsoft.com/office/drawing/2014/main" id="{F9951B22-8E50-35F4-9BC1-309DE28405E9}"/>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1" name="矩形 320">
                  <a:extLst>
                    <a:ext uri="{FF2B5EF4-FFF2-40B4-BE49-F238E27FC236}">
                      <a16:creationId xmlns:a16="http://schemas.microsoft.com/office/drawing/2014/main" id="{FC3A3A17-A4AF-9B2C-891C-453EEBC580EC}"/>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11" name="群組 310">
                <a:extLst>
                  <a:ext uri="{FF2B5EF4-FFF2-40B4-BE49-F238E27FC236}">
                    <a16:creationId xmlns:a16="http://schemas.microsoft.com/office/drawing/2014/main" id="{7EF784CA-A07E-22E1-B563-0E5FD41D2FEA}"/>
                  </a:ext>
                </a:extLst>
              </p:cNvPr>
              <p:cNvGrpSpPr/>
              <p:nvPr/>
            </p:nvGrpSpPr>
            <p:grpSpPr>
              <a:xfrm>
                <a:off x="8136791" y="4682354"/>
                <a:ext cx="382023" cy="1413646"/>
                <a:chOff x="7755536" y="4682354"/>
                <a:chExt cx="382023" cy="1413646"/>
              </a:xfrm>
            </p:grpSpPr>
            <p:sp>
              <p:nvSpPr>
                <p:cNvPr id="318" name="矩形 317">
                  <a:extLst>
                    <a:ext uri="{FF2B5EF4-FFF2-40B4-BE49-F238E27FC236}">
                      <a16:creationId xmlns:a16="http://schemas.microsoft.com/office/drawing/2014/main" id="{C0F35C31-4B97-7F6A-4A15-AC43DD6BAC41}"/>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9" name="矩形 318">
                  <a:extLst>
                    <a:ext uri="{FF2B5EF4-FFF2-40B4-BE49-F238E27FC236}">
                      <a16:creationId xmlns:a16="http://schemas.microsoft.com/office/drawing/2014/main" id="{4D413EF0-D670-6919-DA86-EF299162CBE3}"/>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12" name="群組 311">
                <a:extLst>
                  <a:ext uri="{FF2B5EF4-FFF2-40B4-BE49-F238E27FC236}">
                    <a16:creationId xmlns:a16="http://schemas.microsoft.com/office/drawing/2014/main" id="{6F3EB298-81F6-5941-D21E-12BF2298F268}"/>
                  </a:ext>
                </a:extLst>
              </p:cNvPr>
              <p:cNvGrpSpPr/>
              <p:nvPr/>
            </p:nvGrpSpPr>
            <p:grpSpPr>
              <a:xfrm>
                <a:off x="8529018" y="4682353"/>
                <a:ext cx="382022" cy="1413647"/>
                <a:chOff x="7755537" y="4682353"/>
                <a:chExt cx="382022" cy="1413647"/>
              </a:xfrm>
            </p:grpSpPr>
            <p:sp>
              <p:nvSpPr>
                <p:cNvPr id="316" name="矩形 315">
                  <a:extLst>
                    <a:ext uri="{FF2B5EF4-FFF2-40B4-BE49-F238E27FC236}">
                      <a16:creationId xmlns:a16="http://schemas.microsoft.com/office/drawing/2014/main" id="{9189EDA1-FFDD-5EC9-E5EE-7CEFEDD8CD23}"/>
                    </a:ext>
                  </a:extLst>
                </p:cNvPr>
                <p:cNvSpPr/>
                <p:nvPr/>
              </p:nvSpPr>
              <p:spPr>
                <a:xfrm>
                  <a:off x="7755537" y="4682353"/>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7" name="矩形 316">
                  <a:extLst>
                    <a:ext uri="{FF2B5EF4-FFF2-40B4-BE49-F238E27FC236}">
                      <a16:creationId xmlns:a16="http://schemas.microsoft.com/office/drawing/2014/main" id="{5C7BDBDC-147A-5661-9353-7A97DDFABAC4}"/>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13" name="群組 312">
                <a:extLst>
                  <a:ext uri="{FF2B5EF4-FFF2-40B4-BE49-F238E27FC236}">
                    <a16:creationId xmlns:a16="http://schemas.microsoft.com/office/drawing/2014/main" id="{8C387FD1-D7CA-485C-0986-00E69E20BF8F}"/>
                  </a:ext>
                </a:extLst>
              </p:cNvPr>
              <p:cNvGrpSpPr/>
              <p:nvPr/>
            </p:nvGrpSpPr>
            <p:grpSpPr>
              <a:xfrm>
                <a:off x="8913394" y="4682354"/>
                <a:ext cx="382023" cy="1413646"/>
                <a:chOff x="7755536" y="4682354"/>
                <a:chExt cx="382023" cy="1413646"/>
              </a:xfrm>
            </p:grpSpPr>
            <p:sp>
              <p:nvSpPr>
                <p:cNvPr id="314" name="矩形 313">
                  <a:extLst>
                    <a:ext uri="{FF2B5EF4-FFF2-40B4-BE49-F238E27FC236}">
                      <a16:creationId xmlns:a16="http://schemas.microsoft.com/office/drawing/2014/main" id="{6E4E387E-77D6-776F-CE0C-BF95614F3511}"/>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5" name="矩形 314">
                  <a:extLst>
                    <a:ext uri="{FF2B5EF4-FFF2-40B4-BE49-F238E27FC236}">
                      <a16:creationId xmlns:a16="http://schemas.microsoft.com/office/drawing/2014/main" id="{BA5C0EDD-0953-D791-B052-92FA854CD651}"/>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308" name="矩形 307">
              <a:extLst>
                <a:ext uri="{FF2B5EF4-FFF2-40B4-BE49-F238E27FC236}">
                  <a16:creationId xmlns:a16="http://schemas.microsoft.com/office/drawing/2014/main" id="{7CE9B7CC-0DC7-8CAC-E25C-E90689E689C0}"/>
                </a:ext>
              </a:extLst>
            </p:cNvPr>
            <p:cNvSpPr/>
            <p:nvPr/>
          </p:nvSpPr>
          <p:spPr>
            <a:xfrm>
              <a:off x="1560341" y="5172154"/>
              <a:ext cx="1575773" cy="262714"/>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09" name="矩形 308">
              <a:extLst>
                <a:ext uri="{FF2B5EF4-FFF2-40B4-BE49-F238E27FC236}">
                  <a16:creationId xmlns:a16="http://schemas.microsoft.com/office/drawing/2014/main" id="{15546F46-280F-9D3D-5D14-79CF6D401B82}"/>
                </a:ext>
              </a:extLst>
            </p:cNvPr>
            <p:cNvSpPr/>
            <p:nvPr/>
          </p:nvSpPr>
          <p:spPr>
            <a:xfrm>
              <a:off x="1554254" y="5982936"/>
              <a:ext cx="1591274" cy="223412"/>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nvGrpSpPr>
          <p:cNvPr id="377" name="群組 376">
            <a:extLst>
              <a:ext uri="{FF2B5EF4-FFF2-40B4-BE49-F238E27FC236}">
                <a16:creationId xmlns:a16="http://schemas.microsoft.com/office/drawing/2014/main" id="{B8309ACC-4E37-DD5B-A21B-C1B29A527E15}"/>
              </a:ext>
            </a:extLst>
          </p:cNvPr>
          <p:cNvGrpSpPr/>
          <p:nvPr/>
        </p:nvGrpSpPr>
        <p:grpSpPr>
          <a:xfrm>
            <a:off x="9470450" y="2033926"/>
            <a:ext cx="978393" cy="2670776"/>
            <a:chOff x="9494716" y="1425376"/>
            <a:chExt cx="978393" cy="2670776"/>
          </a:xfrm>
        </p:grpSpPr>
        <p:grpSp>
          <p:nvGrpSpPr>
            <p:cNvPr id="378" name="群組 377">
              <a:extLst>
                <a:ext uri="{FF2B5EF4-FFF2-40B4-BE49-F238E27FC236}">
                  <a16:creationId xmlns:a16="http://schemas.microsoft.com/office/drawing/2014/main" id="{62CDA436-1F4A-2755-51B4-72449D79B4BB}"/>
                </a:ext>
              </a:extLst>
            </p:cNvPr>
            <p:cNvGrpSpPr/>
            <p:nvPr/>
          </p:nvGrpSpPr>
          <p:grpSpPr>
            <a:xfrm>
              <a:off x="9494716" y="1425376"/>
              <a:ext cx="978393" cy="2670776"/>
              <a:chOff x="9494716" y="1425376"/>
              <a:chExt cx="978393" cy="2670776"/>
            </a:xfrm>
          </p:grpSpPr>
          <p:sp>
            <p:nvSpPr>
              <p:cNvPr id="380" name="矩形 379">
                <a:extLst>
                  <a:ext uri="{FF2B5EF4-FFF2-40B4-BE49-F238E27FC236}">
                    <a16:creationId xmlns:a16="http://schemas.microsoft.com/office/drawing/2014/main" id="{0817E433-04B9-C487-776E-4456815221C3}"/>
                  </a:ext>
                </a:extLst>
              </p:cNvPr>
              <p:cNvSpPr/>
              <p:nvPr/>
            </p:nvSpPr>
            <p:spPr>
              <a:xfrm>
                <a:off x="9515898" y="2480154"/>
                <a:ext cx="938615" cy="1615784"/>
              </a:xfrm>
              <a:prstGeom prst="rect">
                <a:avLst/>
              </a:prstGeom>
              <a:solidFill>
                <a:srgbClr val="ECDFF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1" name="矩形 380">
                <a:extLst>
                  <a:ext uri="{FF2B5EF4-FFF2-40B4-BE49-F238E27FC236}">
                    <a16:creationId xmlns:a16="http://schemas.microsoft.com/office/drawing/2014/main" id="{4105BE5C-CA06-4E49-72C4-B6E6B4FDA2AC}"/>
                  </a:ext>
                </a:extLst>
              </p:cNvPr>
              <p:cNvSpPr/>
              <p:nvPr/>
            </p:nvSpPr>
            <p:spPr>
              <a:xfrm>
                <a:off x="9527030" y="3404018"/>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82" name="矩形 381">
                <a:extLst>
                  <a:ext uri="{FF2B5EF4-FFF2-40B4-BE49-F238E27FC236}">
                    <a16:creationId xmlns:a16="http://schemas.microsoft.com/office/drawing/2014/main" id="{5E226601-84D5-1CB2-6FFF-ED08E470BFD1}"/>
                  </a:ext>
                </a:extLst>
              </p:cNvPr>
              <p:cNvSpPr/>
              <p:nvPr/>
            </p:nvSpPr>
            <p:spPr>
              <a:xfrm>
                <a:off x="9518613" y="2756692"/>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83" name="矩形 382">
                <a:extLst>
                  <a:ext uri="{FF2B5EF4-FFF2-40B4-BE49-F238E27FC236}">
                    <a16:creationId xmlns:a16="http://schemas.microsoft.com/office/drawing/2014/main" id="{4F9B8AD3-0279-FB66-263E-C062B45DCF21}"/>
                  </a:ext>
                </a:extLst>
              </p:cNvPr>
              <p:cNvSpPr/>
              <p:nvPr/>
            </p:nvSpPr>
            <p:spPr>
              <a:xfrm>
                <a:off x="9518613" y="3070938"/>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384" name="直線接點 383">
                <a:extLst>
                  <a:ext uri="{FF2B5EF4-FFF2-40B4-BE49-F238E27FC236}">
                    <a16:creationId xmlns:a16="http://schemas.microsoft.com/office/drawing/2014/main" id="{0E762F30-E0A8-3737-CEE3-87ECDBF5F1EA}"/>
                  </a:ext>
                </a:extLst>
              </p:cNvPr>
              <p:cNvCxnSpPr>
                <a:cxnSpLocks/>
              </p:cNvCxnSpPr>
              <p:nvPr/>
            </p:nvCxnSpPr>
            <p:spPr>
              <a:xfrm flipH="1" flipV="1">
                <a:off x="9623221" y="1835345"/>
                <a:ext cx="33216" cy="138626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5" name="直線接點 384">
                <a:extLst>
                  <a:ext uri="{FF2B5EF4-FFF2-40B4-BE49-F238E27FC236}">
                    <a16:creationId xmlns:a16="http://schemas.microsoft.com/office/drawing/2014/main" id="{5DF0B335-B2DC-E0A4-0DCD-E94F48491358}"/>
                  </a:ext>
                </a:extLst>
              </p:cNvPr>
              <p:cNvCxnSpPr>
                <a:cxnSpLocks/>
              </p:cNvCxnSpPr>
              <p:nvPr/>
            </p:nvCxnSpPr>
            <p:spPr>
              <a:xfrm flipH="1" flipV="1">
                <a:off x="10265739" y="1460627"/>
                <a:ext cx="58170" cy="138626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6" name="直線接點 385">
                <a:extLst>
                  <a:ext uri="{FF2B5EF4-FFF2-40B4-BE49-F238E27FC236}">
                    <a16:creationId xmlns:a16="http://schemas.microsoft.com/office/drawing/2014/main" id="{D9843B6F-EE94-F012-144E-A3099639D01E}"/>
                  </a:ext>
                </a:extLst>
              </p:cNvPr>
              <p:cNvCxnSpPr>
                <a:cxnSpLocks/>
              </p:cNvCxnSpPr>
              <p:nvPr/>
            </p:nvCxnSpPr>
            <p:spPr>
              <a:xfrm flipV="1">
                <a:off x="9622323" y="1741331"/>
                <a:ext cx="161027" cy="10739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7" name="直線接點 386">
                <a:extLst>
                  <a:ext uri="{FF2B5EF4-FFF2-40B4-BE49-F238E27FC236}">
                    <a16:creationId xmlns:a16="http://schemas.microsoft.com/office/drawing/2014/main" id="{14A54D30-655B-EB8B-D125-5241EC1CEDA5}"/>
                  </a:ext>
                </a:extLst>
              </p:cNvPr>
              <p:cNvCxnSpPr>
                <a:cxnSpLocks/>
              </p:cNvCxnSpPr>
              <p:nvPr/>
            </p:nvCxnSpPr>
            <p:spPr>
              <a:xfrm flipH="1">
                <a:off x="10050482" y="1451767"/>
                <a:ext cx="221366" cy="1538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88" name="橢圓 387">
                <a:extLst>
                  <a:ext uri="{FF2B5EF4-FFF2-40B4-BE49-F238E27FC236}">
                    <a16:creationId xmlns:a16="http://schemas.microsoft.com/office/drawing/2014/main" id="{C76AD94F-97B0-CB02-F08E-BB77F6D35910}"/>
                  </a:ext>
                </a:extLst>
              </p:cNvPr>
              <p:cNvSpPr/>
              <p:nvPr/>
            </p:nvSpPr>
            <p:spPr>
              <a:xfrm>
                <a:off x="9780316" y="1425376"/>
                <a:ext cx="265437" cy="477591"/>
              </a:xfrm>
              <a:prstGeom prst="ellipse">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solidFill>
                      <a:schemeClr val="tx1"/>
                    </a:solidFill>
                  </a:rPr>
                  <a:t>V</a:t>
                </a:r>
                <a:endParaRPr lang="zh-TW" altLang="en-US" b="1" dirty="0">
                  <a:solidFill>
                    <a:schemeClr val="tx1"/>
                  </a:solidFill>
                </a:endParaRPr>
              </a:p>
            </p:txBody>
          </p:sp>
          <p:cxnSp>
            <p:nvCxnSpPr>
              <p:cNvPr id="389" name="直線接點 388">
                <a:extLst>
                  <a:ext uri="{FF2B5EF4-FFF2-40B4-BE49-F238E27FC236}">
                    <a16:creationId xmlns:a16="http://schemas.microsoft.com/office/drawing/2014/main" id="{603C1131-53E0-989C-B3D9-849D1A94F934}"/>
                  </a:ext>
                </a:extLst>
              </p:cNvPr>
              <p:cNvCxnSpPr>
                <a:cxnSpLocks/>
              </p:cNvCxnSpPr>
              <p:nvPr/>
            </p:nvCxnSpPr>
            <p:spPr>
              <a:xfrm flipH="1" flipV="1">
                <a:off x="10025966" y="1872909"/>
                <a:ext cx="56004" cy="163966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0" name="直線接點 389">
                <a:extLst>
                  <a:ext uri="{FF2B5EF4-FFF2-40B4-BE49-F238E27FC236}">
                    <a16:creationId xmlns:a16="http://schemas.microsoft.com/office/drawing/2014/main" id="{5330714B-4110-1EAE-DFD4-A1DAE9F287D7}"/>
                  </a:ext>
                </a:extLst>
              </p:cNvPr>
              <p:cNvCxnSpPr>
                <a:cxnSpLocks/>
              </p:cNvCxnSpPr>
              <p:nvPr/>
            </p:nvCxnSpPr>
            <p:spPr>
              <a:xfrm flipH="1" flipV="1">
                <a:off x="9998614" y="1835343"/>
                <a:ext cx="27352" cy="1243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91" name="矩形 390">
                <a:extLst>
                  <a:ext uri="{FF2B5EF4-FFF2-40B4-BE49-F238E27FC236}">
                    <a16:creationId xmlns:a16="http://schemas.microsoft.com/office/drawing/2014/main" id="{FA96E96C-F4EF-51EE-EC78-DDEC4053DA0B}"/>
                  </a:ext>
                </a:extLst>
              </p:cNvPr>
              <p:cNvSpPr/>
              <p:nvPr/>
            </p:nvSpPr>
            <p:spPr>
              <a:xfrm>
                <a:off x="9510858" y="3815312"/>
                <a:ext cx="946080" cy="280840"/>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92" name="矩形 391">
                <a:extLst>
                  <a:ext uri="{FF2B5EF4-FFF2-40B4-BE49-F238E27FC236}">
                    <a16:creationId xmlns:a16="http://schemas.microsoft.com/office/drawing/2014/main" id="{662DAB5C-4F75-3842-BAEE-1B4D8C7AB124}"/>
                  </a:ext>
                </a:extLst>
              </p:cNvPr>
              <p:cNvSpPr/>
              <p:nvPr/>
            </p:nvSpPr>
            <p:spPr>
              <a:xfrm>
                <a:off x="9494716" y="3054735"/>
                <a:ext cx="943626" cy="230646"/>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379" name="矩形 378">
              <a:extLst>
                <a:ext uri="{FF2B5EF4-FFF2-40B4-BE49-F238E27FC236}">
                  <a16:creationId xmlns:a16="http://schemas.microsoft.com/office/drawing/2014/main" id="{1B75336E-BD12-1D54-A2AC-1E4B0E0704F9}"/>
                </a:ext>
              </a:extLst>
            </p:cNvPr>
            <p:cNvSpPr/>
            <p:nvPr/>
          </p:nvSpPr>
          <p:spPr>
            <a:xfrm>
              <a:off x="9513459" y="3054364"/>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sp>
        <p:nvSpPr>
          <p:cNvPr id="72" name="文字方塊 71">
            <a:extLst>
              <a:ext uri="{FF2B5EF4-FFF2-40B4-BE49-F238E27FC236}">
                <a16:creationId xmlns:a16="http://schemas.microsoft.com/office/drawing/2014/main" id="{4EDDEB61-4940-7BC9-C8B7-E9DB0C0CFB1E}"/>
              </a:ext>
            </a:extLst>
          </p:cNvPr>
          <p:cNvSpPr txBox="1"/>
          <p:nvPr/>
        </p:nvSpPr>
        <p:spPr>
          <a:xfrm>
            <a:off x="12298" y="3910214"/>
            <a:ext cx="808797" cy="400110"/>
          </a:xfrm>
          <a:prstGeom prst="rect">
            <a:avLst/>
          </a:prstGeom>
          <a:noFill/>
        </p:spPr>
        <p:txBody>
          <a:bodyPr wrap="square" rtlCol="0">
            <a:spAutoFit/>
          </a:bodyPr>
          <a:lstStyle/>
          <a:p>
            <a:r>
              <a:rPr lang="en-US" altLang="zh-TW" sz="1000" dirty="0"/>
              <a:t>CW</a:t>
            </a:r>
            <a:r>
              <a:rPr lang="zh-TW" altLang="en-US" sz="1000" dirty="0"/>
              <a:t> </a:t>
            </a:r>
            <a:r>
              <a:rPr lang="en-US" altLang="zh-TW" sz="1000" dirty="0"/>
              <a:t>785nm pump laser </a:t>
            </a:r>
            <a:endParaRPr lang="zh-TW" altLang="en-US" sz="1000" dirty="0"/>
          </a:p>
        </p:txBody>
      </p:sp>
      <p:grpSp>
        <p:nvGrpSpPr>
          <p:cNvPr id="7" name="群組 6">
            <a:extLst>
              <a:ext uri="{FF2B5EF4-FFF2-40B4-BE49-F238E27FC236}">
                <a16:creationId xmlns:a16="http://schemas.microsoft.com/office/drawing/2014/main" id="{715D6C64-5146-4AEC-08D1-852DBA1531D5}"/>
              </a:ext>
            </a:extLst>
          </p:cNvPr>
          <p:cNvGrpSpPr/>
          <p:nvPr/>
        </p:nvGrpSpPr>
        <p:grpSpPr>
          <a:xfrm rot="5400000">
            <a:off x="7988130" y="3868404"/>
            <a:ext cx="291528" cy="666144"/>
            <a:chOff x="8147879" y="2874761"/>
            <a:chExt cx="320447" cy="747169"/>
          </a:xfrm>
        </p:grpSpPr>
        <p:cxnSp>
          <p:nvCxnSpPr>
            <p:cNvPr id="8" name="直線單箭頭接點 7">
              <a:extLst>
                <a:ext uri="{FF2B5EF4-FFF2-40B4-BE49-F238E27FC236}">
                  <a16:creationId xmlns:a16="http://schemas.microsoft.com/office/drawing/2014/main" id="{ED91E5CC-C3B0-144E-88CA-14AF47AD5B49}"/>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橢圓 8">
              <a:extLst>
                <a:ext uri="{FF2B5EF4-FFF2-40B4-BE49-F238E27FC236}">
                  <a16:creationId xmlns:a16="http://schemas.microsoft.com/office/drawing/2014/main" id="{EA1D2A1B-0EA2-4F0C-000A-F3B5609A1391}"/>
                </a:ext>
              </a:extLst>
            </p:cNvPr>
            <p:cNvSpPr/>
            <p:nvPr/>
          </p:nvSpPr>
          <p:spPr>
            <a:xfrm>
              <a:off x="8147879" y="3074008"/>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dirty="0"/>
            </a:p>
          </p:txBody>
        </p:sp>
      </p:grpSp>
      <p:grpSp>
        <p:nvGrpSpPr>
          <p:cNvPr id="10" name="群組 9">
            <a:extLst>
              <a:ext uri="{FF2B5EF4-FFF2-40B4-BE49-F238E27FC236}">
                <a16:creationId xmlns:a16="http://schemas.microsoft.com/office/drawing/2014/main" id="{E3AC9A4E-DFC1-92D0-9B42-F597757F6FB1}"/>
              </a:ext>
            </a:extLst>
          </p:cNvPr>
          <p:cNvGrpSpPr/>
          <p:nvPr/>
        </p:nvGrpSpPr>
        <p:grpSpPr>
          <a:xfrm rot="5400000">
            <a:off x="7967790" y="2748213"/>
            <a:ext cx="291528" cy="666144"/>
            <a:chOff x="8147879" y="2874761"/>
            <a:chExt cx="320447" cy="747169"/>
          </a:xfrm>
        </p:grpSpPr>
        <p:cxnSp>
          <p:nvCxnSpPr>
            <p:cNvPr id="11" name="直線單箭頭接點 10">
              <a:extLst>
                <a:ext uri="{FF2B5EF4-FFF2-40B4-BE49-F238E27FC236}">
                  <a16:creationId xmlns:a16="http://schemas.microsoft.com/office/drawing/2014/main" id="{134804EF-E6A9-4275-7633-93CB613D6F43}"/>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橢圓 11">
              <a:extLst>
                <a:ext uri="{FF2B5EF4-FFF2-40B4-BE49-F238E27FC236}">
                  <a16:creationId xmlns:a16="http://schemas.microsoft.com/office/drawing/2014/main" id="{78A3167D-DB9D-DBB8-5205-ACD31A4E47E1}"/>
                </a:ext>
              </a:extLst>
            </p:cNvPr>
            <p:cNvSpPr/>
            <p:nvPr/>
          </p:nvSpPr>
          <p:spPr>
            <a:xfrm>
              <a:off x="8147879" y="3074007"/>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dirty="0"/>
            </a:p>
          </p:txBody>
        </p:sp>
      </p:grpSp>
      <p:grpSp>
        <p:nvGrpSpPr>
          <p:cNvPr id="3" name="群組 2">
            <a:extLst>
              <a:ext uri="{FF2B5EF4-FFF2-40B4-BE49-F238E27FC236}">
                <a16:creationId xmlns:a16="http://schemas.microsoft.com/office/drawing/2014/main" id="{279CF9A5-C559-1871-3D44-32B70AA39A6D}"/>
              </a:ext>
            </a:extLst>
          </p:cNvPr>
          <p:cNvGrpSpPr/>
          <p:nvPr/>
        </p:nvGrpSpPr>
        <p:grpSpPr>
          <a:xfrm>
            <a:off x="2353116" y="3411092"/>
            <a:ext cx="974947" cy="563274"/>
            <a:chOff x="2276024" y="5015241"/>
            <a:chExt cx="1202007" cy="563274"/>
          </a:xfrm>
        </p:grpSpPr>
        <p:sp>
          <p:nvSpPr>
            <p:cNvPr id="13" name="箭號: 向右 12">
              <a:extLst>
                <a:ext uri="{FF2B5EF4-FFF2-40B4-BE49-F238E27FC236}">
                  <a16:creationId xmlns:a16="http://schemas.microsoft.com/office/drawing/2014/main" id="{8E448193-C9B1-A81B-4089-A597C0AD59DF}"/>
                </a:ext>
              </a:extLst>
            </p:cNvPr>
            <p:cNvSpPr/>
            <p:nvPr/>
          </p:nvSpPr>
          <p:spPr>
            <a:xfrm>
              <a:off x="2413949" y="5273701"/>
              <a:ext cx="1050740" cy="304814"/>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文字方塊 13">
              <a:extLst>
                <a:ext uri="{FF2B5EF4-FFF2-40B4-BE49-F238E27FC236}">
                  <a16:creationId xmlns:a16="http://schemas.microsoft.com/office/drawing/2014/main" id="{CF8E3E30-DD99-C94B-CC41-763133728BF6}"/>
                </a:ext>
              </a:extLst>
            </p:cNvPr>
            <p:cNvSpPr txBox="1"/>
            <p:nvPr/>
          </p:nvSpPr>
          <p:spPr>
            <a:xfrm>
              <a:off x="2276024" y="5015241"/>
              <a:ext cx="1202007" cy="246221"/>
            </a:xfrm>
            <a:prstGeom prst="rect">
              <a:avLst/>
            </a:prstGeom>
            <a:noFill/>
          </p:spPr>
          <p:txBody>
            <a:bodyPr wrap="none" rtlCol="0">
              <a:spAutoFit/>
            </a:bodyPr>
            <a:lstStyle/>
            <a:p>
              <a:r>
                <a:rPr lang="en-US" altLang="zh-TW" sz="1000" dirty="0"/>
                <a:t>|VV⟩</a:t>
              </a:r>
              <a:r>
                <a:rPr lang="en-US" altLang="zh-TW" sz="1000" baseline="-25000" dirty="0"/>
                <a:t>1570</a:t>
              </a:r>
              <a:r>
                <a:rPr lang="en-US" altLang="zh-TW" sz="1000" dirty="0"/>
                <a:t>+Pump</a:t>
              </a:r>
            </a:p>
          </p:txBody>
        </p:sp>
      </p:grpSp>
      <p:grpSp>
        <p:nvGrpSpPr>
          <p:cNvPr id="15" name="群組 14">
            <a:extLst>
              <a:ext uri="{FF2B5EF4-FFF2-40B4-BE49-F238E27FC236}">
                <a16:creationId xmlns:a16="http://schemas.microsoft.com/office/drawing/2014/main" id="{3A5CCEEC-B19C-721E-9038-A9529EDC0021}"/>
              </a:ext>
            </a:extLst>
          </p:cNvPr>
          <p:cNvGrpSpPr/>
          <p:nvPr/>
        </p:nvGrpSpPr>
        <p:grpSpPr>
          <a:xfrm>
            <a:off x="4872715" y="3395285"/>
            <a:ext cx="1198610" cy="541746"/>
            <a:chOff x="5024538" y="5056387"/>
            <a:chExt cx="1198610" cy="541746"/>
          </a:xfrm>
        </p:grpSpPr>
        <p:sp>
          <p:nvSpPr>
            <p:cNvPr id="16" name="箭號: 向右 15">
              <a:extLst>
                <a:ext uri="{FF2B5EF4-FFF2-40B4-BE49-F238E27FC236}">
                  <a16:creationId xmlns:a16="http://schemas.microsoft.com/office/drawing/2014/main" id="{1FE7F6C0-297E-9A9D-70B3-7244F9E050CC}"/>
                </a:ext>
              </a:extLst>
            </p:cNvPr>
            <p:cNvSpPr/>
            <p:nvPr/>
          </p:nvSpPr>
          <p:spPr>
            <a:xfrm>
              <a:off x="5092594" y="5263580"/>
              <a:ext cx="1130554" cy="334553"/>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文字方塊 16">
              <a:extLst>
                <a:ext uri="{FF2B5EF4-FFF2-40B4-BE49-F238E27FC236}">
                  <a16:creationId xmlns:a16="http://schemas.microsoft.com/office/drawing/2014/main" id="{303FE239-BE43-A0AA-FC43-5BF10AAE6D74}"/>
                </a:ext>
              </a:extLst>
            </p:cNvPr>
            <p:cNvSpPr txBox="1"/>
            <p:nvPr/>
          </p:nvSpPr>
          <p:spPr>
            <a:xfrm>
              <a:off x="5024538" y="5056387"/>
              <a:ext cx="1067921" cy="246221"/>
            </a:xfrm>
            <a:prstGeom prst="rect">
              <a:avLst/>
            </a:prstGeom>
            <a:noFill/>
          </p:spPr>
          <p:txBody>
            <a:bodyPr wrap="none" rtlCol="0">
              <a:spAutoFit/>
            </a:bodyPr>
            <a:lstStyle/>
            <a:p>
              <a:r>
                <a:rPr lang="en-US" altLang="zh-TW" sz="1000" dirty="0"/>
                <a:t>Pump+ |HH⟩</a:t>
              </a:r>
              <a:r>
                <a:rPr lang="en-US" altLang="zh-TW" sz="1000" baseline="-25000" dirty="0"/>
                <a:t> 1570</a:t>
              </a:r>
              <a:r>
                <a:rPr lang="en-US" altLang="zh-TW" sz="1000" dirty="0"/>
                <a:t> </a:t>
              </a:r>
              <a:endParaRPr lang="zh-TW" altLang="en-US" sz="1000" dirty="0"/>
            </a:p>
          </p:txBody>
        </p:sp>
      </p:grpSp>
      <p:grpSp>
        <p:nvGrpSpPr>
          <p:cNvPr id="18" name="群組 17">
            <a:extLst>
              <a:ext uri="{FF2B5EF4-FFF2-40B4-BE49-F238E27FC236}">
                <a16:creationId xmlns:a16="http://schemas.microsoft.com/office/drawing/2014/main" id="{7AED5304-A411-6208-D847-8E7C82CE0135}"/>
              </a:ext>
            </a:extLst>
          </p:cNvPr>
          <p:cNvGrpSpPr/>
          <p:nvPr/>
        </p:nvGrpSpPr>
        <p:grpSpPr>
          <a:xfrm>
            <a:off x="8900996" y="2686607"/>
            <a:ext cx="308414" cy="743295"/>
            <a:chOff x="8147879" y="2874761"/>
            <a:chExt cx="320447" cy="747169"/>
          </a:xfrm>
        </p:grpSpPr>
        <p:cxnSp>
          <p:nvCxnSpPr>
            <p:cNvPr id="19" name="直線單箭頭接點 18">
              <a:extLst>
                <a:ext uri="{FF2B5EF4-FFF2-40B4-BE49-F238E27FC236}">
                  <a16:creationId xmlns:a16="http://schemas.microsoft.com/office/drawing/2014/main" id="{244A47AF-AFBE-A946-6151-F792C7F06F13}"/>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橢圓 19">
              <a:extLst>
                <a:ext uri="{FF2B5EF4-FFF2-40B4-BE49-F238E27FC236}">
                  <a16:creationId xmlns:a16="http://schemas.microsoft.com/office/drawing/2014/main" id="{82EB2161-E066-5863-A4FD-A313F437C669}"/>
                </a:ext>
              </a:extLst>
            </p:cNvPr>
            <p:cNvSpPr/>
            <p:nvPr/>
          </p:nvSpPr>
          <p:spPr>
            <a:xfrm>
              <a:off x="8147879" y="3074008"/>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dirty="0"/>
            </a:p>
          </p:txBody>
        </p:sp>
      </p:grpSp>
      <p:grpSp>
        <p:nvGrpSpPr>
          <p:cNvPr id="21" name="群組 20">
            <a:extLst>
              <a:ext uri="{FF2B5EF4-FFF2-40B4-BE49-F238E27FC236}">
                <a16:creationId xmlns:a16="http://schemas.microsoft.com/office/drawing/2014/main" id="{2AC29DCC-3FDF-60C0-84C6-E01EB9EF2BA2}"/>
              </a:ext>
            </a:extLst>
          </p:cNvPr>
          <p:cNvGrpSpPr/>
          <p:nvPr/>
        </p:nvGrpSpPr>
        <p:grpSpPr>
          <a:xfrm>
            <a:off x="8889589" y="3893931"/>
            <a:ext cx="308414" cy="743295"/>
            <a:chOff x="8147879" y="2874761"/>
            <a:chExt cx="320447" cy="747169"/>
          </a:xfrm>
        </p:grpSpPr>
        <p:cxnSp>
          <p:nvCxnSpPr>
            <p:cNvPr id="22" name="直線單箭頭接點 21">
              <a:extLst>
                <a:ext uri="{FF2B5EF4-FFF2-40B4-BE49-F238E27FC236}">
                  <a16:creationId xmlns:a16="http://schemas.microsoft.com/office/drawing/2014/main" id="{61929418-3C97-54C0-E002-5574B049622F}"/>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橢圓 22">
              <a:extLst>
                <a:ext uri="{FF2B5EF4-FFF2-40B4-BE49-F238E27FC236}">
                  <a16:creationId xmlns:a16="http://schemas.microsoft.com/office/drawing/2014/main" id="{0A04324A-D5B7-C2FB-09E2-AD6AF0062D8D}"/>
                </a:ext>
              </a:extLst>
            </p:cNvPr>
            <p:cNvSpPr/>
            <p:nvPr/>
          </p:nvSpPr>
          <p:spPr>
            <a:xfrm>
              <a:off x="8147879" y="3074008"/>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dirty="0"/>
            </a:p>
          </p:txBody>
        </p:sp>
      </p:grpSp>
      <p:grpSp>
        <p:nvGrpSpPr>
          <p:cNvPr id="24" name="群組 23">
            <a:extLst>
              <a:ext uri="{FF2B5EF4-FFF2-40B4-BE49-F238E27FC236}">
                <a16:creationId xmlns:a16="http://schemas.microsoft.com/office/drawing/2014/main" id="{A307A885-8A1D-3E21-D0D8-F394DBA50F30}"/>
              </a:ext>
            </a:extLst>
          </p:cNvPr>
          <p:cNvGrpSpPr/>
          <p:nvPr/>
        </p:nvGrpSpPr>
        <p:grpSpPr>
          <a:xfrm>
            <a:off x="7669565" y="3390279"/>
            <a:ext cx="1770036" cy="544950"/>
            <a:chOff x="10802433" y="2300098"/>
            <a:chExt cx="1605255" cy="544950"/>
          </a:xfrm>
        </p:grpSpPr>
        <p:sp>
          <p:nvSpPr>
            <p:cNvPr id="25" name="箭號: 向右 24">
              <a:extLst>
                <a:ext uri="{FF2B5EF4-FFF2-40B4-BE49-F238E27FC236}">
                  <a16:creationId xmlns:a16="http://schemas.microsoft.com/office/drawing/2014/main" id="{32AB2E8E-EBE6-2847-5774-2D5A20FD76A0}"/>
                </a:ext>
              </a:extLst>
            </p:cNvPr>
            <p:cNvSpPr/>
            <p:nvPr/>
          </p:nvSpPr>
          <p:spPr>
            <a:xfrm>
              <a:off x="10864796" y="2527225"/>
              <a:ext cx="1513910" cy="317823"/>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E8D950F9-5909-478B-A8D0-F25B627DBEC1}"/>
                    </a:ext>
                  </a:extLst>
                </p:cNvPr>
                <p:cNvSpPr txBox="1"/>
                <p:nvPr/>
              </p:nvSpPr>
              <p:spPr>
                <a:xfrm>
                  <a:off x="10802433" y="2300098"/>
                  <a:ext cx="1605255" cy="246221"/>
                </a:xfrm>
                <a:prstGeom prst="rect">
                  <a:avLst/>
                </a:prstGeom>
                <a:noFill/>
              </p:spPr>
              <p:txBody>
                <a:bodyPr wrap="none" rtlCol="0">
                  <a:spAutoFit/>
                </a:bodyPr>
                <a:lstStyle/>
                <a:p>
                  <a:r>
                    <a:rPr lang="en-US" altLang="zh-TW" sz="1000" dirty="0"/>
                    <a:t>e</a:t>
                  </a:r>
                  <a:r>
                    <a:rPr lang="en-US" altLang="zh-TW" sz="1000" baseline="30000" dirty="0" err="1"/>
                    <a:t>j</a:t>
                  </a:r>
                  <a:r>
                    <a:rPr lang="en-US" altLang="zh-TW" sz="1000" baseline="30000" dirty="0">
                      <a:ea typeface="Cambria Math" panose="02040503050406030204" pitchFamily="18" charset="0"/>
                    </a:rPr>
                    <a:t> </a:t>
                  </a:r>
                  <a14:m>
                    <m:oMath xmlns:m="http://schemas.openxmlformats.org/officeDocument/2006/math">
                      <m:r>
                        <a:rPr lang="en-US" altLang="zh-TW" sz="1000" i="1" baseline="30000">
                          <a:latin typeface="Cambria Math" panose="02040503050406030204" pitchFamily="18" charset="0"/>
                          <a:ea typeface="Cambria Math" panose="02040503050406030204" pitchFamily="18" charset="0"/>
                        </a:rPr>
                        <m:t>∅ </m:t>
                      </m:r>
                    </m:oMath>
                  </a14:m>
                  <a:r>
                    <a:rPr lang="en-US" altLang="zh-TW" sz="1000" dirty="0"/>
                    <a:t>|HH⟩</a:t>
                  </a:r>
                  <a:r>
                    <a:rPr lang="en-US" altLang="zh-TW" sz="1000" baseline="-25000" dirty="0"/>
                    <a:t> 1570 </a:t>
                  </a:r>
                  <a:r>
                    <a:rPr lang="en-US" altLang="zh-TW" sz="1000" dirty="0"/>
                    <a:t>+ |VV⟩</a:t>
                  </a:r>
                  <a:r>
                    <a:rPr lang="en-US" altLang="zh-TW" sz="1000" baseline="-25000" dirty="0"/>
                    <a:t> 1570</a:t>
                  </a:r>
                  <a:r>
                    <a:rPr lang="en-US" altLang="zh-TW" sz="1000" dirty="0"/>
                    <a:t> +Pump</a:t>
                  </a:r>
                </a:p>
              </p:txBody>
            </p:sp>
          </mc:Choice>
          <mc:Fallback xmlns="">
            <p:sp>
              <p:nvSpPr>
                <p:cNvPr id="26" name="文字方塊 25">
                  <a:extLst>
                    <a:ext uri="{FF2B5EF4-FFF2-40B4-BE49-F238E27FC236}">
                      <a16:creationId xmlns:a16="http://schemas.microsoft.com/office/drawing/2014/main" id="{E8D950F9-5909-478B-A8D0-F25B627DBEC1}"/>
                    </a:ext>
                  </a:extLst>
                </p:cNvPr>
                <p:cNvSpPr txBox="1">
                  <a:spLocks noRot="1" noChangeAspect="1" noMove="1" noResize="1" noEditPoints="1" noAdjustHandles="1" noChangeArrowheads="1" noChangeShapeType="1" noTextEdit="1"/>
                </p:cNvSpPr>
                <p:nvPr/>
              </p:nvSpPr>
              <p:spPr>
                <a:xfrm>
                  <a:off x="10802433" y="2300098"/>
                  <a:ext cx="1605255" cy="246221"/>
                </a:xfrm>
                <a:prstGeom prst="rect">
                  <a:avLst/>
                </a:prstGeom>
                <a:blipFill>
                  <a:blip r:embed="rId4"/>
                  <a:stretch>
                    <a:fillRect b="-14634"/>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12190571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1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Objective</a:t>
            </a:r>
            <a:endParaRPr lang="zh-TW" altLang="en-US" b="1"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0039351" y="6356352"/>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13</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grpSp>
        <p:nvGrpSpPr>
          <p:cNvPr id="86" name="群組 85">
            <a:extLst>
              <a:ext uri="{FF2B5EF4-FFF2-40B4-BE49-F238E27FC236}">
                <a16:creationId xmlns:a16="http://schemas.microsoft.com/office/drawing/2014/main" id="{A40FBE4A-7A06-038D-356F-E691893841AA}"/>
              </a:ext>
            </a:extLst>
          </p:cNvPr>
          <p:cNvGrpSpPr/>
          <p:nvPr/>
        </p:nvGrpSpPr>
        <p:grpSpPr>
          <a:xfrm>
            <a:off x="865318" y="4706428"/>
            <a:ext cx="1755678" cy="736664"/>
            <a:chOff x="1748077" y="3079921"/>
            <a:chExt cx="1755678" cy="736664"/>
          </a:xfrm>
        </p:grpSpPr>
        <p:sp>
          <p:nvSpPr>
            <p:cNvPr id="78" name="左大括弧 77">
              <a:extLst>
                <a:ext uri="{FF2B5EF4-FFF2-40B4-BE49-F238E27FC236}">
                  <a16:creationId xmlns:a16="http://schemas.microsoft.com/office/drawing/2014/main" id="{D27E4118-1092-E5DE-ED03-3AE49E207554}"/>
                </a:ext>
              </a:extLst>
            </p:cNvPr>
            <p:cNvSpPr/>
            <p:nvPr/>
          </p:nvSpPr>
          <p:spPr>
            <a:xfrm rot="16200000">
              <a:off x="2339692" y="2488306"/>
              <a:ext cx="401957" cy="1585187"/>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sp>
          <p:nvSpPr>
            <p:cNvPr id="82" name="文字方塊 81">
              <a:extLst>
                <a:ext uri="{FF2B5EF4-FFF2-40B4-BE49-F238E27FC236}">
                  <a16:creationId xmlns:a16="http://schemas.microsoft.com/office/drawing/2014/main" id="{A3208C3D-0083-985B-A04E-E72C42B0DA7F}"/>
                </a:ext>
              </a:extLst>
            </p:cNvPr>
            <p:cNvSpPr txBox="1"/>
            <p:nvPr/>
          </p:nvSpPr>
          <p:spPr>
            <a:xfrm>
              <a:off x="2112027" y="3447253"/>
              <a:ext cx="1391728" cy="369332"/>
            </a:xfrm>
            <a:prstGeom prst="rect">
              <a:avLst/>
            </a:prstGeom>
            <a:noFill/>
          </p:spPr>
          <p:txBody>
            <a:bodyPr wrap="none" rtlCol="0">
              <a:spAutoFit/>
            </a:bodyPr>
            <a:lstStyle/>
            <a:p>
              <a:r>
                <a:rPr lang="en-US" altLang="zh-TW" dirty="0"/>
                <a:t>SPDC</a:t>
              </a:r>
              <a:r>
                <a:rPr lang="en-US" altLang="zh-TW" baseline="-25000" dirty="0"/>
                <a:t>type0(1cm)</a:t>
              </a:r>
              <a:endParaRPr lang="zh-TW" altLang="en-US" baseline="-25000" dirty="0"/>
            </a:p>
          </p:txBody>
        </p:sp>
      </p:grpSp>
      <p:grpSp>
        <p:nvGrpSpPr>
          <p:cNvPr id="88" name="群組 87">
            <a:extLst>
              <a:ext uri="{FF2B5EF4-FFF2-40B4-BE49-F238E27FC236}">
                <a16:creationId xmlns:a16="http://schemas.microsoft.com/office/drawing/2014/main" id="{0ECC9EF4-A7FF-821C-B73C-4E878D54F6F0}"/>
              </a:ext>
            </a:extLst>
          </p:cNvPr>
          <p:cNvGrpSpPr/>
          <p:nvPr/>
        </p:nvGrpSpPr>
        <p:grpSpPr>
          <a:xfrm>
            <a:off x="6122109" y="4669063"/>
            <a:ext cx="1662005" cy="774029"/>
            <a:chOff x="4953259" y="3078852"/>
            <a:chExt cx="1662005" cy="774029"/>
          </a:xfrm>
        </p:grpSpPr>
        <p:sp>
          <p:nvSpPr>
            <p:cNvPr id="79" name="左大括弧 78">
              <a:extLst>
                <a:ext uri="{FF2B5EF4-FFF2-40B4-BE49-F238E27FC236}">
                  <a16:creationId xmlns:a16="http://schemas.microsoft.com/office/drawing/2014/main" id="{BEA997C8-D4DA-249F-EA1E-454710297D9A}"/>
                </a:ext>
              </a:extLst>
            </p:cNvPr>
            <p:cNvSpPr/>
            <p:nvPr/>
          </p:nvSpPr>
          <p:spPr>
            <a:xfrm rot="16200000">
              <a:off x="5544874" y="2487237"/>
              <a:ext cx="401957" cy="1585187"/>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sp>
          <p:nvSpPr>
            <p:cNvPr id="83" name="文字方塊 82">
              <a:extLst>
                <a:ext uri="{FF2B5EF4-FFF2-40B4-BE49-F238E27FC236}">
                  <a16:creationId xmlns:a16="http://schemas.microsoft.com/office/drawing/2014/main" id="{C573487F-E807-CC92-83FA-D44175482790}"/>
                </a:ext>
              </a:extLst>
            </p:cNvPr>
            <p:cNvSpPr txBox="1"/>
            <p:nvPr/>
          </p:nvSpPr>
          <p:spPr>
            <a:xfrm>
              <a:off x="5223536" y="3483549"/>
              <a:ext cx="1391728" cy="369332"/>
            </a:xfrm>
            <a:prstGeom prst="rect">
              <a:avLst/>
            </a:prstGeom>
            <a:noFill/>
          </p:spPr>
          <p:txBody>
            <a:bodyPr wrap="none" rtlCol="0">
              <a:spAutoFit/>
            </a:bodyPr>
            <a:lstStyle/>
            <a:p>
              <a:r>
                <a:rPr lang="en-US" altLang="zh-TW" dirty="0"/>
                <a:t>SPDC</a:t>
              </a:r>
              <a:r>
                <a:rPr lang="en-US" altLang="zh-TW" baseline="-25000" dirty="0"/>
                <a:t>type0(1cm)</a:t>
              </a:r>
              <a:endParaRPr lang="zh-TW" altLang="en-US" baseline="-25000" dirty="0"/>
            </a:p>
          </p:txBody>
        </p:sp>
      </p:grpSp>
      <p:grpSp>
        <p:nvGrpSpPr>
          <p:cNvPr id="87" name="群組 86">
            <a:extLst>
              <a:ext uri="{FF2B5EF4-FFF2-40B4-BE49-F238E27FC236}">
                <a16:creationId xmlns:a16="http://schemas.microsoft.com/office/drawing/2014/main" id="{0E57B996-5BB3-8C7B-74F0-22F70682F9AA}"/>
              </a:ext>
            </a:extLst>
          </p:cNvPr>
          <p:cNvGrpSpPr/>
          <p:nvPr/>
        </p:nvGrpSpPr>
        <p:grpSpPr>
          <a:xfrm>
            <a:off x="3331499" y="4690318"/>
            <a:ext cx="1841776" cy="752774"/>
            <a:chOff x="3356689" y="3057825"/>
            <a:chExt cx="1841776" cy="752774"/>
          </a:xfrm>
        </p:grpSpPr>
        <p:sp>
          <p:nvSpPr>
            <p:cNvPr id="80" name="左大括弧 79">
              <a:extLst>
                <a:ext uri="{FF2B5EF4-FFF2-40B4-BE49-F238E27FC236}">
                  <a16:creationId xmlns:a16="http://schemas.microsoft.com/office/drawing/2014/main" id="{1EC118FD-A6E9-3EAD-80CB-2FC1DAE30826}"/>
                </a:ext>
              </a:extLst>
            </p:cNvPr>
            <p:cNvSpPr/>
            <p:nvPr/>
          </p:nvSpPr>
          <p:spPr>
            <a:xfrm rot="16200000">
              <a:off x="3948304" y="2466210"/>
              <a:ext cx="401957" cy="1585187"/>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sp>
          <p:nvSpPr>
            <p:cNvPr id="84" name="文字方塊 83">
              <a:extLst>
                <a:ext uri="{FF2B5EF4-FFF2-40B4-BE49-F238E27FC236}">
                  <a16:creationId xmlns:a16="http://schemas.microsoft.com/office/drawing/2014/main" id="{FA292BB0-11E1-EDBA-C905-23E6DE1C367B}"/>
                </a:ext>
              </a:extLst>
            </p:cNvPr>
            <p:cNvSpPr txBox="1"/>
            <p:nvPr/>
          </p:nvSpPr>
          <p:spPr>
            <a:xfrm>
              <a:off x="3603541" y="3441267"/>
              <a:ext cx="1594924" cy="369332"/>
            </a:xfrm>
            <a:prstGeom prst="rect">
              <a:avLst/>
            </a:prstGeom>
            <a:noFill/>
          </p:spPr>
          <p:txBody>
            <a:bodyPr wrap="none" rtlCol="0">
              <a:spAutoFit/>
            </a:bodyPr>
            <a:lstStyle/>
            <a:p>
              <a:r>
                <a:rPr lang="en-US" altLang="zh-TW" dirty="0" err="1"/>
                <a:t>EOPMC</a:t>
              </a:r>
              <a:r>
                <a:rPr lang="en-US" altLang="zh-TW" baseline="-25000" dirty="0" err="1"/>
                <a:t>appln</a:t>
              </a:r>
              <a:r>
                <a:rPr lang="en-US" altLang="zh-TW" baseline="-25000" dirty="0"/>
                <a:t>(1cm)</a:t>
              </a:r>
              <a:endParaRPr lang="zh-TW" altLang="en-US" baseline="-25000" dirty="0"/>
            </a:p>
          </p:txBody>
        </p:sp>
      </p:grpSp>
      <p:grpSp>
        <p:nvGrpSpPr>
          <p:cNvPr id="89" name="群組 88">
            <a:extLst>
              <a:ext uri="{FF2B5EF4-FFF2-40B4-BE49-F238E27FC236}">
                <a16:creationId xmlns:a16="http://schemas.microsoft.com/office/drawing/2014/main" id="{347010C7-22E3-62D1-1E78-04F47A644FA1}"/>
              </a:ext>
            </a:extLst>
          </p:cNvPr>
          <p:cNvGrpSpPr/>
          <p:nvPr/>
        </p:nvGrpSpPr>
        <p:grpSpPr>
          <a:xfrm>
            <a:off x="9482919" y="4692373"/>
            <a:ext cx="1188945" cy="750719"/>
            <a:chOff x="6543044" y="3099422"/>
            <a:chExt cx="1188945" cy="750719"/>
          </a:xfrm>
        </p:grpSpPr>
        <p:sp>
          <p:nvSpPr>
            <p:cNvPr id="81" name="左大括弧 80">
              <a:extLst>
                <a:ext uri="{FF2B5EF4-FFF2-40B4-BE49-F238E27FC236}">
                  <a16:creationId xmlns:a16="http://schemas.microsoft.com/office/drawing/2014/main" id="{A585A748-0A25-04DE-714B-616326F359B2}"/>
                </a:ext>
              </a:extLst>
            </p:cNvPr>
            <p:cNvSpPr/>
            <p:nvPr/>
          </p:nvSpPr>
          <p:spPr>
            <a:xfrm rot="16200000">
              <a:off x="6811373" y="2831093"/>
              <a:ext cx="401957" cy="938615"/>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sp>
          <p:nvSpPr>
            <p:cNvPr id="85" name="文字方塊 84">
              <a:extLst>
                <a:ext uri="{FF2B5EF4-FFF2-40B4-BE49-F238E27FC236}">
                  <a16:creationId xmlns:a16="http://schemas.microsoft.com/office/drawing/2014/main" id="{A212DB4A-29DD-3FB8-91F1-E3ECB9352948}"/>
                </a:ext>
              </a:extLst>
            </p:cNvPr>
            <p:cNvSpPr txBox="1"/>
            <p:nvPr/>
          </p:nvSpPr>
          <p:spPr>
            <a:xfrm>
              <a:off x="6808723" y="3480809"/>
              <a:ext cx="923266" cy="369332"/>
            </a:xfrm>
            <a:prstGeom prst="rect">
              <a:avLst/>
            </a:prstGeom>
            <a:noFill/>
          </p:spPr>
          <p:txBody>
            <a:bodyPr wrap="none" rtlCol="0">
              <a:spAutoFit/>
            </a:bodyPr>
            <a:lstStyle/>
            <a:p>
              <a:r>
                <a:rPr lang="en-US" altLang="zh-TW" dirty="0"/>
                <a:t>EO</a:t>
              </a:r>
              <a:r>
                <a:rPr lang="en-US" altLang="zh-TW" baseline="-25000" dirty="0"/>
                <a:t>(0.6cm)</a:t>
              </a:r>
              <a:endParaRPr lang="zh-TW" altLang="en-US" baseline="-25000" dirty="0"/>
            </a:p>
          </p:txBody>
        </p:sp>
      </p:grpSp>
      <p:grpSp>
        <p:nvGrpSpPr>
          <p:cNvPr id="187" name="群組 186">
            <a:extLst>
              <a:ext uri="{FF2B5EF4-FFF2-40B4-BE49-F238E27FC236}">
                <a16:creationId xmlns:a16="http://schemas.microsoft.com/office/drawing/2014/main" id="{643C5346-3317-062F-DF84-0F382BC0F762}"/>
              </a:ext>
            </a:extLst>
          </p:cNvPr>
          <p:cNvGrpSpPr/>
          <p:nvPr/>
        </p:nvGrpSpPr>
        <p:grpSpPr>
          <a:xfrm>
            <a:off x="853028" y="3089993"/>
            <a:ext cx="1597732" cy="1615784"/>
            <a:chOff x="1547796" y="4590564"/>
            <a:chExt cx="1597732" cy="1615784"/>
          </a:xfrm>
        </p:grpSpPr>
        <p:grpSp>
          <p:nvGrpSpPr>
            <p:cNvPr id="6" name="群組 5">
              <a:extLst>
                <a:ext uri="{FF2B5EF4-FFF2-40B4-BE49-F238E27FC236}">
                  <a16:creationId xmlns:a16="http://schemas.microsoft.com/office/drawing/2014/main" id="{D20ED634-A613-01A6-71CF-5FF0C56811B3}"/>
                </a:ext>
              </a:extLst>
            </p:cNvPr>
            <p:cNvGrpSpPr/>
            <p:nvPr/>
          </p:nvGrpSpPr>
          <p:grpSpPr>
            <a:xfrm>
              <a:off x="1547796" y="4590564"/>
              <a:ext cx="1597732" cy="1615784"/>
              <a:chOff x="7755536" y="4682354"/>
              <a:chExt cx="1539881" cy="1413646"/>
            </a:xfrm>
          </p:grpSpPr>
          <p:grpSp>
            <p:nvGrpSpPr>
              <p:cNvPr id="75" name="群組 74">
                <a:extLst>
                  <a:ext uri="{FF2B5EF4-FFF2-40B4-BE49-F238E27FC236}">
                    <a16:creationId xmlns:a16="http://schemas.microsoft.com/office/drawing/2014/main" id="{4C9670E7-88D1-9077-32E5-2F916CB65BD6}"/>
                  </a:ext>
                </a:extLst>
              </p:cNvPr>
              <p:cNvGrpSpPr/>
              <p:nvPr/>
            </p:nvGrpSpPr>
            <p:grpSpPr>
              <a:xfrm>
                <a:off x="7755536" y="4682354"/>
                <a:ext cx="382023" cy="1413646"/>
                <a:chOff x="7755536" y="4682354"/>
                <a:chExt cx="382023" cy="1413646"/>
              </a:xfrm>
            </p:grpSpPr>
            <p:sp>
              <p:nvSpPr>
                <p:cNvPr id="98" name="矩形 97">
                  <a:extLst>
                    <a:ext uri="{FF2B5EF4-FFF2-40B4-BE49-F238E27FC236}">
                      <a16:creationId xmlns:a16="http://schemas.microsoft.com/office/drawing/2014/main" id="{D4714103-9281-C4A3-C7EC-0DB8E8A67DCE}"/>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9" name="矩形 98">
                  <a:extLst>
                    <a:ext uri="{FF2B5EF4-FFF2-40B4-BE49-F238E27FC236}">
                      <a16:creationId xmlns:a16="http://schemas.microsoft.com/office/drawing/2014/main" id="{FC4D2F9A-C88B-4525-8396-2FC97F770CE7}"/>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76" name="群組 75">
                <a:extLst>
                  <a:ext uri="{FF2B5EF4-FFF2-40B4-BE49-F238E27FC236}">
                    <a16:creationId xmlns:a16="http://schemas.microsoft.com/office/drawing/2014/main" id="{9A14E843-2DE4-0EB8-D374-E3F247BB2DCF}"/>
                  </a:ext>
                </a:extLst>
              </p:cNvPr>
              <p:cNvGrpSpPr/>
              <p:nvPr/>
            </p:nvGrpSpPr>
            <p:grpSpPr>
              <a:xfrm>
                <a:off x="8136791" y="4682354"/>
                <a:ext cx="382023" cy="1413646"/>
                <a:chOff x="7755536" y="4682354"/>
                <a:chExt cx="382023" cy="1413646"/>
              </a:xfrm>
            </p:grpSpPr>
            <p:sp>
              <p:nvSpPr>
                <p:cNvPr id="96" name="矩形 95">
                  <a:extLst>
                    <a:ext uri="{FF2B5EF4-FFF2-40B4-BE49-F238E27FC236}">
                      <a16:creationId xmlns:a16="http://schemas.microsoft.com/office/drawing/2014/main" id="{5E1578CD-C5A7-F61E-F9F1-382870E0FE40}"/>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7" name="矩形 96">
                  <a:extLst>
                    <a:ext uri="{FF2B5EF4-FFF2-40B4-BE49-F238E27FC236}">
                      <a16:creationId xmlns:a16="http://schemas.microsoft.com/office/drawing/2014/main" id="{4CA60876-376E-81D1-AAEA-3CA13E2F961A}"/>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90" name="群組 89">
                <a:extLst>
                  <a:ext uri="{FF2B5EF4-FFF2-40B4-BE49-F238E27FC236}">
                    <a16:creationId xmlns:a16="http://schemas.microsoft.com/office/drawing/2014/main" id="{3DB5E330-CB58-A26E-2E7E-CD90AE737277}"/>
                  </a:ext>
                </a:extLst>
              </p:cNvPr>
              <p:cNvGrpSpPr/>
              <p:nvPr/>
            </p:nvGrpSpPr>
            <p:grpSpPr>
              <a:xfrm>
                <a:off x="8529017" y="4682354"/>
                <a:ext cx="382023" cy="1413646"/>
                <a:chOff x="7755536" y="4682354"/>
                <a:chExt cx="382023" cy="1413646"/>
              </a:xfrm>
            </p:grpSpPr>
            <p:sp>
              <p:nvSpPr>
                <p:cNvPr id="94" name="矩形 93">
                  <a:extLst>
                    <a:ext uri="{FF2B5EF4-FFF2-40B4-BE49-F238E27FC236}">
                      <a16:creationId xmlns:a16="http://schemas.microsoft.com/office/drawing/2014/main" id="{B5F65E98-E9A7-2825-FA77-D4ACF3B8C467}"/>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5" name="矩形 94">
                  <a:extLst>
                    <a:ext uri="{FF2B5EF4-FFF2-40B4-BE49-F238E27FC236}">
                      <a16:creationId xmlns:a16="http://schemas.microsoft.com/office/drawing/2014/main" id="{87542D68-2A60-1ED7-7BA1-26A60BEF53F9}"/>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91" name="群組 90">
                <a:extLst>
                  <a:ext uri="{FF2B5EF4-FFF2-40B4-BE49-F238E27FC236}">
                    <a16:creationId xmlns:a16="http://schemas.microsoft.com/office/drawing/2014/main" id="{88F7A957-93F0-20FC-0CC2-F1D6F36ACB45}"/>
                  </a:ext>
                </a:extLst>
              </p:cNvPr>
              <p:cNvGrpSpPr/>
              <p:nvPr/>
            </p:nvGrpSpPr>
            <p:grpSpPr>
              <a:xfrm>
                <a:off x="8913394" y="4682354"/>
                <a:ext cx="382023" cy="1413646"/>
                <a:chOff x="7755536" y="4682354"/>
                <a:chExt cx="382023" cy="1413646"/>
              </a:xfrm>
            </p:grpSpPr>
            <p:sp>
              <p:nvSpPr>
                <p:cNvPr id="92" name="矩形 91">
                  <a:extLst>
                    <a:ext uri="{FF2B5EF4-FFF2-40B4-BE49-F238E27FC236}">
                      <a16:creationId xmlns:a16="http://schemas.microsoft.com/office/drawing/2014/main" id="{2E64A673-DC07-3D3E-AE38-E98B349A23B9}"/>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3" name="矩形 92">
                  <a:extLst>
                    <a:ext uri="{FF2B5EF4-FFF2-40B4-BE49-F238E27FC236}">
                      <a16:creationId xmlns:a16="http://schemas.microsoft.com/office/drawing/2014/main" id="{FE97A7C1-3165-1389-1143-F0CC799D012E}"/>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100" name="矩形 99">
              <a:extLst>
                <a:ext uri="{FF2B5EF4-FFF2-40B4-BE49-F238E27FC236}">
                  <a16:creationId xmlns:a16="http://schemas.microsoft.com/office/drawing/2014/main" id="{BD7CF3CE-D650-3CFD-83E5-03700D0E467F}"/>
                </a:ext>
              </a:extLst>
            </p:cNvPr>
            <p:cNvSpPr/>
            <p:nvPr/>
          </p:nvSpPr>
          <p:spPr>
            <a:xfrm>
              <a:off x="1560341" y="5172154"/>
              <a:ext cx="1575773" cy="262714"/>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86" name="矩形 185">
              <a:extLst>
                <a:ext uri="{FF2B5EF4-FFF2-40B4-BE49-F238E27FC236}">
                  <a16:creationId xmlns:a16="http://schemas.microsoft.com/office/drawing/2014/main" id="{D97C8FBE-0158-A447-B443-16A016E07D72}"/>
                </a:ext>
              </a:extLst>
            </p:cNvPr>
            <p:cNvSpPr/>
            <p:nvPr/>
          </p:nvSpPr>
          <p:spPr>
            <a:xfrm>
              <a:off x="1554254" y="5982936"/>
              <a:ext cx="1591274" cy="223412"/>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193" name="箭號: 向右 192">
            <a:extLst>
              <a:ext uri="{FF2B5EF4-FFF2-40B4-BE49-F238E27FC236}">
                <a16:creationId xmlns:a16="http://schemas.microsoft.com/office/drawing/2014/main" id="{22CEFEFD-2292-4A69-0F5B-E509624EC2B4}"/>
              </a:ext>
            </a:extLst>
          </p:cNvPr>
          <p:cNvSpPr/>
          <p:nvPr/>
        </p:nvSpPr>
        <p:spPr>
          <a:xfrm>
            <a:off x="88860" y="3697690"/>
            <a:ext cx="750491" cy="275824"/>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4" name="文字方塊 193">
            <a:extLst>
              <a:ext uri="{FF2B5EF4-FFF2-40B4-BE49-F238E27FC236}">
                <a16:creationId xmlns:a16="http://schemas.microsoft.com/office/drawing/2014/main" id="{D3C38CEB-DC6A-271E-A15D-F63AAB9E194F}"/>
              </a:ext>
            </a:extLst>
          </p:cNvPr>
          <p:cNvSpPr txBox="1"/>
          <p:nvPr/>
        </p:nvSpPr>
        <p:spPr>
          <a:xfrm>
            <a:off x="108731" y="3456729"/>
            <a:ext cx="618015" cy="307777"/>
          </a:xfrm>
          <a:prstGeom prst="rect">
            <a:avLst/>
          </a:prstGeom>
          <a:noFill/>
        </p:spPr>
        <p:txBody>
          <a:bodyPr wrap="square" rtlCol="0">
            <a:spAutoFit/>
          </a:bodyPr>
          <a:lstStyle/>
          <a:p>
            <a:r>
              <a:rPr lang="en-US" altLang="zh-TW" sz="1400" dirty="0"/>
              <a:t>Pump </a:t>
            </a:r>
            <a:endParaRPr lang="zh-TW" altLang="en-US" sz="1400" dirty="0"/>
          </a:p>
        </p:txBody>
      </p:sp>
      <p:grpSp>
        <p:nvGrpSpPr>
          <p:cNvPr id="235" name="群組 234">
            <a:extLst>
              <a:ext uri="{FF2B5EF4-FFF2-40B4-BE49-F238E27FC236}">
                <a16:creationId xmlns:a16="http://schemas.microsoft.com/office/drawing/2014/main" id="{58001093-5102-6A53-675E-2D0DC04C8F0C}"/>
              </a:ext>
            </a:extLst>
          </p:cNvPr>
          <p:cNvGrpSpPr/>
          <p:nvPr/>
        </p:nvGrpSpPr>
        <p:grpSpPr>
          <a:xfrm>
            <a:off x="3332816" y="2371963"/>
            <a:ext cx="1598437" cy="2314555"/>
            <a:chOff x="8442672" y="1013979"/>
            <a:chExt cx="1598437" cy="2314555"/>
          </a:xfrm>
        </p:grpSpPr>
        <p:grpSp>
          <p:nvGrpSpPr>
            <p:cNvPr id="236" name="群組 235">
              <a:extLst>
                <a:ext uri="{FF2B5EF4-FFF2-40B4-BE49-F238E27FC236}">
                  <a16:creationId xmlns:a16="http://schemas.microsoft.com/office/drawing/2014/main" id="{ED13C53B-29D8-7150-9BDE-8D6B369990FC}"/>
                </a:ext>
              </a:extLst>
            </p:cNvPr>
            <p:cNvGrpSpPr/>
            <p:nvPr/>
          </p:nvGrpSpPr>
          <p:grpSpPr>
            <a:xfrm>
              <a:off x="8442672" y="1013979"/>
              <a:ext cx="1598437" cy="2314554"/>
              <a:chOff x="8442672" y="1013979"/>
              <a:chExt cx="1598437" cy="2314554"/>
            </a:xfrm>
          </p:grpSpPr>
          <p:grpSp>
            <p:nvGrpSpPr>
              <p:cNvPr id="239" name="群組 238">
                <a:extLst>
                  <a:ext uri="{FF2B5EF4-FFF2-40B4-BE49-F238E27FC236}">
                    <a16:creationId xmlns:a16="http://schemas.microsoft.com/office/drawing/2014/main" id="{54406BB5-B5EE-9D1D-1E52-56602CF614B1}"/>
                  </a:ext>
                </a:extLst>
              </p:cNvPr>
              <p:cNvGrpSpPr/>
              <p:nvPr/>
            </p:nvGrpSpPr>
            <p:grpSpPr>
              <a:xfrm>
                <a:off x="8443377" y="1712749"/>
                <a:ext cx="1597732" cy="1615784"/>
                <a:chOff x="3923113" y="2277371"/>
                <a:chExt cx="1539881" cy="1413646"/>
              </a:xfrm>
            </p:grpSpPr>
            <p:grpSp>
              <p:nvGrpSpPr>
                <p:cNvPr id="294" name="群組 293">
                  <a:extLst>
                    <a:ext uri="{FF2B5EF4-FFF2-40B4-BE49-F238E27FC236}">
                      <a16:creationId xmlns:a16="http://schemas.microsoft.com/office/drawing/2014/main" id="{FC0FAA66-FEDD-AF3A-1C1C-0590DD2634A3}"/>
                    </a:ext>
                  </a:extLst>
                </p:cNvPr>
                <p:cNvGrpSpPr/>
                <p:nvPr/>
              </p:nvGrpSpPr>
              <p:grpSpPr>
                <a:xfrm>
                  <a:off x="3923113" y="2277371"/>
                  <a:ext cx="382023" cy="1413646"/>
                  <a:chOff x="7755536" y="4682354"/>
                  <a:chExt cx="382023" cy="1413646"/>
                </a:xfrm>
                <a:solidFill>
                  <a:schemeClr val="accent6">
                    <a:lumMod val="60000"/>
                    <a:lumOff val="40000"/>
                  </a:schemeClr>
                </a:solidFill>
              </p:grpSpPr>
              <p:sp>
                <p:nvSpPr>
                  <p:cNvPr id="304" name="矩形 303">
                    <a:extLst>
                      <a:ext uri="{FF2B5EF4-FFF2-40B4-BE49-F238E27FC236}">
                        <a16:creationId xmlns:a16="http://schemas.microsoft.com/office/drawing/2014/main" id="{D25B2392-EC46-7D58-6D5D-127B0E38A5A8}"/>
                      </a:ext>
                    </a:extLst>
                  </p:cNvPr>
                  <p:cNvSpPr/>
                  <p:nvPr/>
                </p:nvSpPr>
                <p:spPr>
                  <a:xfrm>
                    <a:off x="7755536"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5" name="矩形 304">
                    <a:extLst>
                      <a:ext uri="{FF2B5EF4-FFF2-40B4-BE49-F238E27FC236}">
                        <a16:creationId xmlns:a16="http://schemas.microsoft.com/office/drawing/2014/main" id="{C9E553EF-221A-3321-FC87-F4112418CEC7}"/>
                      </a:ext>
                    </a:extLst>
                  </p:cNvPr>
                  <p:cNvSpPr/>
                  <p:nvPr/>
                </p:nvSpPr>
                <p:spPr>
                  <a:xfrm>
                    <a:off x="7946547"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295" name="群組 294">
                  <a:extLst>
                    <a:ext uri="{FF2B5EF4-FFF2-40B4-BE49-F238E27FC236}">
                      <a16:creationId xmlns:a16="http://schemas.microsoft.com/office/drawing/2014/main" id="{68BE1CC3-B3EB-E89D-59AE-85E5B9A7723B}"/>
                    </a:ext>
                  </a:extLst>
                </p:cNvPr>
                <p:cNvGrpSpPr/>
                <p:nvPr/>
              </p:nvGrpSpPr>
              <p:grpSpPr>
                <a:xfrm>
                  <a:off x="4304368" y="2277371"/>
                  <a:ext cx="382023" cy="1413646"/>
                  <a:chOff x="7755536" y="4682354"/>
                  <a:chExt cx="382023" cy="1413646"/>
                </a:xfrm>
                <a:solidFill>
                  <a:schemeClr val="accent6">
                    <a:lumMod val="20000"/>
                    <a:lumOff val="80000"/>
                  </a:schemeClr>
                </a:solidFill>
              </p:grpSpPr>
              <p:sp>
                <p:nvSpPr>
                  <p:cNvPr id="302" name="矩形 301">
                    <a:extLst>
                      <a:ext uri="{FF2B5EF4-FFF2-40B4-BE49-F238E27FC236}">
                        <a16:creationId xmlns:a16="http://schemas.microsoft.com/office/drawing/2014/main" id="{1F74DE05-CD51-BA35-8858-BF9941D24233}"/>
                      </a:ext>
                    </a:extLst>
                  </p:cNvPr>
                  <p:cNvSpPr/>
                  <p:nvPr/>
                </p:nvSpPr>
                <p:spPr>
                  <a:xfrm>
                    <a:off x="7755536"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3" name="矩形 302">
                    <a:extLst>
                      <a:ext uri="{FF2B5EF4-FFF2-40B4-BE49-F238E27FC236}">
                        <a16:creationId xmlns:a16="http://schemas.microsoft.com/office/drawing/2014/main" id="{64EC3D46-E4B0-3E4A-EFA0-906C6C194617}"/>
                      </a:ext>
                    </a:extLst>
                  </p:cNvPr>
                  <p:cNvSpPr/>
                  <p:nvPr/>
                </p:nvSpPr>
                <p:spPr>
                  <a:xfrm>
                    <a:off x="7946547"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296" name="群組 295">
                  <a:extLst>
                    <a:ext uri="{FF2B5EF4-FFF2-40B4-BE49-F238E27FC236}">
                      <a16:creationId xmlns:a16="http://schemas.microsoft.com/office/drawing/2014/main" id="{D7592430-200D-A221-9627-B75263B46D65}"/>
                    </a:ext>
                  </a:extLst>
                </p:cNvPr>
                <p:cNvGrpSpPr/>
                <p:nvPr/>
              </p:nvGrpSpPr>
              <p:grpSpPr>
                <a:xfrm>
                  <a:off x="4696594" y="2277371"/>
                  <a:ext cx="382023" cy="1413646"/>
                  <a:chOff x="7755536" y="4682354"/>
                  <a:chExt cx="382023" cy="1413646"/>
                </a:xfrm>
              </p:grpSpPr>
              <p:sp>
                <p:nvSpPr>
                  <p:cNvPr id="300" name="矩形 299">
                    <a:extLst>
                      <a:ext uri="{FF2B5EF4-FFF2-40B4-BE49-F238E27FC236}">
                        <a16:creationId xmlns:a16="http://schemas.microsoft.com/office/drawing/2014/main" id="{9276A22F-19C3-09A0-6805-C45AE53D3A12}"/>
                      </a:ext>
                    </a:extLst>
                  </p:cNvPr>
                  <p:cNvSpPr/>
                  <p:nvPr/>
                </p:nvSpPr>
                <p:spPr>
                  <a:xfrm>
                    <a:off x="7755536" y="4682354"/>
                    <a:ext cx="191012" cy="1413646"/>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1" name="矩形 300">
                    <a:extLst>
                      <a:ext uri="{FF2B5EF4-FFF2-40B4-BE49-F238E27FC236}">
                        <a16:creationId xmlns:a16="http://schemas.microsoft.com/office/drawing/2014/main" id="{F197B09E-B457-0128-F12C-50F863019BA6}"/>
                      </a:ext>
                    </a:extLst>
                  </p:cNvPr>
                  <p:cNvSpPr/>
                  <p:nvPr/>
                </p:nvSpPr>
                <p:spPr>
                  <a:xfrm>
                    <a:off x="7946547" y="4682354"/>
                    <a:ext cx="191012" cy="141364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297" name="群組 296">
                  <a:extLst>
                    <a:ext uri="{FF2B5EF4-FFF2-40B4-BE49-F238E27FC236}">
                      <a16:creationId xmlns:a16="http://schemas.microsoft.com/office/drawing/2014/main" id="{1C02879F-40B5-93FC-BC56-77C9625F08E6}"/>
                    </a:ext>
                  </a:extLst>
                </p:cNvPr>
                <p:cNvGrpSpPr/>
                <p:nvPr/>
              </p:nvGrpSpPr>
              <p:grpSpPr>
                <a:xfrm>
                  <a:off x="5080971" y="2277371"/>
                  <a:ext cx="382023" cy="1413646"/>
                  <a:chOff x="7755536" y="4682354"/>
                  <a:chExt cx="382023" cy="1413646"/>
                </a:xfrm>
              </p:grpSpPr>
              <p:sp>
                <p:nvSpPr>
                  <p:cNvPr id="298" name="矩形 297">
                    <a:extLst>
                      <a:ext uri="{FF2B5EF4-FFF2-40B4-BE49-F238E27FC236}">
                        <a16:creationId xmlns:a16="http://schemas.microsoft.com/office/drawing/2014/main" id="{C14D46E3-39D2-50C7-9C73-85D52C515073}"/>
                      </a:ext>
                    </a:extLst>
                  </p:cNvPr>
                  <p:cNvSpPr/>
                  <p:nvPr/>
                </p:nvSpPr>
                <p:spPr>
                  <a:xfrm>
                    <a:off x="7755536" y="4682354"/>
                    <a:ext cx="191012" cy="141364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99" name="矩形 298">
                    <a:extLst>
                      <a:ext uri="{FF2B5EF4-FFF2-40B4-BE49-F238E27FC236}">
                        <a16:creationId xmlns:a16="http://schemas.microsoft.com/office/drawing/2014/main" id="{170A57E1-6B85-A008-45FA-C9DDC726B6EE}"/>
                      </a:ext>
                    </a:extLst>
                  </p:cNvPr>
                  <p:cNvSpPr/>
                  <p:nvPr/>
                </p:nvSpPr>
                <p:spPr>
                  <a:xfrm>
                    <a:off x="7946547" y="4682354"/>
                    <a:ext cx="191012" cy="1413646"/>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241" name="矩形 240">
                <a:extLst>
                  <a:ext uri="{FF2B5EF4-FFF2-40B4-BE49-F238E27FC236}">
                    <a16:creationId xmlns:a16="http://schemas.microsoft.com/office/drawing/2014/main" id="{D73A12A9-3B52-2037-2B74-86FD8705A04F}"/>
                  </a:ext>
                </a:extLst>
              </p:cNvPr>
              <p:cNvSpPr/>
              <p:nvPr/>
            </p:nvSpPr>
            <p:spPr>
              <a:xfrm>
                <a:off x="8453352" y="1984590"/>
                <a:ext cx="1585315"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46" name="矩形 245">
                <a:extLst>
                  <a:ext uri="{FF2B5EF4-FFF2-40B4-BE49-F238E27FC236}">
                    <a16:creationId xmlns:a16="http://schemas.microsoft.com/office/drawing/2014/main" id="{7AAD89B5-EFBD-C61A-C2BE-6DAADC5E40BF}"/>
                  </a:ext>
                </a:extLst>
              </p:cNvPr>
              <p:cNvSpPr/>
              <p:nvPr/>
            </p:nvSpPr>
            <p:spPr>
              <a:xfrm>
                <a:off x="8442672" y="2636613"/>
                <a:ext cx="1585315"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267" name="直線接點 266">
                <a:extLst>
                  <a:ext uri="{FF2B5EF4-FFF2-40B4-BE49-F238E27FC236}">
                    <a16:creationId xmlns:a16="http://schemas.microsoft.com/office/drawing/2014/main" id="{6C909218-F352-E25D-37A2-BF01D9FEC07A}"/>
                  </a:ext>
                </a:extLst>
              </p:cNvPr>
              <p:cNvCxnSpPr>
                <a:cxnSpLocks/>
              </p:cNvCxnSpPr>
              <p:nvPr/>
            </p:nvCxnSpPr>
            <p:spPr>
              <a:xfrm flipH="1" flipV="1">
                <a:off x="8509832" y="1339285"/>
                <a:ext cx="131732" cy="140986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5" name="直線接點 274">
                <a:extLst>
                  <a:ext uri="{FF2B5EF4-FFF2-40B4-BE49-F238E27FC236}">
                    <a16:creationId xmlns:a16="http://schemas.microsoft.com/office/drawing/2014/main" id="{51935ED9-E9B4-0117-0C87-3EFD2084E7DD}"/>
                  </a:ext>
                </a:extLst>
              </p:cNvPr>
              <p:cNvCxnSpPr>
                <a:cxnSpLocks/>
              </p:cNvCxnSpPr>
              <p:nvPr/>
            </p:nvCxnSpPr>
            <p:spPr>
              <a:xfrm flipH="1" flipV="1">
                <a:off x="9436018" y="1025270"/>
                <a:ext cx="101693" cy="10542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1" name="直線接點 290">
                <a:extLst>
                  <a:ext uri="{FF2B5EF4-FFF2-40B4-BE49-F238E27FC236}">
                    <a16:creationId xmlns:a16="http://schemas.microsoft.com/office/drawing/2014/main" id="{16100671-DED2-3706-7B5E-38E183869359}"/>
                  </a:ext>
                </a:extLst>
              </p:cNvPr>
              <p:cNvCxnSpPr>
                <a:cxnSpLocks/>
              </p:cNvCxnSpPr>
              <p:nvPr/>
            </p:nvCxnSpPr>
            <p:spPr>
              <a:xfrm flipV="1">
                <a:off x="8508538" y="1264686"/>
                <a:ext cx="232120" cy="8522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2" name="直線接點 291">
                <a:extLst>
                  <a:ext uri="{FF2B5EF4-FFF2-40B4-BE49-F238E27FC236}">
                    <a16:creationId xmlns:a16="http://schemas.microsoft.com/office/drawing/2014/main" id="{1AD66B2E-33C9-4BB3-E5EE-0AF56DE615FA}"/>
                  </a:ext>
                </a:extLst>
              </p:cNvPr>
              <p:cNvCxnSpPr>
                <a:cxnSpLocks/>
              </p:cNvCxnSpPr>
              <p:nvPr/>
            </p:nvCxnSpPr>
            <p:spPr>
              <a:xfrm flipH="1">
                <a:off x="9125726" y="1034920"/>
                <a:ext cx="319098" cy="1220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93" name="橢圓 292">
                <a:extLst>
                  <a:ext uri="{FF2B5EF4-FFF2-40B4-BE49-F238E27FC236}">
                    <a16:creationId xmlns:a16="http://schemas.microsoft.com/office/drawing/2014/main" id="{614B2AC3-0DA8-D030-65EF-7AD59D024A2F}"/>
                  </a:ext>
                </a:extLst>
              </p:cNvPr>
              <p:cNvSpPr/>
              <p:nvPr/>
            </p:nvSpPr>
            <p:spPr>
              <a:xfrm>
                <a:off x="8736284" y="1013979"/>
                <a:ext cx="382626" cy="378964"/>
              </a:xfrm>
              <a:prstGeom prst="ellipse">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solidFill>
                      <a:schemeClr val="tx1"/>
                    </a:solidFill>
                  </a:rPr>
                  <a:t>V</a:t>
                </a:r>
                <a:endParaRPr lang="zh-TW" altLang="en-US" b="1" dirty="0">
                  <a:solidFill>
                    <a:schemeClr val="tx1"/>
                  </a:solidFill>
                </a:endParaRPr>
              </a:p>
            </p:txBody>
          </p:sp>
        </p:grpSp>
        <p:sp>
          <p:nvSpPr>
            <p:cNvPr id="237" name="矩形 236">
              <a:extLst>
                <a:ext uri="{FF2B5EF4-FFF2-40B4-BE49-F238E27FC236}">
                  <a16:creationId xmlns:a16="http://schemas.microsoft.com/office/drawing/2014/main" id="{BA284123-0556-21AF-67C0-964480CD1FCC}"/>
                </a:ext>
              </a:extLst>
            </p:cNvPr>
            <p:cNvSpPr/>
            <p:nvPr/>
          </p:nvSpPr>
          <p:spPr>
            <a:xfrm>
              <a:off x="8456889" y="3089226"/>
              <a:ext cx="1581778" cy="239308"/>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38" name="矩形 237">
              <a:extLst>
                <a:ext uri="{FF2B5EF4-FFF2-40B4-BE49-F238E27FC236}">
                  <a16:creationId xmlns:a16="http://schemas.microsoft.com/office/drawing/2014/main" id="{B88D2D2F-9625-41EF-F442-09B39E0597E9}"/>
                </a:ext>
              </a:extLst>
            </p:cNvPr>
            <p:cNvSpPr/>
            <p:nvPr/>
          </p:nvSpPr>
          <p:spPr>
            <a:xfrm>
              <a:off x="8453198" y="2328648"/>
              <a:ext cx="1577675" cy="196537"/>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nvGrpSpPr>
          <p:cNvPr id="306" name="群組 305">
            <a:extLst>
              <a:ext uri="{FF2B5EF4-FFF2-40B4-BE49-F238E27FC236}">
                <a16:creationId xmlns:a16="http://schemas.microsoft.com/office/drawing/2014/main" id="{6906D793-AF4D-BF11-CD9C-2674AED87A31}"/>
              </a:ext>
            </a:extLst>
          </p:cNvPr>
          <p:cNvGrpSpPr/>
          <p:nvPr/>
        </p:nvGrpSpPr>
        <p:grpSpPr>
          <a:xfrm>
            <a:off x="6109844" y="3065608"/>
            <a:ext cx="1597732" cy="1615786"/>
            <a:chOff x="1547796" y="4590565"/>
            <a:chExt cx="1597732" cy="1615786"/>
          </a:xfrm>
        </p:grpSpPr>
        <p:grpSp>
          <p:nvGrpSpPr>
            <p:cNvPr id="307" name="群組 306">
              <a:extLst>
                <a:ext uri="{FF2B5EF4-FFF2-40B4-BE49-F238E27FC236}">
                  <a16:creationId xmlns:a16="http://schemas.microsoft.com/office/drawing/2014/main" id="{E16FCB19-D9A4-2C95-4FA8-7A779CED8C53}"/>
                </a:ext>
              </a:extLst>
            </p:cNvPr>
            <p:cNvGrpSpPr/>
            <p:nvPr/>
          </p:nvGrpSpPr>
          <p:grpSpPr>
            <a:xfrm>
              <a:off x="1547796" y="4590565"/>
              <a:ext cx="1597732" cy="1615786"/>
              <a:chOff x="7755536" y="4682353"/>
              <a:chExt cx="1539881" cy="1413647"/>
            </a:xfrm>
          </p:grpSpPr>
          <p:grpSp>
            <p:nvGrpSpPr>
              <p:cNvPr id="310" name="群組 309">
                <a:extLst>
                  <a:ext uri="{FF2B5EF4-FFF2-40B4-BE49-F238E27FC236}">
                    <a16:creationId xmlns:a16="http://schemas.microsoft.com/office/drawing/2014/main" id="{3F9220EE-773C-2042-91E9-E686BA36FAC2}"/>
                  </a:ext>
                </a:extLst>
              </p:cNvPr>
              <p:cNvGrpSpPr/>
              <p:nvPr/>
            </p:nvGrpSpPr>
            <p:grpSpPr>
              <a:xfrm>
                <a:off x="7755536" y="4682354"/>
                <a:ext cx="382023" cy="1413646"/>
                <a:chOff x="7755536" y="4682354"/>
                <a:chExt cx="382023" cy="1413646"/>
              </a:xfrm>
            </p:grpSpPr>
            <p:sp>
              <p:nvSpPr>
                <p:cNvPr id="320" name="矩形 319">
                  <a:extLst>
                    <a:ext uri="{FF2B5EF4-FFF2-40B4-BE49-F238E27FC236}">
                      <a16:creationId xmlns:a16="http://schemas.microsoft.com/office/drawing/2014/main" id="{F9951B22-8E50-35F4-9BC1-309DE28405E9}"/>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1" name="矩形 320">
                  <a:extLst>
                    <a:ext uri="{FF2B5EF4-FFF2-40B4-BE49-F238E27FC236}">
                      <a16:creationId xmlns:a16="http://schemas.microsoft.com/office/drawing/2014/main" id="{FC3A3A17-A4AF-9B2C-891C-453EEBC580EC}"/>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11" name="群組 310">
                <a:extLst>
                  <a:ext uri="{FF2B5EF4-FFF2-40B4-BE49-F238E27FC236}">
                    <a16:creationId xmlns:a16="http://schemas.microsoft.com/office/drawing/2014/main" id="{7EF784CA-A07E-22E1-B563-0E5FD41D2FEA}"/>
                  </a:ext>
                </a:extLst>
              </p:cNvPr>
              <p:cNvGrpSpPr/>
              <p:nvPr/>
            </p:nvGrpSpPr>
            <p:grpSpPr>
              <a:xfrm>
                <a:off x="8136791" y="4682354"/>
                <a:ext cx="382023" cy="1413646"/>
                <a:chOff x="7755536" y="4682354"/>
                <a:chExt cx="382023" cy="1413646"/>
              </a:xfrm>
            </p:grpSpPr>
            <p:sp>
              <p:nvSpPr>
                <p:cNvPr id="318" name="矩形 317">
                  <a:extLst>
                    <a:ext uri="{FF2B5EF4-FFF2-40B4-BE49-F238E27FC236}">
                      <a16:creationId xmlns:a16="http://schemas.microsoft.com/office/drawing/2014/main" id="{C0F35C31-4B97-7F6A-4A15-AC43DD6BAC41}"/>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9" name="矩形 318">
                  <a:extLst>
                    <a:ext uri="{FF2B5EF4-FFF2-40B4-BE49-F238E27FC236}">
                      <a16:creationId xmlns:a16="http://schemas.microsoft.com/office/drawing/2014/main" id="{4D413EF0-D670-6919-DA86-EF299162CBE3}"/>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12" name="群組 311">
                <a:extLst>
                  <a:ext uri="{FF2B5EF4-FFF2-40B4-BE49-F238E27FC236}">
                    <a16:creationId xmlns:a16="http://schemas.microsoft.com/office/drawing/2014/main" id="{6F3EB298-81F6-5941-D21E-12BF2298F268}"/>
                  </a:ext>
                </a:extLst>
              </p:cNvPr>
              <p:cNvGrpSpPr/>
              <p:nvPr/>
            </p:nvGrpSpPr>
            <p:grpSpPr>
              <a:xfrm>
                <a:off x="8529018" y="4682353"/>
                <a:ext cx="382022" cy="1413647"/>
                <a:chOff x="7755537" y="4682353"/>
                <a:chExt cx="382022" cy="1413647"/>
              </a:xfrm>
            </p:grpSpPr>
            <p:sp>
              <p:nvSpPr>
                <p:cNvPr id="316" name="矩形 315">
                  <a:extLst>
                    <a:ext uri="{FF2B5EF4-FFF2-40B4-BE49-F238E27FC236}">
                      <a16:creationId xmlns:a16="http://schemas.microsoft.com/office/drawing/2014/main" id="{9189EDA1-FFDD-5EC9-E5EE-7CEFEDD8CD23}"/>
                    </a:ext>
                  </a:extLst>
                </p:cNvPr>
                <p:cNvSpPr/>
                <p:nvPr/>
              </p:nvSpPr>
              <p:spPr>
                <a:xfrm>
                  <a:off x="7755537" y="4682353"/>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7" name="矩形 316">
                  <a:extLst>
                    <a:ext uri="{FF2B5EF4-FFF2-40B4-BE49-F238E27FC236}">
                      <a16:creationId xmlns:a16="http://schemas.microsoft.com/office/drawing/2014/main" id="{5C7BDBDC-147A-5661-9353-7A97DDFABAC4}"/>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13" name="群組 312">
                <a:extLst>
                  <a:ext uri="{FF2B5EF4-FFF2-40B4-BE49-F238E27FC236}">
                    <a16:creationId xmlns:a16="http://schemas.microsoft.com/office/drawing/2014/main" id="{8C387FD1-D7CA-485C-0986-00E69E20BF8F}"/>
                  </a:ext>
                </a:extLst>
              </p:cNvPr>
              <p:cNvGrpSpPr/>
              <p:nvPr/>
            </p:nvGrpSpPr>
            <p:grpSpPr>
              <a:xfrm>
                <a:off x="8913394" y="4682354"/>
                <a:ext cx="382023" cy="1413646"/>
                <a:chOff x="7755536" y="4682354"/>
                <a:chExt cx="382023" cy="1413646"/>
              </a:xfrm>
            </p:grpSpPr>
            <p:sp>
              <p:nvSpPr>
                <p:cNvPr id="314" name="矩形 313">
                  <a:extLst>
                    <a:ext uri="{FF2B5EF4-FFF2-40B4-BE49-F238E27FC236}">
                      <a16:creationId xmlns:a16="http://schemas.microsoft.com/office/drawing/2014/main" id="{6E4E387E-77D6-776F-CE0C-BF95614F3511}"/>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5" name="矩形 314">
                  <a:extLst>
                    <a:ext uri="{FF2B5EF4-FFF2-40B4-BE49-F238E27FC236}">
                      <a16:creationId xmlns:a16="http://schemas.microsoft.com/office/drawing/2014/main" id="{BA5C0EDD-0953-D791-B052-92FA854CD651}"/>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308" name="矩形 307">
              <a:extLst>
                <a:ext uri="{FF2B5EF4-FFF2-40B4-BE49-F238E27FC236}">
                  <a16:creationId xmlns:a16="http://schemas.microsoft.com/office/drawing/2014/main" id="{7CE9B7CC-0DC7-8CAC-E25C-E90689E689C0}"/>
                </a:ext>
              </a:extLst>
            </p:cNvPr>
            <p:cNvSpPr/>
            <p:nvPr/>
          </p:nvSpPr>
          <p:spPr>
            <a:xfrm>
              <a:off x="1560341" y="5172154"/>
              <a:ext cx="1575773" cy="262714"/>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09" name="矩形 308">
              <a:extLst>
                <a:ext uri="{FF2B5EF4-FFF2-40B4-BE49-F238E27FC236}">
                  <a16:creationId xmlns:a16="http://schemas.microsoft.com/office/drawing/2014/main" id="{15546F46-280F-9D3D-5D14-79CF6D401B82}"/>
                </a:ext>
              </a:extLst>
            </p:cNvPr>
            <p:cNvSpPr/>
            <p:nvPr/>
          </p:nvSpPr>
          <p:spPr>
            <a:xfrm>
              <a:off x="1554254" y="5982936"/>
              <a:ext cx="1591274" cy="223412"/>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nvGrpSpPr>
          <p:cNvPr id="377" name="群組 376">
            <a:extLst>
              <a:ext uri="{FF2B5EF4-FFF2-40B4-BE49-F238E27FC236}">
                <a16:creationId xmlns:a16="http://schemas.microsoft.com/office/drawing/2014/main" id="{B8309ACC-4E37-DD5B-A21B-C1B29A527E15}"/>
              </a:ext>
            </a:extLst>
          </p:cNvPr>
          <p:cNvGrpSpPr/>
          <p:nvPr/>
        </p:nvGrpSpPr>
        <p:grpSpPr>
          <a:xfrm>
            <a:off x="9470450" y="2033926"/>
            <a:ext cx="978393" cy="2670776"/>
            <a:chOff x="9494716" y="1425376"/>
            <a:chExt cx="978393" cy="2670776"/>
          </a:xfrm>
        </p:grpSpPr>
        <p:grpSp>
          <p:nvGrpSpPr>
            <p:cNvPr id="378" name="群組 377">
              <a:extLst>
                <a:ext uri="{FF2B5EF4-FFF2-40B4-BE49-F238E27FC236}">
                  <a16:creationId xmlns:a16="http://schemas.microsoft.com/office/drawing/2014/main" id="{62CDA436-1F4A-2755-51B4-72449D79B4BB}"/>
                </a:ext>
              </a:extLst>
            </p:cNvPr>
            <p:cNvGrpSpPr/>
            <p:nvPr/>
          </p:nvGrpSpPr>
          <p:grpSpPr>
            <a:xfrm>
              <a:off x="9494716" y="1425376"/>
              <a:ext cx="978393" cy="2670776"/>
              <a:chOff x="9494716" y="1425376"/>
              <a:chExt cx="978393" cy="2670776"/>
            </a:xfrm>
          </p:grpSpPr>
          <p:sp>
            <p:nvSpPr>
              <p:cNvPr id="380" name="矩形 379">
                <a:extLst>
                  <a:ext uri="{FF2B5EF4-FFF2-40B4-BE49-F238E27FC236}">
                    <a16:creationId xmlns:a16="http://schemas.microsoft.com/office/drawing/2014/main" id="{0817E433-04B9-C487-776E-4456815221C3}"/>
                  </a:ext>
                </a:extLst>
              </p:cNvPr>
              <p:cNvSpPr/>
              <p:nvPr/>
            </p:nvSpPr>
            <p:spPr>
              <a:xfrm>
                <a:off x="9515898" y="2480154"/>
                <a:ext cx="938615" cy="1615784"/>
              </a:xfrm>
              <a:prstGeom prst="rect">
                <a:avLst/>
              </a:prstGeom>
              <a:solidFill>
                <a:srgbClr val="ECDFF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1" name="矩形 380">
                <a:extLst>
                  <a:ext uri="{FF2B5EF4-FFF2-40B4-BE49-F238E27FC236}">
                    <a16:creationId xmlns:a16="http://schemas.microsoft.com/office/drawing/2014/main" id="{4105BE5C-CA06-4E49-72C4-B6E6B4FDA2AC}"/>
                  </a:ext>
                </a:extLst>
              </p:cNvPr>
              <p:cNvSpPr/>
              <p:nvPr/>
            </p:nvSpPr>
            <p:spPr>
              <a:xfrm>
                <a:off x="9527030" y="3404018"/>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82" name="矩形 381">
                <a:extLst>
                  <a:ext uri="{FF2B5EF4-FFF2-40B4-BE49-F238E27FC236}">
                    <a16:creationId xmlns:a16="http://schemas.microsoft.com/office/drawing/2014/main" id="{5E226601-84D5-1CB2-6FFF-ED08E470BFD1}"/>
                  </a:ext>
                </a:extLst>
              </p:cNvPr>
              <p:cNvSpPr/>
              <p:nvPr/>
            </p:nvSpPr>
            <p:spPr>
              <a:xfrm>
                <a:off x="9518613" y="2756692"/>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83" name="矩形 382">
                <a:extLst>
                  <a:ext uri="{FF2B5EF4-FFF2-40B4-BE49-F238E27FC236}">
                    <a16:creationId xmlns:a16="http://schemas.microsoft.com/office/drawing/2014/main" id="{4F9B8AD3-0279-FB66-263E-C062B45DCF21}"/>
                  </a:ext>
                </a:extLst>
              </p:cNvPr>
              <p:cNvSpPr/>
              <p:nvPr/>
            </p:nvSpPr>
            <p:spPr>
              <a:xfrm>
                <a:off x="9518613" y="3070938"/>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384" name="直線接點 383">
                <a:extLst>
                  <a:ext uri="{FF2B5EF4-FFF2-40B4-BE49-F238E27FC236}">
                    <a16:creationId xmlns:a16="http://schemas.microsoft.com/office/drawing/2014/main" id="{0E762F30-E0A8-3737-CEE3-87ECDBF5F1EA}"/>
                  </a:ext>
                </a:extLst>
              </p:cNvPr>
              <p:cNvCxnSpPr>
                <a:cxnSpLocks/>
              </p:cNvCxnSpPr>
              <p:nvPr/>
            </p:nvCxnSpPr>
            <p:spPr>
              <a:xfrm flipH="1" flipV="1">
                <a:off x="9623221" y="1835345"/>
                <a:ext cx="33216" cy="138626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5" name="直線接點 384">
                <a:extLst>
                  <a:ext uri="{FF2B5EF4-FFF2-40B4-BE49-F238E27FC236}">
                    <a16:creationId xmlns:a16="http://schemas.microsoft.com/office/drawing/2014/main" id="{5DF0B335-B2DC-E0A4-0DCD-E94F48491358}"/>
                  </a:ext>
                </a:extLst>
              </p:cNvPr>
              <p:cNvCxnSpPr>
                <a:cxnSpLocks/>
              </p:cNvCxnSpPr>
              <p:nvPr/>
            </p:nvCxnSpPr>
            <p:spPr>
              <a:xfrm flipH="1" flipV="1">
                <a:off x="10265739" y="1460627"/>
                <a:ext cx="58170" cy="138626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6" name="直線接點 385">
                <a:extLst>
                  <a:ext uri="{FF2B5EF4-FFF2-40B4-BE49-F238E27FC236}">
                    <a16:creationId xmlns:a16="http://schemas.microsoft.com/office/drawing/2014/main" id="{D9843B6F-EE94-F012-144E-A3099639D01E}"/>
                  </a:ext>
                </a:extLst>
              </p:cNvPr>
              <p:cNvCxnSpPr>
                <a:cxnSpLocks/>
              </p:cNvCxnSpPr>
              <p:nvPr/>
            </p:nvCxnSpPr>
            <p:spPr>
              <a:xfrm flipV="1">
                <a:off x="9622323" y="1741331"/>
                <a:ext cx="161027" cy="10739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7" name="直線接點 386">
                <a:extLst>
                  <a:ext uri="{FF2B5EF4-FFF2-40B4-BE49-F238E27FC236}">
                    <a16:creationId xmlns:a16="http://schemas.microsoft.com/office/drawing/2014/main" id="{14A54D30-655B-EB8B-D125-5241EC1CEDA5}"/>
                  </a:ext>
                </a:extLst>
              </p:cNvPr>
              <p:cNvCxnSpPr>
                <a:cxnSpLocks/>
              </p:cNvCxnSpPr>
              <p:nvPr/>
            </p:nvCxnSpPr>
            <p:spPr>
              <a:xfrm flipH="1">
                <a:off x="10050482" y="1451767"/>
                <a:ext cx="221366" cy="1538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88" name="橢圓 387">
                <a:extLst>
                  <a:ext uri="{FF2B5EF4-FFF2-40B4-BE49-F238E27FC236}">
                    <a16:creationId xmlns:a16="http://schemas.microsoft.com/office/drawing/2014/main" id="{C76AD94F-97B0-CB02-F08E-BB77F6D35910}"/>
                  </a:ext>
                </a:extLst>
              </p:cNvPr>
              <p:cNvSpPr/>
              <p:nvPr/>
            </p:nvSpPr>
            <p:spPr>
              <a:xfrm>
                <a:off x="9780316" y="1425376"/>
                <a:ext cx="265437" cy="477591"/>
              </a:xfrm>
              <a:prstGeom prst="ellipse">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solidFill>
                      <a:schemeClr val="tx1"/>
                    </a:solidFill>
                  </a:rPr>
                  <a:t>V</a:t>
                </a:r>
                <a:endParaRPr lang="zh-TW" altLang="en-US" b="1" dirty="0">
                  <a:solidFill>
                    <a:schemeClr val="tx1"/>
                  </a:solidFill>
                </a:endParaRPr>
              </a:p>
            </p:txBody>
          </p:sp>
          <p:cxnSp>
            <p:nvCxnSpPr>
              <p:cNvPr id="389" name="直線接點 388">
                <a:extLst>
                  <a:ext uri="{FF2B5EF4-FFF2-40B4-BE49-F238E27FC236}">
                    <a16:creationId xmlns:a16="http://schemas.microsoft.com/office/drawing/2014/main" id="{603C1131-53E0-989C-B3D9-849D1A94F934}"/>
                  </a:ext>
                </a:extLst>
              </p:cNvPr>
              <p:cNvCxnSpPr>
                <a:cxnSpLocks/>
              </p:cNvCxnSpPr>
              <p:nvPr/>
            </p:nvCxnSpPr>
            <p:spPr>
              <a:xfrm flipH="1" flipV="1">
                <a:off x="10025966" y="1872909"/>
                <a:ext cx="56004" cy="163966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0" name="直線接點 389">
                <a:extLst>
                  <a:ext uri="{FF2B5EF4-FFF2-40B4-BE49-F238E27FC236}">
                    <a16:creationId xmlns:a16="http://schemas.microsoft.com/office/drawing/2014/main" id="{5330714B-4110-1EAE-DFD4-A1DAE9F287D7}"/>
                  </a:ext>
                </a:extLst>
              </p:cNvPr>
              <p:cNvCxnSpPr>
                <a:cxnSpLocks/>
              </p:cNvCxnSpPr>
              <p:nvPr/>
            </p:nvCxnSpPr>
            <p:spPr>
              <a:xfrm flipH="1" flipV="1">
                <a:off x="9998614" y="1835343"/>
                <a:ext cx="27352" cy="1243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91" name="矩形 390">
                <a:extLst>
                  <a:ext uri="{FF2B5EF4-FFF2-40B4-BE49-F238E27FC236}">
                    <a16:creationId xmlns:a16="http://schemas.microsoft.com/office/drawing/2014/main" id="{FA96E96C-F4EF-51EE-EC78-DDEC4053DA0B}"/>
                  </a:ext>
                </a:extLst>
              </p:cNvPr>
              <p:cNvSpPr/>
              <p:nvPr/>
            </p:nvSpPr>
            <p:spPr>
              <a:xfrm>
                <a:off x="9510858" y="3815312"/>
                <a:ext cx="946080" cy="280840"/>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92" name="矩形 391">
                <a:extLst>
                  <a:ext uri="{FF2B5EF4-FFF2-40B4-BE49-F238E27FC236}">
                    <a16:creationId xmlns:a16="http://schemas.microsoft.com/office/drawing/2014/main" id="{662DAB5C-4F75-3842-BAEE-1B4D8C7AB124}"/>
                  </a:ext>
                </a:extLst>
              </p:cNvPr>
              <p:cNvSpPr/>
              <p:nvPr/>
            </p:nvSpPr>
            <p:spPr>
              <a:xfrm>
                <a:off x="9494716" y="3054735"/>
                <a:ext cx="943626" cy="230646"/>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379" name="矩形 378">
              <a:extLst>
                <a:ext uri="{FF2B5EF4-FFF2-40B4-BE49-F238E27FC236}">
                  <a16:creationId xmlns:a16="http://schemas.microsoft.com/office/drawing/2014/main" id="{1B75336E-BD12-1D54-A2AC-1E4B0E0704F9}"/>
                </a:ext>
              </a:extLst>
            </p:cNvPr>
            <p:cNvSpPr/>
            <p:nvPr/>
          </p:nvSpPr>
          <p:spPr>
            <a:xfrm>
              <a:off x="9513459" y="3054364"/>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sp>
        <p:nvSpPr>
          <p:cNvPr id="72" name="文字方塊 71">
            <a:extLst>
              <a:ext uri="{FF2B5EF4-FFF2-40B4-BE49-F238E27FC236}">
                <a16:creationId xmlns:a16="http://schemas.microsoft.com/office/drawing/2014/main" id="{4EDDEB61-4940-7BC9-C8B7-E9DB0C0CFB1E}"/>
              </a:ext>
            </a:extLst>
          </p:cNvPr>
          <p:cNvSpPr txBox="1"/>
          <p:nvPr/>
        </p:nvSpPr>
        <p:spPr>
          <a:xfrm>
            <a:off x="12298" y="3910214"/>
            <a:ext cx="808797" cy="400110"/>
          </a:xfrm>
          <a:prstGeom prst="rect">
            <a:avLst/>
          </a:prstGeom>
          <a:noFill/>
        </p:spPr>
        <p:txBody>
          <a:bodyPr wrap="square" rtlCol="0">
            <a:spAutoFit/>
          </a:bodyPr>
          <a:lstStyle/>
          <a:p>
            <a:r>
              <a:rPr lang="en-US" altLang="zh-TW" sz="1000" dirty="0"/>
              <a:t>CW</a:t>
            </a:r>
            <a:r>
              <a:rPr lang="zh-TW" altLang="en-US" sz="1000" dirty="0"/>
              <a:t> </a:t>
            </a:r>
            <a:r>
              <a:rPr lang="en-US" altLang="zh-TW" sz="1000" dirty="0"/>
              <a:t>785nm pump laser </a:t>
            </a:r>
            <a:endParaRPr lang="zh-TW" altLang="en-US" sz="1000" dirty="0"/>
          </a:p>
        </p:txBody>
      </p:sp>
      <p:grpSp>
        <p:nvGrpSpPr>
          <p:cNvPr id="7" name="群組 6">
            <a:extLst>
              <a:ext uri="{FF2B5EF4-FFF2-40B4-BE49-F238E27FC236}">
                <a16:creationId xmlns:a16="http://schemas.microsoft.com/office/drawing/2014/main" id="{715D6C64-5146-4AEC-08D1-852DBA1531D5}"/>
              </a:ext>
            </a:extLst>
          </p:cNvPr>
          <p:cNvGrpSpPr/>
          <p:nvPr/>
        </p:nvGrpSpPr>
        <p:grpSpPr>
          <a:xfrm rot="5400000">
            <a:off x="10763367" y="3924774"/>
            <a:ext cx="291528" cy="666144"/>
            <a:chOff x="8147879" y="2874761"/>
            <a:chExt cx="320447" cy="747169"/>
          </a:xfrm>
        </p:grpSpPr>
        <p:cxnSp>
          <p:nvCxnSpPr>
            <p:cNvPr id="8" name="直線單箭頭接點 7">
              <a:extLst>
                <a:ext uri="{FF2B5EF4-FFF2-40B4-BE49-F238E27FC236}">
                  <a16:creationId xmlns:a16="http://schemas.microsoft.com/office/drawing/2014/main" id="{ED91E5CC-C3B0-144E-88CA-14AF47AD5B49}"/>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橢圓 8">
              <a:extLst>
                <a:ext uri="{FF2B5EF4-FFF2-40B4-BE49-F238E27FC236}">
                  <a16:creationId xmlns:a16="http://schemas.microsoft.com/office/drawing/2014/main" id="{EA1D2A1B-0EA2-4F0C-000A-F3B5609A1391}"/>
                </a:ext>
              </a:extLst>
            </p:cNvPr>
            <p:cNvSpPr/>
            <p:nvPr/>
          </p:nvSpPr>
          <p:spPr>
            <a:xfrm>
              <a:off x="8147879" y="3074008"/>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dirty="0"/>
            </a:p>
          </p:txBody>
        </p:sp>
      </p:grpSp>
      <p:grpSp>
        <p:nvGrpSpPr>
          <p:cNvPr id="10" name="群組 9">
            <a:extLst>
              <a:ext uri="{FF2B5EF4-FFF2-40B4-BE49-F238E27FC236}">
                <a16:creationId xmlns:a16="http://schemas.microsoft.com/office/drawing/2014/main" id="{E3AC9A4E-DFC1-92D0-9B42-F597757F6FB1}"/>
              </a:ext>
            </a:extLst>
          </p:cNvPr>
          <p:cNvGrpSpPr/>
          <p:nvPr/>
        </p:nvGrpSpPr>
        <p:grpSpPr>
          <a:xfrm rot="5400000">
            <a:off x="10743027" y="2804583"/>
            <a:ext cx="291528" cy="666144"/>
            <a:chOff x="8147879" y="2874761"/>
            <a:chExt cx="320447" cy="747169"/>
          </a:xfrm>
        </p:grpSpPr>
        <p:cxnSp>
          <p:nvCxnSpPr>
            <p:cNvPr id="11" name="直線單箭頭接點 10">
              <a:extLst>
                <a:ext uri="{FF2B5EF4-FFF2-40B4-BE49-F238E27FC236}">
                  <a16:creationId xmlns:a16="http://schemas.microsoft.com/office/drawing/2014/main" id="{134804EF-E6A9-4275-7633-93CB613D6F43}"/>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橢圓 11">
              <a:extLst>
                <a:ext uri="{FF2B5EF4-FFF2-40B4-BE49-F238E27FC236}">
                  <a16:creationId xmlns:a16="http://schemas.microsoft.com/office/drawing/2014/main" id="{78A3167D-DB9D-DBB8-5205-ACD31A4E47E1}"/>
                </a:ext>
              </a:extLst>
            </p:cNvPr>
            <p:cNvSpPr/>
            <p:nvPr/>
          </p:nvSpPr>
          <p:spPr>
            <a:xfrm>
              <a:off x="8147879" y="3074007"/>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dirty="0"/>
            </a:p>
          </p:txBody>
        </p:sp>
      </p:grpSp>
      <p:grpSp>
        <p:nvGrpSpPr>
          <p:cNvPr id="3" name="群組 2">
            <a:extLst>
              <a:ext uri="{FF2B5EF4-FFF2-40B4-BE49-F238E27FC236}">
                <a16:creationId xmlns:a16="http://schemas.microsoft.com/office/drawing/2014/main" id="{279CF9A5-C559-1871-3D44-32B70AA39A6D}"/>
              </a:ext>
            </a:extLst>
          </p:cNvPr>
          <p:cNvGrpSpPr/>
          <p:nvPr/>
        </p:nvGrpSpPr>
        <p:grpSpPr>
          <a:xfrm>
            <a:off x="2353117" y="3411092"/>
            <a:ext cx="1013419" cy="563274"/>
            <a:chOff x="2276024" y="5015241"/>
            <a:chExt cx="1249438" cy="563274"/>
          </a:xfrm>
        </p:grpSpPr>
        <p:sp>
          <p:nvSpPr>
            <p:cNvPr id="13" name="箭號: 向右 12">
              <a:extLst>
                <a:ext uri="{FF2B5EF4-FFF2-40B4-BE49-F238E27FC236}">
                  <a16:creationId xmlns:a16="http://schemas.microsoft.com/office/drawing/2014/main" id="{8E448193-C9B1-A81B-4089-A597C0AD59DF}"/>
                </a:ext>
              </a:extLst>
            </p:cNvPr>
            <p:cNvSpPr/>
            <p:nvPr/>
          </p:nvSpPr>
          <p:spPr>
            <a:xfrm>
              <a:off x="2413949" y="5273701"/>
              <a:ext cx="1050740" cy="304814"/>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文字方塊 13">
              <a:extLst>
                <a:ext uri="{FF2B5EF4-FFF2-40B4-BE49-F238E27FC236}">
                  <a16:creationId xmlns:a16="http://schemas.microsoft.com/office/drawing/2014/main" id="{CF8E3E30-DD99-C94B-CC41-763133728BF6}"/>
                </a:ext>
              </a:extLst>
            </p:cNvPr>
            <p:cNvSpPr txBox="1"/>
            <p:nvPr/>
          </p:nvSpPr>
          <p:spPr>
            <a:xfrm>
              <a:off x="2276024" y="5015241"/>
              <a:ext cx="1249438" cy="246221"/>
            </a:xfrm>
            <a:prstGeom prst="rect">
              <a:avLst/>
            </a:prstGeom>
            <a:noFill/>
          </p:spPr>
          <p:txBody>
            <a:bodyPr wrap="none" rtlCol="0">
              <a:spAutoFit/>
            </a:bodyPr>
            <a:lstStyle/>
            <a:p>
              <a:r>
                <a:rPr lang="en-US" altLang="zh-TW" sz="1000" dirty="0"/>
                <a:t>|VV⟩</a:t>
              </a:r>
              <a:r>
                <a:rPr lang="en-US" altLang="zh-TW" sz="1000" baseline="-25000" dirty="0"/>
                <a:t> 1570 </a:t>
              </a:r>
              <a:r>
                <a:rPr lang="en-US" altLang="zh-TW" sz="1000" dirty="0"/>
                <a:t>+Pump</a:t>
              </a:r>
            </a:p>
          </p:txBody>
        </p:sp>
      </p:grpSp>
      <p:grpSp>
        <p:nvGrpSpPr>
          <p:cNvPr id="15" name="群組 14">
            <a:extLst>
              <a:ext uri="{FF2B5EF4-FFF2-40B4-BE49-F238E27FC236}">
                <a16:creationId xmlns:a16="http://schemas.microsoft.com/office/drawing/2014/main" id="{3A5CCEEC-B19C-721E-9038-A9529EDC0021}"/>
              </a:ext>
            </a:extLst>
          </p:cNvPr>
          <p:cNvGrpSpPr/>
          <p:nvPr/>
        </p:nvGrpSpPr>
        <p:grpSpPr>
          <a:xfrm>
            <a:off x="4872715" y="3395285"/>
            <a:ext cx="1198610" cy="541746"/>
            <a:chOff x="5024538" y="5056387"/>
            <a:chExt cx="1198610" cy="541746"/>
          </a:xfrm>
        </p:grpSpPr>
        <p:sp>
          <p:nvSpPr>
            <p:cNvPr id="16" name="箭號: 向右 15">
              <a:extLst>
                <a:ext uri="{FF2B5EF4-FFF2-40B4-BE49-F238E27FC236}">
                  <a16:creationId xmlns:a16="http://schemas.microsoft.com/office/drawing/2014/main" id="{1FE7F6C0-297E-9A9D-70B3-7244F9E050CC}"/>
                </a:ext>
              </a:extLst>
            </p:cNvPr>
            <p:cNvSpPr/>
            <p:nvPr/>
          </p:nvSpPr>
          <p:spPr>
            <a:xfrm>
              <a:off x="5092594" y="5263580"/>
              <a:ext cx="1130554" cy="334553"/>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文字方塊 16">
              <a:extLst>
                <a:ext uri="{FF2B5EF4-FFF2-40B4-BE49-F238E27FC236}">
                  <a16:creationId xmlns:a16="http://schemas.microsoft.com/office/drawing/2014/main" id="{303FE239-BE43-A0AA-FC43-5BF10AAE6D74}"/>
                </a:ext>
              </a:extLst>
            </p:cNvPr>
            <p:cNvSpPr txBox="1"/>
            <p:nvPr/>
          </p:nvSpPr>
          <p:spPr>
            <a:xfrm>
              <a:off x="5024538" y="5056387"/>
              <a:ext cx="1067921" cy="246221"/>
            </a:xfrm>
            <a:prstGeom prst="rect">
              <a:avLst/>
            </a:prstGeom>
            <a:noFill/>
          </p:spPr>
          <p:txBody>
            <a:bodyPr wrap="none" rtlCol="0">
              <a:spAutoFit/>
            </a:bodyPr>
            <a:lstStyle/>
            <a:p>
              <a:r>
                <a:rPr lang="en-US" altLang="zh-TW" sz="1000" dirty="0"/>
                <a:t>Pump+ |HH⟩</a:t>
              </a:r>
              <a:r>
                <a:rPr lang="en-US" altLang="zh-TW" sz="1000" baseline="-25000" dirty="0"/>
                <a:t> 1570</a:t>
              </a:r>
              <a:r>
                <a:rPr lang="en-US" altLang="zh-TW" sz="1000" dirty="0"/>
                <a:t> </a:t>
              </a:r>
              <a:endParaRPr lang="zh-TW" altLang="en-US" sz="1000" dirty="0"/>
            </a:p>
          </p:txBody>
        </p:sp>
      </p:grpSp>
      <p:grpSp>
        <p:nvGrpSpPr>
          <p:cNvPr id="18" name="群組 17">
            <a:extLst>
              <a:ext uri="{FF2B5EF4-FFF2-40B4-BE49-F238E27FC236}">
                <a16:creationId xmlns:a16="http://schemas.microsoft.com/office/drawing/2014/main" id="{7AED5304-A411-6208-D847-8E7C82CE0135}"/>
              </a:ext>
            </a:extLst>
          </p:cNvPr>
          <p:cNvGrpSpPr/>
          <p:nvPr/>
        </p:nvGrpSpPr>
        <p:grpSpPr>
          <a:xfrm>
            <a:off x="11676233" y="2742977"/>
            <a:ext cx="308414" cy="743295"/>
            <a:chOff x="8147879" y="2874761"/>
            <a:chExt cx="320447" cy="747169"/>
          </a:xfrm>
        </p:grpSpPr>
        <p:cxnSp>
          <p:nvCxnSpPr>
            <p:cNvPr id="19" name="直線單箭頭接點 18">
              <a:extLst>
                <a:ext uri="{FF2B5EF4-FFF2-40B4-BE49-F238E27FC236}">
                  <a16:creationId xmlns:a16="http://schemas.microsoft.com/office/drawing/2014/main" id="{244A47AF-AFBE-A946-6151-F792C7F06F13}"/>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橢圓 19">
              <a:extLst>
                <a:ext uri="{FF2B5EF4-FFF2-40B4-BE49-F238E27FC236}">
                  <a16:creationId xmlns:a16="http://schemas.microsoft.com/office/drawing/2014/main" id="{82EB2161-E066-5863-A4FD-A313F437C669}"/>
                </a:ext>
              </a:extLst>
            </p:cNvPr>
            <p:cNvSpPr/>
            <p:nvPr/>
          </p:nvSpPr>
          <p:spPr>
            <a:xfrm>
              <a:off x="8147879" y="3074008"/>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dirty="0"/>
            </a:p>
          </p:txBody>
        </p:sp>
      </p:grpSp>
      <p:grpSp>
        <p:nvGrpSpPr>
          <p:cNvPr id="21" name="群組 20">
            <a:extLst>
              <a:ext uri="{FF2B5EF4-FFF2-40B4-BE49-F238E27FC236}">
                <a16:creationId xmlns:a16="http://schemas.microsoft.com/office/drawing/2014/main" id="{2AC29DCC-3FDF-60C0-84C6-E01EB9EF2BA2}"/>
              </a:ext>
            </a:extLst>
          </p:cNvPr>
          <p:cNvGrpSpPr/>
          <p:nvPr/>
        </p:nvGrpSpPr>
        <p:grpSpPr>
          <a:xfrm>
            <a:off x="11664826" y="3950301"/>
            <a:ext cx="308414" cy="743295"/>
            <a:chOff x="8147879" y="2874761"/>
            <a:chExt cx="320447" cy="747169"/>
          </a:xfrm>
        </p:grpSpPr>
        <p:cxnSp>
          <p:nvCxnSpPr>
            <p:cNvPr id="22" name="直線單箭頭接點 21">
              <a:extLst>
                <a:ext uri="{FF2B5EF4-FFF2-40B4-BE49-F238E27FC236}">
                  <a16:creationId xmlns:a16="http://schemas.microsoft.com/office/drawing/2014/main" id="{61929418-3C97-54C0-E002-5574B049622F}"/>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橢圓 22">
              <a:extLst>
                <a:ext uri="{FF2B5EF4-FFF2-40B4-BE49-F238E27FC236}">
                  <a16:creationId xmlns:a16="http://schemas.microsoft.com/office/drawing/2014/main" id="{0A04324A-D5B7-C2FB-09E2-AD6AF0062D8D}"/>
                </a:ext>
              </a:extLst>
            </p:cNvPr>
            <p:cNvSpPr/>
            <p:nvPr/>
          </p:nvSpPr>
          <p:spPr>
            <a:xfrm>
              <a:off x="8147879" y="3074008"/>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dirty="0"/>
            </a:p>
          </p:txBody>
        </p:sp>
      </p:grpSp>
      <p:grpSp>
        <p:nvGrpSpPr>
          <p:cNvPr id="24" name="群組 23">
            <a:extLst>
              <a:ext uri="{FF2B5EF4-FFF2-40B4-BE49-F238E27FC236}">
                <a16:creationId xmlns:a16="http://schemas.microsoft.com/office/drawing/2014/main" id="{A307A885-8A1D-3E21-D0D8-F394DBA50F30}"/>
              </a:ext>
            </a:extLst>
          </p:cNvPr>
          <p:cNvGrpSpPr/>
          <p:nvPr/>
        </p:nvGrpSpPr>
        <p:grpSpPr>
          <a:xfrm>
            <a:off x="7669565" y="3390279"/>
            <a:ext cx="1770036" cy="544950"/>
            <a:chOff x="10802433" y="2300098"/>
            <a:chExt cx="1605255" cy="544950"/>
          </a:xfrm>
        </p:grpSpPr>
        <p:sp>
          <p:nvSpPr>
            <p:cNvPr id="25" name="箭號: 向右 24">
              <a:extLst>
                <a:ext uri="{FF2B5EF4-FFF2-40B4-BE49-F238E27FC236}">
                  <a16:creationId xmlns:a16="http://schemas.microsoft.com/office/drawing/2014/main" id="{32AB2E8E-EBE6-2847-5774-2D5A20FD76A0}"/>
                </a:ext>
              </a:extLst>
            </p:cNvPr>
            <p:cNvSpPr/>
            <p:nvPr/>
          </p:nvSpPr>
          <p:spPr>
            <a:xfrm>
              <a:off x="10864796" y="2527225"/>
              <a:ext cx="1513910" cy="317823"/>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E8D950F9-5909-478B-A8D0-F25B627DBEC1}"/>
                    </a:ext>
                  </a:extLst>
                </p:cNvPr>
                <p:cNvSpPr txBox="1"/>
                <p:nvPr/>
              </p:nvSpPr>
              <p:spPr>
                <a:xfrm>
                  <a:off x="10802433" y="2300098"/>
                  <a:ext cx="1605255" cy="246221"/>
                </a:xfrm>
                <a:prstGeom prst="rect">
                  <a:avLst/>
                </a:prstGeom>
                <a:noFill/>
              </p:spPr>
              <p:txBody>
                <a:bodyPr wrap="none" rtlCol="0">
                  <a:spAutoFit/>
                </a:bodyPr>
                <a:lstStyle/>
                <a:p>
                  <a:r>
                    <a:rPr lang="en-US" altLang="zh-TW" sz="1000" dirty="0"/>
                    <a:t>e</a:t>
                  </a:r>
                  <a:r>
                    <a:rPr lang="en-US" altLang="zh-TW" sz="1000" baseline="30000" dirty="0" err="1"/>
                    <a:t>j</a:t>
                  </a:r>
                  <a:r>
                    <a:rPr lang="en-US" altLang="zh-TW" sz="1000" baseline="30000" dirty="0">
                      <a:ea typeface="Cambria Math" panose="02040503050406030204" pitchFamily="18" charset="0"/>
                    </a:rPr>
                    <a:t> </a:t>
                  </a:r>
                  <a14:m>
                    <m:oMath xmlns:m="http://schemas.openxmlformats.org/officeDocument/2006/math">
                      <m:r>
                        <a:rPr lang="en-US" altLang="zh-TW" sz="1000" i="1" baseline="30000">
                          <a:latin typeface="Cambria Math" panose="02040503050406030204" pitchFamily="18" charset="0"/>
                          <a:ea typeface="Cambria Math" panose="02040503050406030204" pitchFamily="18" charset="0"/>
                        </a:rPr>
                        <m:t>∅ </m:t>
                      </m:r>
                    </m:oMath>
                  </a14:m>
                  <a:r>
                    <a:rPr lang="en-US" altLang="zh-TW" sz="1000" dirty="0"/>
                    <a:t>|HH⟩</a:t>
                  </a:r>
                  <a:r>
                    <a:rPr lang="en-US" altLang="zh-TW" sz="1000" baseline="-25000" dirty="0"/>
                    <a:t> 1570 </a:t>
                  </a:r>
                  <a:r>
                    <a:rPr lang="en-US" altLang="zh-TW" sz="1000" dirty="0"/>
                    <a:t>+ |VV⟩</a:t>
                  </a:r>
                  <a:r>
                    <a:rPr lang="en-US" altLang="zh-TW" sz="1000" baseline="-25000" dirty="0"/>
                    <a:t> 1570</a:t>
                  </a:r>
                  <a:r>
                    <a:rPr lang="en-US" altLang="zh-TW" sz="1000" dirty="0"/>
                    <a:t> +Pump</a:t>
                  </a:r>
                </a:p>
              </p:txBody>
            </p:sp>
          </mc:Choice>
          <mc:Fallback xmlns="">
            <p:sp>
              <p:nvSpPr>
                <p:cNvPr id="26" name="文字方塊 25">
                  <a:extLst>
                    <a:ext uri="{FF2B5EF4-FFF2-40B4-BE49-F238E27FC236}">
                      <a16:creationId xmlns:a16="http://schemas.microsoft.com/office/drawing/2014/main" id="{E8D950F9-5909-478B-A8D0-F25B627DBEC1}"/>
                    </a:ext>
                  </a:extLst>
                </p:cNvPr>
                <p:cNvSpPr txBox="1">
                  <a:spLocks noRot="1" noChangeAspect="1" noMove="1" noResize="1" noEditPoints="1" noAdjustHandles="1" noChangeArrowheads="1" noChangeShapeType="1" noTextEdit="1"/>
                </p:cNvSpPr>
                <p:nvPr/>
              </p:nvSpPr>
              <p:spPr>
                <a:xfrm>
                  <a:off x="10802433" y="2300098"/>
                  <a:ext cx="1605255" cy="246221"/>
                </a:xfrm>
                <a:prstGeom prst="rect">
                  <a:avLst/>
                </a:prstGeom>
                <a:blipFill>
                  <a:blip r:embed="rId4"/>
                  <a:stretch>
                    <a:fillRect b="-14634"/>
                  </a:stretch>
                </a:blipFill>
              </p:spPr>
              <p:txBody>
                <a:bodyPr/>
                <a:lstStyle/>
                <a:p>
                  <a:r>
                    <a:rPr lang="zh-TW" altLang="en-US">
                      <a:noFill/>
                    </a:rPr>
                    <a:t> </a:t>
                  </a:r>
                </a:p>
              </p:txBody>
            </p:sp>
          </mc:Fallback>
        </mc:AlternateContent>
      </p:grpSp>
      <p:grpSp>
        <p:nvGrpSpPr>
          <p:cNvPr id="27" name="群組 26">
            <a:extLst>
              <a:ext uri="{FF2B5EF4-FFF2-40B4-BE49-F238E27FC236}">
                <a16:creationId xmlns:a16="http://schemas.microsoft.com/office/drawing/2014/main" id="{1F189E85-E2A2-0A51-35CD-EC498A083CA4}"/>
              </a:ext>
            </a:extLst>
          </p:cNvPr>
          <p:cNvGrpSpPr/>
          <p:nvPr/>
        </p:nvGrpSpPr>
        <p:grpSpPr>
          <a:xfrm>
            <a:off x="10425585" y="3408968"/>
            <a:ext cx="1676464" cy="507891"/>
            <a:chOff x="10484669" y="5076767"/>
            <a:chExt cx="1676464" cy="507891"/>
          </a:xfrm>
        </p:grpSpPr>
        <p:sp>
          <p:nvSpPr>
            <p:cNvPr id="28" name="箭號: 向右 27">
              <a:extLst>
                <a:ext uri="{FF2B5EF4-FFF2-40B4-BE49-F238E27FC236}">
                  <a16:creationId xmlns:a16="http://schemas.microsoft.com/office/drawing/2014/main" id="{4E03C53A-187E-18A8-13B3-5BF7514C1C15}"/>
                </a:ext>
              </a:extLst>
            </p:cNvPr>
            <p:cNvSpPr/>
            <p:nvPr/>
          </p:nvSpPr>
          <p:spPr>
            <a:xfrm>
              <a:off x="10484669" y="5309465"/>
              <a:ext cx="1676464" cy="275193"/>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923DFA74-490A-1225-9C58-2B324A0D0C42}"/>
                    </a:ext>
                  </a:extLst>
                </p:cNvPr>
                <p:cNvSpPr txBox="1"/>
                <p:nvPr/>
              </p:nvSpPr>
              <p:spPr>
                <a:xfrm>
                  <a:off x="10493626" y="5076767"/>
                  <a:ext cx="1374094" cy="246221"/>
                </a:xfrm>
                <a:prstGeom prst="rect">
                  <a:avLst/>
                </a:prstGeom>
                <a:noFill/>
              </p:spPr>
              <p:txBody>
                <a:bodyPr wrap="none" rtlCol="0">
                  <a:spAutoFit/>
                </a:bodyPr>
                <a:lstStyle/>
                <a:p>
                  <a:r>
                    <a:rPr lang="en-US" altLang="zh-TW" sz="1000" dirty="0"/>
                    <a:t>e</a:t>
                  </a:r>
                  <a:r>
                    <a:rPr lang="en-US" altLang="zh-TW" sz="1000" baseline="30000" dirty="0" err="1"/>
                    <a:t>j</a:t>
                  </a:r>
                  <a:r>
                    <a:rPr lang="en-US" altLang="zh-TW" sz="1000" baseline="30000" dirty="0">
                      <a:ea typeface="Cambria Math" panose="02040503050406030204" pitchFamily="18" charset="0"/>
                    </a:rPr>
                    <a:t> </a:t>
                  </a:r>
                  <a14:m>
                    <m:oMath xmlns:m="http://schemas.openxmlformats.org/officeDocument/2006/math">
                      <m:r>
                        <a:rPr lang="en-US" altLang="zh-TW" sz="1000" i="1" baseline="30000">
                          <a:latin typeface="Cambria Math" panose="02040503050406030204" pitchFamily="18" charset="0"/>
                          <a:ea typeface="Cambria Math" panose="02040503050406030204" pitchFamily="18" charset="0"/>
                        </a:rPr>
                        <m:t>∅ </m:t>
                      </m:r>
                    </m:oMath>
                  </a14:m>
                  <a:r>
                    <a:rPr lang="en-US" altLang="zh-TW" sz="1000" dirty="0"/>
                    <a:t>|HH⟩</a:t>
                  </a:r>
                  <a:r>
                    <a:rPr lang="en-US" altLang="zh-TW" sz="1000" baseline="-25000" dirty="0"/>
                    <a:t> 1570 </a:t>
                  </a:r>
                  <a:r>
                    <a:rPr lang="en-US" altLang="zh-TW" sz="1000" dirty="0"/>
                    <a:t>+ |VV⟩</a:t>
                  </a:r>
                  <a:r>
                    <a:rPr lang="en-US" altLang="zh-TW" sz="1000" baseline="-25000" dirty="0"/>
                    <a:t> 1570</a:t>
                  </a:r>
                  <a:endParaRPr lang="en-US" altLang="zh-TW" sz="1000" dirty="0"/>
                </a:p>
              </p:txBody>
            </p:sp>
          </mc:Choice>
          <mc:Fallback xmlns="">
            <p:sp>
              <p:nvSpPr>
                <p:cNvPr id="29" name="文字方塊 28">
                  <a:extLst>
                    <a:ext uri="{FF2B5EF4-FFF2-40B4-BE49-F238E27FC236}">
                      <a16:creationId xmlns:a16="http://schemas.microsoft.com/office/drawing/2014/main" id="{923DFA74-490A-1225-9C58-2B324A0D0C42}"/>
                    </a:ext>
                  </a:extLst>
                </p:cNvPr>
                <p:cNvSpPr txBox="1">
                  <a:spLocks noRot="1" noChangeAspect="1" noMove="1" noResize="1" noEditPoints="1" noAdjustHandles="1" noChangeArrowheads="1" noChangeShapeType="1" noTextEdit="1"/>
                </p:cNvSpPr>
                <p:nvPr/>
              </p:nvSpPr>
              <p:spPr>
                <a:xfrm>
                  <a:off x="10493626" y="5076767"/>
                  <a:ext cx="1374094" cy="246221"/>
                </a:xfrm>
                <a:prstGeom prst="rect">
                  <a:avLst/>
                </a:prstGeom>
                <a:blipFill>
                  <a:blip r:embed="rId5"/>
                  <a:stretch>
                    <a:fillRect b="-14634"/>
                  </a:stretch>
                </a:blipFill>
              </p:spPr>
              <p:txBody>
                <a:bodyPr/>
                <a:lstStyle/>
                <a:p>
                  <a:r>
                    <a:rPr lang="zh-TW" altLang="en-US">
                      <a:noFill/>
                    </a:rPr>
                    <a:t> </a:t>
                  </a:r>
                </a:p>
              </p:txBody>
            </p:sp>
          </mc:Fallback>
        </mc:AlternateContent>
      </p:grpSp>
      <p:sp>
        <p:nvSpPr>
          <p:cNvPr id="30" name="矩形 29">
            <a:extLst>
              <a:ext uri="{FF2B5EF4-FFF2-40B4-BE49-F238E27FC236}">
                <a16:creationId xmlns:a16="http://schemas.microsoft.com/office/drawing/2014/main" id="{7A232C73-F6F9-AD5B-7CD3-115403F3FEA8}"/>
              </a:ext>
            </a:extLst>
          </p:cNvPr>
          <p:cNvSpPr/>
          <p:nvPr/>
        </p:nvSpPr>
        <p:spPr>
          <a:xfrm rot="18508648" flipV="1">
            <a:off x="10367430" y="3521308"/>
            <a:ext cx="411344" cy="4571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3628868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10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Objective</a:t>
            </a:r>
            <a:endParaRPr lang="zh-TW" altLang="en-US" b="1"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0039351" y="6356352"/>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14</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grpSp>
        <p:nvGrpSpPr>
          <p:cNvPr id="86" name="群組 85">
            <a:extLst>
              <a:ext uri="{FF2B5EF4-FFF2-40B4-BE49-F238E27FC236}">
                <a16:creationId xmlns:a16="http://schemas.microsoft.com/office/drawing/2014/main" id="{A40FBE4A-7A06-038D-356F-E691893841AA}"/>
              </a:ext>
            </a:extLst>
          </p:cNvPr>
          <p:cNvGrpSpPr/>
          <p:nvPr/>
        </p:nvGrpSpPr>
        <p:grpSpPr>
          <a:xfrm>
            <a:off x="2862584" y="4330974"/>
            <a:ext cx="1755678" cy="736664"/>
            <a:chOff x="1748077" y="3079921"/>
            <a:chExt cx="1755678" cy="736664"/>
          </a:xfrm>
        </p:grpSpPr>
        <p:sp>
          <p:nvSpPr>
            <p:cNvPr id="78" name="左大括弧 77">
              <a:extLst>
                <a:ext uri="{FF2B5EF4-FFF2-40B4-BE49-F238E27FC236}">
                  <a16:creationId xmlns:a16="http://schemas.microsoft.com/office/drawing/2014/main" id="{D27E4118-1092-E5DE-ED03-3AE49E207554}"/>
                </a:ext>
              </a:extLst>
            </p:cNvPr>
            <p:cNvSpPr/>
            <p:nvPr/>
          </p:nvSpPr>
          <p:spPr>
            <a:xfrm rot="16200000">
              <a:off x="2339692" y="2488306"/>
              <a:ext cx="401957" cy="1585187"/>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sp>
          <p:nvSpPr>
            <p:cNvPr id="82" name="文字方塊 81">
              <a:extLst>
                <a:ext uri="{FF2B5EF4-FFF2-40B4-BE49-F238E27FC236}">
                  <a16:creationId xmlns:a16="http://schemas.microsoft.com/office/drawing/2014/main" id="{A3208C3D-0083-985B-A04E-E72C42B0DA7F}"/>
                </a:ext>
              </a:extLst>
            </p:cNvPr>
            <p:cNvSpPr txBox="1"/>
            <p:nvPr/>
          </p:nvSpPr>
          <p:spPr>
            <a:xfrm>
              <a:off x="2112027" y="3447253"/>
              <a:ext cx="1391728" cy="369332"/>
            </a:xfrm>
            <a:prstGeom prst="rect">
              <a:avLst/>
            </a:prstGeom>
            <a:noFill/>
          </p:spPr>
          <p:txBody>
            <a:bodyPr wrap="none" rtlCol="0">
              <a:spAutoFit/>
            </a:bodyPr>
            <a:lstStyle/>
            <a:p>
              <a:r>
                <a:rPr lang="en-US" altLang="zh-TW" dirty="0"/>
                <a:t>SPDC</a:t>
              </a:r>
              <a:r>
                <a:rPr lang="en-US" altLang="zh-TW" baseline="-25000" dirty="0"/>
                <a:t>type0(1cm)</a:t>
              </a:r>
              <a:endParaRPr lang="zh-TW" altLang="en-US" baseline="-25000" dirty="0"/>
            </a:p>
          </p:txBody>
        </p:sp>
      </p:grpSp>
      <p:grpSp>
        <p:nvGrpSpPr>
          <p:cNvPr id="88" name="群組 87">
            <a:extLst>
              <a:ext uri="{FF2B5EF4-FFF2-40B4-BE49-F238E27FC236}">
                <a16:creationId xmlns:a16="http://schemas.microsoft.com/office/drawing/2014/main" id="{0ECC9EF4-A7FF-821C-B73C-4E878D54F6F0}"/>
              </a:ext>
            </a:extLst>
          </p:cNvPr>
          <p:cNvGrpSpPr/>
          <p:nvPr/>
        </p:nvGrpSpPr>
        <p:grpSpPr>
          <a:xfrm>
            <a:off x="6061827" y="4311291"/>
            <a:ext cx="1662005" cy="774029"/>
            <a:chOff x="4953259" y="3078852"/>
            <a:chExt cx="1662005" cy="774029"/>
          </a:xfrm>
        </p:grpSpPr>
        <p:sp>
          <p:nvSpPr>
            <p:cNvPr id="79" name="左大括弧 78">
              <a:extLst>
                <a:ext uri="{FF2B5EF4-FFF2-40B4-BE49-F238E27FC236}">
                  <a16:creationId xmlns:a16="http://schemas.microsoft.com/office/drawing/2014/main" id="{BEA997C8-D4DA-249F-EA1E-454710297D9A}"/>
                </a:ext>
              </a:extLst>
            </p:cNvPr>
            <p:cNvSpPr/>
            <p:nvPr/>
          </p:nvSpPr>
          <p:spPr>
            <a:xfrm rot="16200000">
              <a:off x="5544874" y="2487237"/>
              <a:ext cx="401957" cy="1585187"/>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sp>
          <p:nvSpPr>
            <p:cNvPr id="83" name="文字方塊 82">
              <a:extLst>
                <a:ext uri="{FF2B5EF4-FFF2-40B4-BE49-F238E27FC236}">
                  <a16:creationId xmlns:a16="http://schemas.microsoft.com/office/drawing/2014/main" id="{C573487F-E807-CC92-83FA-D44175482790}"/>
                </a:ext>
              </a:extLst>
            </p:cNvPr>
            <p:cNvSpPr txBox="1"/>
            <p:nvPr/>
          </p:nvSpPr>
          <p:spPr>
            <a:xfrm>
              <a:off x="5223536" y="3483549"/>
              <a:ext cx="1391728" cy="369332"/>
            </a:xfrm>
            <a:prstGeom prst="rect">
              <a:avLst/>
            </a:prstGeom>
            <a:noFill/>
          </p:spPr>
          <p:txBody>
            <a:bodyPr wrap="none" rtlCol="0">
              <a:spAutoFit/>
            </a:bodyPr>
            <a:lstStyle/>
            <a:p>
              <a:r>
                <a:rPr lang="en-US" altLang="zh-TW" dirty="0"/>
                <a:t>SPDC</a:t>
              </a:r>
              <a:r>
                <a:rPr lang="en-US" altLang="zh-TW" baseline="-25000" dirty="0"/>
                <a:t>type0(1cm)</a:t>
              </a:r>
              <a:endParaRPr lang="zh-TW" altLang="en-US" baseline="-25000" dirty="0"/>
            </a:p>
          </p:txBody>
        </p:sp>
      </p:grpSp>
      <p:grpSp>
        <p:nvGrpSpPr>
          <p:cNvPr id="87" name="群組 86">
            <a:extLst>
              <a:ext uri="{FF2B5EF4-FFF2-40B4-BE49-F238E27FC236}">
                <a16:creationId xmlns:a16="http://schemas.microsoft.com/office/drawing/2014/main" id="{0E57B996-5BB3-8C7B-74F0-22F70682F9AA}"/>
              </a:ext>
            </a:extLst>
          </p:cNvPr>
          <p:cNvGrpSpPr/>
          <p:nvPr/>
        </p:nvGrpSpPr>
        <p:grpSpPr>
          <a:xfrm>
            <a:off x="4455181" y="4330323"/>
            <a:ext cx="1841776" cy="752774"/>
            <a:chOff x="3356689" y="3057825"/>
            <a:chExt cx="1841776" cy="752774"/>
          </a:xfrm>
        </p:grpSpPr>
        <p:sp>
          <p:nvSpPr>
            <p:cNvPr id="80" name="左大括弧 79">
              <a:extLst>
                <a:ext uri="{FF2B5EF4-FFF2-40B4-BE49-F238E27FC236}">
                  <a16:creationId xmlns:a16="http://schemas.microsoft.com/office/drawing/2014/main" id="{1EC118FD-A6E9-3EAD-80CB-2FC1DAE30826}"/>
                </a:ext>
              </a:extLst>
            </p:cNvPr>
            <p:cNvSpPr/>
            <p:nvPr/>
          </p:nvSpPr>
          <p:spPr>
            <a:xfrm rot="16200000">
              <a:off x="3948304" y="2466210"/>
              <a:ext cx="401957" cy="1585187"/>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sp>
          <p:nvSpPr>
            <p:cNvPr id="84" name="文字方塊 83">
              <a:extLst>
                <a:ext uri="{FF2B5EF4-FFF2-40B4-BE49-F238E27FC236}">
                  <a16:creationId xmlns:a16="http://schemas.microsoft.com/office/drawing/2014/main" id="{FA292BB0-11E1-EDBA-C905-23E6DE1C367B}"/>
                </a:ext>
              </a:extLst>
            </p:cNvPr>
            <p:cNvSpPr txBox="1"/>
            <p:nvPr/>
          </p:nvSpPr>
          <p:spPr>
            <a:xfrm>
              <a:off x="3603541" y="3441267"/>
              <a:ext cx="1594924" cy="369332"/>
            </a:xfrm>
            <a:prstGeom prst="rect">
              <a:avLst/>
            </a:prstGeom>
            <a:noFill/>
          </p:spPr>
          <p:txBody>
            <a:bodyPr wrap="none" rtlCol="0">
              <a:spAutoFit/>
            </a:bodyPr>
            <a:lstStyle/>
            <a:p>
              <a:r>
                <a:rPr lang="en-US" altLang="zh-TW" dirty="0" err="1"/>
                <a:t>EOPMC</a:t>
              </a:r>
              <a:r>
                <a:rPr lang="en-US" altLang="zh-TW" baseline="-25000" dirty="0" err="1"/>
                <a:t>appln</a:t>
              </a:r>
              <a:r>
                <a:rPr lang="en-US" altLang="zh-TW" baseline="-25000" dirty="0"/>
                <a:t>(1cm)</a:t>
              </a:r>
              <a:endParaRPr lang="zh-TW" altLang="en-US" baseline="-25000" dirty="0"/>
            </a:p>
          </p:txBody>
        </p:sp>
      </p:grpSp>
      <p:grpSp>
        <p:nvGrpSpPr>
          <p:cNvPr id="89" name="群組 88">
            <a:extLst>
              <a:ext uri="{FF2B5EF4-FFF2-40B4-BE49-F238E27FC236}">
                <a16:creationId xmlns:a16="http://schemas.microsoft.com/office/drawing/2014/main" id="{347010C7-22E3-62D1-1E78-04F47A644FA1}"/>
              </a:ext>
            </a:extLst>
          </p:cNvPr>
          <p:cNvGrpSpPr/>
          <p:nvPr/>
        </p:nvGrpSpPr>
        <p:grpSpPr>
          <a:xfrm>
            <a:off x="7640410" y="4305294"/>
            <a:ext cx="1188945" cy="750719"/>
            <a:chOff x="6543044" y="3099422"/>
            <a:chExt cx="1188945" cy="750719"/>
          </a:xfrm>
        </p:grpSpPr>
        <p:sp>
          <p:nvSpPr>
            <p:cNvPr id="81" name="左大括弧 80">
              <a:extLst>
                <a:ext uri="{FF2B5EF4-FFF2-40B4-BE49-F238E27FC236}">
                  <a16:creationId xmlns:a16="http://schemas.microsoft.com/office/drawing/2014/main" id="{A585A748-0A25-04DE-714B-616326F359B2}"/>
                </a:ext>
              </a:extLst>
            </p:cNvPr>
            <p:cNvSpPr/>
            <p:nvPr/>
          </p:nvSpPr>
          <p:spPr>
            <a:xfrm rot="16200000">
              <a:off x="6811373" y="2831093"/>
              <a:ext cx="401957" cy="938615"/>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sp>
          <p:nvSpPr>
            <p:cNvPr id="85" name="文字方塊 84">
              <a:extLst>
                <a:ext uri="{FF2B5EF4-FFF2-40B4-BE49-F238E27FC236}">
                  <a16:creationId xmlns:a16="http://schemas.microsoft.com/office/drawing/2014/main" id="{A212DB4A-29DD-3FB8-91F1-E3ECB9352948}"/>
                </a:ext>
              </a:extLst>
            </p:cNvPr>
            <p:cNvSpPr txBox="1"/>
            <p:nvPr/>
          </p:nvSpPr>
          <p:spPr>
            <a:xfrm>
              <a:off x="6808723" y="3480809"/>
              <a:ext cx="923266" cy="369332"/>
            </a:xfrm>
            <a:prstGeom prst="rect">
              <a:avLst/>
            </a:prstGeom>
            <a:noFill/>
          </p:spPr>
          <p:txBody>
            <a:bodyPr wrap="none" rtlCol="0">
              <a:spAutoFit/>
            </a:bodyPr>
            <a:lstStyle/>
            <a:p>
              <a:r>
                <a:rPr lang="en-US" altLang="zh-TW" dirty="0"/>
                <a:t>EO</a:t>
              </a:r>
              <a:r>
                <a:rPr lang="en-US" altLang="zh-TW" baseline="-25000" dirty="0"/>
                <a:t>(0.6cm)</a:t>
              </a:r>
              <a:endParaRPr lang="zh-TW" altLang="en-US" baseline="-25000" dirty="0"/>
            </a:p>
          </p:txBody>
        </p:sp>
      </p:grpSp>
      <p:grpSp>
        <p:nvGrpSpPr>
          <p:cNvPr id="187" name="群組 186">
            <a:extLst>
              <a:ext uri="{FF2B5EF4-FFF2-40B4-BE49-F238E27FC236}">
                <a16:creationId xmlns:a16="http://schemas.microsoft.com/office/drawing/2014/main" id="{643C5346-3317-062F-DF84-0F382BC0F762}"/>
              </a:ext>
            </a:extLst>
          </p:cNvPr>
          <p:cNvGrpSpPr/>
          <p:nvPr/>
        </p:nvGrpSpPr>
        <p:grpSpPr>
          <a:xfrm>
            <a:off x="2850294" y="2714539"/>
            <a:ext cx="1597732" cy="1615784"/>
            <a:chOff x="1547796" y="4590564"/>
            <a:chExt cx="1597732" cy="1615784"/>
          </a:xfrm>
        </p:grpSpPr>
        <p:grpSp>
          <p:nvGrpSpPr>
            <p:cNvPr id="6" name="群組 5">
              <a:extLst>
                <a:ext uri="{FF2B5EF4-FFF2-40B4-BE49-F238E27FC236}">
                  <a16:creationId xmlns:a16="http://schemas.microsoft.com/office/drawing/2014/main" id="{D20ED634-A613-01A6-71CF-5FF0C56811B3}"/>
                </a:ext>
              </a:extLst>
            </p:cNvPr>
            <p:cNvGrpSpPr/>
            <p:nvPr/>
          </p:nvGrpSpPr>
          <p:grpSpPr>
            <a:xfrm>
              <a:off x="1547796" y="4590564"/>
              <a:ext cx="1597732" cy="1615784"/>
              <a:chOff x="7755536" y="4682354"/>
              <a:chExt cx="1539881" cy="1413646"/>
            </a:xfrm>
          </p:grpSpPr>
          <p:grpSp>
            <p:nvGrpSpPr>
              <p:cNvPr id="75" name="群組 74">
                <a:extLst>
                  <a:ext uri="{FF2B5EF4-FFF2-40B4-BE49-F238E27FC236}">
                    <a16:creationId xmlns:a16="http://schemas.microsoft.com/office/drawing/2014/main" id="{4C9670E7-88D1-9077-32E5-2F916CB65BD6}"/>
                  </a:ext>
                </a:extLst>
              </p:cNvPr>
              <p:cNvGrpSpPr/>
              <p:nvPr/>
            </p:nvGrpSpPr>
            <p:grpSpPr>
              <a:xfrm>
                <a:off x="7755536" y="4682354"/>
                <a:ext cx="382023" cy="1413646"/>
                <a:chOff x="7755536" y="4682354"/>
                <a:chExt cx="382023" cy="1413646"/>
              </a:xfrm>
            </p:grpSpPr>
            <p:sp>
              <p:nvSpPr>
                <p:cNvPr id="98" name="矩形 97">
                  <a:extLst>
                    <a:ext uri="{FF2B5EF4-FFF2-40B4-BE49-F238E27FC236}">
                      <a16:creationId xmlns:a16="http://schemas.microsoft.com/office/drawing/2014/main" id="{D4714103-9281-C4A3-C7EC-0DB8E8A67DCE}"/>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9" name="矩形 98">
                  <a:extLst>
                    <a:ext uri="{FF2B5EF4-FFF2-40B4-BE49-F238E27FC236}">
                      <a16:creationId xmlns:a16="http://schemas.microsoft.com/office/drawing/2014/main" id="{FC4D2F9A-C88B-4525-8396-2FC97F770CE7}"/>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76" name="群組 75">
                <a:extLst>
                  <a:ext uri="{FF2B5EF4-FFF2-40B4-BE49-F238E27FC236}">
                    <a16:creationId xmlns:a16="http://schemas.microsoft.com/office/drawing/2014/main" id="{9A14E843-2DE4-0EB8-D374-E3F247BB2DCF}"/>
                  </a:ext>
                </a:extLst>
              </p:cNvPr>
              <p:cNvGrpSpPr/>
              <p:nvPr/>
            </p:nvGrpSpPr>
            <p:grpSpPr>
              <a:xfrm>
                <a:off x="8136791" y="4682354"/>
                <a:ext cx="382023" cy="1413646"/>
                <a:chOff x="7755536" y="4682354"/>
                <a:chExt cx="382023" cy="1413646"/>
              </a:xfrm>
            </p:grpSpPr>
            <p:sp>
              <p:nvSpPr>
                <p:cNvPr id="96" name="矩形 95">
                  <a:extLst>
                    <a:ext uri="{FF2B5EF4-FFF2-40B4-BE49-F238E27FC236}">
                      <a16:creationId xmlns:a16="http://schemas.microsoft.com/office/drawing/2014/main" id="{5E1578CD-C5A7-F61E-F9F1-382870E0FE40}"/>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7" name="矩形 96">
                  <a:extLst>
                    <a:ext uri="{FF2B5EF4-FFF2-40B4-BE49-F238E27FC236}">
                      <a16:creationId xmlns:a16="http://schemas.microsoft.com/office/drawing/2014/main" id="{4CA60876-376E-81D1-AAEA-3CA13E2F961A}"/>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90" name="群組 89">
                <a:extLst>
                  <a:ext uri="{FF2B5EF4-FFF2-40B4-BE49-F238E27FC236}">
                    <a16:creationId xmlns:a16="http://schemas.microsoft.com/office/drawing/2014/main" id="{3DB5E330-CB58-A26E-2E7E-CD90AE737277}"/>
                  </a:ext>
                </a:extLst>
              </p:cNvPr>
              <p:cNvGrpSpPr/>
              <p:nvPr/>
            </p:nvGrpSpPr>
            <p:grpSpPr>
              <a:xfrm>
                <a:off x="8529017" y="4682354"/>
                <a:ext cx="382023" cy="1413646"/>
                <a:chOff x="7755536" y="4682354"/>
                <a:chExt cx="382023" cy="1413646"/>
              </a:xfrm>
            </p:grpSpPr>
            <p:sp>
              <p:nvSpPr>
                <p:cNvPr id="94" name="矩形 93">
                  <a:extLst>
                    <a:ext uri="{FF2B5EF4-FFF2-40B4-BE49-F238E27FC236}">
                      <a16:creationId xmlns:a16="http://schemas.microsoft.com/office/drawing/2014/main" id="{B5F65E98-E9A7-2825-FA77-D4ACF3B8C467}"/>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5" name="矩形 94">
                  <a:extLst>
                    <a:ext uri="{FF2B5EF4-FFF2-40B4-BE49-F238E27FC236}">
                      <a16:creationId xmlns:a16="http://schemas.microsoft.com/office/drawing/2014/main" id="{87542D68-2A60-1ED7-7BA1-26A60BEF53F9}"/>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91" name="群組 90">
                <a:extLst>
                  <a:ext uri="{FF2B5EF4-FFF2-40B4-BE49-F238E27FC236}">
                    <a16:creationId xmlns:a16="http://schemas.microsoft.com/office/drawing/2014/main" id="{88F7A957-93F0-20FC-0CC2-F1D6F36ACB45}"/>
                  </a:ext>
                </a:extLst>
              </p:cNvPr>
              <p:cNvGrpSpPr/>
              <p:nvPr/>
            </p:nvGrpSpPr>
            <p:grpSpPr>
              <a:xfrm>
                <a:off x="8913394" y="4682354"/>
                <a:ext cx="382023" cy="1413646"/>
                <a:chOff x="7755536" y="4682354"/>
                <a:chExt cx="382023" cy="1413646"/>
              </a:xfrm>
            </p:grpSpPr>
            <p:sp>
              <p:nvSpPr>
                <p:cNvPr id="92" name="矩形 91">
                  <a:extLst>
                    <a:ext uri="{FF2B5EF4-FFF2-40B4-BE49-F238E27FC236}">
                      <a16:creationId xmlns:a16="http://schemas.microsoft.com/office/drawing/2014/main" id="{2E64A673-DC07-3D3E-AE38-E98B349A23B9}"/>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3" name="矩形 92">
                  <a:extLst>
                    <a:ext uri="{FF2B5EF4-FFF2-40B4-BE49-F238E27FC236}">
                      <a16:creationId xmlns:a16="http://schemas.microsoft.com/office/drawing/2014/main" id="{FE97A7C1-3165-1389-1143-F0CC799D012E}"/>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100" name="矩形 99">
              <a:extLst>
                <a:ext uri="{FF2B5EF4-FFF2-40B4-BE49-F238E27FC236}">
                  <a16:creationId xmlns:a16="http://schemas.microsoft.com/office/drawing/2014/main" id="{BD7CF3CE-D650-3CFD-83E5-03700D0E467F}"/>
                </a:ext>
              </a:extLst>
            </p:cNvPr>
            <p:cNvSpPr/>
            <p:nvPr/>
          </p:nvSpPr>
          <p:spPr>
            <a:xfrm>
              <a:off x="1560341" y="5172154"/>
              <a:ext cx="1575773" cy="262714"/>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86" name="矩形 185">
              <a:extLst>
                <a:ext uri="{FF2B5EF4-FFF2-40B4-BE49-F238E27FC236}">
                  <a16:creationId xmlns:a16="http://schemas.microsoft.com/office/drawing/2014/main" id="{D97C8FBE-0158-A447-B443-16A016E07D72}"/>
                </a:ext>
              </a:extLst>
            </p:cNvPr>
            <p:cNvSpPr/>
            <p:nvPr/>
          </p:nvSpPr>
          <p:spPr>
            <a:xfrm>
              <a:off x="1554254" y="5982936"/>
              <a:ext cx="1591274" cy="223412"/>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193" name="箭號: 向右 192">
            <a:extLst>
              <a:ext uri="{FF2B5EF4-FFF2-40B4-BE49-F238E27FC236}">
                <a16:creationId xmlns:a16="http://schemas.microsoft.com/office/drawing/2014/main" id="{22CEFEFD-2292-4A69-0F5B-E509624EC2B4}"/>
              </a:ext>
            </a:extLst>
          </p:cNvPr>
          <p:cNvSpPr/>
          <p:nvPr/>
        </p:nvSpPr>
        <p:spPr>
          <a:xfrm>
            <a:off x="2086126" y="3322236"/>
            <a:ext cx="750491" cy="275824"/>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4" name="文字方塊 193">
            <a:extLst>
              <a:ext uri="{FF2B5EF4-FFF2-40B4-BE49-F238E27FC236}">
                <a16:creationId xmlns:a16="http://schemas.microsoft.com/office/drawing/2014/main" id="{D3C38CEB-DC6A-271E-A15D-F63AAB9E194F}"/>
              </a:ext>
            </a:extLst>
          </p:cNvPr>
          <p:cNvSpPr txBox="1"/>
          <p:nvPr/>
        </p:nvSpPr>
        <p:spPr>
          <a:xfrm>
            <a:off x="2105997" y="3081275"/>
            <a:ext cx="618015" cy="307777"/>
          </a:xfrm>
          <a:prstGeom prst="rect">
            <a:avLst/>
          </a:prstGeom>
          <a:noFill/>
        </p:spPr>
        <p:txBody>
          <a:bodyPr wrap="square" rtlCol="0">
            <a:spAutoFit/>
          </a:bodyPr>
          <a:lstStyle/>
          <a:p>
            <a:r>
              <a:rPr lang="en-US" altLang="zh-TW" sz="1400" dirty="0"/>
              <a:t>Pump </a:t>
            </a:r>
            <a:endParaRPr lang="zh-TW" altLang="en-US" sz="1400" dirty="0"/>
          </a:p>
        </p:txBody>
      </p:sp>
      <p:grpSp>
        <p:nvGrpSpPr>
          <p:cNvPr id="235" name="群組 234">
            <a:extLst>
              <a:ext uri="{FF2B5EF4-FFF2-40B4-BE49-F238E27FC236}">
                <a16:creationId xmlns:a16="http://schemas.microsoft.com/office/drawing/2014/main" id="{58001093-5102-6A53-675E-2D0DC04C8F0C}"/>
              </a:ext>
            </a:extLst>
          </p:cNvPr>
          <p:cNvGrpSpPr/>
          <p:nvPr/>
        </p:nvGrpSpPr>
        <p:grpSpPr>
          <a:xfrm>
            <a:off x="4456498" y="2011968"/>
            <a:ext cx="1598437" cy="2314555"/>
            <a:chOff x="8442672" y="1013979"/>
            <a:chExt cx="1598437" cy="2314555"/>
          </a:xfrm>
        </p:grpSpPr>
        <p:grpSp>
          <p:nvGrpSpPr>
            <p:cNvPr id="236" name="群組 235">
              <a:extLst>
                <a:ext uri="{FF2B5EF4-FFF2-40B4-BE49-F238E27FC236}">
                  <a16:creationId xmlns:a16="http://schemas.microsoft.com/office/drawing/2014/main" id="{ED13C53B-29D8-7150-9BDE-8D6B369990FC}"/>
                </a:ext>
              </a:extLst>
            </p:cNvPr>
            <p:cNvGrpSpPr/>
            <p:nvPr/>
          </p:nvGrpSpPr>
          <p:grpSpPr>
            <a:xfrm>
              <a:off x="8442672" y="1013979"/>
              <a:ext cx="1598437" cy="2314554"/>
              <a:chOff x="8442672" y="1013979"/>
              <a:chExt cx="1598437" cy="2314554"/>
            </a:xfrm>
          </p:grpSpPr>
          <p:grpSp>
            <p:nvGrpSpPr>
              <p:cNvPr id="239" name="群組 238">
                <a:extLst>
                  <a:ext uri="{FF2B5EF4-FFF2-40B4-BE49-F238E27FC236}">
                    <a16:creationId xmlns:a16="http://schemas.microsoft.com/office/drawing/2014/main" id="{54406BB5-B5EE-9D1D-1E52-56602CF614B1}"/>
                  </a:ext>
                </a:extLst>
              </p:cNvPr>
              <p:cNvGrpSpPr/>
              <p:nvPr/>
            </p:nvGrpSpPr>
            <p:grpSpPr>
              <a:xfrm>
                <a:off x="8443377" y="1712749"/>
                <a:ext cx="1597732" cy="1615784"/>
                <a:chOff x="3923113" y="2277371"/>
                <a:chExt cx="1539881" cy="1413646"/>
              </a:xfrm>
            </p:grpSpPr>
            <p:grpSp>
              <p:nvGrpSpPr>
                <p:cNvPr id="294" name="群組 293">
                  <a:extLst>
                    <a:ext uri="{FF2B5EF4-FFF2-40B4-BE49-F238E27FC236}">
                      <a16:creationId xmlns:a16="http://schemas.microsoft.com/office/drawing/2014/main" id="{FC0FAA66-FEDD-AF3A-1C1C-0590DD2634A3}"/>
                    </a:ext>
                  </a:extLst>
                </p:cNvPr>
                <p:cNvGrpSpPr/>
                <p:nvPr/>
              </p:nvGrpSpPr>
              <p:grpSpPr>
                <a:xfrm>
                  <a:off x="3923113" y="2277371"/>
                  <a:ext cx="382023" cy="1413646"/>
                  <a:chOff x="7755536" y="4682354"/>
                  <a:chExt cx="382023" cy="1413646"/>
                </a:xfrm>
                <a:solidFill>
                  <a:schemeClr val="accent6">
                    <a:lumMod val="60000"/>
                    <a:lumOff val="40000"/>
                  </a:schemeClr>
                </a:solidFill>
              </p:grpSpPr>
              <p:sp>
                <p:nvSpPr>
                  <p:cNvPr id="304" name="矩形 303">
                    <a:extLst>
                      <a:ext uri="{FF2B5EF4-FFF2-40B4-BE49-F238E27FC236}">
                        <a16:creationId xmlns:a16="http://schemas.microsoft.com/office/drawing/2014/main" id="{D25B2392-EC46-7D58-6D5D-127B0E38A5A8}"/>
                      </a:ext>
                    </a:extLst>
                  </p:cNvPr>
                  <p:cNvSpPr/>
                  <p:nvPr/>
                </p:nvSpPr>
                <p:spPr>
                  <a:xfrm>
                    <a:off x="7755536"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5" name="矩形 304">
                    <a:extLst>
                      <a:ext uri="{FF2B5EF4-FFF2-40B4-BE49-F238E27FC236}">
                        <a16:creationId xmlns:a16="http://schemas.microsoft.com/office/drawing/2014/main" id="{C9E553EF-221A-3321-FC87-F4112418CEC7}"/>
                      </a:ext>
                    </a:extLst>
                  </p:cNvPr>
                  <p:cNvSpPr/>
                  <p:nvPr/>
                </p:nvSpPr>
                <p:spPr>
                  <a:xfrm>
                    <a:off x="7946547"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295" name="群組 294">
                  <a:extLst>
                    <a:ext uri="{FF2B5EF4-FFF2-40B4-BE49-F238E27FC236}">
                      <a16:creationId xmlns:a16="http://schemas.microsoft.com/office/drawing/2014/main" id="{68BE1CC3-B3EB-E89D-59AE-85E5B9A7723B}"/>
                    </a:ext>
                  </a:extLst>
                </p:cNvPr>
                <p:cNvGrpSpPr/>
                <p:nvPr/>
              </p:nvGrpSpPr>
              <p:grpSpPr>
                <a:xfrm>
                  <a:off x="4304368" y="2277371"/>
                  <a:ext cx="382023" cy="1413646"/>
                  <a:chOff x="7755536" y="4682354"/>
                  <a:chExt cx="382023" cy="1413646"/>
                </a:xfrm>
                <a:solidFill>
                  <a:schemeClr val="accent6">
                    <a:lumMod val="20000"/>
                    <a:lumOff val="80000"/>
                  </a:schemeClr>
                </a:solidFill>
              </p:grpSpPr>
              <p:sp>
                <p:nvSpPr>
                  <p:cNvPr id="302" name="矩形 301">
                    <a:extLst>
                      <a:ext uri="{FF2B5EF4-FFF2-40B4-BE49-F238E27FC236}">
                        <a16:creationId xmlns:a16="http://schemas.microsoft.com/office/drawing/2014/main" id="{1F74DE05-CD51-BA35-8858-BF9941D24233}"/>
                      </a:ext>
                    </a:extLst>
                  </p:cNvPr>
                  <p:cNvSpPr/>
                  <p:nvPr/>
                </p:nvSpPr>
                <p:spPr>
                  <a:xfrm>
                    <a:off x="7755536"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3" name="矩形 302">
                    <a:extLst>
                      <a:ext uri="{FF2B5EF4-FFF2-40B4-BE49-F238E27FC236}">
                        <a16:creationId xmlns:a16="http://schemas.microsoft.com/office/drawing/2014/main" id="{64EC3D46-E4B0-3E4A-EFA0-906C6C194617}"/>
                      </a:ext>
                    </a:extLst>
                  </p:cNvPr>
                  <p:cNvSpPr/>
                  <p:nvPr/>
                </p:nvSpPr>
                <p:spPr>
                  <a:xfrm>
                    <a:off x="7946547"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296" name="群組 295">
                  <a:extLst>
                    <a:ext uri="{FF2B5EF4-FFF2-40B4-BE49-F238E27FC236}">
                      <a16:creationId xmlns:a16="http://schemas.microsoft.com/office/drawing/2014/main" id="{D7592430-200D-A221-9627-B75263B46D65}"/>
                    </a:ext>
                  </a:extLst>
                </p:cNvPr>
                <p:cNvGrpSpPr/>
                <p:nvPr/>
              </p:nvGrpSpPr>
              <p:grpSpPr>
                <a:xfrm>
                  <a:off x="4696594" y="2277371"/>
                  <a:ext cx="382023" cy="1413646"/>
                  <a:chOff x="7755536" y="4682354"/>
                  <a:chExt cx="382023" cy="1413646"/>
                </a:xfrm>
              </p:grpSpPr>
              <p:sp>
                <p:nvSpPr>
                  <p:cNvPr id="300" name="矩形 299">
                    <a:extLst>
                      <a:ext uri="{FF2B5EF4-FFF2-40B4-BE49-F238E27FC236}">
                        <a16:creationId xmlns:a16="http://schemas.microsoft.com/office/drawing/2014/main" id="{9276A22F-19C3-09A0-6805-C45AE53D3A12}"/>
                      </a:ext>
                    </a:extLst>
                  </p:cNvPr>
                  <p:cNvSpPr/>
                  <p:nvPr/>
                </p:nvSpPr>
                <p:spPr>
                  <a:xfrm>
                    <a:off x="7755536" y="4682354"/>
                    <a:ext cx="191012" cy="1413646"/>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1" name="矩形 300">
                    <a:extLst>
                      <a:ext uri="{FF2B5EF4-FFF2-40B4-BE49-F238E27FC236}">
                        <a16:creationId xmlns:a16="http://schemas.microsoft.com/office/drawing/2014/main" id="{F197B09E-B457-0128-F12C-50F863019BA6}"/>
                      </a:ext>
                    </a:extLst>
                  </p:cNvPr>
                  <p:cNvSpPr/>
                  <p:nvPr/>
                </p:nvSpPr>
                <p:spPr>
                  <a:xfrm>
                    <a:off x="7946547" y="4682354"/>
                    <a:ext cx="191012" cy="141364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297" name="群組 296">
                  <a:extLst>
                    <a:ext uri="{FF2B5EF4-FFF2-40B4-BE49-F238E27FC236}">
                      <a16:creationId xmlns:a16="http://schemas.microsoft.com/office/drawing/2014/main" id="{1C02879F-40B5-93FC-BC56-77C9625F08E6}"/>
                    </a:ext>
                  </a:extLst>
                </p:cNvPr>
                <p:cNvGrpSpPr/>
                <p:nvPr/>
              </p:nvGrpSpPr>
              <p:grpSpPr>
                <a:xfrm>
                  <a:off x="5080971" y="2277371"/>
                  <a:ext cx="382023" cy="1413646"/>
                  <a:chOff x="7755536" y="4682354"/>
                  <a:chExt cx="382023" cy="1413646"/>
                </a:xfrm>
              </p:grpSpPr>
              <p:sp>
                <p:nvSpPr>
                  <p:cNvPr id="298" name="矩形 297">
                    <a:extLst>
                      <a:ext uri="{FF2B5EF4-FFF2-40B4-BE49-F238E27FC236}">
                        <a16:creationId xmlns:a16="http://schemas.microsoft.com/office/drawing/2014/main" id="{C14D46E3-39D2-50C7-9C73-85D52C515073}"/>
                      </a:ext>
                    </a:extLst>
                  </p:cNvPr>
                  <p:cNvSpPr/>
                  <p:nvPr/>
                </p:nvSpPr>
                <p:spPr>
                  <a:xfrm>
                    <a:off x="7755536" y="4682354"/>
                    <a:ext cx="191012" cy="141364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99" name="矩形 298">
                    <a:extLst>
                      <a:ext uri="{FF2B5EF4-FFF2-40B4-BE49-F238E27FC236}">
                        <a16:creationId xmlns:a16="http://schemas.microsoft.com/office/drawing/2014/main" id="{170A57E1-6B85-A008-45FA-C9DDC726B6EE}"/>
                      </a:ext>
                    </a:extLst>
                  </p:cNvPr>
                  <p:cNvSpPr/>
                  <p:nvPr/>
                </p:nvSpPr>
                <p:spPr>
                  <a:xfrm>
                    <a:off x="7946547" y="4682354"/>
                    <a:ext cx="191012" cy="1413646"/>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241" name="矩形 240">
                <a:extLst>
                  <a:ext uri="{FF2B5EF4-FFF2-40B4-BE49-F238E27FC236}">
                    <a16:creationId xmlns:a16="http://schemas.microsoft.com/office/drawing/2014/main" id="{D73A12A9-3B52-2037-2B74-86FD8705A04F}"/>
                  </a:ext>
                </a:extLst>
              </p:cNvPr>
              <p:cNvSpPr/>
              <p:nvPr/>
            </p:nvSpPr>
            <p:spPr>
              <a:xfrm>
                <a:off x="8453352" y="1984590"/>
                <a:ext cx="1585315"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46" name="矩形 245">
                <a:extLst>
                  <a:ext uri="{FF2B5EF4-FFF2-40B4-BE49-F238E27FC236}">
                    <a16:creationId xmlns:a16="http://schemas.microsoft.com/office/drawing/2014/main" id="{7AAD89B5-EFBD-C61A-C2BE-6DAADC5E40BF}"/>
                  </a:ext>
                </a:extLst>
              </p:cNvPr>
              <p:cNvSpPr/>
              <p:nvPr/>
            </p:nvSpPr>
            <p:spPr>
              <a:xfrm>
                <a:off x="8442672" y="2636613"/>
                <a:ext cx="1585315"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267" name="直線接點 266">
                <a:extLst>
                  <a:ext uri="{FF2B5EF4-FFF2-40B4-BE49-F238E27FC236}">
                    <a16:creationId xmlns:a16="http://schemas.microsoft.com/office/drawing/2014/main" id="{6C909218-F352-E25D-37A2-BF01D9FEC07A}"/>
                  </a:ext>
                </a:extLst>
              </p:cNvPr>
              <p:cNvCxnSpPr>
                <a:cxnSpLocks/>
              </p:cNvCxnSpPr>
              <p:nvPr/>
            </p:nvCxnSpPr>
            <p:spPr>
              <a:xfrm flipH="1" flipV="1">
                <a:off x="8509832" y="1339285"/>
                <a:ext cx="131732" cy="140986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5" name="直線接點 274">
                <a:extLst>
                  <a:ext uri="{FF2B5EF4-FFF2-40B4-BE49-F238E27FC236}">
                    <a16:creationId xmlns:a16="http://schemas.microsoft.com/office/drawing/2014/main" id="{51935ED9-E9B4-0117-0C87-3EFD2084E7DD}"/>
                  </a:ext>
                </a:extLst>
              </p:cNvPr>
              <p:cNvCxnSpPr>
                <a:cxnSpLocks/>
              </p:cNvCxnSpPr>
              <p:nvPr/>
            </p:nvCxnSpPr>
            <p:spPr>
              <a:xfrm flipH="1" flipV="1">
                <a:off x="9436018" y="1025270"/>
                <a:ext cx="101693" cy="10542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1" name="直線接點 290">
                <a:extLst>
                  <a:ext uri="{FF2B5EF4-FFF2-40B4-BE49-F238E27FC236}">
                    <a16:creationId xmlns:a16="http://schemas.microsoft.com/office/drawing/2014/main" id="{16100671-DED2-3706-7B5E-38E183869359}"/>
                  </a:ext>
                </a:extLst>
              </p:cNvPr>
              <p:cNvCxnSpPr>
                <a:cxnSpLocks/>
              </p:cNvCxnSpPr>
              <p:nvPr/>
            </p:nvCxnSpPr>
            <p:spPr>
              <a:xfrm flipV="1">
                <a:off x="8508538" y="1264686"/>
                <a:ext cx="232120" cy="8522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2" name="直線接點 291">
                <a:extLst>
                  <a:ext uri="{FF2B5EF4-FFF2-40B4-BE49-F238E27FC236}">
                    <a16:creationId xmlns:a16="http://schemas.microsoft.com/office/drawing/2014/main" id="{1AD66B2E-33C9-4BB3-E5EE-0AF56DE615FA}"/>
                  </a:ext>
                </a:extLst>
              </p:cNvPr>
              <p:cNvCxnSpPr>
                <a:cxnSpLocks/>
              </p:cNvCxnSpPr>
              <p:nvPr/>
            </p:nvCxnSpPr>
            <p:spPr>
              <a:xfrm flipH="1">
                <a:off x="9125726" y="1034920"/>
                <a:ext cx="319098" cy="1220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93" name="橢圓 292">
                <a:extLst>
                  <a:ext uri="{FF2B5EF4-FFF2-40B4-BE49-F238E27FC236}">
                    <a16:creationId xmlns:a16="http://schemas.microsoft.com/office/drawing/2014/main" id="{614B2AC3-0DA8-D030-65EF-7AD59D024A2F}"/>
                  </a:ext>
                </a:extLst>
              </p:cNvPr>
              <p:cNvSpPr/>
              <p:nvPr/>
            </p:nvSpPr>
            <p:spPr>
              <a:xfrm>
                <a:off x="8736284" y="1013979"/>
                <a:ext cx="382626" cy="378964"/>
              </a:xfrm>
              <a:prstGeom prst="ellipse">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solidFill>
                      <a:schemeClr val="tx1"/>
                    </a:solidFill>
                  </a:rPr>
                  <a:t>V</a:t>
                </a:r>
                <a:endParaRPr lang="zh-TW" altLang="en-US" b="1" dirty="0">
                  <a:solidFill>
                    <a:schemeClr val="tx1"/>
                  </a:solidFill>
                </a:endParaRPr>
              </a:p>
            </p:txBody>
          </p:sp>
        </p:grpSp>
        <p:sp>
          <p:nvSpPr>
            <p:cNvPr id="237" name="矩形 236">
              <a:extLst>
                <a:ext uri="{FF2B5EF4-FFF2-40B4-BE49-F238E27FC236}">
                  <a16:creationId xmlns:a16="http://schemas.microsoft.com/office/drawing/2014/main" id="{BA284123-0556-21AF-67C0-964480CD1FCC}"/>
                </a:ext>
              </a:extLst>
            </p:cNvPr>
            <p:cNvSpPr/>
            <p:nvPr/>
          </p:nvSpPr>
          <p:spPr>
            <a:xfrm>
              <a:off x="8456889" y="3089226"/>
              <a:ext cx="1581778" cy="239308"/>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38" name="矩形 237">
              <a:extLst>
                <a:ext uri="{FF2B5EF4-FFF2-40B4-BE49-F238E27FC236}">
                  <a16:creationId xmlns:a16="http://schemas.microsoft.com/office/drawing/2014/main" id="{B88D2D2F-9625-41EF-F442-09B39E0597E9}"/>
                </a:ext>
              </a:extLst>
            </p:cNvPr>
            <p:cNvSpPr/>
            <p:nvPr/>
          </p:nvSpPr>
          <p:spPr>
            <a:xfrm>
              <a:off x="8453198" y="2328648"/>
              <a:ext cx="1577675" cy="196537"/>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nvGrpSpPr>
          <p:cNvPr id="306" name="群組 305">
            <a:extLst>
              <a:ext uri="{FF2B5EF4-FFF2-40B4-BE49-F238E27FC236}">
                <a16:creationId xmlns:a16="http://schemas.microsoft.com/office/drawing/2014/main" id="{6906D793-AF4D-BF11-CD9C-2674AED87A31}"/>
              </a:ext>
            </a:extLst>
          </p:cNvPr>
          <p:cNvGrpSpPr/>
          <p:nvPr/>
        </p:nvGrpSpPr>
        <p:grpSpPr>
          <a:xfrm>
            <a:off x="6049562" y="2707836"/>
            <a:ext cx="1597732" cy="1615786"/>
            <a:chOff x="1547796" y="4590565"/>
            <a:chExt cx="1597732" cy="1615786"/>
          </a:xfrm>
        </p:grpSpPr>
        <p:grpSp>
          <p:nvGrpSpPr>
            <p:cNvPr id="307" name="群組 306">
              <a:extLst>
                <a:ext uri="{FF2B5EF4-FFF2-40B4-BE49-F238E27FC236}">
                  <a16:creationId xmlns:a16="http://schemas.microsoft.com/office/drawing/2014/main" id="{E16FCB19-D9A4-2C95-4FA8-7A779CED8C53}"/>
                </a:ext>
              </a:extLst>
            </p:cNvPr>
            <p:cNvGrpSpPr/>
            <p:nvPr/>
          </p:nvGrpSpPr>
          <p:grpSpPr>
            <a:xfrm>
              <a:off x="1547796" y="4590565"/>
              <a:ext cx="1597732" cy="1615786"/>
              <a:chOff x="7755536" y="4682353"/>
              <a:chExt cx="1539881" cy="1413647"/>
            </a:xfrm>
          </p:grpSpPr>
          <p:grpSp>
            <p:nvGrpSpPr>
              <p:cNvPr id="310" name="群組 309">
                <a:extLst>
                  <a:ext uri="{FF2B5EF4-FFF2-40B4-BE49-F238E27FC236}">
                    <a16:creationId xmlns:a16="http://schemas.microsoft.com/office/drawing/2014/main" id="{3F9220EE-773C-2042-91E9-E686BA36FAC2}"/>
                  </a:ext>
                </a:extLst>
              </p:cNvPr>
              <p:cNvGrpSpPr/>
              <p:nvPr/>
            </p:nvGrpSpPr>
            <p:grpSpPr>
              <a:xfrm>
                <a:off x="7755536" y="4682354"/>
                <a:ext cx="382023" cy="1413646"/>
                <a:chOff x="7755536" y="4682354"/>
                <a:chExt cx="382023" cy="1413646"/>
              </a:xfrm>
            </p:grpSpPr>
            <p:sp>
              <p:nvSpPr>
                <p:cNvPr id="320" name="矩形 319">
                  <a:extLst>
                    <a:ext uri="{FF2B5EF4-FFF2-40B4-BE49-F238E27FC236}">
                      <a16:creationId xmlns:a16="http://schemas.microsoft.com/office/drawing/2014/main" id="{F9951B22-8E50-35F4-9BC1-309DE28405E9}"/>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1" name="矩形 320">
                  <a:extLst>
                    <a:ext uri="{FF2B5EF4-FFF2-40B4-BE49-F238E27FC236}">
                      <a16:creationId xmlns:a16="http://schemas.microsoft.com/office/drawing/2014/main" id="{FC3A3A17-A4AF-9B2C-891C-453EEBC580EC}"/>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11" name="群組 310">
                <a:extLst>
                  <a:ext uri="{FF2B5EF4-FFF2-40B4-BE49-F238E27FC236}">
                    <a16:creationId xmlns:a16="http://schemas.microsoft.com/office/drawing/2014/main" id="{7EF784CA-A07E-22E1-B563-0E5FD41D2FEA}"/>
                  </a:ext>
                </a:extLst>
              </p:cNvPr>
              <p:cNvGrpSpPr/>
              <p:nvPr/>
            </p:nvGrpSpPr>
            <p:grpSpPr>
              <a:xfrm>
                <a:off x="8136791" y="4682354"/>
                <a:ext cx="382023" cy="1413646"/>
                <a:chOff x="7755536" y="4682354"/>
                <a:chExt cx="382023" cy="1413646"/>
              </a:xfrm>
            </p:grpSpPr>
            <p:sp>
              <p:nvSpPr>
                <p:cNvPr id="318" name="矩形 317">
                  <a:extLst>
                    <a:ext uri="{FF2B5EF4-FFF2-40B4-BE49-F238E27FC236}">
                      <a16:creationId xmlns:a16="http://schemas.microsoft.com/office/drawing/2014/main" id="{C0F35C31-4B97-7F6A-4A15-AC43DD6BAC41}"/>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9" name="矩形 318">
                  <a:extLst>
                    <a:ext uri="{FF2B5EF4-FFF2-40B4-BE49-F238E27FC236}">
                      <a16:creationId xmlns:a16="http://schemas.microsoft.com/office/drawing/2014/main" id="{4D413EF0-D670-6919-DA86-EF299162CBE3}"/>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12" name="群組 311">
                <a:extLst>
                  <a:ext uri="{FF2B5EF4-FFF2-40B4-BE49-F238E27FC236}">
                    <a16:creationId xmlns:a16="http://schemas.microsoft.com/office/drawing/2014/main" id="{6F3EB298-81F6-5941-D21E-12BF2298F268}"/>
                  </a:ext>
                </a:extLst>
              </p:cNvPr>
              <p:cNvGrpSpPr/>
              <p:nvPr/>
            </p:nvGrpSpPr>
            <p:grpSpPr>
              <a:xfrm>
                <a:off x="8529018" y="4682353"/>
                <a:ext cx="382022" cy="1413647"/>
                <a:chOff x="7755537" y="4682353"/>
                <a:chExt cx="382022" cy="1413647"/>
              </a:xfrm>
            </p:grpSpPr>
            <p:sp>
              <p:nvSpPr>
                <p:cNvPr id="316" name="矩形 315">
                  <a:extLst>
                    <a:ext uri="{FF2B5EF4-FFF2-40B4-BE49-F238E27FC236}">
                      <a16:creationId xmlns:a16="http://schemas.microsoft.com/office/drawing/2014/main" id="{9189EDA1-FFDD-5EC9-E5EE-7CEFEDD8CD23}"/>
                    </a:ext>
                  </a:extLst>
                </p:cNvPr>
                <p:cNvSpPr/>
                <p:nvPr/>
              </p:nvSpPr>
              <p:spPr>
                <a:xfrm>
                  <a:off x="7755537" y="4682353"/>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7" name="矩形 316">
                  <a:extLst>
                    <a:ext uri="{FF2B5EF4-FFF2-40B4-BE49-F238E27FC236}">
                      <a16:creationId xmlns:a16="http://schemas.microsoft.com/office/drawing/2014/main" id="{5C7BDBDC-147A-5661-9353-7A97DDFABAC4}"/>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13" name="群組 312">
                <a:extLst>
                  <a:ext uri="{FF2B5EF4-FFF2-40B4-BE49-F238E27FC236}">
                    <a16:creationId xmlns:a16="http://schemas.microsoft.com/office/drawing/2014/main" id="{8C387FD1-D7CA-485C-0986-00E69E20BF8F}"/>
                  </a:ext>
                </a:extLst>
              </p:cNvPr>
              <p:cNvGrpSpPr/>
              <p:nvPr/>
            </p:nvGrpSpPr>
            <p:grpSpPr>
              <a:xfrm>
                <a:off x="8913394" y="4682354"/>
                <a:ext cx="382023" cy="1413646"/>
                <a:chOff x="7755536" y="4682354"/>
                <a:chExt cx="382023" cy="1413646"/>
              </a:xfrm>
            </p:grpSpPr>
            <p:sp>
              <p:nvSpPr>
                <p:cNvPr id="314" name="矩形 313">
                  <a:extLst>
                    <a:ext uri="{FF2B5EF4-FFF2-40B4-BE49-F238E27FC236}">
                      <a16:creationId xmlns:a16="http://schemas.microsoft.com/office/drawing/2014/main" id="{6E4E387E-77D6-776F-CE0C-BF95614F3511}"/>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5" name="矩形 314">
                  <a:extLst>
                    <a:ext uri="{FF2B5EF4-FFF2-40B4-BE49-F238E27FC236}">
                      <a16:creationId xmlns:a16="http://schemas.microsoft.com/office/drawing/2014/main" id="{BA5C0EDD-0953-D791-B052-92FA854CD651}"/>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308" name="矩形 307">
              <a:extLst>
                <a:ext uri="{FF2B5EF4-FFF2-40B4-BE49-F238E27FC236}">
                  <a16:creationId xmlns:a16="http://schemas.microsoft.com/office/drawing/2014/main" id="{7CE9B7CC-0DC7-8CAC-E25C-E90689E689C0}"/>
                </a:ext>
              </a:extLst>
            </p:cNvPr>
            <p:cNvSpPr/>
            <p:nvPr/>
          </p:nvSpPr>
          <p:spPr>
            <a:xfrm>
              <a:off x="1560341" y="5172154"/>
              <a:ext cx="1575773" cy="262714"/>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09" name="矩形 308">
              <a:extLst>
                <a:ext uri="{FF2B5EF4-FFF2-40B4-BE49-F238E27FC236}">
                  <a16:creationId xmlns:a16="http://schemas.microsoft.com/office/drawing/2014/main" id="{15546F46-280F-9D3D-5D14-79CF6D401B82}"/>
                </a:ext>
              </a:extLst>
            </p:cNvPr>
            <p:cNvSpPr/>
            <p:nvPr/>
          </p:nvSpPr>
          <p:spPr>
            <a:xfrm>
              <a:off x="1554254" y="5982936"/>
              <a:ext cx="1591274" cy="223412"/>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nvGrpSpPr>
          <p:cNvPr id="377" name="群組 376">
            <a:extLst>
              <a:ext uri="{FF2B5EF4-FFF2-40B4-BE49-F238E27FC236}">
                <a16:creationId xmlns:a16="http://schemas.microsoft.com/office/drawing/2014/main" id="{B8309ACC-4E37-DD5B-A21B-C1B29A527E15}"/>
              </a:ext>
            </a:extLst>
          </p:cNvPr>
          <p:cNvGrpSpPr/>
          <p:nvPr/>
        </p:nvGrpSpPr>
        <p:grpSpPr>
          <a:xfrm>
            <a:off x="7627941" y="1646847"/>
            <a:ext cx="978393" cy="2670776"/>
            <a:chOff x="9494716" y="1425376"/>
            <a:chExt cx="978393" cy="2670776"/>
          </a:xfrm>
        </p:grpSpPr>
        <p:grpSp>
          <p:nvGrpSpPr>
            <p:cNvPr id="378" name="群組 377">
              <a:extLst>
                <a:ext uri="{FF2B5EF4-FFF2-40B4-BE49-F238E27FC236}">
                  <a16:creationId xmlns:a16="http://schemas.microsoft.com/office/drawing/2014/main" id="{62CDA436-1F4A-2755-51B4-72449D79B4BB}"/>
                </a:ext>
              </a:extLst>
            </p:cNvPr>
            <p:cNvGrpSpPr/>
            <p:nvPr/>
          </p:nvGrpSpPr>
          <p:grpSpPr>
            <a:xfrm>
              <a:off x="9494716" y="1425376"/>
              <a:ext cx="978393" cy="2670776"/>
              <a:chOff x="9494716" y="1425376"/>
              <a:chExt cx="978393" cy="2670776"/>
            </a:xfrm>
          </p:grpSpPr>
          <p:sp>
            <p:nvSpPr>
              <p:cNvPr id="380" name="矩形 379">
                <a:extLst>
                  <a:ext uri="{FF2B5EF4-FFF2-40B4-BE49-F238E27FC236}">
                    <a16:creationId xmlns:a16="http://schemas.microsoft.com/office/drawing/2014/main" id="{0817E433-04B9-C487-776E-4456815221C3}"/>
                  </a:ext>
                </a:extLst>
              </p:cNvPr>
              <p:cNvSpPr/>
              <p:nvPr/>
            </p:nvSpPr>
            <p:spPr>
              <a:xfrm>
                <a:off x="9515898" y="2480154"/>
                <a:ext cx="938615" cy="1615784"/>
              </a:xfrm>
              <a:prstGeom prst="rect">
                <a:avLst/>
              </a:prstGeom>
              <a:solidFill>
                <a:srgbClr val="ECDFF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1" name="矩形 380">
                <a:extLst>
                  <a:ext uri="{FF2B5EF4-FFF2-40B4-BE49-F238E27FC236}">
                    <a16:creationId xmlns:a16="http://schemas.microsoft.com/office/drawing/2014/main" id="{4105BE5C-CA06-4E49-72C4-B6E6B4FDA2AC}"/>
                  </a:ext>
                </a:extLst>
              </p:cNvPr>
              <p:cNvSpPr/>
              <p:nvPr/>
            </p:nvSpPr>
            <p:spPr>
              <a:xfrm>
                <a:off x="9527030" y="3404018"/>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82" name="矩形 381">
                <a:extLst>
                  <a:ext uri="{FF2B5EF4-FFF2-40B4-BE49-F238E27FC236}">
                    <a16:creationId xmlns:a16="http://schemas.microsoft.com/office/drawing/2014/main" id="{5E226601-84D5-1CB2-6FFF-ED08E470BFD1}"/>
                  </a:ext>
                </a:extLst>
              </p:cNvPr>
              <p:cNvSpPr/>
              <p:nvPr/>
            </p:nvSpPr>
            <p:spPr>
              <a:xfrm>
                <a:off x="9518613" y="2756692"/>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83" name="矩形 382">
                <a:extLst>
                  <a:ext uri="{FF2B5EF4-FFF2-40B4-BE49-F238E27FC236}">
                    <a16:creationId xmlns:a16="http://schemas.microsoft.com/office/drawing/2014/main" id="{4F9B8AD3-0279-FB66-263E-C062B45DCF21}"/>
                  </a:ext>
                </a:extLst>
              </p:cNvPr>
              <p:cNvSpPr/>
              <p:nvPr/>
            </p:nvSpPr>
            <p:spPr>
              <a:xfrm>
                <a:off x="9518613" y="3070938"/>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384" name="直線接點 383">
                <a:extLst>
                  <a:ext uri="{FF2B5EF4-FFF2-40B4-BE49-F238E27FC236}">
                    <a16:creationId xmlns:a16="http://schemas.microsoft.com/office/drawing/2014/main" id="{0E762F30-E0A8-3737-CEE3-87ECDBF5F1EA}"/>
                  </a:ext>
                </a:extLst>
              </p:cNvPr>
              <p:cNvCxnSpPr>
                <a:cxnSpLocks/>
              </p:cNvCxnSpPr>
              <p:nvPr/>
            </p:nvCxnSpPr>
            <p:spPr>
              <a:xfrm flipH="1" flipV="1">
                <a:off x="9623221" y="1835345"/>
                <a:ext cx="33216" cy="138626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5" name="直線接點 384">
                <a:extLst>
                  <a:ext uri="{FF2B5EF4-FFF2-40B4-BE49-F238E27FC236}">
                    <a16:creationId xmlns:a16="http://schemas.microsoft.com/office/drawing/2014/main" id="{5DF0B335-B2DC-E0A4-0DCD-E94F48491358}"/>
                  </a:ext>
                </a:extLst>
              </p:cNvPr>
              <p:cNvCxnSpPr>
                <a:cxnSpLocks/>
              </p:cNvCxnSpPr>
              <p:nvPr/>
            </p:nvCxnSpPr>
            <p:spPr>
              <a:xfrm flipH="1" flipV="1">
                <a:off x="10265739" y="1460627"/>
                <a:ext cx="58170" cy="138626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6" name="直線接點 385">
                <a:extLst>
                  <a:ext uri="{FF2B5EF4-FFF2-40B4-BE49-F238E27FC236}">
                    <a16:creationId xmlns:a16="http://schemas.microsoft.com/office/drawing/2014/main" id="{D9843B6F-EE94-F012-144E-A3099639D01E}"/>
                  </a:ext>
                </a:extLst>
              </p:cNvPr>
              <p:cNvCxnSpPr>
                <a:cxnSpLocks/>
              </p:cNvCxnSpPr>
              <p:nvPr/>
            </p:nvCxnSpPr>
            <p:spPr>
              <a:xfrm flipV="1">
                <a:off x="9622323" y="1741331"/>
                <a:ext cx="161027" cy="10739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7" name="直線接點 386">
                <a:extLst>
                  <a:ext uri="{FF2B5EF4-FFF2-40B4-BE49-F238E27FC236}">
                    <a16:creationId xmlns:a16="http://schemas.microsoft.com/office/drawing/2014/main" id="{14A54D30-655B-EB8B-D125-5241EC1CEDA5}"/>
                  </a:ext>
                </a:extLst>
              </p:cNvPr>
              <p:cNvCxnSpPr>
                <a:cxnSpLocks/>
              </p:cNvCxnSpPr>
              <p:nvPr/>
            </p:nvCxnSpPr>
            <p:spPr>
              <a:xfrm flipH="1">
                <a:off x="10050482" y="1451767"/>
                <a:ext cx="221366" cy="1538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88" name="橢圓 387">
                <a:extLst>
                  <a:ext uri="{FF2B5EF4-FFF2-40B4-BE49-F238E27FC236}">
                    <a16:creationId xmlns:a16="http://schemas.microsoft.com/office/drawing/2014/main" id="{C76AD94F-97B0-CB02-F08E-BB77F6D35910}"/>
                  </a:ext>
                </a:extLst>
              </p:cNvPr>
              <p:cNvSpPr/>
              <p:nvPr/>
            </p:nvSpPr>
            <p:spPr>
              <a:xfrm>
                <a:off x="9780316" y="1425376"/>
                <a:ext cx="265437" cy="477591"/>
              </a:xfrm>
              <a:prstGeom prst="ellipse">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solidFill>
                      <a:schemeClr val="tx1"/>
                    </a:solidFill>
                  </a:rPr>
                  <a:t>V</a:t>
                </a:r>
                <a:endParaRPr lang="zh-TW" altLang="en-US" b="1" dirty="0">
                  <a:solidFill>
                    <a:schemeClr val="tx1"/>
                  </a:solidFill>
                </a:endParaRPr>
              </a:p>
            </p:txBody>
          </p:sp>
          <p:cxnSp>
            <p:nvCxnSpPr>
              <p:cNvPr id="389" name="直線接點 388">
                <a:extLst>
                  <a:ext uri="{FF2B5EF4-FFF2-40B4-BE49-F238E27FC236}">
                    <a16:creationId xmlns:a16="http://schemas.microsoft.com/office/drawing/2014/main" id="{603C1131-53E0-989C-B3D9-849D1A94F934}"/>
                  </a:ext>
                </a:extLst>
              </p:cNvPr>
              <p:cNvCxnSpPr>
                <a:cxnSpLocks/>
              </p:cNvCxnSpPr>
              <p:nvPr/>
            </p:nvCxnSpPr>
            <p:spPr>
              <a:xfrm flipH="1" flipV="1">
                <a:off x="10025966" y="1872909"/>
                <a:ext cx="56004" cy="163966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0" name="直線接點 389">
                <a:extLst>
                  <a:ext uri="{FF2B5EF4-FFF2-40B4-BE49-F238E27FC236}">
                    <a16:creationId xmlns:a16="http://schemas.microsoft.com/office/drawing/2014/main" id="{5330714B-4110-1EAE-DFD4-A1DAE9F287D7}"/>
                  </a:ext>
                </a:extLst>
              </p:cNvPr>
              <p:cNvCxnSpPr>
                <a:cxnSpLocks/>
              </p:cNvCxnSpPr>
              <p:nvPr/>
            </p:nvCxnSpPr>
            <p:spPr>
              <a:xfrm flipH="1" flipV="1">
                <a:off x="9998614" y="1835343"/>
                <a:ext cx="27352" cy="1243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91" name="矩形 390">
                <a:extLst>
                  <a:ext uri="{FF2B5EF4-FFF2-40B4-BE49-F238E27FC236}">
                    <a16:creationId xmlns:a16="http://schemas.microsoft.com/office/drawing/2014/main" id="{FA96E96C-F4EF-51EE-EC78-DDEC4053DA0B}"/>
                  </a:ext>
                </a:extLst>
              </p:cNvPr>
              <p:cNvSpPr/>
              <p:nvPr/>
            </p:nvSpPr>
            <p:spPr>
              <a:xfrm>
                <a:off x="9510858" y="3815312"/>
                <a:ext cx="946080" cy="280840"/>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92" name="矩形 391">
                <a:extLst>
                  <a:ext uri="{FF2B5EF4-FFF2-40B4-BE49-F238E27FC236}">
                    <a16:creationId xmlns:a16="http://schemas.microsoft.com/office/drawing/2014/main" id="{662DAB5C-4F75-3842-BAEE-1B4D8C7AB124}"/>
                  </a:ext>
                </a:extLst>
              </p:cNvPr>
              <p:cNvSpPr/>
              <p:nvPr/>
            </p:nvSpPr>
            <p:spPr>
              <a:xfrm>
                <a:off x="9494716" y="3054735"/>
                <a:ext cx="943626" cy="230646"/>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379" name="矩形 378">
              <a:extLst>
                <a:ext uri="{FF2B5EF4-FFF2-40B4-BE49-F238E27FC236}">
                  <a16:creationId xmlns:a16="http://schemas.microsoft.com/office/drawing/2014/main" id="{1B75336E-BD12-1D54-A2AC-1E4B0E0704F9}"/>
                </a:ext>
              </a:extLst>
            </p:cNvPr>
            <p:cNvSpPr/>
            <p:nvPr/>
          </p:nvSpPr>
          <p:spPr>
            <a:xfrm>
              <a:off x="9513459" y="3054364"/>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sp>
        <p:nvSpPr>
          <p:cNvPr id="72" name="文字方塊 71">
            <a:extLst>
              <a:ext uri="{FF2B5EF4-FFF2-40B4-BE49-F238E27FC236}">
                <a16:creationId xmlns:a16="http://schemas.microsoft.com/office/drawing/2014/main" id="{4EDDEB61-4940-7BC9-C8B7-E9DB0C0CFB1E}"/>
              </a:ext>
            </a:extLst>
          </p:cNvPr>
          <p:cNvSpPr txBox="1"/>
          <p:nvPr/>
        </p:nvSpPr>
        <p:spPr>
          <a:xfrm>
            <a:off x="2009564" y="3534760"/>
            <a:ext cx="808797" cy="400110"/>
          </a:xfrm>
          <a:prstGeom prst="rect">
            <a:avLst/>
          </a:prstGeom>
          <a:noFill/>
        </p:spPr>
        <p:txBody>
          <a:bodyPr wrap="square" rtlCol="0">
            <a:spAutoFit/>
          </a:bodyPr>
          <a:lstStyle/>
          <a:p>
            <a:r>
              <a:rPr lang="en-US" altLang="zh-TW" sz="1000" dirty="0"/>
              <a:t>CW</a:t>
            </a:r>
            <a:r>
              <a:rPr lang="zh-TW" altLang="en-US" sz="1000" dirty="0"/>
              <a:t> </a:t>
            </a:r>
            <a:r>
              <a:rPr lang="en-US" altLang="zh-TW" sz="1000" dirty="0"/>
              <a:t>785nm pump laser </a:t>
            </a:r>
            <a:endParaRPr lang="zh-TW" altLang="en-US" sz="1000" dirty="0"/>
          </a:p>
        </p:txBody>
      </p:sp>
      <p:grpSp>
        <p:nvGrpSpPr>
          <p:cNvPr id="7" name="群組 6">
            <a:extLst>
              <a:ext uri="{FF2B5EF4-FFF2-40B4-BE49-F238E27FC236}">
                <a16:creationId xmlns:a16="http://schemas.microsoft.com/office/drawing/2014/main" id="{715D6C64-5146-4AEC-08D1-852DBA1531D5}"/>
              </a:ext>
            </a:extLst>
          </p:cNvPr>
          <p:cNvGrpSpPr/>
          <p:nvPr/>
        </p:nvGrpSpPr>
        <p:grpSpPr>
          <a:xfrm rot="5400000">
            <a:off x="8920858" y="3537695"/>
            <a:ext cx="291528" cy="666144"/>
            <a:chOff x="8147879" y="2874761"/>
            <a:chExt cx="320447" cy="747169"/>
          </a:xfrm>
        </p:grpSpPr>
        <p:cxnSp>
          <p:nvCxnSpPr>
            <p:cNvPr id="8" name="直線單箭頭接點 7">
              <a:extLst>
                <a:ext uri="{FF2B5EF4-FFF2-40B4-BE49-F238E27FC236}">
                  <a16:creationId xmlns:a16="http://schemas.microsoft.com/office/drawing/2014/main" id="{ED91E5CC-C3B0-144E-88CA-14AF47AD5B49}"/>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橢圓 8">
              <a:extLst>
                <a:ext uri="{FF2B5EF4-FFF2-40B4-BE49-F238E27FC236}">
                  <a16:creationId xmlns:a16="http://schemas.microsoft.com/office/drawing/2014/main" id="{EA1D2A1B-0EA2-4F0C-000A-F3B5609A1391}"/>
                </a:ext>
              </a:extLst>
            </p:cNvPr>
            <p:cNvSpPr/>
            <p:nvPr/>
          </p:nvSpPr>
          <p:spPr>
            <a:xfrm>
              <a:off x="8147879" y="3074008"/>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dirty="0"/>
            </a:p>
          </p:txBody>
        </p:sp>
      </p:grpSp>
      <p:grpSp>
        <p:nvGrpSpPr>
          <p:cNvPr id="10" name="群組 9">
            <a:extLst>
              <a:ext uri="{FF2B5EF4-FFF2-40B4-BE49-F238E27FC236}">
                <a16:creationId xmlns:a16="http://schemas.microsoft.com/office/drawing/2014/main" id="{E3AC9A4E-DFC1-92D0-9B42-F597757F6FB1}"/>
              </a:ext>
            </a:extLst>
          </p:cNvPr>
          <p:cNvGrpSpPr/>
          <p:nvPr/>
        </p:nvGrpSpPr>
        <p:grpSpPr>
          <a:xfrm rot="5400000">
            <a:off x="8900518" y="2417504"/>
            <a:ext cx="291528" cy="666144"/>
            <a:chOff x="8147879" y="2874761"/>
            <a:chExt cx="320447" cy="747169"/>
          </a:xfrm>
        </p:grpSpPr>
        <p:cxnSp>
          <p:nvCxnSpPr>
            <p:cNvPr id="11" name="直線單箭頭接點 10">
              <a:extLst>
                <a:ext uri="{FF2B5EF4-FFF2-40B4-BE49-F238E27FC236}">
                  <a16:creationId xmlns:a16="http://schemas.microsoft.com/office/drawing/2014/main" id="{134804EF-E6A9-4275-7633-93CB613D6F43}"/>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橢圓 11">
              <a:extLst>
                <a:ext uri="{FF2B5EF4-FFF2-40B4-BE49-F238E27FC236}">
                  <a16:creationId xmlns:a16="http://schemas.microsoft.com/office/drawing/2014/main" id="{78A3167D-DB9D-DBB8-5205-ACD31A4E47E1}"/>
                </a:ext>
              </a:extLst>
            </p:cNvPr>
            <p:cNvSpPr/>
            <p:nvPr/>
          </p:nvSpPr>
          <p:spPr>
            <a:xfrm>
              <a:off x="8147879" y="3074007"/>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dirty="0"/>
            </a:p>
          </p:txBody>
        </p:sp>
      </p:grpSp>
      <p:grpSp>
        <p:nvGrpSpPr>
          <p:cNvPr id="18" name="群組 17">
            <a:extLst>
              <a:ext uri="{FF2B5EF4-FFF2-40B4-BE49-F238E27FC236}">
                <a16:creationId xmlns:a16="http://schemas.microsoft.com/office/drawing/2014/main" id="{7AED5304-A411-6208-D847-8E7C82CE0135}"/>
              </a:ext>
            </a:extLst>
          </p:cNvPr>
          <p:cNvGrpSpPr/>
          <p:nvPr/>
        </p:nvGrpSpPr>
        <p:grpSpPr>
          <a:xfrm>
            <a:off x="9833724" y="2355898"/>
            <a:ext cx="308414" cy="743295"/>
            <a:chOff x="8147879" y="2874761"/>
            <a:chExt cx="320447" cy="747169"/>
          </a:xfrm>
        </p:grpSpPr>
        <p:cxnSp>
          <p:nvCxnSpPr>
            <p:cNvPr id="19" name="直線單箭頭接點 18">
              <a:extLst>
                <a:ext uri="{FF2B5EF4-FFF2-40B4-BE49-F238E27FC236}">
                  <a16:creationId xmlns:a16="http://schemas.microsoft.com/office/drawing/2014/main" id="{244A47AF-AFBE-A946-6151-F792C7F06F13}"/>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橢圓 19">
              <a:extLst>
                <a:ext uri="{FF2B5EF4-FFF2-40B4-BE49-F238E27FC236}">
                  <a16:creationId xmlns:a16="http://schemas.microsoft.com/office/drawing/2014/main" id="{82EB2161-E066-5863-A4FD-A313F437C669}"/>
                </a:ext>
              </a:extLst>
            </p:cNvPr>
            <p:cNvSpPr/>
            <p:nvPr/>
          </p:nvSpPr>
          <p:spPr>
            <a:xfrm>
              <a:off x="8147879" y="3074008"/>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dirty="0"/>
            </a:p>
          </p:txBody>
        </p:sp>
      </p:grpSp>
      <p:grpSp>
        <p:nvGrpSpPr>
          <p:cNvPr id="21" name="群組 20">
            <a:extLst>
              <a:ext uri="{FF2B5EF4-FFF2-40B4-BE49-F238E27FC236}">
                <a16:creationId xmlns:a16="http://schemas.microsoft.com/office/drawing/2014/main" id="{2AC29DCC-3FDF-60C0-84C6-E01EB9EF2BA2}"/>
              </a:ext>
            </a:extLst>
          </p:cNvPr>
          <p:cNvGrpSpPr/>
          <p:nvPr/>
        </p:nvGrpSpPr>
        <p:grpSpPr>
          <a:xfrm>
            <a:off x="9822317" y="3563222"/>
            <a:ext cx="308414" cy="743295"/>
            <a:chOff x="8147879" y="2874761"/>
            <a:chExt cx="320447" cy="747169"/>
          </a:xfrm>
        </p:grpSpPr>
        <p:cxnSp>
          <p:nvCxnSpPr>
            <p:cNvPr id="22" name="直線單箭頭接點 21">
              <a:extLst>
                <a:ext uri="{FF2B5EF4-FFF2-40B4-BE49-F238E27FC236}">
                  <a16:creationId xmlns:a16="http://schemas.microsoft.com/office/drawing/2014/main" id="{61929418-3C97-54C0-E002-5574B049622F}"/>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橢圓 22">
              <a:extLst>
                <a:ext uri="{FF2B5EF4-FFF2-40B4-BE49-F238E27FC236}">
                  <a16:creationId xmlns:a16="http://schemas.microsoft.com/office/drawing/2014/main" id="{0A04324A-D5B7-C2FB-09E2-AD6AF0062D8D}"/>
                </a:ext>
              </a:extLst>
            </p:cNvPr>
            <p:cNvSpPr/>
            <p:nvPr/>
          </p:nvSpPr>
          <p:spPr>
            <a:xfrm>
              <a:off x="8147879" y="3074008"/>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dirty="0"/>
            </a:p>
          </p:txBody>
        </p:sp>
      </p:grpSp>
      <p:grpSp>
        <p:nvGrpSpPr>
          <p:cNvPr id="27" name="群組 26">
            <a:extLst>
              <a:ext uri="{FF2B5EF4-FFF2-40B4-BE49-F238E27FC236}">
                <a16:creationId xmlns:a16="http://schemas.microsoft.com/office/drawing/2014/main" id="{1F189E85-E2A2-0A51-35CD-EC498A083CA4}"/>
              </a:ext>
            </a:extLst>
          </p:cNvPr>
          <p:cNvGrpSpPr/>
          <p:nvPr/>
        </p:nvGrpSpPr>
        <p:grpSpPr>
          <a:xfrm>
            <a:off x="8583076" y="3021889"/>
            <a:ext cx="1676464" cy="507891"/>
            <a:chOff x="10484669" y="5076767"/>
            <a:chExt cx="1676464" cy="507891"/>
          </a:xfrm>
        </p:grpSpPr>
        <p:sp>
          <p:nvSpPr>
            <p:cNvPr id="28" name="箭號: 向右 27">
              <a:extLst>
                <a:ext uri="{FF2B5EF4-FFF2-40B4-BE49-F238E27FC236}">
                  <a16:creationId xmlns:a16="http://schemas.microsoft.com/office/drawing/2014/main" id="{4E03C53A-187E-18A8-13B3-5BF7514C1C15}"/>
                </a:ext>
              </a:extLst>
            </p:cNvPr>
            <p:cNvSpPr/>
            <p:nvPr/>
          </p:nvSpPr>
          <p:spPr>
            <a:xfrm>
              <a:off x="10484669" y="5309465"/>
              <a:ext cx="1676464" cy="275193"/>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文字方塊 28">
              <a:extLst>
                <a:ext uri="{FF2B5EF4-FFF2-40B4-BE49-F238E27FC236}">
                  <a16:creationId xmlns:a16="http://schemas.microsoft.com/office/drawing/2014/main" id="{923DFA74-490A-1225-9C58-2B324A0D0C42}"/>
                </a:ext>
              </a:extLst>
            </p:cNvPr>
            <p:cNvSpPr txBox="1"/>
            <p:nvPr/>
          </p:nvSpPr>
          <p:spPr>
            <a:xfrm>
              <a:off x="10493626" y="5076767"/>
              <a:ext cx="1608902" cy="307777"/>
            </a:xfrm>
            <a:prstGeom prst="rect">
              <a:avLst/>
            </a:prstGeom>
            <a:noFill/>
          </p:spPr>
          <p:txBody>
            <a:bodyPr wrap="none" rtlCol="0">
              <a:spAutoFit/>
            </a:bodyPr>
            <a:lstStyle/>
            <a:p>
              <a:r>
                <a:rPr lang="en-US" altLang="zh-TW" sz="1400" dirty="0"/>
                <a:t>|HH⟩</a:t>
              </a:r>
              <a:r>
                <a:rPr lang="en-US" altLang="zh-TW" sz="1400" baseline="-25000" dirty="0"/>
                <a:t> 1570 </a:t>
              </a:r>
              <a:r>
                <a:rPr lang="en-US" altLang="zh-TW" sz="1400" dirty="0"/>
                <a:t>+ |VV⟩</a:t>
              </a:r>
              <a:r>
                <a:rPr lang="en-US" altLang="zh-TW" sz="1400" baseline="-25000" dirty="0"/>
                <a:t> 1570</a:t>
              </a:r>
              <a:endParaRPr lang="en-US" altLang="zh-TW" sz="1400" dirty="0"/>
            </a:p>
          </p:txBody>
        </p:sp>
      </p:grpSp>
    </p:spTree>
    <p:extLst>
      <p:ext uri="{BB962C8B-B14F-4D97-AF65-F5344CB8AC3E}">
        <p14:creationId xmlns:p14="http://schemas.microsoft.com/office/powerpoint/2010/main" val="6366487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66F64AE-CAE4-0A78-C8F9-867765DF3067}"/>
              </a:ext>
            </a:extLst>
          </p:cNvPr>
          <p:cNvSpPr>
            <a:spLocks noGrp="1"/>
          </p:cNvSpPr>
          <p:nvPr>
            <p:ph type="ctrTitle"/>
          </p:nvPr>
        </p:nvSpPr>
        <p:spPr/>
        <p:txBody>
          <a:bodyPr/>
          <a:lstStyle/>
          <a:p>
            <a:r>
              <a:rPr lang="en-US" altLang="zh-TW" b="1" dirty="0">
                <a:solidFill>
                  <a:schemeClr val="tx1"/>
                </a:solidFill>
              </a:rPr>
              <a:t>Working principles</a:t>
            </a:r>
          </a:p>
        </p:txBody>
      </p:sp>
      <p:sp>
        <p:nvSpPr>
          <p:cNvPr id="3" name="副標題 2">
            <a:extLst>
              <a:ext uri="{FF2B5EF4-FFF2-40B4-BE49-F238E27FC236}">
                <a16:creationId xmlns:a16="http://schemas.microsoft.com/office/drawing/2014/main" id="{B1B8DE14-80E4-7564-81F1-A7DA9C966337}"/>
              </a:ext>
            </a:extLst>
          </p:cNvPr>
          <p:cNvSpPr>
            <a:spLocks noGrp="1"/>
          </p:cNvSpPr>
          <p:nvPr>
            <p:ph type="subTitle" idx="1"/>
          </p:nvPr>
        </p:nvSpPr>
        <p:spPr>
          <a:xfrm>
            <a:off x="4621097" y="3886680"/>
            <a:ext cx="4196001" cy="1086237"/>
          </a:xfrm>
        </p:spPr>
        <p:txBody>
          <a:bodyPr>
            <a:normAutofit fontScale="92500" lnSpcReduction="10000"/>
          </a:bodyPr>
          <a:lstStyle/>
          <a:p>
            <a:pPr marL="457200" indent="-457200" algn="l">
              <a:buFont typeface="+mj-lt"/>
              <a:buAutoNum type="arabicPeriod"/>
            </a:pPr>
            <a:r>
              <a:rPr lang="en-US" altLang="zh-TW" dirty="0">
                <a:solidFill>
                  <a:srgbClr val="FF0000"/>
                </a:solidFill>
              </a:rPr>
              <a:t>SHG/SPDC</a:t>
            </a:r>
          </a:p>
          <a:p>
            <a:pPr marL="457200" indent="-457200" algn="l">
              <a:buFont typeface="+mj-lt"/>
              <a:buAutoNum type="arabicPeriod"/>
            </a:pPr>
            <a:r>
              <a:rPr lang="en-US" altLang="zh-TW" dirty="0">
                <a:solidFill>
                  <a:schemeClr val="tx1"/>
                </a:solidFill>
              </a:rPr>
              <a:t>Electro-Optic Effect(EOPMC)</a:t>
            </a:r>
          </a:p>
          <a:p>
            <a:pPr marL="457200" indent="-457200" algn="l">
              <a:buFont typeface="+mj-lt"/>
              <a:buAutoNum type="arabicPeriod"/>
            </a:pPr>
            <a:r>
              <a:rPr lang="en-US" altLang="zh-TW" dirty="0">
                <a:solidFill>
                  <a:schemeClr val="tx1"/>
                </a:solidFill>
              </a:rPr>
              <a:t>Electro-Optic Effect(EO)</a:t>
            </a:r>
          </a:p>
          <a:p>
            <a:pPr marL="457200" indent="-457200" algn="l">
              <a:buFont typeface="+mj-lt"/>
              <a:buAutoNum type="arabicPeriod"/>
            </a:pPr>
            <a:endParaRPr lang="en-US" altLang="zh-TW" dirty="0">
              <a:solidFill>
                <a:schemeClr val="tx1"/>
              </a:solidFill>
            </a:endParaRPr>
          </a:p>
        </p:txBody>
      </p:sp>
    </p:spTree>
    <p:extLst>
      <p:ext uri="{BB962C8B-B14F-4D97-AF65-F5344CB8AC3E}">
        <p14:creationId xmlns:p14="http://schemas.microsoft.com/office/powerpoint/2010/main" val="32237759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SHG/SPDC</a:t>
            </a:r>
          </a:p>
        </p:txBody>
      </p:sp>
      <p:sp>
        <p:nvSpPr>
          <p:cNvPr id="3" name="內容版面配置區 2">
            <a:extLst>
              <a:ext uri="{FF2B5EF4-FFF2-40B4-BE49-F238E27FC236}">
                <a16:creationId xmlns:a16="http://schemas.microsoft.com/office/drawing/2014/main" id="{7785E72D-3875-448F-8D77-75F9CFD57AC4}"/>
              </a:ext>
            </a:extLst>
          </p:cNvPr>
          <p:cNvSpPr>
            <a:spLocks noGrp="1"/>
          </p:cNvSpPr>
          <p:nvPr>
            <p:ph idx="4294967295"/>
          </p:nvPr>
        </p:nvSpPr>
        <p:spPr>
          <a:xfrm>
            <a:off x="2246740" y="547757"/>
            <a:ext cx="7453634" cy="1072712"/>
          </a:xfrm>
        </p:spPr>
        <p:txBody>
          <a:bodyPr>
            <a:noAutofit/>
          </a:bodyPr>
          <a:lstStyle/>
          <a:p>
            <a:pPr marL="0" indent="0">
              <a:lnSpc>
                <a:spcPct val="200000"/>
              </a:lnSpc>
              <a:buNone/>
            </a:pPr>
            <a:r>
              <a:rPr lang="en-US" altLang="zh-TW" sz="3200" b="1" dirty="0">
                <a:effectLst>
                  <a:outerShdw blurRad="38100" dist="38100" dir="2700000" algn="tl">
                    <a:srgbClr val="000000">
                      <a:alpha val="43137"/>
                    </a:srgbClr>
                  </a:outerShdw>
                </a:effectLst>
              </a:rPr>
              <a:t>Second  Harmonic Generation(SHG)/SPDC</a:t>
            </a:r>
            <a:endParaRPr lang="zh-TW" altLang="en-US" sz="3200" b="1" dirty="0">
              <a:effectLst>
                <a:outerShdw blurRad="38100" dist="38100" dir="2700000" algn="tl">
                  <a:srgbClr val="000000">
                    <a:alpha val="43137"/>
                  </a:srgbClr>
                </a:outerShdw>
              </a:effectLst>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0039351" y="6356352"/>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16</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grpSp>
        <p:nvGrpSpPr>
          <p:cNvPr id="65" name="群組 64">
            <a:extLst>
              <a:ext uri="{FF2B5EF4-FFF2-40B4-BE49-F238E27FC236}">
                <a16:creationId xmlns:a16="http://schemas.microsoft.com/office/drawing/2014/main" id="{4D2DAC09-E74F-1014-0764-10E3C3E7E5FD}"/>
              </a:ext>
            </a:extLst>
          </p:cNvPr>
          <p:cNvGrpSpPr/>
          <p:nvPr/>
        </p:nvGrpSpPr>
        <p:grpSpPr>
          <a:xfrm>
            <a:off x="8492530" y="29639"/>
            <a:ext cx="1698173" cy="706286"/>
            <a:chOff x="1136186" y="2750157"/>
            <a:chExt cx="3433822" cy="1925470"/>
          </a:xfrm>
        </p:grpSpPr>
        <p:grpSp>
          <p:nvGrpSpPr>
            <p:cNvPr id="38" name="群組 37">
              <a:extLst>
                <a:ext uri="{FF2B5EF4-FFF2-40B4-BE49-F238E27FC236}">
                  <a16:creationId xmlns:a16="http://schemas.microsoft.com/office/drawing/2014/main" id="{36F4B540-B9B1-77DA-2364-0F3258FE9A4C}"/>
                </a:ext>
              </a:extLst>
            </p:cNvPr>
            <p:cNvGrpSpPr/>
            <p:nvPr/>
          </p:nvGrpSpPr>
          <p:grpSpPr>
            <a:xfrm>
              <a:off x="1900354" y="3002965"/>
              <a:ext cx="1597732" cy="1615784"/>
              <a:chOff x="1547796" y="4590564"/>
              <a:chExt cx="1597732" cy="1615784"/>
            </a:xfrm>
          </p:grpSpPr>
          <p:grpSp>
            <p:nvGrpSpPr>
              <p:cNvPr id="39" name="群組 38">
                <a:extLst>
                  <a:ext uri="{FF2B5EF4-FFF2-40B4-BE49-F238E27FC236}">
                    <a16:creationId xmlns:a16="http://schemas.microsoft.com/office/drawing/2014/main" id="{9091209D-D0A9-5643-8E8A-BAD516A3C1A7}"/>
                  </a:ext>
                </a:extLst>
              </p:cNvPr>
              <p:cNvGrpSpPr/>
              <p:nvPr/>
            </p:nvGrpSpPr>
            <p:grpSpPr>
              <a:xfrm>
                <a:off x="1547796" y="4590564"/>
                <a:ext cx="1597732" cy="1615784"/>
                <a:chOff x="7755536" y="4682354"/>
                <a:chExt cx="1539881" cy="1413646"/>
              </a:xfrm>
            </p:grpSpPr>
            <p:grpSp>
              <p:nvGrpSpPr>
                <p:cNvPr id="42" name="群組 41">
                  <a:extLst>
                    <a:ext uri="{FF2B5EF4-FFF2-40B4-BE49-F238E27FC236}">
                      <a16:creationId xmlns:a16="http://schemas.microsoft.com/office/drawing/2014/main" id="{CC298555-DECA-8FB5-12CA-63971B73DD9A}"/>
                    </a:ext>
                  </a:extLst>
                </p:cNvPr>
                <p:cNvGrpSpPr/>
                <p:nvPr/>
              </p:nvGrpSpPr>
              <p:grpSpPr>
                <a:xfrm>
                  <a:off x="7755536" y="4682354"/>
                  <a:ext cx="382023" cy="1413646"/>
                  <a:chOff x="7755536" y="4682354"/>
                  <a:chExt cx="382023" cy="1413646"/>
                </a:xfrm>
              </p:grpSpPr>
              <p:sp>
                <p:nvSpPr>
                  <p:cNvPr id="52" name="矩形 51">
                    <a:extLst>
                      <a:ext uri="{FF2B5EF4-FFF2-40B4-BE49-F238E27FC236}">
                        <a16:creationId xmlns:a16="http://schemas.microsoft.com/office/drawing/2014/main" id="{7E5551C8-81EC-15D8-9B55-1BC88460B24E}"/>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3" name="矩形 52">
                    <a:extLst>
                      <a:ext uri="{FF2B5EF4-FFF2-40B4-BE49-F238E27FC236}">
                        <a16:creationId xmlns:a16="http://schemas.microsoft.com/office/drawing/2014/main" id="{27833BC3-0C48-EBDC-8842-C323C4BF021C}"/>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43" name="群組 42">
                  <a:extLst>
                    <a:ext uri="{FF2B5EF4-FFF2-40B4-BE49-F238E27FC236}">
                      <a16:creationId xmlns:a16="http://schemas.microsoft.com/office/drawing/2014/main" id="{E41A948F-8AA0-6E38-9259-1D5B52127B9B}"/>
                    </a:ext>
                  </a:extLst>
                </p:cNvPr>
                <p:cNvGrpSpPr/>
                <p:nvPr/>
              </p:nvGrpSpPr>
              <p:grpSpPr>
                <a:xfrm>
                  <a:off x="8136791" y="4682354"/>
                  <a:ext cx="382023" cy="1413646"/>
                  <a:chOff x="7755536" y="4682354"/>
                  <a:chExt cx="382023" cy="1413646"/>
                </a:xfrm>
              </p:grpSpPr>
              <p:sp>
                <p:nvSpPr>
                  <p:cNvPr id="50" name="矩形 49">
                    <a:extLst>
                      <a:ext uri="{FF2B5EF4-FFF2-40B4-BE49-F238E27FC236}">
                        <a16:creationId xmlns:a16="http://schemas.microsoft.com/office/drawing/2014/main" id="{9A0391F2-8564-D368-D45B-1C65D143BFAB}"/>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a:extLst>
                      <a:ext uri="{FF2B5EF4-FFF2-40B4-BE49-F238E27FC236}">
                        <a16:creationId xmlns:a16="http://schemas.microsoft.com/office/drawing/2014/main" id="{90CFE2C3-AF6F-4C63-6566-BAFCB742E2F3}"/>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44" name="群組 43">
                  <a:extLst>
                    <a:ext uri="{FF2B5EF4-FFF2-40B4-BE49-F238E27FC236}">
                      <a16:creationId xmlns:a16="http://schemas.microsoft.com/office/drawing/2014/main" id="{0C20D49F-A113-8414-43A1-EE08D9091A89}"/>
                    </a:ext>
                  </a:extLst>
                </p:cNvPr>
                <p:cNvGrpSpPr/>
                <p:nvPr/>
              </p:nvGrpSpPr>
              <p:grpSpPr>
                <a:xfrm>
                  <a:off x="8529017" y="4682354"/>
                  <a:ext cx="382023" cy="1413646"/>
                  <a:chOff x="7755536" y="4682354"/>
                  <a:chExt cx="382023" cy="1413646"/>
                </a:xfrm>
              </p:grpSpPr>
              <p:sp>
                <p:nvSpPr>
                  <p:cNvPr id="48" name="矩形 47">
                    <a:extLst>
                      <a:ext uri="{FF2B5EF4-FFF2-40B4-BE49-F238E27FC236}">
                        <a16:creationId xmlns:a16="http://schemas.microsoft.com/office/drawing/2014/main" id="{32140372-B49D-1EFB-B44A-44C367CB4DF8}"/>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矩形 48">
                    <a:extLst>
                      <a:ext uri="{FF2B5EF4-FFF2-40B4-BE49-F238E27FC236}">
                        <a16:creationId xmlns:a16="http://schemas.microsoft.com/office/drawing/2014/main" id="{3A1524C3-E7DD-9F14-EB76-D0CAAF595D45}"/>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45" name="群組 44">
                  <a:extLst>
                    <a:ext uri="{FF2B5EF4-FFF2-40B4-BE49-F238E27FC236}">
                      <a16:creationId xmlns:a16="http://schemas.microsoft.com/office/drawing/2014/main" id="{53F52FE8-3DF4-EB64-F1E1-D6BC57EB81D8}"/>
                    </a:ext>
                  </a:extLst>
                </p:cNvPr>
                <p:cNvGrpSpPr/>
                <p:nvPr/>
              </p:nvGrpSpPr>
              <p:grpSpPr>
                <a:xfrm>
                  <a:off x="8913394" y="4682354"/>
                  <a:ext cx="382023" cy="1413646"/>
                  <a:chOff x="7755536" y="4682354"/>
                  <a:chExt cx="382023" cy="1413646"/>
                </a:xfrm>
              </p:grpSpPr>
              <p:sp>
                <p:nvSpPr>
                  <p:cNvPr id="46" name="矩形 45">
                    <a:extLst>
                      <a:ext uri="{FF2B5EF4-FFF2-40B4-BE49-F238E27FC236}">
                        <a16:creationId xmlns:a16="http://schemas.microsoft.com/office/drawing/2014/main" id="{CB4124E4-A88A-ADA6-90F7-0037F8EF7B4E}"/>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B04B4110-3A04-25BA-3349-84A741E508AC}"/>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40" name="矩形 39">
                <a:extLst>
                  <a:ext uri="{FF2B5EF4-FFF2-40B4-BE49-F238E27FC236}">
                    <a16:creationId xmlns:a16="http://schemas.microsoft.com/office/drawing/2014/main" id="{367AB91E-CC9A-60DE-DD97-FDECCC8438B3}"/>
                  </a:ext>
                </a:extLst>
              </p:cNvPr>
              <p:cNvSpPr/>
              <p:nvPr/>
            </p:nvSpPr>
            <p:spPr>
              <a:xfrm>
                <a:off x="1560341" y="5172154"/>
                <a:ext cx="1575773" cy="262714"/>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1" name="矩形 40">
                <a:extLst>
                  <a:ext uri="{FF2B5EF4-FFF2-40B4-BE49-F238E27FC236}">
                    <a16:creationId xmlns:a16="http://schemas.microsoft.com/office/drawing/2014/main" id="{E1885FDA-7436-B4C9-0A4A-740F480F9B6F}"/>
                  </a:ext>
                </a:extLst>
              </p:cNvPr>
              <p:cNvSpPr/>
              <p:nvPr/>
            </p:nvSpPr>
            <p:spPr>
              <a:xfrm>
                <a:off x="1554254" y="5982936"/>
                <a:ext cx="1591274" cy="223412"/>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54" name="箭號: 向右 53">
              <a:extLst>
                <a:ext uri="{FF2B5EF4-FFF2-40B4-BE49-F238E27FC236}">
                  <a16:creationId xmlns:a16="http://schemas.microsoft.com/office/drawing/2014/main" id="{E68B69E9-ED61-4EC3-89E1-17E101CB80D8}"/>
                </a:ext>
              </a:extLst>
            </p:cNvPr>
            <p:cNvSpPr/>
            <p:nvPr/>
          </p:nvSpPr>
          <p:spPr>
            <a:xfrm>
              <a:off x="1136186" y="3610662"/>
              <a:ext cx="750491" cy="275824"/>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5" name="箭號: 向右 54">
              <a:extLst>
                <a:ext uri="{FF2B5EF4-FFF2-40B4-BE49-F238E27FC236}">
                  <a16:creationId xmlns:a16="http://schemas.microsoft.com/office/drawing/2014/main" id="{2C44CBB0-3542-DCA9-0E17-97C761FDF918}"/>
                </a:ext>
              </a:extLst>
            </p:cNvPr>
            <p:cNvSpPr/>
            <p:nvPr/>
          </p:nvSpPr>
          <p:spPr>
            <a:xfrm>
              <a:off x="3519268" y="3575529"/>
              <a:ext cx="1050740" cy="304814"/>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56" name="群組 55">
              <a:extLst>
                <a:ext uri="{FF2B5EF4-FFF2-40B4-BE49-F238E27FC236}">
                  <a16:creationId xmlns:a16="http://schemas.microsoft.com/office/drawing/2014/main" id="{BD48DC1D-0CDF-D1E0-F898-CB00D054D4A8}"/>
                </a:ext>
              </a:extLst>
            </p:cNvPr>
            <p:cNvGrpSpPr/>
            <p:nvPr/>
          </p:nvGrpSpPr>
          <p:grpSpPr>
            <a:xfrm>
              <a:off x="2210507" y="3378595"/>
              <a:ext cx="291528" cy="666144"/>
              <a:chOff x="8147879" y="2874761"/>
              <a:chExt cx="320447" cy="747169"/>
            </a:xfrm>
          </p:grpSpPr>
          <p:cxnSp>
            <p:nvCxnSpPr>
              <p:cNvPr id="57" name="直線單箭頭接點 56">
                <a:extLst>
                  <a:ext uri="{FF2B5EF4-FFF2-40B4-BE49-F238E27FC236}">
                    <a16:creationId xmlns:a16="http://schemas.microsoft.com/office/drawing/2014/main" id="{3B7D72D5-5816-EEEE-118E-6083F02017D1}"/>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8" name="橢圓 57">
                <a:extLst>
                  <a:ext uri="{FF2B5EF4-FFF2-40B4-BE49-F238E27FC236}">
                    <a16:creationId xmlns:a16="http://schemas.microsoft.com/office/drawing/2014/main" id="{1E747FBB-1ED6-7EAE-2CA4-12BABDFBB326}"/>
                  </a:ext>
                </a:extLst>
              </p:cNvPr>
              <p:cNvSpPr/>
              <p:nvPr/>
            </p:nvSpPr>
            <p:spPr>
              <a:xfrm>
                <a:off x="8147879" y="3074007"/>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a:t>V</a:t>
                </a:r>
                <a:endParaRPr lang="zh-TW" altLang="en-US" sz="1400" dirty="0"/>
              </a:p>
            </p:txBody>
          </p:sp>
        </p:grpSp>
        <p:grpSp>
          <p:nvGrpSpPr>
            <p:cNvPr id="59" name="群組 58">
              <a:extLst>
                <a:ext uri="{FF2B5EF4-FFF2-40B4-BE49-F238E27FC236}">
                  <a16:creationId xmlns:a16="http://schemas.microsoft.com/office/drawing/2014/main" id="{23101D3A-A8C5-68C5-358A-39D414B6189C}"/>
                </a:ext>
              </a:extLst>
            </p:cNvPr>
            <p:cNvGrpSpPr/>
            <p:nvPr/>
          </p:nvGrpSpPr>
          <p:grpSpPr>
            <a:xfrm>
              <a:off x="3873301" y="2750157"/>
              <a:ext cx="308414" cy="743295"/>
              <a:chOff x="8147879" y="2874761"/>
              <a:chExt cx="320447" cy="747169"/>
            </a:xfrm>
          </p:grpSpPr>
          <p:cxnSp>
            <p:nvCxnSpPr>
              <p:cNvPr id="60" name="直線單箭頭接點 59">
                <a:extLst>
                  <a:ext uri="{FF2B5EF4-FFF2-40B4-BE49-F238E27FC236}">
                    <a16:creationId xmlns:a16="http://schemas.microsoft.com/office/drawing/2014/main" id="{BBC8AC70-41EA-3A71-BF67-3C23FBAE94EE}"/>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1" name="橢圓 60">
                <a:extLst>
                  <a:ext uri="{FF2B5EF4-FFF2-40B4-BE49-F238E27FC236}">
                    <a16:creationId xmlns:a16="http://schemas.microsoft.com/office/drawing/2014/main" id="{85173CCB-23E8-93E1-3260-0CB6C4C92A8D}"/>
                  </a:ext>
                </a:extLst>
              </p:cNvPr>
              <p:cNvSpPr/>
              <p:nvPr/>
            </p:nvSpPr>
            <p:spPr>
              <a:xfrm>
                <a:off x="8147879" y="3074008"/>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a:t>V</a:t>
                </a:r>
                <a:endParaRPr lang="zh-TW" altLang="en-US" sz="1400" dirty="0"/>
              </a:p>
            </p:txBody>
          </p:sp>
        </p:grpSp>
        <p:grpSp>
          <p:nvGrpSpPr>
            <p:cNvPr id="62" name="群組 61">
              <a:extLst>
                <a:ext uri="{FF2B5EF4-FFF2-40B4-BE49-F238E27FC236}">
                  <a16:creationId xmlns:a16="http://schemas.microsoft.com/office/drawing/2014/main" id="{0FDE246A-65BD-6D3B-D652-036B5B09AEDB}"/>
                </a:ext>
              </a:extLst>
            </p:cNvPr>
            <p:cNvGrpSpPr/>
            <p:nvPr/>
          </p:nvGrpSpPr>
          <p:grpSpPr>
            <a:xfrm>
              <a:off x="3860644" y="3932332"/>
              <a:ext cx="308414" cy="743295"/>
              <a:chOff x="8147879" y="2874761"/>
              <a:chExt cx="320447" cy="747169"/>
            </a:xfrm>
          </p:grpSpPr>
          <p:cxnSp>
            <p:nvCxnSpPr>
              <p:cNvPr id="63" name="直線單箭頭接點 62">
                <a:extLst>
                  <a:ext uri="{FF2B5EF4-FFF2-40B4-BE49-F238E27FC236}">
                    <a16:creationId xmlns:a16="http://schemas.microsoft.com/office/drawing/2014/main" id="{8D9F6EDD-4926-711D-4127-47A436B06AEF}"/>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4" name="橢圓 63">
                <a:extLst>
                  <a:ext uri="{FF2B5EF4-FFF2-40B4-BE49-F238E27FC236}">
                    <a16:creationId xmlns:a16="http://schemas.microsoft.com/office/drawing/2014/main" id="{4EB1F60F-5570-F886-6AC5-A3DD559C326C}"/>
                  </a:ext>
                </a:extLst>
              </p:cNvPr>
              <p:cNvSpPr/>
              <p:nvPr/>
            </p:nvSpPr>
            <p:spPr>
              <a:xfrm>
                <a:off x="8147879" y="3074008"/>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a:t>V</a:t>
                </a:r>
                <a:endParaRPr lang="zh-TW" altLang="en-US" sz="1400" dirty="0"/>
              </a:p>
            </p:txBody>
          </p:sp>
        </p:grpSp>
      </p:grpSp>
      <p:sp>
        <p:nvSpPr>
          <p:cNvPr id="16" name="文字方塊 15">
            <a:extLst>
              <a:ext uri="{FF2B5EF4-FFF2-40B4-BE49-F238E27FC236}">
                <a16:creationId xmlns:a16="http://schemas.microsoft.com/office/drawing/2014/main" id="{A9278F34-745C-9DB6-7986-82567EE08850}"/>
              </a:ext>
            </a:extLst>
          </p:cNvPr>
          <p:cNvSpPr txBox="1"/>
          <p:nvPr/>
        </p:nvSpPr>
        <p:spPr>
          <a:xfrm>
            <a:off x="5410422" y="2265494"/>
            <a:ext cx="1892762" cy="369332"/>
          </a:xfrm>
          <a:prstGeom prst="rect">
            <a:avLst/>
          </a:prstGeom>
          <a:noFill/>
        </p:spPr>
        <p:txBody>
          <a:bodyPr wrap="none" rtlCol="0">
            <a:spAutoFit/>
          </a:bodyPr>
          <a:lstStyle/>
          <a:p>
            <a:r>
              <a:rPr lang="en-US" altLang="zh-TW" dirty="0"/>
              <a:t>Energy conversion</a:t>
            </a:r>
            <a:endParaRPr lang="zh-TW" altLang="en-US" dirty="0"/>
          </a:p>
        </p:txBody>
      </p:sp>
      <p:sp>
        <p:nvSpPr>
          <p:cNvPr id="18" name="矩形: 圓角 17">
            <a:extLst>
              <a:ext uri="{FF2B5EF4-FFF2-40B4-BE49-F238E27FC236}">
                <a16:creationId xmlns:a16="http://schemas.microsoft.com/office/drawing/2014/main" id="{7AD20389-186C-DE1D-38D0-F586AFB9858C}"/>
              </a:ext>
            </a:extLst>
          </p:cNvPr>
          <p:cNvSpPr/>
          <p:nvPr/>
        </p:nvSpPr>
        <p:spPr>
          <a:xfrm>
            <a:off x="1746558" y="2521218"/>
            <a:ext cx="1499616" cy="1043567"/>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ysClr val="windowText" lastClr="000000"/>
                </a:solidFill>
              </a:rPr>
              <a:t>SHG</a:t>
            </a:r>
            <a:endParaRPr lang="zh-TW" altLang="en-US" dirty="0">
              <a:solidFill>
                <a:sysClr val="windowText" lastClr="000000"/>
              </a:solidFill>
            </a:endParaRPr>
          </a:p>
        </p:txBody>
      </p:sp>
      <p:sp>
        <p:nvSpPr>
          <p:cNvPr id="22" name="箭號: 向右 21">
            <a:extLst>
              <a:ext uri="{FF2B5EF4-FFF2-40B4-BE49-F238E27FC236}">
                <a16:creationId xmlns:a16="http://schemas.microsoft.com/office/drawing/2014/main" id="{EE00D667-A60F-EE0E-025E-CB51EC27F937}"/>
              </a:ext>
            </a:extLst>
          </p:cNvPr>
          <p:cNvSpPr/>
          <p:nvPr/>
        </p:nvSpPr>
        <p:spPr>
          <a:xfrm>
            <a:off x="3246174" y="2854737"/>
            <a:ext cx="1138881" cy="375138"/>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391CBD97-4E38-AE0E-F794-57E9745B50EA}"/>
                  </a:ext>
                </a:extLst>
              </p:cNvPr>
              <p:cNvSpPr txBox="1"/>
              <p:nvPr/>
            </p:nvSpPr>
            <p:spPr>
              <a:xfrm>
                <a:off x="3554533" y="2475317"/>
                <a:ext cx="434991" cy="362984"/>
              </a:xfrm>
              <a:prstGeom prst="rect">
                <a:avLst/>
              </a:prstGeom>
              <a:noFill/>
            </p:spPr>
            <p:txBody>
              <a:bodyPr wrap="square" rtlCol="0">
                <a:spAutoFit/>
              </a:bodyPr>
              <a:lstStyle/>
              <a:p>
                <a14:m>
                  <m:oMath xmlns:m="http://schemas.openxmlformats.org/officeDocument/2006/math">
                    <m:r>
                      <a:rPr lang="zh-TW" altLang="en-US" i="1" dirty="0" smtClean="0">
                        <a:latin typeface="Cambria Math" panose="02040503050406030204" pitchFamily="18" charset="0"/>
                      </a:rPr>
                      <m:t>𝜔</m:t>
                    </m:r>
                  </m:oMath>
                </a14:m>
                <a:r>
                  <a:rPr lang="en-US" altLang="zh-TW" baseline="-25000" dirty="0"/>
                  <a:t>3</a:t>
                </a:r>
                <a:endParaRPr lang="zh-TW" altLang="en-US" baseline="-25000" dirty="0"/>
              </a:p>
            </p:txBody>
          </p:sp>
        </mc:Choice>
        <mc:Fallback xmlns="">
          <p:sp>
            <p:nvSpPr>
              <p:cNvPr id="24" name="文字方塊 23">
                <a:extLst>
                  <a:ext uri="{FF2B5EF4-FFF2-40B4-BE49-F238E27FC236}">
                    <a16:creationId xmlns:a16="http://schemas.microsoft.com/office/drawing/2014/main" id="{391CBD97-4E38-AE0E-F794-57E9745B50EA}"/>
                  </a:ext>
                </a:extLst>
              </p:cNvPr>
              <p:cNvSpPr txBox="1">
                <a:spLocks noRot="1" noChangeAspect="1" noMove="1" noResize="1" noEditPoints="1" noAdjustHandles="1" noChangeArrowheads="1" noChangeShapeType="1" noTextEdit="1"/>
              </p:cNvSpPr>
              <p:nvPr/>
            </p:nvSpPr>
            <p:spPr>
              <a:xfrm>
                <a:off x="3554533" y="2475317"/>
                <a:ext cx="434991" cy="362984"/>
              </a:xfrm>
              <a:prstGeom prst="rect">
                <a:avLst/>
              </a:prstGeom>
              <a:blipFill>
                <a:blip r:embed="rId4"/>
                <a:stretch>
                  <a:fillRect r="-1408" b="-23333"/>
                </a:stretch>
              </a:blipFill>
            </p:spPr>
            <p:txBody>
              <a:bodyPr/>
              <a:lstStyle/>
              <a:p>
                <a:r>
                  <a:rPr lang="zh-TW" altLang="en-US">
                    <a:noFill/>
                  </a:rPr>
                  <a:t> </a:t>
                </a:r>
              </a:p>
            </p:txBody>
          </p:sp>
        </mc:Fallback>
      </mc:AlternateContent>
      <p:sp>
        <p:nvSpPr>
          <p:cNvPr id="25" name="箭號: 向右 24">
            <a:extLst>
              <a:ext uri="{FF2B5EF4-FFF2-40B4-BE49-F238E27FC236}">
                <a16:creationId xmlns:a16="http://schemas.microsoft.com/office/drawing/2014/main" id="{21A0AFC8-ED96-4465-9FAF-4C1761DC00CF}"/>
              </a:ext>
            </a:extLst>
          </p:cNvPr>
          <p:cNvSpPr/>
          <p:nvPr/>
        </p:nvSpPr>
        <p:spPr>
          <a:xfrm>
            <a:off x="602054" y="2724353"/>
            <a:ext cx="1144504" cy="163016"/>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B2A9D771-0229-0C4F-E671-6915609E2351}"/>
                  </a:ext>
                </a:extLst>
              </p:cNvPr>
              <p:cNvSpPr txBox="1"/>
              <p:nvPr/>
            </p:nvSpPr>
            <p:spPr>
              <a:xfrm>
                <a:off x="953998" y="2373680"/>
                <a:ext cx="434991" cy="362984"/>
              </a:xfrm>
              <a:prstGeom prst="rect">
                <a:avLst/>
              </a:prstGeom>
              <a:noFill/>
            </p:spPr>
            <p:txBody>
              <a:bodyPr wrap="none" rtlCol="0">
                <a:spAutoFit/>
              </a:bodyPr>
              <a:lstStyle/>
              <a:p>
                <a14:m>
                  <m:oMath xmlns:m="http://schemas.openxmlformats.org/officeDocument/2006/math">
                    <m:r>
                      <a:rPr lang="zh-TW" altLang="en-US" i="1" dirty="0" smtClean="0">
                        <a:latin typeface="Cambria Math" panose="02040503050406030204" pitchFamily="18" charset="0"/>
                      </a:rPr>
                      <m:t>𝜔</m:t>
                    </m:r>
                  </m:oMath>
                </a14:m>
                <a:r>
                  <a:rPr lang="en-US" altLang="zh-TW" baseline="-25000" dirty="0"/>
                  <a:t>1</a:t>
                </a:r>
                <a:endParaRPr lang="zh-TW" altLang="en-US" baseline="-25000" dirty="0"/>
              </a:p>
            </p:txBody>
          </p:sp>
        </mc:Choice>
        <mc:Fallback xmlns="">
          <p:sp>
            <p:nvSpPr>
              <p:cNvPr id="26" name="文字方塊 25">
                <a:extLst>
                  <a:ext uri="{FF2B5EF4-FFF2-40B4-BE49-F238E27FC236}">
                    <a16:creationId xmlns:a16="http://schemas.microsoft.com/office/drawing/2014/main" id="{B2A9D771-0229-0C4F-E671-6915609E2351}"/>
                  </a:ext>
                </a:extLst>
              </p:cNvPr>
              <p:cNvSpPr txBox="1">
                <a:spLocks noRot="1" noChangeAspect="1" noMove="1" noResize="1" noEditPoints="1" noAdjustHandles="1" noChangeArrowheads="1" noChangeShapeType="1" noTextEdit="1"/>
              </p:cNvSpPr>
              <p:nvPr/>
            </p:nvSpPr>
            <p:spPr>
              <a:xfrm>
                <a:off x="953998" y="2373680"/>
                <a:ext cx="434991" cy="362984"/>
              </a:xfrm>
              <a:prstGeom prst="rect">
                <a:avLst/>
              </a:prstGeom>
              <a:blipFill>
                <a:blip r:embed="rId5"/>
                <a:stretch>
                  <a:fillRect b="-23333"/>
                </a:stretch>
              </a:blipFill>
            </p:spPr>
            <p:txBody>
              <a:bodyPr/>
              <a:lstStyle/>
              <a:p>
                <a:r>
                  <a:rPr lang="zh-TW" altLang="en-US">
                    <a:noFill/>
                  </a:rPr>
                  <a:t> </a:t>
                </a:r>
              </a:p>
            </p:txBody>
          </p:sp>
        </mc:Fallback>
      </mc:AlternateContent>
      <p:sp>
        <p:nvSpPr>
          <p:cNvPr id="27" name="箭號: 向右 26">
            <a:extLst>
              <a:ext uri="{FF2B5EF4-FFF2-40B4-BE49-F238E27FC236}">
                <a16:creationId xmlns:a16="http://schemas.microsoft.com/office/drawing/2014/main" id="{B355B1B9-7CB4-33E9-99A9-72885250D392}"/>
              </a:ext>
            </a:extLst>
          </p:cNvPr>
          <p:cNvSpPr/>
          <p:nvPr/>
        </p:nvSpPr>
        <p:spPr>
          <a:xfrm>
            <a:off x="602054" y="3205981"/>
            <a:ext cx="1144504" cy="163017"/>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E20C5A2F-20E1-5264-FED2-5B12128720FE}"/>
                  </a:ext>
                </a:extLst>
              </p:cNvPr>
              <p:cNvSpPr txBox="1"/>
              <p:nvPr/>
            </p:nvSpPr>
            <p:spPr>
              <a:xfrm>
                <a:off x="939421" y="2903477"/>
                <a:ext cx="434991" cy="362984"/>
              </a:xfrm>
              <a:prstGeom prst="rect">
                <a:avLst/>
              </a:prstGeom>
              <a:noFill/>
            </p:spPr>
            <p:txBody>
              <a:bodyPr wrap="none" rtlCol="0">
                <a:spAutoFit/>
              </a:bodyPr>
              <a:lstStyle/>
              <a:p>
                <a14:m>
                  <m:oMath xmlns:m="http://schemas.openxmlformats.org/officeDocument/2006/math">
                    <m:r>
                      <a:rPr lang="zh-TW" altLang="en-US" i="1" dirty="0" smtClean="0">
                        <a:latin typeface="Cambria Math" panose="02040503050406030204" pitchFamily="18" charset="0"/>
                      </a:rPr>
                      <m:t>𝜔</m:t>
                    </m:r>
                  </m:oMath>
                </a14:m>
                <a:r>
                  <a:rPr lang="en-US" altLang="zh-TW" baseline="-25000" dirty="0"/>
                  <a:t>1</a:t>
                </a:r>
                <a:endParaRPr lang="zh-TW" altLang="en-US" baseline="-25000" dirty="0"/>
              </a:p>
            </p:txBody>
          </p:sp>
        </mc:Choice>
        <mc:Fallback xmlns="">
          <p:sp>
            <p:nvSpPr>
              <p:cNvPr id="28" name="文字方塊 27">
                <a:extLst>
                  <a:ext uri="{FF2B5EF4-FFF2-40B4-BE49-F238E27FC236}">
                    <a16:creationId xmlns:a16="http://schemas.microsoft.com/office/drawing/2014/main" id="{E20C5A2F-20E1-5264-FED2-5B12128720FE}"/>
                  </a:ext>
                </a:extLst>
              </p:cNvPr>
              <p:cNvSpPr txBox="1">
                <a:spLocks noRot="1" noChangeAspect="1" noMove="1" noResize="1" noEditPoints="1" noAdjustHandles="1" noChangeArrowheads="1" noChangeShapeType="1" noTextEdit="1"/>
              </p:cNvSpPr>
              <p:nvPr/>
            </p:nvSpPr>
            <p:spPr>
              <a:xfrm>
                <a:off x="939421" y="2903477"/>
                <a:ext cx="434991" cy="362984"/>
              </a:xfrm>
              <a:prstGeom prst="rect">
                <a:avLst/>
              </a:prstGeom>
              <a:blipFill>
                <a:blip r:embed="rId6"/>
                <a:stretch>
                  <a:fillRect r="-1408" b="-23333"/>
                </a:stretch>
              </a:blipFill>
            </p:spPr>
            <p:txBody>
              <a:bodyPr/>
              <a:lstStyle/>
              <a:p>
                <a:r>
                  <a:rPr lang="zh-TW" altLang="en-US">
                    <a:noFill/>
                  </a:rPr>
                  <a:t> </a:t>
                </a:r>
              </a:p>
            </p:txBody>
          </p:sp>
        </mc:Fallback>
      </mc:AlternateContent>
      <p:sp>
        <p:nvSpPr>
          <p:cNvPr id="31" name="矩形: 圓角 30">
            <a:extLst>
              <a:ext uri="{FF2B5EF4-FFF2-40B4-BE49-F238E27FC236}">
                <a16:creationId xmlns:a16="http://schemas.microsoft.com/office/drawing/2014/main" id="{DA9E6BA5-6A40-7E49-A2D9-DB6AC2B10629}"/>
              </a:ext>
            </a:extLst>
          </p:cNvPr>
          <p:cNvSpPr/>
          <p:nvPr/>
        </p:nvSpPr>
        <p:spPr>
          <a:xfrm>
            <a:off x="1746558" y="4731855"/>
            <a:ext cx="1499616" cy="1043567"/>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ysClr val="windowText" lastClr="000000"/>
                </a:solidFill>
              </a:rPr>
              <a:t>SPDC</a:t>
            </a:r>
            <a:endParaRPr lang="zh-TW" altLang="en-US" dirty="0">
              <a:solidFill>
                <a:sysClr val="windowText" lastClr="000000"/>
              </a:solidFill>
            </a:endParaRPr>
          </a:p>
        </p:txBody>
      </p:sp>
      <p:sp>
        <p:nvSpPr>
          <p:cNvPr id="32" name="箭號: 向右 31">
            <a:extLst>
              <a:ext uri="{FF2B5EF4-FFF2-40B4-BE49-F238E27FC236}">
                <a16:creationId xmlns:a16="http://schemas.microsoft.com/office/drawing/2014/main" id="{40C818BB-64BA-A0A9-4921-EF9D71E65F93}"/>
              </a:ext>
            </a:extLst>
          </p:cNvPr>
          <p:cNvSpPr/>
          <p:nvPr/>
        </p:nvSpPr>
        <p:spPr>
          <a:xfrm>
            <a:off x="602054" y="5005084"/>
            <a:ext cx="1138881" cy="375138"/>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18A9B071-B170-7FAB-233E-6B239BA0FF5E}"/>
                  </a:ext>
                </a:extLst>
              </p:cNvPr>
              <p:cNvSpPr txBox="1"/>
              <p:nvPr/>
            </p:nvSpPr>
            <p:spPr>
              <a:xfrm>
                <a:off x="910413" y="4625664"/>
                <a:ext cx="434991" cy="362984"/>
              </a:xfrm>
              <a:prstGeom prst="rect">
                <a:avLst/>
              </a:prstGeom>
              <a:noFill/>
            </p:spPr>
            <p:txBody>
              <a:bodyPr wrap="square" rtlCol="0">
                <a:spAutoFit/>
              </a:bodyPr>
              <a:lstStyle/>
              <a:p>
                <a14:m>
                  <m:oMath xmlns:m="http://schemas.openxmlformats.org/officeDocument/2006/math">
                    <m:r>
                      <a:rPr lang="zh-TW" altLang="en-US" i="1" dirty="0" smtClean="0">
                        <a:latin typeface="Cambria Math" panose="02040503050406030204" pitchFamily="18" charset="0"/>
                      </a:rPr>
                      <m:t>𝜔</m:t>
                    </m:r>
                  </m:oMath>
                </a14:m>
                <a:r>
                  <a:rPr lang="en-US" altLang="zh-TW" baseline="-25000" dirty="0"/>
                  <a:t>p</a:t>
                </a:r>
                <a:endParaRPr lang="zh-TW" altLang="en-US" baseline="-25000" dirty="0"/>
              </a:p>
            </p:txBody>
          </p:sp>
        </mc:Choice>
        <mc:Fallback xmlns="">
          <p:sp>
            <p:nvSpPr>
              <p:cNvPr id="33" name="文字方塊 32">
                <a:extLst>
                  <a:ext uri="{FF2B5EF4-FFF2-40B4-BE49-F238E27FC236}">
                    <a16:creationId xmlns:a16="http://schemas.microsoft.com/office/drawing/2014/main" id="{18A9B071-B170-7FAB-233E-6B239BA0FF5E}"/>
                  </a:ext>
                </a:extLst>
              </p:cNvPr>
              <p:cNvSpPr txBox="1">
                <a:spLocks noRot="1" noChangeAspect="1" noMove="1" noResize="1" noEditPoints="1" noAdjustHandles="1" noChangeArrowheads="1" noChangeShapeType="1" noTextEdit="1"/>
              </p:cNvSpPr>
              <p:nvPr/>
            </p:nvSpPr>
            <p:spPr>
              <a:xfrm>
                <a:off x="910413" y="4625664"/>
                <a:ext cx="434991" cy="362984"/>
              </a:xfrm>
              <a:prstGeom prst="rect">
                <a:avLst/>
              </a:prstGeom>
              <a:blipFill>
                <a:blip r:embed="rId7"/>
                <a:stretch>
                  <a:fillRect b="-254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5" name="文字方塊 34">
                <a:extLst>
                  <a:ext uri="{FF2B5EF4-FFF2-40B4-BE49-F238E27FC236}">
                    <a16:creationId xmlns:a16="http://schemas.microsoft.com/office/drawing/2014/main" id="{406A61FD-A7D2-88F0-7678-52C30F701BA9}"/>
                  </a:ext>
                </a:extLst>
              </p:cNvPr>
              <p:cNvSpPr txBox="1"/>
              <p:nvPr/>
            </p:nvSpPr>
            <p:spPr>
              <a:xfrm>
                <a:off x="3597814" y="4542181"/>
                <a:ext cx="417358" cy="362984"/>
              </a:xfrm>
              <a:prstGeom prst="rect">
                <a:avLst/>
              </a:prstGeom>
              <a:noFill/>
            </p:spPr>
            <p:txBody>
              <a:bodyPr wrap="none" rtlCol="0">
                <a:spAutoFit/>
              </a:bodyPr>
              <a:lstStyle/>
              <a:p>
                <a14:m>
                  <m:oMath xmlns:m="http://schemas.openxmlformats.org/officeDocument/2006/math">
                    <m:r>
                      <a:rPr lang="zh-TW" altLang="en-US" i="1" dirty="0" smtClean="0">
                        <a:latin typeface="Cambria Math" panose="02040503050406030204" pitchFamily="18" charset="0"/>
                      </a:rPr>
                      <m:t>𝜔</m:t>
                    </m:r>
                  </m:oMath>
                </a14:m>
                <a:r>
                  <a:rPr lang="en-US" altLang="zh-TW" baseline="-25000" dirty="0"/>
                  <a:t>s</a:t>
                </a:r>
                <a:endParaRPr lang="zh-TW" altLang="en-US" baseline="-25000" dirty="0"/>
              </a:p>
            </p:txBody>
          </p:sp>
        </mc:Choice>
        <mc:Fallback xmlns="">
          <p:sp>
            <p:nvSpPr>
              <p:cNvPr id="35" name="文字方塊 34">
                <a:extLst>
                  <a:ext uri="{FF2B5EF4-FFF2-40B4-BE49-F238E27FC236}">
                    <a16:creationId xmlns:a16="http://schemas.microsoft.com/office/drawing/2014/main" id="{406A61FD-A7D2-88F0-7678-52C30F701BA9}"/>
                  </a:ext>
                </a:extLst>
              </p:cNvPr>
              <p:cNvSpPr txBox="1">
                <a:spLocks noRot="1" noChangeAspect="1" noMove="1" noResize="1" noEditPoints="1" noAdjustHandles="1" noChangeArrowheads="1" noChangeShapeType="1" noTextEdit="1"/>
              </p:cNvSpPr>
              <p:nvPr/>
            </p:nvSpPr>
            <p:spPr>
              <a:xfrm>
                <a:off x="3597814" y="4542181"/>
                <a:ext cx="417358" cy="362984"/>
              </a:xfrm>
              <a:prstGeom prst="rect">
                <a:avLst/>
              </a:prstGeom>
              <a:blipFill>
                <a:blip r:embed="rId8"/>
                <a:stretch>
                  <a:fillRect b="-23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3936F81C-5BF6-D7A3-4FFB-46D103CD2437}"/>
                  </a:ext>
                </a:extLst>
              </p:cNvPr>
              <p:cNvSpPr txBox="1"/>
              <p:nvPr/>
            </p:nvSpPr>
            <p:spPr>
              <a:xfrm>
                <a:off x="3597814" y="5061610"/>
                <a:ext cx="391710" cy="362984"/>
              </a:xfrm>
              <a:prstGeom prst="rect">
                <a:avLst/>
              </a:prstGeom>
              <a:noFill/>
            </p:spPr>
            <p:txBody>
              <a:bodyPr wrap="none" rtlCol="0">
                <a:spAutoFit/>
              </a:bodyPr>
              <a:lstStyle/>
              <a:p>
                <a14:m>
                  <m:oMath xmlns:m="http://schemas.openxmlformats.org/officeDocument/2006/math">
                    <m:r>
                      <a:rPr lang="zh-TW" altLang="en-US" i="1" dirty="0" smtClean="0">
                        <a:latin typeface="Cambria Math" panose="02040503050406030204" pitchFamily="18" charset="0"/>
                      </a:rPr>
                      <m:t>𝜔</m:t>
                    </m:r>
                  </m:oMath>
                </a14:m>
                <a:r>
                  <a:rPr lang="en-US" altLang="zh-TW" baseline="-25000" dirty="0"/>
                  <a:t>i</a:t>
                </a:r>
                <a:endParaRPr lang="zh-TW" altLang="en-US" baseline="-25000" dirty="0"/>
              </a:p>
            </p:txBody>
          </p:sp>
        </mc:Choice>
        <mc:Fallback xmlns="">
          <p:sp>
            <p:nvSpPr>
              <p:cNvPr id="37" name="文字方塊 36">
                <a:extLst>
                  <a:ext uri="{FF2B5EF4-FFF2-40B4-BE49-F238E27FC236}">
                    <a16:creationId xmlns:a16="http://schemas.microsoft.com/office/drawing/2014/main" id="{3936F81C-5BF6-D7A3-4FFB-46D103CD2437}"/>
                  </a:ext>
                </a:extLst>
              </p:cNvPr>
              <p:cNvSpPr txBox="1">
                <a:spLocks noRot="1" noChangeAspect="1" noMove="1" noResize="1" noEditPoints="1" noAdjustHandles="1" noChangeArrowheads="1" noChangeShapeType="1" noTextEdit="1"/>
              </p:cNvSpPr>
              <p:nvPr/>
            </p:nvSpPr>
            <p:spPr>
              <a:xfrm>
                <a:off x="3597814" y="5061610"/>
                <a:ext cx="391710" cy="362984"/>
              </a:xfrm>
              <a:prstGeom prst="rect">
                <a:avLst/>
              </a:prstGeom>
              <a:blipFill>
                <a:blip r:embed="rId9"/>
                <a:stretch>
                  <a:fillRect r="-1563" b="-23333"/>
                </a:stretch>
              </a:blipFill>
            </p:spPr>
            <p:txBody>
              <a:bodyPr/>
              <a:lstStyle/>
              <a:p>
                <a:r>
                  <a:rPr lang="zh-TW" altLang="en-US">
                    <a:noFill/>
                  </a:rPr>
                  <a:t> </a:t>
                </a:r>
              </a:p>
            </p:txBody>
          </p:sp>
        </mc:Fallback>
      </mc:AlternateContent>
      <p:sp>
        <p:nvSpPr>
          <p:cNvPr id="66" name="箭號: 向右 65">
            <a:extLst>
              <a:ext uri="{FF2B5EF4-FFF2-40B4-BE49-F238E27FC236}">
                <a16:creationId xmlns:a16="http://schemas.microsoft.com/office/drawing/2014/main" id="{EC01969C-7569-3C95-AE17-D9C9C9ACDE22}"/>
              </a:ext>
            </a:extLst>
          </p:cNvPr>
          <p:cNvSpPr/>
          <p:nvPr/>
        </p:nvSpPr>
        <p:spPr>
          <a:xfrm>
            <a:off x="3257173" y="4898594"/>
            <a:ext cx="1144504" cy="163016"/>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4" name="箭號: 上-下雙向 83">
            <a:extLst>
              <a:ext uri="{FF2B5EF4-FFF2-40B4-BE49-F238E27FC236}">
                <a16:creationId xmlns:a16="http://schemas.microsoft.com/office/drawing/2014/main" id="{02D1B543-C0D5-A2BC-5D13-7D631A7AE675}"/>
              </a:ext>
            </a:extLst>
          </p:cNvPr>
          <p:cNvSpPr/>
          <p:nvPr/>
        </p:nvSpPr>
        <p:spPr>
          <a:xfrm>
            <a:off x="2298562" y="3621770"/>
            <a:ext cx="434991" cy="990811"/>
          </a:xfrm>
          <a:prstGeom prst="up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946AEF55-5277-7C44-1EC2-DE1DDEF3D24D}"/>
                  </a:ext>
                </a:extLst>
              </p:cNvPr>
              <p:cNvSpPr txBox="1"/>
              <p:nvPr/>
            </p:nvSpPr>
            <p:spPr>
              <a:xfrm>
                <a:off x="3554533" y="4175912"/>
                <a:ext cx="739818" cy="369332"/>
              </a:xfrm>
              <a:prstGeom prst="rect">
                <a:avLst/>
              </a:prstGeom>
              <a:noFill/>
            </p:spPr>
            <p:txBody>
              <a:bodyPr wrap="none" rtlCol="0">
                <a:spAutoFit/>
              </a:bodyPr>
              <a:lstStyle/>
              <a:p>
                <a14:m>
                  <m:oMath xmlns:m="http://schemas.openxmlformats.org/officeDocument/2006/math">
                    <m:r>
                      <a:rPr lang="zh-TW" altLang="en-US" i="1" dirty="0" smtClean="0">
                        <a:latin typeface="Cambria Math" panose="02040503050406030204" pitchFamily="18" charset="0"/>
                      </a:rPr>
                      <m:t>𝜔</m:t>
                    </m:r>
                  </m:oMath>
                </a14:m>
                <a:r>
                  <a:rPr lang="en-US" altLang="zh-TW" baseline="-25000" dirty="0"/>
                  <a:t>s</a:t>
                </a:r>
                <a:r>
                  <a:rPr lang="en-US" altLang="zh-TW" dirty="0"/>
                  <a:t>=</a:t>
                </a:r>
                <a14:m>
                  <m:oMath xmlns:m="http://schemas.openxmlformats.org/officeDocument/2006/math">
                    <m:r>
                      <a:rPr lang="zh-TW" altLang="en-US" i="1" dirty="0">
                        <a:latin typeface="Cambria Math" panose="02040503050406030204" pitchFamily="18" charset="0"/>
                      </a:rPr>
                      <m:t>𝜔</m:t>
                    </m:r>
                  </m:oMath>
                </a14:m>
                <a:r>
                  <a:rPr lang="en-US" altLang="zh-TW" baseline="-25000" dirty="0"/>
                  <a:t>i</a:t>
                </a:r>
                <a:endParaRPr lang="zh-TW" altLang="en-US" baseline="-25000" dirty="0"/>
              </a:p>
            </p:txBody>
          </p:sp>
        </mc:Choice>
        <mc:Fallback xmlns="">
          <p:sp>
            <p:nvSpPr>
              <p:cNvPr id="6" name="文字方塊 5">
                <a:extLst>
                  <a:ext uri="{FF2B5EF4-FFF2-40B4-BE49-F238E27FC236}">
                    <a16:creationId xmlns:a16="http://schemas.microsoft.com/office/drawing/2014/main" id="{946AEF55-5277-7C44-1EC2-DE1DDEF3D24D}"/>
                  </a:ext>
                </a:extLst>
              </p:cNvPr>
              <p:cNvSpPr txBox="1">
                <a:spLocks noRot="1" noChangeAspect="1" noMove="1" noResize="1" noEditPoints="1" noAdjustHandles="1" noChangeArrowheads="1" noChangeShapeType="1" noTextEdit="1"/>
              </p:cNvSpPr>
              <p:nvPr/>
            </p:nvSpPr>
            <p:spPr>
              <a:xfrm>
                <a:off x="3554533" y="4175912"/>
                <a:ext cx="739818" cy="369332"/>
              </a:xfrm>
              <a:prstGeom prst="rect">
                <a:avLst/>
              </a:prstGeom>
              <a:blipFill>
                <a:blip r:embed="rId10"/>
                <a:stretch>
                  <a:fillRect t="-8197" r="-826" b="-24590"/>
                </a:stretch>
              </a:blipFill>
            </p:spPr>
            <p:txBody>
              <a:bodyPr/>
              <a:lstStyle/>
              <a:p>
                <a:r>
                  <a:rPr lang="zh-TW" altLang="en-US">
                    <a:noFill/>
                  </a:rPr>
                  <a:t> </a:t>
                </a:r>
              </a:p>
            </p:txBody>
          </p:sp>
        </mc:Fallback>
      </mc:AlternateContent>
      <p:grpSp>
        <p:nvGrpSpPr>
          <p:cNvPr id="95" name="群組 94">
            <a:extLst>
              <a:ext uri="{FF2B5EF4-FFF2-40B4-BE49-F238E27FC236}">
                <a16:creationId xmlns:a16="http://schemas.microsoft.com/office/drawing/2014/main" id="{1FFAB82D-3919-04CB-13D3-8766054C206E}"/>
              </a:ext>
            </a:extLst>
          </p:cNvPr>
          <p:cNvGrpSpPr/>
          <p:nvPr/>
        </p:nvGrpSpPr>
        <p:grpSpPr>
          <a:xfrm>
            <a:off x="8445512" y="2276566"/>
            <a:ext cx="2915623" cy="2587185"/>
            <a:chOff x="8433771" y="2307101"/>
            <a:chExt cx="2915623" cy="2587185"/>
          </a:xfrm>
        </p:grpSpPr>
        <p:sp>
          <p:nvSpPr>
            <p:cNvPr id="85" name="文字方塊 84">
              <a:extLst>
                <a:ext uri="{FF2B5EF4-FFF2-40B4-BE49-F238E27FC236}">
                  <a16:creationId xmlns:a16="http://schemas.microsoft.com/office/drawing/2014/main" id="{D1F6E839-20CB-F281-AD71-D69376DAC2C2}"/>
                </a:ext>
              </a:extLst>
            </p:cNvPr>
            <p:cNvSpPr txBox="1"/>
            <p:nvPr/>
          </p:nvSpPr>
          <p:spPr>
            <a:xfrm>
              <a:off x="8453545" y="2307101"/>
              <a:ext cx="2895849" cy="646331"/>
            </a:xfrm>
            <a:prstGeom prst="rect">
              <a:avLst/>
            </a:prstGeom>
            <a:noFill/>
          </p:spPr>
          <p:txBody>
            <a:bodyPr wrap="square">
              <a:spAutoFit/>
            </a:bodyPr>
            <a:lstStyle/>
            <a:p>
              <a:r>
                <a:rPr lang="en-US" altLang="zh-TW" dirty="0"/>
                <a:t>Momentum Conservation </a:t>
              </a:r>
            </a:p>
            <a:p>
              <a:r>
                <a:rPr lang="en-US" altLang="zh-TW" dirty="0"/>
                <a:t>(Phase Matching)</a:t>
              </a:r>
              <a:endParaRPr lang="zh-TW" altLang="en-US" dirty="0"/>
            </a:p>
          </p:txBody>
        </p:sp>
        <p:pic>
          <p:nvPicPr>
            <p:cNvPr id="91" name="圖片 90">
              <a:extLst>
                <a:ext uri="{FF2B5EF4-FFF2-40B4-BE49-F238E27FC236}">
                  <a16:creationId xmlns:a16="http://schemas.microsoft.com/office/drawing/2014/main" id="{48E9D97E-F5BB-A017-2929-3BED7F84B907}"/>
                </a:ext>
              </a:extLst>
            </p:cNvPr>
            <p:cNvPicPr>
              <a:picLocks noChangeAspect="1"/>
            </p:cNvPicPr>
            <p:nvPr/>
          </p:nvPicPr>
          <p:blipFill>
            <a:blip r:embed="rId11"/>
            <a:stretch>
              <a:fillRect/>
            </a:stretch>
          </p:blipFill>
          <p:spPr>
            <a:xfrm>
              <a:off x="8433771" y="3296996"/>
              <a:ext cx="2895851" cy="1597290"/>
            </a:xfrm>
            <a:prstGeom prst="rect">
              <a:avLst/>
            </a:prstGeom>
          </p:spPr>
        </p:pic>
      </p:grpSp>
      <p:grpSp>
        <p:nvGrpSpPr>
          <p:cNvPr id="94" name="群組 93">
            <a:extLst>
              <a:ext uri="{FF2B5EF4-FFF2-40B4-BE49-F238E27FC236}">
                <a16:creationId xmlns:a16="http://schemas.microsoft.com/office/drawing/2014/main" id="{C484E562-9755-F84F-54C1-0C06DC190629}"/>
              </a:ext>
            </a:extLst>
          </p:cNvPr>
          <p:cNvGrpSpPr/>
          <p:nvPr/>
        </p:nvGrpSpPr>
        <p:grpSpPr>
          <a:xfrm>
            <a:off x="8466416" y="2265494"/>
            <a:ext cx="2703955" cy="2424159"/>
            <a:chOff x="10010097" y="3767910"/>
            <a:chExt cx="2703955" cy="2424159"/>
          </a:xfrm>
        </p:grpSpPr>
        <p:pic>
          <p:nvPicPr>
            <p:cNvPr id="82" name="圖片 81">
              <a:extLst>
                <a:ext uri="{FF2B5EF4-FFF2-40B4-BE49-F238E27FC236}">
                  <a16:creationId xmlns:a16="http://schemas.microsoft.com/office/drawing/2014/main" id="{44DEB3FA-9B6B-0429-7743-5F49D15E8C07}"/>
                </a:ext>
              </a:extLst>
            </p:cNvPr>
            <p:cNvPicPr>
              <a:picLocks noChangeAspect="1"/>
            </p:cNvPicPr>
            <p:nvPr/>
          </p:nvPicPr>
          <p:blipFill>
            <a:blip r:embed="rId12"/>
            <a:stretch>
              <a:fillRect/>
            </a:stretch>
          </p:blipFill>
          <p:spPr>
            <a:xfrm>
              <a:off x="10104738" y="5064211"/>
              <a:ext cx="2609314" cy="1127858"/>
            </a:xfrm>
            <a:prstGeom prst="rect">
              <a:avLst/>
            </a:prstGeom>
          </p:spPr>
        </p:pic>
        <p:sp>
          <p:nvSpPr>
            <p:cNvPr id="79" name="文字方塊 78">
              <a:extLst>
                <a:ext uri="{FF2B5EF4-FFF2-40B4-BE49-F238E27FC236}">
                  <a16:creationId xmlns:a16="http://schemas.microsoft.com/office/drawing/2014/main" id="{18B89319-7286-EC4F-52F5-1BF4E3BEEE4D}"/>
                </a:ext>
              </a:extLst>
            </p:cNvPr>
            <p:cNvSpPr txBox="1"/>
            <p:nvPr/>
          </p:nvSpPr>
          <p:spPr>
            <a:xfrm>
              <a:off x="10010097" y="3767910"/>
              <a:ext cx="2649380" cy="646331"/>
            </a:xfrm>
            <a:prstGeom prst="rect">
              <a:avLst/>
            </a:prstGeom>
            <a:noFill/>
          </p:spPr>
          <p:txBody>
            <a:bodyPr wrap="none" rtlCol="0">
              <a:spAutoFit/>
            </a:bodyPr>
            <a:lstStyle/>
            <a:p>
              <a:r>
                <a:rPr lang="en-US" altLang="zh-TW" dirty="0"/>
                <a:t>Momentum Conservation </a:t>
              </a:r>
            </a:p>
            <a:p>
              <a:r>
                <a:rPr lang="en-US" altLang="zh-TW" dirty="0"/>
                <a:t>(Quasi Phase Matching)</a:t>
              </a:r>
              <a:endParaRPr lang="zh-TW" altLang="en-US" dirty="0"/>
            </a:p>
          </p:txBody>
        </p:sp>
      </p:grpSp>
      <mc:AlternateContent xmlns:mc="http://schemas.openxmlformats.org/markup-compatibility/2006" xmlns:a14="http://schemas.microsoft.com/office/drawing/2010/main">
        <mc:Choice Requires="a14">
          <p:sp>
            <p:nvSpPr>
              <p:cNvPr id="7" name="內容版面配置區 2">
                <a:extLst>
                  <a:ext uri="{FF2B5EF4-FFF2-40B4-BE49-F238E27FC236}">
                    <a16:creationId xmlns:a16="http://schemas.microsoft.com/office/drawing/2014/main" id="{9B1DEC48-EE7E-E1F0-CE51-24AF893BB42D}"/>
                  </a:ext>
                </a:extLst>
              </p:cNvPr>
              <p:cNvSpPr txBox="1">
                <a:spLocks/>
              </p:cNvSpPr>
              <p:nvPr/>
            </p:nvSpPr>
            <p:spPr>
              <a:xfrm>
                <a:off x="8447262" y="5005084"/>
                <a:ext cx="3184178" cy="615466"/>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200000"/>
                  </a:lnSpc>
                  <a:buNone/>
                </a:pPr>
                <a:r>
                  <a:rPr lang="en-US" altLang="zh-TW" dirty="0" err="1"/>
                  <a:t>k</a:t>
                </a:r>
                <a:r>
                  <a:rPr lang="en-US" altLang="zh-TW" baseline="-25000" dirty="0" err="1"/>
                  <a:t>p</a:t>
                </a:r>
                <a:r>
                  <a:rPr lang="en-US" altLang="zh-TW" baseline="-25000" dirty="0"/>
                  <a:t> </a:t>
                </a:r>
                <a:r>
                  <a:rPr lang="en-US" altLang="zh-TW" dirty="0"/>
                  <a:t>=</a:t>
                </a:r>
                <a:r>
                  <a:rPr lang="en-US" altLang="zh-TW" dirty="0" err="1"/>
                  <a:t>k</a:t>
                </a:r>
                <a:r>
                  <a:rPr lang="en-US" altLang="zh-TW" baseline="-25000" dirty="0" err="1"/>
                  <a:t>s</a:t>
                </a:r>
                <a:r>
                  <a:rPr lang="en-US" altLang="zh-TW" baseline="-25000" dirty="0"/>
                  <a:t> </a:t>
                </a:r>
                <a:r>
                  <a:rPr lang="en-US" altLang="zh-TW" dirty="0"/>
                  <a:t>+ k</a:t>
                </a:r>
                <a:r>
                  <a:rPr lang="en-US" altLang="zh-TW" baseline="-25000" dirty="0"/>
                  <a:t>i </a:t>
                </a:r>
                <a:r>
                  <a:rPr lang="en-US" altLang="zh-TW" dirty="0"/>
                  <a:t>+ </a:t>
                </a:r>
                <a:r>
                  <a:rPr lang="en-US" altLang="zh-TW" dirty="0">
                    <a:solidFill>
                      <a:srgbClr val="FF0000"/>
                    </a:solidFill>
                  </a:rPr>
                  <a:t>k</a:t>
                </a:r>
                <a:r>
                  <a:rPr lang="el-GR" altLang="zh-TW" baseline="-25000" dirty="0">
                    <a:solidFill>
                      <a:srgbClr val="FF0000"/>
                    </a:solidFill>
                  </a:rPr>
                  <a:t>Λ</a:t>
                </a:r>
                <a:r>
                  <a:rPr lang="en-US" altLang="zh-TW" baseline="-25000" dirty="0"/>
                  <a:t> </a:t>
                </a:r>
                <a:r>
                  <a:rPr lang="zh-TW" altLang="en-US" dirty="0"/>
                  <a:t>，</a:t>
                </a:r>
                <a:r>
                  <a:rPr lang="en-US" altLang="zh-TW" dirty="0"/>
                  <a:t>(k</a:t>
                </a:r>
                <a:r>
                  <a:rPr lang="el-GR" altLang="zh-TW" baseline="-25000" dirty="0"/>
                  <a:t>Λ</a:t>
                </a:r>
                <a:r>
                  <a:rPr lang="en-US" altLang="zh-TW" dirty="0"/>
                  <a:t>=</a:t>
                </a:r>
                <a:r>
                  <a:rPr lang="el-GR" altLang="zh-TW" dirty="0"/>
                  <a:t>2π</a:t>
                </a:r>
                <a:r>
                  <a:rPr lang="en-US" altLang="zh-TW" dirty="0"/>
                  <a:t>m</a:t>
                </a:r>
                <a:r>
                  <a:rPr lang="el-GR" altLang="zh-TW" dirty="0"/>
                  <a:t>/</a:t>
                </a:r>
                <a14:m>
                  <m:oMath xmlns:m="http://schemas.openxmlformats.org/officeDocument/2006/math">
                    <m:r>
                      <m:rPr>
                        <m:sty m:val="p"/>
                      </m:rPr>
                      <a:rPr lang="zh-TW" altLang="en-US" smtClean="0">
                        <a:latin typeface="Cambria Math" panose="02040503050406030204" pitchFamily="18" charset="0"/>
                      </a:rPr>
                      <m:t>Λ</m:t>
                    </m:r>
                  </m:oMath>
                </a14:m>
                <a:r>
                  <a:rPr lang="en-US" altLang="zh-TW" dirty="0"/>
                  <a:t>)</a:t>
                </a:r>
              </a:p>
              <a:p>
                <a:pPr>
                  <a:lnSpc>
                    <a:spcPct val="200000"/>
                  </a:lnSpc>
                </a:pPr>
                <a:endParaRPr lang="zh-TW" altLang="en-US" dirty="0">
                  <a:latin typeface="Times New Roman" panose="02020603050405020304" pitchFamily="18" charset="0"/>
                  <a:cs typeface="Times New Roman" panose="02020603050405020304" pitchFamily="18" charset="0"/>
                </a:endParaRPr>
              </a:p>
            </p:txBody>
          </p:sp>
        </mc:Choice>
        <mc:Fallback xmlns="">
          <p:sp>
            <p:nvSpPr>
              <p:cNvPr id="7" name="內容版面配置區 2">
                <a:extLst>
                  <a:ext uri="{FF2B5EF4-FFF2-40B4-BE49-F238E27FC236}">
                    <a16:creationId xmlns:a16="http://schemas.microsoft.com/office/drawing/2014/main" id="{9B1DEC48-EE7E-E1F0-CE51-24AF893BB42D}"/>
                  </a:ext>
                </a:extLst>
              </p:cNvPr>
              <p:cNvSpPr txBox="1">
                <a:spLocks noRot="1" noChangeAspect="1" noMove="1" noResize="1" noEditPoints="1" noAdjustHandles="1" noChangeArrowheads="1" noChangeShapeType="1" noTextEdit="1"/>
              </p:cNvSpPr>
              <p:nvPr/>
            </p:nvSpPr>
            <p:spPr>
              <a:xfrm>
                <a:off x="8447262" y="5005084"/>
                <a:ext cx="3184178" cy="615466"/>
              </a:xfrm>
              <a:prstGeom prst="rect">
                <a:avLst/>
              </a:prstGeom>
              <a:blipFill>
                <a:blip r:embed="rId21"/>
                <a:stretch>
                  <a:fillRect l="-1724" b="-990"/>
                </a:stretch>
              </a:blipFill>
            </p:spPr>
            <p:txBody>
              <a:bodyPr/>
              <a:lstStyle/>
              <a:p>
                <a:r>
                  <a:rPr lang="zh-TW" altLang="en-US">
                    <a:noFill/>
                  </a:rPr>
                  <a:t> </a:t>
                </a:r>
              </a:p>
            </p:txBody>
          </p:sp>
        </mc:Fallback>
      </mc:AlternateContent>
      <p:sp>
        <p:nvSpPr>
          <p:cNvPr id="8" name="箭號: 向右 7">
            <a:extLst>
              <a:ext uri="{FF2B5EF4-FFF2-40B4-BE49-F238E27FC236}">
                <a16:creationId xmlns:a16="http://schemas.microsoft.com/office/drawing/2014/main" id="{1597BB66-C082-FC4C-C290-9023E9981729}"/>
              </a:ext>
            </a:extLst>
          </p:cNvPr>
          <p:cNvSpPr/>
          <p:nvPr/>
        </p:nvSpPr>
        <p:spPr>
          <a:xfrm>
            <a:off x="3257173" y="5399244"/>
            <a:ext cx="1144504" cy="163016"/>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447823F4-723B-CF41-9F26-848B8D396B49}"/>
                  </a:ext>
                </a:extLst>
              </p:cNvPr>
              <p:cNvSpPr txBox="1"/>
              <p:nvPr/>
            </p:nvSpPr>
            <p:spPr>
              <a:xfrm>
                <a:off x="4742302" y="5184848"/>
                <a:ext cx="3629465" cy="39074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m:rPr>
                              <m:sty m:val="p"/>
                            </m:rPr>
                            <a:rPr lang="el-GR" altLang="zh-TW" i="1" smtClean="0">
                              <a:latin typeface="Cambria Math" panose="02040503050406030204" pitchFamily="18" charset="0"/>
                            </a:rPr>
                            <m:t>ω</m:t>
                          </m:r>
                        </m:e>
                        <m:sub>
                          <m:r>
                            <a:rPr lang="en-US" altLang="zh-TW" b="0" i="1" smtClean="0">
                              <a:latin typeface="Cambria Math" panose="02040503050406030204" pitchFamily="18" charset="0"/>
                            </a:rPr>
                            <m:t>𝑝</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m:rPr>
                              <m:sty m:val="p"/>
                            </m:rPr>
                            <a:rPr lang="el-GR" altLang="zh-TW" b="0" i="1" smtClean="0">
                              <a:latin typeface="Cambria Math" panose="02040503050406030204" pitchFamily="18" charset="0"/>
                            </a:rPr>
                            <m:t>ω</m:t>
                          </m:r>
                        </m:e>
                        <m:sub>
                          <m:r>
                            <a:rPr lang="en-US" altLang="zh-TW" b="0" i="1" smtClean="0">
                              <a:latin typeface="Cambria Math" panose="02040503050406030204" pitchFamily="18" charset="0"/>
                            </a:rPr>
                            <m:t>𝑠</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m:rPr>
                              <m:sty m:val="p"/>
                            </m:rPr>
                            <a:rPr lang="el-GR" altLang="zh-TW" b="0" i="1" smtClean="0">
                              <a:latin typeface="Cambria Math" panose="02040503050406030204" pitchFamily="18" charset="0"/>
                            </a:rPr>
                            <m:t>ω</m:t>
                          </m:r>
                        </m:e>
                        <m:sub>
                          <m:r>
                            <a:rPr lang="en-US" altLang="zh-TW" b="0" i="1" smtClean="0">
                              <a:latin typeface="Cambria Math" panose="02040503050406030204" pitchFamily="18" charset="0"/>
                            </a:rPr>
                            <m:t>𝑖</m:t>
                          </m:r>
                        </m:sub>
                      </m:sSub>
                    </m:oMath>
                  </m:oMathPara>
                </a14:m>
                <a:endParaRPr lang="zh-TW" altLang="en-US" dirty="0"/>
              </a:p>
            </p:txBody>
          </p:sp>
        </mc:Choice>
        <mc:Fallback xmlns="">
          <p:sp>
            <p:nvSpPr>
              <p:cNvPr id="9" name="文字方塊 8">
                <a:extLst>
                  <a:ext uri="{FF2B5EF4-FFF2-40B4-BE49-F238E27FC236}">
                    <a16:creationId xmlns:a16="http://schemas.microsoft.com/office/drawing/2014/main" id="{447823F4-723B-CF41-9F26-848B8D396B49}"/>
                  </a:ext>
                </a:extLst>
              </p:cNvPr>
              <p:cNvSpPr txBox="1">
                <a:spLocks noRot="1" noChangeAspect="1" noMove="1" noResize="1" noEditPoints="1" noAdjustHandles="1" noChangeArrowheads="1" noChangeShapeType="1" noTextEdit="1"/>
              </p:cNvSpPr>
              <p:nvPr/>
            </p:nvSpPr>
            <p:spPr>
              <a:xfrm>
                <a:off x="4742302" y="5184848"/>
                <a:ext cx="3629465" cy="390748"/>
              </a:xfrm>
              <a:prstGeom prst="rect">
                <a:avLst/>
              </a:prstGeom>
              <a:blipFill>
                <a:blip r:embed="rId22"/>
                <a:stretch>
                  <a:fillRect b="-3125"/>
                </a:stretch>
              </a:blipFill>
            </p:spPr>
            <p:txBody>
              <a:bodyPr/>
              <a:lstStyle/>
              <a:p>
                <a:r>
                  <a:rPr lang="zh-TW" altLang="en-US">
                    <a:noFill/>
                  </a:rPr>
                  <a:t> </a:t>
                </a:r>
              </a:p>
            </p:txBody>
          </p:sp>
        </mc:Fallback>
      </mc:AlternateContent>
      <p:cxnSp>
        <p:nvCxnSpPr>
          <p:cNvPr id="10" name="直線接點 9">
            <a:extLst>
              <a:ext uri="{FF2B5EF4-FFF2-40B4-BE49-F238E27FC236}">
                <a16:creationId xmlns:a16="http://schemas.microsoft.com/office/drawing/2014/main" id="{D6B5E0EA-1AA1-3494-715B-5161EDE10176}"/>
              </a:ext>
            </a:extLst>
          </p:cNvPr>
          <p:cNvCxnSpPr>
            <a:cxnSpLocks/>
          </p:cNvCxnSpPr>
          <p:nvPr/>
        </p:nvCxnSpPr>
        <p:spPr>
          <a:xfrm>
            <a:off x="5326157" y="3216795"/>
            <a:ext cx="2187146" cy="0"/>
          </a:xfrm>
          <a:prstGeom prst="line">
            <a:avLst/>
          </a:prstGeom>
          <a:ln w="38100">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11" name="直線接點 10">
            <a:extLst>
              <a:ext uri="{FF2B5EF4-FFF2-40B4-BE49-F238E27FC236}">
                <a16:creationId xmlns:a16="http://schemas.microsoft.com/office/drawing/2014/main" id="{CE91C571-FF8E-8024-2AE2-FF2CB64E4C19}"/>
              </a:ext>
            </a:extLst>
          </p:cNvPr>
          <p:cNvCxnSpPr>
            <a:cxnSpLocks/>
          </p:cNvCxnSpPr>
          <p:nvPr/>
        </p:nvCxnSpPr>
        <p:spPr>
          <a:xfrm>
            <a:off x="5326157" y="4829352"/>
            <a:ext cx="2187146"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12" name="直線單箭頭接點 11">
            <a:extLst>
              <a:ext uri="{FF2B5EF4-FFF2-40B4-BE49-F238E27FC236}">
                <a16:creationId xmlns:a16="http://schemas.microsoft.com/office/drawing/2014/main" id="{D20C2C58-AD6E-8145-35FD-F511AE647AB5}"/>
              </a:ext>
            </a:extLst>
          </p:cNvPr>
          <p:cNvCxnSpPr>
            <a:cxnSpLocks/>
          </p:cNvCxnSpPr>
          <p:nvPr/>
        </p:nvCxnSpPr>
        <p:spPr>
          <a:xfrm flipV="1">
            <a:off x="5758644" y="3216795"/>
            <a:ext cx="0" cy="1612557"/>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單箭頭接點 12">
            <a:extLst>
              <a:ext uri="{FF2B5EF4-FFF2-40B4-BE49-F238E27FC236}">
                <a16:creationId xmlns:a16="http://schemas.microsoft.com/office/drawing/2014/main" id="{24B8528B-DFB3-38EA-E37A-28BAE110BB9F}"/>
              </a:ext>
            </a:extLst>
          </p:cNvPr>
          <p:cNvCxnSpPr>
            <a:cxnSpLocks/>
          </p:cNvCxnSpPr>
          <p:nvPr/>
        </p:nvCxnSpPr>
        <p:spPr>
          <a:xfrm>
            <a:off x="6796611" y="3216795"/>
            <a:ext cx="0" cy="87732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單箭頭接點 13">
            <a:extLst>
              <a:ext uri="{FF2B5EF4-FFF2-40B4-BE49-F238E27FC236}">
                <a16:creationId xmlns:a16="http://schemas.microsoft.com/office/drawing/2014/main" id="{59A9EED8-AE39-83D7-F931-CA474B8129EF}"/>
              </a:ext>
            </a:extLst>
          </p:cNvPr>
          <p:cNvCxnSpPr>
            <a:cxnSpLocks/>
          </p:cNvCxnSpPr>
          <p:nvPr/>
        </p:nvCxnSpPr>
        <p:spPr>
          <a:xfrm>
            <a:off x="6796611" y="4094124"/>
            <a:ext cx="0" cy="73522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B28B87CB-724F-CEF0-28DF-C9868F6D9A85}"/>
                  </a:ext>
                </a:extLst>
              </p:cNvPr>
              <p:cNvSpPr txBox="1"/>
              <p:nvPr/>
            </p:nvSpPr>
            <p:spPr>
              <a:xfrm>
                <a:off x="4591446" y="4130747"/>
                <a:ext cx="753762" cy="39074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m:rPr>
                              <m:sty m:val="p"/>
                            </m:rPr>
                            <a:rPr lang="el-GR" altLang="zh-TW" i="1" smtClean="0">
                              <a:latin typeface="Cambria Math" panose="02040503050406030204" pitchFamily="18" charset="0"/>
                            </a:rPr>
                            <m:t>ω</m:t>
                          </m:r>
                        </m:e>
                        <m:sub>
                          <m:r>
                            <a:rPr lang="en-US" altLang="zh-TW" b="0" i="1" smtClean="0">
                              <a:latin typeface="Cambria Math" panose="02040503050406030204" pitchFamily="18" charset="0"/>
                            </a:rPr>
                            <m:t>𝑝</m:t>
                          </m:r>
                        </m:sub>
                      </m:sSub>
                    </m:oMath>
                  </m:oMathPara>
                </a14:m>
                <a:endParaRPr lang="zh-TW" altLang="en-US" dirty="0"/>
              </a:p>
            </p:txBody>
          </p:sp>
        </mc:Choice>
        <mc:Fallback xmlns="">
          <p:sp>
            <p:nvSpPr>
              <p:cNvPr id="15" name="文字方塊 14">
                <a:extLst>
                  <a:ext uri="{FF2B5EF4-FFF2-40B4-BE49-F238E27FC236}">
                    <a16:creationId xmlns:a16="http://schemas.microsoft.com/office/drawing/2014/main" id="{B28B87CB-724F-CEF0-28DF-C9868F6D9A85}"/>
                  </a:ext>
                </a:extLst>
              </p:cNvPr>
              <p:cNvSpPr txBox="1">
                <a:spLocks noRot="1" noChangeAspect="1" noMove="1" noResize="1" noEditPoints="1" noAdjustHandles="1" noChangeArrowheads="1" noChangeShapeType="1" noTextEdit="1"/>
              </p:cNvSpPr>
              <p:nvPr/>
            </p:nvSpPr>
            <p:spPr>
              <a:xfrm>
                <a:off x="4591446" y="4130747"/>
                <a:ext cx="753762" cy="390748"/>
              </a:xfrm>
              <a:prstGeom prst="rect">
                <a:avLst/>
              </a:prstGeom>
              <a:blipFill>
                <a:blip r:embed="rId23"/>
                <a:stretch>
                  <a:fillRect b="-312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A24BADA3-4859-220C-3314-DC0C51DDA331}"/>
                  </a:ext>
                </a:extLst>
              </p:cNvPr>
              <p:cNvSpPr txBox="1"/>
              <p:nvPr/>
            </p:nvSpPr>
            <p:spPr>
              <a:xfrm>
                <a:off x="7136422" y="3470794"/>
                <a:ext cx="75376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m:rPr>
                              <m:sty m:val="p"/>
                            </m:rPr>
                            <a:rPr lang="el-GR" altLang="zh-TW" i="1" smtClean="0">
                              <a:latin typeface="Cambria Math" panose="02040503050406030204" pitchFamily="18" charset="0"/>
                            </a:rPr>
                            <m:t>ω</m:t>
                          </m:r>
                        </m:e>
                        <m:sub>
                          <m:r>
                            <a:rPr lang="en-US" altLang="zh-TW" b="0" i="1" smtClean="0">
                              <a:latin typeface="Cambria Math" panose="02040503050406030204" pitchFamily="18" charset="0"/>
                            </a:rPr>
                            <m:t>𝑠</m:t>
                          </m:r>
                        </m:sub>
                      </m:sSub>
                    </m:oMath>
                  </m:oMathPara>
                </a14:m>
                <a:endParaRPr lang="zh-TW" altLang="en-US" dirty="0"/>
              </a:p>
            </p:txBody>
          </p:sp>
        </mc:Choice>
        <mc:Fallback xmlns="">
          <p:sp>
            <p:nvSpPr>
              <p:cNvPr id="19" name="文字方塊 18">
                <a:extLst>
                  <a:ext uri="{FF2B5EF4-FFF2-40B4-BE49-F238E27FC236}">
                    <a16:creationId xmlns:a16="http://schemas.microsoft.com/office/drawing/2014/main" id="{A24BADA3-4859-220C-3314-DC0C51DDA331}"/>
                  </a:ext>
                </a:extLst>
              </p:cNvPr>
              <p:cNvSpPr txBox="1">
                <a:spLocks noRot="1" noChangeAspect="1" noMove="1" noResize="1" noEditPoints="1" noAdjustHandles="1" noChangeArrowheads="1" noChangeShapeType="1" noTextEdit="1"/>
              </p:cNvSpPr>
              <p:nvPr/>
            </p:nvSpPr>
            <p:spPr>
              <a:xfrm>
                <a:off x="7136422" y="3470794"/>
                <a:ext cx="753762" cy="369332"/>
              </a:xfrm>
              <a:prstGeom prst="rect">
                <a:avLst/>
              </a:prstGeom>
              <a:blipFill>
                <a:blip r:embed="rId2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393E0151-E2F1-2EF0-54FF-4D6E4E5718F4}"/>
                  </a:ext>
                </a:extLst>
              </p:cNvPr>
              <p:cNvSpPr txBox="1"/>
              <p:nvPr/>
            </p:nvSpPr>
            <p:spPr>
              <a:xfrm>
                <a:off x="7136422" y="4277072"/>
                <a:ext cx="75376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m:rPr>
                              <m:sty m:val="p"/>
                            </m:rPr>
                            <a:rPr lang="el-GR" altLang="zh-TW" i="1" smtClean="0">
                              <a:latin typeface="Cambria Math" panose="02040503050406030204" pitchFamily="18" charset="0"/>
                            </a:rPr>
                            <m:t>ω</m:t>
                          </m:r>
                        </m:e>
                        <m:sub>
                          <m:r>
                            <a:rPr lang="en-US" altLang="zh-TW" b="0" i="1" smtClean="0">
                              <a:latin typeface="Cambria Math" panose="02040503050406030204" pitchFamily="18" charset="0"/>
                            </a:rPr>
                            <m:t>𝑖</m:t>
                          </m:r>
                        </m:sub>
                      </m:sSub>
                    </m:oMath>
                  </m:oMathPara>
                </a14:m>
                <a:endParaRPr lang="zh-TW" altLang="en-US" dirty="0"/>
              </a:p>
            </p:txBody>
          </p:sp>
        </mc:Choice>
        <mc:Fallback xmlns="">
          <p:sp>
            <p:nvSpPr>
              <p:cNvPr id="29" name="文字方塊 28">
                <a:extLst>
                  <a:ext uri="{FF2B5EF4-FFF2-40B4-BE49-F238E27FC236}">
                    <a16:creationId xmlns:a16="http://schemas.microsoft.com/office/drawing/2014/main" id="{393E0151-E2F1-2EF0-54FF-4D6E4E5718F4}"/>
                  </a:ext>
                </a:extLst>
              </p:cNvPr>
              <p:cNvSpPr txBox="1">
                <a:spLocks noRot="1" noChangeAspect="1" noMove="1" noResize="1" noEditPoints="1" noAdjustHandles="1" noChangeArrowheads="1" noChangeShapeType="1" noTextEdit="1"/>
              </p:cNvSpPr>
              <p:nvPr/>
            </p:nvSpPr>
            <p:spPr>
              <a:xfrm>
                <a:off x="7136422" y="4277072"/>
                <a:ext cx="753762" cy="369332"/>
              </a:xfrm>
              <a:prstGeom prst="rect">
                <a:avLst/>
              </a:prstGeom>
              <a:blipFill>
                <a:blip r:embed="rId25"/>
                <a:stretch>
                  <a:fillRect b="-1667"/>
                </a:stretch>
              </a:blipFill>
            </p:spPr>
            <p:txBody>
              <a:bodyPr/>
              <a:lstStyle/>
              <a:p>
                <a:r>
                  <a:rPr lang="zh-TW" altLang="en-US">
                    <a:noFill/>
                  </a:rPr>
                  <a:t> </a:t>
                </a:r>
              </a:p>
            </p:txBody>
          </p:sp>
        </mc:Fallback>
      </mc:AlternateContent>
      <p:cxnSp>
        <p:nvCxnSpPr>
          <p:cNvPr id="30" name="直線接點 29">
            <a:extLst>
              <a:ext uri="{FF2B5EF4-FFF2-40B4-BE49-F238E27FC236}">
                <a16:creationId xmlns:a16="http://schemas.microsoft.com/office/drawing/2014/main" id="{5C531BEE-1658-EEAE-0B30-DF520AE466CF}"/>
              </a:ext>
            </a:extLst>
          </p:cNvPr>
          <p:cNvCxnSpPr>
            <a:cxnSpLocks/>
          </p:cNvCxnSpPr>
          <p:nvPr/>
        </p:nvCxnSpPr>
        <p:spPr>
          <a:xfrm>
            <a:off x="6438265" y="4094124"/>
            <a:ext cx="716691" cy="0"/>
          </a:xfrm>
          <a:prstGeom prst="line">
            <a:avLst/>
          </a:prstGeom>
          <a:ln w="38100">
            <a:solidFill>
              <a:schemeClr val="tx1"/>
            </a:solidFill>
            <a:prstDash val="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0781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95"/>
                                        </p:tgtEl>
                                      </p:cBhvr>
                                    </p:animEffect>
                                    <p:set>
                                      <p:cBhvr>
                                        <p:cTn id="7" dur="1" fill="hold">
                                          <p:stCondLst>
                                            <p:cond delay="499"/>
                                          </p:stCondLst>
                                        </p:cTn>
                                        <p:tgtEl>
                                          <p:spTgt spid="95"/>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94"/>
                                        </p:tgtEl>
                                        <p:attrNameLst>
                                          <p:attrName>style.visibility</p:attrName>
                                        </p:attrNameLst>
                                      </p:cBhvr>
                                      <p:to>
                                        <p:strVal val="visible"/>
                                      </p:to>
                                    </p:set>
                                    <p:animEffect transition="in" filter="fade">
                                      <p:cBhvr>
                                        <p:cTn id="10" dur="500"/>
                                        <p:tgtEl>
                                          <p:spTgt spid="9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SHG/SPDC</a:t>
            </a:r>
            <a:endParaRPr lang="zh-TW" altLang="en-US" b="1"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0894306" y="6178308"/>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17</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sp>
        <p:nvSpPr>
          <p:cNvPr id="22" name="內容版面配置區 2">
            <a:extLst>
              <a:ext uri="{FF2B5EF4-FFF2-40B4-BE49-F238E27FC236}">
                <a16:creationId xmlns:a16="http://schemas.microsoft.com/office/drawing/2014/main" id="{920C3F16-8604-E4DF-22BE-61FA0E32D356}"/>
              </a:ext>
            </a:extLst>
          </p:cNvPr>
          <p:cNvSpPr txBox="1">
            <a:spLocks/>
          </p:cNvSpPr>
          <p:nvPr/>
        </p:nvSpPr>
        <p:spPr>
          <a:xfrm>
            <a:off x="3402430" y="448750"/>
            <a:ext cx="5124768" cy="107271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200000"/>
              </a:lnSpc>
              <a:buNone/>
            </a:pPr>
            <a:r>
              <a:rPr lang="en-US" altLang="zh-TW" sz="3200" b="1" dirty="0">
                <a:effectLst>
                  <a:outerShdw blurRad="38100" dist="38100" dir="2700000" algn="tl">
                    <a:srgbClr val="000000">
                      <a:alpha val="43137"/>
                    </a:srgbClr>
                  </a:outerShdw>
                </a:effectLst>
              </a:rPr>
              <a:t>Quasi phase matching(QPM)</a:t>
            </a:r>
            <a:endParaRPr lang="zh-TW" altLang="en-US" sz="3200" b="1" dirty="0">
              <a:effectLst>
                <a:outerShdw blurRad="38100" dist="38100" dir="2700000" algn="tl">
                  <a:srgbClr val="000000">
                    <a:alpha val="43137"/>
                  </a:srgbClr>
                </a:outerShdw>
              </a:effectLst>
            </a:endParaRPr>
          </a:p>
        </p:txBody>
      </p:sp>
      <p:grpSp>
        <p:nvGrpSpPr>
          <p:cNvPr id="46" name="群組 45">
            <a:extLst>
              <a:ext uri="{FF2B5EF4-FFF2-40B4-BE49-F238E27FC236}">
                <a16:creationId xmlns:a16="http://schemas.microsoft.com/office/drawing/2014/main" id="{7E5AD148-0D0F-A6AE-CA3D-8E2342406853}"/>
              </a:ext>
            </a:extLst>
          </p:cNvPr>
          <p:cNvGrpSpPr/>
          <p:nvPr/>
        </p:nvGrpSpPr>
        <p:grpSpPr>
          <a:xfrm>
            <a:off x="8492530" y="29639"/>
            <a:ext cx="1698173" cy="706286"/>
            <a:chOff x="1136186" y="2750157"/>
            <a:chExt cx="3433822" cy="1925470"/>
          </a:xfrm>
        </p:grpSpPr>
        <p:grpSp>
          <p:nvGrpSpPr>
            <p:cNvPr id="47" name="群組 46">
              <a:extLst>
                <a:ext uri="{FF2B5EF4-FFF2-40B4-BE49-F238E27FC236}">
                  <a16:creationId xmlns:a16="http://schemas.microsoft.com/office/drawing/2014/main" id="{A1611B9D-98A6-AAF1-DAED-3B7F7C90A688}"/>
                </a:ext>
              </a:extLst>
            </p:cNvPr>
            <p:cNvGrpSpPr/>
            <p:nvPr/>
          </p:nvGrpSpPr>
          <p:grpSpPr>
            <a:xfrm>
              <a:off x="1900354" y="3002965"/>
              <a:ext cx="1597732" cy="1615784"/>
              <a:chOff x="1547796" y="4590564"/>
              <a:chExt cx="1597732" cy="1615784"/>
            </a:xfrm>
          </p:grpSpPr>
          <p:grpSp>
            <p:nvGrpSpPr>
              <p:cNvPr id="59" name="群組 58">
                <a:extLst>
                  <a:ext uri="{FF2B5EF4-FFF2-40B4-BE49-F238E27FC236}">
                    <a16:creationId xmlns:a16="http://schemas.microsoft.com/office/drawing/2014/main" id="{8B2E256C-A629-F73E-CD38-814FAD79B784}"/>
                  </a:ext>
                </a:extLst>
              </p:cNvPr>
              <p:cNvGrpSpPr/>
              <p:nvPr/>
            </p:nvGrpSpPr>
            <p:grpSpPr>
              <a:xfrm>
                <a:off x="1547796" y="4590564"/>
                <a:ext cx="1597732" cy="1615784"/>
                <a:chOff x="7755536" y="4682354"/>
                <a:chExt cx="1539881" cy="1413646"/>
              </a:xfrm>
            </p:grpSpPr>
            <p:grpSp>
              <p:nvGrpSpPr>
                <p:cNvPr id="62" name="群組 61">
                  <a:extLst>
                    <a:ext uri="{FF2B5EF4-FFF2-40B4-BE49-F238E27FC236}">
                      <a16:creationId xmlns:a16="http://schemas.microsoft.com/office/drawing/2014/main" id="{35583304-6961-0D3A-BC02-9DE844F2BD73}"/>
                    </a:ext>
                  </a:extLst>
                </p:cNvPr>
                <p:cNvGrpSpPr/>
                <p:nvPr/>
              </p:nvGrpSpPr>
              <p:grpSpPr>
                <a:xfrm>
                  <a:off x="7755536" y="4682354"/>
                  <a:ext cx="382023" cy="1413646"/>
                  <a:chOff x="7755536" y="4682354"/>
                  <a:chExt cx="382023" cy="1413646"/>
                </a:xfrm>
              </p:grpSpPr>
              <p:sp>
                <p:nvSpPr>
                  <p:cNvPr id="72" name="矩形 71">
                    <a:extLst>
                      <a:ext uri="{FF2B5EF4-FFF2-40B4-BE49-F238E27FC236}">
                        <a16:creationId xmlns:a16="http://schemas.microsoft.com/office/drawing/2014/main" id="{0EBB6A61-0075-872A-5763-A53720F003CA}"/>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矩形 72">
                    <a:extLst>
                      <a:ext uri="{FF2B5EF4-FFF2-40B4-BE49-F238E27FC236}">
                        <a16:creationId xmlns:a16="http://schemas.microsoft.com/office/drawing/2014/main" id="{8A2CD9B3-A870-B2D6-2E63-A82E167F76C5}"/>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63" name="群組 62">
                  <a:extLst>
                    <a:ext uri="{FF2B5EF4-FFF2-40B4-BE49-F238E27FC236}">
                      <a16:creationId xmlns:a16="http://schemas.microsoft.com/office/drawing/2014/main" id="{57366113-1DA2-2F40-4D8B-10C195643901}"/>
                    </a:ext>
                  </a:extLst>
                </p:cNvPr>
                <p:cNvGrpSpPr/>
                <p:nvPr/>
              </p:nvGrpSpPr>
              <p:grpSpPr>
                <a:xfrm>
                  <a:off x="8136791" y="4682354"/>
                  <a:ext cx="382023" cy="1413646"/>
                  <a:chOff x="7755536" y="4682354"/>
                  <a:chExt cx="382023" cy="1413646"/>
                </a:xfrm>
              </p:grpSpPr>
              <p:sp>
                <p:nvSpPr>
                  <p:cNvPr id="70" name="矩形 69">
                    <a:extLst>
                      <a:ext uri="{FF2B5EF4-FFF2-40B4-BE49-F238E27FC236}">
                        <a16:creationId xmlns:a16="http://schemas.microsoft.com/office/drawing/2014/main" id="{AFAE303B-7227-9CF5-1E82-ED8E1B675ABD}"/>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1" name="矩形 70">
                    <a:extLst>
                      <a:ext uri="{FF2B5EF4-FFF2-40B4-BE49-F238E27FC236}">
                        <a16:creationId xmlns:a16="http://schemas.microsoft.com/office/drawing/2014/main" id="{FEBE5383-15F5-10FA-D2B4-4631D121E06D}"/>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64" name="群組 63">
                  <a:extLst>
                    <a:ext uri="{FF2B5EF4-FFF2-40B4-BE49-F238E27FC236}">
                      <a16:creationId xmlns:a16="http://schemas.microsoft.com/office/drawing/2014/main" id="{A377386E-151A-EC5C-83FF-6AEDE7079636}"/>
                    </a:ext>
                  </a:extLst>
                </p:cNvPr>
                <p:cNvGrpSpPr/>
                <p:nvPr/>
              </p:nvGrpSpPr>
              <p:grpSpPr>
                <a:xfrm>
                  <a:off x="8529017" y="4682354"/>
                  <a:ext cx="382023" cy="1413646"/>
                  <a:chOff x="7755536" y="4682354"/>
                  <a:chExt cx="382023" cy="1413646"/>
                </a:xfrm>
              </p:grpSpPr>
              <p:sp>
                <p:nvSpPr>
                  <p:cNvPr id="68" name="矩形 67">
                    <a:extLst>
                      <a:ext uri="{FF2B5EF4-FFF2-40B4-BE49-F238E27FC236}">
                        <a16:creationId xmlns:a16="http://schemas.microsoft.com/office/drawing/2014/main" id="{41DC0BC8-BA24-CD37-09CD-552C53166746}"/>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9" name="矩形 68">
                    <a:extLst>
                      <a:ext uri="{FF2B5EF4-FFF2-40B4-BE49-F238E27FC236}">
                        <a16:creationId xmlns:a16="http://schemas.microsoft.com/office/drawing/2014/main" id="{3987853C-5AA1-B52F-7C82-47572A160F3B}"/>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65" name="群組 64">
                  <a:extLst>
                    <a:ext uri="{FF2B5EF4-FFF2-40B4-BE49-F238E27FC236}">
                      <a16:creationId xmlns:a16="http://schemas.microsoft.com/office/drawing/2014/main" id="{CE59B9A4-DCDC-2E4D-D14C-88140E994959}"/>
                    </a:ext>
                  </a:extLst>
                </p:cNvPr>
                <p:cNvGrpSpPr/>
                <p:nvPr/>
              </p:nvGrpSpPr>
              <p:grpSpPr>
                <a:xfrm>
                  <a:off x="8913394" y="4682354"/>
                  <a:ext cx="382023" cy="1413646"/>
                  <a:chOff x="7755536" y="4682354"/>
                  <a:chExt cx="382023" cy="1413646"/>
                </a:xfrm>
              </p:grpSpPr>
              <p:sp>
                <p:nvSpPr>
                  <p:cNvPr id="66" name="矩形 65">
                    <a:extLst>
                      <a:ext uri="{FF2B5EF4-FFF2-40B4-BE49-F238E27FC236}">
                        <a16:creationId xmlns:a16="http://schemas.microsoft.com/office/drawing/2014/main" id="{D71EABD3-F782-C036-A20D-884CA820FBBF}"/>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7" name="矩形 66">
                    <a:extLst>
                      <a:ext uri="{FF2B5EF4-FFF2-40B4-BE49-F238E27FC236}">
                        <a16:creationId xmlns:a16="http://schemas.microsoft.com/office/drawing/2014/main" id="{4B65318C-4349-02A4-E4C1-A30AED7C0227}"/>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60" name="矩形 59">
                <a:extLst>
                  <a:ext uri="{FF2B5EF4-FFF2-40B4-BE49-F238E27FC236}">
                    <a16:creationId xmlns:a16="http://schemas.microsoft.com/office/drawing/2014/main" id="{89B00DF7-6076-6F33-4E42-4D7678F0EE23}"/>
                  </a:ext>
                </a:extLst>
              </p:cNvPr>
              <p:cNvSpPr/>
              <p:nvPr/>
            </p:nvSpPr>
            <p:spPr>
              <a:xfrm>
                <a:off x="1560341" y="5172154"/>
                <a:ext cx="1575773" cy="262714"/>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1" name="矩形 60">
                <a:extLst>
                  <a:ext uri="{FF2B5EF4-FFF2-40B4-BE49-F238E27FC236}">
                    <a16:creationId xmlns:a16="http://schemas.microsoft.com/office/drawing/2014/main" id="{12001623-445E-AB23-1E29-6499F43047F0}"/>
                  </a:ext>
                </a:extLst>
              </p:cNvPr>
              <p:cNvSpPr/>
              <p:nvPr/>
            </p:nvSpPr>
            <p:spPr>
              <a:xfrm>
                <a:off x="1554254" y="5982936"/>
                <a:ext cx="1591274" cy="223412"/>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48" name="箭號: 向右 47">
              <a:extLst>
                <a:ext uri="{FF2B5EF4-FFF2-40B4-BE49-F238E27FC236}">
                  <a16:creationId xmlns:a16="http://schemas.microsoft.com/office/drawing/2014/main" id="{1D0C0A2B-3119-4CFB-A5EE-C6F131F98988}"/>
                </a:ext>
              </a:extLst>
            </p:cNvPr>
            <p:cNvSpPr/>
            <p:nvPr/>
          </p:nvSpPr>
          <p:spPr>
            <a:xfrm>
              <a:off x="1136186" y="3610662"/>
              <a:ext cx="750491" cy="275824"/>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箭號: 向右 48">
              <a:extLst>
                <a:ext uri="{FF2B5EF4-FFF2-40B4-BE49-F238E27FC236}">
                  <a16:creationId xmlns:a16="http://schemas.microsoft.com/office/drawing/2014/main" id="{9837B7DB-4795-073B-3897-8B18978EED2A}"/>
                </a:ext>
              </a:extLst>
            </p:cNvPr>
            <p:cNvSpPr/>
            <p:nvPr/>
          </p:nvSpPr>
          <p:spPr>
            <a:xfrm>
              <a:off x="3519268" y="3575529"/>
              <a:ext cx="1050740" cy="304814"/>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50" name="群組 49">
              <a:extLst>
                <a:ext uri="{FF2B5EF4-FFF2-40B4-BE49-F238E27FC236}">
                  <a16:creationId xmlns:a16="http://schemas.microsoft.com/office/drawing/2014/main" id="{A6295DC5-75AB-6D73-7ABD-1E068B4099EB}"/>
                </a:ext>
              </a:extLst>
            </p:cNvPr>
            <p:cNvGrpSpPr/>
            <p:nvPr/>
          </p:nvGrpSpPr>
          <p:grpSpPr>
            <a:xfrm>
              <a:off x="2210507" y="3378595"/>
              <a:ext cx="291528" cy="666144"/>
              <a:chOff x="8147879" y="2874761"/>
              <a:chExt cx="320447" cy="747169"/>
            </a:xfrm>
          </p:grpSpPr>
          <p:cxnSp>
            <p:nvCxnSpPr>
              <p:cNvPr id="57" name="直線單箭頭接點 56">
                <a:extLst>
                  <a:ext uri="{FF2B5EF4-FFF2-40B4-BE49-F238E27FC236}">
                    <a16:creationId xmlns:a16="http://schemas.microsoft.com/office/drawing/2014/main" id="{4E826ACB-E354-0AEF-B362-B3A8FC7594E2}"/>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8" name="橢圓 57">
                <a:extLst>
                  <a:ext uri="{FF2B5EF4-FFF2-40B4-BE49-F238E27FC236}">
                    <a16:creationId xmlns:a16="http://schemas.microsoft.com/office/drawing/2014/main" id="{30DD40AD-9D04-C28E-59DD-EA0798C84ABF}"/>
                  </a:ext>
                </a:extLst>
              </p:cNvPr>
              <p:cNvSpPr/>
              <p:nvPr/>
            </p:nvSpPr>
            <p:spPr>
              <a:xfrm>
                <a:off x="8147879" y="3074007"/>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a:t>V</a:t>
                </a:r>
                <a:endParaRPr lang="zh-TW" altLang="en-US" sz="1400" dirty="0"/>
              </a:p>
            </p:txBody>
          </p:sp>
        </p:grpSp>
        <p:grpSp>
          <p:nvGrpSpPr>
            <p:cNvPr id="51" name="群組 50">
              <a:extLst>
                <a:ext uri="{FF2B5EF4-FFF2-40B4-BE49-F238E27FC236}">
                  <a16:creationId xmlns:a16="http://schemas.microsoft.com/office/drawing/2014/main" id="{09CDA295-ECCB-7DB0-3154-93FE4CB0783F}"/>
                </a:ext>
              </a:extLst>
            </p:cNvPr>
            <p:cNvGrpSpPr/>
            <p:nvPr/>
          </p:nvGrpSpPr>
          <p:grpSpPr>
            <a:xfrm>
              <a:off x="3873301" y="2750157"/>
              <a:ext cx="308414" cy="743295"/>
              <a:chOff x="8147879" y="2874761"/>
              <a:chExt cx="320447" cy="747169"/>
            </a:xfrm>
          </p:grpSpPr>
          <p:cxnSp>
            <p:nvCxnSpPr>
              <p:cNvPr id="55" name="直線單箭頭接點 54">
                <a:extLst>
                  <a:ext uri="{FF2B5EF4-FFF2-40B4-BE49-F238E27FC236}">
                    <a16:creationId xmlns:a16="http://schemas.microsoft.com/office/drawing/2014/main" id="{67B302BB-5003-30FC-F811-2BE706770D40}"/>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6" name="橢圓 55">
                <a:extLst>
                  <a:ext uri="{FF2B5EF4-FFF2-40B4-BE49-F238E27FC236}">
                    <a16:creationId xmlns:a16="http://schemas.microsoft.com/office/drawing/2014/main" id="{02ED67B7-FE3A-B012-2D47-C2985FB110C4}"/>
                  </a:ext>
                </a:extLst>
              </p:cNvPr>
              <p:cNvSpPr/>
              <p:nvPr/>
            </p:nvSpPr>
            <p:spPr>
              <a:xfrm>
                <a:off x="8147879" y="3074008"/>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a:t>V</a:t>
                </a:r>
                <a:endParaRPr lang="zh-TW" altLang="en-US" sz="1400" dirty="0"/>
              </a:p>
            </p:txBody>
          </p:sp>
        </p:grpSp>
        <p:grpSp>
          <p:nvGrpSpPr>
            <p:cNvPr id="52" name="群組 51">
              <a:extLst>
                <a:ext uri="{FF2B5EF4-FFF2-40B4-BE49-F238E27FC236}">
                  <a16:creationId xmlns:a16="http://schemas.microsoft.com/office/drawing/2014/main" id="{3D039A22-03A8-E093-5301-A1C0BADB4807}"/>
                </a:ext>
              </a:extLst>
            </p:cNvPr>
            <p:cNvGrpSpPr/>
            <p:nvPr/>
          </p:nvGrpSpPr>
          <p:grpSpPr>
            <a:xfrm>
              <a:off x="3860644" y="3932332"/>
              <a:ext cx="308414" cy="743295"/>
              <a:chOff x="8147879" y="2874761"/>
              <a:chExt cx="320447" cy="747169"/>
            </a:xfrm>
          </p:grpSpPr>
          <p:cxnSp>
            <p:nvCxnSpPr>
              <p:cNvPr id="53" name="直線單箭頭接點 52">
                <a:extLst>
                  <a:ext uri="{FF2B5EF4-FFF2-40B4-BE49-F238E27FC236}">
                    <a16:creationId xmlns:a16="http://schemas.microsoft.com/office/drawing/2014/main" id="{ECBA9BBC-31D0-40BF-A3C4-B7B29791D549}"/>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4" name="橢圓 53">
                <a:extLst>
                  <a:ext uri="{FF2B5EF4-FFF2-40B4-BE49-F238E27FC236}">
                    <a16:creationId xmlns:a16="http://schemas.microsoft.com/office/drawing/2014/main" id="{23151498-A06E-2290-5245-947EE80E776E}"/>
                  </a:ext>
                </a:extLst>
              </p:cNvPr>
              <p:cNvSpPr/>
              <p:nvPr/>
            </p:nvSpPr>
            <p:spPr>
              <a:xfrm>
                <a:off x="8147879" y="3074008"/>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a:t>V</a:t>
                </a:r>
                <a:endParaRPr lang="zh-TW" altLang="en-US" sz="1400" dirty="0"/>
              </a:p>
            </p:txBody>
          </p:sp>
        </p:grpSp>
      </p:grpSp>
      <p:pic>
        <p:nvPicPr>
          <p:cNvPr id="9" name="圖片 8">
            <a:extLst>
              <a:ext uri="{FF2B5EF4-FFF2-40B4-BE49-F238E27FC236}">
                <a16:creationId xmlns:a16="http://schemas.microsoft.com/office/drawing/2014/main" id="{B696C242-9C8F-4AAD-716C-A392777456DA}"/>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36199" y="4096477"/>
            <a:ext cx="2766112" cy="2259875"/>
          </a:xfrm>
          <a:prstGeom prst="rect">
            <a:avLst/>
          </a:prstGeom>
          <a:noFill/>
        </p:spPr>
      </p:pic>
      <p:pic>
        <p:nvPicPr>
          <p:cNvPr id="10" name="圖片 9">
            <a:extLst>
              <a:ext uri="{FF2B5EF4-FFF2-40B4-BE49-F238E27FC236}">
                <a16:creationId xmlns:a16="http://schemas.microsoft.com/office/drawing/2014/main" id="{4E339199-C3DA-8158-0A0C-DDC9A73AF269}"/>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72090" y="3886622"/>
            <a:ext cx="3093256" cy="2545588"/>
          </a:xfrm>
          <a:prstGeom prst="rect">
            <a:avLst/>
          </a:prstGeom>
          <a:noFill/>
        </p:spPr>
      </p:pic>
      <p:pic>
        <p:nvPicPr>
          <p:cNvPr id="11" name="圖片 10">
            <a:extLst>
              <a:ext uri="{FF2B5EF4-FFF2-40B4-BE49-F238E27FC236}">
                <a16:creationId xmlns:a16="http://schemas.microsoft.com/office/drawing/2014/main" id="{1D37888E-E552-E8A3-C44E-1B0441C9DE8B}"/>
              </a:ext>
            </a:extLst>
          </p:cNvPr>
          <p:cNvPicPr>
            <a:picLocks noChangeAspect="1"/>
          </p:cNvPicPr>
          <p:nvPr/>
        </p:nvPicPr>
        <p:blipFill>
          <a:blip r:embed="rId6"/>
          <a:stretch>
            <a:fillRect/>
          </a:stretch>
        </p:blipFill>
        <p:spPr>
          <a:xfrm>
            <a:off x="9615706" y="4328945"/>
            <a:ext cx="1912382" cy="930692"/>
          </a:xfrm>
          <a:prstGeom prst="rect">
            <a:avLst/>
          </a:prstGeom>
        </p:spPr>
      </p:pic>
      <p:sp>
        <p:nvSpPr>
          <p:cNvPr id="15" name="文字方塊 14">
            <a:extLst>
              <a:ext uri="{FF2B5EF4-FFF2-40B4-BE49-F238E27FC236}">
                <a16:creationId xmlns:a16="http://schemas.microsoft.com/office/drawing/2014/main" id="{76DC2E2D-E7F5-8EA9-EAE2-00FA410BFF43}"/>
              </a:ext>
            </a:extLst>
          </p:cNvPr>
          <p:cNvSpPr txBox="1"/>
          <p:nvPr/>
        </p:nvSpPr>
        <p:spPr>
          <a:xfrm>
            <a:off x="1401625" y="6356352"/>
            <a:ext cx="3060539" cy="338554"/>
          </a:xfrm>
          <a:prstGeom prst="rect">
            <a:avLst/>
          </a:prstGeom>
          <a:noFill/>
        </p:spPr>
        <p:txBody>
          <a:bodyPr wrap="square">
            <a:spAutoFit/>
          </a:bodyPr>
          <a:lstStyle/>
          <a:p>
            <a:r>
              <a:rPr lang="zh-TW" altLang="en-US" sz="1600" dirty="0">
                <a:latin typeface="標楷體" panose="03000509000000000000" pitchFamily="65" charset="-120"/>
                <a:ea typeface="標楷體" panose="03000509000000000000" pitchFamily="65" charset="-120"/>
              </a:rPr>
              <a:t>鈮酸鋰雙穩態偏極化方向示意圖</a:t>
            </a:r>
          </a:p>
        </p:txBody>
      </p:sp>
      <p:sp>
        <p:nvSpPr>
          <p:cNvPr id="17" name="文字方塊 16">
            <a:extLst>
              <a:ext uri="{FF2B5EF4-FFF2-40B4-BE49-F238E27FC236}">
                <a16:creationId xmlns:a16="http://schemas.microsoft.com/office/drawing/2014/main" id="{F0C020E8-2BD9-7CC7-30A3-3852D5FB6AEC}"/>
              </a:ext>
            </a:extLst>
          </p:cNvPr>
          <p:cNvSpPr txBox="1"/>
          <p:nvPr/>
        </p:nvSpPr>
        <p:spPr>
          <a:xfrm>
            <a:off x="6658333" y="6432210"/>
            <a:ext cx="2320770" cy="338554"/>
          </a:xfrm>
          <a:prstGeom prst="rect">
            <a:avLst/>
          </a:prstGeom>
          <a:noFill/>
        </p:spPr>
        <p:txBody>
          <a:bodyPr wrap="square">
            <a:spAutoFit/>
          </a:bodyPr>
          <a:lstStyle/>
          <a:p>
            <a:r>
              <a:rPr lang="zh-TW" altLang="zh-TW" sz="1600" dirty="0">
                <a:effectLst/>
                <a:latin typeface="Times New Roman" panose="02020603050405020304" pitchFamily="18" charset="0"/>
                <a:ea typeface="標楷體" panose="03000509000000000000" pitchFamily="65" charset="-120"/>
                <a:cs typeface="Times New Roman" panose="02020603050405020304" pitchFamily="18" charset="0"/>
              </a:rPr>
              <a:t>鈮酸鋰電相結構示意圖</a:t>
            </a:r>
            <a:endParaRPr lang="zh-TW" altLang="en-US" sz="1600" dirty="0"/>
          </a:p>
        </p:txBody>
      </p:sp>
      <p:pic>
        <p:nvPicPr>
          <p:cNvPr id="8" name="圖片 7">
            <a:extLst>
              <a:ext uri="{FF2B5EF4-FFF2-40B4-BE49-F238E27FC236}">
                <a16:creationId xmlns:a16="http://schemas.microsoft.com/office/drawing/2014/main" id="{B7A39F7F-EEA1-B7B6-B093-63E095C86ED1}"/>
              </a:ext>
            </a:extLst>
          </p:cNvPr>
          <p:cNvPicPr>
            <a:picLocks noChangeAspect="1"/>
          </p:cNvPicPr>
          <p:nvPr/>
        </p:nvPicPr>
        <p:blipFill>
          <a:blip r:embed="rId7"/>
          <a:stretch>
            <a:fillRect/>
          </a:stretch>
        </p:blipFill>
        <p:spPr>
          <a:xfrm>
            <a:off x="2854721" y="1521463"/>
            <a:ext cx="6608637" cy="2218264"/>
          </a:xfrm>
          <a:prstGeom prst="rect">
            <a:avLst/>
          </a:prstGeom>
        </p:spPr>
      </p:pic>
      <p:sp>
        <p:nvSpPr>
          <p:cNvPr id="14" name="文字方塊 13">
            <a:extLst>
              <a:ext uri="{FF2B5EF4-FFF2-40B4-BE49-F238E27FC236}">
                <a16:creationId xmlns:a16="http://schemas.microsoft.com/office/drawing/2014/main" id="{AAB19644-72A4-998F-D525-F32A150E7BEC}"/>
              </a:ext>
            </a:extLst>
          </p:cNvPr>
          <p:cNvSpPr txBox="1"/>
          <p:nvPr/>
        </p:nvSpPr>
        <p:spPr>
          <a:xfrm>
            <a:off x="8856900" y="6580504"/>
            <a:ext cx="3627966" cy="276999"/>
          </a:xfrm>
          <a:prstGeom prst="rect">
            <a:avLst/>
          </a:prstGeom>
          <a:noFill/>
        </p:spPr>
        <p:txBody>
          <a:bodyPr wrap="square">
            <a:spAutoFit/>
          </a:bodyPr>
          <a:lstStyle/>
          <a:p>
            <a:r>
              <a:rPr lang="en-US" altLang="zh-TW" sz="1200" dirty="0" err="1"/>
              <a:t>Bahaa</a:t>
            </a:r>
            <a:r>
              <a:rPr lang="en-US" altLang="zh-TW" sz="1200" dirty="0"/>
              <a:t> E. A. Saleh, Fundamentals of Photonics, 1991</a:t>
            </a:r>
            <a:endParaRPr lang="zh-TW" altLang="en-US" sz="1200" dirty="0"/>
          </a:p>
        </p:txBody>
      </p:sp>
    </p:spTree>
    <p:extLst>
      <p:ext uri="{BB962C8B-B14F-4D97-AF65-F5344CB8AC3E}">
        <p14:creationId xmlns:p14="http://schemas.microsoft.com/office/powerpoint/2010/main" val="38849195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66F64AE-CAE4-0A78-C8F9-867765DF3067}"/>
              </a:ext>
            </a:extLst>
          </p:cNvPr>
          <p:cNvSpPr>
            <a:spLocks noGrp="1"/>
          </p:cNvSpPr>
          <p:nvPr>
            <p:ph type="ctrTitle"/>
          </p:nvPr>
        </p:nvSpPr>
        <p:spPr/>
        <p:txBody>
          <a:bodyPr/>
          <a:lstStyle/>
          <a:p>
            <a:r>
              <a:rPr lang="en-US" altLang="zh-TW" b="1" dirty="0">
                <a:solidFill>
                  <a:schemeClr val="tx1"/>
                </a:solidFill>
              </a:rPr>
              <a:t>Working principles</a:t>
            </a:r>
          </a:p>
        </p:txBody>
      </p:sp>
      <p:sp>
        <p:nvSpPr>
          <p:cNvPr id="3" name="副標題 2">
            <a:extLst>
              <a:ext uri="{FF2B5EF4-FFF2-40B4-BE49-F238E27FC236}">
                <a16:creationId xmlns:a16="http://schemas.microsoft.com/office/drawing/2014/main" id="{B1B8DE14-80E4-7564-81F1-A7DA9C966337}"/>
              </a:ext>
            </a:extLst>
          </p:cNvPr>
          <p:cNvSpPr>
            <a:spLocks noGrp="1"/>
          </p:cNvSpPr>
          <p:nvPr>
            <p:ph type="subTitle" idx="1"/>
          </p:nvPr>
        </p:nvSpPr>
        <p:spPr>
          <a:xfrm>
            <a:off x="5315578" y="3956279"/>
            <a:ext cx="4196001" cy="1086237"/>
          </a:xfrm>
        </p:spPr>
        <p:txBody>
          <a:bodyPr>
            <a:normAutofit fontScale="92500" lnSpcReduction="10000"/>
          </a:bodyPr>
          <a:lstStyle/>
          <a:p>
            <a:pPr marL="457200" indent="-457200" algn="l">
              <a:buFont typeface="+mj-lt"/>
              <a:buAutoNum type="arabicPeriod"/>
            </a:pPr>
            <a:r>
              <a:rPr lang="en-US" altLang="zh-TW" dirty="0">
                <a:solidFill>
                  <a:schemeClr val="tx1"/>
                </a:solidFill>
              </a:rPr>
              <a:t>SHG/SPDC</a:t>
            </a:r>
          </a:p>
          <a:p>
            <a:pPr marL="457200" indent="-457200" algn="l">
              <a:buFont typeface="+mj-lt"/>
              <a:buAutoNum type="arabicPeriod"/>
            </a:pPr>
            <a:r>
              <a:rPr lang="en-US" altLang="zh-TW" dirty="0">
                <a:solidFill>
                  <a:srgbClr val="FF0000"/>
                </a:solidFill>
              </a:rPr>
              <a:t>Electro-Optic Effect(EOPMC)</a:t>
            </a:r>
          </a:p>
          <a:p>
            <a:pPr marL="457200" indent="-457200" algn="l">
              <a:buFont typeface="+mj-lt"/>
              <a:buAutoNum type="arabicPeriod"/>
            </a:pPr>
            <a:r>
              <a:rPr lang="en-US" altLang="zh-TW" dirty="0">
                <a:solidFill>
                  <a:schemeClr val="tx1"/>
                </a:solidFill>
              </a:rPr>
              <a:t>Electro-Optic Effect(EO)</a:t>
            </a:r>
          </a:p>
          <a:p>
            <a:pPr marL="457200" indent="-457200" algn="l">
              <a:buFont typeface="+mj-lt"/>
              <a:buAutoNum type="arabicPeriod"/>
            </a:pPr>
            <a:endParaRPr lang="en-US" altLang="zh-TW" dirty="0">
              <a:solidFill>
                <a:schemeClr val="tx1"/>
              </a:solidFill>
            </a:endParaRPr>
          </a:p>
        </p:txBody>
      </p:sp>
    </p:spTree>
    <p:extLst>
      <p:ext uri="{BB962C8B-B14F-4D97-AF65-F5344CB8AC3E}">
        <p14:creationId xmlns:p14="http://schemas.microsoft.com/office/powerpoint/2010/main" val="29295349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Electro-Optic Effect</a:t>
            </a:r>
            <a:endParaRPr lang="zh-TW" altLang="en-US" b="1"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0039351" y="6356352"/>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19</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1886" y="115002"/>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sp>
        <p:nvSpPr>
          <p:cNvPr id="26" name="文字方塊 25">
            <a:extLst>
              <a:ext uri="{FF2B5EF4-FFF2-40B4-BE49-F238E27FC236}">
                <a16:creationId xmlns:a16="http://schemas.microsoft.com/office/drawing/2014/main" id="{55417E6C-2BFB-BDB2-F79C-205D4F9081FF}"/>
              </a:ext>
            </a:extLst>
          </p:cNvPr>
          <p:cNvSpPr txBox="1"/>
          <p:nvPr/>
        </p:nvSpPr>
        <p:spPr>
          <a:xfrm>
            <a:off x="886813" y="1644923"/>
            <a:ext cx="1693092" cy="461665"/>
          </a:xfrm>
          <a:prstGeom prst="rect">
            <a:avLst/>
          </a:prstGeom>
          <a:noFill/>
        </p:spPr>
        <p:txBody>
          <a:bodyPr wrap="none" rtlCol="0">
            <a:spAutoFit/>
          </a:bodyPr>
          <a:lstStyle/>
          <a:p>
            <a:pPr marL="285750" indent="-285750">
              <a:buFont typeface="Arial" panose="020B0604020202020204" pitchFamily="34" charset="0"/>
              <a:buChar char="•"/>
            </a:pPr>
            <a:r>
              <a:rPr lang="en-US" altLang="zh-TW" sz="2400" dirty="0" err="1">
                <a:latin typeface="Times New Roman" panose="02020603050405020304" pitchFamily="18" charset="0"/>
                <a:ea typeface="標楷體" panose="03000509000000000000" pitchFamily="65" charset="-120"/>
              </a:rPr>
              <a:t>Šolc</a:t>
            </a:r>
            <a:r>
              <a:rPr lang="en-US" altLang="zh-TW" sz="2400" dirty="0">
                <a:latin typeface="Times New Roman" panose="02020603050405020304" pitchFamily="18" charset="0"/>
                <a:ea typeface="標楷體" panose="03000509000000000000" pitchFamily="65" charset="-120"/>
              </a:rPr>
              <a:t> filter</a:t>
            </a:r>
            <a:endParaRPr lang="zh-TW" altLang="en-US" sz="2400" dirty="0"/>
          </a:p>
        </p:txBody>
      </p:sp>
      <p:pic>
        <p:nvPicPr>
          <p:cNvPr id="73" name="圖片 72">
            <a:extLst>
              <a:ext uri="{FF2B5EF4-FFF2-40B4-BE49-F238E27FC236}">
                <a16:creationId xmlns:a16="http://schemas.microsoft.com/office/drawing/2014/main" id="{24910833-FF7A-28D4-6452-9CAA153A3EA6}"/>
              </a:ext>
            </a:extLst>
          </p:cNvPr>
          <p:cNvPicPr>
            <a:picLocks noChangeAspect="1"/>
          </p:cNvPicPr>
          <p:nvPr/>
        </p:nvPicPr>
        <p:blipFill>
          <a:blip r:embed="rId4"/>
          <a:stretch>
            <a:fillRect/>
          </a:stretch>
        </p:blipFill>
        <p:spPr>
          <a:xfrm>
            <a:off x="1004181" y="2620232"/>
            <a:ext cx="6082419" cy="3171547"/>
          </a:xfrm>
          <a:prstGeom prst="rect">
            <a:avLst/>
          </a:prstGeom>
        </p:spPr>
      </p:pic>
      <p:sp>
        <p:nvSpPr>
          <p:cNvPr id="140" name="箭號: 向右 139">
            <a:extLst>
              <a:ext uri="{FF2B5EF4-FFF2-40B4-BE49-F238E27FC236}">
                <a16:creationId xmlns:a16="http://schemas.microsoft.com/office/drawing/2014/main" id="{0C4738D8-2498-9002-A39F-60268DC28D34}"/>
              </a:ext>
            </a:extLst>
          </p:cNvPr>
          <p:cNvSpPr/>
          <p:nvPr/>
        </p:nvSpPr>
        <p:spPr>
          <a:xfrm>
            <a:off x="7715290" y="3653261"/>
            <a:ext cx="2795162" cy="461665"/>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41" name="文字方塊 140">
                <a:extLst>
                  <a:ext uri="{FF2B5EF4-FFF2-40B4-BE49-F238E27FC236}">
                    <a16:creationId xmlns:a16="http://schemas.microsoft.com/office/drawing/2014/main" id="{2BC5BC51-42D3-4CFB-4AA4-32C0FAEAA7C9}"/>
                  </a:ext>
                </a:extLst>
              </p:cNvPr>
              <p:cNvSpPr txBox="1"/>
              <p:nvPr/>
            </p:nvSpPr>
            <p:spPr>
              <a:xfrm>
                <a:off x="5128501" y="5349339"/>
                <a:ext cx="2705301" cy="533544"/>
              </a:xfrm>
              <a:prstGeom prst="rect">
                <a:avLst/>
              </a:prstGeom>
              <a:noFill/>
            </p:spPr>
            <p:txBody>
              <a:bodyPr wrap="square" rtlCol="0">
                <a:spAutoFit/>
              </a:bodyPr>
              <a:lstStyle/>
              <a:p>
                <a:r>
                  <a:rPr lang="en-US" altLang="zh-TW" dirty="0"/>
                  <a:t>t=</a:t>
                </a:r>
                <a14:m>
                  <m:oMath xmlns:m="http://schemas.openxmlformats.org/officeDocument/2006/math">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2</m:t>
                        </m:r>
                        <m:r>
                          <a:rPr lang="en-US" altLang="zh-TW" b="0" i="1" smtClean="0">
                            <a:latin typeface="Cambria Math" panose="02040503050406030204" pitchFamily="18" charset="0"/>
                          </a:rPr>
                          <m:t>𝑚</m:t>
                        </m:r>
                        <m:r>
                          <a:rPr lang="en-US" altLang="zh-TW" b="0" i="1" smtClean="0">
                            <a:latin typeface="Cambria Math" panose="02040503050406030204" pitchFamily="18" charset="0"/>
                          </a:rPr>
                          <m:t>+1</m:t>
                        </m:r>
                      </m:num>
                      <m:den>
                        <m:r>
                          <a:rPr lang="en-US" altLang="zh-TW" b="0" i="1" smtClean="0">
                            <a:latin typeface="Cambria Math" panose="02040503050406030204" pitchFamily="18" charset="0"/>
                          </a:rPr>
                          <m:t>2</m:t>
                        </m:r>
                      </m:den>
                    </m:f>
                  </m:oMath>
                </a14:m>
                <a:r>
                  <a:rPr lang="zh-TW" altLang="en-US" dirty="0"/>
                  <a:t> </a:t>
                </a:r>
                <a14:m>
                  <m:oMath xmlns:m="http://schemas.openxmlformats.org/officeDocument/2006/math">
                    <m:f>
                      <m:fPr>
                        <m:ctrlPr>
                          <a:rPr lang="en-US" altLang="zh-TW" i="1" dirty="0" smtClean="0">
                            <a:latin typeface="Cambria Math" panose="02040503050406030204" pitchFamily="18" charset="0"/>
                          </a:rPr>
                        </m:ctrlPr>
                      </m:fPr>
                      <m:num>
                        <m:sSub>
                          <m:sSubPr>
                            <m:ctrlPr>
                              <a:rPr lang="en-US" altLang="zh-TW" i="1" dirty="0" smtClean="0">
                                <a:latin typeface="Cambria Math" panose="02040503050406030204" pitchFamily="18" charset="0"/>
                              </a:rPr>
                            </m:ctrlPr>
                          </m:sSubPr>
                          <m:e>
                            <m:r>
                              <a:rPr lang="zh-TW" altLang="en-US" i="1" dirty="0" smtClean="0">
                                <a:latin typeface="Cambria Math" panose="02040503050406030204" pitchFamily="18" charset="0"/>
                              </a:rPr>
                              <m:t>𝜆</m:t>
                            </m:r>
                          </m:e>
                          <m:sub>
                            <m:r>
                              <a:rPr lang="en-US" altLang="zh-TW" b="0" i="1" dirty="0" smtClean="0">
                                <a:latin typeface="Cambria Math" panose="02040503050406030204" pitchFamily="18" charset="0"/>
                              </a:rPr>
                              <m:t>0</m:t>
                            </m:r>
                          </m:sub>
                        </m:sSub>
                      </m:num>
                      <m:den>
                        <m:sSub>
                          <m:sSubPr>
                            <m:ctrlPr>
                              <a:rPr lang="en-US" altLang="zh-TW" i="1" dirty="0" smtClean="0">
                                <a:latin typeface="Cambria Math" panose="02040503050406030204" pitchFamily="18" charset="0"/>
                              </a:rPr>
                            </m:ctrlPr>
                          </m:sSubPr>
                          <m:e>
                            <m:r>
                              <a:rPr lang="en-US" altLang="zh-TW" b="0" i="1" dirty="0" smtClean="0">
                                <a:latin typeface="Cambria Math" panose="02040503050406030204" pitchFamily="18" charset="0"/>
                              </a:rPr>
                              <m:t>𝑛</m:t>
                            </m:r>
                          </m:e>
                          <m:sub>
                            <m:r>
                              <a:rPr lang="en-US" altLang="zh-TW" b="0" i="1" dirty="0" smtClean="0">
                                <a:latin typeface="Cambria Math" panose="02040503050406030204" pitchFamily="18" charset="0"/>
                              </a:rPr>
                              <m:t>𝑜</m:t>
                            </m:r>
                          </m:sub>
                        </m:sSub>
                        <m:r>
                          <a:rPr lang="en-US" altLang="zh-TW" b="0" i="1" dirty="0" smtClean="0">
                            <a:latin typeface="Cambria Math" panose="02040503050406030204" pitchFamily="18" charset="0"/>
                          </a:rPr>
                          <m:t>−</m:t>
                        </m:r>
                        <m:sSub>
                          <m:sSubPr>
                            <m:ctrlPr>
                              <a:rPr lang="en-US" altLang="zh-TW" b="0" i="1" dirty="0" smtClean="0">
                                <a:latin typeface="Cambria Math" panose="02040503050406030204" pitchFamily="18" charset="0"/>
                              </a:rPr>
                            </m:ctrlPr>
                          </m:sSubPr>
                          <m:e>
                            <m:r>
                              <a:rPr lang="en-US" altLang="zh-TW" b="0" i="1" dirty="0" smtClean="0">
                                <a:latin typeface="Cambria Math" panose="02040503050406030204" pitchFamily="18" charset="0"/>
                              </a:rPr>
                              <m:t>𝑛</m:t>
                            </m:r>
                          </m:e>
                          <m:sub>
                            <m:r>
                              <a:rPr lang="en-US" altLang="zh-TW" b="0" i="1" dirty="0" smtClean="0">
                                <a:latin typeface="Cambria Math" panose="02040503050406030204" pitchFamily="18" charset="0"/>
                              </a:rPr>
                              <m:t>𝑒</m:t>
                            </m:r>
                          </m:sub>
                        </m:sSub>
                      </m:den>
                    </m:f>
                  </m:oMath>
                </a14:m>
                <a:r>
                  <a:rPr lang="zh-TW" altLang="en-US" dirty="0"/>
                  <a:t> </a:t>
                </a:r>
                <a:r>
                  <a:rPr lang="en-US" altLang="zh-TW" dirty="0"/>
                  <a:t>; m=1,2,3…</a:t>
                </a:r>
                <a:endParaRPr lang="zh-TW" altLang="en-US" dirty="0"/>
              </a:p>
            </p:txBody>
          </p:sp>
        </mc:Choice>
        <mc:Fallback xmlns="">
          <p:sp>
            <p:nvSpPr>
              <p:cNvPr id="141" name="文字方塊 140">
                <a:extLst>
                  <a:ext uri="{FF2B5EF4-FFF2-40B4-BE49-F238E27FC236}">
                    <a16:creationId xmlns:a16="http://schemas.microsoft.com/office/drawing/2014/main" id="{2BC5BC51-42D3-4CFB-4AA4-32C0FAEAA7C9}"/>
                  </a:ext>
                </a:extLst>
              </p:cNvPr>
              <p:cNvSpPr txBox="1">
                <a:spLocks noRot="1" noChangeAspect="1" noMove="1" noResize="1" noEditPoints="1" noAdjustHandles="1" noChangeArrowheads="1" noChangeShapeType="1" noTextEdit="1"/>
              </p:cNvSpPr>
              <p:nvPr/>
            </p:nvSpPr>
            <p:spPr>
              <a:xfrm>
                <a:off x="5128501" y="5349339"/>
                <a:ext cx="2705301" cy="533544"/>
              </a:xfrm>
              <a:prstGeom prst="rect">
                <a:avLst/>
              </a:prstGeom>
              <a:blipFill>
                <a:blip r:embed="rId5"/>
                <a:stretch>
                  <a:fillRect l="-1802" b="-1149"/>
                </a:stretch>
              </a:blipFill>
            </p:spPr>
            <p:txBody>
              <a:bodyPr/>
              <a:lstStyle/>
              <a:p>
                <a:r>
                  <a:rPr lang="zh-TW" altLang="en-US">
                    <a:noFill/>
                  </a:rPr>
                  <a:t> </a:t>
                </a:r>
              </a:p>
            </p:txBody>
          </p:sp>
        </mc:Fallback>
      </mc:AlternateContent>
      <p:sp>
        <p:nvSpPr>
          <p:cNvPr id="186" name="文字方塊 185">
            <a:extLst>
              <a:ext uri="{FF2B5EF4-FFF2-40B4-BE49-F238E27FC236}">
                <a16:creationId xmlns:a16="http://schemas.microsoft.com/office/drawing/2014/main" id="{DC75979C-499F-A47E-FD33-C2BC8E2C7AD9}"/>
              </a:ext>
            </a:extLst>
          </p:cNvPr>
          <p:cNvSpPr txBox="1"/>
          <p:nvPr/>
        </p:nvSpPr>
        <p:spPr>
          <a:xfrm>
            <a:off x="8318429" y="3100492"/>
            <a:ext cx="1265090" cy="461665"/>
          </a:xfrm>
          <a:prstGeom prst="rect">
            <a:avLst/>
          </a:prstGeom>
          <a:noFill/>
        </p:spPr>
        <p:txBody>
          <a:bodyPr wrap="none" rtlCol="0">
            <a:spAutoFit/>
          </a:bodyPr>
          <a:lstStyle/>
          <a:p>
            <a:r>
              <a:rPr lang="en-US" altLang="zh-TW" sz="2400" dirty="0"/>
              <a:t>Use LN ?</a:t>
            </a:r>
            <a:endParaRPr lang="zh-TW" altLang="en-US" sz="2400" dirty="0"/>
          </a:p>
        </p:txBody>
      </p:sp>
      <p:sp>
        <p:nvSpPr>
          <p:cNvPr id="7" name="內容版面配置區 2">
            <a:extLst>
              <a:ext uri="{FF2B5EF4-FFF2-40B4-BE49-F238E27FC236}">
                <a16:creationId xmlns:a16="http://schemas.microsoft.com/office/drawing/2014/main" id="{13D93ACD-8E8E-EBC6-28BB-560C067BE5A6}"/>
              </a:ext>
            </a:extLst>
          </p:cNvPr>
          <p:cNvSpPr txBox="1">
            <a:spLocks/>
          </p:cNvSpPr>
          <p:nvPr/>
        </p:nvSpPr>
        <p:spPr>
          <a:xfrm>
            <a:off x="2351415" y="579121"/>
            <a:ext cx="8522472" cy="110155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200000"/>
              </a:lnSpc>
              <a:buFont typeface="Arial" panose="020B0604020202020204" pitchFamily="34" charset="0"/>
              <a:buNone/>
            </a:pPr>
            <a:r>
              <a:rPr lang="en-US" altLang="zh-TW" b="1" dirty="0">
                <a:effectLst>
                  <a:outerShdw blurRad="38100" dist="38100" dir="2700000" algn="tl">
                    <a:srgbClr val="000000">
                      <a:alpha val="43137"/>
                    </a:srgbClr>
                  </a:outerShdw>
                </a:effectLst>
              </a:rPr>
              <a:t>Electric-optic polarization mode conversion(EOPMC)</a:t>
            </a:r>
          </a:p>
          <a:p>
            <a:pPr>
              <a:lnSpc>
                <a:spcPct val="200000"/>
              </a:lnSpc>
            </a:pPr>
            <a:endParaRPr lang="en-US"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66268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Electro-Optic Effect</a:t>
            </a:r>
          </a:p>
        </p:txBody>
      </p:sp>
      <p:sp>
        <p:nvSpPr>
          <p:cNvPr id="3" name="內容版面配置區 2">
            <a:extLst>
              <a:ext uri="{FF2B5EF4-FFF2-40B4-BE49-F238E27FC236}">
                <a16:creationId xmlns:a16="http://schemas.microsoft.com/office/drawing/2014/main" id="{7785E72D-3875-448F-8D77-75F9CFD57AC4}"/>
              </a:ext>
            </a:extLst>
          </p:cNvPr>
          <p:cNvSpPr>
            <a:spLocks noGrp="1"/>
          </p:cNvSpPr>
          <p:nvPr>
            <p:ph idx="4294967295"/>
          </p:nvPr>
        </p:nvSpPr>
        <p:spPr>
          <a:xfrm>
            <a:off x="2351415" y="579121"/>
            <a:ext cx="8522472" cy="1101552"/>
          </a:xfrm>
        </p:spPr>
        <p:txBody>
          <a:bodyPr>
            <a:noAutofit/>
          </a:bodyPr>
          <a:lstStyle/>
          <a:p>
            <a:pPr marL="0" indent="0">
              <a:lnSpc>
                <a:spcPct val="200000"/>
              </a:lnSpc>
              <a:buNone/>
            </a:pPr>
            <a:r>
              <a:rPr lang="en-US" altLang="zh-TW" b="1" dirty="0">
                <a:effectLst>
                  <a:outerShdw blurRad="38100" dist="38100" dir="2700000" algn="tl">
                    <a:srgbClr val="000000">
                      <a:alpha val="43137"/>
                    </a:srgbClr>
                  </a:outerShdw>
                </a:effectLst>
              </a:rPr>
              <a:t>Electric-optic polarization mode conversion(EOPMC)</a:t>
            </a:r>
          </a:p>
          <a:p>
            <a:pPr>
              <a:lnSpc>
                <a:spcPct val="200000"/>
              </a:lnSpc>
            </a:pPr>
            <a:endParaRPr lang="en-US" altLang="zh-TW"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0039351" y="6356352"/>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20</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FCDA6E13-3FF3-B68B-84C4-941F4BBF075A}"/>
                  </a:ext>
                </a:extLst>
              </p:cNvPr>
              <p:cNvSpPr txBox="1"/>
              <p:nvPr/>
            </p:nvSpPr>
            <p:spPr>
              <a:xfrm>
                <a:off x="454714" y="1546743"/>
                <a:ext cx="4999413" cy="391646"/>
              </a:xfrm>
              <a:prstGeom prst="rect">
                <a:avLst/>
              </a:prstGeom>
              <a:noFill/>
            </p:spPr>
            <p:txBody>
              <a:bodyPr wrap="square">
                <a:spAutoFit/>
              </a:bodyPr>
              <a:lstStyle/>
              <a:p>
                <a14:m>
                  <m:oMath xmlns:m="http://schemas.openxmlformats.org/officeDocument/2006/math">
                    <m:r>
                      <a:rPr lang="zh-TW" altLang="en-US" i="1" smtClean="0">
                        <a:latin typeface="Cambria Math" panose="02040503050406030204" pitchFamily="18" charset="0"/>
                      </a:rPr>
                      <m:t>𝞰</m:t>
                    </m:r>
                  </m:oMath>
                </a14:m>
                <a:r>
                  <a:rPr lang="en-US" altLang="zh-TW" baseline="-25000" dirty="0" err="1"/>
                  <a:t>ij</a:t>
                </a:r>
                <a:r>
                  <a:rPr lang="en-US" altLang="zh-TW" dirty="0"/>
                  <a:t>(E) =</a:t>
                </a:r>
                <a14:m>
                  <m:oMath xmlns:m="http://schemas.openxmlformats.org/officeDocument/2006/math">
                    <m:r>
                      <a:rPr lang="zh-TW" altLang="en-US" i="1">
                        <a:latin typeface="Cambria Math" panose="02040503050406030204" pitchFamily="18" charset="0"/>
                      </a:rPr>
                      <m:t>𝞰</m:t>
                    </m:r>
                  </m:oMath>
                </a14:m>
                <a:r>
                  <a:rPr lang="en-US" altLang="zh-TW" baseline="-25000" dirty="0" err="1"/>
                  <a:t>ij</a:t>
                </a:r>
                <a:r>
                  <a:rPr lang="en-US" altLang="zh-TW" sz="1800" dirty="0"/>
                  <a:t>(0) + </a:t>
                </a:r>
                <a14:m>
                  <m:oMath xmlns:m="http://schemas.openxmlformats.org/officeDocument/2006/math">
                    <m:nary>
                      <m:naryPr>
                        <m:chr m:val="∑"/>
                        <m:limLoc m:val="subSup"/>
                        <m:supHide m:val="on"/>
                        <m:ctrlPr>
                          <a:rPr lang="en-US" altLang="zh-TW" sz="1800" i="1" smtClean="0">
                            <a:latin typeface="Cambria Math" panose="02040503050406030204" pitchFamily="18" charset="0"/>
                          </a:rPr>
                        </m:ctrlPr>
                      </m:naryPr>
                      <m:sub>
                        <m:r>
                          <m:rPr>
                            <m:brk m:alnAt="9"/>
                          </m:rPr>
                          <a:rPr lang="en-US" altLang="zh-TW" sz="1800" b="0" i="1" smtClean="0">
                            <a:latin typeface="Cambria Math" panose="02040503050406030204" pitchFamily="18" charset="0"/>
                          </a:rPr>
                          <m:t>𝑘</m:t>
                        </m:r>
                      </m:sub>
                      <m:sup/>
                      <m:e>
                        <m:r>
                          <a:rPr lang="en-US" altLang="zh-TW" sz="1800" b="0" i="1" smtClean="0">
                            <a:latin typeface="Cambria Math" panose="02040503050406030204" pitchFamily="18" charset="0"/>
                          </a:rPr>
                          <m:t>𝑟</m:t>
                        </m:r>
                        <m:r>
                          <a:rPr lang="zh-TW" altLang="en-US" sz="1800" i="1">
                            <a:latin typeface="Cambria Math" panose="02040503050406030204" pitchFamily="18" charset="0"/>
                          </a:rPr>
                          <m:t> </m:t>
                        </m:r>
                        <m:r>
                          <m:rPr>
                            <m:nor/>
                          </m:rPr>
                          <a:rPr lang="en-US" altLang="zh-TW" sz="1800" baseline="-25000" dirty="0"/>
                          <m:t>ij</m:t>
                        </m:r>
                        <m:r>
                          <m:rPr>
                            <m:nor/>
                          </m:rPr>
                          <a:rPr lang="en-US" altLang="zh-TW" sz="1800" b="0" i="0" baseline="-25000" dirty="0" smtClean="0"/>
                          <m:t>k</m:t>
                        </m:r>
                      </m:e>
                    </m:nary>
                  </m:oMath>
                </a14:m>
                <a:r>
                  <a:rPr lang="en-US" altLang="zh-TW" sz="1800" dirty="0"/>
                  <a:t>E</a:t>
                </a:r>
                <a:r>
                  <a:rPr lang="en-US" altLang="zh-TW" sz="1800" baseline="-25000" dirty="0"/>
                  <a:t>k</a:t>
                </a:r>
                <a:r>
                  <a:rPr lang="en-US" altLang="zh-TW" sz="1800" dirty="0"/>
                  <a:t> + </a:t>
                </a:r>
                <a14:m>
                  <m:oMath xmlns:m="http://schemas.openxmlformats.org/officeDocument/2006/math">
                    <m:nary>
                      <m:naryPr>
                        <m:chr m:val="∑"/>
                        <m:limLoc m:val="subSup"/>
                        <m:supHide m:val="on"/>
                        <m:ctrlPr>
                          <a:rPr lang="en-US" altLang="zh-TW" sz="1800" i="1" smtClean="0">
                            <a:latin typeface="Cambria Math" panose="02040503050406030204" pitchFamily="18" charset="0"/>
                          </a:rPr>
                        </m:ctrlPr>
                      </m:naryPr>
                      <m:sub>
                        <m:r>
                          <m:rPr>
                            <m:brk m:alnAt="9"/>
                          </m:rPr>
                          <a:rPr lang="en-US" altLang="zh-TW" sz="1800" i="1">
                            <a:latin typeface="Cambria Math" panose="02040503050406030204" pitchFamily="18" charset="0"/>
                          </a:rPr>
                          <m:t>𝑘</m:t>
                        </m:r>
                        <m:r>
                          <a:rPr lang="en-US" altLang="zh-TW" sz="1800" b="0" i="1" smtClean="0">
                            <a:latin typeface="Cambria Math" panose="02040503050406030204" pitchFamily="18" charset="0"/>
                          </a:rPr>
                          <m:t>𝑙</m:t>
                        </m:r>
                      </m:sub>
                      <m:sup/>
                      <m:e>
                        <m:sSub>
                          <m:sSubPr>
                            <m:ctrlPr>
                              <a:rPr lang="en-US" altLang="zh-TW" sz="1800" b="0" i="1" smtClean="0">
                                <a:latin typeface="Cambria Math" panose="02040503050406030204" pitchFamily="18" charset="0"/>
                              </a:rPr>
                            </m:ctrlPr>
                          </m:sSubPr>
                          <m:e>
                            <m:r>
                              <a:rPr lang="zh-TW" altLang="en-US" sz="1800" b="0" i="1" smtClean="0">
                                <a:latin typeface="Cambria Math" panose="02040503050406030204" pitchFamily="18" charset="0"/>
                              </a:rPr>
                              <m:t>𝜍</m:t>
                            </m:r>
                          </m:e>
                          <m:sub>
                            <m:r>
                              <a:rPr lang="en-US" altLang="zh-TW" sz="1800" b="0" i="1" smtClean="0">
                                <a:latin typeface="Cambria Math" panose="02040503050406030204" pitchFamily="18" charset="0"/>
                              </a:rPr>
                              <m:t>𝑖𝑗𝑘</m:t>
                            </m:r>
                          </m:sub>
                        </m:sSub>
                      </m:e>
                    </m:nary>
                  </m:oMath>
                </a14:m>
                <a:r>
                  <a:rPr lang="en-US" altLang="zh-TW" sz="1800" dirty="0"/>
                  <a:t>E</a:t>
                </a:r>
                <a:r>
                  <a:rPr lang="en-US" altLang="zh-TW" sz="1800" baseline="-25000" dirty="0"/>
                  <a:t>k</a:t>
                </a:r>
                <a:r>
                  <a:rPr lang="en-US" altLang="zh-TW" sz="1800" dirty="0"/>
                  <a:t>E</a:t>
                </a:r>
                <a14:m>
                  <m:oMath xmlns:m="http://schemas.openxmlformats.org/officeDocument/2006/math">
                    <m:r>
                      <m:rPr>
                        <m:brk m:alnAt="9"/>
                      </m:rPr>
                      <a:rPr lang="en-US" altLang="zh-TW" sz="1800" i="1" baseline="-25000">
                        <a:latin typeface="Cambria Math" panose="02040503050406030204" pitchFamily="18" charset="0"/>
                      </a:rPr>
                      <m:t>𝑙</m:t>
                    </m:r>
                  </m:oMath>
                </a14:m>
                <a:endParaRPr lang="en-US" altLang="zh-TW" sz="1800" baseline="-25000" dirty="0"/>
              </a:p>
            </p:txBody>
          </p:sp>
        </mc:Choice>
        <mc:Fallback xmlns="">
          <p:sp>
            <p:nvSpPr>
              <p:cNvPr id="7" name="文字方塊 6">
                <a:extLst>
                  <a:ext uri="{FF2B5EF4-FFF2-40B4-BE49-F238E27FC236}">
                    <a16:creationId xmlns:a16="http://schemas.microsoft.com/office/drawing/2014/main" id="{FCDA6E13-3FF3-B68B-84C4-941F4BBF075A}"/>
                  </a:ext>
                </a:extLst>
              </p:cNvPr>
              <p:cNvSpPr txBox="1">
                <a:spLocks noRot="1" noChangeAspect="1" noMove="1" noResize="1" noEditPoints="1" noAdjustHandles="1" noChangeArrowheads="1" noChangeShapeType="1" noTextEdit="1"/>
              </p:cNvSpPr>
              <p:nvPr/>
            </p:nvSpPr>
            <p:spPr>
              <a:xfrm>
                <a:off x="454714" y="1546743"/>
                <a:ext cx="4999413" cy="391646"/>
              </a:xfrm>
              <a:prstGeom prst="rect">
                <a:avLst/>
              </a:prstGeom>
              <a:blipFill>
                <a:blip r:embed="rId4"/>
                <a:stretch>
                  <a:fillRect t="-112500" b="-171875"/>
                </a:stretch>
              </a:blipFill>
            </p:spPr>
            <p:txBody>
              <a:bodyPr/>
              <a:lstStyle/>
              <a:p>
                <a:r>
                  <a:rPr lang="zh-TW" altLang="en-US">
                    <a:noFill/>
                  </a:rPr>
                  <a:t> </a:t>
                </a:r>
              </a:p>
            </p:txBody>
          </p:sp>
        </mc:Fallback>
      </mc:AlternateContent>
      <p:sp>
        <p:nvSpPr>
          <p:cNvPr id="8" name="矩形 7">
            <a:extLst>
              <a:ext uri="{FF2B5EF4-FFF2-40B4-BE49-F238E27FC236}">
                <a16:creationId xmlns:a16="http://schemas.microsoft.com/office/drawing/2014/main" id="{870B05B6-99BA-E6CE-244B-4E02C87990BB}"/>
              </a:ext>
            </a:extLst>
          </p:cNvPr>
          <p:cNvSpPr/>
          <p:nvPr/>
        </p:nvSpPr>
        <p:spPr>
          <a:xfrm rot="19735376">
            <a:off x="3224204" y="1782139"/>
            <a:ext cx="810023" cy="4571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2FF023AB-7E5B-6D0C-DF3A-C2CA6179C3F6}"/>
              </a:ext>
            </a:extLst>
          </p:cNvPr>
          <p:cNvSpPr txBox="1"/>
          <p:nvPr/>
        </p:nvSpPr>
        <p:spPr>
          <a:xfrm>
            <a:off x="3270533" y="1961248"/>
            <a:ext cx="1146596" cy="369332"/>
          </a:xfrm>
          <a:prstGeom prst="rect">
            <a:avLst/>
          </a:prstGeom>
          <a:noFill/>
        </p:spPr>
        <p:txBody>
          <a:bodyPr wrap="none" rtlCol="0">
            <a:spAutoFit/>
          </a:bodyPr>
          <a:lstStyle/>
          <a:p>
            <a:r>
              <a:rPr lang="en-US" altLang="zh-TW" dirty="0" err="1"/>
              <a:t>kerr</a:t>
            </a:r>
            <a:r>
              <a:rPr lang="en-US" altLang="zh-TW" dirty="0"/>
              <a:t> effect</a:t>
            </a:r>
            <a:endParaRPr lang="zh-TW" altLang="en-US" dirty="0"/>
          </a:p>
        </p:txBody>
      </p:sp>
      <p:sp>
        <p:nvSpPr>
          <p:cNvPr id="10" name="文字方塊 9">
            <a:extLst>
              <a:ext uri="{FF2B5EF4-FFF2-40B4-BE49-F238E27FC236}">
                <a16:creationId xmlns:a16="http://schemas.microsoft.com/office/drawing/2014/main" id="{9115322F-43DF-8548-A101-CA94320229F7}"/>
              </a:ext>
            </a:extLst>
          </p:cNvPr>
          <p:cNvSpPr txBox="1"/>
          <p:nvPr/>
        </p:nvSpPr>
        <p:spPr>
          <a:xfrm>
            <a:off x="1805765" y="1937843"/>
            <a:ext cx="1372812" cy="369332"/>
          </a:xfrm>
          <a:prstGeom prst="rect">
            <a:avLst/>
          </a:prstGeom>
          <a:noFill/>
        </p:spPr>
        <p:txBody>
          <a:bodyPr wrap="none" rtlCol="0">
            <a:spAutoFit/>
          </a:bodyPr>
          <a:lstStyle/>
          <a:p>
            <a:r>
              <a:rPr lang="en-US" altLang="zh-TW" dirty="0" err="1"/>
              <a:t>Pockel</a:t>
            </a:r>
            <a:r>
              <a:rPr lang="en-US" altLang="zh-TW" dirty="0"/>
              <a:t> effect</a:t>
            </a:r>
            <a:endParaRPr lang="zh-TW" altLang="en-US" dirty="0"/>
          </a:p>
        </p:txBody>
      </p:sp>
      <p:sp>
        <p:nvSpPr>
          <p:cNvPr id="11" name="矩形 10">
            <a:extLst>
              <a:ext uri="{FF2B5EF4-FFF2-40B4-BE49-F238E27FC236}">
                <a16:creationId xmlns:a16="http://schemas.microsoft.com/office/drawing/2014/main" id="{654A6EED-9CF1-0148-6BD5-D11924A41A58}"/>
              </a:ext>
            </a:extLst>
          </p:cNvPr>
          <p:cNvSpPr/>
          <p:nvPr/>
        </p:nvSpPr>
        <p:spPr>
          <a:xfrm>
            <a:off x="2069021" y="1915529"/>
            <a:ext cx="846301" cy="4571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7EB22BF2-07D6-BF7A-6A6E-364116A28C3C}"/>
                  </a:ext>
                </a:extLst>
              </p:cNvPr>
              <p:cNvSpPr txBox="1"/>
              <p:nvPr/>
            </p:nvSpPr>
            <p:spPr>
              <a:xfrm>
                <a:off x="2506531" y="2790616"/>
                <a:ext cx="6585289" cy="1724511"/>
              </a:xfrm>
              <a:prstGeom prst="rect">
                <a:avLst/>
              </a:prstGeom>
              <a:noFill/>
            </p:spPr>
            <p:txBody>
              <a:bodyPr wrap="square">
                <a:spAutoFit/>
              </a:bodyPr>
              <a:lstStyle/>
              <a:p>
                <a14:m>
                  <m:oMath xmlns:m="http://schemas.openxmlformats.org/officeDocument/2006/math">
                    <m:nary>
                      <m:naryPr>
                        <m:chr m:val="∑"/>
                        <m:limLoc m:val="subSup"/>
                        <m:supHide m:val="on"/>
                        <m:ctrlPr>
                          <a:rPr lang="en-US" altLang="zh-TW" i="1">
                            <a:latin typeface="Cambria Math" panose="02040503050406030204" pitchFamily="18" charset="0"/>
                          </a:rPr>
                        </m:ctrlPr>
                      </m:naryPr>
                      <m:sub>
                        <m:r>
                          <m:rPr>
                            <m:brk m:alnAt="9"/>
                          </m:rPr>
                          <a:rPr lang="en-US" altLang="zh-TW" i="1">
                            <a:latin typeface="Cambria Math" panose="02040503050406030204" pitchFamily="18" charset="0"/>
                          </a:rPr>
                          <m:t>𝑘</m:t>
                        </m:r>
                      </m:sub>
                      <m:sup/>
                      <m:e>
                        <m:r>
                          <a:rPr lang="en-US" altLang="zh-TW" i="1">
                            <a:latin typeface="Cambria Math" panose="02040503050406030204" pitchFamily="18" charset="0"/>
                          </a:rPr>
                          <m:t>𝑟</m:t>
                        </m:r>
                        <m:r>
                          <a:rPr lang="zh-TW" altLang="en-US" i="1">
                            <a:latin typeface="Cambria Math" panose="02040503050406030204" pitchFamily="18" charset="0"/>
                          </a:rPr>
                          <m:t> </m:t>
                        </m:r>
                        <m:r>
                          <m:rPr>
                            <m:nor/>
                          </m:rPr>
                          <a:rPr lang="en-US" altLang="zh-TW" baseline="-25000" dirty="0"/>
                          <m:t>ijk</m:t>
                        </m:r>
                      </m:e>
                    </m:nary>
                  </m:oMath>
                </a14:m>
                <a:r>
                  <a:rPr lang="en-US" altLang="zh-TW" dirty="0"/>
                  <a:t>E</a:t>
                </a:r>
                <a:r>
                  <a:rPr lang="en-US" altLang="zh-TW" baseline="-25000" dirty="0"/>
                  <a:t>k</a:t>
                </a:r>
                <a:r>
                  <a:rPr lang="en-US" altLang="zh-TW" dirty="0"/>
                  <a:t> </a:t>
                </a:r>
                <a:r>
                  <a:rPr lang="en-US" altLang="zh-TW" sz="1800" dirty="0">
                    <a:latin typeface="arial" panose="020B0604020202020204" pitchFamily="34" charset="0"/>
                  </a:rPr>
                  <a:t>=∆</a:t>
                </a:r>
                <a14:m>
                  <m:oMath xmlns:m="http://schemas.openxmlformats.org/officeDocument/2006/math">
                    <m:r>
                      <a:rPr lang="zh-TW" altLang="en-US" i="1">
                        <a:latin typeface="Cambria Math" panose="02040503050406030204" pitchFamily="18" charset="0"/>
                      </a:rPr>
                      <m:t>𝞰</m:t>
                    </m:r>
                  </m:oMath>
                </a14:m>
                <a:r>
                  <a:rPr lang="en-US" altLang="zh-TW" baseline="-25000" dirty="0" err="1"/>
                  <a:t>ij</a:t>
                </a:r>
                <a:r>
                  <a:rPr lang="en-US" altLang="zh-TW" dirty="0"/>
                  <a:t>(</a:t>
                </a:r>
                <a14:m>
                  <m:oMath xmlns:m="http://schemas.openxmlformats.org/officeDocument/2006/math">
                    <m:r>
                      <a:rPr lang="en-US" altLang="zh-TW" i="1">
                        <a:latin typeface="Cambria Math" panose="02040503050406030204" pitchFamily="18" charset="0"/>
                      </a:rPr>
                      <m:t>𝐸</m:t>
                    </m:r>
                    <m:r>
                      <a:rPr lang="en-US" altLang="zh-TW" i="1" baseline="-25000">
                        <a:latin typeface="Cambria Math" panose="02040503050406030204" pitchFamily="18" charset="0"/>
                      </a:rPr>
                      <m:t>𝑦</m:t>
                    </m:r>
                  </m:oMath>
                </a14:m>
                <a:r>
                  <a:rPr lang="en-US" altLang="zh-TW" dirty="0"/>
                  <a:t>) </a:t>
                </a:r>
                <a:r>
                  <a:rPr lang="en-US" altLang="zh-TW" sz="1800" dirty="0"/>
                  <a:t>=</a:t>
                </a:r>
                <a:r>
                  <a:rPr lang="zh-TW" altLang="en-US" sz="1800" dirty="0"/>
                  <a:t> </a:t>
                </a:r>
                <a14:m>
                  <m:oMath xmlns:m="http://schemas.openxmlformats.org/officeDocument/2006/math">
                    <m:d>
                      <m:dPr>
                        <m:begChr m:val="["/>
                        <m:endChr m:val="]"/>
                        <m:ctrlPr>
                          <a:rPr lang="en-US" altLang="zh-TW" sz="1800" i="1">
                            <a:latin typeface="Cambria Math" panose="02040503050406030204" pitchFamily="18" charset="0"/>
                          </a:rPr>
                        </m:ctrlPr>
                      </m:dPr>
                      <m:e>
                        <m:m>
                          <m:mPr>
                            <m:mcs>
                              <m:mc>
                                <m:mcPr>
                                  <m:count m:val="1"/>
                                  <m:mcJc m:val="center"/>
                                </m:mcPr>
                              </m:mc>
                            </m:mcs>
                            <m:ctrlPr>
                              <a:rPr lang="en-US" altLang="zh-TW" sz="1800" i="1">
                                <a:latin typeface="Cambria Math" panose="02040503050406030204" pitchFamily="18" charset="0"/>
                              </a:rPr>
                            </m:ctrlPr>
                          </m:mPr>
                          <m:mr>
                            <m:e>
                              <m:m>
                                <m:mPr>
                                  <m:mcs>
                                    <m:mc>
                                      <m:mcPr>
                                        <m:count m:val="1"/>
                                        <m:mcJc m:val="center"/>
                                      </m:mcPr>
                                    </m:mc>
                                  </m:mcs>
                                  <m:ctrlPr>
                                    <a:rPr lang="en-US" altLang="zh-TW" sz="1800" i="1">
                                      <a:latin typeface="Cambria Math" panose="02040503050406030204" pitchFamily="18" charset="0"/>
                                    </a:rPr>
                                  </m:ctrlPr>
                                </m:mPr>
                                <m:mr>
                                  <m:e>
                                    <m:r>
                                      <m:rPr>
                                        <m:nor/>
                                      </m:rPr>
                                      <a:rPr lang="en-US" altLang="zh-TW" sz="1800" dirty="0">
                                        <a:latin typeface="arial" panose="020B0604020202020204" pitchFamily="34" charset="0"/>
                                      </a:rPr>
                                      <m:t>∆</m:t>
                                    </m:r>
                                    <m:r>
                                      <a:rPr lang="zh-TW" altLang="en-US" sz="1800" i="1">
                                        <a:latin typeface="Cambria Math" panose="02040503050406030204" pitchFamily="18" charset="0"/>
                                      </a:rPr>
                                      <m:t>𝞰</m:t>
                                    </m:r>
                                    <m:r>
                                      <a:rPr lang="en-US" altLang="zh-TW" sz="1800" i="1" baseline="-25000">
                                        <a:latin typeface="Cambria Math" panose="02040503050406030204" pitchFamily="18" charset="0"/>
                                      </a:rPr>
                                      <m:t>1</m:t>
                                    </m:r>
                                  </m:e>
                                </m:mr>
                                <m:mr>
                                  <m:e>
                                    <m:r>
                                      <m:rPr>
                                        <m:nor/>
                                      </m:rPr>
                                      <a:rPr lang="en-US" altLang="zh-TW" sz="1800" dirty="0">
                                        <a:latin typeface="arial" panose="020B0604020202020204" pitchFamily="34" charset="0"/>
                                      </a:rPr>
                                      <m:t>∆</m:t>
                                    </m:r>
                                    <m:r>
                                      <a:rPr lang="zh-TW" altLang="en-US" sz="1800" i="1">
                                        <a:latin typeface="Cambria Math" panose="02040503050406030204" pitchFamily="18" charset="0"/>
                                      </a:rPr>
                                      <m:t>𝞰</m:t>
                                    </m:r>
                                    <m:r>
                                      <a:rPr lang="en-US" altLang="zh-TW" sz="1800" i="1" baseline="-25000">
                                        <a:latin typeface="Cambria Math" panose="02040503050406030204" pitchFamily="18" charset="0"/>
                                      </a:rPr>
                                      <m:t>2</m:t>
                                    </m:r>
                                  </m:e>
                                </m:mr>
                                <m:mr>
                                  <m:e>
                                    <m:r>
                                      <m:rPr>
                                        <m:nor/>
                                      </m:rPr>
                                      <a:rPr lang="en-US" altLang="zh-TW" sz="1800" dirty="0">
                                        <a:latin typeface="arial" panose="020B0604020202020204" pitchFamily="34" charset="0"/>
                                      </a:rPr>
                                      <m:t>∆</m:t>
                                    </m:r>
                                    <m:r>
                                      <a:rPr lang="zh-TW" altLang="en-US" sz="1800" i="1">
                                        <a:latin typeface="Cambria Math" panose="02040503050406030204" pitchFamily="18" charset="0"/>
                                      </a:rPr>
                                      <m:t>𝞰</m:t>
                                    </m:r>
                                    <m:r>
                                      <a:rPr lang="en-US" altLang="zh-TW" sz="1800" i="1" baseline="-25000">
                                        <a:latin typeface="Cambria Math" panose="02040503050406030204" pitchFamily="18" charset="0"/>
                                      </a:rPr>
                                      <m:t>3</m:t>
                                    </m:r>
                                  </m:e>
                                </m:mr>
                              </m:m>
                            </m:e>
                          </m:mr>
                          <m:mr>
                            <m:e>
                              <m:m>
                                <m:mPr>
                                  <m:mcs>
                                    <m:mc>
                                      <m:mcPr>
                                        <m:count m:val="1"/>
                                        <m:mcJc m:val="center"/>
                                      </m:mcPr>
                                    </m:mc>
                                  </m:mcs>
                                  <m:ctrlPr>
                                    <a:rPr lang="en-US" altLang="zh-TW" sz="1800" i="1">
                                      <a:latin typeface="Cambria Math" panose="02040503050406030204" pitchFamily="18" charset="0"/>
                                    </a:rPr>
                                  </m:ctrlPr>
                                </m:mPr>
                                <m:mr>
                                  <m:e>
                                    <m:r>
                                      <m:rPr>
                                        <m:nor/>
                                      </m:rPr>
                                      <a:rPr lang="en-US" altLang="zh-TW" sz="1800" dirty="0">
                                        <a:latin typeface="arial" panose="020B0604020202020204" pitchFamily="34" charset="0"/>
                                      </a:rPr>
                                      <m:t>∆</m:t>
                                    </m:r>
                                    <m:r>
                                      <a:rPr lang="zh-TW" altLang="en-US" sz="1800" i="1">
                                        <a:latin typeface="Cambria Math" panose="02040503050406030204" pitchFamily="18" charset="0"/>
                                      </a:rPr>
                                      <m:t>𝞰</m:t>
                                    </m:r>
                                    <m:r>
                                      <a:rPr lang="en-US" altLang="zh-TW" sz="1800" i="1" baseline="-25000">
                                        <a:latin typeface="Cambria Math" panose="02040503050406030204" pitchFamily="18" charset="0"/>
                                      </a:rPr>
                                      <m:t>4</m:t>
                                    </m:r>
                                  </m:e>
                                </m:mr>
                                <m:mr>
                                  <m:e>
                                    <m:r>
                                      <m:rPr>
                                        <m:nor/>
                                      </m:rPr>
                                      <a:rPr lang="en-US" altLang="zh-TW" sz="1800" dirty="0">
                                        <a:latin typeface="arial" panose="020B0604020202020204" pitchFamily="34" charset="0"/>
                                      </a:rPr>
                                      <m:t>∆</m:t>
                                    </m:r>
                                    <m:r>
                                      <a:rPr lang="zh-TW" altLang="en-US" sz="1800" i="1">
                                        <a:latin typeface="Cambria Math" panose="02040503050406030204" pitchFamily="18" charset="0"/>
                                      </a:rPr>
                                      <m:t>𝞰</m:t>
                                    </m:r>
                                    <m:r>
                                      <a:rPr lang="en-US" altLang="zh-TW" sz="1800" i="1" baseline="-25000">
                                        <a:latin typeface="Cambria Math" panose="02040503050406030204" pitchFamily="18" charset="0"/>
                                      </a:rPr>
                                      <m:t>5</m:t>
                                    </m:r>
                                  </m:e>
                                </m:mr>
                                <m:mr>
                                  <m:e>
                                    <m:r>
                                      <m:rPr>
                                        <m:nor/>
                                      </m:rPr>
                                      <a:rPr lang="en-US" altLang="zh-TW" sz="1800" dirty="0">
                                        <a:latin typeface="arial" panose="020B0604020202020204" pitchFamily="34" charset="0"/>
                                      </a:rPr>
                                      <m:t>∆</m:t>
                                    </m:r>
                                    <m:r>
                                      <a:rPr lang="zh-TW" altLang="en-US" sz="1800" i="1">
                                        <a:latin typeface="Cambria Math" panose="02040503050406030204" pitchFamily="18" charset="0"/>
                                      </a:rPr>
                                      <m:t>𝞰</m:t>
                                    </m:r>
                                    <m:r>
                                      <a:rPr lang="en-US" altLang="zh-TW" sz="1800" i="1" baseline="-25000">
                                        <a:latin typeface="Cambria Math" panose="02040503050406030204" pitchFamily="18" charset="0"/>
                                      </a:rPr>
                                      <m:t>6</m:t>
                                    </m:r>
                                  </m:e>
                                </m:mr>
                              </m:m>
                            </m:e>
                          </m:mr>
                        </m:m>
                      </m:e>
                    </m:d>
                    <m:r>
                      <a:rPr lang="zh-TW" altLang="en-US" sz="1800" i="1">
                        <a:latin typeface="Cambria Math" panose="02040503050406030204" pitchFamily="18" charset="0"/>
                      </a:rPr>
                      <m:t> </m:t>
                    </m:r>
                  </m:oMath>
                </a14:m>
                <a:r>
                  <a:rPr lang="en-US" altLang="zh-TW" sz="1800" dirty="0"/>
                  <a:t>=</a:t>
                </a:r>
                <a:r>
                  <a:rPr lang="zh-TW" altLang="en-US" sz="1800" dirty="0"/>
                  <a:t>   </a:t>
                </a:r>
                <a:r>
                  <a:rPr lang="en-US" altLang="zh-TW" sz="1800" dirty="0"/>
                  <a:t>  </a:t>
                </a:r>
                <a:r>
                  <a:rPr lang="zh-TW" altLang="en-US" sz="1800" dirty="0"/>
                  <a:t> </a:t>
                </a:r>
                <a:r>
                  <a:rPr lang="en-US" altLang="zh-TW" sz="1800" dirty="0"/>
                  <a:t>		</a:t>
                </a:r>
                <a:endParaRPr lang="zh-TW" altLang="en-US" dirty="0"/>
              </a:p>
            </p:txBody>
          </p:sp>
        </mc:Choice>
        <mc:Fallback xmlns="">
          <p:sp>
            <p:nvSpPr>
              <p:cNvPr id="13" name="文字方塊 12">
                <a:extLst>
                  <a:ext uri="{FF2B5EF4-FFF2-40B4-BE49-F238E27FC236}">
                    <a16:creationId xmlns:a16="http://schemas.microsoft.com/office/drawing/2014/main" id="{7EB22BF2-07D6-BF7A-6A6E-364116A28C3C}"/>
                  </a:ext>
                </a:extLst>
              </p:cNvPr>
              <p:cNvSpPr txBox="1">
                <a:spLocks noRot="1" noChangeAspect="1" noMove="1" noResize="1" noEditPoints="1" noAdjustHandles="1" noChangeArrowheads="1" noChangeShapeType="1" noTextEdit="1"/>
              </p:cNvSpPr>
              <p:nvPr/>
            </p:nvSpPr>
            <p:spPr>
              <a:xfrm>
                <a:off x="2506531" y="2790616"/>
                <a:ext cx="6585289" cy="1724511"/>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3CACF2FE-75B4-0545-1ED3-04E1DBAB365A}"/>
                  </a:ext>
                </a:extLst>
              </p:cNvPr>
              <p:cNvSpPr txBox="1"/>
              <p:nvPr/>
            </p:nvSpPr>
            <p:spPr>
              <a:xfrm>
                <a:off x="5191308" y="2801804"/>
                <a:ext cx="1998232" cy="1597297"/>
              </a:xfrm>
              <a:prstGeom prst="rect">
                <a:avLst/>
              </a:prstGeom>
              <a:noFill/>
            </p:spPr>
            <p:txBody>
              <a:bodyPr wrap="square">
                <a:spAutoFit/>
              </a:bodyPr>
              <a:lstStyle/>
              <a:p>
                <a14:m>
                  <m:oMath xmlns:m="http://schemas.openxmlformats.org/officeDocument/2006/math">
                    <m:d>
                      <m:dPr>
                        <m:begChr m:val="["/>
                        <m:endChr m:val="]"/>
                        <m:ctrlPr>
                          <a:rPr lang="en-US" altLang="zh-TW" sz="1800" i="1" smtClean="0">
                            <a:latin typeface="Cambria Math" panose="02040503050406030204" pitchFamily="18" charset="0"/>
                          </a:rPr>
                        </m:ctrlPr>
                      </m:dPr>
                      <m:e>
                        <m:m>
                          <m:mPr>
                            <m:mcs>
                              <m:mc>
                                <m:mcPr>
                                  <m:count m:val="1"/>
                                  <m:mcJc m:val="center"/>
                                </m:mcPr>
                              </m:mc>
                            </m:mcs>
                            <m:ctrlPr>
                              <a:rPr lang="en-US" altLang="zh-TW" sz="1800" i="1">
                                <a:latin typeface="Cambria Math" panose="02040503050406030204" pitchFamily="18" charset="0"/>
                              </a:rPr>
                            </m:ctrlPr>
                          </m:mPr>
                          <m:mr>
                            <m:e>
                              <m:m>
                                <m:mPr>
                                  <m:mcs>
                                    <m:mc>
                                      <m:mcPr>
                                        <m:count m:val="3"/>
                                        <m:mcJc m:val="center"/>
                                      </m:mcPr>
                                    </m:mc>
                                  </m:mcs>
                                  <m:ctrlPr>
                                    <a:rPr lang="en-US" altLang="zh-TW" sz="1800" i="1">
                                      <a:latin typeface="Cambria Math" panose="02040503050406030204" pitchFamily="18" charset="0"/>
                                    </a:rPr>
                                  </m:ctrlPr>
                                </m:mPr>
                                <m:mr>
                                  <m:e>
                                    <m:r>
                                      <m:rPr>
                                        <m:brk m:alnAt="7"/>
                                      </m:rPr>
                                      <a:rPr lang="en-US" altLang="zh-TW" sz="1800" i="1">
                                        <a:latin typeface="Cambria Math" panose="02040503050406030204" pitchFamily="18" charset="0"/>
                                      </a:rPr>
                                      <m:t> </m:t>
                                    </m:r>
                                    <m:r>
                                      <a:rPr lang="en-US" altLang="zh-TW" sz="1800" i="1">
                                        <a:latin typeface="Cambria Math" panose="02040503050406030204" pitchFamily="18" charset="0"/>
                                      </a:rPr>
                                      <m:t>     0</m:t>
                                    </m:r>
                                  </m:e>
                                  <m:e>
                                    <m:r>
                                      <a:rPr lang="en-US" altLang="zh-TW" sz="1800" i="1">
                                        <a:latin typeface="Cambria Math" panose="02040503050406030204" pitchFamily="18" charset="0"/>
                                      </a:rPr>
                                      <m:t>−</m:t>
                                    </m:r>
                                    <m:r>
                                      <a:rPr lang="en-US" altLang="zh-TW" sz="1800" i="1">
                                        <a:latin typeface="Cambria Math" panose="02040503050406030204" pitchFamily="18" charset="0"/>
                                      </a:rPr>
                                      <m:t>𝑟</m:t>
                                    </m:r>
                                    <m:r>
                                      <a:rPr lang="en-US" altLang="zh-TW" sz="1800" i="1" baseline="-25000">
                                        <a:latin typeface="Cambria Math" panose="02040503050406030204" pitchFamily="18" charset="0"/>
                                      </a:rPr>
                                      <m:t>22</m:t>
                                    </m:r>
                                  </m:e>
                                  <m:e>
                                    <m:r>
                                      <a:rPr lang="en-US" altLang="zh-TW" sz="1800" i="1">
                                        <a:latin typeface="Cambria Math" panose="02040503050406030204" pitchFamily="18" charset="0"/>
                                      </a:rPr>
                                      <m:t>𝑟</m:t>
                                    </m:r>
                                    <m:r>
                                      <a:rPr lang="en-US" altLang="zh-TW" sz="1800" i="1" baseline="-25000">
                                        <a:latin typeface="Cambria Math" panose="02040503050406030204" pitchFamily="18" charset="0"/>
                                      </a:rPr>
                                      <m:t>33</m:t>
                                    </m:r>
                                  </m:e>
                                </m:mr>
                                <m:mr>
                                  <m:e>
                                    <m:r>
                                      <a:rPr lang="en-US" altLang="zh-TW" sz="1800" i="1">
                                        <a:latin typeface="Cambria Math" panose="02040503050406030204" pitchFamily="18" charset="0"/>
                                      </a:rPr>
                                      <m:t>      0</m:t>
                                    </m:r>
                                  </m:e>
                                  <m:e>
                                    <m:r>
                                      <a:rPr lang="en-US" altLang="zh-TW" sz="1800" i="1">
                                        <a:latin typeface="Cambria Math" panose="02040503050406030204" pitchFamily="18" charset="0"/>
                                      </a:rPr>
                                      <m:t>𝑟</m:t>
                                    </m:r>
                                    <m:r>
                                      <a:rPr lang="en-US" altLang="zh-TW" sz="1800" i="1" baseline="-25000">
                                        <a:latin typeface="Cambria Math" panose="02040503050406030204" pitchFamily="18" charset="0"/>
                                      </a:rPr>
                                      <m:t>22</m:t>
                                    </m:r>
                                  </m:e>
                                  <m:e>
                                    <m:r>
                                      <a:rPr lang="en-US" altLang="zh-TW" sz="1800" i="1">
                                        <a:latin typeface="Cambria Math" panose="02040503050406030204" pitchFamily="18" charset="0"/>
                                      </a:rPr>
                                      <m:t>𝑟</m:t>
                                    </m:r>
                                    <m:r>
                                      <a:rPr lang="en-US" altLang="zh-TW" sz="1800" i="1" baseline="-25000">
                                        <a:latin typeface="Cambria Math" panose="02040503050406030204" pitchFamily="18" charset="0"/>
                                      </a:rPr>
                                      <m:t>13</m:t>
                                    </m:r>
                                  </m:e>
                                </m:mr>
                                <m:mr>
                                  <m:e>
                                    <m:r>
                                      <a:rPr lang="en-US" altLang="zh-TW" sz="1800" i="1" smtClean="0">
                                        <a:latin typeface="Cambria Math" panose="02040503050406030204" pitchFamily="18" charset="0"/>
                                      </a:rPr>
                                      <m:t>  </m:t>
                                    </m:r>
                                    <m:r>
                                      <a:rPr lang="en-US" altLang="zh-TW" sz="1800" i="1">
                                        <a:latin typeface="Cambria Math" panose="02040503050406030204" pitchFamily="18" charset="0"/>
                                      </a:rPr>
                                      <m:t>    0</m:t>
                                    </m:r>
                                  </m:e>
                                  <m:e>
                                    <m:r>
                                      <a:rPr lang="en-US" altLang="zh-TW" sz="1800" i="1">
                                        <a:latin typeface="Cambria Math" panose="02040503050406030204" pitchFamily="18" charset="0"/>
                                      </a:rPr>
                                      <m:t>0</m:t>
                                    </m:r>
                                  </m:e>
                                  <m:e>
                                    <m:r>
                                      <a:rPr lang="en-US" altLang="zh-TW" sz="1800" i="1">
                                        <a:latin typeface="Cambria Math" panose="02040503050406030204" pitchFamily="18" charset="0"/>
                                      </a:rPr>
                                      <m:t>𝑟</m:t>
                                    </m:r>
                                    <m:r>
                                      <a:rPr lang="en-US" altLang="zh-TW" sz="1800" i="1" baseline="-25000">
                                        <a:latin typeface="Cambria Math" panose="02040503050406030204" pitchFamily="18" charset="0"/>
                                      </a:rPr>
                                      <m:t>33</m:t>
                                    </m:r>
                                  </m:e>
                                </m:mr>
                              </m:m>
                            </m:e>
                          </m:mr>
                          <m:mr>
                            <m:e>
                              <m:m>
                                <m:mPr>
                                  <m:mcs>
                                    <m:mc>
                                      <m:mcPr>
                                        <m:count m:val="3"/>
                                        <m:mcJc m:val="center"/>
                                      </m:mcPr>
                                    </m:mc>
                                  </m:mcs>
                                  <m:ctrlPr>
                                    <a:rPr lang="en-US" altLang="zh-TW" sz="1800" i="1">
                                      <a:latin typeface="Cambria Math" panose="02040503050406030204" pitchFamily="18" charset="0"/>
                                    </a:rPr>
                                  </m:ctrlPr>
                                </m:mPr>
                                <m:mr>
                                  <m:e>
                                    <m:r>
                                      <m:rPr>
                                        <m:brk m:alnAt="7"/>
                                      </m:rPr>
                                      <a:rPr lang="en-US" altLang="zh-TW" sz="1800" i="1">
                                        <a:latin typeface="Cambria Math" panose="02040503050406030204" pitchFamily="18" charset="0"/>
                                      </a:rPr>
                                      <m:t>0</m:t>
                                    </m:r>
                                  </m:e>
                                  <m:e>
                                    <m:r>
                                      <a:rPr lang="en-US" altLang="zh-TW" sz="1800" i="1">
                                        <a:latin typeface="Cambria Math" panose="02040503050406030204" pitchFamily="18" charset="0"/>
                                      </a:rPr>
                                      <m:t>𝑟</m:t>
                                    </m:r>
                                    <m:r>
                                      <a:rPr lang="en-US" altLang="zh-TW" sz="1800" i="1" baseline="-25000">
                                        <a:latin typeface="Cambria Math" panose="02040503050406030204" pitchFamily="18" charset="0"/>
                                      </a:rPr>
                                      <m:t>51</m:t>
                                    </m:r>
                                  </m:e>
                                  <m:e>
                                    <m:r>
                                      <a:rPr lang="en-US" altLang="zh-TW" sz="1800" i="1">
                                        <a:latin typeface="Cambria Math" panose="02040503050406030204" pitchFamily="18" charset="0"/>
                                      </a:rPr>
                                      <m:t>0</m:t>
                                    </m:r>
                                  </m:e>
                                </m:mr>
                                <m:mr>
                                  <m:e>
                                    <m:r>
                                      <a:rPr lang="en-US" altLang="zh-TW" sz="1800" i="1">
                                        <a:latin typeface="Cambria Math" panose="02040503050406030204" pitchFamily="18" charset="0"/>
                                      </a:rPr>
                                      <m:t>𝑟</m:t>
                                    </m:r>
                                    <m:r>
                                      <a:rPr lang="en-US" altLang="zh-TW" sz="1800" i="1" baseline="-25000">
                                        <a:latin typeface="Cambria Math" panose="02040503050406030204" pitchFamily="18" charset="0"/>
                                      </a:rPr>
                                      <m:t>51</m:t>
                                    </m:r>
                                  </m:e>
                                  <m:e>
                                    <m:r>
                                      <a:rPr lang="en-US" altLang="zh-TW" sz="1800" i="1">
                                        <a:latin typeface="Cambria Math" panose="02040503050406030204" pitchFamily="18" charset="0"/>
                                      </a:rPr>
                                      <m:t>0</m:t>
                                    </m:r>
                                  </m:e>
                                  <m:e>
                                    <m:r>
                                      <a:rPr lang="en-US" altLang="zh-TW" sz="1800" i="1">
                                        <a:latin typeface="Cambria Math" panose="02040503050406030204" pitchFamily="18" charset="0"/>
                                      </a:rPr>
                                      <m:t>0</m:t>
                                    </m:r>
                                  </m:e>
                                </m:mr>
                                <m:mr>
                                  <m:e>
                                    <m:r>
                                      <a:rPr lang="en-US" altLang="zh-TW" sz="1800" i="1">
                                        <a:latin typeface="Cambria Math" panose="02040503050406030204" pitchFamily="18" charset="0"/>
                                      </a:rPr>
                                      <m:t>−</m:t>
                                    </m:r>
                                    <m:r>
                                      <a:rPr lang="en-US" altLang="zh-TW" sz="1800" i="1">
                                        <a:latin typeface="Cambria Math" panose="02040503050406030204" pitchFamily="18" charset="0"/>
                                      </a:rPr>
                                      <m:t>𝑟</m:t>
                                    </m:r>
                                    <m:r>
                                      <a:rPr lang="en-US" altLang="zh-TW" sz="1800" i="1" baseline="-25000">
                                        <a:latin typeface="Cambria Math" panose="02040503050406030204" pitchFamily="18" charset="0"/>
                                      </a:rPr>
                                      <m:t>22</m:t>
                                    </m:r>
                                  </m:e>
                                  <m:e>
                                    <m:r>
                                      <a:rPr lang="en-US" altLang="zh-TW" sz="1800" i="1">
                                        <a:latin typeface="Cambria Math" panose="02040503050406030204" pitchFamily="18" charset="0"/>
                                      </a:rPr>
                                      <m:t>0</m:t>
                                    </m:r>
                                  </m:e>
                                  <m:e>
                                    <m:r>
                                      <a:rPr lang="en-US" altLang="zh-TW" sz="1800" i="1">
                                        <a:latin typeface="Cambria Math" panose="02040503050406030204" pitchFamily="18" charset="0"/>
                                      </a:rPr>
                                      <m:t>0</m:t>
                                    </m:r>
                                  </m:e>
                                </m:mr>
                              </m:m>
                            </m:e>
                          </m:mr>
                        </m:m>
                      </m:e>
                    </m:d>
                  </m:oMath>
                </a14:m>
                <a:r>
                  <a:rPr lang="en-US" altLang="zh-TW" sz="1800" dirty="0"/>
                  <a:t> </a:t>
                </a:r>
                <a:endParaRPr lang="zh-TW" altLang="en-US" dirty="0"/>
              </a:p>
            </p:txBody>
          </p:sp>
        </mc:Choice>
        <mc:Fallback xmlns="">
          <p:sp>
            <p:nvSpPr>
              <p:cNvPr id="15" name="文字方塊 14">
                <a:extLst>
                  <a:ext uri="{FF2B5EF4-FFF2-40B4-BE49-F238E27FC236}">
                    <a16:creationId xmlns:a16="http://schemas.microsoft.com/office/drawing/2014/main" id="{3CACF2FE-75B4-0545-1ED3-04E1DBAB365A}"/>
                  </a:ext>
                </a:extLst>
              </p:cNvPr>
              <p:cNvSpPr txBox="1">
                <a:spLocks noRot="1" noChangeAspect="1" noMove="1" noResize="1" noEditPoints="1" noAdjustHandles="1" noChangeArrowheads="1" noChangeShapeType="1" noTextEdit="1"/>
              </p:cNvSpPr>
              <p:nvPr/>
            </p:nvSpPr>
            <p:spPr>
              <a:xfrm>
                <a:off x="5191308" y="2801804"/>
                <a:ext cx="1998232" cy="1597297"/>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4F15CE22-EDAB-55F1-D96A-989C0E9AF068}"/>
                  </a:ext>
                </a:extLst>
              </p:cNvPr>
              <p:cNvSpPr txBox="1"/>
              <p:nvPr/>
            </p:nvSpPr>
            <p:spPr>
              <a:xfrm>
                <a:off x="5376877" y="2860862"/>
                <a:ext cx="1627094" cy="1504066"/>
              </a:xfrm>
              <a:prstGeom prst="rect">
                <a:avLst/>
              </a:prstGeom>
              <a:noFill/>
            </p:spPr>
            <p:txBody>
              <a:bodyPr wrap="square">
                <a:spAutoFit/>
              </a:bodyPr>
              <a:lstStyle/>
              <a:p>
                <a14:m>
                  <m:oMath xmlns:m="http://schemas.openxmlformats.org/officeDocument/2006/math">
                    <m:d>
                      <m:dPr>
                        <m:begChr m:val="["/>
                        <m:endChr m:val="]"/>
                        <m:ctrlPr>
                          <a:rPr lang="en-US" altLang="zh-TW" sz="1800" i="1" smtClean="0">
                            <a:latin typeface="Cambria Math" panose="02040503050406030204" pitchFamily="18" charset="0"/>
                          </a:rPr>
                        </m:ctrlPr>
                      </m:dPr>
                      <m:e>
                        <m:m>
                          <m:mPr>
                            <m:mcs>
                              <m:mc>
                                <m:mcPr>
                                  <m:count m:val="1"/>
                                  <m:mcJc m:val="center"/>
                                </m:mcPr>
                              </m:mc>
                            </m:mcs>
                            <m:ctrlPr>
                              <a:rPr lang="en-US" altLang="zh-TW" i="1">
                                <a:latin typeface="Cambria Math" panose="02040503050406030204" pitchFamily="18" charset="0"/>
                              </a:rPr>
                            </m:ctrlPr>
                          </m:mPr>
                          <m:mr>
                            <m:e>
                              <m:m>
                                <m:mPr>
                                  <m:mcs>
                                    <m:mc>
                                      <m:mcPr>
                                        <m:count m:val="3"/>
                                        <m:mcJc m:val="center"/>
                                      </m:mcPr>
                                    </m:mc>
                                  </m:mcs>
                                  <m:ctrlPr>
                                    <a:rPr lang="en-US" altLang="zh-TW" i="1">
                                      <a:latin typeface="Cambria Math" panose="02040503050406030204" pitchFamily="18" charset="0"/>
                                    </a:rPr>
                                  </m:ctrlPr>
                                </m:mPr>
                                <m:mr>
                                  <m:e>
                                    <m:r>
                                      <m:rPr>
                                        <m:brk m:alnAt="7"/>
                                      </m:rPr>
                                      <a:rPr lang="en-US" altLang="zh-TW" i="1">
                                        <a:latin typeface="Cambria Math" panose="02040503050406030204" pitchFamily="18" charset="0"/>
                                      </a:rPr>
                                      <m:t>𝑟</m:t>
                                    </m:r>
                                    <m:r>
                                      <a:rPr lang="en-US" altLang="zh-TW" i="1" baseline="-25000">
                                        <a:latin typeface="Cambria Math" panose="02040503050406030204" pitchFamily="18" charset="0"/>
                                      </a:rPr>
                                      <m:t>11</m:t>
                                    </m:r>
                                  </m:e>
                                  <m:e>
                                    <m:r>
                                      <a:rPr lang="en-US" altLang="zh-TW" i="1">
                                        <a:latin typeface="Cambria Math" panose="02040503050406030204" pitchFamily="18" charset="0"/>
                                      </a:rPr>
                                      <m:t>𝑟</m:t>
                                    </m:r>
                                    <m:r>
                                      <a:rPr lang="en-US" altLang="zh-TW" i="1" baseline="-25000">
                                        <a:latin typeface="Cambria Math" panose="02040503050406030204" pitchFamily="18" charset="0"/>
                                      </a:rPr>
                                      <m:t>12</m:t>
                                    </m:r>
                                  </m:e>
                                  <m:e>
                                    <m:r>
                                      <a:rPr lang="en-US" altLang="zh-TW" i="1">
                                        <a:latin typeface="Cambria Math" panose="02040503050406030204" pitchFamily="18" charset="0"/>
                                      </a:rPr>
                                      <m:t>𝑟</m:t>
                                    </m:r>
                                    <m:r>
                                      <a:rPr lang="en-US" altLang="zh-TW" i="1" baseline="-25000">
                                        <a:latin typeface="Cambria Math" panose="02040503050406030204" pitchFamily="18" charset="0"/>
                                      </a:rPr>
                                      <m:t>13</m:t>
                                    </m:r>
                                  </m:e>
                                </m:mr>
                                <m:mr>
                                  <m:e>
                                    <m:r>
                                      <a:rPr lang="en-US" altLang="zh-TW" i="1">
                                        <a:latin typeface="Cambria Math" panose="02040503050406030204" pitchFamily="18" charset="0"/>
                                      </a:rPr>
                                      <m:t>𝑟</m:t>
                                    </m:r>
                                    <m:r>
                                      <a:rPr lang="en-US" altLang="zh-TW" i="1" baseline="-25000">
                                        <a:latin typeface="Cambria Math" panose="02040503050406030204" pitchFamily="18" charset="0"/>
                                      </a:rPr>
                                      <m:t>21</m:t>
                                    </m:r>
                                  </m:e>
                                  <m:e>
                                    <m:r>
                                      <a:rPr lang="en-US" altLang="zh-TW" i="1">
                                        <a:latin typeface="Cambria Math" panose="02040503050406030204" pitchFamily="18" charset="0"/>
                                      </a:rPr>
                                      <m:t>𝑟</m:t>
                                    </m:r>
                                    <m:r>
                                      <a:rPr lang="en-US" altLang="zh-TW" i="1" baseline="-25000">
                                        <a:latin typeface="Cambria Math" panose="02040503050406030204" pitchFamily="18" charset="0"/>
                                      </a:rPr>
                                      <m:t>22</m:t>
                                    </m:r>
                                  </m:e>
                                  <m:e>
                                    <m:r>
                                      <a:rPr lang="en-US" altLang="zh-TW" i="1">
                                        <a:latin typeface="Cambria Math" panose="02040503050406030204" pitchFamily="18" charset="0"/>
                                      </a:rPr>
                                      <m:t>𝑟</m:t>
                                    </m:r>
                                    <m:r>
                                      <a:rPr lang="en-US" altLang="zh-TW" i="1" baseline="-25000">
                                        <a:latin typeface="Cambria Math" panose="02040503050406030204" pitchFamily="18" charset="0"/>
                                      </a:rPr>
                                      <m:t>23</m:t>
                                    </m:r>
                                  </m:e>
                                </m:mr>
                                <m:mr>
                                  <m:e>
                                    <m:r>
                                      <a:rPr lang="en-US" altLang="zh-TW" i="1">
                                        <a:latin typeface="Cambria Math" panose="02040503050406030204" pitchFamily="18" charset="0"/>
                                      </a:rPr>
                                      <m:t>𝑟</m:t>
                                    </m:r>
                                    <m:r>
                                      <a:rPr lang="en-US" altLang="zh-TW" i="1" baseline="-25000">
                                        <a:latin typeface="Cambria Math" panose="02040503050406030204" pitchFamily="18" charset="0"/>
                                      </a:rPr>
                                      <m:t>31</m:t>
                                    </m:r>
                                  </m:e>
                                  <m:e>
                                    <m:r>
                                      <a:rPr lang="en-US" altLang="zh-TW" i="1">
                                        <a:latin typeface="Cambria Math" panose="02040503050406030204" pitchFamily="18" charset="0"/>
                                      </a:rPr>
                                      <m:t>𝑟</m:t>
                                    </m:r>
                                    <m:r>
                                      <a:rPr lang="en-US" altLang="zh-TW" i="1" baseline="-25000">
                                        <a:latin typeface="Cambria Math" panose="02040503050406030204" pitchFamily="18" charset="0"/>
                                      </a:rPr>
                                      <m:t>32</m:t>
                                    </m:r>
                                  </m:e>
                                  <m:e>
                                    <m:r>
                                      <a:rPr lang="en-US" altLang="zh-TW" i="1">
                                        <a:latin typeface="Cambria Math" panose="02040503050406030204" pitchFamily="18" charset="0"/>
                                      </a:rPr>
                                      <m:t>𝑟</m:t>
                                    </m:r>
                                    <m:r>
                                      <a:rPr lang="en-US" altLang="zh-TW" i="1" baseline="-25000">
                                        <a:latin typeface="Cambria Math" panose="02040503050406030204" pitchFamily="18" charset="0"/>
                                      </a:rPr>
                                      <m:t>33</m:t>
                                    </m:r>
                                  </m:e>
                                </m:mr>
                              </m:m>
                            </m:e>
                          </m:mr>
                          <m:mr>
                            <m:e>
                              <m:m>
                                <m:mPr>
                                  <m:mcs>
                                    <m:mc>
                                      <m:mcPr>
                                        <m:count m:val="3"/>
                                        <m:mcJc m:val="center"/>
                                      </m:mcPr>
                                    </m:mc>
                                  </m:mcs>
                                  <m:ctrlPr>
                                    <a:rPr lang="en-US" altLang="zh-TW" i="1">
                                      <a:latin typeface="Cambria Math" panose="02040503050406030204" pitchFamily="18" charset="0"/>
                                    </a:rPr>
                                  </m:ctrlPr>
                                </m:mPr>
                                <m:mr>
                                  <m:e>
                                    <m:r>
                                      <m:rPr>
                                        <m:brk m:alnAt="7"/>
                                      </m:rPr>
                                      <a:rPr lang="en-US" altLang="zh-TW" i="1">
                                        <a:latin typeface="Cambria Math" panose="02040503050406030204" pitchFamily="18" charset="0"/>
                                      </a:rPr>
                                      <m:t>𝑟</m:t>
                                    </m:r>
                                    <m:r>
                                      <a:rPr lang="en-US" altLang="zh-TW" i="1" baseline="-25000">
                                        <a:latin typeface="Cambria Math" panose="02040503050406030204" pitchFamily="18" charset="0"/>
                                      </a:rPr>
                                      <m:t>41</m:t>
                                    </m:r>
                                  </m:e>
                                  <m:e>
                                    <m:r>
                                      <a:rPr lang="en-US" altLang="zh-TW" i="1">
                                        <a:latin typeface="Cambria Math" panose="02040503050406030204" pitchFamily="18" charset="0"/>
                                      </a:rPr>
                                      <m:t>𝑟</m:t>
                                    </m:r>
                                    <m:r>
                                      <a:rPr lang="en-US" altLang="zh-TW" i="1" baseline="-25000">
                                        <a:latin typeface="Cambria Math" panose="02040503050406030204" pitchFamily="18" charset="0"/>
                                      </a:rPr>
                                      <m:t>42</m:t>
                                    </m:r>
                                  </m:e>
                                  <m:e>
                                    <m:r>
                                      <a:rPr lang="en-US" altLang="zh-TW" i="1">
                                        <a:latin typeface="Cambria Math" panose="02040503050406030204" pitchFamily="18" charset="0"/>
                                      </a:rPr>
                                      <m:t>𝑟</m:t>
                                    </m:r>
                                    <m:r>
                                      <a:rPr lang="en-US" altLang="zh-TW" i="1" baseline="-25000">
                                        <a:latin typeface="Cambria Math" panose="02040503050406030204" pitchFamily="18" charset="0"/>
                                      </a:rPr>
                                      <m:t>43</m:t>
                                    </m:r>
                                  </m:e>
                                </m:mr>
                                <m:mr>
                                  <m:e>
                                    <m:r>
                                      <a:rPr lang="en-US" altLang="zh-TW" i="1">
                                        <a:latin typeface="Cambria Math" panose="02040503050406030204" pitchFamily="18" charset="0"/>
                                      </a:rPr>
                                      <m:t>𝑟</m:t>
                                    </m:r>
                                    <m:r>
                                      <a:rPr lang="en-US" altLang="zh-TW" i="1" baseline="-25000">
                                        <a:latin typeface="Cambria Math" panose="02040503050406030204" pitchFamily="18" charset="0"/>
                                      </a:rPr>
                                      <m:t>51</m:t>
                                    </m:r>
                                  </m:e>
                                  <m:e>
                                    <m:r>
                                      <a:rPr lang="en-US" altLang="zh-TW" i="1">
                                        <a:latin typeface="Cambria Math" panose="02040503050406030204" pitchFamily="18" charset="0"/>
                                      </a:rPr>
                                      <m:t>𝑟</m:t>
                                    </m:r>
                                    <m:r>
                                      <a:rPr lang="en-US" altLang="zh-TW" i="1" baseline="-25000">
                                        <a:latin typeface="Cambria Math" panose="02040503050406030204" pitchFamily="18" charset="0"/>
                                      </a:rPr>
                                      <m:t>52</m:t>
                                    </m:r>
                                  </m:e>
                                  <m:e>
                                    <m:r>
                                      <a:rPr lang="en-US" altLang="zh-TW" i="1">
                                        <a:latin typeface="Cambria Math" panose="02040503050406030204" pitchFamily="18" charset="0"/>
                                      </a:rPr>
                                      <m:t>𝑟</m:t>
                                    </m:r>
                                    <m:r>
                                      <a:rPr lang="en-US" altLang="zh-TW" i="1" baseline="-25000">
                                        <a:latin typeface="Cambria Math" panose="02040503050406030204" pitchFamily="18" charset="0"/>
                                      </a:rPr>
                                      <m:t>53</m:t>
                                    </m:r>
                                  </m:e>
                                </m:mr>
                                <m:mr>
                                  <m:e>
                                    <m:r>
                                      <a:rPr lang="en-US" altLang="zh-TW" i="1">
                                        <a:latin typeface="Cambria Math" panose="02040503050406030204" pitchFamily="18" charset="0"/>
                                      </a:rPr>
                                      <m:t>𝑟</m:t>
                                    </m:r>
                                    <m:r>
                                      <a:rPr lang="en-US" altLang="zh-TW" i="1" baseline="-25000">
                                        <a:latin typeface="Cambria Math" panose="02040503050406030204" pitchFamily="18" charset="0"/>
                                      </a:rPr>
                                      <m:t>61</m:t>
                                    </m:r>
                                  </m:e>
                                  <m:e>
                                    <m:r>
                                      <a:rPr lang="en-US" altLang="zh-TW" i="1">
                                        <a:latin typeface="Cambria Math" panose="02040503050406030204" pitchFamily="18" charset="0"/>
                                      </a:rPr>
                                      <m:t>𝑟</m:t>
                                    </m:r>
                                    <m:r>
                                      <a:rPr lang="en-US" altLang="zh-TW" i="1" baseline="-25000">
                                        <a:latin typeface="Cambria Math" panose="02040503050406030204" pitchFamily="18" charset="0"/>
                                      </a:rPr>
                                      <m:t>62</m:t>
                                    </m:r>
                                  </m:e>
                                  <m:e>
                                    <m:r>
                                      <a:rPr lang="en-US" altLang="zh-TW" i="1">
                                        <a:latin typeface="Cambria Math" panose="02040503050406030204" pitchFamily="18" charset="0"/>
                                      </a:rPr>
                                      <m:t>𝑟</m:t>
                                    </m:r>
                                    <m:r>
                                      <a:rPr lang="en-US" altLang="zh-TW" i="1" baseline="-25000">
                                        <a:latin typeface="Cambria Math" panose="02040503050406030204" pitchFamily="18" charset="0"/>
                                      </a:rPr>
                                      <m:t>63</m:t>
                                    </m:r>
                                  </m:e>
                                </m:mr>
                              </m:m>
                            </m:e>
                          </m:mr>
                        </m:m>
                      </m:e>
                    </m:d>
                  </m:oMath>
                </a14:m>
                <a:r>
                  <a:rPr lang="en-US" altLang="zh-TW" sz="1800" dirty="0"/>
                  <a:t> </a:t>
                </a:r>
                <a:endParaRPr lang="zh-TW" altLang="en-US" dirty="0"/>
              </a:p>
            </p:txBody>
          </p:sp>
        </mc:Choice>
        <mc:Fallback xmlns="">
          <p:sp>
            <p:nvSpPr>
              <p:cNvPr id="17" name="文字方塊 16">
                <a:extLst>
                  <a:ext uri="{FF2B5EF4-FFF2-40B4-BE49-F238E27FC236}">
                    <a16:creationId xmlns:a16="http://schemas.microsoft.com/office/drawing/2014/main" id="{4F15CE22-EDAB-55F1-D96A-989C0E9AF068}"/>
                  </a:ext>
                </a:extLst>
              </p:cNvPr>
              <p:cNvSpPr txBox="1">
                <a:spLocks noRot="1" noChangeAspect="1" noMove="1" noResize="1" noEditPoints="1" noAdjustHandles="1" noChangeArrowheads="1" noChangeShapeType="1" noTextEdit="1"/>
              </p:cNvSpPr>
              <p:nvPr/>
            </p:nvSpPr>
            <p:spPr>
              <a:xfrm>
                <a:off x="5376877" y="2860862"/>
                <a:ext cx="1627094" cy="1504066"/>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6EDCD282-549D-40D1-DC79-AB951180C643}"/>
                  </a:ext>
                </a:extLst>
              </p:cNvPr>
              <p:cNvSpPr txBox="1"/>
              <p:nvPr/>
            </p:nvSpPr>
            <p:spPr>
              <a:xfrm>
                <a:off x="7033213" y="3212991"/>
                <a:ext cx="551329" cy="82490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1800" i="1" smtClean="0">
                              <a:latin typeface="Cambria Math" panose="02040503050406030204" pitchFamily="18" charset="0"/>
                            </a:rPr>
                          </m:ctrlPr>
                        </m:dPr>
                        <m:e>
                          <m:m>
                            <m:mPr>
                              <m:mcs>
                                <m:mc>
                                  <m:mcPr>
                                    <m:count m:val="1"/>
                                    <m:mcJc m:val="center"/>
                                  </m:mcPr>
                                </m:mc>
                              </m:mcs>
                              <m:ctrlPr>
                                <a:rPr lang="en-US" altLang="zh-TW" sz="1800" i="1">
                                  <a:latin typeface="Cambria Math" panose="02040503050406030204" pitchFamily="18" charset="0"/>
                                </a:rPr>
                              </m:ctrlPr>
                            </m:mPr>
                            <m:mr>
                              <m:e>
                                <m:r>
                                  <m:rPr>
                                    <m:brk m:alnAt="7"/>
                                  </m:rPr>
                                  <a:rPr lang="en-US" altLang="zh-TW" sz="1800" i="1">
                                    <a:latin typeface="Cambria Math" panose="02040503050406030204" pitchFamily="18" charset="0"/>
                                  </a:rPr>
                                  <m:t>0</m:t>
                                </m:r>
                              </m:e>
                            </m:mr>
                            <m:mr>
                              <m:e>
                                <m:r>
                                  <a:rPr lang="en-US" altLang="zh-TW" sz="1800" i="1">
                                    <a:latin typeface="Cambria Math" panose="02040503050406030204" pitchFamily="18" charset="0"/>
                                  </a:rPr>
                                  <m:t>𝐸</m:t>
                                </m:r>
                                <m:r>
                                  <a:rPr lang="en-US" altLang="zh-TW" sz="1800" b="0" i="1" baseline="-25000" smtClean="0">
                                    <a:latin typeface="Cambria Math" panose="02040503050406030204" pitchFamily="18" charset="0"/>
                                  </a:rPr>
                                  <m:t>𝑦</m:t>
                                </m:r>
                              </m:e>
                            </m:mr>
                            <m:mr>
                              <m:e>
                                <m:r>
                                  <a:rPr lang="en-US" altLang="zh-TW" sz="1800" i="1">
                                    <a:latin typeface="Cambria Math" panose="02040503050406030204" pitchFamily="18" charset="0"/>
                                  </a:rPr>
                                  <m:t>0</m:t>
                                </m:r>
                              </m:e>
                            </m:mr>
                          </m:m>
                        </m:e>
                      </m:d>
                    </m:oMath>
                  </m:oMathPara>
                </a14:m>
                <a:endParaRPr lang="zh-TW" altLang="en-US" dirty="0"/>
              </a:p>
            </p:txBody>
          </p:sp>
        </mc:Choice>
        <mc:Fallback xmlns="">
          <p:sp>
            <p:nvSpPr>
              <p:cNvPr id="19" name="文字方塊 18">
                <a:extLst>
                  <a:ext uri="{FF2B5EF4-FFF2-40B4-BE49-F238E27FC236}">
                    <a16:creationId xmlns:a16="http://schemas.microsoft.com/office/drawing/2014/main" id="{6EDCD282-549D-40D1-DC79-AB951180C643}"/>
                  </a:ext>
                </a:extLst>
              </p:cNvPr>
              <p:cNvSpPr txBox="1">
                <a:spLocks noRot="1" noChangeAspect="1" noMove="1" noResize="1" noEditPoints="1" noAdjustHandles="1" noChangeArrowheads="1" noChangeShapeType="1" noTextEdit="1"/>
              </p:cNvSpPr>
              <p:nvPr/>
            </p:nvSpPr>
            <p:spPr>
              <a:xfrm>
                <a:off x="7033213" y="3212991"/>
                <a:ext cx="551329" cy="824906"/>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2B4F2B1C-911A-5E43-1FDA-88646EA1B43E}"/>
                  </a:ext>
                </a:extLst>
              </p:cNvPr>
              <p:cNvSpPr txBox="1"/>
              <p:nvPr/>
            </p:nvSpPr>
            <p:spPr>
              <a:xfrm>
                <a:off x="7037111" y="3227189"/>
                <a:ext cx="551329" cy="8224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1800" i="1" smtClean="0">
                              <a:latin typeface="Cambria Math" panose="02040503050406030204" pitchFamily="18" charset="0"/>
                            </a:rPr>
                          </m:ctrlPr>
                        </m:dPr>
                        <m:e>
                          <m:m>
                            <m:mPr>
                              <m:mcs>
                                <m:mc>
                                  <m:mcPr>
                                    <m:count m:val="1"/>
                                    <m:mcJc m:val="center"/>
                                  </m:mcPr>
                                </m:mc>
                              </m:mcs>
                              <m:ctrlPr>
                                <a:rPr lang="en-US" altLang="zh-TW" sz="1800" i="1">
                                  <a:latin typeface="Cambria Math" panose="02040503050406030204" pitchFamily="18" charset="0"/>
                                </a:rPr>
                              </m:ctrlPr>
                            </m:mPr>
                            <m:mr>
                              <m:e>
                                <m:r>
                                  <m:rPr>
                                    <m:brk m:alnAt="7"/>
                                  </m:rPr>
                                  <a:rPr lang="en-US" altLang="zh-TW" sz="1800" i="1">
                                    <a:latin typeface="Cambria Math" panose="02040503050406030204" pitchFamily="18" charset="0"/>
                                  </a:rPr>
                                  <m:t>𝐸</m:t>
                                </m:r>
                                <m:r>
                                  <a:rPr lang="en-US" altLang="zh-TW" sz="1800" i="1" baseline="-25000">
                                    <a:latin typeface="Cambria Math" panose="02040503050406030204" pitchFamily="18" charset="0"/>
                                  </a:rPr>
                                  <m:t>1</m:t>
                                </m:r>
                              </m:e>
                            </m:mr>
                            <m:mr>
                              <m:e>
                                <m:r>
                                  <a:rPr lang="en-US" altLang="zh-TW" sz="1800" i="1">
                                    <a:latin typeface="Cambria Math" panose="02040503050406030204" pitchFamily="18" charset="0"/>
                                  </a:rPr>
                                  <m:t>𝐸</m:t>
                                </m:r>
                                <m:r>
                                  <a:rPr lang="en-US" altLang="zh-TW" sz="1800" i="1" baseline="-25000">
                                    <a:latin typeface="Cambria Math" panose="02040503050406030204" pitchFamily="18" charset="0"/>
                                  </a:rPr>
                                  <m:t>2</m:t>
                                </m:r>
                              </m:e>
                            </m:mr>
                            <m:mr>
                              <m:e>
                                <m:r>
                                  <a:rPr lang="en-US" altLang="zh-TW" sz="1800" i="1">
                                    <a:latin typeface="Cambria Math" panose="02040503050406030204" pitchFamily="18" charset="0"/>
                                  </a:rPr>
                                  <m:t>𝐸</m:t>
                                </m:r>
                                <m:r>
                                  <a:rPr lang="en-US" altLang="zh-TW" sz="1800" i="1" baseline="-25000">
                                    <a:latin typeface="Cambria Math" panose="02040503050406030204" pitchFamily="18" charset="0"/>
                                  </a:rPr>
                                  <m:t>3</m:t>
                                </m:r>
                              </m:e>
                            </m:mr>
                          </m:m>
                        </m:e>
                      </m:d>
                    </m:oMath>
                  </m:oMathPara>
                </a14:m>
                <a:endParaRPr lang="zh-TW" altLang="en-US" dirty="0"/>
              </a:p>
            </p:txBody>
          </p:sp>
        </mc:Choice>
        <mc:Fallback xmlns="">
          <p:sp>
            <p:nvSpPr>
              <p:cNvPr id="21" name="文字方塊 20">
                <a:extLst>
                  <a:ext uri="{FF2B5EF4-FFF2-40B4-BE49-F238E27FC236}">
                    <a16:creationId xmlns:a16="http://schemas.microsoft.com/office/drawing/2014/main" id="{2B4F2B1C-911A-5E43-1FDA-88646EA1B43E}"/>
                  </a:ext>
                </a:extLst>
              </p:cNvPr>
              <p:cNvSpPr txBox="1">
                <a:spLocks noRot="1" noChangeAspect="1" noMove="1" noResize="1" noEditPoints="1" noAdjustHandles="1" noChangeArrowheads="1" noChangeShapeType="1" noTextEdit="1"/>
              </p:cNvSpPr>
              <p:nvPr/>
            </p:nvSpPr>
            <p:spPr>
              <a:xfrm>
                <a:off x="7037111" y="3227189"/>
                <a:ext cx="551329" cy="822469"/>
              </a:xfrm>
              <a:prstGeom prst="rect">
                <a:avLst/>
              </a:prstGeom>
              <a:blipFill>
                <a:blip r:embed="rId9"/>
                <a:stretch>
                  <a:fillRect b="-741"/>
                </a:stretch>
              </a:blipFill>
            </p:spPr>
            <p:txBody>
              <a:bodyPr/>
              <a:lstStyle/>
              <a:p>
                <a:r>
                  <a:rPr lang="zh-TW" altLang="en-US">
                    <a:noFill/>
                  </a:rPr>
                  <a:t> </a:t>
                </a:r>
              </a:p>
            </p:txBody>
          </p:sp>
        </mc:Fallback>
      </mc:AlternateContent>
      <p:sp>
        <p:nvSpPr>
          <p:cNvPr id="22" name="文字方塊 21">
            <a:extLst>
              <a:ext uri="{FF2B5EF4-FFF2-40B4-BE49-F238E27FC236}">
                <a16:creationId xmlns:a16="http://schemas.microsoft.com/office/drawing/2014/main" id="{CF13CE73-3DAD-8080-6652-82B8B0566859}"/>
              </a:ext>
            </a:extLst>
          </p:cNvPr>
          <p:cNvSpPr txBox="1"/>
          <p:nvPr/>
        </p:nvSpPr>
        <p:spPr>
          <a:xfrm>
            <a:off x="6750467" y="4363399"/>
            <a:ext cx="1497526" cy="369332"/>
          </a:xfrm>
          <a:prstGeom prst="rect">
            <a:avLst/>
          </a:prstGeom>
          <a:noFill/>
        </p:spPr>
        <p:txBody>
          <a:bodyPr wrap="none" rtlCol="0">
            <a:spAutoFit/>
          </a:bodyPr>
          <a:lstStyle/>
          <a:p>
            <a:r>
              <a:rPr lang="en-US" altLang="zh-TW" dirty="0"/>
              <a:t>y</a:t>
            </a:r>
            <a:r>
              <a:rPr lang="zh-TW" altLang="en-US" dirty="0"/>
              <a:t> </a:t>
            </a:r>
            <a:r>
              <a:rPr lang="en-US" altLang="zh-TW" dirty="0"/>
              <a:t>electric field</a:t>
            </a:r>
            <a:endParaRPr lang="zh-TW" altLang="en-US" dirty="0"/>
          </a:p>
        </p:txBody>
      </p:sp>
      <p:cxnSp>
        <p:nvCxnSpPr>
          <p:cNvPr id="24" name="直線單箭頭接點 23">
            <a:extLst>
              <a:ext uri="{FF2B5EF4-FFF2-40B4-BE49-F238E27FC236}">
                <a16:creationId xmlns:a16="http://schemas.microsoft.com/office/drawing/2014/main" id="{54251919-EA73-47CB-C133-0BEFAFB43AC7}"/>
              </a:ext>
            </a:extLst>
          </p:cNvPr>
          <p:cNvCxnSpPr>
            <a:cxnSpLocks/>
          </p:cNvCxnSpPr>
          <p:nvPr/>
        </p:nvCxnSpPr>
        <p:spPr>
          <a:xfrm>
            <a:off x="2196298" y="2279363"/>
            <a:ext cx="888666" cy="1149637"/>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8861A539-988D-EF2F-60C5-D370FF1A4E77}"/>
                  </a:ext>
                </a:extLst>
              </p:cNvPr>
              <p:cNvSpPr txBox="1"/>
              <p:nvPr/>
            </p:nvSpPr>
            <p:spPr>
              <a:xfrm>
                <a:off x="245913" y="2827239"/>
                <a:ext cx="2105502" cy="1469057"/>
              </a:xfrm>
              <a:prstGeom prst="rect">
                <a:avLst/>
              </a:prstGeom>
              <a:noFill/>
            </p:spPr>
            <p:txBody>
              <a:bodyPr wrap="square">
                <a:spAutoFit/>
              </a:bodyPr>
              <a:lstStyle/>
              <a:p>
                <a14:m>
                  <m:oMath xmlns:m="http://schemas.openxmlformats.org/officeDocument/2006/math">
                    <m:r>
                      <a:rPr lang="zh-TW" altLang="en-US" sz="1800" i="1" smtClean="0">
                        <a:latin typeface="Cambria Math" panose="02040503050406030204" pitchFamily="18" charset="0"/>
                      </a:rPr>
                      <m:t>𝞰</m:t>
                    </m:r>
                  </m:oMath>
                </a14:m>
                <a:r>
                  <a:rPr lang="en-US" altLang="zh-TW" sz="1800" baseline="-25000" dirty="0" err="1"/>
                  <a:t>ij</a:t>
                </a:r>
                <a:r>
                  <a:rPr lang="en-US" altLang="zh-TW" sz="1800" dirty="0"/>
                  <a:t>(0) =</a:t>
                </a:r>
                <a14:m>
                  <m:oMath xmlns:m="http://schemas.openxmlformats.org/officeDocument/2006/math">
                    <m:d>
                      <m:dPr>
                        <m:begChr m:val="⌈"/>
                        <m:endChr m:val="⌉"/>
                        <m:ctrlPr>
                          <a:rPr lang="en-US" altLang="zh-TW" sz="1800" i="1" smtClean="0">
                            <a:latin typeface="Cambria Math" panose="02040503050406030204" pitchFamily="18" charset="0"/>
                          </a:rPr>
                        </m:ctrlPr>
                      </m:dPr>
                      <m:e>
                        <m:m>
                          <m:mPr>
                            <m:mcs>
                              <m:mc>
                                <m:mcPr>
                                  <m:count m:val="3"/>
                                  <m:mcJc m:val="center"/>
                                </m:mcPr>
                              </m:mc>
                            </m:mcs>
                            <m:ctrlPr>
                              <a:rPr lang="en-US" altLang="zh-TW" sz="1800" i="1" smtClean="0">
                                <a:latin typeface="Cambria Math" panose="02040503050406030204" pitchFamily="18" charset="0"/>
                              </a:rPr>
                            </m:ctrlPr>
                          </m:mPr>
                          <m:mr>
                            <m:e>
                              <m:f>
                                <m:fPr>
                                  <m:ctrlPr>
                                    <a:rPr lang="en-US" altLang="zh-TW" sz="1800" i="1" smtClean="0">
                                      <a:latin typeface="Cambria Math" panose="02040503050406030204" pitchFamily="18" charset="0"/>
                                    </a:rPr>
                                  </m:ctrlPr>
                                </m:fPr>
                                <m:num>
                                  <m:r>
                                    <a:rPr lang="en-US" altLang="zh-TW" sz="1800" b="0" i="1" smtClean="0">
                                      <a:latin typeface="Cambria Math" panose="02040503050406030204" pitchFamily="18" charset="0"/>
                                    </a:rPr>
                                    <m:t>1</m:t>
                                  </m:r>
                                </m:num>
                                <m:den>
                                  <m:sSubSup>
                                    <m:sSubSupPr>
                                      <m:ctrlPr>
                                        <a:rPr lang="en-US" altLang="zh-TW" sz="1800" i="1" smtClean="0">
                                          <a:latin typeface="Cambria Math" panose="02040503050406030204" pitchFamily="18" charset="0"/>
                                        </a:rPr>
                                      </m:ctrlPr>
                                    </m:sSubSupPr>
                                    <m:e>
                                      <m:r>
                                        <a:rPr lang="en-US" altLang="zh-TW" sz="1800" b="0" i="1" smtClean="0">
                                          <a:latin typeface="Cambria Math" panose="02040503050406030204" pitchFamily="18" charset="0"/>
                                        </a:rPr>
                                        <m:t>𝑛</m:t>
                                      </m:r>
                                    </m:e>
                                    <m:sub>
                                      <m:r>
                                        <a:rPr lang="en-US" altLang="zh-TW" sz="1800" b="0" i="1" smtClean="0">
                                          <a:latin typeface="Cambria Math" panose="02040503050406030204" pitchFamily="18" charset="0"/>
                                        </a:rPr>
                                        <m:t>𝑜</m:t>
                                      </m:r>
                                    </m:sub>
                                    <m:sup>
                                      <m:r>
                                        <a:rPr lang="en-US" altLang="zh-TW" sz="1800" b="0" i="1" smtClean="0">
                                          <a:latin typeface="Cambria Math" panose="02040503050406030204" pitchFamily="18" charset="0"/>
                                        </a:rPr>
                                        <m:t>2</m:t>
                                      </m:r>
                                    </m:sup>
                                  </m:sSubSup>
                                </m:den>
                              </m:f>
                            </m:e>
                            <m:e>
                              <m:r>
                                <a:rPr lang="en-US" altLang="zh-TW" sz="1800" b="0" i="1" smtClean="0">
                                  <a:latin typeface="Cambria Math" panose="02040503050406030204" pitchFamily="18" charset="0"/>
                                </a:rPr>
                                <m:t>0</m:t>
                              </m:r>
                            </m:e>
                            <m:e>
                              <m:r>
                                <a:rPr lang="en-US" altLang="zh-TW" sz="1800" b="0" i="1" smtClean="0">
                                  <a:latin typeface="Cambria Math" panose="02040503050406030204" pitchFamily="18" charset="0"/>
                                </a:rPr>
                                <m:t>0</m:t>
                              </m:r>
                            </m:e>
                          </m:mr>
                          <m:mr>
                            <m:e>
                              <m:r>
                                <a:rPr lang="en-US" altLang="zh-TW" sz="1800" b="0" i="1" smtClean="0">
                                  <a:latin typeface="Cambria Math" panose="02040503050406030204" pitchFamily="18" charset="0"/>
                                </a:rPr>
                                <m:t>0</m:t>
                              </m:r>
                            </m:e>
                            <m:e>
                              <m:f>
                                <m:fPr>
                                  <m:ctrlPr>
                                    <a:rPr lang="en-US" altLang="zh-TW" sz="1800" i="1">
                                      <a:latin typeface="Cambria Math" panose="02040503050406030204" pitchFamily="18" charset="0"/>
                                    </a:rPr>
                                  </m:ctrlPr>
                                </m:fPr>
                                <m:num>
                                  <m:r>
                                    <a:rPr lang="en-US" altLang="zh-TW" sz="1800" i="1">
                                      <a:latin typeface="Cambria Math" panose="02040503050406030204" pitchFamily="18" charset="0"/>
                                    </a:rPr>
                                    <m:t>1</m:t>
                                  </m:r>
                                </m:num>
                                <m:den>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𝑛</m:t>
                                      </m:r>
                                    </m:e>
                                    <m:sub>
                                      <m:r>
                                        <a:rPr lang="en-US" altLang="zh-TW" sz="1800" i="1">
                                          <a:latin typeface="Cambria Math" panose="02040503050406030204" pitchFamily="18" charset="0"/>
                                        </a:rPr>
                                        <m:t>𝑜</m:t>
                                      </m:r>
                                    </m:sub>
                                    <m:sup>
                                      <m:r>
                                        <a:rPr lang="en-US" altLang="zh-TW" sz="1800" i="1">
                                          <a:latin typeface="Cambria Math" panose="02040503050406030204" pitchFamily="18" charset="0"/>
                                        </a:rPr>
                                        <m:t>2</m:t>
                                      </m:r>
                                    </m:sup>
                                  </m:sSubSup>
                                </m:den>
                              </m:f>
                            </m:e>
                            <m:e>
                              <m:r>
                                <a:rPr lang="en-US" altLang="zh-TW" sz="1800" b="0" i="1" smtClean="0">
                                  <a:latin typeface="Cambria Math" panose="02040503050406030204" pitchFamily="18" charset="0"/>
                                </a:rPr>
                                <m:t>0</m:t>
                              </m:r>
                            </m:e>
                          </m:mr>
                          <m:mr>
                            <m:e>
                              <m:r>
                                <a:rPr lang="en-US" altLang="zh-TW" sz="1800" b="0" i="1" smtClean="0">
                                  <a:latin typeface="Cambria Math" panose="02040503050406030204" pitchFamily="18" charset="0"/>
                                </a:rPr>
                                <m:t>0</m:t>
                              </m:r>
                            </m:e>
                            <m:e>
                              <m:r>
                                <a:rPr lang="en-US" altLang="zh-TW" sz="1800" b="0" i="1" smtClean="0">
                                  <a:latin typeface="Cambria Math" panose="02040503050406030204" pitchFamily="18" charset="0"/>
                                </a:rPr>
                                <m:t>0</m:t>
                              </m:r>
                            </m:e>
                            <m:e>
                              <m:f>
                                <m:fPr>
                                  <m:ctrlPr>
                                    <a:rPr lang="en-US" altLang="zh-TW" sz="1800" i="1">
                                      <a:latin typeface="Cambria Math" panose="02040503050406030204" pitchFamily="18" charset="0"/>
                                    </a:rPr>
                                  </m:ctrlPr>
                                </m:fPr>
                                <m:num>
                                  <m:r>
                                    <a:rPr lang="en-US" altLang="zh-TW" sz="1800" i="1">
                                      <a:latin typeface="Cambria Math" panose="02040503050406030204" pitchFamily="18" charset="0"/>
                                    </a:rPr>
                                    <m:t>1</m:t>
                                  </m:r>
                                </m:num>
                                <m:den>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𝑛</m:t>
                                      </m:r>
                                    </m:e>
                                    <m:sub>
                                      <m:r>
                                        <a:rPr lang="en-US" altLang="zh-TW" sz="1800" b="0" i="1" smtClean="0">
                                          <a:latin typeface="Cambria Math" panose="02040503050406030204" pitchFamily="18" charset="0"/>
                                        </a:rPr>
                                        <m:t>𝑒</m:t>
                                      </m:r>
                                    </m:sub>
                                    <m:sup>
                                      <m:r>
                                        <a:rPr lang="en-US" altLang="zh-TW" sz="1800" i="1">
                                          <a:latin typeface="Cambria Math" panose="02040503050406030204" pitchFamily="18" charset="0"/>
                                        </a:rPr>
                                        <m:t>2</m:t>
                                      </m:r>
                                    </m:sup>
                                  </m:sSubSup>
                                </m:den>
                              </m:f>
                            </m:e>
                          </m:mr>
                        </m:m>
                      </m:e>
                    </m:d>
                  </m:oMath>
                </a14:m>
                <a:endParaRPr lang="zh-TW" altLang="en-US" dirty="0"/>
              </a:p>
            </p:txBody>
          </p:sp>
        </mc:Choice>
        <mc:Fallback xmlns="">
          <p:sp>
            <p:nvSpPr>
              <p:cNvPr id="27" name="文字方塊 26">
                <a:extLst>
                  <a:ext uri="{FF2B5EF4-FFF2-40B4-BE49-F238E27FC236}">
                    <a16:creationId xmlns:a16="http://schemas.microsoft.com/office/drawing/2014/main" id="{8861A539-988D-EF2F-60C5-D370FF1A4E77}"/>
                  </a:ext>
                </a:extLst>
              </p:cNvPr>
              <p:cNvSpPr txBox="1">
                <a:spLocks noRot="1" noChangeAspect="1" noMove="1" noResize="1" noEditPoints="1" noAdjustHandles="1" noChangeArrowheads="1" noChangeShapeType="1" noTextEdit="1"/>
              </p:cNvSpPr>
              <p:nvPr/>
            </p:nvSpPr>
            <p:spPr>
              <a:xfrm>
                <a:off x="245913" y="2827239"/>
                <a:ext cx="2105502" cy="1469057"/>
              </a:xfrm>
              <a:prstGeom prst="rect">
                <a:avLst/>
              </a:prstGeom>
              <a:blipFill>
                <a:blip r:embed="rId10"/>
                <a:stretch>
                  <a:fillRect/>
                </a:stretch>
              </a:blipFill>
            </p:spPr>
            <p:txBody>
              <a:bodyPr/>
              <a:lstStyle/>
              <a:p>
                <a:r>
                  <a:rPr lang="zh-TW" altLang="en-US">
                    <a:noFill/>
                  </a:rPr>
                  <a:t> </a:t>
                </a:r>
              </a:p>
            </p:txBody>
          </p:sp>
        </mc:Fallback>
      </mc:AlternateContent>
      <p:cxnSp>
        <p:nvCxnSpPr>
          <p:cNvPr id="28" name="直線單箭頭接點 27">
            <a:extLst>
              <a:ext uri="{FF2B5EF4-FFF2-40B4-BE49-F238E27FC236}">
                <a16:creationId xmlns:a16="http://schemas.microsoft.com/office/drawing/2014/main" id="{A423970F-7D2F-25B0-62F0-C41073666921}"/>
              </a:ext>
            </a:extLst>
          </p:cNvPr>
          <p:cNvCxnSpPr>
            <a:cxnSpLocks/>
          </p:cNvCxnSpPr>
          <p:nvPr/>
        </p:nvCxnSpPr>
        <p:spPr>
          <a:xfrm flipH="1">
            <a:off x="529709" y="1992389"/>
            <a:ext cx="880101" cy="1404856"/>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文字方塊 30">
                <a:extLst>
                  <a:ext uri="{FF2B5EF4-FFF2-40B4-BE49-F238E27FC236}">
                    <a16:creationId xmlns:a16="http://schemas.microsoft.com/office/drawing/2014/main" id="{7F8094D2-96EF-A487-E2D8-3C8CCC0A335C}"/>
                  </a:ext>
                </a:extLst>
              </p:cNvPr>
              <p:cNvSpPr txBox="1"/>
              <p:nvPr/>
            </p:nvSpPr>
            <p:spPr>
              <a:xfrm>
                <a:off x="588490" y="4605675"/>
                <a:ext cx="4104282" cy="1469057"/>
              </a:xfrm>
              <a:prstGeom prst="rect">
                <a:avLst/>
              </a:prstGeom>
              <a:noFill/>
            </p:spPr>
            <p:txBody>
              <a:bodyPr wrap="square">
                <a:spAutoFit/>
              </a:bodyPr>
              <a:lstStyle/>
              <a:p>
                <a14:m>
                  <m:oMath xmlns:m="http://schemas.openxmlformats.org/officeDocument/2006/math">
                    <m:r>
                      <a:rPr lang="zh-TW" altLang="en-US" i="1" smtClean="0">
                        <a:latin typeface="Cambria Math" panose="02040503050406030204" pitchFamily="18" charset="0"/>
                      </a:rPr>
                      <m:t>𝞰</m:t>
                    </m:r>
                  </m:oMath>
                </a14:m>
                <a:r>
                  <a:rPr lang="en-US" altLang="zh-TW" baseline="-25000" dirty="0" err="1"/>
                  <a:t>ij</a:t>
                </a:r>
                <a:r>
                  <a:rPr lang="en-US" altLang="zh-TW" sz="1800" dirty="0"/>
                  <a:t>(</a:t>
                </a:r>
                <a14:m>
                  <m:oMath xmlns:m="http://schemas.openxmlformats.org/officeDocument/2006/math">
                    <m:r>
                      <a:rPr lang="en-US" altLang="zh-TW" i="1">
                        <a:latin typeface="Cambria Math" panose="02040503050406030204" pitchFamily="18" charset="0"/>
                      </a:rPr>
                      <m:t>𝐸</m:t>
                    </m:r>
                    <m:r>
                      <a:rPr lang="en-US" altLang="zh-TW" i="1" baseline="-25000">
                        <a:latin typeface="Cambria Math" panose="02040503050406030204" pitchFamily="18" charset="0"/>
                      </a:rPr>
                      <m:t>𝑦</m:t>
                    </m:r>
                  </m:oMath>
                </a14:m>
                <a:r>
                  <a:rPr lang="en-US" altLang="zh-TW" sz="1800" dirty="0"/>
                  <a:t>)</a:t>
                </a:r>
                <a:r>
                  <a:rPr lang="zh-TW" altLang="en-US" sz="1800" dirty="0"/>
                  <a:t> </a:t>
                </a:r>
                <a:r>
                  <a:rPr lang="en-US" altLang="zh-TW" sz="1800" dirty="0"/>
                  <a:t>=</a:t>
                </a:r>
                <a:r>
                  <a:rPr lang="zh-TW" altLang="en-US" sz="1800" dirty="0"/>
                  <a:t> </a:t>
                </a:r>
                <a14:m>
                  <m:oMath xmlns:m="http://schemas.openxmlformats.org/officeDocument/2006/math">
                    <m:d>
                      <m:dPr>
                        <m:begChr m:val="["/>
                        <m:endChr m:val="]"/>
                        <m:ctrlPr>
                          <a:rPr lang="en-US" altLang="zh-TW" sz="1800" i="1">
                            <a:latin typeface="Cambria Math" panose="02040503050406030204" pitchFamily="18" charset="0"/>
                          </a:rPr>
                        </m:ctrlPr>
                      </m:dPr>
                      <m:e>
                        <m:m>
                          <m:mPr>
                            <m:mcs>
                              <m:mc>
                                <m:mcPr>
                                  <m:count m:val="3"/>
                                  <m:mcJc m:val="center"/>
                                </m:mcPr>
                              </m:mc>
                            </m:mcs>
                            <m:ctrlPr>
                              <a:rPr lang="en-US" altLang="zh-TW" sz="1800" i="1">
                                <a:latin typeface="Cambria Math" panose="02040503050406030204" pitchFamily="18" charset="0"/>
                              </a:rPr>
                            </m:ctrlPr>
                          </m:mPr>
                          <m:mr>
                            <m:e>
                              <m:f>
                                <m:fPr>
                                  <m:ctrlPr>
                                    <a:rPr lang="en-US" altLang="zh-TW" sz="1800" i="1">
                                      <a:latin typeface="Cambria Math" panose="02040503050406030204" pitchFamily="18" charset="0"/>
                                    </a:rPr>
                                  </m:ctrlPr>
                                </m:fPr>
                                <m:num>
                                  <m:r>
                                    <a:rPr lang="en-US" altLang="zh-TW" sz="1800" i="1">
                                      <a:latin typeface="Cambria Math" panose="02040503050406030204" pitchFamily="18" charset="0"/>
                                    </a:rPr>
                                    <m:t>1</m:t>
                                  </m:r>
                                </m:num>
                                <m:den>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𝑛</m:t>
                                      </m:r>
                                    </m:e>
                                    <m:sub>
                                      <m:r>
                                        <a:rPr lang="en-US" altLang="zh-TW" sz="1800" i="1">
                                          <a:latin typeface="Cambria Math" panose="02040503050406030204" pitchFamily="18" charset="0"/>
                                        </a:rPr>
                                        <m:t>𝑜</m:t>
                                      </m:r>
                                    </m:sub>
                                    <m:sup>
                                      <m:r>
                                        <a:rPr lang="en-US" altLang="zh-TW" sz="1800" i="1">
                                          <a:latin typeface="Cambria Math" panose="02040503050406030204" pitchFamily="18" charset="0"/>
                                        </a:rPr>
                                        <m:t>2</m:t>
                                      </m:r>
                                    </m:sup>
                                  </m:sSubSup>
                                </m:den>
                              </m:f>
                              <m:r>
                                <a:rPr lang="en-US" altLang="zh-TW" sz="1800" i="1">
                                  <a:latin typeface="Cambria Math" panose="02040503050406030204" pitchFamily="18" charset="0"/>
                                </a:rPr>
                                <m:t>−</m:t>
                              </m:r>
                              <m:r>
                                <a:rPr lang="en-US" altLang="zh-TW" sz="1800" i="1">
                                  <a:latin typeface="Cambria Math" panose="02040503050406030204" pitchFamily="18" charset="0"/>
                                </a:rPr>
                                <m:t>𝑟</m:t>
                              </m:r>
                              <m:r>
                                <a:rPr lang="en-US" altLang="zh-TW" sz="1800" i="1" baseline="-25000" smtClean="0">
                                  <a:latin typeface="Cambria Math" panose="02040503050406030204" pitchFamily="18" charset="0"/>
                                </a:rPr>
                                <m:t>22</m:t>
                              </m:r>
                              <m:r>
                                <m:rPr>
                                  <m:sty m:val="p"/>
                                </m:rPr>
                                <a:rPr lang="en-US" altLang="zh-TW" sz="1800" i="1">
                                  <a:latin typeface="Cambria Math" panose="02040503050406030204" pitchFamily="18" charset="0"/>
                                </a:rPr>
                                <m:t>E</m:t>
                              </m:r>
                              <m:r>
                                <a:rPr lang="en-US" altLang="zh-TW" sz="1800" i="1" baseline="-25000">
                                  <a:latin typeface="Cambria Math" panose="02040503050406030204" pitchFamily="18" charset="0"/>
                                </a:rPr>
                                <m:t>𝑦</m:t>
                              </m:r>
                            </m:e>
                            <m:e>
                              <m:r>
                                <a:rPr lang="en-US" altLang="zh-TW" sz="1800" i="1">
                                  <a:latin typeface="Cambria Math" panose="02040503050406030204" pitchFamily="18" charset="0"/>
                                </a:rPr>
                                <m:t>0</m:t>
                              </m:r>
                            </m:e>
                            <m:e>
                              <m:r>
                                <a:rPr lang="en-US" altLang="zh-TW" sz="1800" i="1">
                                  <a:latin typeface="Cambria Math" panose="02040503050406030204" pitchFamily="18" charset="0"/>
                                </a:rPr>
                                <m:t>0</m:t>
                              </m:r>
                            </m:e>
                          </m:mr>
                          <m:mr>
                            <m:e>
                              <m:r>
                                <a:rPr lang="en-US" altLang="zh-TW" sz="1800" i="1">
                                  <a:latin typeface="Cambria Math" panose="02040503050406030204" pitchFamily="18" charset="0"/>
                                </a:rPr>
                                <m:t>0</m:t>
                              </m:r>
                            </m:e>
                            <m:e>
                              <m:f>
                                <m:fPr>
                                  <m:ctrlPr>
                                    <a:rPr lang="en-US" altLang="zh-TW" sz="1800" i="1">
                                      <a:latin typeface="Cambria Math" panose="02040503050406030204" pitchFamily="18" charset="0"/>
                                    </a:rPr>
                                  </m:ctrlPr>
                                </m:fPr>
                                <m:num>
                                  <m:r>
                                    <a:rPr lang="en-US" altLang="zh-TW" sz="1800" i="1">
                                      <a:latin typeface="Cambria Math" panose="02040503050406030204" pitchFamily="18" charset="0"/>
                                    </a:rPr>
                                    <m:t>1</m:t>
                                  </m:r>
                                </m:num>
                                <m:den>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𝑛</m:t>
                                      </m:r>
                                    </m:e>
                                    <m:sub>
                                      <m:r>
                                        <a:rPr lang="en-US" altLang="zh-TW" sz="1800" i="1">
                                          <a:latin typeface="Cambria Math" panose="02040503050406030204" pitchFamily="18" charset="0"/>
                                        </a:rPr>
                                        <m:t>𝑜</m:t>
                                      </m:r>
                                    </m:sub>
                                    <m:sup>
                                      <m:r>
                                        <a:rPr lang="en-US" altLang="zh-TW" sz="1800" i="1">
                                          <a:latin typeface="Cambria Math" panose="02040503050406030204" pitchFamily="18" charset="0"/>
                                        </a:rPr>
                                        <m:t>2</m:t>
                                      </m:r>
                                    </m:sup>
                                  </m:sSubSup>
                                </m:den>
                              </m:f>
                              <m:r>
                                <a:rPr lang="en-US" altLang="zh-TW" sz="1800" i="1">
                                  <a:latin typeface="Cambria Math" panose="02040503050406030204" pitchFamily="18" charset="0"/>
                                </a:rPr>
                                <m:t>+</m:t>
                              </m:r>
                              <m:r>
                                <a:rPr lang="en-US" altLang="zh-TW" sz="1800" i="1">
                                  <a:latin typeface="Cambria Math" panose="02040503050406030204" pitchFamily="18" charset="0"/>
                                </a:rPr>
                                <m:t>𝑟</m:t>
                              </m:r>
                              <m:r>
                                <a:rPr lang="en-US" altLang="zh-TW" sz="1800" i="1" baseline="-25000">
                                  <a:latin typeface="Cambria Math" panose="02040503050406030204" pitchFamily="18" charset="0"/>
                                </a:rPr>
                                <m:t>22</m:t>
                              </m:r>
                              <m:r>
                                <m:rPr>
                                  <m:sty m:val="p"/>
                                </m:rPr>
                                <a:rPr lang="en-US" altLang="zh-TW" sz="1800" i="1">
                                  <a:latin typeface="Cambria Math" panose="02040503050406030204" pitchFamily="18" charset="0"/>
                                </a:rPr>
                                <m:t>E</m:t>
                              </m:r>
                              <m:r>
                                <a:rPr lang="en-US" altLang="zh-TW" sz="1800" i="1" baseline="-25000">
                                  <a:latin typeface="Cambria Math" panose="02040503050406030204" pitchFamily="18" charset="0"/>
                                </a:rPr>
                                <m:t>𝑦</m:t>
                              </m:r>
                            </m:e>
                            <m:e>
                              <m:r>
                                <a:rPr lang="en-US" altLang="zh-TW" sz="1800" i="1">
                                  <a:latin typeface="Cambria Math" panose="02040503050406030204" pitchFamily="18" charset="0"/>
                                </a:rPr>
                                <m:t>𝑟</m:t>
                              </m:r>
                              <m:r>
                                <a:rPr lang="en-US" altLang="zh-TW" sz="1800" i="1" baseline="-25000">
                                  <a:latin typeface="Cambria Math" panose="02040503050406030204" pitchFamily="18" charset="0"/>
                                </a:rPr>
                                <m:t>51</m:t>
                              </m:r>
                              <m:r>
                                <a:rPr lang="en-US" altLang="zh-TW" sz="1800" i="1">
                                  <a:latin typeface="Cambria Math" panose="02040503050406030204" pitchFamily="18" charset="0"/>
                                </a:rPr>
                                <m:t>𝐸</m:t>
                              </m:r>
                              <m:r>
                                <a:rPr lang="en-US" altLang="zh-TW" sz="1800" i="1" baseline="-25000">
                                  <a:latin typeface="Cambria Math" panose="02040503050406030204" pitchFamily="18" charset="0"/>
                                </a:rPr>
                                <m:t>𝑦</m:t>
                              </m:r>
                            </m:e>
                          </m:mr>
                          <m:mr>
                            <m:e>
                              <m:r>
                                <a:rPr lang="en-US" altLang="zh-TW" sz="1800" i="1">
                                  <a:latin typeface="Cambria Math" panose="02040503050406030204" pitchFamily="18" charset="0"/>
                                </a:rPr>
                                <m:t>0</m:t>
                              </m:r>
                            </m:e>
                            <m:e>
                              <m:r>
                                <a:rPr lang="en-US" altLang="zh-TW" sz="1800" i="1">
                                  <a:latin typeface="Cambria Math" panose="02040503050406030204" pitchFamily="18" charset="0"/>
                                </a:rPr>
                                <m:t>𝑟</m:t>
                              </m:r>
                              <m:r>
                                <a:rPr lang="en-US" altLang="zh-TW" sz="1800" i="1" baseline="-25000">
                                  <a:latin typeface="Cambria Math" panose="02040503050406030204" pitchFamily="18" charset="0"/>
                                </a:rPr>
                                <m:t>51</m:t>
                              </m:r>
                              <m:r>
                                <a:rPr lang="en-US" altLang="zh-TW" sz="1800" i="1">
                                  <a:latin typeface="Cambria Math" panose="02040503050406030204" pitchFamily="18" charset="0"/>
                                </a:rPr>
                                <m:t>𝐸</m:t>
                              </m:r>
                              <m:r>
                                <a:rPr lang="en-US" altLang="zh-TW" sz="1800" i="1" baseline="-25000">
                                  <a:latin typeface="Cambria Math" panose="02040503050406030204" pitchFamily="18" charset="0"/>
                                </a:rPr>
                                <m:t>𝑦</m:t>
                              </m:r>
                            </m:e>
                            <m:e>
                              <m:f>
                                <m:fPr>
                                  <m:ctrlPr>
                                    <a:rPr lang="en-US" altLang="zh-TW" sz="1800" i="1">
                                      <a:latin typeface="Cambria Math" panose="02040503050406030204" pitchFamily="18" charset="0"/>
                                    </a:rPr>
                                  </m:ctrlPr>
                                </m:fPr>
                                <m:num>
                                  <m:r>
                                    <a:rPr lang="en-US" altLang="zh-TW" sz="1800" i="1">
                                      <a:latin typeface="Cambria Math" panose="02040503050406030204" pitchFamily="18" charset="0"/>
                                    </a:rPr>
                                    <m:t>1</m:t>
                                  </m:r>
                                </m:num>
                                <m:den>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𝑛</m:t>
                                      </m:r>
                                    </m:e>
                                    <m:sub>
                                      <m:r>
                                        <a:rPr lang="en-US" altLang="zh-TW" sz="1800" i="1">
                                          <a:latin typeface="Cambria Math" panose="02040503050406030204" pitchFamily="18" charset="0"/>
                                        </a:rPr>
                                        <m:t>𝑒</m:t>
                                      </m:r>
                                    </m:sub>
                                    <m:sup>
                                      <m:r>
                                        <a:rPr lang="en-US" altLang="zh-TW" sz="1800" i="1">
                                          <a:latin typeface="Cambria Math" panose="02040503050406030204" pitchFamily="18" charset="0"/>
                                        </a:rPr>
                                        <m:t>2</m:t>
                                      </m:r>
                                    </m:sup>
                                  </m:sSubSup>
                                </m:den>
                              </m:f>
                            </m:e>
                          </m:mr>
                        </m:m>
                      </m:e>
                    </m:d>
                  </m:oMath>
                </a14:m>
                <a:endParaRPr lang="zh-TW" altLang="en-US" dirty="0"/>
              </a:p>
            </p:txBody>
          </p:sp>
        </mc:Choice>
        <mc:Fallback xmlns="">
          <p:sp>
            <p:nvSpPr>
              <p:cNvPr id="31" name="文字方塊 30">
                <a:extLst>
                  <a:ext uri="{FF2B5EF4-FFF2-40B4-BE49-F238E27FC236}">
                    <a16:creationId xmlns:a16="http://schemas.microsoft.com/office/drawing/2014/main" id="{7F8094D2-96EF-A487-E2D8-3C8CCC0A335C}"/>
                  </a:ext>
                </a:extLst>
              </p:cNvPr>
              <p:cNvSpPr txBox="1">
                <a:spLocks noRot="1" noChangeAspect="1" noMove="1" noResize="1" noEditPoints="1" noAdjustHandles="1" noChangeArrowheads="1" noChangeShapeType="1" noTextEdit="1"/>
              </p:cNvSpPr>
              <p:nvPr/>
            </p:nvSpPr>
            <p:spPr>
              <a:xfrm>
                <a:off x="588490" y="4605675"/>
                <a:ext cx="4104282" cy="1469057"/>
              </a:xfrm>
              <a:prstGeom prst="rect">
                <a:avLst/>
              </a:prstGeom>
              <a:blipFill>
                <a:blip r:embed="rId11"/>
                <a:stretch>
                  <a:fillRect/>
                </a:stretch>
              </a:blipFill>
            </p:spPr>
            <p:txBody>
              <a:bodyPr/>
              <a:lstStyle/>
              <a:p>
                <a:r>
                  <a:rPr lang="zh-TW" altLang="en-US">
                    <a:noFill/>
                  </a:rPr>
                  <a:t> </a:t>
                </a:r>
              </a:p>
            </p:txBody>
          </p:sp>
        </mc:Fallback>
      </mc:AlternateContent>
      <p:sp>
        <p:nvSpPr>
          <p:cNvPr id="32" name="箭號: 向右 31">
            <a:extLst>
              <a:ext uri="{FF2B5EF4-FFF2-40B4-BE49-F238E27FC236}">
                <a16:creationId xmlns:a16="http://schemas.microsoft.com/office/drawing/2014/main" id="{FDD0B953-B4C5-8D58-B0E9-BB2C59F8DFB0}"/>
              </a:ext>
            </a:extLst>
          </p:cNvPr>
          <p:cNvSpPr/>
          <p:nvPr/>
        </p:nvSpPr>
        <p:spPr>
          <a:xfrm>
            <a:off x="99713" y="5193292"/>
            <a:ext cx="355001" cy="387223"/>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33" name="箭號: 向右 32">
            <a:extLst>
              <a:ext uri="{FF2B5EF4-FFF2-40B4-BE49-F238E27FC236}">
                <a16:creationId xmlns:a16="http://schemas.microsoft.com/office/drawing/2014/main" id="{FADA38AB-C1FC-0CD0-6476-2ACC8AA1FFD5}"/>
              </a:ext>
            </a:extLst>
          </p:cNvPr>
          <p:cNvSpPr/>
          <p:nvPr/>
        </p:nvSpPr>
        <p:spPr>
          <a:xfrm>
            <a:off x="99713" y="6283899"/>
            <a:ext cx="355001" cy="387223"/>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5" name="文字方塊 34">
                <a:extLst>
                  <a:ext uri="{FF2B5EF4-FFF2-40B4-BE49-F238E27FC236}">
                    <a16:creationId xmlns:a16="http://schemas.microsoft.com/office/drawing/2014/main" id="{2C5BCD45-8327-0A04-DCFB-372EBD5FC0AA}"/>
                  </a:ext>
                </a:extLst>
              </p:cNvPr>
              <p:cNvSpPr txBox="1"/>
              <p:nvPr/>
            </p:nvSpPr>
            <p:spPr>
              <a:xfrm>
                <a:off x="553360" y="6215162"/>
                <a:ext cx="5706763" cy="524695"/>
              </a:xfrm>
              <a:prstGeom prst="rect">
                <a:avLst/>
              </a:prstGeom>
              <a:noFill/>
            </p:spPr>
            <p:txBody>
              <a:bodyPr wrap="square">
                <a:spAutoFit/>
              </a:bodyPr>
              <a:lstStyle/>
              <a:p>
                <a:pPr marL="0" indent="0">
                  <a:buNone/>
                </a:pPr>
                <a:r>
                  <a:rPr lang="en-US" altLang="zh-TW" sz="1800" dirty="0"/>
                  <a:t>(</a:t>
                </a:r>
                <a14:m>
                  <m:oMath xmlns:m="http://schemas.openxmlformats.org/officeDocument/2006/math">
                    <m:f>
                      <m:fPr>
                        <m:ctrlPr>
                          <a:rPr lang="en-US" altLang="zh-TW" sz="1800" i="1" smtClean="0">
                            <a:latin typeface="Cambria Math" panose="02040503050406030204" pitchFamily="18" charset="0"/>
                          </a:rPr>
                        </m:ctrlPr>
                      </m:fPr>
                      <m:num>
                        <m:r>
                          <a:rPr lang="en-US" altLang="zh-TW" sz="1800" i="1">
                            <a:latin typeface="Cambria Math" panose="02040503050406030204" pitchFamily="18" charset="0"/>
                          </a:rPr>
                          <m:t>1</m:t>
                        </m:r>
                      </m:num>
                      <m:den>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𝑛</m:t>
                            </m:r>
                          </m:e>
                          <m:sub>
                            <m:r>
                              <a:rPr lang="en-US" altLang="zh-TW" sz="1800" i="1">
                                <a:latin typeface="Cambria Math" panose="02040503050406030204" pitchFamily="18" charset="0"/>
                              </a:rPr>
                              <m:t>𝑜</m:t>
                            </m:r>
                          </m:sub>
                          <m:sup>
                            <m:r>
                              <a:rPr lang="en-US" altLang="zh-TW" sz="1800" i="1">
                                <a:latin typeface="Cambria Math" panose="02040503050406030204" pitchFamily="18" charset="0"/>
                              </a:rPr>
                              <m:t>2</m:t>
                            </m:r>
                          </m:sup>
                        </m:sSubSup>
                      </m:den>
                    </m:f>
                    <m:r>
                      <a:rPr lang="en-US" altLang="zh-TW" sz="1800" i="1">
                        <a:latin typeface="Cambria Math" panose="02040503050406030204" pitchFamily="18" charset="0"/>
                      </a:rPr>
                      <m:t>−</m:t>
                    </m:r>
                    <m:r>
                      <a:rPr lang="en-US" altLang="zh-TW" sz="1800" i="1">
                        <a:latin typeface="Cambria Math" panose="02040503050406030204" pitchFamily="18" charset="0"/>
                      </a:rPr>
                      <m:t>𝑟</m:t>
                    </m:r>
                    <m:r>
                      <a:rPr lang="en-US" altLang="zh-TW" sz="1800" i="1" baseline="-25000">
                        <a:latin typeface="Cambria Math" panose="02040503050406030204" pitchFamily="18" charset="0"/>
                      </a:rPr>
                      <m:t>22</m:t>
                    </m:r>
                    <m:r>
                      <m:rPr>
                        <m:sty m:val="p"/>
                      </m:rPr>
                      <a:rPr lang="en-US" altLang="zh-TW" sz="1800" i="1">
                        <a:latin typeface="Cambria Math" panose="02040503050406030204" pitchFamily="18" charset="0"/>
                      </a:rPr>
                      <m:t>E</m:t>
                    </m:r>
                    <m:r>
                      <a:rPr lang="en-US" altLang="zh-TW" sz="1800" i="1" baseline="-25000">
                        <a:latin typeface="Cambria Math" panose="02040503050406030204" pitchFamily="18" charset="0"/>
                      </a:rPr>
                      <m:t>𝑦</m:t>
                    </m:r>
                  </m:oMath>
                </a14:m>
                <a:r>
                  <a:rPr lang="en-US" altLang="zh-TW" sz="1800" dirty="0"/>
                  <a:t>)</a:t>
                </a:r>
                <a14:m>
                  <m:oMath xmlns:m="http://schemas.openxmlformats.org/officeDocument/2006/math">
                    <m:r>
                      <a:rPr lang="en-US" altLang="zh-TW" sz="1800" b="0" i="1" dirty="0" smtClean="0">
                        <a:latin typeface="Cambria Math" panose="02040503050406030204" pitchFamily="18" charset="0"/>
                      </a:rPr>
                      <m:t>𝑥</m:t>
                    </m:r>
                    <m:r>
                      <a:rPr lang="en-US" altLang="zh-TW" sz="1800" b="0" i="1" baseline="30000" dirty="0" smtClean="0">
                        <a:latin typeface="Cambria Math" panose="02040503050406030204" pitchFamily="18" charset="0"/>
                      </a:rPr>
                      <m:t>2</m:t>
                    </m:r>
                    <m:r>
                      <a:rPr lang="en-US" altLang="zh-TW" sz="1800" b="0" i="1" dirty="0" smtClean="0">
                        <a:latin typeface="Cambria Math" panose="02040503050406030204" pitchFamily="18" charset="0"/>
                      </a:rPr>
                      <m:t>+(</m:t>
                    </m:r>
                    <m:f>
                      <m:fPr>
                        <m:ctrlPr>
                          <a:rPr lang="en-US" altLang="zh-TW" sz="1800" i="1">
                            <a:latin typeface="Cambria Math" panose="02040503050406030204" pitchFamily="18" charset="0"/>
                          </a:rPr>
                        </m:ctrlPr>
                      </m:fPr>
                      <m:num>
                        <m:r>
                          <a:rPr lang="en-US" altLang="zh-TW" sz="1800" i="1">
                            <a:latin typeface="Cambria Math" panose="02040503050406030204" pitchFamily="18" charset="0"/>
                          </a:rPr>
                          <m:t>1</m:t>
                        </m:r>
                      </m:num>
                      <m:den>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𝑛</m:t>
                            </m:r>
                          </m:e>
                          <m:sub>
                            <m:r>
                              <a:rPr lang="en-US" altLang="zh-TW" sz="1800" i="1">
                                <a:latin typeface="Cambria Math" panose="02040503050406030204" pitchFamily="18" charset="0"/>
                              </a:rPr>
                              <m:t>𝑜</m:t>
                            </m:r>
                          </m:sub>
                          <m:sup>
                            <m:r>
                              <a:rPr lang="en-US" altLang="zh-TW" sz="1800" i="1">
                                <a:latin typeface="Cambria Math" panose="02040503050406030204" pitchFamily="18" charset="0"/>
                              </a:rPr>
                              <m:t>2</m:t>
                            </m:r>
                          </m:sup>
                        </m:sSubSup>
                      </m:den>
                    </m:f>
                    <m:r>
                      <a:rPr lang="en-US" altLang="zh-TW" sz="1800" i="1">
                        <a:latin typeface="Cambria Math" panose="02040503050406030204" pitchFamily="18" charset="0"/>
                      </a:rPr>
                      <m:t>+</m:t>
                    </m:r>
                    <m:r>
                      <a:rPr lang="en-US" altLang="zh-TW" sz="1800" i="1">
                        <a:latin typeface="Cambria Math" panose="02040503050406030204" pitchFamily="18" charset="0"/>
                      </a:rPr>
                      <m:t>𝑟</m:t>
                    </m:r>
                    <m:r>
                      <a:rPr lang="en-US" altLang="zh-TW" sz="1800" i="1" baseline="-25000">
                        <a:latin typeface="Cambria Math" panose="02040503050406030204" pitchFamily="18" charset="0"/>
                      </a:rPr>
                      <m:t>22</m:t>
                    </m:r>
                    <m:r>
                      <m:rPr>
                        <m:sty m:val="p"/>
                      </m:rPr>
                      <a:rPr lang="en-US" altLang="zh-TW" sz="1800" i="1">
                        <a:latin typeface="Cambria Math" panose="02040503050406030204" pitchFamily="18" charset="0"/>
                      </a:rPr>
                      <m:t>E</m:t>
                    </m:r>
                    <m:r>
                      <a:rPr lang="en-US" altLang="zh-TW" sz="1800" i="1" baseline="-25000">
                        <a:latin typeface="Cambria Math" panose="02040503050406030204" pitchFamily="18" charset="0"/>
                      </a:rPr>
                      <m:t>𝑦</m:t>
                    </m:r>
                  </m:oMath>
                </a14:m>
                <a:r>
                  <a:rPr lang="en-US" altLang="zh-TW" sz="1800" dirty="0"/>
                  <a:t>)</a:t>
                </a:r>
                <a14:m>
                  <m:oMath xmlns:m="http://schemas.openxmlformats.org/officeDocument/2006/math">
                    <m:r>
                      <a:rPr lang="en-US" altLang="zh-TW" sz="1800" b="0" i="1" dirty="0" smtClean="0">
                        <a:latin typeface="Cambria Math" panose="02040503050406030204" pitchFamily="18" charset="0"/>
                      </a:rPr>
                      <m:t>𝑦</m:t>
                    </m:r>
                    <m:r>
                      <a:rPr lang="en-US" altLang="zh-TW" sz="1800" b="0" i="1" baseline="30000" dirty="0" smtClean="0">
                        <a:latin typeface="Cambria Math" panose="02040503050406030204" pitchFamily="18" charset="0"/>
                      </a:rPr>
                      <m:t>2</m:t>
                    </m:r>
                    <m:r>
                      <a:rPr lang="en-US" altLang="zh-TW" sz="1800" b="0" i="1" dirty="0" smtClean="0">
                        <a:latin typeface="Cambria Math" panose="02040503050406030204" pitchFamily="18" charset="0"/>
                      </a:rPr>
                      <m:t>+(</m:t>
                    </m:r>
                    <m:f>
                      <m:fPr>
                        <m:ctrlPr>
                          <a:rPr lang="en-US" altLang="zh-TW" sz="1800" i="1">
                            <a:latin typeface="Cambria Math" panose="02040503050406030204" pitchFamily="18" charset="0"/>
                          </a:rPr>
                        </m:ctrlPr>
                      </m:fPr>
                      <m:num>
                        <m:r>
                          <a:rPr lang="en-US" altLang="zh-TW" sz="1800" i="1">
                            <a:latin typeface="Cambria Math" panose="02040503050406030204" pitchFamily="18" charset="0"/>
                          </a:rPr>
                          <m:t>1</m:t>
                        </m:r>
                      </m:num>
                      <m:den>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𝑛</m:t>
                            </m:r>
                          </m:e>
                          <m:sub>
                            <m:r>
                              <a:rPr lang="en-US" altLang="zh-TW" sz="1800" i="1">
                                <a:latin typeface="Cambria Math" panose="02040503050406030204" pitchFamily="18" charset="0"/>
                              </a:rPr>
                              <m:t>𝑒</m:t>
                            </m:r>
                          </m:sub>
                          <m:sup>
                            <m:r>
                              <a:rPr lang="en-US" altLang="zh-TW" sz="1800" i="1">
                                <a:latin typeface="Cambria Math" panose="02040503050406030204" pitchFamily="18" charset="0"/>
                              </a:rPr>
                              <m:t>2</m:t>
                            </m:r>
                          </m:sup>
                        </m:sSubSup>
                      </m:den>
                    </m:f>
                  </m:oMath>
                </a14:m>
                <a:r>
                  <a:rPr lang="en-US" altLang="zh-TW" sz="1800" dirty="0"/>
                  <a:t>)</a:t>
                </a:r>
                <a14:m>
                  <m:oMath xmlns:m="http://schemas.openxmlformats.org/officeDocument/2006/math">
                    <m:r>
                      <a:rPr lang="en-US" altLang="zh-TW" sz="1800" b="0" i="1" dirty="0" smtClean="0">
                        <a:latin typeface="Cambria Math" panose="02040503050406030204" pitchFamily="18" charset="0"/>
                      </a:rPr>
                      <m:t>𝑧</m:t>
                    </m:r>
                    <m:r>
                      <a:rPr lang="en-US" altLang="zh-TW" sz="1800" b="0" i="1" baseline="30000" dirty="0" smtClean="0">
                        <a:latin typeface="Cambria Math" panose="02040503050406030204" pitchFamily="18" charset="0"/>
                      </a:rPr>
                      <m:t>2</m:t>
                    </m:r>
                    <m:r>
                      <a:rPr lang="en-US" altLang="zh-TW" sz="1800" b="0" i="1" dirty="0" smtClean="0">
                        <a:latin typeface="Cambria Math" panose="02040503050406030204" pitchFamily="18" charset="0"/>
                      </a:rPr>
                      <m:t>+(2</m:t>
                    </m:r>
                    <m:r>
                      <a:rPr lang="en-US" altLang="zh-TW" sz="1800" i="1">
                        <a:latin typeface="Cambria Math" panose="02040503050406030204" pitchFamily="18" charset="0"/>
                      </a:rPr>
                      <m:t>𝑟</m:t>
                    </m:r>
                    <m:r>
                      <a:rPr lang="en-US" altLang="zh-TW" sz="1800" i="1" baseline="-25000">
                        <a:latin typeface="Cambria Math" panose="02040503050406030204" pitchFamily="18" charset="0"/>
                      </a:rPr>
                      <m:t>51</m:t>
                    </m:r>
                    <m:r>
                      <a:rPr lang="en-US" altLang="zh-TW" sz="1800" i="1">
                        <a:latin typeface="Cambria Math" panose="02040503050406030204" pitchFamily="18" charset="0"/>
                      </a:rPr>
                      <m:t>𝐸</m:t>
                    </m:r>
                    <m:r>
                      <a:rPr lang="en-US" altLang="zh-TW" sz="1800" i="1" baseline="-25000">
                        <a:latin typeface="Cambria Math" panose="02040503050406030204" pitchFamily="18" charset="0"/>
                      </a:rPr>
                      <m:t>𝑦</m:t>
                    </m:r>
                    <m:r>
                      <a:rPr lang="en-US" altLang="zh-TW" sz="1800" b="0" i="1" smtClean="0">
                        <a:latin typeface="Cambria Math" panose="02040503050406030204" pitchFamily="18" charset="0"/>
                      </a:rPr>
                      <m:t>)</m:t>
                    </m:r>
                    <m:r>
                      <a:rPr lang="en-US" altLang="zh-TW" sz="1800" b="0" i="1" dirty="0" smtClean="0">
                        <a:latin typeface="Cambria Math" panose="02040503050406030204" pitchFamily="18" charset="0"/>
                      </a:rPr>
                      <m:t>𝑦𝑧</m:t>
                    </m:r>
                  </m:oMath>
                </a14:m>
                <a:r>
                  <a:rPr lang="en-US" altLang="zh-TW" sz="1800" dirty="0"/>
                  <a:t> = 1</a:t>
                </a:r>
              </a:p>
            </p:txBody>
          </p:sp>
        </mc:Choice>
        <mc:Fallback xmlns="">
          <p:sp>
            <p:nvSpPr>
              <p:cNvPr id="35" name="文字方塊 34">
                <a:extLst>
                  <a:ext uri="{FF2B5EF4-FFF2-40B4-BE49-F238E27FC236}">
                    <a16:creationId xmlns:a16="http://schemas.microsoft.com/office/drawing/2014/main" id="{2C5BCD45-8327-0A04-DCFB-372EBD5FC0AA}"/>
                  </a:ext>
                </a:extLst>
              </p:cNvPr>
              <p:cNvSpPr txBox="1">
                <a:spLocks noRot="1" noChangeAspect="1" noMove="1" noResize="1" noEditPoints="1" noAdjustHandles="1" noChangeArrowheads="1" noChangeShapeType="1" noTextEdit="1"/>
              </p:cNvSpPr>
              <p:nvPr/>
            </p:nvSpPr>
            <p:spPr>
              <a:xfrm>
                <a:off x="553360" y="6215162"/>
                <a:ext cx="5706763" cy="524695"/>
              </a:xfrm>
              <a:prstGeom prst="rect">
                <a:avLst/>
              </a:prstGeom>
              <a:blipFill>
                <a:blip r:embed="rId12"/>
                <a:stretch>
                  <a:fillRect l="-96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3358D8BE-693B-1FC1-CD3C-93F6566173B0}"/>
                  </a:ext>
                </a:extLst>
              </p:cNvPr>
              <p:cNvSpPr txBox="1"/>
              <p:nvPr/>
            </p:nvSpPr>
            <p:spPr>
              <a:xfrm>
                <a:off x="9445766" y="1644475"/>
                <a:ext cx="2750848" cy="602281"/>
              </a:xfrm>
              <a:prstGeom prst="rect">
                <a:avLst/>
              </a:prstGeom>
              <a:noFill/>
            </p:spPr>
            <p:txBody>
              <a:bodyPr wrap="square">
                <a:spAutoFit/>
              </a:bodyPr>
              <a:lstStyle/>
              <a:p>
                <a14:m>
                  <m:oMath xmlns:m="http://schemas.openxmlformats.org/officeDocument/2006/math">
                    <m:d>
                      <m:dPr>
                        <m:begChr m:val="["/>
                        <m:endChr m:val="]"/>
                        <m:ctrlPr>
                          <a:rPr lang="en-US" altLang="zh-TW" sz="1800" i="1" smtClean="0">
                            <a:latin typeface="Cambria Math" panose="02040503050406030204" pitchFamily="18" charset="0"/>
                          </a:rPr>
                        </m:ctrlPr>
                      </m:dPr>
                      <m:e>
                        <m:m>
                          <m:mPr>
                            <m:mcs>
                              <m:mc>
                                <m:mcPr>
                                  <m:count m:val="1"/>
                                  <m:mcJc m:val="center"/>
                                </m:mcPr>
                              </m:mc>
                            </m:mcs>
                            <m:ctrlPr>
                              <a:rPr lang="en-US" altLang="zh-TW" sz="1800" i="1" smtClean="0">
                                <a:latin typeface="Cambria Math" panose="02040503050406030204" pitchFamily="18" charset="0"/>
                              </a:rPr>
                            </m:ctrlPr>
                          </m:mPr>
                          <m:mr>
                            <m:e>
                              <m:r>
                                <m:rPr>
                                  <m:brk m:alnAt="7"/>
                                </m:rPr>
                                <a:rPr lang="en-US" altLang="zh-TW" sz="1800" b="0" i="1" smtClean="0">
                                  <a:latin typeface="Cambria Math" panose="02040503050406030204" pitchFamily="18" charset="0"/>
                                </a:rPr>
                                <m:t>𝑦</m:t>
                              </m:r>
                            </m:e>
                          </m:mr>
                          <m:mr>
                            <m:e>
                              <m:r>
                                <a:rPr lang="en-US" altLang="zh-TW" sz="1800" b="0" i="1" smtClean="0">
                                  <a:latin typeface="Cambria Math" panose="02040503050406030204" pitchFamily="18" charset="0"/>
                                </a:rPr>
                                <m:t>𝑧</m:t>
                              </m:r>
                            </m:e>
                          </m:mr>
                        </m:m>
                      </m:e>
                    </m:d>
                  </m:oMath>
                </a14:m>
                <a:r>
                  <a:rPr lang="zh-TW" altLang="en-US" sz="1800" dirty="0"/>
                  <a:t> </a:t>
                </a:r>
                <a:r>
                  <a:rPr lang="en-US" altLang="zh-TW" sz="1800" dirty="0"/>
                  <a:t>=</a:t>
                </a:r>
                <a:r>
                  <a:rPr lang="zh-TW" altLang="en-US" sz="1800" dirty="0"/>
                  <a:t> </a:t>
                </a:r>
                <a14:m>
                  <m:oMath xmlns:m="http://schemas.openxmlformats.org/officeDocument/2006/math">
                    <m:d>
                      <m:dPr>
                        <m:begChr m:val="["/>
                        <m:endChr m:val="]"/>
                        <m:ctrlPr>
                          <a:rPr lang="en-US" altLang="zh-TW" sz="1800" i="1" smtClean="0">
                            <a:latin typeface="Cambria Math" panose="02040503050406030204" pitchFamily="18" charset="0"/>
                          </a:rPr>
                        </m:ctrlPr>
                      </m:dPr>
                      <m:e>
                        <m:m>
                          <m:mPr>
                            <m:mcs>
                              <m:mc>
                                <m:mcPr>
                                  <m:count m:val="2"/>
                                  <m:mcJc m:val="center"/>
                                </m:mcPr>
                              </m:mc>
                            </m:mcs>
                            <m:ctrlPr>
                              <a:rPr lang="en-US" altLang="zh-TW" sz="1800" i="1" smtClean="0">
                                <a:latin typeface="Cambria Math" panose="02040503050406030204" pitchFamily="18" charset="0"/>
                              </a:rPr>
                            </m:ctrlPr>
                          </m:mPr>
                          <m:mr>
                            <m:e>
                              <m:func>
                                <m:funcPr>
                                  <m:ctrlPr>
                                    <a:rPr lang="en-US" altLang="zh-TW" sz="1800" i="1" smtClean="0">
                                      <a:latin typeface="Cambria Math" panose="02040503050406030204" pitchFamily="18" charset="0"/>
                                    </a:rPr>
                                  </m:ctrlPr>
                                </m:funcPr>
                                <m:fName>
                                  <m:r>
                                    <m:rPr>
                                      <m:sty m:val="p"/>
                                      <m:brk m:alnAt="7"/>
                                    </m:rPr>
                                    <a:rPr lang="en-US" altLang="zh-TW" sz="1800" i="0" smtClean="0">
                                      <a:latin typeface="Cambria Math" panose="02040503050406030204" pitchFamily="18" charset="0"/>
                                    </a:rPr>
                                    <m:t>c</m:t>
                                  </m:r>
                                  <m:r>
                                    <m:rPr>
                                      <m:sty m:val="p"/>
                                    </m:rPr>
                                    <a:rPr lang="en-US" altLang="zh-TW" sz="1800" i="0" smtClean="0">
                                      <a:latin typeface="Cambria Math" panose="02040503050406030204" pitchFamily="18" charset="0"/>
                                    </a:rPr>
                                    <m:t>os</m:t>
                                  </m:r>
                                </m:fName>
                                <m:e>
                                  <m:r>
                                    <a:rPr lang="zh-TW" altLang="en-US" sz="1800" i="1">
                                      <a:latin typeface="Cambria Math" panose="02040503050406030204" pitchFamily="18" charset="0"/>
                                    </a:rPr>
                                    <m:t>𝜃</m:t>
                                  </m:r>
                                </m:e>
                              </m:func>
                            </m:e>
                            <m:e>
                              <m:r>
                                <a:rPr lang="en-US" altLang="zh-TW" sz="1800" b="0" i="1" smtClean="0">
                                  <a:latin typeface="Cambria Math" panose="02040503050406030204" pitchFamily="18" charset="0"/>
                                </a:rPr>
                                <m:t>−</m:t>
                              </m:r>
                              <m:func>
                                <m:funcPr>
                                  <m:ctrlPr>
                                    <a:rPr lang="en-US" altLang="zh-TW" sz="1800" i="1">
                                      <a:latin typeface="Cambria Math" panose="02040503050406030204" pitchFamily="18" charset="0"/>
                                    </a:rPr>
                                  </m:ctrlPr>
                                </m:funcPr>
                                <m:fName>
                                  <m:r>
                                    <m:rPr>
                                      <m:sty m:val="p"/>
                                    </m:rPr>
                                    <a:rPr lang="en-US" altLang="zh-TW" sz="1800">
                                      <a:latin typeface="Cambria Math" panose="02040503050406030204" pitchFamily="18" charset="0"/>
                                    </a:rPr>
                                    <m:t>sin</m:t>
                                  </m:r>
                                </m:fName>
                                <m:e>
                                  <m:r>
                                    <a:rPr lang="zh-TW" altLang="en-US" sz="1800" i="1">
                                      <a:latin typeface="Cambria Math" panose="02040503050406030204" pitchFamily="18" charset="0"/>
                                    </a:rPr>
                                    <m:t>𝜃</m:t>
                                  </m:r>
                                </m:e>
                              </m:func>
                            </m:e>
                          </m:mr>
                          <m:mr>
                            <m:e>
                              <m:func>
                                <m:funcPr>
                                  <m:ctrlPr>
                                    <a:rPr lang="en-US" altLang="zh-TW" sz="1800" i="1" smtClean="0">
                                      <a:latin typeface="Cambria Math" panose="02040503050406030204" pitchFamily="18" charset="0"/>
                                    </a:rPr>
                                  </m:ctrlPr>
                                </m:funcPr>
                                <m:fName>
                                  <m:r>
                                    <m:rPr>
                                      <m:sty m:val="p"/>
                                    </m:rPr>
                                    <a:rPr lang="en-US" altLang="zh-TW" sz="1800" i="0" smtClean="0">
                                      <a:latin typeface="Cambria Math" panose="02040503050406030204" pitchFamily="18" charset="0"/>
                                    </a:rPr>
                                    <m:t>sin</m:t>
                                  </m:r>
                                </m:fName>
                                <m:e>
                                  <m:r>
                                    <a:rPr lang="zh-TW" altLang="en-US" sz="1800" i="1">
                                      <a:latin typeface="Cambria Math" panose="02040503050406030204" pitchFamily="18" charset="0"/>
                                    </a:rPr>
                                    <m:t>𝜃</m:t>
                                  </m:r>
                                </m:e>
                              </m:func>
                            </m:e>
                            <m:e>
                              <m:func>
                                <m:funcPr>
                                  <m:ctrlPr>
                                    <a:rPr lang="en-US" altLang="zh-TW" sz="1800" i="1">
                                      <a:latin typeface="Cambria Math" panose="02040503050406030204" pitchFamily="18" charset="0"/>
                                    </a:rPr>
                                  </m:ctrlPr>
                                </m:funcPr>
                                <m:fName>
                                  <m:r>
                                    <m:rPr>
                                      <m:sty m:val="p"/>
                                      <m:brk m:alnAt="7"/>
                                    </m:rPr>
                                    <a:rPr lang="en-US" altLang="zh-TW" sz="1800">
                                      <a:latin typeface="Cambria Math" panose="02040503050406030204" pitchFamily="18" charset="0"/>
                                    </a:rPr>
                                    <m:t>c</m:t>
                                  </m:r>
                                  <m:r>
                                    <m:rPr>
                                      <m:sty m:val="p"/>
                                    </m:rPr>
                                    <a:rPr lang="en-US" altLang="zh-TW" sz="1800">
                                      <a:latin typeface="Cambria Math" panose="02040503050406030204" pitchFamily="18" charset="0"/>
                                    </a:rPr>
                                    <m:t>os</m:t>
                                  </m:r>
                                </m:fName>
                                <m:e>
                                  <m:r>
                                    <a:rPr lang="zh-TW" altLang="en-US" sz="1800" i="1">
                                      <a:latin typeface="Cambria Math" panose="02040503050406030204" pitchFamily="18" charset="0"/>
                                    </a:rPr>
                                    <m:t>𝜃</m:t>
                                  </m:r>
                                </m:e>
                              </m:func>
                            </m:e>
                          </m:mr>
                        </m:m>
                      </m:e>
                    </m:d>
                    <m:d>
                      <m:dPr>
                        <m:begChr m:val="["/>
                        <m:endChr m:val="]"/>
                        <m:ctrlPr>
                          <a:rPr lang="en-US" altLang="zh-TW" sz="1800" i="1" smtClean="0">
                            <a:latin typeface="Cambria Math" panose="02040503050406030204" pitchFamily="18" charset="0"/>
                          </a:rPr>
                        </m:ctrlPr>
                      </m:dPr>
                      <m:e>
                        <m:m>
                          <m:mPr>
                            <m:mcs>
                              <m:mc>
                                <m:mcPr>
                                  <m:count m:val="1"/>
                                  <m:mcJc m:val="center"/>
                                </m:mcPr>
                              </m:mc>
                            </m:mcs>
                            <m:ctrlPr>
                              <a:rPr lang="en-US" altLang="zh-TW" sz="1800" i="1" smtClean="0">
                                <a:latin typeface="Cambria Math" panose="02040503050406030204" pitchFamily="18" charset="0"/>
                              </a:rPr>
                            </m:ctrlPr>
                          </m:mPr>
                          <m:mr>
                            <m:e>
                              <m:r>
                                <m:rPr>
                                  <m:brk m:alnAt="7"/>
                                </m:rPr>
                                <a:rPr lang="en-US" altLang="zh-TW" sz="1800" b="0" i="1" smtClean="0">
                                  <a:latin typeface="Cambria Math" panose="02040503050406030204" pitchFamily="18" charset="0"/>
                                </a:rPr>
                                <m:t>𝑦</m:t>
                              </m:r>
                              <m:r>
                                <a:rPr lang="en-US" altLang="zh-TW" sz="1800" b="0" i="1" smtClean="0">
                                  <a:latin typeface="Cambria Math" panose="02040503050406030204" pitchFamily="18" charset="0"/>
                                </a:rPr>
                                <m:t>′</m:t>
                              </m:r>
                            </m:e>
                          </m:mr>
                          <m:mr>
                            <m:e>
                              <m:r>
                                <a:rPr lang="en-US" altLang="zh-TW" sz="1800" b="0" i="1" smtClean="0">
                                  <a:latin typeface="Cambria Math" panose="02040503050406030204" pitchFamily="18" charset="0"/>
                                </a:rPr>
                                <m:t>𝑧</m:t>
                              </m:r>
                              <m:r>
                                <a:rPr lang="en-US" altLang="zh-TW" sz="1800" b="0" i="1" smtClean="0">
                                  <a:latin typeface="Cambria Math" panose="02040503050406030204" pitchFamily="18" charset="0"/>
                                </a:rPr>
                                <m:t>′</m:t>
                              </m:r>
                            </m:e>
                          </m:mr>
                        </m:m>
                      </m:e>
                    </m:d>
                  </m:oMath>
                </a14:m>
                <a:endParaRPr lang="zh-TW" altLang="en-US" dirty="0"/>
              </a:p>
            </p:txBody>
          </p:sp>
        </mc:Choice>
        <mc:Fallback xmlns="">
          <p:sp>
            <p:nvSpPr>
              <p:cNvPr id="37" name="文字方塊 36">
                <a:extLst>
                  <a:ext uri="{FF2B5EF4-FFF2-40B4-BE49-F238E27FC236}">
                    <a16:creationId xmlns:a16="http://schemas.microsoft.com/office/drawing/2014/main" id="{3358D8BE-693B-1FC1-CD3C-93F6566173B0}"/>
                  </a:ext>
                </a:extLst>
              </p:cNvPr>
              <p:cNvSpPr txBox="1">
                <a:spLocks noRot="1" noChangeAspect="1" noMove="1" noResize="1" noEditPoints="1" noAdjustHandles="1" noChangeArrowheads="1" noChangeShapeType="1" noTextEdit="1"/>
              </p:cNvSpPr>
              <p:nvPr/>
            </p:nvSpPr>
            <p:spPr>
              <a:xfrm>
                <a:off x="9445766" y="1644475"/>
                <a:ext cx="2750848" cy="602281"/>
              </a:xfrm>
              <a:prstGeom prst="rect">
                <a:avLst/>
              </a:prstGeom>
              <a:blipFill>
                <a:blip r:embed="rId13"/>
                <a:stretch>
                  <a:fillRect/>
                </a:stretch>
              </a:blipFill>
            </p:spPr>
            <p:txBody>
              <a:bodyPr/>
              <a:lstStyle/>
              <a:p>
                <a:r>
                  <a:rPr lang="zh-TW" altLang="en-US">
                    <a:noFill/>
                  </a:rPr>
                  <a:t> </a:t>
                </a:r>
              </a:p>
            </p:txBody>
          </p:sp>
        </mc:Fallback>
      </mc:AlternateContent>
      <p:sp>
        <p:nvSpPr>
          <p:cNvPr id="38" name="箭號: 向右 37">
            <a:extLst>
              <a:ext uri="{FF2B5EF4-FFF2-40B4-BE49-F238E27FC236}">
                <a16:creationId xmlns:a16="http://schemas.microsoft.com/office/drawing/2014/main" id="{51AA3332-5F84-4859-6450-0340147DD271}"/>
              </a:ext>
            </a:extLst>
          </p:cNvPr>
          <p:cNvSpPr/>
          <p:nvPr/>
        </p:nvSpPr>
        <p:spPr>
          <a:xfrm>
            <a:off x="8919543" y="1786213"/>
            <a:ext cx="486913" cy="387223"/>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39" name="箭號: 向下 38">
            <a:extLst>
              <a:ext uri="{FF2B5EF4-FFF2-40B4-BE49-F238E27FC236}">
                <a16:creationId xmlns:a16="http://schemas.microsoft.com/office/drawing/2014/main" id="{0AD597C8-9DA2-0A34-C720-9351E6605934}"/>
              </a:ext>
            </a:extLst>
          </p:cNvPr>
          <p:cNvSpPr/>
          <p:nvPr/>
        </p:nvSpPr>
        <p:spPr>
          <a:xfrm>
            <a:off x="10148814" y="1242211"/>
            <a:ext cx="916870" cy="365125"/>
          </a:xfrm>
          <a:prstGeom prst="down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箭號: 向下 39">
            <a:extLst>
              <a:ext uri="{FF2B5EF4-FFF2-40B4-BE49-F238E27FC236}">
                <a16:creationId xmlns:a16="http://schemas.microsoft.com/office/drawing/2014/main" id="{8697D73F-7C24-0E48-BC9A-675AE2379837}"/>
              </a:ext>
            </a:extLst>
          </p:cNvPr>
          <p:cNvSpPr/>
          <p:nvPr/>
        </p:nvSpPr>
        <p:spPr>
          <a:xfrm>
            <a:off x="10148814" y="2469887"/>
            <a:ext cx="916870" cy="365125"/>
          </a:xfrm>
          <a:prstGeom prst="down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42" name="文字方塊 41">
                <a:extLst>
                  <a:ext uri="{FF2B5EF4-FFF2-40B4-BE49-F238E27FC236}">
                    <a16:creationId xmlns:a16="http://schemas.microsoft.com/office/drawing/2014/main" id="{7291CBA8-42FB-D0A3-5E9C-5A0FF27C89F0}"/>
                  </a:ext>
                </a:extLst>
              </p:cNvPr>
              <p:cNvSpPr txBox="1"/>
              <p:nvPr/>
            </p:nvSpPr>
            <p:spPr>
              <a:xfrm>
                <a:off x="9445766" y="3058143"/>
                <a:ext cx="2456443" cy="9151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TW" altLang="en-US" sz="1800" i="1" smtClean="0">
                          <a:latin typeface="Cambria Math" panose="02040503050406030204" pitchFamily="18" charset="0"/>
                        </a:rPr>
                        <m:t>𝜃</m:t>
                      </m:r>
                      <m:r>
                        <a:rPr lang="zh-TW" altLang="en-US" sz="1800" i="1" smtClean="0">
                          <a:latin typeface="Cambria Math" panose="02040503050406030204" pitchFamily="18" charset="0"/>
                        </a:rPr>
                        <m:t>≈</m:t>
                      </m:r>
                      <m:r>
                        <a:rPr lang="en-US" altLang="zh-TW" sz="1800" b="0" i="1" smtClean="0">
                          <a:latin typeface="Cambria Math" panose="02040503050406030204" pitchFamily="18" charset="0"/>
                        </a:rPr>
                        <m:t>𝑡𝑎𝑛</m:t>
                      </m:r>
                      <m:r>
                        <a:rPr lang="zh-TW" altLang="en-US" sz="1800" b="0" i="1" smtClean="0">
                          <a:latin typeface="Cambria Math" panose="02040503050406030204" pitchFamily="18" charset="0"/>
                        </a:rPr>
                        <m:t>𝜃</m:t>
                      </m:r>
                      <m:r>
                        <a:rPr lang="en-US" altLang="zh-TW" sz="1800" b="0" i="1" smtClean="0">
                          <a:latin typeface="Cambria Math" panose="02040503050406030204" pitchFamily="18" charset="0"/>
                        </a:rPr>
                        <m:t>=</m:t>
                      </m:r>
                      <m:f>
                        <m:fPr>
                          <m:ctrlPr>
                            <a:rPr lang="en-US" altLang="zh-TW" sz="1800" i="1" dirty="0">
                              <a:latin typeface="Cambria Math" panose="02040503050406030204" pitchFamily="18" charset="0"/>
                            </a:rPr>
                          </m:ctrlPr>
                        </m:fPr>
                        <m:num>
                          <m:r>
                            <m:rPr>
                              <m:nor/>
                            </m:rPr>
                            <a:rPr lang="en-US" altLang="zh-TW" sz="1800" dirty="0"/>
                            <m:t> </m:t>
                          </m:r>
                          <m:r>
                            <a:rPr lang="en-US" altLang="zh-TW" sz="1800" i="1">
                              <a:latin typeface="Cambria Math" panose="02040503050406030204" pitchFamily="18" charset="0"/>
                            </a:rPr>
                            <m:t>𝑟</m:t>
                          </m:r>
                          <m:r>
                            <a:rPr lang="en-US" altLang="zh-TW" sz="1800" i="1" baseline="-25000">
                              <a:latin typeface="Cambria Math" panose="02040503050406030204" pitchFamily="18" charset="0"/>
                            </a:rPr>
                            <m:t>51</m:t>
                          </m:r>
                          <m:r>
                            <a:rPr lang="en-US" altLang="zh-TW" sz="1800" i="1">
                              <a:latin typeface="Cambria Math" panose="02040503050406030204" pitchFamily="18" charset="0"/>
                            </a:rPr>
                            <m:t>𝐸</m:t>
                          </m:r>
                          <m:r>
                            <a:rPr lang="en-US" altLang="zh-TW" sz="1800" i="1" baseline="-25000">
                              <a:latin typeface="Cambria Math" panose="02040503050406030204" pitchFamily="18" charset="0"/>
                            </a:rPr>
                            <m:t>𝑦</m:t>
                          </m:r>
                        </m:num>
                        <m:den>
                          <m:r>
                            <m:rPr>
                              <m:nor/>
                            </m:rPr>
                            <a:rPr lang="en-US" altLang="zh-TW" sz="1800" dirty="0"/>
                            <m:t>(</m:t>
                          </m:r>
                          <m:f>
                            <m:fPr>
                              <m:ctrlPr>
                                <a:rPr lang="en-US" altLang="zh-TW" sz="1800" i="1">
                                  <a:latin typeface="Cambria Math" panose="02040503050406030204" pitchFamily="18" charset="0"/>
                                </a:rPr>
                              </m:ctrlPr>
                            </m:fPr>
                            <m:num>
                              <m:r>
                                <a:rPr lang="en-US" altLang="zh-TW" sz="1800" i="1">
                                  <a:latin typeface="Cambria Math" panose="02040503050406030204" pitchFamily="18" charset="0"/>
                                </a:rPr>
                                <m:t>1</m:t>
                              </m:r>
                            </m:num>
                            <m:den>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𝑛</m:t>
                                  </m:r>
                                </m:e>
                                <m:sub>
                                  <m:r>
                                    <a:rPr lang="en-US" altLang="zh-TW" sz="1800" i="1">
                                      <a:latin typeface="Cambria Math" panose="02040503050406030204" pitchFamily="18" charset="0"/>
                                    </a:rPr>
                                    <m:t>𝑒</m:t>
                                  </m:r>
                                </m:sub>
                                <m:sup>
                                  <m:r>
                                    <a:rPr lang="en-US" altLang="zh-TW" sz="1800" i="1">
                                      <a:latin typeface="Cambria Math" panose="02040503050406030204" pitchFamily="18" charset="0"/>
                                    </a:rPr>
                                    <m:t>2</m:t>
                                  </m:r>
                                </m:sup>
                              </m:sSubSup>
                            </m:den>
                          </m:f>
                          <m:r>
                            <a:rPr lang="en-US" altLang="zh-TW" sz="1800" i="1">
                              <a:latin typeface="Cambria Math" panose="02040503050406030204" pitchFamily="18" charset="0"/>
                            </a:rPr>
                            <m:t>−</m:t>
                          </m:r>
                          <m:f>
                            <m:fPr>
                              <m:ctrlPr>
                                <a:rPr lang="en-US" altLang="zh-TW" sz="1800" i="1">
                                  <a:latin typeface="Cambria Math" panose="02040503050406030204" pitchFamily="18" charset="0"/>
                                </a:rPr>
                              </m:ctrlPr>
                            </m:fPr>
                            <m:num>
                              <m:r>
                                <a:rPr lang="en-US" altLang="zh-TW" sz="1800" i="1">
                                  <a:latin typeface="Cambria Math" panose="02040503050406030204" pitchFamily="18" charset="0"/>
                                </a:rPr>
                                <m:t>1</m:t>
                              </m:r>
                            </m:num>
                            <m:den>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𝑛</m:t>
                                  </m:r>
                                </m:e>
                                <m:sub>
                                  <m:r>
                                    <a:rPr lang="en-US" altLang="zh-TW" sz="1800" i="1">
                                      <a:latin typeface="Cambria Math" panose="02040503050406030204" pitchFamily="18" charset="0"/>
                                    </a:rPr>
                                    <m:t>𝑜</m:t>
                                  </m:r>
                                </m:sub>
                                <m:sup>
                                  <m:r>
                                    <a:rPr lang="en-US" altLang="zh-TW" sz="1800" i="1">
                                      <a:latin typeface="Cambria Math" panose="02040503050406030204" pitchFamily="18" charset="0"/>
                                    </a:rPr>
                                    <m:t>2</m:t>
                                  </m:r>
                                </m:sup>
                              </m:sSubSup>
                            </m:den>
                          </m:f>
                          <m:r>
                            <a:rPr lang="en-US" altLang="zh-TW" sz="1800" i="1">
                              <a:latin typeface="Cambria Math" panose="02040503050406030204" pitchFamily="18" charset="0"/>
                            </a:rPr>
                            <m:t>)</m:t>
                          </m:r>
                        </m:den>
                      </m:f>
                    </m:oMath>
                  </m:oMathPara>
                </a14:m>
                <a:endParaRPr lang="zh-TW" altLang="en-US" dirty="0"/>
              </a:p>
            </p:txBody>
          </p:sp>
        </mc:Choice>
        <mc:Fallback xmlns="">
          <p:sp>
            <p:nvSpPr>
              <p:cNvPr id="42" name="文字方塊 41">
                <a:extLst>
                  <a:ext uri="{FF2B5EF4-FFF2-40B4-BE49-F238E27FC236}">
                    <a16:creationId xmlns:a16="http://schemas.microsoft.com/office/drawing/2014/main" id="{7291CBA8-42FB-D0A3-5E9C-5A0FF27C89F0}"/>
                  </a:ext>
                </a:extLst>
              </p:cNvPr>
              <p:cNvSpPr txBox="1">
                <a:spLocks noRot="1" noChangeAspect="1" noMove="1" noResize="1" noEditPoints="1" noAdjustHandles="1" noChangeArrowheads="1" noChangeShapeType="1" noTextEdit="1"/>
              </p:cNvSpPr>
              <p:nvPr/>
            </p:nvSpPr>
            <p:spPr>
              <a:xfrm>
                <a:off x="9445766" y="3058143"/>
                <a:ext cx="2456443" cy="915187"/>
              </a:xfrm>
              <a:prstGeom prst="rect">
                <a:avLst/>
              </a:prstGeom>
              <a:blipFill>
                <a:blip r:embed="rId14"/>
                <a:stretch>
                  <a:fillRect/>
                </a:stretch>
              </a:blipFill>
            </p:spPr>
            <p:txBody>
              <a:bodyPr/>
              <a:lstStyle/>
              <a:p>
                <a:r>
                  <a:rPr lang="zh-TW" altLang="en-US">
                    <a:noFill/>
                  </a:rPr>
                  <a:t> </a:t>
                </a:r>
              </a:p>
            </p:txBody>
          </p:sp>
        </mc:Fallback>
      </mc:AlternateContent>
      <p:sp>
        <p:nvSpPr>
          <p:cNvPr id="43" name="箭號: 向右 42">
            <a:extLst>
              <a:ext uri="{FF2B5EF4-FFF2-40B4-BE49-F238E27FC236}">
                <a16:creationId xmlns:a16="http://schemas.microsoft.com/office/drawing/2014/main" id="{77FE2C6D-66F8-D22F-D059-2D9E65EEEBA9}"/>
              </a:ext>
            </a:extLst>
          </p:cNvPr>
          <p:cNvSpPr/>
          <p:nvPr/>
        </p:nvSpPr>
        <p:spPr>
          <a:xfrm>
            <a:off x="8919543" y="3192121"/>
            <a:ext cx="486913" cy="387223"/>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44" name="文字方塊 43">
                <a:extLst>
                  <a:ext uri="{FF2B5EF4-FFF2-40B4-BE49-F238E27FC236}">
                    <a16:creationId xmlns:a16="http://schemas.microsoft.com/office/drawing/2014/main" id="{C7F76838-C7C2-1FC8-08DF-EBD111076A62}"/>
                  </a:ext>
                </a:extLst>
              </p:cNvPr>
              <p:cNvSpPr txBox="1"/>
              <p:nvPr/>
            </p:nvSpPr>
            <p:spPr>
              <a:xfrm>
                <a:off x="7473566" y="2784972"/>
                <a:ext cx="1378711" cy="1630959"/>
              </a:xfrm>
              <a:prstGeom prst="rect">
                <a:avLst/>
              </a:prstGeom>
              <a:noFill/>
            </p:spPr>
            <p:txBody>
              <a:bodyPr wrap="none" rtlCol="0">
                <a:spAutoFit/>
              </a:bodyPr>
              <a:lstStyle/>
              <a:p>
                <a:r>
                  <a:rPr lang="en-US" altLang="zh-TW" dirty="0"/>
                  <a:t>= </a:t>
                </a:r>
                <a14:m>
                  <m:oMath xmlns:m="http://schemas.openxmlformats.org/officeDocument/2006/math">
                    <m:d>
                      <m:dPr>
                        <m:ctrlPr>
                          <a:rPr lang="en-US" altLang="zh-TW" i="1" smtClean="0">
                            <a:latin typeface="Cambria Math" panose="02040503050406030204" pitchFamily="18" charset="0"/>
                          </a:rPr>
                        </m:ctrlPr>
                      </m:dPr>
                      <m:e>
                        <m:m>
                          <m:mPr>
                            <m:mcs>
                              <m:mc>
                                <m:mcPr>
                                  <m:count m:val="1"/>
                                  <m:mcJc m:val="center"/>
                                </m:mcPr>
                              </m:mc>
                            </m:mcs>
                            <m:ctrlPr>
                              <a:rPr lang="en-US" altLang="zh-TW" i="1" smtClean="0">
                                <a:latin typeface="Cambria Math" panose="02040503050406030204" pitchFamily="18" charset="0"/>
                              </a:rPr>
                            </m:ctrlPr>
                          </m:mPr>
                          <m:mr>
                            <m:e>
                              <m:m>
                                <m:mPr>
                                  <m:mcs>
                                    <m:mc>
                                      <m:mcPr>
                                        <m:count m:val="1"/>
                                        <m:mcJc m:val="center"/>
                                      </m:mcPr>
                                    </m:mc>
                                  </m:mcs>
                                  <m:ctrlPr>
                                    <a:rPr lang="en-US" altLang="zh-TW" i="1" smtClean="0">
                                      <a:latin typeface="Cambria Math" panose="02040503050406030204" pitchFamily="18" charset="0"/>
                                    </a:rPr>
                                  </m:ctrlPr>
                                </m:mPr>
                                <m:mr>
                                  <m:e>
                                    <m:r>
                                      <a:rPr lang="en-US" altLang="zh-TW" i="1">
                                        <a:latin typeface="Cambria Math" panose="02040503050406030204" pitchFamily="18" charset="0"/>
                                      </a:rPr>
                                      <m:t>−</m:t>
                                    </m:r>
                                    <m:r>
                                      <a:rPr lang="en-US" altLang="zh-TW" i="1">
                                        <a:latin typeface="Cambria Math" panose="02040503050406030204" pitchFamily="18" charset="0"/>
                                      </a:rPr>
                                      <m:t>𝑟</m:t>
                                    </m:r>
                                    <m:r>
                                      <a:rPr lang="en-US" altLang="zh-TW" i="1" baseline="-25000">
                                        <a:latin typeface="Cambria Math" panose="02040503050406030204" pitchFamily="18" charset="0"/>
                                      </a:rPr>
                                      <m:t>22</m:t>
                                    </m:r>
                                    <m:r>
                                      <m:rPr>
                                        <m:sty m:val="p"/>
                                      </m:rPr>
                                      <a:rPr lang="en-US" altLang="zh-TW" i="1">
                                        <a:latin typeface="Cambria Math" panose="02040503050406030204" pitchFamily="18" charset="0"/>
                                      </a:rPr>
                                      <m:t>E</m:t>
                                    </m:r>
                                    <m:r>
                                      <a:rPr lang="en-US" altLang="zh-TW" i="1" baseline="-25000">
                                        <a:latin typeface="Cambria Math" panose="02040503050406030204" pitchFamily="18" charset="0"/>
                                      </a:rPr>
                                      <m:t>𝑦</m:t>
                                    </m:r>
                                  </m:e>
                                </m:mr>
                                <m:mr>
                                  <m:e>
                                    <m:r>
                                      <a:rPr lang="en-US" altLang="zh-TW" i="1">
                                        <a:latin typeface="Cambria Math" panose="02040503050406030204" pitchFamily="18" charset="0"/>
                                      </a:rPr>
                                      <m:t>𝑟</m:t>
                                    </m:r>
                                    <m:r>
                                      <a:rPr lang="en-US" altLang="zh-TW" i="1" baseline="-25000">
                                        <a:latin typeface="Cambria Math" panose="02040503050406030204" pitchFamily="18" charset="0"/>
                                      </a:rPr>
                                      <m:t>22</m:t>
                                    </m:r>
                                    <m:r>
                                      <m:rPr>
                                        <m:sty m:val="p"/>
                                      </m:rPr>
                                      <a:rPr lang="en-US" altLang="zh-TW" i="1">
                                        <a:latin typeface="Cambria Math" panose="02040503050406030204" pitchFamily="18" charset="0"/>
                                      </a:rPr>
                                      <m:t>E</m:t>
                                    </m:r>
                                    <m:r>
                                      <a:rPr lang="en-US" altLang="zh-TW" i="1" baseline="-25000">
                                        <a:latin typeface="Cambria Math" panose="02040503050406030204" pitchFamily="18" charset="0"/>
                                      </a:rPr>
                                      <m:t>𝑦</m:t>
                                    </m:r>
                                  </m:e>
                                </m:mr>
                              </m:m>
                            </m:e>
                          </m:mr>
                          <m:mr>
                            <m:e>
                              <m:m>
                                <m:mPr>
                                  <m:mcs>
                                    <m:mc>
                                      <m:mcPr>
                                        <m:count m:val="1"/>
                                        <m:mcJc m:val="center"/>
                                      </m:mcPr>
                                    </m:mc>
                                  </m:mcs>
                                  <m:ctrlPr>
                                    <a:rPr lang="en-US" altLang="zh-TW" i="1" smtClean="0">
                                      <a:latin typeface="Cambria Math" panose="02040503050406030204" pitchFamily="18" charset="0"/>
                                    </a:rPr>
                                  </m:ctrlPr>
                                </m:mPr>
                                <m:mr>
                                  <m:e>
                                    <m:r>
                                      <m:rPr>
                                        <m:brk m:alnAt="7"/>
                                      </m:rPr>
                                      <a:rPr lang="en-US" altLang="zh-TW" b="0" i="1" smtClean="0">
                                        <a:latin typeface="Cambria Math" panose="02040503050406030204" pitchFamily="18" charset="0"/>
                                      </a:rPr>
                                      <m:t>0</m:t>
                                    </m:r>
                                  </m:e>
                                </m:mr>
                                <m:mr>
                                  <m:e>
                                    <m:r>
                                      <a:rPr lang="en-US" altLang="zh-TW" i="1">
                                        <a:latin typeface="Cambria Math" panose="02040503050406030204" pitchFamily="18" charset="0"/>
                                      </a:rPr>
                                      <m:t>𝑟</m:t>
                                    </m:r>
                                    <m:r>
                                      <a:rPr lang="en-US" altLang="zh-TW" b="0" i="1" baseline="-25000" smtClean="0">
                                        <a:latin typeface="Cambria Math" panose="02040503050406030204" pitchFamily="18" charset="0"/>
                                      </a:rPr>
                                      <m:t>51</m:t>
                                    </m:r>
                                    <m:r>
                                      <m:rPr>
                                        <m:sty m:val="p"/>
                                      </m:rPr>
                                      <a:rPr lang="en-US" altLang="zh-TW" i="1">
                                        <a:latin typeface="Cambria Math" panose="02040503050406030204" pitchFamily="18" charset="0"/>
                                      </a:rPr>
                                      <m:t>E</m:t>
                                    </m:r>
                                    <m:r>
                                      <a:rPr lang="en-US" altLang="zh-TW" i="1" baseline="-25000">
                                        <a:latin typeface="Cambria Math" panose="02040503050406030204" pitchFamily="18" charset="0"/>
                                      </a:rPr>
                                      <m:t>𝑦</m:t>
                                    </m:r>
                                  </m:e>
                                </m:mr>
                              </m:m>
                            </m:e>
                          </m:mr>
                          <m:mr>
                            <m:e>
                              <m:m>
                                <m:mPr>
                                  <m:mcs>
                                    <m:mc>
                                      <m:mcPr>
                                        <m:count m:val="1"/>
                                        <m:mcJc m:val="center"/>
                                      </m:mcPr>
                                    </m:mc>
                                  </m:mcs>
                                  <m:ctrlPr>
                                    <a:rPr lang="en-US" altLang="zh-TW" i="1" smtClean="0">
                                      <a:latin typeface="Cambria Math" panose="02040503050406030204" pitchFamily="18" charset="0"/>
                                    </a:rPr>
                                  </m:ctrlPr>
                                </m:mPr>
                                <m:mr>
                                  <m:e>
                                    <m:r>
                                      <m:rPr>
                                        <m:brk m:alnAt="7"/>
                                      </m:rPr>
                                      <a:rPr lang="en-US" altLang="zh-TW" b="0" i="1" smtClean="0">
                                        <a:latin typeface="Cambria Math" panose="02040503050406030204" pitchFamily="18" charset="0"/>
                                      </a:rPr>
                                      <m:t>0</m:t>
                                    </m:r>
                                  </m:e>
                                </m:mr>
                                <m:mr>
                                  <m:e>
                                    <m:r>
                                      <a:rPr lang="en-US" altLang="zh-TW" b="0" i="1" smtClean="0">
                                        <a:latin typeface="Cambria Math" panose="02040503050406030204" pitchFamily="18" charset="0"/>
                                      </a:rPr>
                                      <m:t>0</m:t>
                                    </m:r>
                                  </m:e>
                                </m:mr>
                              </m:m>
                            </m:e>
                          </m:mr>
                        </m:m>
                      </m:e>
                    </m:d>
                  </m:oMath>
                </a14:m>
                <a:endParaRPr lang="zh-TW" altLang="en-US" dirty="0"/>
              </a:p>
            </p:txBody>
          </p:sp>
        </mc:Choice>
        <mc:Fallback xmlns="">
          <p:sp>
            <p:nvSpPr>
              <p:cNvPr id="44" name="文字方塊 43">
                <a:extLst>
                  <a:ext uri="{FF2B5EF4-FFF2-40B4-BE49-F238E27FC236}">
                    <a16:creationId xmlns:a16="http://schemas.microsoft.com/office/drawing/2014/main" id="{C7F76838-C7C2-1FC8-08DF-EBD111076A62}"/>
                  </a:ext>
                </a:extLst>
              </p:cNvPr>
              <p:cNvSpPr txBox="1">
                <a:spLocks noRot="1" noChangeAspect="1" noMove="1" noResize="1" noEditPoints="1" noAdjustHandles="1" noChangeArrowheads="1" noChangeShapeType="1" noTextEdit="1"/>
              </p:cNvSpPr>
              <p:nvPr/>
            </p:nvSpPr>
            <p:spPr>
              <a:xfrm>
                <a:off x="7473566" y="2784972"/>
                <a:ext cx="1378711" cy="1630959"/>
              </a:xfrm>
              <a:prstGeom prst="rect">
                <a:avLst/>
              </a:prstGeom>
              <a:blipFill>
                <a:blip r:embed="rId15"/>
                <a:stretch>
                  <a:fillRect l="-3982"/>
                </a:stretch>
              </a:blipFill>
            </p:spPr>
            <p:txBody>
              <a:bodyPr/>
              <a:lstStyle/>
              <a:p>
                <a:r>
                  <a:rPr lang="zh-TW" altLang="en-US">
                    <a:noFill/>
                  </a:rPr>
                  <a:t> </a:t>
                </a:r>
              </a:p>
            </p:txBody>
          </p:sp>
        </mc:Fallback>
      </mc:AlternateContent>
      <p:pic>
        <p:nvPicPr>
          <p:cNvPr id="150" name="圖片 149">
            <a:extLst>
              <a:ext uri="{FF2B5EF4-FFF2-40B4-BE49-F238E27FC236}">
                <a16:creationId xmlns:a16="http://schemas.microsoft.com/office/drawing/2014/main" id="{56764313-703D-FBEE-B8F5-52C26CDCF657}"/>
              </a:ext>
            </a:extLst>
          </p:cNvPr>
          <p:cNvPicPr>
            <a:picLocks noChangeAspect="1"/>
          </p:cNvPicPr>
          <p:nvPr/>
        </p:nvPicPr>
        <p:blipFill>
          <a:blip r:embed="rId16"/>
          <a:stretch>
            <a:fillRect/>
          </a:stretch>
        </p:blipFill>
        <p:spPr>
          <a:xfrm>
            <a:off x="9274902" y="54389"/>
            <a:ext cx="1142251" cy="700265"/>
          </a:xfrm>
          <a:prstGeom prst="rect">
            <a:avLst/>
          </a:prstGeom>
        </p:spPr>
      </p:pic>
      <p:pic>
        <p:nvPicPr>
          <p:cNvPr id="14" name="圖片 13">
            <a:extLst>
              <a:ext uri="{FF2B5EF4-FFF2-40B4-BE49-F238E27FC236}">
                <a16:creationId xmlns:a16="http://schemas.microsoft.com/office/drawing/2014/main" id="{736E6599-1EE0-2635-803B-903297BF1146}"/>
              </a:ext>
            </a:extLst>
          </p:cNvPr>
          <p:cNvPicPr>
            <a:picLocks noChangeAspect="1"/>
          </p:cNvPicPr>
          <p:nvPr/>
        </p:nvPicPr>
        <p:blipFill>
          <a:blip r:embed="rId17"/>
          <a:stretch>
            <a:fillRect/>
          </a:stretch>
        </p:blipFill>
        <p:spPr>
          <a:xfrm>
            <a:off x="8766262" y="4515127"/>
            <a:ext cx="1574706" cy="1788226"/>
          </a:xfrm>
          <a:prstGeom prst="rect">
            <a:avLst/>
          </a:prstGeom>
        </p:spPr>
      </p:pic>
      <p:pic>
        <p:nvPicPr>
          <p:cNvPr id="16" name="圖片 15">
            <a:extLst>
              <a:ext uri="{FF2B5EF4-FFF2-40B4-BE49-F238E27FC236}">
                <a16:creationId xmlns:a16="http://schemas.microsoft.com/office/drawing/2014/main" id="{02B02024-3CDC-9D73-A2B2-55CA9C13F5EB}"/>
              </a:ext>
            </a:extLst>
          </p:cNvPr>
          <p:cNvPicPr>
            <a:picLocks noChangeAspect="1"/>
          </p:cNvPicPr>
          <p:nvPr/>
        </p:nvPicPr>
        <p:blipFill>
          <a:blip r:embed="rId18"/>
          <a:stretch>
            <a:fillRect/>
          </a:stretch>
        </p:blipFill>
        <p:spPr>
          <a:xfrm>
            <a:off x="10578054" y="4517737"/>
            <a:ext cx="1574706" cy="1694345"/>
          </a:xfrm>
          <a:prstGeom prst="rect">
            <a:avLst/>
          </a:prstGeom>
        </p:spPr>
      </p:pic>
    </p:spTree>
    <p:extLst>
      <p:ext uri="{BB962C8B-B14F-4D97-AF65-F5344CB8AC3E}">
        <p14:creationId xmlns:p14="http://schemas.microsoft.com/office/powerpoint/2010/main" val="1050896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10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10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10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500"/>
                                        <p:tgtEl>
                                          <p:spTgt spid="2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500"/>
                                        <p:tgtEl>
                                          <p:spTgt spid="2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nodeType="with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xit" presetSubtype="0" fill="hold" grpId="1" nodeType="withEffect">
                                  <p:stCondLst>
                                    <p:cond delay="0"/>
                                  </p:stCondLst>
                                  <p:childTnLst>
                                    <p:animEffect transition="out" filter="fade">
                                      <p:cBhvr>
                                        <p:cTn id="45" dur="500"/>
                                        <p:tgtEl>
                                          <p:spTgt spid="17"/>
                                        </p:tgtEl>
                                      </p:cBhvr>
                                    </p:animEffect>
                                    <p:set>
                                      <p:cBhvr>
                                        <p:cTn id="46" dur="1" fill="hold">
                                          <p:stCondLst>
                                            <p:cond delay="499"/>
                                          </p:stCondLst>
                                        </p:cTn>
                                        <p:tgtEl>
                                          <p:spTgt spid="17"/>
                                        </p:tgtEl>
                                        <p:attrNameLst>
                                          <p:attrName>style.visibility</p:attrName>
                                        </p:attrNameLst>
                                      </p:cBhvr>
                                      <p:to>
                                        <p:strVal val="hidden"/>
                                      </p:to>
                                    </p:se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xit" presetSubtype="0" fill="hold" grpId="1" nodeType="withEffect">
                                  <p:stCondLst>
                                    <p:cond delay="0"/>
                                  </p:stCondLst>
                                  <p:childTnLst>
                                    <p:animEffect transition="out" filter="fade">
                                      <p:cBhvr>
                                        <p:cTn id="51" dur="500"/>
                                        <p:tgtEl>
                                          <p:spTgt spid="21"/>
                                        </p:tgtEl>
                                      </p:cBhvr>
                                    </p:animEffect>
                                    <p:set>
                                      <p:cBhvr>
                                        <p:cTn id="52" dur="1" fill="hold">
                                          <p:stCondLst>
                                            <p:cond delay="499"/>
                                          </p:stCondLst>
                                        </p:cTn>
                                        <p:tgtEl>
                                          <p:spTgt spid="21"/>
                                        </p:tgtEl>
                                        <p:attrNameLst>
                                          <p:attrName>style.visibility</p:attrName>
                                        </p:attrNameLst>
                                      </p:cBhvr>
                                      <p:to>
                                        <p:strVal val="hidden"/>
                                      </p:to>
                                    </p:set>
                                  </p:childTnLst>
                                </p:cTn>
                              </p:par>
                              <p:par>
                                <p:cTn id="53" presetID="22" presetClass="entr" presetSubtype="4"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wipe(down)">
                                      <p:cBhvr>
                                        <p:cTn id="55" dur="500"/>
                                        <p:tgtEl>
                                          <p:spTgt spid="2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44"/>
                                        </p:tgtEl>
                                        <p:attrNameLst>
                                          <p:attrName>style.visibility</p:attrName>
                                        </p:attrNameLst>
                                      </p:cBhvr>
                                      <p:to>
                                        <p:strVal val="visible"/>
                                      </p:to>
                                    </p:set>
                                    <p:animEffect transition="in" filter="fade">
                                      <p:cBhvr>
                                        <p:cTn id="60" dur="500"/>
                                        <p:tgtEl>
                                          <p:spTgt spid="44"/>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wipe(left)">
                                      <p:cBhvr>
                                        <p:cTn id="65" dur="500"/>
                                        <p:tgtEl>
                                          <p:spTgt spid="32"/>
                                        </p:tgtEl>
                                      </p:cBhvr>
                                    </p:animEffect>
                                  </p:childTnLst>
                                </p:cTn>
                              </p:par>
                            </p:childTnLst>
                          </p:cTn>
                        </p:par>
                        <p:par>
                          <p:cTn id="66" fill="hold">
                            <p:stCondLst>
                              <p:cond delay="500"/>
                            </p:stCondLst>
                            <p:childTnLst>
                              <p:par>
                                <p:cTn id="67" presetID="10" presetClass="entr" presetSubtype="0" fill="hold" grpId="0" nodeType="afterEffect">
                                  <p:stCondLst>
                                    <p:cond delay="0"/>
                                  </p:stCondLst>
                                  <p:childTnLst>
                                    <p:set>
                                      <p:cBhvr>
                                        <p:cTn id="68" dur="1" fill="hold">
                                          <p:stCondLst>
                                            <p:cond delay="0"/>
                                          </p:stCondLst>
                                        </p:cTn>
                                        <p:tgtEl>
                                          <p:spTgt spid="31"/>
                                        </p:tgtEl>
                                        <p:attrNameLst>
                                          <p:attrName>style.visibility</p:attrName>
                                        </p:attrNameLst>
                                      </p:cBhvr>
                                      <p:to>
                                        <p:strVal val="visible"/>
                                      </p:to>
                                    </p:set>
                                    <p:animEffect transition="in" filter="fade">
                                      <p:cBhvr>
                                        <p:cTn id="69" dur="500"/>
                                        <p:tgtEl>
                                          <p:spTgt spid="31"/>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33"/>
                                        </p:tgtEl>
                                        <p:attrNameLst>
                                          <p:attrName>style.visibility</p:attrName>
                                        </p:attrNameLst>
                                      </p:cBhvr>
                                      <p:to>
                                        <p:strVal val="visible"/>
                                      </p:to>
                                    </p:set>
                                    <p:animEffect transition="in" filter="wipe(left)">
                                      <p:cBhvr>
                                        <p:cTn id="74" dur="500"/>
                                        <p:tgtEl>
                                          <p:spTgt spid="33"/>
                                        </p:tgtEl>
                                      </p:cBhvr>
                                    </p:animEffect>
                                  </p:childTnLst>
                                </p:cTn>
                              </p:par>
                            </p:childTnLst>
                          </p:cTn>
                        </p:par>
                        <p:par>
                          <p:cTn id="75" fill="hold">
                            <p:stCondLst>
                              <p:cond delay="500"/>
                            </p:stCondLst>
                            <p:childTnLst>
                              <p:par>
                                <p:cTn id="76" presetID="10" presetClass="entr" presetSubtype="0" fill="hold" grpId="0" nodeType="afterEffect">
                                  <p:stCondLst>
                                    <p:cond delay="0"/>
                                  </p:stCondLst>
                                  <p:childTnLst>
                                    <p:set>
                                      <p:cBhvr>
                                        <p:cTn id="77" dur="1" fill="hold">
                                          <p:stCondLst>
                                            <p:cond delay="0"/>
                                          </p:stCondLst>
                                        </p:cTn>
                                        <p:tgtEl>
                                          <p:spTgt spid="35"/>
                                        </p:tgtEl>
                                        <p:attrNameLst>
                                          <p:attrName>style.visibility</p:attrName>
                                        </p:attrNameLst>
                                      </p:cBhvr>
                                      <p:to>
                                        <p:strVal val="visible"/>
                                      </p:to>
                                    </p:set>
                                    <p:animEffect transition="in" filter="fade">
                                      <p:cBhvr>
                                        <p:cTn id="78" dur="500"/>
                                        <p:tgtEl>
                                          <p:spTgt spid="35"/>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1" fill="hold" grpId="0" nodeType="clickEffect">
                                  <p:stCondLst>
                                    <p:cond delay="0"/>
                                  </p:stCondLst>
                                  <p:childTnLst>
                                    <p:set>
                                      <p:cBhvr>
                                        <p:cTn id="82" dur="1" fill="hold">
                                          <p:stCondLst>
                                            <p:cond delay="0"/>
                                          </p:stCondLst>
                                        </p:cTn>
                                        <p:tgtEl>
                                          <p:spTgt spid="39"/>
                                        </p:tgtEl>
                                        <p:attrNameLst>
                                          <p:attrName>style.visibility</p:attrName>
                                        </p:attrNameLst>
                                      </p:cBhvr>
                                      <p:to>
                                        <p:strVal val="visible"/>
                                      </p:to>
                                    </p:set>
                                    <p:animEffect transition="in" filter="wipe(up)">
                                      <p:cBhvr>
                                        <p:cTn id="83" dur="500"/>
                                        <p:tgtEl>
                                          <p:spTgt spid="39"/>
                                        </p:tgtEl>
                                      </p:cBhvr>
                                    </p:animEffect>
                                  </p:childTnLst>
                                </p:cTn>
                              </p:par>
                            </p:childTnLst>
                          </p:cTn>
                        </p:par>
                        <p:par>
                          <p:cTn id="84" fill="hold">
                            <p:stCondLst>
                              <p:cond delay="500"/>
                            </p:stCondLst>
                            <p:childTnLst>
                              <p:par>
                                <p:cTn id="85" presetID="22" presetClass="entr" presetSubtype="8" fill="hold" grpId="0" nodeType="afterEffect">
                                  <p:stCondLst>
                                    <p:cond delay="0"/>
                                  </p:stCondLst>
                                  <p:childTnLst>
                                    <p:set>
                                      <p:cBhvr>
                                        <p:cTn id="86" dur="1" fill="hold">
                                          <p:stCondLst>
                                            <p:cond delay="0"/>
                                          </p:stCondLst>
                                        </p:cTn>
                                        <p:tgtEl>
                                          <p:spTgt spid="38"/>
                                        </p:tgtEl>
                                        <p:attrNameLst>
                                          <p:attrName>style.visibility</p:attrName>
                                        </p:attrNameLst>
                                      </p:cBhvr>
                                      <p:to>
                                        <p:strVal val="visible"/>
                                      </p:to>
                                    </p:set>
                                    <p:animEffect transition="in" filter="wipe(left)">
                                      <p:cBhvr>
                                        <p:cTn id="87" dur="500"/>
                                        <p:tgtEl>
                                          <p:spTgt spid="38"/>
                                        </p:tgtEl>
                                      </p:cBhvr>
                                    </p:animEffect>
                                  </p:childTnLst>
                                </p:cTn>
                              </p:par>
                            </p:childTnLst>
                          </p:cTn>
                        </p:par>
                        <p:par>
                          <p:cTn id="88" fill="hold">
                            <p:stCondLst>
                              <p:cond delay="1000"/>
                            </p:stCondLst>
                            <p:childTnLst>
                              <p:par>
                                <p:cTn id="89" presetID="10" presetClass="entr" presetSubtype="0" fill="hold" grpId="0" nodeType="afterEffect">
                                  <p:stCondLst>
                                    <p:cond delay="0"/>
                                  </p:stCondLst>
                                  <p:childTnLst>
                                    <p:set>
                                      <p:cBhvr>
                                        <p:cTn id="90" dur="1" fill="hold">
                                          <p:stCondLst>
                                            <p:cond delay="0"/>
                                          </p:stCondLst>
                                        </p:cTn>
                                        <p:tgtEl>
                                          <p:spTgt spid="37"/>
                                        </p:tgtEl>
                                        <p:attrNameLst>
                                          <p:attrName>style.visibility</p:attrName>
                                        </p:attrNameLst>
                                      </p:cBhvr>
                                      <p:to>
                                        <p:strVal val="visible"/>
                                      </p:to>
                                    </p:set>
                                    <p:animEffect transition="in" filter="fade">
                                      <p:cBhvr>
                                        <p:cTn id="91" dur="500"/>
                                        <p:tgtEl>
                                          <p:spTgt spid="37"/>
                                        </p:tgtEl>
                                      </p:cBhvr>
                                    </p:animEffect>
                                  </p:childTnLst>
                                </p:cTn>
                              </p:par>
                              <p:par>
                                <p:cTn id="92" presetID="22" presetClass="entr" presetSubtype="1" fill="hold" grpId="0" nodeType="withEffect">
                                  <p:stCondLst>
                                    <p:cond delay="0"/>
                                  </p:stCondLst>
                                  <p:childTnLst>
                                    <p:set>
                                      <p:cBhvr>
                                        <p:cTn id="93" dur="1" fill="hold">
                                          <p:stCondLst>
                                            <p:cond delay="0"/>
                                          </p:stCondLst>
                                        </p:cTn>
                                        <p:tgtEl>
                                          <p:spTgt spid="40"/>
                                        </p:tgtEl>
                                        <p:attrNameLst>
                                          <p:attrName>style.visibility</p:attrName>
                                        </p:attrNameLst>
                                      </p:cBhvr>
                                      <p:to>
                                        <p:strVal val="visible"/>
                                      </p:to>
                                    </p:set>
                                    <p:animEffect transition="in" filter="wipe(up)">
                                      <p:cBhvr>
                                        <p:cTn id="94" dur="750"/>
                                        <p:tgtEl>
                                          <p:spTgt spid="40"/>
                                        </p:tgtEl>
                                      </p:cBhvr>
                                    </p:animEffect>
                                  </p:childTnLst>
                                </p:cTn>
                              </p:par>
                            </p:childTnLst>
                          </p:cTn>
                        </p:par>
                        <p:par>
                          <p:cTn id="95" fill="hold">
                            <p:stCondLst>
                              <p:cond delay="1750"/>
                            </p:stCondLst>
                            <p:childTnLst>
                              <p:par>
                                <p:cTn id="96" presetID="22" presetClass="entr" presetSubtype="8" fill="hold" grpId="0" nodeType="afterEffect">
                                  <p:stCondLst>
                                    <p:cond delay="0"/>
                                  </p:stCondLst>
                                  <p:childTnLst>
                                    <p:set>
                                      <p:cBhvr>
                                        <p:cTn id="97" dur="1" fill="hold">
                                          <p:stCondLst>
                                            <p:cond delay="0"/>
                                          </p:stCondLst>
                                        </p:cTn>
                                        <p:tgtEl>
                                          <p:spTgt spid="43"/>
                                        </p:tgtEl>
                                        <p:attrNameLst>
                                          <p:attrName>style.visibility</p:attrName>
                                        </p:attrNameLst>
                                      </p:cBhvr>
                                      <p:to>
                                        <p:strVal val="visible"/>
                                      </p:to>
                                    </p:set>
                                    <p:animEffect transition="in" filter="wipe(left)">
                                      <p:cBhvr>
                                        <p:cTn id="98" dur="500"/>
                                        <p:tgtEl>
                                          <p:spTgt spid="43"/>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2"/>
                                        </p:tgtEl>
                                        <p:attrNameLst>
                                          <p:attrName>style.visibility</p:attrName>
                                        </p:attrNameLst>
                                      </p:cBhvr>
                                      <p:to>
                                        <p:strVal val="visible"/>
                                      </p:to>
                                    </p:set>
                                    <p:animEffect transition="in" filter="fade">
                                      <p:cBhvr>
                                        <p:cTn id="101" dur="500"/>
                                        <p:tgtEl>
                                          <p:spTgt spid="42"/>
                                        </p:tgtEl>
                                      </p:cBhvr>
                                    </p:animEffect>
                                  </p:childTnLst>
                                </p:cTn>
                              </p:par>
                            </p:childTnLst>
                          </p:cTn>
                        </p:par>
                        <p:par>
                          <p:cTn id="102" fill="hold">
                            <p:stCondLst>
                              <p:cond delay="2250"/>
                            </p:stCondLst>
                            <p:childTnLst>
                              <p:par>
                                <p:cTn id="103" presetID="10" presetClass="entr" presetSubtype="0" fill="hold" nodeType="afterEffect">
                                  <p:stCondLst>
                                    <p:cond delay="0"/>
                                  </p:stCondLst>
                                  <p:childTnLst>
                                    <p:set>
                                      <p:cBhvr>
                                        <p:cTn id="104" dur="1" fill="hold">
                                          <p:stCondLst>
                                            <p:cond delay="0"/>
                                          </p:stCondLst>
                                        </p:cTn>
                                        <p:tgtEl>
                                          <p:spTgt spid="16"/>
                                        </p:tgtEl>
                                        <p:attrNameLst>
                                          <p:attrName>style.visibility</p:attrName>
                                        </p:attrNameLst>
                                      </p:cBhvr>
                                      <p:to>
                                        <p:strVal val="visible"/>
                                      </p:to>
                                    </p:set>
                                    <p:animEffect transition="in" filter="fade">
                                      <p:cBhvr>
                                        <p:cTn id="105" dur="500"/>
                                        <p:tgtEl>
                                          <p:spTgt spid="16"/>
                                        </p:tgtEl>
                                      </p:cBhvr>
                                    </p:animEffect>
                                  </p:childTnLst>
                                </p:cTn>
                              </p:par>
                              <p:par>
                                <p:cTn id="106" presetID="10" presetClass="entr" presetSubtype="0" fill="hold" nodeType="withEffect">
                                  <p:stCondLst>
                                    <p:cond delay="0"/>
                                  </p:stCondLst>
                                  <p:childTnLst>
                                    <p:set>
                                      <p:cBhvr>
                                        <p:cTn id="107" dur="1" fill="hold">
                                          <p:stCondLst>
                                            <p:cond delay="0"/>
                                          </p:stCondLst>
                                        </p:cTn>
                                        <p:tgtEl>
                                          <p:spTgt spid="14"/>
                                        </p:tgtEl>
                                        <p:attrNameLst>
                                          <p:attrName>style.visibility</p:attrName>
                                        </p:attrNameLst>
                                      </p:cBhvr>
                                      <p:to>
                                        <p:strVal val="visible"/>
                                      </p:to>
                                    </p:set>
                                    <p:animEffect transition="in" filter="fade">
                                      <p:cBhvr>
                                        <p:cTn id="10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p:bldP spid="11" grpId="0" animBg="1"/>
      <p:bldP spid="13" grpId="0"/>
      <p:bldP spid="15" grpId="0"/>
      <p:bldP spid="17" grpId="0"/>
      <p:bldP spid="17" grpId="1"/>
      <p:bldP spid="19" grpId="0"/>
      <p:bldP spid="21" grpId="0"/>
      <p:bldP spid="21" grpId="1"/>
      <p:bldP spid="22" grpId="0"/>
      <p:bldP spid="27" grpId="0"/>
      <p:bldP spid="31" grpId="0"/>
      <p:bldP spid="32" grpId="0" animBg="1"/>
      <p:bldP spid="33" grpId="0" animBg="1"/>
      <p:bldP spid="35" grpId="0"/>
      <p:bldP spid="37" grpId="0"/>
      <p:bldP spid="38" grpId="0" animBg="1"/>
      <p:bldP spid="39" grpId="0" animBg="1"/>
      <p:bldP spid="40" grpId="0" animBg="1"/>
      <p:bldP spid="42" grpId="0"/>
      <p:bldP spid="43" grpId="0" animBg="1"/>
      <p:bldP spid="4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Electro-Optic Effect</a:t>
            </a:r>
            <a:endParaRPr lang="zh-TW" altLang="en-US" b="1"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0039351" y="6356352"/>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21</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1886" y="115002"/>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pic>
        <p:nvPicPr>
          <p:cNvPr id="24" name="圖片 23">
            <a:extLst>
              <a:ext uri="{FF2B5EF4-FFF2-40B4-BE49-F238E27FC236}">
                <a16:creationId xmlns:a16="http://schemas.microsoft.com/office/drawing/2014/main" id="{05EEAF26-6FA6-B9FC-07B0-B197AE07CFDD}"/>
              </a:ext>
            </a:extLst>
          </p:cNvPr>
          <p:cNvPicPr>
            <a:picLocks noChangeAspect="1"/>
          </p:cNvPicPr>
          <p:nvPr/>
        </p:nvPicPr>
        <p:blipFill>
          <a:blip r:embed="rId4"/>
          <a:stretch>
            <a:fillRect/>
          </a:stretch>
        </p:blipFill>
        <p:spPr>
          <a:xfrm>
            <a:off x="1440040" y="4502284"/>
            <a:ext cx="1895980" cy="2153062"/>
          </a:xfrm>
          <a:prstGeom prst="rect">
            <a:avLst/>
          </a:prstGeom>
        </p:spPr>
      </p:pic>
      <p:pic>
        <p:nvPicPr>
          <p:cNvPr id="25" name="圖片 24">
            <a:extLst>
              <a:ext uri="{FF2B5EF4-FFF2-40B4-BE49-F238E27FC236}">
                <a16:creationId xmlns:a16="http://schemas.microsoft.com/office/drawing/2014/main" id="{A107BADB-AF78-7889-B6BF-7EE923EA86EE}"/>
              </a:ext>
            </a:extLst>
          </p:cNvPr>
          <p:cNvPicPr>
            <a:picLocks noChangeAspect="1"/>
          </p:cNvPicPr>
          <p:nvPr/>
        </p:nvPicPr>
        <p:blipFill>
          <a:blip r:embed="rId5"/>
          <a:stretch>
            <a:fillRect/>
          </a:stretch>
        </p:blipFill>
        <p:spPr>
          <a:xfrm>
            <a:off x="4154605" y="4534368"/>
            <a:ext cx="1941395" cy="2088893"/>
          </a:xfrm>
          <a:prstGeom prst="rect">
            <a:avLst/>
          </a:prstGeom>
        </p:spPr>
      </p:pic>
      <p:sp>
        <p:nvSpPr>
          <p:cNvPr id="26" name="文字方塊 25">
            <a:extLst>
              <a:ext uri="{FF2B5EF4-FFF2-40B4-BE49-F238E27FC236}">
                <a16:creationId xmlns:a16="http://schemas.microsoft.com/office/drawing/2014/main" id="{55417E6C-2BFB-BDB2-F79C-205D4F9081FF}"/>
              </a:ext>
            </a:extLst>
          </p:cNvPr>
          <p:cNvSpPr txBox="1"/>
          <p:nvPr/>
        </p:nvSpPr>
        <p:spPr>
          <a:xfrm>
            <a:off x="116792" y="1543944"/>
            <a:ext cx="1693092" cy="461665"/>
          </a:xfrm>
          <a:prstGeom prst="rect">
            <a:avLst/>
          </a:prstGeom>
          <a:noFill/>
        </p:spPr>
        <p:txBody>
          <a:bodyPr wrap="none" rtlCol="0">
            <a:spAutoFit/>
          </a:bodyPr>
          <a:lstStyle/>
          <a:p>
            <a:pPr marL="285750" indent="-285750">
              <a:buFont typeface="Arial" panose="020B0604020202020204" pitchFamily="34" charset="0"/>
              <a:buChar char="•"/>
            </a:pPr>
            <a:r>
              <a:rPr lang="en-US" altLang="zh-TW" sz="2400" dirty="0" err="1">
                <a:latin typeface="Times New Roman" panose="02020603050405020304" pitchFamily="18" charset="0"/>
                <a:ea typeface="標楷體" panose="03000509000000000000" pitchFamily="65" charset="-120"/>
              </a:rPr>
              <a:t>Šolc</a:t>
            </a:r>
            <a:r>
              <a:rPr lang="en-US" altLang="zh-TW" sz="2400" dirty="0">
                <a:latin typeface="Times New Roman" panose="02020603050405020304" pitchFamily="18" charset="0"/>
                <a:ea typeface="標楷體" panose="03000509000000000000" pitchFamily="65" charset="-120"/>
              </a:rPr>
              <a:t> filter</a:t>
            </a:r>
            <a:endParaRPr lang="zh-TW" altLang="en-US" sz="2400" dirty="0"/>
          </a:p>
        </p:txBody>
      </p:sp>
      <p:pic>
        <p:nvPicPr>
          <p:cNvPr id="73" name="圖片 72">
            <a:extLst>
              <a:ext uri="{FF2B5EF4-FFF2-40B4-BE49-F238E27FC236}">
                <a16:creationId xmlns:a16="http://schemas.microsoft.com/office/drawing/2014/main" id="{24910833-FF7A-28D4-6452-9CAA153A3EA6}"/>
              </a:ext>
            </a:extLst>
          </p:cNvPr>
          <p:cNvPicPr>
            <a:picLocks noChangeAspect="1"/>
          </p:cNvPicPr>
          <p:nvPr/>
        </p:nvPicPr>
        <p:blipFill>
          <a:blip r:embed="rId6"/>
          <a:stretch>
            <a:fillRect/>
          </a:stretch>
        </p:blipFill>
        <p:spPr>
          <a:xfrm>
            <a:off x="101813" y="2071834"/>
            <a:ext cx="4792973" cy="2499193"/>
          </a:xfrm>
          <a:prstGeom prst="rect">
            <a:avLst/>
          </a:prstGeom>
        </p:spPr>
      </p:pic>
      <p:sp>
        <p:nvSpPr>
          <p:cNvPr id="140" name="箭號: 向右 139">
            <a:extLst>
              <a:ext uri="{FF2B5EF4-FFF2-40B4-BE49-F238E27FC236}">
                <a16:creationId xmlns:a16="http://schemas.microsoft.com/office/drawing/2014/main" id="{0C4738D8-2498-9002-A39F-60268DC28D34}"/>
              </a:ext>
            </a:extLst>
          </p:cNvPr>
          <p:cNvSpPr/>
          <p:nvPr/>
        </p:nvSpPr>
        <p:spPr>
          <a:xfrm>
            <a:off x="4899457" y="3153979"/>
            <a:ext cx="2324061" cy="128421"/>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41" name="文字方塊 140">
                <a:extLst>
                  <a:ext uri="{FF2B5EF4-FFF2-40B4-BE49-F238E27FC236}">
                    <a16:creationId xmlns:a16="http://schemas.microsoft.com/office/drawing/2014/main" id="{2BC5BC51-42D3-4CFB-4AA4-32C0FAEAA7C9}"/>
                  </a:ext>
                </a:extLst>
              </p:cNvPr>
              <p:cNvSpPr txBox="1"/>
              <p:nvPr/>
            </p:nvSpPr>
            <p:spPr>
              <a:xfrm>
                <a:off x="4266385" y="3533158"/>
                <a:ext cx="2705301" cy="533544"/>
              </a:xfrm>
              <a:prstGeom prst="rect">
                <a:avLst/>
              </a:prstGeom>
              <a:noFill/>
            </p:spPr>
            <p:txBody>
              <a:bodyPr wrap="square" rtlCol="0">
                <a:spAutoFit/>
              </a:bodyPr>
              <a:lstStyle/>
              <a:p>
                <a:r>
                  <a:rPr lang="en-US" altLang="zh-TW" dirty="0"/>
                  <a:t>t=</a:t>
                </a:r>
                <a14:m>
                  <m:oMath xmlns:m="http://schemas.openxmlformats.org/officeDocument/2006/math">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2</m:t>
                        </m:r>
                        <m:r>
                          <a:rPr lang="en-US" altLang="zh-TW" b="0" i="1" smtClean="0">
                            <a:latin typeface="Cambria Math" panose="02040503050406030204" pitchFamily="18" charset="0"/>
                          </a:rPr>
                          <m:t>𝑚</m:t>
                        </m:r>
                        <m:r>
                          <a:rPr lang="en-US" altLang="zh-TW" b="0" i="1" smtClean="0">
                            <a:latin typeface="Cambria Math" panose="02040503050406030204" pitchFamily="18" charset="0"/>
                          </a:rPr>
                          <m:t>+1</m:t>
                        </m:r>
                      </m:num>
                      <m:den>
                        <m:r>
                          <a:rPr lang="en-US" altLang="zh-TW" b="0" i="1" smtClean="0">
                            <a:latin typeface="Cambria Math" panose="02040503050406030204" pitchFamily="18" charset="0"/>
                          </a:rPr>
                          <m:t>2</m:t>
                        </m:r>
                      </m:den>
                    </m:f>
                  </m:oMath>
                </a14:m>
                <a:r>
                  <a:rPr lang="zh-TW" altLang="en-US" dirty="0"/>
                  <a:t> </a:t>
                </a:r>
                <a14:m>
                  <m:oMath xmlns:m="http://schemas.openxmlformats.org/officeDocument/2006/math">
                    <m:f>
                      <m:fPr>
                        <m:ctrlPr>
                          <a:rPr lang="en-US" altLang="zh-TW" i="1" dirty="0" smtClean="0">
                            <a:latin typeface="Cambria Math" panose="02040503050406030204" pitchFamily="18" charset="0"/>
                          </a:rPr>
                        </m:ctrlPr>
                      </m:fPr>
                      <m:num>
                        <m:sSub>
                          <m:sSubPr>
                            <m:ctrlPr>
                              <a:rPr lang="en-US" altLang="zh-TW" i="1" dirty="0" smtClean="0">
                                <a:latin typeface="Cambria Math" panose="02040503050406030204" pitchFamily="18" charset="0"/>
                              </a:rPr>
                            </m:ctrlPr>
                          </m:sSubPr>
                          <m:e>
                            <m:r>
                              <a:rPr lang="zh-TW" altLang="en-US" i="1" dirty="0" smtClean="0">
                                <a:latin typeface="Cambria Math" panose="02040503050406030204" pitchFamily="18" charset="0"/>
                              </a:rPr>
                              <m:t>𝜆</m:t>
                            </m:r>
                          </m:e>
                          <m:sub>
                            <m:r>
                              <a:rPr lang="en-US" altLang="zh-TW" b="0" i="1" dirty="0" smtClean="0">
                                <a:latin typeface="Cambria Math" panose="02040503050406030204" pitchFamily="18" charset="0"/>
                              </a:rPr>
                              <m:t>0</m:t>
                            </m:r>
                          </m:sub>
                        </m:sSub>
                      </m:num>
                      <m:den>
                        <m:sSub>
                          <m:sSubPr>
                            <m:ctrlPr>
                              <a:rPr lang="en-US" altLang="zh-TW" i="1" dirty="0" smtClean="0">
                                <a:latin typeface="Cambria Math" panose="02040503050406030204" pitchFamily="18" charset="0"/>
                              </a:rPr>
                            </m:ctrlPr>
                          </m:sSubPr>
                          <m:e>
                            <m:r>
                              <a:rPr lang="en-US" altLang="zh-TW" b="0" i="1" dirty="0" smtClean="0">
                                <a:latin typeface="Cambria Math" panose="02040503050406030204" pitchFamily="18" charset="0"/>
                              </a:rPr>
                              <m:t>𝑛</m:t>
                            </m:r>
                          </m:e>
                          <m:sub>
                            <m:r>
                              <a:rPr lang="en-US" altLang="zh-TW" b="0" i="1" dirty="0" smtClean="0">
                                <a:latin typeface="Cambria Math" panose="02040503050406030204" pitchFamily="18" charset="0"/>
                              </a:rPr>
                              <m:t>𝑜</m:t>
                            </m:r>
                          </m:sub>
                        </m:sSub>
                        <m:r>
                          <a:rPr lang="en-US" altLang="zh-TW" b="0" i="1" dirty="0" smtClean="0">
                            <a:latin typeface="Cambria Math" panose="02040503050406030204" pitchFamily="18" charset="0"/>
                          </a:rPr>
                          <m:t>−</m:t>
                        </m:r>
                        <m:sSub>
                          <m:sSubPr>
                            <m:ctrlPr>
                              <a:rPr lang="en-US" altLang="zh-TW" b="0" i="1" dirty="0" smtClean="0">
                                <a:latin typeface="Cambria Math" panose="02040503050406030204" pitchFamily="18" charset="0"/>
                              </a:rPr>
                            </m:ctrlPr>
                          </m:sSubPr>
                          <m:e>
                            <m:r>
                              <a:rPr lang="en-US" altLang="zh-TW" b="0" i="1" dirty="0" smtClean="0">
                                <a:latin typeface="Cambria Math" panose="02040503050406030204" pitchFamily="18" charset="0"/>
                              </a:rPr>
                              <m:t>𝑛</m:t>
                            </m:r>
                          </m:e>
                          <m:sub>
                            <m:r>
                              <a:rPr lang="en-US" altLang="zh-TW" b="0" i="1" dirty="0" smtClean="0">
                                <a:latin typeface="Cambria Math" panose="02040503050406030204" pitchFamily="18" charset="0"/>
                              </a:rPr>
                              <m:t>𝑒</m:t>
                            </m:r>
                          </m:sub>
                        </m:sSub>
                      </m:den>
                    </m:f>
                  </m:oMath>
                </a14:m>
                <a:r>
                  <a:rPr lang="zh-TW" altLang="en-US" dirty="0"/>
                  <a:t> </a:t>
                </a:r>
                <a:r>
                  <a:rPr lang="en-US" altLang="zh-TW" dirty="0"/>
                  <a:t>; m=1,2,3…</a:t>
                </a:r>
                <a:endParaRPr lang="zh-TW" altLang="en-US" dirty="0"/>
              </a:p>
            </p:txBody>
          </p:sp>
        </mc:Choice>
        <mc:Fallback xmlns="">
          <p:sp>
            <p:nvSpPr>
              <p:cNvPr id="141" name="文字方塊 140">
                <a:extLst>
                  <a:ext uri="{FF2B5EF4-FFF2-40B4-BE49-F238E27FC236}">
                    <a16:creationId xmlns:a16="http://schemas.microsoft.com/office/drawing/2014/main" id="{2BC5BC51-42D3-4CFB-4AA4-32C0FAEAA7C9}"/>
                  </a:ext>
                </a:extLst>
              </p:cNvPr>
              <p:cNvSpPr txBox="1">
                <a:spLocks noRot="1" noChangeAspect="1" noMove="1" noResize="1" noEditPoints="1" noAdjustHandles="1" noChangeArrowheads="1" noChangeShapeType="1" noTextEdit="1"/>
              </p:cNvSpPr>
              <p:nvPr/>
            </p:nvSpPr>
            <p:spPr>
              <a:xfrm>
                <a:off x="4266385" y="3533158"/>
                <a:ext cx="2705301" cy="533544"/>
              </a:xfrm>
              <a:prstGeom prst="rect">
                <a:avLst/>
              </a:prstGeom>
              <a:blipFill>
                <a:blip r:embed="rId7"/>
                <a:stretch>
                  <a:fillRect l="-2027" b="-114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3" name="文字方塊 142">
                <a:extLst>
                  <a:ext uri="{FF2B5EF4-FFF2-40B4-BE49-F238E27FC236}">
                    <a16:creationId xmlns:a16="http://schemas.microsoft.com/office/drawing/2014/main" id="{6E15B8FA-687B-77B2-49A9-C4137F9C3698}"/>
                  </a:ext>
                </a:extLst>
              </p:cNvPr>
              <p:cNvSpPr txBox="1"/>
              <p:nvPr/>
            </p:nvSpPr>
            <p:spPr>
              <a:xfrm>
                <a:off x="9676481" y="3271094"/>
                <a:ext cx="2341736" cy="533544"/>
              </a:xfrm>
              <a:prstGeom prst="rect">
                <a:avLst/>
              </a:prstGeom>
              <a:noFill/>
            </p:spPr>
            <p:txBody>
              <a:bodyPr wrap="square" rtlCol="0">
                <a:spAutoFit/>
              </a:bodyPr>
              <a:lstStyle/>
              <a:p>
                <a14:m>
                  <m:oMath xmlns:m="http://schemas.openxmlformats.org/officeDocument/2006/math">
                    <m:r>
                      <m:rPr>
                        <m:sty m:val="p"/>
                      </m:rPr>
                      <a:rPr lang="zh-TW" altLang="en-US">
                        <a:latin typeface="Cambria Math" panose="02040503050406030204" pitchFamily="18" charset="0"/>
                      </a:rPr>
                      <m:t>Λ</m:t>
                    </m:r>
                  </m:oMath>
                </a14:m>
                <a:r>
                  <a:rPr lang="en-US" altLang="zh-TW" dirty="0"/>
                  <a:t>=2t=</a:t>
                </a:r>
                <a14:m>
                  <m:oMath xmlns:m="http://schemas.openxmlformats.org/officeDocument/2006/math">
                    <m:f>
                      <m:fPr>
                        <m:ctrlPr>
                          <a:rPr lang="en-US" altLang="zh-TW" i="1" dirty="0" smtClean="0">
                            <a:latin typeface="Cambria Math" panose="02040503050406030204" pitchFamily="18" charset="0"/>
                          </a:rPr>
                        </m:ctrlPr>
                      </m:fPr>
                      <m:num>
                        <m:sSub>
                          <m:sSubPr>
                            <m:ctrlPr>
                              <a:rPr lang="en-US" altLang="zh-TW" i="1" dirty="0" smtClean="0">
                                <a:latin typeface="Cambria Math" panose="02040503050406030204" pitchFamily="18" charset="0"/>
                              </a:rPr>
                            </m:ctrlPr>
                          </m:sSubPr>
                          <m:e>
                            <m:r>
                              <a:rPr lang="zh-TW" altLang="en-US" i="1" dirty="0" smtClean="0">
                                <a:latin typeface="Cambria Math" panose="02040503050406030204" pitchFamily="18" charset="0"/>
                              </a:rPr>
                              <m:t>𝜆</m:t>
                            </m:r>
                          </m:e>
                          <m:sub>
                            <m:r>
                              <a:rPr lang="en-US" altLang="zh-TW" b="0" i="1" dirty="0" smtClean="0">
                                <a:latin typeface="Cambria Math" panose="02040503050406030204" pitchFamily="18" charset="0"/>
                              </a:rPr>
                              <m:t>0</m:t>
                            </m:r>
                          </m:sub>
                        </m:sSub>
                      </m:num>
                      <m:den>
                        <m:sSub>
                          <m:sSubPr>
                            <m:ctrlPr>
                              <a:rPr lang="en-US" altLang="zh-TW" i="1" dirty="0" smtClean="0">
                                <a:latin typeface="Cambria Math" panose="02040503050406030204" pitchFamily="18" charset="0"/>
                              </a:rPr>
                            </m:ctrlPr>
                          </m:sSubPr>
                          <m:e>
                            <m:r>
                              <a:rPr lang="en-US" altLang="zh-TW" b="0" i="1" dirty="0" smtClean="0">
                                <a:latin typeface="Cambria Math" panose="02040503050406030204" pitchFamily="18" charset="0"/>
                              </a:rPr>
                              <m:t>𝑛</m:t>
                            </m:r>
                          </m:e>
                          <m:sub>
                            <m:r>
                              <a:rPr lang="en-US" altLang="zh-TW" b="0" i="1" dirty="0" smtClean="0">
                                <a:latin typeface="Cambria Math" panose="02040503050406030204" pitchFamily="18" charset="0"/>
                              </a:rPr>
                              <m:t>𝑜</m:t>
                            </m:r>
                          </m:sub>
                        </m:sSub>
                        <m:r>
                          <a:rPr lang="en-US" altLang="zh-TW" b="0" i="1" dirty="0" smtClean="0">
                            <a:latin typeface="Cambria Math" panose="02040503050406030204" pitchFamily="18" charset="0"/>
                          </a:rPr>
                          <m:t>−</m:t>
                        </m:r>
                        <m:sSub>
                          <m:sSubPr>
                            <m:ctrlPr>
                              <a:rPr lang="en-US" altLang="zh-TW" b="0" i="1" dirty="0" smtClean="0">
                                <a:latin typeface="Cambria Math" panose="02040503050406030204" pitchFamily="18" charset="0"/>
                              </a:rPr>
                            </m:ctrlPr>
                          </m:sSubPr>
                          <m:e>
                            <m:r>
                              <a:rPr lang="en-US" altLang="zh-TW" b="0" i="1" dirty="0" smtClean="0">
                                <a:latin typeface="Cambria Math" panose="02040503050406030204" pitchFamily="18" charset="0"/>
                              </a:rPr>
                              <m:t>𝑛</m:t>
                            </m:r>
                          </m:e>
                          <m:sub>
                            <m:r>
                              <a:rPr lang="en-US" altLang="zh-TW" b="0" i="1" dirty="0" smtClean="0">
                                <a:latin typeface="Cambria Math" panose="02040503050406030204" pitchFamily="18" charset="0"/>
                              </a:rPr>
                              <m:t>𝑒</m:t>
                            </m:r>
                          </m:sub>
                        </m:sSub>
                      </m:den>
                    </m:f>
                  </m:oMath>
                </a14:m>
                <a:r>
                  <a:rPr lang="zh-TW" altLang="en-US" dirty="0"/>
                  <a:t> </a:t>
                </a:r>
                <a:r>
                  <a:rPr lang="en-US" altLang="zh-TW" dirty="0"/>
                  <a:t>; m=1,2,3…</a:t>
                </a:r>
                <a:endParaRPr lang="zh-TW" altLang="en-US" dirty="0"/>
              </a:p>
            </p:txBody>
          </p:sp>
        </mc:Choice>
        <mc:Fallback xmlns="">
          <p:sp>
            <p:nvSpPr>
              <p:cNvPr id="143" name="文字方塊 142">
                <a:extLst>
                  <a:ext uri="{FF2B5EF4-FFF2-40B4-BE49-F238E27FC236}">
                    <a16:creationId xmlns:a16="http://schemas.microsoft.com/office/drawing/2014/main" id="{6E15B8FA-687B-77B2-49A9-C4137F9C3698}"/>
                  </a:ext>
                </a:extLst>
              </p:cNvPr>
              <p:cNvSpPr txBox="1">
                <a:spLocks noRot="1" noChangeAspect="1" noMove="1" noResize="1" noEditPoints="1" noAdjustHandles="1" noChangeArrowheads="1" noChangeShapeType="1" noTextEdit="1"/>
              </p:cNvSpPr>
              <p:nvPr/>
            </p:nvSpPr>
            <p:spPr>
              <a:xfrm>
                <a:off x="9676481" y="3271094"/>
                <a:ext cx="2341736" cy="533544"/>
              </a:xfrm>
              <a:prstGeom prst="rect">
                <a:avLst/>
              </a:prstGeom>
              <a:blipFill>
                <a:blip r:embed="rId8"/>
                <a:stretch>
                  <a:fillRect r="-2344" b="-1149"/>
                </a:stretch>
              </a:blipFill>
            </p:spPr>
            <p:txBody>
              <a:bodyPr/>
              <a:lstStyle/>
              <a:p>
                <a:r>
                  <a:rPr lang="zh-TW" altLang="en-US">
                    <a:noFill/>
                  </a:rPr>
                  <a:t> </a:t>
                </a:r>
              </a:p>
            </p:txBody>
          </p:sp>
        </mc:Fallback>
      </mc:AlternateContent>
      <p:grpSp>
        <p:nvGrpSpPr>
          <p:cNvPr id="6" name="群組 5">
            <a:extLst>
              <a:ext uri="{FF2B5EF4-FFF2-40B4-BE49-F238E27FC236}">
                <a16:creationId xmlns:a16="http://schemas.microsoft.com/office/drawing/2014/main" id="{2A10E7AD-7139-DCA0-1A1A-1CB807F6D721}"/>
              </a:ext>
            </a:extLst>
          </p:cNvPr>
          <p:cNvGrpSpPr/>
          <p:nvPr/>
        </p:nvGrpSpPr>
        <p:grpSpPr>
          <a:xfrm>
            <a:off x="7016255" y="1970308"/>
            <a:ext cx="3023096" cy="2917383"/>
            <a:chOff x="7068995" y="3583799"/>
            <a:chExt cx="3023096" cy="2917383"/>
          </a:xfrm>
        </p:grpSpPr>
        <p:pic>
          <p:nvPicPr>
            <p:cNvPr id="74" name="圖片 73">
              <a:extLst>
                <a:ext uri="{FF2B5EF4-FFF2-40B4-BE49-F238E27FC236}">
                  <a16:creationId xmlns:a16="http://schemas.microsoft.com/office/drawing/2014/main" id="{51DEF461-FF2B-82D5-3FDA-EF4D0BF4E242}"/>
                </a:ext>
              </a:extLst>
            </p:cNvPr>
            <p:cNvPicPr>
              <a:picLocks noChangeAspect="1"/>
            </p:cNvPicPr>
            <p:nvPr/>
          </p:nvPicPr>
          <p:blipFill>
            <a:blip r:embed="rId9"/>
            <a:stretch>
              <a:fillRect/>
            </a:stretch>
          </p:blipFill>
          <p:spPr>
            <a:xfrm>
              <a:off x="9366353" y="5629857"/>
              <a:ext cx="725738" cy="771097"/>
            </a:xfrm>
            <a:prstGeom prst="rect">
              <a:avLst/>
            </a:prstGeom>
          </p:spPr>
        </p:pic>
        <p:pic>
          <p:nvPicPr>
            <p:cNvPr id="184" name="圖片 183">
              <a:extLst>
                <a:ext uri="{FF2B5EF4-FFF2-40B4-BE49-F238E27FC236}">
                  <a16:creationId xmlns:a16="http://schemas.microsoft.com/office/drawing/2014/main" id="{B454B076-D480-BE75-282A-DFC0B36F5417}"/>
                </a:ext>
              </a:extLst>
            </p:cNvPr>
            <p:cNvPicPr>
              <a:picLocks noChangeAspect="1"/>
            </p:cNvPicPr>
            <p:nvPr/>
          </p:nvPicPr>
          <p:blipFill>
            <a:blip r:embed="rId10"/>
            <a:stretch>
              <a:fillRect/>
            </a:stretch>
          </p:blipFill>
          <p:spPr>
            <a:xfrm>
              <a:off x="7068995" y="3583799"/>
              <a:ext cx="2781269" cy="2917383"/>
            </a:xfrm>
            <a:prstGeom prst="rect">
              <a:avLst/>
            </a:prstGeom>
          </p:spPr>
        </p:pic>
      </p:grpSp>
      <p:sp>
        <p:nvSpPr>
          <p:cNvPr id="185" name="文字方塊 184">
            <a:extLst>
              <a:ext uri="{FF2B5EF4-FFF2-40B4-BE49-F238E27FC236}">
                <a16:creationId xmlns:a16="http://schemas.microsoft.com/office/drawing/2014/main" id="{F7EACF8E-04E3-F201-1F44-1F92B06CD4DA}"/>
              </a:ext>
            </a:extLst>
          </p:cNvPr>
          <p:cNvSpPr txBox="1"/>
          <p:nvPr/>
        </p:nvSpPr>
        <p:spPr>
          <a:xfrm>
            <a:off x="7224111" y="1467686"/>
            <a:ext cx="4904741" cy="461665"/>
          </a:xfrm>
          <a:prstGeom prst="rect">
            <a:avLst/>
          </a:prstGeom>
          <a:noFill/>
        </p:spPr>
        <p:txBody>
          <a:bodyPr wrap="none" rtlCol="0">
            <a:spAutoFit/>
          </a:bodyPr>
          <a:lstStyle/>
          <a:p>
            <a:pPr marL="342900" indent="-342900">
              <a:buFont typeface="Arial" panose="020B0604020202020204" pitchFamily="34" charset="0"/>
              <a:buChar char="•"/>
            </a:pPr>
            <a:r>
              <a:rPr lang="en-US" altLang="zh-TW" sz="2400" dirty="0">
                <a:latin typeface="Times New Roman" panose="02020603050405020304" pitchFamily="18" charset="0"/>
                <a:ea typeface="標楷體" panose="03000509000000000000" pitchFamily="65" charset="-120"/>
              </a:rPr>
              <a:t>Use EO effect in LN like </a:t>
            </a:r>
            <a:r>
              <a:rPr lang="en-US" altLang="zh-TW" sz="2400" dirty="0" err="1">
                <a:latin typeface="Times New Roman" panose="02020603050405020304" pitchFamily="18" charset="0"/>
                <a:ea typeface="標楷體" panose="03000509000000000000" pitchFamily="65" charset="-120"/>
              </a:rPr>
              <a:t>Šolc</a:t>
            </a:r>
            <a:r>
              <a:rPr lang="en-US" altLang="zh-TW" sz="2400" dirty="0">
                <a:latin typeface="Times New Roman" panose="02020603050405020304" pitchFamily="18" charset="0"/>
                <a:ea typeface="標楷體" panose="03000509000000000000" pitchFamily="65" charset="-120"/>
              </a:rPr>
              <a:t> filter</a:t>
            </a:r>
            <a:endParaRPr lang="zh-TW" altLang="en-US" sz="2400" dirty="0"/>
          </a:p>
        </p:txBody>
      </p:sp>
      <p:sp>
        <p:nvSpPr>
          <p:cNvPr id="186" name="文字方塊 185">
            <a:extLst>
              <a:ext uri="{FF2B5EF4-FFF2-40B4-BE49-F238E27FC236}">
                <a16:creationId xmlns:a16="http://schemas.microsoft.com/office/drawing/2014/main" id="{DC75979C-499F-A47E-FD33-C2BC8E2C7AD9}"/>
              </a:ext>
            </a:extLst>
          </p:cNvPr>
          <p:cNvSpPr txBox="1"/>
          <p:nvPr/>
        </p:nvSpPr>
        <p:spPr>
          <a:xfrm>
            <a:off x="5502596" y="2649654"/>
            <a:ext cx="1053494" cy="461665"/>
          </a:xfrm>
          <a:prstGeom prst="rect">
            <a:avLst/>
          </a:prstGeom>
          <a:noFill/>
        </p:spPr>
        <p:txBody>
          <a:bodyPr wrap="none" rtlCol="0">
            <a:spAutoFit/>
          </a:bodyPr>
          <a:lstStyle/>
          <a:p>
            <a:r>
              <a:rPr lang="en-US" altLang="zh-TW" sz="2400" dirty="0"/>
              <a:t>Use LN</a:t>
            </a:r>
            <a:endParaRPr lang="zh-TW" altLang="en-US" sz="2400" dirty="0"/>
          </a:p>
        </p:txBody>
      </p:sp>
      <p:sp>
        <p:nvSpPr>
          <p:cNvPr id="7" name="內容版面配置區 2">
            <a:extLst>
              <a:ext uri="{FF2B5EF4-FFF2-40B4-BE49-F238E27FC236}">
                <a16:creationId xmlns:a16="http://schemas.microsoft.com/office/drawing/2014/main" id="{13D93ACD-8E8E-EBC6-28BB-560C067BE5A6}"/>
              </a:ext>
            </a:extLst>
          </p:cNvPr>
          <p:cNvSpPr txBox="1">
            <a:spLocks/>
          </p:cNvSpPr>
          <p:nvPr/>
        </p:nvSpPr>
        <p:spPr>
          <a:xfrm>
            <a:off x="2351415" y="579121"/>
            <a:ext cx="8522472" cy="110155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200000"/>
              </a:lnSpc>
              <a:buFont typeface="Arial" panose="020B0604020202020204" pitchFamily="34" charset="0"/>
              <a:buNone/>
            </a:pPr>
            <a:r>
              <a:rPr lang="en-US" altLang="zh-TW" b="1" dirty="0">
                <a:effectLst>
                  <a:outerShdw blurRad="38100" dist="38100" dir="2700000" algn="tl">
                    <a:srgbClr val="000000">
                      <a:alpha val="43137"/>
                    </a:srgbClr>
                  </a:outerShdw>
                </a:effectLst>
              </a:rPr>
              <a:t>Electric-optic polarization mode conversion(EOPMC)</a:t>
            </a:r>
          </a:p>
          <a:p>
            <a:pPr>
              <a:lnSpc>
                <a:spcPct val="200000"/>
              </a:lnSpc>
            </a:pPr>
            <a:endParaRPr lang="en-US"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18592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66F64AE-CAE4-0A78-C8F9-867765DF3067}"/>
              </a:ext>
            </a:extLst>
          </p:cNvPr>
          <p:cNvSpPr>
            <a:spLocks noGrp="1"/>
          </p:cNvSpPr>
          <p:nvPr>
            <p:ph type="ctrTitle"/>
          </p:nvPr>
        </p:nvSpPr>
        <p:spPr/>
        <p:txBody>
          <a:bodyPr/>
          <a:lstStyle/>
          <a:p>
            <a:r>
              <a:rPr lang="en-US" altLang="zh-TW" b="1" dirty="0">
                <a:solidFill>
                  <a:schemeClr val="tx1"/>
                </a:solidFill>
              </a:rPr>
              <a:t>Working principles</a:t>
            </a:r>
          </a:p>
        </p:txBody>
      </p:sp>
      <p:sp>
        <p:nvSpPr>
          <p:cNvPr id="3" name="副標題 2">
            <a:extLst>
              <a:ext uri="{FF2B5EF4-FFF2-40B4-BE49-F238E27FC236}">
                <a16:creationId xmlns:a16="http://schemas.microsoft.com/office/drawing/2014/main" id="{B1B8DE14-80E4-7564-81F1-A7DA9C966337}"/>
              </a:ext>
            </a:extLst>
          </p:cNvPr>
          <p:cNvSpPr>
            <a:spLocks noGrp="1"/>
          </p:cNvSpPr>
          <p:nvPr>
            <p:ph type="subTitle" idx="1"/>
          </p:nvPr>
        </p:nvSpPr>
        <p:spPr>
          <a:xfrm>
            <a:off x="5315578" y="3956279"/>
            <a:ext cx="4196001" cy="1086237"/>
          </a:xfrm>
        </p:spPr>
        <p:txBody>
          <a:bodyPr>
            <a:normAutofit fontScale="92500" lnSpcReduction="10000"/>
          </a:bodyPr>
          <a:lstStyle/>
          <a:p>
            <a:pPr marL="457200" indent="-457200" algn="l">
              <a:buFont typeface="+mj-lt"/>
              <a:buAutoNum type="arabicPeriod"/>
            </a:pPr>
            <a:r>
              <a:rPr lang="en-US" altLang="zh-TW" dirty="0">
                <a:solidFill>
                  <a:schemeClr val="tx1"/>
                </a:solidFill>
              </a:rPr>
              <a:t>SHG/SPDC</a:t>
            </a:r>
          </a:p>
          <a:p>
            <a:pPr marL="457200" indent="-457200" algn="l">
              <a:buFont typeface="+mj-lt"/>
              <a:buAutoNum type="arabicPeriod"/>
            </a:pPr>
            <a:r>
              <a:rPr lang="en-US" altLang="zh-TW" dirty="0">
                <a:solidFill>
                  <a:schemeClr val="tx1"/>
                </a:solidFill>
              </a:rPr>
              <a:t>Electro-Optic Effect(EOPMC)</a:t>
            </a:r>
          </a:p>
          <a:p>
            <a:pPr marL="457200" indent="-457200" algn="l">
              <a:buFont typeface="+mj-lt"/>
              <a:buAutoNum type="arabicPeriod"/>
            </a:pPr>
            <a:r>
              <a:rPr lang="en-US" altLang="zh-TW" dirty="0">
                <a:solidFill>
                  <a:srgbClr val="FF0000"/>
                </a:solidFill>
              </a:rPr>
              <a:t>Electro-Optic Effect(EO)</a:t>
            </a:r>
          </a:p>
          <a:p>
            <a:pPr marL="457200" indent="-457200" algn="l">
              <a:buFont typeface="+mj-lt"/>
              <a:buAutoNum type="arabicPeriod"/>
            </a:pPr>
            <a:endParaRPr lang="en-US" altLang="zh-TW" dirty="0">
              <a:solidFill>
                <a:schemeClr val="tx1"/>
              </a:solidFill>
            </a:endParaRPr>
          </a:p>
        </p:txBody>
      </p:sp>
    </p:spTree>
    <p:extLst>
      <p:ext uri="{BB962C8B-B14F-4D97-AF65-F5344CB8AC3E}">
        <p14:creationId xmlns:p14="http://schemas.microsoft.com/office/powerpoint/2010/main" val="33937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Electro-Optic Effect</a:t>
            </a:r>
            <a:endParaRPr lang="zh-TW" altLang="en-US" b="1"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0039351" y="6356352"/>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23</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sp>
        <p:nvSpPr>
          <p:cNvPr id="6" name="內容版面配置區 2">
            <a:extLst>
              <a:ext uri="{FF2B5EF4-FFF2-40B4-BE49-F238E27FC236}">
                <a16:creationId xmlns:a16="http://schemas.microsoft.com/office/drawing/2014/main" id="{DCAF6D78-F6F4-1A0C-6145-761BE75A436B}"/>
              </a:ext>
            </a:extLst>
          </p:cNvPr>
          <p:cNvSpPr txBox="1">
            <a:spLocks/>
          </p:cNvSpPr>
          <p:nvPr/>
        </p:nvSpPr>
        <p:spPr>
          <a:xfrm>
            <a:off x="3270533" y="522529"/>
            <a:ext cx="6495816" cy="1161575"/>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200000"/>
              </a:lnSpc>
              <a:buNone/>
            </a:pPr>
            <a:r>
              <a:rPr lang="en-US" altLang="zh-TW" sz="5800" b="1" dirty="0">
                <a:effectLst>
                  <a:outerShdw blurRad="38100" dist="38100" dir="2700000" algn="tl">
                    <a:srgbClr val="000000">
                      <a:alpha val="43137"/>
                    </a:srgbClr>
                  </a:outerShdw>
                </a:effectLst>
              </a:rPr>
              <a:t>Electric-optic phase modulator (EO)</a:t>
            </a:r>
          </a:p>
          <a:p>
            <a:pPr>
              <a:lnSpc>
                <a:spcPct val="200000"/>
              </a:lnSpc>
            </a:pPr>
            <a:endParaRPr lang="en-US" altLang="zh-TW"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18185B39-FD1B-66FA-9AA1-F0B8988F2A77}"/>
                  </a:ext>
                </a:extLst>
              </p:cNvPr>
              <p:cNvSpPr txBox="1"/>
              <p:nvPr/>
            </p:nvSpPr>
            <p:spPr>
              <a:xfrm>
                <a:off x="454714" y="1546743"/>
                <a:ext cx="4999413" cy="391646"/>
              </a:xfrm>
              <a:prstGeom prst="rect">
                <a:avLst/>
              </a:prstGeom>
              <a:noFill/>
            </p:spPr>
            <p:txBody>
              <a:bodyPr wrap="square">
                <a:spAutoFit/>
              </a:bodyPr>
              <a:lstStyle/>
              <a:p>
                <a14:m>
                  <m:oMath xmlns:m="http://schemas.openxmlformats.org/officeDocument/2006/math">
                    <m:r>
                      <a:rPr lang="zh-TW" altLang="en-US" i="1" smtClean="0">
                        <a:latin typeface="Cambria Math" panose="02040503050406030204" pitchFamily="18" charset="0"/>
                      </a:rPr>
                      <m:t>𝞰</m:t>
                    </m:r>
                  </m:oMath>
                </a14:m>
                <a:r>
                  <a:rPr lang="en-US" altLang="zh-TW" baseline="-25000" dirty="0" err="1"/>
                  <a:t>ij</a:t>
                </a:r>
                <a:r>
                  <a:rPr lang="en-US" altLang="zh-TW" dirty="0"/>
                  <a:t>(E) =</a:t>
                </a:r>
                <a14:m>
                  <m:oMath xmlns:m="http://schemas.openxmlformats.org/officeDocument/2006/math">
                    <m:r>
                      <a:rPr lang="zh-TW" altLang="en-US" i="1">
                        <a:latin typeface="Cambria Math" panose="02040503050406030204" pitchFamily="18" charset="0"/>
                      </a:rPr>
                      <m:t>𝞰</m:t>
                    </m:r>
                  </m:oMath>
                </a14:m>
                <a:r>
                  <a:rPr lang="en-US" altLang="zh-TW" baseline="-25000" dirty="0" err="1"/>
                  <a:t>ij</a:t>
                </a:r>
                <a:r>
                  <a:rPr lang="en-US" altLang="zh-TW" sz="1800" dirty="0"/>
                  <a:t>(0) + </a:t>
                </a:r>
                <a14:m>
                  <m:oMath xmlns:m="http://schemas.openxmlformats.org/officeDocument/2006/math">
                    <m:nary>
                      <m:naryPr>
                        <m:chr m:val="∑"/>
                        <m:limLoc m:val="subSup"/>
                        <m:supHide m:val="on"/>
                        <m:ctrlPr>
                          <a:rPr lang="en-US" altLang="zh-TW" sz="1800" i="1" smtClean="0">
                            <a:latin typeface="Cambria Math" panose="02040503050406030204" pitchFamily="18" charset="0"/>
                          </a:rPr>
                        </m:ctrlPr>
                      </m:naryPr>
                      <m:sub>
                        <m:r>
                          <m:rPr>
                            <m:brk m:alnAt="9"/>
                          </m:rPr>
                          <a:rPr lang="en-US" altLang="zh-TW" sz="1800" b="0" i="1" smtClean="0">
                            <a:latin typeface="Cambria Math" panose="02040503050406030204" pitchFamily="18" charset="0"/>
                          </a:rPr>
                          <m:t>𝑘</m:t>
                        </m:r>
                      </m:sub>
                      <m:sup/>
                      <m:e>
                        <m:r>
                          <a:rPr lang="en-US" altLang="zh-TW" sz="1800" b="0" i="1" smtClean="0">
                            <a:latin typeface="Cambria Math" panose="02040503050406030204" pitchFamily="18" charset="0"/>
                          </a:rPr>
                          <m:t>𝑟</m:t>
                        </m:r>
                        <m:r>
                          <a:rPr lang="zh-TW" altLang="en-US" sz="1800" i="1">
                            <a:latin typeface="Cambria Math" panose="02040503050406030204" pitchFamily="18" charset="0"/>
                          </a:rPr>
                          <m:t> </m:t>
                        </m:r>
                        <m:r>
                          <m:rPr>
                            <m:nor/>
                          </m:rPr>
                          <a:rPr lang="en-US" altLang="zh-TW" sz="1800" baseline="-25000" dirty="0"/>
                          <m:t>ij</m:t>
                        </m:r>
                        <m:r>
                          <m:rPr>
                            <m:nor/>
                          </m:rPr>
                          <a:rPr lang="en-US" altLang="zh-TW" sz="1800" b="0" i="0" baseline="-25000" dirty="0" smtClean="0"/>
                          <m:t>k</m:t>
                        </m:r>
                      </m:e>
                    </m:nary>
                  </m:oMath>
                </a14:m>
                <a:r>
                  <a:rPr lang="en-US" altLang="zh-TW" sz="1800" dirty="0"/>
                  <a:t>E</a:t>
                </a:r>
                <a:r>
                  <a:rPr lang="en-US" altLang="zh-TW" sz="1800" baseline="-25000" dirty="0"/>
                  <a:t>k</a:t>
                </a:r>
                <a:r>
                  <a:rPr lang="en-US" altLang="zh-TW" sz="1800" dirty="0"/>
                  <a:t> + </a:t>
                </a:r>
                <a14:m>
                  <m:oMath xmlns:m="http://schemas.openxmlformats.org/officeDocument/2006/math">
                    <m:nary>
                      <m:naryPr>
                        <m:chr m:val="∑"/>
                        <m:limLoc m:val="subSup"/>
                        <m:supHide m:val="on"/>
                        <m:ctrlPr>
                          <a:rPr lang="en-US" altLang="zh-TW" sz="1800" i="1" smtClean="0">
                            <a:latin typeface="Cambria Math" panose="02040503050406030204" pitchFamily="18" charset="0"/>
                          </a:rPr>
                        </m:ctrlPr>
                      </m:naryPr>
                      <m:sub>
                        <m:r>
                          <m:rPr>
                            <m:brk m:alnAt="9"/>
                          </m:rPr>
                          <a:rPr lang="en-US" altLang="zh-TW" sz="1800" i="1">
                            <a:latin typeface="Cambria Math" panose="02040503050406030204" pitchFamily="18" charset="0"/>
                          </a:rPr>
                          <m:t>𝑘</m:t>
                        </m:r>
                        <m:r>
                          <a:rPr lang="en-US" altLang="zh-TW" sz="1800" b="0" i="1" smtClean="0">
                            <a:latin typeface="Cambria Math" panose="02040503050406030204" pitchFamily="18" charset="0"/>
                          </a:rPr>
                          <m:t>𝑙</m:t>
                        </m:r>
                      </m:sub>
                      <m:sup/>
                      <m:e>
                        <m:sSub>
                          <m:sSubPr>
                            <m:ctrlPr>
                              <a:rPr lang="en-US" altLang="zh-TW" sz="1800" b="0" i="1" smtClean="0">
                                <a:latin typeface="Cambria Math" panose="02040503050406030204" pitchFamily="18" charset="0"/>
                              </a:rPr>
                            </m:ctrlPr>
                          </m:sSubPr>
                          <m:e>
                            <m:r>
                              <a:rPr lang="zh-TW" altLang="en-US" sz="1800" b="0" i="1" smtClean="0">
                                <a:latin typeface="Cambria Math" panose="02040503050406030204" pitchFamily="18" charset="0"/>
                              </a:rPr>
                              <m:t>𝜍</m:t>
                            </m:r>
                          </m:e>
                          <m:sub>
                            <m:r>
                              <a:rPr lang="en-US" altLang="zh-TW" sz="1800" b="0" i="1" smtClean="0">
                                <a:latin typeface="Cambria Math" panose="02040503050406030204" pitchFamily="18" charset="0"/>
                              </a:rPr>
                              <m:t>𝑖𝑗𝑘</m:t>
                            </m:r>
                          </m:sub>
                        </m:sSub>
                      </m:e>
                    </m:nary>
                  </m:oMath>
                </a14:m>
                <a:r>
                  <a:rPr lang="en-US" altLang="zh-TW" sz="1800" dirty="0"/>
                  <a:t>E</a:t>
                </a:r>
                <a:r>
                  <a:rPr lang="en-US" altLang="zh-TW" sz="1800" baseline="-25000" dirty="0"/>
                  <a:t>k</a:t>
                </a:r>
                <a:r>
                  <a:rPr lang="en-US" altLang="zh-TW" sz="1800" dirty="0"/>
                  <a:t>E</a:t>
                </a:r>
                <a14:m>
                  <m:oMath xmlns:m="http://schemas.openxmlformats.org/officeDocument/2006/math">
                    <m:r>
                      <m:rPr>
                        <m:brk m:alnAt="9"/>
                      </m:rPr>
                      <a:rPr lang="en-US" altLang="zh-TW" sz="1800" i="1" baseline="-25000">
                        <a:latin typeface="Cambria Math" panose="02040503050406030204" pitchFamily="18" charset="0"/>
                      </a:rPr>
                      <m:t>𝑙</m:t>
                    </m:r>
                  </m:oMath>
                </a14:m>
                <a:endParaRPr lang="en-US" altLang="zh-TW" sz="1800" baseline="-25000" dirty="0"/>
              </a:p>
            </p:txBody>
          </p:sp>
        </mc:Choice>
        <mc:Fallback xmlns="">
          <p:sp>
            <p:nvSpPr>
              <p:cNvPr id="20" name="文字方塊 19">
                <a:extLst>
                  <a:ext uri="{FF2B5EF4-FFF2-40B4-BE49-F238E27FC236}">
                    <a16:creationId xmlns:a16="http://schemas.microsoft.com/office/drawing/2014/main" id="{18185B39-FD1B-66FA-9AA1-F0B8988F2A77}"/>
                  </a:ext>
                </a:extLst>
              </p:cNvPr>
              <p:cNvSpPr txBox="1">
                <a:spLocks noRot="1" noChangeAspect="1" noMove="1" noResize="1" noEditPoints="1" noAdjustHandles="1" noChangeArrowheads="1" noChangeShapeType="1" noTextEdit="1"/>
              </p:cNvSpPr>
              <p:nvPr/>
            </p:nvSpPr>
            <p:spPr>
              <a:xfrm>
                <a:off x="454714" y="1546743"/>
                <a:ext cx="4999413" cy="391646"/>
              </a:xfrm>
              <a:prstGeom prst="rect">
                <a:avLst/>
              </a:prstGeom>
              <a:blipFill>
                <a:blip r:embed="rId4"/>
                <a:stretch>
                  <a:fillRect t="-112500" b="-171875"/>
                </a:stretch>
              </a:blipFill>
            </p:spPr>
            <p:txBody>
              <a:bodyPr/>
              <a:lstStyle/>
              <a:p>
                <a:r>
                  <a:rPr lang="zh-TW" altLang="en-US">
                    <a:noFill/>
                  </a:rPr>
                  <a:t> </a:t>
                </a:r>
              </a:p>
            </p:txBody>
          </p:sp>
        </mc:Fallback>
      </mc:AlternateContent>
      <p:sp>
        <p:nvSpPr>
          <p:cNvPr id="21" name="矩形 20">
            <a:extLst>
              <a:ext uri="{FF2B5EF4-FFF2-40B4-BE49-F238E27FC236}">
                <a16:creationId xmlns:a16="http://schemas.microsoft.com/office/drawing/2014/main" id="{2E42658C-ABA5-8096-0258-783C5D6A6E8D}"/>
              </a:ext>
            </a:extLst>
          </p:cNvPr>
          <p:cNvSpPr/>
          <p:nvPr/>
        </p:nvSpPr>
        <p:spPr>
          <a:xfrm rot="19735376">
            <a:off x="3224204" y="1782139"/>
            <a:ext cx="810023" cy="4571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文字方塊 21">
            <a:extLst>
              <a:ext uri="{FF2B5EF4-FFF2-40B4-BE49-F238E27FC236}">
                <a16:creationId xmlns:a16="http://schemas.microsoft.com/office/drawing/2014/main" id="{DAB66AB5-61FE-A0AE-2891-5D1849DD095B}"/>
              </a:ext>
            </a:extLst>
          </p:cNvPr>
          <p:cNvSpPr txBox="1"/>
          <p:nvPr/>
        </p:nvSpPr>
        <p:spPr>
          <a:xfrm>
            <a:off x="3270533" y="1961248"/>
            <a:ext cx="1146596" cy="369332"/>
          </a:xfrm>
          <a:prstGeom prst="rect">
            <a:avLst/>
          </a:prstGeom>
          <a:noFill/>
        </p:spPr>
        <p:txBody>
          <a:bodyPr wrap="none" rtlCol="0">
            <a:spAutoFit/>
          </a:bodyPr>
          <a:lstStyle/>
          <a:p>
            <a:r>
              <a:rPr lang="en-US" altLang="zh-TW" dirty="0" err="1"/>
              <a:t>kerr</a:t>
            </a:r>
            <a:r>
              <a:rPr lang="en-US" altLang="zh-TW" dirty="0"/>
              <a:t> effect</a:t>
            </a:r>
            <a:endParaRPr lang="zh-TW" altLang="en-US" dirty="0"/>
          </a:p>
        </p:txBody>
      </p:sp>
      <p:sp>
        <p:nvSpPr>
          <p:cNvPr id="23" name="文字方塊 22">
            <a:extLst>
              <a:ext uri="{FF2B5EF4-FFF2-40B4-BE49-F238E27FC236}">
                <a16:creationId xmlns:a16="http://schemas.microsoft.com/office/drawing/2014/main" id="{87D68BEC-03CC-0EC5-A6B5-019B1A7F25F7}"/>
              </a:ext>
            </a:extLst>
          </p:cNvPr>
          <p:cNvSpPr txBox="1"/>
          <p:nvPr/>
        </p:nvSpPr>
        <p:spPr>
          <a:xfrm>
            <a:off x="1805765" y="1937843"/>
            <a:ext cx="1372812" cy="369332"/>
          </a:xfrm>
          <a:prstGeom prst="rect">
            <a:avLst/>
          </a:prstGeom>
          <a:noFill/>
        </p:spPr>
        <p:txBody>
          <a:bodyPr wrap="none" rtlCol="0">
            <a:spAutoFit/>
          </a:bodyPr>
          <a:lstStyle/>
          <a:p>
            <a:r>
              <a:rPr lang="en-US" altLang="zh-TW" dirty="0" err="1"/>
              <a:t>Pockel</a:t>
            </a:r>
            <a:r>
              <a:rPr lang="en-US" altLang="zh-TW" dirty="0"/>
              <a:t> effect</a:t>
            </a:r>
            <a:endParaRPr lang="zh-TW" altLang="en-US" dirty="0"/>
          </a:p>
        </p:txBody>
      </p:sp>
      <p:sp>
        <p:nvSpPr>
          <p:cNvPr id="24" name="矩形 23">
            <a:extLst>
              <a:ext uri="{FF2B5EF4-FFF2-40B4-BE49-F238E27FC236}">
                <a16:creationId xmlns:a16="http://schemas.microsoft.com/office/drawing/2014/main" id="{D50C8EB9-F2EF-F719-C0E4-FC53AB5AF06B}"/>
              </a:ext>
            </a:extLst>
          </p:cNvPr>
          <p:cNvSpPr/>
          <p:nvPr/>
        </p:nvSpPr>
        <p:spPr>
          <a:xfrm>
            <a:off x="2069021" y="1915529"/>
            <a:ext cx="846301" cy="4571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352CDCDD-31E1-8057-872A-92D7380B6DE8}"/>
                  </a:ext>
                </a:extLst>
              </p:cNvPr>
              <p:cNvSpPr txBox="1"/>
              <p:nvPr/>
            </p:nvSpPr>
            <p:spPr>
              <a:xfrm>
                <a:off x="2506532" y="2790616"/>
                <a:ext cx="5169314" cy="1724511"/>
              </a:xfrm>
              <a:prstGeom prst="rect">
                <a:avLst/>
              </a:prstGeom>
              <a:noFill/>
            </p:spPr>
            <p:txBody>
              <a:bodyPr wrap="square">
                <a:spAutoFit/>
              </a:bodyPr>
              <a:lstStyle/>
              <a:p>
                <a14:m>
                  <m:oMath xmlns:m="http://schemas.openxmlformats.org/officeDocument/2006/math">
                    <m:nary>
                      <m:naryPr>
                        <m:chr m:val="∑"/>
                        <m:limLoc m:val="subSup"/>
                        <m:supHide m:val="on"/>
                        <m:ctrlPr>
                          <a:rPr lang="en-US" altLang="zh-TW" i="1" smtClean="0">
                            <a:latin typeface="Cambria Math" panose="02040503050406030204" pitchFamily="18" charset="0"/>
                          </a:rPr>
                        </m:ctrlPr>
                      </m:naryPr>
                      <m:sub>
                        <m:r>
                          <m:rPr>
                            <m:brk m:alnAt="9"/>
                          </m:rPr>
                          <a:rPr lang="en-US" altLang="zh-TW" i="1">
                            <a:latin typeface="Cambria Math" panose="02040503050406030204" pitchFamily="18" charset="0"/>
                          </a:rPr>
                          <m:t>𝑘</m:t>
                        </m:r>
                      </m:sub>
                      <m:sup/>
                      <m:e>
                        <m:r>
                          <a:rPr lang="en-US" altLang="zh-TW" i="1">
                            <a:latin typeface="Cambria Math" panose="02040503050406030204" pitchFamily="18" charset="0"/>
                          </a:rPr>
                          <m:t>𝑟</m:t>
                        </m:r>
                        <m:r>
                          <a:rPr lang="zh-TW" altLang="en-US" i="1">
                            <a:latin typeface="Cambria Math" panose="02040503050406030204" pitchFamily="18" charset="0"/>
                          </a:rPr>
                          <m:t> </m:t>
                        </m:r>
                        <m:r>
                          <m:rPr>
                            <m:nor/>
                          </m:rPr>
                          <a:rPr lang="en-US" altLang="zh-TW" baseline="-25000" dirty="0"/>
                          <m:t>ijk</m:t>
                        </m:r>
                      </m:e>
                    </m:nary>
                  </m:oMath>
                </a14:m>
                <a:r>
                  <a:rPr lang="en-US" altLang="zh-TW" dirty="0"/>
                  <a:t>E</a:t>
                </a:r>
                <a:r>
                  <a:rPr lang="en-US" altLang="zh-TW" baseline="-25000" dirty="0"/>
                  <a:t>k</a:t>
                </a:r>
                <a:r>
                  <a:rPr lang="en-US" altLang="zh-TW" dirty="0"/>
                  <a:t> </a:t>
                </a:r>
                <a:r>
                  <a:rPr lang="en-US" altLang="zh-TW" sz="1800" dirty="0">
                    <a:latin typeface="arial" panose="020B0604020202020204" pitchFamily="34" charset="0"/>
                  </a:rPr>
                  <a:t>=∆</a:t>
                </a:r>
                <a14:m>
                  <m:oMath xmlns:m="http://schemas.openxmlformats.org/officeDocument/2006/math">
                    <m:r>
                      <a:rPr lang="zh-TW" altLang="en-US" i="1">
                        <a:latin typeface="Cambria Math" panose="02040503050406030204" pitchFamily="18" charset="0"/>
                      </a:rPr>
                      <m:t>𝞰</m:t>
                    </m:r>
                  </m:oMath>
                </a14:m>
                <a:r>
                  <a:rPr lang="en-US" altLang="zh-TW" baseline="-25000" dirty="0" err="1"/>
                  <a:t>ij</a:t>
                </a:r>
                <a:r>
                  <a:rPr lang="en-US" altLang="zh-TW" dirty="0"/>
                  <a:t>(</a:t>
                </a:r>
                <a14:m>
                  <m:oMath xmlns:m="http://schemas.openxmlformats.org/officeDocument/2006/math">
                    <m:r>
                      <a:rPr lang="en-US" altLang="zh-TW" i="1">
                        <a:latin typeface="Cambria Math" panose="02040503050406030204" pitchFamily="18" charset="0"/>
                      </a:rPr>
                      <m:t>𝐸</m:t>
                    </m:r>
                    <m:r>
                      <a:rPr lang="en-US" altLang="zh-TW" b="0" i="1" baseline="-25000" smtClean="0">
                        <a:latin typeface="Cambria Math" panose="02040503050406030204" pitchFamily="18" charset="0"/>
                      </a:rPr>
                      <m:t>𝑧</m:t>
                    </m:r>
                  </m:oMath>
                </a14:m>
                <a:r>
                  <a:rPr lang="en-US" altLang="zh-TW" dirty="0"/>
                  <a:t>) </a:t>
                </a:r>
                <a:r>
                  <a:rPr lang="en-US" altLang="zh-TW" sz="1800" dirty="0"/>
                  <a:t>=</a:t>
                </a:r>
                <a:r>
                  <a:rPr lang="zh-TW" altLang="en-US" sz="1800" dirty="0"/>
                  <a:t> </a:t>
                </a:r>
                <a14:m>
                  <m:oMath xmlns:m="http://schemas.openxmlformats.org/officeDocument/2006/math">
                    <m:d>
                      <m:dPr>
                        <m:begChr m:val="["/>
                        <m:endChr m:val="]"/>
                        <m:ctrlPr>
                          <a:rPr lang="en-US" altLang="zh-TW" sz="1800" i="1">
                            <a:latin typeface="Cambria Math" panose="02040503050406030204" pitchFamily="18" charset="0"/>
                          </a:rPr>
                        </m:ctrlPr>
                      </m:dPr>
                      <m:e>
                        <m:m>
                          <m:mPr>
                            <m:mcs>
                              <m:mc>
                                <m:mcPr>
                                  <m:count m:val="1"/>
                                  <m:mcJc m:val="center"/>
                                </m:mcPr>
                              </m:mc>
                            </m:mcs>
                            <m:ctrlPr>
                              <a:rPr lang="en-US" altLang="zh-TW" sz="1800" i="1">
                                <a:latin typeface="Cambria Math" panose="02040503050406030204" pitchFamily="18" charset="0"/>
                              </a:rPr>
                            </m:ctrlPr>
                          </m:mPr>
                          <m:mr>
                            <m:e>
                              <m:m>
                                <m:mPr>
                                  <m:mcs>
                                    <m:mc>
                                      <m:mcPr>
                                        <m:count m:val="1"/>
                                        <m:mcJc m:val="center"/>
                                      </m:mcPr>
                                    </m:mc>
                                  </m:mcs>
                                  <m:ctrlPr>
                                    <a:rPr lang="en-US" altLang="zh-TW" sz="1800" i="1">
                                      <a:latin typeface="Cambria Math" panose="02040503050406030204" pitchFamily="18" charset="0"/>
                                    </a:rPr>
                                  </m:ctrlPr>
                                </m:mPr>
                                <m:mr>
                                  <m:e>
                                    <m:r>
                                      <m:rPr>
                                        <m:nor/>
                                      </m:rPr>
                                      <a:rPr lang="en-US" altLang="zh-TW" sz="1800" dirty="0">
                                        <a:latin typeface="arial" panose="020B0604020202020204" pitchFamily="34" charset="0"/>
                                      </a:rPr>
                                      <m:t>∆</m:t>
                                    </m:r>
                                    <m:r>
                                      <a:rPr lang="zh-TW" altLang="en-US" sz="1800" b="0" i="1">
                                        <a:latin typeface="Cambria Math" panose="02040503050406030204" pitchFamily="18" charset="0"/>
                                      </a:rPr>
                                      <m:t>𝞰</m:t>
                                    </m:r>
                                    <m:r>
                                      <a:rPr lang="en-US" altLang="zh-TW" sz="1800" b="0" i="1" baseline="-25000">
                                        <a:latin typeface="Cambria Math" panose="02040503050406030204" pitchFamily="18" charset="0"/>
                                      </a:rPr>
                                      <m:t>1</m:t>
                                    </m:r>
                                  </m:e>
                                </m:mr>
                                <m:mr>
                                  <m:e>
                                    <m:r>
                                      <m:rPr>
                                        <m:nor/>
                                      </m:rPr>
                                      <a:rPr lang="en-US" altLang="zh-TW" sz="1800" dirty="0">
                                        <a:latin typeface="arial" panose="020B0604020202020204" pitchFamily="34" charset="0"/>
                                      </a:rPr>
                                      <m:t>∆</m:t>
                                    </m:r>
                                    <m:r>
                                      <a:rPr lang="zh-TW" altLang="en-US" sz="1800" b="0" i="1">
                                        <a:latin typeface="Cambria Math" panose="02040503050406030204" pitchFamily="18" charset="0"/>
                                      </a:rPr>
                                      <m:t>𝞰</m:t>
                                    </m:r>
                                    <m:r>
                                      <a:rPr lang="en-US" altLang="zh-TW" sz="1800" b="0" i="1" baseline="-25000">
                                        <a:latin typeface="Cambria Math" panose="02040503050406030204" pitchFamily="18" charset="0"/>
                                      </a:rPr>
                                      <m:t>2</m:t>
                                    </m:r>
                                  </m:e>
                                </m:mr>
                                <m:mr>
                                  <m:e>
                                    <m:r>
                                      <m:rPr>
                                        <m:nor/>
                                      </m:rPr>
                                      <a:rPr lang="en-US" altLang="zh-TW" sz="1800" dirty="0">
                                        <a:latin typeface="arial" panose="020B0604020202020204" pitchFamily="34" charset="0"/>
                                      </a:rPr>
                                      <m:t>∆</m:t>
                                    </m:r>
                                    <m:r>
                                      <a:rPr lang="zh-TW" altLang="en-US" sz="1800" b="0" i="1">
                                        <a:latin typeface="Cambria Math" panose="02040503050406030204" pitchFamily="18" charset="0"/>
                                      </a:rPr>
                                      <m:t>𝞰</m:t>
                                    </m:r>
                                    <m:r>
                                      <a:rPr lang="en-US" altLang="zh-TW" sz="1800" b="0" i="1" baseline="-25000">
                                        <a:latin typeface="Cambria Math" panose="02040503050406030204" pitchFamily="18" charset="0"/>
                                      </a:rPr>
                                      <m:t>3</m:t>
                                    </m:r>
                                  </m:e>
                                </m:mr>
                              </m:m>
                            </m:e>
                          </m:mr>
                          <m:mr>
                            <m:e>
                              <m:m>
                                <m:mPr>
                                  <m:mcs>
                                    <m:mc>
                                      <m:mcPr>
                                        <m:count m:val="1"/>
                                        <m:mcJc m:val="center"/>
                                      </m:mcPr>
                                    </m:mc>
                                  </m:mcs>
                                  <m:ctrlPr>
                                    <a:rPr lang="en-US" altLang="zh-TW" sz="1800" i="1">
                                      <a:latin typeface="Cambria Math" panose="02040503050406030204" pitchFamily="18" charset="0"/>
                                    </a:rPr>
                                  </m:ctrlPr>
                                </m:mPr>
                                <m:mr>
                                  <m:e>
                                    <m:r>
                                      <m:rPr>
                                        <m:nor/>
                                      </m:rPr>
                                      <a:rPr lang="en-US" altLang="zh-TW" sz="1800" dirty="0">
                                        <a:latin typeface="arial" panose="020B0604020202020204" pitchFamily="34" charset="0"/>
                                      </a:rPr>
                                      <m:t>∆</m:t>
                                    </m:r>
                                    <m:r>
                                      <a:rPr lang="zh-TW" altLang="en-US" sz="1800" b="0" i="1">
                                        <a:latin typeface="Cambria Math" panose="02040503050406030204" pitchFamily="18" charset="0"/>
                                      </a:rPr>
                                      <m:t>𝞰</m:t>
                                    </m:r>
                                    <m:r>
                                      <a:rPr lang="en-US" altLang="zh-TW" sz="1800" b="0" i="1" baseline="-25000">
                                        <a:latin typeface="Cambria Math" panose="02040503050406030204" pitchFamily="18" charset="0"/>
                                      </a:rPr>
                                      <m:t>4</m:t>
                                    </m:r>
                                  </m:e>
                                </m:mr>
                                <m:mr>
                                  <m:e>
                                    <m:r>
                                      <m:rPr>
                                        <m:nor/>
                                      </m:rPr>
                                      <a:rPr lang="en-US" altLang="zh-TW" sz="1800" dirty="0">
                                        <a:latin typeface="arial" panose="020B0604020202020204" pitchFamily="34" charset="0"/>
                                      </a:rPr>
                                      <m:t>∆</m:t>
                                    </m:r>
                                    <m:r>
                                      <a:rPr lang="zh-TW" altLang="en-US" sz="1800" b="0" i="1">
                                        <a:latin typeface="Cambria Math" panose="02040503050406030204" pitchFamily="18" charset="0"/>
                                      </a:rPr>
                                      <m:t>𝞰</m:t>
                                    </m:r>
                                    <m:r>
                                      <a:rPr lang="en-US" altLang="zh-TW" sz="1800" b="0" i="1" baseline="-25000">
                                        <a:latin typeface="Cambria Math" panose="02040503050406030204" pitchFamily="18" charset="0"/>
                                      </a:rPr>
                                      <m:t>5</m:t>
                                    </m:r>
                                  </m:e>
                                </m:mr>
                                <m:mr>
                                  <m:e>
                                    <m:r>
                                      <m:rPr>
                                        <m:nor/>
                                      </m:rPr>
                                      <a:rPr lang="en-US" altLang="zh-TW" sz="1800" dirty="0">
                                        <a:latin typeface="arial" panose="020B0604020202020204" pitchFamily="34" charset="0"/>
                                      </a:rPr>
                                      <m:t>∆</m:t>
                                    </m:r>
                                    <m:r>
                                      <a:rPr lang="zh-TW" altLang="en-US" sz="1800" b="0" i="1">
                                        <a:latin typeface="Cambria Math" panose="02040503050406030204" pitchFamily="18" charset="0"/>
                                      </a:rPr>
                                      <m:t>𝞰</m:t>
                                    </m:r>
                                    <m:r>
                                      <a:rPr lang="en-US" altLang="zh-TW" sz="1800" b="0" i="1" baseline="-25000">
                                        <a:latin typeface="Cambria Math" panose="02040503050406030204" pitchFamily="18" charset="0"/>
                                      </a:rPr>
                                      <m:t>6</m:t>
                                    </m:r>
                                  </m:e>
                                </m:mr>
                              </m:m>
                            </m:e>
                          </m:mr>
                        </m:m>
                      </m:e>
                    </m:d>
                    <m:r>
                      <a:rPr lang="zh-TW" altLang="en-US" sz="1800" i="1">
                        <a:latin typeface="Cambria Math" panose="02040503050406030204" pitchFamily="18" charset="0"/>
                      </a:rPr>
                      <m:t> </m:t>
                    </m:r>
                  </m:oMath>
                </a14:m>
                <a:r>
                  <a:rPr lang="en-US" altLang="zh-TW" sz="1800" dirty="0"/>
                  <a:t>=</a:t>
                </a:r>
                <a:r>
                  <a:rPr lang="zh-TW" altLang="en-US" sz="1800" dirty="0"/>
                  <a:t>   </a:t>
                </a:r>
                <a:r>
                  <a:rPr lang="en-US" altLang="zh-TW" sz="1800" dirty="0"/>
                  <a:t>  </a:t>
                </a:r>
                <a:r>
                  <a:rPr lang="zh-TW" altLang="en-US" sz="1800" dirty="0"/>
                  <a:t> </a:t>
                </a:r>
                <a:r>
                  <a:rPr lang="en-US" altLang="zh-TW" sz="1800" dirty="0"/>
                  <a:t>		</a:t>
                </a:r>
                <a:endParaRPr lang="zh-TW" altLang="en-US" dirty="0"/>
              </a:p>
            </p:txBody>
          </p:sp>
        </mc:Choice>
        <mc:Fallback xmlns="">
          <p:sp>
            <p:nvSpPr>
              <p:cNvPr id="25" name="文字方塊 24">
                <a:extLst>
                  <a:ext uri="{FF2B5EF4-FFF2-40B4-BE49-F238E27FC236}">
                    <a16:creationId xmlns:a16="http://schemas.microsoft.com/office/drawing/2014/main" id="{352CDCDD-31E1-8057-872A-92D7380B6DE8}"/>
                  </a:ext>
                </a:extLst>
              </p:cNvPr>
              <p:cNvSpPr txBox="1">
                <a:spLocks noRot="1" noChangeAspect="1" noMove="1" noResize="1" noEditPoints="1" noAdjustHandles="1" noChangeArrowheads="1" noChangeShapeType="1" noTextEdit="1"/>
              </p:cNvSpPr>
              <p:nvPr/>
            </p:nvSpPr>
            <p:spPr>
              <a:xfrm>
                <a:off x="2506532" y="2790616"/>
                <a:ext cx="5169314" cy="1724511"/>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8AC1AE31-A657-2FEE-AE10-C8CD44DA4A59}"/>
                  </a:ext>
                </a:extLst>
              </p:cNvPr>
              <p:cNvSpPr txBox="1"/>
              <p:nvPr/>
            </p:nvSpPr>
            <p:spPr>
              <a:xfrm>
                <a:off x="5191308" y="2801804"/>
                <a:ext cx="1998232" cy="1597297"/>
              </a:xfrm>
              <a:prstGeom prst="rect">
                <a:avLst/>
              </a:prstGeom>
              <a:noFill/>
            </p:spPr>
            <p:txBody>
              <a:bodyPr wrap="square">
                <a:spAutoFit/>
              </a:bodyPr>
              <a:lstStyle/>
              <a:p>
                <a14:m>
                  <m:oMath xmlns:m="http://schemas.openxmlformats.org/officeDocument/2006/math">
                    <m:d>
                      <m:dPr>
                        <m:begChr m:val="["/>
                        <m:endChr m:val="]"/>
                        <m:ctrlPr>
                          <a:rPr lang="en-US" altLang="zh-TW" sz="1800" i="1" smtClean="0">
                            <a:latin typeface="Cambria Math" panose="02040503050406030204" pitchFamily="18" charset="0"/>
                          </a:rPr>
                        </m:ctrlPr>
                      </m:dPr>
                      <m:e>
                        <m:m>
                          <m:mPr>
                            <m:mcs>
                              <m:mc>
                                <m:mcPr>
                                  <m:count m:val="1"/>
                                  <m:mcJc m:val="center"/>
                                </m:mcPr>
                              </m:mc>
                            </m:mcs>
                            <m:ctrlPr>
                              <a:rPr lang="en-US" altLang="zh-TW" sz="1800" i="1">
                                <a:latin typeface="Cambria Math" panose="02040503050406030204" pitchFamily="18" charset="0"/>
                              </a:rPr>
                            </m:ctrlPr>
                          </m:mPr>
                          <m:mr>
                            <m:e>
                              <m:m>
                                <m:mPr>
                                  <m:mcs>
                                    <m:mc>
                                      <m:mcPr>
                                        <m:count m:val="3"/>
                                        <m:mcJc m:val="center"/>
                                      </m:mcPr>
                                    </m:mc>
                                  </m:mcs>
                                  <m:ctrlPr>
                                    <a:rPr lang="en-US" altLang="zh-TW" sz="1800" i="1">
                                      <a:latin typeface="Cambria Math" panose="02040503050406030204" pitchFamily="18" charset="0"/>
                                    </a:rPr>
                                  </m:ctrlPr>
                                </m:mPr>
                                <m:mr>
                                  <m:e>
                                    <m:r>
                                      <m:rPr>
                                        <m:brk m:alnAt="7"/>
                                      </m:rPr>
                                      <a:rPr lang="en-US" altLang="zh-TW" sz="1800" i="1">
                                        <a:latin typeface="Cambria Math" panose="02040503050406030204" pitchFamily="18" charset="0"/>
                                      </a:rPr>
                                      <m:t> </m:t>
                                    </m:r>
                                    <m:r>
                                      <a:rPr lang="en-US" altLang="zh-TW" sz="1800" i="1">
                                        <a:latin typeface="Cambria Math" panose="02040503050406030204" pitchFamily="18" charset="0"/>
                                      </a:rPr>
                                      <m:t>     0</m:t>
                                    </m:r>
                                  </m:e>
                                  <m:e>
                                    <m:r>
                                      <a:rPr lang="en-US" altLang="zh-TW" sz="1800" i="1">
                                        <a:latin typeface="Cambria Math" panose="02040503050406030204" pitchFamily="18" charset="0"/>
                                      </a:rPr>
                                      <m:t>−</m:t>
                                    </m:r>
                                    <m:r>
                                      <a:rPr lang="en-US" altLang="zh-TW" sz="1800" i="1">
                                        <a:latin typeface="Cambria Math" panose="02040503050406030204" pitchFamily="18" charset="0"/>
                                      </a:rPr>
                                      <m:t>𝑟</m:t>
                                    </m:r>
                                    <m:r>
                                      <a:rPr lang="en-US" altLang="zh-TW" sz="1800" i="1" baseline="-25000">
                                        <a:latin typeface="Cambria Math" panose="02040503050406030204" pitchFamily="18" charset="0"/>
                                      </a:rPr>
                                      <m:t>22</m:t>
                                    </m:r>
                                  </m:e>
                                  <m:e>
                                    <m:r>
                                      <a:rPr lang="en-US" altLang="zh-TW" sz="1800" i="1">
                                        <a:latin typeface="Cambria Math" panose="02040503050406030204" pitchFamily="18" charset="0"/>
                                      </a:rPr>
                                      <m:t>𝑟</m:t>
                                    </m:r>
                                    <m:r>
                                      <a:rPr lang="en-US" altLang="zh-TW" sz="1800" i="1" baseline="-25000">
                                        <a:latin typeface="Cambria Math" panose="02040503050406030204" pitchFamily="18" charset="0"/>
                                      </a:rPr>
                                      <m:t>33</m:t>
                                    </m:r>
                                  </m:e>
                                </m:mr>
                                <m:mr>
                                  <m:e>
                                    <m:r>
                                      <a:rPr lang="en-US" altLang="zh-TW" sz="1800" i="1">
                                        <a:latin typeface="Cambria Math" panose="02040503050406030204" pitchFamily="18" charset="0"/>
                                      </a:rPr>
                                      <m:t>      0</m:t>
                                    </m:r>
                                  </m:e>
                                  <m:e>
                                    <m:r>
                                      <a:rPr lang="en-US" altLang="zh-TW" sz="1800" i="1">
                                        <a:latin typeface="Cambria Math" panose="02040503050406030204" pitchFamily="18" charset="0"/>
                                      </a:rPr>
                                      <m:t>𝑟</m:t>
                                    </m:r>
                                    <m:r>
                                      <a:rPr lang="en-US" altLang="zh-TW" sz="1800" i="1" baseline="-25000">
                                        <a:latin typeface="Cambria Math" panose="02040503050406030204" pitchFamily="18" charset="0"/>
                                      </a:rPr>
                                      <m:t>22</m:t>
                                    </m:r>
                                  </m:e>
                                  <m:e>
                                    <m:r>
                                      <a:rPr lang="en-US" altLang="zh-TW" sz="1800" i="1">
                                        <a:latin typeface="Cambria Math" panose="02040503050406030204" pitchFamily="18" charset="0"/>
                                      </a:rPr>
                                      <m:t>𝑟</m:t>
                                    </m:r>
                                    <m:r>
                                      <a:rPr lang="en-US" altLang="zh-TW" sz="1800" i="1" baseline="-25000">
                                        <a:latin typeface="Cambria Math" panose="02040503050406030204" pitchFamily="18" charset="0"/>
                                      </a:rPr>
                                      <m:t>13</m:t>
                                    </m:r>
                                  </m:e>
                                </m:mr>
                                <m:mr>
                                  <m:e>
                                    <m:r>
                                      <a:rPr lang="en-US" altLang="zh-TW" sz="1800" i="1" smtClean="0">
                                        <a:latin typeface="Cambria Math" panose="02040503050406030204" pitchFamily="18" charset="0"/>
                                      </a:rPr>
                                      <m:t>  </m:t>
                                    </m:r>
                                    <m:r>
                                      <a:rPr lang="en-US" altLang="zh-TW" sz="1800" i="1">
                                        <a:latin typeface="Cambria Math" panose="02040503050406030204" pitchFamily="18" charset="0"/>
                                      </a:rPr>
                                      <m:t>    0</m:t>
                                    </m:r>
                                  </m:e>
                                  <m:e>
                                    <m:r>
                                      <a:rPr lang="en-US" altLang="zh-TW" sz="1800" i="1">
                                        <a:latin typeface="Cambria Math" panose="02040503050406030204" pitchFamily="18" charset="0"/>
                                      </a:rPr>
                                      <m:t>0</m:t>
                                    </m:r>
                                  </m:e>
                                  <m:e>
                                    <m:r>
                                      <a:rPr lang="en-US" altLang="zh-TW" sz="1800" i="1">
                                        <a:latin typeface="Cambria Math" panose="02040503050406030204" pitchFamily="18" charset="0"/>
                                      </a:rPr>
                                      <m:t>𝑟</m:t>
                                    </m:r>
                                    <m:r>
                                      <a:rPr lang="en-US" altLang="zh-TW" sz="1800" i="1" baseline="-25000">
                                        <a:latin typeface="Cambria Math" panose="02040503050406030204" pitchFamily="18" charset="0"/>
                                      </a:rPr>
                                      <m:t>33</m:t>
                                    </m:r>
                                  </m:e>
                                </m:mr>
                              </m:m>
                            </m:e>
                          </m:mr>
                          <m:mr>
                            <m:e>
                              <m:m>
                                <m:mPr>
                                  <m:mcs>
                                    <m:mc>
                                      <m:mcPr>
                                        <m:count m:val="3"/>
                                        <m:mcJc m:val="center"/>
                                      </m:mcPr>
                                    </m:mc>
                                  </m:mcs>
                                  <m:ctrlPr>
                                    <a:rPr lang="en-US" altLang="zh-TW" sz="1800" i="1">
                                      <a:latin typeface="Cambria Math" panose="02040503050406030204" pitchFamily="18" charset="0"/>
                                    </a:rPr>
                                  </m:ctrlPr>
                                </m:mPr>
                                <m:mr>
                                  <m:e>
                                    <m:r>
                                      <m:rPr>
                                        <m:brk m:alnAt="7"/>
                                      </m:rPr>
                                      <a:rPr lang="en-US" altLang="zh-TW" sz="1800" i="1">
                                        <a:latin typeface="Cambria Math" panose="02040503050406030204" pitchFamily="18" charset="0"/>
                                      </a:rPr>
                                      <m:t>0</m:t>
                                    </m:r>
                                  </m:e>
                                  <m:e>
                                    <m:r>
                                      <a:rPr lang="en-US" altLang="zh-TW" sz="1800" i="1">
                                        <a:latin typeface="Cambria Math" panose="02040503050406030204" pitchFamily="18" charset="0"/>
                                      </a:rPr>
                                      <m:t>𝑟</m:t>
                                    </m:r>
                                    <m:r>
                                      <a:rPr lang="en-US" altLang="zh-TW" sz="1800" i="1" baseline="-25000">
                                        <a:latin typeface="Cambria Math" panose="02040503050406030204" pitchFamily="18" charset="0"/>
                                      </a:rPr>
                                      <m:t>51</m:t>
                                    </m:r>
                                  </m:e>
                                  <m:e>
                                    <m:r>
                                      <a:rPr lang="en-US" altLang="zh-TW" sz="1800" i="1">
                                        <a:latin typeface="Cambria Math" panose="02040503050406030204" pitchFamily="18" charset="0"/>
                                      </a:rPr>
                                      <m:t>0</m:t>
                                    </m:r>
                                  </m:e>
                                </m:mr>
                                <m:mr>
                                  <m:e>
                                    <m:r>
                                      <a:rPr lang="en-US" altLang="zh-TW" sz="1800" i="1">
                                        <a:latin typeface="Cambria Math" panose="02040503050406030204" pitchFamily="18" charset="0"/>
                                      </a:rPr>
                                      <m:t>𝑟</m:t>
                                    </m:r>
                                    <m:r>
                                      <a:rPr lang="en-US" altLang="zh-TW" sz="1800" i="1" baseline="-25000">
                                        <a:latin typeface="Cambria Math" panose="02040503050406030204" pitchFamily="18" charset="0"/>
                                      </a:rPr>
                                      <m:t>51</m:t>
                                    </m:r>
                                  </m:e>
                                  <m:e>
                                    <m:r>
                                      <a:rPr lang="en-US" altLang="zh-TW" sz="1800" i="1">
                                        <a:latin typeface="Cambria Math" panose="02040503050406030204" pitchFamily="18" charset="0"/>
                                      </a:rPr>
                                      <m:t>0</m:t>
                                    </m:r>
                                  </m:e>
                                  <m:e>
                                    <m:r>
                                      <a:rPr lang="en-US" altLang="zh-TW" sz="1800" i="1">
                                        <a:latin typeface="Cambria Math" panose="02040503050406030204" pitchFamily="18" charset="0"/>
                                      </a:rPr>
                                      <m:t>0</m:t>
                                    </m:r>
                                  </m:e>
                                </m:mr>
                                <m:mr>
                                  <m:e>
                                    <m:r>
                                      <a:rPr lang="en-US" altLang="zh-TW" sz="1800" i="1">
                                        <a:latin typeface="Cambria Math" panose="02040503050406030204" pitchFamily="18" charset="0"/>
                                      </a:rPr>
                                      <m:t>−</m:t>
                                    </m:r>
                                    <m:r>
                                      <a:rPr lang="en-US" altLang="zh-TW" sz="1800" i="1">
                                        <a:latin typeface="Cambria Math" panose="02040503050406030204" pitchFamily="18" charset="0"/>
                                      </a:rPr>
                                      <m:t>𝑟</m:t>
                                    </m:r>
                                    <m:r>
                                      <a:rPr lang="en-US" altLang="zh-TW" sz="1800" i="1" baseline="-25000">
                                        <a:latin typeface="Cambria Math" panose="02040503050406030204" pitchFamily="18" charset="0"/>
                                      </a:rPr>
                                      <m:t>22</m:t>
                                    </m:r>
                                  </m:e>
                                  <m:e>
                                    <m:r>
                                      <a:rPr lang="en-US" altLang="zh-TW" sz="1800" i="1">
                                        <a:latin typeface="Cambria Math" panose="02040503050406030204" pitchFamily="18" charset="0"/>
                                      </a:rPr>
                                      <m:t>0</m:t>
                                    </m:r>
                                  </m:e>
                                  <m:e>
                                    <m:r>
                                      <a:rPr lang="en-US" altLang="zh-TW" sz="1800" i="1">
                                        <a:latin typeface="Cambria Math" panose="02040503050406030204" pitchFamily="18" charset="0"/>
                                      </a:rPr>
                                      <m:t>0</m:t>
                                    </m:r>
                                  </m:e>
                                </m:mr>
                              </m:m>
                            </m:e>
                          </m:mr>
                        </m:m>
                      </m:e>
                    </m:d>
                  </m:oMath>
                </a14:m>
                <a:r>
                  <a:rPr lang="en-US" altLang="zh-TW" sz="1800" dirty="0"/>
                  <a:t> </a:t>
                </a:r>
                <a:endParaRPr lang="zh-TW" altLang="en-US" dirty="0"/>
              </a:p>
            </p:txBody>
          </p:sp>
        </mc:Choice>
        <mc:Fallback xmlns="">
          <p:sp>
            <p:nvSpPr>
              <p:cNvPr id="26" name="文字方塊 25">
                <a:extLst>
                  <a:ext uri="{FF2B5EF4-FFF2-40B4-BE49-F238E27FC236}">
                    <a16:creationId xmlns:a16="http://schemas.microsoft.com/office/drawing/2014/main" id="{8AC1AE31-A657-2FEE-AE10-C8CD44DA4A59}"/>
                  </a:ext>
                </a:extLst>
              </p:cNvPr>
              <p:cNvSpPr txBox="1">
                <a:spLocks noRot="1" noChangeAspect="1" noMove="1" noResize="1" noEditPoints="1" noAdjustHandles="1" noChangeArrowheads="1" noChangeShapeType="1" noTextEdit="1"/>
              </p:cNvSpPr>
              <p:nvPr/>
            </p:nvSpPr>
            <p:spPr>
              <a:xfrm>
                <a:off x="5191308" y="2801804"/>
                <a:ext cx="1998232" cy="1597297"/>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267476F9-3B19-CC08-0EA4-1F215982E8C4}"/>
                  </a:ext>
                </a:extLst>
              </p:cNvPr>
              <p:cNvSpPr txBox="1"/>
              <p:nvPr/>
            </p:nvSpPr>
            <p:spPr>
              <a:xfrm>
                <a:off x="5376877" y="2860862"/>
                <a:ext cx="1627094" cy="1504066"/>
              </a:xfrm>
              <a:prstGeom prst="rect">
                <a:avLst/>
              </a:prstGeom>
              <a:noFill/>
            </p:spPr>
            <p:txBody>
              <a:bodyPr wrap="square">
                <a:spAutoFit/>
              </a:bodyPr>
              <a:lstStyle/>
              <a:p>
                <a14:m>
                  <m:oMath xmlns:m="http://schemas.openxmlformats.org/officeDocument/2006/math">
                    <m:d>
                      <m:dPr>
                        <m:begChr m:val="["/>
                        <m:endChr m:val="]"/>
                        <m:ctrlPr>
                          <a:rPr lang="en-US" altLang="zh-TW" sz="1800" i="1" smtClean="0">
                            <a:latin typeface="Cambria Math" panose="02040503050406030204" pitchFamily="18" charset="0"/>
                          </a:rPr>
                        </m:ctrlPr>
                      </m:dPr>
                      <m:e>
                        <m:m>
                          <m:mPr>
                            <m:mcs>
                              <m:mc>
                                <m:mcPr>
                                  <m:count m:val="1"/>
                                  <m:mcJc m:val="center"/>
                                </m:mcPr>
                              </m:mc>
                            </m:mcs>
                            <m:ctrlPr>
                              <a:rPr lang="en-US" altLang="zh-TW" i="1">
                                <a:latin typeface="Cambria Math" panose="02040503050406030204" pitchFamily="18" charset="0"/>
                              </a:rPr>
                            </m:ctrlPr>
                          </m:mPr>
                          <m:mr>
                            <m:e>
                              <m:m>
                                <m:mPr>
                                  <m:mcs>
                                    <m:mc>
                                      <m:mcPr>
                                        <m:count m:val="3"/>
                                        <m:mcJc m:val="center"/>
                                      </m:mcPr>
                                    </m:mc>
                                  </m:mcs>
                                  <m:ctrlPr>
                                    <a:rPr lang="en-US" altLang="zh-TW" i="1">
                                      <a:latin typeface="Cambria Math" panose="02040503050406030204" pitchFamily="18" charset="0"/>
                                    </a:rPr>
                                  </m:ctrlPr>
                                </m:mPr>
                                <m:mr>
                                  <m:e>
                                    <m:r>
                                      <m:rPr>
                                        <m:brk m:alnAt="7"/>
                                      </m:rPr>
                                      <a:rPr lang="en-US" altLang="zh-TW" i="1">
                                        <a:latin typeface="Cambria Math" panose="02040503050406030204" pitchFamily="18" charset="0"/>
                                      </a:rPr>
                                      <m:t>𝑟</m:t>
                                    </m:r>
                                    <m:r>
                                      <a:rPr lang="en-US" altLang="zh-TW" i="1" baseline="-25000">
                                        <a:latin typeface="Cambria Math" panose="02040503050406030204" pitchFamily="18" charset="0"/>
                                      </a:rPr>
                                      <m:t>11</m:t>
                                    </m:r>
                                  </m:e>
                                  <m:e>
                                    <m:r>
                                      <a:rPr lang="en-US" altLang="zh-TW" i="1">
                                        <a:latin typeface="Cambria Math" panose="02040503050406030204" pitchFamily="18" charset="0"/>
                                      </a:rPr>
                                      <m:t>𝑟</m:t>
                                    </m:r>
                                    <m:r>
                                      <a:rPr lang="en-US" altLang="zh-TW" i="1" baseline="-25000">
                                        <a:latin typeface="Cambria Math" panose="02040503050406030204" pitchFamily="18" charset="0"/>
                                      </a:rPr>
                                      <m:t>12</m:t>
                                    </m:r>
                                  </m:e>
                                  <m:e>
                                    <m:r>
                                      <a:rPr lang="en-US" altLang="zh-TW" i="1">
                                        <a:latin typeface="Cambria Math" panose="02040503050406030204" pitchFamily="18" charset="0"/>
                                      </a:rPr>
                                      <m:t>𝑟</m:t>
                                    </m:r>
                                    <m:r>
                                      <a:rPr lang="en-US" altLang="zh-TW" i="1" baseline="-25000">
                                        <a:latin typeface="Cambria Math" panose="02040503050406030204" pitchFamily="18" charset="0"/>
                                      </a:rPr>
                                      <m:t>13</m:t>
                                    </m:r>
                                  </m:e>
                                </m:mr>
                                <m:mr>
                                  <m:e>
                                    <m:r>
                                      <a:rPr lang="en-US" altLang="zh-TW" i="1">
                                        <a:latin typeface="Cambria Math" panose="02040503050406030204" pitchFamily="18" charset="0"/>
                                      </a:rPr>
                                      <m:t>𝑟</m:t>
                                    </m:r>
                                    <m:r>
                                      <a:rPr lang="en-US" altLang="zh-TW" i="1" baseline="-25000">
                                        <a:latin typeface="Cambria Math" panose="02040503050406030204" pitchFamily="18" charset="0"/>
                                      </a:rPr>
                                      <m:t>21</m:t>
                                    </m:r>
                                  </m:e>
                                  <m:e>
                                    <m:r>
                                      <a:rPr lang="en-US" altLang="zh-TW" i="1">
                                        <a:latin typeface="Cambria Math" panose="02040503050406030204" pitchFamily="18" charset="0"/>
                                      </a:rPr>
                                      <m:t>𝑟</m:t>
                                    </m:r>
                                    <m:r>
                                      <a:rPr lang="en-US" altLang="zh-TW" i="1" baseline="-25000">
                                        <a:latin typeface="Cambria Math" panose="02040503050406030204" pitchFamily="18" charset="0"/>
                                      </a:rPr>
                                      <m:t>22</m:t>
                                    </m:r>
                                  </m:e>
                                  <m:e>
                                    <m:r>
                                      <a:rPr lang="en-US" altLang="zh-TW" i="1">
                                        <a:latin typeface="Cambria Math" panose="02040503050406030204" pitchFamily="18" charset="0"/>
                                      </a:rPr>
                                      <m:t>𝑟</m:t>
                                    </m:r>
                                    <m:r>
                                      <a:rPr lang="en-US" altLang="zh-TW" i="1" baseline="-25000">
                                        <a:latin typeface="Cambria Math" panose="02040503050406030204" pitchFamily="18" charset="0"/>
                                      </a:rPr>
                                      <m:t>23</m:t>
                                    </m:r>
                                  </m:e>
                                </m:mr>
                                <m:mr>
                                  <m:e>
                                    <m:r>
                                      <a:rPr lang="en-US" altLang="zh-TW" i="1">
                                        <a:latin typeface="Cambria Math" panose="02040503050406030204" pitchFamily="18" charset="0"/>
                                      </a:rPr>
                                      <m:t>𝑟</m:t>
                                    </m:r>
                                    <m:r>
                                      <a:rPr lang="en-US" altLang="zh-TW" i="1" baseline="-25000">
                                        <a:latin typeface="Cambria Math" panose="02040503050406030204" pitchFamily="18" charset="0"/>
                                      </a:rPr>
                                      <m:t>31</m:t>
                                    </m:r>
                                  </m:e>
                                  <m:e>
                                    <m:r>
                                      <a:rPr lang="en-US" altLang="zh-TW" i="1">
                                        <a:latin typeface="Cambria Math" panose="02040503050406030204" pitchFamily="18" charset="0"/>
                                      </a:rPr>
                                      <m:t>𝑟</m:t>
                                    </m:r>
                                    <m:r>
                                      <a:rPr lang="en-US" altLang="zh-TW" i="1" baseline="-25000">
                                        <a:latin typeface="Cambria Math" panose="02040503050406030204" pitchFamily="18" charset="0"/>
                                      </a:rPr>
                                      <m:t>32</m:t>
                                    </m:r>
                                  </m:e>
                                  <m:e>
                                    <m:r>
                                      <a:rPr lang="en-US" altLang="zh-TW" i="1">
                                        <a:latin typeface="Cambria Math" panose="02040503050406030204" pitchFamily="18" charset="0"/>
                                      </a:rPr>
                                      <m:t>𝑟</m:t>
                                    </m:r>
                                    <m:r>
                                      <a:rPr lang="en-US" altLang="zh-TW" i="1" baseline="-25000">
                                        <a:latin typeface="Cambria Math" panose="02040503050406030204" pitchFamily="18" charset="0"/>
                                      </a:rPr>
                                      <m:t>33</m:t>
                                    </m:r>
                                  </m:e>
                                </m:mr>
                              </m:m>
                            </m:e>
                          </m:mr>
                          <m:mr>
                            <m:e>
                              <m:m>
                                <m:mPr>
                                  <m:mcs>
                                    <m:mc>
                                      <m:mcPr>
                                        <m:count m:val="3"/>
                                        <m:mcJc m:val="center"/>
                                      </m:mcPr>
                                    </m:mc>
                                  </m:mcs>
                                  <m:ctrlPr>
                                    <a:rPr lang="en-US" altLang="zh-TW" i="1">
                                      <a:latin typeface="Cambria Math" panose="02040503050406030204" pitchFamily="18" charset="0"/>
                                    </a:rPr>
                                  </m:ctrlPr>
                                </m:mPr>
                                <m:mr>
                                  <m:e>
                                    <m:r>
                                      <m:rPr>
                                        <m:brk m:alnAt="7"/>
                                      </m:rPr>
                                      <a:rPr lang="en-US" altLang="zh-TW" i="1">
                                        <a:latin typeface="Cambria Math" panose="02040503050406030204" pitchFamily="18" charset="0"/>
                                      </a:rPr>
                                      <m:t>𝑟</m:t>
                                    </m:r>
                                    <m:r>
                                      <a:rPr lang="en-US" altLang="zh-TW" i="1" baseline="-25000">
                                        <a:latin typeface="Cambria Math" panose="02040503050406030204" pitchFamily="18" charset="0"/>
                                      </a:rPr>
                                      <m:t>41</m:t>
                                    </m:r>
                                  </m:e>
                                  <m:e>
                                    <m:r>
                                      <a:rPr lang="en-US" altLang="zh-TW" i="1">
                                        <a:latin typeface="Cambria Math" panose="02040503050406030204" pitchFamily="18" charset="0"/>
                                      </a:rPr>
                                      <m:t>𝑟</m:t>
                                    </m:r>
                                    <m:r>
                                      <a:rPr lang="en-US" altLang="zh-TW" i="1" baseline="-25000">
                                        <a:latin typeface="Cambria Math" panose="02040503050406030204" pitchFamily="18" charset="0"/>
                                      </a:rPr>
                                      <m:t>42</m:t>
                                    </m:r>
                                  </m:e>
                                  <m:e>
                                    <m:r>
                                      <a:rPr lang="en-US" altLang="zh-TW" i="1">
                                        <a:latin typeface="Cambria Math" panose="02040503050406030204" pitchFamily="18" charset="0"/>
                                      </a:rPr>
                                      <m:t>𝑟</m:t>
                                    </m:r>
                                    <m:r>
                                      <a:rPr lang="en-US" altLang="zh-TW" i="1" baseline="-25000">
                                        <a:latin typeface="Cambria Math" panose="02040503050406030204" pitchFamily="18" charset="0"/>
                                      </a:rPr>
                                      <m:t>43</m:t>
                                    </m:r>
                                  </m:e>
                                </m:mr>
                                <m:mr>
                                  <m:e>
                                    <m:r>
                                      <a:rPr lang="en-US" altLang="zh-TW" i="1">
                                        <a:latin typeface="Cambria Math" panose="02040503050406030204" pitchFamily="18" charset="0"/>
                                      </a:rPr>
                                      <m:t>𝑟</m:t>
                                    </m:r>
                                    <m:r>
                                      <a:rPr lang="en-US" altLang="zh-TW" i="1" baseline="-25000">
                                        <a:latin typeface="Cambria Math" panose="02040503050406030204" pitchFamily="18" charset="0"/>
                                      </a:rPr>
                                      <m:t>51</m:t>
                                    </m:r>
                                  </m:e>
                                  <m:e>
                                    <m:r>
                                      <a:rPr lang="en-US" altLang="zh-TW" i="1">
                                        <a:latin typeface="Cambria Math" panose="02040503050406030204" pitchFamily="18" charset="0"/>
                                      </a:rPr>
                                      <m:t>𝑟</m:t>
                                    </m:r>
                                    <m:r>
                                      <a:rPr lang="en-US" altLang="zh-TW" i="1" baseline="-25000">
                                        <a:latin typeface="Cambria Math" panose="02040503050406030204" pitchFamily="18" charset="0"/>
                                      </a:rPr>
                                      <m:t>52</m:t>
                                    </m:r>
                                  </m:e>
                                  <m:e>
                                    <m:r>
                                      <a:rPr lang="en-US" altLang="zh-TW" i="1">
                                        <a:latin typeface="Cambria Math" panose="02040503050406030204" pitchFamily="18" charset="0"/>
                                      </a:rPr>
                                      <m:t>𝑟</m:t>
                                    </m:r>
                                    <m:r>
                                      <a:rPr lang="en-US" altLang="zh-TW" i="1" baseline="-25000">
                                        <a:latin typeface="Cambria Math" panose="02040503050406030204" pitchFamily="18" charset="0"/>
                                      </a:rPr>
                                      <m:t>53</m:t>
                                    </m:r>
                                  </m:e>
                                </m:mr>
                                <m:mr>
                                  <m:e>
                                    <m:r>
                                      <a:rPr lang="en-US" altLang="zh-TW" i="1">
                                        <a:latin typeface="Cambria Math" panose="02040503050406030204" pitchFamily="18" charset="0"/>
                                      </a:rPr>
                                      <m:t>𝑟</m:t>
                                    </m:r>
                                    <m:r>
                                      <a:rPr lang="en-US" altLang="zh-TW" i="1" baseline="-25000">
                                        <a:latin typeface="Cambria Math" panose="02040503050406030204" pitchFamily="18" charset="0"/>
                                      </a:rPr>
                                      <m:t>61</m:t>
                                    </m:r>
                                  </m:e>
                                  <m:e>
                                    <m:r>
                                      <a:rPr lang="en-US" altLang="zh-TW" i="1">
                                        <a:latin typeface="Cambria Math" panose="02040503050406030204" pitchFamily="18" charset="0"/>
                                      </a:rPr>
                                      <m:t>𝑟</m:t>
                                    </m:r>
                                    <m:r>
                                      <a:rPr lang="en-US" altLang="zh-TW" i="1" baseline="-25000">
                                        <a:latin typeface="Cambria Math" panose="02040503050406030204" pitchFamily="18" charset="0"/>
                                      </a:rPr>
                                      <m:t>62</m:t>
                                    </m:r>
                                  </m:e>
                                  <m:e>
                                    <m:r>
                                      <a:rPr lang="en-US" altLang="zh-TW" i="1">
                                        <a:latin typeface="Cambria Math" panose="02040503050406030204" pitchFamily="18" charset="0"/>
                                      </a:rPr>
                                      <m:t>𝑟</m:t>
                                    </m:r>
                                    <m:r>
                                      <a:rPr lang="en-US" altLang="zh-TW" i="1" baseline="-25000">
                                        <a:latin typeface="Cambria Math" panose="02040503050406030204" pitchFamily="18" charset="0"/>
                                      </a:rPr>
                                      <m:t>63</m:t>
                                    </m:r>
                                  </m:e>
                                </m:mr>
                              </m:m>
                            </m:e>
                          </m:mr>
                        </m:m>
                      </m:e>
                    </m:d>
                  </m:oMath>
                </a14:m>
                <a:r>
                  <a:rPr lang="en-US" altLang="zh-TW" sz="1800" dirty="0"/>
                  <a:t> </a:t>
                </a:r>
                <a:endParaRPr lang="zh-TW" altLang="en-US" dirty="0"/>
              </a:p>
            </p:txBody>
          </p:sp>
        </mc:Choice>
        <mc:Fallback xmlns="">
          <p:sp>
            <p:nvSpPr>
              <p:cNvPr id="27" name="文字方塊 26">
                <a:extLst>
                  <a:ext uri="{FF2B5EF4-FFF2-40B4-BE49-F238E27FC236}">
                    <a16:creationId xmlns:a16="http://schemas.microsoft.com/office/drawing/2014/main" id="{267476F9-3B19-CC08-0EA4-1F215982E8C4}"/>
                  </a:ext>
                </a:extLst>
              </p:cNvPr>
              <p:cNvSpPr txBox="1">
                <a:spLocks noRot="1" noChangeAspect="1" noMove="1" noResize="1" noEditPoints="1" noAdjustHandles="1" noChangeArrowheads="1" noChangeShapeType="1" noTextEdit="1"/>
              </p:cNvSpPr>
              <p:nvPr/>
            </p:nvSpPr>
            <p:spPr>
              <a:xfrm>
                <a:off x="5376877" y="2860862"/>
                <a:ext cx="1627094" cy="1504066"/>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A4DE866D-B43E-3CB9-6F56-681F90859E8A}"/>
                  </a:ext>
                </a:extLst>
              </p:cNvPr>
              <p:cNvSpPr txBox="1"/>
              <p:nvPr/>
            </p:nvSpPr>
            <p:spPr>
              <a:xfrm>
                <a:off x="7033213" y="3212991"/>
                <a:ext cx="551329" cy="82490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1800" i="1" smtClean="0">
                              <a:latin typeface="Cambria Math" panose="02040503050406030204" pitchFamily="18" charset="0"/>
                            </a:rPr>
                          </m:ctrlPr>
                        </m:dPr>
                        <m:e>
                          <m:m>
                            <m:mPr>
                              <m:mcs>
                                <m:mc>
                                  <m:mcPr>
                                    <m:count m:val="1"/>
                                    <m:mcJc m:val="center"/>
                                  </m:mcPr>
                                </m:mc>
                              </m:mcs>
                              <m:ctrlPr>
                                <a:rPr lang="en-US" altLang="zh-TW" sz="1800" i="1">
                                  <a:latin typeface="Cambria Math" panose="02040503050406030204" pitchFamily="18" charset="0"/>
                                </a:rPr>
                              </m:ctrlPr>
                            </m:mPr>
                            <m:mr>
                              <m:e>
                                <m:r>
                                  <m:rPr>
                                    <m:brk m:alnAt="7"/>
                                  </m:rPr>
                                  <a:rPr lang="en-US" altLang="zh-TW" sz="1800" i="1">
                                    <a:latin typeface="Cambria Math" panose="02040503050406030204" pitchFamily="18" charset="0"/>
                                  </a:rPr>
                                  <m:t>0</m:t>
                                </m:r>
                              </m:e>
                            </m:mr>
                            <m:mr>
                              <m:e>
                                <m:r>
                                  <a:rPr lang="en-US" altLang="zh-TW" sz="1800" i="1" smtClean="0">
                                    <a:latin typeface="Cambria Math" panose="02040503050406030204" pitchFamily="18" charset="0"/>
                                  </a:rPr>
                                  <m:t>0</m:t>
                                </m:r>
                              </m:e>
                            </m:mr>
                            <m:mr>
                              <m:e>
                                <m:r>
                                  <a:rPr lang="en-US" altLang="zh-TW" i="1">
                                    <a:latin typeface="Cambria Math" panose="02040503050406030204" pitchFamily="18" charset="0"/>
                                  </a:rPr>
                                  <m:t>𝐸</m:t>
                                </m:r>
                                <m:r>
                                  <a:rPr lang="en-US" altLang="zh-TW" i="1" baseline="-25000">
                                    <a:latin typeface="Cambria Math" panose="02040503050406030204" pitchFamily="18" charset="0"/>
                                  </a:rPr>
                                  <m:t>𝑧</m:t>
                                </m:r>
                              </m:e>
                            </m:mr>
                          </m:m>
                        </m:e>
                      </m:d>
                    </m:oMath>
                  </m:oMathPara>
                </a14:m>
                <a:endParaRPr lang="zh-TW" altLang="en-US" dirty="0"/>
              </a:p>
            </p:txBody>
          </p:sp>
        </mc:Choice>
        <mc:Fallback xmlns="">
          <p:sp>
            <p:nvSpPr>
              <p:cNvPr id="28" name="文字方塊 27">
                <a:extLst>
                  <a:ext uri="{FF2B5EF4-FFF2-40B4-BE49-F238E27FC236}">
                    <a16:creationId xmlns:a16="http://schemas.microsoft.com/office/drawing/2014/main" id="{A4DE866D-B43E-3CB9-6F56-681F90859E8A}"/>
                  </a:ext>
                </a:extLst>
              </p:cNvPr>
              <p:cNvSpPr txBox="1">
                <a:spLocks noRot="1" noChangeAspect="1" noMove="1" noResize="1" noEditPoints="1" noAdjustHandles="1" noChangeArrowheads="1" noChangeShapeType="1" noTextEdit="1"/>
              </p:cNvSpPr>
              <p:nvPr/>
            </p:nvSpPr>
            <p:spPr>
              <a:xfrm>
                <a:off x="7033213" y="3212991"/>
                <a:ext cx="551329" cy="824906"/>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623C3515-4C5C-85A4-C1A9-4514E49A7020}"/>
                  </a:ext>
                </a:extLst>
              </p:cNvPr>
              <p:cNvSpPr txBox="1"/>
              <p:nvPr/>
            </p:nvSpPr>
            <p:spPr>
              <a:xfrm>
                <a:off x="7028703" y="3210672"/>
                <a:ext cx="551329" cy="8224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1800" i="1" smtClean="0">
                              <a:latin typeface="Cambria Math" panose="02040503050406030204" pitchFamily="18" charset="0"/>
                            </a:rPr>
                          </m:ctrlPr>
                        </m:dPr>
                        <m:e>
                          <m:m>
                            <m:mPr>
                              <m:mcs>
                                <m:mc>
                                  <m:mcPr>
                                    <m:count m:val="1"/>
                                    <m:mcJc m:val="center"/>
                                  </m:mcPr>
                                </m:mc>
                              </m:mcs>
                              <m:ctrlPr>
                                <a:rPr lang="en-US" altLang="zh-TW" sz="1800" i="1">
                                  <a:latin typeface="Cambria Math" panose="02040503050406030204" pitchFamily="18" charset="0"/>
                                </a:rPr>
                              </m:ctrlPr>
                            </m:mPr>
                            <m:mr>
                              <m:e>
                                <m:r>
                                  <m:rPr>
                                    <m:brk m:alnAt="7"/>
                                  </m:rPr>
                                  <a:rPr lang="en-US" altLang="zh-TW" sz="1800" i="1">
                                    <a:latin typeface="Cambria Math" panose="02040503050406030204" pitchFamily="18" charset="0"/>
                                  </a:rPr>
                                  <m:t>𝐸</m:t>
                                </m:r>
                                <m:r>
                                  <a:rPr lang="en-US" altLang="zh-TW" sz="1800" i="1" baseline="-25000">
                                    <a:latin typeface="Cambria Math" panose="02040503050406030204" pitchFamily="18" charset="0"/>
                                  </a:rPr>
                                  <m:t>1</m:t>
                                </m:r>
                              </m:e>
                            </m:mr>
                            <m:mr>
                              <m:e>
                                <m:r>
                                  <a:rPr lang="en-US" altLang="zh-TW" sz="1800" i="1">
                                    <a:latin typeface="Cambria Math" panose="02040503050406030204" pitchFamily="18" charset="0"/>
                                  </a:rPr>
                                  <m:t>𝐸</m:t>
                                </m:r>
                                <m:r>
                                  <a:rPr lang="en-US" altLang="zh-TW" sz="1800" i="1" baseline="-25000">
                                    <a:latin typeface="Cambria Math" panose="02040503050406030204" pitchFamily="18" charset="0"/>
                                  </a:rPr>
                                  <m:t>2</m:t>
                                </m:r>
                              </m:e>
                            </m:mr>
                            <m:mr>
                              <m:e>
                                <m:r>
                                  <a:rPr lang="en-US" altLang="zh-TW" sz="1800" i="1">
                                    <a:latin typeface="Cambria Math" panose="02040503050406030204" pitchFamily="18" charset="0"/>
                                  </a:rPr>
                                  <m:t>𝐸</m:t>
                                </m:r>
                                <m:r>
                                  <a:rPr lang="en-US" altLang="zh-TW" sz="1800" i="1" baseline="-25000">
                                    <a:latin typeface="Cambria Math" panose="02040503050406030204" pitchFamily="18" charset="0"/>
                                  </a:rPr>
                                  <m:t>3</m:t>
                                </m:r>
                              </m:e>
                            </m:mr>
                          </m:m>
                        </m:e>
                      </m:d>
                    </m:oMath>
                  </m:oMathPara>
                </a14:m>
                <a:endParaRPr lang="zh-TW" altLang="en-US" dirty="0"/>
              </a:p>
            </p:txBody>
          </p:sp>
        </mc:Choice>
        <mc:Fallback xmlns="">
          <p:sp>
            <p:nvSpPr>
              <p:cNvPr id="29" name="文字方塊 28">
                <a:extLst>
                  <a:ext uri="{FF2B5EF4-FFF2-40B4-BE49-F238E27FC236}">
                    <a16:creationId xmlns:a16="http://schemas.microsoft.com/office/drawing/2014/main" id="{623C3515-4C5C-85A4-C1A9-4514E49A7020}"/>
                  </a:ext>
                </a:extLst>
              </p:cNvPr>
              <p:cNvSpPr txBox="1">
                <a:spLocks noRot="1" noChangeAspect="1" noMove="1" noResize="1" noEditPoints="1" noAdjustHandles="1" noChangeArrowheads="1" noChangeShapeType="1" noTextEdit="1"/>
              </p:cNvSpPr>
              <p:nvPr/>
            </p:nvSpPr>
            <p:spPr>
              <a:xfrm>
                <a:off x="7028703" y="3210672"/>
                <a:ext cx="551329" cy="822469"/>
              </a:xfrm>
              <a:prstGeom prst="rect">
                <a:avLst/>
              </a:prstGeom>
              <a:blipFill>
                <a:blip r:embed="rId9"/>
                <a:stretch>
                  <a:fillRect/>
                </a:stretch>
              </a:blipFill>
            </p:spPr>
            <p:txBody>
              <a:bodyPr/>
              <a:lstStyle/>
              <a:p>
                <a:r>
                  <a:rPr lang="zh-TW" altLang="en-US">
                    <a:noFill/>
                  </a:rPr>
                  <a:t> </a:t>
                </a:r>
              </a:p>
            </p:txBody>
          </p:sp>
        </mc:Fallback>
      </mc:AlternateContent>
      <p:sp>
        <p:nvSpPr>
          <p:cNvPr id="30" name="文字方塊 29">
            <a:extLst>
              <a:ext uri="{FF2B5EF4-FFF2-40B4-BE49-F238E27FC236}">
                <a16:creationId xmlns:a16="http://schemas.microsoft.com/office/drawing/2014/main" id="{BF019724-3EDD-66C4-6EDF-E352EA03013D}"/>
              </a:ext>
            </a:extLst>
          </p:cNvPr>
          <p:cNvSpPr txBox="1"/>
          <p:nvPr/>
        </p:nvSpPr>
        <p:spPr>
          <a:xfrm>
            <a:off x="6751010" y="4378080"/>
            <a:ext cx="1497526" cy="369332"/>
          </a:xfrm>
          <a:prstGeom prst="rect">
            <a:avLst/>
          </a:prstGeom>
          <a:noFill/>
        </p:spPr>
        <p:txBody>
          <a:bodyPr wrap="none" rtlCol="0">
            <a:spAutoFit/>
          </a:bodyPr>
          <a:lstStyle/>
          <a:p>
            <a:r>
              <a:rPr lang="en-US" altLang="zh-TW" dirty="0"/>
              <a:t>z</a:t>
            </a:r>
            <a:r>
              <a:rPr lang="zh-TW" altLang="en-US" dirty="0"/>
              <a:t> </a:t>
            </a:r>
            <a:r>
              <a:rPr lang="en-US" altLang="zh-TW" dirty="0"/>
              <a:t>electric field</a:t>
            </a:r>
            <a:endParaRPr lang="zh-TW" altLang="en-US" dirty="0"/>
          </a:p>
        </p:txBody>
      </p:sp>
      <p:cxnSp>
        <p:nvCxnSpPr>
          <p:cNvPr id="31" name="直線單箭頭接點 30">
            <a:extLst>
              <a:ext uri="{FF2B5EF4-FFF2-40B4-BE49-F238E27FC236}">
                <a16:creationId xmlns:a16="http://schemas.microsoft.com/office/drawing/2014/main" id="{F2C027ED-DDD7-5F3F-45B2-8E8DDA311A72}"/>
              </a:ext>
            </a:extLst>
          </p:cNvPr>
          <p:cNvCxnSpPr>
            <a:cxnSpLocks/>
          </p:cNvCxnSpPr>
          <p:nvPr/>
        </p:nvCxnSpPr>
        <p:spPr>
          <a:xfrm>
            <a:off x="2196298" y="2279363"/>
            <a:ext cx="888666" cy="1149637"/>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文字方塊 31">
                <a:extLst>
                  <a:ext uri="{FF2B5EF4-FFF2-40B4-BE49-F238E27FC236}">
                    <a16:creationId xmlns:a16="http://schemas.microsoft.com/office/drawing/2014/main" id="{43A4000E-E27A-564A-6721-5D4D3B1B6EC3}"/>
                  </a:ext>
                </a:extLst>
              </p:cNvPr>
              <p:cNvSpPr txBox="1"/>
              <p:nvPr/>
            </p:nvSpPr>
            <p:spPr>
              <a:xfrm>
                <a:off x="245913" y="2827239"/>
                <a:ext cx="2105502" cy="1469057"/>
              </a:xfrm>
              <a:prstGeom prst="rect">
                <a:avLst/>
              </a:prstGeom>
              <a:noFill/>
            </p:spPr>
            <p:txBody>
              <a:bodyPr wrap="square">
                <a:spAutoFit/>
              </a:bodyPr>
              <a:lstStyle/>
              <a:p>
                <a14:m>
                  <m:oMath xmlns:m="http://schemas.openxmlformats.org/officeDocument/2006/math">
                    <m:r>
                      <a:rPr lang="zh-TW" altLang="en-US" i="1">
                        <a:latin typeface="Cambria Math" panose="02040503050406030204" pitchFamily="18" charset="0"/>
                      </a:rPr>
                      <m:t>𝞰</m:t>
                    </m:r>
                  </m:oMath>
                </a14:m>
                <a:r>
                  <a:rPr lang="en-US" altLang="zh-TW" sz="1800" baseline="-25000" dirty="0" err="1"/>
                  <a:t>ij</a:t>
                </a:r>
                <a:r>
                  <a:rPr lang="en-US" altLang="zh-TW" sz="1800" dirty="0"/>
                  <a:t>(0) =</a:t>
                </a:r>
                <a14:m>
                  <m:oMath xmlns:m="http://schemas.openxmlformats.org/officeDocument/2006/math">
                    <m:d>
                      <m:dPr>
                        <m:begChr m:val="⌈"/>
                        <m:endChr m:val="⌉"/>
                        <m:ctrlPr>
                          <a:rPr lang="en-US" altLang="zh-TW" sz="1800" i="1" smtClean="0">
                            <a:latin typeface="Cambria Math" panose="02040503050406030204" pitchFamily="18" charset="0"/>
                          </a:rPr>
                        </m:ctrlPr>
                      </m:dPr>
                      <m:e>
                        <m:m>
                          <m:mPr>
                            <m:mcs>
                              <m:mc>
                                <m:mcPr>
                                  <m:count m:val="3"/>
                                  <m:mcJc m:val="center"/>
                                </m:mcPr>
                              </m:mc>
                            </m:mcs>
                            <m:ctrlPr>
                              <a:rPr lang="en-US" altLang="zh-TW" sz="1800" i="1" smtClean="0">
                                <a:latin typeface="Cambria Math" panose="02040503050406030204" pitchFamily="18" charset="0"/>
                              </a:rPr>
                            </m:ctrlPr>
                          </m:mPr>
                          <m:mr>
                            <m:e>
                              <m:f>
                                <m:fPr>
                                  <m:ctrlPr>
                                    <a:rPr lang="en-US" altLang="zh-TW" sz="1800" i="1" smtClean="0">
                                      <a:latin typeface="Cambria Math" panose="02040503050406030204" pitchFamily="18" charset="0"/>
                                    </a:rPr>
                                  </m:ctrlPr>
                                </m:fPr>
                                <m:num>
                                  <m:r>
                                    <a:rPr lang="en-US" altLang="zh-TW" sz="1800" b="0" i="1" smtClean="0">
                                      <a:latin typeface="Cambria Math" panose="02040503050406030204" pitchFamily="18" charset="0"/>
                                    </a:rPr>
                                    <m:t>1</m:t>
                                  </m:r>
                                </m:num>
                                <m:den>
                                  <m:sSubSup>
                                    <m:sSubSupPr>
                                      <m:ctrlPr>
                                        <a:rPr lang="en-US" altLang="zh-TW" sz="1800" i="1" smtClean="0">
                                          <a:latin typeface="Cambria Math" panose="02040503050406030204" pitchFamily="18" charset="0"/>
                                        </a:rPr>
                                      </m:ctrlPr>
                                    </m:sSubSupPr>
                                    <m:e>
                                      <m:r>
                                        <a:rPr lang="en-US" altLang="zh-TW" sz="1800" b="0" i="1" smtClean="0">
                                          <a:latin typeface="Cambria Math" panose="02040503050406030204" pitchFamily="18" charset="0"/>
                                        </a:rPr>
                                        <m:t>𝑛</m:t>
                                      </m:r>
                                    </m:e>
                                    <m:sub>
                                      <m:r>
                                        <a:rPr lang="en-US" altLang="zh-TW" sz="1800" b="0" i="1" smtClean="0">
                                          <a:latin typeface="Cambria Math" panose="02040503050406030204" pitchFamily="18" charset="0"/>
                                        </a:rPr>
                                        <m:t>𝑜</m:t>
                                      </m:r>
                                    </m:sub>
                                    <m:sup>
                                      <m:r>
                                        <a:rPr lang="en-US" altLang="zh-TW" sz="1800" b="0" i="1" smtClean="0">
                                          <a:latin typeface="Cambria Math" panose="02040503050406030204" pitchFamily="18" charset="0"/>
                                        </a:rPr>
                                        <m:t>2</m:t>
                                      </m:r>
                                    </m:sup>
                                  </m:sSubSup>
                                </m:den>
                              </m:f>
                            </m:e>
                            <m:e>
                              <m:r>
                                <a:rPr lang="en-US" altLang="zh-TW" sz="1800" b="0" i="1" smtClean="0">
                                  <a:latin typeface="Cambria Math" panose="02040503050406030204" pitchFamily="18" charset="0"/>
                                </a:rPr>
                                <m:t>0</m:t>
                              </m:r>
                            </m:e>
                            <m:e>
                              <m:r>
                                <a:rPr lang="en-US" altLang="zh-TW" sz="1800" b="0" i="1" smtClean="0">
                                  <a:latin typeface="Cambria Math" panose="02040503050406030204" pitchFamily="18" charset="0"/>
                                </a:rPr>
                                <m:t>0</m:t>
                              </m:r>
                            </m:e>
                          </m:mr>
                          <m:mr>
                            <m:e>
                              <m:r>
                                <a:rPr lang="en-US" altLang="zh-TW" sz="1800" b="0" i="1" smtClean="0">
                                  <a:latin typeface="Cambria Math" panose="02040503050406030204" pitchFamily="18" charset="0"/>
                                </a:rPr>
                                <m:t>0</m:t>
                              </m:r>
                            </m:e>
                            <m:e>
                              <m:f>
                                <m:fPr>
                                  <m:ctrlPr>
                                    <a:rPr lang="en-US" altLang="zh-TW" sz="1800" i="1">
                                      <a:latin typeface="Cambria Math" panose="02040503050406030204" pitchFamily="18" charset="0"/>
                                    </a:rPr>
                                  </m:ctrlPr>
                                </m:fPr>
                                <m:num>
                                  <m:r>
                                    <a:rPr lang="en-US" altLang="zh-TW" sz="1800" i="1">
                                      <a:latin typeface="Cambria Math" panose="02040503050406030204" pitchFamily="18" charset="0"/>
                                    </a:rPr>
                                    <m:t>1</m:t>
                                  </m:r>
                                </m:num>
                                <m:den>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𝑛</m:t>
                                      </m:r>
                                    </m:e>
                                    <m:sub>
                                      <m:r>
                                        <a:rPr lang="en-US" altLang="zh-TW" sz="1800" i="1">
                                          <a:latin typeface="Cambria Math" panose="02040503050406030204" pitchFamily="18" charset="0"/>
                                        </a:rPr>
                                        <m:t>𝑜</m:t>
                                      </m:r>
                                    </m:sub>
                                    <m:sup>
                                      <m:r>
                                        <a:rPr lang="en-US" altLang="zh-TW" sz="1800" i="1">
                                          <a:latin typeface="Cambria Math" panose="02040503050406030204" pitchFamily="18" charset="0"/>
                                        </a:rPr>
                                        <m:t>2</m:t>
                                      </m:r>
                                    </m:sup>
                                  </m:sSubSup>
                                </m:den>
                              </m:f>
                            </m:e>
                            <m:e>
                              <m:r>
                                <a:rPr lang="en-US" altLang="zh-TW" sz="1800" b="0" i="1" smtClean="0">
                                  <a:latin typeface="Cambria Math" panose="02040503050406030204" pitchFamily="18" charset="0"/>
                                </a:rPr>
                                <m:t>0</m:t>
                              </m:r>
                            </m:e>
                          </m:mr>
                          <m:mr>
                            <m:e>
                              <m:r>
                                <a:rPr lang="en-US" altLang="zh-TW" sz="1800" b="0" i="1" smtClean="0">
                                  <a:latin typeface="Cambria Math" panose="02040503050406030204" pitchFamily="18" charset="0"/>
                                </a:rPr>
                                <m:t>0</m:t>
                              </m:r>
                            </m:e>
                            <m:e>
                              <m:r>
                                <a:rPr lang="en-US" altLang="zh-TW" sz="1800" b="0" i="1" smtClean="0">
                                  <a:latin typeface="Cambria Math" panose="02040503050406030204" pitchFamily="18" charset="0"/>
                                </a:rPr>
                                <m:t>0</m:t>
                              </m:r>
                            </m:e>
                            <m:e>
                              <m:f>
                                <m:fPr>
                                  <m:ctrlPr>
                                    <a:rPr lang="en-US" altLang="zh-TW" sz="1800" i="1">
                                      <a:latin typeface="Cambria Math" panose="02040503050406030204" pitchFamily="18" charset="0"/>
                                    </a:rPr>
                                  </m:ctrlPr>
                                </m:fPr>
                                <m:num>
                                  <m:r>
                                    <a:rPr lang="en-US" altLang="zh-TW" sz="1800" i="1">
                                      <a:latin typeface="Cambria Math" panose="02040503050406030204" pitchFamily="18" charset="0"/>
                                    </a:rPr>
                                    <m:t>1</m:t>
                                  </m:r>
                                </m:num>
                                <m:den>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𝑛</m:t>
                                      </m:r>
                                    </m:e>
                                    <m:sub>
                                      <m:r>
                                        <a:rPr lang="en-US" altLang="zh-TW" sz="1800" b="0" i="1" smtClean="0">
                                          <a:latin typeface="Cambria Math" panose="02040503050406030204" pitchFamily="18" charset="0"/>
                                        </a:rPr>
                                        <m:t>𝑒</m:t>
                                      </m:r>
                                    </m:sub>
                                    <m:sup>
                                      <m:r>
                                        <a:rPr lang="en-US" altLang="zh-TW" sz="1800" i="1">
                                          <a:latin typeface="Cambria Math" panose="02040503050406030204" pitchFamily="18" charset="0"/>
                                        </a:rPr>
                                        <m:t>2</m:t>
                                      </m:r>
                                    </m:sup>
                                  </m:sSubSup>
                                </m:den>
                              </m:f>
                            </m:e>
                          </m:mr>
                        </m:m>
                      </m:e>
                    </m:d>
                  </m:oMath>
                </a14:m>
                <a:endParaRPr lang="zh-TW" altLang="en-US" dirty="0"/>
              </a:p>
            </p:txBody>
          </p:sp>
        </mc:Choice>
        <mc:Fallback xmlns="">
          <p:sp>
            <p:nvSpPr>
              <p:cNvPr id="32" name="文字方塊 31">
                <a:extLst>
                  <a:ext uri="{FF2B5EF4-FFF2-40B4-BE49-F238E27FC236}">
                    <a16:creationId xmlns:a16="http://schemas.microsoft.com/office/drawing/2014/main" id="{43A4000E-E27A-564A-6721-5D4D3B1B6EC3}"/>
                  </a:ext>
                </a:extLst>
              </p:cNvPr>
              <p:cNvSpPr txBox="1">
                <a:spLocks noRot="1" noChangeAspect="1" noMove="1" noResize="1" noEditPoints="1" noAdjustHandles="1" noChangeArrowheads="1" noChangeShapeType="1" noTextEdit="1"/>
              </p:cNvSpPr>
              <p:nvPr/>
            </p:nvSpPr>
            <p:spPr>
              <a:xfrm>
                <a:off x="245913" y="2827239"/>
                <a:ext cx="2105502" cy="1469057"/>
              </a:xfrm>
              <a:prstGeom prst="rect">
                <a:avLst/>
              </a:prstGeom>
              <a:blipFill>
                <a:blip r:embed="rId10"/>
                <a:stretch>
                  <a:fillRect/>
                </a:stretch>
              </a:blipFill>
            </p:spPr>
            <p:txBody>
              <a:bodyPr/>
              <a:lstStyle/>
              <a:p>
                <a:r>
                  <a:rPr lang="zh-TW" altLang="en-US">
                    <a:noFill/>
                  </a:rPr>
                  <a:t> </a:t>
                </a:r>
              </a:p>
            </p:txBody>
          </p:sp>
        </mc:Fallback>
      </mc:AlternateContent>
      <p:cxnSp>
        <p:nvCxnSpPr>
          <p:cNvPr id="33" name="直線單箭頭接點 32">
            <a:extLst>
              <a:ext uri="{FF2B5EF4-FFF2-40B4-BE49-F238E27FC236}">
                <a16:creationId xmlns:a16="http://schemas.microsoft.com/office/drawing/2014/main" id="{31529986-9B9B-BE1A-CA26-CC4EE347C7F9}"/>
              </a:ext>
            </a:extLst>
          </p:cNvPr>
          <p:cNvCxnSpPr>
            <a:cxnSpLocks/>
          </p:cNvCxnSpPr>
          <p:nvPr/>
        </p:nvCxnSpPr>
        <p:spPr>
          <a:xfrm flipH="1">
            <a:off x="529709" y="1992389"/>
            <a:ext cx="880101" cy="1404856"/>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471259E8-171A-46C2-6065-7B809342FE28}"/>
                  </a:ext>
                </a:extLst>
              </p:cNvPr>
              <p:cNvSpPr txBox="1"/>
              <p:nvPr/>
            </p:nvSpPr>
            <p:spPr>
              <a:xfrm>
                <a:off x="557999" y="4600854"/>
                <a:ext cx="4633309" cy="1469057"/>
              </a:xfrm>
              <a:prstGeom prst="rect">
                <a:avLst/>
              </a:prstGeom>
              <a:noFill/>
            </p:spPr>
            <p:txBody>
              <a:bodyPr wrap="square">
                <a:spAutoFit/>
              </a:bodyPr>
              <a:lstStyle/>
              <a:p>
                <a14:m>
                  <m:oMath xmlns:m="http://schemas.openxmlformats.org/officeDocument/2006/math">
                    <m:r>
                      <a:rPr lang="zh-TW" altLang="en-US" i="1" smtClean="0">
                        <a:latin typeface="Cambria Math" panose="02040503050406030204" pitchFamily="18" charset="0"/>
                      </a:rPr>
                      <m:t>𝞰</m:t>
                    </m:r>
                  </m:oMath>
                </a14:m>
                <a:r>
                  <a:rPr lang="en-US" altLang="zh-TW" baseline="-25000" dirty="0" err="1"/>
                  <a:t>ij</a:t>
                </a:r>
                <a:r>
                  <a:rPr lang="en-US" altLang="zh-TW" sz="1800" dirty="0"/>
                  <a:t>(</a:t>
                </a:r>
                <a14:m>
                  <m:oMath xmlns:m="http://schemas.openxmlformats.org/officeDocument/2006/math">
                    <m:r>
                      <a:rPr lang="en-US" altLang="zh-TW" i="1">
                        <a:latin typeface="Cambria Math" panose="02040503050406030204" pitchFamily="18" charset="0"/>
                      </a:rPr>
                      <m:t>𝐸</m:t>
                    </m:r>
                    <m:r>
                      <a:rPr lang="en-US" altLang="zh-TW" b="0" i="1" baseline="-25000" smtClean="0">
                        <a:latin typeface="Cambria Math" panose="02040503050406030204" pitchFamily="18" charset="0"/>
                      </a:rPr>
                      <m:t>𝑧</m:t>
                    </m:r>
                  </m:oMath>
                </a14:m>
                <a:r>
                  <a:rPr lang="en-US" altLang="zh-TW" sz="1800" dirty="0"/>
                  <a:t>)</a:t>
                </a:r>
                <a:r>
                  <a:rPr lang="zh-TW" altLang="en-US" sz="1800" dirty="0"/>
                  <a:t> </a:t>
                </a:r>
                <a:r>
                  <a:rPr lang="en-US" altLang="zh-TW" sz="1800" dirty="0"/>
                  <a:t>=</a:t>
                </a:r>
                <a:r>
                  <a:rPr lang="zh-TW" altLang="en-US" sz="1800" dirty="0"/>
                  <a:t> </a:t>
                </a:r>
                <a14:m>
                  <m:oMath xmlns:m="http://schemas.openxmlformats.org/officeDocument/2006/math">
                    <m:d>
                      <m:dPr>
                        <m:begChr m:val="["/>
                        <m:endChr m:val="]"/>
                        <m:ctrlPr>
                          <a:rPr lang="en-US" altLang="zh-TW" sz="1800" i="1">
                            <a:latin typeface="Cambria Math" panose="02040503050406030204" pitchFamily="18" charset="0"/>
                          </a:rPr>
                        </m:ctrlPr>
                      </m:dPr>
                      <m:e>
                        <m:m>
                          <m:mPr>
                            <m:mcs>
                              <m:mc>
                                <m:mcPr>
                                  <m:count m:val="3"/>
                                  <m:mcJc m:val="center"/>
                                </m:mcPr>
                              </m:mc>
                            </m:mcs>
                            <m:ctrlPr>
                              <a:rPr lang="en-US" altLang="zh-TW" sz="1800" i="1">
                                <a:latin typeface="Cambria Math" panose="02040503050406030204" pitchFamily="18" charset="0"/>
                              </a:rPr>
                            </m:ctrlPr>
                          </m:mPr>
                          <m:mr>
                            <m:e>
                              <m:f>
                                <m:fPr>
                                  <m:ctrlPr>
                                    <a:rPr lang="en-US" altLang="zh-TW" sz="1800" i="1">
                                      <a:latin typeface="Cambria Math" panose="02040503050406030204" pitchFamily="18" charset="0"/>
                                    </a:rPr>
                                  </m:ctrlPr>
                                </m:fPr>
                                <m:num>
                                  <m:r>
                                    <a:rPr lang="en-US" altLang="zh-TW" sz="1800" i="1">
                                      <a:latin typeface="Cambria Math" panose="02040503050406030204" pitchFamily="18" charset="0"/>
                                    </a:rPr>
                                    <m:t>1</m:t>
                                  </m:r>
                                </m:num>
                                <m:den>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𝑛</m:t>
                                      </m:r>
                                    </m:e>
                                    <m:sub>
                                      <m:r>
                                        <a:rPr lang="en-US" altLang="zh-TW" sz="1800" i="1">
                                          <a:latin typeface="Cambria Math" panose="02040503050406030204" pitchFamily="18" charset="0"/>
                                        </a:rPr>
                                        <m:t>𝑜</m:t>
                                      </m:r>
                                    </m:sub>
                                    <m:sup>
                                      <m:r>
                                        <a:rPr lang="en-US" altLang="zh-TW" sz="1800" i="1">
                                          <a:latin typeface="Cambria Math" panose="02040503050406030204" pitchFamily="18" charset="0"/>
                                        </a:rPr>
                                        <m:t>2</m:t>
                                      </m:r>
                                    </m:sup>
                                  </m:sSubSup>
                                </m:den>
                              </m:f>
                              <m:r>
                                <a:rPr lang="en-US" altLang="zh-TW" sz="1800" b="0" i="1" smtClean="0">
                                  <a:latin typeface="Cambria Math" panose="02040503050406030204" pitchFamily="18" charset="0"/>
                                </a:rPr>
                                <m:t>+</m:t>
                              </m:r>
                              <m:r>
                                <a:rPr lang="en-US" altLang="zh-TW" sz="1800" i="1">
                                  <a:latin typeface="Cambria Math" panose="02040503050406030204" pitchFamily="18" charset="0"/>
                                </a:rPr>
                                <m:t>𝑟</m:t>
                              </m:r>
                              <m:r>
                                <a:rPr lang="en-US" altLang="zh-TW" sz="1800" b="0" i="1" baseline="-25000" smtClean="0">
                                  <a:latin typeface="Cambria Math" panose="02040503050406030204" pitchFamily="18" charset="0"/>
                                </a:rPr>
                                <m:t>13</m:t>
                              </m:r>
                              <m:r>
                                <m:rPr>
                                  <m:sty m:val="p"/>
                                </m:rPr>
                                <a:rPr lang="en-US" altLang="zh-TW" sz="1800" i="1">
                                  <a:latin typeface="Cambria Math" panose="02040503050406030204" pitchFamily="18" charset="0"/>
                                </a:rPr>
                                <m:t>E</m:t>
                              </m:r>
                              <m:r>
                                <a:rPr lang="en-US" altLang="zh-TW" sz="1800" b="0" i="1" baseline="-25000" smtClean="0">
                                  <a:latin typeface="Cambria Math" panose="02040503050406030204" pitchFamily="18" charset="0"/>
                                </a:rPr>
                                <m:t>𝑧</m:t>
                              </m:r>
                            </m:e>
                            <m:e>
                              <m:r>
                                <a:rPr lang="en-US" altLang="zh-TW" sz="1800" i="1">
                                  <a:latin typeface="Cambria Math" panose="02040503050406030204" pitchFamily="18" charset="0"/>
                                </a:rPr>
                                <m:t>0</m:t>
                              </m:r>
                            </m:e>
                            <m:e>
                              <m:r>
                                <a:rPr lang="en-US" altLang="zh-TW" sz="1800" i="1">
                                  <a:latin typeface="Cambria Math" panose="02040503050406030204" pitchFamily="18" charset="0"/>
                                </a:rPr>
                                <m:t>0</m:t>
                              </m:r>
                            </m:e>
                          </m:mr>
                          <m:mr>
                            <m:e>
                              <m:r>
                                <a:rPr lang="en-US" altLang="zh-TW" sz="1800" i="1">
                                  <a:latin typeface="Cambria Math" panose="02040503050406030204" pitchFamily="18" charset="0"/>
                                </a:rPr>
                                <m:t>0</m:t>
                              </m:r>
                            </m:e>
                            <m:e>
                              <m:f>
                                <m:fPr>
                                  <m:ctrlPr>
                                    <a:rPr lang="en-US" altLang="zh-TW" sz="1800" i="1">
                                      <a:latin typeface="Cambria Math" panose="02040503050406030204" pitchFamily="18" charset="0"/>
                                    </a:rPr>
                                  </m:ctrlPr>
                                </m:fPr>
                                <m:num>
                                  <m:r>
                                    <a:rPr lang="en-US" altLang="zh-TW" sz="1800" i="1">
                                      <a:latin typeface="Cambria Math" panose="02040503050406030204" pitchFamily="18" charset="0"/>
                                    </a:rPr>
                                    <m:t>1</m:t>
                                  </m:r>
                                </m:num>
                                <m:den>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𝑛</m:t>
                                      </m:r>
                                    </m:e>
                                    <m:sub>
                                      <m:r>
                                        <a:rPr lang="en-US" altLang="zh-TW" sz="1800" i="1">
                                          <a:latin typeface="Cambria Math" panose="02040503050406030204" pitchFamily="18" charset="0"/>
                                        </a:rPr>
                                        <m:t>𝑜</m:t>
                                      </m:r>
                                    </m:sub>
                                    <m:sup>
                                      <m:r>
                                        <a:rPr lang="en-US" altLang="zh-TW" sz="1800" i="1">
                                          <a:latin typeface="Cambria Math" panose="02040503050406030204" pitchFamily="18" charset="0"/>
                                        </a:rPr>
                                        <m:t>2</m:t>
                                      </m:r>
                                    </m:sup>
                                  </m:sSubSup>
                                </m:den>
                              </m:f>
                              <m:r>
                                <a:rPr lang="en-US" altLang="zh-TW" sz="1800" i="1">
                                  <a:latin typeface="Cambria Math" panose="02040503050406030204" pitchFamily="18" charset="0"/>
                                </a:rPr>
                                <m:t>+</m:t>
                              </m:r>
                              <m:r>
                                <a:rPr lang="en-US" altLang="zh-TW" sz="1800" i="1">
                                  <a:latin typeface="Cambria Math" panose="02040503050406030204" pitchFamily="18" charset="0"/>
                                </a:rPr>
                                <m:t>𝑟</m:t>
                              </m:r>
                              <m:r>
                                <a:rPr lang="en-US" altLang="zh-TW" sz="1800" b="0" i="1" baseline="-25000" smtClean="0">
                                  <a:latin typeface="Cambria Math" panose="02040503050406030204" pitchFamily="18" charset="0"/>
                                </a:rPr>
                                <m:t>13</m:t>
                              </m:r>
                              <m:r>
                                <m:rPr>
                                  <m:sty m:val="p"/>
                                </m:rPr>
                                <a:rPr lang="en-US" altLang="zh-TW" sz="1800" i="1">
                                  <a:latin typeface="Cambria Math" panose="02040503050406030204" pitchFamily="18" charset="0"/>
                                </a:rPr>
                                <m:t>E</m:t>
                              </m:r>
                              <m:r>
                                <a:rPr lang="en-US" altLang="zh-TW" sz="1800" b="0" i="1" baseline="-25000" smtClean="0">
                                  <a:latin typeface="Cambria Math" panose="02040503050406030204" pitchFamily="18" charset="0"/>
                                </a:rPr>
                                <m:t>𝑧</m:t>
                              </m:r>
                            </m:e>
                            <m:e>
                              <m:r>
                                <a:rPr lang="en-US" altLang="zh-TW" sz="1800" b="0" i="1" smtClean="0">
                                  <a:latin typeface="Cambria Math" panose="02040503050406030204" pitchFamily="18" charset="0"/>
                                </a:rPr>
                                <m:t>0</m:t>
                              </m:r>
                            </m:e>
                          </m:mr>
                          <m:mr>
                            <m:e>
                              <m:r>
                                <a:rPr lang="en-US" altLang="zh-TW" sz="1800" i="1">
                                  <a:latin typeface="Cambria Math" panose="02040503050406030204" pitchFamily="18" charset="0"/>
                                </a:rPr>
                                <m:t>0</m:t>
                              </m:r>
                            </m:e>
                            <m:e>
                              <m:r>
                                <a:rPr lang="en-US" altLang="zh-TW" sz="1800" b="0" i="1" smtClean="0">
                                  <a:latin typeface="Cambria Math" panose="02040503050406030204" pitchFamily="18" charset="0"/>
                                </a:rPr>
                                <m:t>0</m:t>
                              </m:r>
                            </m:e>
                            <m:e>
                              <m:f>
                                <m:fPr>
                                  <m:ctrlPr>
                                    <a:rPr lang="en-US" altLang="zh-TW" sz="1800" i="1">
                                      <a:latin typeface="Cambria Math" panose="02040503050406030204" pitchFamily="18" charset="0"/>
                                    </a:rPr>
                                  </m:ctrlPr>
                                </m:fPr>
                                <m:num>
                                  <m:r>
                                    <a:rPr lang="en-US" altLang="zh-TW" sz="1800" i="1">
                                      <a:latin typeface="Cambria Math" panose="02040503050406030204" pitchFamily="18" charset="0"/>
                                    </a:rPr>
                                    <m:t>1</m:t>
                                  </m:r>
                                </m:num>
                                <m:den>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𝑛</m:t>
                                      </m:r>
                                    </m:e>
                                    <m:sub>
                                      <m:r>
                                        <a:rPr lang="en-US" altLang="zh-TW" sz="1800" i="1">
                                          <a:latin typeface="Cambria Math" panose="02040503050406030204" pitchFamily="18" charset="0"/>
                                        </a:rPr>
                                        <m:t>𝑒</m:t>
                                      </m:r>
                                    </m:sub>
                                    <m:sup>
                                      <m:r>
                                        <a:rPr lang="en-US" altLang="zh-TW" sz="1800" i="1">
                                          <a:latin typeface="Cambria Math" panose="02040503050406030204" pitchFamily="18" charset="0"/>
                                        </a:rPr>
                                        <m:t>2</m:t>
                                      </m:r>
                                    </m:sup>
                                  </m:sSubSup>
                                </m:den>
                              </m:f>
                              <m:r>
                                <a:rPr lang="en-US" altLang="zh-TW" i="1">
                                  <a:latin typeface="Cambria Math" panose="02040503050406030204" pitchFamily="18" charset="0"/>
                                </a:rPr>
                                <m:t>+</m:t>
                              </m:r>
                              <m:r>
                                <a:rPr lang="en-US" altLang="zh-TW" i="1">
                                  <a:latin typeface="Cambria Math" panose="02040503050406030204" pitchFamily="18" charset="0"/>
                                </a:rPr>
                                <m:t>𝑟</m:t>
                              </m:r>
                              <m:r>
                                <a:rPr lang="en-US" altLang="zh-TW" b="0" i="1" baseline="-25000" smtClean="0">
                                  <a:latin typeface="Cambria Math" panose="02040503050406030204" pitchFamily="18" charset="0"/>
                                </a:rPr>
                                <m:t>3</m:t>
                              </m:r>
                              <m:r>
                                <a:rPr lang="en-US" altLang="zh-TW" i="1" baseline="-25000">
                                  <a:latin typeface="Cambria Math" panose="02040503050406030204" pitchFamily="18" charset="0"/>
                                </a:rPr>
                                <m:t>3</m:t>
                              </m:r>
                              <m:r>
                                <m:rPr>
                                  <m:sty m:val="p"/>
                                </m:rPr>
                                <a:rPr lang="en-US" altLang="zh-TW" i="1">
                                  <a:latin typeface="Cambria Math" panose="02040503050406030204" pitchFamily="18" charset="0"/>
                                </a:rPr>
                                <m:t>E</m:t>
                              </m:r>
                              <m:r>
                                <a:rPr lang="en-US" altLang="zh-TW" i="1" baseline="-25000">
                                  <a:latin typeface="Cambria Math" panose="02040503050406030204" pitchFamily="18" charset="0"/>
                                </a:rPr>
                                <m:t>𝑧</m:t>
                              </m:r>
                            </m:e>
                          </m:mr>
                        </m:m>
                      </m:e>
                    </m:d>
                  </m:oMath>
                </a14:m>
                <a:endParaRPr lang="zh-TW" altLang="en-US" dirty="0"/>
              </a:p>
            </p:txBody>
          </p:sp>
        </mc:Choice>
        <mc:Fallback xmlns="">
          <p:sp>
            <p:nvSpPr>
              <p:cNvPr id="34" name="文字方塊 33">
                <a:extLst>
                  <a:ext uri="{FF2B5EF4-FFF2-40B4-BE49-F238E27FC236}">
                    <a16:creationId xmlns:a16="http://schemas.microsoft.com/office/drawing/2014/main" id="{471259E8-171A-46C2-6065-7B809342FE28}"/>
                  </a:ext>
                </a:extLst>
              </p:cNvPr>
              <p:cNvSpPr txBox="1">
                <a:spLocks noRot="1" noChangeAspect="1" noMove="1" noResize="1" noEditPoints="1" noAdjustHandles="1" noChangeArrowheads="1" noChangeShapeType="1" noTextEdit="1"/>
              </p:cNvSpPr>
              <p:nvPr/>
            </p:nvSpPr>
            <p:spPr>
              <a:xfrm>
                <a:off x="557999" y="4600854"/>
                <a:ext cx="4633309" cy="1469057"/>
              </a:xfrm>
              <a:prstGeom prst="rect">
                <a:avLst/>
              </a:prstGeom>
              <a:blipFill>
                <a:blip r:embed="rId11"/>
                <a:stretch>
                  <a:fillRect/>
                </a:stretch>
              </a:blipFill>
            </p:spPr>
            <p:txBody>
              <a:bodyPr/>
              <a:lstStyle/>
              <a:p>
                <a:r>
                  <a:rPr lang="zh-TW" altLang="en-US">
                    <a:noFill/>
                  </a:rPr>
                  <a:t> </a:t>
                </a:r>
              </a:p>
            </p:txBody>
          </p:sp>
        </mc:Fallback>
      </mc:AlternateContent>
      <p:sp>
        <p:nvSpPr>
          <p:cNvPr id="35" name="箭號: 向右 34">
            <a:extLst>
              <a:ext uri="{FF2B5EF4-FFF2-40B4-BE49-F238E27FC236}">
                <a16:creationId xmlns:a16="http://schemas.microsoft.com/office/drawing/2014/main" id="{ADBBB579-67B1-6E85-48DA-D7D10B088200}"/>
              </a:ext>
            </a:extLst>
          </p:cNvPr>
          <p:cNvSpPr/>
          <p:nvPr/>
        </p:nvSpPr>
        <p:spPr>
          <a:xfrm>
            <a:off x="99713" y="5193292"/>
            <a:ext cx="355001" cy="387223"/>
          </a:xfrm>
          <a:prstGeom prst="rightArrow">
            <a:avLst/>
          </a:prstGeom>
          <a:solidFill>
            <a:srgbClr val="7030A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36" name="箭號: 向右 35">
            <a:extLst>
              <a:ext uri="{FF2B5EF4-FFF2-40B4-BE49-F238E27FC236}">
                <a16:creationId xmlns:a16="http://schemas.microsoft.com/office/drawing/2014/main" id="{423FFDD6-01DF-5B49-7615-76D0A69E26A2}"/>
              </a:ext>
            </a:extLst>
          </p:cNvPr>
          <p:cNvSpPr/>
          <p:nvPr/>
        </p:nvSpPr>
        <p:spPr>
          <a:xfrm>
            <a:off x="99713" y="6283899"/>
            <a:ext cx="355001" cy="387223"/>
          </a:xfrm>
          <a:prstGeom prst="rightArrow">
            <a:avLst/>
          </a:prstGeom>
          <a:solidFill>
            <a:srgbClr val="7030A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8B94F980-9C8A-8949-DB4D-09AFE33254AD}"/>
                  </a:ext>
                </a:extLst>
              </p:cNvPr>
              <p:cNvSpPr txBox="1"/>
              <p:nvPr/>
            </p:nvSpPr>
            <p:spPr>
              <a:xfrm>
                <a:off x="557999" y="6196782"/>
                <a:ext cx="5538001" cy="524695"/>
              </a:xfrm>
              <a:prstGeom prst="rect">
                <a:avLst/>
              </a:prstGeom>
              <a:noFill/>
            </p:spPr>
            <p:txBody>
              <a:bodyPr wrap="square">
                <a:spAutoFit/>
              </a:bodyPr>
              <a:lstStyle/>
              <a:p>
                <a:r>
                  <a:rPr lang="en-US" altLang="zh-TW" sz="1800" dirty="0"/>
                  <a:t>(</a:t>
                </a:r>
                <a14:m>
                  <m:oMath xmlns:m="http://schemas.openxmlformats.org/officeDocument/2006/math">
                    <m:f>
                      <m:fPr>
                        <m:ctrlPr>
                          <a:rPr lang="en-US" altLang="zh-TW" sz="1800" i="1" smtClean="0">
                            <a:latin typeface="Cambria Math" panose="02040503050406030204" pitchFamily="18" charset="0"/>
                          </a:rPr>
                        </m:ctrlPr>
                      </m:fPr>
                      <m:num>
                        <m:r>
                          <a:rPr lang="en-US" altLang="zh-TW" sz="1800" i="1">
                            <a:latin typeface="Cambria Math" panose="02040503050406030204" pitchFamily="18" charset="0"/>
                          </a:rPr>
                          <m:t>1</m:t>
                        </m:r>
                      </m:num>
                      <m:den>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𝑛</m:t>
                            </m:r>
                          </m:e>
                          <m:sub>
                            <m:r>
                              <a:rPr lang="en-US" altLang="zh-TW" sz="1800" i="1">
                                <a:latin typeface="Cambria Math" panose="02040503050406030204" pitchFamily="18" charset="0"/>
                              </a:rPr>
                              <m:t>𝑜</m:t>
                            </m:r>
                          </m:sub>
                          <m:sup>
                            <m:r>
                              <a:rPr lang="en-US" altLang="zh-TW" sz="1800" i="1">
                                <a:latin typeface="Cambria Math" panose="02040503050406030204" pitchFamily="18" charset="0"/>
                              </a:rPr>
                              <m:t>2</m:t>
                            </m:r>
                          </m:sup>
                        </m:sSubSup>
                      </m:den>
                    </m:f>
                    <m:r>
                      <a:rPr lang="en-US" altLang="zh-TW" sz="1800" b="0" i="1" smtClean="0">
                        <a:latin typeface="Cambria Math" panose="02040503050406030204" pitchFamily="18" charset="0"/>
                      </a:rPr>
                      <m:t>+</m:t>
                    </m:r>
                    <m:r>
                      <a:rPr lang="en-US" altLang="zh-TW" sz="1800" i="1">
                        <a:latin typeface="Cambria Math" panose="02040503050406030204" pitchFamily="18" charset="0"/>
                      </a:rPr>
                      <m:t>𝑟</m:t>
                    </m:r>
                    <m:r>
                      <a:rPr lang="en-US" altLang="zh-TW" sz="1800" b="0" i="1" baseline="-25000" smtClean="0">
                        <a:latin typeface="Cambria Math" panose="02040503050406030204" pitchFamily="18" charset="0"/>
                      </a:rPr>
                      <m:t>13</m:t>
                    </m:r>
                    <m:r>
                      <m:rPr>
                        <m:sty m:val="p"/>
                      </m:rPr>
                      <a:rPr lang="en-US" altLang="zh-TW" sz="1800" i="1">
                        <a:latin typeface="Cambria Math" panose="02040503050406030204" pitchFamily="18" charset="0"/>
                      </a:rPr>
                      <m:t>E</m:t>
                    </m:r>
                    <m:r>
                      <a:rPr lang="en-US" altLang="zh-TW" sz="1800" b="0" i="1" baseline="-25000" smtClean="0">
                        <a:latin typeface="Cambria Math" panose="02040503050406030204" pitchFamily="18" charset="0"/>
                      </a:rPr>
                      <m:t>𝑧</m:t>
                    </m:r>
                  </m:oMath>
                </a14:m>
                <a:r>
                  <a:rPr lang="en-US" altLang="zh-TW" sz="1800" dirty="0"/>
                  <a:t>)</a:t>
                </a:r>
                <a14:m>
                  <m:oMath xmlns:m="http://schemas.openxmlformats.org/officeDocument/2006/math">
                    <m:r>
                      <a:rPr lang="en-US" altLang="zh-TW" sz="1800" b="0" i="1" dirty="0" smtClean="0">
                        <a:latin typeface="Cambria Math" panose="02040503050406030204" pitchFamily="18" charset="0"/>
                      </a:rPr>
                      <m:t>𝑥</m:t>
                    </m:r>
                    <m:r>
                      <a:rPr lang="en-US" altLang="zh-TW" sz="1800" b="0" i="1" baseline="30000" dirty="0" smtClean="0">
                        <a:latin typeface="Cambria Math" panose="02040503050406030204" pitchFamily="18" charset="0"/>
                      </a:rPr>
                      <m:t>2</m:t>
                    </m:r>
                    <m:r>
                      <a:rPr lang="en-US" altLang="zh-TW" sz="1800" b="0" i="1" dirty="0" smtClean="0">
                        <a:latin typeface="Cambria Math" panose="02040503050406030204" pitchFamily="18" charset="0"/>
                      </a:rPr>
                      <m:t>+(</m:t>
                    </m:r>
                    <m:f>
                      <m:fPr>
                        <m:ctrlPr>
                          <a:rPr lang="en-US" altLang="zh-TW" sz="1800" i="1">
                            <a:latin typeface="Cambria Math" panose="02040503050406030204" pitchFamily="18" charset="0"/>
                          </a:rPr>
                        </m:ctrlPr>
                      </m:fPr>
                      <m:num>
                        <m:r>
                          <a:rPr lang="en-US" altLang="zh-TW" sz="1800" i="1">
                            <a:latin typeface="Cambria Math" panose="02040503050406030204" pitchFamily="18" charset="0"/>
                          </a:rPr>
                          <m:t>1</m:t>
                        </m:r>
                      </m:num>
                      <m:den>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𝑛</m:t>
                            </m:r>
                          </m:e>
                          <m:sub>
                            <m:r>
                              <a:rPr lang="en-US" altLang="zh-TW" sz="1800" i="1">
                                <a:latin typeface="Cambria Math" panose="02040503050406030204" pitchFamily="18" charset="0"/>
                              </a:rPr>
                              <m:t>𝑜</m:t>
                            </m:r>
                          </m:sub>
                          <m:sup>
                            <m:r>
                              <a:rPr lang="en-US" altLang="zh-TW" sz="1800" i="1">
                                <a:latin typeface="Cambria Math" panose="02040503050406030204" pitchFamily="18" charset="0"/>
                              </a:rPr>
                              <m:t>2</m:t>
                            </m:r>
                          </m:sup>
                        </m:sSubSup>
                      </m:den>
                    </m:f>
                    <m:r>
                      <a:rPr lang="en-US" altLang="zh-TW" sz="1800" i="1">
                        <a:latin typeface="Cambria Math" panose="02040503050406030204" pitchFamily="18" charset="0"/>
                      </a:rPr>
                      <m:t>+</m:t>
                    </m:r>
                    <m:r>
                      <a:rPr lang="en-US" altLang="zh-TW" sz="1800" i="1">
                        <a:latin typeface="Cambria Math" panose="02040503050406030204" pitchFamily="18" charset="0"/>
                      </a:rPr>
                      <m:t>𝑟</m:t>
                    </m:r>
                    <m:r>
                      <a:rPr lang="en-US" altLang="zh-TW" sz="1800" b="0" i="1" baseline="-25000" smtClean="0">
                        <a:latin typeface="Cambria Math" panose="02040503050406030204" pitchFamily="18" charset="0"/>
                      </a:rPr>
                      <m:t>13</m:t>
                    </m:r>
                    <m:r>
                      <m:rPr>
                        <m:sty m:val="p"/>
                      </m:rPr>
                      <a:rPr lang="en-US" altLang="zh-TW" sz="1800" i="1">
                        <a:latin typeface="Cambria Math" panose="02040503050406030204" pitchFamily="18" charset="0"/>
                      </a:rPr>
                      <m:t>E</m:t>
                    </m:r>
                    <m:r>
                      <a:rPr lang="en-US" altLang="zh-TW" sz="1800" b="0" i="1" baseline="-25000" smtClean="0">
                        <a:latin typeface="Cambria Math" panose="02040503050406030204" pitchFamily="18" charset="0"/>
                      </a:rPr>
                      <m:t>𝑧</m:t>
                    </m:r>
                  </m:oMath>
                </a14:m>
                <a:r>
                  <a:rPr lang="en-US" altLang="zh-TW" sz="1800" dirty="0"/>
                  <a:t>)</a:t>
                </a:r>
                <a14:m>
                  <m:oMath xmlns:m="http://schemas.openxmlformats.org/officeDocument/2006/math">
                    <m:r>
                      <a:rPr lang="en-US" altLang="zh-TW" sz="1800" b="0" i="1" dirty="0" smtClean="0">
                        <a:latin typeface="Cambria Math" panose="02040503050406030204" pitchFamily="18" charset="0"/>
                      </a:rPr>
                      <m:t>𝑦</m:t>
                    </m:r>
                    <m:r>
                      <a:rPr lang="en-US" altLang="zh-TW" sz="1800" b="0" i="1" baseline="30000" dirty="0" smtClean="0">
                        <a:latin typeface="Cambria Math" panose="02040503050406030204" pitchFamily="18" charset="0"/>
                      </a:rPr>
                      <m:t>2</m:t>
                    </m:r>
                    <m:r>
                      <a:rPr lang="en-US" altLang="zh-TW" sz="1800" b="0" i="1" dirty="0" smtClean="0">
                        <a:latin typeface="Cambria Math" panose="02040503050406030204" pitchFamily="18" charset="0"/>
                      </a:rPr>
                      <m:t>+(</m:t>
                    </m:r>
                    <m:f>
                      <m:fPr>
                        <m:ctrlPr>
                          <a:rPr lang="en-US" altLang="zh-TW" sz="1800" i="1">
                            <a:latin typeface="Cambria Math" panose="02040503050406030204" pitchFamily="18" charset="0"/>
                          </a:rPr>
                        </m:ctrlPr>
                      </m:fPr>
                      <m:num>
                        <m:r>
                          <a:rPr lang="en-US" altLang="zh-TW" sz="1800" i="1">
                            <a:latin typeface="Cambria Math" panose="02040503050406030204" pitchFamily="18" charset="0"/>
                          </a:rPr>
                          <m:t>1</m:t>
                        </m:r>
                      </m:num>
                      <m:den>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𝑛</m:t>
                            </m:r>
                          </m:e>
                          <m:sub>
                            <m:r>
                              <a:rPr lang="en-US" altLang="zh-TW" sz="1800" i="1">
                                <a:latin typeface="Cambria Math" panose="02040503050406030204" pitchFamily="18" charset="0"/>
                              </a:rPr>
                              <m:t>𝑒</m:t>
                            </m:r>
                          </m:sub>
                          <m:sup>
                            <m:r>
                              <a:rPr lang="en-US" altLang="zh-TW" sz="1800" i="1">
                                <a:latin typeface="Cambria Math" panose="02040503050406030204" pitchFamily="18" charset="0"/>
                              </a:rPr>
                              <m:t>2</m:t>
                            </m:r>
                          </m:sup>
                        </m:sSubSup>
                      </m:den>
                    </m:f>
                  </m:oMath>
                </a14:m>
                <a:r>
                  <a:rPr lang="en-US" altLang="zh-TW" sz="1800" dirty="0"/>
                  <a:t>+</a:t>
                </a:r>
                <a:r>
                  <a:rPr lang="en-US" altLang="zh-TW" dirty="0"/>
                  <a:t> </a:t>
                </a:r>
                <a14:m>
                  <m:oMath xmlns:m="http://schemas.openxmlformats.org/officeDocument/2006/math">
                    <m:r>
                      <a:rPr lang="en-US" altLang="zh-TW" i="1">
                        <a:latin typeface="Cambria Math" panose="02040503050406030204" pitchFamily="18" charset="0"/>
                      </a:rPr>
                      <m:t>𝑟</m:t>
                    </m:r>
                    <m:r>
                      <a:rPr lang="en-US" altLang="zh-TW" b="0" i="1" baseline="-25000" smtClean="0">
                        <a:latin typeface="Cambria Math" panose="02040503050406030204" pitchFamily="18" charset="0"/>
                      </a:rPr>
                      <m:t>3</m:t>
                    </m:r>
                    <m:r>
                      <a:rPr lang="en-US" altLang="zh-TW" i="1" baseline="-25000">
                        <a:latin typeface="Cambria Math" panose="02040503050406030204" pitchFamily="18" charset="0"/>
                      </a:rPr>
                      <m:t>3</m:t>
                    </m:r>
                    <m:r>
                      <m:rPr>
                        <m:sty m:val="p"/>
                      </m:rPr>
                      <a:rPr lang="en-US" altLang="zh-TW" i="1">
                        <a:latin typeface="Cambria Math" panose="02040503050406030204" pitchFamily="18" charset="0"/>
                      </a:rPr>
                      <m:t>E</m:t>
                    </m:r>
                    <m:r>
                      <a:rPr lang="en-US" altLang="zh-TW" i="1" baseline="-25000">
                        <a:latin typeface="Cambria Math" panose="02040503050406030204" pitchFamily="18" charset="0"/>
                      </a:rPr>
                      <m:t>𝑧</m:t>
                    </m:r>
                  </m:oMath>
                </a14:m>
                <a:r>
                  <a:rPr lang="en-US" altLang="zh-TW" sz="1800" dirty="0"/>
                  <a:t>)</a:t>
                </a:r>
                <a14:m>
                  <m:oMath xmlns:m="http://schemas.openxmlformats.org/officeDocument/2006/math">
                    <m:r>
                      <a:rPr lang="en-US" altLang="zh-TW" sz="1800" b="0" i="1" dirty="0" smtClean="0">
                        <a:latin typeface="Cambria Math" panose="02040503050406030204" pitchFamily="18" charset="0"/>
                      </a:rPr>
                      <m:t>𝑧</m:t>
                    </m:r>
                    <m:r>
                      <a:rPr lang="en-US" altLang="zh-TW" sz="1800" b="0" i="1" baseline="30000" dirty="0" smtClean="0">
                        <a:latin typeface="Cambria Math" panose="02040503050406030204" pitchFamily="18" charset="0"/>
                      </a:rPr>
                      <m:t>2</m:t>
                    </m:r>
                  </m:oMath>
                </a14:m>
                <a:r>
                  <a:rPr lang="en-US" altLang="zh-TW" sz="1800" dirty="0"/>
                  <a:t>= 1</a:t>
                </a:r>
              </a:p>
            </p:txBody>
          </p:sp>
        </mc:Choice>
        <mc:Fallback xmlns="">
          <p:sp>
            <p:nvSpPr>
              <p:cNvPr id="37" name="文字方塊 36">
                <a:extLst>
                  <a:ext uri="{FF2B5EF4-FFF2-40B4-BE49-F238E27FC236}">
                    <a16:creationId xmlns:a16="http://schemas.microsoft.com/office/drawing/2014/main" id="{8B94F980-9C8A-8949-DB4D-09AFE33254AD}"/>
                  </a:ext>
                </a:extLst>
              </p:cNvPr>
              <p:cNvSpPr txBox="1">
                <a:spLocks noRot="1" noChangeAspect="1" noMove="1" noResize="1" noEditPoints="1" noAdjustHandles="1" noChangeArrowheads="1" noChangeShapeType="1" noTextEdit="1"/>
              </p:cNvSpPr>
              <p:nvPr/>
            </p:nvSpPr>
            <p:spPr>
              <a:xfrm>
                <a:off x="557999" y="6196782"/>
                <a:ext cx="5538001" cy="524695"/>
              </a:xfrm>
              <a:prstGeom prst="rect">
                <a:avLst/>
              </a:prstGeom>
              <a:blipFill>
                <a:blip r:embed="rId12"/>
                <a:stretch>
                  <a:fillRect l="-991"/>
                </a:stretch>
              </a:blipFill>
            </p:spPr>
            <p:txBody>
              <a:bodyPr/>
              <a:lstStyle/>
              <a:p>
                <a:r>
                  <a:rPr lang="zh-TW" altLang="en-US">
                    <a:noFill/>
                  </a:rPr>
                  <a:t> </a:t>
                </a:r>
              </a:p>
            </p:txBody>
          </p:sp>
        </mc:Fallback>
      </mc:AlternateContent>
      <p:sp>
        <p:nvSpPr>
          <p:cNvPr id="39" name="箭號: 上彎 38">
            <a:extLst>
              <a:ext uri="{FF2B5EF4-FFF2-40B4-BE49-F238E27FC236}">
                <a16:creationId xmlns:a16="http://schemas.microsoft.com/office/drawing/2014/main" id="{05FF4B4F-866F-3F93-A067-C8DF4D751149}"/>
              </a:ext>
            </a:extLst>
          </p:cNvPr>
          <p:cNvSpPr/>
          <p:nvPr/>
        </p:nvSpPr>
        <p:spPr>
          <a:xfrm>
            <a:off x="5454127" y="6046583"/>
            <a:ext cx="2221718" cy="495761"/>
          </a:xfrm>
          <a:prstGeom prst="bentUp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40" name="文字方塊 39">
                <a:extLst>
                  <a:ext uri="{FF2B5EF4-FFF2-40B4-BE49-F238E27FC236}">
                    <a16:creationId xmlns:a16="http://schemas.microsoft.com/office/drawing/2014/main" id="{8245937E-32C5-9AB3-10AF-19D2663E41F0}"/>
                  </a:ext>
                </a:extLst>
              </p:cNvPr>
              <p:cNvSpPr txBox="1"/>
              <p:nvPr/>
            </p:nvSpPr>
            <p:spPr>
              <a:xfrm>
                <a:off x="7473566" y="2784972"/>
                <a:ext cx="1231234" cy="1553439"/>
              </a:xfrm>
              <a:prstGeom prst="rect">
                <a:avLst/>
              </a:prstGeom>
              <a:noFill/>
            </p:spPr>
            <p:txBody>
              <a:bodyPr wrap="none" rtlCol="0">
                <a:spAutoFit/>
              </a:bodyPr>
              <a:lstStyle/>
              <a:p>
                <a:r>
                  <a:rPr lang="en-US" altLang="zh-TW" dirty="0"/>
                  <a:t>= </a:t>
                </a:r>
                <a14:m>
                  <m:oMath xmlns:m="http://schemas.openxmlformats.org/officeDocument/2006/math">
                    <m:d>
                      <m:dPr>
                        <m:ctrlPr>
                          <a:rPr lang="en-US" altLang="zh-TW" i="1" smtClean="0">
                            <a:latin typeface="Cambria Math" panose="02040503050406030204" pitchFamily="18" charset="0"/>
                          </a:rPr>
                        </m:ctrlPr>
                      </m:dPr>
                      <m:e>
                        <m:m>
                          <m:mPr>
                            <m:mcs>
                              <m:mc>
                                <m:mcPr>
                                  <m:count m:val="1"/>
                                  <m:mcJc m:val="center"/>
                                </m:mcPr>
                              </m:mc>
                            </m:mcs>
                            <m:ctrlPr>
                              <a:rPr lang="en-US" altLang="zh-TW" i="1" smtClean="0">
                                <a:latin typeface="Cambria Math" panose="02040503050406030204" pitchFamily="18" charset="0"/>
                              </a:rPr>
                            </m:ctrlPr>
                          </m:mPr>
                          <m:mr>
                            <m:e>
                              <m:m>
                                <m:mPr>
                                  <m:mcs>
                                    <m:mc>
                                      <m:mcPr>
                                        <m:count m:val="1"/>
                                        <m:mcJc m:val="center"/>
                                      </m:mcPr>
                                    </m:mc>
                                  </m:mcs>
                                  <m:ctrlPr>
                                    <a:rPr lang="en-US" altLang="zh-TW" i="1" smtClean="0">
                                      <a:latin typeface="Cambria Math" panose="02040503050406030204" pitchFamily="18" charset="0"/>
                                    </a:rPr>
                                  </m:ctrlPr>
                                </m:mPr>
                                <m:mr>
                                  <m:e>
                                    <m:r>
                                      <a:rPr lang="en-US" altLang="zh-TW" i="1">
                                        <a:latin typeface="Cambria Math" panose="02040503050406030204" pitchFamily="18" charset="0"/>
                                      </a:rPr>
                                      <m:t>𝑟</m:t>
                                    </m:r>
                                    <m:r>
                                      <a:rPr lang="en-US" altLang="zh-TW" b="0" i="1" baseline="-25000" smtClean="0">
                                        <a:latin typeface="Cambria Math" panose="02040503050406030204" pitchFamily="18" charset="0"/>
                                      </a:rPr>
                                      <m:t>13</m:t>
                                    </m:r>
                                    <m:r>
                                      <m:rPr>
                                        <m:sty m:val="p"/>
                                      </m:rPr>
                                      <a:rPr lang="en-US" altLang="zh-TW" i="1">
                                        <a:latin typeface="Cambria Math" panose="02040503050406030204" pitchFamily="18" charset="0"/>
                                      </a:rPr>
                                      <m:t>E</m:t>
                                    </m:r>
                                    <m:r>
                                      <a:rPr lang="en-US" altLang="zh-TW" b="0" i="1" baseline="-25000" smtClean="0">
                                        <a:latin typeface="Cambria Math" panose="02040503050406030204" pitchFamily="18" charset="0"/>
                                      </a:rPr>
                                      <m:t>𝑧</m:t>
                                    </m:r>
                                  </m:e>
                                </m:mr>
                                <m:mr>
                                  <m:e>
                                    <m:r>
                                      <a:rPr lang="en-US" altLang="zh-TW" i="1">
                                        <a:latin typeface="Cambria Math" panose="02040503050406030204" pitchFamily="18" charset="0"/>
                                      </a:rPr>
                                      <m:t>𝑟</m:t>
                                    </m:r>
                                    <m:r>
                                      <a:rPr lang="en-US" altLang="zh-TW" b="0" i="1" baseline="-25000" smtClean="0">
                                        <a:latin typeface="Cambria Math" panose="02040503050406030204" pitchFamily="18" charset="0"/>
                                      </a:rPr>
                                      <m:t>13</m:t>
                                    </m:r>
                                    <m:r>
                                      <m:rPr>
                                        <m:sty m:val="p"/>
                                      </m:rPr>
                                      <a:rPr lang="en-US" altLang="zh-TW" i="1">
                                        <a:latin typeface="Cambria Math" panose="02040503050406030204" pitchFamily="18" charset="0"/>
                                      </a:rPr>
                                      <m:t>E</m:t>
                                    </m:r>
                                    <m:r>
                                      <a:rPr lang="en-US" altLang="zh-TW" b="0" i="1" baseline="-25000" smtClean="0">
                                        <a:latin typeface="Cambria Math" panose="02040503050406030204" pitchFamily="18" charset="0"/>
                                      </a:rPr>
                                      <m:t>𝑧</m:t>
                                    </m:r>
                                  </m:e>
                                </m:mr>
                              </m:m>
                            </m:e>
                          </m:mr>
                          <m:mr>
                            <m:e>
                              <m:m>
                                <m:mPr>
                                  <m:mcs>
                                    <m:mc>
                                      <m:mcPr>
                                        <m:count m:val="1"/>
                                        <m:mcJc m:val="center"/>
                                      </m:mcPr>
                                    </m:mc>
                                  </m:mcs>
                                  <m:ctrlPr>
                                    <a:rPr lang="en-US" altLang="zh-TW" i="1" smtClean="0">
                                      <a:latin typeface="Cambria Math" panose="02040503050406030204" pitchFamily="18" charset="0"/>
                                    </a:rPr>
                                  </m:ctrlPr>
                                </m:mPr>
                                <m:mr>
                                  <m:e>
                                    <m:r>
                                      <a:rPr lang="en-US" altLang="zh-TW" i="1">
                                        <a:latin typeface="Cambria Math" panose="02040503050406030204" pitchFamily="18" charset="0"/>
                                      </a:rPr>
                                      <m:t>𝑟</m:t>
                                    </m:r>
                                    <m:r>
                                      <a:rPr lang="en-US" altLang="zh-TW" b="0" i="1" baseline="-25000" smtClean="0">
                                        <a:latin typeface="Cambria Math" panose="02040503050406030204" pitchFamily="18" charset="0"/>
                                      </a:rPr>
                                      <m:t>33</m:t>
                                    </m:r>
                                    <m:r>
                                      <m:rPr>
                                        <m:sty m:val="p"/>
                                      </m:rPr>
                                      <a:rPr lang="en-US" altLang="zh-TW" i="1">
                                        <a:latin typeface="Cambria Math" panose="02040503050406030204" pitchFamily="18" charset="0"/>
                                      </a:rPr>
                                      <m:t>E</m:t>
                                    </m:r>
                                    <m:r>
                                      <a:rPr lang="en-US" altLang="zh-TW" i="1" baseline="-25000">
                                        <a:latin typeface="Cambria Math" panose="02040503050406030204" pitchFamily="18" charset="0"/>
                                      </a:rPr>
                                      <m:t>𝑧</m:t>
                                    </m:r>
                                  </m:e>
                                </m:mr>
                                <m:mr>
                                  <m:e>
                                    <m:r>
                                      <a:rPr lang="en-US" altLang="zh-TW" i="1" smtClean="0">
                                        <a:latin typeface="Cambria Math" panose="02040503050406030204" pitchFamily="18" charset="0"/>
                                      </a:rPr>
                                      <m:t>0</m:t>
                                    </m:r>
                                  </m:e>
                                </m:mr>
                              </m:m>
                            </m:e>
                          </m:mr>
                          <m:mr>
                            <m:e>
                              <m:m>
                                <m:mPr>
                                  <m:mcs>
                                    <m:mc>
                                      <m:mcPr>
                                        <m:count m:val="1"/>
                                        <m:mcJc m:val="center"/>
                                      </m:mcPr>
                                    </m:mc>
                                  </m:mcs>
                                  <m:ctrlPr>
                                    <a:rPr lang="en-US" altLang="zh-TW" i="1" smtClean="0">
                                      <a:latin typeface="Cambria Math" panose="02040503050406030204" pitchFamily="18" charset="0"/>
                                    </a:rPr>
                                  </m:ctrlPr>
                                </m:mPr>
                                <m:mr>
                                  <m:e>
                                    <m:r>
                                      <m:rPr>
                                        <m:brk m:alnAt="7"/>
                                      </m:rPr>
                                      <a:rPr lang="en-US" altLang="zh-TW" b="0" i="1" smtClean="0">
                                        <a:latin typeface="Cambria Math" panose="02040503050406030204" pitchFamily="18" charset="0"/>
                                      </a:rPr>
                                      <m:t>0</m:t>
                                    </m:r>
                                  </m:e>
                                </m:mr>
                                <m:mr>
                                  <m:e>
                                    <m:r>
                                      <a:rPr lang="en-US" altLang="zh-TW" b="0" i="1" smtClean="0">
                                        <a:latin typeface="Cambria Math" panose="02040503050406030204" pitchFamily="18" charset="0"/>
                                      </a:rPr>
                                      <m:t>0</m:t>
                                    </m:r>
                                  </m:e>
                                </m:mr>
                              </m:m>
                            </m:e>
                          </m:mr>
                        </m:m>
                      </m:e>
                    </m:d>
                  </m:oMath>
                </a14:m>
                <a:endParaRPr lang="zh-TW" altLang="en-US" dirty="0"/>
              </a:p>
            </p:txBody>
          </p:sp>
        </mc:Choice>
        <mc:Fallback xmlns="">
          <p:sp>
            <p:nvSpPr>
              <p:cNvPr id="40" name="文字方塊 39">
                <a:extLst>
                  <a:ext uri="{FF2B5EF4-FFF2-40B4-BE49-F238E27FC236}">
                    <a16:creationId xmlns:a16="http://schemas.microsoft.com/office/drawing/2014/main" id="{8245937E-32C5-9AB3-10AF-19D2663E41F0}"/>
                  </a:ext>
                </a:extLst>
              </p:cNvPr>
              <p:cNvSpPr txBox="1">
                <a:spLocks noRot="1" noChangeAspect="1" noMove="1" noResize="1" noEditPoints="1" noAdjustHandles="1" noChangeArrowheads="1" noChangeShapeType="1" noTextEdit="1"/>
              </p:cNvSpPr>
              <p:nvPr/>
            </p:nvSpPr>
            <p:spPr>
              <a:xfrm>
                <a:off x="7473566" y="2784972"/>
                <a:ext cx="1231234" cy="1553439"/>
              </a:xfrm>
              <a:prstGeom prst="rect">
                <a:avLst/>
              </a:prstGeom>
              <a:blipFill>
                <a:blip r:embed="rId13"/>
                <a:stretch>
                  <a:fillRect l="-445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3" name="文字方塊 42">
                <a:extLst>
                  <a:ext uri="{FF2B5EF4-FFF2-40B4-BE49-F238E27FC236}">
                    <a16:creationId xmlns:a16="http://schemas.microsoft.com/office/drawing/2014/main" id="{7A60F93B-E513-BDB1-AAD3-E8C92C7E8223}"/>
                  </a:ext>
                </a:extLst>
              </p:cNvPr>
              <p:cNvSpPr txBox="1"/>
              <p:nvPr/>
            </p:nvSpPr>
            <p:spPr>
              <a:xfrm>
                <a:off x="6362184" y="4769170"/>
                <a:ext cx="2627322" cy="483466"/>
              </a:xfrm>
              <a:prstGeom prst="rect">
                <a:avLst/>
              </a:prstGeom>
              <a:noFill/>
            </p:spPr>
            <p:txBody>
              <a:bodyPr wrap="none" rtlCol="0">
                <a:spAutoFit/>
              </a:bodyPr>
              <a:lstStyle/>
              <a:p>
                <a14:m>
                  <m:oMath xmlns:m="http://schemas.openxmlformats.org/officeDocument/2006/math">
                    <m:sSub>
                      <m:sSubPr>
                        <m:ctrlPr>
                          <a:rPr lang="en-US" altLang="zh-TW" sz="1800" i="1" smtClean="0">
                            <a:latin typeface="Cambria Math" panose="02040503050406030204" pitchFamily="18" charset="0"/>
                          </a:rPr>
                        </m:ctrlPr>
                      </m:sSubPr>
                      <m:e>
                        <m:r>
                          <a:rPr lang="en-US" altLang="zh-TW" sz="1800" b="0" i="1" smtClean="0">
                            <a:latin typeface="Cambria Math" panose="02040503050406030204" pitchFamily="18" charset="0"/>
                          </a:rPr>
                          <m:t>𝑛</m:t>
                        </m:r>
                      </m:e>
                      <m:sub>
                        <m:r>
                          <a:rPr lang="en-US" altLang="zh-TW" sz="1800" b="0" i="1" smtClean="0">
                            <a:latin typeface="Cambria Math" panose="02040503050406030204" pitchFamily="18" charset="0"/>
                          </a:rPr>
                          <m:t>𝑜</m:t>
                        </m:r>
                      </m:sub>
                    </m:sSub>
                    <m:r>
                      <a:rPr lang="en-US" altLang="zh-TW" sz="1800" b="0" i="1" smtClean="0">
                        <a:latin typeface="Cambria Math" panose="02040503050406030204" pitchFamily="18" charset="0"/>
                      </a:rPr>
                      <m:t>(</m:t>
                    </m:r>
                    <m:r>
                      <a:rPr lang="en-US" altLang="zh-TW" i="1">
                        <a:latin typeface="Cambria Math" panose="02040503050406030204" pitchFamily="18" charset="0"/>
                      </a:rPr>
                      <m:t>𝐸</m:t>
                    </m:r>
                    <m:r>
                      <a:rPr lang="en-US" altLang="zh-TW" i="1" baseline="-25000">
                        <a:latin typeface="Cambria Math" panose="02040503050406030204" pitchFamily="18" charset="0"/>
                      </a:rPr>
                      <m:t>𝑧</m:t>
                    </m:r>
                    <m:r>
                      <a:rPr lang="en-US" altLang="zh-TW" sz="1800" b="0" i="1" smtClean="0">
                        <a:latin typeface="Cambria Math" panose="02040503050406030204" pitchFamily="18" charset="0"/>
                      </a:rPr>
                      <m:t>)</m:t>
                    </m:r>
                  </m:oMath>
                </a14:m>
                <a:r>
                  <a:rPr lang="zh-TW" altLang="en-US" dirty="0"/>
                  <a:t> </a:t>
                </a:r>
                <a14:m>
                  <m:oMath xmlns:m="http://schemas.openxmlformats.org/officeDocument/2006/math">
                    <m:r>
                      <a:rPr lang="en-US" altLang="zh-TW" sz="1800" i="1" smtClean="0">
                        <a:latin typeface="Cambria Math" panose="02040503050406030204" pitchFamily="18" charset="0"/>
                        <a:ea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𝑛</m:t>
                        </m:r>
                      </m:e>
                      <m:sub>
                        <m:r>
                          <a:rPr lang="en-US" altLang="zh-TW" i="1">
                            <a:latin typeface="Cambria Math" panose="02040503050406030204" pitchFamily="18" charset="0"/>
                          </a:rPr>
                          <m:t>𝑜</m:t>
                        </m:r>
                      </m:sub>
                    </m:sSub>
                    <m:r>
                      <a:rPr lang="en-US" altLang="zh-TW" b="0" i="1" smtClean="0">
                        <a:latin typeface="Cambria Math" panose="02040503050406030204" pitchFamily="18" charset="0"/>
                      </a:rPr>
                      <m:t> − </m:t>
                    </m:r>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1</m:t>
                        </m:r>
                      </m:num>
                      <m:den>
                        <m:r>
                          <a:rPr lang="en-US" altLang="zh-TW" b="0" i="1" smtClean="0">
                            <a:latin typeface="Cambria Math" panose="02040503050406030204" pitchFamily="18" charset="0"/>
                          </a:rPr>
                          <m:t>2</m:t>
                        </m:r>
                      </m:den>
                    </m:f>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𝑛</m:t>
                        </m:r>
                      </m:e>
                      <m:sub>
                        <m:r>
                          <a:rPr lang="en-US" altLang="zh-TW" i="1">
                            <a:latin typeface="Cambria Math" panose="02040503050406030204" pitchFamily="18" charset="0"/>
                          </a:rPr>
                          <m:t>𝑜</m:t>
                        </m:r>
                      </m:sub>
                      <m:sup>
                        <m:r>
                          <a:rPr lang="en-US" altLang="zh-TW" b="0" i="1" smtClean="0">
                            <a:latin typeface="Cambria Math" panose="02040503050406030204" pitchFamily="18" charset="0"/>
                          </a:rPr>
                          <m:t>3</m:t>
                        </m:r>
                      </m:sup>
                    </m:sSubSup>
                    <m:r>
                      <a:rPr lang="en-US" altLang="zh-TW" sz="1800" i="1" smtClean="0">
                        <a:latin typeface="Cambria Math" panose="02040503050406030204" pitchFamily="18" charset="0"/>
                      </a:rPr>
                      <m:t>𝑟</m:t>
                    </m:r>
                    <m:r>
                      <a:rPr lang="en-US" altLang="zh-TW" sz="1800" b="0" i="1" baseline="-25000" smtClean="0">
                        <a:latin typeface="Cambria Math" panose="02040503050406030204" pitchFamily="18" charset="0"/>
                      </a:rPr>
                      <m:t>13</m:t>
                    </m:r>
                    <m:r>
                      <m:rPr>
                        <m:sty m:val="p"/>
                      </m:rPr>
                      <a:rPr lang="en-US" altLang="zh-TW" sz="1800" i="1">
                        <a:latin typeface="Cambria Math" panose="02040503050406030204" pitchFamily="18" charset="0"/>
                      </a:rPr>
                      <m:t>E</m:t>
                    </m:r>
                    <m:r>
                      <a:rPr lang="en-US" altLang="zh-TW" sz="1800" b="0" i="1" baseline="-25000" smtClean="0">
                        <a:latin typeface="Cambria Math" panose="02040503050406030204" pitchFamily="18" charset="0"/>
                      </a:rPr>
                      <m:t>𝑧</m:t>
                    </m:r>
                  </m:oMath>
                </a14:m>
                <a:endParaRPr lang="zh-TW" altLang="en-US" dirty="0"/>
              </a:p>
            </p:txBody>
          </p:sp>
        </mc:Choice>
        <mc:Fallback xmlns="">
          <p:sp>
            <p:nvSpPr>
              <p:cNvPr id="43" name="文字方塊 42">
                <a:extLst>
                  <a:ext uri="{FF2B5EF4-FFF2-40B4-BE49-F238E27FC236}">
                    <a16:creationId xmlns:a16="http://schemas.microsoft.com/office/drawing/2014/main" id="{7A60F93B-E513-BDB1-AAD3-E8C92C7E8223}"/>
                  </a:ext>
                </a:extLst>
              </p:cNvPr>
              <p:cNvSpPr txBox="1">
                <a:spLocks noRot="1" noChangeAspect="1" noMove="1" noResize="1" noEditPoints="1" noAdjustHandles="1" noChangeArrowheads="1" noChangeShapeType="1" noTextEdit="1"/>
              </p:cNvSpPr>
              <p:nvPr/>
            </p:nvSpPr>
            <p:spPr>
              <a:xfrm>
                <a:off x="6362184" y="4769170"/>
                <a:ext cx="2627322" cy="483466"/>
              </a:xfrm>
              <a:prstGeom prst="rect">
                <a:avLst/>
              </a:prstGeom>
              <a:blipFill>
                <a:blip r:embed="rId14"/>
                <a:stretch>
                  <a:fillRect b="-125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4" name="文字方塊 43">
                <a:extLst>
                  <a:ext uri="{FF2B5EF4-FFF2-40B4-BE49-F238E27FC236}">
                    <a16:creationId xmlns:a16="http://schemas.microsoft.com/office/drawing/2014/main" id="{10DD8C4D-65ED-8FA0-3E98-067802AD53AE}"/>
                  </a:ext>
                </a:extLst>
              </p:cNvPr>
              <p:cNvSpPr txBox="1"/>
              <p:nvPr/>
            </p:nvSpPr>
            <p:spPr>
              <a:xfrm>
                <a:off x="6362184" y="5399283"/>
                <a:ext cx="2679708" cy="483466"/>
              </a:xfrm>
              <a:prstGeom prst="rect">
                <a:avLst/>
              </a:prstGeom>
              <a:noFill/>
            </p:spPr>
            <p:txBody>
              <a:bodyPr wrap="none" rtlCol="0">
                <a:spAutoFit/>
              </a:bodyPr>
              <a:lstStyle/>
              <a:p>
                <a14:m>
                  <m:oMath xmlns:m="http://schemas.openxmlformats.org/officeDocument/2006/math">
                    <m:sSub>
                      <m:sSubPr>
                        <m:ctrlPr>
                          <a:rPr lang="en-US" altLang="zh-TW" sz="1800" i="1" smtClean="0">
                            <a:latin typeface="Cambria Math" panose="02040503050406030204" pitchFamily="18" charset="0"/>
                          </a:rPr>
                        </m:ctrlPr>
                      </m:sSubPr>
                      <m:e>
                        <m:r>
                          <a:rPr lang="en-US" altLang="zh-TW" sz="1800" b="0" i="1" smtClean="0">
                            <a:latin typeface="Cambria Math" panose="02040503050406030204" pitchFamily="18" charset="0"/>
                          </a:rPr>
                          <m:t>𝑛</m:t>
                        </m:r>
                      </m:e>
                      <m:sub>
                        <m:r>
                          <a:rPr lang="en-US" altLang="zh-TW" sz="1800" b="0" i="1" smtClean="0">
                            <a:latin typeface="Cambria Math" panose="02040503050406030204" pitchFamily="18" charset="0"/>
                          </a:rPr>
                          <m:t>𝑒</m:t>
                        </m:r>
                      </m:sub>
                    </m:sSub>
                    <m:r>
                      <a:rPr lang="en-US" altLang="zh-TW" sz="1800" b="0" i="1" smtClean="0">
                        <a:latin typeface="Cambria Math" panose="02040503050406030204" pitchFamily="18" charset="0"/>
                      </a:rPr>
                      <m:t>(</m:t>
                    </m:r>
                    <m:r>
                      <a:rPr lang="en-US" altLang="zh-TW" i="1">
                        <a:latin typeface="Cambria Math" panose="02040503050406030204" pitchFamily="18" charset="0"/>
                      </a:rPr>
                      <m:t>𝐸</m:t>
                    </m:r>
                    <m:r>
                      <a:rPr lang="en-US" altLang="zh-TW" i="1" baseline="-25000">
                        <a:latin typeface="Cambria Math" panose="02040503050406030204" pitchFamily="18" charset="0"/>
                      </a:rPr>
                      <m:t>𝑧</m:t>
                    </m:r>
                    <m:r>
                      <a:rPr lang="en-US" altLang="zh-TW" sz="1800" b="0" i="1" smtClean="0">
                        <a:latin typeface="Cambria Math" panose="02040503050406030204" pitchFamily="18" charset="0"/>
                      </a:rPr>
                      <m:t>)</m:t>
                    </m:r>
                  </m:oMath>
                </a14:m>
                <a:r>
                  <a:rPr lang="zh-TW" altLang="en-US" dirty="0"/>
                  <a:t> </a:t>
                </a:r>
                <a14:m>
                  <m:oMath xmlns:m="http://schemas.openxmlformats.org/officeDocument/2006/math">
                    <m:r>
                      <a:rPr lang="en-US" altLang="zh-TW" sz="1800" i="1" smtClean="0">
                        <a:latin typeface="Cambria Math" panose="02040503050406030204" pitchFamily="18" charset="0"/>
                        <a:ea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𝑛</m:t>
                        </m:r>
                      </m:e>
                      <m:sub>
                        <m:r>
                          <a:rPr lang="en-US" altLang="zh-TW" b="0" i="1" smtClean="0">
                            <a:latin typeface="Cambria Math" panose="02040503050406030204" pitchFamily="18" charset="0"/>
                          </a:rPr>
                          <m:t>𝑒</m:t>
                        </m:r>
                      </m:sub>
                    </m:sSub>
                    <m:r>
                      <a:rPr lang="en-US" altLang="zh-TW" b="0" i="1" smtClean="0">
                        <a:latin typeface="Cambria Math" panose="02040503050406030204" pitchFamily="18" charset="0"/>
                      </a:rPr>
                      <m:t> − </m:t>
                    </m:r>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1</m:t>
                        </m:r>
                      </m:num>
                      <m:den>
                        <m:r>
                          <a:rPr lang="en-US" altLang="zh-TW" b="0" i="1" smtClean="0">
                            <a:latin typeface="Cambria Math" panose="02040503050406030204" pitchFamily="18" charset="0"/>
                          </a:rPr>
                          <m:t>2</m:t>
                        </m:r>
                      </m:den>
                    </m:f>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𝑛</m:t>
                        </m:r>
                      </m:e>
                      <m:sub>
                        <m:r>
                          <a:rPr lang="en-US" altLang="zh-TW" b="0" i="1" smtClean="0">
                            <a:latin typeface="Cambria Math" panose="02040503050406030204" pitchFamily="18" charset="0"/>
                          </a:rPr>
                          <m:t>𝑒</m:t>
                        </m:r>
                      </m:sub>
                      <m:sup>
                        <m:r>
                          <a:rPr lang="en-US" altLang="zh-TW" b="0" i="1" smtClean="0">
                            <a:latin typeface="Cambria Math" panose="02040503050406030204" pitchFamily="18" charset="0"/>
                          </a:rPr>
                          <m:t>3</m:t>
                        </m:r>
                      </m:sup>
                    </m:sSubSup>
                    <m:r>
                      <a:rPr lang="en-US" altLang="zh-TW" sz="1800" i="1" smtClean="0">
                        <a:latin typeface="Cambria Math" panose="02040503050406030204" pitchFamily="18" charset="0"/>
                      </a:rPr>
                      <m:t>𝑟</m:t>
                    </m:r>
                    <m:r>
                      <a:rPr lang="en-US" altLang="zh-TW" sz="1800" b="0" i="1" baseline="-25000" smtClean="0">
                        <a:latin typeface="Cambria Math" panose="02040503050406030204" pitchFamily="18" charset="0"/>
                      </a:rPr>
                      <m:t>33</m:t>
                    </m:r>
                    <m:r>
                      <m:rPr>
                        <m:sty m:val="p"/>
                      </m:rPr>
                      <a:rPr lang="en-US" altLang="zh-TW" sz="1800" i="1">
                        <a:latin typeface="Cambria Math" panose="02040503050406030204" pitchFamily="18" charset="0"/>
                      </a:rPr>
                      <m:t>E</m:t>
                    </m:r>
                    <m:r>
                      <a:rPr lang="en-US" altLang="zh-TW" sz="1800" b="0" i="1" baseline="-25000" smtClean="0">
                        <a:latin typeface="Cambria Math" panose="02040503050406030204" pitchFamily="18" charset="0"/>
                      </a:rPr>
                      <m:t>𝑧</m:t>
                    </m:r>
                  </m:oMath>
                </a14:m>
                <a:endParaRPr lang="zh-TW" altLang="en-US" dirty="0"/>
              </a:p>
            </p:txBody>
          </p:sp>
        </mc:Choice>
        <mc:Fallback xmlns="">
          <p:sp>
            <p:nvSpPr>
              <p:cNvPr id="44" name="文字方塊 43">
                <a:extLst>
                  <a:ext uri="{FF2B5EF4-FFF2-40B4-BE49-F238E27FC236}">
                    <a16:creationId xmlns:a16="http://schemas.microsoft.com/office/drawing/2014/main" id="{10DD8C4D-65ED-8FA0-3E98-067802AD53AE}"/>
                  </a:ext>
                </a:extLst>
              </p:cNvPr>
              <p:cNvSpPr txBox="1">
                <a:spLocks noRot="1" noChangeAspect="1" noMove="1" noResize="1" noEditPoints="1" noAdjustHandles="1" noChangeArrowheads="1" noChangeShapeType="1" noTextEdit="1"/>
              </p:cNvSpPr>
              <p:nvPr/>
            </p:nvSpPr>
            <p:spPr>
              <a:xfrm>
                <a:off x="6362184" y="5399283"/>
                <a:ext cx="2679708" cy="483466"/>
              </a:xfrm>
              <a:prstGeom prst="rect">
                <a:avLst/>
              </a:prstGeom>
              <a:blipFill>
                <a:blip r:embed="rId15"/>
                <a:stretch>
                  <a:fillRect b="-2532"/>
                </a:stretch>
              </a:blipFill>
            </p:spPr>
            <p:txBody>
              <a:bodyPr/>
              <a:lstStyle/>
              <a:p>
                <a:r>
                  <a:rPr lang="zh-TW" altLang="en-US">
                    <a:noFill/>
                  </a:rPr>
                  <a:t> </a:t>
                </a:r>
              </a:p>
            </p:txBody>
          </p:sp>
        </mc:Fallback>
      </mc:AlternateContent>
      <p:sp>
        <p:nvSpPr>
          <p:cNvPr id="45" name="矩形: 圓角 44">
            <a:extLst>
              <a:ext uri="{FF2B5EF4-FFF2-40B4-BE49-F238E27FC236}">
                <a16:creationId xmlns:a16="http://schemas.microsoft.com/office/drawing/2014/main" id="{F50383CE-37F6-C4A0-2072-0A16C8374C87}"/>
              </a:ext>
            </a:extLst>
          </p:cNvPr>
          <p:cNvSpPr/>
          <p:nvPr/>
        </p:nvSpPr>
        <p:spPr>
          <a:xfrm>
            <a:off x="7668197" y="4747413"/>
            <a:ext cx="1373695" cy="561662"/>
          </a:xfrm>
          <a:prstGeom prst="round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圓角 45">
            <a:extLst>
              <a:ext uri="{FF2B5EF4-FFF2-40B4-BE49-F238E27FC236}">
                <a16:creationId xmlns:a16="http://schemas.microsoft.com/office/drawing/2014/main" id="{957F059C-3874-2F11-A4DE-8A6D4C35AA2C}"/>
              </a:ext>
            </a:extLst>
          </p:cNvPr>
          <p:cNvSpPr/>
          <p:nvPr/>
        </p:nvSpPr>
        <p:spPr>
          <a:xfrm>
            <a:off x="7668196" y="5403004"/>
            <a:ext cx="1373695" cy="561662"/>
          </a:xfrm>
          <a:prstGeom prst="round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48" name="文字方塊 47">
                <a:extLst>
                  <a:ext uri="{FF2B5EF4-FFF2-40B4-BE49-F238E27FC236}">
                    <a16:creationId xmlns:a16="http://schemas.microsoft.com/office/drawing/2014/main" id="{3D22262E-8B08-1409-2CFA-38D7C59FD810}"/>
                  </a:ext>
                </a:extLst>
              </p:cNvPr>
              <p:cNvSpPr txBox="1"/>
              <p:nvPr/>
            </p:nvSpPr>
            <p:spPr>
              <a:xfrm>
                <a:off x="9041891" y="4841626"/>
                <a:ext cx="573170"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nor/>
                        </m:rPr>
                        <a:rPr lang="en-US" altLang="zh-TW" sz="1600" dirty="0" smtClean="0">
                          <a:solidFill>
                            <a:srgbClr val="FF0000"/>
                          </a:solidFill>
                          <a:latin typeface="arial" panose="020B0604020202020204" pitchFamily="34" charset="0"/>
                        </a:rPr>
                        <m:t>∆</m:t>
                      </m:r>
                      <m:sSub>
                        <m:sSubPr>
                          <m:ctrlPr>
                            <a:rPr lang="en-US" altLang="zh-TW" sz="1600" i="1" dirty="0" smtClean="0">
                              <a:solidFill>
                                <a:srgbClr val="FF0000"/>
                              </a:solidFill>
                              <a:latin typeface="Cambria Math" panose="02040503050406030204" pitchFamily="18" charset="0"/>
                            </a:rPr>
                          </m:ctrlPr>
                        </m:sSubPr>
                        <m:e>
                          <m:r>
                            <a:rPr lang="en-US" altLang="zh-TW" sz="1600" b="0" i="1" dirty="0" smtClean="0">
                              <a:solidFill>
                                <a:srgbClr val="FF0000"/>
                              </a:solidFill>
                              <a:latin typeface="Cambria Math" panose="02040503050406030204" pitchFamily="18" charset="0"/>
                            </a:rPr>
                            <m:t>𝑛</m:t>
                          </m:r>
                        </m:e>
                        <m:sub>
                          <m:r>
                            <a:rPr lang="en-US" altLang="zh-TW" sz="1600" b="0" i="1" dirty="0" smtClean="0">
                              <a:solidFill>
                                <a:srgbClr val="FF0000"/>
                              </a:solidFill>
                              <a:latin typeface="Cambria Math" panose="02040503050406030204" pitchFamily="18" charset="0"/>
                            </a:rPr>
                            <m:t>𝑜</m:t>
                          </m:r>
                        </m:sub>
                      </m:sSub>
                    </m:oMath>
                  </m:oMathPara>
                </a14:m>
                <a:endParaRPr lang="zh-TW" altLang="en-US" sz="1600" dirty="0">
                  <a:solidFill>
                    <a:srgbClr val="FF0000"/>
                  </a:solidFill>
                </a:endParaRPr>
              </a:p>
            </p:txBody>
          </p:sp>
        </mc:Choice>
        <mc:Fallback xmlns="">
          <p:sp>
            <p:nvSpPr>
              <p:cNvPr id="48" name="文字方塊 47">
                <a:extLst>
                  <a:ext uri="{FF2B5EF4-FFF2-40B4-BE49-F238E27FC236}">
                    <a16:creationId xmlns:a16="http://schemas.microsoft.com/office/drawing/2014/main" id="{3D22262E-8B08-1409-2CFA-38D7C59FD810}"/>
                  </a:ext>
                </a:extLst>
              </p:cNvPr>
              <p:cNvSpPr txBox="1">
                <a:spLocks noRot="1" noChangeAspect="1" noMove="1" noResize="1" noEditPoints="1" noAdjustHandles="1" noChangeArrowheads="1" noChangeShapeType="1" noTextEdit="1"/>
              </p:cNvSpPr>
              <p:nvPr/>
            </p:nvSpPr>
            <p:spPr>
              <a:xfrm>
                <a:off x="9041891" y="4841626"/>
                <a:ext cx="573170" cy="338554"/>
              </a:xfrm>
              <a:prstGeom prst="rect">
                <a:avLst/>
              </a:prstGeom>
              <a:blipFill>
                <a:blip r:embed="rId1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9" name="文字方塊 48">
                <a:extLst>
                  <a:ext uri="{FF2B5EF4-FFF2-40B4-BE49-F238E27FC236}">
                    <a16:creationId xmlns:a16="http://schemas.microsoft.com/office/drawing/2014/main" id="{E4C1C3EF-510E-AE8B-7635-85C971904D3E}"/>
                  </a:ext>
                </a:extLst>
              </p:cNvPr>
              <p:cNvSpPr txBox="1"/>
              <p:nvPr/>
            </p:nvSpPr>
            <p:spPr>
              <a:xfrm>
                <a:off x="9041891" y="5514558"/>
                <a:ext cx="568041"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nor/>
                        </m:rPr>
                        <a:rPr lang="en-US" altLang="zh-TW" sz="1600" dirty="0" smtClean="0">
                          <a:solidFill>
                            <a:srgbClr val="FF0000"/>
                          </a:solidFill>
                          <a:latin typeface="arial" panose="020B0604020202020204" pitchFamily="34" charset="0"/>
                        </a:rPr>
                        <m:t>∆</m:t>
                      </m:r>
                      <m:sSub>
                        <m:sSubPr>
                          <m:ctrlPr>
                            <a:rPr lang="en-US" altLang="zh-TW" sz="1600" i="1" dirty="0" smtClean="0">
                              <a:solidFill>
                                <a:srgbClr val="FF0000"/>
                              </a:solidFill>
                              <a:latin typeface="Cambria Math" panose="02040503050406030204" pitchFamily="18" charset="0"/>
                            </a:rPr>
                          </m:ctrlPr>
                        </m:sSubPr>
                        <m:e>
                          <m:r>
                            <a:rPr lang="en-US" altLang="zh-TW" sz="1600" b="0" i="1" dirty="0" smtClean="0">
                              <a:solidFill>
                                <a:srgbClr val="FF0000"/>
                              </a:solidFill>
                              <a:latin typeface="Cambria Math" panose="02040503050406030204" pitchFamily="18" charset="0"/>
                            </a:rPr>
                            <m:t>𝑛</m:t>
                          </m:r>
                        </m:e>
                        <m:sub>
                          <m:r>
                            <a:rPr lang="en-US" altLang="zh-TW" sz="1600" b="0" i="1" dirty="0" smtClean="0">
                              <a:solidFill>
                                <a:srgbClr val="FF0000"/>
                              </a:solidFill>
                              <a:latin typeface="Cambria Math" panose="02040503050406030204" pitchFamily="18" charset="0"/>
                            </a:rPr>
                            <m:t>𝑒</m:t>
                          </m:r>
                        </m:sub>
                      </m:sSub>
                    </m:oMath>
                  </m:oMathPara>
                </a14:m>
                <a:endParaRPr lang="zh-TW" altLang="en-US" sz="1600" dirty="0">
                  <a:solidFill>
                    <a:srgbClr val="FF0000"/>
                  </a:solidFill>
                </a:endParaRPr>
              </a:p>
            </p:txBody>
          </p:sp>
        </mc:Choice>
        <mc:Fallback xmlns="">
          <p:sp>
            <p:nvSpPr>
              <p:cNvPr id="49" name="文字方塊 48">
                <a:extLst>
                  <a:ext uri="{FF2B5EF4-FFF2-40B4-BE49-F238E27FC236}">
                    <a16:creationId xmlns:a16="http://schemas.microsoft.com/office/drawing/2014/main" id="{E4C1C3EF-510E-AE8B-7635-85C971904D3E}"/>
                  </a:ext>
                </a:extLst>
              </p:cNvPr>
              <p:cNvSpPr txBox="1">
                <a:spLocks noRot="1" noChangeAspect="1" noMove="1" noResize="1" noEditPoints="1" noAdjustHandles="1" noChangeArrowheads="1" noChangeShapeType="1" noTextEdit="1"/>
              </p:cNvSpPr>
              <p:nvPr/>
            </p:nvSpPr>
            <p:spPr>
              <a:xfrm>
                <a:off x="9041891" y="5514558"/>
                <a:ext cx="568041" cy="338554"/>
              </a:xfrm>
              <a:prstGeom prst="rect">
                <a:avLst/>
              </a:prstGeom>
              <a:blipFill>
                <a:blip r:embed="rId17"/>
                <a:stretch>
                  <a:fillRect/>
                </a:stretch>
              </a:blipFill>
            </p:spPr>
            <p:txBody>
              <a:bodyPr/>
              <a:lstStyle/>
              <a:p>
                <a:r>
                  <a:rPr lang="zh-TW" altLang="en-US">
                    <a:noFill/>
                  </a:rPr>
                  <a:t> </a:t>
                </a:r>
              </a:p>
            </p:txBody>
          </p:sp>
        </mc:Fallback>
      </mc:AlternateContent>
      <p:sp>
        <p:nvSpPr>
          <p:cNvPr id="50" name="箭號: 上彎 49">
            <a:extLst>
              <a:ext uri="{FF2B5EF4-FFF2-40B4-BE49-F238E27FC236}">
                <a16:creationId xmlns:a16="http://schemas.microsoft.com/office/drawing/2014/main" id="{40716D59-D20F-17BB-44DC-48EDB7975065}"/>
              </a:ext>
            </a:extLst>
          </p:cNvPr>
          <p:cNvSpPr/>
          <p:nvPr/>
        </p:nvSpPr>
        <p:spPr>
          <a:xfrm>
            <a:off x="9435787" y="2633870"/>
            <a:ext cx="716948" cy="2765414"/>
          </a:xfrm>
          <a:prstGeom prst="bentUpArrow">
            <a:avLst>
              <a:gd name="adj1" fmla="val 11178"/>
              <a:gd name="adj2" fmla="val 16175"/>
              <a:gd name="adj3" fmla="val 28270"/>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7030A0"/>
              </a:solidFill>
            </a:endParaRPr>
          </a:p>
        </p:txBody>
      </p:sp>
      <mc:AlternateContent xmlns:mc="http://schemas.openxmlformats.org/markup-compatibility/2006" xmlns:a14="http://schemas.microsoft.com/office/drawing/2010/main">
        <mc:Choice Requires="a14">
          <p:sp>
            <p:nvSpPr>
              <p:cNvPr id="51" name="文字方塊 50">
                <a:extLst>
                  <a:ext uri="{FF2B5EF4-FFF2-40B4-BE49-F238E27FC236}">
                    <a16:creationId xmlns:a16="http://schemas.microsoft.com/office/drawing/2014/main" id="{E862CAE6-CCF0-2571-BC56-C06513679C95}"/>
                  </a:ext>
                </a:extLst>
              </p:cNvPr>
              <p:cNvSpPr txBox="1"/>
              <p:nvPr/>
            </p:nvSpPr>
            <p:spPr>
              <a:xfrm>
                <a:off x="5696183" y="2004009"/>
                <a:ext cx="6495817" cy="535468"/>
              </a:xfrm>
              <a:prstGeom prst="rect">
                <a:avLst/>
              </a:prstGeom>
              <a:noFill/>
            </p:spPr>
            <p:txBody>
              <a:bodyPr wrap="none" rtlCol="0">
                <a:spAutoFit/>
              </a:bodyPr>
              <a:lstStyle/>
              <a:p>
                <a14:m>
                  <m:oMath xmlns:m="http://schemas.openxmlformats.org/officeDocument/2006/math">
                    <m:r>
                      <a:rPr lang="en-US" altLang="zh-TW" sz="2000" b="1" i="1" smtClean="0">
                        <a:latin typeface="Cambria Math" panose="02040503050406030204" pitchFamily="18" charset="0"/>
                      </a:rPr>
                      <m:t>∆</m:t>
                    </m:r>
                    <m:r>
                      <a:rPr lang="en-US" altLang="zh-TW" sz="2000" b="1" i="1" smtClean="0">
                        <a:latin typeface="Cambria Math" panose="02040503050406030204" pitchFamily="18" charset="0"/>
                      </a:rPr>
                      <m:t>𝒏</m:t>
                    </m:r>
                    <m:r>
                      <a:rPr lang="en-US" altLang="zh-TW" sz="2000" b="1" i="1" smtClean="0">
                        <a:latin typeface="Cambria Math" panose="02040503050406030204" pitchFamily="18" charset="0"/>
                        <a:ea typeface="Cambria Math" panose="02040503050406030204" pitchFamily="18" charset="0"/>
                      </a:rPr>
                      <m:t>=</m:t>
                    </m:r>
                    <m:sSub>
                      <m:sSubPr>
                        <m:ctrlPr>
                          <a:rPr lang="en-US" altLang="zh-TW" sz="2000" b="1" i="1">
                            <a:latin typeface="Cambria Math" panose="02040503050406030204" pitchFamily="18" charset="0"/>
                          </a:rPr>
                        </m:ctrlPr>
                      </m:sSubPr>
                      <m:e>
                        <m:sSub>
                          <m:sSubPr>
                            <m:ctrlPr>
                              <a:rPr lang="en-US" altLang="zh-TW" sz="2000" b="1" i="1">
                                <a:latin typeface="Cambria Math" panose="02040503050406030204" pitchFamily="18" charset="0"/>
                              </a:rPr>
                            </m:ctrlPr>
                          </m:sSubPr>
                          <m:e>
                            <m:r>
                              <a:rPr lang="en-US" altLang="zh-TW" sz="2000" b="1" i="1">
                                <a:latin typeface="Cambria Math" panose="02040503050406030204" pitchFamily="18" charset="0"/>
                              </a:rPr>
                              <m:t>𝒏</m:t>
                            </m:r>
                          </m:e>
                          <m:sub>
                            <m:r>
                              <a:rPr lang="en-US" altLang="zh-TW" sz="2000" b="1" i="1">
                                <a:latin typeface="Cambria Math" panose="02040503050406030204" pitchFamily="18" charset="0"/>
                              </a:rPr>
                              <m:t>𝒆</m:t>
                            </m:r>
                          </m:sub>
                        </m:sSub>
                        <m:d>
                          <m:dPr>
                            <m:ctrlPr>
                              <a:rPr lang="en-US" altLang="zh-TW" sz="2000" b="1" i="1">
                                <a:latin typeface="Cambria Math" panose="02040503050406030204" pitchFamily="18" charset="0"/>
                              </a:rPr>
                            </m:ctrlPr>
                          </m:dPr>
                          <m:e>
                            <m:r>
                              <a:rPr lang="en-US" altLang="zh-TW" sz="2000" b="1" i="1">
                                <a:latin typeface="Cambria Math" panose="02040503050406030204" pitchFamily="18" charset="0"/>
                              </a:rPr>
                              <m:t>𝑬</m:t>
                            </m:r>
                            <m:r>
                              <a:rPr lang="en-US" altLang="zh-TW" sz="2000" b="1" i="1" baseline="-25000">
                                <a:latin typeface="Cambria Math" panose="02040503050406030204" pitchFamily="18" charset="0"/>
                              </a:rPr>
                              <m:t>𝒛</m:t>
                            </m:r>
                          </m:e>
                        </m:d>
                        <m:r>
                          <a:rPr lang="en-US" altLang="zh-TW" sz="2000" b="1" i="1" smtClean="0">
                            <a:latin typeface="Cambria Math" panose="02040503050406030204" pitchFamily="18" charset="0"/>
                          </a:rPr>
                          <m:t>−</m:t>
                        </m:r>
                        <m:r>
                          <a:rPr lang="en-US" altLang="zh-TW" sz="2000" b="1" i="1">
                            <a:latin typeface="Cambria Math" panose="02040503050406030204" pitchFamily="18" charset="0"/>
                          </a:rPr>
                          <m:t>𝒏</m:t>
                        </m:r>
                      </m:e>
                      <m:sub>
                        <m:r>
                          <a:rPr lang="en-US" altLang="zh-TW" sz="2000" b="1" i="1">
                            <a:latin typeface="Cambria Math" panose="02040503050406030204" pitchFamily="18" charset="0"/>
                          </a:rPr>
                          <m:t>𝒐</m:t>
                        </m:r>
                      </m:sub>
                    </m:sSub>
                    <m:r>
                      <a:rPr lang="en-US" altLang="zh-TW" sz="2000" b="1" i="1">
                        <a:latin typeface="Cambria Math" panose="02040503050406030204" pitchFamily="18" charset="0"/>
                      </a:rPr>
                      <m:t>(</m:t>
                    </m:r>
                    <m:r>
                      <a:rPr lang="en-US" altLang="zh-TW" sz="2000" b="1" i="1">
                        <a:latin typeface="Cambria Math" panose="02040503050406030204" pitchFamily="18" charset="0"/>
                      </a:rPr>
                      <m:t>𝑬𝒛</m:t>
                    </m:r>
                    <m:r>
                      <a:rPr lang="en-US" altLang="zh-TW" sz="2000" b="1" i="1">
                        <a:latin typeface="Cambria Math" panose="02040503050406030204" pitchFamily="18" charset="0"/>
                      </a:rPr>
                      <m:t>)=</m:t>
                    </m:r>
                    <m:sSub>
                      <m:sSubPr>
                        <m:ctrlPr>
                          <a:rPr lang="en-US" altLang="zh-TW" sz="2000" b="1" i="1">
                            <a:latin typeface="Cambria Math" panose="02040503050406030204" pitchFamily="18" charset="0"/>
                          </a:rPr>
                        </m:ctrlPr>
                      </m:sSubPr>
                      <m:e>
                        <m:r>
                          <a:rPr lang="en-US" altLang="zh-TW" sz="2000" b="1" i="1">
                            <a:latin typeface="Cambria Math" panose="02040503050406030204" pitchFamily="18" charset="0"/>
                          </a:rPr>
                          <m:t>𝒏</m:t>
                        </m:r>
                      </m:e>
                      <m:sub>
                        <m:r>
                          <a:rPr lang="en-US" altLang="zh-TW" sz="2000" b="1" i="1" smtClean="0">
                            <a:latin typeface="Cambria Math" panose="02040503050406030204" pitchFamily="18" charset="0"/>
                          </a:rPr>
                          <m:t>𝒆</m:t>
                        </m:r>
                        <m:r>
                          <a:rPr lang="en-US" altLang="zh-TW" sz="2000" b="1" i="1" smtClean="0">
                            <a:latin typeface="Cambria Math" panose="02040503050406030204" pitchFamily="18" charset="0"/>
                          </a:rPr>
                          <m:t> </m:t>
                        </m:r>
                      </m:sub>
                    </m:sSub>
                    <m:r>
                      <a:rPr lang="en-US" altLang="zh-TW" sz="2000" b="1" i="1" smtClean="0">
                        <a:latin typeface="Cambria Math" panose="02040503050406030204" pitchFamily="18" charset="0"/>
                      </a:rPr>
                      <m:t>−</m:t>
                    </m:r>
                    <m:sSub>
                      <m:sSubPr>
                        <m:ctrlPr>
                          <a:rPr lang="en-US" altLang="zh-TW" sz="2000" b="1" i="1">
                            <a:latin typeface="Cambria Math" panose="02040503050406030204" pitchFamily="18" charset="0"/>
                          </a:rPr>
                        </m:ctrlPr>
                      </m:sSubPr>
                      <m:e>
                        <m:r>
                          <a:rPr lang="en-US" altLang="zh-TW" sz="2000" b="1" i="1">
                            <a:latin typeface="Cambria Math" panose="02040503050406030204" pitchFamily="18" charset="0"/>
                          </a:rPr>
                          <m:t>𝒏</m:t>
                        </m:r>
                      </m:e>
                      <m:sub>
                        <m:r>
                          <a:rPr lang="en-US" altLang="zh-TW" sz="2000" b="1" i="1" smtClean="0">
                            <a:latin typeface="Cambria Math" panose="02040503050406030204" pitchFamily="18" charset="0"/>
                          </a:rPr>
                          <m:t>𝒐</m:t>
                        </m:r>
                      </m:sub>
                    </m:sSub>
                    <m:r>
                      <a:rPr lang="en-US" altLang="zh-TW" sz="2000" b="1" i="1" smtClean="0">
                        <a:latin typeface="Cambria Math" panose="02040503050406030204" pitchFamily="18" charset="0"/>
                      </a:rPr>
                      <m:t> − </m:t>
                    </m:r>
                    <m:f>
                      <m:fPr>
                        <m:ctrlPr>
                          <a:rPr lang="en-US" altLang="zh-TW" sz="2000" b="1" i="1" smtClean="0">
                            <a:latin typeface="Cambria Math" panose="02040503050406030204" pitchFamily="18" charset="0"/>
                          </a:rPr>
                        </m:ctrlPr>
                      </m:fPr>
                      <m:num>
                        <m:r>
                          <a:rPr lang="en-US" altLang="zh-TW" sz="2000" b="1" i="1" smtClean="0">
                            <a:latin typeface="Cambria Math" panose="02040503050406030204" pitchFamily="18" charset="0"/>
                          </a:rPr>
                          <m:t>𝟏</m:t>
                        </m:r>
                      </m:num>
                      <m:den>
                        <m:r>
                          <a:rPr lang="en-US" altLang="zh-TW" sz="2000" b="1" i="1" smtClean="0">
                            <a:latin typeface="Cambria Math" panose="02040503050406030204" pitchFamily="18" charset="0"/>
                          </a:rPr>
                          <m:t>𝟐</m:t>
                        </m:r>
                      </m:den>
                    </m:f>
                    <m:r>
                      <a:rPr lang="en-US" altLang="zh-TW" sz="2000" b="1" i="1" smtClean="0">
                        <a:latin typeface="Cambria Math" panose="02040503050406030204" pitchFamily="18" charset="0"/>
                      </a:rPr>
                      <m:t>(</m:t>
                    </m:r>
                    <m:r>
                      <a:rPr lang="en-US" altLang="zh-TW" sz="2000" b="1" i="1">
                        <a:latin typeface="Cambria Math" panose="02040503050406030204" pitchFamily="18" charset="0"/>
                      </a:rPr>
                      <m:t>𝒓</m:t>
                    </m:r>
                    <m:r>
                      <a:rPr lang="en-US" altLang="zh-TW" sz="2000" b="1" i="1" baseline="-25000" smtClean="0">
                        <a:latin typeface="Cambria Math" panose="02040503050406030204" pitchFamily="18" charset="0"/>
                      </a:rPr>
                      <m:t>𝟑</m:t>
                    </m:r>
                    <m:r>
                      <a:rPr lang="en-US" altLang="zh-TW" sz="2000" b="1" i="1" baseline="-25000">
                        <a:latin typeface="Cambria Math" panose="02040503050406030204" pitchFamily="18" charset="0"/>
                      </a:rPr>
                      <m:t>𝟑</m:t>
                    </m:r>
                    <m:sSubSup>
                      <m:sSubSupPr>
                        <m:ctrlPr>
                          <a:rPr lang="en-US" altLang="zh-TW" sz="2000" b="1" i="1">
                            <a:latin typeface="Cambria Math" panose="02040503050406030204" pitchFamily="18" charset="0"/>
                          </a:rPr>
                        </m:ctrlPr>
                      </m:sSubSupPr>
                      <m:e>
                        <m:r>
                          <a:rPr lang="en-US" altLang="zh-TW" sz="2000" b="1" i="1">
                            <a:latin typeface="Cambria Math" panose="02040503050406030204" pitchFamily="18" charset="0"/>
                          </a:rPr>
                          <m:t>𝒏</m:t>
                        </m:r>
                      </m:e>
                      <m:sub>
                        <m:r>
                          <a:rPr lang="en-US" altLang="zh-TW" sz="2000" b="1" i="1">
                            <a:latin typeface="Cambria Math" panose="02040503050406030204" pitchFamily="18" charset="0"/>
                          </a:rPr>
                          <m:t>𝒐</m:t>
                        </m:r>
                      </m:sub>
                      <m:sup>
                        <m:r>
                          <a:rPr lang="en-US" altLang="zh-TW" sz="2000" b="1" i="1">
                            <a:latin typeface="Cambria Math" panose="02040503050406030204" pitchFamily="18" charset="0"/>
                          </a:rPr>
                          <m:t>𝟑</m:t>
                        </m:r>
                      </m:sup>
                    </m:sSubSup>
                    <m:r>
                      <a:rPr lang="en-US" altLang="zh-TW" sz="2000" b="1" i="1" smtClean="0">
                        <a:latin typeface="Cambria Math" panose="02040503050406030204" pitchFamily="18" charset="0"/>
                      </a:rPr>
                      <m:t>−</m:t>
                    </m:r>
                    <m:r>
                      <a:rPr lang="en-US" altLang="zh-TW" sz="2000" b="1" i="1" smtClean="0">
                        <a:latin typeface="Cambria Math" panose="02040503050406030204" pitchFamily="18" charset="0"/>
                      </a:rPr>
                      <m:t>𝒓</m:t>
                    </m:r>
                    <m:r>
                      <a:rPr lang="en-US" altLang="zh-TW" sz="2000" b="1" i="1" baseline="-25000" smtClean="0">
                        <a:latin typeface="Cambria Math" panose="02040503050406030204" pitchFamily="18" charset="0"/>
                      </a:rPr>
                      <m:t>𝟏𝟑</m:t>
                    </m:r>
                    <m:sSubSup>
                      <m:sSubSupPr>
                        <m:ctrlPr>
                          <a:rPr lang="en-US" altLang="zh-TW" sz="2000" b="1" i="1">
                            <a:latin typeface="Cambria Math" panose="02040503050406030204" pitchFamily="18" charset="0"/>
                          </a:rPr>
                        </m:ctrlPr>
                      </m:sSubSupPr>
                      <m:e>
                        <m:r>
                          <a:rPr lang="en-US" altLang="zh-TW" sz="2000" b="1" i="1">
                            <a:latin typeface="Cambria Math" panose="02040503050406030204" pitchFamily="18" charset="0"/>
                          </a:rPr>
                          <m:t>𝒏</m:t>
                        </m:r>
                      </m:e>
                      <m:sub>
                        <m:r>
                          <a:rPr lang="en-US" altLang="zh-TW" sz="2000" b="1" i="1">
                            <a:latin typeface="Cambria Math" panose="02040503050406030204" pitchFamily="18" charset="0"/>
                          </a:rPr>
                          <m:t>𝒐</m:t>
                        </m:r>
                      </m:sub>
                      <m:sup>
                        <m:r>
                          <a:rPr lang="en-US" altLang="zh-TW" sz="2000" b="1" i="1">
                            <a:latin typeface="Cambria Math" panose="02040503050406030204" pitchFamily="18" charset="0"/>
                          </a:rPr>
                          <m:t>𝟑</m:t>
                        </m:r>
                      </m:sup>
                    </m:sSubSup>
                  </m:oMath>
                </a14:m>
                <a:r>
                  <a:rPr lang="en-US" altLang="zh-TW" sz="2000" b="1" dirty="0"/>
                  <a:t>) </a:t>
                </a:r>
                <a14:m>
                  <m:oMath xmlns:m="http://schemas.openxmlformats.org/officeDocument/2006/math">
                    <m:r>
                      <a:rPr lang="en-US" altLang="zh-TW" sz="2000" b="1" i="1">
                        <a:latin typeface="Cambria Math" panose="02040503050406030204" pitchFamily="18" charset="0"/>
                      </a:rPr>
                      <m:t>𝑬</m:t>
                    </m:r>
                    <m:r>
                      <a:rPr lang="en-US" altLang="zh-TW" sz="2000" b="1" i="1" baseline="-25000">
                        <a:latin typeface="Cambria Math" panose="02040503050406030204" pitchFamily="18" charset="0"/>
                      </a:rPr>
                      <m:t>𝒛</m:t>
                    </m:r>
                  </m:oMath>
                </a14:m>
                <a:endParaRPr lang="zh-TW" altLang="en-US" sz="2000" b="1" dirty="0"/>
              </a:p>
            </p:txBody>
          </p:sp>
        </mc:Choice>
        <mc:Fallback xmlns="">
          <p:sp>
            <p:nvSpPr>
              <p:cNvPr id="51" name="文字方塊 50">
                <a:extLst>
                  <a:ext uri="{FF2B5EF4-FFF2-40B4-BE49-F238E27FC236}">
                    <a16:creationId xmlns:a16="http://schemas.microsoft.com/office/drawing/2014/main" id="{E862CAE6-CCF0-2571-BC56-C06513679C95}"/>
                  </a:ext>
                </a:extLst>
              </p:cNvPr>
              <p:cNvSpPr txBox="1">
                <a:spLocks noRot="1" noChangeAspect="1" noMove="1" noResize="1" noEditPoints="1" noAdjustHandles="1" noChangeArrowheads="1" noChangeShapeType="1" noTextEdit="1"/>
              </p:cNvSpPr>
              <p:nvPr/>
            </p:nvSpPr>
            <p:spPr>
              <a:xfrm>
                <a:off x="5696183" y="2004009"/>
                <a:ext cx="6495817" cy="535468"/>
              </a:xfrm>
              <a:prstGeom prst="rect">
                <a:avLst/>
              </a:prstGeom>
              <a:blipFill>
                <a:blip r:embed="rId18"/>
                <a:stretch>
                  <a:fillRect b="-7955"/>
                </a:stretch>
              </a:blipFill>
            </p:spPr>
            <p:txBody>
              <a:bodyPr/>
              <a:lstStyle/>
              <a:p>
                <a:r>
                  <a:rPr lang="zh-TW" altLang="en-US">
                    <a:noFill/>
                  </a:rPr>
                  <a:t> </a:t>
                </a:r>
              </a:p>
            </p:txBody>
          </p:sp>
        </mc:Fallback>
      </mc:AlternateContent>
      <p:grpSp>
        <p:nvGrpSpPr>
          <p:cNvPr id="7" name="群組 6">
            <a:extLst>
              <a:ext uri="{FF2B5EF4-FFF2-40B4-BE49-F238E27FC236}">
                <a16:creationId xmlns:a16="http://schemas.microsoft.com/office/drawing/2014/main" id="{94128672-8605-C136-A15F-4CFBB85DA0C8}"/>
              </a:ext>
            </a:extLst>
          </p:cNvPr>
          <p:cNvGrpSpPr/>
          <p:nvPr/>
        </p:nvGrpSpPr>
        <p:grpSpPr>
          <a:xfrm>
            <a:off x="10039351" y="79038"/>
            <a:ext cx="499463" cy="673901"/>
            <a:chOff x="9494716" y="1425376"/>
            <a:chExt cx="978393" cy="2670776"/>
          </a:xfrm>
        </p:grpSpPr>
        <p:grpSp>
          <p:nvGrpSpPr>
            <p:cNvPr id="8" name="群組 7">
              <a:extLst>
                <a:ext uri="{FF2B5EF4-FFF2-40B4-BE49-F238E27FC236}">
                  <a16:creationId xmlns:a16="http://schemas.microsoft.com/office/drawing/2014/main" id="{152F9582-1437-2455-40C5-7AF9123CE929}"/>
                </a:ext>
              </a:extLst>
            </p:cNvPr>
            <p:cNvGrpSpPr/>
            <p:nvPr/>
          </p:nvGrpSpPr>
          <p:grpSpPr>
            <a:xfrm>
              <a:off x="9494716" y="1425376"/>
              <a:ext cx="978393" cy="2670776"/>
              <a:chOff x="9494716" y="1425376"/>
              <a:chExt cx="978393" cy="2670776"/>
            </a:xfrm>
          </p:grpSpPr>
          <p:sp>
            <p:nvSpPr>
              <p:cNvPr id="10" name="矩形 9">
                <a:extLst>
                  <a:ext uri="{FF2B5EF4-FFF2-40B4-BE49-F238E27FC236}">
                    <a16:creationId xmlns:a16="http://schemas.microsoft.com/office/drawing/2014/main" id="{F190A0AC-42C6-91D2-FCB7-0EAFBA136F54}"/>
                  </a:ext>
                </a:extLst>
              </p:cNvPr>
              <p:cNvSpPr/>
              <p:nvPr/>
            </p:nvSpPr>
            <p:spPr>
              <a:xfrm>
                <a:off x="9515898" y="2480154"/>
                <a:ext cx="938615" cy="1615784"/>
              </a:xfrm>
              <a:prstGeom prst="rect">
                <a:avLst/>
              </a:prstGeom>
              <a:solidFill>
                <a:srgbClr val="ECDFF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2EE91AAE-B19E-98B4-156D-695D840FF2CE}"/>
                  </a:ext>
                </a:extLst>
              </p:cNvPr>
              <p:cNvSpPr/>
              <p:nvPr/>
            </p:nvSpPr>
            <p:spPr>
              <a:xfrm>
                <a:off x="9527030" y="3404018"/>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2" name="矩形 11">
                <a:extLst>
                  <a:ext uri="{FF2B5EF4-FFF2-40B4-BE49-F238E27FC236}">
                    <a16:creationId xmlns:a16="http://schemas.microsoft.com/office/drawing/2014/main" id="{735A3667-EFA9-9EA7-C983-F02C53033C69}"/>
                  </a:ext>
                </a:extLst>
              </p:cNvPr>
              <p:cNvSpPr/>
              <p:nvPr/>
            </p:nvSpPr>
            <p:spPr>
              <a:xfrm>
                <a:off x="9518613" y="2756692"/>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3" name="矩形 12">
                <a:extLst>
                  <a:ext uri="{FF2B5EF4-FFF2-40B4-BE49-F238E27FC236}">
                    <a16:creationId xmlns:a16="http://schemas.microsoft.com/office/drawing/2014/main" id="{6BB72C6B-0569-7D5F-82D9-D046C0860564}"/>
                  </a:ext>
                </a:extLst>
              </p:cNvPr>
              <p:cNvSpPr/>
              <p:nvPr/>
            </p:nvSpPr>
            <p:spPr>
              <a:xfrm>
                <a:off x="9518613" y="3070938"/>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14" name="直線接點 13">
                <a:extLst>
                  <a:ext uri="{FF2B5EF4-FFF2-40B4-BE49-F238E27FC236}">
                    <a16:creationId xmlns:a16="http://schemas.microsoft.com/office/drawing/2014/main" id="{374BBBE1-2D64-AD2D-75E0-F9C83E08A94B}"/>
                  </a:ext>
                </a:extLst>
              </p:cNvPr>
              <p:cNvCxnSpPr>
                <a:cxnSpLocks/>
              </p:cNvCxnSpPr>
              <p:nvPr/>
            </p:nvCxnSpPr>
            <p:spPr>
              <a:xfrm flipH="1" flipV="1">
                <a:off x="9623221" y="1835345"/>
                <a:ext cx="33216" cy="138626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線接點 14">
                <a:extLst>
                  <a:ext uri="{FF2B5EF4-FFF2-40B4-BE49-F238E27FC236}">
                    <a16:creationId xmlns:a16="http://schemas.microsoft.com/office/drawing/2014/main" id="{3E0DB093-F71F-619F-66EA-51EB61203D20}"/>
                  </a:ext>
                </a:extLst>
              </p:cNvPr>
              <p:cNvCxnSpPr>
                <a:cxnSpLocks/>
              </p:cNvCxnSpPr>
              <p:nvPr/>
            </p:nvCxnSpPr>
            <p:spPr>
              <a:xfrm flipH="1" flipV="1">
                <a:off x="10265739" y="1460627"/>
                <a:ext cx="58170" cy="138626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線接點 15">
                <a:extLst>
                  <a:ext uri="{FF2B5EF4-FFF2-40B4-BE49-F238E27FC236}">
                    <a16:creationId xmlns:a16="http://schemas.microsoft.com/office/drawing/2014/main" id="{9ED6026D-FEC4-5FBA-7BA4-8AB59B9DC8DF}"/>
                  </a:ext>
                </a:extLst>
              </p:cNvPr>
              <p:cNvCxnSpPr>
                <a:cxnSpLocks/>
              </p:cNvCxnSpPr>
              <p:nvPr/>
            </p:nvCxnSpPr>
            <p:spPr>
              <a:xfrm flipV="1">
                <a:off x="9622323" y="1741331"/>
                <a:ext cx="161027" cy="10739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線接點 16">
                <a:extLst>
                  <a:ext uri="{FF2B5EF4-FFF2-40B4-BE49-F238E27FC236}">
                    <a16:creationId xmlns:a16="http://schemas.microsoft.com/office/drawing/2014/main" id="{8A60EACF-A5DA-4166-6F3A-164A4C18239E}"/>
                  </a:ext>
                </a:extLst>
              </p:cNvPr>
              <p:cNvCxnSpPr>
                <a:cxnSpLocks/>
              </p:cNvCxnSpPr>
              <p:nvPr/>
            </p:nvCxnSpPr>
            <p:spPr>
              <a:xfrm flipH="1">
                <a:off x="10050482" y="1451767"/>
                <a:ext cx="221366" cy="1538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橢圓 17">
                <a:extLst>
                  <a:ext uri="{FF2B5EF4-FFF2-40B4-BE49-F238E27FC236}">
                    <a16:creationId xmlns:a16="http://schemas.microsoft.com/office/drawing/2014/main" id="{84AB677F-E1B9-C40A-BEA9-5B44729E4339}"/>
                  </a:ext>
                </a:extLst>
              </p:cNvPr>
              <p:cNvSpPr/>
              <p:nvPr/>
            </p:nvSpPr>
            <p:spPr>
              <a:xfrm>
                <a:off x="9780316" y="1425376"/>
                <a:ext cx="265437" cy="477591"/>
              </a:xfrm>
              <a:prstGeom prst="ellipse">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solidFill>
                      <a:schemeClr val="tx1"/>
                    </a:solidFill>
                  </a:rPr>
                  <a:t>V</a:t>
                </a:r>
                <a:endParaRPr lang="zh-TW" altLang="en-US" b="1" dirty="0">
                  <a:solidFill>
                    <a:schemeClr val="tx1"/>
                  </a:solidFill>
                </a:endParaRPr>
              </a:p>
            </p:txBody>
          </p:sp>
          <p:cxnSp>
            <p:nvCxnSpPr>
              <p:cNvPr id="19" name="直線接點 18">
                <a:extLst>
                  <a:ext uri="{FF2B5EF4-FFF2-40B4-BE49-F238E27FC236}">
                    <a16:creationId xmlns:a16="http://schemas.microsoft.com/office/drawing/2014/main" id="{C493CCC1-182B-896C-6DEB-5CBE377D5FDA}"/>
                  </a:ext>
                </a:extLst>
              </p:cNvPr>
              <p:cNvCxnSpPr>
                <a:cxnSpLocks/>
              </p:cNvCxnSpPr>
              <p:nvPr/>
            </p:nvCxnSpPr>
            <p:spPr>
              <a:xfrm flipH="1" flipV="1">
                <a:off x="10025966" y="1872909"/>
                <a:ext cx="56004" cy="163966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線接點 37">
                <a:extLst>
                  <a:ext uri="{FF2B5EF4-FFF2-40B4-BE49-F238E27FC236}">
                    <a16:creationId xmlns:a16="http://schemas.microsoft.com/office/drawing/2014/main" id="{8A050171-563A-874C-10CC-CB1CADA00808}"/>
                  </a:ext>
                </a:extLst>
              </p:cNvPr>
              <p:cNvCxnSpPr>
                <a:cxnSpLocks/>
              </p:cNvCxnSpPr>
              <p:nvPr/>
            </p:nvCxnSpPr>
            <p:spPr>
              <a:xfrm flipH="1" flipV="1">
                <a:off x="9998614" y="1835343"/>
                <a:ext cx="27352" cy="1243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矩形 40">
                <a:extLst>
                  <a:ext uri="{FF2B5EF4-FFF2-40B4-BE49-F238E27FC236}">
                    <a16:creationId xmlns:a16="http://schemas.microsoft.com/office/drawing/2014/main" id="{342CC569-C31A-580C-B654-E99465666850}"/>
                  </a:ext>
                </a:extLst>
              </p:cNvPr>
              <p:cNvSpPr/>
              <p:nvPr/>
            </p:nvSpPr>
            <p:spPr>
              <a:xfrm>
                <a:off x="9510858" y="3815312"/>
                <a:ext cx="946080" cy="280840"/>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2" name="矩形 41">
                <a:extLst>
                  <a:ext uri="{FF2B5EF4-FFF2-40B4-BE49-F238E27FC236}">
                    <a16:creationId xmlns:a16="http://schemas.microsoft.com/office/drawing/2014/main" id="{3178BF13-65BE-A9E2-6C52-9D9C64D0972F}"/>
                  </a:ext>
                </a:extLst>
              </p:cNvPr>
              <p:cNvSpPr/>
              <p:nvPr/>
            </p:nvSpPr>
            <p:spPr>
              <a:xfrm>
                <a:off x="9494716" y="3054735"/>
                <a:ext cx="943626" cy="230646"/>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9" name="矩形 8">
              <a:extLst>
                <a:ext uri="{FF2B5EF4-FFF2-40B4-BE49-F238E27FC236}">
                  <a16:creationId xmlns:a16="http://schemas.microsoft.com/office/drawing/2014/main" id="{BBFD2002-5DEE-342A-BE49-36545EBDD592}"/>
                </a:ext>
              </a:extLst>
            </p:cNvPr>
            <p:cNvSpPr/>
            <p:nvPr/>
          </p:nvSpPr>
          <p:spPr>
            <a:xfrm>
              <a:off x="9513459" y="3054364"/>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mc:AlternateContent xmlns:mc="http://schemas.openxmlformats.org/markup-compatibility/2006" xmlns:a14="http://schemas.microsoft.com/office/drawing/2010/main">
        <mc:Choice Requires="a14">
          <p:sp>
            <p:nvSpPr>
              <p:cNvPr id="47" name="文字方塊 46">
                <a:extLst>
                  <a:ext uri="{FF2B5EF4-FFF2-40B4-BE49-F238E27FC236}">
                    <a16:creationId xmlns:a16="http://schemas.microsoft.com/office/drawing/2014/main" id="{CD8AB257-0A4C-6799-4DC9-2546E455E03E}"/>
                  </a:ext>
                </a:extLst>
              </p:cNvPr>
              <p:cNvSpPr txBox="1"/>
              <p:nvPr/>
            </p:nvSpPr>
            <p:spPr>
              <a:xfrm>
                <a:off x="5809338" y="1518358"/>
                <a:ext cx="2218593" cy="369332"/>
              </a:xfrm>
              <a:prstGeom prst="rect">
                <a:avLst/>
              </a:prstGeom>
              <a:noFill/>
            </p:spPr>
            <p:txBody>
              <a:bodyPr wrap="square">
                <a:spAutoFit/>
              </a:bodyPr>
              <a:lstStyle/>
              <a:p>
                <a14:m>
                  <m:oMath xmlns:m="http://schemas.openxmlformats.org/officeDocument/2006/math">
                    <m:r>
                      <a:rPr lang="zh-TW" altLang="en-US" b="1" i="1" dirty="0" smtClean="0">
                        <a:solidFill>
                          <a:srgbClr val="000000"/>
                        </a:solidFill>
                        <a:latin typeface="Cambria Math" panose="02040503050406030204" pitchFamily="18" charset="0"/>
                        <a:ea typeface="標楷體" panose="03000509000000000000" pitchFamily="65" charset="-120"/>
                      </a:rPr>
                      <m:t>𝛟</m:t>
                    </m:r>
                    <m:r>
                      <a:rPr lang="en-US" altLang="zh-TW" dirty="0">
                        <a:solidFill>
                          <a:srgbClr val="000000"/>
                        </a:solidFill>
                        <a:latin typeface="Cambria Math" panose="02040503050406030204" pitchFamily="18" charset="0"/>
                        <a:ea typeface="標楷體" panose="03000509000000000000" pitchFamily="65" charset="-120"/>
                      </a:rPr>
                      <m:t>=  </m:t>
                    </m:r>
                  </m:oMath>
                </a14:m>
                <a:r>
                  <a:rPr lang="en-US" altLang="zh-TW" sz="1800" kern="1200" dirty="0">
                    <a:solidFill>
                      <a:srgbClr val="000000"/>
                    </a:solidFill>
                    <a:effectLst/>
                    <a:latin typeface="Times New Roman" panose="02020603050405020304" pitchFamily="18" charset="0"/>
                    <a:ea typeface="標楷體" panose="03000509000000000000" pitchFamily="65" charset="-120"/>
                    <a:cs typeface="+mn-cs"/>
                  </a:rPr>
                  <a:t>2</a:t>
                </a:r>
                <a14:m>
                  <m:oMath xmlns:m="http://schemas.openxmlformats.org/officeDocument/2006/math">
                    <m:r>
                      <m:rPr>
                        <m:sty m:val="p"/>
                      </m:rPr>
                      <a:rPr lang="en-US" altLang="zh-TW" sz="1800" kern="1200">
                        <a:solidFill>
                          <a:srgbClr val="000000"/>
                        </a:solidFill>
                        <a:effectLst/>
                        <a:latin typeface="Cambria Math" panose="02040503050406030204" pitchFamily="18" charset="0"/>
                        <a:ea typeface="標楷體" panose="03000509000000000000" pitchFamily="65" charset="-120"/>
                        <a:cs typeface="+mn-cs"/>
                      </a:rPr>
                      <m:t>π</m:t>
                    </m:r>
                    <m:r>
                      <a:rPr lang="en-US" altLang="zh-TW" b="1" i="1">
                        <a:latin typeface="Cambria Math" panose="02040503050406030204" pitchFamily="18" charset="0"/>
                      </a:rPr>
                      <m:t>∆</m:t>
                    </m:r>
                    <m:r>
                      <a:rPr lang="en-US" altLang="zh-TW" b="1" i="1">
                        <a:latin typeface="Cambria Math" panose="02040503050406030204" pitchFamily="18" charset="0"/>
                      </a:rPr>
                      <m:t>𝒏</m:t>
                    </m:r>
                  </m:oMath>
                </a14:m>
                <a:r>
                  <a:rPr lang="en-US" altLang="zh-TW" sz="1800" kern="1200" dirty="0" err="1">
                    <a:solidFill>
                      <a:srgbClr val="000000"/>
                    </a:solidFill>
                    <a:effectLst/>
                    <a:latin typeface="Times New Roman" panose="02020603050405020304" pitchFamily="18" charset="0"/>
                    <a:ea typeface="標楷體" panose="03000509000000000000" pitchFamily="65" charset="-120"/>
                    <a:cs typeface="+mn-cs"/>
                  </a:rPr>
                  <a:t>L</a:t>
                </a:r>
                <a:r>
                  <a:rPr lang="en-US" altLang="zh-TW" sz="1800" kern="1200" dirty="0">
                    <a:solidFill>
                      <a:srgbClr val="000000"/>
                    </a:solidFill>
                    <a:effectLst/>
                    <a:latin typeface="Times New Roman" panose="02020603050405020304" pitchFamily="18" charset="0"/>
                    <a:ea typeface="標楷體" panose="03000509000000000000" pitchFamily="65" charset="-120"/>
                    <a:cs typeface="+mn-cs"/>
                  </a:rPr>
                  <a:t>/ </a:t>
                </a:r>
                <a14:m>
                  <m:oMath xmlns:m="http://schemas.openxmlformats.org/officeDocument/2006/math">
                    <m:r>
                      <m:rPr>
                        <m:nor/>
                      </m:rPr>
                      <a:rPr lang="el-GR" altLang="zh-TW" sz="1800" kern="1200" smtClean="0">
                        <a:solidFill>
                          <a:srgbClr val="000000"/>
                        </a:solidFill>
                        <a:effectLst/>
                        <a:latin typeface="Times New Roman" panose="02020603050405020304" pitchFamily="18" charset="0"/>
                        <a:ea typeface="標楷體" panose="03000509000000000000" pitchFamily="65" charset="-120"/>
                        <a:cs typeface="+mn-cs"/>
                      </a:rPr>
                      <m:t>λ</m:t>
                    </m:r>
                  </m:oMath>
                </a14:m>
                <a:endParaRPr lang="zh-TW" altLang="en-US" dirty="0"/>
              </a:p>
            </p:txBody>
          </p:sp>
        </mc:Choice>
        <mc:Fallback xmlns="">
          <p:sp>
            <p:nvSpPr>
              <p:cNvPr id="47" name="文字方塊 46">
                <a:extLst>
                  <a:ext uri="{FF2B5EF4-FFF2-40B4-BE49-F238E27FC236}">
                    <a16:creationId xmlns:a16="http://schemas.microsoft.com/office/drawing/2014/main" id="{CD8AB257-0A4C-6799-4DC9-2546E455E03E}"/>
                  </a:ext>
                </a:extLst>
              </p:cNvPr>
              <p:cNvSpPr txBox="1">
                <a:spLocks noRot="1" noChangeAspect="1" noMove="1" noResize="1" noEditPoints="1" noAdjustHandles="1" noChangeArrowheads="1" noChangeShapeType="1" noTextEdit="1"/>
              </p:cNvSpPr>
              <p:nvPr/>
            </p:nvSpPr>
            <p:spPr>
              <a:xfrm>
                <a:off x="5809338" y="1518358"/>
                <a:ext cx="2218593" cy="369332"/>
              </a:xfrm>
              <a:prstGeom prst="rect">
                <a:avLst/>
              </a:prstGeom>
              <a:blipFill>
                <a:blip r:embed="rId19"/>
                <a:stretch>
                  <a:fillRect l="-824" t="-9836" b="-22951"/>
                </a:stretch>
              </a:blipFill>
            </p:spPr>
            <p:txBody>
              <a:bodyPr/>
              <a:lstStyle/>
              <a:p>
                <a:r>
                  <a:rPr lang="zh-TW" altLang="en-US">
                    <a:noFill/>
                  </a:rPr>
                  <a:t> </a:t>
                </a:r>
              </a:p>
            </p:txBody>
          </p:sp>
        </mc:Fallback>
      </mc:AlternateContent>
      <p:sp>
        <p:nvSpPr>
          <p:cNvPr id="53" name="箭號: 上彎 52">
            <a:extLst>
              <a:ext uri="{FF2B5EF4-FFF2-40B4-BE49-F238E27FC236}">
                <a16:creationId xmlns:a16="http://schemas.microsoft.com/office/drawing/2014/main" id="{B29FDDC2-7F3B-E635-842A-AEA38008DDA3}"/>
              </a:ext>
            </a:extLst>
          </p:cNvPr>
          <p:cNvSpPr/>
          <p:nvPr/>
        </p:nvSpPr>
        <p:spPr>
          <a:xfrm rot="16200000">
            <a:off x="8551957" y="557281"/>
            <a:ext cx="409003" cy="2565786"/>
          </a:xfrm>
          <a:prstGeom prst="bentUpArrow">
            <a:avLst>
              <a:gd name="adj1" fmla="val 19612"/>
              <a:gd name="adj2" fmla="val 17153"/>
              <a:gd name="adj3" fmla="val 28145"/>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4" name="矩形 53">
            <a:extLst>
              <a:ext uri="{FF2B5EF4-FFF2-40B4-BE49-F238E27FC236}">
                <a16:creationId xmlns:a16="http://schemas.microsoft.com/office/drawing/2014/main" id="{08D21927-9E9F-242A-C113-E406FCC83B19}"/>
              </a:ext>
            </a:extLst>
          </p:cNvPr>
          <p:cNvSpPr/>
          <p:nvPr/>
        </p:nvSpPr>
        <p:spPr>
          <a:xfrm>
            <a:off x="5809338" y="1456540"/>
            <a:ext cx="1664228" cy="478704"/>
          </a:xfrm>
          <a:prstGeom prst="rect">
            <a:avLst/>
          </a:prstGeom>
          <a:noFill/>
          <a:ln w="28575">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146082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100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1000"/>
                                        <p:tgtEl>
                                          <p:spTgt spid="2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1000"/>
                                        <p:tgtEl>
                                          <p:spTgt spid="2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fade">
                                      <p:cBhvr>
                                        <p:cTn id="21" dur="500"/>
                                        <p:tgtEl>
                                          <p:spTgt spid="3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fade">
                                      <p:cBhvr>
                                        <p:cTn id="29" dur="500"/>
                                        <p:tgtEl>
                                          <p:spTgt spid="25"/>
                                        </p:tgtEl>
                                      </p:cBhvr>
                                    </p:animEffect>
                                  </p:childTnLst>
                                </p:cTn>
                              </p:par>
                              <p:par>
                                <p:cTn id="30" presetID="10" presetClass="entr" presetSubtype="0" fill="hold" nodeType="with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00"/>
                                        <p:tgtEl>
                                          <p:spTgt spid="2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fade">
                                      <p:cBhvr>
                                        <p:cTn id="38" dur="500"/>
                                        <p:tgtEl>
                                          <p:spTgt spid="29"/>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500"/>
                                        <p:tgtEl>
                                          <p:spTgt spid="26"/>
                                        </p:tgtEl>
                                      </p:cBhvr>
                                    </p:animEffect>
                                  </p:childTnLst>
                                </p:cTn>
                              </p:par>
                              <p:par>
                                <p:cTn id="44" presetID="10" presetClass="exit" presetSubtype="0" fill="hold" grpId="1" nodeType="withEffect">
                                  <p:stCondLst>
                                    <p:cond delay="0"/>
                                  </p:stCondLst>
                                  <p:childTnLst>
                                    <p:animEffect transition="out" filter="fade">
                                      <p:cBhvr>
                                        <p:cTn id="45" dur="500"/>
                                        <p:tgtEl>
                                          <p:spTgt spid="27"/>
                                        </p:tgtEl>
                                      </p:cBhvr>
                                    </p:animEffect>
                                    <p:set>
                                      <p:cBhvr>
                                        <p:cTn id="46" dur="1" fill="hold">
                                          <p:stCondLst>
                                            <p:cond delay="499"/>
                                          </p:stCondLst>
                                        </p:cTn>
                                        <p:tgtEl>
                                          <p:spTgt spid="27"/>
                                        </p:tgtEl>
                                        <p:attrNameLst>
                                          <p:attrName>style.visibility</p:attrName>
                                        </p:attrNameLst>
                                      </p:cBhvr>
                                      <p:to>
                                        <p:strVal val="hidden"/>
                                      </p:to>
                                    </p:set>
                                  </p:childTnLst>
                                </p:cTn>
                              </p:par>
                              <p:par>
                                <p:cTn id="47" presetID="10" presetClass="entr" presetSubtype="0" fill="hold" grpId="0" nodeType="with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fade">
                                      <p:cBhvr>
                                        <p:cTn id="49" dur="500"/>
                                        <p:tgtEl>
                                          <p:spTgt spid="28"/>
                                        </p:tgtEl>
                                      </p:cBhvr>
                                    </p:animEffect>
                                  </p:childTnLst>
                                </p:cTn>
                              </p:par>
                              <p:par>
                                <p:cTn id="50" presetID="10" presetClass="exit" presetSubtype="0" fill="hold" grpId="1" nodeType="withEffect">
                                  <p:stCondLst>
                                    <p:cond delay="0"/>
                                  </p:stCondLst>
                                  <p:childTnLst>
                                    <p:animEffect transition="out" filter="fade">
                                      <p:cBhvr>
                                        <p:cTn id="51" dur="500"/>
                                        <p:tgtEl>
                                          <p:spTgt spid="29"/>
                                        </p:tgtEl>
                                      </p:cBhvr>
                                    </p:animEffect>
                                    <p:set>
                                      <p:cBhvr>
                                        <p:cTn id="52" dur="1" fill="hold">
                                          <p:stCondLst>
                                            <p:cond delay="499"/>
                                          </p:stCondLst>
                                        </p:cTn>
                                        <p:tgtEl>
                                          <p:spTgt spid="29"/>
                                        </p:tgtEl>
                                        <p:attrNameLst>
                                          <p:attrName>style.visibility</p:attrName>
                                        </p:attrNameLst>
                                      </p:cBhvr>
                                      <p:to>
                                        <p:strVal val="hidden"/>
                                      </p:to>
                                    </p:set>
                                  </p:childTnLst>
                                </p:cTn>
                              </p:par>
                              <p:par>
                                <p:cTn id="53" presetID="22" presetClass="entr" presetSubtype="4"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wipe(down)">
                                      <p:cBhvr>
                                        <p:cTn id="55" dur="500"/>
                                        <p:tgtEl>
                                          <p:spTgt spid="30"/>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40"/>
                                        </p:tgtEl>
                                        <p:attrNameLst>
                                          <p:attrName>style.visibility</p:attrName>
                                        </p:attrNameLst>
                                      </p:cBhvr>
                                      <p:to>
                                        <p:strVal val="visible"/>
                                      </p:to>
                                    </p:set>
                                    <p:animEffect transition="in" filter="fade">
                                      <p:cBhvr>
                                        <p:cTn id="60" dur="500"/>
                                        <p:tgtEl>
                                          <p:spTgt spid="40"/>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35"/>
                                        </p:tgtEl>
                                        <p:attrNameLst>
                                          <p:attrName>style.visibility</p:attrName>
                                        </p:attrNameLst>
                                      </p:cBhvr>
                                      <p:to>
                                        <p:strVal val="visible"/>
                                      </p:to>
                                    </p:set>
                                    <p:animEffect transition="in" filter="wipe(left)">
                                      <p:cBhvr>
                                        <p:cTn id="65" dur="500"/>
                                        <p:tgtEl>
                                          <p:spTgt spid="35"/>
                                        </p:tgtEl>
                                      </p:cBhvr>
                                    </p:animEffect>
                                  </p:childTnLst>
                                </p:cTn>
                              </p:par>
                            </p:childTnLst>
                          </p:cTn>
                        </p:par>
                        <p:par>
                          <p:cTn id="66" fill="hold">
                            <p:stCondLst>
                              <p:cond delay="500"/>
                            </p:stCondLst>
                            <p:childTnLst>
                              <p:par>
                                <p:cTn id="67" presetID="10" presetClass="entr" presetSubtype="0" fill="hold" grpId="0" nodeType="afterEffect">
                                  <p:stCondLst>
                                    <p:cond delay="0"/>
                                  </p:stCondLst>
                                  <p:childTnLst>
                                    <p:set>
                                      <p:cBhvr>
                                        <p:cTn id="68" dur="1" fill="hold">
                                          <p:stCondLst>
                                            <p:cond delay="0"/>
                                          </p:stCondLst>
                                        </p:cTn>
                                        <p:tgtEl>
                                          <p:spTgt spid="34"/>
                                        </p:tgtEl>
                                        <p:attrNameLst>
                                          <p:attrName>style.visibility</p:attrName>
                                        </p:attrNameLst>
                                      </p:cBhvr>
                                      <p:to>
                                        <p:strVal val="visible"/>
                                      </p:to>
                                    </p:set>
                                    <p:animEffect transition="in" filter="fade">
                                      <p:cBhvr>
                                        <p:cTn id="69" dur="500"/>
                                        <p:tgtEl>
                                          <p:spTgt spid="34"/>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36"/>
                                        </p:tgtEl>
                                        <p:attrNameLst>
                                          <p:attrName>style.visibility</p:attrName>
                                        </p:attrNameLst>
                                      </p:cBhvr>
                                      <p:to>
                                        <p:strVal val="visible"/>
                                      </p:to>
                                    </p:set>
                                    <p:animEffect transition="in" filter="wipe(left)">
                                      <p:cBhvr>
                                        <p:cTn id="74" dur="500"/>
                                        <p:tgtEl>
                                          <p:spTgt spid="36"/>
                                        </p:tgtEl>
                                      </p:cBhvr>
                                    </p:animEffect>
                                  </p:childTnLst>
                                </p:cTn>
                              </p:par>
                            </p:childTnLst>
                          </p:cTn>
                        </p:par>
                        <p:par>
                          <p:cTn id="75" fill="hold">
                            <p:stCondLst>
                              <p:cond delay="500"/>
                            </p:stCondLst>
                            <p:childTnLst>
                              <p:par>
                                <p:cTn id="76" presetID="10" presetClass="entr" presetSubtype="0" fill="hold" grpId="0" nodeType="afterEffect">
                                  <p:stCondLst>
                                    <p:cond delay="0"/>
                                  </p:stCondLst>
                                  <p:childTnLst>
                                    <p:set>
                                      <p:cBhvr>
                                        <p:cTn id="77" dur="1" fill="hold">
                                          <p:stCondLst>
                                            <p:cond delay="0"/>
                                          </p:stCondLst>
                                        </p:cTn>
                                        <p:tgtEl>
                                          <p:spTgt spid="37"/>
                                        </p:tgtEl>
                                        <p:attrNameLst>
                                          <p:attrName>style.visibility</p:attrName>
                                        </p:attrNameLst>
                                      </p:cBhvr>
                                      <p:to>
                                        <p:strVal val="visible"/>
                                      </p:to>
                                    </p:set>
                                    <p:animEffect transition="in" filter="fade">
                                      <p:cBhvr>
                                        <p:cTn id="78" dur="500"/>
                                        <p:tgtEl>
                                          <p:spTgt spid="37"/>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4" fill="hold" grpId="0" nodeType="clickEffect">
                                  <p:stCondLst>
                                    <p:cond delay="0"/>
                                  </p:stCondLst>
                                  <p:childTnLst>
                                    <p:set>
                                      <p:cBhvr>
                                        <p:cTn id="82" dur="1" fill="hold">
                                          <p:stCondLst>
                                            <p:cond delay="0"/>
                                          </p:stCondLst>
                                        </p:cTn>
                                        <p:tgtEl>
                                          <p:spTgt spid="39"/>
                                        </p:tgtEl>
                                        <p:attrNameLst>
                                          <p:attrName>style.visibility</p:attrName>
                                        </p:attrNameLst>
                                      </p:cBhvr>
                                      <p:to>
                                        <p:strVal val="visible"/>
                                      </p:to>
                                    </p:set>
                                    <p:animEffect transition="in" filter="wipe(down)">
                                      <p:cBhvr>
                                        <p:cTn id="83" dur="750"/>
                                        <p:tgtEl>
                                          <p:spTgt spid="39"/>
                                        </p:tgtEl>
                                      </p:cBhvr>
                                    </p:animEffect>
                                  </p:childTnLst>
                                </p:cTn>
                              </p:par>
                            </p:childTnLst>
                          </p:cTn>
                        </p:par>
                        <p:par>
                          <p:cTn id="84" fill="hold">
                            <p:stCondLst>
                              <p:cond delay="750"/>
                            </p:stCondLst>
                            <p:childTnLst>
                              <p:par>
                                <p:cTn id="85" presetID="10" presetClass="entr" presetSubtype="0" fill="hold" grpId="0" nodeType="afterEffect">
                                  <p:stCondLst>
                                    <p:cond delay="0"/>
                                  </p:stCondLst>
                                  <p:childTnLst>
                                    <p:set>
                                      <p:cBhvr>
                                        <p:cTn id="86" dur="1" fill="hold">
                                          <p:stCondLst>
                                            <p:cond delay="0"/>
                                          </p:stCondLst>
                                        </p:cTn>
                                        <p:tgtEl>
                                          <p:spTgt spid="43"/>
                                        </p:tgtEl>
                                        <p:attrNameLst>
                                          <p:attrName>style.visibility</p:attrName>
                                        </p:attrNameLst>
                                      </p:cBhvr>
                                      <p:to>
                                        <p:strVal val="visible"/>
                                      </p:to>
                                    </p:set>
                                    <p:animEffect transition="in" filter="fade">
                                      <p:cBhvr>
                                        <p:cTn id="87" dur="500"/>
                                        <p:tgtEl>
                                          <p:spTgt spid="43"/>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4"/>
                                        </p:tgtEl>
                                        <p:attrNameLst>
                                          <p:attrName>style.visibility</p:attrName>
                                        </p:attrNameLst>
                                      </p:cBhvr>
                                      <p:to>
                                        <p:strVal val="visible"/>
                                      </p:to>
                                    </p:set>
                                    <p:animEffect transition="in" filter="fade">
                                      <p:cBhvr>
                                        <p:cTn id="90" dur="500"/>
                                        <p:tgtEl>
                                          <p:spTgt spid="44"/>
                                        </p:tgtEl>
                                      </p:cBhvr>
                                    </p:animEffect>
                                  </p:childTnLst>
                                </p:cTn>
                              </p:par>
                            </p:childTnLst>
                          </p:cTn>
                        </p:par>
                        <p:par>
                          <p:cTn id="91" fill="hold">
                            <p:stCondLst>
                              <p:cond delay="1250"/>
                            </p:stCondLst>
                            <p:childTnLst>
                              <p:par>
                                <p:cTn id="92" presetID="22" presetClass="entr" presetSubtype="4" fill="hold" grpId="0" nodeType="afterEffect">
                                  <p:stCondLst>
                                    <p:cond delay="0"/>
                                  </p:stCondLst>
                                  <p:childTnLst>
                                    <p:set>
                                      <p:cBhvr>
                                        <p:cTn id="93" dur="1" fill="hold">
                                          <p:stCondLst>
                                            <p:cond delay="0"/>
                                          </p:stCondLst>
                                        </p:cTn>
                                        <p:tgtEl>
                                          <p:spTgt spid="45"/>
                                        </p:tgtEl>
                                        <p:attrNameLst>
                                          <p:attrName>style.visibility</p:attrName>
                                        </p:attrNameLst>
                                      </p:cBhvr>
                                      <p:to>
                                        <p:strVal val="visible"/>
                                      </p:to>
                                    </p:set>
                                    <p:animEffect transition="in" filter="wipe(down)">
                                      <p:cBhvr>
                                        <p:cTn id="94" dur="500"/>
                                        <p:tgtEl>
                                          <p:spTgt spid="45"/>
                                        </p:tgtEl>
                                      </p:cBhvr>
                                    </p:animEffect>
                                  </p:childTnLst>
                                </p:cTn>
                              </p:par>
                              <p:par>
                                <p:cTn id="95" presetID="22" presetClass="entr" presetSubtype="4" fill="hold" grpId="0" nodeType="withEffect">
                                  <p:stCondLst>
                                    <p:cond delay="0"/>
                                  </p:stCondLst>
                                  <p:childTnLst>
                                    <p:set>
                                      <p:cBhvr>
                                        <p:cTn id="96" dur="1" fill="hold">
                                          <p:stCondLst>
                                            <p:cond delay="0"/>
                                          </p:stCondLst>
                                        </p:cTn>
                                        <p:tgtEl>
                                          <p:spTgt spid="46"/>
                                        </p:tgtEl>
                                        <p:attrNameLst>
                                          <p:attrName>style.visibility</p:attrName>
                                        </p:attrNameLst>
                                      </p:cBhvr>
                                      <p:to>
                                        <p:strVal val="visible"/>
                                      </p:to>
                                    </p:set>
                                    <p:animEffect transition="in" filter="wipe(down)">
                                      <p:cBhvr>
                                        <p:cTn id="97" dur="500"/>
                                        <p:tgtEl>
                                          <p:spTgt spid="46"/>
                                        </p:tgtEl>
                                      </p:cBhvr>
                                    </p:animEffect>
                                  </p:childTnLst>
                                </p:cTn>
                              </p:par>
                              <p:par>
                                <p:cTn id="98" presetID="22" presetClass="entr" presetSubtype="4" fill="hold" grpId="0" nodeType="withEffect">
                                  <p:stCondLst>
                                    <p:cond delay="0"/>
                                  </p:stCondLst>
                                  <p:childTnLst>
                                    <p:set>
                                      <p:cBhvr>
                                        <p:cTn id="99" dur="1" fill="hold">
                                          <p:stCondLst>
                                            <p:cond delay="0"/>
                                          </p:stCondLst>
                                        </p:cTn>
                                        <p:tgtEl>
                                          <p:spTgt spid="49"/>
                                        </p:tgtEl>
                                        <p:attrNameLst>
                                          <p:attrName>style.visibility</p:attrName>
                                        </p:attrNameLst>
                                      </p:cBhvr>
                                      <p:to>
                                        <p:strVal val="visible"/>
                                      </p:to>
                                    </p:set>
                                    <p:animEffect transition="in" filter="wipe(down)">
                                      <p:cBhvr>
                                        <p:cTn id="100" dur="500"/>
                                        <p:tgtEl>
                                          <p:spTgt spid="49"/>
                                        </p:tgtEl>
                                      </p:cBhvr>
                                    </p:animEffect>
                                  </p:childTnLst>
                                </p:cTn>
                              </p:par>
                              <p:par>
                                <p:cTn id="101" presetID="22" presetClass="entr" presetSubtype="4" fill="hold" grpId="0" nodeType="withEffect">
                                  <p:stCondLst>
                                    <p:cond delay="0"/>
                                  </p:stCondLst>
                                  <p:childTnLst>
                                    <p:set>
                                      <p:cBhvr>
                                        <p:cTn id="102" dur="1" fill="hold">
                                          <p:stCondLst>
                                            <p:cond delay="0"/>
                                          </p:stCondLst>
                                        </p:cTn>
                                        <p:tgtEl>
                                          <p:spTgt spid="48"/>
                                        </p:tgtEl>
                                        <p:attrNameLst>
                                          <p:attrName>style.visibility</p:attrName>
                                        </p:attrNameLst>
                                      </p:cBhvr>
                                      <p:to>
                                        <p:strVal val="visible"/>
                                      </p:to>
                                    </p:set>
                                    <p:animEffect transition="in" filter="wipe(down)">
                                      <p:cBhvr>
                                        <p:cTn id="103" dur="500"/>
                                        <p:tgtEl>
                                          <p:spTgt spid="48"/>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4" fill="hold" grpId="0" nodeType="clickEffect">
                                  <p:stCondLst>
                                    <p:cond delay="0"/>
                                  </p:stCondLst>
                                  <p:childTnLst>
                                    <p:set>
                                      <p:cBhvr>
                                        <p:cTn id="107" dur="1" fill="hold">
                                          <p:stCondLst>
                                            <p:cond delay="0"/>
                                          </p:stCondLst>
                                        </p:cTn>
                                        <p:tgtEl>
                                          <p:spTgt spid="50"/>
                                        </p:tgtEl>
                                        <p:attrNameLst>
                                          <p:attrName>style.visibility</p:attrName>
                                        </p:attrNameLst>
                                      </p:cBhvr>
                                      <p:to>
                                        <p:strVal val="visible"/>
                                      </p:to>
                                    </p:set>
                                    <p:animEffect transition="in" filter="wipe(down)">
                                      <p:cBhvr>
                                        <p:cTn id="108" dur="500"/>
                                        <p:tgtEl>
                                          <p:spTgt spid="50"/>
                                        </p:tgtEl>
                                      </p:cBhvr>
                                    </p:animEffect>
                                  </p:childTnLst>
                                </p:cTn>
                              </p:par>
                            </p:childTnLst>
                          </p:cTn>
                        </p:par>
                        <p:par>
                          <p:cTn id="109" fill="hold">
                            <p:stCondLst>
                              <p:cond delay="500"/>
                            </p:stCondLst>
                            <p:childTnLst>
                              <p:par>
                                <p:cTn id="110" presetID="10" presetClass="entr" presetSubtype="0" fill="hold" grpId="0" nodeType="afterEffect">
                                  <p:stCondLst>
                                    <p:cond delay="0"/>
                                  </p:stCondLst>
                                  <p:childTnLst>
                                    <p:set>
                                      <p:cBhvr>
                                        <p:cTn id="111" dur="1" fill="hold">
                                          <p:stCondLst>
                                            <p:cond delay="0"/>
                                          </p:stCondLst>
                                        </p:cTn>
                                        <p:tgtEl>
                                          <p:spTgt spid="51"/>
                                        </p:tgtEl>
                                        <p:attrNameLst>
                                          <p:attrName>style.visibility</p:attrName>
                                        </p:attrNameLst>
                                      </p:cBhvr>
                                      <p:to>
                                        <p:strVal val="visible"/>
                                      </p:to>
                                    </p:set>
                                    <p:animEffect transition="in" filter="fade">
                                      <p:cBhvr>
                                        <p:cTn id="112" dur="500"/>
                                        <p:tgtEl>
                                          <p:spTgt spid="51"/>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4" fill="hold" grpId="0" nodeType="clickEffect">
                                  <p:stCondLst>
                                    <p:cond delay="0"/>
                                  </p:stCondLst>
                                  <p:childTnLst>
                                    <p:set>
                                      <p:cBhvr>
                                        <p:cTn id="116" dur="1" fill="hold">
                                          <p:stCondLst>
                                            <p:cond delay="0"/>
                                          </p:stCondLst>
                                        </p:cTn>
                                        <p:tgtEl>
                                          <p:spTgt spid="53"/>
                                        </p:tgtEl>
                                        <p:attrNameLst>
                                          <p:attrName>style.visibility</p:attrName>
                                        </p:attrNameLst>
                                      </p:cBhvr>
                                      <p:to>
                                        <p:strVal val="visible"/>
                                      </p:to>
                                    </p:set>
                                    <p:animEffect transition="in" filter="wipe(down)">
                                      <p:cBhvr>
                                        <p:cTn id="117" dur="1000"/>
                                        <p:tgtEl>
                                          <p:spTgt spid="53"/>
                                        </p:tgtEl>
                                      </p:cBhvr>
                                    </p:animEffect>
                                  </p:childTnLst>
                                </p:cTn>
                              </p:par>
                            </p:childTnLst>
                          </p:cTn>
                        </p:par>
                        <p:par>
                          <p:cTn id="118" fill="hold">
                            <p:stCondLst>
                              <p:cond delay="1000"/>
                            </p:stCondLst>
                            <p:childTnLst>
                              <p:par>
                                <p:cTn id="119" presetID="10" presetClass="entr" presetSubtype="0" fill="hold" grpId="0" nodeType="afterEffect">
                                  <p:stCondLst>
                                    <p:cond delay="0"/>
                                  </p:stCondLst>
                                  <p:childTnLst>
                                    <p:set>
                                      <p:cBhvr>
                                        <p:cTn id="120" dur="1" fill="hold">
                                          <p:stCondLst>
                                            <p:cond delay="0"/>
                                          </p:stCondLst>
                                        </p:cTn>
                                        <p:tgtEl>
                                          <p:spTgt spid="47"/>
                                        </p:tgtEl>
                                        <p:attrNameLst>
                                          <p:attrName>style.visibility</p:attrName>
                                        </p:attrNameLst>
                                      </p:cBhvr>
                                      <p:to>
                                        <p:strVal val="visible"/>
                                      </p:to>
                                    </p:set>
                                    <p:animEffect transition="in" filter="fade">
                                      <p:cBhvr>
                                        <p:cTn id="121" dur="500"/>
                                        <p:tgtEl>
                                          <p:spTgt spid="47"/>
                                        </p:tgtEl>
                                      </p:cBhvr>
                                    </p:animEffect>
                                  </p:childTnLst>
                                </p:cTn>
                              </p:par>
                            </p:childTnLst>
                          </p:cTn>
                        </p:par>
                        <p:par>
                          <p:cTn id="122" fill="hold">
                            <p:stCondLst>
                              <p:cond delay="1500"/>
                            </p:stCondLst>
                            <p:childTnLst>
                              <p:par>
                                <p:cTn id="123" presetID="10" presetClass="entr" presetSubtype="0" fill="hold" grpId="0" nodeType="afterEffect">
                                  <p:stCondLst>
                                    <p:cond delay="0"/>
                                  </p:stCondLst>
                                  <p:childTnLst>
                                    <p:set>
                                      <p:cBhvr>
                                        <p:cTn id="124" dur="1" fill="hold">
                                          <p:stCondLst>
                                            <p:cond delay="0"/>
                                          </p:stCondLst>
                                        </p:cTn>
                                        <p:tgtEl>
                                          <p:spTgt spid="54"/>
                                        </p:tgtEl>
                                        <p:attrNameLst>
                                          <p:attrName>style.visibility</p:attrName>
                                        </p:attrNameLst>
                                      </p:cBhvr>
                                      <p:to>
                                        <p:strVal val="visible"/>
                                      </p:to>
                                    </p:set>
                                    <p:animEffect transition="in" filter="fade">
                                      <p:cBhvr>
                                        <p:cTn id="125"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p:bldP spid="23" grpId="0"/>
      <p:bldP spid="24" grpId="0" animBg="1"/>
      <p:bldP spid="25" grpId="0"/>
      <p:bldP spid="26" grpId="0"/>
      <p:bldP spid="27" grpId="0"/>
      <p:bldP spid="27" grpId="1"/>
      <p:bldP spid="28" grpId="0"/>
      <p:bldP spid="29" grpId="0"/>
      <p:bldP spid="29" grpId="1"/>
      <p:bldP spid="30" grpId="0"/>
      <p:bldP spid="32" grpId="0"/>
      <p:bldP spid="34" grpId="0"/>
      <p:bldP spid="35" grpId="0" animBg="1"/>
      <p:bldP spid="36" grpId="0" animBg="1"/>
      <p:bldP spid="37" grpId="0"/>
      <p:bldP spid="39" grpId="0" animBg="1"/>
      <p:bldP spid="40" grpId="0"/>
      <p:bldP spid="43" grpId="0"/>
      <p:bldP spid="44" grpId="0"/>
      <p:bldP spid="45" grpId="0" animBg="1"/>
      <p:bldP spid="46" grpId="0" animBg="1"/>
      <p:bldP spid="48" grpId="0"/>
      <p:bldP spid="49" grpId="0"/>
      <p:bldP spid="50" grpId="0" animBg="1"/>
      <p:bldP spid="51" grpId="0"/>
      <p:bldP spid="47" grpId="0"/>
      <p:bldP spid="53" grpId="0" animBg="1"/>
      <p:bldP spid="5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66F64AE-CAE4-0A78-C8F9-867765DF3067}"/>
              </a:ext>
            </a:extLst>
          </p:cNvPr>
          <p:cNvSpPr>
            <a:spLocks noGrp="1"/>
          </p:cNvSpPr>
          <p:nvPr>
            <p:ph type="ctrTitle"/>
          </p:nvPr>
        </p:nvSpPr>
        <p:spPr>
          <a:xfrm>
            <a:off x="1915128" y="1788454"/>
            <a:ext cx="8791454" cy="2098226"/>
          </a:xfrm>
        </p:spPr>
        <p:txBody>
          <a:bodyPr/>
          <a:lstStyle/>
          <a:p>
            <a:r>
              <a:rPr lang="en-US" altLang="zh-TW" b="1" dirty="0">
                <a:solidFill>
                  <a:schemeClr val="tx1"/>
                </a:solidFill>
              </a:rPr>
              <a:t>Device Design and Simulation Results</a:t>
            </a:r>
          </a:p>
        </p:txBody>
      </p:sp>
      <p:sp>
        <p:nvSpPr>
          <p:cNvPr id="3" name="副標題 2">
            <a:extLst>
              <a:ext uri="{FF2B5EF4-FFF2-40B4-BE49-F238E27FC236}">
                <a16:creationId xmlns:a16="http://schemas.microsoft.com/office/drawing/2014/main" id="{B1B8DE14-80E4-7564-81F1-A7DA9C966337}"/>
              </a:ext>
            </a:extLst>
          </p:cNvPr>
          <p:cNvSpPr>
            <a:spLocks noGrp="1"/>
          </p:cNvSpPr>
          <p:nvPr>
            <p:ph type="subTitle" idx="1"/>
          </p:nvPr>
        </p:nvSpPr>
        <p:spPr>
          <a:xfrm>
            <a:off x="4632672" y="3886680"/>
            <a:ext cx="4196001" cy="1086237"/>
          </a:xfrm>
        </p:spPr>
        <p:txBody>
          <a:bodyPr>
            <a:normAutofit/>
          </a:bodyPr>
          <a:lstStyle/>
          <a:p>
            <a:pPr marL="457200" indent="-457200" algn="l">
              <a:buFont typeface="+mj-lt"/>
              <a:buAutoNum type="arabicPeriod"/>
            </a:pPr>
            <a:r>
              <a:rPr lang="en-US" altLang="zh-TW" dirty="0">
                <a:solidFill>
                  <a:srgbClr val="FF0000"/>
                </a:solidFill>
              </a:rPr>
              <a:t>Simulated EOPMC</a:t>
            </a:r>
          </a:p>
          <a:p>
            <a:pPr marL="457200" indent="-457200" algn="l">
              <a:buFont typeface="+mj-lt"/>
              <a:buAutoNum type="arabicPeriod"/>
            </a:pPr>
            <a:r>
              <a:rPr lang="en-US" altLang="zh-TW" dirty="0">
                <a:solidFill>
                  <a:schemeClr val="tx1"/>
                </a:solidFill>
              </a:rPr>
              <a:t>Simulated EO</a:t>
            </a:r>
          </a:p>
        </p:txBody>
      </p:sp>
    </p:spTree>
    <p:extLst>
      <p:ext uri="{BB962C8B-B14F-4D97-AF65-F5344CB8AC3E}">
        <p14:creationId xmlns:p14="http://schemas.microsoft.com/office/powerpoint/2010/main" val="4455961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Simulated EOPMC</a:t>
            </a: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0039351" y="6356352"/>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25</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pic>
        <p:nvPicPr>
          <p:cNvPr id="79" name="圖片 78">
            <a:extLst>
              <a:ext uri="{FF2B5EF4-FFF2-40B4-BE49-F238E27FC236}">
                <a16:creationId xmlns:a16="http://schemas.microsoft.com/office/drawing/2014/main" id="{84C63FEE-786D-A975-46E7-94323CDD8067}"/>
              </a:ext>
            </a:extLst>
          </p:cNvPr>
          <p:cNvPicPr>
            <a:picLocks noChangeAspect="1"/>
          </p:cNvPicPr>
          <p:nvPr/>
        </p:nvPicPr>
        <p:blipFill>
          <a:blip r:embed="rId4"/>
          <a:stretch>
            <a:fillRect/>
          </a:stretch>
        </p:blipFill>
        <p:spPr>
          <a:xfrm>
            <a:off x="384731" y="3146751"/>
            <a:ext cx="4492069" cy="2334388"/>
          </a:xfrm>
          <a:prstGeom prst="rect">
            <a:avLst/>
          </a:prstGeom>
        </p:spPr>
      </p:pic>
      <p:sp>
        <p:nvSpPr>
          <p:cNvPr id="80" name="箭號: 向右 79">
            <a:extLst>
              <a:ext uri="{FF2B5EF4-FFF2-40B4-BE49-F238E27FC236}">
                <a16:creationId xmlns:a16="http://schemas.microsoft.com/office/drawing/2014/main" id="{C81E0B3F-E4C9-646B-981B-5CA8E4E19266}"/>
              </a:ext>
            </a:extLst>
          </p:cNvPr>
          <p:cNvSpPr/>
          <p:nvPr/>
        </p:nvSpPr>
        <p:spPr>
          <a:xfrm>
            <a:off x="5145960" y="4132861"/>
            <a:ext cx="1418492" cy="362167"/>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2" name="文字方塊 81">
            <a:extLst>
              <a:ext uri="{FF2B5EF4-FFF2-40B4-BE49-F238E27FC236}">
                <a16:creationId xmlns:a16="http://schemas.microsoft.com/office/drawing/2014/main" id="{DD3713F2-9519-0951-871E-21AF9587F72D}"/>
              </a:ext>
            </a:extLst>
          </p:cNvPr>
          <p:cNvSpPr txBox="1"/>
          <p:nvPr/>
        </p:nvSpPr>
        <p:spPr>
          <a:xfrm>
            <a:off x="1775723" y="987556"/>
            <a:ext cx="8158965" cy="584775"/>
          </a:xfrm>
          <a:prstGeom prst="rect">
            <a:avLst/>
          </a:prstGeom>
          <a:noFill/>
        </p:spPr>
        <p:txBody>
          <a:bodyPr wrap="none" rtlCol="0">
            <a:spAutoFit/>
          </a:bodyPr>
          <a:lstStyle/>
          <a:p>
            <a:r>
              <a:rPr lang="en-US" altLang="zh-TW" sz="3200" b="1" dirty="0">
                <a:effectLst>
                  <a:outerShdw blurRad="38100" dist="38100" dir="2700000" algn="tl">
                    <a:srgbClr val="000000">
                      <a:alpha val="43137"/>
                    </a:srgbClr>
                  </a:outerShdw>
                </a:effectLst>
              </a:rPr>
              <a:t>EOPMC structure design from PPLN to APPLN?</a:t>
            </a:r>
            <a:endParaRPr lang="zh-TW" altLang="en-US" sz="3200" b="1" dirty="0">
              <a:effectLst>
                <a:outerShdw blurRad="38100" dist="38100" dir="2700000" algn="tl">
                  <a:srgbClr val="000000">
                    <a:alpha val="43137"/>
                  </a:srgbClr>
                </a:outerShdw>
              </a:effectLst>
            </a:endParaRPr>
          </a:p>
        </p:txBody>
      </p:sp>
      <p:sp>
        <p:nvSpPr>
          <p:cNvPr id="83" name="文字方塊 82">
            <a:extLst>
              <a:ext uri="{FF2B5EF4-FFF2-40B4-BE49-F238E27FC236}">
                <a16:creationId xmlns:a16="http://schemas.microsoft.com/office/drawing/2014/main" id="{569E8BEF-DC05-22CC-4D6E-A43A29AA97A1}"/>
              </a:ext>
            </a:extLst>
          </p:cNvPr>
          <p:cNvSpPr txBox="1"/>
          <p:nvPr/>
        </p:nvSpPr>
        <p:spPr>
          <a:xfrm>
            <a:off x="384731" y="2270575"/>
            <a:ext cx="3495607" cy="523220"/>
          </a:xfrm>
          <a:prstGeom prst="rect">
            <a:avLst/>
          </a:prstGeom>
          <a:noFill/>
        </p:spPr>
        <p:txBody>
          <a:bodyPr wrap="square" rtlCol="0">
            <a:spAutoFit/>
          </a:bodyPr>
          <a:lstStyle/>
          <a:p>
            <a:pPr marL="457200" indent="-457200">
              <a:buFont typeface="Arial" panose="020B0604020202020204" pitchFamily="34" charset="0"/>
              <a:buChar char="•"/>
            </a:pPr>
            <a:r>
              <a:rPr lang="en-US" altLang="zh-TW" sz="2800" dirty="0"/>
              <a:t>EOPMC PPLN</a:t>
            </a:r>
            <a:endParaRPr lang="zh-TW" altLang="en-US" sz="2800" dirty="0"/>
          </a:p>
        </p:txBody>
      </p:sp>
      <p:sp>
        <p:nvSpPr>
          <p:cNvPr id="84" name="文字方塊 83">
            <a:extLst>
              <a:ext uri="{FF2B5EF4-FFF2-40B4-BE49-F238E27FC236}">
                <a16:creationId xmlns:a16="http://schemas.microsoft.com/office/drawing/2014/main" id="{6049C894-C6E8-5CA5-AFF8-BB9DC7532F4B}"/>
              </a:ext>
            </a:extLst>
          </p:cNvPr>
          <p:cNvSpPr txBox="1"/>
          <p:nvPr/>
        </p:nvSpPr>
        <p:spPr>
          <a:xfrm>
            <a:off x="6882269" y="2558919"/>
            <a:ext cx="2782300" cy="523220"/>
          </a:xfrm>
          <a:prstGeom prst="rect">
            <a:avLst/>
          </a:prstGeom>
          <a:noFill/>
        </p:spPr>
        <p:txBody>
          <a:bodyPr wrap="none" rtlCol="0">
            <a:spAutoFit/>
          </a:bodyPr>
          <a:lstStyle/>
          <a:p>
            <a:pPr marL="457200" indent="-457200">
              <a:buFont typeface="Arial" panose="020B0604020202020204" pitchFamily="34" charset="0"/>
              <a:buChar char="•"/>
            </a:pPr>
            <a:r>
              <a:rPr lang="en-US" altLang="zh-TW" sz="2800" dirty="0"/>
              <a:t>EOPMC APPLN</a:t>
            </a:r>
            <a:endParaRPr lang="zh-TW" altLang="en-US" sz="2800" dirty="0"/>
          </a:p>
        </p:txBody>
      </p:sp>
      <p:pic>
        <p:nvPicPr>
          <p:cNvPr id="88" name="圖片 87">
            <a:extLst>
              <a:ext uri="{FF2B5EF4-FFF2-40B4-BE49-F238E27FC236}">
                <a16:creationId xmlns:a16="http://schemas.microsoft.com/office/drawing/2014/main" id="{97914590-39D7-3F14-306C-6CC1014E6565}"/>
              </a:ext>
            </a:extLst>
          </p:cNvPr>
          <p:cNvPicPr>
            <a:picLocks noChangeAspect="1"/>
          </p:cNvPicPr>
          <p:nvPr/>
        </p:nvPicPr>
        <p:blipFill>
          <a:blip r:embed="rId5"/>
          <a:stretch>
            <a:fillRect/>
          </a:stretch>
        </p:blipFill>
        <p:spPr>
          <a:xfrm>
            <a:off x="9274902" y="54389"/>
            <a:ext cx="1142251" cy="700265"/>
          </a:xfrm>
          <a:prstGeom prst="rect">
            <a:avLst/>
          </a:prstGeom>
        </p:spPr>
      </p:pic>
      <p:pic>
        <p:nvPicPr>
          <p:cNvPr id="3" name="圖片 2">
            <a:extLst>
              <a:ext uri="{FF2B5EF4-FFF2-40B4-BE49-F238E27FC236}">
                <a16:creationId xmlns:a16="http://schemas.microsoft.com/office/drawing/2014/main" id="{4B3BDE8C-CC99-8743-B839-158692851DB4}"/>
              </a:ext>
            </a:extLst>
          </p:cNvPr>
          <p:cNvPicPr>
            <a:picLocks noChangeAspect="1"/>
          </p:cNvPicPr>
          <p:nvPr/>
        </p:nvPicPr>
        <p:blipFill>
          <a:blip r:embed="rId6"/>
          <a:stretch>
            <a:fillRect/>
          </a:stretch>
        </p:blipFill>
        <p:spPr>
          <a:xfrm>
            <a:off x="6833612" y="3146850"/>
            <a:ext cx="4483138" cy="2334388"/>
          </a:xfrm>
          <a:prstGeom prst="rect">
            <a:avLst/>
          </a:prstGeom>
        </p:spPr>
      </p:pic>
      <p:sp>
        <p:nvSpPr>
          <p:cNvPr id="7" name="文字方塊 6">
            <a:extLst>
              <a:ext uri="{FF2B5EF4-FFF2-40B4-BE49-F238E27FC236}">
                <a16:creationId xmlns:a16="http://schemas.microsoft.com/office/drawing/2014/main" id="{B973AF21-2F5E-503D-1C57-A14F27A5A938}"/>
              </a:ext>
            </a:extLst>
          </p:cNvPr>
          <p:cNvSpPr txBox="1"/>
          <p:nvPr/>
        </p:nvSpPr>
        <p:spPr>
          <a:xfrm>
            <a:off x="6882269" y="2558919"/>
            <a:ext cx="4483138" cy="523220"/>
          </a:xfrm>
          <a:prstGeom prst="rect">
            <a:avLst/>
          </a:prstGeom>
          <a:noFill/>
        </p:spPr>
        <p:txBody>
          <a:bodyPr wrap="square" rtlCol="0">
            <a:spAutoFit/>
          </a:bodyPr>
          <a:lstStyle/>
          <a:p>
            <a:pPr marL="457200" indent="-457200">
              <a:buFont typeface="Arial" panose="020B0604020202020204" pitchFamily="34" charset="0"/>
              <a:buChar char="•"/>
            </a:pPr>
            <a:r>
              <a:rPr lang="en-US" altLang="zh-TW" sz="2800" dirty="0">
                <a:solidFill>
                  <a:srgbClr val="FF0000"/>
                </a:solidFill>
              </a:rPr>
              <a:t>SHG and EOPMC overlap</a:t>
            </a:r>
            <a:endParaRPr lang="zh-TW" altLang="en-US" sz="2800" dirty="0">
              <a:solidFill>
                <a:srgbClr val="FF0000"/>
              </a:solidFill>
            </a:endParaRPr>
          </a:p>
        </p:txBody>
      </p:sp>
      <p:pic>
        <p:nvPicPr>
          <p:cNvPr id="8" name="圖片 7">
            <a:extLst>
              <a:ext uri="{FF2B5EF4-FFF2-40B4-BE49-F238E27FC236}">
                <a16:creationId xmlns:a16="http://schemas.microsoft.com/office/drawing/2014/main" id="{9E8526F1-C76A-FE5C-D83D-0A949B5DCE1F}"/>
              </a:ext>
            </a:extLst>
          </p:cNvPr>
          <p:cNvPicPr>
            <a:picLocks noChangeAspect="1"/>
          </p:cNvPicPr>
          <p:nvPr/>
        </p:nvPicPr>
        <p:blipFill>
          <a:blip r:embed="rId7"/>
          <a:stretch>
            <a:fillRect/>
          </a:stretch>
        </p:blipFill>
        <p:spPr>
          <a:xfrm>
            <a:off x="6972669" y="3017427"/>
            <a:ext cx="4291473" cy="3218605"/>
          </a:xfrm>
          <a:prstGeom prst="rect">
            <a:avLst/>
          </a:prstGeom>
        </p:spPr>
      </p:pic>
      <p:pic>
        <p:nvPicPr>
          <p:cNvPr id="11" name="圖片 10">
            <a:extLst>
              <a:ext uri="{FF2B5EF4-FFF2-40B4-BE49-F238E27FC236}">
                <a16:creationId xmlns:a16="http://schemas.microsoft.com/office/drawing/2014/main" id="{CD7E8EC2-B90C-977D-946F-39066BBC206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72944" y="3017428"/>
            <a:ext cx="4655236" cy="3491427"/>
          </a:xfrm>
          <a:prstGeom prst="rect">
            <a:avLst/>
          </a:prstGeom>
          <a:ln>
            <a:solidFill>
              <a:schemeClr val="accent1"/>
            </a:solidFill>
          </a:ln>
        </p:spPr>
      </p:pic>
      <p:pic>
        <p:nvPicPr>
          <p:cNvPr id="15" name="圖片 14">
            <a:extLst>
              <a:ext uri="{FF2B5EF4-FFF2-40B4-BE49-F238E27FC236}">
                <a16:creationId xmlns:a16="http://schemas.microsoft.com/office/drawing/2014/main" id="{7C41A807-1479-4464-5F45-A4BF2906BA1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61609" y="3029719"/>
            <a:ext cx="4666571" cy="3499928"/>
          </a:xfrm>
          <a:prstGeom prst="rect">
            <a:avLst/>
          </a:prstGeom>
          <a:ln>
            <a:solidFill>
              <a:schemeClr val="accent1"/>
            </a:solidFill>
          </a:ln>
        </p:spPr>
      </p:pic>
      <p:pic>
        <p:nvPicPr>
          <p:cNvPr id="13" name="圖片 12">
            <a:extLst>
              <a:ext uri="{FF2B5EF4-FFF2-40B4-BE49-F238E27FC236}">
                <a16:creationId xmlns:a16="http://schemas.microsoft.com/office/drawing/2014/main" id="{7C190507-DFC2-BBF9-67FA-CF462533E53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60621" y="3017427"/>
            <a:ext cx="4655236" cy="3491427"/>
          </a:xfrm>
          <a:prstGeom prst="rect">
            <a:avLst/>
          </a:prstGeom>
          <a:ln>
            <a:solidFill>
              <a:schemeClr val="accent1"/>
            </a:solidFill>
          </a:ln>
        </p:spPr>
      </p:pic>
    </p:spTree>
    <p:extLst>
      <p:ext uri="{BB962C8B-B14F-4D97-AF65-F5344CB8AC3E}">
        <p14:creationId xmlns:p14="http://schemas.microsoft.com/office/powerpoint/2010/main" val="1149251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par>
                                <p:cTn id="13" presetID="1" presetClass="exit" presetSubtype="0" fill="hold" nodeType="withEffect">
                                  <p:stCondLst>
                                    <p:cond delay="0"/>
                                  </p:stCondLst>
                                  <p:childTnLst>
                                    <p:set>
                                      <p:cBhvr>
                                        <p:cTn id="14" dur="1" fill="hold">
                                          <p:stCondLst>
                                            <p:cond delay="0"/>
                                          </p:stCondLst>
                                        </p:cTn>
                                        <p:tgtEl>
                                          <p:spTgt spid="1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1" presetClass="exit" presetSubtype="0" fill="hold" nodeType="withEffect">
                                  <p:stCondLst>
                                    <p:cond delay="0"/>
                                  </p:stCondLst>
                                  <p:childTnLst>
                                    <p:set>
                                      <p:cBhvr>
                                        <p:cTn id="21" dur="1" fill="hold">
                                          <p:stCondLst>
                                            <p:cond delay="0"/>
                                          </p:stCondLst>
                                        </p:cTn>
                                        <p:tgtEl>
                                          <p:spTgt spid="15"/>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ppt_x</p:attrName>
                                        </p:attrNameLst>
                                      </p:cBhvr>
                                      <p:tavLst>
                                        <p:tav tm="0">
                                          <p:val>
                                            <p:strVal val="#ppt_x"/>
                                          </p:val>
                                        </p:tav>
                                        <p:tav tm="100000">
                                          <p:val>
                                            <p:strVal val="#ppt_x"/>
                                          </p:val>
                                        </p:tav>
                                      </p:tavLst>
                                    </p:anim>
                                    <p:anim calcmode="lin" valueType="num">
                                      <p:cBhvr additive="base">
                                        <p:cTn id="27" dur="500" fill="hold"/>
                                        <p:tgtEl>
                                          <p:spTgt spid="8"/>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anim calcmode="lin" valueType="num">
                                      <p:cBhvr additive="base">
                                        <p:cTn id="30" dur="500" fill="hold"/>
                                        <p:tgtEl>
                                          <p:spTgt spid="7"/>
                                        </p:tgtEl>
                                        <p:attrNameLst>
                                          <p:attrName>ppt_x</p:attrName>
                                        </p:attrNameLst>
                                      </p:cBhvr>
                                      <p:tavLst>
                                        <p:tav tm="0">
                                          <p:val>
                                            <p:strVal val="#ppt_x"/>
                                          </p:val>
                                        </p:tav>
                                        <p:tav tm="100000">
                                          <p:val>
                                            <p:strVal val="#ppt_x"/>
                                          </p:val>
                                        </p:tav>
                                      </p:tavLst>
                                    </p:anim>
                                    <p:anim calcmode="lin" valueType="num">
                                      <p:cBhvr additive="base">
                                        <p:cTn id="31" dur="500" fill="hold"/>
                                        <p:tgtEl>
                                          <p:spTgt spid="7"/>
                                        </p:tgtEl>
                                        <p:attrNameLst>
                                          <p:attrName>ppt_y</p:attrName>
                                        </p:attrNameLst>
                                      </p:cBhvr>
                                      <p:tavLst>
                                        <p:tav tm="0">
                                          <p:val>
                                            <p:strVal val="1+#ppt_h/2"/>
                                          </p:val>
                                        </p:tav>
                                        <p:tav tm="100000">
                                          <p:val>
                                            <p:strVal val="#ppt_y"/>
                                          </p:val>
                                        </p:tav>
                                      </p:tavLst>
                                    </p:anim>
                                  </p:childTnLst>
                                </p:cTn>
                              </p:par>
                              <p:par>
                                <p:cTn id="32" presetID="1" presetClass="exit" presetSubtype="0" fill="hold" grpId="0" nodeType="withEffect">
                                  <p:stCondLst>
                                    <p:cond delay="0"/>
                                  </p:stCondLst>
                                  <p:childTnLst>
                                    <p:set>
                                      <p:cBhvr>
                                        <p:cTn id="33" dur="1" fill="hold">
                                          <p:stCondLst>
                                            <p:cond delay="0"/>
                                          </p:stCondLst>
                                        </p:cTn>
                                        <p:tgtEl>
                                          <p:spTgt spid="8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Simulated EOPMC</a:t>
            </a:r>
            <a:endParaRPr lang="zh-TW" altLang="en-US" b="1"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0039351" y="6356352"/>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26</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pic>
        <p:nvPicPr>
          <p:cNvPr id="9" name="圖片 8">
            <a:extLst>
              <a:ext uri="{FF2B5EF4-FFF2-40B4-BE49-F238E27FC236}">
                <a16:creationId xmlns:a16="http://schemas.microsoft.com/office/drawing/2014/main" id="{837D94B9-4DA4-3BA0-74C8-853EB774754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4941" y="3486137"/>
            <a:ext cx="3950174" cy="2962630"/>
          </a:xfrm>
          <a:prstGeom prst="rect">
            <a:avLst/>
          </a:prstGeom>
          <a:ln>
            <a:solidFill>
              <a:srgbClr val="00B0F0"/>
            </a:solidFill>
          </a:ln>
        </p:spPr>
      </p:pic>
      <p:pic>
        <p:nvPicPr>
          <p:cNvPr id="11" name="圖片 10">
            <a:extLst>
              <a:ext uri="{FF2B5EF4-FFF2-40B4-BE49-F238E27FC236}">
                <a16:creationId xmlns:a16="http://schemas.microsoft.com/office/drawing/2014/main" id="{AAF8065A-1478-090E-B4B3-CA77D40997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58799" y="3486135"/>
            <a:ext cx="3950174" cy="2962631"/>
          </a:xfrm>
          <a:prstGeom prst="rect">
            <a:avLst/>
          </a:prstGeom>
          <a:ln>
            <a:solidFill>
              <a:srgbClr val="00B0F0"/>
            </a:solidFill>
          </a:ln>
        </p:spPr>
      </p:pic>
      <p:pic>
        <p:nvPicPr>
          <p:cNvPr id="13" name="圖片 12">
            <a:extLst>
              <a:ext uri="{FF2B5EF4-FFF2-40B4-BE49-F238E27FC236}">
                <a16:creationId xmlns:a16="http://schemas.microsoft.com/office/drawing/2014/main" id="{F2AEAB5E-24A3-DB7B-05AC-F637DFE0E54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51264" y="3486135"/>
            <a:ext cx="4035767" cy="2964222"/>
          </a:xfrm>
          <a:prstGeom prst="rect">
            <a:avLst/>
          </a:prstGeom>
          <a:ln>
            <a:solidFill>
              <a:srgbClr val="00B050"/>
            </a:solidFill>
          </a:ln>
        </p:spPr>
      </p:pic>
      <p:sp>
        <p:nvSpPr>
          <p:cNvPr id="15" name="文字方塊 14">
            <a:extLst>
              <a:ext uri="{FF2B5EF4-FFF2-40B4-BE49-F238E27FC236}">
                <a16:creationId xmlns:a16="http://schemas.microsoft.com/office/drawing/2014/main" id="{833C8748-8316-8D29-6E51-800F99DB3713}"/>
              </a:ext>
            </a:extLst>
          </p:cNvPr>
          <p:cNvSpPr txBox="1"/>
          <p:nvPr/>
        </p:nvSpPr>
        <p:spPr>
          <a:xfrm>
            <a:off x="6435234" y="1902825"/>
            <a:ext cx="2589683" cy="461665"/>
          </a:xfrm>
          <a:prstGeom prst="rect">
            <a:avLst/>
          </a:prstGeom>
          <a:noFill/>
        </p:spPr>
        <p:txBody>
          <a:bodyPr wrap="none" rtlCol="0">
            <a:spAutoFit/>
          </a:bodyPr>
          <a:lstStyle/>
          <a:p>
            <a:r>
              <a:rPr lang="en-US" altLang="zh-TW" sz="2400" dirty="0"/>
              <a:t>Aperiodic structure</a:t>
            </a:r>
            <a:endParaRPr lang="zh-TW" altLang="en-US" sz="2400" dirty="0"/>
          </a:p>
        </p:txBody>
      </p:sp>
      <p:sp>
        <p:nvSpPr>
          <p:cNvPr id="16" name="文字方塊 15">
            <a:extLst>
              <a:ext uri="{FF2B5EF4-FFF2-40B4-BE49-F238E27FC236}">
                <a16:creationId xmlns:a16="http://schemas.microsoft.com/office/drawing/2014/main" id="{8FDBB483-B279-4129-8B3E-059399A48143}"/>
              </a:ext>
            </a:extLst>
          </p:cNvPr>
          <p:cNvSpPr txBox="1"/>
          <p:nvPr/>
        </p:nvSpPr>
        <p:spPr>
          <a:xfrm>
            <a:off x="478596" y="1902825"/>
            <a:ext cx="2202013" cy="461665"/>
          </a:xfrm>
          <a:prstGeom prst="rect">
            <a:avLst/>
          </a:prstGeom>
          <a:noFill/>
        </p:spPr>
        <p:txBody>
          <a:bodyPr wrap="none" rtlCol="0">
            <a:spAutoFit/>
          </a:bodyPr>
          <a:lstStyle/>
          <a:p>
            <a:r>
              <a:rPr lang="en-US" altLang="zh-TW" sz="2400" dirty="0"/>
              <a:t>Period structure</a:t>
            </a:r>
            <a:endParaRPr lang="zh-TW" altLang="en-US" sz="2400" dirty="0"/>
          </a:p>
        </p:txBody>
      </p:sp>
      <p:pic>
        <p:nvPicPr>
          <p:cNvPr id="18" name="圖片 17">
            <a:extLst>
              <a:ext uri="{FF2B5EF4-FFF2-40B4-BE49-F238E27FC236}">
                <a16:creationId xmlns:a16="http://schemas.microsoft.com/office/drawing/2014/main" id="{EE8D4052-E7B0-3EEE-8EEA-4708877DF9BD}"/>
              </a:ext>
            </a:extLst>
          </p:cNvPr>
          <p:cNvPicPr>
            <a:picLocks noChangeAspect="1"/>
          </p:cNvPicPr>
          <p:nvPr/>
        </p:nvPicPr>
        <p:blipFill>
          <a:blip r:embed="rId7"/>
          <a:stretch>
            <a:fillRect/>
          </a:stretch>
        </p:blipFill>
        <p:spPr>
          <a:xfrm>
            <a:off x="9173644" y="844007"/>
            <a:ext cx="1646756" cy="2232398"/>
          </a:xfrm>
          <a:prstGeom prst="rect">
            <a:avLst/>
          </a:prstGeom>
        </p:spPr>
      </p:pic>
      <p:pic>
        <p:nvPicPr>
          <p:cNvPr id="19" name="圖片 18">
            <a:extLst>
              <a:ext uri="{FF2B5EF4-FFF2-40B4-BE49-F238E27FC236}">
                <a16:creationId xmlns:a16="http://schemas.microsoft.com/office/drawing/2014/main" id="{48648CA8-878F-8C7C-5058-ADC6344D046C}"/>
              </a:ext>
            </a:extLst>
          </p:cNvPr>
          <p:cNvPicPr>
            <a:picLocks noChangeAspect="1"/>
          </p:cNvPicPr>
          <p:nvPr/>
        </p:nvPicPr>
        <p:blipFill>
          <a:blip r:embed="rId8"/>
          <a:stretch>
            <a:fillRect/>
          </a:stretch>
        </p:blipFill>
        <p:spPr>
          <a:xfrm>
            <a:off x="2848757" y="817234"/>
            <a:ext cx="2005014" cy="2259171"/>
          </a:xfrm>
          <a:prstGeom prst="rect">
            <a:avLst/>
          </a:prstGeom>
        </p:spPr>
      </p:pic>
      <p:pic>
        <p:nvPicPr>
          <p:cNvPr id="20" name="圖片 19">
            <a:extLst>
              <a:ext uri="{FF2B5EF4-FFF2-40B4-BE49-F238E27FC236}">
                <a16:creationId xmlns:a16="http://schemas.microsoft.com/office/drawing/2014/main" id="{AF533167-3D46-B93E-1DB7-8341EC74B498}"/>
              </a:ext>
            </a:extLst>
          </p:cNvPr>
          <p:cNvPicPr>
            <a:picLocks noChangeAspect="1"/>
          </p:cNvPicPr>
          <p:nvPr/>
        </p:nvPicPr>
        <p:blipFill>
          <a:blip r:embed="rId9"/>
          <a:stretch>
            <a:fillRect/>
          </a:stretch>
        </p:blipFill>
        <p:spPr>
          <a:xfrm>
            <a:off x="9274902" y="54389"/>
            <a:ext cx="1142251" cy="700265"/>
          </a:xfrm>
          <a:prstGeom prst="rect">
            <a:avLst/>
          </a:prstGeom>
        </p:spPr>
      </p:pic>
      <p:sp>
        <p:nvSpPr>
          <p:cNvPr id="14" name="文字方塊 13">
            <a:extLst>
              <a:ext uri="{FF2B5EF4-FFF2-40B4-BE49-F238E27FC236}">
                <a16:creationId xmlns:a16="http://schemas.microsoft.com/office/drawing/2014/main" id="{58858A29-D641-F293-724D-AFCE9D83BCEE}"/>
              </a:ext>
            </a:extLst>
          </p:cNvPr>
          <p:cNvSpPr txBox="1"/>
          <p:nvPr/>
        </p:nvSpPr>
        <p:spPr>
          <a:xfrm>
            <a:off x="2476068" y="5069447"/>
            <a:ext cx="1678665" cy="369332"/>
          </a:xfrm>
          <a:prstGeom prst="rect">
            <a:avLst/>
          </a:prstGeom>
          <a:noFill/>
        </p:spPr>
        <p:txBody>
          <a:bodyPr wrap="none" rtlCol="0">
            <a:spAutoFit/>
          </a:bodyPr>
          <a:lstStyle/>
          <a:p>
            <a:r>
              <a:rPr lang="en-US" altLang="zh-TW" dirty="0"/>
              <a:t>Bandwidth 2nm</a:t>
            </a:r>
            <a:endParaRPr lang="zh-TW" altLang="en-US" dirty="0"/>
          </a:p>
        </p:txBody>
      </p:sp>
      <p:sp>
        <p:nvSpPr>
          <p:cNvPr id="17" name="文字方塊 16">
            <a:extLst>
              <a:ext uri="{FF2B5EF4-FFF2-40B4-BE49-F238E27FC236}">
                <a16:creationId xmlns:a16="http://schemas.microsoft.com/office/drawing/2014/main" id="{1054802F-EE92-0830-F9B8-58C4A5DA5A5C}"/>
              </a:ext>
            </a:extLst>
          </p:cNvPr>
          <p:cNvSpPr txBox="1"/>
          <p:nvPr/>
        </p:nvSpPr>
        <p:spPr>
          <a:xfrm>
            <a:off x="9931375" y="4929220"/>
            <a:ext cx="1795684" cy="369332"/>
          </a:xfrm>
          <a:prstGeom prst="rect">
            <a:avLst/>
          </a:prstGeom>
          <a:noFill/>
        </p:spPr>
        <p:txBody>
          <a:bodyPr wrap="none" rtlCol="0">
            <a:spAutoFit/>
          </a:bodyPr>
          <a:lstStyle/>
          <a:p>
            <a:r>
              <a:rPr lang="en-US" altLang="zh-TW" dirty="0"/>
              <a:t>Bandwidth 12nm</a:t>
            </a:r>
            <a:endParaRPr lang="zh-TW" altLang="en-US" dirty="0"/>
          </a:p>
        </p:txBody>
      </p:sp>
      <p:cxnSp>
        <p:nvCxnSpPr>
          <p:cNvPr id="8" name="直線單箭頭接點 7">
            <a:extLst>
              <a:ext uri="{FF2B5EF4-FFF2-40B4-BE49-F238E27FC236}">
                <a16:creationId xmlns:a16="http://schemas.microsoft.com/office/drawing/2014/main" id="{7FCD642B-D7A7-D404-B071-BD931C1224F8}"/>
              </a:ext>
            </a:extLst>
          </p:cNvPr>
          <p:cNvCxnSpPr/>
          <p:nvPr/>
        </p:nvCxnSpPr>
        <p:spPr>
          <a:xfrm>
            <a:off x="8840188" y="4904105"/>
            <a:ext cx="40907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直線單箭頭接點 9">
            <a:extLst>
              <a:ext uri="{FF2B5EF4-FFF2-40B4-BE49-F238E27FC236}">
                <a16:creationId xmlns:a16="http://schemas.microsoft.com/office/drawing/2014/main" id="{B4CBBB04-12DE-F708-852B-788B6CFE68AA}"/>
              </a:ext>
            </a:extLst>
          </p:cNvPr>
          <p:cNvCxnSpPr>
            <a:cxnSpLocks/>
          </p:cNvCxnSpPr>
          <p:nvPr/>
        </p:nvCxnSpPr>
        <p:spPr>
          <a:xfrm flipH="1">
            <a:off x="9664108" y="4899328"/>
            <a:ext cx="40212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直線單箭頭接點 22">
            <a:extLst>
              <a:ext uri="{FF2B5EF4-FFF2-40B4-BE49-F238E27FC236}">
                <a16:creationId xmlns:a16="http://schemas.microsoft.com/office/drawing/2014/main" id="{D2514D0E-2B2C-131F-2756-5B96517268C8}"/>
              </a:ext>
            </a:extLst>
          </p:cNvPr>
          <p:cNvCxnSpPr/>
          <p:nvPr/>
        </p:nvCxnSpPr>
        <p:spPr>
          <a:xfrm>
            <a:off x="2049201" y="4904105"/>
            <a:ext cx="40907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直線單箭頭接點 23">
            <a:extLst>
              <a:ext uri="{FF2B5EF4-FFF2-40B4-BE49-F238E27FC236}">
                <a16:creationId xmlns:a16="http://schemas.microsoft.com/office/drawing/2014/main" id="{766F7DDF-F092-CC84-0A47-561EE10B204B}"/>
              </a:ext>
            </a:extLst>
          </p:cNvPr>
          <p:cNvCxnSpPr>
            <a:cxnSpLocks/>
          </p:cNvCxnSpPr>
          <p:nvPr/>
        </p:nvCxnSpPr>
        <p:spPr>
          <a:xfrm flipH="1">
            <a:off x="2560292" y="4899328"/>
            <a:ext cx="40212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3574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0" presetClass="exit" presetSubtype="0" fill="hold" nodeType="afterEffect">
                                  <p:stCondLst>
                                    <p:cond delay="0"/>
                                  </p:stCondLst>
                                  <p:childTnLst>
                                    <p:animEffect transition="out" filter="fade">
                                      <p:cBhvr>
                                        <p:cTn id="11" dur="250"/>
                                        <p:tgtEl>
                                          <p:spTgt spid="9"/>
                                        </p:tgtEl>
                                      </p:cBhvr>
                                    </p:animEffect>
                                    <p:set>
                                      <p:cBhvr>
                                        <p:cTn id="12" dur="1" fill="hold">
                                          <p:stCondLst>
                                            <p:cond delay="249"/>
                                          </p:stCondLst>
                                        </p:cTn>
                                        <p:tgtEl>
                                          <p:spTgt spid="9"/>
                                        </p:tgtEl>
                                        <p:attrNameLst>
                                          <p:attrName>style.visibility</p:attrName>
                                        </p:attrNameLst>
                                      </p:cBhvr>
                                      <p:to>
                                        <p:strVal val="hidden"/>
                                      </p:to>
                                    </p:set>
                                  </p:childTnLst>
                                </p:cTn>
                              </p:par>
                              <p:par>
                                <p:cTn id="13" presetID="10" presetClass="exit" presetSubtype="0" fill="hold" nodeType="withEffect">
                                  <p:stCondLst>
                                    <p:cond delay="0"/>
                                  </p:stCondLst>
                                  <p:childTnLst>
                                    <p:animEffect transition="out" filter="fade">
                                      <p:cBhvr>
                                        <p:cTn id="14" dur="250"/>
                                        <p:tgtEl>
                                          <p:spTgt spid="11"/>
                                        </p:tgtEl>
                                      </p:cBhvr>
                                    </p:animEffect>
                                    <p:set>
                                      <p:cBhvr>
                                        <p:cTn id="15" dur="1" fill="hold">
                                          <p:stCondLst>
                                            <p:cond delay="249"/>
                                          </p:stCondLst>
                                        </p:cTn>
                                        <p:tgtEl>
                                          <p:spTgt spid="11"/>
                                        </p:tgtEl>
                                        <p:attrNameLst>
                                          <p:attrName>style.visibility</p:attrName>
                                        </p:attrNameLst>
                                      </p:cBhvr>
                                      <p:to>
                                        <p:strVal val="hidden"/>
                                      </p:to>
                                    </p:set>
                                  </p:childTnLst>
                                </p:cTn>
                              </p:par>
                              <p:par>
                                <p:cTn id="16" presetID="10" presetClass="exit" presetSubtype="0" fill="hold" grpId="0" nodeType="withEffect">
                                  <p:stCondLst>
                                    <p:cond delay="0"/>
                                  </p:stCondLst>
                                  <p:childTnLst>
                                    <p:animEffect transition="out" filter="fade">
                                      <p:cBhvr>
                                        <p:cTn id="17" dur="500"/>
                                        <p:tgtEl>
                                          <p:spTgt spid="14"/>
                                        </p:tgtEl>
                                      </p:cBhvr>
                                    </p:animEffect>
                                    <p:set>
                                      <p:cBhvr>
                                        <p:cTn id="18" dur="1" fill="hold">
                                          <p:stCondLst>
                                            <p:cond delay="499"/>
                                          </p:stCondLst>
                                        </p:cTn>
                                        <p:tgtEl>
                                          <p:spTgt spid="14"/>
                                        </p:tgtEl>
                                        <p:attrNameLst>
                                          <p:attrName>style.visibility</p:attrName>
                                        </p:attrNameLst>
                                      </p:cBhvr>
                                      <p:to>
                                        <p:strVal val="hidden"/>
                                      </p:to>
                                    </p:set>
                                  </p:childTnLst>
                                </p:cTn>
                              </p:par>
                              <p:par>
                                <p:cTn id="19" presetID="10" presetClass="exit" presetSubtype="0" fill="hold" grpId="0" nodeType="withEffect">
                                  <p:stCondLst>
                                    <p:cond delay="0"/>
                                  </p:stCondLst>
                                  <p:childTnLst>
                                    <p:animEffect transition="out" filter="fade">
                                      <p:cBhvr>
                                        <p:cTn id="20" dur="500"/>
                                        <p:tgtEl>
                                          <p:spTgt spid="17"/>
                                        </p:tgtEl>
                                      </p:cBhvr>
                                    </p:animEffect>
                                    <p:set>
                                      <p:cBhvr>
                                        <p:cTn id="21" dur="1" fill="hold">
                                          <p:stCondLst>
                                            <p:cond delay="499"/>
                                          </p:stCondLst>
                                        </p:cTn>
                                        <p:tgtEl>
                                          <p:spTgt spid="17"/>
                                        </p:tgtEl>
                                        <p:attrNameLst>
                                          <p:attrName>style.visibility</p:attrName>
                                        </p:attrNameLst>
                                      </p:cBhvr>
                                      <p:to>
                                        <p:strVal val="hidden"/>
                                      </p:to>
                                    </p:set>
                                  </p:childTnLst>
                                </p:cTn>
                              </p:par>
                              <p:par>
                                <p:cTn id="22" presetID="10" presetClass="exit" presetSubtype="0" fill="hold" nodeType="withEffect">
                                  <p:stCondLst>
                                    <p:cond delay="0"/>
                                  </p:stCondLst>
                                  <p:childTnLst>
                                    <p:animEffect transition="out" filter="fade">
                                      <p:cBhvr>
                                        <p:cTn id="23" dur="500"/>
                                        <p:tgtEl>
                                          <p:spTgt spid="8"/>
                                        </p:tgtEl>
                                      </p:cBhvr>
                                    </p:animEffect>
                                    <p:set>
                                      <p:cBhvr>
                                        <p:cTn id="24" dur="1" fill="hold">
                                          <p:stCondLst>
                                            <p:cond delay="499"/>
                                          </p:stCondLst>
                                        </p:cTn>
                                        <p:tgtEl>
                                          <p:spTgt spid="8"/>
                                        </p:tgtEl>
                                        <p:attrNameLst>
                                          <p:attrName>style.visibility</p:attrName>
                                        </p:attrNameLst>
                                      </p:cBhvr>
                                      <p:to>
                                        <p:strVal val="hidden"/>
                                      </p:to>
                                    </p:set>
                                  </p:childTnLst>
                                </p:cTn>
                              </p:par>
                              <p:par>
                                <p:cTn id="25" presetID="10" presetClass="exit" presetSubtype="0" fill="hold" nodeType="withEffect">
                                  <p:stCondLst>
                                    <p:cond delay="0"/>
                                  </p:stCondLst>
                                  <p:childTnLst>
                                    <p:animEffect transition="out" filter="fade">
                                      <p:cBhvr>
                                        <p:cTn id="26" dur="500"/>
                                        <p:tgtEl>
                                          <p:spTgt spid="10"/>
                                        </p:tgtEl>
                                      </p:cBhvr>
                                    </p:animEffect>
                                    <p:set>
                                      <p:cBhvr>
                                        <p:cTn id="27" dur="1" fill="hold">
                                          <p:stCondLst>
                                            <p:cond delay="499"/>
                                          </p:stCondLst>
                                        </p:cTn>
                                        <p:tgtEl>
                                          <p:spTgt spid="10"/>
                                        </p:tgtEl>
                                        <p:attrNameLst>
                                          <p:attrName>style.visibility</p:attrName>
                                        </p:attrNameLst>
                                      </p:cBhvr>
                                      <p:to>
                                        <p:strVal val="hidden"/>
                                      </p:to>
                                    </p:set>
                                  </p:childTnLst>
                                </p:cTn>
                              </p:par>
                              <p:par>
                                <p:cTn id="28" presetID="10" presetClass="exit" presetSubtype="0" fill="hold" nodeType="withEffect">
                                  <p:stCondLst>
                                    <p:cond delay="0"/>
                                  </p:stCondLst>
                                  <p:childTnLst>
                                    <p:animEffect transition="out" filter="fade">
                                      <p:cBhvr>
                                        <p:cTn id="29" dur="500"/>
                                        <p:tgtEl>
                                          <p:spTgt spid="23"/>
                                        </p:tgtEl>
                                      </p:cBhvr>
                                    </p:animEffect>
                                    <p:set>
                                      <p:cBhvr>
                                        <p:cTn id="30" dur="1" fill="hold">
                                          <p:stCondLst>
                                            <p:cond delay="499"/>
                                          </p:stCondLst>
                                        </p:cTn>
                                        <p:tgtEl>
                                          <p:spTgt spid="23"/>
                                        </p:tgtEl>
                                        <p:attrNameLst>
                                          <p:attrName>style.visibility</p:attrName>
                                        </p:attrNameLst>
                                      </p:cBhvr>
                                      <p:to>
                                        <p:strVal val="hidden"/>
                                      </p:to>
                                    </p:set>
                                  </p:childTnLst>
                                </p:cTn>
                              </p:par>
                              <p:par>
                                <p:cTn id="31" presetID="10" presetClass="exit" presetSubtype="0" fill="hold" nodeType="withEffect">
                                  <p:stCondLst>
                                    <p:cond delay="0"/>
                                  </p:stCondLst>
                                  <p:childTnLst>
                                    <p:animEffect transition="out" filter="fade">
                                      <p:cBhvr>
                                        <p:cTn id="32" dur="500"/>
                                        <p:tgtEl>
                                          <p:spTgt spid="24"/>
                                        </p:tgtEl>
                                      </p:cBhvr>
                                    </p:animEffect>
                                    <p:set>
                                      <p:cBhvr>
                                        <p:cTn id="33" dur="1" fill="hold">
                                          <p:stCondLst>
                                            <p:cond delay="499"/>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EOPMC simulation flow chart</a:t>
            </a:r>
            <a:endParaRPr lang="zh-TW" altLang="en-US" b="1"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0039351" y="6356352"/>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27</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sp>
        <p:nvSpPr>
          <p:cNvPr id="7" name="文字方塊 6">
            <a:extLst>
              <a:ext uri="{FF2B5EF4-FFF2-40B4-BE49-F238E27FC236}">
                <a16:creationId xmlns:a16="http://schemas.microsoft.com/office/drawing/2014/main" id="{C9AD403D-6D72-413A-2558-CB94418F834F}"/>
              </a:ext>
            </a:extLst>
          </p:cNvPr>
          <p:cNvSpPr txBox="1"/>
          <p:nvPr/>
        </p:nvSpPr>
        <p:spPr>
          <a:xfrm>
            <a:off x="4381717" y="483188"/>
            <a:ext cx="3118338" cy="727571"/>
          </a:xfrm>
          <a:prstGeom prst="rect">
            <a:avLst/>
          </a:prstGeom>
          <a:noFill/>
        </p:spPr>
        <p:txBody>
          <a:bodyPr wrap="square">
            <a:spAutoFit/>
          </a:bodyPr>
          <a:lstStyle/>
          <a:p>
            <a:pPr marL="0" indent="0">
              <a:lnSpc>
                <a:spcPct val="200000"/>
              </a:lnSpc>
              <a:buNone/>
            </a:pPr>
            <a:r>
              <a:rPr lang="en-US" altLang="zh-TW" sz="2400" b="1" dirty="0">
                <a:effectLst>
                  <a:outerShdw blurRad="38100" dist="38100" dir="2700000" algn="tl">
                    <a:srgbClr val="000000">
                      <a:alpha val="43137"/>
                    </a:srgbClr>
                  </a:outerShdw>
                </a:effectLst>
              </a:rPr>
              <a:t>Genetic Algorithm(GA)</a:t>
            </a:r>
            <a:endParaRPr lang="zh-TW" altLang="en-US" sz="2400" b="1" dirty="0">
              <a:effectLst>
                <a:outerShdw blurRad="38100" dist="38100" dir="2700000" algn="tl">
                  <a:srgbClr val="000000">
                    <a:alpha val="43137"/>
                  </a:srgbClr>
                </a:outerShdw>
              </a:effectLst>
            </a:endParaRPr>
          </a:p>
        </p:txBody>
      </p:sp>
      <p:pic>
        <p:nvPicPr>
          <p:cNvPr id="8" name="圖片 7">
            <a:extLst>
              <a:ext uri="{FF2B5EF4-FFF2-40B4-BE49-F238E27FC236}">
                <a16:creationId xmlns:a16="http://schemas.microsoft.com/office/drawing/2014/main" id="{A7AC9585-A022-1A98-8823-85443C0339A6}"/>
              </a:ext>
            </a:extLst>
          </p:cNvPr>
          <p:cNvPicPr>
            <a:picLocks noChangeAspect="1"/>
          </p:cNvPicPr>
          <p:nvPr/>
        </p:nvPicPr>
        <p:blipFill>
          <a:blip r:embed="rId4"/>
          <a:stretch>
            <a:fillRect/>
          </a:stretch>
        </p:blipFill>
        <p:spPr>
          <a:xfrm>
            <a:off x="9274902" y="54389"/>
            <a:ext cx="1142251" cy="700265"/>
          </a:xfrm>
          <a:prstGeom prst="rect">
            <a:avLst/>
          </a:prstGeom>
        </p:spPr>
      </p:pic>
      <p:pic>
        <p:nvPicPr>
          <p:cNvPr id="11" name="圖片 10">
            <a:extLst>
              <a:ext uri="{FF2B5EF4-FFF2-40B4-BE49-F238E27FC236}">
                <a16:creationId xmlns:a16="http://schemas.microsoft.com/office/drawing/2014/main" id="{F0E2A3B0-5F48-F1E8-29DE-F4A714CF3031}"/>
              </a:ext>
            </a:extLst>
          </p:cNvPr>
          <p:cNvPicPr>
            <a:picLocks noChangeAspect="1"/>
          </p:cNvPicPr>
          <p:nvPr/>
        </p:nvPicPr>
        <p:blipFill>
          <a:blip r:embed="rId5"/>
          <a:stretch>
            <a:fillRect/>
          </a:stretch>
        </p:blipFill>
        <p:spPr>
          <a:xfrm>
            <a:off x="3556643" y="2487711"/>
            <a:ext cx="1089025" cy="735519"/>
          </a:xfrm>
          <a:prstGeom prst="rect">
            <a:avLst/>
          </a:prstGeom>
        </p:spPr>
      </p:pic>
      <p:pic>
        <p:nvPicPr>
          <p:cNvPr id="15" name="圖片 14">
            <a:extLst>
              <a:ext uri="{FF2B5EF4-FFF2-40B4-BE49-F238E27FC236}">
                <a16:creationId xmlns:a16="http://schemas.microsoft.com/office/drawing/2014/main" id="{BBCD0766-0021-5FD8-2355-79A520E5EC9A}"/>
              </a:ext>
            </a:extLst>
          </p:cNvPr>
          <p:cNvPicPr>
            <a:picLocks noChangeAspect="1"/>
          </p:cNvPicPr>
          <p:nvPr/>
        </p:nvPicPr>
        <p:blipFill>
          <a:blip r:embed="rId6"/>
          <a:stretch>
            <a:fillRect/>
          </a:stretch>
        </p:blipFill>
        <p:spPr>
          <a:xfrm>
            <a:off x="3470704" y="4846589"/>
            <a:ext cx="1249788" cy="1164437"/>
          </a:xfrm>
          <a:prstGeom prst="rect">
            <a:avLst/>
          </a:prstGeom>
        </p:spPr>
      </p:pic>
      <p:pic>
        <p:nvPicPr>
          <p:cNvPr id="6" name="圖片 5">
            <a:extLst>
              <a:ext uri="{FF2B5EF4-FFF2-40B4-BE49-F238E27FC236}">
                <a16:creationId xmlns:a16="http://schemas.microsoft.com/office/drawing/2014/main" id="{9E2F4FE8-1842-7055-E116-A7FFA7B7B21E}"/>
              </a:ext>
            </a:extLst>
          </p:cNvPr>
          <p:cNvPicPr>
            <a:picLocks noChangeAspect="1"/>
          </p:cNvPicPr>
          <p:nvPr/>
        </p:nvPicPr>
        <p:blipFill>
          <a:blip r:embed="rId7"/>
          <a:stretch>
            <a:fillRect/>
          </a:stretch>
        </p:blipFill>
        <p:spPr>
          <a:xfrm>
            <a:off x="96681" y="1412814"/>
            <a:ext cx="3298222" cy="2914141"/>
          </a:xfrm>
          <a:prstGeom prst="rect">
            <a:avLst/>
          </a:prstGeom>
        </p:spPr>
      </p:pic>
      <p:pic>
        <p:nvPicPr>
          <p:cNvPr id="10" name="圖片 9">
            <a:extLst>
              <a:ext uri="{FF2B5EF4-FFF2-40B4-BE49-F238E27FC236}">
                <a16:creationId xmlns:a16="http://schemas.microsoft.com/office/drawing/2014/main" id="{7D9BE284-0313-1319-E4C2-3CE213F151AD}"/>
              </a:ext>
            </a:extLst>
          </p:cNvPr>
          <p:cNvPicPr>
            <a:picLocks noChangeAspect="1"/>
          </p:cNvPicPr>
          <p:nvPr/>
        </p:nvPicPr>
        <p:blipFill>
          <a:blip r:embed="rId8"/>
          <a:stretch>
            <a:fillRect/>
          </a:stretch>
        </p:blipFill>
        <p:spPr>
          <a:xfrm>
            <a:off x="4707125" y="1439465"/>
            <a:ext cx="3463737" cy="2914141"/>
          </a:xfrm>
          <a:prstGeom prst="rect">
            <a:avLst/>
          </a:prstGeom>
        </p:spPr>
      </p:pic>
      <p:pic>
        <p:nvPicPr>
          <p:cNvPr id="14" name="圖片 13">
            <a:extLst>
              <a:ext uri="{FF2B5EF4-FFF2-40B4-BE49-F238E27FC236}">
                <a16:creationId xmlns:a16="http://schemas.microsoft.com/office/drawing/2014/main" id="{7FF71A8A-865B-4A52-2E0F-D2AB1252EBFB}"/>
              </a:ext>
            </a:extLst>
          </p:cNvPr>
          <p:cNvPicPr>
            <a:picLocks noChangeAspect="1"/>
          </p:cNvPicPr>
          <p:nvPr/>
        </p:nvPicPr>
        <p:blipFill>
          <a:blip r:embed="rId9"/>
          <a:stretch>
            <a:fillRect/>
          </a:stretch>
        </p:blipFill>
        <p:spPr>
          <a:xfrm>
            <a:off x="96681" y="4929764"/>
            <a:ext cx="3292125" cy="1426588"/>
          </a:xfrm>
          <a:prstGeom prst="rect">
            <a:avLst/>
          </a:prstGeom>
        </p:spPr>
      </p:pic>
      <p:pic>
        <p:nvPicPr>
          <p:cNvPr id="18" name="圖片 17">
            <a:extLst>
              <a:ext uri="{FF2B5EF4-FFF2-40B4-BE49-F238E27FC236}">
                <a16:creationId xmlns:a16="http://schemas.microsoft.com/office/drawing/2014/main" id="{1CAE2E66-3505-0FDF-DB84-55A6B12D7B4B}"/>
              </a:ext>
            </a:extLst>
          </p:cNvPr>
          <p:cNvPicPr>
            <a:picLocks noChangeAspect="1"/>
          </p:cNvPicPr>
          <p:nvPr/>
        </p:nvPicPr>
        <p:blipFill>
          <a:blip r:embed="rId10"/>
          <a:stretch>
            <a:fillRect/>
          </a:stretch>
        </p:blipFill>
        <p:spPr>
          <a:xfrm>
            <a:off x="4878737" y="4929764"/>
            <a:ext cx="3292125" cy="1426588"/>
          </a:xfrm>
          <a:prstGeom prst="rect">
            <a:avLst/>
          </a:prstGeom>
        </p:spPr>
      </p:pic>
      <p:pic>
        <p:nvPicPr>
          <p:cNvPr id="3" name="圖片 2">
            <a:extLst>
              <a:ext uri="{FF2B5EF4-FFF2-40B4-BE49-F238E27FC236}">
                <a16:creationId xmlns:a16="http://schemas.microsoft.com/office/drawing/2014/main" id="{8134B15C-CDE1-BA5E-A027-2DFB16DE071F}"/>
              </a:ext>
            </a:extLst>
          </p:cNvPr>
          <p:cNvPicPr>
            <a:picLocks noChangeAspect="1"/>
          </p:cNvPicPr>
          <p:nvPr/>
        </p:nvPicPr>
        <p:blipFill>
          <a:blip r:embed="rId11"/>
          <a:stretch>
            <a:fillRect/>
          </a:stretch>
        </p:blipFill>
        <p:spPr>
          <a:xfrm>
            <a:off x="8624702" y="1756611"/>
            <a:ext cx="3395881" cy="4108125"/>
          </a:xfrm>
          <a:prstGeom prst="rect">
            <a:avLst/>
          </a:prstGeom>
        </p:spPr>
      </p:pic>
    </p:spTree>
    <p:extLst>
      <p:ext uri="{BB962C8B-B14F-4D97-AF65-F5344CB8AC3E}">
        <p14:creationId xmlns:p14="http://schemas.microsoft.com/office/powerpoint/2010/main" val="3281581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left)">
                                      <p:cBhvr>
                                        <p:cTn id="21" dur="500"/>
                                        <p:tgtEl>
                                          <p:spTgt spid="15"/>
                                        </p:tgtEl>
                                      </p:cBhvr>
                                    </p:animEffect>
                                  </p:childTnLst>
                                </p:cTn>
                              </p:par>
                            </p:childTnLst>
                          </p:cTn>
                        </p:par>
                        <p:par>
                          <p:cTn id="22" fill="hold">
                            <p:stCondLst>
                              <p:cond delay="500"/>
                            </p:stCondLst>
                            <p:childTnLst>
                              <p:par>
                                <p:cTn id="23" presetID="10" presetClass="entr" presetSubtype="0" fill="hold" nodeType="after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EOPMC simulation process</a:t>
            </a:r>
            <a:endParaRPr lang="zh-TW" altLang="en-US" b="1"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0039351" y="6356352"/>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28</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sp>
        <p:nvSpPr>
          <p:cNvPr id="6" name="文字方塊 5">
            <a:extLst>
              <a:ext uri="{FF2B5EF4-FFF2-40B4-BE49-F238E27FC236}">
                <a16:creationId xmlns:a16="http://schemas.microsoft.com/office/drawing/2014/main" id="{FBC83C3C-C096-F2D0-43CB-9CDEC34605D7}"/>
              </a:ext>
            </a:extLst>
          </p:cNvPr>
          <p:cNvSpPr txBox="1"/>
          <p:nvPr/>
        </p:nvSpPr>
        <p:spPr>
          <a:xfrm>
            <a:off x="5752053" y="524670"/>
            <a:ext cx="7774075" cy="727571"/>
          </a:xfrm>
          <a:prstGeom prst="rect">
            <a:avLst/>
          </a:prstGeom>
          <a:noFill/>
        </p:spPr>
        <p:txBody>
          <a:bodyPr wrap="square">
            <a:spAutoFit/>
          </a:bodyPr>
          <a:lstStyle/>
          <a:p>
            <a:pPr marL="0" indent="0">
              <a:lnSpc>
                <a:spcPct val="200000"/>
              </a:lnSpc>
              <a:buNone/>
            </a:pPr>
            <a:r>
              <a:rPr lang="en-US" altLang="zh-TW" sz="2400" b="1" dirty="0">
                <a:effectLst>
                  <a:outerShdw blurRad="38100" dist="38100" dir="2700000" algn="tl">
                    <a:srgbClr val="000000">
                      <a:alpha val="43137"/>
                    </a:srgbClr>
                  </a:outerShdw>
                </a:effectLst>
              </a:rPr>
              <a:t>APPLN EOPMC’s structure  design</a:t>
            </a:r>
            <a:endParaRPr lang="zh-TW" altLang="en-US" sz="2400" b="1" dirty="0">
              <a:effectLst>
                <a:outerShdw blurRad="38100" dist="38100" dir="2700000" algn="tl">
                  <a:srgbClr val="000000">
                    <a:alpha val="43137"/>
                  </a:srgbClr>
                </a:outerShdw>
              </a:effectLst>
            </a:endParaRPr>
          </a:p>
        </p:txBody>
      </p:sp>
      <p:sp>
        <p:nvSpPr>
          <p:cNvPr id="9" name="矩形 8">
            <a:extLst>
              <a:ext uri="{FF2B5EF4-FFF2-40B4-BE49-F238E27FC236}">
                <a16:creationId xmlns:a16="http://schemas.microsoft.com/office/drawing/2014/main" id="{8E03609D-5610-E4F8-F015-FCDB0129F500}"/>
              </a:ext>
            </a:extLst>
          </p:cNvPr>
          <p:cNvSpPr/>
          <p:nvPr/>
        </p:nvSpPr>
        <p:spPr>
          <a:xfrm>
            <a:off x="150447" y="2967483"/>
            <a:ext cx="3887667" cy="369332"/>
          </a:xfrm>
          <a:prstGeom prst="rect">
            <a:avLst/>
          </a:prstGeom>
        </p:spPr>
        <p:txBody>
          <a:bodyPr wrap="none">
            <a:spAutoFit/>
          </a:bodyPr>
          <a:lstStyle/>
          <a:p>
            <a:r>
              <a:rPr lang="en-US" altLang="zh-TW" u="sng" dirty="0"/>
              <a:t>Objective function (EOPMC broadband)</a:t>
            </a:r>
            <a:endParaRPr lang="zh-TW" altLang="en-US" u="sng" dirty="0"/>
          </a:p>
        </p:txBody>
      </p:sp>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B091337D-377D-854F-4500-3FA57490CA7D}"/>
                  </a:ext>
                </a:extLst>
              </p:cNvPr>
              <p:cNvSpPr txBox="1"/>
              <p:nvPr/>
            </p:nvSpPr>
            <p:spPr>
              <a:xfrm>
                <a:off x="170092" y="3228407"/>
                <a:ext cx="4642339" cy="12178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800" b="0" i="0" smtClean="0">
                          <a:latin typeface="Cambria Math" panose="02040503050406030204" pitchFamily="18" charset="0"/>
                        </a:rPr>
                        <m:t>OF</m:t>
                      </m:r>
                      <m:r>
                        <a:rPr lang="zh-TW" altLang="en-US" sz="1800" i="0" smtClean="0">
                          <a:latin typeface="Cambria Math" panose="02040503050406030204" pitchFamily="18" charset="0"/>
                        </a:rPr>
                        <m:t>=</m:t>
                      </m:r>
                      <m:nary>
                        <m:naryPr>
                          <m:chr m:val="∑"/>
                          <m:limLoc m:val="undOvr"/>
                          <m:ctrlPr>
                            <a:rPr lang="zh-TW" altLang="en-US" sz="1800" i="1">
                              <a:latin typeface="Cambria Math" panose="02040503050406030204" pitchFamily="18" charset="0"/>
                            </a:rPr>
                          </m:ctrlPr>
                        </m:naryPr>
                        <m:sub>
                          <m:r>
                            <a:rPr lang="zh-TW" altLang="en-US" sz="1800" i="1">
                              <a:latin typeface="Cambria Math" panose="02040503050406030204" pitchFamily="18" charset="0"/>
                            </a:rPr>
                            <m:t>𝑗</m:t>
                          </m:r>
                          <m:r>
                            <a:rPr lang="zh-TW" altLang="en-US" sz="1800">
                              <a:latin typeface="Cambria Math" panose="02040503050406030204" pitchFamily="18" charset="0"/>
                            </a:rPr>
                            <m:t>=1</m:t>
                          </m:r>
                        </m:sub>
                        <m:sup>
                          <m:r>
                            <a:rPr lang="zh-TW" altLang="en-US" i="1">
                              <a:latin typeface="Cambria Math" panose="02040503050406030204" pitchFamily="18" charset="0"/>
                            </a:rPr>
                            <m:t>𝜆</m:t>
                          </m:r>
                        </m:sup>
                        <m:e>
                          <m:r>
                            <a:rPr lang="en-US" altLang="zh-TW" i="1">
                              <a:latin typeface="Cambria Math" panose="02040503050406030204" pitchFamily="18" charset="0"/>
                            </a:rPr>
                            <m:t>[</m:t>
                          </m:r>
                          <m:d>
                            <m:dPr>
                              <m:begChr m:val="|"/>
                              <m:endChr m:val="|"/>
                              <m:ctrlPr>
                                <a:rPr lang="zh-TW" altLang="en-US" i="1">
                                  <a:latin typeface="Cambria Math" panose="02040503050406030204" pitchFamily="18" charset="0"/>
                                </a:rPr>
                              </m:ctrlPr>
                            </m:dPr>
                            <m:e>
                              <m:sSub>
                                <m:sSubPr>
                                  <m:ctrlPr>
                                    <a:rPr lang="zh-TW" altLang="en-US" i="1">
                                      <a:latin typeface="Cambria Math" panose="02040503050406030204" pitchFamily="18" charset="0"/>
                                    </a:rPr>
                                  </m:ctrlPr>
                                </m:sSubPr>
                                <m:e>
                                  <m:r>
                                    <a:rPr lang="zh-TW" altLang="en-US" i="1">
                                      <a:latin typeface="Cambria Math" panose="02040503050406030204" pitchFamily="18" charset="0"/>
                                    </a:rPr>
                                    <m:t>𝑇</m:t>
                                  </m:r>
                                </m:e>
                                <m:sub>
                                  <m:r>
                                    <a:rPr lang="en-US" altLang="zh-TW" i="1">
                                      <a:latin typeface="Cambria Math" panose="02040503050406030204" pitchFamily="18" charset="0"/>
                                    </a:rPr>
                                    <m:t>𝑜𝑏𝑗𝑒𝑐𝑡</m:t>
                                  </m:r>
                                </m:sub>
                              </m:sSub>
                              <m:r>
                                <a:rPr lang="zh-TW" altLang="en-US">
                                  <a:latin typeface="Cambria Math" panose="02040503050406030204" pitchFamily="18" charset="0"/>
                                </a:rPr>
                                <m:t>(</m:t>
                              </m:r>
                              <m:sSub>
                                <m:sSubPr>
                                  <m:ctrlPr>
                                    <a:rPr lang="zh-TW" altLang="en-US" i="1">
                                      <a:latin typeface="Cambria Math" panose="02040503050406030204" pitchFamily="18" charset="0"/>
                                    </a:rPr>
                                  </m:ctrlPr>
                                </m:sSubPr>
                                <m:e>
                                  <m:r>
                                    <a:rPr lang="zh-TW" altLang="en-US" i="1">
                                      <a:latin typeface="Cambria Math" panose="02040503050406030204" pitchFamily="18" charset="0"/>
                                    </a:rPr>
                                    <m:t>𝜆</m:t>
                                  </m:r>
                                </m:e>
                                <m:sub>
                                  <m:r>
                                    <m:rPr>
                                      <m:sty m:val="p"/>
                                    </m:rPr>
                                    <a:rPr lang="en-US" altLang="zh-TW">
                                      <a:latin typeface="Cambria Math" panose="02040503050406030204" pitchFamily="18" charset="0"/>
                                    </a:rPr>
                                    <m:t>j</m:t>
                                  </m:r>
                                </m:sub>
                              </m:sSub>
                              <m:r>
                                <a:rPr lang="en-US" altLang="zh-TW">
                                  <a:latin typeface="Cambria Math" panose="02040503050406030204" pitchFamily="18" charset="0"/>
                                </a:rPr>
                                <m:t>)</m:t>
                              </m:r>
                              <m:r>
                                <a:rPr lang="zh-TW" altLang="en-US">
                                  <a:latin typeface="Cambria Math" panose="02040503050406030204" pitchFamily="18" charset="0"/>
                                </a:rPr>
                                <m:t>−</m:t>
                              </m:r>
                              <m:sSub>
                                <m:sSubPr>
                                  <m:ctrlPr>
                                    <a:rPr lang="zh-TW" altLang="en-US" i="1">
                                      <a:latin typeface="Cambria Math" panose="02040503050406030204" pitchFamily="18" charset="0"/>
                                    </a:rPr>
                                  </m:ctrlPr>
                                </m:sSubPr>
                                <m:e>
                                  <m:r>
                                    <a:rPr lang="zh-TW" altLang="en-US" i="1">
                                      <a:latin typeface="Cambria Math" panose="02040503050406030204" pitchFamily="18" charset="0"/>
                                    </a:rPr>
                                    <m:t>𝑇</m:t>
                                  </m:r>
                                </m:e>
                                <m:sub>
                                  <m:r>
                                    <a:rPr lang="en-US" altLang="zh-TW" i="1">
                                      <a:latin typeface="Cambria Math" panose="02040503050406030204" pitchFamily="18" charset="0"/>
                                    </a:rPr>
                                    <m:t>𝑐</m:t>
                                  </m:r>
                                  <m:r>
                                    <a:rPr lang="zh-TW" altLang="en-US" i="1">
                                      <a:latin typeface="Cambria Math" panose="02040503050406030204" pitchFamily="18" charset="0"/>
                                    </a:rPr>
                                    <m:t>𝑎𝑙</m:t>
                                  </m:r>
                                </m:sub>
                              </m:sSub>
                              <m:d>
                                <m:dPr>
                                  <m:ctrlPr>
                                    <a:rPr lang="zh-TW" altLang="en-US" i="1">
                                      <a:latin typeface="Cambria Math" panose="02040503050406030204" pitchFamily="18" charset="0"/>
                                    </a:rPr>
                                  </m:ctrlPr>
                                </m:dPr>
                                <m:e>
                                  <m:sSub>
                                    <m:sSubPr>
                                      <m:ctrlPr>
                                        <a:rPr lang="zh-TW" altLang="en-US" i="1">
                                          <a:latin typeface="Cambria Math" panose="02040503050406030204" pitchFamily="18" charset="0"/>
                                        </a:rPr>
                                      </m:ctrlPr>
                                    </m:sSubPr>
                                    <m:e>
                                      <m:r>
                                        <a:rPr lang="zh-TW" altLang="en-US" i="1">
                                          <a:latin typeface="Cambria Math" panose="02040503050406030204" pitchFamily="18" charset="0"/>
                                        </a:rPr>
                                        <m:t>𝜆</m:t>
                                      </m:r>
                                    </m:e>
                                    <m:sub>
                                      <m:r>
                                        <m:rPr>
                                          <m:sty m:val="p"/>
                                        </m:rPr>
                                        <a:rPr lang="en-US" altLang="zh-TW">
                                          <a:latin typeface="Cambria Math" panose="02040503050406030204" pitchFamily="18" charset="0"/>
                                        </a:rPr>
                                        <m:t>j</m:t>
                                      </m:r>
                                    </m:sub>
                                  </m:sSub>
                                  <m:r>
                                    <a:rPr lang="zh-TW" altLang="en-US" i="1">
                                      <a:latin typeface="Cambria Math" panose="02040503050406030204" pitchFamily="18" charset="0"/>
                                    </a:rPr>
                                    <m:t> </m:t>
                                  </m:r>
                                </m:e>
                              </m:d>
                            </m:e>
                          </m:d>
                        </m:e>
                      </m:nary>
                      <m:r>
                        <a:rPr lang="en-US" altLang="zh-TW" sz="1800" b="0" i="0" smtClean="0">
                          <a:latin typeface="Cambria Math" panose="02040503050406030204" pitchFamily="18" charset="0"/>
                        </a:rPr>
                        <m:t>]</m:t>
                      </m:r>
                      <m:r>
                        <a:rPr lang="zh-TW" altLang="en-US" i="1">
                          <a:latin typeface="Cambria Math" panose="02040503050406030204" pitchFamily="18" charset="0"/>
                        </a:rPr>
                        <m:t>𝑤</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zh-TW" altLang="en-US" i="1">
                                  <a:latin typeface="Cambria Math" panose="02040503050406030204" pitchFamily="18" charset="0"/>
                                </a:rPr>
                                <m:t>𝜆</m:t>
                              </m:r>
                            </m:e>
                            <m:sub>
                              <m:r>
                                <a:rPr lang="en-US" altLang="zh-TW" i="1">
                                  <a:latin typeface="Cambria Math" panose="02040503050406030204" pitchFamily="18" charset="0"/>
                                </a:rPr>
                                <m:t>𝑗</m:t>
                              </m:r>
                            </m:sub>
                          </m:sSub>
                        </m:e>
                      </m:d>
                    </m:oMath>
                  </m:oMathPara>
                </a14:m>
                <a:endParaRPr lang="en-US" altLang="zh-TW" dirty="0"/>
              </a:p>
              <a:p>
                <a:r>
                  <a:rPr lang="en-US" altLang="zh-TW" dirty="0"/>
                  <a:t>      </a:t>
                </a:r>
              </a:p>
            </p:txBody>
          </p:sp>
        </mc:Choice>
        <mc:Fallback xmlns="">
          <p:sp>
            <p:nvSpPr>
              <p:cNvPr id="11" name="文字方塊 10">
                <a:extLst>
                  <a:ext uri="{FF2B5EF4-FFF2-40B4-BE49-F238E27FC236}">
                    <a16:creationId xmlns:a16="http://schemas.microsoft.com/office/drawing/2014/main" id="{B091337D-377D-854F-4500-3FA57490CA7D}"/>
                  </a:ext>
                </a:extLst>
              </p:cNvPr>
              <p:cNvSpPr txBox="1">
                <a:spLocks noRot="1" noChangeAspect="1" noMove="1" noResize="1" noEditPoints="1" noAdjustHandles="1" noChangeArrowheads="1" noChangeShapeType="1" noTextEdit="1"/>
              </p:cNvSpPr>
              <p:nvPr/>
            </p:nvSpPr>
            <p:spPr>
              <a:xfrm>
                <a:off x="170092" y="3228407"/>
                <a:ext cx="4642339" cy="1217898"/>
              </a:xfrm>
              <a:prstGeom prst="rect">
                <a:avLst/>
              </a:prstGeom>
              <a:blipFill>
                <a:blip r:embed="rId4"/>
                <a:stretch>
                  <a:fillRect/>
                </a:stretch>
              </a:blipFill>
            </p:spPr>
            <p:txBody>
              <a:bodyPr/>
              <a:lstStyle/>
              <a:p>
                <a:r>
                  <a:rPr lang="zh-TW" altLang="en-US">
                    <a:noFill/>
                  </a:rPr>
                  <a:t> </a:t>
                </a:r>
              </a:p>
            </p:txBody>
          </p:sp>
        </mc:Fallback>
      </mc:AlternateContent>
      <p:pic>
        <p:nvPicPr>
          <p:cNvPr id="14" name="圖片 13">
            <a:extLst>
              <a:ext uri="{FF2B5EF4-FFF2-40B4-BE49-F238E27FC236}">
                <a16:creationId xmlns:a16="http://schemas.microsoft.com/office/drawing/2014/main" id="{56BA60CC-FC6B-0F07-B527-0955A597DB80}"/>
              </a:ext>
            </a:extLst>
          </p:cNvPr>
          <p:cNvPicPr>
            <a:picLocks noChangeAspect="1"/>
          </p:cNvPicPr>
          <p:nvPr/>
        </p:nvPicPr>
        <p:blipFill>
          <a:blip r:embed="rId5"/>
          <a:stretch>
            <a:fillRect/>
          </a:stretch>
        </p:blipFill>
        <p:spPr>
          <a:xfrm>
            <a:off x="6536892" y="2874302"/>
            <a:ext cx="5219861" cy="3922901"/>
          </a:xfrm>
          <a:prstGeom prst="rect">
            <a:avLst/>
          </a:prstGeom>
          <a:ln>
            <a:noFill/>
          </a:ln>
        </p:spPr>
      </p:pic>
      <mc:AlternateContent xmlns:mc="http://schemas.openxmlformats.org/markup-compatibility/2006" xmlns:a14="http://schemas.microsoft.com/office/drawing/2010/main">
        <mc:Choice Requires="a14">
          <p:graphicFrame>
            <p:nvGraphicFramePr>
              <p:cNvPr id="16" name="表格 16">
                <a:extLst>
                  <a:ext uri="{FF2B5EF4-FFF2-40B4-BE49-F238E27FC236}">
                    <a16:creationId xmlns:a16="http://schemas.microsoft.com/office/drawing/2014/main" id="{45DD09FB-4AC7-7EB8-3FC2-DDD48D2A4FB6}"/>
                  </a:ext>
                </a:extLst>
              </p:cNvPr>
              <p:cNvGraphicFramePr>
                <a:graphicFrameLocks noGrp="1"/>
              </p:cNvGraphicFramePr>
              <p:nvPr>
                <p:extLst>
                  <p:ext uri="{D42A27DB-BD31-4B8C-83A1-F6EECF244321}">
                    <p14:modId xmlns:p14="http://schemas.microsoft.com/office/powerpoint/2010/main" val="1474003618"/>
                  </p:ext>
                </p:extLst>
              </p:nvPr>
            </p:nvGraphicFramePr>
            <p:xfrm>
              <a:off x="150447" y="4138086"/>
              <a:ext cx="5716954" cy="2595880"/>
            </p:xfrm>
            <a:graphic>
              <a:graphicData uri="http://schemas.openxmlformats.org/drawingml/2006/table">
                <a:tbl>
                  <a:tblPr firstRow="1" bandRow="1">
                    <a:tableStyleId>{93296810-A885-4BE3-A3E7-6D5BEEA58F35}</a:tableStyleId>
                  </a:tblPr>
                  <a:tblGrid>
                    <a:gridCol w="2858477">
                      <a:extLst>
                        <a:ext uri="{9D8B030D-6E8A-4147-A177-3AD203B41FA5}">
                          <a16:colId xmlns:a16="http://schemas.microsoft.com/office/drawing/2014/main" val="1265635253"/>
                        </a:ext>
                      </a:extLst>
                    </a:gridCol>
                    <a:gridCol w="2858477">
                      <a:extLst>
                        <a:ext uri="{9D8B030D-6E8A-4147-A177-3AD203B41FA5}">
                          <a16:colId xmlns:a16="http://schemas.microsoft.com/office/drawing/2014/main" val="1132089630"/>
                        </a:ext>
                      </a:extLst>
                    </a:gridCol>
                  </a:tblGrid>
                  <a:tr h="370840">
                    <a:tc gridSpan="2">
                      <a:txBody>
                        <a:bodyPr/>
                        <a:lstStyle/>
                        <a:p>
                          <a:pPr algn="ctr">
                            <a:lnSpc>
                              <a:spcPct val="150000"/>
                            </a:lnSpc>
                            <a:spcAft>
                              <a:spcPts val="0"/>
                            </a:spcAft>
                          </a:pPr>
                          <a:r>
                            <a:rPr lang="en-US" altLang="zh-TW" sz="1200" b="1" kern="100" dirty="0">
                              <a:solidFill>
                                <a:sysClr val="windowText" lastClr="000000"/>
                              </a:solidFill>
                              <a:effectLst/>
                              <a:latin typeface="Times New Roman" panose="02020603050405020304" pitchFamily="18" charset="0"/>
                              <a:cs typeface="Times New Roman" panose="02020603050405020304" pitchFamily="18" charset="0"/>
                            </a:rPr>
                            <a:t>APPLN</a:t>
                          </a:r>
                          <a:r>
                            <a:rPr lang="zh-TW" altLang="en-US" sz="1200" b="1" kern="100" dirty="0">
                              <a:solidFill>
                                <a:sysClr val="windowText" lastClr="000000"/>
                              </a:solidFill>
                              <a:effectLst/>
                              <a:latin typeface="Times New Roman" panose="02020603050405020304" pitchFamily="18" charset="0"/>
                              <a:cs typeface="Times New Roman" panose="02020603050405020304" pitchFamily="18" charset="0"/>
                            </a:rPr>
                            <a:t> </a:t>
                          </a:r>
                          <a:r>
                            <a:rPr lang="en-US" sz="1200" b="1" kern="100" dirty="0">
                              <a:solidFill>
                                <a:sysClr val="windowText" lastClr="000000"/>
                              </a:solidFill>
                              <a:effectLst/>
                              <a:latin typeface="Times New Roman" panose="02020603050405020304" pitchFamily="18" charset="0"/>
                              <a:cs typeface="Times New Roman" panose="02020603050405020304" pitchFamily="18" charset="0"/>
                            </a:rPr>
                            <a:t>EO</a:t>
                          </a:r>
                          <a:r>
                            <a:rPr lang="en-US" altLang="zh-TW" sz="1200" b="1" kern="100" dirty="0">
                              <a:solidFill>
                                <a:sysClr val="windowText" lastClr="000000"/>
                              </a:solidFill>
                              <a:effectLst/>
                              <a:latin typeface="Times New Roman" panose="02020603050405020304" pitchFamily="18" charset="0"/>
                              <a:cs typeface="Times New Roman" panose="02020603050405020304" pitchFamily="18" charset="0"/>
                            </a:rPr>
                            <a:t>PMC</a:t>
                          </a:r>
                          <a:r>
                            <a:rPr lang="en-US" sz="1200" b="1" kern="100" dirty="0">
                              <a:solidFill>
                                <a:sysClr val="windowText" lastClr="000000"/>
                              </a:solidFill>
                              <a:effectLst/>
                              <a:latin typeface="Times New Roman" panose="02020603050405020304" pitchFamily="18" charset="0"/>
                              <a:cs typeface="Times New Roman" panose="02020603050405020304" pitchFamily="18" charset="0"/>
                            </a:rPr>
                            <a:t> design parameters</a:t>
                          </a:r>
                          <a:endParaRPr lang="zh-TW" sz="1200" b="1" kern="100" dirty="0">
                            <a:solidFill>
                              <a:sysClr val="windowText" lastClr="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hMerge="1">
                      <a:txBody>
                        <a:bodyPr/>
                        <a:lstStyle/>
                        <a:p>
                          <a:endParaRPr lang="zh-TW" altLang="en-US"/>
                        </a:p>
                      </a:txBody>
                      <a:tcPr/>
                    </a:tc>
                    <a:extLst>
                      <a:ext uri="{0D108BD9-81ED-4DB2-BD59-A6C34878D82A}">
                        <a16:rowId xmlns:a16="http://schemas.microsoft.com/office/drawing/2014/main" val="2324757519"/>
                      </a:ext>
                    </a:extLst>
                  </a:tr>
                  <a:tr h="370840">
                    <a:tc>
                      <a:txBody>
                        <a:bodyPr/>
                        <a:lstStyle/>
                        <a:p>
                          <a:pPr algn="l">
                            <a:lnSpc>
                              <a:spcPct val="150000"/>
                            </a:lnSpc>
                            <a:spcAft>
                              <a:spcPts val="0"/>
                            </a:spcAft>
                          </a:pPr>
                          <a:r>
                            <a:rPr lang="en-US" sz="1200" b="0" kern="100" dirty="0">
                              <a:effectLst/>
                              <a:latin typeface="Times New Roman" panose="02020603050405020304" pitchFamily="18" charset="0"/>
                              <a:cs typeface="Times New Roman" panose="02020603050405020304" pitchFamily="18" charset="0"/>
                            </a:rPr>
                            <a:t>EO</a:t>
                          </a:r>
                          <a:r>
                            <a:rPr lang="en-US" altLang="zh-TW" sz="1200" b="0" kern="100" dirty="0">
                              <a:effectLst/>
                              <a:latin typeface="Times New Roman" panose="02020603050405020304" pitchFamily="18" charset="0"/>
                              <a:cs typeface="Times New Roman" panose="02020603050405020304" pitchFamily="18" charset="0"/>
                            </a:rPr>
                            <a:t>PMC</a:t>
                          </a:r>
                          <a:r>
                            <a:rPr lang="zh-TW" altLang="en-US" sz="1200" b="0" kern="100" dirty="0">
                              <a:effectLst/>
                              <a:latin typeface="Times New Roman" panose="02020603050405020304" pitchFamily="18" charset="0"/>
                              <a:cs typeface="Times New Roman" panose="02020603050405020304" pitchFamily="18" charset="0"/>
                            </a:rPr>
                            <a:t> </a:t>
                          </a:r>
                          <a:r>
                            <a:rPr lang="en-US" altLang="zh-TW" sz="1200" b="0" kern="100" dirty="0">
                              <a:effectLst/>
                              <a:latin typeface="Times New Roman" panose="02020603050405020304" pitchFamily="18" charset="0"/>
                              <a:cs typeface="Times New Roman" panose="02020603050405020304" pitchFamily="18" charset="0"/>
                            </a:rPr>
                            <a:t>structure</a:t>
                          </a:r>
                          <a:r>
                            <a:rPr lang="en-US" sz="1200" b="0" kern="100" dirty="0">
                              <a:effectLst/>
                              <a:latin typeface="Times New Roman" panose="02020603050405020304" pitchFamily="18" charset="0"/>
                              <a:cs typeface="Times New Roman" panose="02020603050405020304" pitchFamily="18" charset="0"/>
                            </a:rPr>
                            <a:t> length</a:t>
                          </a:r>
                          <a:endParaRPr lang="zh-TW" sz="1200" b="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l">
                            <a:lnSpc>
                              <a:spcPct val="150000"/>
                            </a:lnSpc>
                            <a:spcAft>
                              <a:spcPts val="0"/>
                            </a:spcAft>
                          </a:pPr>
                          <a:r>
                            <a:rPr lang="en-US" sz="1200" b="0" kern="100" dirty="0">
                              <a:effectLst/>
                              <a:latin typeface="Times New Roman" panose="02020603050405020304" pitchFamily="18" charset="0"/>
                              <a:cs typeface="Times New Roman" panose="02020603050405020304" pitchFamily="18" charset="0"/>
                            </a:rPr>
                            <a:t>1cm</a:t>
                          </a:r>
                          <a:endParaRPr lang="zh-TW" sz="1200" b="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033415748"/>
                      </a:ext>
                    </a:extLst>
                  </a:tr>
                  <a:tr h="370840">
                    <a:tc>
                      <a:txBody>
                        <a:bodyPr/>
                        <a:lstStyle/>
                        <a:p>
                          <a:pPr algn="l">
                            <a:lnSpc>
                              <a:spcPct val="150000"/>
                            </a:lnSpc>
                            <a:spcAft>
                              <a:spcPts val="0"/>
                            </a:spcAft>
                          </a:pPr>
                          <a:r>
                            <a:rPr lang="en-US" sz="1200" b="0" kern="100" dirty="0">
                              <a:effectLst/>
                              <a:latin typeface="Times New Roman" panose="02020603050405020304" pitchFamily="18" charset="0"/>
                              <a:cs typeface="Times New Roman" panose="02020603050405020304" pitchFamily="18" charset="0"/>
                            </a:rPr>
                            <a:t>Unit domain length</a:t>
                          </a:r>
                          <a:endParaRPr lang="zh-TW" sz="1200" b="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l">
                            <a:lnSpc>
                              <a:spcPct val="150000"/>
                            </a:lnSpc>
                            <a:spcAft>
                              <a:spcPts val="0"/>
                            </a:spcAft>
                          </a:pPr>
                          <a:r>
                            <a:rPr lang="en-US" sz="1200" b="0" kern="100" dirty="0">
                              <a:effectLst/>
                              <a:latin typeface="Times New Roman" panose="02020603050405020304" pitchFamily="18" charset="0"/>
                              <a:cs typeface="Times New Roman" panose="02020603050405020304" pitchFamily="18" charset="0"/>
                            </a:rPr>
                            <a:t>11.12µm</a:t>
                          </a:r>
                          <a:endParaRPr lang="zh-TW" sz="1200" b="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414356413"/>
                      </a:ext>
                    </a:extLst>
                  </a:tr>
                  <a:tr h="370840">
                    <a:tc>
                      <a:txBody>
                        <a:bodyPr/>
                        <a:lstStyle/>
                        <a:p>
                          <a:pPr algn="l">
                            <a:lnSpc>
                              <a:spcPct val="150000"/>
                            </a:lnSpc>
                            <a:spcAft>
                              <a:spcPts val="0"/>
                            </a:spcAft>
                          </a:pPr>
                          <a:r>
                            <a:rPr lang="en-US" sz="1200" b="0" kern="100" dirty="0">
                              <a:effectLst/>
                              <a:latin typeface="Times New Roman" panose="02020603050405020304" pitchFamily="18" charset="0"/>
                              <a:cs typeface="Times New Roman" panose="02020603050405020304" pitchFamily="18" charset="0"/>
                            </a:rPr>
                            <a:t>EOPMC Wavelength(</a:t>
                          </a:r>
                          <a14:m>
                            <m:oMath xmlns:m="http://schemas.openxmlformats.org/officeDocument/2006/math">
                              <m:sSub>
                                <m:sSubPr>
                                  <m:ctrlPr>
                                    <a:rPr lang="zh-TW" altLang="en-US" sz="1200" i="1" smtClean="0">
                                      <a:latin typeface="Cambria Math" panose="02040503050406030204" pitchFamily="18" charset="0"/>
                                    </a:rPr>
                                  </m:ctrlPr>
                                </m:sSubPr>
                                <m:e>
                                  <m:r>
                                    <a:rPr lang="zh-TW" altLang="en-US" sz="1200" i="1">
                                      <a:latin typeface="Cambria Math" panose="02040503050406030204" pitchFamily="18" charset="0"/>
                                    </a:rPr>
                                    <m:t>𝜆</m:t>
                                  </m:r>
                                </m:e>
                                <m:sub>
                                  <m:r>
                                    <m:rPr>
                                      <m:sty m:val="p"/>
                                    </m:rPr>
                                    <a:rPr lang="en-US" altLang="zh-TW" sz="1200">
                                      <a:latin typeface="Cambria Math" panose="02040503050406030204" pitchFamily="18" charset="0"/>
                                    </a:rPr>
                                    <m:t>j</m:t>
                                  </m:r>
                                </m:sub>
                              </m:sSub>
                              <m:r>
                                <a:rPr lang="en-US" altLang="zh-TW" sz="1200" b="1" i="1" smtClean="0">
                                  <a:latin typeface="Cambria Math" panose="02040503050406030204" pitchFamily="18" charset="0"/>
                                </a:rPr>
                                <m:t>, </m:t>
                              </m:r>
                              <m:r>
                                <a:rPr lang="en-US" altLang="zh-TW" sz="1200" b="1" i="1" smtClean="0">
                                  <a:latin typeface="Cambria Math" panose="02040503050406030204" pitchFamily="18" charset="0"/>
                                </a:rPr>
                                <m:t>𝒋</m:t>
                              </m:r>
                              <m:r>
                                <a:rPr lang="en-US" altLang="zh-TW" sz="1200" b="1" i="1" smtClean="0">
                                  <a:latin typeface="Cambria Math" panose="02040503050406030204" pitchFamily="18" charset="0"/>
                                </a:rPr>
                                <m:t>=</m:t>
                              </m:r>
                              <m:r>
                                <a:rPr lang="en-US" altLang="zh-TW" sz="1200" b="1" i="1" smtClean="0">
                                  <a:latin typeface="Cambria Math" panose="02040503050406030204" pitchFamily="18" charset="0"/>
                                </a:rPr>
                                <m:t>𝟐𝟎</m:t>
                              </m:r>
                              <m:r>
                                <a:rPr lang="zh-TW" altLang="en-US" sz="1200" i="1">
                                  <a:latin typeface="Cambria Math" panose="02040503050406030204" pitchFamily="18" charset="0"/>
                                </a:rPr>
                                <m:t> </m:t>
                              </m:r>
                            </m:oMath>
                          </a14:m>
                          <a:r>
                            <a:rPr lang="en-US" altLang="zh-TW" sz="1200" b="0" kern="100" dirty="0">
                              <a:effectLst/>
                              <a:latin typeface="Times New Roman" panose="02020603050405020304" pitchFamily="18" charset="0"/>
                              <a:ea typeface="新細明體" panose="02020500000000000000" pitchFamily="18" charset="-120"/>
                              <a:cs typeface="Times New Roman" panose="02020603050405020304" pitchFamily="18" charset="0"/>
                            </a:rPr>
                            <a:t>)</a:t>
                          </a:r>
                          <a:endParaRPr lang="zh-TW" sz="1200" b="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l">
                            <a:lnSpc>
                              <a:spcPct val="150000"/>
                            </a:lnSpc>
                            <a:spcAft>
                              <a:spcPts val="0"/>
                            </a:spcAft>
                          </a:pPr>
                          <a:r>
                            <a:rPr lang="en-US" sz="1200" b="0" kern="100" dirty="0">
                              <a:effectLst/>
                              <a:latin typeface="Times New Roman" panose="02020603050405020304" pitchFamily="18" charset="0"/>
                              <a:cs typeface="Times New Roman" panose="02020603050405020304" pitchFamily="18" charset="0"/>
                            </a:rPr>
                            <a:t>1567.5nm~1572.5nm</a:t>
                          </a:r>
                          <a:endParaRPr lang="zh-TW" sz="1200" b="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282169342"/>
                      </a:ext>
                    </a:extLst>
                  </a:tr>
                  <a:tr h="370840">
                    <a:tc>
                      <a:txBody>
                        <a:bodyPr/>
                        <a:lstStyle/>
                        <a:p>
                          <a:pPr algn="l">
                            <a:lnSpc>
                              <a:spcPct val="150000"/>
                            </a:lnSpc>
                            <a:spcAft>
                              <a:spcPts val="0"/>
                            </a:spcAft>
                          </a:pPr>
                          <a14:m>
                            <m:oMathPara xmlns:m="http://schemas.openxmlformats.org/officeDocument/2006/math">
                              <m:oMathParaPr>
                                <m:jc m:val="left"/>
                              </m:oMathParaPr>
                              <m:oMath xmlns:m="http://schemas.openxmlformats.org/officeDocument/2006/math">
                                <m:sSub>
                                  <m:sSubPr>
                                    <m:ctrlPr>
                                      <a:rPr lang="zh-TW" altLang="en-US" sz="1200" i="1" smtClean="0">
                                        <a:latin typeface="Cambria Math" panose="02040503050406030204" pitchFamily="18" charset="0"/>
                                      </a:rPr>
                                    </m:ctrlPr>
                                  </m:sSubPr>
                                  <m:e>
                                    <m:r>
                                      <a:rPr lang="zh-TW" altLang="en-US" sz="1200" i="1">
                                        <a:latin typeface="Cambria Math" panose="02040503050406030204" pitchFamily="18" charset="0"/>
                                      </a:rPr>
                                      <m:t>𝑇</m:t>
                                    </m:r>
                                  </m:e>
                                  <m:sub>
                                    <m:r>
                                      <a:rPr lang="en-US" altLang="zh-TW" sz="1200" i="1">
                                        <a:latin typeface="Cambria Math" panose="02040503050406030204" pitchFamily="18" charset="0"/>
                                      </a:rPr>
                                      <m:t>𝑜𝑏𝑗𝑒𝑐𝑡</m:t>
                                    </m:r>
                                  </m:sub>
                                </m:sSub>
                              </m:oMath>
                            </m:oMathPara>
                          </a14:m>
                          <a:endParaRPr lang="zh-TW" sz="1200" b="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l">
                            <a:lnSpc>
                              <a:spcPct val="150000"/>
                            </a:lnSpc>
                            <a:spcAft>
                              <a:spcPts val="0"/>
                            </a:spcAft>
                          </a:pPr>
                          <a:r>
                            <a:rPr lang="en-US" sz="1200" b="0" kern="100" dirty="0">
                              <a:effectLst/>
                              <a:latin typeface="Times New Roman" panose="02020603050405020304" pitchFamily="18" charset="0"/>
                              <a:cs typeface="Times New Roman" panose="02020603050405020304" pitchFamily="18" charset="0"/>
                            </a:rPr>
                            <a:t>1</a:t>
                          </a:r>
                          <a:endParaRPr lang="zh-TW" sz="1200" b="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462351138"/>
                      </a:ext>
                    </a:extLst>
                  </a:tr>
                  <a:tr h="370840">
                    <a:tc>
                      <a:txBody>
                        <a:bodyPr/>
                        <a:lstStyle/>
                        <a:p>
                          <a:pPr algn="l">
                            <a:lnSpc>
                              <a:spcPct val="150000"/>
                            </a:lnSpc>
                            <a:spcAft>
                              <a:spcPts val="0"/>
                            </a:spcAft>
                          </a:pPr>
                          <a14:m>
                            <m:oMathPara xmlns:m="http://schemas.openxmlformats.org/officeDocument/2006/math">
                              <m:oMathParaPr>
                                <m:jc m:val="left"/>
                              </m:oMathParaPr>
                              <m:oMath xmlns:m="http://schemas.openxmlformats.org/officeDocument/2006/math">
                                <m:sSub>
                                  <m:sSubPr>
                                    <m:ctrlPr>
                                      <a:rPr lang="en-US" altLang="zh-TW" sz="1200" b="0" i="1" kern="100" smtClean="0">
                                        <a:effectLst/>
                                        <a:latin typeface="Cambria Math" panose="02040503050406030204" pitchFamily="18" charset="0"/>
                                        <a:ea typeface="新細明體" panose="02020500000000000000" pitchFamily="18" charset="-120"/>
                                        <a:cs typeface="Times New Roman" panose="02020603050405020304" pitchFamily="18" charset="0"/>
                                      </a:rPr>
                                    </m:ctrlPr>
                                  </m:sSubPr>
                                  <m:e>
                                    <m:r>
                                      <m:rPr>
                                        <m:sty m:val="p"/>
                                      </m:rPr>
                                      <a:rPr lang="en-US" altLang="zh-TW" sz="1200" b="0" i="1" kern="100" smtClean="0">
                                        <a:effectLst/>
                                        <a:latin typeface="Cambria Math" panose="02040503050406030204" pitchFamily="18" charset="0"/>
                                        <a:ea typeface="新細明體" panose="02020500000000000000" pitchFamily="18" charset="-120"/>
                                        <a:cs typeface="Times New Roman" panose="02020603050405020304" pitchFamily="18" charset="0"/>
                                      </a:rPr>
                                      <m:t>V</m:t>
                                    </m:r>
                                  </m:e>
                                  <m:sub>
                                    <m:r>
                                      <a:rPr lang="zh-TW" altLang="en-US" sz="1200" b="0" i="1" kern="100" smtClean="0">
                                        <a:effectLst/>
                                        <a:latin typeface="Cambria Math" panose="02040503050406030204" pitchFamily="18" charset="0"/>
                                        <a:ea typeface="新細明體" panose="02020500000000000000" pitchFamily="18" charset="-120"/>
                                        <a:cs typeface="Times New Roman" panose="02020603050405020304" pitchFamily="18" charset="0"/>
                                      </a:rPr>
                                      <m:t>𝜋</m:t>
                                    </m:r>
                                  </m:sub>
                                </m:sSub>
                              </m:oMath>
                            </m:oMathPara>
                          </a14:m>
                          <a:endParaRPr lang="zh-TW" sz="1200" b="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l">
                            <a:lnSpc>
                              <a:spcPct val="150000"/>
                            </a:lnSpc>
                            <a:spcAft>
                              <a:spcPts val="0"/>
                            </a:spcAft>
                          </a:pPr>
                          <a:r>
                            <a:rPr lang="en-US" altLang="zh-TW" sz="1200" b="0" kern="100" dirty="0">
                              <a:effectLst/>
                              <a:latin typeface="Times New Roman" panose="02020603050405020304" pitchFamily="18" charset="0"/>
                              <a:ea typeface="新細明體" panose="02020500000000000000" pitchFamily="18" charset="-120"/>
                              <a:cs typeface="Times New Roman" panose="02020603050405020304" pitchFamily="18" charset="0"/>
                            </a:rPr>
                            <a:t>25V</a:t>
                          </a:r>
                          <a:endParaRPr lang="zh-TW" sz="1200" b="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098152319"/>
                      </a:ext>
                    </a:extLst>
                  </a:tr>
                  <a:tr h="370840">
                    <a:tc>
                      <a:txBody>
                        <a:bodyPr/>
                        <a:lstStyle/>
                        <a:p>
                          <a:pPr algn="l">
                            <a:lnSpc>
                              <a:spcPct val="150000"/>
                            </a:lnSpc>
                            <a:spcAft>
                              <a:spcPts val="0"/>
                            </a:spcAft>
                          </a:pPr>
                          <a14:m>
                            <m:oMathPara xmlns:m="http://schemas.openxmlformats.org/officeDocument/2006/math">
                              <m:oMathParaPr>
                                <m:jc m:val="left"/>
                              </m:oMathParaPr>
                              <m:oMath xmlns:m="http://schemas.openxmlformats.org/officeDocument/2006/math">
                                <m:r>
                                  <a:rPr lang="zh-TW" altLang="en-US" sz="1200" i="1" smtClean="0">
                                    <a:latin typeface="Cambria Math" panose="02040503050406030204" pitchFamily="18" charset="0"/>
                                  </a:rPr>
                                  <m:t>𝑤</m:t>
                                </m:r>
                                <m:d>
                                  <m:dPr>
                                    <m:ctrlPr>
                                      <a:rPr lang="en-US" altLang="zh-TW" sz="1200" i="1">
                                        <a:latin typeface="Cambria Math" panose="02040503050406030204" pitchFamily="18" charset="0"/>
                                      </a:rPr>
                                    </m:ctrlPr>
                                  </m:dPr>
                                  <m:e>
                                    <m:sSub>
                                      <m:sSubPr>
                                        <m:ctrlPr>
                                          <a:rPr lang="en-US" altLang="zh-TW" sz="1200" i="1">
                                            <a:latin typeface="Cambria Math" panose="02040503050406030204" pitchFamily="18" charset="0"/>
                                          </a:rPr>
                                        </m:ctrlPr>
                                      </m:sSubPr>
                                      <m:e>
                                        <m:r>
                                          <a:rPr lang="zh-TW" altLang="en-US" sz="1200" i="1">
                                            <a:latin typeface="Cambria Math" panose="02040503050406030204" pitchFamily="18" charset="0"/>
                                          </a:rPr>
                                          <m:t>𝜆</m:t>
                                        </m:r>
                                      </m:e>
                                      <m:sub>
                                        <m:r>
                                          <a:rPr lang="en-US" altLang="zh-TW" sz="1200" i="1">
                                            <a:latin typeface="Cambria Math" panose="02040503050406030204" pitchFamily="18" charset="0"/>
                                          </a:rPr>
                                          <m:t>𝑗</m:t>
                                        </m:r>
                                      </m:sub>
                                    </m:sSub>
                                  </m:e>
                                </m:d>
                              </m:oMath>
                            </m:oMathPara>
                          </a14:m>
                          <a:endParaRPr lang="zh-TW" sz="1200" b="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l">
                            <a:lnSpc>
                              <a:spcPct val="150000"/>
                            </a:lnSpc>
                            <a:spcAft>
                              <a:spcPts val="0"/>
                            </a:spcAft>
                          </a:pPr>
                          <a:r>
                            <a:rPr lang="en-US" sz="1200" b="0" kern="100" dirty="0">
                              <a:effectLst/>
                              <a:latin typeface="Times New Roman" panose="02020603050405020304" pitchFamily="18" charset="0"/>
                              <a:cs typeface="Times New Roman" panose="02020603050405020304" pitchFamily="18" charset="0"/>
                            </a:rPr>
                            <a:t>1</a:t>
                          </a:r>
                          <a:endParaRPr lang="zh-TW" sz="1200" b="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3276530041"/>
                      </a:ext>
                    </a:extLst>
                  </a:tr>
                </a:tbl>
              </a:graphicData>
            </a:graphic>
          </p:graphicFrame>
        </mc:Choice>
        <mc:Fallback xmlns="">
          <p:graphicFrame>
            <p:nvGraphicFramePr>
              <p:cNvPr id="16" name="表格 16">
                <a:extLst>
                  <a:ext uri="{FF2B5EF4-FFF2-40B4-BE49-F238E27FC236}">
                    <a16:creationId xmlns:a16="http://schemas.microsoft.com/office/drawing/2014/main" id="{45DD09FB-4AC7-7EB8-3FC2-DDD48D2A4FB6}"/>
                  </a:ext>
                </a:extLst>
              </p:cNvPr>
              <p:cNvGraphicFramePr>
                <a:graphicFrameLocks noGrp="1"/>
              </p:cNvGraphicFramePr>
              <p:nvPr>
                <p:extLst>
                  <p:ext uri="{D42A27DB-BD31-4B8C-83A1-F6EECF244321}">
                    <p14:modId xmlns:p14="http://schemas.microsoft.com/office/powerpoint/2010/main" val="1474003618"/>
                  </p:ext>
                </p:extLst>
              </p:nvPr>
            </p:nvGraphicFramePr>
            <p:xfrm>
              <a:off x="150447" y="4138086"/>
              <a:ext cx="5716954" cy="2595880"/>
            </p:xfrm>
            <a:graphic>
              <a:graphicData uri="http://schemas.openxmlformats.org/drawingml/2006/table">
                <a:tbl>
                  <a:tblPr firstRow="1" bandRow="1">
                    <a:tableStyleId>{93296810-A885-4BE3-A3E7-6D5BEEA58F35}</a:tableStyleId>
                  </a:tblPr>
                  <a:tblGrid>
                    <a:gridCol w="2858477">
                      <a:extLst>
                        <a:ext uri="{9D8B030D-6E8A-4147-A177-3AD203B41FA5}">
                          <a16:colId xmlns:a16="http://schemas.microsoft.com/office/drawing/2014/main" val="1265635253"/>
                        </a:ext>
                      </a:extLst>
                    </a:gridCol>
                    <a:gridCol w="2858477">
                      <a:extLst>
                        <a:ext uri="{9D8B030D-6E8A-4147-A177-3AD203B41FA5}">
                          <a16:colId xmlns:a16="http://schemas.microsoft.com/office/drawing/2014/main" val="1132089630"/>
                        </a:ext>
                      </a:extLst>
                    </a:gridCol>
                  </a:tblGrid>
                  <a:tr h="370840">
                    <a:tc gridSpan="2">
                      <a:txBody>
                        <a:bodyPr/>
                        <a:lstStyle/>
                        <a:p>
                          <a:pPr algn="ctr">
                            <a:lnSpc>
                              <a:spcPct val="150000"/>
                            </a:lnSpc>
                            <a:spcAft>
                              <a:spcPts val="0"/>
                            </a:spcAft>
                          </a:pPr>
                          <a:r>
                            <a:rPr lang="en-US" altLang="zh-TW" sz="1200" b="1" kern="100" dirty="0">
                              <a:solidFill>
                                <a:sysClr val="windowText" lastClr="000000"/>
                              </a:solidFill>
                              <a:effectLst/>
                              <a:latin typeface="Times New Roman" panose="02020603050405020304" pitchFamily="18" charset="0"/>
                              <a:cs typeface="Times New Roman" panose="02020603050405020304" pitchFamily="18" charset="0"/>
                            </a:rPr>
                            <a:t>APPLN</a:t>
                          </a:r>
                          <a:r>
                            <a:rPr lang="zh-TW" altLang="en-US" sz="1200" b="1" kern="100" dirty="0">
                              <a:solidFill>
                                <a:sysClr val="windowText" lastClr="000000"/>
                              </a:solidFill>
                              <a:effectLst/>
                              <a:latin typeface="Times New Roman" panose="02020603050405020304" pitchFamily="18" charset="0"/>
                              <a:cs typeface="Times New Roman" panose="02020603050405020304" pitchFamily="18" charset="0"/>
                            </a:rPr>
                            <a:t> </a:t>
                          </a:r>
                          <a:r>
                            <a:rPr lang="en-US" sz="1200" b="1" kern="100" dirty="0">
                              <a:solidFill>
                                <a:sysClr val="windowText" lastClr="000000"/>
                              </a:solidFill>
                              <a:effectLst/>
                              <a:latin typeface="Times New Roman" panose="02020603050405020304" pitchFamily="18" charset="0"/>
                              <a:cs typeface="Times New Roman" panose="02020603050405020304" pitchFamily="18" charset="0"/>
                            </a:rPr>
                            <a:t>EO</a:t>
                          </a:r>
                          <a:r>
                            <a:rPr lang="en-US" altLang="zh-TW" sz="1200" b="1" kern="100" dirty="0">
                              <a:solidFill>
                                <a:sysClr val="windowText" lastClr="000000"/>
                              </a:solidFill>
                              <a:effectLst/>
                              <a:latin typeface="Times New Roman" panose="02020603050405020304" pitchFamily="18" charset="0"/>
                              <a:cs typeface="Times New Roman" panose="02020603050405020304" pitchFamily="18" charset="0"/>
                            </a:rPr>
                            <a:t>PMC</a:t>
                          </a:r>
                          <a:r>
                            <a:rPr lang="en-US" sz="1200" b="1" kern="100" dirty="0">
                              <a:solidFill>
                                <a:sysClr val="windowText" lastClr="000000"/>
                              </a:solidFill>
                              <a:effectLst/>
                              <a:latin typeface="Times New Roman" panose="02020603050405020304" pitchFamily="18" charset="0"/>
                              <a:cs typeface="Times New Roman" panose="02020603050405020304" pitchFamily="18" charset="0"/>
                            </a:rPr>
                            <a:t> design parameters</a:t>
                          </a:r>
                          <a:endParaRPr lang="zh-TW" sz="1200" b="1" kern="100" dirty="0">
                            <a:solidFill>
                              <a:sysClr val="windowText" lastClr="000000"/>
                            </a:solidFill>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hMerge="1">
                      <a:txBody>
                        <a:bodyPr/>
                        <a:lstStyle/>
                        <a:p>
                          <a:endParaRPr lang="zh-TW" altLang="en-US"/>
                        </a:p>
                      </a:txBody>
                      <a:tcPr/>
                    </a:tc>
                    <a:extLst>
                      <a:ext uri="{0D108BD9-81ED-4DB2-BD59-A6C34878D82A}">
                        <a16:rowId xmlns:a16="http://schemas.microsoft.com/office/drawing/2014/main" val="2324757519"/>
                      </a:ext>
                    </a:extLst>
                  </a:tr>
                  <a:tr h="370840">
                    <a:tc>
                      <a:txBody>
                        <a:bodyPr/>
                        <a:lstStyle/>
                        <a:p>
                          <a:pPr algn="l">
                            <a:lnSpc>
                              <a:spcPct val="150000"/>
                            </a:lnSpc>
                            <a:spcAft>
                              <a:spcPts val="0"/>
                            </a:spcAft>
                          </a:pPr>
                          <a:r>
                            <a:rPr lang="en-US" sz="1200" b="0" kern="100" dirty="0">
                              <a:effectLst/>
                              <a:latin typeface="Times New Roman" panose="02020603050405020304" pitchFamily="18" charset="0"/>
                              <a:cs typeface="Times New Roman" panose="02020603050405020304" pitchFamily="18" charset="0"/>
                            </a:rPr>
                            <a:t>EO</a:t>
                          </a:r>
                          <a:r>
                            <a:rPr lang="en-US" altLang="zh-TW" sz="1200" b="0" kern="100" dirty="0">
                              <a:effectLst/>
                              <a:latin typeface="Times New Roman" panose="02020603050405020304" pitchFamily="18" charset="0"/>
                              <a:cs typeface="Times New Roman" panose="02020603050405020304" pitchFamily="18" charset="0"/>
                            </a:rPr>
                            <a:t>PMC</a:t>
                          </a:r>
                          <a:r>
                            <a:rPr lang="zh-TW" altLang="en-US" sz="1200" b="0" kern="100" dirty="0">
                              <a:effectLst/>
                              <a:latin typeface="Times New Roman" panose="02020603050405020304" pitchFamily="18" charset="0"/>
                              <a:cs typeface="Times New Roman" panose="02020603050405020304" pitchFamily="18" charset="0"/>
                            </a:rPr>
                            <a:t> </a:t>
                          </a:r>
                          <a:r>
                            <a:rPr lang="en-US" altLang="zh-TW" sz="1200" b="0" kern="100" dirty="0">
                              <a:effectLst/>
                              <a:latin typeface="Times New Roman" panose="02020603050405020304" pitchFamily="18" charset="0"/>
                              <a:cs typeface="Times New Roman" panose="02020603050405020304" pitchFamily="18" charset="0"/>
                            </a:rPr>
                            <a:t>structure</a:t>
                          </a:r>
                          <a:r>
                            <a:rPr lang="en-US" sz="1200" b="0" kern="100" dirty="0">
                              <a:effectLst/>
                              <a:latin typeface="Times New Roman" panose="02020603050405020304" pitchFamily="18" charset="0"/>
                              <a:cs typeface="Times New Roman" panose="02020603050405020304" pitchFamily="18" charset="0"/>
                            </a:rPr>
                            <a:t> length</a:t>
                          </a:r>
                          <a:endParaRPr lang="zh-TW" sz="1200" b="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l">
                            <a:lnSpc>
                              <a:spcPct val="150000"/>
                            </a:lnSpc>
                            <a:spcAft>
                              <a:spcPts val="0"/>
                            </a:spcAft>
                          </a:pPr>
                          <a:r>
                            <a:rPr lang="en-US" sz="1200" b="0" kern="100" dirty="0">
                              <a:effectLst/>
                              <a:latin typeface="Times New Roman" panose="02020603050405020304" pitchFamily="18" charset="0"/>
                              <a:cs typeface="Times New Roman" panose="02020603050405020304" pitchFamily="18" charset="0"/>
                            </a:rPr>
                            <a:t>1cm</a:t>
                          </a:r>
                          <a:endParaRPr lang="zh-TW" sz="1200" b="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033415748"/>
                      </a:ext>
                    </a:extLst>
                  </a:tr>
                  <a:tr h="370840">
                    <a:tc>
                      <a:txBody>
                        <a:bodyPr/>
                        <a:lstStyle/>
                        <a:p>
                          <a:pPr algn="l">
                            <a:lnSpc>
                              <a:spcPct val="150000"/>
                            </a:lnSpc>
                            <a:spcAft>
                              <a:spcPts val="0"/>
                            </a:spcAft>
                          </a:pPr>
                          <a:r>
                            <a:rPr lang="en-US" sz="1200" b="0" kern="100" dirty="0">
                              <a:effectLst/>
                              <a:latin typeface="Times New Roman" panose="02020603050405020304" pitchFamily="18" charset="0"/>
                              <a:cs typeface="Times New Roman" panose="02020603050405020304" pitchFamily="18" charset="0"/>
                            </a:rPr>
                            <a:t>Unit domain length</a:t>
                          </a:r>
                          <a:endParaRPr lang="zh-TW" sz="1200" b="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l">
                            <a:lnSpc>
                              <a:spcPct val="150000"/>
                            </a:lnSpc>
                            <a:spcAft>
                              <a:spcPts val="0"/>
                            </a:spcAft>
                          </a:pPr>
                          <a:r>
                            <a:rPr lang="en-US" sz="1200" b="0" kern="100" dirty="0">
                              <a:effectLst/>
                              <a:latin typeface="Times New Roman" panose="02020603050405020304" pitchFamily="18" charset="0"/>
                              <a:cs typeface="Times New Roman" panose="02020603050405020304" pitchFamily="18" charset="0"/>
                            </a:rPr>
                            <a:t>11.12µm</a:t>
                          </a:r>
                          <a:endParaRPr lang="zh-TW" sz="1200" b="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414356413"/>
                      </a:ext>
                    </a:extLst>
                  </a:tr>
                  <a:tr h="370840">
                    <a:tc>
                      <a:txBody>
                        <a:bodyPr/>
                        <a:lstStyle/>
                        <a:p>
                          <a:endParaRPr lang="zh-TW"/>
                        </a:p>
                      </a:txBody>
                      <a:tcPr marL="68580" marR="68580" marT="0" marB="0" anchor="ctr">
                        <a:blipFill>
                          <a:blip r:embed="rId6"/>
                          <a:stretch>
                            <a:fillRect l="-213" t="-301639" r="-100638" b="-308197"/>
                          </a:stretch>
                        </a:blipFill>
                      </a:tcPr>
                    </a:tc>
                    <a:tc>
                      <a:txBody>
                        <a:bodyPr/>
                        <a:lstStyle/>
                        <a:p>
                          <a:pPr algn="l">
                            <a:lnSpc>
                              <a:spcPct val="150000"/>
                            </a:lnSpc>
                            <a:spcAft>
                              <a:spcPts val="0"/>
                            </a:spcAft>
                          </a:pPr>
                          <a:r>
                            <a:rPr lang="en-US" sz="1200" b="0" kern="100" dirty="0">
                              <a:effectLst/>
                              <a:latin typeface="Times New Roman" panose="02020603050405020304" pitchFamily="18" charset="0"/>
                              <a:cs typeface="Times New Roman" panose="02020603050405020304" pitchFamily="18" charset="0"/>
                            </a:rPr>
                            <a:t>1567.5nm~1572.5nm</a:t>
                          </a:r>
                          <a:endParaRPr lang="zh-TW" sz="1200" b="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282169342"/>
                      </a:ext>
                    </a:extLst>
                  </a:tr>
                  <a:tr h="370840">
                    <a:tc>
                      <a:txBody>
                        <a:bodyPr/>
                        <a:lstStyle/>
                        <a:p>
                          <a:endParaRPr lang="zh-TW"/>
                        </a:p>
                      </a:txBody>
                      <a:tcPr marL="68580" marR="68580" marT="0" marB="0" anchor="ctr">
                        <a:blipFill>
                          <a:blip r:embed="rId6"/>
                          <a:stretch>
                            <a:fillRect l="-213" t="-401639" r="-100638" b="-208197"/>
                          </a:stretch>
                        </a:blipFill>
                      </a:tcPr>
                    </a:tc>
                    <a:tc>
                      <a:txBody>
                        <a:bodyPr/>
                        <a:lstStyle/>
                        <a:p>
                          <a:pPr algn="l">
                            <a:lnSpc>
                              <a:spcPct val="150000"/>
                            </a:lnSpc>
                            <a:spcAft>
                              <a:spcPts val="0"/>
                            </a:spcAft>
                          </a:pPr>
                          <a:r>
                            <a:rPr lang="en-US" sz="1200" b="0" kern="100" dirty="0">
                              <a:effectLst/>
                              <a:latin typeface="Times New Roman" panose="02020603050405020304" pitchFamily="18" charset="0"/>
                              <a:cs typeface="Times New Roman" panose="02020603050405020304" pitchFamily="18" charset="0"/>
                            </a:rPr>
                            <a:t>1</a:t>
                          </a:r>
                          <a:endParaRPr lang="zh-TW" sz="1200" b="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462351138"/>
                      </a:ext>
                    </a:extLst>
                  </a:tr>
                  <a:tr h="370840">
                    <a:tc>
                      <a:txBody>
                        <a:bodyPr/>
                        <a:lstStyle/>
                        <a:p>
                          <a:endParaRPr lang="zh-TW"/>
                        </a:p>
                      </a:txBody>
                      <a:tcPr marL="68580" marR="68580" marT="0" marB="0" anchor="ctr">
                        <a:blipFill>
                          <a:blip r:embed="rId6"/>
                          <a:stretch>
                            <a:fillRect l="-213" t="-501639" r="-100638" b="-108197"/>
                          </a:stretch>
                        </a:blipFill>
                      </a:tcPr>
                    </a:tc>
                    <a:tc>
                      <a:txBody>
                        <a:bodyPr/>
                        <a:lstStyle/>
                        <a:p>
                          <a:pPr algn="l">
                            <a:lnSpc>
                              <a:spcPct val="150000"/>
                            </a:lnSpc>
                            <a:spcAft>
                              <a:spcPts val="0"/>
                            </a:spcAft>
                          </a:pPr>
                          <a:r>
                            <a:rPr lang="en-US" altLang="zh-TW" sz="1200" b="0" kern="100" dirty="0">
                              <a:effectLst/>
                              <a:latin typeface="Times New Roman" panose="02020603050405020304" pitchFamily="18" charset="0"/>
                              <a:ea typeface="新細明體" panose="02020500000000000000" pitchFamily="18" charset="-120"/>
                              <a:cs typeface="Times New Roman" panose="02020603050405020304" pitchFamily="18" charset="0"/>
                            </a:rPr>
                            <a:t>25V</a:t>
                          </a:r>
                          <a:endParaRPr lang="zh-TW" sz="1200" b="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098152319"/>
                      </a:ext>
                    </a:extLst>
                  </a:tr>
                  <a:tr h="370840">
                    <a:tc>
                      <a:txBody>
                        <a:bodyPr/>
                        <a:lstStyle/>
                        <a:p>
                          <a:endParaRPr lang="zh-TW"/>
                        </a:p>
                      </a:txBody>
                      <a:tcPr marL="68580" marR="68580" marT="0" marB="0" anchor="ctr">
                        <a:blipFill>
                          <a:blip r:embed="rId6"/>
                          <a:stretch>
                            <a:fillRect l="-213" t="-601639" r="-100638" b="-8197"/>
                          </a:stretch>
                        </a:blipFill>
                      </a:tcPr>
                    </a:tc>
                    <a:tc>
                      <a:txBody>
                        <a:bodyPr/>
                        <a:lstStyle/>
                        <a:p>
                          <a:pPr algn="l">
                            <a:lnSpc>
                              <a:spcPct val="150000"/>
                            </a:lnSpc>
                            <a:spcAft>
                              <a:spcPts val="0"/>
                            </a:spcAft>
                          </a:pPr>
                          <a:r>
                            <a:rPr lang="en-US" sz="1200" b="0" kern="100" dirty="0">
                              <a:effectLst/>
                              <a:latin typeface="Times New Roman" panose="02020603050405020304" pitchFamily="18" charset="0"/>
                              <a:cs typeface="Times New Roman" panose="02020603050405020304" pitchFamily="18" charset="0"/>
                            </a:rPr>
                            <a:t>1</a:t>
                          </a:r>
                          <a:endParaRPr lang="zh-TW" sz="1200" b="0" kern="100" dirty="0">
                            <a:effectLst/>
                            <a:latin typeface="Times New Roman" panose="02020603050405020304" pitchFamily="18"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3276530041"/>
                      </a:ext>
                    </a:extLst>
                  </a:tr>
                </a:tbl>
              </a:graphicData>
            </a:graphic>
          </p:graphicFrame>
        </mc:Fallback>
      </mc:AlternateContent>
      <p:pic>
        <p:nvPicPr>
          <p:cNvPr id="17" name="圖片 16">
            <a:extLst>
              <a:ext uri="{FF2B5EF4-FFF2-40B4-BE49-F238E27FC236}">
                <a16:creationId xmlns:a16="http://schemas.microsoft.com/office/drawing/2014/main" id="{12879E13-245D-5D95-F9BA-CC36FFBBC773}"/>
              </a:ext>
            </a:extLst>
          </p:cNvPr>
          <p:cNvPicPr>
            <a:picLocks noChangeAspect="1"/>
          </p:cNvPicPr>
          <p:nvPr/>
        </p:nvPicPr>
        <p:blipFill>
          <a:blip r:embed="rId7"/>
          <a:stretch>
            <a:fillRect/>
          </a:stretch>
        </p:blipFill>
        <p:spPr>
          <a:xfrm>
            <a:off x="9274902" y="54389"/>
            <a:ext cx="1142251" cy="700265"/>
          </a:xfrm>
          <a:prstGeom prst="rect">
            <a:avLst/>
          </a:prstGeom>
        </p:spPr>
      </p:pic>
      <p:pic>
        <p:nvPicPr>
          <p:cNvPr id="18" name="圖片 17">
            <a:extLst>
              <a:ext uri="{FF2B5EF4-FFF2-40B4-BE49-F238E27FC236}">
                <a16:creationId xmlns:a16="http://schemas.microsoft.com/office/drawing/2014/main" id="{52928849-598A-DE05-564B-29F0E60B118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525845" y="2874301"/>
            <a:ext cx="5230908" cy="3923181"/>
          </a:xfrm>
          <a:prstGeom prst="rect">
            <a:avLst/>
          </a:prstGeom>
          <a:ln>
            <a:solidFill>
              <a:srgbClr val="FFC000"/>
            </a:solidFill>
          </a:ln>
        </p:spPr>
      </p:pic>
      <p:pic>
        <p:nvPicPr>
          <p:cNvPr id="20" name="圖片 19">
            <a:extLst>
              <a:ext uri="{FF2B5EF4-FFF2-40B4-BE49-F238E27FC236}">
                <a16:creationId xmlns:a16="http://schemas.microsoft.com/office/drawing/2014/main" id="{66B8CE34-E9EC-509C-6565-D95726E7FB8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525843" y="2874021"/>
            <a:ext cx="5230910" cy="3923182"/>
          </a:xfrm>
          <a:prstGeom prst="rect">
            <a:avLst/>
          </a:prstGeom>
          <a:ln>
            <a:solidFill>
              <a:srgbClr val="FF0000"/>
            </a:solidFill>
          </a:ln>
        </p:spPr>
      </p:pic>
      <p:pic>
        <p:nvPicPr>
          <p:cNvPr id="13" name="圖片 12">
            <a:extLst>
              <a:ext uri="{FF2B5EF4-FFF2-40B4-BE49-F238E27FC236}">
                <a16:creationId xmlns:a16="http://schemas.microsoft.com/office/drawing/2014/main" id="{0D968369-FECB-DC33-719C-19DB89CB640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525843" y="2856326"/>
            <a:ext cx="5263047" cy="3947285"/>
          </a:xfrm>
          <a:prstGeom prst="rect">
            <a:avLst/>
          </a:prstGeom>
          <a:solidFill>
            <a:srgbClr val="00B0F0"/>
          </a:solidFill>
          <a:ln>
            <a:solidFill>
              <a:srgbClr val="00B0F0"/>
            </a:solidFill>
          </a:ln>
        </p:spPr>
      </p:pic>
      <p:sp>
        <p:nvSpPr>
          <p:cNvPr id="3" name="文字方塊 2">
            <a:extLst>
              <a:ext uri="{FF2B5EF4-FFF2-40B4-BE49-F238E27FC236}">
                <a16:creationId xmlns:a16="http://schemas.microsoft.com/office/drawing/2014/main" id="{E224B089-36C5-F11A-734F-B45CA79DBC18}"/>
              </a:ext>
            </a:extLst>
          </p:cNvPr>
          <p:cNvSpPr txBox="1"/>
          <p:nvPr/>
        </p:nvSpPr>
        <p:spPr>
          <a:xfrm>
            <a:off x="6576404" y="1295205"/>
            <a:ext cx="2904257" cy="369332"/>
          </a:xfrm>
          <a:prstGeom prst="rect">
            <a:avLst/>
          </a:prstGeom>
          <a:noFill/>
        </p:spPr>
        <p:txBody>
          <a:bodyPr wrap="none" rtlCol="0">
            <a:spAutoFit/>
          </a:bodyPr>
          <a:lstStyle/>
          <a:p>
            <a:r>
              <a:rPr lang="en-US" altLang="zh-TW" u="sng" dirty="0"/>
              <a:t>Set structure initial condition</a:t>
            </a:r>
            <a:endParaRPr lang="zh-TW" altLang="en-US" u="sng" dirty="0"/>
          </a:p>
        </p:txBody>
      </p:sp>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A873FD9F-3A72-2434-1E09-0ADE86368FBD}"/>
                  </a:ext>
                </a:extLst>
              </p:cNvPr>
              <p:cNvSpPr txBox="1"/>
              <p:nvPr/>
            </p:nvSpPr>
            <p:spPr>
              <a:xfrm>
                <a:off x="8599850" y="1279952"/>
                <a:ext cx="2078482" cy="1276824"/>
              </a:xfrm>
              <a:prstGeom prst="rect">
                <a:avLst/>
              </a:prstGeom>
              <a:noFill/>
            </p:spPr>
            <p:txBody>
              <a:bodyPr wrap="square">
                <a:spAutoFit/>
              </a:bodyPr>
              <a:lstStyle/>
              <a:p>
                <a:pPr>
                  <a:lnSpc>
                    <a:spcPct val="200000"/>
                  </a:lnSpc>
                </a:pPr>
                <a:r>
                  <a:rPr lang="en-US"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T = </a:t>
                </a:r>
                <a14:m>
                  <m:oMath xmlns:m="http://schemas.openxmlformats.org/officeDocument/2006/math">
                    <m:sSup>
                      <m:sSupPr>
                        <m:ctrlPr>
                          <a:rPr lang="zh-TW" altLang="zh-TW" sz="1800" i="1" kern="0">
                            <a:effectLst/>
                            <a:latin typeface="Cambria Math" panose="02040503050406030204" pitchFamily="18" charset="0"/>
                            <a:ea typeface="Cambria Math" panose="02040503050406030204" pitchFamily="18" charset="0"/>
                            <a:cs typeface="新細明體" panose="02020500000000000000" pitchFamily="18" charset="-120"/>
                          </a:rPr>
                        </m:ctrlPr>
                      </m:sSupPr>
                      <m:e>
                        <m:d>
                          <m:dPr>
                            <m:begChr m:val="|"/>
                            <m:endChr m:val="|"/>
                            <m:ctrlPr>
                              <a:rPr lang="zh-TW" altLang="zh-TW" sz="1800" i="1" kern="0">
                                <a:effectLst/>
                                <a:latin typeface="Cambria Math" panose="02040503050406030204" pitchFamily="18" charset="0"/>
                                <a:ea typeface="Cambria Math" panose="02040503050406030204" pitchFamily="18" charset="0"/>
                                <a:cs typeface="新細明體" panose="02020500000000000000" pitchFamily="18" charset="-120"/>
                              </a:rPr>
                            </m:ctrlPr>
                          </m:dPr>
                          <m:e>
                            <m:f>
                              <m:fPr>
                                <m:ctrlPr>
                                  <a:rPr lang="zh-TW" altLang="zh-TW" sz="1800" i="1" kern="0">
                                    <a:effectLst/>
                                    <a:latin typeface="Cambria Math" panose="02040503050406030204" pitchFamily="18" charset="0"/>
                                    <a:ea typeface="Cambria Math" panose="02040503050406030204" pitchFamily="18" charset="0"/>
                                    <a:cs typeface="新細明體" panose="02020500000000000000" pitchFamily="18" charset="-120"/>
                                  </a:rPr>
                                </m:ctrlPr>
                              </m:fPr>
                              <m:num>
                                <m:sSub>
                                  <m:sSubPr>
                                    <m:ctrlPr>
                                      <a:rPr lang="zh-TW" altLang="zh-TW" sz="1800" i="1" kern="0">
                                        <a:effectLst/>
                                        <a:latin typeface="Cambria Math" panose="02040503050406030204" pitchFamily="18" charset="0"/>
                                        <a:ea typeface="Cambria Math" panose="02040503050406030204" pitchFamily="18" charset="0"/>
                                        <a:cs typeface="新細明體" panose="02020500000000000000" pitchFamily="18" charset="-120"/>
                                      </a:rPr>
                                    </m:ctrlPr>
                                  </m:sSubPr>
                                  <m:e>
                                    <m:r>
                                      <a:rPr lang="en-US" altLang="zh-TW" sz="1800" i="1" kern="0">
                                        <a:effectLst/>
                                        <a:latin typeface="Cambria Math" panose="02040503050406030204" pitchFamily="18" charset="0"/>
                                        <a:ea typeface="標楷體" panose="03000509000000000000" pitchFamily="65" charset="-120"/>
                                        <a:cs typeface="新細明體" panose="02020500000000000000" pitchFamily="18" charset="-120"/>
                                      </a:rPr>
                                      <m:t>𝐴</m:t>
                                    </m:r>
                                  </m:e>
                                  <m:sub>
                                    <m:r>
                                      <a:rPr lang="en-US" altLang="zh-TW" sz="1800" b="0" i="1" kern="0" smtClean="0">
                                        <a:effectLst/>
                                        <a:latin typeface="Cambria Math" panose="02040503050406030204" pitchFamily="18" charset="0"/>
                                        <a:ea typeface="標楷體" panose="03000509000000000000" pitchFamily="65" charset="-120"/>
                                        <a:cs typeface="新細明體" panose="02020500000000000000" pitchFamily="18" charset="-120"/>
                                      </a:rPr>
                                      <m:t>𝑜</m:t>
                                    </m:r>
                                    <m:r>
                                      <a:rPr lang="en-US" altLang="zh-TW" sz="1800" b="0" i="1" kern="0" smtClean="0">
                                        <a:effectLst/>
                                        <a:latin typeface="Cambria Math" panose="02040503050406030204" pitchFamily="18" charset="0"/>
                                        <a:ea typeface="標楷體" panose="03000509000000000000" pitchFamily="65" charset="-120"/>
                                        <a:cs typeface="新細明體" panose="02020500000000000000" pitchFamily="18" charset="-120"/>
                                      </a:rPr>
                                      <m:t>,</m:t>
                                    </m:r>
                                    <m:sSub>
                                      <m:sSubPr>
                                        <m:ctrlPr>
                                          <a:rPr lang="zh-TW" altLang="en-US" i="1">
                                            <a:latin typeface="Cambria Math" panose="02040503050406030204" pitchFamily="18" charset="0"/>
                                          </a:rPr>
                                        </m:ctrlPr>
                                      </m:sSubPr>
                                      <m:e>
                                        <m:r>
                                          <a:rPr lang="zh-TW" altLang="en-US" i="1">
                                            <a:latin typeface="Cambria Math" panose="02040503050406030204" pitchFamily="18" charset="0"/>
                                          </a:rPr>
                                          <m:t>𝜆</m:t>
                                        </m:r>
                                      </m:e>
                                      <m:sub>
                                        <m:r>
                                          <m:rPr>
                                            <m:sty m:val="p"/>
                                          </m:rPr>
                                          <a:rPr lang="en-US" altLang="zh-TW">
                                            <a:latin typeface="Cambria Math" panose="02040503050406030204" pitchFamily="18" charset="0"/>
                                          </a:rPr>
                                          <m:t>j</m:t>
                                        </m:r>
                                      </m:sub>
                                    </m:sSub>
                                  </m:sub>
                                </m:sSub>
                                <m:r>
                                  <a:rPr lang="en-US" altLang="zh-TW" sz="1800" i="1" kern="0">
                                    <a:effectLst/>
                                    <a:latin typeface="Cambria Math" panose="02040503050406030204" pitchFamily="18" charset="0"/>
                                    <a:ea typeface="標楷體" panose="03000509000000000000" pitchFamily="65" charset="-120"/>
                                    <a:cs typeface="新細明體" panose="02020500000000000000" pitchFamily="18" charset="-120"/>
                                  </a:rPr>
                                  <m:t>(</m:t>
                                </m:r>
                                <m:sSub>
                                  <m:sSubPr>
                                    <m:ctrlPr>
                                      <a:rPr lang="zh-TW" altLang="zh-TW" sz="1800" i="1" kern="0">
                                        <a:effectLst/>
                                        <a:latin typeface="Cambria Math" panose="02040503050406030204" pitchFamily="18" charset="0"/>
                                        <a:ea typeface="Cambria Math" panose="02040503050406030204" pitchFamily="18" charset="0"/>
                                        <a:cs typeface="新細明體" panose="02020500000000000000" pitchFamily="18" charset="-120"/>
                                      </a:rPr>
                                    </m:ctrlPr>
                                  </m:sSubPr>
                                  <m:e>
                                    <m:r>
                                      <a:rPr lang="en-US" altLang="zh-TW" sz="1800" i="1" kern="0">
                                        <a:effectLst/>
                                        <a:latin typeface="Cambria Math" panose="02040503050406030204" pitchFamily="18" charset="0"/>
                                        <a:ea typeface="標楷體" panose="03000509000000000000" pitchFamily="65" charset="-120"/>
                                        <a:cs typeface="新細明體" panose="02020500000000000000" pitchFamily="18" charset="-120"/>
                                      </a:rPr>
                                      <m:t>𝑥</m:t>
                                    </m:r>
                                  </m:e>
                                  <m:sub>
                                    <m:r>
                                      <a:rPr lang="en-US" altLang="zh-TW" sz="1800" i="1" kern="0">
                                        <a:effectLst/>
                                        <a:latin typeface="Cambria Math" panose="02040503050406030204" pitchFamily="18" charset="0"/>
                                        <a:ea typeface="標楷體" panose="03000509000000000000" pitchFamily="65" charset="-120"/>
                                        <a:cs typeface="新細明體" panose="02020500000000000000" pitchFamily="18" charset="-120"/>
                                      </a:rPr>
                                      <m:t>𝑁</m:t>
                                    </m:r>
                                  </m:sub>
                                </m:sSub>
                                <m:r>
                                  <a:rPr lang="en-US" altLang="zh-TW" sz="1800" i="1" kern="0">
                                    <a:effectLst/>
                                    <a:latin typeface="Cambria Math" panose="02040503050406030204" pitchFamily="18" charset="0"/>
                                    <a:ea typeface="標楷體" panose="03000509000000000000" pitchFamily="65" charset="-120"/>
                                    <a:cs typeface="新細明體" panose="02020500000000000000" pitchFamily="18" charset="-120"/>
                                  </a:rPr>
                                  <m:t>)</m:t>
                                </m:r>
                              </m:num>
                              <m:den>
                                <m:sSub>
                                  <m:sSubPr>
                                    <m:ctrlPr>
                                      <a:rPr lang="zh-TW" altLang="zh-TW" sz="1800" i="1" kern="0">
                                        <a:effectLst/>
                                        <a:latin typeface="Cambria Math" panose="02040503050406030204" pitchFamily="18" charset="0"/>
                                        <a:ea typeface="Cambria Math" panose="02040503050406030204" pitchFamily="18" charset="0"/>
                                        <a:cs typeface="新細明體" panose="02020500000000000000" pitchFamily="18" charset="-120"/>
                                      </a:rPr>
                                    </m:ctrlPr>
                                  </m:sSubPr>
                                  <m:e>
                                    <m:r>
                                      <a:rPr lang="en-US" altLang="zh-TW" sz="1800" i="1" kern="0">
                                        <a:effectLst/>
                                        <a:latin typeface="Cambria Math" panose="02040503050406030204" pitchFamily="18" charset="0"/>
                                        <a:ea typeface="標楷體" panose="03000509000000000000" pitchFamily="65" charset="-120"/>
                                        <a:cs typeface="新細明體" panose="02020500000000000000" pitchFamily="18" charset="-120"/>
                                      </a:rPr>
                                      <m:t>𝐴</m:t>
                                    </m:r>
                                  </m:e>
                                  <m:sub>
                                    <m:r>
                                      <a:rPr lang="en-US" altLang="zh-TW" sz="1800" b="0" i="1" kern="0" smtClean="0">
                                        <a:effectLst/>
                                        <a:latin typeface="Cambria Math" panose="02040503050406030204" pitchFamily="18" charset="0"/>
                                        <a:ea typeface="標楷體" panose="03000509000000000000" pitchFamily="65" charset="-120"/>
                                        <a:cs typeface="新細明體" panose="02020500000000000000" pitchFamily="18" charset="-120"/>
                                      </a:rPr>
                                      <m:t>𝑒</m:t>
                                    </m:r>
                                    <m:r>
                                      <a:rPr lang="en-US" altLang="zh-TW" sz="1800" b="0" i="1" kern="0" smtClean="0">
                                        <a:effectLst/>
                                        <a:latin typeface="Cambria Math" panose="02040503050406030204" pitchFamily="18" charset="0"/>
                                        <a:ea typeface="標楷體" panose="03000509000000000000" pitchFamily="65" charset="-120"/>
                                        <a:cs typeface="新細明體" panose="02020500000000000000" pitchFamily="18" charset="-120"/>
                                      </a:rPr>
                                      <m:t>,</m:t>
                                    </m:r>
                                    <m:sSub>
                                      <m:sSubPr>
                                        <m:ctrlPr>
                                          <a:rPr lang="zh-TW" altLang="en-US" i="1">
                                            <a:latin typeface="Cambria Math" panose="02040503050406030204" pitchFamily="18" charset="0"/>
                                          </a:rPr>
                                        </m:ctrlPr>
                                      </m:sSubPr>
                                      <m:e>
                                        <m:r>
                                          <a:rPr lang="zh-TW" altLang="en-US" i="1">
                                            <a:latin typeface="Cambria Math" panose="02040503050406030204" pitchFamily="18" charset="0"/>
                                          </a:rPr>
                                          <m:t>𝜆</m:t>
                                        </m:r>
                                      </m:e>
                                      <m:sub>
                                        <m:r>
                                          <m:rPr>
                                            <m:sty m:val="p"/>
                                          </m:rPr>
                                          <a:rPr lang="en-US" altLang="zh-TW">
                                            <a:latin typeface="Cambria Math" panose="02040503050406030204" pitchFamily="18" charset="0"/>
                                          </a:rPr>
                                          <m:t>j</m:t>
                                        </m:r>
                                      </m:sub>
                                    </m:sSub>
                                    <m:r>
                                      <a:rPr lang="en-US" altLang="zh-TW" sz="1800" i="1" kern="0">
                                        <a:effectLst/>
                                        <a:latin typeface="Cambria Math" panose="02040503050406030204" pitchFamily="18" charset="0"/>
                                        <a:ea typeface="標楷體" panose="03000509000000000000" pitchFamily="65" charset="-120"/>
                                        <a:cs typeface="新細明體" panose="02020500000000000000" pitchFamily="18" charset="-120"/>
                                      </a:rPr>
                                      <m:t>(0)</m:t>
                                    </m:r>
                                  </m:sub>
                                </m:sSub>
                              </m:den>
                            </m:f>
                          </m:e>
                        </m:d>
                      </m:e>
                      <m:sup>
                        <m:r>
                          <a:rPr lang="en-US" altLang="zh-TW" sz="1800" i="1" kern="0">
                            <a:effectLst/>
                            <a:latin typeface="Cambria Math" panose="02040503050406030204" pitchFamily="18" charset="0"/>
                            <a:ea typeface="標楷體" panose="03000509000000000000" pitchFamily="65" charset="-120"/>
                            <a:cs typeface="新細明體" panose="02020500000000000000" pitchFamily="18" charset="-120"/>
                          </a:rPr>
                          <m:t>2</m:t>
                        </m:r>
                      </m:sup>
                    </m:sSup>
                  </m:oMath>
                </a14:m>
                <a:endParaRPr lang="zh-TW" alt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7" name="文字方塊 6">
                <a:extLst>
                  <a:ext uri="{FF2B5EF4-FFF2-40B4-BE49-F238E27FC236}">
                    <a16:creationId xmlns:a16="http://schemas.microsoft.com/office/drawing/2014/main" id="{A873FD9F-3A72-2434-1E09-0ADE86368FBD}"/>
                  </a:ext>
                </a:extLst>
              </p:cNvPr>
              <p:cNvSpPr txBox="1">
                <a:spLocks noRot="1" noChangeAspect="1" noMove="1" noResize="1" noEditPoints="1" noAdjustHandles="1" noChangeArrowheads="1" noChangeShapeType="1" noTextEdit="1"/>
              </p:cNvSpPr>
              <p:nvPr/>
            </p:nvSpPr>
            <p:spPr>
              <a:xfrm>
                <a:off x="8599850" y="1279952"/>
                <a:ext cx="2078482" cy="1276824"/>
              </a:xfrm>
              <a:prstGeom prst="rect">
                <a:avLst/>
              </a:prstGeom>
              <a:blipFill>
                <a:blip r:embed="rId11"/>
                <a:stretch>
                  <a:fillRect l="-263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6E4DF32A-78A7-31FA-B8D6-E11EF5D8B71D}"/>
                  </a:ext>
                </a:extLst>
              </p:cNvPr>
              <p:cNvSpPr txBox="1"/>
              <p:nvPr/>
            </p:nvSpPr>
            <p:spPr>
              <a:xfrm>
                <a:off x="6784922" y="1803161"/>
                <a:ext cx="1707629" cy="757515"/>
              </a:xfrm>
              <a:prstGeom prst="rect">
                <a:avLst/>
              </a:prstGeom>
              <a:noFill/>
            </p:spPr>
            <p:txBody>
              <a:bodyPr wrap="square">
                <a:spAutoFit/>
              </a:bodyPr>
              <a:lstStyle/>
              <a:p>
                <a14:m>
                  <m:oMath xmlns:m="http://schemas.openxmlformats.org/officeDocument/2006/math">
                    <m:sSub>
                      <m:sSubPr>
                        <m:ctrlPr>
                          <a:rPr lang="zh-TW" altLang="zh-TW" i="1" kern="0" smtClean="0">
                            <a:effectLst/>
                            <a:latin typeface="Cambria Math" panose="02040503050406030204" pitchFamily="18" charset="0"/>
                            <a:ea typeface="Cambria Math" panose="02040503050406030204" pitchFamily="18" charset="0"/>
                            <a:cs typeface="新細明體" panose="02020500000000000000" pitchFamily="18" charset="-120"/>
                          </a:rPr>
                        </m:ctrlPr>
                      </m:sSubPr>
                      <m:e>
                        <m:r>
                          <a:rPr lang="en-US" altLang="zh-TW" sz="1800" i="1" kern="0">
                            <a:effectLst/>
                            <a:latin typeface="Cambria Math" panose="02040503050406030204" pitchFamily="18" charset="0"/>
                            <a:ea typeface="標楷體" panose="03000509000000000000" pitchFamily="65" charset="-120"/>
                            <a:cs typeface="新細明體" panose="02020500000000000000" pitchFamily="18" charset="-120"/>
                          </a:rPr>
                          <m:t>𝐴</m:t>
                        </m:r>
                      </m:e>
                      <m:sub>
                        <m:r>
                          <a:rPr lang="en-US" altLang="zh-TW" sz="1800" b="0" i="1" kern="0" smtClean="0">
                            <a:effectLst/>
                            <a:latin typeface="Cambria Math" panose="02040503050406030204" pitchFamily="18" charset="0"/>
                            <a:ea typeface="標楷體" panose="03000509000000000000" pitchFamily="65" charset="-120"/>
                            <a:cs typeface="新細明體" panose="02020500000000000000" pitchFamily="18" charset="-120"/>
                          </a:rPr>
                          <m:t>𝑒</m:t>
                        </m:r>
                        <m:r>
                          <a:rPr lang="en-US" altLang="zh-TW" sz="1800" b="0" i="1" kern="0" smtClean="0">
                            <a:effectLst/>
                            <a:latin typeface="Cambria Math" panose="02040503050406030204" pitchFamily="18" charset="0"/>
                            <a:ea typeface="標楷體" panose="03000509000000000000" pitchFamily="65" charset="-120"/>
                            <a:cs typeface="新細明體" panose="02020500000000000000" pitchFamily="18" charset="-120"/>
                          </a:rPr>
                          <m:t>,</m:t>
                        </m:r>
                        <m:sSub>
                          <m:sSubPr>
                            <m:ctrlPr>
                              <a:rPr lang="zh-TW" altLang="en-US" i="1">
                                <a:latin typeface="Cambria Math" panose="02040503050406030204" pitchFamily="18" charset="0"/>
                              </a:rPr>
                            </m:ctrlPr>
                          </m:sSubPr>
                          <m:e>
                            <m:r>
                              <a:rPr lang="zh-TW" altLang="en-US" i="1">
                                <a:latin typeface="Cambria Math" panose="02040503050406030204" pitchFamily="18" charset="0"/>
                              </a:rPr>
                              <m:t>𝜆</m:t>
                            </m:r>
                          </m:e>
                          <m:sub>
                            <m:r>
                              <m:rPr>
                                <m:sty m:val="p"/>
                              </m:rPr>
                              <a:rPr lang="en-US" altLang="zh-TW">
                                <a:latin typeface="Cambria Math" panose="02040503050406030204" pitchFamily="18" charset="0"/>
                              </a:rPr>
                              <m:t>j</m:t>
                            </m:r>
                          </m:sub>
                        </m:sSub>
                      </m:sub>
                    </m:sSub>
                    <m:d>
                      <m:dPr>
                        <m:ctrlPr>
                          <a:rPr lang="zh-TW" altLang="zh-TW" i="1" kern="0">
                            <a:effectLst/>
                            <a:latin typeface="Cambria Math" panose="02040503050406030204" pitchFamily="18" charset="0"/>
                            <a:ea typeface="Cambria Math" panose="02040503050406030204" pitchFamily="18" charset="0"/>
                            <a:cs typeface="新細明體" panose="02020500000000000000" pitchFamily="18" charset="-120"/>
                          </a:rPr>
                        </m:ctrlPr>
                      </m:dPr>
                      <m:e>
                        <m:r>
                          <a:rPr lang="en-US" altLang="zh-TW" sz="1800" i="1" kern="0">
                            <a:effectLst/>
                            <a:latin typeface="Cambria Math" panose="02040503050406030204" pitchFamily="18" charset="0"/>
                            <a:ea typeface="標楷體" panose="03000509000000000000" pitchFamily="65" charset="-120"/>
                            <a:cs typeface="新細明體" panose="02020500000000000000" pitchFamily="18" charset="-120"/>
                          </a:rPr>
                          <m:t>0</m:t>
                        </m:r>
                      </m:e>
                    </m:d>
                    <m:r>
                      <a:rPr lang="en-US" altLang="zh-TW" sz="1800" i="1" kern="0">
                        <a:effectLst/>
                        <a:latin typeface="Cambria Math" panose="02040503050406030204" pitchFamily="18" charset="0"/>
                        <a:ea typeface="標楷體" panose="03000509000000000000" pitchFamily="65" charset="-120"/>
                        <a:cs typeface="新細明體" panose="02020500000000000000" pitchFamily="18" charset="-120"/>
                      </a:rPr>
                      <m:t>=</m:t>
                    </m:r>
                    <m:r>
                      <a:rPr lang="en-US" altLang="zh-TW" sz="1800" b="0" i="1" kern="0" smtClean="0">
                        <a:effectLst/>
                        <a:latin typeface="Cambria Math" panose="02040503050406030204" pitchFamily="18" charset="0"/>
                        <a:ea typeface="標楷體" panose="03000509000000000000" pitchFamily="65" charset="-120"/>
                        <a:cs typeface="新細明體" panose="02020500000000000000" pitchFamily="18" charset="-120"/>
                      </a:rPr>
                      <m:t>1</m:t>
                    </m:r>
                  </m:oMath>
                </a14:m>
                <a:r>
                  <a:rPr lang="en-US"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a:t>
                </a:r>
                <a:r>
                  <a:rPr lang="en-US" altLang="zh-TW" sz="1800" i="1" kern="0" dirty="0">
                    <a:effectLst/>
                    <a:latin typeface="Times New Roman" panose="02020603050405020304" pitchFamily="18" charset="0"/>
                    <a:ea typeface="標楷體" panose="03000509000000000000" pitchFamily="65" charset="-120"/>
                    <a:cs typeface="新細明體" panose="02020500000000000000" pitchFamily="18" charset="-120"/>
                  </a:rPr>
                  <a:t> </a:t>
                </a:r>
                <a14:m>
                  <m:oMath xmlns:m="http://schemas.openxmlformats.org/officeDocument/2006/math">
                    <m:sSub>
                      <m:sSubPr>
                        <m:ctrlPr>
                          <a:rPr lang="zh-TW" altLang="zh-TW" i="1" kern="0">
                            <a:effectLst/>
                            <a:latin typeface="Cambria Math" panose="02040503050406030204" pitchFamily="18" charset="0"/>
                            <a:ea typeface="Cambria Math" panose="02040503050406030204" pitchFamily="18" charset="0"/>
                            <a:cs typeface="新細明體" panose="02020500000000000000" pitchFamily="18" charset="-120"/>
                          </a:rPr>
                        </m:ctrlPr>
                      </m:sSubPr>
                      <m:e>
                        <m:r>
                          <a:rPr lang="en-US" altLang="zh-TW" sz="1800" i="1" kern="0">
                            <a:effectLst/>
                            <a:latin typeface="Cambria Math" panose="02040503050406030204" pitchFamily="18" charset="0"/>
                            <a:ea typeface="標楷體" panose="03000509000000000000" pitchFamily="65" charset="-120"/>
                            <a:cs typeface="新細明體" panose="02020500000000000000" pitchFamily="18" charset="-120"/>
                          </a:rPr>
                          <m:t>𝐴</m:t>
                        </m:r>
                      </m:e>
                      <m:sub>
                        <m:r>
                          <a:rPr lang="en-US" altLang="zh-TW" sz="1800" b="0" i="1" kern="0" smtClean="0">
                            <a:effectLst/>
                            <a:latin typeface="Cambria Math" panose="02040503050406030204" pitchFamily="18" charset="0"/>
                            <a:ea typeface="標楷體" panose="03000509000000000000" pitchFamily="65" charset="-120"/>
                            <a:cs typeface="新細明體" panose="02020500000000000000" pitchFamily="18" charset="-120"/>
                          </a:rPr>
                          <m:t>𝑜</m:t>
                        </m:r>
                        <m:r>
                          <a:rPr lang="en-US" altLang="zh-TW" sz="1800" b="0" i="1" kern="0" smtClean="0">
                            <a:effectLst/>
                            <a:latin typeface="Cambria Math" panose="02040503050406030204" pitchFamily="18" charset="0"/>
                            <a:ea typeface="標楷體" panose="03000509000000000000" pitchFamily="65" charset="-120"/>
                            <a:cs typeface="新細明體" panose="02020500000000000000" pitchFamily="18" charset="-120"/>
                          </a:rPr>
                          <m:t>,</m:t>
                        </m:r>
                        <m:sSub>
                          <m:sSubPr>
                            <m:ctrlPr>
                              <a:rPr lang="zh-TW" altLang="en-US" i="1">
                                <a:latin typeface="Cambria Math" panose="02040503050406030204" pitchFamily="18" charset="0"/>
                              </a:rPr>
                            </m:ctrlPr>
                          </m:sSubPr>
                          <m:e>
                            <m:r>
                              <a:rPr lang="zh-TW" altLang="en-US" i="1">
                                <a:latin typeface="Cambria Math" panose="02040503050406030204" pitchFamily="18" charset="0"/>
                              </a:rPr>
                              <m:t>𝜆</m:t>
                            </m:r>
                          </m:e>
                          <m:sub>
                            <m:r>
                              <m:rPr>
                                <m:sty m:val="p"/>
                              </m:rPr>
                              <a:rPr lang="en-US" altLang="zh-TW">
                                <a:latin typeface="Cambria Math" panose="02040503050406030204" pitchFamily="18" charset="0"/>
                              </a:rPr>
                              <m:t>j</m:t>
                            </m:r>
                          </m:sub>
                        </m:sSub>
                      </m:sub>
                    </m:sSub>
                    <m:r>
                      <a:rPr lang="en-US" altLang="zh-TW" sz="1800" i="1" kern="0">
                        <a:effectLst/>
                        <a:latin typeface="Cambria Math" panose="02040503050406030204" pitchFamily="18" charset="0"/>
                        <a:ea typeface="標楷體" panose="03000509000000000000" pitchFamily="65" charset="-120"/>
                        <a:cs typeface="新細明體" panose="02020500000000000000" pitchFamily="18" charset="-120"/>
                      </a:rPr>
                      <m:t>(0)</m:t>
                    </m:r>
                  </m:oMath>
                </a14:m>
                <a:r>
                  <a:rPr lang="en-US"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 = 0</a:t>
                </a:r>
                <a:endParaRPr lang="zh-TW" altLang="en-US" dirty="0"/>
              </a:p>
            </p:txBody>
          </p:sp>
        </mc:Choice>
        <mc:Fallback xmlns="">
          <p:sp>
            <p:nvSpPr>
              <p:cNvPr id="10" name="文字方塊 9">
                <a:extLst>
                  <a:ext uri="{FF2B5EF4-FFF2-40B4-BE49-F238E27FC236}">
                    <a16:creationId xmlns:a16="http://schemas.microsoft.com/office/drawing/2014/main" id="{6E4DF32A-78A7-31FA-B8D6-E11EF5D8B71D}"/>
                  </a:ext>
                </a:extLst>
              </p:cNvPr>
              <p:cNvSpPr txBox="1">
                <a:spLocks noRot="1" noChangeAspect="1" noMove="1" noResize="1" noEditPoints="1" noAdjustHandles="1" noChangeArrowheads="1" noChangeShapeType="1" noTextEdit="1"/>
              </p:cNvSpPr>
              <p:nvPr/>
            </p:nvSpPr>
            <p:spPr>
              <a:xfrm>
                <a:off x="6784922" y="1803161"/>
                <a:ext cx="1707629" cy="757515"/>
              </a:xfrm>
              <a:prstGeom prst="rect">
                <a:avLst/>
              </a:prstGeom>
              <a:blipFill>
                <a:blip r:embed="rId12"/>
                <a:stretch>
                  <a:fillRect t="-4839" b="-4839"/>
                </a:stretch>
              </a:blipFill>
            </p:spPr>
            <p:txBody>
              <a:bodyPr/>
              <a:lstStyle/>
              <a:p>
                <a:r>
                  <a:rPr lang="zh-TW" altLang="en-US">
                    <a:noFill/>
                  </a:rPr>
                  <a:t> </a:t>
                </a:r>
              </a:p>
            </p:txBody>
          </p:sp>
        </mc:Fallback>
      </mc:AlternateContent>
      <p:pic>
        <p:nvPicPr>
          <p:cNvPr id="66" name="圖片 65">
            <a:extLst>
              <a:ext uri="{FF2B5EF4-FFF2-40B4-BE49-F238E27FC236}">
                <a16:creationId xmlns:a16="http://schemas.microsoft.com/office/drawing/2014/main" id="{700A31F4-E91C-E908-F7A1-57F022D0349E}"/>
              </a:ext>
            </a:extLst>
          </p:cNvPr>
          <p:cNvPicPr>
            <a:picLocks noChangeAspect="1"/>
          </p:cNvPicPr>
          <p:nvPr/>
        </p:nvPicPr>
        <p:blipFill>
          <a:blip r:embed="rId13"/>
          <a:stretch>
            <a:fillRect/>
          </a:stretch>
        </p:blipFill>
        <p:spPr>
          <a:xfrm>
            <a:off x="435247" y="732705"/>
            <a:ext cx="4119135" cy="2287504"/>
          </a:xfrm>
          <a:prstGeom prst="rect">
            <a:avLst/>
          </a:prstGeom>
        </p:spPr>
      </p:pic>
      <p:sp>
        <p:nvSpPr>
          <p:cNvPr id="67" name="箭號: 向上 66">
            <a:extLst>
              <a:ext uri="{FF2B5EF4-FFF2-40B4-BE49-F238E27FC236}">
                <a16:creationId xmlns:a16="http://schemas.microsoft.com/office/drawing/2014/main" id="{127F56BB-4446-5C56-8449-1691F2A2E683}"/>
              </a:ext>
            </a:extLst>
          </p:cNvPr>
          <p:cNvSpPr/>
          <p:nvPr/>
        </p:nvSpPr>
        <p:spPr>
          <a:xfrm>
            <a:off x="1864895" y="2277553"/>
            <a:ext cx="616979" cy="423818"/>
          </a:xfrm>
          <a:prstGeom prst="upArrow">
            <a:avLst/>
          </a:prstGeom>
          <a:solidFill>
            <a:srgbClr val="FF0000">
              <a:alpha val="1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69" name="直線接點 68">
            <a:extLst>
              <a:ext uri="{FF2B5EF4-FFF2-40B4-BE49-F238E27FC236}">
                <a16:creationId xmlns:a16="http://schemas.microsoft.com/office/drawing/2014/main" id="{622FB1C8-699A-FC1A-73C7-CFEBB048DBF8}"/>
              </a:ext>
            </a:extLst>
          </p:cNvPr>
          <p:cNvCxnSpPr/>
          <p:nvPr/>
        </p:nvCxnSpPr>
        <p:spPr>
          <a:xfrm>
            <a:off x="2325801" y="1803161"/>
            <a:ext cx="379050" cy="474392"/>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70" name="直線接點 69">
            <a:extLst>
              <a:ext uri="{FF2B5EF4-FFF2-40B4-BE49-F238E27FC236}">
                <a16:creationId xmlns:a16="http://schemas.microsoft.com/office/drawing/2014/main" id="{9751D708-4933-4C0E-34B3-D741C16B6C44}"/>
              </a:ext>
            </a:extLst>
          </p:cNvPr>
          <p:cNvCxnSpPr>
            <a:cxnSpLocks/>
          </p:cNvCxnSpPr>
          <p:nvPr/>
        </p:nvCxnSpPr>
        <p:spPr>
          <a:xfrm flipH="1">
            <a:off x="1608999" y="1796553"/>
            <a:ext cx="419978" cy="449105"/>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8" name="投影片編號版面配置區 4">
            <a:extLst>
              <a:ext uri="{FF2B5EF4-FFF2-40B4-BE49-F238E27FC236}">
                <a16:creationId xmlns:a16="http://schemas.microsoft.com/office/drawing/2014/main" id="{34C4F28C-256B-C498-0E10-5A2496D65DF8}"/>
              </a:ext>
            </a:extLst>
          </p:cNvPr>
          <p:cNvSpPr txBox="1">
            <a:spLocks/>
          </p:cNvSpPr>
          <p:nvPr/>
        </p:nvSpPr>
        <p:spPr>
          <a:xfrm>
            <a:off x="11693676" y="6456181"/>
            <a:ext cx="471101" cy="365125"/>
          </a:xfrm>
          <a:prstGeom prst="rect">
            <a:avLst/>
          </a:prstGeom>
        </p:spPr>
        <p:txBody>
          <a:bodyPr vert="horz" lIns="91440" tIns="45720" rIns="91440" bIns="45720" rtlCol="0" anchor="ctr"/>
          <a:lstStyle>
            <a:defPPr>
              <a:defRPr lang="zh-TW"/>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9A51F5D-0E00-425F-A9D9-084622BDD753}" type="slidenum">
              <a:rPr lang="zh-TW" altLang="en-US" b="1" smtClean="0">
                <a:latin typeface="Times New Roman" panose="02020603050405020304" pitchFamily="18" charset="0"/>
                <a:cs typeface="Times New Roman" panose="02020603050405020304" pitchFamily="18" charset="0"/>
              </a:rPr>
              <a:pPr/>
              <a:t>28</a:t>
            </a:fld>
            <a:endParaRPr lang="zh-TW"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2306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10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66F64AE-CAE4-0A78-C8F9-867765DF3067}"/>
              </a:ext>
            </a:extLst>
          </p:cNvPr>
          <p:cNvSpPr>
            <a:spLocks noGrp="1"/>
          </p:cNvSpPr>
          <p:nvPr>
            <p:ph type="ctrTitle"/>
          </p:nvPr>
        </p:nvSpPr>
        <p:spPr>
          <a:xfrm>
            <a:off x="1915128" y="1788454"/>
            <a:ext cx="8791454" cy="2098226"/>
          </a:xfrm>
        </p:spPr>
        <p:txBody>
          <a:bodyPr/>
          <a:lstStyle/>
          <a:p>
            <a:r>
              <a:rPr lang="en-US" altLang="zh-TW" b="1" dirty="0">
                <a:solidFill>
                  <a:schemeClr val="tx1"/>
                </a:solidFill>
              </a:rPr>
              <a:t>Device Design and Simulation Results</a:t>
            </a:r>
          </a:p>
        </p:txBody>
      </p:sp>
      <p:sp>
        <p:nvSpPr>
          <p:cNvPr id="3" name="副標題 2">
            <a:extLst>
              <a:ext uri="{FF2B5EF4-FFF2-40B4-BE49-F238E27FC236}">
                <a16:creationId xmlns:a16="http://schemas.microsoft.com/office/drawing/2014/main" id="{B1B8DE14-80E4-7564-81F1-A7DA9C966337}"/>
              </a:ext>
            </a:extLst>
          </p:cNvPr>
          <p:cNvSpPr>
            <a:spLocks noGrp="1"/>
          </p:cNvSpPr>
          <p:nvPr>
            <p:ph type="subTitle" idx="1"/>
          </p:nvPr>
        </p:nvSpPr>
        <p:spPr>
          <a:xfrm>
            <a:off x="4632672" y="3886680"/>
            <a:ext cx="4196001" cy="1086237"/>
          </a:xfrm>
        </p:spPr>
        <p:txBody>
          <a:bodyPr>
            <a:normAutofit/>
          </a:bodyPr>
          <a:lstStyle/>
          <a:p>
            <a:pPr marL="457200" indent="-457200" algn="l">
              <a:buFont typeface="+mj-lt"/>
              <a:buAutoNum type="arabicPeriod"/>
            </a:pPr>
            <a:r>
              <a:rPr lang="en-US" altLang="zh-TW" dirty="0">
                <a:solidFill>
                  <a:schemeClr val="tx1"/>
                </a:solidFill>
              </a:rPr>
              <a:t>Simulated EOPMC</a:t>
            </a:r>
          </a:p>
          <a:p>
            <a:pPr marL="457200" indent="-457200" algn="l">
              <a:buFont typeface="+mj-lt"/>
              <a:buAutoNum type="arabicPeriod"/>
            </a:pPr>
            <a:r>
              <a:rPr lang="en-US" altLang="zh-TW" dirty="0">
                <a:solidFill>
                  <a:srgbClr val="FF0000"/>
                </a:solidFill>
              </a:rPr>
              <a:t>Simulated EO</a:t>
            </a:r>
          </a:p>
        </p:txBody>
      </p:sp>
    </p:spTree>
    <p:extLst>
      <p:ext uri="{BB962C8B-B14F-4D97-AF65-F5344CB8AC3E}">
        <p14:creationId xmlns:p14="http://schemas.microsoft.com/office/powerpoint/2010/main" val="40417795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Simulated EO</a:t>
            </a:r>
            <a:endParaRPr lang="zh-TW" altLang="en-US" b="1"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0039351" y="6356352"/>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30</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6DDAC649-E1B0-D859-A1F8-0A28B5177205}"/>
                  </a:ext>
                </a:extLst>
              </p:cNvPr>
              <p:cNvSpPr txBox="1"/>
              <p:nvPr/>
            </p:nvSpPr>
            <p:spPr>
              <a:xfrm>
                <a:off x="179829" y="3033155"/>
                <a:ext cx="6495817" cy="535468"/>
              </a:xfrm>
              <a:prstGeom prst="rect">
                <a:avLst/>
              </a:prstGeom>
              <a:noFill/>
            </p:spPr>
            <p:txBody>
              <a:bodyPr wrap="none" rtlCol="0">
                <a:spAutoFit/>
              </a:bodyPr>
              <a:lstStyle/>
              <a:p>
                <a14:m>
                  <m:oMath xmlns:m="http://schemas.openxmlformats.org/officeDocument/2006/math">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𝑛</m:t>
                    </m:r>
                    <m:r>
                      <a:rPr lang="en-US" altLang="zh-TW" sz="2000" b="0" i="1" smtClean="0">
                        <a:latin typeface="Cambria Math" panose="02040503050406030204" pitchFamily="18" charset="0"/>
                        <a:ea typeface="Cambria Math" panose="02040503050406030204" pitchFamily="18" charset="0"/>
                      </a:rPr>
                      <m:t>=</m:t>
                    </m:r>
                    <m:sSub>
                      <m:sSubPr>
                        <m:ctrlPr>
                          <a:rPr lang="en-US" altLang="zh-TW" sz="2000" i="1">
                            <a:latin typeface="Cambria Math" panose="02040503050406030204" pitchFamily="18" charset="0"/>
                          </a:rPr>
                        </m:ctrlPr>
                      </m:sSubPr>
                      <m:e>
                        <m:sSub>
                          <m:sSubPr>
                            <m:ctrlPr>
                              <a:rPr lang="en-US" altLang="zh-TW" sz="2000" i="1">
                                <a:latin typeface="Cambria Math" panose="02040503050406030204" pitchFamily="18" charset="0"/>
                              </a:rPr>
                            </m:ctrlPr>
                          </m:sSubPr>
                          <m:e>
                            <m:r>
                              <a:rPr lang="en-US" altLang="zh-TW" sz="2000" b="0" i="1">
                                <a:latin typeface="Cambria Math" panose="02040503050406030204" pitchFamily="18" charset="0"/>
                              </a:rPr>
                              <m:t>𝑛</m:t>
                            </m:r>
                          </m:e>
                          <m:sub>
                            <m:r>
                              <a:rPr lang="en-US" altLang="zh-TW" sz="2000" b="0" i="1">
                                <a:latin typeface="Cambria Math" panose="02040503050406030204" pitchFamily="18" charset="0"/>
                              </a:rPr>
                              <m:t>𝑒</m:t>
                            </m:r>
                          </m:sub>
                        </m:sSub>
                        <m:d>
                          <m:dPr>
                            <m:ctrlPr>
                              <a:rPr lang="en-US" altLang="zh-TW" sz="2000" i="1">
                                <a:latin typeface="Cambria Math" panose="02040503050406030204" pitchFamily="18" charset="0"/>
                              </a:rPr>
                            </m:ctrlPr>
                          </m:dPr>
                          <m:e>
                            <m:r>
                              <a:rPr lang="en-US" altLang="zh-TW" sz="2000" b="0" i="1">
                                <a:latin typeface="Cambria Math" panose="02040503050406030204" pitchFamily="18" charset="0"/>
                              </a:rPr>
                              <m:t>𝐸</m:t>
                            </m:r>
                            <m:r>
                              <a:rPr lang="en-US" altLang="zh-TW" sz="2000" b="0" i="1" baseline="-25000">
                                <a:latin typeface="Cambria Math" panose="02040503050406030204" pitchFamily="18" charset="0"/>
                              </a:rPr>
                              <m:t>𝑧</m:t>
                            </m:r>
                          </m:e>
                        </m:d>
                        <m:r>
                          <a:rPr lang="en-US" altLang="zh-TW" sz="2000" b="0" i="1" smtClean="0">
                            <a:latin typeface="Cambria Math" panose="02040503050406030204" pitchFamily="18" charset="0"/>
                          </a:rPr>
                          <m:t>−</m:t>
                        </m:r>
                        <m:r>
                          <a:rPr lang="en-US" altLang="zh-TW" sz="2000" b="0" i="1">
                            <a:latin typeface="Cambria Math" panose="02040503050406030204" pitchFamily="18" charset="0"/>
                          </a:rPr>
                          <m:t>𝑛</m:t>
                        </m:r>
                      </m:e>
                      <m:sub>
                        <m:r>
                          <a:rPr lang="en-US" altLang="zh-TW" sz="2000" b="0" i="1">
                            <a:latin typeface="Cambria Math" panose="02040503050406030204" pitchFamily="18" charset="0"/>
                          </a:rPr>
                          <m:t>𝑜</m:t>
                        </m:r>
                      </m:sub>
                    </m:sSub>
                    <m:r>
                      <a:rPr lang="en-US" altLang="zh-TW" sz="2000" b="0" i="1">
                        <a:latin typeface="Cambria Math" panose="02040503050406030204" pitchFamily="18" charset="0"/>
                      </a:rPr>
                      <m:t>(</m:t>
                    </m:r>
                    <m:r>
                      <a:rPr lang="en-US" altLang="zh-TW" sz="2000" b="0" i="1">
                        <a:latin typeface="Cambria Math" panose="02040503050406030204" pitchFamily="18" charset="0"/>
                      </a:rPr>
                      <m:t>𝐸𝑧</m:t>
                    </m:r>
                    <m:r>
                      <a:rPr lang="en-US" altLang="zh-TW" sz="2000" b="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b="0" i="1">
                            <a:latin typeface="Cambria Math" panose="02040503050406030204" pitchFamily="18" charset="0"/>
                          </a:rPr>
                          <m:t>𝑛</m:t>
                        </m:r>
                      </m:e>
                      <m:sub>
                        <m:r>
                          <a:rPr lang="en-US" altLang="zh-TW" sz="2000" b="0" i="1" smtClean="0">
                            <a:latin typeface="Cambria Math" panose="02040503050406030204" pitchFamily="18" charset="0"/>
                          </a:rPr>
                          <m:t>𝑒</m:t>
                        </m:r>
                        <m:r>
                          <a:rPr lang="en-US" altLang="zh-TW" sz="2000" b="0" i="1" smtClean="0">
                            <a:latin typeface="Cambria Math" panose="02040503050406030204" pitchFamily="18" charset="0"/>
                          </a:rPr>
                          <m:t> </m:t>
                        </m:r>
                      </m:sub>
                    </m:sSub>
                    <m:r>
                      <a:rPr lang="en-US" altLang="zh-TW" sz="2000" b="0" i="1" smtClean="0">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b="0" i="1">
                            <a:latin typeface="Cambria Math" panose="02040503050406030204" pitchFamily="18" charset="0"/>
                          </a:rPr>
                          <m:t>𝑛</m:t>
                        </m:r>
                      </m:e>
                      <m:sub>
                        <m:r>
                          <a:rPr lang="en-US" altLang="zh-TW" sz="2000" b="0" i="1" smtClean="0">
                            <a:latin typeface="Cambria Math" panose="02040503050406030204" pitchFamily="18" charset="0"/>
                          </a:rPr>
                          <m:t>𝑜</m:t>
                        </m:r>
                      </m:sub>
                    </m:sSub>
                    <m:r>
                      <a:rPr lang="en-US" altLang="zh-TW" sz="2000" b="0" i="1" smtClean="0">
                        <a:latin typeface="Cambria Math" panose="02040503050406030204" pitchFamily="18" charset="0"/>
                      </a:rPr>
                      <m:t> − </m:t>
                    </m:r>
                    <m:f>
                      <m:fPr>
                        <m:ctrlPr>
                          <a:rPr lang="en-US" altLang="zh-TW" sz="2000" i="1" smtClean="0">
                            <a:latin typeface="Cambria Math" panose="02040503050406030204" pitchFamily="18" charset="0"/>
                          </a:rPr>
                        </m:ctrlPr>
                      </m:fPr>
                      <m:num>
                        <m:r>
                          <a:rPr lang="en-US" altLang="zh-TW" sz="2000" b="0" i="1" smtClean="0">
                            <a:latin typeface="Cambria Math" panose="02040503050406030204" pitchFamily="18" charset="0"/>
                          </a:rPr>
                          <m:t>1</m:t>
                        </m:r>
                      </m:num>
                      <m:den>
                        <m:r>
                          <a:rPr lang="en-US" altLang="zh-TW" sz="2000" b="0" i="1" smtClean="0">
                            <a:latin typeface="Cambria Math" panose="02040503050406030204" pitchFamily="18" charset="0"/>
                          </a:rPr>
                          <m:t>2</m:t>
                        </m:r>
                      </m:den>
                    </m:f>
                    <m:r>
                      <a:rPr lang="en-US" altLang="zh-TW" sz="2000" b="0" i="1" smtClean="0">
                        <a:latin typeface="Cambria Math" panose="02040503050406030204" pitchFamily="18" charset="0"/>
                      </a:rPr>
                      <m:t>(</m:t>
                    </m:r>
                    <m:r>
                      <a:rPr lang="en-US" altLang="zh-TW" sz="2000" b="0" i="1">
                        <a:latin typeface="Cambria Math" panose="02040503050406030204" pitchFamily="18" charset="0"/>
                      </a:rPr>
                      <m:t>𝑟</m:t>
                    </m:r>
                    <m:r>
                      <a:rPr lang="en-US" altLang="zh-TW" sz="2000" b="0" i="1" baseline="-25000" smtClean="0">
                        <a:latin typeface="Cambria Math" panose="02040503050406030204" pitchFamily="18" charset="0"/>
                      </a:rPr>
                      <m:t>3</m:t>
                    </m:r>
                    <m:r>
                      <a:rPr lang="en-US" altLang="zh-TW" sz="2000" b="0" i="1" baseline="-25000">
                        <a:latin typeface="Cambria Math" panose="02040503050406030204" pitchFamily="18" charset="0"/>
                      </a:rPr>
                      <m:t>3</m:t>
                    </m:r>
                    <m:sSubSup>
                      <m:sSubSupPr>
                        <m:ctrlPr>
                          <a:rPr lang="en-US" altLang="zh-TW" sz="2000" i="1">
                            <a:latin typeface="Cambria Math" panose="02040503050406030204" pitchFamily="18" charset="0"/>
                          </a:rPr>
                        </m:ctrlPr>
                      </m:sSubSupPr>
                      <m:e>
                        <m:r>
                          <a:rPr lang="en-US" altLang="zh-TW" sz="2000" b="0" i="1">
                            <a:latin typeface="Cambria Math" panose="02040503050406030204" pitchFamily="18" charset="0"/>
                          </a:rPr>
                          <m:t>𝑛</m:t>
                        </m:r>
                      </m:e>
                      <m:sub>
                        <m:r>
                          <a:rPr lang="en-US" altLang="zh-TW" sz="2000" b="0" i="1">
                            <a:latin typeface="Cambria Math" panose="02040503050406030204" pitchFamily="18" charset="0"/>
                          </a:rPr>
                          <m:t>𝑜</m:t>
                        </m:r>
                      </m:sub>
                      <m:sup>
                        <m:r>
                          <a:rPr lang="en-US" altLang="zh-TW" sz="2000" b="0" i="1">
                            <a:latin typeface="Cambria Math" panose="02040503050406030204" pitchFamily="18" charset="0"/>
                          </a:rPr>
                          <m:t>3</m:t>
                        </m:r>
                      </m:sup>
                    </m:sSubSup>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𝑟</m:t>
                    </m:r>
                    <m:r>
                      <a:rPr lang="en-US" altLang="zh-TW" sz="2000" b="0" i="1" baseline="-25000" smtClean="0">
                        <a:latin typeface="Cambria Math" panose="02040503050406030204" pitchFamily="18" charset="0"/>
                      </a:rPr>
                      <m:t>13</m:t>
                    </m:r>
                    <m:sSubSup>
                      <m:sSubSupPr>
                        <m:ctrlPr>
                          <a:rPr lang="en-US" altLang="zh-TW" sz="2000" i="1">
                            <a:latin typeface="Cambria Math" panose="02040503050406030204" pitchFamily="18" charset="0"/>
                          </a:rPr>
                        </m:ctrlPr>
                      </m:sSubSupPr>
                      <m:e>
                        <m:r>
                          <a:rPr lang="en-US" altLang="zh-TW" sz="2000" b="0" i="1">
                            <a:latin typeface="Cambria Math" panose="02040503050406030204" pitchFamily="18" charset="0"/>
                          </a:rPr>
                          <m:t>𝑛</m:t>
                        </m:r>
                      </m:e>
                      <m:sub>
                        <m:r>
                          <a:rPr lang="en-US" altLang="zh-TW" sz="2000" b="0" i="1">
                            <a:latin typeface="Cambria Math" panose="02040503050406030204" pitchFamily="18" charset="0"/>
                          </a:rPr>
                          <m:t>𝑜</m:t>
                        </m:r>
                      </m:sub>
                      <m:sup>
                        <m:r>
                          <a:rPr lang="en-US" altLang="zh-TW" sz="2000" b="0" i="1">
                            <a:latin typeface="Cambria Math" panose="02040503050406030204" pitchFamily="18" charset="0"/>
                          </a:rPr>
                          <m:t>3</m:t>
                        </m:r>
                      </m:sup>
                    </m:sSubSup>
                  </m:oMath>
                </a14:m>
                <a:r>
                  <a:rPr lang="en-US" altLang="zh-TW" sz="2000" dirty="0"/>
                  <a:t>) </a:t>
                </a:r>
                <a14:m>
                  <m:oMath xmlns:m="http://schemas.openxmlformats.org/officeDocument/2006/math">
                    <m:r>
                      <a:rPr lang="en-US" altLang="zh-TW" sz="2000" b="0" i="1">
                        <a:latin typeface="Cambria Math" panose="02040503050406030204" pitchFamily="18" charset="0"/>
                      </a:rPr>
                      <m:t>𝐸</m:t>
                    </m:r>
                    <m:r>
                      <a:rPr lang="en-US" altLang="zh-TW" sz="2000" b="0" i="1" baseline="-25000">
                        <a:latin typeface="Cambria Math" panose="02040503050406030204" pitchFamily="18" charset="0"/>
                      </a:rPr>
                      <m:t>𝑧</m:t>
                    </m:r>
                  </m:oMath>
                </a14:m>
                <a:endParaRPr lang="zh-TW" altLang="en-US" sz="2000" dirty="0"/>
              </a:p>
            </p:txBody>
          </p:sp>
        </mc:Choice>
        <mc:Fallback xmlns="">
          <p:sp>
            <p:nvSpPr>
              <p:cNvPr id="6" name="文字方塊 5">
                <a:extLst>
                  <a:ext uri="{FF2B5EF4-FFF2-40B4-BE49-F238E27FC236}">
                    <a16:creationId xmlns:a16="http://schemas.microsoft.com/office/drawing/2014/main" id="{6DDAC649-E1B0-D859-A1F8-0A28B5177205}"/>
                  </a:ext>
                </a:extLst>
              </p:cNvPr>
              <p:cNvSpPr txBox="1">
                <a:spLocks noRot="1" noChangeAspect="1" noMove="1" noResize="1" noEditPoints="1" noAdjustHandles="1" noChangeArrowheads="1" noChangeShapeType="1" noTextEdit="1"/>
              </p:cNvSpPr>
              <p:nvPr/>
            </p:nvSpPr>
            <p:spPr>
              <a:xfrm>
                <a:off x="179829" y="3033155"/>
                <a:ext cx="6495817" cy="535468"/>
              </a:xfrm>
              <a:prstGeom prst="rect">
                <a:avLst/>
              </a:prstGeom>
              <a:blipFill>
                <a:blip r:embed="rId4"/>
                <a:stretch>
                  <a:fillRect b="-804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381669AE-C4D1-CEC3-4213-9E02D57FEE36}"/>
                  </a:ext>
                </a:extLst>
              </p:cNvPr>
              <p:cNvSpPr txBox="1"/>
              <p:nvPr/>
            </p:nvSpPr>
            <p:spPr>
              <a:xfrm>
                <a:off x="4075510" y="864264"/>
                <a:ext cx="3577959" cy="523220"/>
              </a:xfrm>
              <a:prstGeom prst="rect">
                <a:avLst/>
              </a:prstGeom>
              <a:noFill/>
            </p:spPr>
            <p:txBody>
              <a:bodyPr wrap="square">
                <a:spAutoFit/>
              </a:bodyPr>
              <a:lstStyle/>
              <a:p>
                <a:r>
                  <a:rPr lang="en-US" altLang="zh-TW" sz="2800" b="1" dirty="0">
                    <a:effectLst>
                      <a:outerShdw blurRad="38100" dist="38100" dir="2700000" algn="tl">
                        <a:srgbClr val="000000">
                          <a:alpha val="43137"/>
                        </a:srgbClr>
                      </a:outerShdw>
                    </a:effectLst>
                  </a:rPr>
                  <a:t>Phase Modulator   e</a:t>
                </a:r>
                <a:r>
                  <a:rPr lang="en-US" altLang="zh-TW" sz="2800" b="1" baseline="30000" dirty="0" err="1">
                    <a:effectLst>
                      <a:outerShdw blurRad="38100" dist="38100" dir="2700000" algn="tl">
                        <a:srgbClr val="000000">
                          <a:alpha val="43137"/>
                        </a:srgbClr>
                      </a:outerShdw>
                    </a:effectLst>
                  </a:rPr>
                  <a:t>j</a:t>
                </a:r>
                <a:r>
                  <a:rPr lang="en-US" altLang="zh-TW" sz="2800" b="1" baseline="30000" dirty="0">
                    <a:effectLst>
                      <a:outerShdw blurRad="38100" dist="38100" dir="2700000" algn="tl">
                        <a:srgbClr val="000000">
                          <a:alpha val="43137"/>
                        </a:srgbClr>
                      </a:outerShdw>
                    </a:effectLst>
                    <a:ea typeface="Cambria Math" panose="02040503050406030204" pitchFamily="18" charset="0"/>
                  </a:rPr>
                  <a:t> </a:t>
                </a:r>
                <a14:m>
                  <m:oMath xmlns:m="http://schemas.openxmlformats.org/officeDocument/2006/math">
                    <m:r>
                      <a:rPr lang="en-US" altLang="zh-TW" sz="2800" b="1" i="1" baseline="3000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oMath>
                </a14:m>
                <a:r>
                  <a:rPr lang="en-US" altLang="zh-TW" sz="2800" b="1" dirty="0">
                    <a:effectLst>
                      <a:outerShdw blurRad="38100" dist="38100" dir="2700000" algn="tl">
                        <a:srgbClr val="000000">
                          <a:alpha val="43137"/>
                        </a:srgbClr>
                      </a:outerShdw>
                    </a:effectLst>
                  </a:rPr>
                  <a:t> </a:t>
                </a:r>
                <a:endParaRPr lang="zh-TW" altLang="en-US" sz="2800" b="1" dirty="0">
                  <a:effectLst>
                    <a:outerShdw blurRad="38100" dist="38100" dir="2700000" algn="tl">
                      <a:srgbClr val="000000">
                        <a:alpha val="43137"/>
                      </a:srgbClr>
                    </a:outerShdw>
                  </a:effectLst>
                </a:endParaRPr>
              </a:p>
            </p:txBody>
          </p:sp>
        </mc:Choice>
        <mc:Fallback xmlns="">
          <p:sp>
            <p:nvSpPr>
              <p:cNvPr id="8" name="文字方塊 7">
                <a:extLst>
                  <a:ext uri="{FF2B5EF4-FFF2-40B4-BE49-F238E27FC236}">
                    <a16:creationId xmlns:a16="http://schemas.microsoft.com/office/drawing/2014/main" id="{381669AE-C4D1-CEC3-4213-9E02D57FEE36}"/>
                  </a:ext>
                </a:extLst>
              </p:cNvPr>
              <p:cNvSpPr txBox="1">
                <a:spLocks noRot="1" noChangeAspect="1" noMove="1" noResize="1" noEditPoints="1" noAdjustHandles="1" noChangeArrowheads="1" noChangeShapeType="1" noTextEdit="1"/>
              </p:cNvSpPr>
              <p:nvPr/>
            </p:nvSpPr>
            <p:spPr>
              <a:xfrm>
                <a:off x="4075510" y="864264"/>
                <a:ext cx="3577959" cy="523220"/>
              </a:xfrm>
              <a:prstGeom prst="rect">
                <a:avLst/>
              </a:prstGeom>
              <a:blipFill>
                <a:blip r:embed="rId5"/>
                <a:stretch>
                  <a:fillRect l="-3754" t="-12791" b="-38372"/>
                </a:stretch>
              </a:blipFill>
            </p:spPr>
            <p:txBody>
              <a:bodyPr/>
              <a:lstStyle/>
              <a:p>
                <a:r>
                  <a:rPr lang="zh-TW" altLang="en-US">
                    <a:noFill/>
                  </a:rPr>
                  <a:t> </a:t>
                </a:r>
              </a:p>
            </p:txBody>
          </p:sp>
        </mc:Fallback>
      </mc:AlternateContent>
      <p:sp>
        <p:nvSpPr>
          <p:cNvPr id="9" name="箭號: 向右 8">
            <a:extLst>
              <a:ext uri="{FF2B5EF4-FFF2-40B4-BE49-F238E27FC236}">
                <a16:creationId xmlns:a16="http://schemas.microsoft.com/office/drawing/2014/main" id="{9CD95812-1AAD-A5D0-BEC1-5923886665D9}"/>
              </a:ext>
            </a:extLst>
          </p:cNvPr>
          <p:cNvSpPr/>
          <p:nvPr/>
        </p:nvSpPr>
        <p:spPr>
          <a:xfrm>
            <a:off x="179829" y="3818544"/>
            <a:ext cx="709926" cy="597877"/>
          </a:xfrm>
          <a:prstGeom prst="right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BCB23A26-09FC-D5C4-6882-C5D325BF0F2D}"/>
                  </a:ext>
                </a:extLst>
              </p:cNvPr>
              <p:cNvSpPr txBox="1"/>
              <p:nvPr/>
            </p:nvSpPr>
            <p:spPr>
              <a:xfrm>
                <a:off x="1036802" y="3875750"/>
                <a:ext cx="4938347" cy="483466"/>
              </a:xfrm>
              <a:prstGeom prst="rect">
                <a:avLst/>
              </a:prstGeom>
              <a:noFill/>
            </p:spPr>
            <p:txBody>
              <a:bodyPr wrap="square">
                <a:spAutoFit/>
              </a:bodyPr>
              <a:lstStyle/>
              <a:p>
                <a14:m>
                  <m:oMath xmlns:m="http://schemas.openxmlformats.org/officeDocument/2006/math">
                    <m:r>
                      <a:rPr lang="zh-TW" altLang="en-US" dirty="0" smtClean="0">
                        <a:solidFill>
                          <a:srgbClr val="000000"/>
                        </a:solidFill>
                        <a:latin typeface="Cambria Math" panose="02040503050406030204" pitchFamily="18" charset="0"/>
                        <a:ea typeface="標楷體" panose="03000509000000000000" pitchFamily="65" charset="-120"/>
                      </a:rPr>
                      <m:t>𝜙</m:t>
                    </m:r>
                    <m:r>
                      <a:rPr lang="en-US" altLang="zh-TW" dirty="0">
                        <a:solidFill>
                          <a:srgbClr val="000000"/>
                        </a:solidFill>
                        <a:latin typeface="Cambria Math" panose="02040503050406030204" pitchFamily="18" charset="0"/>
                        <a:ea typeface="標楷體" panose="03000509000000000000" pitchFamily="65" charset="-120"/>
                      </a:rPr>
                      <m:t>=  </m:t>
                    </m:r>
                  </m:oMath>
                </a14:m>
                <a:r>
                  <a:rPr lang="en-US" altLang="zh-TW" sz="1800" kern="1200" dirty="0">
                    <a:solidFill>
                      <a:srgbClr val="000000"/>
                    </a:solidFill>
                    <a:effectLst/>
                    <a:latin typeface="Times New Roman" panose="02020603050405020304" pitchFamily="18" charset="0"/>
                    <a:ea typeface="標楷體" panose="03000509000000000000" pitchFamily="65" charset="-120"/>
                    <a:cs typeface="+mn-cs"/>
                  </a:rPr>
                  <a:t>2</a:t>
                </a:r>
                <a14:m>
                  <m:oMath xmlns:m="http://schemas.openxmlformats.org/officeDocument/2006/math">
                    <m:r>
                      <m:rPr>
                        <m:sty m:val="p"/>
                      </m:rPr>
                      <a:rPr lang="en-US" altLang="zh-TW" sz="1800" kern="1200">
                        <a:solidFill>
                          <a:srgbClr val="000000"/>
                        </a:solidFill>
                        <a:effectLst/>
                        <a:latin typeface="Cambria Math" panose="02040503050406030204" pitchFamily="18" charset="0"/>
                        <a:ea typeface="標楷體" panose="03000509000000000000" pitchFamily="65" charset="-120"/>
                        <a:cs typeface="+mn-cs"/>
                      </a:rPr>
                      <m:t>π</m:t>
                    </m:r>
                    <m:r>
                      <a:rPr lang="en-US" altLang="zh-TW" sz="1800" kern="1200">
                        <a:solidFill>
                          <a:srgbClr val="000000"/>
                        </a:solidFill>
                        <a:effectLst/>
                        <a:latin typeface="Cambria Math" panose="02040503050406030204" pitchFamily="18" charset="0"/>
                        <a:ea typeface="標楷體" panose="03000509000000000000" pitchFamily="65" charset="-120"/>
                        <a:cs typeface="+mn-cs"/>
                      </a:rPr>
                      <m:t>[</m:t>
                    </m:r>
                  </m:oMath>
                </a14:m>
                <a:r>
                  <a:rPr lang="en-US" altLang="zh-TW" sz="1800" kern="1200" dirty="0">
                    <a:solidFill>
                      <a:srgbClr val="000000"/>
                    </a:solidFill>
                    <a:effectLst/>
                    <a:latin typeface="Times New Roman" panose="02020603050405020304" pitchFamily="18" charset="0"/>
                    <a:ea typeface="標楷體" panose="03000509000000000000" pitchFamily="65" charset="-120"/>
                    <a:cs typeface="+mn-cs"/>
                  </a:rPr>
                  <a:t>n</a:t>
                </a:r>
                <a:r>
                  <a:rPr lang="en-US" altLang="zh-TW" sz="1800" kern="1200" baseline="-25000" dirty="0">
                    <a:solidFill>
                      <a:srgbClr val="000000"/>
                    </a:solidFill>
                    <a:effectLst/>
                    <a:latin typeface="Times New Roman" panose="02020603050405020304" pitchFamily="18" charset="0"/>
                    <a:ea typeface="標楷體" panose="03000509000000000000" pitchFamily="65" charset="-120"/>
                    <a:cs typeface="+mn-cs"/>
                  </a:rPr>
                  <a:t>e</a:t>
                </a:r>
                <a:r>
                  <a:rPr lang="en-US" altLang="zh-TW" sz="1800" kern="1200" dirty="0">
                    <a:solidFill>
                      <a:srgbClr val="000000"/>
                    </a:solidFill>
                    <a:effectLst/>
                    <a:latin typeface="Times New Roman" panose="02020603050405020304" pitchFamily="18" charset="0"/>
                    <a:ea typeface="標楷體" panose="03000509000000000000" pitchFamily="65" charset="-120"/>
                    <a:cs typeface="+mn-cs"/>
                  </a:rPr>
                  <a:t> – n</a:t>
                </a:r>
                <a:r>
                  <a:rPr lang="en-US" altLang="zh-TW" sz="1800" kern="1200" baseline="-25000" dirty="0">
                    <a:solidFill>
                      <a:srgbClr val="000000"/>
                    </a:solidFill>
                    <a:effectLst/>
                    <a:latin typeface="Times New Roman" panose="02020603050405020304" pitchFamily="18" charset="0"/>
                    <a:ea typeface="標楷體" panose="03000509000000000000" pitchFamily="65" charset="-120"/>
                    <a:cs typeface="+mn-cs"/>
                  </a:rPr>
                  <a:t>o</a:t>
                </a:r>
                <a:r>
                  <a:rPr lang="en-US" altLang="zh-TW" sz="1800" kern="1200" dirty="0">
                    <a:solidFill>
                      <a:srgbClr val="000000"/>
                    </a:solidFill>
                    <a:effectLst/>
                    <a:latin typeface="Times New Roman" panose="02020603050405020304" pitchFamily="18" charset="0"/>
                    <a:ea typeface="標楷體" panose="03000509000000000000" pitchFamily="65" charset="-120"/>
                    <a:cs typeface="+mn-cs"/>
                  </a:rPr>
                  <a:t> - </a:t>
                </a:r>
                <a14:m>
                  <m:oMath xmlns:m="http://schemas.openxmlformats.org/officeDocument/2006/math">
                    <m:f>
                      <m:fPr>
                        <m:ctrlPr>
                          <a:rPr lang="zh-TW" altLang="zh-TW" i="1" kern="1200">
                            <a:solidFill>
                              <a:srgbClr val="000000"/>
                            </a:solidFill>
                            <a:effectLst/>
                            <a:latin typeface="Cambria Math" panose="02040503050406030204" pitchFamily="18" charset="0"/>
                            <a:ea typeface="Cambria Math" panose="02040503050406030204" pitchFamily="18" charset="0"/>
                            <a:cs typeface="+mn-cs"/>
                          </a:rPr>
                        </m:ctrlPr>
                      </m:fPr>
                      <m:num>
                        <m:r>
                          <a:rPr lang="en-US" altLang="zh-TW" sz="1800" kern="1200">
                            <a:solidFill>
                              <a:srgbClr val="000000"/>
                            </a:solidFill>
                            <a:effectLst/>
                            <a:latin typeface="Cambria Math" panose="02040503050406030204" pitchFamily="18" charset="0"/>
                            <a:ea typeface="標楷體" panose="03000509000000000000" pitchFamily="65" charset="-120"/>
                            <a:cs typeface="+mn-cs"/>
                          </a:rPr>
                          <m:t>1</m:t>
                        </m:r>
                      </m:num>
                      <m:den>
                        <m:r>
                          <a:rPr lang="en-US" altLang="zh-TW" sz="1800" kern="1200">
                            <a:solidFill>
                              <a:srgbClr val="000000"/>
                            </a:solidFill>
                            <a:effectLst/>
                            <a:latin typeface="Cambria Math" panose="02040503050406030204" pitchFamily="18" charset="0"/>
                            <a:ea typeface="標楷體" panose="03000509000000000000" pitchFamily="65" charset="-120"/>
                            <a:cs typeface="+mn-cs"/>
                          </a:rPr>
                          <m:t>2</m:t>
                        </m:r>
                      </m:den>
                    </m:f>
                  </m:oMath>
                </a14:m>
                <a:r>
                  <a:rPr lang="en-US" altLang="zh-TW" sz="1800" kern="1200" dirty="0">
                    <a:solidFill>
                      <a:srgbClr val="000000"/>
                    </a:solidFill>
                    <a:effectLst/>
                    <a:latin typeface="Times New Roman" panose="02020603050405020304" pitchFamily="18" charset="0"/>
                    <a:ea typeface="標楷體" panose="03000509000000000000" pitchFamily="65" charset="-120"/>
                    <a:cs typeface="+mn-cs"/>
                  </a:rPr>
                  <a:t>(</a:t>
                </a:r>
                <a14:m>
                  <m:oMath xmlns:m="http://schemas.openxmlformats.org/officeDocument/2006/math">
                    <m:r>
                      <m:rPr>
                        <m:sty m:val="p"/>
                      </m:rPr>
                      <a:rPr lang="en-US" altLang="zh-TW" sz="1800" kern="1200">
                        <a:solidFill>
                          <a:srgbClr val="000000"/>
                        </a:solidFill>
                        <a:effectLst/>
                        <a:latin typeface="Cambria Math" panose="02040503050406030204" pitchFamily="18" charset="0"/>
                        <a:ea typeface="標楷體" panose="03000509000000000000" pitchFamily="65" charset="-120"/>
                        <a:cs typeface="+mn-cs"/>
                      </a:rPr>
                      <m:t>γ</m:t>
                    </m:r>
                  </m:oMath>
                </a14:m>
                <a:r>
                  <a:rPr lang="en-US" altLang="zh-TW" sz="1800" kern="1200" baseline="-25000" dirty="0">
                    <a:solidFill>
                      <a:srgbClr val="000000"/>
                    </a:solidFill>
                    <a:effectLst/>
                    <a:latin typeface="Times New Roman" panose="02020603050405020304" pitchFamily="18" charset="0"/>
                    <a:ea typeface="標楷體" panose="03000509000000000000" pitchFamily="65" charset="-120"/>
                    <a:cs typeface="+mn-cs"/>
                  </a:rPr>
                  <a:t>33</a:t>
                </a:r>
                <a14:m>
                  <m:oMath xmlns:m="http://schemas.openxmlformats.org/officeDocument/2006/math">
                    <m:sSubSup>
                      <m:sSubSupPr>
                        <m:ctrlPr>
                          <a:rPr lang="zh-TW" altLang="zh-TW" i="1" kern="1200">
                            <a:solidFill>
                              <a:srgbClr val="000000"/>
                            </a:solidFill>
                            <a:effectLst/>
                            <a:latin typeface="Cambria Math" panose="02040503050406030204" pitchFamily="18" charset="0"/>
                            <a:ea typeface="Cambria Math" panose="02040503050406030204" pitchFamily="18" charset="0"/>
                            <a:cs typeface="+mn-cs"/>
                          </a:rPr>
                        </m:ctrlPr>
                      </m:sSubSupPr>
                      <m:e>
                        <m:r>
                          <m:rPr>
                            <m:sty m:val="p"/>
                          </m:rPr>
                          <a:rPr lang="en-US" altLang="zh-TW" sz="1800" kern="1200">
                            <a:solidFill>
                              <a:srgbClr val="000000"/>
                            </a:solidFill>
                            <a:effectLst/>
                            <a:latin typeface="Cambria Math" panose="02040503050406030204" pitchFamily="18" charset="0"/>
                            <a:ea typeface="標楷體" panose="03000509000000000000" pitchFamily="65" charset="-120"/>
                            <a:cs typeface="+mn-cs"/>
                          </a:rPr>
                          <m:t>n</m:t>
                        </m:r>
                      </m:e>
                      <m:sub>
                        <m:r>
                          <m:rPr>
                            <m:sty m:val="p"/>
                          </m:rPr>
                          <a:rPr lang="en-US" altLang="zh-TW" sz="1800" kern="1200">
                            <a:solidFill>
                              <a:srgbClr val="000000"/>
                            </a:solidFill>
                            <a:effectLst/>
                            <a:latin typeface="Cambria Math" panose="02040503050406030204" pitchFamily="18" charset="0"/>
                            <a:ea typeface="標楷體" panose="03000509000000000000" pitchFamily="65" charset="-120"/>
                            <a:cs typeface="+mn-cs"/>
                          </a:rPr>
                          <m:t>e</m:t>
                        </m:r>
                      </m:sub>
                      <m:sup>
                        <m:r>
                          <a:rPr lang="en-US" altLang="zh-TW" sz="1800" kern="1200">
                            <a:solidFill>
                              <a:srgbClr val="000000"/>
                            </a:solidFill>
                            <a:effectLst/>
                            <a:latin typeface="Cambria Math" panose="02040503050406030204" pitchFamily="18" charset="0"/>
                            <a:ea typeface="標楷體" panose="03000509000000000000" pitchFamily="65" charset="-120"/>
                            <a:cs typeface="+mn-cs"/>
                          </a:rPr>
                          <m:t>3</m:t>
                        </m:r>
                      </m:sup>
                    </m:sSubSup>
                    <m:r>
                      <a:rPr lang="en-US" altLang="zh-TW" sz="1800" i="1" kern="1200">
                        <a:solidFill>
                          <a:srgbClr val="000000"/>
                        </a:solidFill>
                        <a:effectLst/>
                        <a:latin typeface="Cambria Math" panose="02040503050406030204" pitchFamily="18" charset="0"/>
                        <a:ea typeface="標楷體" panose="03000509000000000000" pitchFamily="65" charset="-120"/>
                        <a:cs typeface="+mn-cs"/>
                      </a:rPr>
                      <m:t>−</m:t>
                    </m:r>
                    <m:r>
                      <m:rPr>
                        <m:sty m:val="p"/>
                      </m:rPr>
                      <a:rPr lang="en-US" altLang="zh-TW" sz="1800" kern="1200">
                        <a:solidFill>
                          <a:srgbClr val="000000"/>
                        </a:solidFill>
                        <a:effectLst/>
                        <a:latin typeface="Cambria Math" panose="02040503050406030204" pitchFamily="18" charset="0"/>
                        <a:ea typeface="標楷體" panose="03000509000000000000" pitchFamily="65" charset="-120"/>
                        <a:cs typeface="+mn-cs"/>
                      </a:rPr>
                      <m:t>γ</m:t>
                    </m:r>
                    <m:r>
                      <m:rPr>
                        <m:nor/>
                      </m:rPr>
                      <a:rPr lang="en-US" altLang="zh-TW" sz="1800" kern="1200" baseline="-25000">
                        <a:solidFill>
                          <a:srgbClr val="000000"/>
                        </a:solidFill>
                        <a:effectLst/>
                        <a:latin typeface="Times New Roman" panose="02020603050405020304" pitchFamily="18" charset="0"/>
                        <a:ea typeface="標楷體" panose="03000509000000000000" pitchFamily="65" charset="-120"/>
                        <a:cs typeface="+mn-cs"/>
                      </a:rPr>
                      <m:t>13</m:t>
                    </m:r>
                  </m:oMath>
                </a14:m>
                <a:r>
                  <a:rPr lang="en-US" altLang="zh-TW" sz="1800" kern="1200" dirty="0">
                    <a:solidFill>
                      <a:srgbClr val="000000"/>
                    </a:solidFill>
                    <a:effectLst/>
                    <a:latin typeface="Times New Roman" panose="02020603050405020304" pitchFamily="18" charset="0"/>
                    <a:ea typeface="標楷體" panose="03000509000000000000" pitchFamily="65" charset="-120"/>
                    <a:cs typeface="+mn-cs"/>
                  </a:rPr>
                  <a:t> </a:t>
                </a:r>
                <a14:m>
                  <m:oMath xmlns:m="http://schemas.openxmlformats.org/officeDocument/2006/math">
                    <m:sSubSup>
                      <m:sSubSupPr>
                        <m:ctrlPr>
                          <a:rPr lang="zh-TW" altLang="zh-TW" i="1" kern="1200">
                            <a:solidFill>
                              <a:srgbClr val="000000"/>
                            </a:solidFill>
                            <a:effectLst/>
                            <a:latin typeface="Cambria Math" panose="02040503050406030204" pitchFamily="18" charset="0"/>
                            <a:ea typeface="Cambria Math" panose="02040503050406030204" pitchFamily="18" charset="0"/>
                            <a:cs typeface="+mn-cs"/>
                          </a:rPr>
                        </m:ctrlPr>
                      </m:sSubSupPr>
                      <m:e>
                        <m:r>
                          <m:rPr>
                            <m:sty m:val="p"/>
                          </m:rPr>
                          <a:rPr lang="en-US" altLang="zh-TW" sz="1800" kern="1200">
                            <a:solidFill>
                              <a:srgbClr val="000000"/>
                            </a:solidFill>
                            <a:effectLst/>
                            <a:latin typeface="Cambria Math" panose="02040503050406030204" pitchFamily="18" charset="0"/>
                            <a:ea typeface="標楷體" panose="03000509000000000000" pitchFamily="65" charset="-120"/>
                            <a:cs typeface="+mn-cs"/>
                          </a:rPr>
                          <m:t>n</m:t>
                        </m:r>
                      </m:e>
                      <m:sub>
                        <m:r>
                          <m:rPr>
                            <m:sty m:val="p"/>
                          </m:rPr>
                          <a:rPr lang="en-US" altLang="zh-TW" sz="1800" kern="1200">
                            <a:solidFill>
                              <a:srgbClr val="000000"/>
                            </a:solidFill>
                            <a:effectLst/>
                            <a:latin typeface="Cambria Math" panose="02040503050406030204" pitchFamily="18" charset="0"/>
                            <a:ea typeface="標楷體" panose="03000509000000000000" pitchFamily="65" charset="-120"/>
                            <a:cs typeface="+mn-cs"/>
                          </a:rPr>
                          <m:t>o</m:t>
                        </m:r>
                      </m:sub>
                      <m:sup>
                        <m:r>
                          <a:rPr lang="en-US" altLang="zh-TW" sz="1800" kern="1200">
                            <a:solidFill>
                              <a:srgbClr val="000000"/>
                            </a:solidFill>
                            <a:effectLst/>
                            <a:latin typeface="Cambria Math" panose="02040503050406030204" pitchFamily="18" charset="0"/>
                            <a:ea typeface="標楷體" panose="03000509000000000000" pitchFamily="65" charset="-120"/>
                            <a:cs typeface="+mn-cs"/>
                          </a:rPr>
                          <m:t>3</m:t>
                        </m:r>
                      </m:sup>
                    </m:sSubSup>
                  </m:oMath>
                </a14:m>
                <a:r>
                  <a:rPr lang="en-US" altLang="zh-TW" sz="1800" kern="1200" dirty="0">
                    <a:solidFill>
                      <a:srgbClr val="000000"/>
                    </a:solidFill>
                    <a:effectLst/>
                    <a:latin typeface="Times New Roman" panose="02020603050405020304" pitchFamily="18" charset="0"/>
                    <a:ea typeface="標楷體" panose="03000509000000000000" pitchFamily="65" charset="-120"/>
                    <a:cs typeface="+mn-cs"/>
                  </a:rPr>
                  <a:t>)</a:t>
                </a:r>
                <a:r>
                  <a:rPr lang="en-US" altLang="zh-TW" sz="1800" kern="1200" dirty="0" err="1">
                    <a:solidFill>
                      <a:srgbClr val="000000"/>
                    </a:solidFill>
                    <a:effectLst/>
                    <a:latin typeface="Times New Roman" panose="02020603050405020304" pitchFamily="18" charset="0"/>
                    <a:ea typeface="標楷體" panose="03000509000000000000" pitchFamily="65" charset="-120"/>
                    <a:cs typeface="+mn-cs"/>
                  </a:rPr>
                  <a:t>E</a:t>
                </a:r>
                <a:r>
                  <a:rPr lang="en-US" altLang="zh-TW" sz="1800" kern="1200" baseline="-25000" dirty="0" err="1">
                    <a:solidFill>
                      <a:srgbClr val="000000"/>
                    </a:solidFill>
                    <a:effectLst/>
                    <a:latin typeface="Times New Roman" panose="02020603050405020304" pitchFamily="18" charset="0"/>
                    <a:ea typeface="標楷體" panose="03000509000000000000" pitchFamily="65" charset="-120"/>
                    <a:cs typeface="+mn-cs"/>
                  </a:rPr>
                  <a:t>z</a:t>
                </a:r>
                <a:r>
                  <a:rPr lang="en-US" altLang="zh-TW" sz="1800" kern="1200" dirty="0">
                    <a:solidFill>
                      <a:srgbClr val="000000"/>
                    </a:solidFill>
                    <a:effectLst/>
                    <a:latin typeface="Times New Roman" panose="02020603050405020304" pitchFamily="18" charset="0"/>
                    <a:ea typeface="標楷體" panose="03000509000000000000" pitchFamily="65" charset="-120"/>
                    <a:cs typeface="+mn-cs"/>
                  </a:rPr>
                  <a:t>]L/ </a:t>
                </a:r>
                <a14:m>
                  <m:oMath xmlns:m="http://schemas.openxmlformats.org/officeDocument/2006/math">
                    <m:r>
                      <m:rPr>
                        <m:nor/>
                      </m:rPr>
                      <a:rPr lang="el-GR" altLang="zh-TW" sz="1800" kern="1200">
                        <a:solidFill>
                          <a:srgbClr val="000000"/>
                        </a:solidFill>
                        <a:effectLst/>
                        <a:latin typeface="Times New Roman" panose="02020603050405020304" pitchFamily="18" charset="0"/>
                        <a:ea typeface="標楷體" panose="03000509000000000000" pitchFamily="65" charset="-120"/>
                        <a:cs typeface="+mn-cs"/>
                      </a:rPr>
                      <m:t>λ</m:t>
                    </m:r>
                  </m:oMath>
                </a14:m>
                <a:endParaRPr lang="zh-TW" altLang="en-US" dirty="0"/>
              </a:p>
            </p:txBody>
          </p:sp>
        </mc:Choice>
        <mc:Fallback xmlns="">
          <p:sp>
            <p:nvSpPr>
              <p:cNvPr id="11" name="文字方塊 10">
                <a:extLst>
                  <a:ext uri="{FF2B5EF4-FFF2-40B4-BE49-F238E27FC236}">
                    <a16:creationId xmlns:a16="http://schemas.microsoft.com/office/drawing/2014/main" id="{BCB23A26-09FC-D5C4-6882-C5D325BF0F2D}"/>
                  </a:ext>
                </a:extLst>
              </p:cNvPr>
              <p:cNvSpPr txBox="1">
                <a:spLocks noRot="1" noChangeAspect="1" noMove="1" noResize="1" noEditPoints="1" noAdjustHandles="1" noChangeArrowheads="1" noChangeShapeType="1" noTextEdit="1"/>
              </p:cNvSpPr>
              <p:nvPr/>
            </p:nvSpPr>
            <p:spPr>
              <a:xfrm>
                <a:off x="1036802" y="3875750"/>
                <a:ext cx="4938347" cy="483466"/>
              </a:xfrm>
              <a:prstGeom prst="rect">
                <a:avLst/>
              </a:prstGeom>
              <a:blipFill>
                <a:blip r:embed="rId6"/>
                <a:stretch>
                  <a:fillRect l="-247" b="-7595"/>
                </a:stretch>
              </a:blipFill>
            </p:spPr>
            <p:txBody>
              <a:bodyPr/>
              <a:lstStyle/>
              <a:p>
                <a:r>
                  <a:rPr lang="zh-TW" altLang="en-US">
                    <a:noFill/>
                  </a:rPr>
                  <a:t> </a:t>
                </a:r>
              </a:p>
            </p:txBody>
          </p:sp>
        </mc:Fallback>
      </mc:AlternateContent>
      <p:cxnSp>
        <p:nvCxnSpPr>
          <p:cNvPr id="14" name="直線接點 13">
            <a:extLst>
              <a:ext uri="{FF2B5EF4-FFF2-40B4-BE49-F238E27FC236}">
                <a16:creationId xmlns:a16="http://schemas.microsoft.com/office/drawing/2014/main" id="{68A37C90-E201-9D7B-2960-48AB642EAD62}"/>
              </a:ext>
            </a:extLst>
          </p:cNvPr>
          <p:cNvCxnSpPr>
            <a:cxnSpLocks/>
          </p:cNvCxnSpPr>
          <p:nvPr/>
        </p:nvCxnSpPr>
        <p:spPr>
          <a:xfrm flipV="1">
            <a:off x="7022123" y="864264"/>
            <a:ext cx="328246" cy="42527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6" name="箭號: 向右 15">
            <a:extLst>
              <a:ext uri="{FF2B5EF4-FFF2-40B4-BE49-F238E27FC236}">
                <a16:creationId xmlns:a16="http://schemas.microsoft.com/office/drawing/2014/main" id="{D1BF9F83-330A-9EC3-DBE4-45BA03B03162}"/>
              </a:ext>
            </a:extLst>
          </p:cNvPr>
          <p:cNvSpPr/>
          <p:nvPr/>
        </p:nvSpPr>
        <p:spPr>
          <a:xfrm>
            <a:off x="179829" y="4593677"/>
            <a:ext cx="709926" cy="597877"/>
          </a:xfrm>
          <a:prstGeom prst="right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85EC83EF-19C0-1390-7191-89C7A7B7F3B0}"/>
                  </a:ext>
                </a:extLst>
              </p:cNvPr>
              <p:cNvSpPr txBox="1"/>
              <p:nvPr/>
            </p:nvSpPr>
            <p:spPr>
              <a:xfrm>
                <a:off x="1036802" y="4644447"/>
                <a:ext cx="2218593" cy="369332"/>
              </a:xfrm>
              <a:prstGeom prst="rect">
                <a:avLst/>
              </a:prstGeom>
              <a:noFill/>
            </p:spPr>
            <p:txBody>
              <a:bodyPr wrap="square">
                <a:spAutoFit/>
              </a:bodyPr>
              <a:lstStyle/>
              <a:p>
                <a14:m>
                  <m:oMath xmlns:m="http://schemas.openxmlformats.org/officeDocument/2006/math">
                    <m:r>
                      <a:rPr lang="zh-TW" altLang="en-US" dirty="0" smtClean="0">
                        <a:solidFill>
                          <a:srgbClr val="000000"/>
                        </a:solidFill>
                        <a:latin typeface="Cambria Math" panose="02040503050406030204" pitchFamily="18" charset="0"/>
                        <a:ea typeface="標楷體" panose="03000509000000000000" pitchFamily="65" charset="-120"/>
                      </a:rPr>
                      <m:t>𝜙</m:t>
                    </m:r>
                    <m:r>
                      <a:rPr lang="en-US" altLang="zh-TW" dirty="0">
                        <a:solidFill>
                          <a:srgbClr val="000000"/>
                        </a:solidFill>
                        <a:latin typeface="Cambria Math" panose="02040503050406030204" pitchFamily="18" charset="0"/>
                        <a:ea typeface="標楷體" panose="03000509000000000000" pitchFamily="65" charset="-120"/>
                      </a:rPr>
                      <m:t>=  </m:t>
                    </m:r>
                  </m:oMath>
                </a14:m>
                <a:r>
                  <a:rPr lang="en-US" altLang="zh-TW" sz="1800" kern="1200" dirty="0">
                    <a:solidFill>
                      <a:srgbClr val="000000"/>
                    </a:solidFill>
                    <a:effectLst/>
                    <a:latin typeface="Times New Roman" panose="02020603050405020304" pitchFamily="18" charset="0"/>
                    <a:ea typeface="標楷體" panose="03000509000000000000" pitchFamily="65" charset="-120"/>
                    <a:cs typeface="+mn-cs"/>
                  </a:rPr>
                  <a:t>2</a:t>
                </a:r>
                <a14:m>
                  <m:oMath xmlns:m="http://schemas.openxmlformats.org/officeDocument/2006/math">
                    <m:r>
                      <m:rPr>
                        <m:sty m:val="p"/>
                      </m:rPr>
                      <a:rPr lang="en-US" altLang="zh-TW" sz="1800" kern="1200">
                        <a:solidFill>
                          <a:srgbClr val="000000"/>
                        </a:solidFill>
                        <a:effectLst/>
                        <a:latin typeface="Cambria Math" panose="02040503050406030204" pitchFamily="18" charset="0"/>
                        <a:ea typeface="標楷體" panose="03000509000000000000" pitchFamily="65" charset="-120"/>
                        <a:cs typeface="+mn-cs"/>
                      </a:rPr>
                      <m:t>π</m:t>
                    </m:r>
                    <m:r>
                      <a:rPr lang="en-US" altLang="zh-TW" i="1">
                        <a:latin typeface="Cambria Math" panose="02040503050406030204" pitchFamily="18" charset="0"/>
                      </a:rPr>
                      <m:t>∆</m:t>
                    </m:r>
                    <m:r>
                      <a:rPr lang="en-US" altLang="zh-TW" i="1">
                        <a:latin typeface="Cambria Math" panose="02040503050406030204" pitchFamily="18" charset="0"/>
                      </a:rPr>
                      <m:t>𝑛</m:t>
                    </m:r>
                  </m:oMath>
                </a14:m>
                <a:r>
                  <a:rPr lang="en-US" altLang="zh-TW" sz="1800" kern="1200" dirty="0" err="1">
                    <a:solidFill>
                      <a:srgbClr val="000000"/>
                    </a:solidFill>
                    <a:effectLst/>
                    <a:latin typeface="Times New Roman" panose="02020603050405020304" pitchFamily="18" charset="0"/>
                    <a:ea typeface="標楷體" panose="03000509000000000000" pitchFamily="65" charset="-120"/>
                    <a:cs typeface="+mn-cs"/>
                  </a:rPr>
                  <a:t>L</a:t>
                </a:r>
                <a:r>
                  <a:rPr lang="en-US" altLang="zh-TW" sz="1800" kern="1200" dirty="0">
                    <a:solidFill>
                      <a:srgbClr val="000000"/>
                    </a:solidFill>
                    <a:effectLst/>
                    <a:latin typeface="Times New Roman" panose="02020603050405020304" pitchFamily="18" charset="0"/>
                    <a:ea typeface="標楷體" panose="03000509000000000000" pitchFamily="65" charset="-120"/>
                    <a:cs typeface="+mn-cs"/>
                  </a:rPr>
                  <a:t>/ </a:t>
                </a:r>
                <a14:m>
                  <m:oMath xmlns:m="http://schemas.openxmlformats.org/officeDocument/2006/math">
                    <m:r>
                      <m:rPr>
                        <m:nor/>
                      </m:rPr>
                      <a:rPr lang="el-GR" altLang="zh-TW" sz="1800" kern="1200" smtClean="0">
                        <a:solidFill>
                          <a:srgbClr val="000000"/>
                        </a:solidFill>
                        <a:effectLst/>
                        <a:latin typeface="Times New Roman" panose="02020603050405020304" pitchFamily="18" charset="0"/>
                        <a:ea typeface="標楷體" panose="03000509000000000000" pitchFamily="65" charset="-120"/>
                        <a:cs typeface="+mn-cs"/>
                      </a:rPr>
                      <m:t>λ</m:t>
                    </m:r>
                  </m:oMath>
                </a14:m>
                <a:endParaRPr lang="zh-TW" altLang="en-US" dirty="0"/>
              </a:p>
            </p:txBody>
          </p:sp>
        </mc:Choice>
        <mc:Fallback xmlns="">
          <p:sp>
            <p:nvSpPr>
              <p:cNvPr id="17" name="文字方塊 16">
                <a:extLst>
                  <a:ext uri="{FF2B5EF4-FFF2-40B4-BE49-F238E27FC236}">
                    <a16:creationId xmlns:a16="http://schemas.microsoft.com/office/drawing/2014/main" id="{85EC83EF-19C0-1390-7191-89C7A7B7F3B0}"/>
                  </a:ext>
                </a:extLst>
              </p:cNvPr>
              <p:cNvSpPr txBox="1">
                <a:spLocks noRot="1" noChangeAspect="1" noMove="1" noResize="1" noEditPoints="1" noAdjustHandles="1" noChangeArrowheads="1" noChangeShapeType="1" noTextEdit="1"/>
              </p:cNvSpPr>
              <p:nvPr/>
            </p:nvSpPr>
            <p:spPr>
              <a:xfrm>
                <a:off x="1036802" y="4644447"/>
                <a:ext cx="2218593" cy="369332"/>
              </a:xfrm>
              <a:prstGeom prst="rect">
                <a:avLst/>
              </a:prstGeom>
              <a:blipFill>
                <a:blip r:embed="rId7"/>
                <a:stretch>
                  <a:fillRect l="-549" t="-11667" b="-25000"/>
                </a:stretch>
              </a:blipFill>
            </p:spPr>
            <p:txBody>
              <a:bodyPr/>
              <a:lstStyle/>
              <a:p>
                <a:r>
                  <a:rPr lang="zh-TW" altLang="en-US">
                    <a:noFill/>
                  </a:rPr>
                  <a:t> </a:t>
                </a:r>
              </a:p>
            </p:txBody>
          </p:sp>
        </mc:Fallback>
      </mc:AlternateContent>
      <p:pic>
        <p:nvPicPr>
          <p:cNvPr id="18" name="圖片 17">
            <a:extLst>
              <a:ext uri="{FF2B5EF4-FFF2-40B4-BE49-F238E27FC236}">
                <a16:creationId xmlns:a16="http://schemas.microsoft.com/office/drawing/2014/main" id="{BEB5D4AE-F9DE-5DC8-C911-CCF0C3B2CE26}"/>
              </a:ext>
            </a:extLst>
          </p:cNvPr>
          <p:cNvPicPr>
            <a:picLocks noChangeAspect="1"/>
          </p:cNvPicPr>
          <p:nvPr/>
        </p:nvPicPr>
        <p:blipFill>
          <a:blip r:embed="rId8"/>
          <a:stretch>
            <a:fillRect/>
          </a:stretch>
        </p:blipFill>
        <p:spPr>
          <a:xfrm>
            <a:off x="7037414" y="2549967"/>
            <a:ext cx="4938347" cy="3703760"/>
          </a:xfrm>
          <a:prstGeom prst="rect">
            <a:avLst/>
          </a:prstGeom>
          <a:ln>
            <a:solidFill>
              <a:srgbClr val="7030A0"/>
            </a:solidFill>
          </a:ln>
        </p:spPr>
      </p:pic>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92902AB1-E077-80F8-A80F-4998794171C1}"/>
                  </a:ext>
                </a:extLst>
              </p:cNvPr>
              <p:cNvSpPr txBox="1"/>
              <p:nvPr/>
            </p:nvSpPr>
            <p:spPr>
              <a:xfrm>
                <a:off x="8976792" y="2096535"/>
                <a:ext cx="2846548" cy="369332"/>
              </a:xfrm>
              <a:prstGeom prst="rect">
                <a:avLst/>
              </a:prstGeom>
              <a:noFill/>
              <a:ln>
                <a:solidFill>
                  <a:srgbClr val="7030A0"/>
                </a:solidFill>
              </a:ln>
            </p:spPr>
            <p:txBody>
              <a:bodyPr wrap="none" rtlCol="0">
                <a:spAutoFit/>
              </a:bodyPr>
              <a:lstStyle/>
              <a:p>
                <a14:m>
                  <m:oMath xmlns:m="http://schemas.openxmlformats.org/officeDocument/2006/math">
                    <m:sSub>
                      <m:sSubPr>
                        <m:ctrlPr>
                          <a:rPr lang="en-US" altLang="zh-TW" i="1" smtClean="0">
                            <a:latin typeface="Cambria Math" panose="02040503050406030204" pitchFamily="18" charset="0"/>
                          </a:rPr>
                        </m:ctrlPr>
                      </m:sSubPr>
                      <m:e>
                        <m:r>
                          <m:rPr>
                            <m:sty m:val="p"/>
                          </m:rPr>
                          <a:rPr lang="en-US" altLang="zh-TW" i="1">
                            <a:latin typeface="Cambria Math" panose="02040503050406030204" pitchFamily="18" charset="0"/>
                          </a:rPr>
                          <m:t>V</m:t>
                        </m:r>
                      </m:e>
                      <m:sub>
                        <m:r>
                          <a:rPr lang="zh-TW" altLang="en-US" i="1" smtClean="0">
                            <a:latin typeface="Cambria Math" panose="02040503050406030204" pitchFamily="18" charset="0"/>
                          </a:rPr>
                          <m:t>𝜋</m:t>
                        </m:r>
                      </m:sub>
                    </m:sSub>
                  </m:oMath>
                </a14:m>
                <a:r>
                  <a:rPr lang="zh-TW" altLang="en-US" dirty="0"/>
                  <a:t> </a:t>
                </a:r>
                <a:r>
                  <a:rPr lang="en-US" altLang="zh-TW" dirty="0"/>
                  <a:t>= 18.2V</a:t>
                </a:r>
                <a:r>
                  <a:rPr lang="zh-TW" altLang="en-US" dirty="0"/>
                  <a:t> </a:t>
                </a:r>
                <a:r>
                  <a:rPr lang="en-US" altLang="zh-TW" dirty="0"/>
                  <a:t>(</a:t>
                </a:r>
                <a:r>
                  <a:rPr lang="zh-TW" altLang="en-US" dirty="0"/>
                  <a:t>電極間距</a:t>
                </a:r>
                <a:r>
                  <a:rPr lang="en-US" altLang="zh-TW" dirty="0"/>
                  <a:t>14um)</a:t>
                </a:r>
                <a:endParaRPr lang="zh-TW" altLang="en-US" dirty="0"/>
              </a:p>
            </p:txBody>
          </p:sp>
        </mc:Choice>
        <mc:Fallback xmlns="">
          <p:sp>
            <p:nvSpPr>
              <p:cNvPr id="19" name="文字方塊 18">
                <a:extLst>
                  <a:ext uri="{FF2B5EF4-FFF2-40B4-BE49-F238E27FC236}">
                    <a16:creationId xmlns:a16="http://schemas.microsoft.com/office/drawing/2014/main" id="{92902AB1-E077-80F8-A80F-4998794171C1}"/>
                  </a:ext>
                </a:extLst>
              </p:cNvPr>
              <p:cNvSpPr txBox="1">
                <a:spLocks noRot="1" noChangeAspect="1" noMove="1" noResize="1" noEditPoints="1" noAdjustHandles="1" noChangeArrowheads="1" noChangeShapeType="1" noTextEdit="1"/>
              </p:cNvSpPr>
              <p:nvPr/>
            </p:nvSpPr>
            <p:spPr>
              <a:xfrm>
                <a:off x="8976792" y="2096535"/>
                <a:ext cx="2846548" cy="369332"/>
              </a:xfrm>
              <a:prstGeom prst="rect">
                <a:avLst/>
              </a:prstGeom>
              <a:blipFill>
                <a:blip r:embed="rId9"/>
                <a:stretch>
                  <a:fillRect t="-7937" r="-1066" b="-22222"/>
                </a:stretch>
              </a:blipFill>
              <a:ln>
                <a:solidFill>
                  <a:srgbClr val="7030A0"/>
                </a:solidFill>
              </a:ln>
            </p:spPr>
            <p:txBody>
              <a:bodyPr/>
              <a:lstStyle/>
              <a:p>
                <a:r>
                  <a:rPr lang="zh-TW" altLang="en-US">
                    <a:noFill/>
                  </a:rPr>
                  <a:t> </a:t>
                </a:r>
              </a:p>
            </p:txBody>
          </p:sp>
        </mc:Fallback>
      </mc:AlternateContent>
      <p:pic>
        <p:nvPicPr>
          <p:cNvPr id="34" name="圖片 33">
            <a:extLst>
              <a:ext uri="{FF2B5EF4-FFF2-40B4-BE49-F238E27FC236}">
                <a16:creationId xmlns:a16="http://schemas.microsoft.com/office/drawing/2014/main" id="{AEA85AFC-394B-8033-E3D4-B62988FF0550}"/>
              </a:ext>
            </a:extLst>
          </p:cNvPr>
          <p:cNvPicPr>
            <a:picLocks noChangeAspect="1"/>
          </p:cNvPicPr>
          <p:nvPr/>
        </p:nvPicPr>
        <p:blipFill>
          <a:blip r:embed="rId10"/>
          <a:stretch>
            <a:fillRect/>
          </a:stretch>
        </p:blipFill>
        <p:spPr>
          <a:xfrm>
            <a:off x="9926126" y="1"/>
            <a:ext cx="280514" cy="781178"/>
          </a:xfrm>
          <a:prstGeom prst="rect">
            <a:avLst/>
          </a:prstGeom>
        </p:spPr>
      </p:pic>
      <p:cxnSp>
        <p:nvCxnSpPr>
          <p:cNvPr id="7" name="直線單箭頭接點 6">
            <a:extLst>
              <a:ext uri="{FF2B5EF4-FFF2-40B4-BE49-F238E27FC236}">
                <a16:creationId xmlns:a16="http://schemas.microsoft.com/office/drawing/2014/main" id="{F2ECB59D-522A-48C3-C847-66216F813788}"/>
              </a:ext>
            </a:extLst>
          </p:cNvPr>
          <p:cNvCxnSpPr>
            <a:cxnSpLocks/>
          </p:cNvCxnSpPr>
          <p:nvPr/>
        </p:nvCxnSpPr>
        <p:spPr>
          <a:xfrm>
            <a:off x="2756597" y="4816971"/>
            <a:ext cx="4190807"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CF131A8C-880F-9172-3CD9-B90593554A68}"/>
                  </a:ext>
                </a:extLst>
              </p:cNvPr>
              <p:cNvSpPr txBox="1"/>
              <p:nvPr/>
            </p:nvSpPr>
            <p:spPr>
              <a:xfrm>
                <a:off x="8633555" y="5945950"/>
                <a:ext cx="46810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TW" altLang="en-US" sz="1400" dirty="0" smtClean="0">
                          <a:solidFill>
                            <a:srgbClr val="000000"/>
                          </a:solidFill>
                          <a:latin typeface="Cambria Math" panose="02040503050406030204" pitchFamily="18" charset="0"/>
                          <a:ea typeface="標楷體" panose="03000509000000000000" pitchFamily="65" charset="-120"/>
                        </a:rPr>
                        <m:t>𝜙</m:t>
                      </m:r>
                    </m:oMath>
                  </m:oMathPara>
                </a14:m>
                <a:endParaRPr lang="zh-TW" altLang="en-US" sz="1400" dirty="0"/>
              </a:p>
            </p:txBody>
          </p:sp>
        </mc:Choice>
        <mc:Fallback xmlns="">
          <p:sp>
            <p:nvSpPr>
              <p:cNvPr id="13" name="文字方塊 12">
                <a:extLst>
                  <a:ext uri="{FF2B5EF4-FFF2-40B4-BE49-F238E27FC236}">
                    <a16:creationId xmlns:a16="http://schemas.microsoft.com/office/drawing/2014/main" id="{CF131A8C-880F-9172-3CD9-B90593554A68}"/>
                  </a:ext>
                </a:extLst>
              </p:cNvPr>
              <p:cNvSpPr txBox="1">
                <a:spLocks noRot="1" noChangeAspect="1" noMove="1" noResize="1" noEditPoints="1" noAdjustHandles="1" noChangeArrowheads="1" noChangeShapeType="1" noTextEdit="1"/>
              </p:cNvSpPr>
              <p:nvPr/>
            </p:nvSpPr>
            <p:spPr>
              <a:xfrm>
                <a:off x="8633555" y="5945950"/>
                <a:ext cx="468107" cy="307777"/>
              </a:xfrm>
              <a:prstGeom prst="rect">
                <a:avLst/>
              </a:prstGeom>
              <a:blipFill>
                <a:blip r:embed="rId11"/>
                <a:stretch>
                  <a:fillRect b="-588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542E1E04-C805-7D95-127D-0394A0B45ACC}"/>
                  </a:ext>
                </a:extLst>
              </p:cNvPr>
              <p:cNvSpPr txBox="1"/>
              <p:nvPr/>
            </p:nvSpPr>
            <p:spPr>
              <a:xfrm>
                <a:off x="7118584" y="4590881"/>
                <a:ext cx="46810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400" i="1" dirty="0">
                          <a:solidFill>
                            <a:srgbClr val="000000"/>
                          </a:solidFill>
                          <a:latin typeface="Cambria Math" panose="02040503050406030204" pitchFamily="18" charset="0"/>
                          <a:ea typeface="標楷體" panose="03000509000000000000" pitchFamily="65" charset="-120"/>
                        </a:rPr>
                        <m:t>Ez</m:t>
                      </m:r>
                    </m:oMath>
                  </m:oMathPara>
                </a14:m>
                <a:endParaRPr lang="zh-TW" altLang="en-US" sz="1400" dirty="0"/>
              </a:p>
            </p:txBody>
          </p:sp>
        </mc:Choice>
        <mc:Fallback xmlns="">
          <p:sp>
            <p:nvSpPr>
              <p:cNvPr id="15" name="文字方塊 14">
                <a:extLst>
                  <a:ext uri="{FF2B5EF4-FFF2-40B4-BE49-F238E27FC236}">
                    <a16:creationId xmlns:a16="http://schemas.microsoft.com/office/drawing/2014/main" id="{542E1E04-C805-7D95-127D-0394A0B45ACC}"/>
                  </a:ext>
                </a:extLst>
              </p:cNvPr>
              <p:cNvSpPr txBox="1">
                <a:spLocks noRot="1" noChangeAspect="1" noMove="1" noResize="1" noEditPoints="1" noAdjustHandles="1" noChangeArrowheads="1" noChangeShapeType="1" noTextEdit="1"/>
              </p:cNvSpPr>
              <p:nvPr/>
            </p:nvSpPr>
            <p:spPr>
              <a:xfrm>
                <a:off x="7118584" y="4590881"/>
                <a:ext cx="468107" cy="307777"/>
              </a:xfrm>
              <a:prstGeom prst="rect">
                <a:avLst/>
              </a:prstGeom>
              <a:blipFill>
                <a:blip r:embed="rId1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B442CE21-BDD5-A141-D36C-D24B402AC726}"/>
                  </a:ext>
                </a:extLst>
              </p:cNvPr>
              <p:cNvSpPr txBox="1"/>
              <p:nvPr/>
            </p:nvSpPr>
            <p:spPr>
              <a:xfrm>
                <a:off x="9789303" y="5480109"/>
                <a:ext cx="447634"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TW" altLang="en-US" sz="2400" i="1" smtClean="0">
                          <a:latin typeface="Cambria Math" panose="02040503050406030204" pitchFamily="18" charset="0"/>
                        </a:rPr>
                        <m:t>𝜋</m:t>
                      </m:r>
                    </m:oMath>
                  </m:oMathPara>
                </a14:m>
                <a:endParaRPr lang="zh-TW" altLang="en-US" sz="2400" dirty="0"/>
              </a:p>
            </p:txBody>
          </p:sp>
        </mc:Choice>
        <mc:Fallback xmlns="">
          <p:sp>
            <p:nvSpPr>
              <p:cNvPr id="20" name="文字方塊 19">
                <a:extLst>
                  <a:ext uri="{FF2B5EF4-FFF2-40B4-BE49-F238E27FC236}">
                    <a16:creationId xmlns:a16="http://schemas.microsoft.com/office/drawing/2014/main" id="{B442CE21-BDD5-A141-D36C-D24B402AC726}"/>
                  </a:ext>
                </a:extLst>
              </p:cNvPr>
              <p:cNvSpPr txBox="1">
                <a:spLocks noRot="1" noChangeAspect="1" noMove="1" noResize="1" noEditPoints="1" noAdjustHandles="1" noChangeArrowheads="1" noChangeShapeType="1" noTextEdit="1"/>
              </p:cNvSpPr>
              <p:nvPr/>
            </p:nvSpPr>
            <p:spPr>
              <a:xfrm>
                <a:off x="9789303" y="5480109"/>
                <a:ext cx="447634" cy="461665"/>
              </a:xfrm>
              <a:prstGeom prst="rect">
                <a:avLst/>
              </a:prstGeom>
              <a:blipFill>
                <a:blip r:embed="rId1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47283BBF-27A1-E51D-A108-F01984F8F86A}"/>
                  </a:ext>
                </a:extLst>
              </p:cNvPr>
              <p:cNvSpPr txBox="1"/>
              <p:nvPr/>
            </p:nvSpPr>
            <p:spPr>
              <a:xfrm>
                <a:off x="8240886" y="5468076"/>
                <a:ext cx="447634"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400" i="1">
                          <a:latin typeface="Cambria Math" panose="02040503050406030204" pitchFamily="18" charset="0"/>
                        </a:rPr>
                        <m:t>2</m:t>
                      </m:r>
                      <m:r>
                        <a:rPr lang="zh-TW" altLang="en-US" sz="2400" i="1" smtClean="0">
                          <a:latin typeface="Cambria Math" panose="02040503050406030204" pitchFamily="18" charset="0"/>
                        </a:rPr>
                        <m:t>𝜋</m:t>
                      </m:r>
                    </m:oMath>
                  </m:oMathPara>
                </a14:m>
                <a:endParaRPr lang="zh-TW" altLang="en-US" sz="2400" dirty="0"/>
              </a:p>
            </p:txBody>
          </p:sp>
        </mc:Choice>
        <mc:Fallback xmlns="">
          <p:sp>
            <p:nvSpPr>
              <p:cNvPr id="21" name="文字方塊 20">
                <a:extLst>
                  <a:ext uri="{FF2B5EF4-FFF2-40B4-BE49-F238E27FC236}">
                    <a16:creationId xmlns:a16="http://schemas.microsoft.com/office/drawing/2014/main" id="{47283BBF-27A1-E51D-A108-F01984F8F86A}"/>
                  </a:ext>
                </a:extLst>
              </p:cNvPr>
              <p:cNvSpPr txBox="1">
                <a:spLocks noRot="1" noChangeAspect="1" noMove="1" noResize="1" noEditPoints="1" noAdjustHandles="1" noChangeArrowheads="1" noChangeShapeType="1" noTextEdit="1"/>
              </p:cNvSpPr>
              <p:nvPr/>
            </p:nvSpPr>
            <p:spPr>
              <a:xfrm>
                <a:off x="8240886" y="5468076"/>
                <a:ext cx="447634" cy="461665"/>
              </a:xfrm>
              <a:prstGeom prst="rect">
                <a:avLst/>
              </a:prstGeom>
              <a:blipFill>
                <a:blip r:embed="rId14"/>
                <a:stretch>
                  <a:fillRect l="-4110" r="-1643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432780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Electrode design</a:t>
            </a:r>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sp>
        <p:nvSpPr>
          <p:cNvPr id="8" name="文字方塊 7">
            <a:extLst>
              <a:ext uri="{FF2B5EF4-FFF2-40B4-BE49-F238E27FC236}">
                <a16:creationId xmlns:a16="http://schemas.microsoft.com/office/drawing/2014/main" id="{381669AE-C4D1-CEC3-4213-9E02D57FEE36}"/>
              </a:ext>
            </a:extLst>
          </p:cNvPr>
          <p:cNvSpPr txBox="1"/>
          <p:nvPr/>
        </p:nvSpPr>
        <p:spPr>
          <a:xfrm>
            <a:off x="3933270" y="860101"/>
            <a:ext cx="4784010" cy="523220"/>
          </a:xfrm>
          <a:prstGeom prst="rect">
            <a:avLst/>
          </a:prstGeom>
          <a:noFill/>
        </p:spPr>
        <p:txBody>
          <a:bodyPr wrap="square">
            <a:spAutoFit/>
          </a:bodyPr>
          <a:lstStyle/>
          <a:p>
            <a:r>
              <a:rPr lang="en-US" altLang="zh-TW" sz="2800" b="1" dirty="0">
                <a:effectLst>
                  <a:outerShdw blurRad="38100" dist="38100" dir="2700000" algn="tl">
                    <a:srgbClr val="000000">
                      <a:alpha val="43137"/>
                    </a:srgbClr>
                  </a:outerShdw>
                </a:effectLst>
              </a:rPr>
              <a:t>EOPMC&amp;EO electrode design</a:t>
            </a:r>
            <a:endParaRPr lang="zh-TW" altLang="en-US" sz="2800" b="1" dirty="0">
              <a:effectLst>
                <a:outerShdw blurRad="38100" dist="38100" dir="2700000" algn="tl">
                  <a:srgbClr val="000000">
                    <a:alpha val="43137"/>
                  </a:srgbClr>
                </a:outerShdw>
              </a:effectLst>
            </a:endParaRPr>
          </a:p>
        </p:txBody>
      </p:sp>
      <p:pic>
        <p:nvPicPr>
          <p:cNvPr id="34" name="圖片 33">
            <a:extLst>
              <a:ext uri="{FF2B5EF4-FFF2-40B4-BE49-F238E27FC236}">
                <a16:creationId xmlns:a16="http://schemas.microsoft.com/office/drawing/2014/main" id="{AEA85AFC-394B-8033-E3D4-B62988FF0550}"/>
              </a:ext>
            </a:extLst>
          </p:cNvPr>
          <p:cNvPicPr>
            <a:picLocks noChangeAspect="1"/>
          </p:cNvPicPr>
          <p:nvPr/>
        </p:nvPicPr>
        <p:blipFill>
          <a:blip r:embed="rId4"/>
          <a:stretch>
            <a:fillRect/>
          </a:stretch>
        </p:blipFill>
        <p:spPr>
          <a:xfrm>
            <a:off x="9926126" y="1"/>
            <a:ext cx="280514" cy="781178"/>
          </a:xfrm>
          <a:prstGeom prst="rect">
            <a:avLst/>
          </a:prstGeom>
        </p:spPr>
      </p:pic>
      <p:pic>
        <p:nvPicPr>
          <p:cNvPr id="3" name="圖片 2">
            <a:extLst>
              <a:ext uri="{FF2B5EF4-FFF2-40B4-BE49-F238E27FC236}">
                <a16:creationId xmlns:a16="http://schemas.microsoft.com/office/drawing/2014/main" id="{ABC6C599-B386-6D59-3D1A-7D61DD056D76}"/>
              </a:ext>
            </a:extLst>
          </p:cNvPr>
          <p:cNvPicPr>
            <a:picLocks noChangeAspect="1"/>
          </p:cNvPicPr>
          <p:nvPr/>
        </p:nvPicPr>
        <p:blipFill>
          <a:blip r:embed="rId4"/>
          <a:stretch>
            <a:fillRect/>
          </a:stretch>
        </p:blipFill>
        <p:spPr>
          <a:xfrm>
            <a:off x="7198794" y="3110902"/>
            <a:ext cx="909350" cy="2532367"/>
          </a:xfrm>
          <a:prstGeom prst="rect">
            <a:avLst/>
          </a:prstGeom>
        </p:spPr>
      </p:pic>
      <p:sp>
        <p:nvSpPr>
          <p:cNvPr id="12" name="文字方塊 11">
            <a:extLst>
              <a:ext uri="{FF2B5EF4-FFF2-40B4-BE49-F238E27FC236}">
                <a16:creationId xmlns:a16="http://schemas.microsoft.com/office/drawing/2014/main" id="{BAE035BB-D3DF-C0E1-FE20-85C8D0854857}"/>
              </a:ext>
            </a:extLst>
          </p:cNvPr>
          <p:cNvSpPr txBox="1"/>
          <p:nvPr/>
        </p:nvSpPr>
        <p:spPr>
          <a:xfrm>
            <a:off x="9426064" y="2455207"/>
            <a:ext cx="1561151" cy="384015"/>
          </a:xfrm>
          <a:prstGeom prst="rect">
            <a:avLst/>
          </a:prstGeom>
          <a:noFill/>
          <a:ln>
            <a:solidFill>
              <a:srgbClr val="7030A0"/>
            </a:solidFill>
          </a:ln>
        </p:spPr>
        <p:txBody>
          <a:bodyPr wrap="square">
            <a:spAutoFit/>
          </a:bodyPr>
          <a:lstStyle/>
          <a:p>
            <a:r>
              <a:rPr lang="en-US" altLang="zh-TW" dirty="0"/>
              <a:t>Sectional view</a:t>
            </a:r>
            <a:endParaRPr lang="zh-TW" altLang="en-US" dirty="0"/>
          </a:p>
        </p:txBody>
      </p:sp>
      <p:sp>
        <p:nvSpPr>
          <p:cNvPr id="22" name="文字方塊 21">
            <a:extLst>
              <a:ext uri="{FF2B5EF4-FFF2-40B4-BE49-F238E27FC236}">
                <a16:creationId xmlns:a16="http://schemas.microsoft.com/office/drawing/2014/main" id="{1345D5E4-ECDB-9C8F-B66F-3AB120F7CFBB}"/>
              </a:ext>
            </a:extLst>
          </p:cNvPr>
          <p:cNvSpPr txBox="1"/>
          <p:nvPr/>
        </p:nvSpPr>
        <p:spPr>
          <a:xfrm>
            <a:off x="6872893" y="2425059"/>
            <a:ext cx="1561151" cy="384015"/>
          </a:xfrm>
          <a:prstGeom prst="rect">
            <a:avLst/>
          </a:prstGeom>
          <a:noFill/>
          <a:ln>
            <a:solidFill>
              <a:srgbClr val="7030A0"/>
            </a:solidFill>
          </a:ln>
        </p:spPr>
        <p:txBody>
          <a:bodyPr wrap="square">
            <a:spAutoFit/>
          </a:bodyPr>
          <a:lstStyle/>
          <a:p>
            <a:pPr algn="ctr"/>
            <a:r>
              <a:rPr lang="en-US" altLang="zh-TW" dirty="0"/>
              <a:t>side view</a:t>
            </a:r>
            <a:endParaRPr lang="zh-TW" altLang="en-US" dirty="0"/>
          </a:p>
        </p:txBody>
      </p:sp>
      <p:pic>
        <p:nvPicPr>
          <p:cNvPr id="23" name="圖片 22">
            <a:extLst>
              <a:ext uri="{FF2B5EF4-FFF2-40B4-BE49-F238E27FC236}">
                <a16:creationId xmlns:a16="http://schemas.microsoft.com/office/drawing/2014/main" id="{F2D7D4A0-44CA-4898-4917-B7BD4390DE0A}"/>
              </a:ext>
            </a:extLst>
          </p:cNvPr>
          <p:cNvPicPr>
            <a:picLocks noChangeAspect="1"/>
          </p:cNvPicPr>
          <p:nvPr/>
        </p:nvPicPr>
        <p:blipFill>
          <a:blip r:embed="rId5"/>
          <a:stretch>
            <a:fillRect/>
          </a:stretch>
        </p:blipFill>
        <p:spPr>
          <a:xfrm>
            <a:off x="513936" y="3429000"/>
            <a:ext cx="2005014" cy="2259171"/>
          </a:xfrm>
          <a:prstGeom prst="rect">
            <a:avLst/>
          </a:prstGeom>
        </p:spPr>
      </p:pic>
      <p:sp>
        <p:nvSpPr>
          <p:cNvPr id="24" name="文字方塊 23">
            <a:extLst>
              <a:ext uri="{FF2B5EF4-FFF2-40B4-BE49-F238E27FC236}">
                <a16:creationId xmlns:a16="http://schemas.microsoft.com/office/drawing/2014/main" id="{716AF6CD-EEA6-D0A5-73F3-5368256268A5}"/>
              </a:ext>
            </a:extLst>
          </p:cNvPr>
          <p:cNvSpPr txBox="1"/>
          <p:nvPr/>
        </p:nvSpPr>
        <p:spPr>
          <a:xfrm>
            <a:off x="3933270" y="2415598"/>
            <a:ext cx="1561151" cy="384015"/>
          </a:xfrm>
          <a:prstGeom prst="rect">
            <a:avLst/>
          </a:prstGeom>
          <a:noFill/>
          <a:ln>
            <a:solidFill>
              <a:srgbClr val="7030A0"/>
            </a:solidFill>
          </a:ln>
        </p:spPr>
        <p:txBody>
          <a:bodyPr wrap="square">
            <a:spAutoFit/>
          </a:bodyPr>
          <a:lstStyle/>
          <a:p>
            <a:r>
              <a:rPr lang="en-US" altLang="zh-TW" dirty="0"/>
              <a:t>Sectional view</a:t>
            </a:r>
            <a:endParaRPr lang="zh-TW" altLang="en-US" dirty="0"/>
          </a:p>
        </p:txBody>
      </p:sp>
      <p:sp>
        <p:nvSpPr>
          <p:cNvPr id="25" name="文字方塊 24">
            <a:extLst>
              <a:ext uri="{FF2B5EF4-FFF2-40B4-BE49-F238E27FC236}">
                <a16:creationId xmlns:a16="http://schemas.microsoft.com/office/drawing/2014/main" id="{2CD3B4C1-BE90-4BC8-206F-FB39A92E683C}"/>
              </a:ext>
            </a:extLst>
          </p:cNvPr>
          <p:cNvSpPr txBox="1"/>
          <p:nvPr/>
        </p:nvSpPr>
        <p:spPr>
          <a:xfrm>
            <a:off x="858877" y="2415599"/>
            <a:ext cx="1561151" cy="384015"/>
          </a:xfrm>
          <a:prstGeom prst="rect">
            <a:avLst/>
          </a:prstGeom>
          <a:noFill/>
          <a:ln>
            <a:solidFill>
              <a:srgbClr val="7030A0"/>
            </a:solidFill>
          </a:ln>
        </p:spPr>
        <p:txBody>
          <a:bodyPr wrap="square">
            <a:spAutoFit/>
          </a:bodyPr>
          <a:lstStyle/>
          <a:p>
            <a:pPr algn="ctr"/>
            <a:r>
              <a:rPr lang="en-US" altLang="zh-TW" dirty="0"/>
              <a:t>side view</a:t>
            </a:r>
            <a:endParaRPr lang="zh-TW" altLang="en-US" dirty="0"/>
          </a:p>
        </p:txBody>
      </p:sp>
      <p:pic>
        <p:nvPicPr>
          <p:cNvPr id="27" name="圖片 26">
            <a:extLst>
              <a:ext uri="{FF2B5EF4-FFF2-40B4-BE49-F238E27FC236}">
                <a16:creationId xmlns:a16="http://schemas.microsoft.com/office/drawing/2014/main" id="{999EC621-1B4A-E930-A61C-5219198D165D}"/>
              </a:ext>
            </a:extLst>
          </p:cNvPr>
          <p:cNvPicPr>
            <a:picLocks noChangeAspect="1"/>
          </p:cNvPicPr>
          <p:nvPr/>
        </p:nvPicPr>
        <p:blipFill>
          <a:blip r:embed="rId6"/>
          <a:stretch>
            <a:fillRect/>
          </a:stretch>
        </p:blipFill>
        <p:spPr>
          <a:xfrm>
            <a:off x="2420028" y="3442015"/>
            <a:ext cx="4080551" cy="2213889"/>
          </a:xfrm>
          <a:prstGeom prst="rect">
            <a:avLst/>
          </a:prstGeom>
        </p:spPr>
      </p:pic>
      <p:pic>
        <p:nvPicPr>
          <p:cNvPr id="28" name="圖片 27">
            <a:extLst>
              <a:ext uri="{FF2B5EF4-FFF2-40B4-BE49-F238E27FC236}">
                <a16:creationId xmlns:a16="http://schemas.microsoft.com/office/drawing/2014/main" id="{0270C58D-B145-42C9-8194-1CF9A779577B}"/>
              </a:ext>
            </a:extLst>
          </p:cNvPr>
          <p:cNvPicPr>
            <a:picLocks noChangeAspect="1"/>
          </p:cNvPicPr>
          <p:nvPr/>
        </p:nvPicPr>
        <p:blipFill>
          <a:blip r:embed="rId7"/>
          <a:stretch>
            <a:fillRect/>
          </a:stretch>
        </p:blipFill>
        <p:spPr>
          <a:xfrm>
            <a:off x="8216400" y="3490141"/>
            <a:ext cx="3958590" cy="2153128"/>
          </a:xfrm>
          <a:prstGeom prst="rect">
            <a:avLst/>
          </a:prstGeom>
        </p:spPr>
      </p:pic>
      <p:cxnSp>
        <p:nvCxnSpPr>
          <p:cNvPr id="30" name="直線單箭頭接點 29">
            <a:extLst>
              <a:ext uri="{FF2B5EF4-FFF2-40B4-BE49-F238E27FC236}">
                <a16:creationId xmlns:a16="http://schemas.microsoft.com/office/drawing/2014/main" id="{602163DF-3F8C-57CB-C5BC-F1CF61423894}"/>
              </a:ext>
            </a:extLst>
          </p:cNvPr>
          <p:cNvCxnSpPr/>
          <p:nvPr/>
        </p:nvCxnSpPr>
        <p:spPr>
          <a:xfrm>
            <a:off x="10515600" y="4407565"/>
            <a:ext cx="0" cy="1160115"/>
          </a:xfrm>
          <a:prstGeom prst="straightConnector1">
            <a:avLst/>
          </a:prstGeom>
          <a:ln w="28575">
            <a:solidFill>
              <a:srgbClr val="F810C1"/>
            </a:solidFill>
            <a:tailEnd type="triangle"/>
          </a:ln>
        </p:spPr>
        <p:style>
          <a:lnRef idx="1">
            <a:schemeClr val="accent1"/>
          </a:lnRef>
          <a:fillRef idx="0">
            <a:schemeClr val="accent1"/>
          </a:fillRef>
          <a:effectRef idx="0">
            <a:schemeClr val="accent1"/>
          </a:effectRef>
          <a:fontRef idx="minor">
            <a:schemeClr val="tx1"/>
          </a:fontRef>
        </p:style>
      </p:cxnSp>
      <p:sp>
        <p:nvSpPr>
          <p:cNvPr id="31" name="文字方塊 30">
            <a:extLst>
              <a:ext uri="{FF2B5EF4-FFF2-40B4-BE49-F238E27FC236}">
                <a16:creationId xmlns:a16="http://schemas.microsoft.com/office/drawing/2014/main" id="{3460E459-91F4-9C35-AE81-B9F7ADAB7403}"/>
              </a:ext>
            </a:extLst>
          </p:cNvPr>
          <p:cNvSpPr txBox="1"/>
          <p:nvPr/>
        </p:nvSpPr>
        <p:spPr>
          <a:xfrm>
            <a:off x="2006995" y="1656391"/>
            <a:ext cx="2495298" cy="369332"/>
          </a:xfrm>
          <a:prstGeom prst="rect">
            <a:avLst/>
          </a:prstGeom>
          <a:noFill/>
          <a:ln>
            <a:solidFill>
              <a:schemeClr val="tx1"/>
            </a:solidFill>
          </a:ln>
        </p:spPr>
        <p:txBody>
          <a:bodyPr wrap="none" rtlCol="0">
            <a:spAutoFit/>
          </a:bodyPr>
          <a:lstStyle/>
          <a:p>
            <a:r>
              <a:rPr lang="en-US" altLang="zh-TW" dirty="0"/>
              <a:t>EOPMC electrode design</a:t>
            </a:r>
            <a:endParaRPr lang="zh-TW" altLang="en-US" dirty="0"/>
          </a:p>
        </p:txBody>
      </p:sp>
      <p:sp>
        <p:nvSpPr>
          <p:cNvPr id="32" name="文字方塊 31">
            <a:extLst>
              <a:ext uri="{FF2B5EF4-FFF2-40B4-BE49-F238E27FC236}">
                <a16:creationId xmlns:a16="http://schemas.microsoft.com/office/drawing/2014/main" id="{CCA31D32-F616-E7A1-D5B7-7FAAEB688889}"/>
              </a:ext>
            </a:extLst>
          </p:cNvPr>
          <p:cNvSpPr txBox="1"/>
          <p:nvPr/>
        </p:nvSpPr>
        <p:spPr>
          <a:xfrm>
            <a:off x="7933109" y="1656391"/>
            <a:ext cx="2056076" cy="369332"/>
          </a:xfrm>
          <a:prstGeom prst="rect">
            <a:avLst/>
          </a:prstGeom>
          <a:noFill/>
          <a:ln>
            <a:solidFill>
              <a:schemeClr val="tx1"/>
            </a:solidFill>
          </a:ln>
        </p:spPr>
        <p:txBody>
          <a:bodyPr wrap="none" rtlCol="0">
            <a:spAutoFit/>
          </a:bodyPr>
          <a:lstStyle/>
          <a:p>
            <a:r>
              <a:rPr lang="en-US" altLang="zh-TW" dirty="0"/>
              <a:t>EO electrode design</a:t>
            </a:r>
            <a:endParaRPr lang="zh-TW" altLang="en-US" dirty="0"/>
          </a:p>
        </p:txBody>
      </p:sp>
      <p:cxnSp>
        <p:nvCxnSpPr>
          <p:cNvPr id="35" name="直線接點 34">
            <a:extLst>
              <a:ext uri="{FF2B5EF4-FFF2-40B4-BE49-F238E27FC236}">
                <a16:creationId xmlns:a16="http://schemas.microsoft.com/office/drawing/2014/main" id="{2F15BEAF-6FAF-8E2D-4061-BD66BAF203DA}"/>
              </a:ext>
            </a:extLst>
          </p:cNvPr>
          <p:cNvCxnSpPr>
            <a:cxnSpLocks/>
          </p:cNvCxnSpPr>
          <p:nvPr/>
        </p:nvCxnSpPr>
        <p:spPr>
          <a:xfrm>
            <a:off x="6659217" y="2166730"/>
            <a:ext cx="0" cy="4224131"/>
          </a:xfrm>
          <a:prstGeom prst="line">
            <a:avLst/>
          </a:prstGeom>
        </p:spPr>
        <p:style>
          <a:lnRef idx="1">
            <a:schemeClr val="accent1"/>
          </a:lnRef>
          <a:fillRef idx="0">
            <a:schemeClr val="accent1"/>
          </a:fillRef>
          <a:effectRef idx="0">
            <a:schemeClr val="accent1"/>
          </a:effectRef>
          <a:fontRef idx="minor">
            <a:schemeClr val="tx1"/>
          </a:fontRef>
        </p:style>
      </p:cxnSp>
      <p:sp>
        <p:nvSpPr>
          <p:cNvPr id="5" name="投影片編號版面配置區 4">
            <a:extLst>
              <a:ext uri="{FF2B5EF4-FFF2-40B4-BE49-F238E27FC236}">
                <a16:creationId xmlns:a16="http://schemas.microsoft.com/office/drawing/2014/main" id="{CA0F041C-AE4F-D227-C3C3-8429DEA98AF8}"/>
              </a:ext>
            </a:extLst>
          </p:cNvPr>
          <p:cNvSpPr txBox="1">
            <a:spLocks/>
          </p:cNvSpPr>
          <p:nvPr/>
        </p:nvSpPr>
        <p:spPr>
          <a:xfrm>
            <a:off x="10039351" y="6356352"/>
            <a:ext cx="471101" cy="365125"/>
          </a:xfrm>
          <a:prstGeom prst="rect">
            <a:avLst/>
          </a:prstGeom>
        </p:spPr>
        <p:txBody>
          <a:bodyPr vert="horz" lIns="91440" tIns="45720" rIns="91440" bIns="45720" rtlCol="0" anchor="ctr"/>
          <a:lstStyle>
            <a:defPPr>
              <a:defRPr lang="zh-TW"/>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9A51F5D-0E00-425F-A9D9-084622BDD753}" type="slidenum">
              <a:rPr lang="zh-TW" altLang="en-US" b="1" smtClean="0">
                <a:latin typeface="Times New Roman" panose="02020603050405020304" pitchFamily="18" charset="0"/>
                <a:cs typeface="Times New Roman" panose="02020603050405020304" pitchFamily="18" charset="0"/>
              </a:rPr>
              <a:pPr/>
              <a:t>31</a:t>
            </a:fld>
            <a:endParaRPr lang="zh-TW"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56217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EOPMC&amp;EO</a:t>
            </a:r>
            <a:r>
              <a:rPr lang="zh-TW" altLang="en-US" b="1" dirty="0">
                <a:latin typeface="Times New Roman" panose="02020603050405020304" pitchFamily="18" charset="0"/>
                <a:cs typeface="Times New Roman" panose="02020603050405020304" pitchFamily="18" charset="0"/>
              </a:rPr>
              <a:t> </a:t>
            </a:r>
            <a:r>
              <a:rPr lang="en-US" altLang="zh-TW" b="1" dirty="0">
                <a:latin typeface="Times New Roman" panose="02020603050405020304" pitchFamily="18" charset="0"/>
                <a:cs typeface="Times New Roman" panose="02020603050405020304" pitchFamily="18" charset="0"/>
              </a:rPr>
              <a:t>electrode design and simulate</a:t>
            </a:r>
            <a:endParaRPr lang="zh-TW" altLang="en-US" b="1"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0039351" y="6356352"/>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32</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765005A3-2EA4-A9F8-3E42-426DE701D49C}"/>
                  </a:ext>
                </a:extLst>
              </p:cNvPr>
              <p:cNvSpPr txBox="1"/>
              <p:nvPr/>
            </p:nvSpPr>
            <p:spPr>
              <a:xfrm>
                <a:off x="355013" y="875766"/>
                <a:ext cx="7626153" cy="1394741"/>
              </a:xfrm>
              <a:prstGeom prst="rect">
                <a:avLst/>
              </a:prstGeom>
              <a:noFill/>
            </p:spPr>
            <p:txBody>
              <a:bodyPr wrap="square">
                <a:spAutoFit/>
              </a:bodyPr>
              <a:lstStyle/>
              <a:p>
                <a:r>
                  <a:rPr lang="en-US" altLang="zh-TW" sz="2800" b="1" dirty="0">
                    <a:effectLst>
                      <a:outerShdw blurRad="38100" dist="38100" dir="2700000" algn="tl">
                        <a:srgbClr val="000000">
                          <a:alpha val="43137"/>
                        </a:srgbClr>
                      </a:outerShdw>
                    </a:effectLst>
                  </a:rPr>
                  <a:t>EOPMC electrode design (electrode gap: 14um)</a:t>
                </a:r>
              </a:p>
              <a:p>
                <a:r>
                  <a:rPr lang="en-US" altLang="zh-TW" sz="2800" b="1" dirty="0">
                    <a:effectLst>
                      <a:outerShdw blurRad="38100" dist="38100" dir="2700000" algn="tl">
                        <a:srgbClr val="000000">
                          <a:alpha val="43137"/>
                        </a:srgbClr>
                      </a:outerShdw>
                    </a:effectLst>
                  </a:rPr>
                  <a:t>Coating material:SiO</a:t>
                </a:r>
                <a:r>
                  <a:rPr lang="en-US" altLang="zh-TW" sz="2800" b="1" baseline="-25000" dirty="0">
                    <a:effectLst>
                      <a:outerShdw blurRad="38100" dist="38100" dir="2700000" algn="tl">
                        <a:srgbClr val="000000">
                          <a:alpha val="43137"/>
                        </a:srgbClr>
                      </a:outerShdw>
                    </a:effectLst>
                  </a:rPr>
                  <a:t>2</a:t>
                </a:r>
                <a:r>
                  <a:rPr lang="zh-TW" altLang="en-US" sz="2800" b="1" dirty="0">
                    <a:effectLst>
                      <a:outerShdw blurRad="38100" dist="38100" dir="2700000" algn="tl">
                        <a:srgbClr val="000000">
                          <a:alpha val="43137"/>
                        </a:srgbClr>
                      </a:outerShdw>
                    </a:effectLst>
                  </a:rPr>
                  <a:t>、</a:t>
                </a:r>
                <a:r>
                  <a:rPr lang="en-US" altLang="zh-TW" sz="2800" b="1" dirty="0">
                    <a:effectLst>
                      <a:outerShdw blurRad="38100" dist="38100" dir="2700000" algn="tl">
                        <a:srgbClr val="000000">
                          <a:alpha val="43137"/>
                        </a:srgbClr>
                      </a:outerShdw>
                    </a:effectLst>
                  </a:rPr>
                  <a:t>Ni</a:t>
                </a:r>
                <a:r>
                  <a:rPr lang="zh-TW" altLang="en-US" sz="2800" b="1" dirty="0">
                    <a:effectLst>
                      <a:outerShdw blurRad="38100" dist="38100" dir="2700000" algn="tl">
                        <a:srgbClr val="000000">
                          <a:alpha val="43137"/>
                        </a:srgbClr>
                      </a:outerShdw>
                    </a:effectLst>
                  </a:rPr>
                  <a:t>、</a:t>
                </a:r>
                <a:r>
                  <a:rPr lang="en-US" altLang="zh-TW" sz="2800" b="1" dirty="0">
                    <a:effectLst>
                      <a:outerShdw blurRad="38100" dist="38100" dir="2700000" algn="tl">
                        <a:srgbClr val="000000">
                          <a:alpha val="43137"/>
                        </a:srgbClr>
                      </a:outerShdw>
                    </a:effectLst>
                  </a:rPr>
                  <a:t>Au</a:t>
                </a:r>
              </a:p>
              <a:p>
                <a:r>
                  <a:rPr lang="en-US" altLang="zh-TW" sz="2800" b="1" dirty="0">
                    <a:effectLst>
                      <a:outerShdw blurRad="38100" dist="38100" dir="2700000" algn="tl">
                        <a:srgbClr val="000000">
                          <a:alpha val="43137"/>
                        </a:srgbClr>
                      </a:outerShdw>
                    </a:effectLst>
                  </a:rPr>
                  <a:t>Simulate at </a:t>
                </a:r>
                <a14:m>
                  <m:oMath xmlns:m="http://schemas.openxmlformats.org/officeDocument/2006/math">
                    <m:sSub>
                      <m:sSubPr>
                        <m:ctrlPr>
                          <a:rPr lang="en-US" altLang="zh-TW" sz="2800" b="1" i="1" smtClean="0">
                            <a:effectLst>
                              <a:outerShdw blurRad="38100" dist="38100" dir="2700000" algn="tl">
                                <a:srgbClr val="000000">
                                  <a:alpha val="43137"/>
                                </a:srgbClr>
                              </a:outerShdw>
                            </a:effectLst>
                            <a:latin typeface="Cambria Math" panose="02040503050406030204" pitchFamily="18" charset="0"/>
                          </a:rPr>
                        </m:ctrlPr>
                      </m:sSubPr>
                      <m:e>
                        <m:r>
                          <a:rPr lang="en-US" altLang="zh-TW" sz="2800" b="1" i="1" smtClean="0">
                            <a:effectLst>
                              <a:outerShdw blurRad="38100" dist="38100" dir="2700000" algn="tl">
                                <a:srgbClr val="000000">
                                  <a:alpha val="43137"/>
                                </a:srgbClr>
                              </a:outerShdw>
                            </a:effectLst>
                            <a:latin typeface="Cambria Math" panose="02040503050406030204" pitchFamily="18" charset="0"/>
                          </a:rPr>
                          <m:t> </m:t>
                        </m:r>
                        <m:r>
                          <a:rPr lang="en-US" altLang="zh-TW" sz="2800" b="1" i="1" smtClean="0">
                            <a:effectLst>
                              <a:outerShdw blurRad="38100" dist="38100" dir="2700000" algn="tl">
                                <a:srgbClr val="000000">
                                  <a:alpha val="43137"/>
                                </a:srgbClr>
                              </a:outerShdw>
                            </a:effectLst>
                            <a:latin typeface="Cambria Math" panose="02040503050406030204" pitchFamily="18" charset="0"/>
                          </a:rPr>
                          <m:t>𝑽</m:t>
                        </m:r>
                      </m:e>
                      <m:sub>
                        <m:r>
                          <m:rPr>
                            <m:nor/>
                          </m:rPr>
                          <a:rPr lang="zh-TW" altLang="en-US" sz="2800" b="1" dirty="0">
                            <a:effectLst>
                              <a:outerShdw blurRad="38100" dist="38100" dir="2700000" algn="tl">
                                <a:srgbClr val="000000">
                                  <a:alpha val="43137"/>
                                </a:srgbClr>
                              </a:outerShdw>
                            </a:effectLst>
                          </a:rPr>
                          <m:t>𝜋</m:t>
                        </m:r>
                      </m:sub>
                    </m:sSub>
                  </m:oMath>
                </a14:m>
                <a:r>
                  <a:rPr lang="en-US" altLang="zh-TW" sz="2800" b="1" dirty="0">
                    <a:effectLst>
                      <a:outerShdw blurRad="38100" dist="38100" dir="2700000" algn="tl">
                        <a:srgbClr val="000000">
                          <a:alpha val="43137"/>
                        </a:srgbClr>
                      </a:outerShdw>
                    </a:effectLst>
                  </a:rPr>
                  <a:t> = 25V = 1.786*</a:t>
                </a:r>
                <a14:m>
                  <m:oMath xmlns:m="http://schemas.openxmlformats.org/officeDocument/2006/math">
                    <m:sSup>
                      <m:sSupPr>
                        <m:ctrlPr>
                          <a:rPr lang="en-US" altLang="zh-TW" sz="2800" b="1" i="1" smtClean="0">
                            <a:effectLst>
                              <a:outerShdw blurRad="38100" dist="38100" dir="2700000" algn="tl">
                                <a:srgbClr val="000000">
                                  <a:alpha val="43137"/>
                                </a:srgbClr>
                              </a:outerShdw>
                            </a:effectLst>
                            <a:latin typeface="Cambria Math" panose="02040503050406030204" pitchFamily="18" charset="0"/>
                          </a:rPr>
                        </m:ctrlPr>
                      </m:sSupPr>
                      <m:e>
                        <m:r>
                          <a:rPr lang="en-US" altLang="zh-TW" sz="2800" b="1" i="1" smtClean="0">
                            <a:effectLst>
                              <a:outerShdw blurRad="38100" dist="38100" dir="2700000" algn="tl">
                                <a:srgbClr val="000000">
                                  <a:alpha val="43137"/>
                                </a:srgbClr>
                              </a:outerShdw>
                            </a:effectLst>
                            <a:latin typeface="Cambria Math" panose="02040503050406030204" pitchFamily="18" charset="0"/>
                          </a:rPr>
                          <m:t>𝟏𝟎</m:t>
                        </m:r>
                      </m:e>
                      <m:sup>
                        <m:r>
                          <a:rPr lang="en-US" altLang="zh-TW" sz="2800" b="1" i="1" smtClean="0">
                            <a:effectLst>
                              <a:outerShdw blurRad="38100" dist="38100" dir="2700000" algn="tl">
                                <a:srgbClr val="000000">
                                  <a:alpha val="43137"/>
                                </a:srgbClr>
                              </a:outerShdw>
                            </a:effectLst>
                            <a:latin typeface="Cambria Math" panose="02040503050406030204" pitchFamily="18" charset="0"/>
                          </a:rPr>
                          <m:t>𝟔</m:t>
                        </m:r>
                      </m:sup>
                    </m:sSup>
                  </m:oMath>
                </a14:m>
                <a:r>
                  <a:rPr lang="en-US" altLang="zh-TW" sz="2800" b="1" dirty="0">
                    <a:effectLst>
                      <a:outerShdw blurRad="38100" dist="38100" dir="2700000" algn="tl">
                        <a:srgbClr val="000000">
                          <a:alpha val="43137"/>
                        </a:srgbClr>
                      </a:outerShdw>
                    </a:effectLst>
                  </a:rPr>
                  <a:t> V/m</a:t>
                </a:r>
                <a:endParaRPr lang="zh-TW" altLang="en-US" sz="2800" dirty="0"/>
              </a:p>
            </p:txBody>
          </p:sp>
        </mc:Choice>
        <mc:Fallback xmlns="">
          <p:sp>
            <p:nvSpPr>
              <p:cNvPr id="26" name="文字方塊 25">
                <a:extLst>
                  <a:ext uri="{FF2B5EF4-FFF2-40B4-BE49-F238E27FC236}">
                    <a16:creationId xmlns:a16="http://schemas.microsoft.com/office/drawing/2014/main" id="{765005A3-2EA4-A9F8-3E42-426DE701D49C}"/>
                  </a:ext>
                </a:extLst>
              </p:cNvPr>
              <p:cNvSpPr txBox="1">
                <a:spLocks noRot="1" noChangeAspect="1" noMove="1" noResize="1" noEditPoints="1" noAdjustHandles="1" noChangeArrowheads="1" noChangeShapeType="1" noTextEdit="1"/>
              </p:cNvSpPr>
              <p:nvPr/>
            </p:nvSpPr>
            <p:spPr>
              <a:xfrm>
                <a:off x="355013" y="875766"/>
                <a:ext cx="7626153" cy="1394741"/>
              </a:xfrm>
              <a:prstGeom prst="rect">
                <a:avLst/>
              </a:prstGeom>
              <a:blipFill>
                <a:blip r:embed="rId4"/>
                <a:stretch>
                  <a:fillRect l="-1679" t="-4825" b="-14474"/>
                </a:stretch>
              </a:blipFill>
            </p:spPr>
            <p:txBody>
              <a:bodyPr/>
              <a:lstStyle/>
              <a:p>
                <a:r>
                  <a:rPr lang="zh-TW" altLang="en-US">
                    <a:noFill/>
                  </a:rPr>
                  <a:t> </a:t>
                </a:r>
              </a:p>
            </p:txBody>
          </p:sp>
        </mc:Fallback>
      </mc:AlternateContent>
      <p:pic>
        <p:nvPicPr>
          <p:cNvPr id="28" name="圖片 27">
            <a:extLst>
              <a:ext uri="{FF2B5EF4-FFF2-40B4-BE49-F238E27FC236}">
                <a16:creationId xmlns:a16="http://schemas.microsoft.com/office/drawing/2014/main" id="{259BF09B-359B-8C53-13D8-8156B248611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44759" y="3187527"/>
            <a:ext cx="4007723" cy="2947053"/>
          </a:xfrm>
          <a:prstGeom prst="rect">
            <a:avLst/>
          </a:prstGeom>
        </p:spPr>
      </p:pic>
      <p:sp>
        <p:nvSpPr>
          <p:cNvPr id="29" name="文字方塊 28">
            <a:extLst>
              <a:ext uri="{FF2B5EF4-FFF2-40B4-BE49-F238E27FC236}">
                <a16:creationId xmlns:a16="http://schemas.microsoft.com/office/drawing/2014/main" id="{2D8EF959-14D4-0774-B610-F5D79E096E4E}"/>
              </a:ext>
            </a:extLst>
          </p:cNvPr>
          <p:cNvSpPr txBox="1"/>
          <p:nvPr/>
        </p:nvSpPr>
        <p:spPr>
          <a:xfrm>
            <a:off x="4512993" y="2577507"/>
            <a:ext cx="2188612" cy="369332"/>
          </a:xfrm>
          <a:prstGeom prst="rect">
            <a:avLst/>
          </a:prstGeom>
          <a:noFill/>
          <a:ln>
            <a:solidFill>
              <a:srgbClr val="7030A0"/>
            </a:solidFill>
          </a:ln>
        </p:spPr>
        <p:txBody>
          <a:bodyPr wrap="none" rtlCol="0">
            <a:spAutoFit/>
          </a:bodyPr>
          <a:lstStyle/>
          <a:p>
            <a:r>
              <a:rPr lang="en-US" altLang="zh-TW" dirty="0"/>
              <a:t>Electric potential</a:t>
            </a:r>
            <a:r>
              <a:rPr lang="zh-TW" altLang="en-US" dirty="0"/>
              <a:t> </a:t>
            </a:r>
            <a:r>
              <a:rPr lang="en-US" altLang="zh-TW" dirty="0"/>
              <a:t>51V</a:t>
            </a:r>
            <a:endParaRPr lang="zh-TW" altLang="en-US" dirty="0"/>
          </a:p>
        </p:txBody>
      </p:sp>
      <p:sp>
        <p:nvSpPr>
          <p:cNvPr id="30" name="文字方塊 29">
            <a:extLst>
              <a:ext uri="{FF2B5EF4-FFF2-40B4-BE49-F238E27FC236}">
                <a16:creationId xmlns:a16="http://schemas.microsoft.com/office/drawing/2014/main" id="{73855B32-025E-E1F6-5AE6-A1BD842303BB}"/>
              </a:ext>
            </a:extLst>
          </p:cNvPr>
          <p:cNvSpPr txBox="1"/>
          <p:nvPr/>
        </p:nvSpPr>
        <p:spPr>
          <a:xfrm>
            <a:off x="8221484" y="2533561"/>
            <a:ext cx="3229025" cy="369332"/>
          </a:xfrm>
          <a:prstGeom prst="rect">
            <a:avLst/>
          </a:prstGeom>
          <a:noFill/>
          <a:ln>
            <a:solidFill>
              <a:srgbClr val="7030A0"/>
            </a:solidFill>
          </a:ln>
        </p:spPr>
        <p:txBody>
          <a:bodyPr wrap="none" rtlCol="0">
            <a:spAutoFit/>
          </a:bodyPr>
          <a:lstStyle/>
          <a:p>
            <a:r>
              <a:rPr lang="en-US" altLang="zh-TW" dirty="0"/>
              <a:t>EOPMC Electric field distribution</a:t>
            </a:r>
            <a:endParaRPr lang="zh-TW" altLang="en-US" dirty="0"/>
          </a:p>
        </p:txBody>
      </p:sp>
      <p:sp>
        <p:nvSpPr>
          <p:cNvPr id="31" name="文字方塊 30">
            <a:extLst>
              <a:ext uri="{FF2B5EF4-FFF2-40B4-BE49-F238E27FC236}">
                <a16:creationId xmlns:a16="http://schemas.microsoft.com/office/drawing/2014/main" id="{B434C893-9423-1269-202C-36E7ABE429C4}"/>
              </a:ext>
            </a:extLst>
          </p:cNvPr>
          <p:cNvSpPr txBox="1"/>
          <p:nvPr/>
        </p:nvSpPr>
        <p:spPr>
          <a:xfrm>
            <a:off x="355013" y="2533561"/>
            <a:ext cx="2964209" cy="369332"/>
          </a:xfrm>
          <a:prstGeom prst="rect">
            <a:avLst/>
          </a:prstGeom>
          <a:noFill/>
          <a:ln>
            <a:solidFill>
              <a:srgbClr val="7030A0"/>
            </a:solidFill>
          </a:ln>
        </p:spPr>
        <p:txBody>
          <a:bodyPr wrap="none" rtlCol="0">
            <a:spAutoFit/>
          </a:bodyPr>
          <a:lstStyle/>
          <a:p>
            <a:r>
              <a:rPr lang="en-US" altLang="zh-TW" dirty="0"/>
              <a:t>EO electrode structure design</a:t>
            </a:r>
            <a:endParaRPr lang="zh-TW" altLang="en-US" dirty="0"/>
          </a:p>
        </p:txBody>
      </p:sp>
      <p:pic>
        <p:nvPicPr>
          <p:cNvPr id="32" name="圖片 31">
            <a:extLst>
              <a:ext uri="{FF2B5EF4-FFF2-40B4-BE49-F238E27FC236}">
                <a16:creationId xmlns:a16="http://schemas.microsoft.com/office/drawing/2014/main" id="{B6FB10CD-DCC2-2A1F-B3B4-3FFD5776DF34}"/>
              </a:ext>
            </a:extLst>
          </p:cNvPr>
          <p:cNvPicPr>
            <a:picLocks noChangeAspect="1"/>
          </p:cNvPicPr>
          <p:nvPr/>
        </p:nvPicPr>
        <p:blipFill>
          <a:blip r:embed="rId6"/>
          <a:stretch>
            <a:fillRect/>
          </a:stretch>
        </p:blipFill>
        <p:spPr>
          <a:xfrm>
            <a:off x="10367781" y="942887"/>
            <a:ext cx="1082728" cy="1467783"/>
          </a:xfrm>
          <a:prstGeom prst="rect">
            <a:avLst/>
          </a:prstGeom>
        </p:spPr>
      </p:pic>
      <p:pic>
        <p:nvPicPr>
          <p:cNvPr id="3" name="圖片 2">
            <a:extLst>
              <a:ext uri="{FF2B5EF4-FFF2-40B4-BE49-F238E27FC236}">
                <a16:creationId xmlns:a16="http://schemas.microsoft.com/office/drawing/2014/main" id="{C43A8324-4281-E884-8AD4-25C8C3C5999D}"/>
              </a:ext>
            </a:extLst>
          </p:cNvPr>
          <p:cNvPicPr>
            <a:picLocks noChangeAspect="1"/>
          </p:cNvPicPr>
          <p:nvPr/>
        </p:nvPicPr>
        <p:blipFill>
          <a:blip r:embed="rId7"/>
          <a:stretch>
            <a:fillRect/>
          </a:stretch>
        </p:blipFill>
        <p:spPr>
          <a:xfrm>
            <a:off x="0" y="3429000"/>
            <a:ext cx="3789464" cy="2768649"/>
          </a:xfrm>
          <a:prstGeom prst="rect">
            <a:avLst/>
          </a:prstGeom>
        </p:spPr>
      </p:pic>
      <p:pic>
        <p:nvPicPr>
          <p:cNvPr id="9" name="圖片 8">
            <a:extLst>
              <a:ext uri="{FF2B5EF4-FFF2-40B4-BE49-F238E27FC236}">
                <a16:creationId xmlns:a16="http://schemas.microsoft.com/office/drawing/2014/main" id="{67EC01AC-5CDA-27AF-CBF8-767D40EC48F1}"/>
              </a:ext>
            </a:extLst>
          </p:cNvPr>
          <p:cNvPicPr>
            <a:picLocks noChangeAspect="1"/>
          </p:cNvPicPr>
          <p:nvPr/>
        </p:nvPicPr>
        <p:blipFill rotWithShape="1">
          <a:blip r:embed="rId8">
            <a:extLst>
              <a:ext uri="{28A0092B-C50C-407E-A947-70E740481C1C}">
                <a14:useLocalDpi xmlns:a14="http://schemas.microsoft.com/office/drawing/2010/main" val="0"/>
              </a:ext>
            </a:extLst>
          </a:blip>
          <a:srcRect l="4191" t="17367"/>
          <a:stretch/>
        </p:blipFill>
        <p:spPr>
          <a:xfrm>
            <a:off x="3853056" y="3187527"/>
            <a:ext cx="4128110" cy="2617607"/>
          </a:xfrm>
          <a:prstGeom prst="rect">
            <a:avLst/>
          </a:prstGeom>
        </p:spPr>
      </p:pic>
      <p:sp>
        <p:nvSpPr>
          <p:cNvPr id="10" name="文字方塊 9">
            <a:extLst>
              <a:ext uri="{FF2B5EF4-FFF2-40B4-BE49-F238E27FC236}">
                <a16:creationId xmlns:a16="http://schemas.microsoft.com/office/drawing/2014/main" id="{084F7623-407E-FDE7-FC1A-60FFFCC94FE2}"/>
              </a:ext>
            </a:extLst>
          </p:cNvPr>
          <p:cNvSpPr txBox="1"/>
          <p:nvPr/>
        </p:nvSpPr>
        <p:spPr>
          <a:xfrm>
            <a:off x="8221484" y="1325597"/>
            <a:ext cx="1640193" cy="923330"/>
          </a:xfrm>
          <a:prstGeom prst="rect">
            <a:avLst/>
          </a:prstGeom>
          <a:noFill/>
        </p:spPr>
        <p:txBody>
          <a:bodyPr wrap="none" rtlCol="0">
            <a:spAutoFit/>
          </a:bodyPr>
          <a:lstStyle/>
          <a:p>
            <a:pPr marL="342900" indent="-342900">
              <a:buFont typeface="+mj-lt"/>
              <a:buAutoNum type="arabicPeriod"/>
            </a:pPr>
            <a:r>
              <a:rPr lang="en-US" altLang="zh-TW" dirty="0"/>
              <a:t>SiO</a:t>
            </a:r>
            <a:r>
              <a:rPr lang="en-US" altLang="zh-TW" baseline="-25000" dirty="0"/>
              <a:t>2</a:t>
            </a:r>
            <a:r>
              <a:rPr lang="en-US" altLang="zh-TW" dirty="0"/>
              <a:t>:100nm</a:t>
            </a:r>
          </a:p>
          <a:p>
            <a:pPr marL="342900" indent="-342900">
              <a:buFont typeface="+mj-lt"/>
              <a:buAutoNum type="arabicPeriod"/>
            </a:pPr>
            <a:r>
              <a:rPr lang="en-US" altLang="zh-TW" dirty="0"/>
              <a:t>Ni:50nm</a:t>
            </a:r>
          </a:p>
          <a:p>
            <a:pPr marL="342900" indent="-342900">
              <a:buFont typeface="+mj-lt"/>
              <a:buAutoNum type="arabicPeriod"/>
            </a:pPr>
            <a:r>
              <a:rPr lang="en-US" altLang="zh-TW" dirty="0"/>
              <a:t>Au:150nm</a:t>
            </a:r>
            <a:endParaRPr lang="zh-TW" altLang="en-US" dirty="0"/>
          </a:p>
        </p:txBody>
      </p:sp>
      <p:sp>
        <p:nvSpPr>
          <p:cNvPr id="6" name="弦 5">
            <a:extLst>
              <a:ext uri="{FF2B5EF4-FFF2-40B4-BE49-F238E27FC236}">
                <a16:creationId xmlns:a16="http://schemas.microsoft.com/office/drawing/2014/main" id="{12592F09-6F9B-16A8-8094-2B568F2E971E}"/>
              </a:ext>
            </a:extLst>
          </p:cNvPr>
          <p:cNvSpPr/>
          <p:nvPr/>
        </p:nvSpPr>
        <p:spPr>
          <a:xfrm rot="17424021">
            <a:off x="9693076" y="3892111"/>
            <a:ext cx="361585" cy="364847"/>
          </a:xfrm>
          <a:prstGeom prst="chord">
            <a:avLst>
              <a:gd name="adj1" fmla="val 2885855"/>
              <a:gd name="adj2" fmla="val 16200000"/>
            </a:avLst>
          </a:prstGeom>
          <a:solidFill>
            <a:schemeClr val="accent3">
              <a:alpha val="7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11" name="弦 10">
            <a:extLst>
              <a:ext uri="{FF2B5EF4-FFF2-40B4-BE49-F238E27FC236}">
                <a16:creationId xmlns:a16="http://schemas.microsoft.com/office/drawing/2014/main" id="{BEE91445-1913-988C-DF1D-DB4F8971612A}"/>
              </a:ext>
            </a:extLst>
          </p:cNvPr>
          <p:cNvSpPr/>
          <p:nvPr/>
        </p:nvSpPr>
        <p:spPr>
          <a:xfrm rot="17424021">
            <a:off x="5299783" y="4066273"/>
            <a:ext cx="309869" cy="321482"/>
          </a:xfrm>
          <a:prstGeom prst="chord">
            <a:avLst>
              <a:gd name="adj1" fmla="val 2885855"/>
              <a:gd name="adj2" fmla="val 16200000"/>
            </a:avLst>
          </a:prstGeom>
          <a:solidFill>
            <a:schemeClr val="accent3">
              <a:alpha val="7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2259314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EOPMC&amp;EO</a:t>
            </a:r>
            <a:r>
              <a:rPr lang="zh-TW" altLang="en-US" b="1" dirty="0">
                <a:latin typeface="Times New Roman" panose="02020603050405020304" pitchFamily="18" charset="0"/>
                <a:cs typeface="Times New Roman" panose="02020603050405020304" pitchFamily="18" charset="0"/>
              </a:rPr>
              <a:t> </a:t>
            </a:r>
            <a:r>
              <a:rPr lang="en-US" altLang="zh-TW" b="1" dirty="0">
                <a:latin typeface="Times New Roman" panose="02020603050405020304" pitchFamily="18" charset="0"/>
                <a:cs typeface="Times New Roman" panose="02020603050405020304" pitchFamily="18" charset="0"/>
              </a:rPr>
              <a:t>electrode design and simulate</a:t>
            </a:r>
            <a:endParaRPr lang="zh-TW" altLang="en-US" b="1"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0039351" y="6356352"/>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33</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pic>
        <p:nvPicPr>
          <p:cNvPr id="3" name="圖片 2">
            <a:extLst>
              <a:ext uri="{FF2B5EF4-FFF2-40B4-BE49-F238E27FC236}">
                <a16:creationId xmlns:a16="http://schemas.microsoft.com/office/drawing/2014/main" id="{A826986D-6457-6055-02F9-BAA87C2E9DEA}"/>
              </a:ext>
            </a:extLst>
          </p:cNvPr>
          <p:cNvPicPr>
            <a:picLocks noChangeAspect="1"/>
          </p:cNvPicPr>
          <p:nvPr/>
        </p:nvPicPr>
        <p:blipFill>
          <a:blip r:embed="rId4"/>
          <a:stretch>
            <a:fillRect/>
          </a:stretch>
        </p:blipFill>
        <p:spPr>
          <a:xfrm>
            <a:off x="8350869" y="3493200"/>
            <a:ext cx="3762573" cy="2780801"/>
          </a:xfrm>
          <a:prstGeom prst="rect">
            <a:avLst/>
          </a:prstGeom>
        </p:spPr>
      </p:pic>
      <p:sp>
        <p:nvSpPr>
          <p:cNvPr id="7" name="文字方塊 6">
            <a:extLst>
              <a:ext uri="{FF2B5EF4-FFF2-40B4-BE49-F238E27FC236}">
                <a16:creationId xmlns:a16="http://schemas.microsoft.com/office/drawing/2014/main" id="{ABAF779B-A614-9992-B601-7B7205C6EEC3}"/>
              </a:ext>
            </a:extLst>
          </p:cNvPr>
          <p:cNvSpPr txBox="1"/>
          <p:nvPr/>
        </p:nvSpPr>
        <p:spPr>
          <a:xfrm>
            <a:off x="4941256" y="2534620"/>
            <a:ext cx="2363339" cy="369332"/>
          </a:xfrm>
          <a:prstGeom prst="rect">
            <a:avLst/>
          </a:prstGeom>
          <a:noFill/>
          <a:ln>
            <a:solidFill>
              <a:srgbClr val="7030A0"/>
            </a:solidFill>
          </a:ln>
        </p:spPr>
        <p:txBody>
          <a:bodyPr wrap="none" rtlCol="0">
            <a:spAutoFit/>
          </a:bodyPr>
          <a:lstStyle/>
          <a:p>
            <a:r>
              <a:rPr lang="en-US" altLang="zh-TW" dirty="0"/>
              <a:t>Electric potential</a:t>
            </a:r>
            <a:r>
              <a:rPr lang="zh-TW" altLang="en-US" dirty="0"/>
              <a:t> </a:t>
            </a:r>
            <a:r>
              <a:rPr lang="en-US" altLang="zh-TW" dirty="0"/>
              <a:t>18.2V</a:t>
            </a:r>
            <a:endParaRPr lang="zh-TW" altLang="en-US" dirty="0"/>
          </a:p>
        </p:txBody>
      </p:sp>
      <p:sp>
        <p:nvSpPr>
          <p:cNvPr id="8" name="文字方塊 7">
            <a:extLst>
              <a:ext uri="{FF2B5EF4-FFF2-40B4-BE49-F238E27FC236}">
                <a16:creationId xmlns:a16="http://schemas.microsoft.com/office/drawing/2014/main" id="{EAF07BB5-B5E5-2DA2-C877-C2A75AF2F6D3}"/>
              </a:ext>
            </a:extLst>
          </p:cNvPr>
          <p:cNvSpPr txBox="1"/>
          <p:nvPr/>
        </p:nvSpPr>
        <p:spPr>
          <a:xfrm>
            <a:off x="8439493" y="2533561"/>
            <a:ext cx="2793009" cy="369332"/>
          </a:xfrm>
          <a:prstGeom prst="rect">
            <a:avLst/>
          </a:prstGeom>
          <a:noFill/>
          <a:ln>
            <a:solidFill>
              <a:srgbClr val="7030A0"/>
            </a:solidFill>
          </a:ln>
        </p:spPr>
        <p:txBody>
          <a:bodyPr wrap="none" rtlCol="0">
            <a:spAutoFit/>
          </a:bodyPr>
          <a:lstStyle/>
          <a:p>
            <a:r>
              <a:rPr lang="en-US" altLang="zh-TW" dirty="0"/>
              <a:t>EO Electric field distribution</a:t>
            </a:r>
            <a:endParaRPr lang="zh-TW" altLang="en-US" dirty="0"/>
          </a:p>
        </p:txBody>
      </p:sp>
      <p:pic>
        <p:nvPicPr>
          <p:cNvPr id="9" name="圖片 8">
            <a:extLst>
              <a:ext uri="{FF2B5EF4-FFF2-40B4-BE49-F238E27FC236}">
                <a16:creationId xmlns:a16="http://schemas.microsoft.com/office/drawing/2014/main" id="{955AB683-A5B8-3E41-C8CB-0DAD86B37753}"/>
              </a:ext>
            </a:extLst>
          </p:cNvPr>
          <p:cNvPicPr>
            <a:picLocks noChangeAspect="1"/>
          </p:cNvPicPr>
          <p:nvPr/>
        </p:nvPicPr>
        <p:blipFill>
          <a:blip r:embed="rId5"/>
          <a:stretch>
            <a:fillRect/>
          </a:stretch>
        </p:blipFill>
        <p:spPr>
          <a:xfrm>
            <a:off x="115128" y="3467056"/>
            <a:ext cx="3817977" cy="2792094"/>
          </a:xfrm>
          <a:prstGeom prst="rect">
            <a:avLst/>
          </a:prstGeom>
        </p:spPr>
      </p:pic>
      <p:sp>
        <p:nvSpPr>
          <p:cNvPr id="10" name="文字方塊 9">
            <a:extLst>
              <a:ext uri="{FF2B5EF4-FFF2-40B4-BE49-F238E27FC236}">
                <a16:creationId xmlns:a16="http://schemas.microsoft.com/office/drawing/2014/main" id="{7A846CFA-AADA-312F-C927-7D5DD4D21D17}"/>
              </a:ext>
            </a:extLst>
          </p:cNvPr>
          <p:cNvSpPr txBox="1"/>
          <p:nvPr/>
        </p:nvSpPr>
        <p:spPr>
          <a:xfrm>
            <a:off x="542011" y="2533561"/>
            <a:ext cx="2964209" cy="369332"/>
          </a:xfrm>
          <a:prstGeom prst="rect">
            <a:avLst/>
          </a:prstGeom>
          <a:noFill/>
          <a:ln>
            <a:solidFill>
              <a:srgbClr val="7030A0"/>
            </a:solidFill>
          </a:ln>
        </p:spPr>
        <p:txBody>
          <a:bodyPr wrap="none" rtlCol="0">
            <a:spAutoFit/>
          </a:bodyPr>
          <a:lstStyle/>
          <a:p>
            <a:r>
              <a:rPr lang="en-US" altLang="zh-TW" dirty="0"/>
              <a:t>EO electrode structure design</a:t>
            </a:r>
            <a:endParaRPr lang="zh-TW" altLang="en-US" dirty="0"/>
          </a:p>
        </p:txBody>
      </p:sp>
      <p:pic>
        <p:nvPicPr>
          <p:cNvPr id="11" name="圖片 10">
            <a:extLst>
              <a:ext uri="{FF2B5EF4-FFF2-40B4-BE49-F238E27FC236}">
                <a16:creationId xmlns:a16="http://schemas.microsoft.com/office/drawing/2014/main" id="{7A4A18EF-6F77-D00C-89AC-327EE4ED0D81}"/>
              </a:ext>
            </a:extLst>
          </p:cNvPr>
          <p:cNvPicPr>
            <a:picLocks noChangeAspect="1"/>
          </p:cNvPicPr>
          <p:nvPr/>
        </p:nvPicPr>
        <p:blipFill>
          <a:blip r:embed="rId6"/>
          <a:stretch>
            <a:fillRect/>
          </a:stretch>
        </p:blipFill>
        <p:spPr>
          <a:xfrm>
            <a:off x="10704253" y="870289"/>
            <a:ext cx="528249" cy="1471073"/>
          </a:xfrm>
          <a:prstGeom prst="rect">
            <a:avLst/>
          </a:prstGeom>
        </p:spPr>
      </p:pic>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7300F1BC-8692-2CB7-FB5E-ED7331AA0D95}"/>
                  </a:ext>
                </a:extLst>
              </p:cNvPr>
              <p:cNvSpPr txBox="1"/>
              <p:nvPr/>
            </p:nvSpPr>
            <p:spPr>
              <a:xfrm>
                <a:off x="542011" y="908456"/>
                <a:ext cx="8529100" cy="1394741"/>
              </a:xfrm>
              <a:prstGeom prst="rect">
                <a:avLst/>
              </a:prstGeom>
              <a:noFill/>
            </p:spPr>
            <p:txBody>
              <a:bodyPr wrap="square">
                <a:spAutoFit/>
              </a:bodyPr>
              <a:lstStyle/>
              <a:p>
                <a:r>
                  <a:rPr lang="en-US" altLang="zh-TW" sz="2800" b="1" dirty="0">
                    <a:effectLst>
                      <a:outerShdw blurRad="38100" dist="38100" dir="2700000" algn="tl">
                        <a:srgbClr val="000000">
                          <a:alpha val="43137"/>
                        </a:srgbClr>
                      </a:outerShdw>
                    </a:effectLst>
                  </a:rPr>
                  <a:t>Phase Modulator electrode design (electrode gap: 14um)</a:t>
                </a:r>
              </a:p>
              <a:p>
                <a:r>
                  <a:rPr lang="en-US" altLang="zh-TW" sz="2800" b="1" dirty="0">
                    <a:effectLst>
                      <a:outerShdw blurRad="38100" dist="38100" dir="2700000" algn="tl">
                        <a:srgbClr val="000000">
                          <a:alpha val="43137"/>
                        </a:srgbClr>
                      </a:outerShdw>
                    </a:effectLst>
                  </a:rPr>
                  <a:t>Coating material:SiO</a:t>
                </a:r>
                <a:r>
                  <a:rPr lang="en-US" altLang="zh-TW" sz="2800" b="1" baseline="-25000" dirty="0">
                    <a:effectLst>
                      <a:outerShdw blurRad="38100" dist="38100" dir="2700000" algn="tl">
                        <a:srgbClr val="000000">
                          <a:alpha val="43137"/>
                        </a:srgbClr>
                      </a:outerShdw>
                    </a:effectLst>
                  </a:rPr>
                  <a:t>2</a:t>
                </a:r>
                <a:r>
                  <a:rPr lang="zh-TW" altLang="en-US" sz="2800" b="1" dirty="0">
                    <a:effectLst>
                      <a:outerShdw blurRad="38100" dist="38100" dir="2700000" algn="tl">
                        <a:srgbClr val="000000">
                          <a:alpha val="43137"/>
                        </a:srgbClr>
                      </a:outerShdw>
                    </a:effectLst>
                  </a:rPr>
                  <a:t>、</a:t>
                </a:r>
                <a:r>
                  <a:rPr lang="en-US" altLang="zh-TW" sz="2800" b="1" dirty="0">
                    <a:effectLst>
                      <a:outerShdw blurRad="38100" dist="38100" dir="2700000" algn="tl">
                        <a:srgbClr val="000000">
                          <a:alpha val="43137"/>
                        </a:srgbClr>
                      </a:outerShdw>
                    </a:effectLst>
                  </a:rPr>
                  <a:t>Ni</a:t>
                </a:r>
                <a:r>
                  <a:rPr lang="zh-TW" altLang="en-US" sz="2800" b="1" dirty="0">
                    <a:effectLst>
                      <a:outerShdw blurRad="38100" dist="38100" dir="2700000" algn="tl">
                        <a:srgbClr val="000000">
                          <a:alpha val="43137"/>
                        </a:srgbClr>
                      </a:outerShdw>
                    </a:effectLst>
                  </a:rPr>
                  <a:t>、</a:t>
                </a:r>
                <a:r>
                  <a:rPr lang="en-US" altLang="zh-TW" sz="2800" b="1" dirty="0">
                    <a:effectLst>
                      <a:outerShdw blurRad="38100" dist="38100" dir="2700000" algn="tl">
                        <a:srgbClr val="000000">
                          <a:alpha val="43137"/>
                        </a:srgbClr>
                      </a:outerShdw>
                    </a:effectLst>
                  </a:rPr>
                  <a:t>Au</a:t>
                </a:r>
              </a:p>
              <a:p>
                <a:pPr lvl="0">
                  <a:defRPr/>
                </a:pPr>
                <a:r>
                  <a:rPr kumimoji="0" lang="en-US" altLang="zh-TW" sz="2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a typeface="新細明體" panose="02020500000000000000" pitchFamily="18" charset="-120"/>
                    <a:cs typeface="+mn-cs"/>
                  </a:rPr>
                  <a:t>Simulate at  </a:t>
                </a:r>
                <a14:m>
                  <m:oMath xmlns:m="http://schemas.openxmlformats.org/officeDocument/2006/math">
                    <m:sSub>
                      <m:sSubPr>
                        <m:ctrlPr>
                          <a:rPr lang="en-US" altLang="zh-TW" sz="2800" b="1" i="1">
                            <a:effectLst>
                              <a:outerShdw blurRad="38100" dist="38100" dir="2700000" algn="tl">
                                <a:srgbClr val="000000">
                                  <a:alpha val="43137"/>
                                </a:srgbClr>
                              </a:outerShdw>
                            </a:effectLst>
                            <a:latin typeface="Cambria Math" panose="02040503050406030204" pitchFamily="18" charset="0"/>
                          </a:rPr>
                        </m:ctrlPr>
                      </m:sSubPr>
                      <m:e>
                        <m:r>
                          <a:rPr lang="en-US" altLang="zh-TW" sz="2800" b="1" i="1">
                            <a:effectLst>
                              <a:outerShdw blurRad="38100" dist="38100" dir="2700000" algn="tl">
                                <a:srgbClr val="000000">
                                  <a:alpha val="43137"/>
                                </a:srgbClr>
                              </a:outerShdw>
                            </a:effectLst>
                            <a:latin typeface="Cambria Math" panose="02040503050406030204" pitchFamily="18" charset="0"/>
                          </a:rPr>
                          <m:t>𝑽</m:t>
                        </m:r>
                      </m:e>
                      <m:sub>
                        <m:r>
                          <m:rPr>
                            <m:nor/>
                          </m:rPr>
                          <a:rPr lang="zh-TW" altLang="en-US" sz="2800" b="1" dirty="0">
                            <a:effectLst>
                              <a:outerShdw blurRad="38100" dist="38100" dir="2700000" algn="tl">
                                <a:srgbClr val="000000">
                                  <a:alpha val="43137"/>
                                </a:srgbClr>
                              </a:outerShdw>
                            </a:effectLst>
                          </a:rPr>
                          <m:t>𝜋</m:t>
                        </m:r>
                      </m:sub>
                    </m:sSub>
                  </m:oMath>
                </a14:m>
                <a:r>
                  <a:rPr lang="en-US" altLang="zh-TW" sz="2800" b="1" dirty="0">
                    <a:effectLst>
                      <a:outerShdw blurRad="38100" dist="38100" dir="2700000" algn="tl">
                        <a:srgbClr val="000000">
                          <a:alpha val="43137"/>
                        </a:srgbClr>
                      </a:outerShdw>
                    </a:effectLst>
                  </a:rPr>
                  <a:t> = </a:t>
                </a:r>
                <a:r>
                  <a:rPr kumimoji="0" lang="en-US" altLang="zh-TW" sz="2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a typeface="新細明體" panose="02020500000000000000" pitchFamily="18" charset="-120"/>
                    <a:cs typeface="+mn-cs"/>
                  </a:rPr>
                  <a:t>18.2V = 1.3*</a:t>
                </a:r>
                <a14:m>
                  <m:oMath xmlns:m="http://schemas.openxmlformats.org/officeDocument/2006/math">
                    <m:sSup>
                      <m:sSupPr>
                        <m:ctrlPr>
                          <a:rPr kumimoji="0" lang="en-US" altLang="zh-TW" sz="2800" b="1" i="1" u="none" strike="noStrike" kern="1200" cap="none" spc="0" normalizeH="0" baseline="0" noProof="0" smtClean="0">
                            <a:ln>
                              <a:noFill/>
                            </a:ln>
                            <a:solidFill>
                              <a:prstClr val="black"/>
                            </a:solidFill>
                            <a:effectLst>
                              <a:outerShdw blurRad="38100" dist="38100" dir="2700000" algn="tl">
                                <a:srgbClr val="000000">
                                  <a:alpha val="43137"/>
                                </a:srgbClr>
                              </a:outerShdw>
                            </a:effectLst>
                            <a:uLnTx/>
                            <a:uFillTx/>
                            <a:latin typeface="Cambria Math" panose="02040503050406030204" pitchFamily="18" charset="0"/>
                            <a:cs typeface="+mn-cs"/>
                          </a:rPr>
                        </m:ctrlPr>
                      </m:sSupPr>
                      <m:e>
                        <m:r>
                          <a:rPr kumimoji="0" lang="en-US" altLang="zh-TW" sz="2800" b="1" i="1" u="none" strike="noStrike" kern="1200" cap="none" spc="0" normalizeH="0" baseline="0" noProof="0" smtClean="0">
                            <a:ln>
                              <a:noFill/>
                            </a:ln>
                            <a:solidFill>
                              <a:prstClr val="black"/>
                            </a:solidFill>
                            <a:effectLst>
                              <a:outerShdw blurRad="38100" dist="38100" dir="2700000" algn="tl">
                                <a:srgbClr val="000000">
                                  <a:alpha val="43137"/>
                                </a:srgbClr>
                              </a:outerShdw>
                            </a:effectLst>
                            <a:uLnTx/>
                            <a:uFillTx/>
                            <a:latin typeface="Cambria Math" panose="02040503050406030204" pitchFamily="18" charset="0"/>
                            <a:cs typeface="+mn-cs"/>
                          </a:rPr>
                          <m:t>𝟏𝟎</m:t>
                        </m:r>
                      </m:e>
                      <m:sup>
                        <m:r>
                          <a:rPr kumimoji="0" lang="en-US" altLang="zh-TW" sz="2800" b="1" i="1" u="none" strike="noStrike" kern="1200" cap="none" spc="0" normalizeH="0" baseline="0" noProof="0" smtClean="0">
                            <a:ln>
                              <a:noFill/>
                            </a:ln>
                            <a:solidFill>
                              <a:prstClr val="black"/>
                            </a:solidFill>
                            <a:effectLst>
                              <a:outerShdw blurRad="38100" dist="38100" dir="2700000" algn="tl">
                                <a:srgbClr val="000000">
                                  <a:alpha val="43137"/>
                                </a:srgbClr>
                              </a:outerShdw>
                            </a:effectLst>
                            <a:uLnTx/>
                            <a:uFillTx/>
                            <a:latin typeface="Cambria Math" panose="02040503050406030204" pitchFamily="18" charset="0"/>
                            <a:cs typeface="+mn-cs"/>
                          </a:rPr>
                          <m:t>𝟔</m:t>
                        </m:r>
                      </m:sup>
                    </m:sSup>
                  </m:oMath>
                </a14:m>
                <a:r>
                  <a:rPr kumimoji="0" lang="en-US" altLang="zh-TW" sz="2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a typeface="新細明體" panose="02020500000000000000" pitchFamily="18" charset="-120"/>
                    <a:cs typeface="+mn-cs"/>
                  </a:rPr>
                  <a:t> V/m</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15" name="文字方塊 14">
                <a:extLst>
                  <a:ext uri="{FF2B5EF4-FFF2-40B4-BE49-F238E27FC236}">
                    <a16:creationId xmlns:a16="http://schemas.microsoft.com/office/drawing/2014/main" id="{7300F1BC-8692-2CB7-FB5E-ED7331AA0D95}"/>
                  </a:ext>
                </a:extLst>
              </p:cNvPr>
              <p:cNvSpPr txBox="1">
                <a:spLocks noRot="1" noChangeAspect="1" noMove="1" noResize="1" noEditPoints="1" noAdjustHandles="1" noChangeArrowheads="1" noChangeShapeType="1" noTextEdit="1"/>
              </p:cNvSpPr>
              <p:nvPr/>
            </p:nvSpPr>
            <p:spPr>
              <a:xfrm>
                <a:off x="542011" y="908456"/>
                <a:ext cx="8529100" cy="1394741"/>
              </a:xfrm>
              <a:prstGeom prst="rect">
                <a:avLst/>
              </a:prstGeom>
              <a:blipFill>
                <a:blip r:embed="rId7"/>
                <a:stretch>
                  <a:fillRect l="-1573" t="-4367" r="-2502" b="-14410"/>
                </a:stretch>
              </a:blipFill>
            </p:spPr>
            <p:txBody>
              <a:bodyPr/>
              <a:lstStyle/>
              <a:p>
                <a:r>
                  <a:rPr lang="zh-TW" altLang="en-US">
                    <a:noFill/>
                  </a:rPr>
                  <a:t> </a:t>
                </a:r>
              </a:p>
            </p:txBody>
          </p:sp>
        </mc:Fallback>
      </mc:AlternateContent>
      <p:pic>
        <p:nvPicPr>
          <p:cNvPr id="13" name="圖片 12">
            <a:extLst>
              <a:ext uri="{FF2B5EF4-FFF2-40B4-BE49-F238E27FC236}">
                <a16:creationId xmlns:a16="http://schemas.microsoft.com/office/drawing/2014/main" id="{BB569D82-9074-DCD4-F0EE-FF8470B58896}"/>
              </a:ext>
            </a:extLst>
          </p:cNvPr>
          <p:cNvPicPr>
            <a:picLocks noChangeAspect="1"/>
          </p:cNvPicPr>
          <p:nvPr/>
        </p:nvPicPr>
        <p:blipFill rotWithShape="1">
          <a:blip r:embed="rId8">
            <a:extLst>
              <a:ext uri="{28A0092B-C50C-407E-A947-70E740481C1C}">
                <a14:useLocalDpi xmlns:a14="http://schemas.microsoft.com/office/drawing/2010/main" val="0"/>
              </a:ext>
            </a:extLst>
          </a:blip>
          <a:srcRect l="-626" t="13659" r="5318"/>
          <a:stretch/>
        </p:blipFill>
        <p:spPr>
          <a:xfrm>
            <a:off x="4043363" y="3389116"/>
            <a:ext cx="4246546" cy="2828286"/>
          </a:xfrm>
          <a:prstGeom prst="rect">
            <a:avLst/>
          </a:prstGeom>
        </p:spPr>
      </p:pic>
      <p:sp>
        <p:nvSpPr>
          <p:cNvPr id="14" name="文字方塊 13">
            <a:extLst>
              <a:ext uri="{FF2B5EF4-FFF2-40B4-BE49-F238E27FC236}">
                <a16:creationId xmlns:a16="http://schemas.microsoft.com/office/drawing/2014/main" id="{D7BAD1E2-19DE-340D-A1C2-A8AE77441BF3}"/>
              </a:ext>
            </a:extLst>
          </p:cNvPr>
          <p:cNvSpPr txBox="1"/>
          <p:nvPr/>
        </p:nvSpPr>
        <p:spPr>
          <a:xfrm>
            <a:off x="8439493" y="1464070"/>
            <a:ext cx="1640193" cy="923330"/>
          </a:xfrm>
          <a:prstGeom prst="rect">
            <a:avLst/>
          </a:prstGeom>
          <a:noFill/>
        </p:spPr>
        <p:txBody>
          <a:bodyPr wrap="none" rtlCol="0">
            <a:spAutoFit/>
          </a:bodyPr>
          <a:lstStyle/>
          <a:p>
            <a:pPr marL="342900" indent="-342900">
              <a:buFont typeface="+mj-lt"/>
              <a:buAutoNum type="arabicPeriod"/>
            </a:pPr>
            <a:r>
              <a:rPr lang="en-US" altLang="zh-TW" dirty="0"/>
              <a:t>SiO</a:t>
            </a:r>
            <a:r>
              <a:rPr lang="en-US" altLang="zh-TW" baseline="-25000" dirty="0"/>
              <a:t>2</a:t>
            </a:r>
            <a:r>
              <a:rPr lang="en-US" altLang="zh-TW" dirty="0"/>
              <a:t>:100nm</a:t>
            </a:r>
          </a:p>
          <a:p>
            <a:pPr marL="342900" indent="-342900">
              <a:buFont typeface="+mj-lt"/>
              <a:buAutoNum type="arabicPeriod"/>
            </a:pPr>
            <a:r>
              <a:rPr lang="en-US" altLang="zh-TW" dirty="0"/>
              <a:t>Ni:50nm</a:t>
            </a:r>
          </a:p>
          <a:p>
            <a:pPr marL="342900" indent="-342900">
              <a:buFont typeface="+mj-lt"/>
              <a:buAutoNum type="arabicPeriod"/>
            </a:pPr>
            <a:r>
              <a:rPr lang="en-US" altLang="zh-TW" dirty="0"/>
              <a:t>Au:150nm</a:t>
            </a:r>
            <a:endParaRPr lang="zh-TW" altLang="en-US" dirty="0"/>
          </a:p>
        </p:txBody>
      </p:sp>
      <p:pic>
        <p:nvPicPr>
          <p:cNvPr id="16" name="圖片 15">
            <a:extLst>
              <a:ext uri="{FF2B5EF4-FFF2-40B4-BE49-F238E27FC236}">
                <a16:creationId xmlns:a16="http://schemas.microsoft.com/office/drawing/2014/main" id="{FFFA2E60-6C21-83C0-817C-D474E24A7792}"/>
              </a:ext>
            </a:extLst>
          </p:cNvPr>
          <p:cNvPicPr>
            <a:picLocks noChangeAspect="1"/>
          </p:cNvPicPr>
          <p:nvPr/>
        </p:nvPicPr>
        <p:blipFill>
          <a:blip r:embed="rId9"/>
          <a:stretch>
            <a:fillRect/>
          </a:stretch>
        </p:blipFill>
        <p:spPr>
          <a:xfrm flipH="1">
            <a:off x="5805192" y="4559808"/>
            <a:ext cx="204210" cy="141697"/>
          </a:xfrm>
          <a:prstGeom prst="rect">
            <a:avLst/>
          </a:prstGeom>
        </p:spPr>
      </p:pic>
      <p:pic>
        <p:nvPicPr>
          <p:cNvPr id="18" name="圖片 17">
            <a:extLst>
              <a:ext uri="{FF2B5EF4-FFF2-40B4-BE49-F238E27FC236}">
                <a16:creationId xmlns:a16="http://schemas.microsoft.com/office/drawing/2014/main" id="{424A0D09-832F-9233-945C-9881DF6E65D5}"/>
              </a:ext>
            </a:extLst>
          </p:cNvPr>
          <p:cNvPicPr>
            <a:picLocks noChangeAspect="1"/>
          </p:cNvPicPr>
          <p:nvPr/>
        </p:nvPicPr>
        <p:blipFill>
          <a:blip r:embed="rId10"/>
          <a:stretch>
            <a:fillRect/>
          </a:stretch>
        </p:blipFill>
        <p:spPr>
          <a:xfrm>
            <a:off x="9979366" y="4367903"/>
            <a:ext cx="241889" cy="167841"/>
          </a:xfrm>
          <a:prstGeom prst="rect">
            <a:avLst/>
          </a:prstGeom>
        </p:spPr>
      </p:pic>
    </p:spTree>
    <p:extLst>
      <p:ext uri="{BB962C8B-B14F-4D97-AF65-F5344CB8AC3E}">
        <p14:creationId xmlns:p14="http://schemas.microsoft.com/office/powerpoint/2010/main" val="35564995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66F64AE-CAE4-0A78-C8F9-867765DF3067}"/>
              </a:ext>
            </a:extLst>
          </p:cNvPr>
          <p:cNvSpPr>
            <a:spLocks noGrp="1"/>
          </p:cNvSpPr>
          <p:nvPr>
            <p:ph type="ctrTitle"/>
          </p:nvPr>
        </p:nvSpPr>
        <p:spPr>
          <a:xfrm>
            <a:off x="1915128" y="1788454"/>
            <a:ext cx="8791454" cy="2098226"/>
          </a:xfrm>
        </p:spPr>
        <p:txBody>
          <a:bodyPr/>
          <a:lstStyle/>
          <a:p>
            <a:r>
              <a:rPr lang="en-US" altLang="zh-TW" b="1" dirty="0">
                <a:solidFill>
                  <a:schemeClr val="tx1"/>
                </a:solidFill>
              </a:rPr>
              <a:t>Device Fabrication</a:t>
            </a:r>
          </a:p>
        </p:txBody>
      </p:sp>
      <p:sp>
        <p:nvSpPr>
          <p:cNvPr id="3" name="副標題 2">
            <a:extLst>
              <a:ext uri="{FF2B5EF4-FFF2-40B4-BE49-F238E27FC236}">
                <a16:creationId xmlns:a16="http://schemas.microsoft.com/office/drawing/2014/main" id="{B1B8DE14-80E4-7564-81F1-A7DA9C966337}"/>
              </a:ext>
            </a:extLst>
          </p:cNvPr>
          <p:cNvSpPr>
            <a:spLocks noGrp="1"/>
          </p:cNvSpPr>
          <p:nvPr>
            <p:ph type="subTitle" idx="1"/>
          </p:nvPr>
        </p:nvSpPr>
        <p:spPr>
          <a:xfrm>
            <a:off x="4166888" y="3886680"/>
            <a:ext cx="4893280" cy="1368075"/>
          </a:xfrm>
        </p:spPr>
        <p:txBody>
          <a:bodyPr>
            <a:normAutofit/>
          </a:bodyPr>
          <a:lstStyle/>
          <a:p>
            <a:pPr marL="457200" indent="-457200" algn="l">
              <a:buFont typeface="+mj-lt"/>
              <a:buAutoNum type="arabicPeriod"/>
            </a:pPr>
            <a:r>
              <a:rPr lang="en-US" altLang="zh-TW" dirty="0">
                <a:solidFill>
                  <a:schemeClr val="tx1"/>
                </a:solidFill>
              </a:rPr>
              <a:t>Fabrication process of waveguide</a:t>
            </a:r>
          </a:p>
          <a:p>
            <a:pPr marL="457200" indent="-457200" algn="l">
              <a:buFont typeface="+mj-lt"/>
              <a:buAutoNum type="arabicPeriod"/>
            </a:pPr>
            <a:r>
              <a:rPr lang="en-US" altLang="zh-TW" dirty="0">
                <a:solidFill>
                  <a:schemeClr val="tx1"/>
                </a:solidFill>
              </a:rPr>
              <a:t>Fabrication process of poling</a:t>
            </a:r>
          </a:p>
          <a:p>
            <a:pPr marL="457200" indent="-457200" algn="l">
              <a:buFont typeface="+mj-lt"/>
              <a:buAutoNum type="arabicPeriod"/>
            </a:pPr>
            <a:r>
              <a:rPr lang="en-US" altLang="zh-TW" dirty="0">
                <a:solidFill>
                  <a:schemeClr val="tx1"/>
                </a:solidFill>
              </a:rPr>
              <a:t>Fabrication process of electrode</a:t>
            </a:r>
          </a:p>
        </p:txBody>
      </p:sp>
    </p:spTree>
    <p:extLst>
      <p:ext uri="{BB962C8B-B14F-4D97-AF65-F5344CB8AC3E}">
        <p14:creationId xmlns:p14="http://schemas.microsoft.com/office/powerpoint/2010/main" val="13830501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Device Fabrication</a:t>
            </a:r>
            <a:endParaRPr lang="zh-TW" altLang="en-US" b="1"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0039351" y="6356352"/>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35</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sp>
        <p:nvSpPr>
          <p:cNvPr id="3" name="文字方塊 2">
            <a:extLst>
              <a:ext uri="{FF2B5EF4-FFF2-40B4-BE49-F238E27FC236}">
                <a16:creationId xmlns:a16="http://schemas.microsoft.com/office/drawing/2014/main" id="{54878CFB-2A35-4B16-601A-FD2D33BAF0CD}"/>
              </a:ext>
            </a:extLst>
          </p:cNvPr>
          <p:cNvSpPr txBox="1"/>
          <p:nvPr/>
        </p:nvSpPr>
        <p:spPr>
          <a:xfrm>
            <a:off x="4530941" y="781178"/>
            <a:ext cx="3420867" cy="523220"/>
          </a:xfrm>
          <a:prstGeom prst="rect">
            <a:avLst/>
          </a:prstGeom>
          <a:noFill/>
        </p:spPr>
        <p:txBody>
          <a:bodyPr wrap="square" rtlCol="0">
            <a:spAutoFit/>
          </a:bodyPr>
          <a:lstStyle/>
          <a:p>
            <a:r>
              <a:rPr lang="en-US" altLang="zh-TW" sz="2800" b="1" dirty="0">
                <a:effectLst>
                  <a:outerShdw blurRad="38100" dist="38100" dir="2700000" algn="tl">
                    <a:srgbClr val="000000">
                      <a:alpha val="43137"/>
                    </a:srgbClr>
                  </a:outerShdw>
                </a:effectLst>
              </a:rPr>
              <a:t>Fabrication</a:t>
            </a:r>
            <a:r>
              <a:rPr lang="en-US" altLang="zh-TW" b="1" dirty="0">
                <a:latin typeface="Times New Roman" panose="02020603050405020304" pitchFamily="18" charset="0"/>
                <a:cs typeface="Times New Roman" panose="02020603050405020304" pitchFamily="18" charset="0"/>
              </a:rPr>
              <a:t> </a:t>
            </a:r>
            <a:r>
              <a:rPr lang="en-US" altLang="zh-TW" sz="2800" b="1" dirty="0">
                <a:effectLst>
                  <a:outerShdw blurRad="38100" dist="38100" dir="2700000" algn="tl">
                    <a:srgbClr val="000000">
                      <a:alpha val="43137"/>
                    </a:srgbClr>
                  </a:outerShdw>
                </a:effectLst>
              </a:rPr>
              <a:t>process</a:t>
            </a:r>
            <a:r>
              <a:rPr lang="en-US" altLang="zh-TW" b="1" dirty="0">
                <a:latin typeface="Times New Roman" panose="02020603050405020304" pitchFamily="18" charset="0"/>
                <a:cs typeface="Times New Roman" panose="02020603050405020304" pitchFamily="18" charset="0"/>
              </a:rPr>
              <a:t> </a:t>
            </a:r>
            <a:endParaRPr lang="zh-TW" altLang="en-US" dirty="0"/>
          </a:p>
        </p:txBody>
      </p:sp>
      <p:pic>
        <p:nvPicPr>
          <p:cNvPr id="8" name="圖片 7">
            <a:extLst>
              <a:ext uri="{FF2B5EF4-FFF2-40B4-BE49-F238E27FC236}">
                <a16:creationId xmlns:a16="http://schemas.microsoft.com/office/drawing/2014/main" id="{2AD86E06-3FEB-BE80-DE38-F352F0DDC014}"/>
              </a:ext>
            </a:extLst>
          </p:cNvPr>
          <p:cNvPicPr>
            <a:picLocks noChangeAspect="1"/>
          </p:cNvPicPr>
          <p:nvPr/>
        </p:nvPicPr>
        <p:blipFill>
          <a:blip r:embed="rId4"/>
          <a:stretch>
            <a:fillRect/>
          </a:stretch>
        </p:blipFill>
        <p:spPr>
          <a:xfrm>
            <a:off x="665545" y="1042788"/>
            <a:ext cx="2806314" cy="4462039"/>
          </a:xfrm>
          <a:prstGeom prst="rect">
            <a:avLst/>
          </a:prstGeom>
        </p:spPr>
      </p:pic>
      <p:pic>
        <p:nvPicPr>
          <p:cNvPr id="9" name="圖片 8">
            <a:extLst>
              <a:ext uri="{FF2B5EF4-FFF2-40B4-BE49-F238E27FC236}">
                <a16:creationId xmlns:a16="http://schemas.microsoft.com/office/drawing/2014/main" id="{CDB93380-1CBC-03AE-2A53-F81CF10CA044}"/>
              </a:ext>
            </a:extLst>
          </p:cNvPr>
          <p:cNvPicPr>
            <a:picLocks noChangeAspect="1"/>
          </p:cNvPicPr>
          <p:nvPr/>
        </p:nvPicPr>
        <p:blipFill>
          <a:blip r:embed="rId5"/>
          <a:stretch>
            <a:fillRect/>
          </a:stretch>
        </p:blipFill>
        <p:spPr>
          <a:xfrm>
            <a:off x="4692843" y="1911919"/>
            <a:ext cx="2806314" cy="2723776"/>
          </a:xfrm>
          <a:prstGeom prst="rect">
            <a:avLst/>
          </a:prstGeom>
        </p:spPr>
      </p:pic>
      <p:pic>
        <p:nvPicPr>
          <p:cNvPr id="10" name="圖片 9">
            <a:extLst>
              <a:ext uri="{FF2B5EF4-FFF2-40B4-BE49-F238E27FC236}">
                <a16:creationId xmlns:a16="http://schemas.microsoft.com/office/drawing/2014/main" id="{F0B6C02B-9EDC-68A5-A8B1-3399782F9AC2}"/>
              </a:ext>
            </a:extLst>
          </p:cNvPr>
          <p:cNvPicPr>
            <a:picLocks noChangeAspect="1"/>
          </p:cNvPicPr>
          <p:nvPr/>
        </p:nvPicPr>
        <p:blipFill>
          <a:blip r:embed="rId6"/>
          <a:stretch>
            <a:fillRect/>
          </a:stretch>
        </p:blipFill>
        <p:spPr>
          <a:xfrm>
            <a:off x="8720141" y="1911919"/>
            <a:ext cx="2559803" cy="2723776"/>
          </a:xfrm>
          <a:prstGeom prst="rect">
            <a:avLst/>
          </a:prstGeom>
        </p:spPr>
      </p:pic>
      <p:sp>
        <p:nvSpPr>
          <p:cNvPr id="11" name="箭號: 向右 10">
            <a:extLst>
              <a:ext uri="{FF2B5EF4-FFF2-40B4-BE49-F238E27FC236}">
                <a16:creationId xmlns:a16="http://schemas.microsoft.com/office/drawing/2014/main" id="{D636ABD6-69C4-F977-C713-40464E522390}"/>
              </a:ext>
            </a:extLst>
          </p:cNvPr>
          <p:cNvSpPr/>
          <p:nvPr/>
        </p:nvSpPr>
        <p:spPr>
          <a:xfrm>
            <a:off x="3565003" y="3012197"/>
            <a:ext cx="1127840" cy="523220"/>
          </a:xfrm>
          <a:prstGeom prst="rightArrow">
            <a:avLst>
              <a:gd name="adj1" fmla="val 50000"/>
              <a:gd name="adj2" fmla="val 52212"/>
            </a:avLst>
          </a:prstGeom>
          <a:gradFill flip="none" rotWithShape="1">
            <a:gsLst>
              <a:gs pos="33000">
                <a:schemeClr val="bg1">
                  <a:lumMod val="85000"/>
                </a:schemeClr>
              </a:gs>
              <a:gs pos="82000">
                <a:schemeClr val="accent6">
                  <a:lumMod val="60000"/>
                  <a:lumOff val="40000"/>
                </a:schemeClr>
              </a:gs>
              <a:gs pos="100000">
                <a:schemeClr val="accent6">
                  <a:lumMod val="60000"/>
                  <a:lumOff val="40000"/>
                </a:schemeClr>
              </a:gs>
            </a:gsLst>
            <a:lin ang="0" scaled="1"/>
            <a:tileRect/>
          </a:gradFill>
          <a:ln>
            <a:solidFill>
              <a:schemeClr val="tx1">
                <a:alpha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箭號: 向右 11">
            <a:extLst>
              <a:ext uri="{FF2B5EF4-FFF2-40B4-BE49-F238E27FC236}">
                <a16:creationId xmlns:a16="http://schemas.microsoft.com/office/drawing/2014/main" id="{AA21315E-9AA8-ADD9-552A-F58F15EFCB05}"/>
              </a:ext>
            </a:extLst>
          </p:cNvPr>
          <p:cNvSpPr/>
          <p:nvPr/>
        </p:nvSpPr>
        <p:spPr>
          <a:xfrm>
            <a:off x="7685591" y="3012197"/>
            <a:ext cx="1127840" cy="523220"/>
          </a:xfrm>
          <a:prstGeom prst="rightArrow">
            <a:avLst>
              <a:gd name="adj1" fmla="val 50000"/>
              <a:gd name="adj2" fmla="val 52212"/>
            </a:avLst>
          </a:prstGeom>
          <a:gradFill flip="none" rotWithShape="1">
            <a:gsLst>
              <a:gs pos="33000">
                <a:schemeClr val="accent6">
                  <a:lumMod val="60000"/>
                  <a:lumOff val="40000"/>
                </a:schemeClr>
              </a:gs>
              <a:gs pos="73000">
                <a:srgbClr val="CFAFE7"/>
              </a:gs>
              <a:gs pos="100000">
                <a:srgbClr val="CFAFE7"/>
              </a:gs>
            </a:gsLst>
            <a:lin ang="0" scaled="1"/>
            <a:tileRect/>
          </a:gradFill>
          <a:ln>
            <a:solidFill>
              <a:schemeClr val="tx1">
                <a:alpha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3" name="圖片 12">
            <a:extLst>
              <a:ext uri="{FF2B5EF4-FFF2-40B4-BE49-F238E27FC236}">
                <a16:creationId xmlns:a16="http://schemas.microsoft.com/office/drawing/2014/main" id="{9C5CB3EB-0D24-BE93-927D-90DF4C45A4F6}"/>
              </a:ext>
            </a:extLst>
          </p:cNvPr>
          <p:cNvPicPr>
            <a:picLocks noChangeAspect="1"/>
          </p:cNvPicPr>
          <p:nvPr/>
        </p:nvPicPr>
        <p:blipFill>
          <a:blip r:embed="rId7"/>
          <a:stretch>
            <a:fillRect/>
          </a:stretch>
        </p:blipFill>
        <p:spPr>
          <a:xfrm>
            <a:off x="918800" y="5803711"/>
            <a:ext cx="2794880" cy="781178"/>
          </a:xfrm>
          <a:prstGeom prst="rect">
            <a:avLst/>
          </a:prstGeom>
        </p:spPr>
      </p:pic>
      <p:pic>
        <p:nvPicPr>
          <p:cNvPr id="14" name="圖片 13">
            <a:extLst>
              <a:ext uri="{FF2B5EF4-FFF2-40B4-BE49-F238E27FC236}">
                <a16:creationId xmlns:a16="http://schemas.microsoft.com/office/drawing/2014/main" id="{172C473D-D43A-7941-37BB-C8FA194CCE3C}"/>
              </a:ext>
            </a:extLst>
          </p:cNvPr>
          <p:cNvPicPr>
            <a:picLocks noChangeAspect="1"/>
          </p:cNvPicPr>
          <p:nvPr/>
        </p:nvPicPr>
        <p:blipFill>
          <a:blip r:embed="rId8"/>
          <a:stretch>
            <a:fillRect/>
          </a:stretch>
        </p:blipFill>
        <p:spPr>
          <a:xfrm>
            <a:off x="4891304" y="5748922"/>
            <a:ext cx="2877951" cy="801417"/>
          </a:xfrm>
          <a:prstGeom prst="rect">
            <a:avLst/>
          </a:prstGeom>
        </p:spPr>
      </p:pic>
      <p:pic>
        <p:nvPicPr>
          <p:cNvPr id="16" name="圖片 15">
            <a:extLst>
              <a:ext uri="{FF2B5EF4-FFF2-40B4-BE49-F238E27FC236}">
                <a16:creationId xmlns:a16="http://schemas.microsoft.com/office/drawing/2014/main" id="{6EE6F208-4D2B-4EBE-D2FE-6B52EE9E8042}"/>
              </a:ext>
            </a:extLst>
          </p:cNvPr>
          <p:cNvPicPr>
            <a:picLocks noChangeAspect="1"/>
          </p:cNvPicPr>
          <p:nvPr/>
        </p:nvPicPr>
        <p:blipFill>
          <a:blip r:embed="rId9"/>
          <a:stretch>
            <a:fillRect/>
          </a:stretch>
        </p:blipFill>
        <p:spPr>
          <a:xfrm>
            <a:off x="8946880" y="5760350"/>
            <a:ext cx="2806314" cy="778564"/>
          </a:xfrm>
          <a:prstGeom prst="rect">
            <a:avLst/>
          </a:prstGeom>
        </p:spPr>
      </p:pic>
      <p:pic>
        <p:nvPicPr>
          <p:cNvPr id="18" name="圖片 17">
            <a:extLst>
              <a:ext uri="{FF2B5EF4-FFF2-40B4-BE49-F238E27FC236}">
                <a16:creationId xmlns:a16="http://schemas.microsoft.com/office/drawing/2014/main" id="{0004D895-7CD9-35A0-CE2A-D419E2396A5B}"/>
              </a:ext>
            </a:extLst>
          </p:cNvPr>
          <p:cNvPicPr>
            <a:picLocks noChangeAspect="1"/>
          </p:cNvPicPr>
          <p:nvPr/>
        </p:nvPicPr>
        <p:blipFill>
          <a:blip r:embed="rId10"/>
          <a:stretch>
            <a:fillRect/>
          </a:stretch>
        </p:blipFill>
        <p:spPr>
          <a:xfrm>
            <a:off x="3963187" y="6002968"/>
            <a:ext cx="605994" cy="293327"/>
          </a:xfrm>
          <a:prstGeom prst="rect">
            <a:avLst/>
          </a:prstGeom>
        </p:spPr>
      </p:pic>
      <p:pic>
        <p:nvPicPr>
          <p:cNvPr id="19" name="圖片 18">
            <a:extLst>
              <a:ext uri="{FF2B5EF4-FFF2-40B4-BE49-F238E27FC236}">
                <a16:creationId xmlns:a16="http://schemas.microsoft.com/office/drawing/2014/main" id="{339EDF57-96F5-1C09-A91C-CCA7DD806E2A}"/>
              </a:ext>
            </a:extLst>
          </p:cNvPr>
          <p:cNvPicPr>
            <a:picLocks noChangeAspect="1"/>
          </p:cNvPicPr>
          <p:nvPr/>
        </p:nvPicPr>
        <p:blipFill>
          <a:blip r:embed="rId11"/>
          <a:stretch>
            <a:fillRect/>
          </a:stretch>
        </p:blipFill>
        <p:spPr>
          <a:xfrm>
            <a:off x="8068610" y="5936260"/>
            <a:ext cx="651531" cy="318835"/>
          </a:xfrm>
          <a:prstGeom prst="rect">
            <a:avLst/>
          </a:prstGeom>
        </p:spPr>
      </p:pic>
    </p:spTree>
    <p:extLst>
      <p:ext uri="{BB962C8B-B14F-4D97-AF65-F5344CB8AC3E}">
        <p14:creationId xmlns:p14="http://schemas.microsoft.com/office/powerpoint/2010/main" val="37028418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Device Fabrication</a:t>
            </a:r>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sp>
        <p:nvSpPr>
          <p:cNvPr id="3" name="文字方塊 2">
            <a:extLst>
              <a:ext uri="{FF2B5EF4-FFF2-40B4-BE49-F238E27FC236}">
                <a16:creationId xmlns:a16="http://schemas.microsoft.com/office/drawing/2014/main" id="{EDC2E6DA-9D30-F636-2DD8-4E2C64ACCD2E}"/>
              </a:ext>
            </a:extLst>
          </p:cNvPr>
          <p:cNvSpPr txBox="1"/>
          <p:nvPr/>
        </p:nvSpPr>
        <p:spPr>
          <a:xfrm>
            <a:off x="3517465" y="931649"/>
            <a:ext cx="5157069" cy="523220"/>
          </a:xfrm>
          <a:prstGeom prst="rect">
            <a:avLst/>
          </a:prstGeom>
          <a:noFill/>
        </p:spPr>
        <p:txBody>
          <a:bodyPr wrap="square" rtlCol="0">
            <a:spAutoFit/>
          </a:bodyPr>
          <a:lstStyle/>
          <a:p>
            <a:r>
              <a:rPr lang="en-US" altLang="zh-TW" sz="2800" b="1" dirty="0">
                <a:effectLst>
                  <a:outerShdw blurRad="38100" dist="38100" dir="2700000" algn="tl">
                    <a:srgbClr val="000000">
                      <a:alpha val="43137"/>
                    </a:srgbClr>
                  </a:outerShdw>
                </a:effectLst>
              </a:rPr>
              <a:t>Fabrication process of waveguide</a:t>
            </a:r>
          </a:p>
        </p:txBody>
      </p:sp>
      <p:pic>
        <p:nvPicPr>
          <p:cNvPr id="6" name="圖片 5">
            <a:extLst>
              <a:ext uri="{FF2B5EF4-FFF2-40B4-BE49-F238E27FC236}">
                <a16:creationId xmlns:a16="http://schemas.microsoft.com/office/drawing/2014/main" id="{1A3B7F3B-31A9-FD3F-304C-C55A79CB8BC9}"/>
              </a:ext>
            </a:extLst>
          </p:cNvPr>
          <p:cNvPicPr>
            <a:picLocks noChangeAspect="1"/>
          </p:cNvPicPr>
          <p:nvPr/>
        </p:nvPicPr>
        <p:blipFill>
          <a:blip r:embed="rId4"/>
          <a:stretch>
            <a:fillRect/>
          </a:stretch>
        </p:blipFill>
        <p:spPr>
          <a:xfrm>
            <a:off x="7798798" y="11631"/>
            <a:ext cx="2711654" cy="757916"/>
          </a:xfrm>
          <a:prstGeom prst="rect">
            <a:avLst/>
          </a:prstGeom>
        </p:spPr>
      </p:pic>
      <p:sp>
        <p:nvSpPr>
          <p:cNvPr id="13" name="文字方塊 12">
            <a:extLst>
              <a:ext uri="{FF2B5EF4-FFF2-40B4-BE49-F238E27FC236}">
                <a16:creationId xmlns:a16="http://schemas.microsoft.com/office/drawing/2014/main" id="{5CBF9879-8B26-B70E-91F8-6111FC4EA41E}"/>
              </a:ext>
            </a:extLst>
          </p:cNvPr>
          <p:cNvSpPr txBox="1"/>
          <p:nvPr/>
        </p:nvSpPr>
        <p:spPr>
          <a:xfrm>
            <a:off x="417123" y="1454869"/>
            <a:ext cx="4175568" cy="461665"/>
          </a:xfrm>
          <a:prstGeom prst="rect">
            <a:avLst/>
          </a:prstGeom>
          <a:noFill/>
        </p:spPr>
        <p:txBody>
          <a:bodyPr wrap="square">
            <a:spAutoFit/>
          </a:bodyPr>
          <a:lstStyle/>
          <a:p>
            <a:r>
              <a:rPr lang="en-US" altLang="zh-TW" sz="2400" b="1" i="1" u="sng" dirty="0">
                <a:latin typeface="Times New Roman" panose="02020603050405020304" pitchFamily="18" charset="0"/>
                <a:cs typeface="Times New Roman" panose="02020603050405020304" pitchFamily="18" charset="0"/>
              </a:rPr>
              <a:t>Lithography</a:t>
            </a:r>
            <a:r>
              <a:rPr lang="zh-TW" altLang="en-US" sz="2400" b="1" i="1" u="sng" dirty="0">
                <a:latin typeface="Times New Roman" panose="02020603050405020304" pitchFamily="18" charset="0"/>
                <a:cs typeface="Times New Roman" panose="02020603050405020304" pitchFamily="18" charset="0"/>
              </a:rPr>
              <a:t> </a:t>
            </a:r>
            <a:r>
              <a:rPr lang="en-US" altLang="zh-TW" sz="2400" b="1" i="1" u="sng" dirty="0">
                <a:latin typeface="Times New Roman" panose="02020603050405020304" pitchFamily="18" charset="0"/>
                <a:cs typeface="Times New Roman" panose="02020603050405020304" pitchFamily="18" charset="0"/>
              </a:rPr>
              <a:t>of waveguide</a:t>
            </a:r>
            <a:endParaRPr lang="zh-TW" altLang="en-US" sz="2400" b="1" i="1" u="sng" dirty="0">
              <a:latin typeface="Times New Roman" panose="02020603050405020304" pitchFamily="18" charset="0"/>
              <a:cs typeface="Times New Roman" panose="02020603050405020304" pitchFamily="18" charset="0"/>
            </a:endParaRPr>
          </a:p>
        </p:txBody>
      </p:sp>
      <p:pic>
        <p:nvPicPr>
          <p:cNvPr id="102" name="圖片 101">
            <a:extLst>
              <a:ext uri="{FF2B5EF4-FFF2-40B4-BE49-F238E27FC236}">
                <a16:creationId xmlns:a16="http://schemas.microsoft.com/office/drawing/2014/main" id="{FFFB2C63-F91F-83B9-107B-24AD3A07791D}"/>
              </a:ext>
            </a:extLst>
          </p:cNvPr>
          <p:cNvPicPr>
            <a:picLocks noChangeAspect="1"/>
          </p:cNvPicPr>
          <p:nvPr/>
        </p:nvPicPr>
        <p:blipFill>
          <a:blip r:embed="rId5"/>
          <a:stretch>
            <a:fillRect/>
          </a:stretch>
        </p:blipFill>
        <p:spPr>
          <a:xfrm>
            <a:off x="417123" y="2354238"/>
            <a:ext cx="7381675" cy="3378519"/>
          </a:xfrm>
          <a:prstGeom prst="rect">
            <a:avLst/>
          </a:prstGeom>
        </p:spPr>
      </p:pic>
      <p:pic>
        <p:nvPicPr>
          <p:cNvPr id="7" name="圖片 6">
            <a:extLst>
              <a:ext uri="{FF2B5EF4-FFF2-40B4-BE49-F238E27FC236}">
                <a16:creationId xmlns:a16="http://schemas.microsoft.com/office/drawing/2014/main" id="{5251E43D-FC2C-9A1A-DCC2-AC1AB2A60BB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74535" y="4360981"/>
            <a:ext cx="3007894" cy="2255920"/>
          </a:xfrm>
          <a:prstGeom prst="rect">
            <a:avLst/>
          </a:prstGeom>
        </p:spPr>
      </p:pic>
      <p:sp>
        <p:nvSpPr>
          <p:cNvPr id="8" name="文字方塊 7">
            <a:extLst>
              <a:ext uri="{FF2B5EF4-FFF2-40B4-BE49-F238E27FC236}">
                <a16:creationId xmlns:a16="http://schemas.microsoft.com/office/drawing/2014/main" id="{8BDBE079-706A-42EA-2CFA-1D99651167A3}"/>
              </a:ext>
            </a:extLst>
          </p:cNvPr>
          <p:cNvSpPr txBox="1"/>
          <p:nvPr/>
        </p:nvSpPr>
        <p:spPr>
          <a:xfrm>
            <a:off x="8781244" y="1451158"/>
            <a:ext cx="2731626" cy="400110"/>
          </a:xfrm>
          <a:prstGeom prst="rect">
            <a:avLst/>
          </a:prstGeom>
          <a:noFill/>
          <a:ln>
            <a:solidFill>
              <a:schemeClr val="bg2">
                <a:lumMod val="25000"/>
              </a:schemeClr>
            </a:solidFill>
          </a:ln>
        </p:spPr>
        <p:txBody>
          <a:bodyPr wrap="square">
            <a:spAutoFit/>
          </a:bodyPr>
          <a:lstStyle/>
          <a:p>
            <a:pPr algn="ctr"/>
            <a:r>
              <a:rPr lang="en-US" altLang="zh-TW" sz="2000" dirty="0">
                <a:latin typeface="+mj-lt"/>
                <a:cs typeface="Times New Roman" panose="02020603050405020304" pitchFamily="18" charset="0"/>
              </a:rPr>
              <a:t>Lithography</a:t>
            </a:r>
            <a:endParaRPr lang="zh-TW" altLang="en-US" sz="2000" dirty="0">
              <a:latin typeface="+mj-lt"/>
              <a:cs typeface="Times New Roman" panose="02020603050405020304" pitchFamily="18" charset="0"/>
            </a:endParaRPr>
          </a:p>
        </p:txBody>
      </p:sp>
      <p:pic>
        <p:nvPicPr>
          <p:cNvPr id="10" name="圖片 9">
            <a:extLst>
              <a:ext uri="{FF2B5EF4-FFF2-40B4-BE49-F238E27FC236}">
                <a16:creationId xmlns:a16="http://schemas.microsoft.com/office/drawing/2014/main" id="{F60E0759-0D63-FB23-97DE-C6398A134BF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674534" y="1916534"/>
            <a:ext cx="3007895" cy="2255921"/>
          </a:xfrm>
          <a:prstGeom prst="rect">
            <a:avLst/>
          </a:prstGeom>
        </p:spPr>
      </p:pic>
      <p:sp>
        <p:nvSpPr>
          <p:cNvPr id="5" name="投影片編號版面配置區 4">
            <a:extLst>
              <a:ext uri="{FF2B5EF4-FFF2-40B4-BE49-F238E27FC236}">
                <a16:creationId xmlns:a16="http://schemas.microsoft.com/office/drawing/2014/main" id="{31C0E2C6-58B4-9D7D-C322-DBD36DC7FA4C}"/>
              </a:ext>
            </a:extLst>
          </p:cNvPr>
          <p:cNvSpPr txBox="1">
            <a:spLocks/>
          </p:cNvSpPr>
          <p:nvPr/>
        </p:nvSpPr>
        <p:spPr>
          <a:xfrm>
            <a:off x="11581381" y="6392363"/>
            <a:ext cx="471101" cy="449075"/>
          </a:xfrm>
          <a:prstGeom prst="rect">
            <a:avLst/>
          </a:prstGeom>
        </p:spPr>
        <p:txBody>
          <a:bodyPr vert="horz" lIns="91440" tIns="45720" rIns="91440" bIns="45720" rtlCol="0" anchor="ctr"/>
          <a:lstStyle>
            <a:defPPr>
              <a:defRPr lang="zh-TW"/>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9A51F5D-0E00-425F-A9D9-084622BDD753}" type="slidenum">
              <a:rPr lang="zh-TW" altLang="en-US" b="1" smtClean="0">
                <a:latin typeface="Times New Roman" panose="02020603050405020304" pitchFamily="18" charset="0"/>
                <a:cs typeface="Times New Roman" panose="02020603050405020304" pitchFamily="18" charset="0"/>
              </a:rPr>
              <a:pPr/>
              <a:t>36</a:t>
            </a:fld>
            <a:endParaRPr lang="zh-TW"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05172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Device Fabrication</a:t>
            </a:r>
            <a:endParaRPr lang="zh-TW" altLang="en-US" b="1"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1428981" y="6340475"/>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37</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sp>
        <p:nvSpPr>
          <p:cNvPr id="7" name="文字方塊 6">
            <a:extLst>
              <a:ext uri="{FF2B5EF4-FFF2-40B4-BE49-F238E27FC236}">
                <a16:creationId xmlns:a16="http://schemas.microsoft.com/office/drawing/2014/main" id="{B4E11A23-7BB8-6C0A-FD07-3396E3DEEADF}"/>
              </a:ext>
            </a:extLst>
          </p:cNvPr>
          <p:cNvSpPr txBox="1"/>
          <p:nvPr/>
        </p:nvSpPr>
        <p:spPr>
          <a:xfrm>
            <a:off x="292260" y="1147081"/>
            <a:ext cx="3329377" cy="461665"/>
          </a:xfrm>
          <a:prstGeom prst="rect">
            <a:avLst/>
          </a:prstGeom>
          <a:noFill/>
        </p:spPr>
        <p:txBody>
          <a:bodyPr wrap="square">
            <a:spAutoFit/>
          </a:bodyPr>
          <a:lstStyle/>
          <a:p>
            <a:r>
              <a:rPr lang="en-US" altLang="zh-TW" sz="2400" b="1" i="1" u="sng" dirty="0" err="1">
                <a:latin typeface="Times New Roman" panose="02020603050405020304" pitchFamily="18" charset="0"/>
                <a:cs typeface="Times New Roman" panose="02020603050405020304" pitchFamily="18" charset="0"/>
              </a:rPr>
              <a:t>Ti-indiffusion</a:t>
            </a:r>
            <a:r>
              <a:rPr lang="en-US" altLang="zh-TW" sz="2400" b="1" i="1" u="sng" dirty="0">
                <a:latin typeface="Times New Roman" panose="02020603050405020304" pitchFamily="18" charset="0"/>
                <a:cs typeface="Times New Roman" panose="02020603050405020304" pitchFamily="18" charset="0"/>
              </a:rPr>
              <a:t> waveguide</a:t>
            </a:r>
            <a:endParaRPr lang="zh-TW" altLang="en-US" sz="2400" b="1" i="1" u="sng" dirty="0">
              <a:latin typeface="Times New Roman" panose="02020603050405020304" pitchFamily="18" charset="0"/>
              <a:cs typeface="Times New Roman" panose="02020603050405020304" pitchFamily="18" charset="0"/>
            </a:endParaRPr>
          </a:p>
        </p:txBody>
      </p:sp>
      <p:pic>
        <p:nvPicPr>
          <p:cNvPr id="21" name="圖片 20">
            <a:extLst>
              <a:ext uri="{FF2B5EF4-FFF2-40B4-BE49-F238E27FC236}">
                <a16:creationId xmlns:a16="http://schemas.microsoft.com/office/drawing/2014/main" id="{D1B7ECA0-50C5-216C-C231-669CBF8B4229}"/>
              </a:ext>
            </a:extLst>
          </p:cNvPr>
          <p:cNvPicPr>
            <a:picLocks noChangeAspect="1"/>
          </p:cNvPicPr>
          <p:nvPr/>
        </p:nvPicPr>
        <p:blipFill>
          <a:blip r:embed="rId4"/>
          <a:stretch>
            <a:fillRect/>
          </a:stretch>
        </p:blipFill>
        <p:spPr>
          <a:xfrm>
            <a:off x="153426" y="2362713"/>
            <a:ext cx="5707622" cy="3424573"/>
          </a:xfrm>
          <a:prstGeom prst="rect">
            <a:avLst/>
          </a:prstGeom>
        </p:spPr>
      </p:pic>
      <p:pic>
        <p:nvPicPr>
          <p:cNvPr id="22" name="圖片 21">
            <a:extLst>
              <a:ext uri="{FF2B5EF4-FFF2-40B4-BE49-F238E27FC236}">
                <a16:creationId xmlns:a16="http://schemas.microsoft.com/office/drawing/2014/main" id="{20F19D47-48E8-7533-AC1B-BDEFB1B48777}"/>
              </a:ext>
            </a:extLst>
          </p:cNvPr>
          <p:cNvPicPr>
            <a:picLocks noChangeAspect="1"/>
          </p:cNvPicPr>
          <p:nvPr/>
        </p:nvPicPr>
        <p:blipFill>
          <a:blip r:embed="rId5"/>
          <a:stretch>
            <a:fillRect/>
          </a:stretch>
        </p:blipFill>
        <p:spPr>
          <a:xfrm>
            <a:off x="7698714" y="1377914"/>
            <a:ext cx="3132604" cy="2352776"/>
          </a:xfrm>
          <a:prstGeom prst="rect">
            <a:avLst/>
          </a:prstGeom>
        </p:spPr>
      </p:pic>
      <p:sp>
        <p:nvSpPr>
          <p:cNvPr id="23" name="文字方塊 22">
            <a:extLst>
              <a:ext uri="{FF2B5EF4-FFF2-40B4-BE49-F238E27FC236}">
                <a16:creationId xmlns:a16="http://schemas.microsoft.com/office/drawing/2014/main" id="{965600EB-CD91-2948-D98F-2DAB059E329E}"/>
              </a:ext>
            </a:extLst>
          </p:cNvPr>
          <p:cNvSpPr txBox="1"/>
          <p:nvPr/>
        </p:nvSpPr>
        <p:spPr>
          <a:xfrm>
            <a:off x="7885644" y="916106"/>
            <a:ext cx="2792688" cy="400110"/>
          </a:xfrm>
          <a:prstGeom prst="rect">
            <a:avLst/>
          </a:prstGeom>
          <a:noFill/>
          <a:ln>
            <a:solidFill>
              <a:schemeClr val="bg2">
                <a:lumMod val="25000"/>
              </a:schemeClr>
            </a:solidFill>
          </a:ln>
        </p:spPr>
        <p:txBody>
          <a:bodyPr wrap="square">
            <a:spAutoFit/>
          </a:bodyPr>
          <a:lstStyle/>
          <a:p>
            <a:pPr algn="ctr"/>
            <a:r>
              <a:rPr lang="en-US" altLang="zh-TW" sz="2000" dirty="0">
                <a:latin typeface="+mj-lt"/>
                <a:cs typeface="Times New Roman" panose="02020603050405020304" pitchFamily="18" charset="0"/>
              </a:rPr>
              <a:t>Lift off after coating</a:t>
            </a:r>
            <a:endParaRPr lang="zh-TW" altLang="en-US" sz="2000" dirty="0">
              <a:latin typeface="+mj-lt"/>
              <a:cs typeface="Times New Roman" panose="02020603050405020304" pitchFamily="18" charset="0"/>
            </a:endParaRPr>
          </a:p>
        </p:txBody>
      </p:sp>
      <p:sp>
        <p:nvSpPr>
          <p:cNvPr id="24" name="文字方塊 23">
            <a:extLst>
              <a:ext uri="{FF2B5EF4-FFF2-40B4-BE49-F238E27FC236}">
                <a16:creationId xmlns:a16="http://schemas.microsoft.com/office/drawing/2014/main" id="{F615151D-8F83-16CA-6A87-A5244F093DAF}"/>
              </a:ext>
            </a:extLst>
          </p:cNvPr>
          <p:cNvSpPr txBox="1"/>
          <p:nvPr/>
        </p:nvSpPr>
        <p:spPr>
          <a:xfrm>
            <a:off x="7885643" y="3874945"/>
            <a:ext cx="2792689" cy="400110"/>
          </a:xfrm>
          <a:prstGeom prst="rect">
            <a:avLst/>
          </a:prstGeom>
          <a:noFill/>
          <a:ln>
            <a:solidFill>
              <a:schemeClr val="bg2">
                <a:lumMod val="25000"/>
              </a:schemeClr>
            </a:solidFill>
          </a:ln>
        </p:spPr>
        <p:txBody>
          <a:bodyPr wrap="square">
            <a:spAutoFit/>
          </a:bodyPr>
          <a:lstStyle/>
          <a:p>
            <a:r>
              <a:rPr lang="en-US" altLang="zh-TW" sz="2000" dirty="0" err="1">
                <a:latin typeface="+mj-lt"/>
                <a:cs typeface="Times New Roman" panose="02020603050405020304" pitchFamily="18" charset="0"/>
              </a:rPr>
              <a:t>Ti-indiffusion</a:t>
            </a:r>
            <a:r>
              <a:rPr lang="en-US" altLang="zh-TW" sz="2000" dirty="0">
                <a:latin typeface="+mj-lt"/>
                <a:cs typeface="Times New Roman" panose="02020603050405020304" pitchFamily="18" charset="0"/>
              </a:rPr>
              <a:t> waveguide</a:t>
            </a:r>
          </a:p>
        </p:txBody>
      </p:sp>
      <p:pic>
        <p:nvPicPr>
          <p:cNvPr id="26" name="圖片 25">
            <a:extLst>
              <a:ext uri="{FF2B5EF4-FFF2-40B4-BE49-F238E27FC236}">
                <a16:creationId xmlns:a16="http://schemas.microsoft.com/office/drawing/2014/main" id="{5D3D6A95-CF92-D0B1-42C3-1B21A6142187}"/>
              </a:ext>
            </a:extLst>
          </p:cNvPr>
          <p:cNvPicPr>
            <a:picLocks noChangeAspect="1"/>
          </p:cNvPicPr>
          <p:nvPr/>
        </p:nvPicPr>
        <p:blipFill>
          <a:blip r:embed="rId6"/>
          <a:stretch>
            <a:fillRect/>
          </a:stretch>
        </p:blipFill>
        <p:spPr>
          <a:xfrm>
            <a:off x="7798798" y="11631"/>
            <a:ext cx="2711654" cy="757916"/>
          </a:xfrm>
          <a:prstGeom prst="rect">
            <a:avLst/>
          </a:prstGeom>
        </p:spPr>
      </p:pic>
      <p:pic>
        <p:nvPicPr>
          <p:cNvPr id="6" name="圖片 5">
            <a:extLst>
              <a:ext uri="{FF2B5EF4-FFF2-40B4-BE49-F238E27FC236}">
                <a16:creationId xmlns:a16="http://schemas.microsoft.com/office/drawing/2014/main" id="{6519BCA3-5D3F-9D30-EF12-0FB3C52C0C9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94284" y="4397946"/>
            <a:ext cx="3137034" cy="2352776"/>
          </a:xfrm>
          <a:prstGeom prst="rect">
            <a:avLst/>
          </a:prstGeom>
        </p:spPr>
      </p:pic>
      <p:sp>
        <p:nvSpPr>
          <p:cNvPr id="8" name="文字方塊 7">
            <a:extLst>
              <a:ext uri="{FF2B5EF4-FFF2-40B4-BE49-F238E27FC236}">
                <a16:creationId xmlns:a16="http://schemas.microsoft.com/office/drawing/2014/main" id="{25B7AAD3-E626-448E-CD5A-39E290DBC349}"/>
              </a:ext>
            </a:extLst>
          </p:cNvPr>
          <p:cNvSpPr txBox="1"/>
          <p:nvPr/>
        </p:nvSpPr>
        <p:spPr>
          <a:xfrm>
            <a:off x="153426" y="5782270"/>
            <a:ext cx="2167838" cy="923330"/>
          </a:xfrm>
          <a:prstGeom prst="rect">
            <a:avLst/>
          </a:prstGeom>
          <a:noFill/>
        </p:spPr>
        <p:txBody>
          <a:bodyPr wrap="none" rtlCol="0">
            <a:spAutoFit/>
          </a:bodyPr>
          <a:lstStyle/>
          <a:p>
            <a:r>
              <a:rPr lang="en-US" altLang="zh-TW" dirty="0" err="1"/>
              <a:t>Ti-indiffusion</a:t>
            </a:r>
            <a:endParaRPr lang="en-US" altLang="zh-TW" dirty="0"/>
          </a:p>
          <a:p>
            <a:r>
              <a:rPr lang="en-US" altLang="zh-TW" dirty="0"/>
              <a:t>1.Coating </a:t>
            </a:r>
            <a:r>
              <a:rPr lang="en-US" altLang="zh-TW" dirty="0" err="1"/>
              <a:t>Ti</a:t>
            </a:r>
            <a:r>
              <a:rPr lang="en-US" altLang="zh-TW" dirty="0"/>
              <a:t> : 100nm</a:t>
            </a:r>
          </a:p>
          <a:p>
            <a:r>
              <a:rPr lang="en-US" altLang="zh-TW" dirty="0"/>
              <a:t>2.Diffusion T: 1035°C</a:t>
            </a:r>
            <a:endParaRPr lang="zh-TW" altLang="en-US" dirty="0"/>
          </a:p>
        </p:txBody>
      </p:sp>
    </p:spTree>
    <p:extLst>
      <p:ext uri="{BB962C8B-B14F-4D97-AF65-F5344CB8AC3E}">
        <p14:creationId xmlns:p14="http://schemas.microsoft.com/office/powerpoint/2010/main" val="17645163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Device Fabrication</a:t>
            </a:r>
            <a:endParaRPr lang="zh-TW" altLang="en-US" b="1"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1581381" y="6414869"/>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38</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sp>
        <p:nvSpPr>
          <p:cNvPr id="3" name="文字方塊 2">
            <a:extLst>
              <a:ext uri="{FF2B5EF4-FFF2-40B4-BE49-F238E27FC236}">
                <a16:creationId xmlns:a16="http://schemas.microsoft.com/office/drawing/2014/main" id="{B616C233-6D2B-EDB3-3F87-49993F7AAE35}"/>
              </a:ext>
            </a:extLst>
          </p:cNvPr>
          <p:cNvSpPr txBox="1"/>
          <p:nvPr/>
        </p:nvSpPr>
        <p:spPr>
          <a:xfrm>
            <a:off x="292260" y="1322845"/>
            <a:ext cx="3329377" cy="461665"/>
          </a:xfrm>
          <a:prstGeom prst="rect">
            <a:avLst/>
          </a:prstGeom>
          <a:noFill/>
        </p:spPr>
        <p:txBody>
          <a:bodyPr wrap="square">
            <a:spAutoFit/>
          </a:bodyPr>
          <a:lstStyle/>
          <a:p>
            <a:r>
              <a:rPr lang="en-US" altLang="zh-TW" sz="2400" b="1" i="1" u="sng" dirty="0">
                <a:latin typeface="Times New Roman" panose="02020603050405020304" pitchFamily="18" charset="0"/>
                <a:cs typeface="Times New Roman" panose="02020603050405020304" pitchFamily="18" charset="0"/>
              </a:rPr>
              <a:t>Lithography</a:t>
            </a:r>
            <a:r>
              <a:rPr lang="zh-TW" altLang="en-US" sz="2000" b="1" i="1" u="sng" dirty="0">
                <a:latin typeface="Times New Roman" panose="02020603050405020304" pitchFamily="18" charset="0"/>
                <a:cs typeface="Times New Roman" panose="02020603050405020304" pitchFamily="18" charset="0"/>
              </a:rPr>
              <a:t> </a:t>
            </a:r>
            <a:r>
              <a:rPr lang="en-US" altLang="zh-TW" sz="2400" b="1" i="1" u="sng" dirty="0">
                <a:latin typeface="Times New Roman" panose="02020603050405020304" pitchFamily="18" charset="0"/>
                <a:cs typeface="Times New Roman" panose="02020603050405020304" pitchFamily="18" charset="0"/>
              </a:rPr>
              <a:t>of poling</a:t>
            </a:r>
            <a:endParaRPr lang="zh-TW" altLang="en-US" sz="2400" b="1" i="1" u="sng"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C41420F9-9A1B-DA97-DEFB-453ED89D116C}"/>
              </a:ext>
            </a:extLst>
          </p:cNvPr>
          <p:cNvSpPr txBox="1"/>
          <p:nvPr/>
        </p:nvSpPr>
        <p:spPr>
          <a:xfrm>
            <a:off x="3621637" y="799625"/>
            <a:ext cx="4619538"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a typeface="新細明體" panose="02020500000000000000" pitchFamily="18" charset="-120"/>
                <a:cs typeface="+mn-cs"/>
              </a:rPr>
              <a:t>Fabrication process of poling</a:t>
            </a:r>
          </a:p>
        </p:txBody>
      </p:sp>
      <p:pic>
        <p:nvPicPr>
          <p:cNvPr id="10" name="圖片 9">
            <a:extLst>
              <a:ext uri="{FF2B5EF4-FFF2-40B4-BE49-F238E27FC236}">
                <a16:creationId xmlns:a16="http://schemas.microsoft.com/office/drawing/2014/main" id="{BBEC0507-4655-5E21-4398-75D396C44E90}"/>
              </a:ext>
            </a:extLst>
          </p:cNvPr>
          <p:cNvPicPr>
            <a:picLocks noChangeAspect="1"/>
          </p:cNvPicPr>
          <p:nvPr/>
        </p:nvPicPr>
        <p:blipFill>
          <a:blip r:embed="rId4"/>
          <a:stretch>
            <a:fillRect/>
          </a:stretch>
        </p:blipFill>
        <p:spPr>
          <a:xfrm>
            <a:off x="396433" y="2260606"/>
            <a:ext cx="6050667" cy="4154263"/>
          </a:xfrm>
          <a:prstGeom prst="rect">
            <a:avLst/>
          </a:prstGeom>
        </p:spPr>
      </p:pic>
      <p:pic>
        <p:nvPicPr>
          <p:cNvPr id="14" name="圖片 13">
            <a:extLst>
              <a:ext uri="{FF2B5EF4-FFF2-40B4-BE49-F238E27FC236}">
                <a16:creationId xmlns:a16="http://schemas.microsoft.com/office/drawing/2014/main" id="{3AAD0E80-5B22-0A5D-4991-1D8DF2CD8094}"/>
              </a:ext>
            </a:extLst>
          </p:cNvPr>
          <p:cNvPicPr>
            <a:picLocks noChangeAspect="1"/>
          </p:cNvPicPr>
          <p:nvPr/>
        </p:nvPicPr>
        <p:blipFill>
          <a:blip r:embed="rId5"/>
          <a:stretch>
            <a:fillRect/>
          </a:stretch>
        </p:blipFill>
        <p:spPr>
          <a:xfrm>
            <a:off x="8059918" y="1802181"/>
            <a:ext cx="2982330" cy="2236747"/>
          </a:xfrm>
          <a:prstGeom prst="rect">
            <a:avLst/>
          </a:prstGeom>
        </p:spPr>
      </p:pic>
      <p:pic>
        <p:nvPicPr>
          <p:cNvPr id="15" name="圖片 14">
            <a:extLst>
              <a:ext uri="{FF2B5EF4-FFF2-40B4-BE49-F238E27FC236}">
                <a16:creationId xmlns:a16="http://schemas.microsoft.com/office/drawing/2014/main" id="{C65FC2BE-FDC5-DE7B-06C3-EA00401B21D3}"/>
              </a:ext>
            </a:extLst>
          </p:cNvPr>
          <p:cNvPicPr>
            <a:picLocks noChangeAspect="1"/>
          </p:cNvPicPr>
          <p:nvPr/>
        </p:nvPicPr>
        <p:blipFill>
          <a:blip r:embed="rId6"/>
          <a:stretch>
            <a:fillRect/>
          </a:stretch>
        </p:blipFill>
        <p:spPr>
          <a:xfrm>
            <a:off x="8059917" y="4131872"/>
            <a:ext cx="2982329" cy="2238518"/>
          </a:xfrm>
          <a:prstGeom prst="rect">
            <a:avLst/>
          </a:prstGeom>
        </p:spPr>
      </p:pic>
      <p:sp>
        <p:nvSpPr>
          <p:cNvPr id="16" name="文字方塊 15">
            <a:extLst>
              <a:ext uri="{FF2B5EF4-FFF2-40B4-BE49-F238E27FC236}">
                <a16:creationId xmlns:a16="http://schemas.microsoft.com/office/drawing/2014/main" id="{64A6E13B-06F9-8D94-9AF9-5DB244906F43}"/>
              </a:ext>
            </a:extLst>
          </p:cNvPr>
          <p:cNvSpPr txBox="1"/>
          <p:nvPr/>
        </p:nvSpPr>
        <p:spPr>
          <a:xfrm>
            <a:off x="8148577" y="1322845"/>
            <a:ext cx="2731626" cy="400110"/>
          </a:xfrm>
          <a:prstGeom prst="rect">
            <a:avLst/>
          </a:prstGeom>
          <a:noFill/>
          <a:ln>
            <a:solidFill>
              <a:schemeClr val="bg2">
                <a:lumMod val="25000"/>
              </a:schemeClr>
            </a:solidFill>
          </a:ln>
        </p:spPr>
        <p:txBody>
          <a:bodyPr wrap="square">
            <a:spAutoFit/>
          </a:bodyPr>
          <a:lstStyle/>
          <a:p>
            <a:pPr algn="ctr"/>
            <a:r>
              <a:rPr lang="en-US" altLang="zh-TW" sz="2000" dirty="0">
                <a:latin typeface="+mj-lt"/>
                <a:cs typeface="Times New Roman" panose="02020603050405020304" pitchFamily="18" charset="0"/>
              </a:rPr>
              <a:t>Lithography</a:t>
            </a:r>
            <a:endParaRPr lang="zh-TW" altLang="en-US" sz="2000" dirty="0">
              <a:latin typeface="+mj-lt"/>
              <a:cs typeface="Times New Roman" panose="02020603050405020304" pitchFamily="18" charset="0"/>
            </a:endParaRPr>
          </a:p>
        </p:txBody>
      </p:sp>
      <p:pic>
        <p:nvPicPr>
          <p:cNvPr id="17" name="圖片 16">
            <a:extLst>
              <a:ext uri="{FF2B5EF4-FFF2-40B4-BE49-F238E27FC236}">
                <a16:creationId xmlns:a16="http://schemas.microsoft.com/office/drawing/2014/main" id="{40E67921-E688-48A0-D5AB-75248CDA30C8}"/>
              </a:ext>
            </a:extLst>
          </p:cNvPr>
          <p:cNvPicPr>
            <a:picLocks noChangeAspect="1"/>
          </p:cNvPicPr>
          <p:nvPr/>
        </p:nvPicPr>
        <p:blipFill>
          <a:blip r:embed="rId7"/>
          <a:stretch>
            <a:fillRect/>
          </a:stretch>
        </p:blipFill>
        <p:spPr>
          <a:xfrm>
            <a:off x="7705177" y="-3041"/>
            <a:ext cx="2805275" cy="781179"/>
          </a:xfrm>
          <a:prstGeom prst="rect">
            <a:avLst/>
          </a:prstGeom>
        </p:spPr>
      </p:pic>
    </p:spTree>
    <p:extLst>
      <p:ext uri="{BB962C8B-B14F-4D97-AF65-F5344CB8AC3E}">
        <p14:creationId xmlns:p14="http://schemas.microsoft.com/office/powerpoint/2010/main" val="28940376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Device Fabrication</a:t>
            </a:r>
            <a:endParaRPr lang="zh-TW" altLang="en-US" b="1"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1581381" y="6403356"/>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39</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sp>
        <p:nvSpPr>
          <p:cNvPr id="3" name="文字方塊 2">
            <a:extLst>
              <a:ext uri="{FF2B5EF4-FFF2-40B4-BE49-F238E27FC236}">
                <a16:creationId xmlns:a16="http://schemas.microsoft.com/office/drawing/2014/main" id="{1F2F7A3E-304D-5160-432D-CCD8207389CD}"/>
              </a:ext>
            </a:extLst>
          </p:cNvPr>
          <p:cNvSpPr txBox="1"/>
          <p:nvPr/>
        </p:nvSpPr>
        <p:spPr>
          <a:xfrm>
            <a:off x="269400" y="1172577"/>
            <a:ext cx="1513390" cy="461665"/>
          </a:xfrm>
          <a:prstGeom prst="rect">
            <a:avLst/>
          </a:prstGeom>
          <a:noFill/>
        </p:spPr>
        <p:txBody>
          <a:bodyPr wrap="square">
            <a:spAutoFit/>
          </a:bodyPr>
          <a:lstStyle/>
          <a:p>
            <a:r>
              <a:rPr lang="en-US" altLang="zh-TW" sz="2400" b="1" i="1" u="sng" dirty="0">
                <a:latin typeface="Times New Roman" panose="02020603050405020304" pitchFamily="18" charset="0"/>
                <a:cs typeface="Times New Roman" panose="02020603050405020304" pitchFamily="18" charset="0"/>
              </a:rPr>
              <a:t>poling</a:t>
            </a:r>
            <a:endParaRPr lang="zh-TW" altLang="en-US" sz="2400" b="1" i="1" u="sng" dirty="0">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D340494A-8687-465C-1E19-4254899A17B5}"/>
              </a:ext>
            </a:extLst>
          </p:cNvPr>
          <p:cNvPicPr>
            <a:picLocks noChangeAspect="1"/>
          </p:cNvPicPr>
          <p:nvPr/>
        </p:nvPicPr>
        <p:blipFill>
          <a:blip r:embed="rId4"/>
          <a:stretch>
            <a:fillRect/>
          </a:stretch>
        </p:blipFill>
        <p:spPr>
          <a:xfrm>
            <a:off x="269400" y="2025641"/>
            <a:ext cx="7682407" cy="3856755"/>
          </a:xfrm>
          <a:prstGeom prst="rect">
            <a:avLst/>
          </a:prstGeom>
        </p:spPr>
      </p:pic>
      <p:sp>
        <p:nvSpPr>
          <p:cNvPr id="7" name="文字方塊 6">
            <a:extLst>
              <a:ext uri="{FF2B5EF4-FFF2-40B4-BE49-F238E27FC236}">
                <a16:creationId xmlns:a16="http://schemas.microsoft.com/office/drawing/2014/main" id="{B0FDE02B-98F6-F077-1C5D-F7E7087CD157}"/>
              </a:ext>
            </a:extLst>
          </p:cNvPr>
          <p:cNvSpPr txBox="1"/>
          <p:nvPr/>
        </p:nvSpPr>
        <p:spPr>
          <a:xfrm>
            <a:off x="8222730" y="962444"/>
            <a:ext cx="3421273" cy="400110"/>
          </a:xfrm>
          <a:prstGeom prst="rect">
            <a:avLst/>
          </a:prstGeom>
          <a:noFill/>
          <a:ln>
            <a:solidFill>
              <a:schemeClr val="bg2">
                <a:lumMod val="25000"/>
              </a:schemeClr>
            </a:solidFill>
          </a:ln>
        </p:spPr>
        <p:txBody>
          <a:bodyPr wrap="square">
            <a:spAutoFit/>
          </a:bodyPr>
          <a:lstStyle/>
          <a:p>
            <a:r>
              <a:rPr lang="en-US" altLang="zh-TW" sz="2000" dirty="0">
                <a:latin typeface="+mj-lt"/>
                <a:cs typeface="Times New Roman" panose="02020603050405020304" pitchFamily="18" charset="0"/>
              </a:rPr>
              <a:t>Poling result after etching PPLN</a:t>
            </a:r>
            <a:endParaRPr lang="zh-TW" altLang="en-US" sz="2000" dirty="0">
              <a:latin typeface="+mj-lt"/>
              <a:cs typeface="Times New Roman" panose="02020603050405020304" pitchFamily="18" charset="0"/>
            </a:endParaRPr>
          </a:p>
        </p:txBody>
      </p:sp>
      <p:pic>
        <p:nvPicPr>
          <p:cNvPr id="8" name="圖片 7">
            <a:extLst>
              <a:ext uri="{FF2B5EF4-FFF2-40B4-BE49-F238E27FC236}">
                <a16:creationId xmlns:a16="http://schemas.microsoft.com/office/drawing/2014/main" id="{C96EBA15-4999-C18F-CF12-8892D9612BE5}"/>
              </a:ext>
            </a:extLst>
          </p:cNvPr>
          <p:cNvPicPr>
            <a:picLocks noChangeAspect="1"/>
          </p:cNvPicPr>
          <p:nvPr/>
        </p:nvPicPr>
        <p:blipFill>
          <a:blip r:embed="rId5"/>
          <a:stretch>
            <a:fillRect/>
          </a:stretch>
        </p:blipFill>
        <p:spPr>
          <a:xfrm>
            <a:off x="8426370" y="1403409"/>
            <a:ext cx="3003163" cy="2252372"/>
          </a:xfrm>
          <a:prstGeom prst="rect">
            <a:avLst/>
          </a:prstGeom>
        </p:spPr>
      </p:pic>
      <p:pic>
        <p:nvPicPr>
          <p:cNvPr id="9" name="圖片 8">
            <a:extLst>
              <a:ext uri="{FF2B5EF4-FFF2-40B4-BE49-F238E27FC236}">
                <a16:creationId xmlns:a16="http://schemas.microsoft.com/office/drawing/2014/main" id="{9FAB1D34-B292-F0DD-31A7-0BE61312F050}"/>
              </a:ext>
            </a:extLst>
          </p:cNvPr>
          <p:cNvPicPr>
            <a:picLocks noChangeAspect="1"/>
          </p:cNvPicPr>
          <p:nvPr/>
        </p:nvPicPr>
        <p:blipFill>
          <a:blip r:embed="rId6"/>
          <a:stretch>
            <a:fillRect/>
          </a:stretch>
        </p:blipFill>
        <p:spPr>
          <a:xfrm>
            <a:off x="7705177" y="-3041"/>
            <a:ext cx="2805275" cy="781179"/>
          </a:xfrm>
          <a:prstGeom prst="rect">
            <a:avLst/>
          </a:prstGeom>
        </p:spPr>
      </p:pic>
      <p:sp>
        <p:nvSpPr>
          <p:cNvPr id="10" name="文字方塊 9">
            <a:extLst>
              <a:ext uri="{FF2B5EF4-FFF2-40B4-BE49-F238E27FC236}">
                <a16:creationId xmlns:a16="http://schemas.microsoft.com/office/drawing/2014/main" id="{7A527654-7B75-93C4-B775-4D9254CBC377}"/>
              </a:ext>
            </a:extLst>
          </p:cNvPr>
          <p:cNvSpPr txBox="1"/>
          <p:nvPr/>
        </p:nvSpPr>
        <p:spPr>
          <a:xfrm>
            <a:off x="8222730" y="3753963"/>
            <a:ext cx="3421273" cy="707886"/>
          </a:xfrm>
          <a:prstGeom prst="rect">
            <a:avLst/>
          </a:prstGeom>
          <a:noFill/>
          <a:ln>
            <a:solidFill>
              <a:schemeClr val="bg2">
                <a:lumMod val="25000"/>
              </a:schemeClr>
            </a:solidFill>
          </a:ln>
        </p:spPr>
        <p:txBody>
          <a:bodyPr wrap="square">
            <a:spAutoFit/>
          </a:bodyPr>
          <a:lstStyle/>
          <a:p>
            <a:pPr algn="ctr"/>
            <a:r>
              <a:rPr lang="en-US" altLang="zh-TW" sz="2000" dirty="0">
                <a:latin typeface="+mj-lt"/>
                <a:cs typeface="Times New Roman" panose="02020603050405020304" pitchFamily="18" charset="0"/>
              </a:rPr>
              <a:t>Poling result after etching APPLN</a:t>
            </a:r>
            <a:endParaRPr lang="zh-TW" altLang="en-US" sz="2000" dirty="0">
              <a:latin typeface="+mj-lt"/>
              <a:cs typeface="Times New Roman" panose="02020603050405020304" pitchFamily="18" charset="0"/>
            </a:endParaRPr>
          </a:p>
        </p:txBody>
      </p:sp>
      <p:pic>
        <p:nvPicPr>
          <p:cNvPr id="11" name="圖片 10">
            <a:extLst>
              <a:ext uri="{FF2B5EF4-FFF2-40B4-BE49-F238E27FC236}">
                <a16:creationId xmlns:a16="http://schemas.microsoft.com/office/drawing/2014/main" id="{F0285909-3F69-0900-B31A-5AE65A6DF51B}"/>
              </a:ext>
            </a:extLst>
          </p:cNvPr>
          <p:cNvPicPr>
            <a:picLocks noChangeAspect="1"/>
          </p:cNvPicPr>
          <p:nvPr/>
        </p:nvPicPr>
        <p:blipFill>
          <a:blip r:embed="rId7"/>
          <a:stretch>
            <a:fillRect/>
          </a:stretch>
        </p:blipFill>
        <p:spPr>
          <a:xfrm>
            <a:off x="8426369" y="4521511"/>
            <a:ext cx="3003163" cy="2246971"/>
          </a:xfrm>
          <a:prstGeom prst="rect">
            <a:avLst/>
          </a:prstGeom>
        </p:spPr>
      </p:pic>
      <p:sp>
        <p:nvSpPr>
          <p:cNvPr id="12" name="文字方塊 11">
            <a:extLst>
              <a:ext uri="{FF2B5EF4-FFF2-40B4-BE49-F238E27FC236}">
                <a16:creationId xmlns:a16="http://schemas.microsoft.com/office/drawing/2014/main" id="{600F7876-7140-A814-C9B5-0808862CA783}"/>
              </a:ext>
            </a:extLst>
          </p:cNvPr>
          <p:cNvSpPr txBox="1"/>
          <p:nvPr/>
        </p:nvSpPr>
        <p:spPr>
          <a:xfrm>
            <a:off x="6278311" y="4607809"/>
            <a:ext cx="1808958" cy="400110"/>
          </a:xfrm>
          <a:prstGeom prst="rect">
            <a:avLst/>
          </a:prstGeom>
          <a:noFill/>
          <a:ln>
            <a:solidFill>
              <a:schemeClr val="bg2">
                <a:lumMod val="25000"/>
              </a:schemeClr>
            </a:solidFill>
          </a:ln>
        </p:spPr>
        <p:txBody>
          <a:bodyPr wrap="square">
            <a:spAutoFit/>
          </a:bodyPr>
          <a:lstStyle/>
          <a:p>
            <a:pPr algn="ctr"/>
            <a:r>
              <a:rPr lang="en-US" altLang="zh-TW" sz="2000" dirty="0">
                <a:latin typeface="+mj-lt"/>
                <a:cs typeface="Times New Roman" panose="02020603050405020304" pitchFamily="18" charset="0"/>
              </a:rPr>
              <a:t>End </a:t>
            </a:r>
            <a:r>
              <a:rPr lang="en-US" altLang="zh-TW" sz="2000" dirty="0" err="1">
                <a:latin typeface="+mj-lt"/>
                <a:cs typeface="Times New Roman" panose="02020603050405020304" pitchFamily="18" charset="0"/>
              </a:rPr>
              <a:t>fase</a:t>
            </a:r>
            <a:r>
              <a:rPr lang="en-US" altLang="zh-TW" sz="2000" dirty="0">
                <a:latin typeface="+mj-lt"/>
                <a:cs typeface="Times New Roman" panose="02020603050405020304" pitchFamily="18" charset="0"/>
              </a:rPr>
              <a:t> polish</a:t>
            </a:r>
            <a:endParaRPr lang="zh-TW" altLang="en-US" sz="2000" dirty="0">
              <a:latin typeface="+mj-lt"/>
              <a:cs typeface="Times New Roman" panose="02020603050405020304" pitchFamily="18" charset="0"/>
            </a:endParaRPr>
          </a:p>
        </p:txBody>
      </p:sp>
      <p:pic>
        <p:nvPicPr>
          <p:cNvPr id="13" name="圖片 12">
            <a:extLst>
              <a:ext uri="{FF2B5EF4-FFF2-40B4-BE49-F238E27FC236}">
                <a16:creationId xmlns:a16="http://schemas.microsoft.com/office/drawing/2014/main" id="{8068B685-4717-9095-E140-18C0E37B79F5}"/>
              </a:ext>
            </a:extLst>
          </p:cNvPr>
          <p:cNvPicPr>
            <a:picLocks noChangeAspect="1"/>
          </p:cNvPicPr>
          <p:nvPr/>
        </p:nvPicPr>
        <p:blipFill>
          <a:blip r:embed="rId8"/>
          <a:stretch>
            <a:fillRect/>
          </a:stretch>
        </p:blipFill>
        <p:spPr>
          <a:xfrm>
            <a:off x="6130088" y="5082258"/>
            <a:ext cx="2215057" cy="1686223"/>
          </a:xfrm>
          <a:prstGeom prst="rect">
            <a:avLst/>
          </a:prstGeom>
        </p:spPr>
      </p:pic>
    </p:spTree>
    <p:extLst>
      <p:ext uri="{BB962C8B-B14F-4D97-AF65-F5344CB8AC3E}">
        <p14:creationId xmlns:p14="http://schemas.microsoft.com/office/powerpoint/2010/main" val="6428307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Device Fabrication</a:t>
            </a:r>
            <a:endParaRPr lang="zh-TW" altLang="en-US" b="1"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1687049" y="6490718"/>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40</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sp>
        <p:nvSpPr>
          <p:cNvPr id="9" name="文字方塊 8">
            <a:extLst>
              <a:ext uri="{FF2B5EF4-FFF2-40B4-BE49-F238E27FC236}">
                <a16:creationId xmlns:a16="http://schemas.microsoft.com/office/drawing/2014/main" id="{B54245A8-83F0-BB3E-F550-548E6DD5DBA1}"/>
              </a:ext>
            </a:extLst>
          </p:cNvPr>
          <p:cNvSpPr txBox="1"/>
          <p:nvPr/>
        </p:nvSpPr>
        <p:spPr>
          <a:xfrm>
            <a:off x="269399" y="1172577"/>
            <a:ext cx="3399775" cy="461665"/>
          </a:xfrm>
          <a:prstGeom prst="rect">
            <a:avLst/>
          </a:prstGeom>
          <a:noFill/>
        </p:spPr>
        <p:txBody>
          <a:bodyPr wrap="square">
            <a:spAutoFit/>
          </a:bodyPr>
          <a:lstStyle/>
          <a:p>
            <a:r>
              <a:rPr lang="en-US" altLang="zh-TW" sz="2400" b="1" i="1" u="sng" dirty="0">
                <a:latin typeface="Times New Roman" panose="02020603050405020304" pitchFamily="18" charset="0"/>
                <a:cs typeface="Times New Roman" panose="02020603050405020304" pitchFamily="18" charset="0"/>
              </a:rPr>
              <a:t>Lithography</a:t>
            </a:r>
            <a:r>
              <a:rPr lang="zh-TW" altLang="en-US" sz="2000" b="1" i="1" u="sng" dirty="0">
                <a:latin typeface="Times New Roman" panose="02020603050405020304" pitchFamily="18" charset="0"/>
                <a:cs typeface="Times New Roman" panose="02020603050405020304" pitchFamily="18" charset="0"/>
              </a:rPr>
              <a:t> </a:t>
            </a:r>
            <a:r>
              <a:rPr lang="en-US" altLang="zh-TW" sz="2400" b="1" i="1" u="sng" dirty="0">
                <a:latin typeface="Times New Roman" panose="02020603050405020304" pitchFamily="18" charset="0"/>
                <a:cs typeface="Times New Roman" panose="02020603050405020304" pitchFamily="18" charset="0"/>
              </a:rPr>
              <a:t>of electrode</a:t>
            </a:r>
            <a:endParaRPr lang="zh-TW" altLang="en-US" sz="2400" b="1" i="1" u="sng"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01F993EA-A1AE-C2A3-F5A7-5FD8CB91C213}"/>
              </a:ext>
            </a:extLst>
          </p:cNvPr>
          <p:cNvSpPr txBox="1"/>
          <p:nvPr/>
        </p:nvSpPr>
        <p:spPr>
          <a:xfrm>
            <a:off x="3621637" y="799625"/>
            <a:ext cx="5128824"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a typeface="新細明體" panose="02020500000000000000" pitchFamily="18" charset="-120"/>
                <a:cs typeface="+mn-cs"/>
              </a:rPr>
              <a:t>Fabrication process of electrode</a:t>
            </a:r>
          </a:p>
        </p:txBody>
      </p:sp>
      <p:pic>
        <p:nvPicPr>
          <p:cNvPr id="11" name="圖片 10">
            <a:extLst>
              <a:ext uri="{FF2B5EF4-FFF2-40B4-BE49-F238E27FC236}">
                <a16:creationId xmlns:a16="http://schemas.microsoft.com/office/drawing/2014/main" id="{696DA20B-9CC9-4650-2C05-6478ABCB14DD}"/>
              </a:ext>
            </a:extLst>
          </p:cNvPr>
          <p:cNvPicPr>
            <a:picLocks noChangeAspect="1"/>
          </p:cNvPicPr>
          <p:nvPr/>
        </p:nvPicPr>
        <p:blipFill>
          <a:blip r:embed="rId4"/>
          <a:stretch>
            <a:fillRect/>
          </a:stretch>
        </p:blipFill>
        <p:spPr>
          <a:xfrm>
            <a:off x="269399" y="2146580"/>
            <a:ext cx="7921741" cy="4089897"/>
          </a:xfrm>
          <a:prstGeom prst="rect">
            <a:avLst/>
          </a:prstGeom>
        </p:spPr>
      </p:pic>
      <p:pic>
        <p:nvPicPr>
          <p:cNvPr id="12" name="圖片 11">
            <a:extLst>
              <a:ext uri="{FF2B5EF4-FFF2-40B4-BE49-F238E27FC236}">
                <a16:creationId xmlns:a16="http://schemas.microsoft.com/office/drawing/2014/main" id="{7C96EDE7-FD4A-7B2B-0B3D-5E0FF2D3CF74}"/>
              </a:ext>
            </a:extLst>
          </p:cNvPr>
          <p:cNvPicPr>
            <a:picLocks noChangeAspect="1"/>
          </p:cNvPicPr>
          <p:nvPr/>
        </p:nvPicPr>
        <p:blipFill>
          <a:blip r:embed="rId5"/>
          <a:stretch>
            <a:fillRect/>
          </a:stretch>
        </p:blipFill>
        <p:spPr>
          <a:xfrm>
            <a:off x="8750461" y="1710993"/>
            <a:ext cx="2767824" cy="2078916"/>
          </a:xfrm>
          <a:prstGeom prst="rect">
            <a:avLst/>
          </a:prstGeom>
        </p:spPr>
      </p:pic>
      <p:pic>
        <p:nvPicPr>
          <p:cNvPr id="13" name="圖片 12">
            <a:extLst>
              <a:ext uri="{FF2B5EF4-FFF2-40B4-BE49-F238E27FC236}">
                <a16:creationId xmlns:a16="http://schemas.microsoft.com/office/drawing/2014/main" id="{8024D299-AEBB-CCDC-D3AF-ED30A76BBAE0}"/>
              </a:ext>
            </a:extLst>
          </p:cNvPr>
          <p:cNvPicPr>
            <a:picLocks noChangeAspect="1"/>
          </p:cNvPicPr>
          <p:nvPr/>
        </p:nvPicPr>
        <p:blipFill>
          <a:blip r:embed="rId6"/>
          <a:stretch>
            <a:fillRect/>
          </a:stretch>
        </p:blipFill>
        <p:spPr>
          <a:xfrm>
            <a:off x="8750461" y="4459997"/>
            <a:ext cx="2771889" cy="2078917"/>
          </a:xfrm>
          <a:prstGeom prst="rect">
            <a:avLst/>
          </a:prstGeom>
        </p:spPr>
      </p:pic>
      <p:sp>
        <p:nvSpPr>
          <p:cNvPr id="14" name="文字方塊 13">
            <a:extLst>
              <a:ext uri="{FF2B5EF4-FFF2-40B4-BE49-F238E27FC236}">
                <a16:creationId xmlns:a16="http://schemas.microsoft.com/office/drawing/2014/main" id="{726557DD-19BA-C68F-4189-75752919FED0}"/>
              </a:ext>
            </a:extLst>
          </p:cNvPr>
          <p:cNvSpPr txBox="1"/>
          <p:nvPr/>
        </p:nvSpPr>
        <p:spPr>
          <a:xfrm>
            <a:off x="8501328" y="1222041"/>
            <a:ext cx="3421273" cy="400110"/>
          </a:xfrm>
          <a:prstGeom prst="rect">
            <a:avLst/>
          </a:prstGeom>
          <a:noFill/>
          <a:ln>
            <a:solidFill>
              <a:schemeClr val="bg2">
                <a:lumMod val="25000"/>
              </a:schemeClr>
            </a:solidFill>
          </a:ln>
        </p:spPr>
        <p:txBody>
          <a:bodyPr wrap="square">
            <a:spAutoFit/>
          </a:bodyPr>
          <a:lstStyle/>
          <a:p>
            <a:pPr algn="ctr"/>
            <a:r>
              <a:rPr lang="en-US" altLang="zh-TW" sz="2000" dirty="0">
                <a:latin typeface="+mj-lt"/>
                <a:cs typeface="Times New Roman" panose="02020603050405020304" pitchFamily="18" charset="0"/>
              </a:rPr>
              <a:t>Lithography electrode EOPMC</a:t>
            </a:r>
            <a:endParaRPr lang="zh-TW" altLang="en-US" sz="2000" dirty="0">
              <a:latin typeface="+mj-lt"/>
              <a:cs typeface="Times New Roman" panose="02020603050405020304" pitchFamily="18" charset="0"/>
            </a:endParaRPr>
          </a:p>
        </p:txBody>
      </p:sp>
      <p:sp>
        <p:nvSpPr>
          <p:cNvPr id="15" name="文字方塊 14">
            <a:extLst>
              <a:ext uri="{FF2B5EF4-FFF2-40B4-BE49-F238E27FC236}">
                <a16:creationId xmlns:a16="http://schemas.microsoft.com/office/drawing/2014/main" id="{DE8885E4-8E8B-8F43-12DC-BB05695B296B}"/>
              </a:ext>
            </a:extLst>
          </p:cNvPr>
          <p:cNvSpPr txBox="1"/>
          <p:nvPr/>
        </p:nvSpPr>
        <p:spPr>
          <a:xfrm>
            <a:off x="8501327" y="3947661"/>
            <a:ext cx="3421273" cy="400110"/>
          </a:xfrm>
          <a:prstGeom prst="rect">
            <a:avLst/>
          </a:prstGeom>
          <a:noFill/>
          <a:ln>
            <a:solidFill>
              <a:schemeClr val="bg2">
                <a:lumMod val="25000"/>
              </a:schemeClr>
            </a:solidFill>
          </a:ln>
        </p:spPr>
        <p:txBody>
          <a:bodyPr wrap="square">
            <a:spAutoFit/>
          </a:bodyPr>
          <a:lstStyle/>
          <a:p>
            <a:pPr algn="ctr"/>
            <a:r>
              <a:rPr lang="en-US" altLang="zh-TW" sz="2000" dirty="0">
                <a:latin typeface="+mj-lt"/>
                <a:cs typeface="Times New Roman" panose="02020603050405020304" pitchFamily="18" charset="0"/>
              </a:rPr>
              <a:t>Lithography electrode EO</a:t>
            </a:r>
            <a:endParaRPr lang="zh-TW" altLang="en-US" sz="2000" dirty="0">
              <a:latin typeface="+mj-lt"/>
              <a:cs typeface="Times New Roman" panose="02020603050405020304" pitchFamily="18" charset="0"/>
            </a:endParaRPr>
          </a:p>
        </p:txBody>
      </p:sp>
      <p:pic>
        <p:nvPicPr>
          <p:cNvPr id="16" name="圖片 15">
            <a:extLst>
              <a:ext uri="{FF2B5EF4-FFF2-40B4-BE49-F238E27FC236}">
                <a16:creationId xmlns:a16="http://schemas.microsoft.com/office/drawing/2014/main" id="{63A79B1D-F1A9-DB6D-A580-09F59C97A14F}"/>
              </a:ext>
            </a:extLst>
          </p:cNvPr>
          <p:cNvPicPr>
            <a:picLocks noChangeAspect="1"/>
          </p:cNvPicPr>
          <p:nvPr/>
        </p:nvPicPr>
        <p:blipFill>
          <a:blip r:embed="rId7"/>
          <a:stretch>
            <a:fillRect/>
          </a:stretch>
        </p:blipFill>
        <p:spPr>
          <a:xfrm>
            <a:off x="7732500" y="-1918"/>
            <a:ext cx="2806314" cy="778564"/>
          </a:xfrm>
          <a:prstGeom prst="rect">
            <a:avLst/>
          </a:prstGeom>
        </p:spPr>
      </p:pic>
    </p:spTree>
    <p:extLst>
      <p:ext uri="{BB962C8B-B14F-4D97-AF65-F5344CB8AC3E}">
        <p14:creationId xmlns:p14="http://schemas.microsoft.com/office/powerpoint/2010/main" val="41944334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Device Fabrication</a:t>
            </a:r>
            <a:endParaRPr lang="zh-TW" altLang="en-US" b="1"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1581381" y="6393453"/>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41</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pic>
        <p:nvPicPr>
          <p:cNvPr id="3" name="圖片 2">
            <a:extLst>
              <a:ext uri="{FF2B5EF4-FFF2-40B4-BE49-F238E27FC236}">
                <a16:creationId xmlns:a16="http://schemas.microsoft.com/office/drawing/2014/main" id="{F452FE67-C73C-348C-59B8-ED409E1A02EA}"/>
              </a:ext>
            </a:extLst>
          </p:cNvPr>
          <p:cNvPicPr>
            <a:picLocks noChangeAspect="1"/>
          </p:cNvPicPr>
          <p:nvPr/>
        </p:nvPicPr>
        <p:blipFill>
          <a:blip r:embed="rId4"/>
          <a:stretch>
            <a:fillRect/>
          </a:stretch>
        </p:blipFill>
        <p:spPr>
          <a:xfrm>
            <a:off x="7732500" y="-1918"/>
            <a:ext cx="2806314" cy="778564"/>
          </a:xfrm>
          <a:prstGeom prst="rect">
            <a:avLst/>
          </a:prstGeom>
        </p:spPr>
      </p:pic>
      <p:pic>
        <p:nvPicPr>
          <p:cNvPr id="6" name="圖片 5">
            <a:extLst>
              <a:ext uri="{FF2B5EF4-FFF2-40B4-BE49-F238E27FC236}">
                <a16:creationId xmlns:a16="http://schemas.microsoft.com/office/drawing/2014/main" id="{1FE9BCDC-1DBD-B0D7-BE3B-EC48638464CA}"/>
              </a:ext>
            </a:extLst>
          </p:cNvPr>
          <p:cNvPicPr>
            <a:picLocks noChangeAspect="1"/>
          </p:cNvPicPr>
          <p:nvPr/>
        </p:nvPicPr>
        <p:blipFill>
          <a:blip r:embed="rId5"/>
          <a:stretch>
            <a:fillRect/>
          </a:stretch>
        </p:blipFill>
        <p:spPr>
          <a:xfrm>
            <a:off x="531241" y="1857122"/>
            <a:ext cx="1928241" cy="4499230"/>
          </a:xfrm>
          <a:prstGeom prst="rect">
            <a:avLst/>
          </a:prstGeom>
        </p:spPr>
      </p:pic>
      <p:sp>
        <p:nvSpPr>
          <p:cNvPr id="7" name="文字方塊 6">
            <a:extLst>
              <a:ext uri="{FF2B5EF4-FFF2-40B4-BE49-F238E27FC236}">
                <a16:creationId xmlns:a16="http://schemas.microsoft.com/office/drawing/2014/main" id="{91B63003-DCF9-F3FA-5A98-39984EF1E6B6}"/>
              </a:ext>
            </a:extLst>
          </p:cNvPr>
          <p:cNvSpPr txBox="1"/>
          <p:nvPr/>
        </p:nvSpPr>
        <p:spPr>
          <a:xfrm>
            <a:off x="269399" y="1172577"/>
            <a:ext cx="3399775" cy="461665"/>
          </a:xfrm>
          <a:prstGeom prst="rect">
            <a:avLst/>
          </a:prstGeom>
          <a:noFill/>
        </p:spPr>
        <p:txBody>
          <a:bodyPr wrap="square">
            <a:spAutoFit/>
          </a:bodyPr>
          <a:lstStyle/>
          <a:p>
            <a:r>
              <a:rPr lang="en-US" altLang="zh-TW" sz="2000" b="1" i="1" u="sng" dirty="0">
                <a:latin typeface="Times New Roman" panose="02020603050405020304" pitchFamily="18" charset="0"/>
                <a:cs typeface="Times New Roman" panose="02020603050405020304" pitchFamily="18" charset="0"/>
              </a:rPr>
              <a:t>Coating</a:t>
            </a:r>
            <a:r>
              <a:rPr lang="zh-TW" altLang="en-US" sz="2000" b="1" i="1" u="sng" dirty="0">
                <a:latin typeface="Times New Roman" panose="02020603050405020304" pitchFamily="18" charset="0"/>
                <a:cs typeface="Times New Roman" panose="02020603050405020304" pitchFamily="18" charset="0"/>
              </a:rPr>
              <a:t> </a:t>
            </a:r>
            <a:r>
              <a:rPr lang="en-US" altLang="zh-TW" sz="2400" b="1" i="1" u="sng" dirty="0">
                <a:latin typeface="Times New Roman" panose="02020603050405020304" pitchFamily="18" charset="0"/>
                <a:cs typeface="Times New Roman" panose="02020603050405020304" pitchFamily="18" charset="0"/>
              </a:rPr>
              <a:t>of electrode</a:t>
            </a:r>
            <a:endParaRPr lang="zh-TW" altLang="en-US" sz="2400" b="1" i="1" u="sng" dirty="0">
              <a:latin typeface="Times New Roman" panose="02020603050405020304" pitchFamily="18" charset="0"/>
              <a:cs typeface="Times New Roman" panose="02020603050405020304" pitchFamily="18" charset="0"/>
            </a:endParaRPr>
          </a:p>
        </p:txBody>
      </p:sp>
      <p:pic>
        <p:nvPicPr>
          <p:cNvPr id="8" name="圖片 7">
            <a:extLst>
              <a:ext uri="{FF2B5EF4-FFF2-40B4-BE49-F238E27FC236}">
                <a16:creationId xmlns:a16="http://schemas.microsoft.com/office/drawing/2014/main" id="{E88F90BD-E927-9CA0-A777-53F5D4415CBF}"/>
              </a:ext>
            </a:extLst>
          </p:cNvPr>
          <p:cNvPicPr>
            <a:picLocks noChangeAspect="1"/>
          </p:cNvPicPr>
          <p:nvPr/>
        </p:nvPicPr>
        <p:blipFill>
          <a:blip r:embed="rId6"/>
          <a:stretch>
            <a:fillRect/>
          </a:stretch>
        </p:blipFill>
        <p:spPr>
          <a:xfrm>
            <a:off x="4517229" y="1634242"/>
            <a:ext cx="5757672" cy="2334768"/>
          </a:xfrm>
          <a:prstGeom prst="rect">
            <a:avLst/>
          </a:prstGeom>
        </p:spPr>
      </p:pic>
      <p:pic>
        <p:nvPicPr>
          <p:cNvPr id="10" name="圖片 9">
            <a:extLst>
              <a:ext uri="{FF2B5EF4-FFF2-40B4-BE49-F238E27FC236}">
                <a16:creationId xmlns:a16="http://schemas.microsoft.com/office/drawing/2014/main" id="{1A85FC28-5670-777C-4EF4-E2BA09393002}"/>
              </a:ext>
            </a:extLst>
          </p:cNvPr>
          <p:cNvPicPr>
            <a:picLocks noChangeAspect="1"/>
          </p:cNvPicPr>
          <p:nvPr/>
        </p:nvPicPr>
        <p:blipFill rotWithShape="1">
          <a:blip r:embed="rId7"/>
          <a:srcRect t="20276"/>
          <a:stretch/>
        </p:blipFill>
        <p:spPr>
          <a:xfrm>
            <a:off x="4517229" y="4487107"/>
            <a:ext cx="5757672" cy="2234370"/>
          </a:xfrm>
          <a:prstGeom prst="rect">
            <a:avLst/>
          </a:prstGeom>
        </p:spPr>
      </p:pic>
      <p:sp>
        <p:nvSpPr>
          <p:cNvPr id="11" name="文字方塊 10">
            <a:extLst>
              <a:ext uri="{FF2B5EF4-FFF2-40B4-BE49-F238E27FC236}">
                <a16:creationId xmlns:a16="http://schemas.microsoft.com/office/drawing/2014/main" id="{6FB3D015-2151-B2E2-C921-C4AC6CF70A9A}"/>
              </a:ext>
            </a:extLst>
          </p:cNvPr>
          <p:cNvSpPr txBox="1"/>
          <p:nvPr/>
        </p:nvSpPr>
        <p:spPr>
          <a:xfrm>
            <a:off x="5726921" y="1229600"/>
            <a:ext cx="3421273" cy="400110"/>
          </a:xfrm>
          <a:prstGeom prst="rect">
            <a:avLst/>
          </a:prstGeom>
          <a:noFill/>
          <a:ln>
            <a:solidFill>
              <a:schemeClr val="bg2">
                <a:lumMod val="25000"/>
              </a:schemeClr>
            </a:solidFill>
          </a:ln>
        </p:spPr>
        <p:txBody>
          <a:bodyPr wrap="square">
            <a:spAutoFit/>
          </a:bodyPr>
          <a:lstStyle/>
          <a:p>
            <a:pPr algn="ctr"/>
            <a:r>
              <a:rPr lang="en-US" altLang="zh-TW" sz="2000" dirty="0">
                <a:latin typeface="+mj-lt"/>
                <a:cs typeface="Times New Roman" panose="02020603050405020304" pitchFamily="18" charset="0"/>
              </a:rPr>
              <a:t>Electrode EOPMC</a:t>
            </a:r>
            <a:endParaRPr lang="zh-TW" altLang="en-US" sz="2000" dirty="0">
              <a:latin typeface="+mj-lt"/>
              <a:cs typeface="Times New Roman" panose="02020603050405020304" pitchFamily="18" charset="0"/>
            </a:endParaRPr>
          </a:p>
        </p:txBody>
      </p:sp>
      <p:sp>
        <p:nvSpPr>
          <p:cNvPr id="12" name="文字方塊 11">
            <a:extLst>
              <a:ext uri="{FF2B5EF4-FFF2-40B4-BE49-F238E27FC236}">
                <a16:creationId xmlns:a16="http://schemas.microsoft.com/office/drawing/2014/main" id="{2D05A412-89B5-3297-7C22-426F107FA84F}"/>
              </a:ext>
            </a:extLst>
          </p:cNvPr>
          <p:cNvSpPr txBox="1"/>
          <p:nvPr/>
        </p:nvSpPr>
        <p:spPr>
          <a:xfrm>
            <a:off x="5685428" y="3969010"/>
            <a:ext cx="3421273" cy="400110"/>
          </a:xfrm>
          <a:prstGeom prst="rect">
            <a:avLst/>
          </a:prstGeom>
          <a:noFill/>
          <a:ln>
            <a:solidFill>
              <a:schemeClr val="bg2">
                <a:lumMod val="25000"/>
              </a:schemeClr>
            </a:solidFill>
          </a:ln>
        </p:spPr>
        <p:txBody>
          <a:bodyPr wrap="square">
            <a:spAutoFit/>
          </a:bodyPr>
          <a:lstStyle/>
          <a:p>
            <a:pPr algn="ctr"/>
            <a:r>
              <a:rPr lang="en-US" altLang="zh-TW" sz="2000" dirty="0">
                <a:latin typeface="+mj-lt"/>
                <a:cs typeface="Times New Roman" panose="02020603050405020304" pitchFamily="18" charset="0"/>
              </a:rPr>
              <a:t>Electrode EO</a:t>
            </a:r>
            <a:endParaRPr lang="zh-TW" altLang="en-US" sz="2000" dirty="0">
              <a:latin typeface="+mj-lt"/>
              <a:cs typeface="Times New Roman" panose="02020603050405020304" pitchFamily="18" charset="0"/>
            </a:endParaRPr>
          </a:p>
        </p:txBody>
      </p:sp>
      <p:sp>
        <p:nvSpPr>
          <p:cNvPr id="9" name="文字方塊 8">
            <a:extLst>
              <a:ext uri="{FF2B5EF4-FFF2-40B4-BE49-F238E27FC236}">
                <a16:creationId xmlns:a16="http://schemas.microsoft.com/office/drawing/2014/main" id="{894018ED-B750-8074-AF9B-7C0057F4AF89}"/>
              </a:ext>
            </a:extLst>
          </p:cNvPr>
          <p:cNvSpPr txBox="1"/>
          <p:nvPr/>
        </p:nvSpPr>
        <p:spPr>
          <a:xfrm>
            <a:off x="2668259" y="2155005"/>
            <a:ext cx="1640193" cy="923330"/>
          </a:xfrm>
          <a:prstGeom prst="rect">
            <a:avLst/>
          </a:prstGeom>
          <a:noFill/>
        </p:spPr>
        <p:txBody>
          <a:bodyPr wrap="none" rtlCol="0">
            <a:spAutoFit/>
          </a:bodyPr>
          <a:lstStyle/>
          <a:p>
            <a:pPr marL="342900" indent="-342900">
              <a:buFont typeface="+mj-lt"/>
              <a:buAutoNum type="arabicPeriod"/>
            </a:pPr>
            <a:r>
              <a:rPr lang="en-US" altLang="zh-TW" dirty="0"/>
              <a:t>SiO</a:t>
            </a:r>
            <a:r>
              <a:rPr lang="en-US" altLang="zh-TW" baseline="-25000" dirty="0"/>
              <a:t>2</a:t>
            </a:r>
            <a:r>
              <a:rPr lang="en-US" altLang="zh-TW" dirty="0"/>
              <a:t>:100nm</a:t>
            </a:r>
          </a:p>
          <a:p>
            <a:pPr marL="342900" indent="-342900">
              <a:buFont typeface="+mj-lt"/>
              <a:buAutoNum type="arabicPeriod"/>
            </a:pPr>
            <a:r>
              <a:rPr lang="en-US" altLang="zh-TW" dirty="0"/>
              <a:t>Ni:50nm</a:t>
            </a:r>
          </a:p>
          <a:p>
            <a:pPr marL="342900" indent="-342900">
              <a:buFont typeface="+mj-lt"/>
              <a:buAutoNum type="arabicPeriod"/>
            </a:pPr>
            <a:r>
              <a:rPr lang="en-US" altLang="zh-TW" dirty="0"/>
              <a:t>Au:150nm</a:t>
            </a:r>
            <a:endParaRPr lang="zh-TW" altLang="en-US" dirty="0"/>
          </a:p>
        </p:txBody>
      </p:sp>
    </p:spTree>
    <p:extLst>
      <p:ext uri="{BB962C8B-B14F-4D97-AF65-F5344CB8AC3E}">
        <p14:creationId xmlns:p14="http://schemas.microsoft.com/office/powerpoint/2010/main" val="12336680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Introduction</a:t>
            </a:r>
            <a:r>
              <a:rPr lang="zh-TW" altLang="en-US" b="1" dirty="0">
                <a:latin typeface="Times New Roman" panose="02020603050405020304" pitchFamily="18" charset="0"/>
                <a:cs typeface="Times New Roman" panose="02020603050405020304" pitchFamily="18" charset="0"/>
              </a:rPr>
              <a:t> </a:t>
            </a:r>
            <a:r>
              <a:rPr lang="en-US" altLang="zh-TW" b="1" dirty="0">
                <a:latin typeface="Times New Roman" panose="02020603050405020304" pitchFamily="18" charset="0"/>
                <a:cs typeface="Times New Roman" panose="02020603050405020304" pitchFamily="18" charset="0"/>
              </a:rPr>
              <a:t>Objective</a:t>
            </a:r>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sp>
        <p:nvSpPr>
          <p:cNvPr id="7" name="文字方塊 6">
            <a:extLst>
              <a:ext uri="{FF2B5EF4-FFF2-40B4-BE49-F238E27FC236}">
                <a16:creationId xmlns:a16="http://schemas.microsoft.com/office/drawing/2014/main" id="{954812B3-B4CB-38A8-EEF8-64A9D2F36C5E}"/>
              </a:ext>
            </a:extLst>
          </p:cNvPr>
          <p:cNvSpPr txBox="1"/>
          <p:nvPr/>
        </p:nvSpPr>
        <p:spPr>
          <a:xfrm>
            <a:off x="1713054" y="1093721"/>
            <a:ext cx="9390576" cy="584775"/>
          </a:xfrm>
          <a:prstGeom prst="rect">
            <a:avLst/>
          </a:prstGeom>
          <a:noFill/>
        </p:spPr>
        <p:txBody>
          <a:bodyPr wrap="square" rtlCol="0">
            <a:spAutoFit/>
          </a:bodyPr>
          <a:lstStyle/>
          <a:p>
            <a:r>
              <a:rPr lang="en-US" altLang="zh-TW" sz="3200" b="1" u="sng" dirty="0">
                <a:effectLst>
                  <a:outerShdw blurRad="38100" dist="38100" dir="2700000" algn="tl">
                    <a:srgbClr val="000000">
                      <a:alpha val="43137"/>
                    </a:srgbClr>
                  </a:outerShdw>
                </a:effectLst>
              </a:rPr>
              <a:t>Fabrication Integrated optical circuit in one chip</a:t>
            </a:r>
            <a:endParaRPr lang="zh-TW" altLang="en-US" sz="3200" b="1" u="sng" dirty="0">
              <a:effectLst>
                <a:outerShdw blurRad="38100" dist="38100" dir="2700000" algn="tl">
                  <a:srgbClr val="000000">
                    <a:alpha val="43137"/>
                  </a:srgbClr>
                </a:outerShdw>
              </a:effectLst>
            </a:endParaRPr>
          </a:p>
        </p:txBody>
      </p:sp>
      <p:grpSp>
        <p:nvGrpSpPr>
          <p:cNvPr id="41" name="群組 40">
            <a:extLst>
              <a:ext uri="{FF2B5EF4-FFF2-40B4-BE49-F238E27FC236}">
                <a16:creationId xmlns:a16="http://schemas.microsoft.com/office/drawing/2014/main" id="{58698C26-B470-6DDD-317B-9828776903DD}"/>
              </a:ext>
            </a:extLst>
          </p:cNvPr>
          <p:cNvGrpSpPr/>
          <p:nvPr/>
        </p:nvGrpSpPr>
        <p:grpSpPr>
          <a:xfrm>
            <a:off x="6192454" y="2650603"/>
            <a:ext cx="5324355" cy="2456137"/>
            <a:chOff x="6192455" y="2789499"/>
            <a:chExt cx="5158802" cy="2317241"/>
          </a:xfrm>
        </p:grpSpPr>
        <p:pic>
          <p:nvPicPr>
            <p:cNvPr id="9" name="圖片 8">
              <a:extLst>
                <a:ext uri="{FF2B5EF4-FFF2-40B4-BE49-F238E27FC236}">
                  <a16:creationId xmlns:a16="http://schemas.microsoft.com/office/drawing/2014/main" id="{9F2FFDB9-235D-ADD0-201D-02F642B4920D}"/>
                </a:ext>
              </a:extLst>
            </p:cNvPr>
            <p:cNvPicPr>
              <a:picLocks noChangeAspect="1"/>
            </p:cNvPicPr>
            <p:nvPr/>
          </p:nvPicPr>
          <p:blipFill rotWithShape="1">
            <a:blip r:embed="rId4"/>
            <a:srcRect l="6557" t="19265" r="2364" b="17914"/>
            <a:stretch/>
          </p:blipFill>
          <p:spPr>
            <a:xfrm>
              <a:off x="6192455" y="2789499"/>
              <a:ext cx="5158802" cy="1717472"/>
            </a:xfrm>
            <a:prstGeom prst="rect">
              <a:avLst/>
            </a:prstGeom>
          </p:spPr>
        </p:pic>
        <p:pic>
          <p:nvPicPr>
            <p:cNvPr id="33" name="圖片 32">
              <a:extLst>
                <a:ext uri="{FF2B5EF4-FFF2-40B4-BE49-F238E27FC236}">
                  <a16:creationId xmlns:a16="http://schemas.microsoft.com/office/drawing/2014/main" id="{25171909-28A2-48A6-A9BB-BE8C951F273D}"/>
                </a:ext>
              </a:extLst>
            </p:cNvPr>
            <p:cNvPicPr>
              <a:picLocks noChangeAspect="1"/>
            </p:cNvPicPr>
            <p:nvPr/>
          </p:nvPicPr>
          <p:blipFill>
            <a:blip r:embed="rId5"/>
            <a:stretch>
              <a:fillRect/>
            </a:stretch>
          </p:blipFill>
          <p:spPr>
            <a:xfrm>
              <a:off x="6718077" y="4461881"/>
              <a:ext cx="1075800" cy="588195"/>
            </a:xfrm>
            <a:prstGeom prst="rect">
              <a:avLst/>
            </a:prstGeom>
          </p:spPr>
        </p:pic>
        <p:pic>
          <p:nvPicPr>
            <p:cNvPr id="36" name="圖片 35">
              <a:extLst>
                <a:ext uri="{FF2B5EF4-FFF2-40B4-BE49-F238E27FC236}">
                  <a16:creationId xmlns:a16="http://schemas.microsoft.com/office/drawing/2014/main" id="{829DC099-7E55-B733-9120-B6F26D91E64A}"/>
                </a:ext>
              </a:extLst>
            </p:cNvPr>
            <p:cNvPicPr>
              <a:picLocks noChangeAspect="1"/>
            </p:cNvPicPr>
            <p:nvPr/>
          </p:nvPicPr>
          <p:blipFill>
            <a:blip r:embed="rId6"/>
            <a:stretch>
              <a:fillRect/>
            </a:stretch>
          </p:blipFill>
          <p:spPr>
            <a:xfrm>
              <a:off x="7793877" y="4506971"/>
              <a:ext cx="1190269" cy="543105"/>
            </a:xfrm>
            <a:prstGeom prst="rect">
              <a:avLst/>
            </a:prstGeom>
          </p:spPr>
        </p:pic>
        <p:pic>
          <p:nvPicPr>
            <p:cNvPr id="37" name="圖片 36">
              <a:extLst>
                <a:ext uri="{FF2B5EF4-FFF2-40B4-BE49-F238E27FC236}">
                  <a16:creationId xmlns:a16="http://schemas.microsoft.com/office/drawing/2014/main" id="{1898124D-C255-0BD7-E161-9DFF1E2CF048}"/>
                </a:ext>
              </a:extLst>
            </p:cNvPr>
            <p:cNvPicPr>
              <a:picLocks noChangeAspect="1"/>
            </p:cNvPicPr>
            <p:nvPr/>
          </p:nvPicPr>
          <p:blipFill>
            <a:blip r:embed="rId5"/>
            <a:stretch>
              <a:fillRect/>
            </a:stretch>
          </p:blipFill>
          <p:spPr>
            <a:xfrm>
              <a:off x="8984146" y="4518545"/>
              <a:ext cx="1075800" cy="531531"/>
            </a:xfrm>
            <a:prstGeom prst="rect">
              <a:avLst/>
            </a:prstGeom>
          </p:spPr>
        </p:pic>
        <p:pic>
          <p:nvPicPr>
            <p:cNvPr id="39" name="圖片 38">
              <a:extLst>
                <a:ext uri="{FF2B5EF4-FFF2-40B4-BE49-F238E27FC236}">
                  <a16:creationId xmlns:a16="http://schemas.microsoft.com/office/drawing/2014/main" id="{BC4F336C-ADB0-422F-8B61-6D92ACD18D92}"/>
                </a:ext>
              </a:extLst>
            </p:cNvPr>
            <p:cNvPicPr>
              <a:picLocks noChangeAspect="1"/>
            </p:cNvPicPr>
            <p:nvPr/>
          </p:nvPicPr>
          <p:blipFill>
            <a:blip r:embed="rId7"/>
            <a:stretch>
              <a:fillRect/>
            </a:stretch>
          </p:blipFill>
          <p:spPr>
            <a:xfrm>
              <a:off x="10059946" y="4461882"/>
              <a:ext cx="774597" cy="644858"/>
            </a:xfrm>
            <a:prstGeom prst="rect">
              <a:avLst/>
            </a:prstGeom>
          </p:spPr>
        </p:pic>
      </p:grpSp>
      <p:grpSp>
        <p:nvGrpSpPr>
          <p:cNvPr id="12" name="群組 11">
            <a:extLst>
              <a:ext uri="{FF2B5EF4-FFF2-40B4-BE49-F238E27FC236}">
                <a16:creationId xmlns:a16="http://schemas.microsoft.com/office/drawing/2014/main" id="{1F4E4019-1DD1-8553-59A3-3186B4EB3538}"/>
              </a:ext>
            </a:extLst>
          </p:cNvPr>
          <p:cNvGrpSpPr/>
          <p:nvPr/>
        </p:nvGrpSpPr>
        <p:grpSpPr>
          <a:xfrm>
            <a:off x="317217" y="2819766"/>
            <a:ext cx="5152860" cy="2290540"/>
            <a:chOff x="353317" y="2619666"/>
            <a:chExt cx="5152860" cy="2290540"/>
          </a:xfrm>
        </p:grpSpPr>
        <p:pic>
          <p:nvPicPr>
            <p:cNvPr id="10" name="圖片 9">
              <a:extLst>
                <a:ext uri="{FF2B5EF4-FFF2-40B4-BE49-F238E27FC236}">
                  <a16:creationId xmlns:a16="http://schemas.microsoft.com/office/drawing/2014/main" id="{FB11964C-38D3-84D3-0722-111470A60ABE}"/>
                </a:ext>
              </a:extLst>
            </p:cNvPr>
            <p:cNvPicPr>
              <a:picLocks noChangeAspect="1"/>
            </p:cNvPicPr>
            <p:nvPr/>
          </p:nvPicPr>
          <p:blipFill>
            <a:blip r:embed="rId8"/>
            <a:stretch>
              <a:fillRect/>
            </a:stretch>
          </p:blipFill>
          <p:spPr>
            <a:xfrm>
              <a:off x="353317" y="2619666"/>
              <a:ext cx="5152860" cy="1534499"/>
            </a:xfrm>
            <a:prstGeom prst="rect">
              <a:avLst/>
            </a:prstGeom>
          </p:spPr>
        </p:pic>
        <p:pic>
          <p:nvPicPr>
            <p:cNvPr id="11" name="圖片 10">
              <a:extLst>
                <a:ext uri="{FF2B5EF4-FFF2-40B4-BE49-F238E27FC236}">
                  <a16:creationId xmlns:a16="http://schemas.microsoft.com/office/drawing/2014/main" id="{94CDECE6-05CD-6920-EA29-55B832B1A9EF}"/>
                </a:ext>
              </a:extLst>
            </p:cNvPr>
            <p:cNvPicPr>
              <a:picLocks noChangeAspect="1"/>
            </p:cNvPicPr>
            <p:nvPr/>
          </p:nvPicPr>
          <p:blipFill>
            <a:blip r:embed="rId9"/>
            <a:stretch>
              <a:fillRect/>
            </a:stretch>
          </p:blipFill>
          <p:spPr>
            <a:xfrm>
              <a:off x="402788" y="4075343"/>
              <a:ext cx="5043381" cy="834863"/>
            </a:xfrm>
            <a:prstGeom prst="rect">
              <a:avLst/>
            </a:prstGeom>
          </p:spPr>
        </p:pic>
      </p:gr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1576408" y="6385597"/>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42</a:t>
            </a:fld>
            <a:endParaRPr lang="zh-TW" altLang="en-US" b="1" dirty="0">
              <a:latin typeface="Times New Roman" panose="02020603050405020304" pitchFamily="18" charset="0"/>
              <a:cs typeface="Times New Roman" panose="02020603050405020304" pitchFamily="18" charset="0"/>
            </a:endParaRPr>
          </a:p>
        </p:txBody>
      </p:sp>
      <p:sp>
        <p:nvSpPr>
          <p:cNvPr id="42" name="矩形 41">
            <a:extLst>
              <a:ext uri="{FF2B5EF4-FFF2-40B4-BE49-F238E27FC236}">
                <a16:creationId xmlns:a16="http://schemas.microsoft.com/office/drawing/2014/main" id="{C1E5DC38-ECC2-E605-C2D2-29978919E9AC}"/>
              </a:ext>
            </a:extLst>
          </p:cNvPr>
          <p:cNvSpPr/>
          <p:nvPr/>
        </p:nvSpPr>
        <p:spPr>
          <a:xfrm>
            <a:off x="2360447" y="2490016"/>
            <a:ext cx="7010729" cy="2528338"/>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3" name="矩形 42">
            <a:extLst>
              <a:ext uri="{FF2B5EF4-FFF2-40B4-BE49-F238E27FC236}">
                <a16:creationId xmlns:a16="http://schemas.microsoft.com/office/drawing/2014/main" id="{FF5B7857-2103-CBBD-47E6-7EBEA3D504E1}"/>
              </a:ext>
            </a:extLst>
          </p:cNvPr>
          <p:cNvSpPr/>
          <p:nvPr/>
        </p:nvSpPr>
        <p:spPr>
          <a:xfrm>
            <a:off x="2380327" y="3423604"/>
            <a:ext cx="6992543" cy="337787"/>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4" name="矩形 43">
            <a:extLst>
              <a:ext uri="{FF2B5EF4-FFF2-40B4-BE49-F238E27FC236}">
                <a16:creationId xmlns:a16="http://schemas.microsoft.com/office/drawing/2014/main" id="{06B94BDD-A6EF-8875-FCEC-5B9616818636}"/>
              </a:ext>
            </a:extLst>
          </p:cNvPr>
          <p:cNvSpPr/>
          <p:nvPr/>
        </p:nvSpPr>
        <p:spPr>
          <a:xfrm>
            <a:off x="2363836" y="4592646"/>
            <a:ext cx="7010729" cy="447604"/>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nvGrpSpPr>
          <p:cNvPr id="45" name="群組 44">
            <a:extLst>
              <a:ext uri="{FF2B5EF4-FFF2-40B4-BE49-F238E27FC236}">
                <a16:creationId xmlns:a16="http://schemas.microsoft.com/office/drawing/2014/main" id="{590AA1FE-52D9-6466-7FAC-E39EA8E3172C}"/>
              </a:ext>
            </a:extLst>
          </p:cNvPr>
          <p:cNvGrpSpPr/>
          <p:nvPr/>
        </p:nvGrpSpPr>
        <p:grpSpPr>
          <a:xfrm>
            <a:off x="2363836" y="2470099"/>
            <a:ext cx="7027219" cy="2548255"/>
            <a:chOff x="1721251" y="2064152"/>
            <a:chExt cx="5762302" cy="1624979"/>
          </a:xfrm>
        </p:grpSpPr>
        <p:grpSp>
          <p:nvGrpSpPr>
            <p:cNvPr id="46" name="群組 45">
              <a:extLst>
                <a:ext uri="{FF2B5EF4-FFF2-40B4-BE49-F238E27FC236}">
                  <a16:creationId xmlns:a16="http://schemas.microsoft.com/office/drawing/2014/main" id="{F04AF8DE-59DB-ED24-DCFB-B73D5C67C4A7}"/>
                </a:ext>
              </a:extLst>
            </p:cNvPr>
            <p:cNvGrpSpPr/>
            <p:nvPr/>
          </p:nvGrpSpPr>
          <p:grpSpPr>
            <a:xfrm>
              <a:off x="1721251" y="2073347"/>
              <a:ext cx="1597732" cy="1615784"/>
              <a:chOff x="7755536" y="4682354"/>
              <a:chExt cx="1539881" cy="1413646"/>
            </a:xfrm>
          </p:grpSpPr>
          <p:grpSp>
            <p:nvGrpSpPr>
              <p:cNvPr id="76" name="群組 75">
                <a:extLst>
                  <a:ext uri="{FF2B5EF4-FFF2-40B4-BE49-F238E27FC236}">
                    <a16:creationId xmlns:a16="http://schemas.microsoft.com/office/drawing/2014/main" id="{4C52984E-C310-26AE-AF6B-F0E35B97D7C1}"/>
                  </a:ext>
                </a:extLst>
              </p:cNvPr>
              <p:cNvGrpSpPr/>
              <p:nvPr/>
            </p:nvGrpSpPr>
            <p:grpSpPr>
              <a:xfrm>
                <a:off x="7755536" y="4682354"/>
                <a:ext cx="382023" cy="1413646"/>
                <a:chOff x="7755536" y="4682354"/>
                <a:chExt cx="382023" cy="1413646"/>
              </a:xfrm>
            </p:grpSpPr>
            <p:sp>
              <p:nvSpPr>
                <p:cNvPr id="86" name="矩形 85">
                  <a:extLst>
                    <a:ext uri="{FF2B5EF4-FFF2-40B4-BE49-F238E27FC236}">
                      <a16:creationId xmlns:a16="http://schemas.microsoft.com/office/drawing/2014/main" id="{643E68DB-976D-21E0-892E-2A8E88FAE457}"/>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7" name="矩形 86">
                  <a:extLst>
                    <a:ext uri="{FF2B5EF4-FFF2-40B4-BE49-F238E27FC236}">
                      <a16:creationId xmlns:a16="http://schemas.microsoft.com/office/drawing/2014/main" id="{9BEC8B7E-70A1-D0A1-E754-45370BD84DBB}"/>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77" name="群組 76">
                <a:extLst>
                  <a:ext uri="{FF2B5EF4-FFF2-40B4-BE49-F238E27FC236}">
                    <a16:creationId xmlns:a16="http://schemas.microsoft.com/office/drawing/2014/main" id="{9EFA908E-A325-5295-A684-07CED10F294C}"/>
                  </a:ext>
                </a:extLst>
              </p:cNvPr>
              <p:cNvGrpSpPr/>
              <p:nvPr/>
            </p:nvGrpSpPr>
            <p:grpSpPr>
              <a:xfrm>
                <a:off x="8136791" y="4682354"/>
                <a:ext cx="382023" cy="1413646"/>
                <a:chOff x="7755536" y="4682354"/>
                <a:chExt cx="382023" cy="1413646"/>
              </a:xfrm>
            </p:grpSpPr>
            <p:sp>
              <p:nvSpPr>
                <p:cNvPr id="84" name="矩形 83">
                  <a:extLst>
                    <a:ext uri="{FF2B5EF4-FFF2-40B4-BE49-F238E27FC236}">
                      <a16:creationId xmlns:a16="http://schemas.microsoft.com/office/drawing/2014/main" id="{E650A60E-63C9-0633-5ECE-E061339CE705}"/>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5" name="矩形 84">
                  <a:extLst>
                    <a:ext uri="{FF2B5EF4-FFF2-40B4-BE49-F238E27FC236}">
                      <a16:creationId xmlns:a16="http://schemas.microsoft.com/office/drawing/2014/main" id="{F28D5858-215F-5D6F-61C9-E55E834D659F}"/>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78" name="群組 77">
                <a:extLst>
                  <a:ext uri="{FF2B5EF4-FFF2-40B4-BE49-F238E27FC236}">
                    <a16:creationId xmlns:a16="http://schemas.microsoft.com/office/drawing/2014/main" id="{E06A3439-A100-2143-2F33-C0F47198D80E}"/>
                  </a:ext>
                </a:extLst>
              </p:cNvPr>
              <p:cNvGrpSpPr/>
              <p:nvPr/>
            </p:nvGrpSpPr>
            <p:grpSpPr>
              <a:xfrm>
                <a:off x="8529017" y="4682354"/>
                <a:ext cx="382023" cy="1413646"/>
                <a:chOff x="7755536" y="4682354"/>
                <a:chExt cx="382023" cy="1413646"/>
              </a:xfrm>
            </p:grpSpPr>
            <p:sp>
              <p:nvSpPr>
                <p:cNvPr id="82" name="矩形 81">
                  <a:extLst>
                    <a:ext uri="{FF2B5EF4-FFF2-40B4-BE49-F238E27FC236}">
                      <a16:creationId xmlns:a16="http://schemas.microsoft.com/office/drawing/2014/main" id="{9179E798-F902-F65A-8CC4-F57D720A958F}"/>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3" name="矩形 82">
                  <a:extLst>
                    <a:ext uri="{FF2B5EF4-FFF2-40B4-BE49-F238E27FC236}">
                      <a16:creationId xmlns:a16="http://schemas.microsoft.com/office/drawing/2014/main" id="{53281B19-287E-2164-B4CC-B5A36917155F}"/>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79" name="群組 78">
                <a:extLst>
                  <a:ext uri="{FF2B5EF4-FFF2-40B4-BE49-F238E27FC236}">
                    <a16:creationId xmlns:a16="http://schemas.microsoft.com/office/drawing/2014/main" id="{B7BC5F68-14BD-F51B-B64F-D6C50C02268E}"/>
                  </a:ext>
                </a:extLst>
              </p:cNvPr>
              <p:cNvGrpSpPr/>
              <p:nvPr/>
            </p:nvGrpSpPr>
            <p:grpSpPr>
              <a:xfrm>
                <a:off x="8913394" y="4682354"/>
                <a:ext cx="382023" cy="1413646"/>
                <a:chOff x="7755536" y="4682354"/>
                <a:chExt cx="382023" cy="1413646"/>
              </a:xfrm>
            </p:grpSpPr>
            <p:sp>
              <p:nvSpPr>
                <p:cNvPr id="80" name="矩形 79">
                  <a:extLst>
                    <a:ext uri="{FF2B5EF4-FFF2-40B4-BE49-F238E27FC236}">
                      <a16:creationId xmlns:a16="http://schemas.microsoft.com/office/drawing/2014/main" id="{C8819DDB-09D9-A223-7488-3F5F33802D4B}"/>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1" name="矩形 80">
                  <a:extLst>
                    <a:ext uri="{FF2B5EF4-FFF2-40B4-BE49-F238E27FC236}">
                      <a16:creationId xmlns:a16="http://schemas.microsoft.com/office/drawing/2014/main" id="{2C9EC706-B1FF-678C-CAA9-7D4F0C799DA5}"/>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grpSp>
          <p:nvGrpSpPr>
            <p:cNvPr id="47" name="群組 46">
              <a:extLst>
                <a:ext uri="{FF2B5EF4-FFF2-40B4-BE49-F238E27FC236}">
                  <a16:creationId xmlns:a16="http://schemas.microsoft.com/office/drawing/2014/main" id="{5FC3E47B-D5EB-BB94-48E7-787C5133C31A}"/>
                </a:ext>
              </a:extLst>
            </p:cNvPr>
            <p:cNvGrpSpPr/>
            <p:nvPr/>
          </p:nvGrpSpPr>
          <p:grpSpPr>
            <a:xfrm>
              <a:off x="3335221" y="2064152"/>
              <a:ext cx="1597732" cy="1615784"/>
              <a:chOff x="3923113" y="2277371"/>
              <a:chExt cx="1539881" cy="1413646"/>
            </a:xfrm>
          </p:grpSpPr>
          <p:grpSp>
            <p:nvGrpSpPr>
              <p:cNvPr id="64" name="群組 63">
                <a:extLst>
                  <a:ext uri="{FF2B5EF4-FFF2-40B4-BE49-F238E27FC236}">
                    <a16:creationId xmlns:a16="http://schemas.microsoft.com/office/drawing/2014/main" id="{8313C55F-D90E-2C49-B3E0-529C50CABF97}"/>
                  </a:ext>
                </a:extLst>
              </p:cNvPr>
              <p:cNvGrpSpPr/>
              <p:nvPr/>
            </p:nvGrpSpPr>
            <p:grpSpPr>
              <a:xfrm>
                <a:off x="3923113" y="2277371"/>
                <a:ext cx="382023" cy="1413646"/>
                <a:chOff x="7755536" y="4682354"/>
                <a:chExt cx="382023" cy="1413646"/>
              </a:xfrm>
              <a:solidFill>
                <a:schemeClr val="accent6">
                  <a:lumMod val="60000"/>
                  <a:lumOff val="40000"/>
                </a:schemeClr>
              </a:solidFill>
            </p:grpSpPr>
            <p:sp>
              <p:nvSpPr>
                <p:cNvPr id="74" name="矩形 73">
                  <a:extLst>
                    <a:ext uri="{FF2B5EF4-FFF2-40B4-BE49-F238E27FC236}">
                      <a16:creationId xmlns:a16="http://schemas.microsoft.com/office/drawing/2014/main" id="{899D8D6F-268C-4762-0E69-2582CDB4BE61}"/>
                    </a:ext>
                  </a:extLst>
                </p:cNvPr>
                <p:cNvSpPr/>
                <p:nvPr/>
              </p:nvSpPr>
              <p:spPr>
                <a:xfrm>
                  <a:off x="7755536"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5" name="矩形 74">
                  <a:extLst>
                    <a:ext uri="{FF2B5EF4-FFF2-40B4-BE49-F238E27FC236}">
                      <a16:creationId xmlns:a16="http://schemas.microsoft.com/office/drawing/2014/main" id="{184F6BB2-FE64-A2B1-7AFB-3BA7C55E0469}"/>
                    </a:ext>
                  </a:extLst>
                </p:cNvPr>
                <p:cNvSpPr/>
                <p:nvPr/>
              </p:nvSpPr>
              <p:spPr>
                <a:xfrm>
                  <a:off x="7946547"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65" name="群組 64">
                <a:extLst>
                  <a:ext uri="{FF2B5EF4-FFF2-40B4-BE49-F238E27FC236}">
                    <a16:creationId xmlns:a16="http://schemas.microsoft.com/office/drawing/2014/main" id="{DE4E6557-80EA-DAB4-14E5-D422AD9C8BF3}"/>
                  </a:ext>
                </a:extLst>
              </p:cNvPr>
              <p:cNvGrpSpPr/>
              <p:nvPr/>
            </p:nvGrpSpPr>
            <p:grpSpPr>
              <a:xfrm>
                <a:off x="4304368" y="2277371"/>
                <a:ext cx="382023" cy="1413646"/>
                <a:chOff x="7755536" y="4682354"/>
                <a:chExt cx="382023" cy="1413646"/>
              </a:xfrm>
              <a:solidFill>
                <a:schemeClr val="accent6">
                  <a:lumMod val="20000"/>
                  <a:lumOff val="80000"/>
                </a:schemeClr>
              </a:solidFill>
            </p:grpSpPr>
            <p:sp>
              <p:nvSpPr>
                <p:cNvPr id="72" name="矩形 71">
                  <a:extLst>
                    <a:ext uri="{FF2B5EF4-FFF2-40B4-BE49-F238E27FC236}">
                      <a16:creationId xmlns:a16="http://schemas.microsoft.com/office/drawing/2014/main" id="{B575DDC0-A5A9-166C-91D6-5A7A0A110EAB}"/>
                    </a:ext>
                  </a:extLst>
                </p:cNvPr>
                <p:cNvSpPr/>
                <p:nvPr/>
              </p:nvSpPr>
              <p:spPr>
                <a:xfrm>
                  <a:off x="7755536"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矩形 72">
                  <a:extLst>
                    <a:ext uri="{FF2B5EF4-FFF2-40B4-BE49-F238E27FC236}">
                      <a16:creationId xmlns:a16="http://schemas.microsoft.com/office/drawing/2014/main" id="{BEC75049-59A7-635C-6216-7CC208353C46}"/>
                    </a:ext>
                  </a:extLst>
                </p:cNvPr>
                <p:cNvSpPr/>
                <p:nvPr/>
              </p:nvSpPr>
              <p:spPr>
                <a:xfrm>
                  <a:off x="7946547"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66" name="群組 65">
                <a:extLst>
                  <a:ext uri="{FF2B5EF4-FFF2-40B4-BE49-F238E27FC236}">
                    <a16:creationId xmlns:a16="http://schemas.microsoft.com/office/drawing/2014/main" id="{ACEA8465-41B3-D2FE-CF5C-B5714D35FCAA}"/>
                  </a:ext>
                </a:extLst>
              </p:cNvPr>
              <p:cNvGrpSpPr/>
              <p:nvPr/>
            </p:nvGrpSpPr>
            <p:grpSpPr>
              <a:xfrm>
                <a:off x="4696594" y="2277371"/>
                <a:ext cx="382023" cy="1413646"/>
                <a:chOff x="7755536" y="4682354"/>
                <a:chExt cx="382023" cy="1413646"/>
              </a:xfrm>
            </p:grpSpPr>
            <p:sp>
              <p:nvSpPr>
                <p:cNvPr id="70" name="矩形 69">
                  <a:extLst>
                    <a:ext uri="{FF2B5EF4-FFF2-40B4-BE49-F238E27FC236}">
                      <a16:creationId xmlns:a16="http://schemas.microsoft.com/office/drawing/2014/main" id="{C420605F-5D44-BCB6-2DDD-BA1ED891E207}"/>
                    </a:ext>
                  </a:extLst>
                </p:cNvPr>
                <p:cNvSpPr/>
                <p:nvPr/>
              </p:nvSpPr>
              <p:spPr>
                <a:xfrm>
                  <a:off x="7755536" y="4682354"/>
                  <a:ext cx="191012" cy="1413646"/>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1" name="矩形 70">
                  <a:extLst>
                    <a:ext uri="{FF2B5EF4-FFF2-40B4-BE49-F238E27FC236}">
                      <a16:creationId xmlns:a16="http://schemas.microsoft.com/office/drawing/2014/main" id="{0FB6F369-318F-FC4D-CB29-FD7A7991B850}"/>
                    </a:ext>
                  </a:extLst>
                </p:cNvPr>
                <p:cNvSpPr/>
                <p:nvPr/>
              </p:nvSpPr>
              <p:spPr>
                <a:xfrm>
                  <a:off x="7946547" y="4682354"/>
                  <a:ext cx="191012" cy="141364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67" name="群組 66">
                <a:extLst>
                  <a:ext uri="{FF2B5EF4-FFF2-40B4-BE49-F238E27FC236}">
                    <a16:creationId xmlns:a16="http://schemas.microsoft.com/office/drawing/2014/main" id="{AA8FBCD7-3441-C626-B48C-5C1563A653DA}"/>
                  </a:ext>
                </a:extLst>
              </p:cNvPr>
              <p:cNvGrpSpPr/>
              <p:nvPr/>
            </p:nvGrpSpPr>
            <p:grpSpPr>
              <a:xfrm>
                <a:off x="5080971" y="2277371"/>
                <a:ext cx="382023" cy="1413646"/>
                <a:chOff x="7755536" y="4682354"/>
                <a:chExt cx="382023" cy="1413646"/>
              </a:xfrm>
            </p:grpSpPr>
            <p:sp>
              <p:nvSpPr>
                <p:cNvPr id="68" name="矩形 67">
                  <a:extLst>
                    <a:ext uri="{FF2B5EF4-FFF2-40B4-BE49-F238E27FC236}">
                      <a16:creationId xmlns:a16="http://schemas.microsoft.com/office/drawing/2014/main" id="{5D238F76-9F12-9BC1-9C87-B2E05EF10FF6}"/>
                    </a:ext>
                  </a:extLst>
                </p:cNvPr>
                <p:cNvSpPr/>
                <p:nvPr/>
              </p:nvSpPr>
              <p:spPr>
                <a:xfrm>
                  <a:off x="7755536" y="4682354"/>
                  <a:ext cx="191012" cy="141364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9" name="矩形 68">
                  <a:extLst>
                    <a:ext uri="{FF2B5EF4-FFF2-40B4-BE49-F238E27FC236}">
                      <a16:creationId xmlns:a16="http://schemas.microsoft.com/office/drawing/2014/main" id="{A1CF614C-0E13-B79E-9F20-43E3D53B5380}"/>
                    </a:ext>
                  </a:extLst>
                </p:cNvPr>
                <p:cNvSpPr/>
                <p:nvPr/>
              </p:nvSpPr>
              <p:spPr>
                <a:xfrm>
                  <a:off x="7946547" y="4682354"/>
                  <a:ext cx="191012" cy="1413646"/>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grpSp>
          <p:nvGrpSpPr>
            <p:cNvPr id="48" name="群組 47">
              <a:extLst>
                <a:ext uri="{FF2B5EF4-FFF2-40B4-BE49-F238E27FC236}">
                  <a16:creationId xmlns:a16="http://schemas.microsoft.com/office/drawing/2014/main" id="{EBB7B495-BF74-9E4A-062D-E7AA94FE5E57}"/>
                </a:ext>
              </a:extLst>
            </p:cNvPr>
            <p:cNvGrpSpPr/>
            <p:nvPr/>
          </p:nvGrpSpPr>
          <p:grpSpPr>
            <a:xfrm>
              <a:off x="4932953" y="2064152"/>
              <a:ext cx="1597732" cy="1615784"/>
              <a:chOff x="7755536" y="4682354"/>
              <a:chExt cx="1539881" cy="1413646"/>
            </a:xfrm>
          </p:grpSpPr>
          <p:grpSp>
            <p:nvGrpSpPr>
              <p:cNvPr id="52" name="群組 51">
                <a:extLst>
                  <a:ext uri="{FF2B5EF4-FFF2-40B4-BE49-F238E27FC236}">
                    <a16:creationId xmlns:a16="http://schemas.microsoft.com/office/drawing/2014/main" id="{DF9F61DC-D155-2728-9B13-95274CF52F2E}"/>
                  </a:ext>
                </a:extLst>
              </p:cNvPr>
              <p:cNvGrpSpPr/>
              <p:nvPr/>
            </p:nvGrpSpPr>
            <p:grpSpPr>
              <a:xfrm>
                <a:off x="7755536" y="4682354"/>
                <a:ext cx="382023" cy="1413646"/>
                <a:chOff x="7755536" y="4682354"/>
                <a:chExt cx="382023" cy="1413646"/>
              </a:xfrm>
            </p:grpSpPr>
            <p:sp>
              <p:nvSpPr>
                <p:cNvPr id="62" name="矩形 61">
                  <a:extLst>
                    <a:ext uri="{FF2B5EF4-FFF2-40B4-BE49-F238E27FC236}">
                      <a16:creationId xmlns:a16="http://schemas.microsoft.com/office/drawing/2014/main" id="{ADC4B14D-2908-9D2B-8301-5F35A336A921}"/>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3" name="矩形 62">
                  <a:extLst>
                    <a:ext uri="{FF2B5EF4-FFF2-40B4-BE49-F238E27FC236}">
                      <a16:creationId xmlns:a16="http://schemas.microsoft.com/office/drawing/2014/main" id="{16002397-5617-4CD0-AB81-1119C12B0219}"/>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53" name="群組 52">
                <a:extLst>
                  <a:ext uri="{FF2B5EF4-FFF2-40B4-BE49-F238E27FC236}">
                    <a16:creationId xmlns:a16="http://schemas.microsoft.com/office/drawing/2014/main" id="{2394270A-9728-7707-1CC0-4A66C4B99489}"/>
                  </a:ext>
                </a:extLst>
              </p:cNvPr>
              <p:cNvGrpSpPr/>
              <p:nvPr/>
            </p:nvGrpSpPr>
            <p:grpSpPr>
              <a:xfrm>
                <a:off x="8136791" y="4682354"/>
                <a:ext cx="382023" cy="1413646"/>
                <a:chOff x="7755536" y="4682354"/>
                <a:chExt cx="382023" cy="1413646"/>
              </a:xfrm>
            </p:grpSpPr>
            <p:sp>
              <p:nvSpPr>
                <p:cNvPr id="60" name="矩形 59">
                  <a:extLst>
                    <a:ext uri="{FF2B5EF4-FFF2-40B4-BE49-F238E27FC236}">
                      <a16:creationId xmlns:a16="http://schemas.microsoft.com/office/drawing/2014/main" id="{B098402A-A48D-B4B4-CDBC-2BD7CC1696C9}"/>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1" name="矩形 60">
                  <a:extLst>
                    <a:ext uri="{FF2B5EF4-FFF2-40B4-BE49-F238E27FC236}">
                      <a16:creationId xmlns:a16="http://schemas.microsoft.com/office/drawing/2014/main" id="{71F11A63-2D0E-858C-BA61-B5556A20DA5B}"/>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54" name="群組 53">
                <a:extLst>
                  <a:ext uri="{FF2B5EF4-FFF2-40B4-BE49-F238E27FC236}">
                    <a16:creationId xmlns:a16="http://schemas.microsoft.com/office/drawing/2014/main" id="{813AD8D0-9E68-36CD-F6F8-28EFE0933915}"/>
                  </a:ext>
                </a:extLst>
              </p:cNvPr>
              <p:cNvGrpSpPr/>
              <p:nvPr/>
            </p:nvGrpSpPr>
            <p:grpSpPr>
              <a:xfrm>
                <a:off x="8529017" y="4682354"/>
                <a:ext cx="382023" cy="1413646"/>
                <a:chOff x="7755536" y="4682354"/>
                <a:chExt cx="382023" cy="1413646"/>
              </a:xfrm>
            </p:grpSpPr>
            <p:sp>
              <p:nvSpPr>
                <p:cNvPr id="58" name="矩形 57">
                  <a:extLst>
                    <a:ext uri="{FF2B5EF4-FFF2-40B4-BE49-F238E27FC236}">
                      <a16:creationId xmlns:a16="http://schemas.microsoft.com/office/drawing/2014/main" id="{67EBDAC4-EBA8-1CB3-A0AF-6F17A605E0F5}"/>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9" name="矩形 58">
                  <a:extLst>
                    <a:ext uri="{FF2B5EF4-FFF2-40B4-BE49-F238E27FC236}">
                      <a16:creationId xmlns:a16="http://schemas.microsoft.com/office/drawing/2014/main" id="{5AE88D37-984A-833B-E3A1-E69ED38EB99E}"/>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55" name="群組 54">
                <a:extLst>
                  <a:ext uri="{FF2B5EF4-FFF2-40B4-BE49-F238E27FC236}">
                    <a16:creationId xmlns:a16="http://schemas.microsoft.com/office/drawing/2014/main" id="{43F3BF3D-934F-DA7E-4D4E-4ED7F1974DC7}"/>
                  </a:ext>
                </a:extLst>
              </p:cNvPr>
              <p:cNvGrpSpPr/>
              <p:nvPr/>
            </p:nvGrpSpPr>
            <p:grpSpPr>
              <a:xfrm>
                <a:off x="8913394" y="4682354"/>
                <a:ext cx="382023" cy="1413646"/>
                <a:chOff x="7755536" y="4682354"/>
                <a:chExt cx="382023" cy="1413646"/>
              </a:xfrm>
            </p:grpSpPr>
            <p:sp>
              <p:nvSpPr>
                <p:cNvPr id="56" name="矩形 55">
                  <a:extLst>
                    <a:ext uri="{FF2B5EF4-FFF2-40B4-BE49-F238E27FC236}">
                      <a16:creationId xmlns:a16="http://schemas.microsoft.com/office/drawing/2014/main" id="{776DEB0D-15EC-6D49-AC13-84FA03F3366A}"/>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7" name="矩形 56">
                  <a:extLst>
                    <a:ext uri="{FF2B5EF4-FFF2-40B4-BE49-F238E27FC236}">
                      <a16:creationId xmlns:a16="http://schemas.microsoft.com/office/drawing/2014/main" id="{720F8FEA-9E0E-77B6-B765-7269AAA63CF2}"/>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49" name="矩形 48">
              <a:extLst>
                <a:ext uri="{FF2B5EF4-FFF2-40B4-BE49-F238E27FC236}">
                  <a16:creationId xmlns:a16="http://schemas.microsoft.com/office/drawing/2014/main" id="{30ADBE33-D3B8-3C31-C70A-053498FBB216}"/>
                </a:ext>
              </a:extLst>
            </p:cNvPr>
            <p:cNvSpPr/>
            <p:nvPr/>
          </p:nvSpPr>
          <p:spPr>
            <a:xfrm>
              <a:off x="6526342" y="2064152"/>
              <a:ext cx="938615" cy="1615784"/>
            </a:xfrm>
            <a:prstGeom prst="rect">
              <a:avLst/>
            </a:prstGeom>
            <a:solidFill>
              <a:srgbClr val="ECDFF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BC8C4BB3-27D8-BABB-4FDB-7FDCF0E263EE}"/>
                </a:ext>
              </a:extLst>
            </p:cNvPr>
            <p:cNvSpPr/>
            <p:nvPr/>
          </p:nvSpPr>
          <p:spPr>
            <a:xfrm>
              <a:off x="1737487" y="3415514"/>
              <a:ext cx="5746066" cy="264355"/>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51" name="矩形 50">
              <a:extLst>
                <a:ext uri="{FF2B5EF4-FFF2-40B4-BE49-F238E27FC236}">
                  <a16:creationId xmlns:a16="http://schemas.microsoft.com/office/drawing/2014/main" id="{FC09097B-CD4C-7EAB-E334-8BAF5C5B914B}"/>
                </a:ext>
              </a:extLst>
            </p:cNvPr>
            <p:cNvSpPr/>
            <p:nvPr/>
          </p:nvSpPr>
          <p:spPr>
            <a:xfrm>
              <a:off x="1733796" y="2654937"/>
              <a:ext cx="5731161" cy="217107"/>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nvGrpSpPr>
          <p:cNvPr id="88" name="群組 87">
            <a:extLst>
              <a:ext uri="{FF2B5EF4-FFF2-40B4-BE49-F238E27FC236}">
                <a16:creationId xmlns:a16="http://schemas.microsoft.com/office/drawing/2014/main" id="{637B29E3-AFA8-6F4E-AC5F-AC52B6C5E59B}"/>
              </a:ext>
            </a:extLst>
          </p:cNvPr>
          <p:cNvGrpSpPr/>
          <p:nvPr/>
        </p:nvGrpSpPr>
        <p:grpSpPr>
          <a:xfrm>
            <a:off x="4328897" y="2899060"/>
            <a:ext cx="1947378" cy="1371475"/>
            <a:chOff x="3334516" y="2335993"/>
            <a:chExt cx="1595995" cy="869130"/>
          </a:xfrm>
        </p:grpSpPr>
        <p:sp>
          <p:nvSpPr>
            <p:cNvPr id="89" name="矩形 88">
              <a:extLst>
                <a:ext uri="{FF2B5EF4-FFF2-40B4-BE49-F238E27FC236}">
                  <a16:creationId xmlns:a16="http://schemas.microsoft.com/office/drawing/2014/main" id="{281FEF82-B1F8-94AC-55D2-BEE1A8826AD9}"/>
                </a:ext>
              </a:extLst>
            </p:cNvPr>
            <p:cNvSpPr/>
            <p:nvPr/>
          </p:nvSpPr>
          <p:spPr>
            <a:xfrm>
              <a:off x="3345196" y="2335993"/>
              <a:ext cx="1585315"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90" name="矩形 89">
              <a:extLst>
                <a:ext uri="{FF2B5EF4-FFF2-40B4-BE49-F238E27FC236}">
                  <a16:creationId xmlns:a16="http://schemas.microsoft.com/office/drawing/2014/main" id="{75AE8B6E-4796-EBCB-852F-E19F104CA7BB}"/>
                </a:ext>
              </a:extLst>
            </p:cNvPr>
            <p:cNvSpPr/>
            <p:nvPr/>
          </p:nvSpPr>
          <p:spPr>
            <a:xfrm>
              <a:off x="3334516" y="2988016"/>
              <a:ext cx="1585315"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nvGrpSpPr>
          <p:cNvPr id="91" name="群組 90">
            <a:extLst>
              <a:ext uri="{FF2B5EF4-FFF2-40B4-BE49-F238E27FC236}">
                <a16:creationId xmlns:a16="http://schemas.microsoft.com/office/drawing/2014/main" id="{FA76299B-C6D3-D49D-1E21-4EA831AF6774}"/>
              </a:ext>
            </a:extLst>
          </p:cNvPr>
          <p:cNvGrpSpPr/>
          <p:nvPr/>
        </p:nvGrpSpPr>
        <p:grpSpPr>
          <a:xfrm>
            <a:off x="8226770" y="2906469"/>
            <a:ext cx="1164644" cy="1364063"/>
            <a:chOff x="6529057" y="2340690"/>
            <a:chExt cx="954496" cy="864433"/>
          </a:xfrm>
        </p:grpSpPr>
        <p:sp>
          <p:nvSpPr>
            <p:cNvPr id="92" name="矩形 91">
              <a:extLst>
                <a:ext uri="{FF2B5EF4-FFF2-40B4-BE49-F238E27FC236}">
                  <a16:creationId xmlns:a16="http://schemas.microsoft.com/office/drawing/2014/main" id="{C9D03624-7032-7A48-9B5C-DDA2ED86C14B}"/>
                </a:ext>
              </a:extLst>
            </p:cNvPr>
            <p:cNvSpPr/>
            <p:nvPr/>
          </p:nvSpPr>
          <p:spPr>
            <a:xfrm>
              <a:off x="6537474" y="2988016"/>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93" name="矩形 92">
              <a:extLst>
                <a:ext uri="{FF2B5EF4-FFF2-40B4-BE49-F238E27FC236}">
                  <a16:creationId xmlns:a16="http://schemas.microsoft.com/office/drawing/2014/main" id="{E398A5FD-6E3F-6E7A-7C4D-D4A911F4A3CC}"/>
                </a:ext>
              </a:extLst>
            </p:cNvPr>
            <p:cNvSpPr/>
            <p:nvPr/>
          </p:nvSpPr>
          <p:spPr>
            <a:xfrm>
              <a:off x="6529057" y="2340690"/>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94" name="矩形 93">
              <a:extLst>
                <a:ext uri="{FF2B5EF4-FFF2-40B4-BE49-F238E27FC236}">
                  <a16:creationId xmlns:a16="http://schemas.microsoft.com/office/drawing/2014/main" id="{4DB30FB7-A00C-AF15-9640-7183511A3A5E}"/>
                </a:ext>
              </a:extLst>
            </p:cNvPr>
            <p:cNvSpPr/>
            <p:nvPr/>
          </p:nvSpPr>
          <p:spPr>
            <a:xfrm>
              <a:off x="6529057" y="2654936"/>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pic>
        <p:nvPicPr>
          <p:cNvPr id="13" name="圖片 12">
            <a:extLst>
              <a:ext uri="{FF2B5EF4-FFF2-40B4-BE49-F238E27FC236}">
                <a16:creationId xmlns:a16="http://schemas.microsoft.com/office/drawing/2014/main" id="{5781585C-6C08-B6B4-5421-32ED5B7DD40D}"/>
              </a:ext>
            </a:extLst>
          </p:cNvPr>
          <p:cNvPicPr>
            <a:picLocks noChangeAspect="1"/>
          </p:cNvPicPr>
          <p:nvPr/>
        </p:nvPicPr>
        <p:blipFill>
          <a:blip r:embed="rId8"/>
          <a:stretch>
            <a:fillRect/>
          </a:stretch>
        </p:blipFill>
        <p:spPr>
          <a:xfrm>
            <a:off x="7742654" y="-4724"/>
            <a:ext cx="2736292" cy="759137"/>
          </a:xfrm>
          <a:prstGeom prst="rect">
            <a:avLst/>
          </a:prstGeom>
        </p:spPr>
      </p:pic>
    </p:spTree>
    <p:extLst>
      <p:ext uri="{BB962C8B-B14F-4D97-AF65-F5344CB8AC3E}">
        <p14:creationId xmlns:p14="http://schemas.microsoft.com/office/powerpoint/2010/main" val="2220786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1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fade">
                                      <p:cBhvr>
                                        <p:cTn id="12" dur="1500"/>
                                        <p:tgtEl>
                                          <p:spTgt spid="4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1" fill="hold" nodeType="clickEffect">
                                  <p:stCondLst>
                                    <p:cond delay="0"/>
                                  </p:stCondLst>
                                  <p:childTnLst>
                                    <p:set>
                                      <p:cBhvr>
                                        <p:cTn id="16" dur="1" fill="hold">
                                          <p:stCondLst>
                                            <p:cond delay="0"/>
                                          </p:stCondLst>
                                        </p:cTn>
                                        <p:tgtEl>
                                          <p:spTgt spid="88"/>
                                        </p:tgtEl>
                                        <p:attrNameLst>
                                          <p:attrName>style.visibility</p:attrName>
                                        </p:attrNameLst>
                                      </p:cBhvr>
                                      <p:to>
                                        <p:strVal val="visible"/>
                                      </p:to>
                                    </p:set>
                                    <p:anim calcmode="lin" valueType="num">
                                      <p:cBhvr additive="base">
                                        <p:cTn id="17" dur="1000" fill="hold"/>
                                        <p:tgtEl>
                                          <p:spTgt spid="88"/>
                                        </p:tgtEl>
                                        <p:attrNameLst>
                                          <p:attrName>ppt_x</p:attrName>
                                        </p:attrNameLst>
                                      </p:cBhvr>
                                      <p:tavLst>
                                        <p:tav tm="0">
                                          <p:val>
                                            <p:strVal val="#ppt_x"/>
                                          </p:val>
                                        </p:tav>
                                        <p:tav tm="100000">
                                          <p:val>
                                            <p:strVal val="#ppt_x"/>
                                          </p:val>
                                        </p:tav>
                                      </p:tavLst>
                                    </p:anim>
                                    <p:anim calcmode="lin" valueType="num">
                                      <p:cBhvr additive="base">
                                        <p:cTn id="18" dur="1000" fill="hold"/>
                                        <p:tgtEl>
                                          <p:spTgt spid="88"/>
                                        </p:tgtEl>
                                        <p:attrNameLst>
                                          <p:attrName>ppt_y</p:attrName>
                                        </p:attrNameLst>
                                      </p:cBhvr>
                                      <p:tavLst>
                                        <p:tav tm="0">
                                          <p:val>
                                            <p:strVal val="0-#ppt_h/2"/>
                                          </p:val>
                                        </p:tav>
                                        <p:tav tm="100000">
                                          <p:val>
                                            <p:strVal val="#ppt_y"/>
                                          </p:val>
                                        </p:tav>
                                      </p:tavLst>
                                    </p:anim>
                                  </p:childTnLst>
                                </p:cTn>
                              </p:par>
                              <p:par>
                                <p:cTn id="19" presetID="2" presetClass="entr" presetSubtype="1" fill="hold" nodeType="withEffect">
                                  <p:stCondLst>
                                    <p:cond delay="0"/>
                                  </p:stCondLst>
                                  <p:childTnLst>
                                    <p:set>
                                      <p:cBhvr>
                                        <p:cTn id="20" dur="1" fill="hold">
                                          <p:stCondLst>
                                            <p:cond delay="0"/>
                                          </p:stCondLst>
                                        </p:cTn>
                                        <p:tgtEl>
                                          <p:spTgt spid="91"/>
                                        </p:tgtEl>
                                        <p:attrNameLst>
                                          <p:attrName>style.visibility</p:attrName>
                                        </p:attrNameLst>
                                      </p:cBhvr>
                                      <p:to>
                                        <p:strVal val="visible"/>
                                      </p:to>
                                    </p:set>
                                    <p:anim calcmode="lin" valueType="num">
                                      <p:cBhvr additive="base">
                                        <p:cTn id="21" dur="1000" fill="hold"/>
                                        <p:tgtEl>
                                          <p:spTgt spid="91"/>
                                        </p:tgtEl>
                                        <p:attrNameLst>
                                          <p:attrName>ppt_x</p:attrName>
                                        </p:attrNameLst>
                                      </p:cBhvr>
                                      <p:tavLst>
                                        <p:tav tm="0">
                                          <p:val>
                                            <p:strVal val="#ppt_x"/>
                                          </p:val>
                                        </p:tav>
                                        <p:tav tm="100000">
                                          <p:val>
                                            <p:strVal val="#ppt_x"/>
                                          </p:val>
                                        </p:tav>
                                      </p:tavLst>
                                    </p:anim>
                                    <p:anim calcmode="lin" valueType="num">
                                      <p:cBhvr additive="base">
                                        <p:cTn id="22" dur="1000" fill="hold"/>
                                        <p:tgtEl>
                                          <p:spTgt spid="91"/>
                                        </p:tgtEl>
                                        <p:attrNameLst>
                                          <p:attrName>ppt_y</p:attrName>
                                        </p:attrNameLst>
                                      </p:cBhvr>
                                      <p:tavLst>
                                        <p:tav tm="0">
                                          <p:val>
                                            <p:strVal val="0-#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grpId="1" nodeType="clickEffect">
                                  <p:stCondLst>
                                    <p:cond delay="0"/>
                                  </p:stCondLst>
                                  <p:childTnLst>
                                    <p:animEffect transition="out" filter="fade">
                                      <p:cBhvr>
                                        <p:cTn id="26" dur="500"/>
                                        <p:tgtEl>
                                          <p:spTgt spid="43"/>
                                        </p:tgtEl>
                                      </p:cBhvr>
                                    </p:animEffect>
                                    <p:set>
                                      <p:cBhvr>
                                        <p:cTn id="27" dur="1" fill="hold">
                                          <p:stCondLst>
                                            <p:cond delay="499"/>
                                          </p:stCondLst>
                                        </p:cTn>
                                        <p:tgtEl>
                                          <p:spTgt spid="43"/>
                                        </p:tgtEl>
                                        <p:attrNameLst>
                                          <p:attrName>style.visibility</p:attrName>
                                        </p:attrNameLst>
                                      </p:cBhvr>
                                      <p:to>
                                        <p:strVal val="hidden"/>
                                      </p:to>
                                    </p:set>
                                  </p:childTnLst>
                                </p:cTn>
                              </p:par>
                              <p:par>
                                <p:cTn id="28" presetID="10" presetClass="exit" presetSubtype="0" fill="hold" nodeType="withEffect">
                                  <p:stCondLst>
                                    <p:cond delay="0"/>
                                  </p:stCondLst>
                                  <p:childTnLst>
                                    <p:animEffect transition="out" filter="fade">
                                      <p:cBhvr>
                                        <p:cTn id="29" dur="500"/>
                                        <p:tgtEl>
                                          <p:spTgt spid="45"/>
                                        </p:tgtEl>
                                      </p:cBhvr>
                                    </p:animEffect>
                                    <p:set>
                                      <p:cBhvr>
                                        <p:cTn id="30" dur="1" fill="hold">
                                          <p:stCondLst>
                                            <p:cond delay="499"/>
                                          </p:stCondLst>
                                        </p:cTn>
                                        <p:tgtEl>
                                          <p:spTgt spid="45"/>
                                        </p:tgtEl>
                                        <p:attrNameLst>
                                          <p:attrName>style.visibility</p:attrName>
                                        </p:attrNameLst>
                                      </p:cBhvr>
                                      <p:to>
                                        <p:strVal val="hidden"/>
                                      </p:to>
                                    </p:set>
                                  </p:childTnLst>
                                </p:cTn>
                              </p:par>
                              <p:par>
                                <p:cTn id="31" presetID="10" presetClass="exit" presetSubtype="0" fill="hold" nodeType="withEffect">
                                  <p:stCondLst>
                                    <p:cond delay="0"/>
                                  </p:stCondLst>
                                  <p:childTnLst>
                                    <p:animEffect transition="out" filter="fade">
                                      <p:cBhvr>
                                        <p:cTn id="32" dur="500"/>
                                        <p:tgtEl>
                                          <p:spTgt spid="88"/>
                                        </p:tgtEl>
                                      </p:cBhvr>
                                    </p:animEffect>
                                    <p:set>
                                      <p:cBhvr>
                                        <p:cTn id="33" dur="1" fill="hold">
                                          <p:stCondLst>
                                            <p:cond delay="499"/>
                                          </p:stCondLst>
                                        </p:cTn>
                                        <p:tgtEl>
                                          <p:spTgt spid="88"/>
                                        </p:tgtEl>
                                        <p:attrNameLst>
                                          <p:attrName>style.visibility</p:attrName>
                                        </p:attrNameLst>
                                      </p:cBhvr>
                                      <p:to>
                                        <p:strVal val="hidden"/>
                                      </p:to>
                                    </p:set>
                                  </p:childTnLst>
                                </p:cTn>
                              </p:par>
                              <p:par>
                                <p:cTn id="34" presetID="10" presetClass="exit" presetSubtype="0" fill="hold" nodeType="withEffect">
                                  <p:stCondLst>
                                    <p:cond delay="0"/>
                                  </p:stCondLst>
                                  <p:childTnLst>
                                    <p:animEffect transition="out" filter="fade">
                                      <p:cBhvr>
                                        <p:cTn id="35" dur="500"/>
                                        <p:tgtEl>
                                          <p:spTgt spid="91"/>
                                        </p:tgtEl>
                                      </p:cBhvr>
                                    </p:animEffect>
                                    <p:set>
                                      <p:cBhvr>
                                        <p:cTn id="36" dur="1" fill="hold">
                                          <p:stCondLst>
                                            <p:cond delay="499"/>
                                          </p:stCondLst>
                                        </p:cTn>
                                        <p:tgtEl>
                                          <p:spTgt spid="91"/>
                                        </p:tgtEl>
                                        <p:attrNameLst>
                                          <p:attrName>style.visibility</p:attrName>
                                        </p:attrNameLst>
                                      </p:cBhvr>
                                      <p:to>
                                        <p:strVal val="hidden"/>
                                      </p:to>
                                    </p:set>
                                  </p:childTnLst>
                                </p:cTn>
                              </p:par>
                              <p:par>
                                <p:cTn id="37" presetID="10" presetClass="exit" presetSubtype="0" fill="hold" grpId="0" nodeType="withEffect">
                                  <p:stCondLst>
                                    <p:cond delay="0"/>
                                  </p:stCondLst>
                                  <p:childTnLst>
                                    <p:animEffect transition="out" filter="fade">
                                      <p:cBhvr>
                                        <p:cTn id="38" dur="500"/>
                                        <p:tgtEl>
                                          <p:spTgt spid="42"/>
                                        </p:tgtEl>
                                      </p:cBhvr>
                                    </p:animEffect>
                                    <p:set>
                                      <p:cBhvr>
                                        <p:cTn id="39" dur="1" fill="hold">
                                          <p:stCondLst>
                                            <p:cond delay="499"/>
                                          </p:stCondLst>
                                        </p:cTn>
                                        <p:tgtEl>
                                          <p:spTgt spid="42"/>
                                        </p:tgtEl>
                                        <p:attrNameLst>
                                          <p:attrName>style.visibility</p:attrName>
                                        </p:attrNameLst>
                                      </p:cBhvr>
                                      <p:to>
                                        <p:strVal val="hidden"/>
                                      </p:to>
                                    </p:set>
                                  </p:childTnLst>
                                </p:cTn>
                              </p:par>
                              <p:par>
                                <p:cTn id="40" presetID="10" presetClass="exit" presetSubtype="0" fill="hold" grpId="0" nodeType="withEffect">
                                  <p:stCondLst>
                                    <p:cond delay="0"/>
                                  </p:stCondLst>
                                  <p:childTnLst>
                                    <p:animEffect transition="out" filter="fade">
                                      <p:cBhvr>
                                        <p:cTn id="41" dur="500"/>
                                        <p:tgtEl>
                                          <p:spTgt spid="44"/>
                                        </p:tgtEl>
                                      </p:cBhvr>
                                    </p:animEffect>
                                    <p:set>
                                      <p:cBhvr>
                                        <p:cTn id="42" dur="1" fill="hold">
                                          <p:stCondLst>
                                            <p:cond delay="499"/>
                                          </p:stCondLst>
                                        </p:cTn>
                                        <p:tgtEl>
                                          <p:spTgt spid="44"/>
                                        </p:tgtEl>
                                        <p:attrNameLst>
                                          <p:attrName>style.visibility</p:attrName>
                                        </p:attrNameLst>
                                      </p:cBhvr>
                                      <p:to>
                                        <p:strVal val="hidden"/>
                                      </p:to>
                                    </p:set>
                                  </p:childTnLst>
                                </p:cTn>
                              </p:par>
                              <p:par>
                                <p:cTn id="43" presetID="10" presetClass="entr" presetSubtype="0" fill="hold" nodeType="withEffect">
                                  <p:stCondLst>
                                    <p:cond delay="0"/>
                                  </p:stCondLst>
                                  <p:childTnLst>
                                    <p:set>
                                      <p:cBhvr>
                                        <p:cTn id="44" dur="1" fill="hold">
                                          <p:stCondLst>
                                            <p:cond delay="0"/>
                                          </p:stCondLst>
                                        </p:cTn>
                                        <p:tgtEl>
                                          <p:spTgt spid="41"/>
                                        </p:tgtEl>
                                        <p:attrNameLst>
                                          <p:attrName>style.visibility</p:attrName>
                                        </p:attrNameLst>
                                      </p:cBhvr>
                                      <p:to>
                                        <p:strVal val="visible"/>
                                      </p:to>
                                    </p:set>
                                    <p:animEffect transition="in" filter="fade">
                                      <p:cBhvr>
                                        <p:cTn id="45" dur="750"/>
                                        <p:tgtEl>
                                          <p:spTgt spid="41"/>
                                        </p:tgtEl>
                                      </p:cBhvr>
                                    </p:animEffect>
                                  </p:childTnLst>
                                </p:cTn>
                              </p:par>
                              <p:par>
                                <p:cTn id="46" presetID="10" presetClass="entr" presetSubtype="0" fill="hold" nodeType="with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7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animBg="1"/>
      <p:bldP spid="43" grpId="1" animBg="1"/>
      <p:bldP spid="4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66F64AE-CAE4-0A78-C8F9-867765DF3067}"/>
              </a:ext>
            </a:extLst>
          </p:cNvPr>
          <p:cNvSpPr>
            <a:spLocks noGrp="1"/>
          </p:cNvSpPr>
          <p:nvPr>
            <p:ph type="ctrTitle"/>
          </p:nvPr>
        </p:nvSpPr>
        <p:spPr>
          <a:xfrm>
            <a:off x="1289371" y="1788454"/>
            <a:ext cx="9613257" cy="2098226"/>
          </a:xfrm>
        </p:spPr>
        <p:txBody>
          <a:bodyPr/>
          <a:lstStyle/>
          <a:p>
            <a:r>
              <a:rPr lang="en-US" altLang="zh-TW" b="1" dirty="0">
                <a:solidFill>
                  <a:schemeClr val="tx1"/>
                </a:solidFill>
              </a:rPr>
              <a:t>Experimental Setup and Results Analysis</a:t>
            </a:r>
          </a:p>
        </p:txBody>
      </p:sp>
      <p:sp>
        <p:nvSpPr>
          <p:cNvPr id="3" name="副標題 2">
            <a:extLst>
              <a:ext uri="{FF2B5EF4-FFF2-40B4-BE49-F238E27FC236}">
                <a16:creationId xmlns:a16="http://schemas.microsoft.com/office/drawing/2014/main" id="{B1B8DE14-80E4-7564-81F1-A7DA9C966337}"/>
              </a:ext>
            </a:extLst>
          </p:cNvPr>
          <p:cNvSpPr>
            <a:spLocks noGrp="1"/>
          </p:cNvSpPr>
          <p:nvPr>
            <p:ph type="subTitle" idx="1"/>
          </p:nvPr>
        </p:nvSpPr>
        <p:spPr>
          <a:xfrm>
            <a:off x="4166888" y="3886680"/>
            <a:ext cx="4893280" cy="1368075"/>
          </a:xfrm>
        </p:spPr>
        <p:txBody>
          <a:bodyPr>
            <a:normAutofit fontScale="92500" lnSpcReduction="20000"/>
          </a:bodyPr>
          <a:lstStyle/>
          <a:p>
            <a:pPr marL="457200" indent="-457200" algn="l">
              <a:buFont typeface="+mj-lt"/>
              <a:buAutoNum type="arabicPeriod"/>
            </a:pPr>
            <a:r>
              <a:rPr lang="en-US" altLang="zh-TW" dirty="0">
                <a:solidFill>
                  <a:srgbClr val="FF0000"/>
                </a:solidFill>
              </a:rPr>
              <a:t>SHG measurement </a:t>
            </a:r>
          </a:p>
          <a:p>
            <a:pPr marL="457200" indent="-457200" algn="l">
              <a:buFont typeface="+mj-lt"/>
              <a:buAutoNum type="arabicPeriod"/>
            </a:pPr>
            <a:r>
              <a:rPr lang="en-US" altLang="zh-TW" dirty="0">
                <a:solidFill>
                  <a:schemeClr val="tx1"/>
                </a:solidFill>
              </a:rPr>
              <a:t>EOPMC measurement </a:t>
            </a:r>
          </a:p>
          <a:p>
            <a:pPr marL="457200" indent="-457200" algn="l">
              <a:buFont typeface="+mj-lt"/>
              <a:buAutoNum type="arabicPeriod"/>
            </a:pPr>
            <a:r>
              <a:rPr lang="en-US" altLang="zh-TW" dirty="0">
                <a:solidFill>
                  <a:schemeClr val="tx1"/>
                </a:solidFill>
              </a:rPr>
              <a:t>EO measurement </a:t>
            </a:r>
          </a:p>
          <a:p>
            <a:pPr marL="457200" indent="-457200" algn="l">
              <a:buFont typeface="+mj-lt"/>
              <a:buAutoNum type="arabicPeriod"/>
            </a:pPr>
            <a:r>
              <a:rPr lang="en-US" altLang="zh-TW" dirty="0">
                <a:solidFill>
                  <a:schemeClr val="tx1"/>
                </a:solidFill>
              </a:rPr>
              <a:t>Photon pair measurement</a:t>
            </a:r>
          </a:p>
        </p:txBody>
      </p:sp>
    </p:spTree>
    <p:extLst>
      <p:ext uri="{BB962C8B-B14F-4D97-AF65-F5344CB8AC3E}">
        <p14:creationId xmlns:p14="http://schemas.microsoft.com/office/powerpoint/2010/main" val="13351756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Experimental Setup and Results Analysis</a:t>
            </a:r>
            <a:endParaRPr lang="zh-TW" altLang="en-US" b="1"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1581381" y="6385597"/>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44</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sp>
        <p:nvSpPr>
          <p:cNvPr id="9" name="文字方塊 8">
            <a:extLst>
              <a:ext uri="{FF2B5EF4-FFF2-40B4-BE49-F238E27FC236}">
                <a16:creationId xmlns:a16="http://schemas.microsoft.com/office/drawing/2014/main" id="{FCC3B607-8B56-7790-F49E-A65EBDC025D1}"/>
              </a:ext>
            </a:extLst>
          </p:cNvPr>
          <p:cNvSpPr txBox="1"/>
          <p:nvPr/>
        </p:nvSpPr>
        <p:spPr>
          <a:xfrm>
            <a:off x="2589222" y="781178"/>
            <a:ext cx="662940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a typeface="新細明體" panose="02020500000000000000" pitchFamily="18" charset="-120"/>
                <a:cs typeface="+mn-cs"/>
              </a:rPr>
              <a:t>Experimental setup for SHG measurement</a:t>
            </a:r>
          </a:p>
        </p:txBody>
      </p:sp>
      <p:pic>
        <p:nvPicPr>
          <p:cNvPr id="10" name="圖片 9">
            <a:extLst>
              <a:ext uri="{FF2B5EF4-FFF2-40B4-BE49-F238E27FC236}">
                <a16:creationId xmlns:a16="http://schemas.microsoft.com/office/drawing/2014/main" id="{83EF0AA9-3507-7E5D-7E12-34CBBBEE9EB9}"/>
              </a:ext>
            </a:extLst>
          </p:cNvPr>
          <p:cNvPicPr>
            <a:picLocks noChangeAspect="1"/>
          </p:cNvPicPr>
          <p:nvPr/>
        </p:nvPicPr>
        <p:blipFill>
          <a:blip r:embed="rId4"/>
          <a:stretch>
            <a:fillRect/>
          </a:stretch>
        </p:blipFill>
        <p:spPr>
          <a:xfrm>
            <a:off x="2061961" y="1884870"/>
            <a:ext cx="7683922" cy="4173922"/>
          </a:xfrm>
          <a:prstGeom prst="rect">
            <a:avLst/>
          </a:prstGeom>
        </p:spPr>
      </p:pic>
    </p:spTree>
    <p:extLst>
      <p:ext uri="{BB962C8B-B14F-4D97-AF65-F5344CB8AC3E}">
        <p14:creationId xmlns:p14="http://schemas.microsoft.com/office/powerpoint/2010/main" val="36573723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Experimental Setup and Results Analysis</a:t>
            </a:r>
            <a:endParaRPr lang="zh-TW" altLang="en-US" b="1"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0039351" y="6356352"/>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45</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sp>
        <p:nvSpPr>
          <p:cNvPr id="7" name="文字方塊 6">
            <a:extLst>
              <a:ext uri="{FF2B5EF4-FFF2-40B4-BE49-F238E27FC236}">
                <a16:creationId xmlns:a16="http://schemas.microsoft.com/office/drawing/2014/main" id="{307B3F53-8EE1-5748-F894-C6A8AD9E8206}"/>
              </a:ext>
            </a:extLst>
          </p:cNvPr>
          <p:cNvSpPr txBox="1"/>
          <p:nvPr/>
        </p:nvSpPr>
        <p:spPr>
          <a:xfrm>
            <a:off x="6255916" y="1768004"/>
            <a:ext cx="4632532" cy="621709"/>
          </a:xfrm>
          <a:prstGeom prst="rect">
            <a:avLst/>
          </a:prstGeom>
          <a:noFill/>
          <a:ln>
            <a:solidFill>
              <a:schemeClr val="tx1">
                <a:lumMod val="75000"/>
                <a:lumOff val="25000"/>
              </a:schemeClr>
            </a:solidFill>
          </a:ln>
        </p:spPr>
        <p:txBody>
          <a:bodyPr wrap="square">
            <a:spAutoFit/>
          </a:bodyPr>
          <a:lstStyle/>
          <a:p>
            <a:pPr algn="ctr">
              <a:lnSpc>
                <a:spcPct val="200000"/>
              </a:lnSpc>
            </a:pPr>
            <a:r>
              <a:rPr lang="en-US" altLang="zh-TW" sz="2000" dirty="0"/>
              <a:t>SHG</a:t>
            </a:r>
            <a:r>
              <a:rPr lang="zh-TW" altLang="en-US" sz="2000" dirty="0"/>
              <a:t> </a:t>
            </a:r>
            <a:r>
              <a:rPr lang="en-US" altLang="zh-TW" sz="2000" dirty="0"/>
              <a:t>measurement different temperature</a:t>
            </a:r>
            <a:endParaRPr lang="zh-TW" altLang="zh-TW" sz="2000" dirty="0"/>
          </a:p>
        </p:txBody>
      </p:sp>
      <p:sp>
        <p:nvSpPr>
          <p:cNvPr id="10" name="文字方塊 9">
            <a:extLst>
              <a:ext uri="{FF2B5EF4-FFF2-40B4-BE49-F238E27FC236}">
                <a16:creationId xmlns:a16="http://schemas.microsoft.com/office/drawing/2014/main" id="{73493CF3-CE2B-850B-7811-8F42BE6C6374}"/>
              </a:ext>
            </a:extLst>
          </p:cNvPr>
          <p:cNvSpPr txBox="1"/>
          <p:nvPr/>
        </p:nvSpPr>
        <p:spPr>
          <a:xfrm>
            <a:off x="2370935" y="874299"/>
            <a:ext cx="7450129"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a typeface="新細明體" panose="02020500000000000000" pitchFamily="18" charset="-120"/>
                <a:cs typeface="+mn-cs"/>
              </a:rPr>
              <a:t>SHG measurement of my dual PPLN structure  </a:t>
            </a:r>
          </a:p>
        </p:txBody>
      </p:sp>
      <p:pic>
        <p:nvPicPr>
          <p:cNvPr id="12" name="圖片 11">
            <a:extLst>
              <a:ext uri="{FF2B5EF4-FFF2-40B4-BE49-F238E27FC236}">
                <a16:creationId xmlns:a16="http://schemas.microsoft.com/office/drawing/2014/main" id="{47D3D729-DC11-0C53-6FCD-96483E7FF93C}"/>
              </a:ext>
            </a:extLst>
          </p:cNvPr>
          <p:cNvPicPr>
            <a:picLocks noChangeAspect="1"/>
          </p:cNvPicPr>
          <p:nvPr/>
        </p:nvPicPr>
        <p:blipFill>
          <a:blip r:embed="rId4"/>
          <a:stretch>
            <a:fillRect/>
          </a:stretch>
        </p:blipFill>
        <p:spPr>
          <a:xfrm>
            <a:off x="516003" y="3513135"/>
            <a:ext cx="4472686" cy="1705212"/>
          </a:xfrm>
          <a:prstGeom prst="rect">
            <a:avLst/>
          </a:prstGeom>
        </p:spPr>
      </p:pic>
      <p:sp>
        <p:nvSpPr>
          <p:cNvPr id="15" name="文字方塊 14">
            <a:extLst>
              <a:ext uri="{FF2B5EF4-FFF2-40B4-BE49-F238E27FC236}">
                <a16:creationId xmlns:a16="http://schemas.microsoft.com/office/drawing/2014/main" id="{F06C627C-DBF6-C870-F0A3-3D882E6DA19B}"/>
              </a:ext>
            </a:extLst>
          </p:cNvPr>
          <p:cNvSpPr txBox="1"/>
          <p:nvPr/>
        </p:nvSpPr>
        <p:spPr>
          <a:xfrm>
            <a:off x="789539" y="2937430"/>
            <a:ext cx="3925614" cy="400110"/>
          </a:xfrm>
          <a:prstGeom prst="rect">
            <a:avLst/>
          </a:prstGeom>
          <a:noFill/>
          <a:ln>
            <a:solidFill>
              <a:schemeClr val="bg2">
                <a:lumMod val="25000"/>
              </a:schemeClr>
            </a:solidFill>
          </a:ln>
        </p:spPr>
        <p:txBody>
          <a:bodyPr wrap="square">
            <a:spAutoFit/>
          </a:bodyPr>
          <a:lstStyle/>
          <a:p>
            <a:pPr algn="ctr"/>
            <a:r>
              <a:rPr lang="en-US" altLang="zh-TW" sz="2000" b="1" dirty="0">
                <a:latin typeface="+mj-lt"/>
                <a:cs typeface="Times New Roman" panose="02020603050405020304" pitchFamily="18" charset="0"/>
              </a:rPr>
              <a:t>Dual PPLN structure SHG measure</a:t>
            </a:r>
          </a:p>
        </p:txBody>
      </p:sp>
      <p:grpSp>
        <p:nvGrpSpPr>
          <p:cNvPr id="6" name="群組 5">
            <a:extLst>
              <a:ext uri="{FF2B5EF4-FFF2-40B4-BE49-F238E27FC236}">
                <a16:creationId xmlns:a16="http://schemas.microsoft.com/office/drawing/2014/main" id="{1013DD91-A1FB-FA42-1CFB-545AC7BBE796}"/>
              </a:ext>
            </a:extLst>
          </p:cNvPr>
          <p:cNvGrpSpPr/>
          <p:nvPr/>
        </p:nvGrpSpPr>
        <p:grpSpPr>
          <a:xfrm>
            <a:off x="6255916" y="2629677"/>
            <a:ext cx="4657773" cy="3493330"/>
            <a:chOff x="6255916" y="2629677"/>
            <a:chExt cx="4657773" cy="3493330"/>
          </a:xfrm>
        </p:grpSpPr>
        <p:pic>
          <p:nvPicPr>
            <p:cNvPr id="9" name="圖片 8">
              <a:extLst>
                <a:ext uri="{FF2B5EF4-FFF2-40B4-BE49-F238E27FC236}">
                  <a16:creationId xmlns:a16="http://schemas.microsoft.com/office/drawing/2014/main" id="{C37AD2B8-6E61-9ED6-1272-36BE964B856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55916" y="2629677"/>
              <a:ext cx="4657773" cy="3493330"/>
            </a:xfrm>
            <a:prstGeom prst="rect">
              <a:avLst/>
            </a:prstGeom>
          </p:spPr>
        </p:pic>
        <p:sp>
          <p:nvSpPr>
            <p:cNvPr id="3" name="矩形 2">
              <a:extLst>
                <a:ext uri="{FF2B5EF4-FFF2-40B4-BE49-F238E27FC236}">
                  <a16:creationId xmlns:a16="http://schemas.microsoft.com/office/drawing/2014/main" id="{2BC12ACD-0159-38BD-C238-7966C055B1BC}"/>
                </a:ext>
              </a:extLst>
            </p:cNvPr>
            <p:cNvSpPr/>
            <p:nvPr/>
          </p:nvSpPr>
          <p:spPr>
            <a:xfrm>
              <a:off x="10510452" y="2719137"/>
              <a:ext cx="403237" cy="30680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36625087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66F64AE-CAE4-0A78-C8F9-867765DF3067}"/>
              </a:ext>
            </a:extLst>
          </p:cNvPr>
          <p:cNvSpPr>
            <a:spLocks noGrp="1"/>
          </p:cNvSpPr>
          <p:nvPr>
            <p:ph type="ctrTitle"/>
          </p:nvPr>
        </p:nvSpPr>
        <p:spPr>
          <a:xfrm>
            <a:off x="1289371" y="1788454"/>
            <a:ext cx="9613257" cy="2098226"/>
          </a:xfrm>
        </p:spPr>
        <p:txBody>
          <a:bodyPr/>
          <a:lstStyle/>
          <a:p>
            <a:r>
              <a:rPr lang="en-US" altLang="zh-TW" b="1" dirty="0">
                <a:solidFill>
                  <a:schemeClr val="tx1"/>
                </a:solidFill>
              </a:rPr>
              <a:t>Experimental Setup and Results Analysis</a:t>
            </a:r>
          </a:p>
        </p:txBody>
      </p:sp>
      <p:sp>
        <p:nvSpPr>
          <p:cNvPr id="3" name="副標題 2">
            <a:extLst>
              <a:ext uri="{FF2B5EF4-FFF2-40B4-BE49-F238E27FC236}">
                <a16:creationId xmlns:a16="http://schemas.microsoft.com/office/drawing/2014/main" id="{B1B8DE14-80E4-7564-81F1-A7DA9C966337}"/>
              </a:ext>
            </a:extLst>
          </p:cNvPr>
          <p:cNvSpPr>
            <a:spLocks noGrp="1"/>
          </p:cNvSpPr>
          <p:nvPr>
            <p:ph type="subTitle" idx="1"/>
          </p:nvPr>
        </p:nvSpPr>
        <p:spPr>
          <a:xfrm>
            <a:off x="4166888" y="3886680"/>
            <a:ext cx="4893280" cy="1368075"/>
          </a:xfrm>
        </p:spPr>
        <p:txBody>
          <a:bodyPr>
            <a:normAutofit fontScale="92500" lnSpcReduction="20000"/>
          </a:bodyPr>
          <a:lstStyle/>
          <a:p>
            <a:pPr marL="457200" indent="-457200" algn="l">
              <a:buFont typeface="+mj-lt"/>
              <a:buAutoNum type="arabicPeriod"/>
            </a:pPr>
            <a:r>
              <a:rPr lang="en-US" altLang="zh-TW" dirty="0">
                <a:solidFill>
                  <a:schemeClr val="tx1"/>
                </a:solidFill>
              </a:rPr>
              <a:t>SHG measurement </a:t>
            </a:r>
          </a:p>
          <a:p>
            <a:pPr marL="457200" indent="-457200" algn="l">
              <a:buFont typeface="+mj-lt"/>
              <a:buAutoNum type="arabicPeriod"/>
            </a:pPr>
            <a:r>
              <a:rPr lang="en-US" altLang="zh-TW" dirty="0">
                <a:solidFill>
                  <a:srgbClr val="FF0000"/>
                </a:solidFill>
              </a:rPr>
              <a:t>EOPMC measurement </a:t>
            </a:r>
          </a:p>
          <a:p>
            <a:pPr marL="457200" indent="-457200" algn="l">
              <a:buFont typeface="+mj-lt"/>
              <a:buAutoNum type="arabicPeriod"/>
            </a:pPr>
            <a:r>
              <a:rPr lang="en-US" altLang="zh-TW" dirty="0">
                <a:solidFill>
                  <a:schemeClr val="tx1"/>
                </a:solidFill>
              </a:rPr>
              <a:t>EO measurement </a:t>
            </a:r>
          </a:p>
          <a:p>
            <a:pPr marL="457200" indent="-457200" algn="l">
              <a:buFont typeface="+mj-lt"/>
              <a:buAutoNum type="arabicPeriod"/>
            </a:pPr>
            <a:r>
              <a:rPr lang="en-US" altLang="zh-TW" dirty="0">
                <a:solidFill>
                  <a:schemeClr val="tx1"/>
                </a:solidFill>
              </a:rPr>
              <a:t>Photon pair measurement</a:t>
            </a:r>
          </a:p>
        </p:txBody>
      </p:sp>
    </p:spTree>
    <p:extLst>
      <p:ext uri="{BB962C8B-B14F-4D97-AF65-F5344CB8AC3E}">
        <p14:creationId xmlns:p14="http://schemas.microsoft.com/office/powerpoint/2010/main" val="37846182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sz="4000" b="1" dirty="0">
                <a:latin typeface="Times New Roman" panose="02020603050405020304" pitchFamily="18" charset="0"/>
                <a:cs typeface="Times New Roman" panose="02020603050405020304" pitchFamily="18" charset="0"/>
              </a:rPr>
              <a:t>Experimental setup for EOPMC measurement</a:t>
            </a: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0039351" y="6356352"/>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47</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pic>
        <p:nvPicPr>
          <p:cNvPr id="7" name="圖片 6">
            <a:extLst>
              <a:ext uri="{FF2B5EF4-FFF2-40B4-BE49-F238E27FC236}">
                <a16:creationId xmlns:a16="http://schemas.microsoft.com/office/drawing/2014/main" id="{A404BE93-B77B-B0FF-E479-C547BB273238}"/>
              </a:ext>
            </a:extLst>
          </p:cNvPr>
          <p:cNvPicPr>
            <a:picLocks noChangeAspect="1"/>
          </p:cNvPicPr>
          <p:nvPr/>
        </p:nvPicPr>
        <p:blipFill>
          <a:blip r:embed="rId4"/>
          <a:stretch>
            <a:fillRect/>
          </a:stretch>
        </p:blipFill>
        <p:spPr>
          <a:xfrm>
            <a:off x="1124078" y="1790443"/>
            <a:ext cx="9759439" cy="4286379"/>
          </a:xfrm>
          <a:prstGeom prst="rect">
            <a:avLst/>
          </a:prstGeom>
        </p:spPr>
      </p:pic>
      <p:pic>
        <p:nvPicPr>
          <p:cNvPr id="9" name="圖片 8">
            <a:extLst>
              <a:ext uri="{FF2B5EF4-FFF2-40B4-BE49-F238E27FC236}">
                <a16:creationId xmlns:a16="http://schemas.microsoft.com/office/drawing/2014/main" id="{DB2A87B7-32A6-FBF2-818F-90B27A468E62}"/>
              </a:ext>
            </a:extLst>
          </p:cNvPr>
          <p:cNvPicPr>
            <a:picLocks noChangeAspect="1"/>
          </p:cNvPicPr>
          <p:nvPr/>
        </p:nvPicPr>
        <p:blipFill rotWithShape="1">
          <a:blip r:embed="rId5">
            <a:extLst>
              <a:ext uri="{28A0092B-C50C-407E-A947-70E740481C1C}">
                <a14:useLocalDpi xmlns:a14="http://schemas.microsoft.com/office/drawing/2010/main" val="0"/>
              </a:ext>
            </a:extLst>
          </a:blip>
          <a:srcRect l="35767" t="19795" r="10244" b="8520"/>
          <a:stretch/>
        </p:blipFill>
        <p:spPr>
          <a:xfrm>
            <a:off x="9342188" y="1219497"/>
            <a:ext cx="2774319" cy="2072071"/>
          </a:xfrm>
          <a:prstGeom prst="rect">
            <a:avLst/>
          </a:prstGeom>
        </p:spPr>
      </p:pic>
      <p:sp>
        <p:nvSpPr>
          <p:cNvPr id="10" name="文字方塊 9">
            <a:extLst>
              <a:ext uri="{FF2B5EF4-FFF2-40B4-BE49-F238E27FC236}">
                <a16:creationId xmlns:a16="http://schemas.microsoft.com/office/drawing/2014/main" id="{746044BD-6517-68AD-C230-FF73D8750B74}"/>
              </a:ext>
            </a:extLst>
          </p:cNvPr>
          <p:cNvSpPr txBox="1"/>
          <p:nvPr/>
        </p:nvSpPr>
        <p:spPr>
          <a:xfrm>
            <a:off x="9454384" y="845577"/>
            <a:ext cx="2582758" cy="369332"/>
          </a:xfrm>
          <a:prstGeom prst="rect">
            <a:avLst/>
          </a:prstGeom>
          <a:noFill/>
        </p:spPr>
        <p:txBody>
          <a:bodyPr wrap="none" rtlCol="0">
            <a:spAutoFit/>
          </a:bodyPr>
          <a:lstStyle/>
          <a:p>
            <a:r>
              <a:rPr lang="en-US" altLang="zh-TW" dirty="0"/>
              <a:t>TM</a:t>
            </a:r>
            <a:r>
              <a:rPr lang="zh-TW" altLang="en-US" dirty="0"/>
              <a:t> </a:t>
            </a:r>
            <a:r>
              <a:rPr lang="en-US" altLang="zh-TW" dirty="0"/>
              <a:t>mode no plus Voltage</a:t>
            </a:r>
            <a:endParaRPr lang="zh-TW" altLang="en-US" dirty="0"/>
          </a:p>
        </p:txBody>
      </p:sp>
      <p:cxnSp>
        <p:nvCxnSpPr>
          <p:cNvPr id="12" name="直線單箭頭接點 11">
            <a:extLst>
              <a:ext uri="{FF2B5EF4-FFF2-40B4-BE49-F238E27FC236}">
                <a16:creationId xmlns:a16="http://schemas.microsoft.com/office/drawing/2014/main" id="{074CE240-F3B6-D0B5-C7F8-1B8E2FA667E9}"/>
              </a:ext>
            </a:extLst>
          </p:cNvPr>
          <p:cNvCxnSpPr>
            <a:cxnSpLocks/>
          </p:cNvCxnSpPr>
          <p:nvPr/>
        </p:nvCxnSpPr>
        <p:spPr>
          <a:xfrm flipV="1">
            <a:off x="7620000" y="3429000"/>
            <a:ext cx="1905965" cy="34148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7" name="圖片 16">
            <a:extLst>
              <a:ext uri="{FF2B5EF4-FFF2-40B4-BE49-F238E27FC236}">
                <a16:creationId xmlns:a16="http://schemas.microsoft.com/office/drawing/2014/main" id="{FB35C305-DB26-D946-EBCE-8CE3C507DBD0}"/>
              </a:ext>
            </a:extLst>
          </p:cNvPr>
          <p:cNvPicPr>
            <a:picLocks noChangeAspect="1"/>
          </p:cNvPicPr>
          <p:nvPr/>
        </p:nvPicPr>
        <p:blipFill rotWithShape="1">
          <a:blip r:embed="rId6">
            <a:extLst>
              <a:ext uri="{28A0092B-C50C-407E-A947-70E740481C1C}">
                <a14:useLocalDpi xmlns:a14="http://schemas.microsoft.com/office/drawing/2010/main" val="0"/>
              </a:ext>
            </a:extLst>
          </a:blip>
          <a:srcRect l="35436" t="19472" r="10282" b="8378"/>
          <a:stretch/>
        </p:blipFill>
        <p:spPr>
          <a:xfrm>
            <a:off x="9342188" y="1229233"/>
            <a:ext cx="2774319" cy="2074295"/>
          </a:xfrm>
          <a:prstGeom prst="rect">
            <a:avLst/>
          </a:prstGeom>
        </p:spPr>
      </p:pic>
      <p:sp>
        <p:nvSpPr>
          <p:cNvPr id="18" name="文字方塊 17">
            <a:extLst>
              <a:ext uri="{FF2B5EF4-FFF2-40B4-BE49-F238E27FC236}">
                <a16:creationId xmlns:a16="http://schemas.microsoft.com/office/drawing/2014/main" id="{6F670EE5-B7D0-7A67-5F4F-07B0F95089FF}"/>
              </a:ext>
            </a:extLst>
          </p:cNvPr>
          <p:cNvSpPr txBox="1"/>
          <p:nvPr/>
        </p:nvSpPr>
        <p:spPr>
          <a:xfrm>
            <a:off x="9458232" y="855313"/>
            <a:ext cx="2286203" cy="369332"/>
          </a:xfrm>
          <a:prstGeom prst="rect">
            <a:avLst/>
          </a:prstGeom>
          <a:noFill/>
        </p:spPr>
        <p:txBody>
          <a:bodyPr wrap="none" rtlCol="0">
            <a:spAutoFit/>
          </a:bodyPr>
          <a:lstStyle/>
          <a:p>
            <a:r>
              <a:rPr lang="en-US" altLang="zh-TW" dirty="0"/>
              <a:t>TM</a:t>
            </a:r>
            <a:r>
              <a:rPr lang="zh-TW" altLang="en-US" dirty="0"/>
              <a:t> </a:t>
            </a:r>
            <a:r>
              <a:rPr lang="en-US" altLang="zh-TW" dirty="0"/>
              <a:t>mode plus Voltage</a:t>
            </a:r>
            <a:endParaRPr lang="zh-TW" altLang="en-US" dirty="0"/>
          </a:p>
        </p:txBody>
      </p:sp>
    </p:spTree>
    <p:extLst>
      <p:ext uri="{BB962C8B-B14F-4D97-AF65-F5344CB8AC3E}">
        <p14:creationId xmlns:p14="http://schemas.microsoft.com/office/powerpoint/2010/main" val="655414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par>
                                <p:cTn id="8" presetID="1" presetClass="exit" presetSubtype="0" fill="hold" nodeType="withEffect">
                                  <p:stCondLst>
                                    <p:cond delay="0"/>
                                  </p:stCondLst>
                                  <p:childTnLst>
                                    <p:set>
                                      <p:cBhvr>
                                        <p:cTn id="9" dur="1" fill="hold">
                                          <p:stCondLst>
                                            <p:cond delay="0"/>
                                          </p:stCondLst>
                                        </p:cTn>
                                        <p:tgtEl>
                                          <p:spTgt spid="9"/>
                                        </p:tgtEl>
                                        <p:attrNameLst>
                                          <p:attrName>style.visibility</p:attrName>
                                        </p:attrNameLst>
                                      </p:cBhvr>
                                      <p:to>
                                        <p:strVal val="hidden"/>
                                      </p:to>
                                    </p:set>
                                  </p:childTnLst>
                                </p:cTn>
                              </p:par>
                              <p:par>
                                <p:cTn id="10" presetID="10" presetClass="entr" presetSubtype="0" fill="hold" grpId="0" nodeType="with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APPLN EOPMC measurement </a:t>
            </a:r>
            <a:endParaRPr lang="zh-TW" altLang="en-US" b="1"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1581381" y="6356352"/>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48</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pic>
        <p:nvPicPr>
          <p:cNvPr id="7" name="圖片 6">
            <a:extLst>
              <a:ext uri="{FF2B5EF4-FFF2-40B4-BE49-F238E27FC236}">
                <a16:creationId xmlns:a16="http://schemas.microsoft.com/office/drawing/2014/main" id="{F6C97256-F4A0-1243-9F79-CF8C780BC393}"/>
              </a:ext>
            </a:extLst>
          </p:cNvPr>
          <p:cNvPicPr>
            <a:picLocks noChangeAspect="1"/>
          </p:cNvPicPr>
          <p:nvPr/>
        </p:nvPicPr>
        <p:blipFill>
          <a:blip r:embed="rId4"/>
          <a:stretch>
            <a:fillRect/>
          </a:stretch>
        </p:blipFill>
        <p:spPr>
          <a:xfrm>
            <a:off x="703832" y="3377839"/>
            <a:ext cx="4099133" cy="1562795"/>
          </a:xfrm>
          <a:prstGeom prst="rect">
            <a:avLst/>
          </a:prstGeom>
        </p:spPr>
      </p:pic>
      <p:sp>
        <p:nvSpPr>
          <p:cNvPr id="9" name="文字方塊 8">
            <a:extLst>
              <a:ext uri="{FF2B5EF4-FFF2-40B4-BE49-F238E27FC236}">
                <a16:creationId xmlns:a16="http://schemas.microsoft.com/office/drawing/2014/main" id="{43101057-AF75-BEDD-C0BC-AF666B3EAB3A}"/>
              </a:ext>
            </a:extLst>
          </p:cNvPr>
          <p:cNvSpPr txBox="1"/>
          <p:nvPr/>
        </p:nvSpPr>
        <p:spPr>
          <a:xfrm>
            <a:off x="790592" y="2676766"/>
            <a:ext cx="3925614" cy="400110"/>
          </a:xfrm>
          <a:prstGeom prst="rect">
            <a:avLst/>
          </a:prstGeom>
          <a:noFill/>
          <a:ln>
            <a:solidFill>
              <a:schemeClr val="bg2">
                <a:lumMod val="25000"/>
              </a:schemeClr>
            </a:solidFill>
          </a:ln>
        </p:spPr>
        <p:txBody>
          <a:bodyPr wrap="square">
            <a:spAutoFit/>
          </a:bodyPr>
          <a:lstStyle/>
          <a:p>
            <a:pPr algn="ctr"/>
            <a:r>
              <a:rPr lang="en-US" altLang="zh-TW" sz="2000" b="1" dirty="0">
                <a:latin typeface="+mj-lt"/>
                <a:cs typeface="Times New Roman" panose="02020603050405020304" pitchFamily="18" charset="0"/>
              </a:rPr>
              <a:t>APPLN structure EOPMC measure</a:t>
            </a:r>
          </a:p>
        </p:txBody>
      </p:sp>
      <p:sp>
        <p:nvSpPr>
          <p:cNvPr id="11" name="文字方塊 10">
            <a:extLst>
              <a:ext uri="{FF2B5EF4-FFF2-40B4-BE49-F238E27FC236}">
                <a16:creationId xmlns:a16="http://schemas.microsoft.com/office/drawing/2014/main" id="{5460ABE4-E9A2-FB79-282B-CDEB19672377}"/>
              </a:ext>
            </a:extLst>
          </p:cNvPr>
          <p:cNvSpPr txBox="1"/>
          <p:nvPr/>
        </p:nvSpPr>
        <p:spPr>
          <a:xfrm>
            <a:off x="5655337" y="1580772"/>
            <a:ext cx="5814243" cy="1015663"/>
          </a:xfrm>
          <a:prstGeom prst="rect">
            <a:avLst/>
          </a:prstGeom>
          <a:noFill/>
          <a:ln>
            <a:solidFill>
              <a:schemeClr val="bg2">
                <a:lumMod val="25000"/>
              </a:schemeClr>
            </a:solidFill>
          </a:ln>
        </p:spPr>
        <p:txBody>
          <a:bodyPr wrap="square">
            <a:spAutoFit/>
          </a:bodyPr>
          <a:lstStyle/>
          <a:p>
            <a:r>
              <a:rPr lang="en-US" altLang="zh-TW" sz="2000" b="1" dirty="0">
                <a:latin typeface="+mj-lt"/>
                <a:cs typeface="Times New Roman" panose="02020603050405020304" pitchFamily="18" charset="0"/>
              </a:rPr>
              <a:t>APPLN EOPMC measurement in 55V have high conversion efficiency of which the highest can achieved up to 99% and also have 7nm  bandwidth can up to 90% </a:t>
            </a:r>
          </a:p>
        </p:txBody>
      </p:sp>
      <p:grpSp>
        <p:nvGrpSpPr>
          <p:cNvPr id="24" name="群組 23">
            <a:extLst>
              <a:ext uri="{FF2B5EF4-FFF2-40B4-BE49-F238E27FC236}">
                <a16:creationId xmlns:a16="http://schemas.microsoft.com/office/drawing/2014/main" id="{C09F328F-4DCB-B8EA-10A6-D7D7586E93D3}"/>
              </a:ext>
            </a:extLst>
          </p:cNvPr>
          <p:cNvGrpSpPr/>
          <p:nvPr/>
        </p:nvGrpSpPr>
        <p:grpSpPr>
          <a:xfrm>
            <a:off x="5914615" y="2742421"/>
            <a:ext cx="5305408" cy="3979056"/>
            <a:chOff x="5914615" y="2742421"/>
            <a:chExt cx="5305408" cy="3979056"/>
          </a:xfrm>
        </p:grpSpPr>
        <p:pic>
          <p:nvPicPr>
            <p:cNvPr id="6" name="圖片 5">
              <a:extLst>
                <a:ext uri="{FF2B5EF4-FFF2-40B4-BE49-F238E27FC236}">
                  <a16:creationId xmlns:a16="http://schemas.microsoft.com/office/drawing/2014/main" id="{B2B14EB9-2350-BB08-5E9E-F8D87885012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14615" y="2742421"/>
              <a:ext cx="5305408" cy="3979056"/>
            </a:xfrm>
            <a:prstGeom prst="rect">
              <a:avLst/>
            </a:prstGeom>
          </p:spPr>
        </p:pic>
        <p:cxnSp>
          <p:nvCxnSpPr>
            <p:cNvPr id="14" name="直線單箭頭接點 13">
              <a:extLst>
                <a:ext uri="{FF2B5EF4-FFF2-40B4-BE49-F238E27FC236}">
                  <a16:creationId xmlns:a16="http://schemas.microsoft.com/office/drawing/2014/main" id="{A8D008C7-E50E-6CC8-D7EF-CC07DE90A7AC}"/>
                </a:ext>
              </a:extLst>
            </p:cNvPr>
            <p:cNvCxnSpPr>
              <a:cxnSpLocks/>
            </p:cNvCxnSpPr>
            <p:nvPr/>
          </p:nvCxnSpPr>
          <p:spPr>
            <a:xfrm flipH="1">
              <a:off x="8795084" y="4644187"/>
              <a:ext cx="34891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直線單箭頭接點 15">
              <a:extLst>
                <a:ext uri="{FF2B5EF4-FFF2-40B4-BE49-F238E27FC236}">
                  <a16:creationId xmlns:a16="http://schemas.microsoft.com/office/drawing/2014/main" id="{7276D3DF-ED27-2B04-D8F2-B6A252AFAD74}"/>
                </a:ext>
              </a:extLst>
            </p:cNvPr>
            <p:cNvCxnSpPr>
              <a:cxnSpLocks/>
            </p:cNvCxnSpPr>
            <p:nvPr/>
          </p:nvCxnSpPr>
          <p:spPr>
            <a:xfrm>
              <a:off x="7916779" y="4656220"/>
              <a:ext cx="37298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文字方塊 19">
              <a:extLst>
                <a:ext uri="{FF2B5EF4-FFF2-40B4-BE49-F238E27FC236}">
                  <a16:creationId xmlns:a16="http://schemas.microsoft.com/office/drawing/2014/main" id="{7F1F9521-7BBC-C201-4F68-DC5834E5D06D}"/>
                </a:ext>
              </a:extLst>
            </p:cNvPr>
            <p:cNvSpPr txBox="1"/>
            <p:nvPr/>
          </p:nvSpPr>
          <p:spPr>
            <a:xfrm>
              <a:off x="8243998" y="4663438"/>
              <a:ext cx="604653" cy="307777"/>
            </a:xfrm>
            <a:prstGeom prst="rect">
              <a:avLst/>
            </a:prstGeom>
            <a:noFill/>
          </p:spPr>
          <p:txBody>
            <a:bodyPr wrap="none" rtlCol="0">
              <a:spAutoFit/>
            </a:bodyPr>
            <a:lstStyle/>
            <a:p>
              <a:r>
                <a:rPr lang="en-US" altLang="zh-TW" sz="1400" dirty="0"/>
                <a:t>12nm</a:t>
              </a:r>
              <a:endParaRPr lang="zh-TW" altLang="en-US" sz="1400" dirty="0"/>
            </a:p>
          </p:txBody>
        </p:sp>
        <p:sp>
          <p:nvSpPr>
            <p:cNvPr id="21" name="文字方塊 20">
              <a:extLst>
                <a:ext uri="{FF2B5EF4-FFF2-40B4-BE49-F238E27FC236}">
                  <a16:creationId xmlns:a16="http://schemas.microsoft.com/office/drawing/2014/main" id="{1FBCBD49-86D1-6ABA-D85B-68E23ABEC9AA}"/>
                </a:ext>
              </a:extLst>
            </p:cNvPr>
            <p:cNvSpPr txBox="1"/>
            <p:nvPr/>
          </p:nvSpPr>
          <p:spPr>
            <a:xfrm>
              <a:off x="9411061" y="4005347"/>
              <a:ext cx="1141659" cy="738664"/>
            </a:xfrm>
            <a:prstGeom prst="rect">
              <a:avLst/>
            </a:prstGeom>
            <a:noFill/>
          </p:spPr>
          <p:txBody>
            <a:bodyPr wrap="none" rtlCol="0">
              <a:spAutoFit/>
            </a:bodyPr>
            <a:lstStyle/>
            <a:p>
              <a:r>
                <a:rPr lang="en-US" altLang="zh-TW" sz="1400" dirty="0"/>
                <a:t>T&gt;99%:1nm</a:t>
              </a:r>
            </a:p>
            <a:p>
              <a:r>
                <a:rPr lang="en-US" altLang="zh-TW" sz="1400" dirty="0"/>
                <a:t>T&gt;90%:7nm</a:t>
              </a:r>
            </a:p>
            <a:p>
              <a:r>
                <a:rPr lang="en-US" altLang="zh-TW" sz="1400" dirty="0"/>
                <a:t>T&gt;50%:12nm</a:t>
              </a:r>
              <a:endParaRPr lang="zh-TW" altLang="en-US" sz="1400" dirty="0"/>
            </a:p>
          </p:txBody>
        </p:sp>
        <p:sp>
          <p:nvSpPr>
            <p:cNvPr id="22" name="矩形 21">
              <a:extLst>
                <a:ext uri="{FF2B5EF4-FFF2-40B4-BE49-F238E27FC236}">
                  <a16:creationId xmlns:a16="http://schemas.microsoft.com/office/drawing/2014/main" id="{7DA9EE1A-9399-2797-05D7-5545A395B813}"/>
                </a:ext>
              </a:extLst>
            </p:cNvPr>
            <p:cNvSpPr/>
            <p:nvPr/>
          </p:nvSpPr>
          <p:spPr>
            <a:xfrm>
              <a:off x="10761281" y="2876820"/>
              <a:ext cx="403237" cy="34795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矩形 22">
              <a:extLst>
                <a:ext uri="{FF2B5EF4-FFF2-40B4-BE49-F238E27FC236}">
                  <a16:creationId xmlns:a16="http://schemas.microsoft.com/office/drawing/2014/main" id="{473D5F10-94D8-5834-CD04-4EC54E1A9D61}"/>
                </a:ext>
              </a:extLst>
            </p:cNvPr>
            <p:cNvSpPr/>
            <p:nvPr/>
          </p:nvSpPr>
          <p:spPr>
            <a:xfrm>
              <a:off x="5914615" y="3162971"/>
              <a:ext cx="403237" cy="133789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41824350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sz="3600" b="1" dirty="0">
                <a:latin typeface="Times New Roman" panose="02020603050405020304" pitchFamily="18" charset="0"/>
                <a:cs typeface="Times New Roman" panose="02020603050405020304" pitchFamily="18" charset="0"/>
              </a:rPr>
              <a:t>APPLN EOPMC and SHG different °C measurement </a:t>
            </a:r>
            <a:endParaRPr lang="zh-TW" altLang="en-US" sz="3600" b="1"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1449631" y="6544975"/>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49</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sp>
        <p:nvSpPr>
          <p:cNvPr id="10" name="文字方塊 9">
            <a:extLst>
              <a:ext uri="{FF2B5EF4-FFF2-40B4-BE49-F238E27FC236}">
                <a16:creationId xmlns:a16="http://schemas.microsoft.com/office/drawing/2014/main" id="{024B4E19-D31E-283B-87CE-CF5B0A9EEB7D}"/>
              </a:ext>
            </a:extLst>
          </p:cNvPr>
          <p:cNvSpPr txBox="1"/>
          <p:nvPr/>
        </p:nvSpPr>
        <p:spPr>
          <a:xfrm>
            <a:off x="155289" y="1475795"/>
            <a:ext cx="5710583" cy="1015663"/>
          </a:xfrm>
          <a:prstGeom prst="rect">
            <a:avLst/>
          </a:prstGeom>
          <a:noFill/>
          <a:ln>
            <a:solidFill>
              <a:schemeClr val="bg2">
                <a:lumMod val="25000"/>
              </a:schemeClr>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000" b="1" i="0" u="none" strike="noStrike" kern="1200" cap="none" spc="0" normalizeH="0" baseline="0" noProof="0" dirty="0">
                <a:ln>
                  <a:noFill/>
                </a:ln>
                <a:solidFill>
                  <a:prstClr val="black"/>
                </a:solidFill>
                <a:effectLst/>
                <a:uLnTx/>
                <a:uFillTx/>
                <a:latin typeface="Calibri Light" panose="020F0302020204030204"/>
                <a:ea typeface="新細明體" panose="02020500000000000000" pitchFamily="18" charset="-120"/>
                <a:cs typeface="Times New Roman" panose="02020603050405020304" pitchFamily="18" charset="0"/>
              </a:rPr>
              <a:t>APPLN EOPMC at 55V and SHG measurement in 106°C the SHG phase matching wavelength was at 1569nm so </a:t>
            </a:r>
            <a:r>
              <a:rPr kumimoji="0" lang="en-US" altLang="zh-TW" sz="2000" b="1" i="0" u="sng" strike="noStrike" kern="1200" cap="none" spc="0" normalizeH="0" baseline="0" noProof="0" dirty="0">
                <a:ln>
                  <a:noFill/>
                </a:ln>
                <a:solidFill>
                  <a:prstClr val="black"/>
                </a:solidFill>
                <a:effectLst/>
                <a:uLnTx/>
                <a:uFillTx/>
                <a:latin typeface="Calibri Light" panose="020F0302020204030204"/>
                <a:ea typeface="新細明體" panose="02020500000000000000" pitchFamily="18" charset="-120"/>
                <a:cs typeface="Times New Roman" panose="02020603050405020304" pitchFamily="18" charset="0"/>
              </a:rPr>
              <a:t>EOPMC and SHG </a:t>
            </a:r>
            <a:r>
              <a:rPr lang="en-US" altLang="zh-TW" sz="2000" b="1" u="sng" dirty="0">
                <a:solidFill>
                  <a:prstClr val="black"/>
                </a:solidFill>
                <a:latin typeface="Calibri Light" panose="020F0302020204030204"/>
                <a:ea typeface="新細明體" panose="02020500000000000000" pitchFamily="18" charset="-120"/>
                <a:cs typeface="Times New Roman" panose="02020603050405020304" pitchFamily="18" charset="0"/>
              </a:rPr>
              <a:t>spectrum are overlapping</a:t>
            </a:r>
            <a:endParaRPr kumimoji="0" lang="en-US" altLang="zh-TW" sz="2000" b="1" i="0" u="sng" strike="noStrike" kern="1200" cap="none" spc="0" normalizeH="0" baseline="0" noProof="0" dirty="0">
              <a:ln>
                <a:noFill/>
              </a:ln>
              <a:solidFill>
                <a:srgbClr val="FF0000"/>
              </a:solidFill>
              <a:effectLst/>
              <a:uLnTx/>
              <a:uFillTx/>
              <a:latin typeface="Calibri Light" panose="020F0302020204030204"/>
              <a:ea typeface="新細明體" panose="02020500000000000000" pitchFamily="18" charset="-120"/>
              <a:cs typeface="Times New Roman" panose="02020603050405020304" pitchFamily="18" charset="0"/>
            </a:endParaRPr>
          </a:p>
        </p:txBody>
      </p:sp>
      <p:sp>
        <p:nvSpPr>
          <p:cNvPr id="19" name="文字方塊 18">
            <a:extLst>
              <a:ext uri="{FF2B5EF4-FFF2-40B4-BE49-F238E27FC236}">
                <a16:creationId xmlns:a16="http://schemas.microsoft.com/office/drawing/2014/main" id="{AF707010-914A-8A7B-DE0B-241A923474FF}"/>
              </a:ext>
            </a:extLst>
          </p:cNvPr>
          <p:cNvSpPr txBox="1"/>
          <p:nvPr/>
        </p:nvSpPr>
        <p:spPr>
          <a:xfrm>
            <a:off x="5959646" y="4308708"/>
            <a:ext cx="2590134" cy="1077218"/>
          </a:xfrm>
          <a:prstGeom prst="rect">
            <a:avLst/>
          </a:prstGeom>
          <a:noFill/>
          <a:ln>
            <a:solidFill>
              <a:schemeClr val="bg2">
                <a:lumMod val="25000"/>
              </a:schemeClr>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600" b="1" i="0" u="none" strike="noStrike" kern="1200" cap="none" spc="0" normalizeH="0" baseline="0" noProof="0" dirty="0">
                <a:ln>
                  <a:noFill/>
                </a:ln>
                <a:solidFill>
                  <a:prstClr val="black"/>
                </a:solidFill>
                <a:effectLst/>
                <a:uLnTx/>
                <a:uFillTx/>
                <a:latin typeface="Calibri Light" panose="020F0302020204030204"/>
                <a:ea typeface="新細明體" panose="02020500000000000000" pitchFamily="18" charset="-120"/>
                <a:cs typeface="Times New Roman" panose="02020603050405020304" pitchFamily="18" charset="0"/>
              </a:rPr>
              <a:t>In 110°C the SHG phase matching wavelength was at 1570nm </a:t>
            </a:r>
            <a:r>
              <a:rPr kumimoji="0" lang="en-US" altLang="zh-TW" sz="1600" b="1" i="0" strike="noStrike" kern="1200" cap="none" spc="0" normalizeH="0" baseline="0" noProof="0" dirty="0">
                <a:ln>
                  <a:noFill/>
                </a:ln>
                <a:solidFill>
                  <a:prstClr val="black"/>
                </a:solidFill>
                <a:effectLst/>
                <a:uLnTx/>
                <a:uFillTx/>
                <a:latin typeface="Calibri Light" panose="020F0302020204030204"/>
                <a:ea typeface="新細明體" panose="02020500000000000000" pitchFamily="18" charset="-120"/>
                <a:cs typeface="Times New Roman" panose="02020603050405020304" pitchFamily="18" charset="0"/>
              </a:rPr>
              <a:t>so</a:t>
            </a:r>
            <a:r>
              <a:rPr kumimoji="0" lang="en-US" altLang="zh-TW" sz="1600" b="1" i="0" u="sng" strike="noStrike" kern="1200" cap="none" spc="0" normalizeH="0" baseline="0" noProof="0" dirty="0">
                <a:ln>
                  <a:noFill/>
                </a:ln>
                <a:solidFill>
                  <a:prstClr val="black"/>
                </a:solidFill>
                <a:effectLst/>
                <a:uLnTx/>
                <a:uFillTx/>
                <a:latin typeface="Calibri Light" panose="020F0302020204030204"/>
                <a:ea typeface="新細明體" panose="02020500000000000000" pitchFamily="18" charset="-120"/>
                <a:cs typeface="Times New Roman" panose="02020603050405020304" pitchFamily="18" charset="0"/>
              </a:rPr>
              <a:t> EOPMC and SHG </a:t>
            </a:r>
            <a:r>
              <a:rPr lang="en-US" altLang="zh-TW" sz="1600" b="1" dirty="0">
                <a:latin typeface="+mj-lt"/>
                <a:cs typeface="Times New Roman" panose="02020603050405020304" pitchFamily="18" charset="0"/>
              </a:rPr>
              <a:t>so </a:t>
            </a:r>
            <a:r>
              <a:rPr lang="en-US" altLang="zh-TW" sz="1600" b="1" u="sng" dirty="0">
                <a:latin typeface="+mj-lt"/>
                <a:cs typeface="Times New Roman" panose="02020603050405020304" pitchFamily="18" charset="0"/>
              </a:rPr>
              <a:t>they </a:t>
            </a:r>
            <a:r>
              <a:rPr lang="en-US" altLang="zh-TW" sz="1600" b="1" u="sng" dirty="0">
                <a:solidFill>
                  <a:srgbClr val="FF0000"/>
                </a:solidFill>
                <a:latin typeface="+mj-lt"/>
                <a:cs typeface="Times New Roman" panose="02020603050405020304" pitchFamily="18" charset="0"/>
              </a:rPr>
              <a:t>didn’t overlap </a:t>
            </a:r>
            <a:endParaRPr kumimoji="0" lang="en-US" altLang="zh-TW" sz="1600" b="1" i="0" u="sng" strike="noStrike" kern="1200" cap="none" spc="0" normalizeH="0" baseline="0" noProof="0" dirty="0">
              <a:ln>
                <a:noFill/>
              </a:ln>
              <a:solidFill>
                <a:srgbClr val="FF0000"/>
              </a:solidFill>
              <a:effectLst/>
              <a:uLnTx/>
              <a:uFillTx/>
              <a:latin typeface="Calibri Light" panose="020F0302020204030204"/>
              <a:ea typeface="新細明體" panose="02020500000000000000" pitchFamily="18" charset="-120"/>
              <a:cs typeface="Times New Roman" panose="02020603050405020304" pitchFamily="18" charset="0"/>
            </a:endParaRPr>
          </a:p>
        </p:txBody>
      </p:sp>
      <p:sp>
        <p:nvSpPr>
          <p:cNvPr id="3" name="矩形 2">
            <a:extLst>
              <a:ext uri="{FF2B5EF4-FFF2-40B4-BE49-F238E27FC236}">
                <a16:creationId xmlns:a16="http://schemas.microsoft.com/office/drawing/2014/main" id="{7F9FD7A6-6224-0B3D-0E12-7D52B5E61187}"/>
              </a:ext>
            </a:extLst>
          </p:cNvPr>
          <p:cNvSpPr/>
          <p:nvPr/>
        </p:nvSpPr>
        <p:spPr>
          <a:xfrm>
            <a:off x="385619" y="3114645"/>
            <a:ext cx="403237" cy="133789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7" name="圖片 6">
            <a:extLst>
              <a:ext uri="{FF2B5EF4-FFF2-40B4-BE49-F238E27FC236}">
                <a16:creationId xmlns:a16="http://schemas.microsoft.com/office/drawing/2014/main" id="{B5EBD695-0854-17A6-A66C-2554990221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55354" y="1420289"/>
            <a:ext cx="3340296" cy="2505222"/>
          </a:xfrm>
          <a:prstGeom prst="rect">
            <a:avLst/>
          </a:prstGeom>
        </p:spPr>
      </p:pic>
      <p:pic>
        <p:nvPicPr>
          <p:cNvPr id="11" name="圖片 10">
            <a:extLst>
              <a:ext uri="{FF2B5EF4-FFF2-40B4-BE49-F238E27FC236}">
                <a16:creationId xmlns:a16="http://schemas.microsoft.com/office/drawing/2014/main" id="{7A1DF3BD-19A5-0AD6-9168-18771DF716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33940" y="4132449"/>
            <a:ext cx="3342606" cy="2506954"/>
          </a:xfrm>
          <a:prstGeom prst="rect">
            <a:avLst/>
          </a:prstGeom>
        </p:spPr>
      </p:pic>
      <p:pic>
        <p:nvPicPr>
          <p:cNvPr id="17" name="圖片 16">
            <a:extLst>
              <a:ext uri="{FF2B5EF4-FFF2-40B4-BE49-F238E27FC236}">
                <a16:creationId xmlns:a16="http://schemas.microsoft.com/office/drawing/2014/main" id="{B51208BE-6131-84EA-9550-DDC9D0496BB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2632" y="2662855"/>
            <a:ext cx="5401902" cy="4051426"/>
          </a:xfrm>
          <a:prstGeom prst="rect">
            <a:avLst/>
          </a:prstGeom>
        </p:spPr>
      </p:pic>
      <p:cxnSp>
        <p:nvCxnSpPr>
          <p:cNvPr id="22" name="直線單箭頭接點 21">
            <a:extLst>
              <a:ext uri="{FF2B5EF4-FFF2-40B4-BE49-F238E27FC236}">
                <a16:creationId xmlns:a16="http://schemas.microsoft.com/office/drawing/2014/main" id="{69FB3794-23E5-6F0F-D10A-A35D9EFAA98D}"/>
              </a:ext>
            </a:extLst>
          </p:cNvPr>
          <p:cNvCxnSpPr>
            <a:cxnSpLocks/>
          </p:cNvCxnSpPr>
          <p:nvPr/>
        </p:nvCxnSpPr>
        <p:spPr>
          <a:xfrm flipH="1">
            <a:off x="1957690" y="4394637"/>
            <a:ext cx="637674" cy="9640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直線單箭頭接點 22">
            <a:extLst>
              <a:ext uri="{FF2B5EF4-FFF2-40B4-BE49-F238E27FC236}">
                <a16:creationId xmlns:a16="http://schemas.microsoft.com/office/drawing/2014/main" id="{F00BB4D8-167F-08B0-8254-0711DC8AA7F0}"/>
              </a:ext>
            </a:extLst>
          </p:cNvPr>
          <p:cNvCxnSpPr>
            <a:cxnSpLocks/>
          </p:cNvCxnSpPr>
          <p:nvPr/>
        </p:nvCxnSpPr>
        <p:spPr>
          <a:xfrm>
            <a:off x="3155304" y="4357688"/>
            <a:ext cx="648117" cy="94850"/>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cxnSp>
        <p:nvCxnSpPr>
          <p:cNvPr id="26" name="直線單箭頭接點 25">
            <a:extLst>
              <a:ext uri="{FF2B5EF4-FFF2-40B4-BE49-F238E27FC236}">
                <a16:creationId xmlns:a16="http://schemas.microsoft.com/office/drawing/2014/main" id="{0B83D055-10B9-E313-A39C-6127E3241935}"/>
              </a:ext>
            </a:extLst>
          </p:cNvPr>
          <p:cNvCxnSpPr>
            <a:cxnSpLocks/>
          </p:cNvCxnSpPr>
          <p:nvPr/>
        </p:nvCxnSpPr>
        <p:spPr>
          <a:xfrm flipH="1">
            <a:off x="9841832" y="2337288"/>
            <a:ext cx="372979" cy="1541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直線單箭頭接點 28">
            <a:extLst>
              <a:ext uri="{FF2B5EF4-FFF2-40B4-BE49-F238E27FC236}">
                <a16:creationId xmlns:a16="http://schemas.microsoft.com/office/drawing/2014/main" id="{41B5D885-17CE-1665-89FE-539C6CD35969}"/>
              </a:ext>
            </a:extLst>
          </p:cNvPr>
          <p:cNvCxnSpPr>
            <a:cxnSpLocks/>
          </p:cNvCxnSpPr>
          <p:nvPr/>
        </p:nvCxnSpPr>
        <p:spPr>
          <a:xfrm>
            <a:off x="10503569" y="2761735"/>
            <a:ext cx="493294" cy="7827"/>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33" name="直線單箭頭接點 32">
            <a:extLst>
              <a:ext uri="{FF2B5EF4-FFF2-40B4-BE49-F238E27FC236}">
                <a16:creationId xmlns:a16="http://schemas.microsoft.com/office/drawing/2014/main" id="{8386A503-9CBD-AD84-885A-A8BDD56FD02D}"/>
              </a:ext>
            </a:extLst>
          </p:cNvPr>
          <p:cNvCxnSpPr>
            <a:cxnSpLocks/>
          </p:cNvCxnSpPr>
          <p:nvPr/>
        </p:nvCxnSpPr>
        <p:spPr>
          <a:xfrm>
            <a:off x="10503569" y="5275253"/>
            <a:ext cx="387228" cy="73982"/>
          </a:xfrm>
          <a:prstGeom prst="straightConnector1">
            <a:avLst/>
          </a:prstGeom>
          <a:ln>
            <a:solidFill>
              <a:srgbClr val="F810C1"/>
            </a:solidFill>
            <a:tailEnd type="triangle"/>
          </a:ln>
        </p:spPr>
        <p:style>
          <a:lnRef idx="1">
            <a:schemeClr val="accent6"/>
          </a:lnRef>
          <a:fillRef idx="0">
            <a:schemeClr val="accent6"/>
          </a:fillRef>
          <a:effectRef idx="0">
            <a:schemeClr val="accent6"/>
          </a:effectRef>
          <a:fontRef idx="minor">
            <a:schemeClr val="tx1"/>
          </a:fontRef>
        </p:style>
      </p:cxnSp>
      <p:cxnSp>
        <p:nvCxnSpPr>
          <p:cNvPr id="34" name="直線單箭頭接點 33">
            <a:extLst>
              <a:ext uri="{FF2B5EF4-FFF2-40B4-BE49-F238E27FC236}">
                <a16:creationId xmlns:a16="http://schemas.microsoft.com/office/drawing/2014/main" id="{234185FE-0FFA-0B8D-0DF0-770D15D67FCD}"/>
              </a:ext>
            </a:extLst>
          </p:cNvPr>
          <p:cNvCxnSpPr>
            <a:cxnSpLocks/>
          </p:cNvCxnSpPr>
          <p:nvPr/>
        </p:nvCxnSpPr>
        <p:spPr>
          <a:xfrm flipH="1">
            <a:off x="9729113" y="5215679"/>
            <a:ext cx="288758" cy="1335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文字方塊 15">
            <a:extLst>
              <a:ext uri="{FF2B5EF4-FFF2-40B4-BE49-F238E27FC236}">
                <a16:creationId xmlns:a16="http://schemas.microsoft.com/office/drawing/2014/main" id="{283D0B32-D3F1-C041-D222-AA39D1727BAD}"/>
              </a:ext>
            </a:extLst>
          </p:cNvPr>
          <p:cNvSpPr txBox="1"/>
          <p:nvPr/>
        </p:nvSpPr>
        <p:spPr>
          <a:xfrm>
            <a:off x="5997210" y="1692344"/>
            <a:ext cx="2830543" cy="1077218"/>
          </a:xfrm>
          <a:prstGeom prst="rect">
            <a:avLst/>
          </a:prstGeom>
          <a:noFill/>
          <a:ln>
            <a:solidFill>
              <a:schemeClr val="bg2">
                <a:lumMod val="25000"/>
              </a:schemeClr>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600" b="1" i="0" u="none" strike="noStrike" kern="1200" cap="none" spc="0" normalizeH="0" baseline="0" noProof="0" dirty="0">
                <a:ln>
                  <a:noFill/>
                </a:ln>
                <a:solidFill>
                  <a:prstClr val="black"/>
                </a:solidFill>
                <a:effectLst/>
                <a:uLnTx/>
                <a:uFillTx/>
                <a:latin typeface="Calibri Light" panose="020F0302020204030204"/>
                <a:ea typeface="新細明體" panose="02020500000000000000" pitchFamily="18" charset="-120"/>
                <a:cs typeface="Times New Roman" panose="02020603050405020304" pitchFamily="18" charset="0"/>
              </a:rPr>
              <a:t>In 100°C the SHG phase matching wavelength was at 1568nm so </a:t>
            </a:r>
            <a:r>
              <a:rPr kumimoji="0" lang="en-US" altLang="zh-TW" sz="1600" b="1" i="0" u="sng" strike="noStrike" kern="1200" cap="none" spc="0" normalizeH="0" baseline="0" noProof="0" dirty="0">
                <a:ln>
                  <a:noFill/>
                </a:ln>
                <a:solidFill>
                  <a:prstClr val="black"/>
                </a:solidFill>
                <a:effectLst/>
                <a:uLnTx/>
                <a:uFillTx/>
                <a:latin typeface="Calibri Light" panose="020F0302020204030204"/>
                <a:ea typeface="新細明體" panose="02020500000000000000" pitchFamily="18" charset="-120"/>
                <a:cs typeface="Times New Roman" panose="02020603050405020304" pitchFamily="18" charset="0"/>
              </a:rPr>
              <a:t>EOPMC and SHG </a:t>
            </a:r>
            <a:r>
              <a:rPr lang="en-US" altLang="zh-TW" sz="1600" b="1" u="sng" dirty="0">
                <a:solidFill>
                  <a:prstClr val="black"/>
                </a:solidFill>
                <a:latin typeface="Calibri Light" panose="020F0302020204030204"/>
                <a:ea typeface="新細明體" panose="02020500000000000000" pitchFamily="18" charset="-120"/>
                <a:cs typeface="Times New Roman" panose="02020603050405020304" pitchFamily="18" charset="0"/>
              </a:rPr>
              <a:t>spectrum</a:t>
            </a:r>
            <a:r>
              <a:rPr kumimoji="0" lang="en-US" altLang="zh-TW" sz="1600" b="1" i="0" u="sng" strike="noStrike" kern="1200" cap="none" spc="0" normalizeH="0" baseline="0" noProof="0" dirty="0">
                <a:ln>
                  <a:noFill/>
                </a:ln>
                <a:solidFill>
                  <a:prstClr val="black"/>
                </a:solidFill>
                <a:effectLst/>
                <a:uLnTx/>
                <a:uFillTx/>
                <a:latin typeface="Calibri Light" panose="020F0302020204030204"/>
                <a:ea typeface="新細明體" panose="02020500000000000000" pitchFamily="18" charset="-120"/>
                <a:cs typeface="Times New Roman" panose="02020603050405020304" pitchFamily="18" charset="0"/>
              </a:rPr>
              <a:t> </a:t>
            </a:r>
            <a:r>
              <a:rPr kumimoji="0" lang="en-US" altLang="zh-TW" sz="1600" b="1" i="0" u="sng" strike="noStrike" kern="1200" cap="none" spc="0" normalizeH="0" baseline="0" noProof="0" dirty="0">
                <a:ln>
                  <a:noFill/>
                </a:ln>
                <a:solidFill>
                  <a:srgbClr val="FF0000"/>
                </a:solidFill>
                <a:effectLst/>
                <a:uLnTx/>
                <a:uFillTx/>
                <a:latin typeface="Calibri Light" panose="020F0302020204030204"/>
                <a:ea typeface="新細明體" panose="02020500000000000000" pitchFamily="18" charset="-120"/>
                <a:cs typeface="Times New Roman" panose="02020603050405020304" pitchFamily="18" charset="0"/>
              </a:rPr>
              <a:t>overlapped at 1568nm</a:t>
            </a:r>
          </a:p>
        </p:txBody>
      </p:sp>
    </p:spTree>
    <p:extLst>
      <p:ext uri="{BB962C8B-B14F-4D97-AF65-F5344CB8AC3E}">
        <p14:creationId xmlns:p14="http://schemas.microsoft.com/office/powerpoint/2010/main" val="19396349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66F64AE-CAE4-0A78-C8F9-867765DF3067}"/>
              </a:ext>
            </a:extLst>
          </p:cNvPr>
          <p:cNvSpPr>
            <a:spLocks noGrp="1"/>
          </p:cNvSpPr>
          <p:nvPr>
            <p:ph type="ctrTitle"/>
          </p:nvPr>
        </p:nvSpPr>
        <p:spPr>
          <a:xfrm>
            <a:off x="1289371" y="1788454"/>
            <a:ext cx="9613257" cy="2098226"/>
          </a:xfrm>
        </p:spPr>
        <p:txBody>
          <a:bodyPr/>
          <a:lstStyle/>
          <a:p>
            <a:r>
              <a:rPr lang="en-US" altLang="zh-TW" b="1" dirty="0">
                <a:solidFill>
                  <a:schemeClr val="tx1"/>
                </a:solidFill>
              </a:rPr>
              <a:t>Experimental Setup and Results Analysis</a:t>
            </a:r>
          </a:p>
        </p:txBody>
      </p:sp>
      <p:sp>
        <p:nvSpPr>
          <p:cNvPr id="3" name="副標題 2">
            <a:extLst>
              <a:ext uri="{FF2B5EF4-FFF2-40B4-BE49-F238E27FC236}">
                <a16:creationId xmlns:a16="http://schemas.microsoft.com/office/drawing/2014/main" id="{B1B8DE14-80E4-7564-81F1-A7DA9C966337}"/>
              </a:ext>
            </a:extLst>
          </p:cNvPr>
          <p:cNvSpPr>
            <a:spLocks noGrp="1"/>
          </p:cNvSpPr>
          <p:nvPr>
            <p:ph type="subTitle" idx="1"/>
          </p:nvPr>
        </p:nvSpPr>
        <p:spPr>
          <a:xfrm>
            <a:off x="4166888" y="3886680"/>
            <a:ext cx="4893280" cy="1368075"/>
          </a:xfrm>
        </p:spPr>
        <p:txBody>
          <a:bodyPr>
            <a:normAutofit fontScale="92500" lnSpcReduction="20000"/>
          </a:bodyPr>
          <a:lstStyle/>
          <a:p>
            <a:pPr marL="457200" indent="-457200" algn="l">
              <a:buFont typeface="+mj-lt"/>
              <a:buAutoNum type="arabicPeriod"/>
            </a:pPr>
            <a:r>
              <a:rPr lang="en-US" altLang="zh-TW" dirty="0">
                <a:solidFill>
                  <a:schemeClr val="tx1"/>
                </a:solidFill>
              </a:rPr>
              <a:t>SHG measurement </a:t>
            </a:r>
          </a:p>
          <a:p>
            <a:pPr marL="457200" indent="-457200" algn="l">
              <a:buFont typeface="+mj-lt"/>
              <a:buAutoNum type="arabicPeriod"/>
            </a:pPr>
            <a:r>
              <a:rPr lang="en-US" altLang="zh-TW" dirty="0">
                <a:solidFill>
                  <a:schemeClr val="tx1"/>
                </a:solidFill>
              </a:rPr>
              <a:t>EOPMC measurement </a:t>
            </a:r>
          </a:p>
          <a:p>
            <a:pPr marL="457200" indent="-457200" algn="l">
              <a:buFont typeface="+mj-lt"/>
              <a:buAutoNum type="arabicPeriod"/>
            </a:pPr>
            <a:r>
              <a:rPr lang="en-US" altLang="zh-TW" dirty="0">
                <a:solidFill>
                  <a:srgbClr val="FF0000"/>
                </a:solidFill>
              </a:rPr>
              <a:t>EO measurement </a:t>
            </a:r>
          </a:p>
          <a:p>
            <a:pPr marL="457200" indent="-457200" algn="l">
              <a:buFont typeface="+mj-lt"/>
              <a:buAutoNum type="arabicPeriod"/>
            </a:pPr>
            <a:r>
              <a:rPr lang="en-US" altLang="zh-TW" dirty="0">
                <a:solidFill>
                  <a:schemeClr val="tx1"/>
                </a:solidFill>
              </a:rPr>
              <a:t>Photon pair measurement</a:t>
            </a:r>
          </a:p>
        </p:txBody>
      </p:sp>
    </p:spTree>
    <p:extLst>
      <p:ext uri="{BB962C8B-B14F-4D97-AF65-F5344CB8AC3E}">
        <p14:creationId xmlns:p14="http://schemas.microsoft.com/office/powerpoint/2010/main" val="6456819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Experimental setup for phase measurement</a:t>
            </a: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0039351" y="6356352"/>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51</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pic>
        <p:nvPicPr>
          <p:cNvPr id="8" name="圖片 7">
            <a:extLst>
              <a:ext uri="{FF2B5EF4-FFF2-40B4-BE49-F238E27FC236}">
                <a16:creationId xmlns:a16="http://schemas.microsoft.com/office/drawing/2014/main" id="{603F4B43-16D5-1885-6DB7-D922DD859345}"/>
              </a:ext>
            </a:extLst>
          </p:cNvPr>
          <p:cNvPicPr>
            <a:picLocks noChangeAspect="1"/>
          </p:cNvPicPr>
          <p:nvPr/>
        </p:nvPicPr>
        <p:blipFill>
          <a:blip r:embed="rId4"/>
          <a:stretch>
            <a:fillRect/>
          </a:stretch>
        </p:blipFill>
        <p:spPr>
          <a:xfrm>
            <a:off x="1055225" y="3910193"/>
            <a:ext cx="3892951" cy="2811284"/>
          </a:xfrm>
          <a:prstGeom prst="rect">
            <a:avLst/>
          </a:prstGeom>
        </p:spPr>
      </p:pic>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6E985C8B-A029-2FDC-E391-8CEB2F620D0E}"/>
                  </a:ext>
                </a:extLst>
              </p:cNvPr>
              <p:cNvSpPr txBox="1"/>
              <p:nvPr/>
            </p:nvSpPr>
            <p:spPr>
              <a:xfrm>
                <a:off x="1327230" y="3386439"/>
                <a:ext cx="3348942" cy="400110"/>
              </a:xfrm>
              <a:prstGeom prst="rect">
                <a:avLst/>
              </a:prstGeom>
              <a:noFill/>
              <a:ln>
                <a:solidFill>
                  <a:schemeClr val="bg2">
                    <a:lumMod val="25000"/>
                  </a:schemeClr>
                </a:solidFill>
              </a:ln>
            </p:spPr>
            <p:txBody>
              <a:bodyPr wrap="square">
                <a:spAutoFit/>
              </a:bodyPr>
              <a:lstStyle/>
              <a:p>
                <a:r>
                  <a:rPr lang="en-US" altLang="zh-TW" sz="2000" b="1" dirty="0">
                    <a:latin typeface="+mj-lt"/>
                    <a:cs typeface="Times New Roman" panose="02020603050405020304" pitchFamily="18" charset="0"/>
                  </a:rPr>
                  <a:t>EO phase modulator </a:t>
                </a:r>
                <a14:m>
                  <m:oMath xmlns:m="http://schemas.openxmlformats.org/officeDocument/2006/math">
                    <m:sSub>
                      <m:sSubPr>
                        <m:ctrlPr>
                          <a:rPr lang="en-US" altLang="zh-TW" sz="2000" i="1" smtClean="0">
                            <a:latin typeface="Cambria Math" panose="02040503050406030204" pitchFamily="18" charset="0"/>
                          </a:rPr>
                        </m:ctrlPr>
                      </m:sSubPr>
                      <m:e>
                        <m:r>
                          <m:rPr>
                            <m:sty m:val="p"/>
                          </m:rPr>
                          <a:rPr lang="en-US" altLang="zh-TW" sz="2000" i="1">
                            <a:latin typeface="Cambria Math" panose="02040503050406030204" pitchFamily="18" charset="0"/>
                          </a:rPr>
                          <m:t>V</m:t>
                        </m:r>
                      </m:e>
                      <m:sub>
                        <m:r>
                          <a:rPr lang="zh-TW" altLang="en-US" sz="2000" i="1" smtClean="0">
                            <a:latin typeface="Cambria Math" panose="02040503050406030204" pitchFamily="18" charset="0"/>
                          </a:rPr>
                          <m:t>𝜋</m:t>
                        </m:r>
                      </m:sub>
                    </m:sSub>
                  </m:oMath>
                </a14:m>
                <a:r>
                  <a:rPr lang="zh-TW" altLang="en-US" sz="2000" dirty="0"/>
                  <a:t> </a:t>
                </a:r>
                <a:r>
                  <a:rPr lang="en-US" altLang="zh-TW" sz="2000" dirty="0"/>
                  <a:t>=</a:t>
                </a:r>
                <a:r>
                  <a:rPr lang="zh-TW" altLang="en-US" sz="2000" dirty="0"/>
                  <a:t> </a:t>
                </a:r>
                <a:r>
                  <a:rPr lang="en-US" altLang="zh-TW" sz="2000" dirty="0"/>
                  <a:t>25V</a:t>
                </a:r>
                <a:r>
                  <a:rPr lang="zh-TW" altLang="en-US" sz="2000" dirty="0"/>
                  <a:t> </a:t>
                </a:r>
                <a:r>
                  <a:rPr lang="en-US" altLang="zh-TW" sz="2000" b="1" dirty="0">
                    <a:latin typeface="+mj-lt"/>
                    <a:cs typeface="Times New Roman" panose="02020603050405020304" pitchFamily="18" charset="0"/>
                  </a:rPr>
                  <a:t> </a:t>
                </a:r>
                <a:endParaRPr lang="en-US" altLang="zh-TW" sz="2000" b="1" u="sng" dirty="0">
                  <a:solidFill>
                    <a:srgbClr val="FF0000"/>
                  </a:solidFill>
                  <a:latin typeface="+mj-lt"/>
                  <a:cs typeface="Times New Roman" panose="02020603050405020304" pitchFamily="18" charset="0"/>
                </a:endParaRPr>
              </a:p>
            </p:txBody>
          </p:sp>
        </mc:Choice>
        <mc:Fallback xmlns="">
          <p:sp>
            <p:nvSpPr>
              <p:cNvPr id="9" name="文字方塊 8">
                <a:extLst>
                  <a:ext uri="{FF2B5EF4-FFF2-40B4-BE49-F238E27FC236}">
                    <a16:creationId xmlns:a16="http://schemas.microsoft.com/office/drawing/2014/main" id="{6E985C8B-A029-2FDC-E391-8CEB2F620D0E}"/>
                  </a:ext>
                </a:extLst>
              </p:cNvPr>
              <p:cNvSpPr txBox="1">
                <a:spLocks noRot="1" noChangeAspect="1" noMove="1" noResize="1" noEditPoints="1" noAdjustHandles="1" noChangeArrowheads="1" noChangeShapeType="1" noTextEdit="1"/>
              </p:cNvSpPr>
              <p:nvPr/>
            </p:nvSpPr>
            <p:spPr>
              <a:xfrm>
                <a:off x="1327230" y="3386439"/>
                <a:ext cx="3348942" cy="400110"/>
              </a:xfrm>
              <a:prstGeom prst="rect">
                <a:avLst/>
              </a:prstGeom>
              <a:blipFill>
                <a:blip r:embed="rId6"/>
                <a:stretch>
                  <a:fillRect l="-1815" t="-7463" b="-25373"/>
                </a:stretch>
              </a:blipFill>
              <a:ln>
                <a:solidFill>
                  <a:schemeClr val="bg2">
                    <a:lumMod val="25000"/>
                  </a:schemeClr>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17" name="表格 17">
                <a:extLst>
                  <a:ext uri="{FF2B5EF4-FFF2-40B4-BE49-F238E27FC236}">
                    <a16:creationId xmlns:a16="http://schemas.microsoft.com/office/drawing/2014/main" id="{4F4BF423-2052-352C-C29F-94F40F2CA114}"/>
                  </a:ext>
                </a:extLst>
              </p:cNvPr>
              <p:cNvGraphicFramePr>
                <a:graphicFrameLocks noGrp="1"/>
              </p:cNvGraphicFramePr>
              <p:nvPr>
                <p:extLst>
                  <p:ext uri="{D42A27DB-BD31-4B8C-83A1-F6EECF244321}">
                    <p14:modId xmlns:p14="http://schemas.microsoft.com/office/powerpoint/2010/main" val="3903868826"/>
                  </p:ext>
                </p:extLst>
              </p:nvPr>
            </p:nvGraphicFramePr>
            <p:xfrm>
              <a:off x="5205246" y="4080971"/>
              <a:ext cx="6918255" cy="1990278"/>
            </p:xfrm>
            <a:graphic>
              <a:graphicData uri="http://schemas.openxmlformats.org/drawingml/2006/table">
                <a:tbl>
                  <a:tblPr firstRow="1" bandRow="1">
                    <a:tableStyleId>{5C22544A-7EE6-4342-B048-85BDC9FD1C3A}</a:tableStyleId>
                  </a:tblPr>
                  <a:tblGrid>
                    <a:gridCol w="3533636">
                      <a:extLst>
                        <a:ext uri="{9D8B030D-6E8A-4147-A177-3AD203B41FA5}">
                          <a16:colId xmlns:a16="http://schemas.microsoft.com/office/drawing/2014/main" val="1962797789"/>
                        </a:ext>
                      </a:extLst>
                    </a:gridCol>
                    <a:gridCol w="3384619">
                      <a:extLst>
                        <a:ext uri="{9D8B030D-6E8A-4147-A177-3AD203B41FA5}">
                          <a16:colId xmlns:a16="http://schemas.microsoft.com/office/drawing/2014/main" val="2277711136"/>
                        </a:ext>
                      </a:extLst>
                    </a:gridCol>
                  </a:tblGrid>
                  <a:tr h="682404">
                    <a:tc>
                      <a:txBody>
                        <a:bodyPr/>
                        <a:lstStyle/>
                        <a:p>
                          <a:pPr algn="ctr"/>
                          <a:r>
                            <a:rPr lang="en-US" altLang="zh-TW" sz="1800" b="1" kern="1200" dirty="0">
                              <a:solidFill>
                                <a:schemeClr val="tx1"/>
                              </a:solidFill>
                              <a:latin typeface="+mn-lt"/>
                              <a:ea typeface="+mn-ea"/>
                              <a:cs typeface="Times New Roman" panose="02020603050405020304" pitchFamily="18" charset="0"/>
                            </a:rPr>
                            <a:t>EO phase modulator phase change</a:t>
                          </a:r>
                          <a:endParaRPr lang="zh-TW" altLang="en-US" dirty="0">
                            <a:solidFill>
                              <a:schemeClr val="tx1"/>
                            </a:solidFill>
                          </a:endParaRPr>
                        </a:p>
                      </a:txBody>
                      <a:tcPr/>
                    </a:tc>
                    <a:tc>
                      <a:txBody>
                        <a:bodyPr/>
                        <a:lstStyle/>
                        <a:p>
                          <a:r>
                            <a:rPr lang="zh-TW" altLang="en-US" dirty="0">
                              <a:solidFill>
                                <a:schemeClr val="tx1"/>
                              </a:solidFill>
                              <a:latin typeface="標楷體" panose="03000509000000000000" pitchFamily="65" charset="-120"/>
                              <a:ea typeface="標楷體" panose="03000509000000000000" pitchFamily="65" charset="-120"/>
                            </a:rPr>
                            <a:t>偏振分量及對應的相位變化</a:t>
                          </a:r>
                        </a:p>
                      </a:txBody>
                      <a:tcPr/>
                    </a:tc>
                    <a:extLst>
                      <a:ext uri="{0D108BD9-81ED-4DB2-BD59-A6C34878D82A}">
                        <a16:rowId xmlns:a16="http://schemas.microsoft.com/office/drawing/2014/main" val="1823539206"/>
                      </a:ext>
                    </a:extLst>
                  </a:tr>
                  <a:tr h="3953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800" b="0" i="0" u="none" strike="noStrike" kern="1200" cap="none" spc="0" normalizeH="0" baseline="0" noProof="0" dirty="0">
                              <a:ln>
                                <a:noFill/>
                              </a:ln>
                              <a:solidFill>
                                <a:prstClr val="black"/>
                              </a:solidFill>
                              <a:effectLst/>
                              <a:uLnTx/>
                              <a:uFillTx/>
                              <a:latin typeface="標楷體" panose="03000509000000000000" pitchFamily="65" charset="-120"/>
                              <a:ea typeface="標楷體" panose="03000509000000000000" pitchFamily="65" charset="-120"/>
                            </a:rPr>
                            <a:t>原始偏振及相位</a:t>
                          </a:r>
                          <a:r>
                            <a:rPr kumimoji="0" lang="en-US" altLang="zh-TW" sz="1800" b="0" i="0" u="none" strike="noStrike" kern="1200" cap="none" spc="0" normalizeH="0" baseline="0" noProof="0" dirty="0">
                              <a:ln>
                                <a:noFill/>
                              </a:ln>
                              <a:solidFill>
                                <a:prstClr val="black"/>
                              </a:solidFill>
                              <a:effectLst/>
                              <a:uLnTx/>
                              <a:uFillTx/>
                              <a:latin typeface="標楷體" panose="03000509000000000000" pitchFamily="65" charset="-120"/>
                              <a:ea typeface="標楷體" panose="03000509000000000000" pitchFamily="65" charset="-120"/>
                            </a:rPr>
                            <a:t>:</a:t>
                          </a:r>
                          <a:endParaRPr kumimoji="0" lang="zh-TW" altLang="en-US" sz="1800" b="0" i="0" u="none" strike="noStrike" kern="1200" cap="none" spc="0" normalizeH="0" baseline="0" noProof="0" dirty="0">
                            <a:ln>
                              <a:noFill/>
                            </a:ln>
                            <a:solidFill>
                              <a:prstClr val="black"/>
                            </a:solidFill>
                            <a:effectLst/>
                            <a:uLnTx/>
                            <a:uFillTx/>
                            <a:latin typeface="標楷體" panose="03000509000000000000" pitchFamily="65" charset="-120"/>
                            <a:ea typeface="標楷體" panose="03000509000000000000" pitchFamily="65" charset="-12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mn-lt"/>
                              <a:ea typeface="+mn-ea"/>
                              <a:cs typeface="+mn-cs"/>
                            </a:rPr>
                            <a:t>H +</a:t>
                          </a:r>
                          <a:r>
                            <a:rPr kumimoji="0" lang="en-US" altLang="zh-TW" sz="1800" b="0" i="0" u="none" strike="noStrike" kern="1200" cap="none" spc="0" normalizeH="0" baseline="0" noProof="0" dirty="0">
                              <a:ln>
                                <a:noFill/>
                              </a:ln>
                              <a:solidFill>
                                <a:srgbClr val="FF0066"/>
                              </a:solidFill>
                              <a:effectLst/>
                              <a:uLnTx/>
                              <a:uFillTx/>
                              <a:latin typeface="+mn-lt"/>
                              <a:ea typeface="+mn-ea"/>
                              <a:cs typeface="+mn-cs"/>
                            </a:rPr>
                            <a:t> </a:t>
                          </a:r>
                          <a14:m>
                            <m:oMath xmlns:m="http://schemas.openxmlformats.org/officeDocument/2006/math">
                              <m:r>
                                <m:rPr>
                                  <m:nor/>
                                </m:rPr>
                                <a:rPr kumimoji="0" lang="en-US" altLang="zh-TW" sz="1800" b="0" i="0" u="none" strike="noStrike" kern="1200" cap="none" spc="0" normalizeH="0" baseline="0" noProof="0" dirty="0" smtClean="0">
                                  <a:ln>
                                    <a:noFill/>
                                  </a:ln>
                                  <a:solidFill>
                                    <a:srgbClr val="FF0066"/>
                                  </a:solidFill>
                                  <a:effectLst/>
                                  <a:uLnTx/>
                                  <a:uFillTx/>
                                  <a:latin typeface="微軟正黑體" panose="020B0604030504040204" pitchFamily="34" charset="-120"/>
                                  <a:ea typeface="+mn-ea"/>
                                  <a:cs typeface="+mn-cs"/>
                                </a:rPr>
                                <m:t>e</m:t>
                              </m:r>
                              <m:r>
                                <m:rPr>
                                  <m:nor/>
                                </m:rPr>
                                <a:rPr kumimoji="0" lang="en-US" altLang="zh-TW" sz="1800" b="0" i="0" u="none" strike="noStrike" kern="1200" cap="none" spc="0" normalizeH="0" baseline="30000" noProof="0" dirty="0" smtClean="0">
                                  <a:ln>
                                    <a:noFill/>
                                  </a:ln>
                                  <a:solidFill>
                                    <a:srgbClr val="FF0066"/>
                                  </a:solidFill>
                                  <a:effectLst/>
                                  <a:uLnTx/>
                                  <a:uFillTx/>
                                  <a:latin typeface="微軟正黑體" panose="020B0604030504040204" pitchFamily="34" charset="-120"/>
                                  <a:ea typeface="+mn-ea"/>
                                  <a:cs typeface="+mn-cs"/>
                                </a:rPr>
                                <m:t>j</m:t>
                              </m:r>
                              <m:r>
                                <a:rPr kumimoji="0" lang="en-US" altLang="zh-TW" sz="1800" b="0" i="1" u="none" strike="noStrike" kern="1200" cap="none" spc="0" normalizeH="0" baseline="30000" noProof="0" smtClean="0">
                                  <a:ln>
                                    <a:noFill/>
                                  </a:ln>
                                  <a:solidFill>
                                    <a:srgbClr val="FF0066"/>
                                  </a:solidFill>
                                  <a:effectLst/>
                                  <a:uLnTx/>
                                  <a:uFillTx/>
                                  <a:latin typeface="Cambria Math" panose="02040503050406030204" pitchFamily="18" charset="0"/>
                                  <a:cs typeface="+mn-cs"/>
                                </a:rPr>
                                <m:t>∅ </m:t>
                              </m:r>
                            </m:oMath>
                          </a14:m>
                          <a:r>
                            <a:rPr kumimoji="0" lang="en-US" altLang="zh-TW" sz="1800" b="0" i="0" u="none" strike="noStrike" kern="1200" cap="none" spc="0" normalizeH="0" baseline="0" noProof="0" dirty="0">
                              <a:ln>
                                <a:noFill/>
                              </a:ln>
                              <a:solidFill>
                                <a:prstClr val="black"/>
                              </a:solidFill>
                              <a:effectLst/>
                              <a:uLnTx/>
                              <a:uFillTx/>
                              <a:latin typeface="+mn-lt"/>
                              <a:ea typeface="+mn-ea"/>
                              <a:cs typeface="+mn-cs"/>
                            </a:rPr>
                            <a:t>V</a:t>
                          </a:r>
                          <a:r>
                            <a:rPr kumimoji="0" lang="zh-TW" altLang="en-US" sz="1800" b="0" i="0" u="none" strike="noStrike" kern="1200" cap="none" spc="0" normalizeH="0" baseline="0" noProof="0" dirty="0">
                              <a:ln>
                                <a:noFill/>
                              </a:ln>
                              <a:solidFill>
                                <a:prstClr val="black"/>
                              </a:solidFill>
                              <a:effectLst/>
                              <a:uLnTx/>
                              <a:uFillTx/>
                              <a:latin typeface="+mn-lt"/>
                              <a:ea typeface="+mn-ea"/>
                              <a:cs typeface="+mn-cs"/>
                            </a:rPr>
                            <a:t> </a:t>
                          </a:r>
                          <a:r>
                            <a:rPr kumimoji="0" lang="en-US" altLang="zh-TW" sz="1800" b="0" i="0" u="none" strike="noStrike" kern="1200" cap="none" spc="0" normalizeH="0" baseline="0" noProof="0" dirty="0">
                              <a:ln>
                                <a:noFill/>
                              </a:ln>
                              <a:solidFill>
                                <a:prstClr val="black"/>
                              </a:solidFill>
                              <a:effectLst/>
                              <a:uLnTx/>
                              <a:uFillTx/>
                              <a:latin typeface="+mn-lt"/>
                              <a:ea typeface="+mn-ea"/>
                              <a:cs typeface="+mn-cs"/>
                            </a:rPr>
                            <a:t>=</a:t>
                          </a:r>
                          <a:r>
                            <a:rPr kumimoji="0" lang="zh-TW" altLang="en-US" sz="1800" b="0" i="0" u="none" strike="noStrike" kern="1200" cap="none" spc="0" normalizeH="0" baseline="0" noProof="0" dirty="0">
                              <a:ln>
                                <a:noFill/>
                              </a:ln>
                              <a:solidFill>
                                <a:prstClr val="black"/>
                              </a:solidFill>
                              <a:effectLst/>
                              <a:uLnTx/>
                              <a:uFillTx/>
                              <a:latin typeface="+mn-lt"/>
                              <a:ea typeface="+mn-ea"/>
                              <a:cs typeface="+mn-cs"/>
                            </a:rPr>
                            <a:t> </a:t>
                          </a:r>
                          <a:r>
                            <a:rPr kumimoji="0" lang="en-US" altLang="zh-TW" sz="1800" b="0" i="0" u="none" strike="noStrike" kern="1200" cap="none" spc="0" normalizeH="0" baseline="0" noProof="0" dirty="0">
                              <a:ln>
                                <a:noFill/>
                              </a:ln>
                              <a:solidFill>
                                <a:prstClr val="black"/>
                              </a:solidFill>
                              <a:effectLst/>
                              <a:uLnTx/>
                              <a:uFillTx/>
                              <a:latin typeface="+mn-lt"/>
                              <a:ea typeface="+mn-ea"/>
                              <a:cs typeface="+mn-cs"/>
                            </a:rPr>
                            <a:t>H +</a:t>
                          </a:r>
                          <a:r>
                            <a:rPr kumimoji="0" lang="en-US" altLang="zh-TW" sz="1800" b="0" i="0" u="none" strike="noStrike" kern="1200" cap="none" spc="0" normalizeH="0" baseline="0" noProof="0" dirty="0">
                              <a:ln>
                                <a:noFill/>
                              </a:ln>
                              <a:solidFill>
                                <a:srgbClr val="FF0066"/>
                              </a:solidFill>
                              <a:effectLst/>
                              <a:uLnTx/>
                              <a:uFillTx/>
                              <a:latin typeface="+mn-lt"/>
                              <a:ea typeface="+mn-ea"/>
                              <a:cs typeface="+mn-cs"/>
                            </a:rPr>
                            <a:t> </a:t>
                          </a:r>
                          <a:r>
                            <a:rPr kumimoji="0" lang="en-US" altLang="zh-TW" sz="1800" b="0" i="0" u="none" strike="noStrike" kern="1200" cap="none" spc="0" normalizeH="0" baseline="0" noProof="0" dirty="0">
                              <a:ln>
                                <a:noFill/>
                              </a:ln>
                              <a:solidFill>
                                <a:prstClr val="black"/>
                              </a:solidFill>
                              <a:effectLst/>
                              <a:uLnTx/>
                              <a:uFillTx/>
                              <a:latin typeface="+mn-lt"/>
                              <a:ea typeface="+mn-ea"/>
                              <a:cs typeface="+mn-cs"/>
                            </a:rPr>
                            <a:t>V</a:t>
                          </a:r>
                          <a:r>
                            <a:rPr kumimoji="0" lang="zh-TW" altLang="en-US" sz="1800" b="0" i="0" u="none" strike="noStrike" kern="1200" cap="none" spc="0" normalizeH="0" baseline="0" noProof="0" dirty="0">
                              <a:ln>
                                <a:noFill/>
                              </a:ln>
                              <a:solidFill>
                                <a:prstClr val="black"/>
                              </a:solidFill>
                              <a:effectLst/>
                              <a:uLnTx/>
                              <a:uFillTx/>
                              <a:latin typeface="+mn-lt"/>
                              <a:ea typeface="+mn-ea"/>
                              <a:cs typeface="+mn-cs"/>
                            </a:rPr>
                            <a:t>           </a:t>
                          </a:r>
                          <a:r>
                            <a:rPr kumimoji="0" lang="en-US" altLang="zh-TW" sz="1800" b="0" i="0" u="none" strike="noStrike" kern="1200" cap="none" spc="0" normalizeH="0" baseline="0" noProof="0" dirty="0">
                              <a:ln>
                                <a:noFill/>
                              </a:ln>
                              <a:solidFill>
                                <a:prstClr val="black"/>
                              </a:solidFill>
                              <a:effectLst/>
                              <a:uLnTx/>
                              <a:uFillTx/>
                              <a:latin typeface="+mn-lt"/>
                              <a:ea typeface="+mn-ea"/>
                              <a:cs typeface="+mn-cs"/>
                            </a:rPr>
                            <a:t>,</a:t>
                          </a:r>
                          <a:r>
                            <a:rPr kumimoji="0" lang="zh-TW" altLang="en-US" sz="1800" b="0" i="0" u="none" strike="noStrike" kern="1200" cap="none" spc="0" normalizeH="0" baseline="0" noProof="0" dirty="0">
                              <a:ln>
                                <a:noFill/>
                              </a:ln>
                              <a:solidFill>
                                <a:prstClr val="black"/>
                              </a:solidFill>
                              <a:effectLst/>
                              <a:uLnTx/>
                              <a:uFillTx/>
                              <a:latin typeface="+mn-lt"/>
                              <a:ea typeface="+mn-ea"/>
                              <a:cs typeface="+mn-cs"/>
                            </a:rPr>
                            <a:t>∅</a:t>
                          </a:r>
                          <a:r>
                            <a:rPr kumimoji="0" lang="en-US" altLang="zh-TW" sz="1800" b="0" i="0" u="none" strike="noStrike" kern="1200" cap="none" spc="0" normalizeH="0" baseline="0" noProof="0" dirty="0">
                              <a:ln>
                                <a:noFill/>
                              </a:ln>
                              <a:solidFill>
                                <a:prstClr val="black"/>
                              </a:solidFill>
                              <a:effectLst/>
                              <a:uLnTx/>
                              <a:uFillTx/>
                              <a:latin typeface="+mn-lt"/>
                              <a:ea typeface="+mn-ea"/>
                              <a:cs typeface="+mn-cs"/>
                            </a:rPr>
                            <a:t>=0</a:t>
                          </a:r>
                          <a:endParaRPr kumimoji="0" lang="zh-TW" altLang="en-US" sz="1800" b="0" i="0" u="none" strike="noStrike" kern="1200" cap="none" spc="0" normalizeH="0" baseline="0" noProof="0" dirty="0">
                            <a:ln>
                              <a:noFill/>
                            </a:ln>
                            <a:solidFill>
                              <a:prstClr val="black"/>
                            </a:solidFill>
                            <a:effectLst/>
                            <a:uLnTx/>
                            <a:uFillTx/>
                            <a:latin typeface="+mn-lt"/>
                            <a:ea typeface="+mn-ea"/>
                            <a:cs typeface="+mn-cs"/>
                          </a:endParaRPr>
                        </a:p>
                      </a:txBody>
                      <a:tcPr/>
                    </a:tc>
                    <a:extLst>
                      <a:ext uri="{0D108BD9-81ED-4DB2-BD59-A6C34878D82A}">
                        <a16:rowId xmlns:a16="http://schemas.microsoft.com/office/drawing/2014/main" val="4233488064"/>
                      </a:ext>
                    </a:extLst>
                  </a:tr>
                  <a:tr h="5171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solidFill>
                                <a:prstClr val="black"/>
                              </a:solidFill>
                              <a:latin typeface="標楷體" panose="03000509000000000000" pitchFamily="65" charset="-120"/>
                              <a:ea typeface="標楷體" panose="03000509000000000000" pitchFamily="65" charset="-120"/>
                            </a:rPr>
                            <a:t>施加半電壓</a:t>
                          </a:r>
                          <a:r>
                            <a:rPr lang="en-US" altLang="zh-TW" dirty="0">
                              <a:solidFill>
                                <a:prstClr val="black"/>
                              </a:solidFill>
                              <a:latin typeface="標楷體" panose="03000509000000000000" pitchFamily="65" charset="-120"/>
                              <a:ea typeface="標楷體" panose="03000509000000000000" pitchFamily="65" charset="-120"/>
                            </a:rPr>
                            <a:t>(</a:t>
                          </a:r>
                          <a14:m>
                            <m:oMath xmlns:m="http://schemas.openxmlformats.org/officeDocument/2006/math">
                              <m:f>
                                <m:fPr>
                                  <m:ctrlPr>
                                    <a:rPr lang="en-US" altLang="zh-TW" i="1" smtClean="0">
                                      <a:solidFill>
                                        <a:prstClr val="black"/>
                                      </a:solidFill>
                                      <a:latin typeface="Cambria Math" panose="02040503050406030204" pitchFamily="18" charset="0"/>
                                      <a:ea typeface="標楷體" panose="03000509000000000000" pitchFamily="65" charset="-120"/>
                                    </a:rPr>
                                  </m:ctrlPr>
                                </m:fPr>
                                <m:num>
                                  <m:sSub>
                                    <m:sSubPr>
                                      <m:ctrlPr>
                                        <a:rPr lang="en-US" altLang="zh-TW" i="1">
                                          <a:latin typeface="Cambria Math" panose="02040503050406030204" pitchFamily="18" charset="0"/>
                                        </a:rPr>
                                      </m:ctrlPr>
                                    </m:sSubPr>
                                    <m:e>
                                      <m:r>
                                        <m:rPr>
                                          <m:sty m:val="p"/>
                                        </m:rPr>
                                        <a:rPr lang="en-US" altLang="zh-TW" i="1">
                                          <a:latin typeface="Cambria Math" panose="02040503050406030204" pitchFamily="18" charset="0"/>
                                        </a:rPr>
                                        <m:t>V</m:t>
                                      </m:r>
                                    </m:e>
                                    <m:sub>
                                      <m:r>
                                        <a:rPr lang="zh-TW" altLang="en-US" i="1">
                                          <a:latin typeface="Cambria Math" panose="02040503050406030204" pitchFamily="18" charset="0"/>
                                        </a:rPr>
                                        <m:t>𝜋</m:t>
                                      </m:r>
                                    </m:sub>
                                  </m:sSub>
                                </m:num>
                                <m:den>
                                  <m:r>
                                    <a:rPr lang="en-US" altLang="zh-TW" i="1">
                                      <a:solidFill>
                                        <a:prstClr val="black"/>
                                      </a:solidFill>
                                      <a:latin typeface="Cambria Math" panose="02040503050406030204" pitchFamily="18" charset="0"/>
                                      <a:ea typeface="標楷體" panose="03000509000000000000" pitchFamily="65" charset="-120"/>
                                    </a:rPr>
                                    <m:t>2</m:t>
                                  </m:r>
                                </m:den>
                              </m:f>
                            </m:oMath>
                          </a14:m>
                          <a:r>
                            <a:rPr lang="en-US" altLang="zh-TW" dirty="0">
                              <a:solidFill>
                                <a:prstClr val="black"/>
                              </a:solidFill>
                              <a:latin typeface="標楷體" panose="03000509000000000000" pitchFamily="65" charset="-120"/>
                              <a:ea typeface="標楷體" panose="03000509000000000000" pitchFamily="65" charset="-120"/>
                            </a:rPr>
                            <a:t>)</a:t>
                          </a:r>
                          <a:r>
                            <a:rPr lang="zh-TW" altLang="en-US" dirty="0">
                              <a:solidFill>
                                <a:prstClr val="black"/>
                              </a:solidFill>
                              <a:latin typeface="標楷體" panose="03000509000000000000" pitchFamily="65" charset="-120"/>
                              <a:ea typeface="標楷體" panose="03000509000000000000" pitchFamily="65" charset="-120"/>
                            </a:rPr>
                            <a:t>偏振及相位變化</a:t>
                          </a:r>
                          <a:r>
                            <a:rPr lang="en-US" altLang="zh-TW" dirty="0">
                              <a:solidFill>
                                <a:prstClr val="black"/>
                              </a:solidFill>
                              <a:latin typeface="標楷體" panose="03000509000000000000" pitchFamily="65" charset="-120"/>
                              <a:ea typeface="標楷體" panose="03000509000000000000" pitchFamily="65" charset="-120"/>
                            </a:rPr>
                            <a:t>:</a:t>
                          </a:r>
                          <a:endParaRPr lang="zh-TW" altLang="en-US" dirty="0">
                            <a:solidFill>
                              <a:prstClr val="black"/>
                            </a:solidFill>
                            <a:latin typeface="標楷體" panose="03000509000000000000" pitchFamily="65" charset="-120"/>
                            <a:ea typeface="標楷體" panose="03000509000000000000" pitchFamily="65" charset="-120"/>
                          </a:endParaRPr>
                        </a:p>
                      </a:txBody>
                      <a:tcPr/>
                    </a:tc>
                    <a:tc>
                      <a:txBody>
                        <a:bodyPr/>
                        <a:lstStyle/>
                        <a:p>
                          <a:r>
                            <a:rPr kumimoji="0" lang="en-US" altLang="zh-TW" sz="1800" b="0" i="0" u="none" strike="noStrike" kern="1200" cap="none" spc="0" normalizeH="0" baseline="0" noProof="0" dirty="0">
                              <a:ln>
                                <a:noFill/>
                              </a:ln>
                              <a:solidFill>
                                <a:prstClr val="black"/>
                              </a:solidFill>
                              <a:effectLst/>
                              <a:uLnTx/>
                              <a:uFillTx/>
                              <a:latin typeface="+mn-lt"/>
                              <a:ea typeface="+mn-ea"/>
                              <a:cs typeface="+mn-cs"/>
                            </a:rPr>
                            <a:t>H +</a:t>
                          </a:r>
                          <a:r>
                            <a:rPr kumimoji="0" lang="en-US" altLang="zh-TW" sz="1800" b="0" i="0" u="none" strike="noStrike" kern="1200" cap="none" spc="0" normalizeH="0" baseline="0" noProof="0" dirty="0">
                              <a:ln>
                                <a:noFill/>
                              </a:ln>
                              <a:solidFill>
                                <a:srgbClr val="FF0066"/>
                              </a:solidFill>
                              <a:effectLst/>
                              <a:uLnTx/>
                              <a:uFillTx/>
                              <a:latin typeface="+mn-lt"/>
                              <a:ea typeface="+mn-ea"/>
                              <a:cs typeface="+mn-cs"/>
                            </a:rPr>
                            <a:t> </a:t>
                          </a:r>
                          <a14:m>
                            <m:oMath xmlns:m="http://schemas.openxmlformats.org/officeDocument/2006/math">
                              <m:r>
                                <m:rPr>
                                  <m:nor/>
                                </m:rPr>
                                <a:rPr kumimoji="0" lang="en-US" altLang="zh-TW" sz="1800" b="0" i="0" u="none" strike="noStrike" kern="1200" cap="none" spc="0" normalizeH="0" baseline="0" noProof="0" dirty="0" smtClean="0">
                                  <a:ln>
                                    <a:noFill/>
                                  </a:ln>
                                  <a:solidFill>
                                    <a:srgbClr val="FF0066"/>
                                  </a:solidFill>
                                  <a:effectLst/>
                                  <a:uLnTx/>
                                  <a:uFillTx/>
                                  <a:latin typeface="微軟正黑體" panose="020B0604030504040204" pitchFamily="34" charset="-120"/>
                                  <a:ea typeface="+mn-ea"/>
                                  <a:cs typeface="+mn-cs"/>
                                </a:rPr>
                                <m:t>e</m:t>
                              </m:r>
                              <m:r>
                                <m:rPr>
                                  <m:nor/>
                                </m:rPr>
                                <a:rPr kumimoji="0" lang="en-US" altLang="zh-TW" sz="1800" b="0" i="0" u="none" strike="noStrike" kern="1200" cap="none" spc="0" normalizeH="0" baseline="30000" noProof="0" dirty="0" smtClean="0">
                                  <a:ln>
                                    <a:noFill/>
                                  </a:ln>
                                  <a:solidFill>
                                    <a:srgbClr val="FF0066"/>
                                  </a:solidFill>
                                  <a:effectLst/>
                                  <a:uLnTx/>
                                  <a:uFillTx/>
                                  <a:latin typeface="微軟正黑體" panose="020B0604030504040204" pitchFamily="34" charset="-120"/>
                                  <a:ea typeface="+mn-ea"/>
                                  <a:cs typeface="+mn-cs"/>
                                </a:rPr>
                                <m:t>j</m:t>
                              </m:r>
                              <m:r>
                                <a:rPr kumimoji="0" lang="en-US" altLang="zh-TW" sz="1800" b="0" i="1" u="none" strike="noStrike" kern="1200" cap="none" spc="0" normalizeH="0" baseline="30000" noProof="0" smtClean="0">
                                  <a:ln>
                                    <a:noFill/>
                                  </a:ln>
                                  <a:solidFill>
                                    <a:srgbClr val="FF0066"/>
                                  </a:solidFill>
                                  <a:effectLst/>
                                  <a:uLnTx/>
                                  <a:uFillTx/>
                                  <a:latin typeface="Cambria Math" panose="02040503050406030204" pitchFamily="18" charset="0"/>
                                  <a:cs typeface="+mn-cs"/>
                                </a:rPr>
                                <m:t>∅ </m:t>
                              </m:r>
                            </m:oMath>
                          </a14:m>
                          <a:r>
                            <a:rPr kumimoji="0" lang="en-US" altLang="zh-TW" sz="1800" b="0" i="0" u="none" strike="noStrike" kern="1200" cap="none" spc="0" normalizeH="0" baseline="0" noProof="0" dirty="0">
                              <a:ln>
                                <a:noFill/>
                              </a:ln>
                              <a:solidFill>
                                <a:prstClr val="black"/>
                              </a:solidFill>
                              <a:effectLst/>
                              <a:uLnTx/>
                              <a:uFillTx/>
                              <a:latin typeface="+mn-lt"/>
                              <a:ea typeface="+mn-ea"/>
                              <a:cs typeface="+mn-cs"/>
                            </a:rPr>
                            <a:t>V</a:t>
                          </a:r>
                          <a:r>
                            <a:rPr kumimoji="0" lang="zh-TW" altLang="en-US" sz="1800" b="0" i="0" u="none" strike="noStrike" kern="1200" cap="none" spc="0" normalizeH="0" baseline="0" noProof="0" dirty="0">
                              <a:ln>
                                <a:noFill/>
                              </a:ln>
                              <a:solidFill>
                                <a:prstClr val="black"/>
                              </a:solidFill>
                              <a:effectLst/>
                              <a:uLnTx/>
                              <a:uFillTx/>
                              <a:latin typeface="+mn-lt"/>
                              <a:ea typeface="+mn-ea"/>
                              <a:cs typeface="+mn-cs"/>
                            </a:rPr>
                            <a:t> </a:t>
                          </a:r>
                          <a:r>
                            <a:rPr kumimoji="0" lang="en-US" altLang="zh-TW" sz="1800" b="0" i="0" u="none" strike="noStrike" kern="1200" cap="none" spc="0" normalizeH="0" baseline="0" noProof="0" dirty="0">
                              <a:ln>
                                <a:noFill/>
                              </a:ln>
                              <a:solidFill>
                                <a:prstClr val="black"/>
                              </a:solidFill>
                              <a:effectLst/>
                              <a:uLnTx/>
                              <a:uFillTx/>
                              <a:latin typeface="+mn-lt"/>
                              <a:ea typeface="+mn-ea"/>
                              <a:cs typeface="+mn-cs"/>
                            </a:rPr>
                            <a:t>=</a:t>
                          </a:r>
                          <a:r>
                            <a:rPr kumimoji="0" lang="zh-TW" altLang="en-US" sz="1800" b="0" i="0" u="none" strike="noStrike" kern="1200" cap="none" spc="0" normalizeH="0" baseline="0" noProof="0" dirty="0">
                              <a:ln>
                                <a:noFill/>
                              </a:ln>
                              <a:solidFill>
                                <a:prstClr val="black"/>
                              </a:solidFill>
                              <a:effectLst/>
                              <a:uLnTx/>
                              <a:uFillTx/>
                              <a:latin typeface="+mn-lt"/>
                              <a:ea typeface="+mn-ea"/>
                              <a:cs typeface="+mn-cs"/>
                            </a:rPr>
                            <a:t> </a:t>
                          </a:r>
                          <a:r>
                            <a:rPr kumimoji="0" lang="en-US" altLang="zh-TW" sz="1800" b="0" i="0" u="none" strike="noStrike" kern="1200" cap="none" spc="0" normalizeH="0" baseline="0" noProof="0" dirty="0">
                              <a:ln>
                                <a:noFill/>
                              </a:ln>
                              <a:solidFill>
                                <a:prstClr val="black"/>
                              </a:solidFill>
                              <a:effectLst/>
                              <a:uLnTx/>
                              <a:uFillTx/>
                              <a:latin typeface="+mn-lt"/>
                              <a:ea typeface="+mn-ea"/>
                              <a:cs typeface="+mn-cs"/>
                            </a:rPr>
                            <a:t>H +</a:t>
                          </a:r>
                          <a:r>
                            <a:rPr kumimoji="0" lang="en-US" altLang="zh-TW" sz="1800" b="0" i="0" u="none" strike="noStrike" kern="1200" cap="none" spc="0" normalizeH="0" baseline="0" noProof="0" dirty="0">
                              <a:ln>
                                <a:noFill/>
                              </a:ln>
                              <a:solidFill>
                                <a:srgbClr val="FF0066"/>
                              </a:solidFill>
                              <a:effectLst/>
                              <a:uLnTx/>
                              <a:uFillTx/>
                              <a:latin typeface="+mn-lt"/>
                              <a:ea typeface="+mn-ea"/>
                              <a:cs typeface="+mn-cs"/>
                            </a:rPr>
                            <a:t> </a:t>
                          </a:r>
                          <a:r>
                            <a:rPr kumimoji="0" lang="en-US" altLang="zh-TW" sz="1800" b="0" i="0" u="none" strike="noStrike" kern="1200" cap="none" spc="0" normalizeH="0" baseline="0" noProof="0" dirty="0" err="1">
                              <a:ln>
                                <a:noFill/>
                              </a:ln>
                              <a:solidFill>
                                <a:srgbClr val="FF0066"/>
                              </a:solidFill>
                              <a:effectLst/>
                              <a:uLnTx/>
                              <a:uFillTx/>
                              <a:latin typeface="+mn-lt"/>
                              <a:ea typeface="+mn-ea"/>
                              <a:cs typeface="+mn-cs"/>
                            </a:rPr>
                            <a:t>i</a:t>
                          </a:r>
                          <a:r>
                            <a:rPr kumimoji="0" lang="en-US" altLang="zh-TW" sz="1800" b="0" i="0" u="none" strike="noStrike" kern="1200" cap="none" spc="0" normalizeH="0" baseline="0" noProof="0" dirty="0" err="1">
                              <a:ln>
                                <a:noFill/>
                              </a:ln>
                              <a:solidFill>
                                <a:prstClr val="black"/>
                              </a:solidFill>
                              <a:effectLst/>
                              <a:uLnTx/>
                              <a:uFillTx/>
                              <a:latin typeface="+mn-lt"/>
                              <a:ea typeface="+mn-ea"/>
                              <a:cs typeface="+mn-cs"/>
                            </a:rPr>
                            <a:t>V</a:t>
                          </a:r>
                          <a:r>
                            <a:rPr kumimoji="0" lang="zh-TW" altLang="en-US" sz="1800" b="0" i="0" u="none" strike="noStrike" kern="1200" cap="none" spc="0" normalizeH="0" baseline="0" noProof="0" dirty="0">
                              <a:ln>
                                <a:noFill/>
                              </a:ln>
                              <a:solidFill>
                                <a:prstClr val="black"/>
                              </a:solidFill>
                              <a:effectLst/>
                              <a:uLnTx/>
                              <a:uFillTx/>
                              <a:latin typeface="+mn-lt"/>
                              <a:ea typeface="+mn-ea"/>
                              <a:cs typeface="+mn-cs"/>
                            </a:rPr>
                            <a:t>          </a:t>
                          </a:r>
                          <a:r>
                            <a:rPr kumimoji="0" lang="en-US" altLang="zh-TW" sz="1800" b="0" i="0" u="none" strike="noStrike" kern="1200" cap="none" spc="0" normalizeH="0" baseline="0" noProof="0" dirty="0">
                              <a:ln>
                                <a:noFill/>
                              </a:ln>
                              <a:solidFill>
                                <a:prstClr val="black"/>
                              </a:solidFill>
                              <a:effectLst/>
                              <a:uLnTx/>
                              <a:uFillTx/>
                              <a:latin typeface="+mn-lt"/>
                              <a:ea typeface="+mn-ea"/>
                              <a:cs typeface="+mn-cs"/>
                            </a:rPr>
                            <a:t>,</a:t>
                          </a:r>
                          <a:r>
                            <a:rPr kumimoji="0" lang="zh-TW" altLang="en-US" sz="1800" b="0" i="0" u="none" strike="noStrike" kern="1200" cap="none" spc="0" normalizeH="0" baseline="0" noProof="0" dirty="0">
                              <a:ln>
                                <a:noFill/>
                              </a:ln>
                              <a:solidFill>
                                <a:prstClr val="black"/>
                              </a:solidFill>
                              <a:effectLst/>
                              <a:uLnTx/>
                              <a:uFillTx/>
                              <a:latin typeface="+mn-lt"/>
                              <a:ea typeface="+mn-ea"/>
                              <a:cs typeface="+mn-cs"/>
                            </a:rPr>
                            <a:t>∅</a:t>
                          </a:r>
                          <a:r>
                            <a:rPr kumimoji="0" lang="en-US" altLang="zh-TW" sz="1800" b="0" i="0" u="none" strike="noStrike" kern="1200" cap="none" spc="0" normalizeH="0" baseline="0" noProof="0" dirty="0">
                              <a:ln>
                                <a:noFill/>
                              </a:ln>
                              <a:solidFill>
                                <a:prstClr val="black"/>
                              </a:solidFill>
                              <a:effectLst/>
                              <a:uLnTx/>
                              <a:uFillTx/>
                              <a:latin typeface="+mn-lt"/>
                              <a:ea typeface="+mn-ea"/>
                              <a:cs typeface="+mn-cs"/>
                            </a:rPr>
                            <a:t>=</a:t>
                          </a:r>
                          <a14:m>
                            <m:oMath xmlns:m="http://schemas.openxmlformats.org/officeDocument/2006/math">
                              <m:f>
                                <m:fPr>
                                  <m:ctrlPr>
                                    <a:rPr kumimoji="0" lang="en-US" altLang="zh-TW" sz="1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fPr>
                                <m:num>
                                  <m:r>
                                    <a:rPr kumimoji="0" lang="zh-TW" altLang="en-US" sz="1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𝜋</m:t>
                                  </m:r>
                                </m:num>
                                <m:den>
                                  <m:r>
                                    <a:rPr kumimoji="0" lang="en-US" altLang="zh-TW" sz="1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2</m:t>
                                  </m:r>
                                </m:den>
                              </m:f>
                            </m:oMath>
                          </a14:m>
                          <a:endParaRPr lang="zh-TW" altLang="en-US" dirty="0"/>
                        </a:p>
                      </a:txBody>
                      <a:tcPr/>
                    </a:tc>
                    <a:extLst>
                      <a:ext uri="{0D108BD9-81ED-4DB2-BD59-A6C34878D82A}">
                        <a16:rowId xmlns:a16="http://schemas.microsoft.com/office/drawing/2014/main" val="3025429923"/>
                      </a:ext>
                    </a:extLst>
                  </a:tr>
                  <a:tr h="3953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solidFill>
                                <a:prstClr val="black"/>
                              </a:solidFill>
                              <a:latin typeface="標楷體" panose="03000509000000000000" pitchFamily="65" charset="-120"/>
                              <a:ea typeface="標楷體" panose="03000509000000000000" pitchFamily="65" charset="-120"/>
                            </a:rPr>
                            <a:t>施加全電壓</a:t>
                          </a:r>
                          <a:r>
                            <a:rPr lang="en-US" altLang="zh-TW" dirty="0">
                              <a:solidFill>
                                <a:prstClr val="black"/>
                              </a:solidFill>
                              <a:latin typeface="標楷體" panose="03000509000000000000" pitchFamily="65" charset="-120"/>
                              <a:ea typeface="標楷體" panose="03000509000000000000" pitchFamily="65" charset="-120"/>
                            </a:rPr>
                            <a:t>(</a:t>
                          </a:r>
                          <a14:m>
                            <m:oMath xmlns:m="http://schemas.openxmlformats.org/officeDocument/2006/math">
                              <m:sSub>
                                <m:sSubPr>
                                  <m:ctrlPr>
                                    <a:rPr lang="en-US" altLang="zh-TW" i="1">
                                      <a:latin typeface="Cambria Math" panose="02040503050406030204" pitchFamily="18" charset="0"/>
                                    </a:rPr>
                                  </m:ctrlPr>
                                </m:sSubPr>
                                <m:e>
                                  <m:r>
                                    <m:rPr>
                                      <m:sty m:val="p"/>
                                    </m:rPr>
                                    <a:rPr lang="en-US" altLang="zh-TW" i="1">
                                      <a:latin typeface="Cambria Math" panose="02040503050406030204" pitchFamily="18" charset="0"/>
                                    </a:rPr>
                                    <m:t>V</m:t>
                                  </m:r>
                                </m:e>
                                <m:sub>
                                  <m:r>
                                    <a:rPr lang="zh-TW" altLang="en-US" i="1">
                                      <a:latin typeface="Cambria Math" panose="02040503050406030204" pitchFamily="18" charset="0"/>
                                    </a:rPr>
                                    <m:t>𝜋</m:t>
                                  </m:r>
                                </m:sub>
                              </m:sSub>
                            </m:oMath>
                          </a14:m>
                          <a:r>
                            <a:rPr lang="zh-TW" altLang="en-US" dirty="0"/>
                            <a:t> </a:t>
                          </a:r>
                          <a:r>
                            <a:rPr lang="en-US" altLang="zh-TW" dirty="0">
                              <a:solidFill>
                                <a:prstClr val="black"/>
                              </a:solidFill>
                              <a:latin typeface="標楷體" panose="03000509000000000000" pitchFamily="65" charset="-120"/>
                              <a:ea typeface="標楷體" panose="03000509000000000000" pitchFamily="65" charset="-120"/>
                            </a:rPr>
                            <a:t>)</a:t>
                          </a:r>
                          <a:r>
                            <a:rPr lang="zh-TW" altLang="en-US" dirty="0">
                              <a:solidFill>
                                <a:prstClr val="black"/>
                              </a:solidFill>
                              <a:latin typeface="標楷體" panose="03000509000000000000" pitchFamily="65" charset="-120"/>
                              <a:ea typeface="標楷體" panose="03000509000000000000" pitchFamily="65" charset="-120"/>
                            </a:rPr>
                            <a:t>偏振及相位變化</a:t>
                          </a:r>
                          <a:r>
                            <a:rPr lang="en-US" altLang="zh-TW" dirty="0">
                              <a:solidFill>
                                <a:prstClr val="black"/>
                              </a:solidFill>
                              <a:latin typeface="標楷體" panose="03000509000000000000" pitchFamily="65" charset="-120"/>
                              <a:ea typeface="標楷體" panose="03000509000000000000" pitchFamily="65" charset="-120"/>
                            </a:rPr>
                            <a:t>:</a:t>
                          </a:r>
                          <a:endParaRPr lang="zh-TW" altLang="en-US" dirty="0">
                            <a:solidFill>
                              <a:prstClr val="black"/>
                            </a:solidFill>
                            <a:latin typeface="標楷體" panose="03000509000000000000" pitchFamily="65" charset="-120"/>
                            <a:ea typeface="標楷體" panose="03000509000000000000" pitchFamily="65" charset="-12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mn-lt"/>
                              <a:ea typeface="+mn-ea"/>
                              <a:cs typeface="+mn-cs"/>
                            </a:rPr>
                            <a:t>H +</a:t>
                          </a:r>
                          <a:r>
                            <a:rPr kumimoji="0" lang="en-US" altLang="zh-TW" sz="1800" b="0" i="0" u="none" strike="noStrike" kern="1200" cap="none" spc="0" normalizeH="0" baseline="0" noProof="0" dirty="0">
                              <a:ln>
                                <a:noFill/>
                              </a:ln>
                              <a:solidFill>
                                <a:srgbClr val="FF0066"/>
                              </a:solidFill>
                              <a:effectLst/>
                              <a:uLnTx/>
                              <a:uFillTx/>
                              <a:latin typeface="+mn-lt"/>
                              <a:ea typeface="+mn-ea"/>
                              <a:cs typeface="+mn-cs"/>
                            </a:rPr>
                            <a:t> </a:t>
                          </a:r>
                          <a14:m>
                            <m:oMath xmlns:m="http://schemas.openxmlformats.org/officeDocument/2006/math">
                              <m:r>
                                <m:rPr>
                                  <m:nor/>
                                </m:rPr>
                                <a:rPr kumimoji="0" lang="en-US" altLang="zh-TW" sz="1800" b="0" i="0" u="none" strike="noStrike" kern="1200" cap="none" spc="0" normalizeH="0" baseline="0" noProof="0" dirty="0" smtClean="0">
                                  <a:ln>
                                    <a:noFill/>
                                  </a:ln>
                                  <a:solidFill>
                                    <a:srgbClr val="FF0066"/>
                                  </a:solidFill>
                                  <a:effectLst/>
                                  <a:uLnTx/>
                                  <a:uFillTx/>
                                  <a:latin typeface="微軟正黑體" panose="020B0604030504040204" pitchFamily="34" charset="-120"/>
                                  <a:ea typeface="+mn-ea"/>
                                  <a:cs typeface="+mn-cs"/>
                                </a:rPr>
                                <m:t>e</m:t>
                              </m:r>
                              <m:r>
                                <m:rPr>
                                  <m:nor/>
                                </m:rPr>
                                <a:rPr kumimoji="0" lang="en-US" altLang="zh-TW" sz="1800" b="0" i="0" u="none" strike="noStrike" kern="1200" cap="none" spc="0" normalizeH="0" baseline="30000" noProof="0" dirty="0" smtClean="0">
                                  <a:ln>
                                    <a:noFill/>
                                  </a:ln>
                                  <a:solidFill>
                                    <a:srgbClr val="FF0066"/>
                                  </a:solidFill>
                                  <a:effectLst/>
                                  <a:uLnTx/>
                                  <a:uFillTx/>
                                  <a:latin typeface="微軟正黑體" panose="020B0604030504040204" pitchFamily="34" charset="-120"/>
                                  <a:ea typeface="+mn-ea"/>
                                  <a:cs typeface="+mn-cs"/>
                                </a:rPr>
                                <m:t>j</m:t>
                              </m:r>
                              <m:r>
                                <a:rPr kumimoji="0" lang="en-US" altLang="zh-TW" sz="1800" b="0" i="1" u="none" strike="noStrike" kern="1200" cap="none" spc="0" normalizeH="0" baseline="30000" noProof="0" smtClean="0">
                                  <a:ln>
                                    <a:noFill/>
                                  </a:ln>
                                  <a:solidFill>
                                    <a:srgbClr val="FF0066"/>
                                  </a:solidFill>
                                  <a:effectLst/>
                                  <a:uLnTx/>
                                  <a:uFillTx/>
                                  <a:latin typeface="Cambria Math" panose="02040503050406030204" pitchFamily="18" charset="0"/>
                                  <a:cs typeface="+mn-cs"/>
                                </a:rPr>
                                <m:t>∅ </m:t>
                              </m:r>
                            </m:oMath>
                          </a14:m>
                          <a:r>
                            <a:rPr kumimoji="0" lang="en-US" altLang="zh-TW" sz="1800" b="0" i="0" u="none" strike="noStrike" kern="1200" cap="none" spc="0" normalizeH="0" baseline="0" noProof="0" dirty="0">
                              <a:ln>
                                <a:noFill/>
                              </a:ln>
                              <a:solidFill>
                                <a:prstClr val="black"/>
                              </a:solidFill>
                              <a:effectLst/>
                              <a:uLnTx/>
                              <a:uFillTx/>
                              <a:latin typeface="+mn-lt"/>
                              <a:ea typeface="+mn-ea"/>
                              <a:cs typeface="+mn-cs"/>
                            </a:rPr>
                            <a:t>V</a:t>
                          </a:r>
                          <a:r>
                            <a:rPr kumimoji="0" lang="zh-TW" altLang="en-US" sz="1800" b="0" i="0" u="none" strike="noStrike" kern="1200" cap="none" spc="0" normalizeH="0" baseline="0" noProof="0" dirty="0">
                              <a:ln>
                                <a:noFill/>
                              </a:ln>
                              <a:solidFill>
                                <a:prstClr val="black"/>
                              </a:solidFill>
                              <a:effectLst/>
                              <a:uLnTx/>
                              <a:uFillTx/>
                              <a:latin typeface="+mn-lt"/>
                              <a:ea typeface="+mn-ea"/>
                              <a:cs typeface="+mn-cs"/>
                            </a:rPr>
                            <a:t> </a:t>
                          </a:r>
                          <a:r>
                            <a:rPr kumimoji="0" lang="en-US" altLang="zh-TW" sz="1800" b="0" i="0" u="none" strike="noStrike" kern="1200" cap="none" spc="0" normalizeH="0" baseline="0" noProof="0" dirty="0">
                              <a:ln>
                                <a:noFill/>
                              </a:ln>
                              <a:solidFill>
                                <a:prstClr val="black"/>
                              </a:solidFill>
                              <a:effectLst/>
                              <a:uLnTx/>
                              <a:uFillTx/>
                              <a:latin typeface="+mn-lt"/>
                              <a:ea typeface="+mn-ea"/>
                              <a:cs typeface="+mn-cs"/>
                            </a:rPr>
                            <a:t>=</a:t>
                          </a:r>
                          <a:r>
                            <a:rPr kumimoji="0" lang="zh-TW" altLang="en-US" sz="1800" b="0" i="0" u="none" strike="noStrike" kern="1200" cap="none" spc="0" normalizeH="0" baseline="0" noProof="0" dirty="0">
                              <a:ln>
                                <a:noFill/>
                              </a:ln>
                              <a:solidFill>
                                <a:prstClr val="black"/>
                              </a:solidFill>
                              <a:effectLst/>
                              <a:uLnTx/>
                              <a:uFillTx/>
                              <a:latin typeface="+mn-lt"/>
                              <a:ea typeface="+mn-ea"/>
                              <a:cs typeface="+mn-cs"/>
                            </a:rPr>
                            <a:t> </a:t>
                          </a:r>
                          <a:r>
                            <a:rPr kumimoji="0" lang="en-US" altLang="zh-TW" sz="1800" b="0" i="0" u="none" strike="noStrike" kern="1200" cap="none" spc="0" normalizeH="0" baseline="0" noProof="0" dirty="0">
                              <a:ln>
                                <a:noFill/>
                              </a:ln>
                              <a:solidFill>
                                <a:prstClr val="black"/>
                              </a:solidFill>
                              <a:effectLst/>
                              <a:uLnTx/>
                              <a:uFillTx/>
                              <a:latin typeface="+mn-lt"/>
                              <a:ea typeface="+mn-ea"/>
                              <a:cs typeface="+mn-cs"/>
                            </a:rPr>
                            <a:t>H </a:t>
                          </a:r>
                          <a:r>
                            <a:rPr kumimoji="0" lang="en-US" altLang="zh-TW" sz="1800" b="0" i="0" u="none" strike="noStrike" kern="1200" cap="none" spc="0" normalizeH="0" baseline="0" noProof="0" dirty="0">
                              <a:ln>
                                <a:noFill/>
                              </a:ln>
                              <a:solidFill>
                                <a:srgbClr val="FF0066"/>
                              </a:solidFill>
                              <a:effectLst/>
                              <a:uLnTx/>
                              <a:uFillTx/>
                              <a:latin typeface="微軟正黑體" panose="020B0604030504040204" pitchFamily="34" charset="-120"/>
                              <a:ea typeface="+mn-ea"/>
                              <a:cs typeface="+mn-cs"/>
                            </a:rPr>
                            <a:t>- </a:t>
                          </a:r>
                          <a:r>
                            <a:rPr kumimoji="0" lang="en-US" altLang="zh-TW" sz="1800" b="0" i="0" u="none" strike="noStrike" kern="1200" cap="none" spc="0" normalizeH="0" baseline="0" noProof="0" dirty="0">
                              <a:ln>
                                <a:noFill/>
                              </a:ln>
                              <a:solidFill>
                                <a:prstClr val="black"/>
                              </a:solidFill>
                              <a:effectLst/>
                              <a:uLnTx/>
                              <a:uFillTx/>
                              <a:latin typeface="+mn-lt"/>
                              <a:ea typeface="+mn-ea"/>
                              <a:cs typeface="+mn-cs"/>
                            </a:rPr>
                            <a:t>V</a:t>
                          </a:r>
                          <a:r>
                            <a:rPr kumimoji="0" lang="zh-TW" altLang="en-US" sz="1800" b="0" i="0" u="none" strike="noStrike" kern="1200" cap="none" spc="0" normalizeH="0" baseline="0" noProof="0" dirty="0">
                              <a:ln>
                                <a:noFill/>
                              </a:ln>
                              <a:solidFill>
                                <a:prstClr val="black"/>
                              </a:solidFill>
                              <a:effectLst/>
                              <a:uLnTx/>
                              <a:uFillTx/>
                              <a:latin typeface="+mn-lt"/>
                              <a:ea typeface="+mn-ea"/>
                              <a:cs typeface="+mn-cs"/>
                            </a:rPr>
                            <a:t>           </a:t>
                          </a:r>
                          <a:r>
                            <a:rPr kumimoji="0" lang="en-US" altLang="zh-TW" sz="1800" b="0" i="0" u="none" strike="noStrike" kern="1200" cap="none" spc="0" normalizeH="0" baseline="0" noProof="0" dirty="0">
                              <a:ln>
                                <a:noFill/>
                              </a:ln>
                              <a:solidFill>
                                <a:prstClr val="black"/>
                              </a:solidFill>
                              <a:effectLst/>
                              <a:uLnTx/>
                              <a:uFillTx/>
                              <a:latin typeface="+mn-lt"/>
                              <a:ea typeface="+mn-ea"/>
                              <a:cs typeface="+mn-cs"/>
                            </a:rPr>
                            <a:t>,</a:t>
                          </a:r>
                          <a:r>
                            <a:rPr kumimoji="0" lang="zh-TW" altLang="en-US" sz="1800" b="0" i="0" u="none" strike="noStrike" kern="1200" cap="none" spc="0" normalizeH="0" baseline="0" noProof="0" dirty="0">
                              <a:ln>
                                <a:noFill/>
                              </a:ln>
                              <a:solidFill>
                                <a:prstClr val="black"/>
                              </a:solidFill>
                              <a:effectLst/>
                              <a:uLnTx/>
                              <a:uFillTx/>
                              <a:latin typeface="+mn-lt"/>
                              <a:ea typeface="+mn-ea"/>
                              <a:cs typeface="+mn-cs"/>
                            </a:rPr>
                            <a:t>∅</a:t>
                          </a:r>
                          <a:r>
                            <a:rPr kumimoji="0" lang="en-US" altLang="zh-TW" sz="1800" b="0" i="0" u="none" strike="noStrike" kern="1200" cap="none" spc="0" normalizeH="0" baseline="0" noProof="0" dirty="0">
                              <a:ln>
                                <a:noFill/>
                              </a:ln>
                              <a:solidFill>
                                <a:prstClr val="black"/>
                              </a:solidFill>
                              <a:effectLst/>
                              <a:uLnTx/>
                              <a:uFillTx/>
                              <a:latin typeface="+mn-lt"/>
                              <a:ea typeface="+mn-ea"/>
                              <a:cs typeface="+mn-cs"/>
                            </a:rPr>
                            <a:t>=</a:t>
                          </a:r>
                          <a14:m>
                            <m:oMath xmlns:m="http://schemas.openxmlformats.org/officeDocument/2006/math">
                              <m:r>
                                <a:rPr kumimoji="0" lang="zh-TW" altLang="en-US" sz="18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𝜋</m:t>
                              </m:r>
                            </m:oMath>
                          </a14:m>
                          <a:endParaRPr kumimoji="0" lang="zh-TW" altLang="en-US" sz="1800" b="0" i="0" u="none" strike="noStrike" kern="1200" cap="none" spc="0" normalizeH="0" baseline="0" noProof="0" dirty="0">
                            <a:ln>
                              <a:noFill/>
                            </a:ln>
                            <a:solidFill>
                              <a:prstClr val="black"/>
                            </a:solidFill>
                            <a:effectLst/>
                            <a:uLnTx/>
                            <a:uFillTx/>
                            <a:latin typeface="+mn-lt"/>
                            <a:ea typeface="+mn-ea"/>
                            <a:cs typeface="+mn-cs"/>
                          </a:endParaRPr>
                        </a:p>
                      </a:txBody>
                      <a:tcPr/>
                    </a:tc>
                    <a:extLst>
                      <a:ext uri="{0D108BD9-81ED-4DB2-BD59-A6C34878D82A}">
                        <a16:rowId xmlns:a16="http://schemas.microsoft.com/office/drawing/2014/main" val="2392643570"/>
                      </a:ext>
                    </a:extLst>
                  </a:tr>
                </a:tbl>
              </a:graphicData>
            </a:graphic>
          </p:graphicFrame>
        </mc:Choice>
        <mc:Fallback xmlns="">
          <p:graphicFrame>
            <p:nvGraphicFramePr>
              <p:cNvPr id="17" name="表格 17">
                <a:extLst>
                  <a:ext uri="{FF2B5EF4-FFF2-40B4-BE49-F238E27FC236}">
                    <a16:creationId xmlns:a16="http://schemas.microsoft.com/office/drawing/2014/main" id="{4F4BF423-2052-352C-C29F-94F40F2CA114}"/>
                  </a:ext>
                </a:extLst>
              </p:cNvPr>
              <p:cNvGraphicFramePr>
                <a:graphicFrameLocks noGrp="1"/>
              </p:cNvGraphicFramePr>
              <p:nvPr>
                <p:extLst>
                  <p:ext uri="{D42A27DB-BD31-4B8C-83A1-F6EECF244321}">
                    <p14:modId xmlns:p14="http://schemas.microsoft.com/office/powerpoint/2010/main" val="3903868826"/>
                  </p:ext>
                </p:extLst>
              </p:nvPr>
            </p:nvGraphicFramePr>
            <p:xfrm>
              <a:off x="5205246" y="4080971"/>
              <a:ext cx="6918255" cy="1990278"/>
            </p:xfrm>
            <a:graphic>
              <a:graphicData uri="http://schemas.openxmlformats.org/drawingml/2006/table">
                <a:tbl>
                  <a:tblPr firstRow="1" bandRow="1">
                    <a:tableStyleId>{5C22544A-7EE6-4342-B048-85BDC9FD1C3A}</a:tableStyleId>
                  </a:tblPr>
                  <a:tblGrid>
                    <a:gridCol w="3533636">
                      <a:extLst>
                        <a:ext uri="{9D8B030D-6E8A-4147-A177-3AD203B41FA5}">
                          <a16:colId xmlns:a16="http://schemas.microsoft.com/office/drawing/2014/main" val="1962797789"/>
                        </a:ext>
                      </a:extLst>
                    </a:gridCol>
                    <a:gridCol w="3384619">
                      <a:extLst>
                        <a:ext uri="{9D8B030D-6E8A-4147-A177-3AD203B41FA5}">
                          <a16:colId xmlns:a16="http://schemas.microsoft.com/office/drawing/2014/main" val="2277711136"/>
                        </a:ext>
                      </a:extLst>
                    </a:gridCol>
                  </a:tblGrid>
                  <a:tr h="682404">
                    <a:tc>
                      <a:txBody>
                        <a:bodyPr/>
                        <a:lstStyle/>
                        <a:p>
                          <a:pPr algn="ctr"/>
                          <a:r>
                            <a:rPr lang="en-US" altLang="zh-TW" sz="1800" b="1" kern="1200" dirty="0">
                              <a:solidFill>
                                <a:schemeClr val="tx1"/>
                              </a:solidFill>
                              <a:latin typeface="+mn-lt"/>
                              <a:ea typeface="+mn-ea"/>
                              <a:cs typeface="Times New Roman" panose="02020603050405020304" pitchFamily="18" charset="0"/>
                            </a:rPr>
                            <a:t>EO phase modulator phase change</a:t>
                          </a:r>
                          <a:endParaRPr lang="zh-TW" altLang="en-US" dirty="0">
                            <a:solidFill>
                              <a:schemeClr val="tx1"/>
                            </a:solidFill>
                          </a:endParaRPr>
                        </a:p>
                      </a:txBody>
                      <a:tcPr/>
                    </a:tc>
                    <a:tc>
                      <a:txBody>
                        <a:bodyPr/>
                        <a:lstStyle/>
                        <a:p>
                          <a:r>
                            <a:rPr lang="zh-TW" altLang="en-US" dirty="0">
                              <a:solidFill>
                                <a:schemeClr val="tx1"/>
                              </a:solidFill>
                              <a:latin typeface="標楷體" panose="03000509000000000000" pitchFamily="65" charset="-120"/>
                              <a:ea typeface="標楷體" panose="03000509000000000000" pitchFamily="65" charset="-120"/>
                            </a:rPr>
                            <a:t>偏振分量及對應的相位變化</a:t>
                          </a:r>
                        </a:p>
                      </a:txBody>
                      <a:tcPr/>
                    </a:tc>
                    <a:extLst>
                      <a:ext uri="{0D108BD9-81ED-4DB2-BD59-A6C34878D82A}">
                        <a16:rowId xmlns:a16="http://schemas.microsoft.com/office/drawing/2014/main" val="1823539206"/>
                      </a:ext>
                    </a:extLst>
                  </a:tr>
                  <a:tr h="3953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800" b="0" i="0" u="none" strike="noStrike" kern="1200" cap="none" spc="0" normalizeH="0" baseline="0" noProof="0" dirty="0">
                              <a:ln>
                                <a:noFill/>
                              </a:ln>
                              <a:solidFill>
                                <a:prstClr val="black"/>
                              </a:solidFill>
                              <a:effectLst/>
                              <a:uLnTx/>
                              <a:uFillTx/>
                              <a:latin typeface="標楷體" panose="03000509000000000000" pitchFamily="65" charset="-120"/>
                              <a:ea typeface="標楷體" panose="03000509000000000000" pitchFamily="65" charset="-120"/>
                            </a:rPr>
                            <a:t>原始偏振及相位</a:t>
                          </a:r>
                          <a:r>
                            <a:rPr kumimoji="0" lang="en-US" altLang="zh-TW" sz="1800" b="0" i="0" u="none" strike="noStrike" kern="1200" cap="none" spc="0" normalizeH="0" baseline="0" noProof="0" dirty="0">
                              <a:ln>
                                <a:noFill/>
                              </a:ln>
                              <a:solidFill>
                                <a:prstClr val="black"/>
                              </a:solidFill>
                              <a:effectLst/>
                              <a:uLnTx/>
                              <a:uFillTx/>
                              <a:latin typeface="標楷體" panose="03000509000000000000" pitchFamily="65" charset="-120"/>
                              <a:ea typeface="標楷體" panose="03000509000000000000" pitchFamily="65" charset="-120"/>
                            </a:rPr>
                            <a:t>:</a:t>
                          </a:r>
                          <a:endParaRPr kumimoji="0" lang="zh-TW" altLang="en-US" sz="1800" b="0" i="0" u="none" strike="noStrike" kern="1200" cap="none" spc="0" normalizeH="0" baseline="0" noProof="0" dirty="0">
                            <a:ln>
                              <a:noFill/>
                            </a:ln>
                            <a:solidFill>
                              <a:prstClr val="black"/>
                            </a:solidFill>
                            <a:effectLst/>
                            <a:uLnTx/>
                            <a:uFillTx/>
                            <a:latin typeface="標楷體" panose="03000509000000000000" pitchFamily="65" charset="-120"/>
                            <a:ea typeface="標楷體" panose="03000509000000000000" pitchFamily="65" charset="-120"/>
                          </a:endParaRPr>
                        </a:p>
                      </a:txBody>
                      <a:tcPr/>
                    </a:tc>
                    <a:tc>
                      <a:txBody>
                        <a:bodyPr/>
                        <a:lstStyle/>
                        <a:p>
                          <a:endParaRPr lang="zh-TW"/>
                        </a:p>
                      </a:txBody>
                      <a:tcPr>
                        <a:blipFill>
                          <a:blip r:embed="rId7"/>
                          <a:stretch>
                            <a:fillRect l="-104496" t="-180000" r="-719" b="-247692"/>
                          </a:stretch>
                        </a:blipFill>
                      </a:tcPr>
                    </a:tc>
                    <a:extLst>
                      <a:ext uri="{0D108BD9-81ED-4DB2-BD59-A6C34878D82A}">
                        <a16:rowId xmlns:a16="http://schemas.microsoft.com/office/drawing/2014/main" val="4233488064"/>
                      </a:ext>
                    </a:extLst>
                  </a:tr>
                  <a:tr h="517152">
                    <a:tc>
                      <a:txBody>
                        <a:bodyPr/>
                        <a:lstStyle/>
                        <a:p>
                          <a:endParaRPr lang="zh-TW"/>
                        </a:p>
                      </a:txBody>
                      <a:tcPr>
                        <a:blipFill>
                          <a:blip r:embed="rId7"/>
                          <a:stretch>
                            <a:fillRect l="-172" t="-214118" r="-96552" b="-89412"/>
                          </a:stretch>
                        </a:blipFill>
                      </a:tcPr>
                    </a:tc>
                    <a:tc>
                      <a:txBody>
                        <a:bodyPr/>
                        <a:lstStyle/>
                        <a:p>
                          <a:endParaRPr lang="zh-TW"/>
                        </a:p>
                      </a:txBody>
                      <a:tcPr>
                        <a:blipFill>
                          <a:blip r:embed="rId7"/>
                          <a:stretch>
                            <a:fillRect l="-104496" t="-214118" r="-719" b="-89412"/>
                          </a:stretch>
                        </a:blipFill>
                      </a:tcPr>
                    </a:tc>
                    <a:extLst>
                      <a:ext uri="{0D108BD9-81ED-4DB2-BD59-A6C34878D82A}">
                        <a16:rowId xmlns:a16="http://schemas.microsoft.com/office/drawing/2014/main" val="3025429923"/>
                      </a:ext>
                    </a:extLst>
                  </a:tr>
                  <a:tr h="395361">
                    <a:tc>
                      <a:txBody>
                        <a:bodyPr/>
                        <a:lstStyle/>
                        <a:p>
                          <a:endParaRPr lang="zh-TW"/>
                        </a:p>
                      </a:txBody>
                      <a:tcPr>
                        <a:blipFill>
                          <a:blip r:embed="rId7"/>
                          <a:stretch>
                            <a:fillRect l="-172" t="-410769" r="-96552" b="-16923"/>
                          </a:stretch>
                        </a:blipFill>
                      </a:tcPr>
                    </a:tc>
                    <a:tc>
                      <a:txBody>
                        <a:bodyPr/>
                        <a:lstStyle/>
                        <a:p>
                          <a:endParaRPr lang="zh-TW"/>
                        </a:p>
                      </a:txBody>
                      <a:tcPr>
                        <a:blipFill>
                          <a:blip r:embed="rId7"/>
                          <a:stretch>
                            <a:fillRect l="-104496" t="-410769" r="-719" b="-16923"/>
                          </a:stretch>
                        </a:blipFill>
                      </a:tcPr>
                    </a:tc>
                    <a:extLst>
                      <a:ext uri="{0D108BD9-81ED-4DB2-BD59-A6C34878D82A}">
                        <a16:rowId xmlns:a16="http://schemas.microsoft.com/office/drawing/2014/main" val="2392643570"/>
                      </a:ext>
                    </a:extLst>
                  </a:tr>
                </a:tbl>
              </a:graphicData>
            </a:graphic>
          </p:graphicFrame>
        </mc:Fallback>
      </mc:AlternateContent>
      <p:pic>
        <p:nvPicPr>
          <p:cNvPr id="6" name="圖片 5">
            <a:extLst>
              <a:ext uri="{FF2B5EF4-FFF2-40B4-BE49-F238E27FC236}">
                <a16:creationId xmlns:a16="http://schemas.microsoft.com/office/drawing/2014/main" id="{3056F797-9B91-3E8B-C96D-9DC81F1A3253}"/>
              </a:ext>
            </a:extLst>
          </p:cNvPr>
          <p:cNvPicPr>
            <a:picLocks noChangeAspect="1"/>
          </p:cNvPicPr>
          <p:nvPr/>
        </p:nvPicPr>
        <p:blipFill>
          <a:blip r:embed="rId8"/>
          <a:stretch>
            <a:fillRect/>
          </a:stretch>
        </p:blipFill>
        <p:spPr>
          <a:xfrm>
            <a:off x="1166956" y="1391312"/>
            <a:ext cx="9858086" cy="1908213"/>
          </a:xfrm>
          <a:prstGeom prst="rect">
            <a:avLst/>
          </a:prstGeom>
        </p:spPr>
      </p:pic>
      <p:cxnSp>
        <p:nvCxnSpPr>
          <p:cNvPr id="11" name="直線接點 10">
            <a:extLst>
              <a:ext uri="{FF2B5EF4-FFF2-40B4-BE49-F238E27FC236}">
                <a16:creationId xmlns:a16="http://schemas.microsoft.com/office/drawing/2014/main" id="{87657333-5F31-9D12-B7FF-36780DCB6AFB}"/>
              </a:ext>
            </a:extLst>
          </p:cNvPr>
          <p:cNvCxnSpPr/>
          <p:nvPr/>
        </p:nvCxnSpPr>
        <p:spPr>
          <a:xfrm>
            <a:off x="2630278" y="4459111"/>
            <a:ext cx="0" cy="2262366"/>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2" name="直線接點 11">
            <a:extLst>
              <a:ext uri="{FF2B5EF4-FFF2-40B4-BE49-F238E27FC236}">
                <a16:creationId xmlns:a16="http://schemas.microsoft.com/office/drawing/2014/main" id="{3D866818-D14D-BCE6-D39D-374B3B759832}"/>
              </a:ext>
            </a:extLst>
          </p:cNvPr>
          <p:cNvCxnSpPr/>
          <p:nvPr/>
        </p:nvCxnSpPr>
        <p:spPr>
          <a:xfrm>
            <a:off x="3499556" y="4334933"/>
            <a:ext cx="0" cy="2262366"/>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A375630D-532F-6D89-EF8A-D723AAED175F}"/>
                  </a:ext>
                </a:extLst>
              </p:cNvPr>
              <p:cNvSpPr txBox="1"/>
              <p:nvPr/>
            </p:nvSpPr>
            <p:spPr>
              <a:xfrm>
                <a:off x="2816330" y="4334933"/>
                <a:ext cx="426156" cy="369332"/>
              </a:xfrm>
              <a:prstGeom prst="rect">
                <a:avLst/>
              </a:prstGeom>
              <a:noFill/>
            </p:spPr>
            <p:txBody>
              <a:bodyPr wrap="square">
                <a:spAutoFit/>
              </a:bodyPr>
              <a:lstStyle/>
              <a:p>
                <a14:m>
                  <m:oMath xmlns:m="http://schemas.openxmlformats.org/officeDocument/2006/math">
                    <m:sSub>
                      <m:sSubPr>
                        <m:ctrlPr>
                          <a:rPr lang="en-US" altLang="zh-TW" sz="1800" i="1" smtClean="0">
                            <a:solidFill>
                              <a:srgbClr val="FF0000"/>
                            </a:solidFill>
                            <a:latin typeface="Cambria Math" panose="02040503050406030204" pitchFamily="18" charset="0"/>
                          </a:rPr>
                        </m:ctrlPr>
                      </m:sSubPr>
                      <m:e>
                        <m:r>
                          <m:rPr>
                            <m:sty m:val="p"/>
                          </m:rPr>
                          <a:rPr lang="en-US" altLang="zh-TW" sz="1800" i="1">
                            <a:solidFill>
                              <a:srgbClr val="FF0000"/>
                            </a:solidFill>
                            <a:latin typeface="Cambria Math" panose="02040503050406030204" pitchFamily="18" charset="0"/>
                          </a:rPr>
                          <m:t>V</m:t>
                        </m:r>
                      </m:e>
                      <m:sub>
                        <m:r>
                          <a:rPr lang="zh-TW" altLang="en-US" sz="1800" i="1" smtClean="0">
                            <a:solidFill>
                              <a:srgbClr val="FF0000"/>
                            </a:solidFill>
                            <a:latin typeface="Cambria Math" panose="02040503050406030204" pitchFamily="18" charset="0"/>
                          </a:rPr>
                          <m:t>𝜋</m:t>
                        </m:r>
                      </m:sub>
                    </m:sSub>
                  </m:oMath>
                </a14:m>
                <a:r>
                  <a:rPr lang="zh-TW" altLang="en-US" sz="1800" dirty="0">
                    <a:solidFill>
                      <a:srgbClr val="FF0000"/>
                    </a:solidFill>
                  </a:rPr>
                  <a:t> </a:t>
                </a:r>
                <a:endParaRPr lang="zh-TW" altLang="en-US" dirty="0"/>
              </a:p>
            </p:txBody>
          </p:sp>
        </mc:Choice>
        <mc:Fallback xmlns="">
          <p:sp>
            <p:nvSpPr>
              <p:cNvPr id="16" name="文字方塊 15">
                <a:extLst>
                  <a:ext uri="{FF2B5EF4-FFF2-40B4-BE49-F238E27FC236}">
                    <a16:creationId xmlns:a16="http://schemas.microsoft.com/office/drawing/2014/main" id="{A375630D-532F-6D89-EF8A-D723AAED175F}"/>
                  </a:ext>
                </a:extLst>
              </p:cNvPr>
              <p:cNvSpPr txBox="1">
                <a:spLocks noRot="1" noChangeAspect="1" noMove="1" noResize="1" noEditPoints="1" noAdjustHandles="1" noChangeArrowheads="1" noChangeShapeType="1" noTextEdit="1"/>
              </p:cNvSpPr>
              <p:nvPr/>
            </p:nvSpPr>
            <p:spPr>
              <a:xfrm>
                <a:off x="2816330" y="4334933"/>
                <a:ext cx="426156" cy="369332"/>
              </a:xfrm>
              <a:prstGeom prst="rect">
                <a:avLst/>
              </a:prstGeom>
              <a:blipFill>
                <a:blip r:embed="rId9"/>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431019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66F64AE-CAE4-0A78-C8F9-867765DF3067}"/>
              </a:ext>
            </a:extLst>
          </p:cNvPr>
          <p:cNvSpPr>
            <a:spLocks noGrp="1"/>
          </p:cNvSpPr>
          <p:nvPr>
            <p:ph type="ctrTitle"/>
          </p:nvPr>
        </p:nvSpPr>
        <p:spPr>
          <a:xfrm>
            <a:off x="1289371" y="1788454"/>
            <a:ext cx="9613257" cy="2098226"/>
          </a:xfrm>
        </p:spPr>
        <p:txBody>
          <a:bodyPr/>
          <a:lstStyle/>
          <a:p>
            <a:r>
              <a:rPr lang="en-US" altLang="zh-TW" b="1" dirty="0">
                <a:solidFill>
                  <a:schemeClr val="tx1"/>
                </a:solidFill>
              </a:rPr>
              <a:t>Experimental Setup and Results Analysis</a:t>
            </a:r>
          </a:p>
        </p:txBody>
      </p:sp>
      <p:sp>
        <p:nvSpPr>
          <p:cNvPr id="3" name="副標題 2">
            <a:extLst>
              <a:ext uri="{FF2B5EF4-FFF2-40B4-BE49-F238E27FC236}">
                <a16:creationId xmlns:a16="http://schemas.microsoft.com/office/drawing/2014/main" id="{B1B8DE14-80E4-7564-81F1-A7DA9C966337}"/>
              </a:ext>
            </a:extLst>
          </p:cNvPr>
          <p:cNvSpPr>
            <a:spLocks noGrp="1"/>
          </p:cNvSpPr>
          <p:nvPr>
            <p:ph type="subTitle" idx="1"/>
          </p:nvPr>
        </p:nvSpPr>
        <p:spPr>
          <a:xfrm>
            <a:off x="4166888" y="3886680"/>
            <a:ext cx="4893280" cy="1368075"/>
          </a:xfrm>
        </p:spPr>
        <p:txBody>
          <a:bodyPr>
            <a:normAutofit fontScale="92500" lnSpcReduction="20000"/>
          </a:bodyPr>
          <a:lstStyle/>
          <a:p>
            <a:pPr marL="457200" indent="-457200" algn="l">
              <a:buFont typeface="+mj-lt"/>
              <a:buAutoNum type="arabicPeriod"/>
            </a:pPr>
            <a:r>
              <a:rPr lang="en-US" altLang="zh-TW" dirty="0">
                <a:solidFill>
                  <a:schemeClr val="tx1"/>
                </a:solidFill>
              </a:rPr>
              <a:t>SHG measurement </a:t>
            </a:r>
          </a:p>
          <a:p>
            <a:pPr marL="457200" indent="-457200" algn="l">
              <a:buFont typeface="+mj-lt"/>
              <a:buAutoNum type="arabicPeriod"/>
            </a:pPr>
            <a:r>
              <a:rPr lang="en-US" altLang="zh-TW" dirty="0">
                <a:solidFill>
                  <a:schemeClr val="tx1"/>
                </a:solidFill>
              </a:rPr>
              <a:t>EOPMC measurement </a:t>
            </a:r>
          </a:p>
          <a:p>
            <a:pPr marL="457200" indent="-457200" algn="l">
              <a:buFont typeface="+mj-lt"/>
              <a:buAutoNum type="arabicPeriod"/>
            </a:pPr>
            <a:r>
              <a:rPr lang="en-US" altLang="zh-TW" dirty="0">
                <a:solidFill>
                  <a:schemeClr val="tx1"/>
                </a:solidFill>
              </a:rPr>
              <a:t>EO measurement </a:t>
            </a:r>
          </a:p>
          <a:p>
            <a:pPr marL="457200" indent="-457200" algn="l">
              <a:buFont typeface="+mj-lt"/>
              <a:buAutoNum type="arabicPeriod"/>
            </a:pPr>
            <a:r>
              <a:rPr lang="en-US" altLang="zh-TW" dirty="0">
                <a:solidFill>
                  <a:srgbClr val="FF0000"/>
                </a:solidFill>
              </a:rPr>
              <a:t>Photon pair measurement</a:t>
            </a:r>
          </a:p>
        </p:txBody>
      </p:sp>
    </p:spTree>
    <p:extLst>
      <p:ext uri="{BB962C8B-B14F-4D97-AF65-F5344CB8AC3E}">
        <p14:creationId xmlns:p14="http://schemas.microsoft.com/office/powerpoint/2010/main" val="39994522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sz="3600" b="1" dirty="0">
                <a:latin typeface="Times New Roman" panose="02020603050405020304" pitchFamily="18" charset="0"/>
                <a:cs typeface="Times New Roman" panose="02020603050405020304" pitchFamily="18" charset="0"/>
              </a:rPr>
              <a:t>Experimental setup for Photon pair measurement</a:t>
            </a: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1554071" y="6418704"/>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53</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cxnSp>
        <p:nvCxnSpPr>
          <p:cNvPr id="32" name="直線接點 31">
            <a:extLst>
              <a:ext uri="{FF2B5EF4-FFF2-40B4-BE49-F238E27FC236}">
                <a16:creationId xmlns:a16="http://schemas.microsoft.com/office/drawing/2014/main" id="{4FD14682-EB9B-E828-5F30-73594C532A7B}"/>
              </a:ext>
            </a:extLst>
          </p:cNvPr>
          <p:cNvCxnSpPr>
            <a:cxnSpLocks/>
          </p:cNvCxnSpPr>
          <p:nvPr/>
        </p:nvCxnSpPr>
        <p:spPr>
          <a:xfrm flipH="1">
            <a:off x="5546881" y="3375902"/>
            <a:ext cx="11233" cy="1018974"/>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33" name="直線接點 32">
            <a:extLst>
              <a:ext uri="{FF2B5EF4-FFF2-40B4-BE49-F238E27FC236}">
                <a16:creationId xmlns:a16="http://schemas.microsoft.com/office/drawing/2014/main" id="{43062B93-931E-2484-4864-A28BE6CE431C}"/>
              </a:ext>
            </a:extLst>
          </p:cNvPr>
          <p:cNvCxnSpPr>
            <a:cxnSpLocks/>
          </p:cNvCxnSpPr>
          <p:nvPr/>
        </p:nvCxnSpPr>
        <p:spPr>
          <a:xfrm>
            <a:off x="5557811" y="4381718"/>
            <a:ext cx="866431"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34" name="群組 33">
            <a:extLst>
              <a:ext uri="{FF2B5EF4-FFF2-40B4-BE49-F238E27FC236}">
                <a16:creationId xmlns:a16="http://schemas.microsoft.com/office/drawing/2014/main" id="{BCCA4450-74C6-646D-8ED6-AB5845FA11D7}"/>
              </a:ext>
            </a:extLst>
          </p:cNvPr>
          <p:cNvGrpSpPr/>
          <p:nvPr/>
        </p:nvGrpSpPr>
        <p:grpSpPr>
          <a:xfrm rot="10800000">
            <a:off x="777816" y="2575782"/>
            <a:ext cx="657918" cy="829127"/>
            <a:chOff x="9464040" y="2370247"/>
            <a:chExt cx="1058780" cy="1007694"/>
          </a:xfrm>
        </p:grpSpPr>
        <p:sp>
          <p:nvSpPr>
            <p:cNvPr id="134" name="矩形: 圓角 133">
              <a:extLst>
                <a:ext uri="{FF2B5EF4-FFF2-40B4-BE49-F238E27FC236}">
                  <a16:creationId xmlns:a16="http://schemas.microsoft.com/office/drawing/2014/main" id="{425774E9-6410-F53C-9426-6D9CC3A67A29}"/>
                </a:ext>
              </a:extLst>
            </p:cNvPr>
            <p:cNvSpPr/>
            <p:nvPr/>
          </p:nvSpPr>
          <p:spPr>
            <a:xfrm>
              <a:off x="9608420" y="2438401"/>
              <a:ext cx="914400" cy="914400"/>
            </a:xfrm>
            <a:prstGeom prst="round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5" name="矩形 134">
              <a:extLst>
                <a:ext uri="{FF2B5EF4-FFF2-40B4-BE49-F238E27FC236}">
                  <a16:creationId xmlns:a16="http://schemas.microsoft.com/office/drawing/2014/main" id="{2BBA2A84-5654-62D1-A2CA-1CE11AE9BC74}"/>
                </a:ext>
              </a:extLst>
            </p:cNvPr>
            <p:cNvSpPr/>
            <p:nvPr/>
          </p:nvSpPr>
          <p:spPr>
            <a:xfrm>
              <a:off x="9464040" y="2370247"/>
              <a:ext cx="608530" cy="100769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5" name="群組 34">
            <a:extLst>
              <a:ext uri="{FF2B5EF4-FFF2-40B4-BE49-F238E27FC236}">
                <a16:creationId xmlns:a16="http://schemas.microsoft.com/office/drawing/2014/main" id="{999227BF-81F4-FDC6-2DFC-2380646AE2C6}"/>
              </a:ext>
            </a:extLst>
          </p:cNvPr>
          <p:cNvGrpSpPr/>
          <p:nvPr/>
        </p:nvGrpSpPr>
        <p:grpSpPr>
          <a:xfrm>
            <a:off x="5580576" y="2097727"/>
            <a:ext cx="995198" cy="470066"/>
            <a:chOff x="9464040" y="2406313"/>
            <a:chExt cx="1058780" cy="978456"/>
          </a:xfrm>
        </p:grpSpPr>
        <p:sp>
          <p:nvSpPr>
            <p:cNvPr id="132" name="矩形: 圓角 131">
              <a:extLst>
                <a:ext uri="{FF2B5EF4-FFF2-40B4-BE49-F238E27FC236}">
                  <a16:creationId xmlns:a16="http://schemas.microsoft.com/office/drawing/2014/main" id="{0CC7889B-6D62-B552-5818-743B89396C0A}"/>
                </a:ext>
              </a:extLst>
            </p:cNvPr>
            <p:cNvSpPr/>
            <p:nvPr/>
          </p:nvSpPr>
          <p:spPr>
            <a:xfrm>
              <a:off x="9608420" y="2438401"/>
              <a:ext cx="914400" cy="914400"/>
            </a:xfrm>
            <a:prstGeom prst="round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3" name="矩形 132">
              <a:extLst>
                <a:ext uri="{FF2B5EF4-FFF2-40B4-BE49-F238E27FC236}">
                  <a16:creationId xmlns:a16="http://schemas.microsoft.com/office/drawing/2014/main" id="{C9CFB73D-5443-0922-2A1D-C96C4FD7302A}"/>
                </a:ext>
              </a:extLst>
            </p:cNvPr>
            <p:cNvSpPr/>
            <p:nvPr/>
          </p:nvSpPr>
          <p:spPr>
            <a:xfrm>
              <a:off x="9464040" y="2406313"/>
              <a:ext cx="565769" cy="97845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36" name="直線接點 35">
            <a:extLst>
              <a:ext uri="{FF2B5EF4-FFF2-40B4-BE49-F238E27FC236}">
                <a16:creationId xmlns:a16="http://schemas.microsoft.com/office/drawing/2014/main" id="{7FD50FDD-DCDF-23FF-D3EF-87DDE49966B0}"/>
              </a:ext>
            </a:extLst>
          </p:cNvPr>
          <p:cNvCxnSpPr>
            <a:cxnSpLocks/>
          </p:cNvCxnSpPr>
          <p:nvPr/>
        </p:nvCxnSpPr>
        <p:spPr>
          <a:xfrm flipH="1">
            <a:off x="948885" y="2552434"/>
            <a:ext cx="5386291" cy="4374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線接點 36">
            <a:extLst>
              <a:ext uri="{FF2B5EF4-FFF2-40B4-BE49-F238E27FC236}">
                <a16:creationId xmlns:a16="http://schemas.microsoft.com/office/drawing/2014/main" id="{513450B2-16F3-A43A-F0C2-16630973FDF4}"/>
              </a:ext>
            </a:extLst>
          </p:cNvPr>
          <p:cNvCxnSpPr>
            <a:cxnSpLocks/>
          </p:cNvCxnSpPr>
          <p:nvPr/>
        </p:nvCxnSpPr>
        <p:spPr>
          <a:xfrm flipV="1">
            <a:off x="3772872" y="3373243"/>
            <a:ext cx="877250" cy="535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38" name="矩形 37">
            <a:extLst>
              <a:ext uri="{FF2B5EF4-FFF2-40B4-BE49-F238E27FC236}">
                <a16:creationId xmlns:a16="http://schemas.microsoft.com/office/drawing/2014/main" id="{05435F91-6B1F-DD94-57DD-A649288FBD03}"/>
              </a:ext>
            </a:extLst>
          </p:cNvPr>
          <p:cNvSpPr/>
          <p:nvPr/>
        </p:nvSpPr>
        <p:spPr>
          <a:xfrm>
            <a:off x="1057743" y="1900904"/>
            <a:ext cx="1492794" cy="455342"/>
          </a:xfrm>
          <a:prstGeom prst="rect">
            <a:avLst/>
          </a:prstGeom>
          <a:solidFill>
            <a:schemeClr val="bg2"/>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FPV785S</a:t>
            </a:r>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nvGrpSpPr>
          <p:cNvPr id="39" name="群組 38">
            <a:extLst>
              <a:ext uri="{FF2B5EF4-FFF2-40B4-BE49-F238E27FC236}">
                <a16:creationId xmlns:a16="http://schemas.microsoft.com/office/drawing/2014/main" id="{5DD85E73-80FD-E1B5-6EEE-68C5A9770122}"/>
              </a:ext>
            </a:extLst>
          </p:cNvPr>
          <p:cNvGrpSpPr/>
          <p:nvPr/>
        </p:nvGrpSpPr>
        <p:grpSpPr>
          <a:xfrm>
            <a:off x="3666801" y="1784343"/>
            <a:ext cx="2456837" cy="389436"/>
            <a:chOff x="1707396" y="1303447"/>
            <a:chExt cx="2230708" cy="469400"/>
          </a:xfrm>
        </p:grpSpPr>
        <p:cxnSp>
          <p:nvCxnSpPr>
            <p:cNvPr id="120" name="直線接點 119">
              <a:extLst>
                <a:ext uri="{FF2B5EF4-FFF2-40B4-BE49-F238E27FC236}">
                  <a16:creationId xmlns:a16="http://schemas.microsoft.com/office/drawing/2014/main" id="{ECFE4FA0-7ED5-363E-E525-16B13C07F96E}"/>
                </a:ext>
              </a:extLst>
            </p:cNvPr>
            <p:cNvCxnSpPr>
              <a:cxnSpLocks/>
            </p:cNvCxnSpPr>
            <p:nvPr/>
          </p:nvCxnSpPr>
          <p:spPr>
            <a:xfrm flipV="1">
              <a:off x="1707396" y="1700671"/>
              <a:ext cx="2230708" cy="6002"/>
            </a:xfrm>
            <a:prstGeom prst="line">
              <a:avLst/>
            </a:prstGeom>
            <a:ln w="38100"/>
          </p:spPr>
          <p:style>
            <a:lnRef idx="1">
              <a:schemeClr val="dk1"/>
            </a:lnRef>
            <a:fillRef idx="0">
              <a:schemeClr val="dk1"/>
            </a:fillRef>
            <a:effectRef idx="0">
              <a:schemeClr val="dk1"/>
            </a:effectRef>
            <a:fontRef idx="minor">
              <a:schemeClr val="tx1"/>
            </a:fontRef>
          </p:style>
        </p:cxnSp>
        <p:grpSp>
          <p:nvGrpSpPr>
            <p:cNvPr id="121" name="群組 120">
              <a:extLst>
                <a:ext uri="{FF2B5EF4-FFF2-40B4-BE49-F238E27FC236}">
                  <a16:creationId xmlns:a16="http://schemas.microsoft.com/office/drawing/2014/main" id="{15BD5868-D346-C25D-F1B6-A73E705A0CA6}"/>
                </a:ext>
              </a:extLst>
            </p:cNvPr>
            <p:cNvGrpSpPr/>
            <p:nvPr/>
          </p:nvGrpSpPr>
          <p:grpSpPr>
            <a:xfrm>
              <a:off x="2106509" y="1303447"/>
              <a:ext cx="1404000" cy="469400"/>
              <a:chOff x="2566383" y="4556351"/>
              <a:chExt cx="1404000" cy="469400"/>
            </a:xfrm>
          </p:grpSpPr>
          <p:sp>
            <p:nvSpPr>
              <p:cNvPr id="122" name="矩形 121">
                <a:extLst>
                  <a:ext uri="{FF2B5EF4-FFF2-40B4-BE49-F238E27FC236}">
                    <a16:creationId xmlns:a16="http://schemas.microsoft.com/office/drawing/2014/main" id="{B69E2FF8-49C9-EBD5-7FFA-384819AB4E5F}"/>
                  </a:ext>
                </a:extLst>
              </p:cNvPr>
              <p:cNvSpPr/>
              <p:nvPr/>
            </p:nvSpPr>
            <p:spPr>
              <a:xfrm>
                <a:off x="2685547" y="4556351"/>
                <a:ext cx="340241" cy="33481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23" name="橢圓 122">
                <a:extLst>
                  <a:ext uri="{FF2B5EF4-FFF2-40B4-BE49-F238E27FC236}">
                    <a16:creationId xmlns:a16="http://schemas.microsoft.com/office/drawing/2014/main" id="{084465F4-A379-9120-EBD4-1463454BB9B0}"/>
                  </a:ext>
                </a:extLst>
              </p:cNvPr>
              <p:cNvSpPr/>
              <p:nvPr/>
            </p:nvSpPr>
            <p:spPr>
              <a:xfrm>
                <a:off x="2690862" y="4564269"/>
                <a:ext cx="329609" cy="318977"/>
              </a:xfrm>
              <a:prstGeom prst="ellipse">
                <a:avLst/>
              </a:prstGeom>
              <a:solidFill>
                <a:schemeClr val="bg1">
                  <a:lumMod val="50000"/>
                </a:schemeClr>
              </a:solidFill>
              <a:ln>
                <a:solidFill>
                  <a:schemeClr val="tx2">
                    <a:lumMod val="7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24" name="橢圓 123">
                <a:extLst>
                  <a:ext uri="{FF2B5EF4-FFF2-40B4-BE49-F238E27FC236}">
                    <a16:creationId xmlns:a16="http://schemas.microsoft.com/office/drawing/2014/main" id="{5289216D-E0CB-5F58-759B-1490A7D270EE}"/>
                  </a:ext>
                </a:extLst>
              </p:cNvPr>
              <p:cNvSpPr/>
              <p:nvPr/>
            </p:nvSpPr>
            <p:spPr>
              <a:xfrm>
                <a:off x="2832806" y="4700898"/>
                <a:ext cx="45719" cy="45719"/>
              </a:xfrm>
              <a:prstGeom prst="ellipse">
                <a:avLst/>
              </a:prstGeom>
              <a:solidFill>
                <a:schemeClr val="bg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25" name="矩形 124">
                <a:extLst>
                  <a:ext uri="{FF2B5EF4-FFF2-40B4-BE49-F238E27FC236}">
                    <a16:creationId xmlns:a16="http://schemas.microsoft.com/office/drawing/2014/main" id="{B746EF1B-874C-BC66-9A02-AB70382898E1}"/>
                  </a:ext>
                </a:extLst>
              </p:cNvPr>
              <p:cNvSpPr/>
              <p:nvPr/>
            </p:nvSpPr>
            <p:spPr>
              <a:xfrm>
                <a:off x="3099336" y="4556351"/>
                <a:ext cx="340241" cy="33481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26" name="橢圓 125">
                <a:extLst>
                  <a:ext uri="{FF2B5EF4-FFF2-40B4-BE49-F238E27FC236}">
                    <a16:creationId xmlns:a16="http://schemas.microsoft.com/office/drawing/2014/main" id="{3FAE1CF0-CD05-7A12-7655-19B45A19EACA}"/>
                  </a:ext>
                </a:extLst>
              </p:cNvPr>
              <p:cNvSpPr/>
              <p:nvPr/>
            </p:nvSpPr>
            <p:spPr>
              <a:xfrm>
                <a:off x="3104651" y="4564269"/>
                <a:ext cx="329609" cy="318977"/>
              </a:xfrm>
              <a:prstGeom prst="ellipse">
                <a:avLst/>
              </a:prstGeom>
              <a:solidFill>
                <a:schemeClr val="bg1">
                  <a:lumMod val="50000"/>
                </a:schemeClr>
              </a:solidFill>
              <a:ln>
                <a:solidFill>
                  <a:schemeClr val="tx2">
                    <a:lumMod val="7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27" name="橢圓 126">
                <a:extLst>
                  <a:ext uri="{FF2B5EF4-FFF2-40B4-BE49-F238E27FC236}">
                    <a16:creationId xmlns:a16="http://schemas.microsoft.com/office/drawing/2014/main" id="{21C7270B-BDE5-7C6A-E88B-AF6AAF75FC85}"/>
                  </a:ext>
                </a:extLst>
              </p:cNvPr>
              <p:cNvSpPr/>
              <p:nvPr/>
            </p:nvSpPr>
            <p:spPr>
              <a:xfrm>
                <a:off x="3246595" y="4700898"/>
                <a:ext cx="45719" cy="45719"/>
              </a:xfrm>
              <a:prstGeom prst="ellipse">
                <a:avLst/>
              </a:prstGeom>
              <a:solidFill>
                <a:schemeClr val="bg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28" name="矩形 127">
                <a:extLst>
                  <a:ext uri="{FF2B5EF4-FFF2-40B4-BE49-F238E27FC236}">
                    <a16:creationId xmlns:a16="http://schemas.microsoft.com/office/drawing/2014/main" id="{EAD22A1C-8EC3-7E27-CB2A-3F8645CEBDC1}"/>
                  </a:ext>
                </a:extLst>
              </p:cNvPr>
              <p:cNvSpPr/>
              <p:nvPr/>
            </p:nvSpPr>
            <p:spPr>
              <a:xfrm>
                <a:off x="3516783" y="4556351"/>
                <a:ext cx="340241" cy="33481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29" name="橢圓 128">
                <a:extLst>
                  <a:ext uri="{FF2B5EF4-FFF2-40B4-BE49-F238E27FC236}">
                    <a16:creationId xmlns:a16="http://schemas.microsoft.com/office/drawing/2014/main" id="{1B772BBC-874B-98FD-9675-49029A4792EE}"/>
                  </a:ext>
                </a:extLst>
              </p:cNvPr>
              <p:cNvSpPr/>
              <p:nvPr/>
            </p:nvSpPr>
            <p:spPr>
              <a:xfrm>
                <a:off x="3522098" y="4564269"/>
                <a:ext cx="329609" cy="318977"/>
              </a:xfrm>
              <a:prstGeom prst="ellipse">
                <a:avLst/>
              </a:prstGeom>
              <a:solidFill>
                <a:schemeClr val="bg1">
                  <a:lumMod val="50000"/>
                </a:schemeClr>
              </a:solidFill>
              <a:ln>
                <a:solidFill>
                  <a:schemeClr val="tx2">
                    <a:lumMod val="7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30" name="橢圓 129">
                <a:extLst>
                  <a:ext uri="{FF2B5EF4-FFF2-40B4-BE49-F238E27FC236}">
                    <a16:creationId xmlns:a16="http://schemas.microsoft.com/office/drawing/2014/main" id="{154D7D93-B68E-025F-9B54-37378D0B534F}"/>
                  </a:ext>
                </a:extLst>
              </p:cNvPr>
              <p:cNvSpPr/>
              <p:nvPr/>
            </p:nvSpPr>
            <p:spPr>
              <a:xfrm>
                <a:off x="3664042" y="4700898"/>
                <a:ext cx="45719" cy="45719"/>
              </a:xfrm>
              <a:prstGeom prst="ellipse">
                <a:avLst/>
              </a:prstGeom>
              <a:solidFill>
                <a:schemeClr val="bg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31" name="矩形 130">
                <a:extLst>
                  <a:ext uri="{FF2B5EF4-FFF2-40B4-BE49-F238E27FC236}">
                    <a16:creationId xmlns:a16="http://schemas.microsoft.com/office/drawing/2014/main" id="{6F41EB85-714E-3E6B-475D-E25B014C59EB}"/>
                  </a:ext>
                </a:extLst>
              </p:cNvPr>
              <p:cNvSpPr/>
              <p:nvPr/>
            </p:nvSpPr>
            <p:spPr>
              <a:xfrm>
                <a:off x="2566383" y="4893701"/>
                <a:ext cx="1404000" cy="132050"/>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cxnSp>
        <p:nvCxnSpPr>
          <p:cNvPr id="40" name="直線接點 39">
            <a:extLst>
              <a:ext uri="{FF2B5EF4-FFF2-40B4-BE49-F238E27FC236}">
                <a16:creationId xmlns:a16="http://schemas.microsoft.com/office/drawing/2014/main" id="{7A982DF2-68B6-EC35-CB2C-3E8A2367BDD3}"/>
              </a:ext>
            </a:extLst>
          </p:cNvPr>
          <p:cNvCxnSpPr>
            <a:cxnSpLocks/>
          </p:cNvCxnSpPr>
          <p:nvPr/>
        </p:nvCxnSpPr>
        <p:spPr>
          <a:xfrm>
            <a:off x="3019684" y="3373243"/>
            <a:ext cx="479060"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41" name="矩形: 剪去同側角落 40">
            <a:extLst>
              <a:ext uri="{FF2B5EF4-FFF2-40B4-BE49-F238E27FC236}">
                <a16:creationId xmlns:a16="http://schemas.microsoft.com/office/drawing/2014/main" id="{943073D1-D684-2C96-52F1-AF7595888D07}"/>
              </a:ext>
            </a:extLst>
          </p:cNvPr>
          <p:cNvSpPr/>
          <p:nvPr/>
        </p:nvSpPr>
        <p:spPr>
          <a:xfrm rot="5400000">
            <a:off x="3519074" y="3078481"/>
            <a:ext cx="344486" cy="599209"/>
          </a:xfrm>
          <a:prstGeom prst="snip2SameRect">
            <a:avLst>
              <a:gd name="adj1" fmla="val 16667"/>
              <a:gd name="adj2" fmla="val 0"/>
            </a:avLst>
          </a:prstGeom>
          <a:solidFill>
            <a:schemeClr val="accent3">
              <a:lumMod val="60000"/>
              <a:lumOff val="40000"/>
            </a:schemeClr>
          </a:solidFill>
          <a:ln>
            <a:solidFill>
              <a:schemeClr val="tx1"/>
            </a:solidFill>
          </a:ln>
          <a:scene3d>
            <a:camera prst="orthographicFront"/>
            <a:lightRig rig="threePt" dir="t"/>
          </a:scene3d>
          <a:sp3d>
            <a:bevelT w="139700" h="139700" prst="divo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nvGrpSpPr>
          <p:cNvPr id="42" name="群組 41">
            <a:extLst>
              <a:ext uri="{FF2B5EF4-FFF2-40B4-BE49-F238E27FC236}">
                <a16:creationId xmlns:a16="http://schemas.microsoft.com/office/drawing/2014/main" id="{C4E83C63-60B2-B9FB-4AF3-7663797DEC06}"/>
              </a:ext>
            </a:extLst>
          </p:cNvPr>
          <p:cNvGrpSpPr/>
          <p:nvPr/>
        </p:nvGrpSpPr>
        <p:grpSpPr>
          <a:xfrm>
            <a:off x="1047719" y="2980501"/>
            <a:ext cx="2031396" cy="748636"/>
            <a:chOff x="1444245" y="3863775"/>
            <a:chExt cx="4399965" cy="1775476"/>
          </a:xfrm>
        </p:grpSpPr>
        <p:sp>
          <p:nvSpPr>
            <p:cNvPr id="74" name="矩形 73">
              <a:extLst>
                <a:ext uri="{FF2B5EF4-FFF2-40B4-BE49-F238E27FC236}">
                  <a16:creationId xmlns:a16="http://schemas.microsoft.com/office/drawing/2014/main" id="{AC99F839-D136-3996-FE74-2F96ECBB64DE}"/>
                </a:ext>
              </a:extLst>
            </p:cNvPr>
            <p:cNvSpPr/>
            <p:nvPr/>
          </p:nvSpPr>
          <p:spPr>
            <a:xfrm>
              <a:off x="1737442" y="3863775"/>
              <a:ext cx="4106768" cy="1775476"/>
            </a:xfrm>
            <a:prstGeom prst="rect">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75" name="直線接點 74">
              <a:extLst>
                <a:ext uri="{FF2B5EF4-FFF2-40B4-BE49-F238E27FC236}">
                  <a16:creationId xmlns:a16="http://schemas.microsoft.com/office/drawing/2014/main" id="{9097D841-C875-E511-F4EC-797AA4B4233D}"/>
                </a:ext>
              </a:extLst>
            </p:cNvPr>
            <p:cNvCxnSpPr>
              <a:cxnSpLocks/>
            </p:cNvCxnSpPr>
            <p:nvPr/>
          </p:nvCxnSpPr>
          <p:spPr>
            <a:xfrm flipV="1">
              <a:off x="1444245" y="4742924"/>
              <a:ext cx="705398" cy="4"/>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76" name="群組 75">
              <a:extLst>
                <a:ext uri="{FF2B5EF4-FFF2-40B4-BE49-F238E27FC236}">
                  <a16:creationId xmlns:a16="http://schemas.microsoft.com/office/drawing/2014/main" id="{FBC34B34-40DA-2B51-F651-ED9ED6B11C20}"/>
                </a:ext>
              </a:extLst>
            </p:cNvPr>
            <p:cNvGrpSpPr/>
            <p:nvPr/>
          </p:nvGrpSpPr>
          <p:grpSpPr>
            <a:xfrm>
              <a:off x="1959051" y="4079177"/>
              <a:ext cx="3755037" cy="1470254"/>
              <a:chOff x="5452495" y="1690688"/>
              <a:chExt cx="3755037" cy="1470254"/>
            </a:xfrm>
          </p:grpSpPr>
          <p:grpSp>
            <p:nvGrpSpPr>
              <p:cNvPr id="77" name="群組 76">
                <a:extLst>
                  <a:ext uri="{FF2B5EF4-FFF2-40B4-BE49-F238E27FC236}">
                    <a16:creationId xmlns:a16="http://schemas.microsoft.com/office/drawing/2014/main" id="{EB0B441F-43AF-5BD9-1027-BDEFFBDCACFA}"/>
                  </a:ext>
                </a:extLst>
              </p:cNvPr>
              <p:cNvGrpSpPr/>
              <p:nvPr/>
            </p:nvGrpSpPr>
            <p:grpSpPr>
              <a:xfrm>
                <a:off x="5452495" y="1690688"/>
                <a:ext cx="3755037" cy="1325563"/>
                <a:chOff x="5452495" y="1690688"/>
                <a:chExt cx="5182376" cy="1898258"/>
              </a:xfrm>
            </p:grpSpPr>
            <p:grpSp>
              <p:nvGrpSpPr>
                <p:cNvPr id="79" name="群組 78">
                  <a:extLst>
                    <a:ext uri="{FF2B5EF4-FFF2-40B4-BE49-F238E27FC236}">
                      <a16:creationId xmlns:a16="http://schemas.microsoft.com/office/drawing/2014/main" id="{7E4C990D-7FC6-1F3C-B9B4-796EEA48E8B7}"/>
                    </a:ext>
                  </a:extLst>
                </p:cNvPr>
                <p:cNvGrpSpPr/>
                <p:nvPr/>
              </p:nvGrpSpPr>
              <p:grpSpPr>
                <a:xfrm>
                  <a:off x="5452495" y="1690688"/>
                  <a:ext cx="5182376" cy="1898258"/>
                  <a:chOff x="7182049" y="4957016"/>
                  <a:chExt cx="2683845" cy="994597"/>
                </a:xfrm>
              </p:grpSpPr>
              <p:sp>
                <p:nvSpPr>
                  <p:cNvPr id="118" name="矩形 117">
                    <a:extLst>
                      <a:ext uri="{FF2B5EF4-FFF2-40B4-BE49-F238E27FC236}">
                        <a16:creationId xmlns:a16="http://schemas.microsoft.com/office/drawing/2014/main" id="{24E7C0DF-6913-EB3C-B911-0E4F17412F9A}"/>
                      </a:ext>
                    </a:extLst>
                  </p:cNvPr>
                  <p:cNvSpPr/>
                  <p:nvPr/>
                </p:nvSpPr>
                <p:spPr>
                  <a:xfrm>
                    <a:off x="7182049" y="4957016"/>
                    <a:ext cx="2683845" cy="994597"/>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119" name="直線接點 118">
                    <a:extLst>
                      <a:ext uri="{FF2B5EF4-FFF2-40B4-BE49-F238E27FC236}">
                        <a16:creationId xmlns:a16="http://schemas.microsoft.com/office/drawing/2014/main" id="{A1D42AE9-3BB5-61F8-BF9C-55ACE8D21360}"/>
                      </a:ext>
                    </a:extLst>
                  </p:cNvPr>
                  <p:cNvCxnSpPr>
                    <a:stCxn id="118" idx="1"/>
                    <a:endCxn id="118" idx="3"/>
                  </p:cNvCxnSpPr>
                  <p:nvPr/>
                </p:nvCxnSpPr>
                <p:spPr>
                  <a:xfrm>
                    <a:off x="7182049" y="5454315"/>
                    <a:ext cx="2683845" cy="0"/>
                  </a:xfrm>
                  <a:prstGeom prst="line">
                    <a:avLst/>
                  </a:prstGeom>
                  <a:ln w="57150">
                    <a:solidFill>
                      <a:schemeClr val="bg1">
                        <a:lumMod val="50000"/>
                      </a:schemeClr>
                    </a:solidFill>
                  </a:ln>
                  <a:effectLst>
                    <a:glow rad="101600">
                      <a:schemeClr val="bg1">
                        <a:lumMod val="65000"/>
                        <a:alpha val="60000"/>
                      </a:schemeClr>
                    </a:glow>
                  </a:effectLst>
                </p:spPr>
                <p:style>
                  <a:lnRef idx="1">
                    <a:schemeClr val="accent1"/>
                  </a:lnRef>
                  <a:fillRef idx="0">
                    <a:schemeClr val="accent1"/>
                  </a:fillRef>
                  <a:effectRef idx="0">
                    <a:schemeClr val="accent1"/>
                  </a:effectRef>
                  <a:fontRef idx="minor">
                    <a:schemeClr val="tx1"/>
                  </a:fontRef>
                </p:style>
              </p:cxnSp>
            </p:grpSp>
            <p:grpSp>
              <p:nvGrpSpPr>
                <p:cNvPr id="80" name="群組 79">
                  <a:extLst>
                    <a:ext uri="{FF2B5EF4-FFF2-40B4-BE49-F238E27FC236}">
                      <a16:creationId xmlns:a16="http://schemas.microsoft.com/office/drawing/2014/main" id="{CE0D326B-DED8-8475-B1AA-120AFCE81585}"/>
                    </a:ext>
                  </a:extLst>
                </p:cNvPr>
                <p:cNvGrpSpPr/>
                <p:nvPr/>
              </p:nvGrpSpPr>
              <p:grpSpPr>
                <a:xfrm>
                  <a:off x="5789803" y="2366525"/>
                  <a:ext cx="3623052" cy="546584"/>
                  <a:chOff x="5646496" y="3137430"/>
                  <a:chExt cx="3623052" cy="546584"/>
                </a:xfrm>
              </p:grpSpPr>
              <p:grpSp>
                <p:nvGrpSpPr>
                  <p:cNvPr id="91" name="群組 90">
                    <a:extLst>
                      <a:ext uri="{FF2B5EF4-FFF2-40B4-BE49-F238E27FC236}">
                        <a16:creationId xmlns:a16="http://schemas.microsoft.com/office/drawing/2014/main" id="{1EBC59BD-BB5A-6BD8-BCD1-5712190A6E06}"/>
                      </a:ext>
                    </a:extLst>
                  </p:cNvPr>
                  <p:cNvGrpSpPr/>
                  <p:nvPr/>
                </p:nvGrpSpPr>
                <p:grpSpPr>
                  <a:xfrm>
                    <a:off x="5646496" y="3141495"/>
                    <a:ext cx="1197015" cy="542519"/>
                    <a:chOff x="8338333" y="3971052"/>
                    <a:chExt cx="391256" cy="490702"/>
                  </a:xfrm>
                </p:grpSpPr>
                <p:sp>
                  <p:nvSpPr>
                    <p:cNvPr id="110" name="矩形 109">
                      <a:extLst>
                        <a:ext uri="{FF2B5EF4-FFF2-40B4-BE49-F238E27FC236}">
                          <a16:creationId xmlns:a16="http://schemas.microsoft.com/office/drawing/2014/main" id="{6FF4B821-B07B-E2DA-1219-96A4707671F3}"/>
                        </a:ext>
                      </a:extLst>
                    </p:cNvPr>
                    <p:cNvSpPr/>
                    <p:nvPr/>
                  </p:nvSpPr>
                  <p:spPr>
                    <a:xfrm>
                      <a:off x="8387142" y="3971052"/>
                      <a:ext cx="45719" cy="488667"/>
                    </a:xfrm>
                    <a:prstGeom prst="rect">
                      <a:avLst/>
                    </a:prstGeom>
                    <a:solidFill>
                      <a:srgbClr val="0070C0">
                        <a:alpha val="50000"/>
                      </a:srgb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11" name="矩形 110">
                      <a:extLst>
                        <a:ext uri="{FF2B5EF4-FFF2-40B4-BE49-F238E27FC236}">
                          <a16:creationId xmlns:a16="http://schemas.microsoft.com/office/drawing/2014/main" id="{6B802E0A-6629-C43E-506B-7B705A8F3F79}"/>
                        </a:ext>
                      </a:extLst>
                    </p:cNvPr>
                    <p:cNvSpPr/>
                    <p:nvPr/>
                  </p:nvSpPr>
                  <p:spPr>
                    <a:xfrm>
                      <a:off x="8338333" y="3971052"/>
                      <a:ext cx="45719" cy="488667"/>
                    </a:xfrm>
                    <a:prstGeom prst="rect">
                      <a:avLst/>
                    </a:prstGeom>
                    <a:solidFill>
                      <a:schemeClr val="accent1">
                        <a:lumMod val="75000"/>
                        <a:alpha val="50000"/>
                      </a:scheme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12" name="矩形 111">
                      <a:extLst>
                        <a:ext uri="{FF2B5EF4-FFF2-40B4-BE49-F238E27FC236}">
                          <a16:creationId xmlns:a16="http://schemas.microsoft.com/office/drawing/2014/main" id="{8F4FCD53-958A-7F16-D88C-017C95101158}"/>
                        </a:ext>
                      </a:extLst>
                    </p:cNvPr>
                    <p:cNvSpPr/>
                    <p:nvPr/>
                  </p:nvSpPr>
                  <p:spPr>
                    <a:xfrm>
                      <a:off x="8484752" y="3973087"/>
                      <a:ext cx="45719" cy="488667"/>
                    </a:xfrm>
                    <a:prstGeom prst="rect">
                      <a:avLst/>
                    </a:prstGeom>
                    <a:solidFill>
                      <a:srgbClr val="0070C0">
                        <a:alpha val="50000"/>
                      </a:srgb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13" name="矩形 112">
                      <a:extLst>
                        <a:ext uri="{FF2B5EF4-FFF2-40B4-BE49-F238E27FC236}">
                          <a16:creationId xmlns:a16="http://schemas.microsoft.com/office/drawing/2014/main" id="{802051F2-7AE4-873A-47E2-E33AA2B7A8CA}"/>
                        </a:ext>
                      </a:extLst>
                    </p:cNvPr>
                    <p:cNvSpPr/>
                    <p:nvPr/>
                  </p:nvSpPr>
                  <p:spPr>
                    <a:xfrm>
                      <a:off x="8434269" y="3971052"/>
                      <a:ext cx="45719" cy="488667"/>
                    </a:xfrm>
                    <a:prstGeom prst="rect">
                      <a:avLst/>
                    </a:prstGeom>
                    <a:solidFill>
                      <a:schemeClr val="accent1">
                        <a:lumMod val="75000"/>
                        <a:alpha val="50000"/>
                      </a:scheme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14" name="矩形 113">
                      <a:extLst>
                        <a:ext uri="{FF2B5EF4-FFF2-40B4-BE49-F238E27FC236}">
                          <a16:creationId xmlns:a16="http://schemas.microsoft.com/office/drawing/2014/main" id="{5B188B4D-D771-5F6B-C23D-558B1B07AB5C}"/>
                        </a:ext>
                      </a:extLst>
                    </p:cNvPr>
                    <p:cNvSpPr/>
                    <p:nvPr/>
                  </p:nvSpPr>
                  <p:spPr>
                    <a:xfrm>
                      <a:off x="8585954" y="3971052"/>
                      <a:ext cx="45719" cy="488667"/>
                    </a:xfrm>
                    <a:prstGeom prst="rect">
                      <a:avLst/>
                    </a:prstGeom>
                    <a:solidFill>
                      <a:srgbClr val="0070C0">
                        <a:alpha val="50000"/>
                      </a:srgb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15" name="矩形 114">
                      <a:extLst>
                        <a:ext uri="{FF2B5EF4-FFF2-40B4-BE49-F238E27FC236}">
                          <a16:creationId xmlns:a16="http://schemas.microsoft.com/office/drawing/2014/main" id="{DD94CEBD-3D24-785F-07AD-6B810E8AD1A3}"/>
                        </a:ext>
                      </a:extLst>
                    </p:cNvPr>
                    <p:cNvSpPr/>
                    <p:nvPr/>
                  </p:nvSpPr>
                  <p:spPr>
                    <a:xfrm>
                      <a:off x="8534754" y="3971362"/>
                      <a:ext cx="45719" cy="488667"/>
                    </a:xfrm>
                    <a:prstGeom prst="rect">
                      <a:avLst/>
                    </a:prstGeom>
                    <a:solidFill>
                      <a:schemeClr val="accent1">
                        <a:lumMod val="75000"/>
                        <a:alpha val="50000"/>
                      </a:scheme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16" name="矩形 115">
                      <a:extLst>
                        <a:ext uri="{FF2B5EF4-FFF2-40B4-BE49-F238E27FC236}">
                          <a16:creationId xmlns:a16="http://schemas.microsoft.com/office/drawing/2014/main" id="{2C3391C0-F858-A398-B645-9C3414717D24}"/>
                        </a:ext>
                      </a:extLst>
                    </p:cNvPr>
                    <p:cNvSpPr/>
                    <p:nvPr/>
                  </p:nvSpPr>
                  <p:spPr>
                    <a:xfrm>
                      <a:off x="8683870" y="3971052"/>
                      <a:ext cx="45719" cy="488667"/>
                    </a:xfrm>
                    <a:prstGeom prst="rect">
                      <a:avLst/>
                    </a:prstGeom>
                    <a:solidFill>
                      <a:srgbClr val="0070C0">
                        <a:alpha val="50000"/>
                      </a:srgb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17" name="矩形 116">
                      <a:extLst>
                        <a:ext uri="{FF2B5EF4-FFF2-40B4-BE49-F238E27FC236}">
                          <a16:creationId xmlns:a16="http://schemas.microsoft.com/office/drawing/2014/main" id="{7D8A4147-0145-A908-B07A-030065DCE091}"/>
                        </a:ext>
                      </a:extLst>
                    </p:cNvPr>
                    <p:cNvSpPr/>
                    <p:nvPr/>
                  </p:nvSpPr>
                  <p:spPr>
                    <a:xfrm>
                      <a:off x="8632706" y="3971052"/>
                      <a:ext cx="45719" cy="488667"/>
                    </a:xfrm>
                    <a:prstGeom prst="rect">
                      <a:avLst/>
                    </a:prstGeom>
                    <a:solidFill>
                      <a:schemeClr val="accent1">
                        <a:lumMod val="75000"/>
                        <a:alpha val="50000"/>
                      </a:scheme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nvGrpSpPr>
                  <p:cNvPr id="92" name="群組 91">
                    <a:extLst>
                      <a:ext uri="{FF2B5EF4-FFF2-40B4-BE49-F238E27FC236}">
                        <a16:creationId xmlns:a16="http://schemas.microsoft.com/office/drawing/2014/main" id="{F688CCA2-FB3D-5DDE-45BA-B9BB2F4C0EE1}"/>
                      </a:ext>
                    </a:extLst>
                  </p:cNvPr>
                  <p:cNvGrpSpPr/>
                  <p:nvPr/>
                </p:nvGrpSpPr>
                <p:grpSpPr>
                  <a:xfrm>
                    <a:off x="6943069" y="3137430"/>
                    <a:ext cx="1137089" cy="540269"/>
                    <a:chOff x="7556468" y="3141495"/>
                    <a:chExt cx="1823500" cy="1690702"/>
                  </a:xfrm>
                </p:grpSpPr>
                <p:sp>
                  <p:nvSpPr>
                    <p:cNvPr id="102" name="矩形 101">
                      <a:extLst>
                        <a:ext uri="{FF2B5EF4-FFF2-40B4-BE49-F238E27FC236}">
                          <a16:creationId xmlns:a16="http://schemas.microsoft.com/office/drawing/2014/main" id="{2284188D-4DBE-368F-D39D-98419C635FEB}"/>
                        </a:ext>
                      </a:extLst>
                    </p:cNvPr>
                    <p:cNvSpPr/>
                    <p:nvPr/>
                  </p:nvSpPr>
                  <p:spPr>
                    <a:xfrm>
                      <a:off x="7783949" y="3141495"/>
                      <a:ext cx="213079" cy="1683690"/>
                    </a:xfrm>
                    <a:prstGeom prst="rect">
                      <a:avLst/>
                    </a:prstGeom>
                    <a:solidFill>
                      <a:schemeClr val="accent6">
                        <a:lumMod val="60000"/>
                        <a:lumOff val="40000"/>
                        <a:alpha val="50000"/>
                      </a:scheme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03" name="矩形 102">
                      <a:extLst>
                        <a:ext uri="{FF2B5EF4-FFF2-40B4-BE49-F238E27FC236}">
                          <a16:creationId xmlns:a16="http://schemas.microsoft.com/office/drawing/2014/main" id="{0CDBCBD2-4346-01FD-0507-B90350059D65}"/>
                        </a:ext>
                      </a:extLst>
                    </p:cNvPr>
                    <p:cNvSpPr/>
                    <p:nvPr/>
                  </p:nvSpPr>
                  <p:spPr>
                    <a:xfrm>
                      <a:off x="7556468" y="3141495"/>
                      <a:ext cx="213079" cy="1683690"/>
                    </a:xfrm>
                    <a:prstGeom prst="rect">
                      <a:avLst/>
                    </a:prstGeom>
                    <a:solidFill>
                      <a:srgbClr val="00B050">
                        <a:alpha val="50000"/>
                      </a:srgb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04" name="矩形 103">
                      <a:extLst>
                        <a:ext uri="{FF2B5EF4-FFF2-40B4-BE49-F238E27FC236}">
                          <a16:creationId xmlns:a16="http://schemas.microsoft.com/office/drawing/2014/main" id="{BB76141B-5CEC-74C5-E918-5722D518B1F6}"/>
                        </a:ext>
                      </a:extLst>
                    </p:cNvPr>
                    <p:cNvSpPr/>
                    <p:nvPr/>
                  </p:nvSpPr>
                  <p:spPr>
                    <a:xfrm>
                      <a:off x="8238873" y="3148507"/>
                      <a:ext cx="213079" cy="1683690"/>
                    </a:xfrm>
                    <a:prstGeom prst="rect">
                      <a:avLst/>
                    </a:prstGeom>
                    <a:solidFill>
                      <a:schemeClr val="accent6">
                        <a:lumMod val="60000"/>
                        <a:lumOff val="40000"/>
                        <a:alpha val="50000"/>
                      </a:scheme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05" name="矩形 104">
                      <a:extLst>
                        <a:ext uri="{FF2B5EF4-FFF2-40B4-BE49-F238E27FC236}">
                          <a16:creationId xmlns:a16="http://schemas.microsoft.com/office/drawing/2014/main" id="{E5B3A7E0-BA0B-5A47-D3B0-35D91D79B646}"/>
                        </a:ext>
                      </a:extLst>
                    </p:cNvPr>
                    <p:cNvSpPr/>
                    <p:nvPr/>
                  </p:nvSpPr>
                  <p:spPr>
                    <a:xfrm>
                      <a:off x="8003590" y="3141495"/>
                      <a:ext cx="213079" cy="1683690"/>
                    </a:xfrm>
                    <a:prstGeom prst="rect">
                      <a:avLst/>
                    </a:prstGeom>
                    <a:solidFill>
                      <a:srgbClr val="00B050">
                        <a:alpha val="50000"/>
                      </a:srgb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06" name="矩形 105">
                      <a:extLst>
                        <a:ext uri="{FF2B5EF4-FFF2-40B4-BE49-F238E27FC236}">
                          <a16:creationId xmlns:a16="http://schemas.microsoft.com/office/drawing/2014/main" id="{FD0B46C3-73B8-CF5C-8210-BC2F2DD28935}"/>
                        </a:ext>
                      </a:extLst>
                    </p:cNvPr>
                    <p:cNvSpPr/>
                    <p:nvPr/>
                  </p:nvSpPr>
                  <p:spPr>
                    <a:xfrm>
                      <a:off x="8710538" y="3141495"/>
                      <a:ext cx="213079" cy="1683690"/>
                    </a:xfrm>
                    <a:prstGeom prst="rect">
                      <a:avLst/>
                    </a:prstGeom>
                    <a:solidFill>
                      <a:schemeClr val="accent6">
                        <a:lumMod val="60000"/>
                        <a:lumOff val="40000"/>
                        <a:alpha val="50000"/>
                      </a:scheme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07" name="矩形 106">
                      <a:extLst>
                        <a:ext uri="{FF2B5EF4-FFF2-40B4-BE49-F238E27FC236}">
                          <a16:creationId xmlns:a16="http://schemas.microsoft.com/office/drawing/2014/main" id="{D721077B-0A95-16AF-0070-976EB2F69F5F}"/>
                        </a:ext>
                      </a:extLst>
                    </p:cNvPr>
                    <p:cNvSpPr/>
                    <p:nvPr/>
                  </p:nvSpPr>
                  <p:spPr>
                    <a:xfrm>
                      <a:off x="8471914" y="3142563"/>
                      <a:ext cx="213079" cy="1683690"/>
                    </a:xfrm>
                    <a:prstGeom prst="rect">
                      <a:avLst/>
                    </a:prstGeom>
                    <a:solidFill>
                      <a:srgbClr val="00B050">
                        <a:alpha val="50000"/>
                      </a:srgb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08" name="矩形 107">
                      <a:extLst>
                        <a:ext uri="{FF2B5EF4-FFF2-40B4-BE49-F238E27FC236}">
                          <a16:creationId xmlns:a16="http://schemas.microsoft.com/office/drawing/2014/main" id="{6C7A1DDC-13B8-2276-DDB3-DD21E6D31381}"/>
                        </a:ext>
                      </a:extLst>
                    </p:cNvPr>
                    <p:cNvSpPr/>
                    <p:nvPr/>
                  </p:nvSpPr>
                  <p:spPr>
                    <a:xfrm>
                      <a:off x="9166889" y="3141495"/>
                      <a:ext cx="213079" cy="1683690"/>
                    </a:xfrm>
                    <a:prstGeom prst="rect">
                      <a:avLst/>
                    </a:prstGeom>
                    <a:solidFill>
                      <a:schemeClr val="accent6">
                        <a:lumMod val="60000"/>
                        <a:lumOff val="40000"/>
                        <a:alpha val="50000"/>
                      </a:scheme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09" name="矩形 108">
                      <a:extLst>
                        <a:ext uri="{FF2B5EF4-FFF2-40B4-BE49-F238E27FC236}">
                          <a16:creationId xmlns:a16="http://schemas.microsoft.com/office/drawing/2014/main" id="{40BAB87F-37BE-DBB7-C342-0DEC53DFEDBB}"/>
                        </a:ext>
                      </a:extLst>
                    </p:cNvPr>
                    <p:cNvSpPr/>
                    <p:nvPr/>
                  </p:nvSpPr>
                  <p:spPr>
                    <a:xfrm>
                      <a:off x="8928432" y="3141495"/>
                      <a:ext cx="213079" cy="1683690"/>
                    </a:xfrm>
                    <a:prstGeom prst="rect">
                      <a:avLst/>
                    </a:prstGeom>
                    <a:solidFill>
                      <a:srgbClr val="00B050">
                        <a:alpha val="50000"/>
                      </a:srgb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nvGrpSpPr>
                  <p:cNvPr id="93" name="群組 92">
                    <a:extLst>
                      <a:ext uri="{FF2B5EF4-FFF2-40B4-BE49-F238E27FC236}">
                        <a16:creationId xmlns:a16="http://schemas.microsoft.com/office/drawing/2014/main" id="{335AE051-0131-E11C-559C-81EBE1D7B05E}"/>
                      </a:ext>
                    </a:extLst>
                  </p:cNvPr>
                  <p:cNvGrpSpPr/>
                  <p:nvPr/>
                </p:nvGrpSpPr>
                <p:grpSpPr>
                  <a:xfrm>
                    <a:off x="8192884" y="3139350"/>
                    <a:ext cx="1076664" cy="542757"/>
                    <a:chOff x="8338333" y="3971052"/>
                    <a:chExt cx="391256" cy="490791"/>
                  </a:xfrm>
                </p:grpSpPr>
                <p:sp>
                  <p:nvSpPr>
                    <p:cNvPr id="94" name="矩形 93">
                      <a:extLst>
                        <a:ext uri="{FF2B5EF4-FFF2-40B4-BE49-F238E27FC236}">
                          <a16:creationId xmlns:a16="http://schemas.microsoft.com/office/drawing/2014/main" id="{F5BC175A-F851-D115-3D8C-ACCB16B25E94}"/>
                        </a:ext>
                      </a:extLst>
                    </p:cNvPr>
                    <p:cNvSpPr/>
                    <p:nvPr/>
                  </p:nvSpPr>
                  <p:spPr>
                    <a:xfrm>
                      <a:off x="8387142" y="3971052"/>
                      <a:ext cx="45719" cy="488667"/>
                    </a:xfrm>
                    <a:prstGeom prst="rect">
                      <a:avLst/>
                    </a:prstGeom>
                    <a:solidFill>
                      <a:srgbClr val="0070C0">
                        <a:alpha val="50000"/>
                      </a:srgb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95" name="矩形 94">
                      <a:extLst>
                        <a:ext uri="{FF2B5EF4-FFF2-40B4-BE49-F238E27FC236}">
                          <a16:creationId xmlns:a16="http://schemas.microsoft.com/office/drawing/2014/main" id="{18702BBB-12E8-3A16-26E1-2E849AC0B489}"/>
                        </a:ext>
                      </a:extLst>
                    </p:cNvPr>
                    <p:cNvSpPr/>
                    <p:nvPr/>
                  </p:nvSpPr>
                  <p:spPr>
                    <a:xfrm>
                      <a:off x="8338333" y="3971052"/>
                      <a:ext cx="45719" cy="488667"/>
                    </a:xfrm>
                    <a:prstGeom prst="rect">
                      <a:avLst/>
                    </a:prstGeom>
                    <a:solidFill>
                      <a:schemeClr val="accent1">
                        <a:lumMod val="75000"/>
                        <a:alpha val="50000"/>
                      </a:scheme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96" name="矩形 95">
                      <a:extLst>
                        <a:ext uri="{FF2B5EF4-FFF2-40B4-BE49-F238E27FC236}">
                          <a16:creationId xmlns:a16="http://schemas.microsoft.com/office/drawing/2014/main" id="{3627198C-B9F4-86CA-26BE-9A49D5CB52B3}"/>
                        </a:ext>
                      </a:extLst>
                    </p:cNvPr>
                    <p:cNvSpPr/>
                    <p:nvPr/>
                  </p:nvSpPr>
                  <p:spPr>
                    <a:xfrm>
                      <a:off x="8484752" y="3973176"/>
                      <a:ext cx="45719" cy="488667"/>
                    </a:xfrm>
                    <a:prstGeom prst="rect">
                      <a:avLst/>
                    </a:prstGeom>
                    <a:solidFill>
                      <a:srgbClr val="0070C0">
                        <a:alpha val="50000"/>
                      </a:srgb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97" name="矩形 96">
                      <a:extLst>
                        <a:ext uri="{FF2B5EF4-FFF2-40B4-BE49-F238E27FC236}">
                          <a16:creationId xmlns:a16="http://schemas.microsoft.com/office/drawing/2014/main" id="{6AD87027-B945-8148-C71B-92BF3F1687C8}"/>
                        </a:ext>
                      </a:extLst>
                    </p:cNvPr>
                    <p:cNvSpPr/>
                    <p:nvPr/>
                  </p:nvSpPr>
                  <p:spPr>
                    <a:xfrm>
                      <a:off x="8434269" y="3971052"/>
                      <a:ext cx="45719" cy="488667"/>
                    </a:xfrm>
                    <a:prstGeom prst="rect">
                      <a:avLst/>
                    </a:prstGeom>
                    <a:solidFill>
                      <a:schemeClr val="accent1">
                        <a:lumMod val="75000"/>
                        <a:alpha val="50000"/>
                      </a:scheme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98" name="矩形 97">
                      <a:extLst>
                        <a:ext uri="{FF2B5EF4-FFF2-40B4-BE49-F238E27FC236}">
                          <a16:creationId xmlns:a16="http://schemas.microsoft.com/office/drawing/2014/main" id="{D2B37D69-21D2-8EC9-F0CA-75BF5A67E023}"/>
                        </a:ext>
                      </a:extLst>
                    </p:cNvPr>
                    <p:cNvSpPr/>
                    <p:nvPr/>
                  </p:nvSpPr>
                  <p:spPr>
                    <a:xfrm>
                      <a:off x="8585954" y="3971052"/>
                      <a:ext cx="45719" cy="488667"/>
                    </a:xfrm>
                    <a:prstGeom prst="rect">
                      <a:avLst/>
                    </a:prstGeom>
                    <a:solidFill>
                      <a:srgbClr val="0070C0">
                        <a:alpha val="50000"/>
                      </a:srgb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99" name="矩形 98">
                      <a:extLst>
                        <a:ext uri="{FF2B5EF4-FFF2-40B4-BE49-F238E27FC236}">
                          <a16:creationId xmlns:a16="http://schemas.microsoft.com/office/drawing/2014/main" id="{D88BB073-0558-4517-8176-485E5847D833}"/>
                        </a:ext>
                      </a:extLst>
                    </p:cNvPr>
                    <p:cNvSpPr/>
                    <p:nvPr/>
                  </p:nvSpPr>
                  <p:spPr>
                    <a:xfrm>
                      <a:off x="8534754" y="3971450"/>
                      <a:ext cx="45719" cy="488667"/>
                    </a:xfrm>
                    <a:prstGeom prst="rect">
                      <a:avLst/>
                    </a:prstGeom>
                    <a:solidFill>
                      <a:schemeClr val="accent1">
                        <a:lumMod val="75000"/>
                        <a:alpha val="50000"/>
                      </a:scheme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00" name="矩形 99">
                      <a:extLst>
                        <a:ext uri="{FF2B5EF4-FFF2-40B4-BE49-F238E27FC236}">
                          <a16:creationId xmlns:a16="http://schemas.microsoft.com/office/drawing/2014/main" id="{B684FFF5-5071-FACA-8729-81149AD84EB5}"/>
                        </a:ext>
                      </a:extLst>
                    </p:cNvPr>
                    <p:cNvSpPr/>
                    <p:nvPr/>
                  </p:nvSpPr>
                  <p:spPr>
                    <a:xfrm>
                      <a:off x="8683870" y="3971052"/>
                      <a:ext cx="45719" cy="488667"/>
                    </a:xfrm>
                    <a:prstGeom prst="rect">
                      <a:avLst/>
                    </a:prstGeom>
                    <a:solidFill>
                      <a:srgbClr val="0070C0">
                        <a:alpha val="50000"/>
                      </a:srgb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01" name="矩形 100">
                      <a:extLst>
                        <a:ext uri="{FF2B5EF4-FFF2-40B4-BE49-F238E27FC236}">
                          <a16:creationId xmlns:a16="http://schemas.microsoft.com/office/drawing/2014/main" id="{00D4A527-44F0-DADE-9328-B30488D37321}"/>
                        </a:ext>
                      </a:extLst>
                    </p:cNvPr>
                    <p:cNvSpPr/>
                    <p:nvPr/>
                  </p:nvSpPr>
                  <p:spPr>
                    <a:xfrm>
                      <a:off x="8632706" y="3971052"/>
                      <a:ext cx="45719" cy="488667"/>
                    </a:xfrm>
                    <a:prstGeom prst="rect">
                      <a:avLst/>
                    </a:prstGeom>
                    <a:solidFill>
                      <a:schemeClr val="accent1">
                        <a:lumMod val="75000"/>
                        <a:alpha val="50000"/>
                      </a:scheme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grpSp>
              <p:nvGrpSpPr>
                <p:cNvPr id="81" name="群組 80">
                  <a:extLst>
                    <a:ext uri="{FF2B5EF4-FFF2-40B4-BE49-F238E27FC236}">
                      <a16:creationId xmlns:a16="http://schemas.microsoft.com/office/drawing/2014/main" id="{8154C5D5-A596-F37F-82F6-3686C796B43A}"/>
                    </a:ext>
                  </a:extLst>
                </p:cNvPr>
                <p:cNvGrpSpPr/>
                <p:nvPr/>
              </p:nvGrpSpPr>
              <p:grpSpPr>
                <a:xfrm>
                  <a:off x="7057363" y="2492972"/>
                  <a:ext cx="1217678" cy="281065"/>
                  <a:chOff x="7008252" y="1816146"/>
                  <a:chExt cx="1757513" cy="340956"/>
                </a:xfrm>
              </p:grpSpPr>
              <p:sp>
                <p:nvSpPr>
                  <p:cNvPr id="88" name="矩形 87">
                    <a:extLst>
                      <a:ext uri="{FF2B5EF4-FFF2-40B4-BE49-F238E27FC236}">
                        <a16:creationId xmlns:a16="http://schemas.microsoft.com/office/drawing/2014/main" id="{A47E88B7-E24A-9B5D-9C1C-C7C18F0A1B9A}"/>
                      </a:ext>
                    </a:extLst>
                  </p:cNvPr>
                  <p:cNvSpPr/>
                  <p:nvPr/>
                </p:nvSpPr>
                <p:spPr>
                  <a:xfrm>
                    <a:off x="7008252" y="2033053"/>
                    <a:ext cx="1742391" cy="9174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89" name="矩形 88">
                    <a:extLst>
                      <a:ext uri="{FF2B5EF4-FFF2-40B4-BE49-F238E27FC236}">
                        <a16:creationId xmlns:a16="http://schemas.microsoft.com/office/drawing/2014/main" id="{49E0FAA0-2D5A-1034-B620-613F715775C2}"/>
                      </a:ext>
                    </a:extLst>
                  </p:cNvPr>
                  <p:cNvSpPr/>
                  <p:nvPr/>
                </p:nvSpPr>
                <p:spPr>
                  <a:xfrm>
                    <a:off x="7019560" y="1816146"/>
                    <a:ext cx="1742389" cy="9174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90" name="矩形 89">
                    <a:extLst>
                      <a:ext uri="{FF2B5EF4-FFF2-40B4-BE49-F238E27FC236}">
                        <a16:creationId xmlns:a16="http://schemas.microsoft.com/office/drawing/2014/main" id="{F2815959-F5ED-7EDF-6F2C-FA4265D00235}"/>
                      </a:ext>
                    </a:extLst>
                  </p:cNvPr>
                  <p:cNvSpPr/>
                  <p:nvPr/>
                </p:nvSpPr>
                <p:spPr>
                  <a:xfrm>
                    <a:off x="7023375" y="2065355"/>
                    <a:ext cx="1742390" cy="91747"/>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grpSp>
            <p:grpSp>
              <p:nvGrpSpPr>
                <p:cNvPr id="82" name="群組 81">
                  <a:extLst>
                    <a:ext uri="{FF2B5EF4-FFF2-40B4-BE49-F238E27FC236}">
                      <a16:creationId xmlns:a16="http://schemas.microsoft.com/office/drawing/2014/main" id="{13554436-6083-1451-D432-21F151B933AE}"/>
                    </a:ext>
                  </a:extLst>
                </p:cNvPr>
                <p:cNvGrpSpPr/>
                <p:nvPr/>
              </p:nvGrpSpPr>
              <p:grpSpPr>
                <a:xfrm>
                  <a:off x="9532915" y="2459418"/>
                  <a:ext cx="769785" cy="338501"/>
                  <a:chOff x="7929255" y="881026"/>
                  <a:chExt cx="1755807" cy="565256"/>
                </a:xfrm>
              </p:grpSpPr>
              <p:sp>
                <p:nvSpPr>
                  <p:cNvPr id="83" name="矩形 82">
                    <a:extLst>
                      <a:ext uri="{FF2B5EF4-FFF2-40B4-BE49-F238E27FC236}">
                        <a16:creationId xmlns:a16="http://schemas.microsoft.com/office/drawing/2014/main" id="{29A4986B-7292-5753-F70B-FA419CF93898}"/>
                      </a:ext>
                    </a:extLst>
                  </p:cNvPr>
                  <p:cNvSpPr/>
                  <p:nvPr/>
                </p:nvSpPr>
                <p:spPr>
                  <a:xfrm>
                    <a:off x="7929255" y="1316069"/>
                    <a:ext cx="1742391" cy="9174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84" name="矩形 83">
                    <a:extLst>
                      <a:ext uri="{FF2B5EF4-FFF2-40B4-BE49-F238E27FC236}">
                        <a16:creationId xmlns:a16="http://schemas.microsoft.com/office/drawing/2014/main" id="{94E0AC04-7EE9-307A-6FBA-9A35586AAFA3}"/>
                      </a:ext>
                    </a:extLst>
                  </p:cNvPr>
                  <p:cNvSpPr/>
                  <p:nvPr/>
                </p:nvSpPr>
                <p:spPr>
                  <a:xfrm>
                    <a:off x="7940562" y="1099162"/>
                    <a:ext cx="1742391" cy="9174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85" name="矩形 84">
                    <a:extLst>
                      <a:ext uri="{FF2B5EF4-FFF2-40B4-BE49-F238E27FC236}">
                        <a16:creationId xmlns:a16="http://schemas.microsoft.com/office/drawing/2014/main" id="{31C999A6-036E-055B-C705-D8932D7C1502}"/>
                      </a:ext>
                    </a:extLst>
                  </p:cNvPr>
                  <p:cNvSpPr/>
                  <p:nvPr/>
                </p:nvSpPr>
                <p:spPr>
                  <a:xfrm>
                    <a:off x="7940562" y="881026"/>
                    <a:ext cx="1742391" cy="9174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86" name="矩形 85">
                    <a:extLst>
                      <a:ext uri="{FF2B5EF4-FFF2-40B4-BE49-F238E27FC236}">
                        <a16:creationId xmlns:a16="http://schemas.microsoft.com/office/drawing/2014/main" id="{3EA1ED85-83E3-6859-B9CB-A5A9197D1D6E}"/>
                      </a:ext>
                    </a:extLst>
                  </p:cNvPr>
                  <p:cNvSpPr/>
                  <p:nvPr/>
                </p:nvSpPr>
                <p:spPr>
                  <a:xfrm>
                    <a:off x="7942669" y="1083030"/>
                    <a:ext cx="1742393" cy="9174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87" name="矩形 86">
                    <a:extLst>
                      <a:ext uri="{FF2B5EF4-FFF2-40B4-BE49-F238E27FC236}">
                        <a16:creationId xmlns:a16="http://schemas.microsoft.com/office/drawing/2014/main" id="{2A7B4D05-4CA5-F4CC-A9B9-77CE3EF5D59D}"/>
                      </a:ext>
                    </a:extLst>
                  </p:cNvPr>
                  <p:cNvSpPr/>
                  <p:nvPr/>
                </p:nvSpPr>
                <p:spPr>
                  <a:xfrm>
                    <a:off x="7936241" y="1354534"/>
                    <a:ext cx="1742393" cy="9174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sp>
            <p:nvSpPr>
              <p:cNvPr id="78" name="文字方塊 77">
                <a:extLst>
                  <a:ext uri="{FF2B5EF4-FFF2-40B4-BE49-F238E27FC236}">
                    <a16:creationId xmlns:a16="http://schemas.microsoft.com/office/drawing/2014/main" id="{5F29162C-4F89-4EA6-6B51-2D8F8BFEBBF2}"/>
                  </a:ext>
                </a:extLst>
              </p:cNvPr>
              <p:cNvSpPr txBox="1"/>
              <p:nvPr/>
            </p:nvSpPr>
            <p:spPr>
              <a:xfrm>
                <a:off x="6758509" y="2540504"/>
                <a:ext cx="1051522" cy="62043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Chip</a:t>
                </a:r>
                <a:endParaRPr kumimoji="0" lang="zh-TW" altLang="en-US" sz="11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grpSp>
      <p:sp>
        <p:nvSpPr>
          <p:cNvPr id="43" name="文字方塊 42">
            <a:extLst>
              <a:ext uri="{FF2B5EF4-FFF2-40B4-BE49-F238E27FC236}">
                <a16:creationId xmlns:a16="http://schemas.microsoft.com/office/drawing/2014/main" id="{EC6C0DE5-E060-A84C-0A23-8C09275C5C66}"/>
              </a:ext>
            </a:extLst>
          </p:cNvPr>
          <p:cNvSpPr txBox="1"/>
          <p:nvPr/>
        </p:nvSpPr>
        <p:spPr>
          <a:xfrm>
            <a:off x="3145905" y="3666353"/>
            <a:ext cx="90120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Object lens</a:t>
            </a:r>
            <a:endParaRPr kumimoji="0" lang="zh-TW" altLang="en-US"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4" name="文字方塊 43">
            <a:extLst>
              <a:ext uri="{FF2B5EF4-FFF2-40B4-BE49-F238E27FC236}">
                <a16:creationId xmlns:a16="http://schemas.microsoft.com/office/drawing/2014/main" id="{70624B2B-C383-DFC3-6554-C4DACC33578E}"/>
              </a:ext>
            </a:extLst>
          </p:cNvPr>
          <p:cNvSpPr txBox="1"/>
          <p:nvPr/>
        </p:nvSpPr>
        <p:spPr>
          <a:xfrm>
            <a:off x="593508" y="3968388"/>
            <a:ext cx="2707921"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Chip oven(with temperature controller)</a:t>
            </a:r>
            <a:endParaRPr kumimoji="0" lang="zh-TW" altLang="en-US"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5" name="文字方塊 44">
            <a:extLst>
              <a:ext uri="{FF2B5EF4-FFF2-40B4-BE49-F238E27FC236}">
                <a16:creationId xmlns:a16="http://schemas.microsoft.com/office/drawing/2014/main" id="{E75CCA8B-F467-B47D-3CAE-A4F9DD98AFFB}"/>
              </a:ext>
            </a:extLst>
          </p:cNvPr>
          <p:cNvSpPr txBox="1"/>
          <p:nvPr/>
        </p:nvSpPr>
        <p:spPr>
          <a:xfrm>
            <a:off x="3993233" y="1426811"/>
            <a:ext cx="1865960"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Polarization controller(PC)</a:t>
            </a:r>
            <a:endParaRPr kumimoji="0" lang="zh-TW" altLang="en-US"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6" name="文字方塊 45">
            <a:extLst>
              <a:ext uri="{FF2B5EF4-FFF2-40B4-BE49-F238E27FC236}">
                <a16:creationId xmlns:a16="http://schemas.microsoft.com/office/drawing/2014/main" id="{0E990224-A113-92F8-0536-4EA0730435D7}"/>
              </a:ext>
            </a:extLst>
          </p:cNvPr>
          <p:cNvSpPr txBox="1"/>
          <p:nvPr/>
        </p:nvSpPr>
        <p:spPr>
          <a:xfrm>
            <a:off x="288405" y="1368615"/>
            <a:ext cx="2080249"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FPV785S Laser diode (785nm)</a:t>
            </a:r>
            <a:endParaRPr kumimoji="0" lang="zh-TW" altLang="en-US"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47" name="直線接點 46">
            <a:extLst>
              <a:ext uri="{FF2B5EF4-FFF2-40B4-BE49-F238E27FC236}">
                <a16:creationId xmlns:a16="http://schemas.microsoft.com/office/drawing/2014/main" id="{1A67C561-7D54-A959-47DC-50EC8B0D483E}"/>
              </a:ext>
            </a:extLst>
          </p:cNvPr>
          <p:cNvCxnSpPr>
            <a:cxnSpLocks/>
          </p:cNvCxnSpPr>
          <p:nvPr/>
        </p:nvCxnSpPr>
        <p:spPr>
          <a:xfrm>
            <a:off x="6810947" y="3955223"/>
            <a:ext cx="1047623"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48" name="直線接點 47">
            <a:extLst>
              <a:ext uri="{FF2B5EF4-FFF2-40B4-BE49-F238E27FC236}">
                <a16:creationId xmlns:a16="http://schemas.microsoft.com/office/drawing/2014/main" id="{2FBA7919-DE6F-B000-EE42-FA4B8C928853}"/>
              </a:ext>
            </a:extLst>
          </p:cNvPr>
          <p:cNvCxnSpPr>
            <a:cxnSpLocks/>
          </p:cNvCxnSpPr>
          <p:nvPr/>
        </p:nvCxnSpPr>
        <p:spPr>
          <a:xfrm>
            <a:off x="2577928" y="2120333"/>
            <a:ext cx="2177744"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49" name="直線接點 48">
            <a:extLst>
              <a:ext uri="{FF2B5EF4-FFF2-40B4-BE49-F238E27FC236}">
                <a16:creationId xmlns:a16="http://schemas.microsoft.com/office/drawing/2014/main" id="{CAAAFE32-7C79-9896-8A49-39AAFA24FE38}"/>
              </a:ext>
            </a:extLst>
          </p:cNvPr>
          <p:cNvCxnSpPr>
            <a:cxnSpLocks/>
          </p:cNvCxnSpPr>
          <p:nvPr/>
        </p:nvCxnSpPr>
        <p:spPr>
          <a:xfrm flipH="1">
            <a:off x="6792202" y="3368051"/>
            <a:ext cx="1394" cy="671584"/>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50" name="矩形 49">
            <a:extLst>
              <a:ext uri="{FF2B5EF4-FFF2-40B4-BE49-F238E27FC236}">
                <a16:creationId xmlns:a16="http://schemas.microsoft.com/office/drawing/2014/main" id="{75A1D831-A105-19C8-66DC-95C8D88CD75C}"/>
              </a:ext>
            </a:extLst>
          </p:cNvPr>
          <p:cNvSpPr/>
          <p:nvPr/>
        </p:nvSpPr>
        <p:spPr>
          <a:xfrm>
            <a:off x="4510692" y="3053788"/>
            <a:ext cx="134943" cy="683014"/>
          </a:xfrm>
          <a:prstGeom prst="rect">
            <a:avLst/>
          </a:prstGeom>
          <a:solidFill>
            <a:srgbClr val="052F61"/>
          </a:solidFill>
          <a:ln w="15875" cap="rnd" cmpd="sng" algn="ctr">
            <a:solidFill>
              <a:srgbClr val="052F61">
                <a:shade val="50000"/>
                <a:hueMod val="94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entury Gothic" panose="020B0502020202020204"/>
              <a:ea typeface="微軟正黑體" panose="020B0604030504040204" pitchFamily="34" charset="-120"/>
              <a:cs typeface="+mn-cs"/>
            </a:endParaRPr>
          </a:p>
        </p:txBody>
      </p:sp>
      <p:sp>
        <p:nvSpPr>
          <p:cNvPr id="51" name="文字方塊 50">
            <a:extLst>
              <a:ext uri="{FF2B5EF4-FFF2-40B4-BE49-F238E27FC236}">
                <a16:creationId xmlns:a16="http://schemas.microsoft.com/office/drawing/2014/main" id="{FF69835D-069F-93CC-C9C1-0B97A5CF8A3D}"/>
              </a:ext>
            </a:extLst>
          </p:cNvPr>
          <p:cNvSpPr txBox="1"/>
          <p:nvPr/>
        </p:nvSpPr>
        <p:spPr>
          <a:xfrm>
            <a:off x="3772872" y="2694375"/>
            <a:ext cx="1722504" cy="275874"/>
          </a:xfrm>
          <a:prstGeom prst="rect">
            <a:avLst/>
          </a:prstGeom>
          <a:noFill/>
        </p:spPr>
        <p:txBody>
          <a:bodyPr wrap="square" rtlCol="0">
            <a:spAutoFit/>
          </a:bodyPr>
          <a:lstStyle/>
          <a:p>
            <a:r>
              <a:rPr lang="en-US" altLang="zh-TW" sz="1200" b="1" dirty="0">
                <a:solidFill>
                  <a:prstClr val="black"/>
                </a:solidFill>
                <a:latin typeface="Century Gothic" panose="020B0502020202020204"/>
                <a:ea typeface="微軟正黑體" panose="020B0604030504040204" pitchFamily="34" charset="-120"/>
              </a:rPr>
              <a:t>785nm</a:t>
            </a:r>
            <a:r>
              <a:rPr lang="zh-TW" altLang="en-US" sz="1200" b="1" dirty="0">
                <a:solidFill>
                  <a:prstClr val="black"/>
                </a:solidFill>
                <a:latin typeface="Century Gothic" panose="020B0502020202020204"/>
                <a:ea typeface="微軟正黑體" panose="020B0604030504040204" pitchFamily="34" charset="-120"/>
              </a:rPr>
              <a:t> </a:t>
            </a:r>
            <a:r>
              <a:rPr lang="en-US" altLang="zh-TW" sz="1200" b="1" dirty="0">
                <a:solidFill>
                  <a:prstClr val="black"/>
                </a:solidFill>
                <a:latin typeface="Century Gothic" panose="020B0502020202020204"/>
                <a:ea typeface="微軟正黑體" panose="020B0604030504040204" pitchFamily="34" charset="-120"/>
              </a:rPr>
              <a:t>pump filter</a:t>
            </a:r>
            <a:endParaRPr lang="zh-TW" altLang="en-US" sz="1200" b="1" dirty="0">
              <a:solidFill>
                <a:prstClr val="black"/>
              </a:solidFill>
              <a:latin typeface="Century Gothic" panose="020B0502020202020204"/>
              <a:ea typeface="微軟正黑體" panose="020B0604030504040204" pitchFamily="34" charset="-120"/>
            </a:endParaRPr>
          </a:p>
        </p:txBody>
      </p:sp>
      <p:cxnSp>
        <p:nvCxnSpPr>
          <p:cNvPr id="52" name="直線接點 51">
            <a:extLst>
              <a:ext uri="{FF2B5EF4-FFF2-40B4-BE49-F238E27FC236}">
                <a16:creationId xmlns:a16="http://schemas.microsoft.com/office/drawing/2014/main" id="{7AA6620D-DDE7-743E-0C7B-83FECF3797EE}"/>
              </a:ext>
            </a:extLst>
          </p:cNvPr>
          <p:cNvCxnSpPr>
            <a:cxnSpLocks/>
          </p:cNvCxnSpPr>
          <p:nvPr/>
        </p:nvCxnSpPr>
        <p:spPr>
          <a:xfrm flipV="1">
            <a:off x="4644741" y="3368042"/>
            <a:ext cx="2164756" cy="10551"/>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53" name="群組 52">
            <a:extLst>
              <a:ext uri="{FF2B5EF4-FFF2-40B4-BE49-F238E27FC236}">
                <a16:creationId xmlns:a16="http://schemas.microsoft.com/office/drawing/2014/main" id="{5009550B-98B8-84BE-F8E0-E33BE15CAD51}"/>
              </a:ext>
            </a:extLst>
          </p:cNvPr>
          <p:cNvGrpSpPr/>
          <p:nvPr/>
        </p:nvGrpSpPr>
        <p:grpSpPr>
          <a:xfrm>
            <a:off x="5274043" y="3111371"/>
            <a:ext cx="603953" cy="579893"/>
            <a:chOff x="5993909" y="4737832"/>
            <a:chExt cx="642539" cy="776345"/>
          </a:xfrm>
        </p:grpSpPr>
        <p:sp>
          <p:nvSpPr>
            <p:cNvPr id="72" name="矩形 71">
              <a:extLst>
                <a:ext uri="{FF2B5EF4-FFF2-40B4-BE49-F238E27FC236}">
                  <a16:creationId xmlns:a16="http://schemas.microsoft.com/office/drawing/2014/main" id="{826C4016-EA66-7BDA-CF7F-999532B8F0DE}"/>
                </a:ext>
              </a:extLst>
            </p:cNvPr>
            <p:cNvSpPr/>
            <p:nvPr/>
          </p:nvSpPr>
          <p:spPr>
            <a:xfrm>
              <a:off x="6001357" y="4745209"/>
              <a:ext cx="635091" cy="74361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73" name="直線接點 72">
              <a:extLst>
                <a:ext uri="{FF2B5EF4-FFF2-40B4-BE49-F238E27FC236}">
                  <a16:creationId xmlns:a16="http://schemas.microsoft.com/office/drawing/2014/main" id="{3251169E-A074-5C01-8C97-9C558A04994C}"/>
                </a:ext>
              </a:extLst>
            </p:cNvPr>
            <p:cNvCxnSpPr>
              <a:cxnSpLocks/>
            </p:cNvCxnSpPr>
            <p:nvPr/>
          </p:nvCxnSpPr>
          <p:spPr>
            <a:xfrm>
              <a:off x="5993909" y="4737832"/>
              <a:ext cx="642538" cy="77634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4" name="矩形 53">
            <a:extLst>
              <a:ext uri="{FF2B5EF4-FFF2-40B4-BE49-F238E27FC236}">
                <a16:creationId xmlns:a16="http://schemas.microsoft.com/office/drawing/2014/main" id="{D1309988-67B8-76CF-B699-58EB90F27215}"/>
              </a:ext>
            </a:extLst>
          </p:cNvPr>
          <p:cNvSpPr/>
          <p:nvPr/>
        </p:nvSpPr>
        <p:spPr>
          <a:xfrm rot="2759155">
            <a:off x="6510020" y="3266430"/>
            <a:ext cx="735395" cy="126785"/>
          </a:xfrm>
          <a:prstGeom prst="rect">
            <a:avLst/>
          </a:prstGeom>
          <a:solidFill>
            <a:sysClr val="window" lastClr="FFFFFF">
              <a:lumMod val="65000"/>
            </a:sysClr>
          </a:solidFill>
          <a:ln w="28575" cap="rnd" cmpd="sng" algn="ctr">
            <a:solidFill>
              <a:srgbClr val="052F61">
                <a:shade val="50000"/>
                <a:hueMod val="94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entury Gothic" panose="020B0502020202020204"/>
              <a:ea typeface="微軟正黑體" panose="020B0604030504040204" pitchFamily="34" charset="-120"/>
              <a:cs typeface="+mn-cs"/>
            </a:endParaRPr>
          </a:p>
        </p:txBody>
      </p:sp>
      <p:sp>
        <p:nvSpPr>
          <p:cNvPr id="55" name="矩形 54">
            <a:extLst>
              <a:ext uri="{FF2B5EF4-FFF2-40B4-BE49-F238E27FC236}">
                <a16:creationId xmlns:a16="http://schemas.microsoft.com/office/drawing/2014/main" id="{470802F9-587B-DD5D-E42D-6CB75212156B}"/>
              </a:ext>
            </a:extLst>
          </p:cNvPr>
          <p:cNvSpPr/>
          <p:nvPr/>
        </p:nvSpPr>
        <p:spPr>
          <a:xfrm rot="2759155">
            <a:off x="6424503" y="3987786"/>
            <a:ext cx="735395" cy="126785"/>
          </a:xfrm>
          <a:prstGeom prst="rect">
            <a:avLst/>
          </a:prstGeom>
          <a:solidFill>
            <a:sysClr val="window" lastClr="FFFFFF">
              <a:lumMod val="65000"/>
            </a:sysClr>
          </a:solidFill>
          <a:ln w="28575" cap="rnd" cmpd="sng" algn="ctr">
            <a:solidFill>
              <a:srgbClr val="052F61">
                <a:shade val="50000"/>
                <a:hueMod val="94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entury Gothic" panose="020B0502020202020204"/>
              <a:ea typeface="微軟正黑體" panose="020B0604030504040204" pitchFamily="34" charset="-120"/>
              <a:cs typeface="+mn-cs"/>
            </a:endParaRPr>
          </a:p>
        </p:txBody>
      </p:sp>
      <p:sp>
        <p:nvSpPr>
          <p:cNvPr id="56" name="矩形 55">
            <a:extLst>
              <a:ext uri="{FF2B5EF4-FFF2-40B4-BE49-F238E27FC236}">
                <a16:creationId xmlns:a16="http://schemas.microsoft.com/office/drawing/2014/main" id="{437AF331-CD8E-4500-4E62-C7121C058EDA}"/>
              </a:ext>
            </a:extLst>
          </p:cNvPr>
          <p:cNvSpPr/>
          <p:nvPr/>
        </p:nvSpPr>
        <p:spPr>
          <a:xfrm rot="2759155">
            <a:off x="5190416" y="4418567"/>
            <a:ext cx="735395" cy="126785"/>
          </a:xfrm>
          <a:prstGeom prst="rect">
            <a:avLst/>
          </a:prstGeom>
          <a:solidFill>
            <a:sysClr val="window" lastClr="FFFFFF">
              <a:lumMod val="65000"/>
            </a:sysClr>
          </a:solidFill>
          <a:ln w="28575" cap="rnd" cmpd="sng" algn="ctr">
            <a:solidFill>
              <a:srgbClr val="052F61">
                <a:shade val="50000"/>
                <a:hueMod val="94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entury Gothic" panose="020B0502020202020204"/>
              <a:ea typeface="微軟正黑體" panose="020B0604030504040204" pitchFamily="34" charset="-120"/>
              <a:cs typeface="+mn-cs"/>
            </a:endParaRPr>
          </a:p>
        </p:txBody>
      </p:sp>
      <p:sp>
        <p:nvSpPr>
          <p:cNvPr id="57" name="矩形 56">
            <a:extLst>
              <a:ext uri="{FF2B5EF4-FFF2-40B4-BE49-F238E27FC236}">
                <a16:creationId xmlns:a16="http://schemas.microsoft.com/office/drawing/2014/main" id="{15BE44C3-6278-B27B-733D-E3A910D636EB}"/>
              </a:ext>
            </a:extLst>
          </p:cNvPr>
          <p:cNvSpPr/>
          <p:nvPr/>
        </p:nvSpPr>
        <p:spPr>
          <a:xfrm rot="2759155">
            <a:off x="6123032" y="4337736"/>
            <a:ext cx="735395" cy="126785"/>
          </a:xfrm>
          <a:prstGeom prst="rect">
            <a:avLst/>
          </a:prstGeom>
          <a:solidFill>
            <a:sysClr val="window" lastClr="FFFFFF">
              <a:lumMod val="65000"/>
            </a:sysClr>
          </a:solidFill>
          <a:ln w="28575" cap="rnd" cmpd="sng" algn="ctr">
            <a:solidFill>
              <a:srgbClr val="052F61">
                <a:shade val="50000"/>
                <a:hueMod val="94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entury Gothic" panose="020B0502020202020204"/>
              <a:ea typeface="微軟正黑體" panose="020B0604030504040204" pitchFamily="34" charset="-120"/>
              <a:cs typeface="+mn-cs"/>
            </a:endParaRPr>
          </a:p>
        </p:txBody>
      </p:sp>
      <p:cxnSp>
        <p:nvCxnSpPr>
          <p:cNvPr id="58" name="直線接點 57">
            <a:extLst>
              <a:ext uri="{FF2B5EF4-FFF2-40B4-BE49-F238E27FC236}">
                <a16:creationId xmlns:a16="http://schemas.microsoft.com/office/drawing/2014/main" id="{D4BFC305-A3F4-FD00-FB15-AD1D42880695}"/>
              </a:ext>
            </a:extLst>
          </p:cNvPr>
          <p:cNvCxnSpPr>
            <a:cxnSpLocks/>
          </p:cNvCxnSpPr>
          <p:nvPr/>
        </p:nvCxnSpPr>
        <p:spPr>
          <a:xfrm flipH="1">
            <a:off x="6343661" y="4383542"/>
            <a:ext cx="1394" cy="671584"/>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59" name="群組 58">
            <a:extLst>
              <a:ext uri="{FF2B5EF4-FFF2-40B4-BE49-F238E27FC236}">
                <a16:creationId xmlns:a16="http://schemas.microsoft.com/office/drawing/2014/main" id="{9143D1BB-DC0A-0430-A6F2-EF6833B84F59}"/>
              </a:ext>
            </a:extLst>
          </p:cNvPr>
          <p:cNvGrpSpPr/>
          <p:nvPr/>
        </p:nvGrpSpPr>
        <p:grpSpPr>
          <a:xfrm>
            <a:off x="7858570" y="3773047"/>
            <a:ext cx="178852" cy="364352"/>
            <a:chOff x="9773066" y="4641940"/>
            <a:chExt cx="190279" cy="487784"/>
          </a:xfrm>
        </p:grpSpPr>
        <p:sp>
          <p:nvSpPr>
            <p:cNvPr id="70" name="矩形: 剪去同側角落 69">
              <a:extLst>
                <a:ext uri="{FF2B5EF4-FFF2-40B4-BE49-F238E27FC236}">
                  <a16:creationId xmlns:a16="http://schemas.microsoft.com/office/drawing/2014/main" id="{AE7503DF-D0FB-7E5F-8E54-088595C13888}"/>
                </a:ext>
              </a:extLst>
            </p:cNvPr>
            <p:cNvSpPr/>
            <p:nvPr/>
          </p:nvSpPr>
          <p:spPr>
            <a:xfrm rot="5400000">
              <a:off x="9740140" y="4812505"/>
              <a:ext cx="261457" cy="184953"/>
            </a:xfrm>
            <a:prstGeom prst="snip2SameRect">
              <a:avLst/>
            </a:prstGeom>
            <a:solidFill>
              <a:srgbClr val="052F61"/>
            </a:solidFill>
            <a:ln w="15875" cap="rnd" cmpd="sng" algn="ctr">
              <a:solidFill>
                <a:srgbClr val="052F61">
                  <a:shade val="50000"/>
                  <a:hueMod val="94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entury Gothic" panose="020B0502020202020204"/>
                <a:ea typeface="微軟正黑體" panose="020B0604030504040204" pitchFamily="34" charset="-120"/>
                <a:cs typeface="+mn-cs"/>
              </a:endParaRPr>
            </a:p>
          </p:txBody>
        </p:sp>
        <p:sp>
          <p:nvSpPr>
            <p:cNvPr id="71" name="矩形 70">
              <a:extLst>
                <a:ext uri="{FF2B5EF4-FFF2-40B4-BE49-F238E27FC236}">
                  <a16:creationId xmlns:a16="http://schemas.microsoft.com/office/drawing/2014/main" id="{CDDE3C8B-A9F3-9B9D-9EE3-4F367830541E}"/>
                </a:ext>
              </a:extLst>
            </p:cNvPr>
            <p:cNvSpPr/>
            <p:nvPr/>
          </p:nvSpPr>
          <p:spPr>
            <a:xfrm>
              <a:off x="9773066" y="4641940"/>
              <a:ext cx="45719" cy="487784"/>
            </a:xfrm>
            <a:prstGeom prst="rect">
              <a:avLst/>
            </a:prstGeom>
            <a:solidFill>
              <a:srgbClr val="052F61"/>
            </a:solidFill>
            <a:ln w="15875" cap="rnd" cmpd="sng" algn="ctr">
              <a:solidFill>
                <a:srgbClr val="052F61">
                  <a:shade val="50000"/>
                  <a:hueMod val="94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entury Gothic" panose="020B0502020202020204"/>
                <a:ea typeface="微軟正黑體" panose="020B0604030504040204" pitchFamily="34" charset="-120"/>
                <a:cs typeface="+mn-cs"/>
              </a:endParaRPr>
            </a:p>
          </p:txBody>
        </p:sp>
      </p:grpSp>
      <p:grpSp>
        <p:nvGrpSpPr>
          <p:cNvPr id="60" name="群組 59">
            <a:extLst>
              <a:ext uri="{FF2B5EF4-FFF2-40B4-BE49-F238E27FC236}">
                <a16:creationId xmlns:a16="http://schemas.microsoft.com/office/drawing/2014/main" id="{EF906299-F439-E82A-F732-769306F8AD43}"/>
              </a:ext>
            </a:extLst>
          </p:cNvPr>
          <p:cNvGrpSpPr/>
          <p:nvPr/>
        </p:nvGrpSpPr>
        <p:grpSpPr>
          <a:xfrm rot="5400000">
            <a:off x="6275462" y="4898770"/>
            <a:ext cx="142129" cy="458491"/>
            <a:chOff x="9773066" y="4662960"/>
            <a:chExt cx="190279" cy="487784"/>
          </a:xfrm>
        </p:grpSpPr>
        <p:sp>
          <p:nvSpPr>
            <p:cNvPr id="68" name="矩形: 剪去同側角落 67">
              <a:extLst>
                <a:ext uri="{FF2B5EF4-FFF2-40B4-BE49-F238E27FC236}">
                  <a16:creationId xmlns:a16="http://schemas.microsoft.com/office/drawing/2014/main" id="{111C0DF0-D733-12B1-3367-1969222B4FFA}"/>
                </a:ext>
              </a:extLst>
            </p:cNvPr>
            <p:cNvSpPr/>
            <p:nvPr/>
          </p:nvSpPr>
          <p:spPr>
            <a:xfrm rot="5400000">
              <a:off x="9740140" y="4812505"/>
              <a:ext cx="261457" cy="184953"/>
            </a:xfrm>
            <a:prstGeom prst="snip2SameRect">
              <a:avLst/>
            </a:prstGeom>
            <a:solidFill>
              <a:srgbClr val="052F61"/>
            </a:solidFill>
            <a:ln w="15875" cap="rnd" cmpd="sng" algn="ctr">
              <a:solidFill>
                <a:srgbClr val="052F61">
                  <a:shade val="50000"/>
                  <a:hueMod val="94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entury Gothic" panose="020B0502020202020204"/>
                <a:ea typeface="微軟正黑體" panose="020B0604030504040204" pitchFamily="34" charset="-120"/>
                <a:cs typeface="+mn-cs"/>
              </a:endParaRPr>
            </a:p>
          </p:txBody>
        </p:sp>
        <p:sp>
          <p:nvSpPr>
            <p:cNvPr id="69" name="矩形 68">
              <a:extLst>
                <a:ext uri="{FF2B5EF4-FFF2-40B4-BE49-F238E27FC236}">
                  <a16:creationId xmlns:a16="http://schemas.microsoft.com/office/drawing/2014/main" id="{6B617361-6198-4E05-5977-1A98EDCDE624}"/>
                </a:ext>
              </a:extLst>
            </p:cNvPr>
            <p:cNvSpPr/>
            <p:nvPr/>
          </p:nvSpPr>
          <p:spPr>
            <a:xfrm>
              <a:off x="9773066" y="4662960"/>
              <a:ext cx="45719" cy="487784"/>
            </a:xfrm>
            <a:prstGeom prst="rect">
              <a:avLst/>
            </a:prstGeom>
            <a:solidFill>
              <a:srgbClr val="052F61"/>
            </a:solidFill>
            <a:ln w="15875" cap="rnd" cmpd="sng" algn="ctr">
              <a:solidFill>
                <a:srgbClr val="052F61">
                  <a:shade val="50000"/>
                  <a:hueMod val="94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entury Gothic" panose="020B0502020202020204"/>
                <a:ea typeface="微軟正黑體" panose="020B0604030504040204" pitchFamily="34" charset="-120"/>
                <a:cs typeface="+mn-cs"/>
              </a:endParaRPr>
            </a:p>
          </p:txBody>
        </p:sp>
      </p:grpSp>
      <p:sp>
        <p:nvSpPr>
          <p:cNvPr id="61" name="文字方塊 60">
            <a:extLst>
              <a:ext uri="{FF2B5EF4-FFF2-40B4-BE49-F238E27FC236}">
                <a16:creationId xmlns:a16="http://schemas.microsoft.com/office/drawing/2014/main" id="{E70F618E-ADA0-C8B5-0686-1123BEAA1515}"/>
              </a:ext>
            </a:extLst>
          </p:cNvPr>
          <p:cNvSpPr txBox="1"/>
          <p:nvPr/>
        </p:nvSpPr>
        <p:spPr>
          <a:xfrm>
            <a:off x="8450977" y="6063302"/>
            <a:ext cx="343364"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BS</a:t>
            </a:r>
            <a:endParaRPr kumimoji="0" lang="zh-TW" altLang="en-US"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2" name="文字方塊 61">
            <a:extLst>
              <a:ext uri="{FF2B5EF4-FFF2-40B4-BE49-F238E27FC236}">
                <a16:creationId xmlns:a16="http://schemas.microsoft.com/office/drawing/2014/main" id="{9316D27D-ACBC-EA78-29CF-58C61B4885DF}"/>
              </a:ext>
            </a:extLst>
          </p:cNvPr>
          <p:cNvSpPr txBox="1"/>
          <p:nvPr/>
        </p:nvSpPr>
        <p:spPr>
          <a:xfrm>
            <a:off x="5358499" y="2713316"/>
            <a:ext cx="425116"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PBS</a:t>
            </a:r>
            <a:endParaRPr kumimoji="0" lang="zh-TW" altLang="en-US"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3" name="文字方塊 62">
            <a:extLst>
              <a:ext uri="{FF2B5EF4-FFF2-40B4-BE49-F238E27FC236}">
                <a16:creationId xmlns:a16="http://schemas.microsoft.com/office/drawing/2014/main" id="{1F56B66B-1ABC-320E-37BE-8B8AD6ABB1DD}"/>
              </a:ext>
            </a:extLst>
          </p:cNvPr>
          <p:cNvSpPr txBox="1"/>
          <p:nvPr/>
        </p:nvSpPr>
        <p:spPr>
          <a:xfrm>
            <a:off x="4800076" y="4453941"/>
            <a:ext cx="593176"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mirror</a:t>
            </a:r>
            <a:endParaRPr kumimoji="0" lang="zh-TW" altLang="en-US"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4" name="矩形 63">
            <a:extLst>
              <a:ext uri="{FF2B5EF4-FFF2-40B4-BE49-F238E27FC236}">
                <a16:creationId xmlns:a16="http://schemas.microsoft.com/office/drawing/2014/main" id="{92B126D6-154D-7F45-3A2F-B75A61D265E0}"/>
              </a:ext>
            </a:extLst>
          </p:cNvPr>
          <p:cNvSpPr/>
          <p:nvPr/>
        </p:nvSpPr>
        <p:spPr>
          <a:xfrm>
            <a:off x="7587257" y="3613716"/>
            <a:ext cx="134943" cy="683014"/>
          </a:xfrm>
          <a:prstGeom prst="rect">
            <a:avLst/>
          </a:prstGeom>
          <a:solidFill>
            <a:srgbClr val="052F61"/>
          </a:solidFill>
          <a:ln w="15875" cap="rnd" cmpd="sng" algn="ctr">
            <a:solidFill>
              <a:srgbClr val="052F61">
                <a:shade val="50000"/>
                <a:hueMod val="94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entury Gothic" panose="020B0502020202020204"/>
              <a:ea typeface="微軟正黑體" panose="020B0604030504040204" pitchFamily="34" charset="-120"/>
              <a:cs typeface="+mn-cs"/>
            </a:endParaRPr>
          </a:p>
        </p:txBody>
      </p:sp>
      <p:sp>
        <p:nvSpPr>
          <p:cNvPr id="65" name="矩形 64">
            <a:extLst>
              <a:ext uri="{FF2B5EF4-FFF2-40B4-BE49-F238E27FC236}">
                <a16:creationId xmlns:a16="http://schemas.microsoft.com/office/drawing/2014/main" id="{DC999478-FEDE-3FE2-2B13-2EBF5ED0B30A}"/>
              </a:ext>
            </a:extLst>
          </p:cNvPr>
          <p:cNvSpPr/>
          <p:nvPr/>
        </p:nvSpPr>
        <p:spPr>
          <a:xfrm rot="16200000">
            <a:off x="6275449" y="4537255"/>
            <a:ext cx="134943" cy="683014"/>
          </a:xfrm>
          <a:prstGeom prst="rect">
            <a:avLst/>
          </a:prstGeom>
          <a:solidFill>
            <a:srgbClr val="052F61"/>
          </a:solidFill>
          <a:ln w="15875" cap="rnd" cmpd="sng" algn="ctr">
            <a:solidFill>
              <a:srgbClr val="052F61">
                <a:shade val="50000"/>
                <a:hueMod val="94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entury Gothic" panose="020B0502020202020204"/>
              <a:ea typeface="微軟正黑體" panose="020B0604030504040204" pitchFamily="34" charset="-120"/>
              <a:cs typeface="+mn-cs"/>
            </a:endParaRPr>
          </a:p>
        </p:txBody>
      </p:sp>
      <p:sp>
        <p:nvSpPr>
          <p:cNvPr id="66" name="文字方塊 65">
            <a:extLst>
              <a:ext uri="{FF2B5EF4-FFF2-40B4-BE49-F238E27FC236}">
                <a16:creationId xmlns:a16="http://schemas.microsoft.com/office/drawing/2014/main" id="{3A546116-F04D-5947-AA24-D59D07235762}"/>
              </a:ext>
            </a:extLst>
          </p:cNvPr>
          <p:cNvSpPr txBox="1"/>
          <p:nvPr/>
        </p:nvSpPr>
        <p:spPr>
          <a:xfrm>
            <a:off x="7230337" y="3284032"/>
            <a:ext cx="2003544" cy="276999"/>
          </a:xfrm>
          <a:prstGeom prst="rect">
            <a:avLst/>
          </a:prstGeom>
          <a:noFill/>
        </p:spPr>
        <p:txBody>
          <a:bodyPr wrap="square" rtlCol="0">
            <a:spAutoFit/>
          </a:bodyPr>
          <a:lstStyle/>
          <a:p>
            <a:r>
              <a:rPr lang="en-US" altLang="zh-TW" sz="1200" b="1" dirty="0">
                <a:solidFill>
                  <a:prstClr val="black"/>
                </a:solidFill>
                <a:latin typeface="Century Gothic" panose="020B0502020202020204"/>
                <a:ea typeface="微軟正黑體" panose="020B0604030504040204" pitchFamily="34" charset="-120"/>
              </a:rPr>
              <a:t>1570nm</a:t>
            </a:r>
            <a:r>
              <a:rPr lang="zh-TW" altLang="en-US" sz="1200" b="1" dirty="0">
                <a:solidFill>
                  <a:prstClr val="black"/>
                </a:solidFill>
                <a:latin typeface="Century Gothic" panose="020B0502020202020204"/>
                <a:ea typeface="微軟正黑體" panose="020B0604030504040204" pitchFamily="34" charset="-120"/>
              </a:rPr>
              <a:t> </a:t>
            </a:r>
            <a:r>
              <a:rPr lang="en-US" altLang="zh-TW" sz="1200" b="1" dirty="0">
                <a:solidFill>
                  <a:prstClr val="black"/>
                </a:solidFill>
                <a:latin typeface="Century Gothic" panose="020B0502020202020204"/>
                <a:ea typeface="微軟正黑體" panose="020B0604030504040204" pitchFamily="34" charset="-120"/>
              </a:rPr>
              <a:t>bandpass filter</a:t>
            </a:r>
            <a:endParaRPr lang="zh-TW" altLang="en-US" sz="1200" b="1" dirty="0">
              <a:solidFill>
                <a:prstClr val="black"/>
              </a:solidFill>
              <a:latin typeface="Century Gothic" panose="020B0502020202020204"/>
              <a:ea typeface="微軟正黑體" panose="020B0604030504040204" pitchFamily="34" charset="-120"/>
            </a:endParaRPr>
          </a:p>
        </p:txBody>
      </p:sp>
      <p:sp>
        <p:nvSpPr>
          <p:cNvPr id="67" name="文字方塊 66">
            <a:extLst>
              <a:ext uri="{FF2B5EF4-FFF2-40B4-BE49-F238E27FC236}">
                <a16:creationId xmlns:a16="http://schemas.microsoft.com/office/drawing/2014/main" id="{97FB866D-3913-CF5E-A3D0-0CCD3EE0ED73}"/>
              </a:ext>
            </a:extLst>
          </p:cNvPr>
          <p:cNvSpPr txBox="1"/>
          <p:nvPr/>
        </p:nvSpPr>
        <p:spPr>
          <a:xfrm>
            <a:off x="9839746" y="6374483"/>
            <a:ext cx="436338"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SPD</a:t>
            </a:r>
            <a:endParaRPr kumimoji="0" lang="zh-TW" altLang="en-US"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8" name="接點: 弧形 7">
            <a:extLst>
              <a:ext uri="{FF2B5EF4-FFF2-40B4-BE49-F238E27FC236}">
                <a16:creationId xmlns:a16="http://schemas.microsoft.com/office/drawing/2014/main" id="{35BDF705-957A-DBB4-6AAC-575B9DE813FE}"/>
              </a:ext>
            </a:extLst>
          </p:cNvPr>
          <p:cNvCxnSpPr>
            <a:cxnSpLocks/>
          </p:cNvCxnSpPr>
          <p:nvPr/>
        </p:nvCxnSpPr>
        <p:spPr>
          <a:xfrm>
            <a:off x="6333503" y="5210765"/>
            <a:ext cx="1898606" cy="704144"/>
          </a:xfrm>
          <a:prstGeom prst="curvedConnector3">
            <a:avLst>
              <a:gd name="adj1"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 name="群組 8">
            <a:extLst>
              <a:ext uri="{FF2B5EF4-FFF2-40B4-BE49-F238E27FC236}">
                <a16:creationId xmlns:a16="http://schemas.microsoft.com/office/drawing/2014/main" id="{D113253B-6965-D9F4-C543-D0AB56837674}"/>
              </a:ext>
            </a:extLst>
          </p:cNvPr>
          <p:cNvGrpSpPr/>
          <p:nvPr/>
        </p:nvGrpSpPr>
        <p:grpSpPr>
          <a:xfrm>
            <a:off x="7774909" y="3969527"/>
            <a:ext cx="914400" cy="1840350"/>
            <a:chOff x="7494121" y="3973068"/>
            <a:chExt cx="914400" cy="1840350"/>
          </a:xfrm>
        </p:grpSpPr>
        <p:cxnSp>
          <p:nvCxnSpPr>
            <p:cNvPr id="30" name="接點: 弧形 29">
              <a:extLst>
                <a:ext uri="{FF2B5EF4-FFF2-40B4-BE49-F238E27FC236}">
                  <a16:creationId xmlns:a16="http://schemas.microsoft.com/office/drawing/2014/main" id="{8BB38023-55BB-B624-CA06-176EDC3BF735}"/>
                </a:ext>
              </a:extLst>
            </p:cNvPr>
            <p:cNvCxnSpPr>
              <a:cxnSpLocks/>
              <a:stCxn id="70" idx="3"/>
            </p:cNvCxnSpPr>
            <p:nvPr/>
          </p:nvCxnSpPr>
          <p:spPr>
            <a:xfrm flipH="1">
              <a:off x="7494121" y="3973068"/>
              <a:ext cx="262514" cy="1423413"/>
            </a:xfrm>
            <a:prstGeom prst="curvedConnector4">
              <a:avLst>
                <a:gd name="adj1" fmla="val -87081"/>
                <a:gd name="adj2" fmla="val 53053"/>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弧形 30">
              <a:extLst>
                <a:ext uri="{FF2B5EF4-FFF2-40B4-BE49-F238E27FC236}">
                  <a16:creationId xmlns:a16="http://schemas.microsoft.com/office/drawing/2014/main" id="{6EC9ECDA-DE98-6247-CFC6-CCC22B659EE3}"/>
                </a:ext>
              </a:extLst>
            </p:cNvPr>
            <p:cNvSpPr/>
            <p:nvPr/>
          </p:nvSpPr>
          <p:spPr>
            <a:xfrm rot="11724378">
              <a:off x="7494121" y="4899018"/>
              <a:ext cx="914400" cy="914400"/>
            </a:xfrm>
            <a:prstGeom prst="arc">
              <a:avLst>
                <a:gd name="adj1" fmla="val 15150971"/>
                <a:gd name="adj2" fmla="val 20809025"/>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zh-TW" altLang="en-US" dirty="0"/>
            </a:p>
          </p:txBody>
        </p:sp>
      </p:grpSp>
      <p:sp>
        <p:nvSpPr>
          <p:cNvPr id="10" name="矩形 9">
            <a:extLst>
              <a:ext uri="{FF2B5EF4-FFF2-40B4-BE49-F238E27FC236}">
                <a16:creationId xmlns:a16="http://schemas.microsoft.com/office/drawing/2014/main" id="{F67D320D-0C47-E8B4-5D52-0EB770A126C6}"/>
              </a:ext>
            </a:extLst>
          </p:cNvPr>
          <p:cNvSpPr/>
          <p:nvPr/>
        </p:nvSpPr>
        <p:spPr>
          <a:xfrm>
            <a:off x="8232109" y="5724597"/>
            <a:ext cx="782776" cy="309975"/>
          </a:xfrm>
          <a:prstGeom prst="rect">
            <a:avLst/>
          </a:prstGeom>
          <a:solidFill>
            <a:schemeClr val="bg1">
              <a:lumMod val="50000"/>
            </a:schemeClr>
          </a:solidFill>
          <a:ln w="28575">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左大括弧 10">
            <a:extLst>
              <a:ext uri="{FF2B5EF4-FFF2-40B4-BE49-F238E27FC236}">
                <a16:creationId xmlns:a16="http://schemas.microsoft.com/office/drawing/2014/main" id="{0D3D2F28-B432-EA56-F76E-3885585BD07E}"/>
              </a:ext>
            </a:extLst>
          </p:cNvPr>
          <p:cNvSpPr/>
          <p:nvPr/>
        </p:nvSpPr>
        <p:spPr>
          <a:xfrm>
            <a:off x="9008876" y="5618727"/>
            <a:ext cx="342278" cy="520109"/>
          </a:xfrm>
          <a:prstGeom prst="leftBrace">
            <a:avLst>
              <a:gd name="adj1" fmla="val 14813"/>
              <a:gd name="adj2" fmla="val 51253"/>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cxnSp>
        <p:nvCxnSpPr>
          <p:cNvPr id="12" name="直線接點 11">
            <a:extLst>
              <a:ext uri="{FF2B5EF4-FFF2-40B4-BE49-F238E27FC236}">
                <a16:creationId xmlns:a16="http://schemas.microsoft.com/office/drawing/2014/main" id="{4DA459C9-0849-5741-1F36-A81356AE9DB7}"/>
              </a:ext>
            </a:extLst>
          </p:cNvPr>
          <p:cNvCxnSpPr>
            <a:cxnSpLocks/>
          </p:cNvCxnSpPr>
          <p:nvPr/>
        </p:nvCxnSpPr>
        <p:spPr>
          <a:xfrm>
            <a:off x="9340644" y="5618336"/>
            <a:ext cx="73212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線接點 12">
            <a:extLst>
              <a:ext uri="{FF2B5EF4-FFF2-40B4-BE49-F238E27FC236}">
                <a16:creationId xmlns:a16="http://schemas.microsoft.com/office/drawing/2014/main" id="{A0096AD1-43D9-9A1E-E880-4C268FCCC004}"/>
              </a:ext>
            </a:extLst>
          </p:cNvPr>
          <p:cNvCxnSpPr>
            <a:cxnSpLocks/>
          </p:cNvCxnSpPr>
          <p:nvPr/>
        </p:nvCxnSpPr>
        <p:spPr>
          <a:xfrm>
            <a:off x="9351154" y="6135104"/>
            <a:ext cx="73212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流程圖: 延遲 13">
            <a:extLst>
              <a:ext uri="{FF2B5EF4-FFF2-40B4-BE49-F238E27FC236}">
                <a16:creationId xmlns:a16="http://schemas.microsoft.com/office/drawing/2014/main" id="{5A48B760-5976-AFCF-0FCF-2EA15639544B}"/>
              </a:ext>
            </a:extLst>
          </p:cNvPr>
          <p:cNvSpPr/>
          <p:nvPr/>
        </p:nvSpPr>
        <p:spPr>
          <a:xfrm>
            <a:off x="9911138" y="5534749"/>
            <a:ext cx="247640" cy="220977"/>
          </a:xfrm>
          <a:prstGeom prst="flowChartDelay">
            <a:avLst/>
          </a:prstGeom>
          <a:solidFill>
            <a:sysClr val="windowText" lastClr="000000"/>
          </a:solidFill>
          <a:ln w="15875" cap="rnd" cmpd="sng" algn="ctr">
            <a:solidFill>
              <a:sysClr val="windowText" lastClr="000000">
                <a:shade val="50000"/>
                <a:hueMod val="94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entury Gothic" panose="020B0502020202020204"/>
              <a:ea typeface="微軟正黑體" panose="020B0604030504040204" pitchFamily="34" charset="-120"/>
              <a:cs typeface="+mn-cs"/>
            </a:endParaRPr>
          </a:p>
        </p:txBody>
      </p:sp>
      <p:sp>
        <p:nvSpPr>
          <p:cNvPr id="15" name="流程圖: 延遲 14">
            <a:extLst>
              <a:ext uri="{FF2B5EF4-FFF2-40B4-BE49-F238E27FC236}">
                <a16:creationId xmlns:a16="http://schemas.microsoft.com/office/drawing/2014/main" id="{9F25289A-2246-689A-80FF-A4DE8703B93B}"/>
              </a:ext>
            </a:extLst>
          </p:cNvPr>
          <p:cNvSpPr/>
          <p:nvPr/>
        </p:nvSpPr>
        <p:spPr>
          <a:xfrm>
            <a:off x="9895119" y="6024615"/>
            <a:ext cx="247640" cy="220977"/>
          </a:xfrm>
          <a:prstGeom prst="flowChartDelay">
            <a:avLst/>
          </a:prstGeom>
          <a:solidFill>
            <a:sysClr val="windowText" lastClr="000000"/>
          </a:solidFill>
          <a:ln w="15875" cap="rnd" cmpd="sng" algn="ctr">
            <a:solidFill>
              <a:sysClr val="windowText" lastClr="000000">
                <a:shade val="50000"/>
                <a:hueMod val="94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entury Gothic" panose="020B0502020202020204"/>
              <a:ea typeface="微軟正黑體" panose="020B0604030504040204" pitchFamily="34" charset="-120"/>
              <a:cs typeface="+mn-cs"/>
            </a:endParaRPr>
          </a:p>
        </p:txBody>
      </p:sp>
      <p:cxnSp>
        <p:nvCxnSpPr>
          <p:cNvPr id="16" name="直線接點 15">
            <a:extLst>
              <a:ext uri="{FF2B5EF4-FFF2-40B4-BE49-F238E27FC236}">
                <a16:creationId xmlns:a16="http://schemas.microsoft.com/office/drawing/2014/main" id="{16E45377-A0ED-BD04-C175-893A8A946191}"/>
              </a:ext>
            </a:extLst>
          </p:cNvPr>
          <p:cNvCxnSpPr>
            <a:cxnSpLocks/>
          </p:cNvCxnSpPr>
          <p:nvPr/>
        </p:nvCxnSpPr>
        <p:spPr>
          <a:xfrm>
            <a:off x="9947669" y="5618336"/>
            <a:ext cx="73212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線接點 16">
            <a:extLst>
              <a:ext uri="{FF2B5EF4-FFF2-40B4-BE49-F238E27FC236}">
                <a16:creationId xmlns:a16="http://schemas.microsoft.com/office/drawing/2014/main" id="{A4E27093-33EB-4B4D-79EB-9F193B2D24FE}"/>
              </a:ext>
            </a:extLst>
          </p:cNvPr>
          <p:cNvCxnSpPr>
            <a:cxnSpLocks/>
          </p:cNvCxnSpPr>
          <p:nvPr/>
        </p:nvCxnSpPr>
        <p:spPr>
          <a:xfrm>
            <a:off x="10011429" y="6135104"/>
            <a:ext cx="73212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 name="群組 17">
            <a:extLst>
              <a:ext uri="{FF2B5EF4-FFF2-40B4-BE49-F238E27FC236}">
                <a16:creationId xmlns:a16="http://schemas.microsoft.com/office/drawing/2014/main" id="{3A8BDB63-B864-D68F-6A9B-D48BBDC63F12}"/>
              </a:ext>
            </a:extLst>
          </p:cNvPr>
          <p:cNvGrpSpPr/>
          <p:nvPr/>
        </p:nvGrpSpPr>
        <p:grpSpPr>
          <a:xfrm>
            <a:off x="10624998" y="5417271"/>
            <a:ext cx="1427484" cy="923030"/>
            <a:chOff x="9804492" y="2888993"/>
            <a:chExt cx="1295214" cy="923030"/>
          </a:xfrm>
        </p:grpSpPr>
        <p:sp>
          <p:nvSpPr>
            <p:cNvPr id="28" name="矩形 27">
              <a:extLst>
                <a:ext uri="{FF2B5EF4-FFF2-40B4-BE49-F238E27FC236}">
                  <a16:creationId xmlns:a16="http://schemas.microsoft.com/office/drawing/2014/main" id="{C7D3B4A1-F686-2CB3-2B44-13D967BBD1DD}"/>
                </a:ext>
              </a:extLst>
            </p:cNvPr>
            <p:cNvSpPr/>
            <p:nvPr/>
          </p:nvSpPr>
          <p:spPr>
            <a:xfrm>
              <a:off x="9806152" y="2892722"/>
              <a:ext cx="1293554" cy="919301"/>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1400" dirty="0">
                <a:solidFill>
                  <a:schemeClr val="bg1"/>
                </a:solidFill>
                <a:latin typeface="Century Gothic" panose="020B0502020202020204"/>
                <a:ea typeface="微軟正黑體" panose="020B0604030504040204" pitchFamily="34" charset="-120"/>
              </a:endParaRPr>
            </a:p>
            <a:p>
              <a:pPr algn="ctr"/>
              <a:r>
                <a:rPr lang="en-US" altLang="zh-TW" sz="1400" dirty="0">
                  <a:solidFill>
                    <a:schemeClr val="bg1"/>
                  </a:solidFill>
                  <a:latin typeface="Century Gothic" panose="020B0502020202020204"/>
                  <a:ea typeface="微軟正黑體" panose="020B0604030504040204" pitchFamily="34" charset="-120"/>
                </a:rPr>
                <a:t>Coincidence counter</a:t>
              </a:r>
              <a:endParaRPr lang="zh-TW" altLang="en-US" sz="1400" dirty="0">
                <a:solidFill>
                  <a:schemeClr val="bg1"/>
                </a:solidFill>
                <a:latin typeface="Century Gothic" panose="020B0502020202020204"/>
                <a:ea typeface="微軟正黑體" panose="020B0604030504040204" pitchFamily="34" charset="-120"/>
              </a:endParaRPr>
            </a:p>
            <a:p>
              <a:pPr algn="ctr"/>
              <a:endParaRPr lang="zh-TW" altLang="en-US" dirty="0"/>
            </a:p>
          </p:txBody>
        </p:sp>
        <p:sp>
          <p:nvSpPr>
            <p:cNvPr id="29" name="直角三角形 28">
              <a:extLst>
                <a:ext uri="{FF2B5EF4-FFF2-40B4-BE49-F238E27FC236}">
                  <a16:creationId xmlns:a16="http://schemas.microsoft.com/office/drawing/2014/main" id="{CB595F4C-F523-70EA-C25F-4A5A9D848890}"/>
                </a:ext>
              </a:extLst>
            </p:cNvPr>
            <p:cNvSpPr/>
            <p:nvPr/>
          </p:nvSpPr>
          <p:spPr>
            <a:xfrm rot="5400000">
              <a:off x="9786121" y="2907364"/>
              <a:ext cx="342278" cy="305535"/>
            </a:xfrm>
            <a:prstGeom prst="rtTriangl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FADF6BDB-33F4-5C9B-31DC-BA719DE5C8C4}"/>
                  </a:ext>
                </a:extLst>
              </p:cNvPr>
              <p:cNvSpPr txBox="1"/>
              <p:nvPr/>
            </p:nvSpPr>
            <p:spPr>
              <a:xfrm>
                <a:off x="2297123" y="4952210"/>
                <a:ext cx="2185406" cy="369332"/>
              </a:xfrm>
              <a:prstGeom prst="rect">
                <a:avLst/>
              </a:prstGeom>
              <a:noFill/>
            </p:spPr>
            <p:txBody>
              <a:bodyPr wrap="none" rtlCol="0">
                <a:spAutoFit/>
              </a:bodyPr>
              <a:lstStyle/>
              <a:p>
                <a:r>
                  <a:rPr lang="en-US" altLang="zh-TW" dirty="0"/>
                  <a:t>PPLN Type 0:</a:t>
                </a:r>
                <a:r>
                  <a:rPr lang="en-US" altLang="zh-TW" dirty="0">
                    <a:solidFill>
                      <a:srgbClr val="FF0000"/>
                    </a:solidFill>
                  </a:rPr>
                  <a:t> </a:t>
                </a:r>
                <a14:m>
                  <m:oMath xmlns:m="http://schemas.openxmlformats.org/officeDocument/2006/math">
                    <m:r>
                      <a:rPr lang="en-US" altLang="zh-TW" i="1">
                        <a:solidFill>
                          <a:srgbClr val="FF0000"/>
                        </a:solidFill>
                        <a:latin typeface="Cambria Math" panose="02040503050406030204" pitchFamily="18" charset="0"/>
                      </a:rPr>
                      <m:t>①</m:t>
                    </m:r>
                    <m:r>
                      <a:rPr lang="en-US" altLang="zh-TW" i="1">
                        <a:solidFill>
                          <a:srgbClr val="FF0000"/>
                        </a:solidFill>
                        <a:latin typeface="Cambria Math" panose="02040503050406030204" pitchFamily="18" charset="0"/>
                      </a:rPr>
                      <m:t> </m:t>
                    </m:r>
                  </m:oMath>
                </a14:m>
                <a:r>
                  <a:rPr lang="en-US" altLang="zh-TW" dirty="0">
                    <a:solidFill>
                      <a:srgbClr val="FF0000"/>
                    </a:solidFill>
                  </a:rPr>
                  <a:t>|VV⟩</a:t>
                </a:r>
                <a:endParaRPr lang="zh-TW" altLang="en-US" dirty="0">
                  <a:solidFill>
                    <a:srgbClr val="FF0000"/>
                  </a:solidFill>
                </a:endParaRPr>
              </a:p>
            </p:txBody>
          </p:sp>
        </mc:Choice>
        <mc:Fallback xmlns="">
          <p:sp>
            <p:nvSpPr>
              <p:cNvPr id="19" name="文字方塊 18">
                <a:extLst>
                  <a:ext uri="{FF2B5EF4-FFF2-40B4-BE49-F238E27FC236}">
                    <a16:creationId xmlns:a16="http://schemas.microsoft.com/office/drawing/2014/main" id="{FADF6BDB-33F4-5C9B-31DC-BA719DE5C8C4}"/>
                  </a:ext>
                </a:extLst>
              </p:cNvPr>
              <p:cNvSpPr txBox="1">
                <a:spLocks noRot="1" noChangeAspect="1" noMove="1" noResize="1" noEditPoints="1" noAdjustHandles="1" noChangeArrowheads="1" noChangeShapeType="1" noTextEdit="1"/>
              </p:cNvSpPr>
              <p:nvPr/>
            </p:nvSpPr>
            <p:spPr>
              <a:xfrm>
                <a:off x="2297123" y="4952210"/>
                <a:ext cx="2185406" cy="369332"/>
              </a:xfrm>
              <a:prstGeom prst="rect">
                <a:avLst/>
              </a:prstGeom>
              <a:blipFill>
                <a:blip r:embed="rId4"/>
                <a:stretch>
                  <a:fillRect l="-2514" t="-11475" r="-2235" b="-24590"/>
                </a:stretch>
              </a:blipFill>
            </p:spPr>
            <p:txBody>
              <a:bodyPr/>
              <a:lstStyle/>
              <a:p>
                <a:r>
                  <a:rPr lang="zh-TW" altLang="en-US">
                    <a:noFill/>
                  </a:rPr>
                  <a:t> </a:t>
                </a:r>
              </a:p>
            </p:txBody>
          </p:sp>
        </mc:Fallback>
      </mc:AlternateContent>
      <p:cxnSp>
        <p:nvCxnSpPr>
          <p:cNvPr id="20" name="直線單箭頭接點 19">
            <a:extLst>
              <a:ext uri="{FF2B5EF4-FFF2-40B4-BE49-F238E27FC236}">
                <a16:creationId xmlns:a16="http://schemas.microsoft.com/office/drawing/2014/main" id="{5AB62257-6D91-99B8-BAC7-77D24CC0FC3F}"/>
              </a:ext>
            </a:extLst>
          </p:cNvPr>
          <p:cNvCxnSpPr>
            <a:cxnSpLocks/>
            <a:stCxn id="19" idx="0"/>
          </p:cNvCxnSpPr>
          <p:nvPr/>
        </p:nvCxnSpPr>
        <p:spPr>
          <a:xfrm flipH="1" flipV="1">
            <a:off x="3162776" y="3484757"/>
            <a:ext cx="227050" cy="146745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文字方塊 22">
            <a:extLst>
              <a:ext uri="{FF2B5EF4-FFF2-40B4-BE49-F238E27FC236}">
                <a16:creationId xmlns:a16="http://schemas.microsoft.com/office/drawing/2014/main" id="{888716C1-182C-ADBE-F38D-B94D7691ABFC}"/>
              </a:ext>
            </a:extLst>
          </p:cNvPr>
          <p:cNvSpPr txBox="1"/>
          <p:nvPr/>
        </p:nvSpPr>
        <p:spPr>
          <a:xfrm>
            <a:off x="5822696" y="5375805"/>
            <a:ext cx="1130566" cy="369332"/>
          </a:xfrm>
          <a:prstGeom prst="rect">
            <a:avLst/>
          </a:prstGeom>
          <a:noFill/>
        </p:spPr>
        <p:txBody>
          <a:bodyPr wrap="none" rtlCol="0">
            <a:spAutoFit/>
          </a:bodyPr>
          <a:lstStyle/>
          <a:p>
            <a:r>
              <a:rPr lang="en-US" altLang="zh-TW" dirty="0"/>
              <a:t>collimator</a:t>
            </a:r>
            <a:endParaRPr lang="zh-TW" altLang="en-US" dirty="0"/>
          </a:p>
        </p:txBody>
      </p:sp>
      <p:sp>
        <p:nvSpPr>
          <p:cNvPr id="137" name="矩形 136">
            <a:extLst>
              <a:ext uri="{FF2B5EF4-FFF2-40B4-BE49-F238E27FC236}">
                <a16:creationId xmlns:a16="http://schemas.microsoft.com/office/drawing/2014/main" id="{DEEC7F7B-5E48-5A1B-43DB-94EB5A272A43}"/>
              </a:ext>
            </a:extLst>
          </p:cNvPr>
          <p:cNvSpPr/>
          <p:nvPr/>
        </p:nvSpPr>
        <p:spPr>
          <a:xfrm>
            <a:off x="6025607" y="2968120"/>
            <a:ext cx="113236" cy="81751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grpSp>
        <p:nvGrpSpPr>
          <p:cNvPr id="144" name="群組 143">
            <a:extLst>
              <a:ext uri="{FF2B5EF4-FFF2-40B4-BE49-F238E27FC236}">
                <a16:creationId xmlns:a16="http://schemas.microsoft.com/office/drawing/2014/main" id="{3804BD53-BF31-5045-3428-5945B6135E83}"/>
              </a:ext>
            </a:extLst>
          </p:cNvPr>
          <p:cNvGrpSpPr/>
          <p:nvPr/>
        </p:nvGrpSpPr>
        <p:grpSpPr>
          <a:xfrm>
            <a:off x="3437319" y="3093005"/>
            <a:ext cx="210129" cy="500455"/>
            <a:chOff x="8147879" y="2874761"/>
            <a:chExt cx="320447" cy="747169"/>
          </a:xfrm>
        </p:grpSpPr>
        <p:cxnSp>
          <p:nvCxnSpPr>
            <p:cNvPr id="145" name="直線單箭頭接點 144">
              <a:extLst>
                <a:ext uri="{FF2B5EF4-FFF2-40B4-BE49-F238E27FC236}">
                  <a16:creationId xmlns:a16="http://schemas.microsoft.com/office/drawing/2014/main" id="{3DC6B06F-DC48-1E59-6A2A-BE0B7E7B109A}"/>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46" name="橢圓 145">
              <a:extLst>
                <a:ext uri="{FF2B5EF4-FFF2-40B4-BE49-F238E27FC236}">
                  <a16:creationId xmlns:a16="http://schemas.microsoft.com/office/drawing/2014/main" id="{90FCDBDD-96D8-99EC-55AE-6EFA0B9F00A2}"/>
                </a:ext>
              </a:extLst>
            </p:cNvPr>
            <p:cNvSpPr/>
            <p:nvPr/>
          </p:nvSpPr>
          <p:spPr>
            <a:xfrm>
              <a:off x="8147879" y="3074008"/>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a:t>V</a:t>
              </a:r>
              <a:endParaRPr lang="zh-TW" altLang="en-US" sz="1400" dirty="0"/>
            </a:p>
          </p:txBody>
        </p:sp>
      </p:grpSp>
      <p:sp>
        <p:nvSpPr>
          <p:cNvPr id="148" name="文字方塊 147">
            <a:extLst>
              <a:ext uri="{FF2B5EF4-FFF2-40B4-BE49-F238E27FC236}">
                <a16:creationId xmlns:a16="http://schemas.microsoft.com/office/drawing/2014/main" id="{6E8B43BD-C9CA-9048-1A86-B7A36C154035}"/>
              </a:ext>
            </a:extLst>
          </p:cNvPr>
          <p:cNvSpPr txBox="1"/>
          <p:nvPr/>
        </p:nvSpPr>
        <p:spPr>
          <a:xfrm>
            <a:off x="8955597" y="1427508"/>
            <a:ext cx="3183124" cy="307777"/>
          </a:xfrm>
          <a:prstGeom prst="rect">
            <a:avLst/>
          </a:prstGeom>
          <a:noFill/>
          <a:ln>
            <a:solidFill>
              <a:schemeClr val="bg2">
                <a:lumMod val="25000"/>
              </a:schemeClr>
            </a:solidFill>
          </a:ln>
        </p:spPr>
        <p:txBody>
          <a:bodyPr wrap="square">
            <a:spAutoFit/>
          </a:bodyPr>
          <a:lstStyle/>
          <a:p>
            <a:pPr algn="ctr"/>
            <a:r>
              <a:rPr lang="en-US" altLang="zh-TW" sz="1400" b="1" dirty="0">
                <a:latin typeface="+mj-lt"/>
                <a:cs typeface="Times New Roman" panose="02020603050405020304" pitchFamily="18" charset="0"/>
              </a:rPr>
              <a:t>Dual photon pair measure </a:t>
            </a:r>
            <a:r>
              <a:rPr lang="en-US" altLang="zh-TW" sz="1400" dirty="0">
                <a:solidFill>
                  <a:srgbClr val="FF0000"/>
                </a:solidFill>
              </a:rPr>
              <a:t>|VV⟩ </a:t>
            </a:r>
            <a:r>
              <a:rPr lang="en-US" altLang="zh-TW" sz="1400" b="1" dirty="0">
                <a:latin typeface="+mj-lt"/>
                <a:cs typeface="Times New Roman" panose="02020603050405020304" pitchFamily="18" charset="0"/>
              </a:rPr>
              <a:t>with 0V</a:t>
            </a:r>
          </a:p>
        </p:txBody>
      </p:sp>
      <p:grpSp>
        <p:nvGrpSpPr>
          <p:cNvPr id="152" name="群組 151">
            <a:extLst>
              <a:ext uri="{FF2B5EF4-FFF2-40B4-BE49-F238E27FC236}">
                <a16:creationId xmlns:a16="http://schemas.microsoft.com/office/drawing/2014/main" id="{E85BEB9A-24CD-0604-8BE7-07E601C562D3}"/>
              </a:ext>
            </a:extLst>
          </p:cNvPr>
          <p:cNvGrpSpPr/>
          <p:nvPr/>
        </p:nvGrpSpPr>
        <p:grpSpPr>
          <a:xfrm>
            <a:off x="3170618" y="3083063"/>
            <a:ext cx="210129" cy="500455"/>
            <a:chOff x="8147879" y="2874761"/>
            <a:chExt cx="320447" cy="747169"/>
          </a:xfrm>
        </p:grpSpPr>
        <p:cxnSp>
          <p:nvCxnSpPr>
            <p:cNvPr id="153" name="直線單箭頭接點 152">
              <a:extLst>
                <a:ext uri="{FF2B5EF4-FFF2-40B4-BE49-F238E27FC236}">
                  <a16:creationId xmlns:a16="http://schemas.microsoft.com/office/drawing/2014/main" id="{8E0C2321-5630-2779-43B3-51313480ECEE}"/>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4" name="橢圓 153">
              <a:extLst>
                <a:ext uri="{FF2B5EF4-FFF2-40B4-BE49-F238E27FC236}">
                  <a16:creationId xmlns:a16="http://schemas.microsoft.com/office/drawing/2014/main" id="{292769E7-F9D6-292D-B613-7479D4A30C7F}"/>
                </a:ext>
              </a:extLst>
            </p:cNvPr>
            <p:cNvSpPr/>
            <p:nvPr/>
          </p:nvSpPr>
          <p:spPr>
            <a:xfrm>
              <a:off x="8147879" y="3074008"/>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a:t>V</a:t>
              </a:r>
              <a:endParaRPr lang="zh-TW" altLang="en-US" sz="1400" dirty="0"/>
            </a:p>
          </p:txBody>
        </p:sp>
      </p:grpSp>
      <p:sp>
        <p:nvSpPr>
          <p:cNvPr id="21" name="矩形 20">
            <a:extLst>
              <a:ext uri="{FF2B5EF4-FFF2-40B4-BE49-F238E27FC236}">
                <a16:creationId xmlns:a16="http://schemas.microsoft.com/office/drawing/2014/main" id="{AA9BD6EA-D66E-5A2A-EC69-2A36112AAE5D}"/>
              </a:ext>
            </a:extLst>
          </p:cNvPr>
          <p:cNvSpPr/>
          <p:nvPr/>
        </p:nvSpPr>
        <p:spPr>
          <a:xfrm rot="5400000">
            <a:off x="5533693" y="3553829"/>
            <a:ext cx="113236" cy="81751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22" name="文字方塊 21">
            <a:extLst>
              <a:ext uri="{FF2B5EF4-FFF2-40B4-BE49-F238E27FC236}">
                <a16:creationId xmlns:a16="http://schemas.microsoft.com/office/drawing/2014/main" id="{FC683620-28EC-E783-1511-5E74195D447E}"/>
              </a:ext>
            </a:extLst>
          </p:cNvPr>
          <p:cNvSpPr txBox="1"/>
          <p:nvPr/>
        </p:nvSpPr>
        <p:spPr>
          <a:xfrm>
            <a:off x="8955597" y="1422664"/>
            <a:ext cx="3183124" cy="307777"/>
          </a:xfrm>
          <a:prstGeom prst="rect">
            <a:avLst/>
          </a:prstGeom>
          <a:noFill/>
          <a:ln>
            <a:solidFill>
              <a:schemeClr val="bg2">
                <a:lumMod val="25000"/>
              </a:schemeClr>
            </a:solidFill>
          </a:ln>
        </p:spPr>
        <p:txBody>
          <a:bodyPr wrap="square">
            <a:spAutoFit/>
          </a:bodyPr>
          <a:lstStyle/>
          <a:p>
            <a:pPr algn="ctr"/>
            <a:r>
              <a:rPr lang="en-US" altLang="zh-TW" sz="1400" b="1" dirty="0">
                <a:latin typeface="+mj-lt"/>
                <a:cs typeface="Times New Roman" panose="02020603050405020304" pitchFamily="18" charset="0"/>
              </a:rPr>
              <a:t>Dual photon pair measure </a:t>
            </a:r>
            <a:r>
              <a:rPr lang="en-US" altLang="zh-TW" sz="1400" dirty="0">
                <a:solidFill>
                  <a:srgbClr val="002060"/>
                </a:solidFill>
              </a:rPr>
              <a:t>|HH⟩ </a:t>
            </a:r>
            <a:r>
              <a:rPr lang="en-US" altLang="zh-TW" sz="1400" b="1" dirty="0">
                <a:latin typeface="+mj-lt"/>
                <a:cs typeface="Times New Roman" panose="02020603050405020304" pitchFamily="18" charset="0"/>
              </a:rPr>
              <a:t>with 0V</a:t>
            </a:r>
          </a:p>
        </p:txBody>
      </p:sp>
      <p:pic>
        <p:nvPicPr>
          <p:cNvPr id="25" name="圖片 24">
            <a:extLst>
              <a:ext uri="{FF2B5EF4-FFF2-40B4-BE49-F238E27FC236}">
                <a16:creationId xmlns:a16="http://schemas.microsoft.com/office/drawing/2014/main" id="{B4270F2E-7465-9391-6C72-A49F1CB75EC2}"/>
              </a:ext>
            </a:extLst>
          </p:cNvPr>
          <p:cNvPicPr>
            <a:picLocks noChangeAspect="1"/>
          </p:cNvPicPr>
          <p:nvPr/>
        </p:nvPicPr>
        <p:blipFill>
          <a:blip r:embed="rId5"/>
          <a:stretch>
            <a:fillRect/>
          </a:stretch>
        </p:blipFill>
        <p:spPr>
          <a:xfrm>
            <a:off x="9125358" y="1831425"/>
            <a:ext cx="2908044" cy="2292295"/>
          </a:xfrm>
          <a:prstGeom prst="rect">
            <a:avLst/>
          </a:prstGeom>
        </p:spPr>
      </p:pic>
      <p:pic>
        <p:nvPicPr>
          <p:cNvPr id="26" name="圖片 25">
            <a:extLst>
              <a:ext uri="{FF2B5EF4-FFF2-40B4-BE49-F238E27FC236}">
                <a16:creationId xmlns:a16="http://schemas.microsoft.com/office/drawing/2014/main" id="{1C495E72-80C1-4014-6195-BC44A7143F8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19502" y="1830913"/>
            <a:ext cx="2905670" cy="2293002"/>
          </a:xfrm>
          <a:prstGeom prst="rect">
            <a:avLst/>
          </a:prstGeom>
        </p:spPr>
      </p:pic>
    </p:spTree>
    <p:extLst>
      <p:ext uri="{BB962C8B-B14F-4D97-AF65-F5344CB8AC3E}">
        <p14:creationId xmlns:p14="http://schemas.microsoft.com/office/powerpoint/2010/main" val="164121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7"/>
                                        </p:tgtEl>
                                        <p:attrNameLst>
                                          <p:attrName>style.visibility</p:attrName>
                                        </p:attrNameLst>
                                      </p:cBhvr>
                                      <p:to>
                                        <p:strVal val="visible"/>
                                      </p:to>
                                    </p:set>
                                    <p:anim calcmode="lin" valueType="num">
                                      <p:cBhvr additive="base">
                                        <p:cTn id="7" dur="500" fill="hold"/>
                                        <p:tgtEl>
                                          <p:spTgt spid="137"/>
                                        </p:tgtEl>
                                        <p:attrNameLst>
                                          <p:attrName>ppt_x</p:attrName>
                                        </p:attrNameLst>
                                      </p:cBhvr>
                                      <p:tavLst>
                                        <p:tav tm="0">
                                          <p:val>
                                            <p:strVal val="#ppt_x"/>
                                          </p:val>
                                        </p:tav>
                                        <p:tav tm="100000">
                                          <p:val>
                                            <p:strVal val="#ppt_x"/>
                                          </p:val>
                                        </p:tav>
                                      </p:tavLst>
                                    </p:anim>
                                    <p:anim calcmode="lin" valueType="num">
                                      <p:cBhvr additive="base">
                                        <p:cTn id="8" dur="500" fill="hold"/>
                                        <p:tgtEl>
                                          <p:spTgt spid="13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0" presetClass="path" presetSubtype="0" accel="50000" decel="50000" fill="hold" nodeType="clickEffect">
                                  <p:stCondLst>
                                    <p:cond delay="0"/>
                                  </p:stCondLst>
                                  <p:childTnLst>
                                    <p:animMotion origin="layout" path="M -4.79167E-6 -0.00486 L -4.79167E-6 -0.00486 C 0.00378 -0.00556 0.00756 -0.00671 0.01133 -0.00648 C 0.0155 -0.00648 0.0362 -0.00324 0.04454 -0.00162 C 0.04714 -0.00093 0.04961 -0.00023 0.05222 0.00023 C 0.05782 0.00093 0.06355 0.00139 0.06928 0.00185 C 0.10066 0.01111 0.06719 0.00185 0.15183 0.00185 C 0.15625 0.00185 0.16068 0.00301 0.16511 0.00347 C 0.16485 0.05185 0.16329 0.10023 0.1642 0.14861 C 0.1642 0.15116 0.16654 0.15162 0.16797 0.15208 C 0.17266 0.15347 0.17748 0.15347 0.1823 0.1537 C 0.19649 0.15463 0.21068 0.15486 0.225 0.15556 C 0.22787 0.15602 0.23178 0.15324 0.23347 0.15718 C 0.23399 0.1581 0.23191 0.17917 0.23165 0.18241 C 0.23191 0.19306 0.23152 0.20394 0.23256 0.21458 C 0.23308 0.21944 0.23555 0.22315 0.23633 0.22801 C 0.23737 0.23403 0.23724 0.24051 0.23829 0.24653 C 0.23881 0.24977 0.24011 0.25231 0.24115 0.25509 C 0.24206 0.25764 0.24545 0.26782 0.24779 0.27014 C 0.24883 0.2713 0.25027 0.2713 0.25157 0.27199 C 0.25352 0.27292 0.25534 0.27384 0.2573 0.27523 C 0.26928 0.28426 0.25599 0.27731 0.27058 0.2838 C 0.27787 0.29931 0.2724 0.28889 0.28099 0.30231 C 0.28373 0.30648 0.28217 0.30556 0.28568 0.30903 C 0.28816 0.31157 0.29089 0.31319 0.29336 0.31574 C 0.2974 0.32014 0.29727 0.32199 0.30092 0.32755 C 0.30209 0.3294 0.30339 0.33102 0.30469 0.33264 C 0.30743 0.33588 0.31029 0.33866 0.31329 0.3412 C 0.31615 0.34352 0.31889 0.34583 0.32175 0.34792 C 0.33125 0.35486 0.33152 0.35417 0.34362 0.3581 C 0.35287 0.36088 0.36237 0.36111 0.37123 0.36644 C 0.37305 0.36759 0.37487 0.36898 0.37683 0.36991 C 0.38204 0.37176 0.39532 0.37269 0.3987 0.37315 C 0.40131 0.37361 0.40378 0.37431 0.40625 0.375 L 0.41967 0.37315 " pathEditMode="relative" ptsTypes="AAAAAAAAAAAAAAAAAAAAAAAAAAAAAAAAAAA">
                                      <p:cBhvr>
                                        <p:cTn id="12" dur="3000" fill="hold"/>
                                        <p:tgtEl>
                                          <p:spTgt spid="144"/>
                                        </p:tgtEl>
                                        <p:attrNameLst>
                                          <p:attrName>ppt_x</p:attrName>
                                          <p:attrName>ppt_y</p:attrName>
                                        </p:attrNameLst>
                                      </p:cBhvr>
                                    </p:animMotion>
                                  </p:childTnLst>
                                </p:cTn>
                              </p:par>
                              <p:par>
                                <p:cTn id="13" presetID="0" presetClass="path" presetSubtype="0" accel="50000" decel="50000" fill="hold" nodeType="withEffect">
                                  <p:stCondLst>
                                    <p:cond delay="0"/>
                                  </p:stCondLst>
                                  <p:childTnLst>
                                    <p:animMotion origin="layout" path="M 0.00456 -0.0081 L 0.00456 -0.00787 C 0.00833 -0.0088 0.01224 -0.00972 0.01615 -0.00972 C 0.02057 -0.00972 0.04206 -0.00648 0.05091 -0.00486 C 0.05352 -0.00417 0.05612 -0.00347 0.05885 -0.00301 C 0.06458 -0.00232 0.07057 -0.00185 0.07656 -0.00139 C 0.10924 0.00833 0.07435 -0.00139 0.16263 -0.00139 C 0.16732 -0.00139 0.17201 -0.00023 0.17643 0.00023 C 0.1763 0.04977 0.17474 0.09931 0.17565 0.14861 C 0.17565 0.15116 0.17799 0.15185 0.17943 0.15231 C 0.18437 0.1537 0.18945 0.1537 0.1944 0.15393 C 0.20924 0.15463 0.22396 0.15486 0.23893 0.15579 C 0.24193 0.15625 0.24609 0.15347 0.24792 0.15741 C 0.24844 0.15833 0.24622 0.17986 0.24583 0.1831 C 0.24622 0.19421 0.2457 0.20532 0.24687 0.21597 C 0.24753 0.22106 0.25 0.22477 0.25091 0.22963 C 0.25195 0.23611 0.25182 0.24236 0.25286 0.24884 C 0.25339 0.25208 0.25469 0.25463 0.25573 0.25718 C 0.25677 0.25995 0.26029 0.27037 0.26276 0.27292 C 0.26393 0.27407 0.26536 0.27407 0.2668 0.27477 C 0.26875 0.27593 0.27057 0.27685 0.27253 0.27801 C 0.28516 0.28727 0.27122 0.28009 0.28646 0.28681 C 0.29414 0.30255 0.28828 0.29213 0.2974 0.30579 C 0.30026 0.30995 0.2987 0.30903 0.30221 0.3125 C 0.30482 0.31528 0.30768 0.3169 0.31029 0.31921 C 0.31458 0.32384 0.31445 0.32569 0.3181 0.33148 C 0.31927 0.33333 0.3207 0.33495 0.32214 0.33681 C 0.325 0.34005 0.32799 0.34282 0.33112 0.34537 C 0.33398 0.34768 0.33698 0.35 0.33997 0.35231 C 0.34974 0.35949 0.35 0.3588 0.36276 0.3625 C 0.3724 0.36551 0.38229 0.36574 0.39154 0.3713 C 0.39336 0.37245 0.39518 0.37384 0.3974 0.37477 C 0.40273 0.37662 0.41667 0.37755 0.42018 0.37801 C 0.42292 0.37847 0.42539 0.37917 0.42799 0.38032 L 0.44219 0.37801 " pathEditMode="relative" rAng="0" ptsTypes="AAAAAAAAAAAAAAAAAAAAAAAAAAAAAAAAAAA">
                                      <p:cBhvr>
                                        <p:cTn id="14" dur="3000" fill="hold"/>
                                        <p:tgtEl>
                                          <p:spTgt spid="152"/>
                                        </p:tgtEl>
                                        <p:attrNameLst>
                                          <p:attrName>ppt_x</p:attrName>
                                          <p:attrName>ppt_y</p:attrName>
                                        </p:attrNameLst>
                                      </p:cBhvr>
                                      <p:rCtr x="21875" y="19329"/>
                                    </p:animMotion>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nodeType="clickEffect">
                                  <p:stCondLst>
                                    <p:cond delay="0"/>
                                  </p:stCondLst>
                                  <p:childTnLst>
                                    <p:animMotion origin="layout" path="M 0.43828 0.3794 L 0.58268 0.43866 " pathEditMode="relative" rAng="0" ptsTypes="AA">
                                      <p:cBhvr>
                                        <p:cTn id="18" dur="2000" fill="hold"/>
                                        <p:tgtEl>
                                          <p:spTgt spid="152"/>
                                        </p:tgtEl>
                                        <p:attrNameLst>
                                          <p:attrName>ppt_x</p:attrName>
                                          <p:attrName>ppt_y</p:attrName>
                                        </p:attrNameLst>
                                      </p:cBhvr>
                                      <p:rCtr x="7214" y="2963"/>
                                    </p:animMotion>
                                  </p:childTnLst>
                                </p:cTn>
                              </p:par>
                              <p:par>
                                <p:cTn id="19" presetID="42" presetClass="path" presetSubtype="0" accel="50000" decel="50000" fill="hold" nodeType="withEffect">
                                  <p:stCondLst>
                                    <p:cond delay="0"/>
                                  </p:stCondLst>
                                  <p:childTnLst>
                                    <p:animMotion origin="layout" path="M 0.41875 0.37639 L 0.55964 0.28843 " pathEditMode="relative" rAng="0" ptsTypes="AA">
                                      <p:cBhvr>
                                        <p:cTn id="20" dur="2000" fill="hold"/>
                                        <p:tgtEl>
                                          <p:spTgt spid="144"/>
                                        </p:tgtEl>
                                        <p:attrNameLst>
                                          <p:attrName>ppt_x</p:attrName>
                                          <p:attrName>ppt_y</p:attrName>
                                        </p:attrNameLst>
                                      </p:cBhvr>
                                      <p:rCtr x="7044" y="-4398"/>
                                    </p:animMotion>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grpId="0" nodeType="clickEffect">
                                  <p:stCondLst>
                                    <p:cond delay="0"/>
                                  </p:stCondLst>
                                  <p:childTnLst>
                                    <p:set>
                                      <p:cBhvr>
                                        <p:cTn id="24" dur="1" fill="hold">
                                          <p:stCondLst>
                                            <p:cond delay="0"/>
                                          </p:stCondLst>
                                        </p:cTn>
                                        <p:tgtEl>
                                          <p:spTgt spid="148"/>
                                        </p:tgtEl>
                                        <p:attrNameLst>
                                          <p:attrName>style.visibility</p:attrName>
                                        </p:attrNameLst>
                                      </p:cBhvr>
                                      <p:to>
                                        <p:strVal val="visible"/>
                                      </p:to>
                                    </p:set>
                                    <p:animEffect transition="in" filter="circle(in)">
                                      <p:cBhvr>
                                        <p:cTn id="25" dur="1000"/>
                                        <p:tgtEl>
                                          <p:spTgt spid="148"/>
                                        </p:tgtEl>
                                      </p:cBhvr>
                                    </p:animEffect>
                                  </p:childTnLst>
                                </p:cTn>
                              </p:par>
                              <p:par>
                                <p:cTn id="26" presetID="6" presetClass="entr" presetSubtype="16" fill="hold"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circle(in)">
                                      <p:cBhvr>
                                        <p:cTn id="28" dur="1000"/>
                                        <p:tgtEl>
                                          <p:spTgt spid="25"/>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xit" presetSubtype="1" fill="hold" grpId="1" nodeType="clickEffect">
                                  <p:stCondLst>
                                    <p:cond delay="0"/>
                                  </p:stCondLst>
                                  <p:childTnLst>
                                    <p:anim calcmode="lin" valueType="num">
                                      <p:cBhvr additive="base">
                                        <p:cTn id="32" dur="500"/>
                                        <p:tgtEl>
                                          <p:spTgt spid="137"/>
                                        </p:tgtEl>
                                        <p:attrNameLst>
                                          <p:attrName>ppt_x</p:attrName>
                                        </p:attrNameLst>
                                      </p:cBhvr>
                                      <p:tavLst>
                                        <p:tav tm="0">
                                          <p:val>
                                            <p:strVal val="ppt_x"/>
                                          </p:val>
                                        </p:tav>
                                        <p:tav tm="100000">
                                          <p:val>
                                            <p:strVal val="ppt_x"/>
                                          </p:val>
                                        </p:tav>
                                      </p:tavLst>
                                    </p:anim>
                                    <p:anim calcmode="lin" valueType="num">
                                      <p:cBhvr additive="base">
                                        <p:cTn id="33" dur="500"/>
                                        <p:tgtEl>
                                          <p:spTgt spid="137"/>
                                        </p:tgtEl>
                                        <p:attrNameLst>
                                          <p:attrName>ppt_y</p:attrName>
                                        </p:attrNameLst>
                                      </p:cBhvr>
                                      <p:tavLst>
                                        <p:tav tm="0">
                                          <p:val>
                                            <p:strVal val="ppt_y"/>
                                          </p:val>
                                        </p:tav>
                                        <p:tav tm="100000">
                                          <p:val>
                                            <p:strVal val="0-ppt_h/2"/>
                                          </p:val>
                                        </p:tav>
                                      </p:tavLst>
                                    </p:anim>
                                    <p:set>
                                      <p:cBhvr>
                                        <p:cTn id="34" dur="1" fill="hold">
                                          <p:stCondLst>
                                            <p:cond delay="499"/>
                                          </p:stCondLst>
                                        </p:cTn>
                                        <p:tgtEl>
                                          <p:spTgt spid="137"/>
                                        </p:tgtEl>
                                        <p:attrNameLst>
                                          <p:attrName>style.visibility</p:attrName>
                                        </p:attrNameLst>
                                      </p:cBhvr>
                                      <p:to>
                                        <p:strVal val="hidden"/>
                                      </p:to>
                                    </p:set>
                                  </p:childTnLst>
                                </p:cTn>
                              </p:par>
                              <p:par>
                                <p:cTn id="35" presetID="2" presetClass="entr" presetSubtype="8"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0-#ppt_w/2"/>
                                          </p:val>
                                        </p:tav>
                                        <p:tav tm="100000">
                                          <p:val>
                                            <p:strVal val="#ppt_x"/>
                                          </p:val>
                                        </p:tav>
                                      </p:tavLst>
                                    </p:anim>
                                    <p:anim calcmode="lin" valueType="num">
                                      <p:cBhvr additive="base">
                                        <p:cTn id="38"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0" presetClass="exit" presetSubtype="0" fill="hold" grpId="1" nodeType="clickEffect">
                                  <p:stCondLst>
                                    <p:cond delay="0"/>
                                  </p:stCondLst>
                                  <p:childTnLst>
                                    <p:animEffect transition="out" filter="fade">
                                      <p:cBhvr>
                                        <p:cTn id="42" dur="500"/>
                                        <p:tgtEl>
                                          <p:spTgt spid="148"/>
                                        </p:tgtEl>
                                      </p:cBhvr>
                                    </p:animEffect>
                                    <p:set>
                                      <p:cBhvr>
                                        <p:cTn id="43" dur="1" fill="hold">
                                          <p:stCondLst>
                                            <p:cond delay="499"/>
                                          </p:stCondLst>
                                        </p:cTn>
                                        <p:tgtEl>
                                          <p:spTgt spid="148"/>
                                        </p:tgtEl>
                                        <p:attrNameLst>
                                          <p:attrName>style.visibility</p:attrName>
                                        </p:attrNameLst>
                                      </p:cBhvr>
                                      <p:to>
                                        <p:strVal val="hidden"/>
                                      </p:to>
                                    </p:set>
                                  </p:childTnLst>
                                </p:cTn>
                              </p:par>
                              <p:par>
                                <p:cTn id="44" presetID="6" presetClass="exit" presetSubtype="32" fill="hold" nodeType="withEffect">
                                  <p:stCondLst>
                                    <p:cond delay="0"/>
                                  </p:stCondLst>
                                  <p:childTnLst>
                                    <p:animEffect transition="out" filter="circle(out)">
                                      <p:cBhvr>
                                        <p:cTn id="45" dur="1000"/>
                                        <p:tgtEl>
                                          <p:spTgt spid="25"/>
                                        </p:tgtEl>
                                      </p:cBhvr>
                                    </p:animEffect>
                                    <p:set>
                                      <p:cBhvr>
                                        <p:cTn id="46" dur="1" fill="hold">
                                          <p:stCondLst>
                                            <p:cond delay="999"/>
                                          </p:stCondLst>
                                        </p:cTn>
                                        <p:tgtEl>
                                          <p:spTgt spid="25"/>
                                        </p:tgtEl>
                                        <p:attrNameLst>
                                          <p:attrName>style.visibility</p:attrName>
                                        </p:attrNameLst>
                                      </p:cBhvr>
                                      <p:to>
                                        <p:strVal val="hidden"/>
                                      </p:to>
                                    </p:set>
                                  </p:childTnLst>
                                </p:cTn>
                              </p:par>
                              <p:par>
                                <p:cTn id="47" presetID="6" presetClass="entr" presetSubtype="16"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circle(in)">
                                      <p:cBhvr>
                                        <p:cTn id="49" dur="1000"/>
                                        <p:tgtEl>
                                          <p:spTgt spid="22"/>
                                        </p:tgtEl>
                                      </p:cBhvr>
                                    </p:animEffect>
                                  </p:childTnLst>
                                </p:cTn>
                              </p:par>
                              <p:par>
                                <p:cTn id="50" presetID="6" presetClass="entr" presetSubtype="16" fill="hold" nodeType="with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circle(in)">
                                      <p:cBhvr>
                                        <p:cTn id="52" dur="1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 grpId="0" animBg="1"/>
      <p:bldP spid="137" grpId="1" animBg="1"/>
      <p:bldP spid="148" grpId="0" animBg="1"/>
      <p:bldP spid="148" grpId="1" animBg="1"/>
      <p:bldP spid="21" grpId="0" animBg="1"/>
      <p:bldP spid="22"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sz="4000" b="1" dirty="0">
                <a:latin typeface="Times New Roman" panose="02020603050405020304" pitchFamily="18" charset="0"/>
                <a:cs typeface="Times New Roman" panose="02020603050405020304" pitchFamily="18" charset="0"/>
              </a:rPr>
              <a:t>Applied 55V for |VV⟩ Photon pair measurement</a:t>
            </a:r>
            <a:endParaRPr lang="zh-TW" altLang="en-US" sz="4000" b="1"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1581381" y="6438715"/>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54</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grpSp>
        <p:nvGrpSpPr>
          <p:cNvPr id="3" name="群組 2">
            <a:extLst>
              <a:ext uri="{FF2B5EF4-FFF2-40B4-BE49-F238E27FC236}">
                <a16:creationId xmlns:a16="http://schemas.microsoft.com/office/drawing/2014/main" id="{2EB37F41-A257-A219-36EE-DB30D372D7A4}"/>
              </a:ext>
            </a:extLst>
          </p:cNvPr>
          <p:cNvGrpSpPr/>
          <p:nvPr/>
        </p:nvGrpSpPr>
        <p:grpSpPr>
          <a:xfrm>
            <a:off x="288405" y="1368615"/>
            <a:ext cx="11764077" cy="5282867"/>
            <a:chOff x="7617" y="1372156"/>
            <a:chExt cx="11764077" cy="5282867"/>
          </a:xfrm>
        </p:grpSpPr>
        <p:grpSp>
          <p:nvGrpSpPr>
            <p:cNvPr id="7" name="群組 6">
              <a:extLst>
                <a:ext uri="{FF2B5EF4-FFF2-40B4-BE49-F238E27FC236}">
                  <a16:creationId xmlns:a16="http://schemas.microsoft.com/office/drawing/2014/main" id="{1463D707-3008-26DE-74A4-697CD0F94DC0}"/>
                </a:ext>
              </a:extLst>
            </p:cNvPr>
            <p:cNvGrpSpPr/>
            <p:nvPr/>
          </p:nvGrpSpPr>
          <p:grpSpPr>
            <a:xfrm>
              <a:off x="7617" y="1372156"/>
              <a:ext cx="9987679" cy="5282867"/>
              <a:chOff x="7616" y="1372155"/>
              <a:chExt cx="10625785" cy="7072559"/>
            </a:xfrm>
          </p:grpSpPr>
          <p:cxnSp>
            <p:nvCxnSpPr>
              <p:cNvPr id="32" name="直線接點 31">
                <a:extLst>
                  <a:ext uri="{FF2B5EF4-FFF2-40B4-BE49-F238E27FC236}">
                    <a16:creationId xmlns:a16="http://schemas.microsoft.com/office/drawing/2014/main" id="{4FD14682-EB9B-E828-5F30-73594C532A7B}"/>
                  </a:ext>
                </a:extLst>
              </p:cNvPr>
              <p:cNvCxnSpPr>
                <a:cxnSpLocks/>
              </p:cNvCxnSpPr>
              <p:nvPr/>
            </p:nvCxnSpPr>
            <p:spPr>
              <a:xfrm flipH="1">
                <a:off x="5602052" y="4059456"/>
                <a:ext cx="11951" cy="1364175"/>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33" name="直線接點 32">
                <a:extLst>
                  <a:ext uri="{FF2B5EF4-FFF2-40B4-BE49-F238E27FC236}">
                    <a16:creationId xmlns:a16="http://schemas.microsoft.com/office/drawing/2014/main" id="{43062B93-931E-2484-4864-A28BE6CE431C}"/>
                  </a:ext>
                </a:extLst>
              </p:cNvPr>
              <p:cNvCxnSpPr>
                <a:cxnSpLocks/>
              </p:cNvCxnSpPr>
              <p:nvPr/>
            </p:nvCxnSpPr>
            <p:spPr>
              <a:xfrm>
                <a:off x="5613681" y="5406015"/>
                <a:ext cx="921787"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34" name="群組 33">
                <a:extLst>
                  <a:ext uri="{FF2B5EF4-FFF2-40B4-BE49-F238E27FC236}">
                    <a16:creationId xmlns:a16="http://schemas.microsoft.com/office/drawing/2014/main" id="{BCCA4450-74C6-646D-8ED6-AB5845FA11D7}"/>
                  </a:ext>
                </a:extLst>
              </p:cNvPr>
              <p:cNvGrpSpPr/>
              <p:nvPr/>
            </p:nvGrpSpPr>
            <p:grpSpPr>
              <a:xfrm rot="10800000">
                <a:off x="528295" y="2988278"/>
                <a:ext cx="699952" cy="1110013"/>
                <a:chOff x="9464040" y="2370247"/>
                <a:chExt cx="1058780" cy="1007694"/>
              </a:xfrm>
            </p:grpSpPr>
            <p:sp>
              <p:nvSpPr>
                <p:cNvPr id="134" name="矩形: 圓角 133">
                  <a:extLst>
                    <a:ext uri="{FF2B5EF4-FFF2-40B4-BE49-F238E27FC236}">
                      <a16:creationId xmlns:a16="http://schemas.microsoft.com/office/drawing/2014/main" id="{425774E9-6410-F53C-9426-6D9CC3A67A29}"/>
                    </a:ext>
                  </a:extLst>
                </p:cNvPr>
                <p:cNvSpPr/>
                <p:nvPr/>
              </p:nvSpPr>
              <p:spPr>
                <a:xfrm>
                  <a:off x="9608420" y="2438401"/>
                  <a:ext cx="914400" cy="914400"/>
                </a:xfrm>
                <a:prstGeom prst="round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5" name="矩形 134">
                  <a:extLst>
                    <a:ext uri="{FF2B5EF4-FFF2-40B4-BE49-F238E27FC236}">
                      <a16:creationId xmlns:a16="http://schemas.microsoft.com/office/drawing/2014/main" id="{2BBA2A84-5654-62D1-A2CA-1CE11AE9BC74}"/>
                    </a:ext>
                  </a:extLst>
                </p:cNvPr>
                <p:cNvSpPr/>
                <p:nvPr/>
              </p:nvSpPr>
              <p:spPr>
                <a:xfrm>
                  <a:off x="9464040" y="2370247"/>
                  <a:ext cx="608530" cy="100769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5" name="群組 34">
                <a:extLst>
                  <a:ext uri="{FF2B5EF4-FFF2-40B4-BE49-F238E27FC236}">
                    <a16:creationId xmlns:a16="http://schemas.microsoft.com/office/drawing/2014/main" id="{999227BF-81F4-FDC6-2DFC-2380646AE2C6}"/>
                  </a:ext>
                </a:extLst>
              </p:cNvPr>
              <p:cNvGrpSpPr/>
              <p:nvPr/>
            </p:nvGrpSpPr>
            <p:grpSpPr>
              <a:xfrm>
                <a:off x="5637900" y="2348270"/>
                <a:ext cx="1058780" cy="629311"/>
                <a:chOff x="9464040" y="2406313"/>
                <a:chExt cx="1058780" cy="978456"/>
              </a:xfrm>
            </p:grpSpPr>
            <p:sp>
              <p:nvSpPr>
                <p:cNvPr id="132" name="矩形: 圓角 131">
                  <a:extLst>
                    <a:ext uri="{FF2B5EF4-FFF2-40B4-BE49-F238E27FC236}">
                      <a16:creationId xmlns:a16="http://schemas.microsoft.com/office/drawing/2014/main" id="{0CC7889B-6D62-B552-5818-743B89396C0A}"/>
                    </a:ext>
                  </a:extLst>
                </p:cNvPr>
                <p:cNvSpPr/>
                <p:nvPr/>
              </p:nvSpPr>
              <p:spPr>
                <a:xfrm>
                  <a:off x="9608420" y="2438401"/>
                  <a:ext cx="914400" cy="914400"/>
                </a:xfrm>
                <a:prstGeom prst="round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3" name="矩形 132">
                  <a:extLst>
                    <a:ext uri="{FF2B5EF4-FFF2-40B4-BE49-F238E27FC236}">
                      <a16:creationId xmlns:a16="http://schemas.microsoft.com/office/drawing/2014/main" id="{C9CFB73D-5443-0922-2A1D-C96C4FD7302A}"/>
                    </a:ext>
                  </a:extLst>
                </p:cNvPr>
                <p:cNvSpPr/>
                <p:nvPr/>
              </p:nvSpPr>
              <p:spPr>
                <a:xfrm>
                  <a:off x="9464040" y="2406313"/>
                  <a:ext cx="565769" cy="97845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36" name="直線接點 35">
                <a:extLst>
                  <a:ext uri="{FF2B5EF4-FFF2-40B4-BE49-F238E27FC236}">
                    <a16:creationId xmlns:a16="http://schemas.microsoft.com/office/drawing/2014/main" id="{7FD50FDD-DCDF-23FF-D3EF-87DDE49966B0}"/>
                  </a:ext>
                </a:extLst>
              </p:cNvPr>
              <p:cNvCxnSpPr>
                <a:cxnSpLocks/>
              </p:cNvCxnSpPr>
              <p:nvPr/>
            </p:nvCxnSpPr>
            <p:spPr>
              <a:xfrm flipH="1">
                <a:off x="710294" y="2957020"/>
                <a:ext cx="5730417" cy="585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線接點 36">
                <a:extLst>
                  <a:ext uri="{FF2B5EF4-FFF2-40B4-BE49-F238E27FC236}">
                    <a16:creationId xmlns:a16="http://schemas.microsoft.com/office/drawing/2014/main" id="{513450B2-16F3-A43A-F0C2-16630973FDF4}"/>
                  </a:ext>
                </a:extLst>
              </p:cNvPr>
              <p:cNvCxnSpPr>
                <a:cxnSpLocks/>
              </p:cNvCxnSpPr>
              <p:nvPr/>
            </p:nvCxnSpPr>
            <p:spPr>
              <a:xfrm flipV="1">
                <a:off x="3714703" y="4055897"/>
                <a:ext cx="933297" cy="7162"/>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38" name="矩形 37">
                <a:extLst>
                  <a:ext uri="{FF2B5EF4-FFF2-40B4-BE49-F238E27FC236}">
                    <a16:creationId xmlns:a16="http://schemas.microsoft.com/office/drawing/2014/main" id="{05435F91-6B1F-DD94-57DD-A649288FBD03}"/>
                  </a:ext>
                </a:extLst>
              </p:cNvPr>
              <p:cNvSpPr/>
              <p:nvPr/>
            </p:nvSpPr>
            <p:spPr>
              <a:xfrm>
                <a:off x="826107" y="2084769"/>
                <a:ext cx="1588168" cy="609600"/>
              </a:xfrm>
              <a:prstGeom prst="rect">
                <a:avLst/>
              </a:prstGeom>
              <a:solidFill>
                <a:schemeClr val="bg2"/>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FPV785S</a:t>
                </a:r>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nvGrpSpPr>
              <p:cNvPr id="39" name="群組 38">
                <a:extLst>
                  <a:ext uri="{FF2B5EF4-FFF2-40B4-BE49-F238E27FC236}">
                    <a16:creationId xmlns:a16="http://schemas.microsoft.com/office/drawing/2014/main" id="{5DD85E73-80FD-E1B5-6EEE-68C5A9770122}"/>
                  </a:ext>
                </a:extLst>
              </p:cNvPr>
              <p:cNvGrpSpPr/>
              <p:nvPr/>
            </p:nvGrpSpPr>
            <p:grpSpPr>
              <a:xfrm>
                <a:off x="3601855" y="1928720"/>
                <a:ext cx="2613803" cy="521366"/>
                <a:chOff x="1707396" y="1303447"/>
                <a:chExt cx="2230708" cy="469400"/>
              </a:xfrm>
            </p:grpSpPr>
            <p:cxnSp>
              <p:nvCxnSpPr>
                <p:cNvPr id="120" name="直線接點 119">
                  <a:extLst>
                    <a:ext uri="{FF2B5EF4-FFF2-40B4-BE49-F238E27FC236}">
                      <a16:creationId xmlns:a16="http://schemas.microsoft.com/office/drawing/2014/main" id="{ECFE4FA0-7ED5-363E-E525-16B13C07F96E}"/>
                    </a:ext>
                  </a:extLst>
                </p:cNvPr>
                <p:cNvCxnSpPr>
                  <a:cxnSpLocks/>
                </p:cNvCxnSpPr>
                <p:nvPr/>
              </p:nvCxnSpPr>
              <p:spPr>
                <a:xfrm flipV="1">
                  <a:off x="1707396" y="1700671"/>
                  <a:ext cx="2230708" cy="6002"/>
                </a:xfrm>
                <a:prstGeom prst="line">
                  <a:avLst/>
                </a:prstGeom>
                <a:ln w="38100"/>
              </p:spPr>
              <p:style>
                <a:lnRef idx="1">
                  <a:schemeClr val="dk1"/>
                </a:lnRef>
                <a:fillRef idx="0">
                  <a:schemeClr val="dk1"/>
                </a:fillRef>
                <a:effectRef idx="0">
                  <a:schemeClr val="dk1"/>
                </a:effectRef>
                <a:fontRef idx="minor">
                  <a:schemeClr val="tx1"/>
                </a:fontRef>
              </p:style>
            </p:cxnSp>
            <p:grpSp>
              <p:nvGrpSpPr>
                <p:cNvPr id="121" name="群組 120">
                  <a:extLst>
                    <a:ext uri="{FF2B5EF4-FFF2-40B4-BE49-F238E27FC236}">
                      <a16:creationId xmlns:a16="http://schemas.microsoft.com/office/drawing/2014/main" id="{15BD5868-D346-C25D-F1B6-A73E705A0CA6}"/>
                    </a:ext>
                  </a:extLst>
                </p:cNvPr>
                <p:cNvGrpSpPr/>
                <p:nvPr/>
              </p:nvGrpSpPr>
              <p:grpSpPr>
                <a:xfrm>
                  <a:off x="2106509" y="1303447"/>
                  <a:ext cx="1404000" cy="469400"/>
                  <a:chOff x="2566383" y="4556351"/>
                  <a:chExt cx="1404000" cy="469400"/>
                </a:xfrm>
              </p:grpSpPr>
              <p:sp>
                <p:nvSpPr>
                  <p:cNvPr id="122" name="矩形 121">
                    <a:extLst>
                      <a:ext uri="{FF2B5EF4-FFF2-40B4-BE49-F238E27FC236}">
                        <a16:creationId xmlns:a16="http://schemas.microsoft.com/office/drawing/2014/main" id="{B69E2FF8-49C9-EBD5-7FFA-384819AB4E5F}"/>
                      </a:ext>
                    </a:extLst>
                  </p:cNvPr>
                  <p:cNvSpPr/>
                  <p:nvPr/>
                </p:nvSpPr>
                <p:spPr>
                  <a:xfrm>
                    <a:off x="2685547" y="4556351"/>
                    <a:ext cx="340241" cy="33481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23" name="橢圓 122">
                    <a:extLst>
                      <a:ext uri="{FF2B5EF4-FFF2-40B4-BE49-F238E27FC236}">
                        <a16:creationId xmlns:a16="http://schemas.microsoft.com/office/drawing/2014/main" id="{084465F4-A379-9120-EBD4-1463454BB9B0}"/>
                      </a:ext>
                    </a:extLst>
                  </p:cNvPr>
                  <p:cNvSpPr/>
                  <p:nvPr/>
                </p:nvSpPr>
                <p:spPr>
                  <a:xfrm>
                    <a:off x="2690862" y="4564269"/>
                    <a:ext cx="329609" cy="318977"/>
                  </a:xfrm>
                  <a:prstGeom prst="ellipse">
                    <a:avLst/>
                  </a:prstGeom>
                  <a:solidFill>
                    <a:schemeClr val="bg1">
                      <a:lumMod val="50000"/>
                    </a:schemeClr>
                  </a:solidFill>
                  <a:ln>
                    <a:solidFill>
                      <a:schemeClr val="tx2">
                        <a:lumMod val="7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24" name="橢圓 123">
                    <a:extLst>
                      <a:ext uri="{FF2B5EF4-FFF2-40B4-BE49-F238E27FC236}">
                        <a16:creationId xmlns:a16="http://schemas.microsoft.com/office/drawing/2014/main" id="{5289216D-E0CB-5F58-759B-1490A7D270EE}"/>
                      </a:ext>
                    </a:extLst>
                  </p:cNvPr>
                  <p:cNvSpPr/>
                  <p:nvPr/>
                </p:nvSpPr>
                <p:spPr>
                  <a:xfrm>
                    <a:off x="2832806" y="4700898"/>
                    <a:ext cx="45719" cy="45719"/>
                  </a:xfrm>
                  <a:prstGeom prst="ellipse">
                    <a:avLst/>
                  </a:prstGeom>
                  <a:solidFill>
                    <a:schemeClr val="bg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25" name="矩形 124">
                    <a:extLst>
                      <a:ext uri="{FF2B5EF4-FFF2-40B4-BE49-F238E27FC236}">
                        <a16:creationId xmlns:a16="http://schemas.microsoft.com/office/drawing/2014/main" id="{B746EF1B-874C-BC66-9A02-AB70382898E1}"/>
                      </a:ext>
                    </a:extLst>
                  </p:cNvPr>
                  <p:cNvSpPr/>
                  <p:nvPr/>
                </p:nvSpPr>
                <p:spPr>
                  <a:xfrm>
                    <a:off x="3099336" y="4556351"/>
                    <a:ext cx="340241" cy="33481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26" name="橢圓 125">
                    <a:extLst>
                      <a:ext uri="{FF2B5EF4-FFF2-40B4-BE49-F238E27FC236}">
                        <a16:creationId xmlns:a16="http://schemas.microsoft.com/office/drawing/2014/main" id="{3FAE1CF0-CD05-7A12-7655-19B45A19EACA}"/>
                      </a:ext>
                    </a:extLst>
                  </p:cNvPr>
                  <p:cNvSpPr/>
                  <p:nvPr/>
                </p:nvSpPr>
                <p:spPr>
                  <a:xfrm>
                    <a:off x="3104651" y="4564269"/>
                    <a:ext cx="329609" cy="318977"/>
                  </a:xfrm>
                  <a:prstGeom prst="ellipse">
                    <a:avLst/>
                  </a:prstGeom>
                  <a:solidFill>
                    <a:schemeClr val="bg1">
                      <a:lumMod val="50000"/>
                    </a:schemeClr>
                  </a:solidFill>
                  <a:ln>
                    <a:solidFill>
                      <a:schemeClr val="tx2">
                        <a:lumMod val="7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27" name="橢圓 126">
                    <a:extLst>
                      <a:ext uri="{FF2B5EF4-FFF2-40B4-BE49-F238E27FC236}">
                        <a16:creationId xmlns:a16="http://schemas.microsoft.com/office/drawing/2014/main" id="{21C7270B-BDE5-7C6A-E88B-AF6AAF75FC85}"/>
                      </a:ext>
                    </a:extLst>
                  </p:cNvPr>
                  <p:cNvSpPr/>
                  <p:nvPr/>
                </p:nvSpPr>
                <p:spPr>
                  <a:xfrm>
                    <a:off x="3246595" y="4700898"/>
                    <a:ext cx="45719" cy="45719"/>
                  </a:xfrm>
                  <a:prstGeom prst="ellipse">
                    <a:avLst/>
                  </a:prstGeom>
                  <a:solidFill>
                    <a:schemeClr val="bg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28" name="矩形 127">
                    <a:extLst>
                      <a:ext uri="{FF2B5EF4-FFF2-40B4-BE49-F238E27FC236}">
                        <a16:creationId xmlns:a16="http://schemas.microsoft.com/office/drawing/2014/main" id="{EAD22A1C-8EC3-7E27-CB2A-3F8645CEBDC1}"/>
                      </a:ext>
                    </a:extLst>
                  </p:cNvPr>
                  <p:cNvSpPr/>
                  <p:nvPr/>
                </p:nvSpPr>
                <p:spPr>
                  <a:xfrm>
                    <a:off x="3516783" y="4556351"/>
                    <a:ext cx="340241" cy="33481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29" name="橢圓 128">
                    <a:extLst>
                      <a:ext uri="{FF2B5EF4-FFF2-40B4-BE49-F238E27FC236}">
                        <a16:creationId xmlns:a16="http://schemas.microsoft.com/office/drawing/2014/main" id="{1B772BBC-874B-98FD-9675-49029A4792EE}"/>
                      </a:ext>
                    </a:extLst>
                  </p:cNvPr>
                  <p:cNvSpPr/>
                  <p:nvPr/>
                </p:nvSpPr>
                <p:spPr>
                  <a:xfrm>
                    <a:off x="3522098" y="4564269"/>
                    <a:ext cx="329609" cy="318977"/>
                  </a:xfrm>
                  <a:prstGeom prst="ellipse">
                    <a:avLst/>
                  </a:prstGeom>
                  <a:solidFill>
                    <a:schemeClr val="bg1">
                      <a:lumMod val="50000"/>
                    </a:schemeClr>
                  </a:solidFill>
                  <a:ln>
                    <a:solidFill>
                      <a:schemeClr val="tx2">
                        <a:lumMod val="7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30" name="橢圓 129">
                    <a:extLst>
                      <a:ext uri="{FF2B5EF4-FFF2-40B4-BE49-F238E27FC236}">
                        <a16:creationId xmlns:a16="http://schemas.microsoft.com/office/drawing/2014/main" id="{154D7D93-B68E-025F-9B54-37378D0B534F}"/>
                      </a:ext>
                    </a:extLst>
                  </p:cNvPr>
                  <p:cNvSpPr/>
                  <p:nvPr/>
                </p:nvSpPr>
                <p:spPr>
                  <a:xfrm>
                    <a:off x="3664042" y="4700898"/>
                    <a:ext cx="45719" cy="45719"/>
                  </a:xfrm>
                  <a:prstGeom prst="ellipse">
                    <a:avLst/>
                  </a:prstGeom>
                  <a:solidFill>
                    <a:schemeClr val="bg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31" name="矩形 130">
                    <a:extLst>
                      <a:ext uri="{FF2B5EF4-FFF2-40B4-BE49-F238E27FC236}">
                        <a16:creationId xmlns:a16="http://schemas.microsoft.com/office/drawing/2014/main" id="{6F41EB85-714E-3E6B-475D-E25B014C59EB}"/>
                      </a:ext>
                    </a:extLst>
                  </p:cNvPr>
                  <p:cNvSpPr/>
                  <p:nvPr/>
                </p:nvSpPr>
                <p:spPr>
                  <a:xfrm>
                    <a:off x="2566383" y="4893701"/>
                    <a:ext cx="1404000" cy="132050"/>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cxnSp>
            <p:nvCxnSpPr>
              <p:cNvPr id="40" name="直線接點 39">
                <a:extLst>
                  <a:ext uri="{FF2B5EF4-FFF2-40B4-BE49-F238E27FC236}">
                    <a16:creationId xmlns:a16="http://schemas.microsoft.com/office/drawing/2014/main" id="{7A982DF2-68B6-EC35-CB2C-3E8A2367BDD3}"/>
                  </a:ext>
                </a:extLst>
              </p:cNvPr>
              <p:cNvCxnSpPr>
                <a:cxnSpLocks/>
              </p:cNvCxnSpPr>
              <p:nvPr/>
            </p:nvCxnSpPr>
            <p:spPr>
              <a:xfrm>
                <a:off x="2913395" y="4055897"/>
                <a:ext cx="509667"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41" name="矩形: 剪去同側角落 40">
                <a:extLst>
                  <a:ext uri="{FF2B5EF4-FFF2-40B4-BE49-F238E27FC236}">
                    <a16:creationId xmlns:a16="http://schemas.microsoft.com/office/drawing/2014/main" id="{943073D1-D684-2C96-52F1-AF7595888D07}"/>
                  </a:ext>
                </a:extLst>
              </p:cNvPr>
              <p:cNvSpPr/>
              <p:nvPr/>
            </p:nvSpPr>
            <p:spPr>
              <a:xfrm rot="5400000">
                <a:off x="3397343" y="3743633"/>
                <a:ext cx="461189" cy="637492"/>
              </a:xfrm>
              <a:prstGeom prst="snip2SameRect">
                <a:avLst>
                  <a:gd name="adj1" fmla="val 16667"/>
                  <a:gd name="adj2" fmla="val 0"/>
                </a:avLst>
              </a:prstGeom>
              <a:solidFill>
                <a:schemeClr val="accent3">
                  <a:lumMod val="60000"/>
                  <a:lumOff val="40000"/>
                </a:schemeClr>
              </a:solidFill>
              <a:ln>
                <a:solidFill>
                  <a:schemeClr val="tx1"/>
                </a:solidFill>
              </a:ln>
              <a:scene3d>
                <a:camera prst="orthographicFront"/>
                <a:lightRig rig="threePt" dir="t"/>
              </a:scene3d>
              <a:sp3d>
                <a:bevelT w="139700" h="139700" prst="divo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nvGrpSpPr>
              <p:cNvPr id="42" name="群組 41">
                <a:extLst>
                  <a:ext uri="{FF2B5EF4-FFF2-40B4-BE49-F238E27FC236}">
                    <a16:creationId xmlns:a16="http://schemas.microsoft.com/office/drawing/2014/main" id="{C4E83C63-60B2-B9FB-4AF3-7663797DEC06}"/>
                  </a:ext>
                </a:extLst>
              </p:cNvPr>
              <p:cNvGrpSpPr/>
              <p:nvPr/>
            </p:nvGrpSpPr>
            <p:grpSpPr>
              <a:xfrm>
                <a:off x="815442" y="3530104"/>
                <a:ext cx="2161181" cy="1002253"/>
                <a:chOff x="1444245" y="3863775"/>
                <a:chExt cx="4399965" cy="1775476"/>
              </a:xfrm>
            </p:grpSpPr>
            <p:sp>
              <p:nvSpPr>
                <p:cNvPr id="74" name="矩形 73">
                  <a:extLst>
                    <a:ext uri="{FF2B5EF4-FFF2-40B4-BE49-F238E27FC236}">
                      <a16:creationId xmlns:a16="http://schemas.microsoft.com/office/drawing/2014/main" id="{AC99F839-D136-3996-FE74-2F96ECBB64DE}"/>
                    </a:ext>
                  </a:extLst>
                </p:cNvPr>
                <p:cNvSpPr/>
                <p:nvPr/>
              </p:nvSpPr>
              <p:spPr>
                <a:xfrm>
                  <a:off x="1737442" y="3863775"/>
                  <a:ext cx="4106768" cy="1775476"/>
                </a:xfrm>
                <a:prstGeom prst="rect">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75" name="直線接點 74">
                  <a:extLst>
                    <a:ext uri="{FF2B5EF4-FFF2-40B4-BE49-F238E27FC236}">
                      <a16:creationId xmlns:a16="http://schemas.microsoft.com/office/drawing/2014/main" id="{9097D841-C875-E511-F4EC-797AA4B4233D}"/>
                    </a:ext>
                  </a:extLst>
                </p:cNvPr>
                <p:cNvCxnSpPr>
                  <a:cxnSpLocks/>
                </p:cNvCxnSpPr>
                <p:nvPr/>
              </p:nvCxnSpPr>
              <p:spPr>
                <a:xfrm flipV="1">
                  <a:off x="1444245" y="4742924"/>
                  <a:ext cx="705398" cy="4"/>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76" name="群組 75">
                  <a:extLst>
                    <a:ext uri="{FF2B5EF4-FFF2-40B4-BE49-F238E27FC236}">
                      <a16:creationId xmlns:a16="http://schemas.microsoft.com/office/drawing/2014/main" id="{FBC34B34-40DA-2B51-F651-ED9ED6B11C20}"/>
                    </a:ext>
                  </a:extLst>
                </p:cNvPr>
                <p:cNvGrpSpPr/>
                <p:nvPr/>
              </p:nvGrpSpPr>
              <p:grpSpPr>
                <a:xfrm>
                  <a:off x="1959051" y="4079177"/>
                  <a:ext cx="3755037" cy="1470254"/>
                  <a:chOff x="5452495" y="1690688"/>
                  <a:chExt cx="3755037" cy="1470254"/>
                </a:xfrm>
              </p:grpSpPr>
              <p:grpSp>
                <p:nvGrpSpPr>
                  <p:cNvPr id="77" name="群組 76">
                    <a:extLst>
                      <a:ext uri="{FF2B5EF4-FFF2-40B4-BE49-F238E27FC236}">
                        <a16:creationId xmlns:a16="http://schemas.microsoft.com/office/drawing/2014/main" id="{EB0B441F-43AF-5BD9-1027-BDEFFBDCACFA}"/>
                      </a:ext>
                    </a:extLst>
                  </p:cNvPr>
                  <p:cNvGrpSpPr/>
                  <p:nvPr/>
                </p:nvGrpSpPr>
                <p:grpSpPr>
                  <a:xfrm>
                    <a:off x="5452495" y="1690688"/>
                    <a:ext cx="3755037" cy="1325563"/>
                    <a:chOff x="5452495" y="1690688"/>
                    <a:chExt cx="5182376" cy="1898258"/>
                  </a:xfrm>
                </p:grpSpPr>
                <p:grpSp>
                  <p:nvGrpSpPr>
                    <p:cNvPr id="79" name="群組 78">
                      <a:extLst>
                        <a:ext uri="{FF2B5EF4-FFF2-40B4-BE49-F238E27FC236}">
                          <a16:creationId xmlns:a16="http://schemas.microsoft.com/office/drawing/2014/main" id="{7E4C990D-7FC6-1F3C-B9B4-796EEA48E8B7}"/>
                        </a:ext>
                      </a:extLst>
                    </p:cNvPr>
                    <p:cNvGrpSpPr/>
                    <p:nvPr/>
                  </p:nvGrpSpPr>
                  <p:grpSpPr>
                    <a:xfrm>
                      <a:off x="5452495" y="1690688"/>
                      <a:ext cx="5182376" cy="1898258"/>
                      <a:chOff x="7182049" y="4957016"/>
                      <a:chExt cx="2683845" cy="994597"/>
                    </a:xfrm>
                  </p:grpSpPr>
                  <p:sp>
                    <p:nvSpPr>
                      <p:cNvPr id="118" name="矩形 117">
                        <a:extLst>
                          <a:ext uri="{FF2B5EF4-FFF2-40B4-BE49-F238E27FC236}">
                            <a16:creationId xmlns:a16="http://schemas.microsoft.com/office/drawing/2014/main" id="{24E7C0DF-6913-EB3C-B911-0E4F17412F9A}"/>
                          </a:ext>
                        </a:extLst>
                      </p:cNvPr>
                      <p:cNvSpPr/>
                      <p:nvPr/>
                    </p:nvSpPr>
                    <p:spPr>
                      <a:xfrm>
                        <a:off x="7182049" y="4957016"/>
                        <a:ext cx="2683845" cy="994597"/>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119" name="直線接點 118">
                        <a:extLst>
                          <a:ext uri="{FF2B5EF4-FFF2-40B4-BE49-F238E27FC236}">
                            <a16:creationId xmlns:a16="http://schemas.microsoft.com/office/drawing/2014/main" id="{A1D42AE9-3BB5-61F8-BF9C-55ACE8D21360}"/>
                          </a:ext>
                        </a:extLst>
                      </p:cNvPr>
                      <p:cNvCxnSpPr>
                        <a:stCxn id="118" idx="1"/>
                        <a:endCxn id="118" idx="3"/>
                      </p:cNvCxnSpPr>
                      <p:nvPr/>
                    </p:nvCxnSpPr>
                    <p:spPr>
                      <a:xfrm>
                        <a:off x="7182049" y="5454315"/>
                        <a:ext cx="2683845" cy="0"/>
                      </a:xfrm>
                      <a:prstGeom prst="line">
                        <a:avLst/>
                      </a:prstGeom>
                      <a:ln w="57150">
                        <a:solidFill>
                          <a:schemeClr val="bg1">
                            <a:lumMod val="50000"/>
                          </a:schemeClr>
                        </a:solidFill>
                      </a:ln>
                      <a:effectLst>
                        <a:glow rad="101600">
                          <a:schemeClr val="bg1">
                            <a:lumMod val="65000"/>
                            <a:alpha val="60000"/>
                          </a:schemeClr>
                        </a:glow>
                      </a:effectLst>
                    </p:spPr>
                    <p:style>
                      <a:lnRef idx="1">
                        <a:schemeClr val="accent1"/>
                      </a:lnRef>
                      <a:fillRef idx="0">
                        <a:schemeClr val="accent1"/>
                      </a:fillRef>
                      <a:effectRef idx="0">
                        <a:schemeClr val="accent1"/>
                      </a:effectRef>
                      <a:fontRef idx="minor">
                        <a:schemeClr val="tx1"/>
                      </a:fontRef>
                    </p:style>
                  </p:cxnSp>
                </p:grpSp>
                <p:grpSp>
                  <p:nvGrpSpPr>
                    <p:cNvPr id="80" name="群組 79">
                      <a:extLst>
                        <a:ext uri="{FF2B5EF4-FFF2-40B4-BE49-F238E27FC236}">
                          <a16:creationId xmlns:a16="http://schemas.microsoft.com/office/drawing/2014/main" id="{CE0D326B-DED8-8475-B1AA-120AFCE81585}"/>
                        </a:ext>
                      </a:extLst>
                    </p:cNvPr>
                    <p:cNvGrpSpPr/>
                    <p:nvPr/>
                  </p:nvGrpSpPr>
                  <p:grpSpPr>
                    <a:xfrm>
                      <a:off x="5789803" y="2366525"/>
                      <a:ext cx="3623052" cy="546584"/>
                      <a:chOff x="5646496" y="3137430"/>
                      <a:chExt cx="3623052" cy="546584"/>
                    </a:xfrm>
                  </p:grpSpPr>
                  <p:grpSp>
                    <p:nvGrpSpPr>
                      <p:cNvPr id="91" name="群組 90">
                        <a:extLst>
                          <a:ext uri="{FF2B5EF4-FFF2-40B4-BE49-F238E27FC236}">
                            <a16:creationId xmlns:a16="http://schemas.microsoft.com/office/drawing/2014/main" id="{1EBC59BD-BB5A-6BD8-BCD1-5712190A6E06}"/>
                          </a:ext>
                        </a:extLst>
                      </p:cNvPr>
                      <p:cNvGrpSpPr/>
                      <p:nvPr/>
                    </p:nvGrpSpPr>
                    <p:grpSpPr>
                      <a:xfrm>
                        <a:off x="5646496" y="3141495"/>
                        <a:ext cx="1197015" cy="542519"/>
                        <a:chOff x="8338333" y="3971052"/>
                        <a:chExt cx="391256" cy="490702"/>
                      </a:xfrm>
                    </p:grpSpPr>
                    <p:sp>
                      <p:nvSpPr>
                        <p:cNvPr id="110" name="矩形 109">
                          <a:extLst>
                            <a:ext uri="{FF2B5EF4-FFF2-40B4-BE49-F238E27FC236}">
                              <a16:creationId xmlns:a16="http://schemas.microsoft.com/office/drawing/2014/main" id="{6FF4B821-B07B-E2DA-1219-96A4707671F3}"/>
                            </a:ext>
                          </a:extLst>
                        </p:cNvPr>
                        <p:cNvSpPr/>
                        <p:nvPr/>
                      </p:nvSpPr>
                      <p:spPr>
                        <a:xfrm>
                          <a:off x="8387142" y="3971052"/>
                          <a:ext cx="45719" cy="488667"/>
                        </a:xfrm>
                        <a:prstGeom prst="rect">
                          <a:avLst/>
                        </a:prstGeom>
                        <a:solidFill>
                          <a:srgbClr val="0070C0">
                            <a:alpha val="50000"/>
                          </a:srgb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11" name="矩形 110">
                          <a:extLst>
                            <a:ext uri="{FF2B5EF4-FFF2-40B4-BE49-F238E27FC236}">
                              <a16:creationId xmlns:a16="http://schemas.microsoft.com/office/drawing/2014/main" id="{6B802E0A-6629-C43E-506B-7B705A8F3F79}"/>
                            </a:ext>
                          </a:extLst>
                        </p:cNvPr>
                        <p:cNvSpPr/>
                        <p:nvPr/>
                      </p:nvSpPr>
                      <p:spPr>
                        <a:xfrm>
                          <a:off x="8338333" y="3971052"/>
                          <a:ext cx="45719" cy="488667"/>
                        </a:xfrm>
                        <a:prstGeom prst="rect">
                          <a:avLst/>
                        </a:prstGeom>
                        <a:solidFill>
                          <a:schemeClr val="accent1">
                            <a:lumMod val="75000"/>
                            <a:alpha val="50000"/>
                          </a:scheme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12" name="矩形 111">
                          <a:extLst>
                            <a:ext uri="{FF2B5EF4-FFF2-40B4-BE49-F238E27FC236}">
                              <a16:creationId xmlns:a16="http://schemas.microsoft.com/office/drawing/2014/main" id="{8F4FCD53-958A-7F16-D88C-017C95101158}"/>
                            </a:ext>
                          </a:extLst>
                        </p:cNvPr>
                        <p:cNvSpPr/>
                        <p:nvPr/>
                      </p:nvSpPr>
                      <p:spPr>
                        <a:xfrm>
                          <a:off x="8484752" y="3973087"/>
                          <a:ext cx="45719" cy="488667"/>
                        </a:xfrm>
                        <a:prstGeom prst="rect">
                          <a:avLst/>
                        </a:prstGeom>
                        <a:solidFill>
                          <a:srgbClr val="0070C0">
                            <a:alpha val="50000"/>
                          </a:srgb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13" name="矩形 112">
                          <a:extLst>
                            <a:ext uri="{FF2B5EF4-FFF2-40B4-BE49-F238E27FC236}">
                              <a16:creationId xmlns:a16="http://schemas.microsoft.com/office/drawing/2014/main" id="{802051F2-7AE4-873A-47E2-E33AA2B7A8CA}"/>
                            </a:ext>
                          </a:extLst>
                        </p:cNvPr>
                        <p:cNvSpPr/>
                        <p:nvPr/>
                      </p:nvSpPr>
                      <p:spPr>
                        <a:xfrm>
                          <a:off x="8434269" y="3971052"/>
                          <a:ext cx="45719" cy="488667"/>
                        </a:xfrm>
                        <a:prstGeom prst="rect">
                          <a:avLst/>
                        </a:prstGeom>
                        <a:solidFill>
                          <a:schemeClr val="accent1">
                            <a:lumMod val="75000"/>
                            <a:alpha val="50000"/>
                          </a:scheme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14" name="矩形 113">
                          <a:extLst>
                            <a:ext uri="{FF2B5EF4-FFF2-40B4-BE49-F238E27FC236}">
                              <a16:creationId xmlns:a16="http://schemas.microsoft.com/office/drawing/2014/main" id="{5B188B4D-D771-5F6B-C23D-558B1B07AB5C}"/>
                            </a:ext>
                          </a:extLst>
                        </p:cNvPr>
                        <p:cNvSpPr/>
                        <p:nvPr/>
                      </p:nvSpPr>
                      <p:spPr>
                        <a:xfrm>
                          <a:off x="8585954" y="3971052"/>
                          <a:ext cx="45719" cy="488667"/>
                        </a:xfrm>
                        <a:prstGeom prst="rect">
                          <a:avLst/>
                        </a:prstGeom>
                        <a:solidFill>
                          <a:srgbClr val="0070C0">
                            <a:alpha val="50000"/>
                          </a:srgb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15" name="矩形 114">
                          <a:extLst>
                            <a:ext uri="{FF2B5EF4-FFF2-40B4-BE49-F238E27FC236}">
                              <a16:creationId xmlns:a16="http://schemas.microsoft.com/office/drawing/2014/main" id="{DD94CEBD-3D24-785F-07AD-6B810E8AD1A3}"/>
                            </a:ext>
                          </a:extLst>
                        </p:cNvPr>
                        <p:cNvSpPr/>
                        <p:nvPr/>
                      </p:nvSpPr>
                      <p:spPr>
                        <a:xfrm>
                          <a:off x="8534754" y="3971362"/>
                          <a:ext cx="45719" cy="488667"/>
                        </a:xfrm>
                        <a:prstGeom prst="rect">
                          <a:avLst/>
                        </a:prstGeom>
                        <a:solidFill>
                          <a:schemeClr val="accent1">
                            <a:lumMod val="75000"/>
                            <a:alpha val="50000"/>
                          </a:scheme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16" name="矩形 115">
                          <a:extLst>
                            <a:ext uri="{FF2B5EF4-FFF2-40B4-BE49-F238E27FC236}">
                              <a16:creationId xmlns:a16="http://schemas.microsoft.com/office/drawing/2014/main" id="{2C3391C0-F858-A398-B645-9C3414717D24}"/>
                            </a:ext>
                          </a:extLst>
                        </p:cNvPr>
                        <p:cNvSpPr/>
                        <p:nvPr/>
                      </p:nvSpPr>
                      <p:spPr>
                        <a:xfrm>
                          <a:off x="8683870" y="3971052"/>
                          <a:ext cx="45719" cy="488667"/>
                        </a:xfrm>
                        <a:prstGeom prst="rect">
                          <a:avLst/>
                        </a:prstGeom>
                        <a:solidFill>
                          <a:srgbClr val="0070C0">
                            <a:alpha val="50000"/>
                          </a:srgb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17" name="矩形 116">
                          <a:extLst>
                            <a:ext uri="{FF2B5EF4-FFF2-40B4-BE49-F238E27FC236}">
                              <a16:creationId xmlns:a16="http://schemas.microsoft.com/office/drawing/2014/main" id="{7D8A4147-0145-A908-B07A-030065DCE091}"/>
                            </a:ext>
                          </a:extLst>
                        </p:cNvPr>
                        <p:cNvSpPr/>
                        <p:nvPr/>
                      </p:nvSpPr>
                      <p:spPr>
                        <a:xfrm>
                          <a:off x="8632706" y="3971052"/>
                          <a:ext cx="45719" cy="488667"/>
                        </a:xfrm>
                        <a:prstGeom prst="rect">
                          <a:avLst/>
                        </a:prstGeom>
                        <a:solidFill>
                          <a:schemeClr val="accent1">
                            <a:lumMod val="75000"/>
                            <a:alpha val="50000"/>
                          </a:scheme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nvGrpSpPr>
                      <p:cNvPr id="92" name="群組 91">
                        <a:extLst>
                          <a:ext uri="{FF2B5EF4-FFF2-40B4-BE49-F238E27FC236}">
                            <a16:creationId xmlns:a16="http://schemas.microsoft.com/office/drawing/2014/main" id="{F688CCA2-FB3D-5DDE-45BA-B9BB2F4C0EE1}"/>
                          </a:ext>
                        </a:extLst>
                      </p:cNvPr>
                      <p:cNvGrpSpPr/>
                      <p:nvPr/>
                    </p:nvGrpSpPr>
                    <p:grpSpPr>
                      <a:xfrm>
                        <a:off x="6943069" y="3137430"/>
                        <a:ext cx="1137089" cy="540269"/>
                        <a:chOff x="7556468" y="3141495"/>
                        <a:chExt cx="1823500" cy="1690702"/>
                      </a:xfrm>
                    </p:grpSpPr>
                    <p:sp>
                      <p:nvSpPr>
                        <p:cNvPr id="102" name="矩形 101">
                          <a:extLst>
                            <a:ext uri="{FF2B5EF4-FFF2-40B4-BE49-F238E27FC236}">
                              <a16:creationId xmlns:a16="http://schemas.microsoft.com/office/drawing/2014/main" id="{2284188D-4DBE-368F-D39D-98419C635FEB}"/>
                            </a:ext>
                          </a:extLst>
                        </p:cNvPr>
                        <p:cNvSpPr/>
                        <p:nvPr/>
                      </p:nvSpPr>
                      <p:spPr>
                        <a:xfrm>
                          <a:off x="7783949" y="3141495"/>
                          <a:ext cx="213079" cy="1683690"/>
                        </a:xfrm>
                        <a:prstGeom prst="rect">
                          <a:avLst/>
                        </a:prstGeom>
                        <a:solidFill>
                          <a:schemeClr val="accent6">
                            <a:lumMod val="60000"/>
                            <a:lumOff val="40000"/>
                            <a:alpha val="50000"/>
                          </a:scheme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03" name="矩形 102">
                          <a:extLst>
                            <a:ext uri="{FF2B5EF4-FFF2-40B4-BE49-F238E27FC236}">
                              <a16:creationId xmlns:a16="http://schemas.microsoft.com/office/drawing/2014/main" id="{0CDBCBD2-4346-01FD-0507-B90350059D65}"/>
                            </a:ext>
                          </a:extLst>
                        </p:cNvPr>
                        <p:cNvSpPr/>
                        <p:nvPr/>
                      </p:nvSpPr>
                      <p:spPr>
                        <a:xfrm>
                          <a:off x="7556468" y="3141495"/>
                          <a:ext cx="213079" cy="1683690"/>
                        </a:xfrm>
                        <a:prstGeom prst="rect">
                          <a:avLst/>
                        </a:prstGeom>
                        <a:solidFill>
                          <a:srgbClr val="00B050">
                            <a:alpha val="50000"/>
                          </a:srgb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04" name="矩形 103">
                          <a:extLst>
                            <a:ext uri="{FF2B5EF4-FFF2-40B4-BE49-F238E27FC236}">
                              <a16:creationId xmlns:a16="http://schemas.microsoft.com/office/drawing/2014/main" id="{BB76141B-5CEC-74C5-E918-5722D518B1F6}"/>
                            </a:ext>
                          </a:extLst>
                        </p:cNvPr>
                        <p:cNvSpPr/>
                        <p:nvPr/>
                      </p:nvSpPr>
                      <p:spPr>
                        <a:xfrm>
                          <a:off x="8238873" y="3148507"/>
                          <a:ext cx="213079" cy="1683690"/>
                        </a:xfrm>
                        <a:prstGeom prst="rect">
                          <a:avLst/>
                        </a:prstGeom>
                        <a:solidFill>
                          <a:schemeClr val="accent6">
                            <a:lumMod val="60000"/>
                            <a:lumOff val="40000"/>
                            <a:alpha val="50000"/>
                          </a:scheme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05" name="矩形 104">
                          <a:extLst>
                            <a:ext uri="{FF2B5EF4-FFF2-40B4-BE49-F238E27FC236}">
                              <a16:creationId xmlns:a16="http://schemas.microsoft.com/office/drawing/2014/main" id="{E5B3A7E0-BA0B-5A47-D3B0-35D91D79B646}"/>
                            </a:ext>
                          </a:extLst>
                        </p:cNvPr>
                        <p:cNvSpPr/>
                        <p:nvPr/>
                      </p:nvSpPr>
                      <p:spPr>
                        <a:xfrm>
                          <a:off x="8003590" y="3141495"/>
                          <a:ext cx="213079" cy="1683690"/>
                        </a:xfrm>
                        <a:prstGeom prst="rect">
                          <a:avLst/>
                        </a:prstGeom>
                        <a:solidFill>
                          <a:srgbClr val="00B050">
                            <a:alpha val="50000"/>
                          </a:srgb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06" name="矩形 105">
                          <a:extLst>
                            <a:ext uri="{FF2B5EF4-FFF2-40B4-BE49-F238E27FC236}">
                              <a16:creationId xmlns:a16="http://schemas.microsoft.com/office/drawing/2014/main" id="{FD0B46C3-73B8-CF5C-8210-BC2F2DD28935}"/>
                            </a:ext>
                          </a:extLst>
                        </p:cNvPr>
                        <p:cNvSpPr/>
                        <p:nvPr/>
                      </p:nvSpPr>
                      <p:spPr>
                        <a:xfrm>
                          <a:off x="8710538" y="3141495"/>
                          <a:ext cx="213079" cy="1683690"/>
                        </a:xfrm>
                        <a:prstGeom prst="rect">
                          <a:avLst/>
                        </a:prstGeom>
                        <a:solidFill>
                          <a:schemeClr val="accent6">
                            <a:lumMod val="60000"/>
                            <a:lumOff val="40000"/>
                            <a:alpha val="50000"/>
                          </a:scheme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07" name="矩形 106">
                          <a:extLst>
                            <a:ext uri="{FF2B5EF4-FFF2-40B4-BE49-F238E27FC236}">
                              <a16:creationId xmlns:a16="http://schemas.microsoft.com/office/drawing/2014/main" id="{D721077B-0A95-16AF-0070-976EB2F69F5F}"/>
                            </a:ext>
                          </a:extLst>
                        </p:cNvPr>
                        <p:cNvSpPr/>
                        <p:nvPr/>
                      </p:nvSpPr>
                      <p:spPr>
                        <a:xfrm>
                          <a:off x="8471914" y="3142563"/>
                          <a:ext cx="213079" cy="1683690"/>
                        </a:xfrm>
                        <a:prstGeom prst="rect">
                          <a:avLst/>
                        </a:prstGeom>
                        <a:solidFill>
                          <a:srgbClr val="00B050">
                            <a:alpha val="50000"/>
                          </a:srgb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08" name="矩形 107">
                          <a:extLst>
                            <a:ext uri="{FF2B5EF4-FFF2-40B4-BE49-F238E27FC236}">
                              <a16:creationId xmlns:a16="http://schemas.microsoft.com/office/drawing/2014/main" id="{6C7A1DDC-13B8-2276-DDB3-DD21E6D31381}"/>
                            </a:ext>
                          </a:extLst>
                        </p:cNvPr>
                        <p:cNvSpPr/>
                        <p:nvPr/>
                      </p:nvSpPr>
                      <p:spPr>
                        <a:xfrm>
                          <a:off x="9166889" y="3141495"/>
                          <a:ext cx="213079" cy="1683690"/>
                        </a:xfrm>
                        <a:prstGeom prst="rect">
                          <a:avLst/>
                        </a:prstGeom>
                        <a:solidFill>
                          <a:schemeClr val="accent6">
                            <a:lumMod val="60000"/>
                            <a:lumOff val="40000"/>
                            <a:alpha val="50000"/>
                          </a:scheme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09" name="矩形 108">
                          <a:extLst>
                            <a:ext uri="{FF2B5EF4-FFF2-40B4-BE49-F238E27FC236}">
                              <a16:creationId xmlns:a16="http://schemas.microsoft.com/office/drawing/2014/main" id="{40BAB87F-37BE-DBB7-C342-0DEC53DFEDBB}"/>
                            </a:ext>
                          </a:extLst>
                        </p:cNvPr>
                        <p:cNvSpPr/>
                        <p:nvPr/>
                      </p:nvSpPr>
                      <p:spPr>
                        <a:xfrm>
                          <a:off x="8928432" y="3141495"/>
                          <a:ext cx="213079" cy="1683690"/>
                        </a:xfrm>
                        <a:prstGeom prst="rect">
                          <a:avLst/>
                        </a:prstGeom>
                        <a:solidFill>
                          <a:srgbClr val="00B050">
                            <a:alpha val="50000"/>
                          </a:srgb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nvGrpSpPr>
                      <p:cNvPr id="93" name="群組 92">
                        <a:extLst>
                          <a:ext uri="{FF2B5EF4-FFF2-40B4-BE49-F238E27FC236}">
                            <a16:creationId xmlns:a16="http://schemas.microsoft.com/office/drawing/2014/main" id="{335AE051-0131-E11C-559C-81EBE1D7B05E}"/>
                          </a:ext>
                        </a:extLst>
                      </p:cNvPr>
                      <p:cNvGrpSpPr/>
                      <p:nvPr/>
                    </p:nvGrpSpPr>
                    <p:grpSpPr>
                      <a:xfrm>
                        <a:off x="8192884" y="3139350"/>
                        <a:ext cx="1076664" cy="542757"/>
                        <a:chOff x="8338333" y="3971052"/>
                        <a:chExt cx="391256" cy="490791"/>
                      </a:xfrm>
                    </p:grpSpPr>
                    <p:sp>
                      <p:nvSpPr>
                        <p:cNvPr id="94" name="矩形 93">
                          <a:extLst>
                            <a:ext uri="{FF2B5EF4-FFF2-40B4-BE49-F238E27FC236}">
                              <a16:creationId xmlns:a16="http://schemas.microsoft.com/office/drawing/2014/main" id="{F5BC175A-F851-D115-3D8C-ACCB16B25E94}"/>
                            </a:ext>
                          </a:extLst>
                        </p:cNvPr>
                        <p:cNvSpPr/>
                        <p:nvPr/>
                      </p:nvSpPr>
                      <p:spPr>
                        <a:xfrm>
                          <a:off x="8387142" y="3971052"/>
                          <a:ext cx="45719" cy="488667"/>
                        </a:xfrm>
                        <a:prstGeom prst="rect">
                          <a:avLst/>
                        </a:prstGeom>
                        <a:solidFill>
                          <a:srgbClr val="0070C0">
                            <a:alpha val="50000"/>
                          </a:srgb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95" name="矩形 94">
                          <a:extLst>
                            <a:ext uri="{FF2B5EF4-FFF2-40B4-BE49-F238E27FC236}">
                              <a16:creationId xmlns:a16="http://schemas.microsoft.com/office/drawing/2014/main" id="{18702BBB-12E8-3A16-26E1-2E849AC0B489}"/>
                            </a:ext>
                          </a:extLst>
                        </p:cNvPr>
                        <p:cNvSpPr/>
                        <p:nvPr/>
                      </p:nvSpPr>
                      <p:spPr>
                        <a:xfrm>
                          <a:off x="8338333" y="3971052"/>
                          <a:ext cx="45719" cy="488667"/>
                        </a:xfrm>
                        <a:prstGeom prst="rect">
                          <a:avLst/>
                        </a:prstGeom>
                        <a:solidFill>
                          <a:schemeClr val="accent1">
                            <a:lumMod val="75000"/>
                            <a:alpha val="50000"/>
                          </a:scheme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96" name="矩形 95">
                          <a:extLst>
                            <a:ext uri="{FF2B5EF4-FFF2-40B4-BE49-F238E27FC236}">
                              <a16:creationId xmlns:a16="http://schemas.microsoft.com/office/drawing/2014/main" id="{3627198C-B9F4-86CA-26BE-9A49D5CB52B3}"/>
                            </a:ext>
                          </a:extLst>
                        </p:cNvPr>
                        <p:cNvSpPr/>
                        <p:nvPr/>
                      </p:nvSpPr>
                      <p:spPr>
                        <a:xfrm>
                          <a:off x="8484752" y="3973176"/>
                          <a:ext cx="45719" cy="488667"/>
                        </a:xfrm>
                        <a:prstGeom prst="rect">
                          <a:avLst/>
                        </a:prstGeom>
                        <a:solidFill>
                          <a:srgbClr val="0070C0">
                            <a:alpha val="50000"/>
                          </a:srgb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97" name="矩形 96">
                          <a:extLst>
                            <a:ext uri="{FF2B5EF4-FFF2-40B4-BE49-F238E27FC236}">
                              <a16:creationId xmlns:a16="http://schemas.microsoft.com/office/drawing/2014/main" id="{6AD87027-B945-8148-C71B-92BF3F1687C8}"/>
                            </a:ext>
                          </a:extLst>
                        </p:cNvPr>
                        <p:cNvSpPr/>
                        <p:nvPr/>
                      </p:nvSpPr>
                      <p:spPr>
                        <a:xfrm>
                          <a:off x="8434269" y="3971052"/>
                          <a:ext cx="45719" cy="488667"/>
                        </a:xfrm>
                        <a:prstGeom prst="rect">
                          <a:avLst/>
                        </a:prstGeom>
                        <a:solidFill>
                          <a:schemeClr val="accent1">
                            <a:lumMod val="75000"/>
                            <a:alpha val="50000"/>
                          </a:scheme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98" name="矩形 97">
                          <a:extLst>
                            <a:ext uri="{FF2B5EF4-FFF2-40B4-BE49-F238E27FC236}">
                              <a16:creationId xmlns:a16="http://schemas.microsoft.com/office/drawing/2014/main" id="{D2B37D69-21D2-8EC9-F0CA-75BF5A67E023}"/>
                            </a:ext>
                          </a:extLst>
                        </p:cNvPr>
                        <p:cNvSpPr/>
                        <p:nvPr/>
                      </p:nvSpPr>
                      <p:spPr>
                        <a:xfrm>
                          <a:off x="8585954" y="3971052"/>
                          <a:ext cx="45719" cy="488667"/>
                        </a:xfrm>
                        <a:prstGeom prst="rect">
                          <a:avLst/>
                        </a:prstGeom>
                        <a:solidFill>
                          <a:srgbClr val="0070C0">
                            <a:alpha val="50000"/>
                          </a:srgb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99" name="矩形 98">
                          <a:extLst>
                            <a:ext uri="{FF2B5EF4-FFF2-40B4-BE49-F238E27FC236}">
                              <a16:creationId xmlns:a16="http://schemas.microsoft.com/office/drawing/2014/main" id="{D88BB073-0558-4517-8176-485E5847D833}"/>
                            </a:ext>
                          </a:extLst>
                        </p:cNvPr>
                        <p:cNvSpPr/>
                        <p:nvPr/>
                      </p:nvSpPr>
                      <p:spPr>
                        <a:xfrm>
                          <a:off x="8534754" y="3971450"/>
                          <a:ext cx="45719" cy="488667"/>
                        </a:xfrm>
                        <a:prstGeom prst="rect">
                          <a:avLst/>
                        </a:prstGeom>
                        <a:solidFill>
                          <a:schemeClr val="accent1">
                            <a:lumMod val="75000"/>
                            <a:alpha val="50000"/>
                          </a:scheme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00" name="矩形 99">
                          <a:extLst>
                            <a:ext uri="{FF2B5EF4-FFF2-40B4-BE49-F238E27FC236}">
                              <a16:creationId xmlns:a16="http://schemas.microsoft.com/office/drawing/2014/main" id="{B684FFF5-5071-FACA-8729-81149AD84EB5}"/>
                            </a:ext>
                          </a:extLst>
                        </p:cNvPr>
                        <p:cNvSpPr/>
                        <p:nvPr/>
                      </p:nvSpPr>
                      <p:spPr>
                        <a:xfrm>
                          <a:off x="8683870" y="3971052"/>
                          <a:ext cx="45719" cy="488667"/>
                        </a:xfrm>
                        <a:prstGeom prst="rect">
                          <a:avLst/>
                        </a:prstGeom>
                        <a:solidFill>
                          <a:srgbClr val="0070C0">
                            <a:alpha val="50000"/>
                          </a:srgb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01" name="矩形 100">
                          <a:extLst>
                            <a:ext uri="{FF2B5EF4-FFF2-40B4-BE49-F238E27FC236}">
                              <a16:creationId xmlns:a16="http://schemas.microsoft.com/office/drawing/2014/main" id="{00D4A527-44F0-DADE-9328-B30488D37321}"/>
                            </a:ext>
                          </a:extLst>
                        </p:cNvPr>
                        <p:cNvSpPr/>
                        <p:nvPr/>
                      </p:nvSpPr>
                      <p:spPr>
                        <a:xfrm>
                          <a:off x="8632706" y="3971052"/>
                          <a:ext cx="45719" cy="488667"/>
                        </a:xfrm>
                        <a:prstGeom prst="rect">
                          <a:avLst/>
                        </a:prstGeom>
                        <a:solidFill>
                          <a:schemeClr val="accent1">
                            <a:lumMod val="75000"/>
                            <a:alpha val="50000"/>
                          </a:scheme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grpSp>
                  <p:nvGrpSpPr>
                    <p:cNvPr id="81" name="群組 80">
                      <a:extLst>
                        <a:ext uri="{FF2B5EF4-FFF2-40B4-BE49-F238E27FC236}">
                          <a16:creationId xmlns:a16="http://schemas.microsoft.com/office/drawing/2014/main" id="{8154C5D5-A596-F37F-82F6-3686C796B43A}"/>
                        </a:ext>
                      </a:extLst>
                    </p:cNvPr>
                    <p:cNvGrpSpPr/>
                    <p:nvPr/>
                  </p:nvGrpSpPr>
                  <p:grpSpPr>
                    <a:xfrm>
                      <a:off x="7057363" y="2492972"/>
                      <a:ext cx="1217678" cy="281065"/>
                      <a:chOff x="7008252" y="1816146"/>
                      <a:chExt cx="1757513" cy="340956"/>
                    </a:xfrm>
                  </p:grpSpPr>
                  <p:sp>
                    <p:nvSpPr>
                      <p:cNvPr id="88" name="矩形 87">
                        <a:extLst>
                          <a:ext uri="{FF2B5EF4-FFF2-40B4-BE49-F238E27FC236}">
                            <a16:creationId xmlns:a16="http://schemas.microsoft.com/office/drawing/2014/main" id="{A47E88B7-E24A-9B5D-9C1C-C7C18F0A1B9A}"/>
                          </a:ext>
                        </a:extLst>
                      </p:cNvPr>
                      <p:cNvSpPr/>
                      <p:nvPr/>
                    </p:nvSpPr>
                    <p:spPr>
                      <a:xfrm>
                        <a:off x="7008252" y="2033053"/>
                        <a:ext cx="1742391" cy="9174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89" name="矩形 88">
                        <a:extLst>
                          <a:ext uri="{FF2B5EF4-FFF2-40B4-BE49-F238E27FC236}">
                            <a16:creationId xmlns:a16="http://schemas.microsoft.com/office/drawing/2014/main" id="{49E0FAA0-2D5A-1034-B620-613F715775C2}"/>
                          </a:ext>
                        </a:extLst>
                      </p:cNvPr>
                      <p:cNvSpPr/>
                      <p:nvPr/>
                    </p:nvSpPr>
                    <p:spPr>
                      <a:xfrm>
                        <a:off x="7019560" y="1816146"/>
                        <a:ext cx="1742389" cy="9174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90" name="矩形 89">
                        <a:extLst>
                          <a:ext uri="{FF2B5EF4-FFF2-40B4-BE49-F238E27FC236}">
                            <a16:creationId xmlns:a16="http://schemas.microsoft.com/office/drawing/2014/main" id="{F2815959-F5ED-7EDF-6F2C-FA4265D00235}"/>
                          </a:ext>
                        </a:extLst>
                      </p:cNvPr>
                      <p:cNvSpPr/>
                      <p:nvPr/>
                    </p:nvSpPr>
                    <p:spPr>
                      <a:xfrm>
                        <a:off x="7023375" y="2065355"/>
                        <a:ext cx="1742390" cy="91747"/>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grpSp>
                <p:grpSp>
                  <p:nvGrpSpPr>
                    <p:cNvPr id="82" name="群組 81">
                      <a:extLst>
                        <a:ext uri="{FF2B5EF4-FFF2-40B4-BE49-F238E27FC236}">
                          <a16:creationId xmlns:a16="http://schemas.microsoft.com/office/drawing/2014/main" id="{13554436-6083-1451-D432-21F151B933AE}"/>
                        </a:ext>
                      </a:extLst>
                    </p:cNvPr>
                    <p:cNvGrpSpPr/>
                    <p:nvPr/>
                  </p:nvGrpSpPr>
                  <p:grpSpPr>
                    <a:xfrm>
                      <a:off x="9532915" y="2459418"/>
                      <a:ext cx="769785" cy="338501"/>
                      <a:chOff x="7929255" y="881026"/>
                      <a:chExt cx="1755807" cy="565256"/>
                    </a:xfrm>
                  </p:grpSpPr>
                  <p:sp>
                    <p:nvSpPr>
                      <p:cNvPr id="83" name="矩形 82">
                        <a:extLst>
                          <a:ext uri="{FF2B5EF4-FFF2-40B4-BE49-F238E27FC236}">
                            <a16:creationId xmlns:a16="http://schemas.microsoft.com/office/drawing/2014/main" id="{29A4986B-7292-5753-F70B-FA419CF93898}"/>
                          </a:ext>
                        </a:extLst>
                      </p:cNvPr>
                      <p:cNvSpPr/>
                      <p:nvPr/>
                    </p:nvSpPr>
                    <p:spPr>
                      <a:xfrm>
                        <a:off x="7929255" y="1316069"/>
                        <a:ext cx="1742391" cy="9174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84" name="矩形 83">
                        <a:extLst>
                          <a:ext uri="{FF2B5EF4-FFF2-40B4-BE49-F238E27FC236}">
                            <a16:creationId xmlns:a16="http://schemas.microsoft.com/office/drawing/2014/main" id="{94E0AC04-7EE9-307A-6FBA-9A35586AAFA3}"/>
                          </a:ext>
                        </a:extLst>
                      </p:cNvPr>
                      <p:cNvSpPr/>
                      <p:nvPr/>
                    </p:nvSpPr>
                    <p:spPr>
                      <a:xfrm>
                        <a:off x="7940562" y="1099162"/>
                        <a:ext cx="1742391" cy="9174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85" name="矩形 84">
                        <a:extLst>
                          <a:ext uri="{FF2B5EF4-FFF2-40B4-BE49-F238E27FC236}">
                            <a16:creationId xmlns:a16="http://schemas.microsoft.com/office/drawing/2014/main" id="{31C999A6-036E-055B-C705-D8932D7C1502}"/>
                          </a:ext>
                        </a:extLst>
                      </p:cNvPr>
                      <p:cNvSpPr/>
                      <p:nvPr/>
                    </p:nvSpPr>
                    <p:spPr>
                      <a:xfrm>
                        <a:off x="7940562" y="881026"/>
                        <a:ext cx="1742391" cy="9174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86" name="矩形 85">
                        <a:extLst>
                          <a:ext uri="{FF2B5EF4-FFF2-40B4-BE49-F238E27FC236}">
                            <a16:creationId xmlns:a16="http://schemas.microsoft.com/office/drawing/2014/main" id="{3EA1ED85-83E3-6859-B9CB-A5A9197D1D6E}"/>
                          </a:ext>
                        </a:extLst>
                      </p:cNvPr>
                      <p:cNvSpPr/>
                      <p:nvPr/>
                    </p:nvSpPr>
                    <p:spPr>
                      <a:xfrm>
                        <a:off x="7942669" y="1083030"/>
                        <a:ext cx="1742393" cy="9174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87" name="矩形 86">
                        <a:extLst>
                          <a:ext uri="{FF2B5EF4-FFF2-40B4-BE49-F238E27FC236}">
                            <a16:creationId xmlns:a16="http://schemas.microsoft.com/office/drawing/2014/main" id="{2A7B4D05-4CA5-F4CC-A9B9-77CE3EF5D59D}"/>
                          </a:ext>
                        </a:extLst>
                      </p:cNvPr>
                      <p:cNvSpPr/>
                      <p:nvPr/>
                    </p:nvSpPr>
                    <p:spPr>
                      <a:xfrm>
                        <a:off x="7936241" y="1354534"/>
                        <a:ext cx="1742393" cy="9174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sp>
                <p:nvSpPr>
                  <p:cNvPr id="78" name="文字方塊 77">
                    <a:extLst>
                      <a:ext uri="{FF2B5EF4-FFF2-40B4-BE49-F238E27FC236}">
                        <a16:creationId xmlns:a16="http://schemas.microsoft.com/office/drawing/2014/main" id="{5F29162C-4F89-4EA6-6B51-2D8F8BFEBBF2}"/>
                      </a:ext>
                    </a:extLst>
                  </p:cNvPr>
                  <p:cNvSpPr txBox="1"/>
                  <p:nvPr/>
                </p:nvSpPr>
                <p:spPr>
                  <a:xfrm>
                    <a:off x="6758509" y="2540504"/>
                    <a:ext cx="1051522" cy="62043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Chip</a:t>
                    </a:r>
                    <a:endParaRPr kumimoji="0" lang="zh-TW" altLang="en-US" sz="11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grpSp>
          <p:sp>
            <p:nvSpPr>
              <p:cNvPr id="43" name="文字方塊 42">
                <a:extLst>
                  <a:ext uri="{FF2B5EF4-FFF2-40B4-BE49-F238E27FC236}">
                    <a16:creationId xmlns:a16="http://schemas.microsoft.com/office/drawing/2014/main" id="{EC6C0DE5-E060-A84C-0A23-8C09275C5C66}"/>
                  </a:ext>
                </a:extLst>
              </p:cNvPr>
              <p:cNvSpPr txBox="1"/>
              <p:nvPr/>
            </p:nvSpPr>
            <p:spPr>
              <a:xfrm>
                <a:off x="3047680" y="4448304"/>
                <a:ext cx="958787" cy="37083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Object lens</a:t>
                </a:r>
                <a:endParaRPr kumimoji="0" lang="zh-TW" altLang="en-US"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4" name="文字方塊 43">
                <a:extLst>
                  <a:ext uri="{FF2B5EF4-FFF2-40B4-BE49-F238E27FC236}">
                    <a16:creationId xmlns:a16="http://schemas.microsoft.com/office/drawing/2014/main" id="{70624B2B-C383-DFC3-6554-C4DACC33578E}"/>
                  </a:ext>
                </a:extLst>
              </p:cNvPr>
              <p:cNvSpPr txBox="1"/>
              <p:nvPr/>
            </p:nvSpPr>
            <p:spPr>
              <a:xfrm>
                <a:off x="332212" y="4852661"/>
                <a:ext cx="2880928" cy="37083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Chip oven(with temperature controller)</a:t>
                </a:r>
                <a:endParaRPr kumimoji="0" lang="zh-TW" altLang="en-US"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5" name="文字方塊 44">
                <a:extLst>
                  <a:ext uri="{FF2B5EF4-FFF2-40B4-BE49-F238E27FC236}">
                    <a16:creationId xmlns:a16="http://schemas.microsoft.com/office/drawing/2014/main" id="{E75CCA8B-F467-B47D-3CAE-A4F9DD98AFFB}"/>
                  </a:ext>
                </a:extLst>
              </p:cNvPr>
              <p:cNvSpPr txBox="1"/>
              <p:nvPr/>
            </p:nvSpPr>
            <p:spPr>
              <a:xfrm>
                <a:off x="3949143" y="1450066"/>
                <a:ext cx="1985175" cy="37083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Polarization controller(PC)</a:t>
                </a:r>
                <a:endParaRPr kumimoji="0" lang="zh-TW" altLang="en-US"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6" name="文字方塊 45">
                <a:extLst>
                  <a:ext uri="{FF2B5EF4-FFF2-40B4-BE49-F238E27FC236}">
                    <a16:creationId xmlns:a16="http://schemas.microsoft.com/office/drawing/2014/main" id="{0E990224-A113-92F8-0536-4EA0730435D7}"/>
                  </a:ext>
                </a:extLst>
              </p:cNvPr>
              <p:cNvSpPr txBox="1"/>
              <p:nvPr/>
            </p:nvSpPr>
            <p:spPr>
              <a:xfrm>
                <a:off x="7616" y="1372155"/>
                <a:ext cx="2213155" cy="37083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FPV785S Laser diode (785nm)</a:t>
                </a:r>
                <a:endParaRPr kumimoji="0" lang="zh-TW" altLang="en-US"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47" name="直線接點 46">
                <a:extLst>
                  <a:ext uri="{FF2B5EF4-FFF2-40B4-BE49-F238E27FC236}">
                    <a16:creationId xmlns:a16="http://schemas.microsoft.com/office/drawing/2014/main" id="{1A67C561-7D54-A959-47DC-50EC8B0D483E}"/>
                  </a:ext>
                </a:extLst>
              </p:cNvPr>
              <p:cNvCxnSpPr>
                <a:cxnSpLocks/>
              </p:cNvCxnSpPr>
              <p:nvPr/>
            </p:nvCxnSpPr>
            <p:spPr>
              <a:xfrm>
                <a:off x="6946879" y="4835035"/>
                <a:ext cx="1114555"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48" name="直線接點 47">
                <a:extLst>
                  <a:ext uri="{FF2B5EF4-FFF2-40B4-BE49-F238E27FC236}">
                    <a16:creationId xmlns:a16="http://schemas.microsoft.com/office/drawing/2014/main" id="{2FBA7919-DE6F-B000-EE42-FA4B8C928853}"/>
                  </a:ext>
                </a:extLst>
              </p:cNvPr>
              <p:cNvCxnSpPr>
                <a:cxnSpLocks/>
              </p:cNvCxnSpPr>
              <p:nvPr/>
            </p:nvCxnSpPr>
            <p:spPr>
              <a:xfrm>
                <a:off x="2443415" y="2378534"/>
                <a:ext cx="2316879"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49" name="直線接點 48">
                <a:extLst>
                  <a:ext uri="{FF2B5EF4-FFF2-40B4-BE49-F238E27FC236}">
                    <a16:creationId xmlns:a16="http://schemas.microsoft.com/office/drawing/2014/main" id="{CAAAFE32-7C79-9896-8A49-39AAFA24FE38}"/>
                  </a:ext>
                </a:extLst>
              </p:cNvPr>
              <p:cNvCxnSpPr>
                <a:cxnSpLocks/>
              </p:cNvCxnSpPr>
              <p:nvPr/>
            </p:nvCxnSpPr>
            <p:spPr>
              <a:xfrm flipH="1">
                <a:off x="6926936" y="4048946"/>
                <a:ext cx="1483" cy="899099"/>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50" name="矩形 49">
                <a:extLst>
                  <a:ext uri="{FF2B5EF4-FFF2-40B4-BE49-F238E27FC236}">
                    <a16:creationId xmlns:a16="http://schemas.microsoft.com/office/drawing/2014/main" id="{75A1D831-A105-19C8-66DC-95C8D88CD75C}"/>
                  </a:ext>
                </a:extLst>
              </p:cNvPr>
              <p:cNvSpPr/>
              <p:nvPr/>
            </p:nvSpPr>
            <p:spPr>
              <a:xfrm>
                <a:off x="4499662" y="3628219"/>
                <a:ext cx="143564" cy="914400"/>
              </a:xfrm>
              <a:prstGeom prst="rect">
                <a:avLst/>
              </a:prstGeom>
              <a:solidFill>
                <a:srgbClr val="052F61"/>
              </a:solidFill>
              <a:ln w="15875" cap="rnd" cmpd="sng" algn="ctr">
                <a:solidFill>
                  <a:srgbClr val="052F61">
                    <a:shade val="50000"/>
                    <a:hueMod val="94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entury Gothic" panose="020B0502020202020204"/>
                  <a:ea typeface="微軟正黑體" panose="020B0604030504040204" pitchFamily="34" charset="-120"/>
                  <a:cs typeface="+mn-cs"/>
                </a:endParaRPr>
              </a:p>
            </p:txBody>
          </p:sp>
          <p:sp>
            <p:nvSpPr>
              <p:cNvPr id="51" name="文字方塊 50">
                <a:extLst>
                  <a:ext uri="{FF2B5EF4-FFF2-40B4-BE49-F238E27FC236}">
                    <a16:creationId xmlns:a16="http://schemas.microsoft.com/office/drawing/2014/main" id="{FF69835D-069F-93CC-C9C1-0B97A5CF8A3D}"/>
                  </a:ext>
                </a:extLst>
              </p:cNvPr>
              <p:cNvSpPr txBox="1"/>
              <p:nvPr/>
            </p:nvSpPr>
            <p:spPr>
              <a:xfrm>
                <a:off x="3714703" y="3147046"/>
                <a:ext cx="1832554" cy="369333"/>
              </a:xfrm>
              <a:prstGeom prst="rect">
                <a:avLst/>
              </a:prstGeom>
              <a:noFill/>
            </p:spPr>
            <p:txBody>
              <a:bodyPr wrap="square" rtlCol="0">
                <a:spAutoFit/>
              </a:bodyPr>
              <a:lstStyle/>
              <a:p>
                <a:r>
                  <a:rPr lang="en-US" altLang="zh-TW" sz="1200" b="1" dirty="0">
                    <a:solidFill>
                      <a:prstClr val="black"/>
                    </a:solidFill>
                    <a:latin typeface="Century Gothic" panose="020B0502020202020204"/>
                    <a:ea typeface="微軟正黑體" panose="020B0604030504040204" pitchFamily="34" charset="-120"/>
                  </a:rPr>
                  <a:t>785nm</a:t>
                </a:r>
                <a:r>
                  <a:rPr lang="zh-TW" altLang="en-US" sz="1200" b="1" dirty="0">
                    <a:solidFill>
                      <a:prstClr val="black"/>
                    </a:solidFill>
                    <a:latin typeface="Century Gothic" panose="020B0502020202020204"/>
                    <a:ea typeface="微軟正黑體" panose="020B0604030504040204" pitchFamily="34" charset="-120"/>
                  </a:rPr>
                  <a:t> </a:t>
                </a:r>
                <a:r>
                  <a:rPr lang="en-US" altLang="zh-TW" sz="1200" b="1" dirty="0">
                    <a:solidFill>
                      <a:prstClr val="black"/>
                    </a:solidFill>
                    <a:latin typeface="Century Gothic" panose="020B0502020202020204"/>
                    <a:ea typeface="微軟正黑體" panose="020B0604030504040204" pitchFamily="34" charset="-120"/>
                  </a:rPr>
                  <a:t>pump filter</a:t>
                </a:r>
                <a:endParaRPr lang="zh-TW" altLang="en-US" sz="1200" b="1" dirty="0">
                  <a:solidFill>
                    <a:prstClr val="black"/>
                  </a:solidFill>
                  <a:latin typeface="Century Gothic" panose="020B0502020202020204"/>
                  <a:ea typeface="微軟正黑體" panose="020B0604030504040204" pitchFamily="34" charset="-120"/>
                </a:endParaRPr>
              </a:p>
            </p:txBody>
          </p:sp>
          <p:cxnSp>
            <p:nvCxnSpPr>
              <p:cNvPr id="52" name="直線接點 51">
                <a:extLst>
                  <a:ext uri="{FF2B5EF4-FFF2-40B4-BE49-F238E27FC236}">
                    <a16:creationId xmlns:a16="http://schemas.microsoft.com/office/drawing/2014/main" id="{7AA6620D-DDE7-743E-0C7B-83FECF3797EE}"/>
                  </a:ext>
                </a:extLst>
              </p:cNvPr>
              <p:cNvCxnSpPr>
                <a:cxnSpLocks/>
              </p:cNvCxnSpPr>
              <p:nvPr/>
            </p:nvCxnSpPr>
            <p:spPr>
              <a:xfrm flipV="1">
                <a:off x="4642275" y="4048933"/>
                <a:ext cx="2303061" cy="14126"/>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53" name="群組 52">
                <a:extLst>
                  <a:ext uri="{FF2B5EF4-FFF2-40B4-BE49-F238E27FC236}">
                    <a16:creationId xmlns:a16="http://schemas.microsoft.com/office/drawing/2014/main" id="{5009550B-98B8-84BE-F8E0-E33BE15CAD51}"/>
                  </a:ext>
                </a:extLst>
              </p:cNvPr>
              <p:cNvGrpSpPr/>
              <p:nvPr/>
            </p:nvGrpSpPr>
            <p:grpSpPr>
              <a:xfrm>
                <a:off x="5311783" y="3705310"/>
                <a:ext cx="642539" cy="776345"/>
                <a:chOff x="5993909" y="4737832"/>
                <a:chExt cx="642539" cy="776345"/>
              </a:xfrm>
            </p:grpSpPr>
            <p:sp>
              <p:nvSpPr>
                <p:cNvPr id="72" name="矩形 71">
                  <a:extLst>
                    <a:ext uri="{FF2B5EF4-FFF2-40B4-BE49-F238E27FC236}">
                      <a16:creationId xmlns:a16="http://schemas.microsoft.com/office/drawing/2014/main" id="{826C4016-EA66-7BDA-CF7F-999532B8F0DE}"/>
                    </a:ext>
                  </a:extLst>
                </p:cNvPr>
                <p:cNvSpPr/>
                <p:nvPr/>
              </p:nvSpPr>
              <p:spPr>
                <a:xfrm>
                  <a:off x="6001357" y="4745209"/>
                  <a:ext cx="635091" cy="74361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73" name="直線接點 72">
                  <a:extLst>
                    <a:ext uri="{FF2B5EF4-FFF2-40B4-BE49-F238E27FC236}">
                      <a16:creationId xmlns:a16="http://schemas.microsoft.com/office/drawing/2014/main" id="{3251169E-A074-5C01-8C97-9C558A04994C}"/>
                    </a:ext>
                  </a:extLst>
                </p:cNvPr>
                <p:cNvCxnSpPr>
                  <a:cxnSpLocks/>
                </p:cNvCxnSpPr>
                <p:nvPr/>
              </p:nvCxnSpPr>
              <p:spPr>
                <a:xfrm>
                  <a:off x="5993909" y="4737832"/>
                  <a:ext cx="642538" cy="77634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4" name="矩形 53">
                <a:extLst>
                  <a:ext uri="{FF2B5EF4-FFF2-40B4-BE49-F238E27FC236}">
                    <a16:creationId xmlns:a16="http://schemas.microsoft.com/office/drawing/2014/main" id="{D1309988-67B8-76CF-B699-58EB90F27215}"/>
                  </a:ext>
                </a:extLst>
              </p:cNvPr>
              <p:cNvSpPr/>
              <p:nvPr/>
            </p:nvSpPr>
            <p:spPr>
              <a:xfrm rot="2759155">
                <a:off x="6525652" y="3930324"/>
                <a:ext cx="984527" cy="134885"/>
              </a:xfrm>
              <a:prstGeom prst="rect">
                <a:avLst/>
              </a:prstGeom>
              <a:solidFill>
                <a:sysClr val="window" lastClr="FFFFFF">
                  <a:lumMod val="65000"/>
                </a:sysClr>
              </a:solidFill>
              <a:ln w="28575" cap="rnd" cmpd="sng" algn="ctr">
                <a:solidFill>
                  <a:srgbClr val="052F61">
                    <a:shade val="50000"/>
                    <a:hueMod val="94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entury Gothic" panose="020B0502020202020204"/>
                  <a:ea typeface="微軟正黑體" panose="020B0604030504040204" pitchFamily="34" charset="-120"/>
                  <a:cs typeface="+mn-cs"/>
                </a:endParaRPr>
              </a:p>
            </p:txBody>
          </p:sp>
          <p:sp>
            <p:nvSpPr>
              <p:cNvPr id="55" name="矩形 54">
                <a:extLst>
                  <a:ext uri="{FF2B5EF4-FFF2-40B4-BE49-F238E27FC236}">
                    <a16:creationId xmlns:a16="http://schemas.microsoft.com/office/drawing/2014/main" id="{470802F9-587B-DD5D-E42D-6CB75212156B}"/>
                  </a:ext>
                </a:extLst>
              </p:cNvPr>
              <p:cNvSpPr/>
              <p:nvPr/>
            </p:nvSpPr>
            <p:spPr>
              <a:xfrm rot="2759155">
                <a:off x="6434671" y="4896055"/>
                <a:ext cx="984527" cy="134885"/>
              </a:xfrm>
              <a:prstGeom prst="rect">
                <a:avLst/>
              </a:prstGeom>
              <a:solidFill>
                <a:sysClr val="window" lastClr="FFFFFF">
                  <a:lumMod val="65000"/>
                </a:sysClr>
              </a:solidFill>
              <a:ln w="28575" cap="rnd" cmpd="sng" algn="ctr">
                <a:solidFill>
                  <a:srgbClr val="052F61">
                    <a:shade val="50000"/>
                    <a:hueMod val="94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entury Gothic" panose="020B0502020202020204"/>
                  <a:ea typeface="微軟正黑體" panose="020B0604030504040204" pitchFamily="34" charset="-120"/>
                  <a:cs typeface="+mn-cs"/>
                </a:endParaRPr>
              </a:p>
            </p:txBody>
          </p:sp>
          <p:sp>
            <p:nvSpPr>
              <p:cNvPr id="56" name="矩形 55">
                <a:extLst>
                  <a:ext uri="{FF2B5EF4-FFF2-40B4-BE49-F238E27FC236}">
                    <a16:creationId xmlns:a16="http://schemas.microsoft.com/office/drawing/2014/main" id="{437AF331-CD8E-4500-4E62-C7121C058EDA}"/>
                  </a:ext>
                </a:extLst>
              </p:cNvPr>
              <p:cNvSpPr/>
              <p:nvPr/>
            </p:nvSpPr>
            <p:spPr>
              <a:xfrm rot="2759155">
                <a:off x="5121739" y="5472774"/>
                <a:ext cx="984527" cy="134885"/>
              </a:xfrm>
              <a:prstGeom prst="rect">
                <a:avLst/>
              </a:prstGeom>
              <a:solidFill>
                <a:sysClr val="window" lastClr="FFFFFF">
                  <a:lumMod val="65000"/>
                </a:sysClr>
              </a:solidFill>
              <a:ln w="28575" cap="rnd" cmpd="sng" algn="ctr">
                <a:solidFill>
                  <a:srgbClr val="052F61">
                    <a:shade val="50000"/>
                    <a:hueMod val="94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entury Gothic" panose="020B0502020202020204"/>
                  <a:ea typeface="微軟正黑體" panose="020B0604030504040204" pitchFamily="34" charset="-120"/>
                  <a:cs typeface="+mn-cs"/>
                </a:endParaRPr>
              </a:p>
            </p:txBody>
          </p:sp>
          <p:sp>
            <p:nvSpPr>
              <p:cNvPr id="57" name="矩形 56">
                <a:extLst>
                  <a:ext uri="{FF2B5EF4-FFF2-40B4-BE49-F238E27FC236}">
                    <a16:creationId xmlns:a16="http://schemas.microsoft.com/office/drawing/2014/main" id="{15BE44C3-6278-B27B-733D-E3A910D636EB}"/>
                  </a:ext>
                </a:extLst>
              </p:cNvPr>
              <p:cNvSpPr/>
              <p:nvPr/>
            </p:nvSpPr>
            <p:spPr>
              <a:xfrm rot="2759155">
                <a:off x="6113939" y="5364559"/>
                <a:ext cx="984527" cy="134885"/>
              </a:xfrm>
              <a:prstGeom prst="rect">
                <a:avLst/>
              </a:prstGeom>
              <a:solidFill>
                <a:sysClr val="window" lastClr="FFFFFF">
                  <a:lumMod val="65000"/>
                </a:sysClr>
              </a:solidFill>
              <a:ln w="28575" cap="rnd" cmpd="sng" algn="ctr">
                <a:solidFill>
                  <a:srgbClr val="052F61">
                    <a:shade val="50000"/>
                    <a:hueMod val="94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entury Gothic" panose="020B0502020202020204"/>
                  <a:ea typeface="微軟正黑體" panose="020B0604030504040204" pitchFamily="34" charset="-120"/>
                  <a:cs typeface="+mn-cs"/>
                </a:endParaRPr>
              </a:p>
            </p:txBody>
          </p:sp>
          <p:cxnSp>
            <p:nvCxnSpPr>
              <p:cNvPr id="58" name="直線接點 57">
                <a:extLst>
                  <a:ext uri="{FF2B5EF4-FFF2-40B4-BE49-F238E27FC236}">
                    <a16:creationId xmlns:a16="http://schemas.microsoft.com/office/drawing/2014/main" id="{D4BFC305-A3F4-FD00-FB15-AD1D42880695}"/>
                  </a:ext>
                </a:extLst>
              </p:cNvPr>
              <p:cNvCxnSpPr>
                <a:cxnSpLocks/>
              </p:cNvCxnSpPr>
              <p:nvPr/>
            </p:nvCxnSpPr>
            <p:spPr>
              <a:xfrm flipH="1">
                <a:off x="6449738" y="5408458"/>
                <a:ext cx="1483" cy="899099"/>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59" name="群組 58">
                <a:extLst>
                  <a:ext uri="{FF2B5EF4-FFF2-40B4-BE49-F238E27FC236}">
                    <a16:creationId xmlns:a16="http://schemas.microsoft.com/office/drawing/2014/main" id="{9143D1BB-DC0A-0430-A6F2-EF6833B84F59}"/>
                  </a:ext>
                </a:extLst>
              </p:cNvPr>
              <p:cNvGrpSpPr/>
              <p:nvPr/>
            </p:nvGrpSpPr>
            <p:grpSpPr>
              <a:xfrm>
                <a:off x="8061434" y="4591143"/>
                <a:ext cx="190279" cy="487784"/>
                <a:chOff x="9773066" y="4641940"/>
                <a:chExt cx="190279" cy="487784"/>
              </a:xfrm>
            </p:grpSpPr>
            <p:sp>
              <p:nvSpPr>
                <p:cNvPr id="70" name="矩形: 剪去同側角落 69">
                  <a:extLst>
                    <a:ext uri="{FF2B5EF4-FFF2-40B4-BE49-F238E27FC236}">
                      <a16:creationId xmlns:a16="http://schemas.microsoft.com/office/drawing/2014/main" id="{AE7503DF-D0FB-7E5F-8E54-088595C13888}"/>
                    </a:ext>
                  </a:extLst>
                </p:cNvPr>
                <p:cNvSpPr/>
                <p:nvPr/>
              </p:nvSpPr>
              <p:spPr>
                <a:xfrm rot="5400000">
                  <a:off x="9740140" y="4812505"/>
                  <a:ext cx="261457" cy="184953"/>
                </a:xfrm>
                <a:prstGeom prst="snip2SameRect">
                  <a:avLst/>
                </a:prstGeom>
                <a:solidFill>
                  <a:srgbClr val="052F61"/>
                </a:solidFill>
                <a:ln w="15875" cap="rnd" cmpd="sng" algn="ctr">
                  <a:solidFill>
                    <a:srgbClr val="052F61">
                      <a:shade val="50000"/>
                      <a:hueMod val="94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entury Gothic" panose="020B0502020202020204"/>
                    <a:ea typeface="微軟正黑體" panose="020B0604030504040204" pitchFamily="34" charset="-120"/>
                    <a:cs typeface="+mn-cs"/>
                  </a:endParaRPr>
                </a:p>
              </p:txBody>
            </p:sp>
            <p:sp>
              <p:nvSpPr>
                <p:cNvPr id="71" name="矩形 70">
                  <a:extLst>
                    <a:ext uri="{FF2B5EF4-FFF2-40B4-BE49-F238E27FC236}">
                      <a16:creationId xmlns:a16="http://schemas.microsoft.com/office/drawing/2014/main" id="{CDDE3C8B-A9F3-9B9D-9EE3-4F367830541E}"/>
                    </a:ext>
                  </a:extLst>
                </p:cNvPr>
                <p:cNvSpPr/>
                <p:nvPr/>
              </p:nvSpPr>
              <p:spPr>
                <a:xfrm>
                  <a:off x="9773066" y="4641940"/>
                  <a:ext cx="45719" cy="487784"/>
                </a:xfrm>
                <a:prstGeom prst="rect">
                  <a:avLst/>
                </a:prstGeom>
                <a:solidFill>
                  <a:srgbClr val="052F61"/>
                </a:solidFill>
                <a:ln w="15875" cap="rnd" cmpd="sng" algn="ctr">
                  <a:solidFill>
                    <a:srgbClr val="052F61">
                      <a:shade val="50000"/>
                      <a:hueMod val="94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entury Gothic" panose="020B0502020202020204"/>
                    <a:ea typeface="微軟正黑體" panose="020B0604030504040204" pitchFamily="34" charset="-120"/>
                    <a:cs typeface="+mn-cs"/>
                  </a:endParaRPr>
                </a:p>
              </p:txBody>
            </p:sp>
          </p:grpSp>
          <p:grpSp>
            <p:nvGrpSpPr>
              <p:cNvPr id="60" name="群組 59">
                <a:extLst>
                  <a:ext uri="{FF2B5EF4-FFF2-40B4-BE49-F238E27FC236}">
                    <a16:creationId xmlns:a16="http://schemas.microsoft.com/office/drawing/2014/main" id="{EF906299-F439-E82A-F732-769306F8AD43}"/>
                  </a:ext>
                </a:extLst>
              </p:cNvPr>
              <p:cNvGrpSpPr/>
              <p:nvPr/>
            </p:nvGrpSpPr>
            <p:grpSpPr>
              <a:xfrm rot="5400000">
                <a:off x="6357648" y="6161247"/>
                <a:ext cx="190279" cy="487784"/>
                <a:chOff x="9773066" y="4662960"/>
                <a:chExt cx="190279" cy="487784"/>
              </a:xfrm>
            </p:grpSpPr>
            <p:sp>
              <p:nvSpPr>
                <p:cNvPr id="68" name="矩形: 剪去同側角落 67">
                  <a:extLst>
                    <a:ext uri="{FF2B5EF4-FFF2-40B4-BE49-F238E27FC236}">
                      <a16:creationId xmlns:a16="http://schemas.microsoft.com/office/drawing/2014/main" id="{111C0DF0-D733-12B1-3367-1969222B4FFA}"/>
                    </a:ext>
                  </a:extLst>
                </p:cNvPr>
                <p:cNvSpPr/>
                <p:nvPr/>
              </p:nvSpPr>
              <p:spPr>
                <a:xfrm rot="5400000">
                  <a:off x="9740140" y="4812505"/>
                  <a:ext cx="261457" cy="184953"/>
                </a:xfrm>
                <a:prstGeom prst="snip2SameRect">
                  <a:avLst/>
                </a:prstGeom>
                <a:solidFill>
                  <a:srgbClr val="052F61"/>
                </a:solidFill>
                <a:ln w="15875" cap="rnd" cmpd="sng" algn="ctr">
                  <a:solidFill>
                    <a:srgbClr val="052F61">
                      <a:shade val="50000"/>
                      <a:hueMod val="94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entury Gothic" panose="020B0502020202020204"/>
                    <a:ea typeface="微軟正黑體" panose="020B0604030504040204" pitchFamily="34" charset="-120"/>
                    <a:cs typeface="+mn-cs"/>
                  </a:endParaRPr>
                </a:p>
              </p:txBody>
            </p:sp>
            <p:sp>
              <p:nvSpPr>
                <p:cNvPr id="69" name="矩形 68">
                  <a:extLst>
                    <a:ext uri="{FF2B5EF4-FFF2-40B4-BE49-F238E27FC236}">
                      <a16:creationId xmlns:a16="http://schemas.microsoft.com/office/drawing/2014/main" id="{6B617361-6198-4E05-5977-1A98EDCDE624}"/>
                    </a:ext>
                  </a:extLst>
                </p:cNvPr>
                <p:cNvSpPr/>
                <p:nvPr/>
              </p:nvSpPr>
              <p:spPr>
                <a:xfrm>
                  <a:off x="9773066" y="4662960"/>
                  <a:ext cx="45719" cy="487784"/>
                </a:xfrm>
                <a:prstGeom prst="rect">
                  <a:avLst/>
                </a:prstGeom>
                <a:solidFill>
                  <a:srgbClr val="052F61"/>
                </a:solidFill>
                <a:ln w="15875" cap="rnd" cmpd="sng" algn="ctr">
                  <a:solidFill>
                    <a:srgbClr val="052F61">
                      <a:shade val="50000"/>
                      <a:hueMod val="94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entury Gothic" panose="020B0502020202020204"/>
                    <a:ea typeface="微軟正黑體" panose="020B0604030504040204" pitchFamily="34" charset="-120"/>
                    <a:cs typeface="+mn-cs"/>
                  </a:endParaRPr>
                </a:p>
              </p:txBody>
            </p:sp>
          </p:grpSp>
          <p:sp>
            <p:nvSpPr>
              <p:cNvPr id="61" name="文字方塊 60">
                <a:extLst>
                  <a:ext uri="{FF2B5EF4-FFF2-40B4-BE49-F238E27FC236}">
                    <a16:creationId xmlns:a16="http://schemas.microsoft.com/office/drawing/2014/main" id="{E70F618E-ADA0-C8B5-0686-1123BEAA1515}"/>
                  </a:ext>
                </a:extLst>
              </p:cNvPr>
              <p:cNvSpPr txBox="1"/>
              <p:nvPr/>
            </p:nvSpPr>
            <p:spPr>
              <a:xfrm>
                <a:off x="8691689" y="7657274"/>
                <a:ext cx="365301" cy="37083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BS</a:t>
                </a:r>
                <a:endParaRPr kumimoji="0" lang="zh-TW" altLang="en-US"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2" name="文字方塊 61">
                <a:extLst>
                  <a:ext uri="{FF2B5EF4-FFF2-40B4-BE49-F238E27FC236}">
                    <a16:creationId xmlns:a16="http://schemas.microsoft.com/office/drawing/2014/main" id="{9316D27D-ACBC-EA78-29CF-58C61B4885DF}"/>
                  </a:ext>
                </a:extLst>
              </p:cNvPr>
              <p:cNvSpPr txBox="1"/>
              <p:nvPr/>
            </p:nvSpPr>
            <p:spPr>
              <a:xfrm>
                <a:off x="5401635" y="3172404"/>
                <a:ext cx="452276" cy="37083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PBS</a:t>
                </a:r>
                <a:endParaRPr kumimoji="0" lang="zh-TW" altLang="en-US"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3" name="文字方塊 62">
                <a:extLst>
                  <a:ext uri="{FF2B5EF4-FFF2-40B4-BE49-F238E27FC236}">
                    <a16:creationId xmlns:a16="http://schemas.microsoft.com/office/drawing/2014/main" id="{1F56B66B-1ABC-320E-37BE-8B8AD6ABB1DD}"/>
                  </a:ext>
                </a:extLst>
              </p:cNvPr>
              <p:cNvSpPr txBox="1"/>
              <p:nvPr/>
            </p:nvSpPr>
            <p:spPr>
              <a:xfrm>
                <a:off x="4807535" y="5502706"/>
                <a:ext cx="631074" cy="37083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mirror</a:t>
                </a:r>
                <a:endParaRPr kumimoji="0" lang="zh-TW" altLang="en-US"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4" name="矩形 63">
                <a:extLst>
                  <a:ext uri="{FF2B5EF4-FFF2-40B4-BE49-F238E27FC236}">
                    <a16:creationId xmlns:a16="http://schemas.microsoft.com/office/drawing/2014/main" id="{92B126D6-154D-7F45-3A2F-B75A61D265E0}"/>
                  </a:ext>
                </a:extLst>
              </p:cNvPr>
              <p:cNvSpPr/>
              <p:nvPr/>
            </p:nvSpPr>
            <p:spPr>
              <a:xfrm>
                <a:off x="7772787" y="4377835"/>
                <a:ext cx="143564" cy="914401"/>
              </a:xfrm>
              <a:prstGeom prst="rect">
                <a:avLst/>
              </a:prstGeom>
              <a:solidFill>
                <a:srgbClr val="052F61"/>
              </a:solidFill>
              <a:ln w="15875" cap="rnd" cmpd="sng" algn="ctr">
                <a:solidFill>
                  <a:srgbClr val="052F61">
                    <a:shade val="50000"/>
                    <a:hueMod val="94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entury Gothic" panose="020B0502020202020204"/>
                  <a:ea typeface="微軟正黑體" panose="020B0604030504040204" pitchFamily="34" charset="-120"/>
                  <a:cs typeface="+mn-cs"/>
                </a:endParaRPr>
              </a:p>
            </p:txBody>
          </p:sp>
          <p:sp>
            <p:nvSpPr>
              <p:cNvPr id="65" name="矩形 64">
                <a:extLst>
                  <a:ext uri="{FF2B5EF4-FFF2-40B4-BE49-F238E27FC236}">
                    <a16:creationId xmlns:a16="http://schemas.microsoft.com/office/drawing/2014/main" id="{DC999478-FEDE-3FE2-2B13-2EBF5ED0B30A}"/>
                  </a:ext>
                </a:extLst>
              </p:cNvPr>
              <p:cNvSpPr/>
              <p:nvPr/>
            </p:nvSpPr>
            <p:spPr>
              <a:xfrm rot="16200000">
                <a:off x="6358621" y="5708119"/>
                <a:ext cx="180658" cy="726651"/>
              </a:xfrm>
              <a:prstGeom prst="rect">
                <a:avLst/>
              </a:prstGeom>
              <a:solidFill>
                <a:srgbClr val="052F61"/>
              </a:solidFill>
              <a:ln w="15875" cap="rnd" cmpd="sng" algn="ctr">
                <a:solidFill>
                  <a:srgbClr val="052F61">
                    <a:shade val="50000"/>
                    <a:hueMod val="94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entury Gothic" panose="020B0502020202020204"/>
                  <a:ea typeface="微軟正黑體" panose="020B0604030504040204" pitchFamily="34" charset="-120"/>
                  <a:cs typeface="+mn-cs"/>
                </a:endParaRPr>
              </a:p>
            </p:txBody>
          </p:sp>
          <p:sp>
            <p:nvSpPr>
              <p:cNvPr id="66" name="文字方塊 65">
                <a:extLst>
                  <a:ext uri="{FF2B5EF4-FFF2-40B4-BE49-F238E27FC236}">
                    <a16:creationId xmlns:a16="http://schemas.microsoft.com/office/drawing/2014/main" id="{3A546116-F04D-5947-AA24-D59D07235762}"/>
                  </a:ext>
                </a:extLst>
              </p:cNvPr>
              <p:cNvSpPr txBox="1"/>
              <p:nvPr/>
            </p:nvSpPr>
            <p:spPr>
              <a:xfrm>
                <a:off x="7393063" y="3936463"/>
                <a:ext cx="2131549" cy="370839"/>
              </a:xfrm>
              <a:prstGeom prst="rect">
                <a:avLst/>
              </a:prstGeom>
              <a:noFill/>
            </p:spPr>
            <p:txBody>
              <a:bodyPr wrap="square" rtlCol="0">
                <a:spAutoFit/>
              </a:bodyPr>
              <a:lstStyle/>
              <a:p>
                <a:r>
                  <a:rPr lang="en-US" altLang="zh-TW" sz="1200" b="1" dirty="0">
                    <a:solidFill>
                      <a:prstClr val="black"/>
                    </a:solidFill>
                    <a:latin typeface="Century Gothic" panose="020B0502020202020204"/>
                    <a:ea typeface="微軟正黑體" panose="020B0604030504040204" pitchFamily="34" charset="-120"/>
                  </a:rPr>
                  <a:t>1570nm</a:t>
                </a:r>
                <a:r>
                  <a:rPr lang="zh-TW" altLang="en-US" sz="1200" b="1" dirty="0">
                    <a:solidFill>
                      <a:prstClr val="black"/>
                    </a:solidFill>
                    <a:latin typeface="Century Gothic" panose="020B0502020202020204"/>
                    <a:ea typeface="微軟正黑體" panose="020B0604030504040204" pitchFamily="34" charset="-120"/>
                  </a:rPr>
                  <a:t> </a:t>
                </a:r>
                <a:r>
                  <a:rPr lang="en-US" altLang="zh-TW" sz="1200" b="1" dirty="0">
                    <a:solidFill>
                      <a:prstClr val="black"/>
                    </a:solidFill>
                    <a:latin typeface="Century Gothic" panose="020B0502020202020204"/>
                    <a:ea typeface="微軟正黑體" panose="020B0604030504040204" pitchFamily="34" charset="-120"/>
                  </a:rPr>
                  <a:t>bandpass filter</a:t>
                </a:r>
                <a:endParaRPr lang="zh-TW" altLang="en-US" sz="1200" b="1" dirty="0">
                  <a:solidFill>
                    <a:prstClr val="black"/>
                  </a:solidFill>
                  <a:latin typeface="Century Gothic" panose="020B0502020202020204"/>
                  <a:ea typeface="微軟正黑體" panose="020B0604030504040204" pitchFamily="34" charset="-120"/>
                </a:endParaRPr>
              </a:p>
            </p:txBody>
          </p:sp>
          <p:sp>
            <p:nvSpPr>
              <p:cNvPr id="67" name="文字方塊 66">
                <a:extLst>
                  <a:ext uri="{FF2B5EF4-FFF2-40B4-BE49-F238E27FC236}">
                    <a16:creationId xmlns:a16="http://schemas.microsoft.com/office/drawing/2014/main" id="{97FB866D-3913-CF5E-A3D0-0CCD3EE0ED73}"/>
                  </a:ext>
                </a:extLst>
              </p:cNvPr>
              <p:cNvSpPr txBox="1"/>
              <p:nvPr/>
            </p:nvSpPr>
            <p:spPr>
              <a:xfrm>
                <a:off x="10169186" y="8073875"/>
                <a:ext cx="464215" cy="37083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SPD</a:t>
                </a:r>
                <a:endParaRPr kumimoji="0" lang="zh-TW" altLang="en-US"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cxnSp>
          <p:nvCxnSpPr>
            <p:cNvPr id="8" name="接點: 弧形 7">
              <a:extLst>
                <a:ext uri="{FF2B5EF4-FFF2-40B4-BE49-F238E27FC236}">
                  <a16:creationId xmlns:a16="http://schemas.microsoft.com/office/drawing/2014/main" id="{35BDF705-957A-DBB4-6AAC-575B9DE813FE}"/>
                </a:ext>
              </a:extLst>
            </p:cNvPr>
            <p:cNvCxnSpPr>
              <a:cxnSpLocks/>
            </p:cNvCxnSpPr>
            <p:nvPr/>
          </p:nvCxnSpPr>
          <p:spPr>
            <a:xfrm>
              <a:off x="6052715" y="5214306"/>
              <a:ext cx="1898606" cy="704144"/>
            </a:xfrm>
            <a:prstGeom prst="curvedConnector3">
              <a:avLst>
                <a:gd name="adj1"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 name="群組 8">
              <a:extLst>
                <a:ext uri="{FF2B5EF4-FFF2-40B4-BE49-F238E27FC236}">
                  <a16:creationId xmlns:a16="http://schemas.microsoft.com/office/drawing/2014/main" id="{D113253B-6965-D9F4-C543-D0AB56837674}"/>
                </a:ext>
              </a:extLst>
            </p:cNvPr>
            <p:cNvGrpSpPr/>
            <p:nvPr/>
          </p:nvGrpSpPr>
          <p:grpSpPr>
            <a:xfrm>
              <a:off x="7494121" y="3973068"/>
              <a:ext cx="914400" cy="1840350"/>
              <a:chOff x="7494121" y="3973068"/>
              <a:chExt cx="914400" cy="1840350"/>
            </a:xfrm>
          </p:grpSpPr>
          <p:cxnSp>
            <p:nvCxnSpPr>
              <p:cNvPr id="30" name="接點: 弧形 29">
                <a:extLst>
                  <a:ext uri="{FF2B5EF4-FFF2-40B4-BE49-F238E27FC236}">
                    <a16:creationId xmlns:a16="http://schemas.microsoft.com/office/drawing/2014/main" id="{8BB38023-55BB-B624-CA06-176EDC3BF735}"/>
                  </a:ext>
                </a:extLst>
              </p:cNvPr>
              <p:cNvCxnSpPr>
                <a:cxnSpLocks/>
                <a:stCxn id="70" idx="3"/>
              </p:cNvCxnSpPr>
              <p:nvPr/>
            </p:nvCxnSpPr>
            <p:spPr>
              <a:xfrm flipH="1">
                <a:off x="7494121" y="3973068"/>
                <a:ext cx="262514" cy="1423413"/>
              </a:xfrm>
              <a:prstGeom prst="curvedConnector4">
                <a:avLst>
                  <a:gd name="adj1" fmla="val -87081"/>
                  <a:gd name="adj2" fmla="val 53053"/>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弧形 30">
                <a:extLst>
                  <a:ext uri="{FF2B5EF4-FFF2-40B4-BE49-F238E27FC236}">
                    <a16:creationId xmlns:a16="http://schemas.microsoft.com/office/drawing/2014/main" id="{6EC9ECDA-DE98-6247-CFC6-CCC22B659EE3}"/>
                  </a:ext>
                </a:extLst>
              </p:cNvPr>
              <p:cNvSpPr/>
              <p:nvPr/>
            </p:nvSpPr>
            <p:spPr>
              <a:xfrm rot="11724378">
                <a:off x="7494121" y="4899018"/>
                <a:ext cx="914400" cy="914400"/>
              </a:xfrm>
              <a:prstGeom prst="arc">
                <a:avLst>
                  <a:gd name="adj1" fmla="val 15150971"/>
                  <a:gd name="adj2" fmla="val 20809025"/>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zh-TW" altLang="en-US" dirty="0"/>
              </a:p>
            </p:txBody>
          </p:sp>
        </p:grpSp>
        <p:sp>
          <p:nvSpPr>
            <p:cNvPr id="10" name="矩形 9">
              <a:extLst>
                <a:ext uri="{FF2B5EF4-FFF2-40B4-BE49-F238E27FC236}">
                  <a16:creationId xmlns:a16="http://schemas.microsoft.com/office/drawing/2014/main" id="{F67D320D-0C47-E8B4-5D52-0EB770A126C6}"/>
                </a:ext>
              </a:extLst>
            </p:cNvPr>
            <p:cNvSpPr/>
            <p:nvPr/>
          </p:nvSpPr>
          <p:spPr>
            <a:xfrm>
              <a:off x="7951321" y="5728138"/>
              <a:ext cx="782776" cy="309975"/>
            </a:xfrm>
            <a:prstGeom prst="rect">
              <a:avLst/>
            </a:prstGeom>
            <a:solidFill>
              <a:schemeClr val="bg1">
                <a:lumMod val="50000"/>
              </a:schemeClr>
            </a:solidFill>
            <a:ln w="28575">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左大括弧 10">
              <a:extLst>
                <a:ext uri="{FF2B5EF4-FFF2-40B4-BE49-F238E27FC236}">
                  <a16:creationId xmlns:a16="http://schemas.microsoft.com/office/drawing/2014/main" id="{0D3D2F28-B432-EA56-F76E-3885585BD07E}"/>
                </a:ext>
              </a:extLst>
            </p:cNvPr>
            <p:cNvSpPr/>
            <p:nvPr/>
          </p:nvSpPr>
          <p:spPr>
            <a:xfrm>
              <a:off x="8728088" y="5622268"/>
              <a:ext cx="342278" cy="520109"/>
            </a:xfrm>
            <a:prstGeom prst="leftBrace">
              <a:avLst>
                <a:gd name="adj1" fmla="val 14813"/>
                <a:gd name="adj2" fmla="val 51253"/>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cxnSp>
          <p:nvCxnSpPr>
            <p:cNvPr id="12" name="直線接點 11">
              <a:extLst>
                <a:ext uri="{FF2B5EF4-FFF2-40B4-BE49-F238E27FC236}">
                  <a16:creationId xmlns:a16="http://schemas.microsoft.com/office/drawing/2014/main" id="{4DA459C9-0849-5741-1F36-A81356AE9DB7}"/>
                </a:ext>
              </a:extLst>
            </p:cNvPr>
            <p:cNvCxnSpPr>
              <a:cxnSpLocks/>
            </p:cNvCxnSpPr>
            <p:nvPr/>
          </p:nvCxnSpPr>
          <p:spPr>
            <a:xfrm>
              <a:off x="9059856" y="5621877"/>
              <a:ext cx="73212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線接點 12">
              <a:extLst>
                <a:ext uri="{FF2B5EF4-FFF2-40B4-BE49-F238E27FC236}">
                  <a16:creationId xmlns:a16="http://schemas.microsoft.com/office/drawing/2014/main" id="{A0096AD1-43D9-9A1E-E880-4C268FCCC004}"/>
                </a:ext>
              </a:extLst>
            </p:cNvPr>
            <p:cNvCxnSpPr>
              <a:cxnSpLocks/>
            </p:cNvCxnSpPr>
            <p:nvPr/>
          </p:nvCxnSpPr>
          <p:spPr>
            <a:xfrm>
              <a:off x="9070366" y="6138645"/>
              <a:ext cx="73212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流程圖: 延遲 13">
              <a:extLst>
                <a:ext uri="{FF2B5EF4-FFF2-40B4-BE49-F238E27FC236}">
                  <a16:creationId xmlns:a16="http://schemas.microsoft.com/office/drawing/2014/main" id="{5A48B760-5976-AFCF-0FCF-2EA15639544B}"/>
                </a:ext>
              </a:extLst>
            </p:cNvPr>
            <p:cNvSpPr/>
            <p:nvPr/>
          </p:nvSpPr>
          <p:spPr>
            <a:xfrm>
              <a:off x="9630350" y="5538290"/>
              <a:ext cx="247640" cy="220977"/>
            </a:xfrm>
            <a:prstGeom prst="flowChartDelay">
              <a:avLst/>
            </a:prstGeom>
            <a:solidFill>
              <a:sysClr val="windowText" lastClr="000000"/>
            </a:solidFill>
            <a:ln w="15875" cap="rnd" cmpd="sng" algn="ctr">
              <a:solidFill>
                <a:sysClr val="windowText" lastClr="000000">
                  <a:shade val="50000"/>
                  <a:hueMod val="94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entury Gothic" panose="020B0502020202020204"/>
                <a:ea typeface="微軟正黑體" panose="020B0604030504040204" pitchFamily="34" charset="-120"/>
                <a:cs typeface="+mn-cs"/>
              </a:endParaRPr>
            </a:p>
          </p:txBody>
        </p:sp>
        <p:sp>
          <p:nvSpPr>
            <p:cNvPr id="15" name="流程圖: 延遲 14">
              <a:extLst>
                <a:ext uri="{FF2B5EF4-FFF2-40B4-BE49-F238E27FC236}">
                  <a16:creationId xmlns:a16="http://schemas.microsoft.com/office/drawing/2014/main" id="{9F25289A-2246-689A-80FF-A4DE8703B93B}"/>
                </a:ext>
              </a:extLst>
            </p:cNvPr>
            <p:cNvSpPr/>
            <p:nvPr/>
          </p:nvSpPr>
          <p:spPr>
            <a:xfrm>
              <a:off x="9614331" y="6028156"/>
              <a:ext cx="247640" cy="220977"/>
            </a:xfrm>
            <a:prstGeom prst="flowChartDelay">
              <a:avLst/>
            </a:prstGeom>
            <a:solidFill>
              <a:sysClr val="windowText" lastClr="000000"/>
            </a:solidFill>
            <a:ln w="15875" cap="rnd" cmpd="sng" algn="ctr">
              <a:solidFill>
                <a:sysClr val="windowText" lastClr="000000">
                  <a:shade val="50000"/>
                  <a:hueMod val="94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entury Gothic" panose="020B0502020202020204"/>
                <a:ea typeface="微軟正黑體" panose="020B0604030504040204" pitchFamily="34" charset="-120"/>
                <a:cs typeface="+mn-cs"/>
              </a:endParaRPr>
            </a:p>
          </p:txBody>
        </p:sp>
        <p:cxnSp>
          <p:nvCxnSpPr>
            <p:cNvPr id="16" name="直線接點 15">
              <a:extLst>
                <a:ext uri="{FF2B5EF4-FFF2-40B4-BE49-F238E27FC236}">
                  <a16:creationId xmlns:a16="http://schemas.microsoft.com/office/drawing/2014/main" id="{16E45377-A0ED-BD04-C175-893A8A946191}"/>
                </a:ext>
              </a:extLst>
            </p:cNvPr>
            <p:cNvCxnSpPr>
              <a:cxnSpLocks/>
            </p:cNvCxnSpPr>
            <p:nvPr/>
          </p:nvCxnSpPr>
          <p:spPr>
            <a:xfrm>
              <a:off x="9666881" y="5621877"/>
              <a:ext cx="73212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線接點 16">
              <a:extLst>
                <a:ext uri="{FF2B5EF4-FFF2-40B4-BE49-F238E27FC236}">
                  <a16:creationId xmlns:a16="http://schemas.microsoft.com/office/drawing/2014/main" id="{A4E27093-33EB-4B4D-79EB-9F193B2D24FE}"/>
                </a:ext>
              </a:extLst>
            </p:cNvPr>
            <p:cNvCxnSpPr>
              <a:cxnSpLocks/>
            </p:cNvCxnSpPr>
            <p:nvPr/>
          </p:nvCxnSpPr>
          <p:spPr>
            <a:xfrm>
              <a:off x="9730641" y="6138645"/>
              <a:ext cx="73212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 name="群組 17">
              <a:extLst>
                <a:ext uri="{FF2B5EF4-FFF2-40B4-BE49-F238E27FC236}">
                  <a16:creationId xmlns:a16="http://schemas.microsoft.com/office/drawing/2014/main" id="{3A8BDB63-B864-D68F-6A9B-D48BBDC63F12}"/>
                </a:ext>
              </a:extLst>
            </p:cNvPr>
            <p:cNvGrpSpPr/>
            <p:nvPr/>
          </p:nvGrpSpPr>
          <p:grpSpPr>
            <a:xfrm>
              <a:off x="10344210" y="5420812"/>
              <a:ext cx="1427484" cy="923030"/>
              <a:chOff x="9804492" y="2888993"/>
              <a:chExt cx="1295214" cy="923030"/>
            </a:xfrm>
          </p:grpSpPr>
          <p:sp>
            <p:nvSpPr>
              <p:cNvPr id="28" name="矩形 27">
                <a:extLst>
                  <a:ext uri="{FF2B5EF4-FFF2-40B4-BE49-F238E27FC236}">
                    <a16:creationId xmlns:a16="http://schemas.microsoft.com/office/drawing/2014/main" id="{C7D3B4A1-F686-2CB3-2B44-13D967BBD1DD}"/>
                  </a:ext>
                </a:extLst>
              </p:cNvPr>
              <p:cNvSpPr/>
              <p:nvPr/>
            </p:nvSpPr>
            <p:spPr>
              <a:xfrm>
                <a:off x="9806152" y="2892722"/>
                <a:ext cx="1293554" cy="919301"/>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1400" dirty="0">
                  <a:solidFill>
                    <a:schemeClr val="bg1"/>
                  </a:solidFill>
                  <a:latin typeface="Century Gothic" panose="020B0502020202020204"/>
                  <a:ea typeface="微軟正黑體" panose="020B0604030504040204" pitchFamily="34" charset="-120"/>
                </a:endParaRPr>
              </a:p>
              <a:p>
                <a:pPr algn="ctr"/>
                <a:r>
                  <a:rPr lang="en-US" altLang="zh-TW" sz="1400" dirty="0">
                    <a:solidFill>
                      <a:schemeClr val="bg1"/>
                    </a:solidFill>
                    <a:latin typeface="Century Gothic" panose="020B0502020202020204"/>
                    <a:ea typeface="微軟正黑體" panose="020B0604030504040204" pitchFamily="34" charset="-120"/>
                  </a:rPr>
                  <a:t>Coincidence counter</a:t>
                </a:r>
                <a:endParaRPr lang="zh-TW" altLang="en-US" sz="1400" dirty="0">
                  <a:solidFill>
                    <a:schemeClr val="bg1"/>
                  </a:solidFill>
                  <a:latin typeface="Century Gothic" panose="020B0502020202020204"/>
                  <a:ea typeface="微軟正黑體" panose="020B0604030504040204" pitchFamily="34" charset="-120"/>
                </a:endParaRPr>
              </a:p>
              <a:p>
                <a:pPr algn="ctr"/>
                <a:endParaRPr lang="zh-TW" altLang="en-US" dirty="0"/>
              </a:p>
            </p:txBody>
          </p:sp>
          <p:sp>
            <p:nvSpPr>
              <p:cNvPr id="29" name="直角三角形 28">
                <a:extLst>
                  <a:ext uri="{FF2B5EF4-FFF2-40B4-BE49-F238E27FC236}">
                    <a16:creationId xmlns:a16="http://schemas.microsoft.com/office/drawing/2014/main" id="{CB595F4C-F523-70EA-C25F-4A5A9D848890}"/>
                  </a:ext>
                </a:extLst>
              </p:cNvPr>
              <p:cNvSpPr/>
              <p:nvPr/>
            </p:nvSpPr>
            <p:spPr>
              <a:xfrm rot="5400000">
                <a:off x="9786121" y="2907364"/>
                <a:ext cx="342278" cy="305535"/>
              </a:xfrm>
              <a:prstGeom prst="rtTriangl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FADF6BDB-33F4-5C9B-31DC-BA719DE5C8C4}"/>
                    </a:ext>
                  </a:extLst>
                </p:cNvPr>
                <p:cNvSpPr txBox="1"/>
                <p:nvPr/>
              </p:nvSpPr>
              <p:spPr>
                <a:xfrm>
                  <a:off x="2016335" y="4955751"/>
                  <a:ext cx="3115148" cy="369332"/>
                </a:xfrm>
                <a:prstGeom prst="rect">
                  <a:avLst/>
                </a:prstGeom>
                <a:noFill/>
              </p:spPr>
              <p:txBody>
                <a:bodyPr wrap="none" rtlCol="0">
                  <a:spAutoFit/>
                </a:bodyPr>
                <a:lstStyle/>
                <a:p>
                  <a:r>
                    <a:rPr lang="en-US" altLang="zh-TW" dirty="0"/>
                    <a:t>PPLN Type 0:</a:t>
                  </a:r>
                  <a:r>
                    <a:rPr lang="en-US" altLang="zh-TW" dirty="0">
                      <a:solidFill>
                        <a:srgbClr val="FF0000"/>
                      </a:solidFill>
                    </a:rPr>
                    <a:t> </a:t>
                  </a:r>
                  <a14:m>
                    <m:oMath xmlns:m="http://schemas.openxmlformats.org/officeDocument/2006/math">
                      <m:r>
                        <a:rPr lang="en-US" altLang="zh-TW" i="1">
                          <a:solidFill>
                            <a:srgbClr val="FF0000"/>
                          </a:solidFill>
                          <a:latin typeface="Cambria Math" panose="02040503050406030204" pitchFamily="18" charset="0"/>
                        </a:rPr>
                        <m:t>①</m:t>
                      </m:r>
                      <m:r>
                        <a:rPr lang="en-US" altLang="zh-TW" i="1">
                          <a:solidFill>
                            <a:srgbClr val="FF0000"/>
                          </a:solidFill>
                          <a:latin typeface="Cambria Math" panose="02040503050406030204" pitchFamily="18" charset="0"/>
                        </a:rPr>
                        <m:t> </m:t>
                      </m:r>
                    </m:oMath>
                  </a14:m>
                  <a:r>
                    <a:rPr lang="en-US" altLang="zh-TW" dirty="0">
                      <a:solidFill>
                        <a:srgbClr val="FF0000"/>
                      </a:solidFill>
                    </a:rPr>
                    <a:t>|VV⟩+</a:t>
                  </a:r>
                  <a:r>
                    <a:rPr lang="en-US" altLang="zh-TW" dirty="0">
                      <a:solidFill>
                        <a:srgbClr val="002060"/>
                      </a:solidFill>
                    </a:rPr>
                    <a:t> </a:t>
                  </a:r>
                  <a14:m>
                    <m:oMath xmlns:m="http://schemas.openxmlformats.org/officeDocument/2006/math">
                      <m:r>
                        <a:rPr lang="en-US" altLang="zh-TW" i="1">
                          <a:solidFill>
                            <a:srgbClr val="002060"/>
                          </a:solidFill>
                          <a:latin typeface="Cambria Math" panose="02040503050406030204" pitchFamily="18" charset="0"/>
                        </a:rPr>
                        <m:t>②</m:t>
                      </m:r>
                    </m:oMath>
                  </a14:m>
                  <a:r>
                    <a:rPr lang="zh-TW" altLang="en-US" dirty="0">
                      <a:solidFill>
                        <a:srgbClr val="002060"/>
                      </a:solidFill>
                    </a:rPr>
                    <a:t> </a:t>
                  </a:r>
                  <a:r>
                    <a:rPr lang="en-US" altLang="zh-TW" dirty="0">
                      <a:solidFill>
                        <a:srgbClr val="002060"/>
                      </a:solidFill>
                    </a:rPr>
                    <a:t>|HH⟩</a:t>
                  </a:r>
                  <a:endParaRPr lang="zh-TW" altLang="en-US" dirty="0">
                    <a:solidFill>
                      <a:srgbClr val="FF0000"/>
                    </a:solidFill>
                  </a:endParaRPr>
                </a:p>
              </p:txBody>
            </p:sp>
          </mc:Choice>
          <mc:Fallback xmlns="">
            <p:sp>
              <p:nvSpPr>
                <p:cNvPr id="19" name="文字方塊 18">
                  <a:extLst>
                    <a:ext uri="{FF2B5EF4-FFF2-40B4-BE49-F238E27FC236}">
                      <a16:creationId xmlns:a16="http://schemas.microsoft.com/office/drawing/2014/main" id="{FADF6BDB-33F4-5C9B-31DC-BA719DE5C8C4}"/>
                    </a:ext>
                  </a:extLst>
                </p:cNvPr>
                <p:cNvSpPr txBox="1">
                  <a:spLocks noRot="1" noChangeAspect="1" noMove="1" noResize="1" noEditPoints="1" noAdjustHandles="1" noChangeArrowheads="1" noChangeShapeType="1" noTextEdit="1"/>
                </p:cNvSpPr>
                <p:nvPr/>
              </p:nvSpPr>
              <p:spPr>
                <a:xfrm>
                  <a:off x="2016335" y="4955751"/>
                  <a:ext cx="3115148" cy="369332"/>
                </a:xfrm>
                <a:prstGeom prst="rect">
                  <a:avLst/>
                </a:prstGeom>
                <a:blipFill>
                  <a:blip r:embed="rId4"/>
                  <a:stretch>
                    <a:fillRect l="-1761" t="-11475" r="-1370" b="-24590"/>
                  </a:stretch>
                </a:blipFill>
              </p:spPr>
              <p:txBody>
                <a:bodyPr/>
                <a:lstStyle/>
                <a:p>
                  <a:r>
                    <a:rPr lang="zh-TW" altLang="en-US">
                      <a:noFill/>
                    </a:rPr>
                    <a:t> </a:t>
                  </a:r>
                </a:p>
              </p:txBody>
            </p:sp>
          </mc:Fallback>
        </mc:AlternateContent>
        <p:sp>
          <p:nvSpPr>
            <p:cNvPr id="23" name="文字方塊 22">
              <a:extLst>
                <a:ext uri="{FF2B5EF4-FFF2-40B4-BE49-F238E27FC236}">
                  <a16:creationId xmlns:a16="http://schemas.microsoft.com/office/drawing/2014/main" id="{888716C1-182C-ADBE-F38D-B94D7691ABFC}"/>
                </a:ext>
              </a:extLst>
            </p:cNvPr>
            <p:cNvSpPr txBox="1"/>
            <p:nvPr/>
          </p:nvSpPr>
          <p:spPr>
            <a:xfrm>
              <a:off x="5541908" y="5379346"/>
              <a:ext cx="1130566" cy="369332"/>
            </a:xfrm>
            <a:prstGeom prst="rect">
              <a:avLst/>
            </a:prstGeom>
            <a:noFill/>
          </p:spPr>
          <p:txBody>
            <a:bodyPr wrap="none" rtlCol="0">
              <a:spAutoFit/>
            </a:bodyPr>
            <a:lstStyle/>
            <a:p>
              <a:r>
                <a:rPr lang="en-US" altLang="zh-TW" dirty="0"/>
                <a:t>collimator</a:t>
              </a:r>
              <a:endParaRPr lang="zh-TW" altLang="en-US" dirty="0"/>
            </a:p>
          </p:txBody>
        </p:sp>
      </p:grpSp>
      <p:sp>
        <p:nvSpPr>
          <p:cNvPr id="137" name="矩形 136">
            <a:extLst>
              <a:ext uri="{FF2B5EF4-FFF2-40B4-BE49-F238E27FC236}">
                <a16:creationId xmlns:a16="http://schemas.microsoft.com/office/drawing/2014/main" id="{DEEC7F7B-5E48-5A1B-43DB-94EB5A272A43}"/>
              </a:ext>
            </a:extLst>
          </p:cNvPr>
          <p:cNvSpPr/>
          <p:nvPr/>
        </p:nvSpPr>
        <p:spPr>
          <a:xfrm>
            <a:off x="6025607" y="2968120"/>
            <a:ext cx="113236" cy="81751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grpSp>
        <p:nvGrpSpPr>
          <p:cNvPr id="144" name="群組 143">
            <a:extLst>
              <a:ext uri="{FF2B5EF4-FFF2-40B4-BE49-F238E27FC236}">
                <a16:creationId xmlns:a16="http://schemas.microsoft.com/office/drawing/2014/main" id="{3804BD53-BF31-5045-3428-5945B6135E83}"/>
              </a:ext>
            </a:extLst>
          </p:cNvPr>
          <p:cNvGrpSpPr/>
          <p:nvPr/>
        </p:nvGrpSpPr>
        <p:grpSpPr>
          <a:xfrm>
            <a:off x="3437319" y="3093005"/>
            <a:ext cx="210129" cy="500455"/>
            <a:chOff x="8147879" y="2874761"/>
            <a:chExt cx="320447" cy="747169"/>
          </a:xfrm>
        </p:grpSpPr>
        <p:cxnSp>
          <p:nvCxnSpPr>
            <p:cNvPr id="145" name="直線單箭頭接點 144">
              <a:extLst>
                <a:ext uri="{FF2B5EF4-FFF2-40B4-BE49-F238E27FC236}">
                  <a16:creationId xmlns:a16="http://schemas.microsoft.com/office/drawing/2014/main" id="{3DC6B06F-DC48-1E59-6A2A-BE0B7E7B109A}"/>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46" name="橢圓 145">
              <a:extLst>
                <a:ext uri="{FF2B5EF4-FFF2-40B4-BE49-F238E27FC236}">
                  <a16:creationId xmlns:a16="http://schemas.microsoft.com/office/drawing/2014/main" id="{90FCDBDD-96D8-99EC-55AE-6EFA0B9F00A2}"/>
                </a:ext>
              </a:extLst>
            </p:cNvPr>
            <p:cNvSpPr/>
            <p:nvPr/>
          </p:nvSpPr>
          <p:spPr>
            <a:xfrm>
              <a:off x="8147879" y="3074008"/>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a:t>V</a:t>
              </a:r>
              <a:endParaRPr lang="zh-TW" altLang="en-US" sz="1400" dirty="0"/>
            </a:p>
          </p:txBody>
        </p:sp>
      </p:grpSp>
      <p:sp>
        <p:nvSpPr>
          <p:cNvPr id="148" name="文字方塊 147">
            <a:extLst>
              <a:ext uri="{FF2B5EF4-FFF2-40B4-BE49-F238E27FC236}">
                <a16:creationId xmlns:a16="http://schemas.microsoft.com/office/drawing/2014/main" id="{6E8B43BD-C9CA-9048-1A86-B7A36C154035}"/>
              </a:ext>
            </a:extLst>
          </p:cNvPr>
          <p:cNvSpPr txBox="1"/>
          <p:nvPr/>
        </p:nvSpPr>
        <p:spPr>
          <a:xfrm>
            <a:off x="8955597" y="1427508"/>
            <a:ext cx="3183124" cy="307777"/>
          </a:xfrm>
          <a:prstGeom prst="rect">
            <a:avLst/>
          </a:prstGeom>
          <a:noFill/>
          <a:ln>
            <a:solidFill>
              <a:schemeClr val="bg2">
                <a:lumMod val="25000"/>
              </a:schemeClr>
            </a:solidFill>
          </a:ln>
        </p:spPr>
        <p:txBody>
          <a:bodyPr wrap="square">
            <a:spAutoFit/>
          </a:bodyPr>
          <a:lstStyle/>
          <a:p>
            <a:pPr algn="ctr"/>
            <a:r>
              <a:rPr lang="en-US" altLang="zh-TW" sz="1400" b="1" dirty="0">
                <a:latin typeface="+mj-lt"/>
                <a:cs typeface="Times New Roman" panose="02020603050405020304" pitchFamily="18" charset="0"/>
              </a:rPr>
              <a:t>Dual photon pair measure </a:t>
            </a:r>
            <a:r>
              <a:rPr lang="en-US" altLang="zh-TW" sz="1400" dirty="0">
                <a:solidFill>
                  <a:srgbClr val="FF0000"/>
                </a:solidFill>
              </a:rPr>
              <a:t>|VV⟩ </a:t>
            </a:r>
            <a:r>
              <a:rPr lang="en-US" altLang="zh-TW" sz="1400" b="1" dirty="0">
                <a:latin typeface="+mj-lt"/>
                <a:cs typeface="Times New Roman" panose="02020603050405020304" pitchFamily="18" charset="0"/>
              </a:rPr>
              <a:t>with 55V</a:t>
            </a:r>
          </a:p>
        </p:txBody>
      </p:sp>
      <p:grpSp>
        <p:nvGrpSpPr>
          <p:cNvPr id="152" name="群組 151">
            <a:extLst>
              <a:ext uri="{FF2B5EF4-FFF2-40B4-BE49-F238E27FC236}">
                <a16:creationId xmlns:a16="http://schemas.microsoft.com/office/drawing/2014/main" id="{E85BEB9A-24CD-0604-8BE7-07E601C562D3}"/>
              </a:ext>
            </a:extLst>
          </p:cNvPr>
          <p:cNvGrpSpPr/>
          <p:nvPr/>
        </p:nvGrpSpPr>
        <p:grpSpPr>
          <a:xfrm>
            <a:off x="3170618" y="3083063"/>
            <a:ext cx="210129" cy="500455"/>
            <a:chOff x="8147879" y="2874761"/>
            <a:chExt cx="320447" cy="747169"/>
          </a:xfrm>
        </p:grpSpPr>
        <p:cxnSp>
          <p:nvCxnSpPr>
            <p:cNvPr id="153" name="直線單箭頭接點 152">
              <a:extLst>
                <a:ext uri="{FF2B5EF4-FFF2-40B4-BE49-F238E27FC236}">
                  <a16:creationId xmlns:a16="http://schemas.microsoft.com/office/drawing/2014/main" id="{8E0C2321-5630-2779-43B3-51313480ECEE}"/>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4" name="橢圓 153">
              <a:extLst>
                <a:ext uri="{FF2B5EF4-FFF2-40B4-BE49-F238E27FC236}">
                  <a16:creationId xmlns:a16="http://schemas.microsoft.com/office/drawing/2014/main" id="{292769E7-F9D6-292D-B613-7479D4A30C7F}"/>
                </a:ext>
              </a:extLst>
            </p:cNvPr>
            <p:cNvSpPr/>
            <p:nvPr/>
          </p:nvSpPr>
          <p:spPr>
            <a:xfrm>
              <a:off x="8147879" y="3074008"/>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a:t>V</a:t>
              </a:r>
              <a:endParaRPr lang="zh-TW" altLang="en-US" sz="1400" dirty="0"/>
            </a:p>
          </p:txBody>
        </p:sp>
      </p:grpSp>
      <p:pic>
        <p:nvPicPr>
          <p:cNvPr id="21" name="圖片 20">
            <a:extLst>
              <a:ext uri="{FF2B5EF4-FFF2-40B4-BE49-F238E27FC236}">
                <a16:creationId xmlns:a16="http://schemas.microsoft.com/office/drawing/2014/main" id="{8CFF4D4E-A943-E051-6750-70470C80C7B4}"/>
              </a:ext>
            </a:extLst>
          </p:cNvPr>
          <p:cNvPicPr>
            <a:picLocks noChangeAspect="1"/>
          </p:cNvPicPr>
          <p:nvPr/>
        </p:nvPicPr>
        <p:blipFill>
          <a:blip r:embed="rId5"/>
          <a:stretch>
            <a:fillRect/>
          </a:stretch>
        </p:blipFill>
        <p:spPr>
          <a:xfrm>
            <a:off x="9029120" y="1801049"/>
            <a:ext cx="2961132" cy="2334142"/>
          </a:xfrm>
          <a:prstGeom prst="rect">
            <a:avLst/>
          </a:prstGeom>
        </p:spPr>
      </p:pic>
      <p:sp>
        <p:nvSpPr>
          <p:cNvPr id="22" name="文字方塊 21">
            <a:extLst>
              <a:ext uri="{FF2B5EF4-FFF2-40B4-BE49-F238E27FC236}">
                <a16:creationId xmlns:a16="http://schemas.microsoft.com/office/drawing/2014/main" id="{A93417CE-3521-F59B-7274-87BAC74FF57F}"/>
              </a:ext>
            </a:extLst>
          </p:cNvPr>
          <p:cNvSpPr txBox="1"/>
          <p:nvPr/>
        </p:nvSpPr>
        <p:spPr>
          <a:xfrm>
            <a:off x="2036861" y="6398450"/>
            <a:ext cx="1632948" cy="276999"/>
          </a:xfrm>
          <a:prstGeom prst="rect">
            <a:avLst/>
          </a:prstGeom>
          <a:noFill/>
        </p:spPr>
        <p:txBody>
          <a:bodyPr wrap="none" rtlCol="0">
            <a:spAutoFit/>
          </a:bodyPr>
          <a:lstStyle/>
          <a:p>
            <a:pPr lvl="0" defTabSz="914400">
              <a:defRPr/>
            </a:pPr>
            <a:r>
              <a:rPr lang="en-US" altLang="zh-TW" sz="1200" b="1" u="sng" dirty="0">
                <a:solidFill>
                  <a:prstClr val="black"/>
                </a:solidFill>
              </a:rPr>
              <a:t>Plus 55V </a:t>
            </a:r>
            <a:r>
              <a:rPr lang="en-US" altLang="zh-TW" sz="1200" b="1" dirty="0">
                <a:solidFill>
                  <a:prstClr val="black"/>
                </a:solidFill>
              </a:rPr>
              <a:t>Power supply</a:t>
            </a:r>
          </a:p>
        </p:txBody>
      </p:sp>
      <p:grpSp>
        <p:nvGrpSpPr>
          <p:cNvPr id="24" name="群組 23">
            <a:extLst>
              <a:ext uri="{FF2B5EF4-FFF2-40B4-BE49-F238E27FC236}">
                <a16:creationId xmlns:a16="http://schemas.microsoft.com/office/drawing/2014/main" id="{EBC63898-6E6E-22D2-7DCC-DC539C9396FB}"/>
              </a:ext>
            </a:extLst>
          </p:cNvPr>
          <p:cNvGrpSpPr/>
          <p:nvPr/>
        </p:nvGrpSpPr>
        <p:grpSpPr>
          <a:xfrm rot="2909183">
            <a:off x="1178938" y="3745723"/>
            <a:ext cx="1895236" cy="1470239"/>
            <a:chOff x="2194124" y="3328156"/>
            <a:chExt cx="2873565" cy="2368333"/>
          </a:xfrm>
        </p:grpSpPr>
        <p:cxnSp>
          <p:nvCxnSpPr>
            <p:cNvPr id="25" name="直線接點 24">
              <a:extLst>
                <a:ext uri="{FF2B5EF4-FFF2-40B4-BE49-F238E27FC236}">
                  <a16:creationId xmlns:a16="http://schemas.microsoft.com/office/drawing/2014/main" id="{09EDA281-4651-15F8-E83E-475EA63EA605}"/>
                </a:ext>
              </a:extLst>
            </p:cNvPr>
            <p:cNvCxnSpPr>
              <a:cxnSpLocks/>
            </p:cNvCxnSpPr>
            <p:nvPr/>
          </p:nvCxnSpPr>
          <p:spPr>
            <a:xfrm flipH="1" flipV="1">
              <a:off x="4570881" y="5207908"/>
              <a:ext cx="496808" cy="488581"/>
            </a:xfrm>
            <a:prstGeom prst="line">
              <a:avLst/>
            </a:prstGeom>
            <a:ln w="38100"/>
          </p:spPr>
          <p:style>
            <a:lnRef idx="1">
              <a:schemeClr val="dk1"/>
            </a:lnRef>
            <a:fillRef idx="0">
              <a:schemeClr val="dk1"/>
            </a:fillRef>
            <a:effectRef idx="0">
              <a:schemeClr val="dk1"/>
            </a:effectRef>
            <a:fontRef idx="minor">
              <a:schemeClr val="tx1"/>
            </a:fontRef>
          </p:style>
        </p:cxnSp>
        <p:cxnSp>
          <p:nvCxnSpPr>
            <p:cNvPr id="26" name="直線接點 25">
              <a:extLst>
                <a:ext uri="{FF2B5EF4-FFF2-40B4-BE49-F238E27FC236}">
                  <a16:creationId xmlns:a16="http://schemas.microsoft.com/office/drawing/2014/main" id="{D58241D7-ADC4-FE84-3468-4D5F44A6874F}"/>
                </a:ext>
              </a:extLst>
            </p:cNvPr>
            <p:cNvCxnSpPr>
              <a:cxnSpLocks/>
            </p:cNvCxnSpPr>
            <p:nvPr/>
          </p:nvCxnSpPr>
          <p:spPr>
            <a:xfrm>
              <a:off x="2194124" y="3411609"/>
              <a:ext cx="2236376" cy="168570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直線接點 26">
              <a:extLst>
                <a:ext uri="{FF2B5EF4-FFF2-40B4-BE49-F238E27FC236}">
                  <a16:creationId xmlns:a16="http://schemas.microsoft.com/office/drawing/2014/main" id="{BBC7A991-0BDA-4FA9-D45A-CCE143F8AC18}"/>
                </a:ext>
              </a:extLst>
            </p:cNvPr>
            <p:cNvCxnSpPr>
              <a:cxnSpLocks/>
            </p:cNvCxnSpPr>
            <p:nvPr/>
          </p:nvCxnSpPr>
          <p:spPr>
            <a:xfrm>
              <a:off x="2282573" y="3328156"/>
              <a:ext cx="2158857" cy="1769162"/>
            </a:xfrm>
            <a:prstGeom prst="line">
              <a:avLst/>
            </a:prstGeom>
          </p:spPr>
          <p:style>
            <a:lnRef idx="1">
              <a:schemeClr val="dk1"/>
            </a:lnRef>
            <a:fillRef idx="0">
              <a:schemeClr val="dk1"/>
            </a:fillRef>
            <a:effectRef idx="0">
              <a:schemeClr val="dk1"/>
            </a:effectRef>
            <a:fontRef idx="minor">
              <a:schemeClr val="tx1"/>
            </a:fontRef>
          </p:style>
        </p:cxnSp>
        <p:sp>
          <p:nvSpPr>
            <p:cNvPr id="136" name="矩形 135">
              <a:extLst>
                <a:ext uri="{FF2B5EF4-FFF2-40B4-BE49-F238E27FC236}">
                  <a16:creationId xmlns:a16="http://schemas.microsoft.com/office/drawing/2014/main" id="{FC4C84F3-9BFC-B8F7-10B3-41EF57B2F0B5}"/>
                </a:ext>
              </a:extLst>
            </p:cNvPr>
            <p:cNvSpPr/>
            <p:nvPr/>
          </p:nvSpPr>
          <p:spPr>
            <a:xfrm rot="2503572">
              <a:off x="4348693" y="5105512"/>
              <a:ext cx="257738" cy="579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nvGrpSpPr>
          <p:cNvPr id="138" name="群組 137">
            <a:extLst>
              <a:ext uri="{FF2B5EF4-FFF2-40B4-BE49-F238E27FC236}">
                <a16:creationId xmlns:a16="http://schemas.microsoft.com/office/drawing/2014/main" id="{953E8D8D-D074-1F84-F429-4C0CD12B0A7D}"/>
              </a:ext>
            </a:extLst>
          </p:cNvPr>
          <p:cNvGrpSpPr/>
          <p:nvPr/>
        </p:nvGrpSpPr>
        <p:grpSpPr>
          <a:xfrm>
            <a:off x="1965910" y="5596290"/>
            <a:ext cx="1744587" cy="723088"/>
            <a:chOff x="7134306" y="2681776"/>
            <a:chExt cx="1744587" cy="723088"/>
          </a:xfrm>
        </p:grpSpPr>
        <p:sp>
          <p:nvSpPr>
            <p:cNvPr id="139" name="矩形 138">
              <a:extLst>
                <a:ext uri="{FF2B5EF4-FFF2-40B4-BE49-F238E27FC236}">
                  <a16:creationId xmlns:a16="http://schemas.microsoft.com/office/drawing/2014/main" id="{6FD750AF-5D1F-A557-4EDF-E11E06AEF6E6}"/>
                </a:ext>
              </a:extLst>
            </p:cNvPr>
            <p:cNvSpPr/>
            <p:nvPr/>
          </p:nvSpPr>
          <p:spPr>
            <a:xfrm>
              <a:off x="7134306" y="2681776"/>
              <a:ext cx="1744587" cy="723088"/>
            </a:xfrm>
            <a:prstGeom prst="rect">
              <a:avLst/>
            </a:prstGeom>
            <a:solidFill>
              <a:schemeClr val="bg2">
                <a:lumMod val="50000"/>
              </a:scheme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140" name="加號 139">
              <a:extLst>
                <a:ext uri="{FF2B5EF4-FFF2-40B4-BE49-F238E27FC236}">
                  <a16:creationId xmlns:a16="http://schemas.microsoft.com/office/drawing/2014/main" id="{E680EB0A-8808-9ACC-531F-9EC00EE4BF87}"/>
                </a:ext>
              </a:extLst>
            </p:cNvPr>
            <p:cNvSpPr/>
            <p:nvPr/>
          </p:nvSpPr>
          <p:spPr>
            <a:xfrm>
              <a:off x="7329312" y="3125217"/>
              <a:ext cx="300937" cy="258454"/>
            </a:xfrm>
            <a:prstGeom prst="mathPlus">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1" name="減號 140">
              <a:extLst>
                <a:ext uri="{FF2B5EF4-FFF2-40B4-BE49-F238E27FC236}">
                  <a16:creationId xmlns:a16="http://schemas.microsoft.com/office/drawing/2014/main" id="{BE410B58-A346-5C13-8FC8-F14522AC4F67}"/>
                </a:ext>
              </a:extLst>
            </p:cNvPr>
            <p:cNvSpPr/>
            <p:nvPr/>
          </p:nvSpPr>
          <p:spPr>
            <a:xfrm>
              <a:off x="7711004" y="3160099"/>
              <a:ext cx="300937" cy="168563"/>
            </a:xfrm>
            <a:prstGeom prst="mathMinu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2" name="加號 141">
              <a:extLst>
                <a:ext uri="{FF2B5EF4-FFF2-40B4-BE49-F238E27FC236}">
                  <a16:creationId xmlns:a16="http://schemas.microsoft.com/office/drawing/2014/main" id="{15B88DF9-E120-705D-2661-EB8F0329EDC9}"/>
                </a:ext>
              </a:extLst>
            </p:cNvPr>
            <p:cNvSpPr/>
            <p:nvPr/>
          </p:nvSpPr>
          <p:spPr>
            <a:xfrm>
              <a:off x="8071871" y="3125217"/>
              <a:ext cx="300937" cy="258454"/>
            </a:xfrm>
            <a:prstGeom prst="mathPlus">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3" name="減號 142">
              <a:extLst>
                <a:ext uri="{FF2B5EF4-FFF2-40B4-BE49-F238E27FC236}">
                  <a16:creationId xmlns:a16="http://schemas.microsoft.com/office/drawing/2014/main" id="{BD89D4FF-53C7-6680-EDF9-8876BB892339}"/>
                </a:ext>
              </a:extLst>
            </p:cNvPr>
            <p:cNvSpPr/>
            <p:nvPr/>
          </p:nvSpPr>
          <p:spPr>
            <a:xfrm>
              <a:off x="8453563" y="3160099"/>
              <a:ext cx="300937" cy="168563"/>
            </a:xfrm>
            <a:prstGeom prst="mathMinu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7" name="矩形 146">
              <a:extLst>
                <a:ext uri="{FF2B5EF4-FFF2-40B4-BE49-F238E27FC236}">
                  <a16:creationId xmlns:a16="http://schemas.microsoft.com/office/drawing/2014/main" id="{66405CD0-8F9D-0E32-8388-029A02C31983}"/>
                </a:ext>
              </a:extLst>
            </p:cNvPr>
            <p:cNvSpPr/>
            <p:nvPr/>
          </p:nvSpPr>
          <p:spPr>
            <a:xfrm>
              <a:off x="7391801" y="2761937"/>
              <a:ext cx="476895" cy="32883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149" name="矩形 148">
              <a:extLst>
                <a:ext uri="{FF2B5EF4-FFF2-40B4-BE49-F238E27FC236}">
                  <a16:creationId xmlns:a16="http://schemas.microsoft.com/office/drawing/2014/main" id="{EA9650EE-31B3-9946-DE40-136ADE932B74}"/>
                </a:ext>
              </a:extLst>
            </p:cNvPr>
            <p:cNvSpPr/>
            <p:nvPr/>
          </p:nvSpPr>
          <p:spPr>
            <a:xfrm>
              <a:off x="8222339" y="2747188"/>
              <a:ext cx="476895" cy="32883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grpSp>
      <p:cxnSp>
        <p:nvCxnSpPr>
          <p:cNvPr id="150" name="直線單箭頭接點 149">
            <a:extLst>
              <a:ext uri="{FF2B5EF4-FFF2-40B4-BE49-F238E27FC236}">
                <a16:creationId xmlns:a16="http://schemas.microsoft.com/office/drawing/2014/main" id="{AF7CEE2F-97A6-4285-0528-F54675B1E54B}"/>
              </a:ext>
            </a:extLst>
          </p:cNvPr>
          <p:cNvCxnSpPr>
            <a:cxnSpLocks/>
          </p:cNvCxnSpPr>
          <p:nvPr/>
        </p:nvCxnSpPr>
        <p:spPr>
          <a:xfrm flipH="1" flipV="1">
            <a:off x="3128554" y="3499051"/>
            <a:ext cx="417064" cy="153184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6947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7"/>
                                        </p:tgtEl>
                                        <p:attrNameLst>
                                          <p:attrName>style.visibility</p:attrName>
                                        </p:attrNameLst>
                                      </p:cBhvr>
                                      <p:to>
                                        <p:strVal val="visible"/>
                                      </p:to>
                                    </p:set>
                                    <p:anim calcmode="lin" valueType="num">
                                      <p:cBhvr additive="base">
                                        <p:cTn id="7" dur="500" fill="hold"/>
                                        <p:tgtEl>
                                          <p:spTgt spid="137"/>
                                        </p:tgtEl>
                                        <p:attrNameLst>
                                          <p:attrName>ppt_x</p:attrName>
                                        </p:attrNameLst>
                                      </p:cBhvr>
                                      <p:tavLst>
                                        <p:tav tm="0">
                                          <p:val>
                                            <p:strVal val="#ppt_x"/>
                                          </p:val>
                                        </p:tav>
                                        <p:tav tm="100000">
                                          <p:val>
                                            <p:strVal val="#ppt_x"/>
                                          </p:val>
                                        </p:tav>
                                      </p:tavLst>
                                    </p:anim>
                                    <p:anim calcmode="lin" valueType="num">
                                      <p:cBhvr additive="base">
                                        <p:cTn id="8" dur="500" fill="hold"/>
                                        <p:tgtEl>
                                          <p:spTgt spid="13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0" presetClass="path" presetSubtype="0" accel="50000" decel="50000" fill="hold" nodeType="clickEffect">
                                  <p:stCondLst>
                                    <p:cond delay="0"/>
                                  </p:stCondLst>
                                  <p:childTnLst>
                                    <p:animMotion origin="layout" path="M -4.79167E-6 -0.00486 L -4.79167E-6 -0.00486 C 0.00378 -0.00556 0.00756 -0.00671 0.01133 -0.00648 C 0.0155 -0.00648 0.0362 -0.00324 0.04454 -0.00162 C 0.04714 -0.00093 0.04961 -0.00023 0.05222 0.00023 C 0.05782 0.00093 0.06355 0.00139 0.06928 0.00185 C 0.10066 0.01111 0.06719 0.00185 0.15183 0.00185 C 0.15625 0.00185 0.16068 0.00301 0.16511 0.00347 C 0.16485 0.05185 0.16329 0.10023 0.1642 0.14861 C 0.1642 0.15116 0.16654 0.15162 0.16797 0.15208 C 0.17266 0.15347 0.17748 0.15347 0.1823 0.1537 C 0.19649 0.15463 0.21068 0.15486 0.225 0.15556 C 0.22787 0.15602 0.23178 0.15324 0.23347 0.15718 C 0.23399 0.1581 0.23191 0.17917 0.23165 0.18241 C 0.23191 0.19306 0.23152 0.20394 0.23256 0.21458 C 0.23308 0.21944 0.23555 0.22315 0.23633 0.22801 C 0.23737 0.23403 0.23724 0.24051 0.23829 0.24653 C 0.23881 0.24977 0.24011 0.25231 0.24115 0.25509 C 0.24206 0.25764 0.24545 0.26782 0.24779 0.27014 C 0.24883 0.2713 0.25027 0.2713 0.25157 0.27199 C 0.25352 0.27292 0.25534 0.27384 0.2573 0.27523 C 0.26928 0.28426 0.25599 0.27731 0.27058 0.2838 C 0.27787 0.29931 0.2724 0.28889 0.28099 0.30231 C 0.28373 0.30648 0.28217 0.30556 0.28568 0.30903 C 0.28816 0.31157 0.29089 0.31319 0.29336 0.31574 C 0.2974 0.32014 0.29727 0.32199 0.30092 0.32755 C 0.30209 0.3294 0.30339 0.33102 0.30469 0.33264 C 0.30743 0.33588 0.31029 0.33866 0.31329 0.3412 C 0.31615 0.34352 0.31889 0.34583 0.32175 0.34792 C 0.33125 0.35486 0.33152 0.35417 0.34362 0.3581 C 0.35287 0.36088 0.36237 0.36111 0.37123 0.36644 C 0.37305 0.36759 0.37487 0.36898 0.37683 0.36991 C 0.38204 0.37176 0.39532 0.37269 0.3987 0.37315 C 0.40131 0.37361 0.40378 0.37431 0.40625 0.375 L 0.41967 0.37315 " pathEditMode="relative" ptsTypes="AAAAAAAAAAAAAAAAAAAAAAAAAAAAAAAAAAA">
                                      <p:cBhvr>
                                        <p:cTn id="12" dur="3000" fill="hold"/>
                                        <p:tgtEl>
                                          <p:spTgt spid="144"/>
                                        </p:tgtEl>
                                        <p:attrNameLst>
                                          <p:attrName>ppt_x</p:attrName>
                                          <p:attrName>ppt_y</p:attrName>
                                        </p:attrNameLst>
                                      </p:cBhvr>
                                    </p:animMotion>
                                  </p:childTnLst>
                                </p:cTn>
                              </p:par>
                              <p:par>
                                <p:cTn id="13" presetID="0" presetClass="path" presetSubtype="0" accel="50000" decel="50000" fill="hold" nodeType="withEffect">
                                  <p:stCondLst>
                                    <p:cond delay="0"/>
                                  </p:stCondLst>
                                  <p:childTnLst>
                                    <p:animMotion origin="layout" path="M 0.00456 -0.0081 L 0.00456 -0.00787 C 0.00833 -0.0088 0.01224 -0.00972 0.01615 -0.00972 C 0.02057 -0.00972 0.04206 -0.00648 0.05091 -0.00486 C 0.05352 -0.00417 0.05612 -0.00347 0.05885 -0.00301 C 0.06458 -0.00232 0.07057 -0.00185 0.07656 -0.00139 C 0.10924 0.00833 0.07435 -0.00139 0.16263 -0.00139 C 0.16732 -0.00139 0.17201 -0.00023 0.17643 0.00023 C 0.1763 0.04977 0.17474 0.09931 0.17565 0.14861 C 0.17565 0.15116 0.17799 0.15185 0.17943 0.15231 C 0.18437 0.1537 0.18945 0.1537 0.1944 0.15393 C 0.20924 0.15463 0.22396 0.15486 0.23893 0.15579 C 0.24193 0.15625 0.24609 0.15347 0.24792 0.15741 C 0.24844 0.15833 0.24622 0.17986 0.24583 0.1831 C 0.24622 0.19421 0.2457 0.20532 0.24687 0.21597 C 0.24753 0.22106 0.25 0.22477 0.25091 0.22963 C 0.25195 0.23611 0.25182 0.24236 0.25286 0.24884 C 0.25339 0.25208 0.25469 0.25463 0.25573 0.25718 C 0.25677 0.25995 0.26029 0.27037 0.26276 0.27292 C 0.26393 0.27407 0.26536 0.27407 0.2668 0.27477 C 0.26875 0.27593 0.27057 0.27685 0.27253 0.27801 C 0.28516 0.28727 0.27122 0.28009 0.28646 0.28681 C 0.29414 0.30255 0.28828 0.29213 0.2974 0.30579 C 0.30026 0.30995 0.2987 0.30903 0.30221 0.3125 C 0.30482 0.31528 0.30768 0.3169 0.31029 0.31921 C 0.31458 0.32384 0.31445 0.32569 0.3181 0.33148 C 0.31927 0.33333 0.3207 0.33495 0.32214 0.33681 C 0.325 0.34005 0.32799 0.34282 0.33112 0.34537 C 0.33398 0.34768 0.33698 0.35 0.33997 0.35231 C 0.34974 0.35949 0.35 0.3588 0.36276 0.3625 C 0.3724 0.36551 0.38229 0.36574 0.39154 0.3713 C 0.39336 0.37245 0.39518 0.37384 0.3974 0.37477 C 0.40273 0.37662 0.41667 0.37755 0.42018 0.37801 C 0.42292 0.37847 0.42539 0.37917 0.42799 0.38032 L 0.44219 0.37801 " pathEditMode="relative" rAng="0" ptsTypes="AAAAAAAAAAAAAAAAAAAAAAAAAAAAAAAAAAA">
                                      <p:cBhvr>
                                        <p:cTn id="14" dur="3000" fill="hold"/>
                                        <p:tgtEl>
                                          <p:spTgt spid="152"/>
                                        </p:tgtEl>
                                        <p:attrNameLst>
                                          <p:attrName>ppt_x</p:attrName>
                                          <p:attrName>ppt_y</p:attrName>
                                        </p:attrNameLst>
                                      </p:cBhvr>
                                      <p:rCtr x="21875" y="19329"/>
                                    </p:animMotion>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nodeType="clickEffect">
                                  <p:stCondLst>
                                    <p:cond delay="0"/>
                                  </p:stCondLst>
                                  <p:childTnLst>
                                    <p:animMotion origin="layout" path="M 0.43828 0.3794 L 0.58268 0.43866 " pathEditMode="relative" rAng="0" ptsTypes="AA">
                                      <p:cBhvr>
                                        <p:cTn id="18" dur="2000" fill="hold"/>
                                        <p:tgtEl>
                                          <p:spTgt spid="152"/>
                                        </p:tgtEl>
                                        <p:attrNameLst>
                                          <p:attrName>ppt_x</p:attrName>
                                          <p:attrName>ppt_y</p:attrName>
                                        </p:attrNameLst>
                                      </p:cBhvr>
                                      <p:rCtr x="7214" y="2963"/>
                                    </p:animMotion>
                                  </p:childTnLst>
                                </p:cTn>
                              </p:par>
                              <p:par>
                                <p:cTn id="19" presetID="42" presetClass="path" presetSubtype="0" accel="50000" decel="50000" fill="hold" nodeType="withEffect">
                                  <p:stCondLst>
                                    <p:cond delay="0"/>
                                  </p:stCondLst>
                                  <p:childTnLst>
                                    <p:animMotion origin="layout" path="M 0.41875 0.37639 L 0.55964 0.28843 " pathEditMode="relative" rAng="0" ptsTypes="AA">
                                      <p:cBhvr>
                                        <p:cTn id="20" dur="2000" fill="hold"/>
                                        <p:tgtEl>
                                          <p:spTgt spid="144"/>
                                        </p:tgtEl>
                                        <p:attrNameLst>
                                          <p:attrName>ppt_x</p:attrName>
                                          <p:attrName>ppt_y</p:attrName>
                                        </p:attrNameLst>
                                      </p:cBhvr>
                                      <p:rCtr x="7044" y="-4398"/>
                                    </p:animMotion>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grpId="0" nodeType="clickEffect">
                                  <p:stCondLst>
                                    <p:cond delay="0"/>
                                  </p:stCondLst>
                                  <p:childTnLst>
                                    <p:set>
                                      <p:cBhvr>
                                        <p:cTn id="24" dur="1" fill="hold">
                                          <p:stCondLst>
                                            <p:cond delay="0"/>
                                          </p:stCondLst>
                                        </p:cTn>
                                        <p:tgtEl>
                                          <p:spTgt spid="148"/>
                                        </p:tgtEl>
                                        <p:attrNameLst>
                                          <p:attrName>style.visibility</p:attrName>
                                        </p:attrNameLst>
                                      </p:cBhvr>
                                      <p:to>
                                        <p:strVal val="visible"/>
                                      </p:to>
                                    </p:set>
                                    <p:animEffect transition="in" filter="circle(in)">
                                      <p:cBhvr>
                                        <p:cTn id="25" dur="1000"/>
                                        <p:tgtEl>
                                          <p:spTgt spid="148"/>
                                        </p:tgtEl>
                                      </p:cBhvr>
                                    </p:animEffect>
                                  </p:childTnLst>
                                </p:cTn>
                              </p:par>
                              <p:par>
                                <p:cTn id="26" presetID="6" presetClass="entr" presetSubtype="16" fill="hold" nodeType="with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circle(in)">
                                      <p:cBhvr>
                                        <p:cTn id="28"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 grpId="0" animBg="1"/>
      <p:bldP spid="148"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sz="4000" b="1" dirty="0">
                <a:latin typeface="Times New Roman" panose="02020603050405020304" pitchFamily="18" charset="0"/>
                <a:cs typeface="Times New Roman" panose="02020603050405020304" pitchFamily="18" charset="0"/>
              </a:rPr>
              <a:t>Applied 55V for |HH⟩ Photon pair measurement</a:t>
            </a: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1581381" y="6398450"/>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55</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grpSp>
        <p:nvGrpSpPr>
          <p:cNvPr id="3" name="群組 2">
            <a:extLst>
              <a:ext uri="{FF2B5EF4-FFF2-40B4-BE49-F238E27FC236}">
                <a16:creationId xmlns:a16="http://schemas.microsoft.com/office/drawing/2014/main" id="{2EB37F41-A257-A219-36EE-DB30D372D7A4}"/>
              </a:ext>
            </a:extLst>
          </p:cNvPr>
          <p:cNvGrpSpPr/>
          <p:nvPr/>
        </p:nvGrpSpPr>
        <p:grpSpPr>
          <a:xfrm>
            <a:off x="288405" y="1368615"/>
            <a:ext cx="11764077" cy="5282867"/>
            <a:chOff x="7617" y="1372156"/>
            <a:chExt cx="11764077" cy="5282867"/>
          </a:xfrm>
        </p:grpSpPr>
        <p:grpSp>
          <p:nvGrpSpPr>
            <p:cNvPr id="7" name="群組 6">
              <a:extLst>
                <a:ext uri="{FF2B5EF4-FFF2-40B4-BE49-F238E27FC236}">
                  <a16:creationId xmlns:a16="http://schemas.microsoft.com/office/drawing/2014/main" id="{1463D707-3008-26DE-74A4-697CD0F94DC0}"/>
                </a:ext>
              </a:extLst>
            </p:cNvPr>
            <p:cNvGrpSpPr/>
            <p:nvPr/>
          </p:nvGrpSpPr>
          <p:grpSpPr>
            <a:xfrm>
              <a:off x="7617" y="1372156"/>
              <a:ext cx="9987679" cy="5282867"/>
              <a:chOff x="7616" y="1372155"/>
              <a:chExt cx="10625785" cy="7072559"/>
            </a:xfrm>
          </p:grpSpPr>
          <p:cxnSp>
            <p:nvCxnSpPr>
              <p:cNvPr id="32" name="直線接點 31">
                <a:extLst>
                  <a:ext uri="{FF2B5EF4-FFF2-40B4-BE49-F238E27FC236}">
                    <a16:creationId xmlns:a16="http://schemas.microsoft.com/office/drawing/2014/main" id="{4FD14682-EB9B-E828-5F30-73594C532A7B}"/>
                  </a:ext>
                </a:extLst>
              </p:cNvPr>
              <p:cNvCxnSpPr>
                <a:cxnSpLocks/>
              </p:cNvCxnSpPr>
              <p:nvPr/>
            </p:nvCxnSpPr>
            <p:spPr>
              <a:xfrm flipH="1">
                <a:off x="5602052" y="4059456"/>
                <a:ext cx="11951" cy="1364175"/>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33" name="直線接點 32">
                <a:extLst>
                  <a:ext uri="{FF2B5EF4-FFF2-40B4-BE49-F238E27FC236}">
                    <a16:creationId xmlns:a16="http://schemas.microsoft.com/office/drawing/2014/main" id="{43062B93-931E-2484-4864-A28BE6CE431C}"/>
                  </a:ext>
                </a:extLst>
              </p:cNvPr>
              <p:cNvCxnSpPr>
                <a:cxnSpLocks/>
              </p:cNvCxnSpPr>
              <p:nvPr/>
            </p:nvCxnSpPr>
            <p:spPr>
              <a:xfrm>
                <a:off x="5613681" y="5406015"/>
                <a:ext cx="921787"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34" name="群組 33">
                <a:extLst>
                  <a:ext uri="{FF2B5EF4-FFF2-40B4-BE49-F238E27FC236}">
                    <a16:creationId xmlns:a16="http://schemas.microsoft.com/office/drawing/2014/main" id="{BCCA4450-74C6-646D-8ED6-AB5845FA11D7}"/>
                  </a:ext>
                </a:extLst>
              </p:cNvPr>
              <p:cNvGrpSpPr/>
              <p:nvPr/>
            </p:nvGrpSpPr>
            <p:grpSpPr>
              <a:xfrm rot="10800000">
                <a:off x="528295" y="2988278"/>
                <a:ext cx="699952" cy="1110013"/>
                <a:chOff x="9464040" y="2370247"/>
                <a:chExt cx="1058780" cy="1007694"/>
              </a:xfrm>
            </p:grpSpPr>
            <p:sp>
              <p:nvSpPr>
                <p:cNvPr id="134" name="矩形: 圓角 133">
                  <a:extLst>
                    <a:ext uri="{FF2B5EF4-FFF2-40B4-BE49-F238E27FC236}">
                      <a16:creationId xmlns:a16="http://schemas.microsoft.com/office/drawing/2014/main" id="{425774E9-6410-F53C-9426-6D9CC3A67A29}"/>
                    </a:ext>
                  </a:extLst>
                </p:cNvPr>
                <p:cNvSpPr/>
                <p:nvPr/>
              </p:nvSpPr>
              <p:spPr>
                <a:xfrm>
                  <a:off x="9608420" y="2438401"/>
                  <a:ext cx="914400" cy="914400"/>
                </a:xfrm>
                <a:prstGeom prst="round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5" name="矩形 134">
                  <a:extLst>
                    <a:ext uri="{FF2B5EF4-FFF2-40B4-BE49-F238E27FC236}">
                      <a16:creationId xmlns:a16="http://schemas.microsoft.com/office/drawing/2014/main" id="{2BBA2A84-5654-62D1-A2CA-1CE11AE9BC74}"/>
                    </a:ext>
                  </a:extLst>
                </p:cNvPr>
                <p:cNvSpPr/>
                <p:nvPr/>
              </p:nvSpPr>
              <p:spPr>
                <a:xfrm>
                  <a:off x="9464040" y="2370247"/>
                  <a:ext cx="608530" cy="100769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5" name="群組 34">
                <a:extLst>
                  <a:ext uri="{FF2B5EF4-FFF2-40B4-BE49-F238E27FC236}">
                    <a16:creationId xmlns:a16="http://schemas.microsoft.com/office/drawing/2014/main" id="{999227BF-81F4-FDC6-2DFC-2380646AE2C6}"/>
                  </a:ext>
                </a:extLst>
              </p:cNvPr>
              <p:cNvGrpSpPr/>
              <p:nvPr/>
            </p:nvGrpSpPr>
            <p:grpSpPr>
              <a:xfrm>
                <a:off x="5637900" y="2348270"/>
                <a:ext cx="1058780" cy="629311"/>
                <a:chOff x="9464040" y="2406313"/>
                <a:chExt cx="1058780" cy="978456"/>
              </a:xfrm>
            </p:grpSpPr>
            <p:sp>
              <p:nvSpPr>
                <p:cNvPr id="132" name="矩形: 圓角 131">
                  <a:extLst>
                    <a:ext uri="{FF2B5EF4-FFF2-40B4-BE49-F238E27FC236}">
                      <a16:creationId xmlns:a16="http://schemas.microsoft.com/office/drawing/2014/main" id="{0CC7889B-6D62-B552-5818-743B89396C0A}"/>
                    </a:ext>
                  </a:extLst>
                </p:cNvPr>
                <p:cNvSpPr/>
                <p:nvPr/>
              </p:nvSpPr>
              <p:spPr>
                <a:xfrm>
                  <a:off x="9608420" y="2438401"/>
                  <a:ext cx="914400" cy="914400"/>
                </a:xfrm>
                <a:prstGeom prst="round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3" name="矩形 132">
                  <a:extLst>
                    <a:ext uri="{FF2B5EF4-FFF2-40B4-BE49-F238E27FC236}">
                      <a16:creationId xmlns:a16="http://schemas.microsoft.com/office/drawing/2014/main" id="{C9CFB73D-5443-0922-2A1D-C96C4FD7302A}"/>
                    </a:ext>
                  </a:extLst>
                </p:cNvPr>
                <p:cNvSpPr/>
                <p:nvPr/>
              </p:nvSpPr>
              <p:spPr>
                <a:xfrm>
                  <a:off x="9464040" y="2406313"/>
                  <a:ext cx="565769" cy="97845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36" name="直線接點 35">
                <a:extLst>
                  <a:ext uri="{FF2B5EF4-FFF2-40B4-BE49-F238E27FC236}">
                    <a16:creationId xmlns:a16="http://schemas.microsoft.com/office/drawing/2014/main" id="{7FD50FDD-DCDF-23FF-D3EF-87DDE49966B0}"/>
                  </a:ext>
                </a:extLst>
              </p:cNvPr>
              <p:cNvCxnSpPr>
                <a:cxnSpLocks/>
              </p:cNvCxnSpPr>
              <p:nvPr/>
            </p:nvCxnSpPr>
            <p:spPr>
              <a:xfrm flipH="1">
                <a:off x="710294" y="2957020"/>
                <a:ext cx="5730417" cy="585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線接點 36">
                <a:extLst>
                  <a:ext uri="{FF2B5EF4-FFF2-40B4-BE49-F238E27FC236}">
                    <a16:creationId xmlns:a16="http://schemas.microsoft.com/office/drawing/2014/main" id="{513450B2-16F3-A43A-F0C2-16630973FDF4}"/>
                  </a:ext>
                </a:extLst>
              </p:cNvPr>
              <p:cNvCxnSpPr>
                <a:cxnSpLocks/>
              </p:cNvCxnSpPr>
              <p:nvPr/>
            </p:nvCxnSpPr>
            <p:spPr>
              <a:xfrm flipV="1">
                <a:off x="3714703" y="4055897"/>
                <a:ext cx="933297" cy="7162"/>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38" name="矩形 37">
                <a:extLst>
                  <a:ext uri="{FF2B5EF4-FFF2-40B4-BE49-F238E27FC236}">
                    <a16:creationId xmlns:a16="http://schemas.microsoft.com/office/drawing/2014/main" id="{05435F91-6B1F-DD94-57DD-A649288FBD03}"/>
                  </a:ext>
                </a:extLst>
              </p:cNvPr>
              <p:cNvSpPr/>
              <p:nvPr/>
            </p:nvSpPr>
            <p:spPr>
              <a:xfrm>
                <a:off x="826107" y="2084769"/>
                <a:ext cx="1588168" cy="609600"/>
              </a:xfrm>
              <a:prstGeom prst="rect">
                <a:avLst/>
              </a:prstGeom>
              <a:solidFill>
                <a:schemeClr val="bg2"/>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FPV785S</a:t>
                </a:r>
                <a:endParaRPr kumimoji="0" lang="zh-TW" altLang="en-US" sz="16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nvGrpSpPr>
              <p:cNvPr id="39" name="群組 38">
                <a:extLst>
                  <a:ext uri="{FF2B5EF4-FFF2-40B4-BE49-F238E27FC236}">
                    <a16:creationId xmlns:a16="http://schemas.microsoft.com/office/drawing/2014/main" id="{5DD85E73-80FD-E1B5-6EEE-68C5A9770122}"/>
                  </a:ext>
                </a:extLst>
              </p:cNvPr>
              <p:cNvGrpSpPr/>
              <p:nvPr/>
            </p:nvGrpSpPr>
            <p:grpSpPr>
              <a:xfrm>
                <a:off x="3601855" y="1928720"/>
                <a:ext cx="2613803" cy="521366"/>
                <a:chOff x="1707396" y="1303447"/>
                <a:chExt cx="2230708" cy="469400"/>
              </a:xfrm>
            </p:grpSpPr>
            <p:cxnSp>
              <p:nvCxnSpPr>
                <p:cNvPr id="120" name="直線接點 119">
                  <a:extLst>
                    <a:ext uri="{FF2B5EF4-FFF2-40B4-BE49-F238E27FC236}">
                      <a16:creationId xmlns:a16="http://schemas.microsoft.com/office/drawing/2014/main" id="{ECFE4FA0-7ED5-363E-E525-16B13C07F96E}"/>
                    </a:ext>
                  </a:extLst>
                </p:cNvPr>
                <p:cNvCxnSpPr>
                  <a:cxnSpLocks/>
                </p:cNvCxnSpPr>
                <p:nvPr/>
              </p:nvCxnSpPr>
              <p:spPr>
                <a:xfrm flipV="1">
                  <a:off x="1707396" y="1700671"/>
                  <a:ext cx="2230708" cy="6002"/>
                </a:xfrm>
                <a:prstGeom prst="line">
                  <a:avLst/>
                </a:prstGeom>
                <a:ln w="38100"/>
              </p:spPr>
              <p:style>
                <a:lnRef idx="1">
                  <a:schemeClr val="dk1"/>
                </a:lnRef>
                <a:fillRef idx="0">
                  <a:schemeClr val="dk1"/>
                </a:fillRef>
                <a:effectRef idx="0">
                  <a:schemeClr val="dk1"/>
                </a:effectRef>
                <a:fontRef idx="minor">
                  <a:schemeClr val="tx1"/>
                </a:fontRef>
              </p:style>
            </p:cxnSp>
            <p:grpSp>
              <p:nvGrpSpPr>
                <p:cNvPr id="121" name="群組 120">
                  <a:extLst>
                    <a:ext uri="{FF2B5EF4-FFF2-40B4-BE49-F238E27FC236}">
                      <a16:creationId xmlns:a16="http://schemas.microsoft.com/office/drawing/2014/main" id="{15BD5868-D346-C25D-F1B6-A73E705A0CA6}"/>
                    </a:ext>
                  </a:extLst>
                </p:cNvPr>
                <p:cNvGrpSpPr/>
                <p:nvPr/>
              </p:nvGrpSpPr>
              <p:grpSpPr>
                <a:xfrm>
                  <a:off x="2106509" y="1303447"/>
                  <a:ext cx="1404000" cy="469400"/>
                  <a:chOff x="2566383" y="4556351"/>
                  <a:chExt cx="1404000" cy="469400"/>
                </a:xfrm>
              </p:grpSpPr>
              <p:sp>
                <p:nvSpPr>
                  <p:cNvPr id="122" name="矩形 121">
                    <a:extLst>
                      <a:ext uri="{FF2B5EF4-FFF2-40B4-BE49-F238E27FC236}">
                        <a16:creationId xmlns:a16="http://schemas.microsoft.com/office/drawing/2014/main" id="{B69E2FF8-49C9-EBD5-7FFA-384819AB4E5F}"/>
                      </a:ext>
                    </a:extLst>
                  </p:cNvPr>
                  <p:cNvSpPr/>
                  <p:nvPr/>
                </p:nvSpPr>
                <p:spPr>
                  <a:xfrm>
                    <a:off x="2685547" y="4556351"/>
                    <a:ext cx="340241" cy="33481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23" name="橢圓 122">
                    <a:extLst>
                      <a:ext uri="{FF2B5EF4-FFF2-40B4-BE49-F238E27FC236}">
                        <a16:creationId xmlns:a16="http://schemas.microsoft.com/office/drawing/2014/main" id="{084465F4-A379-9120-EBD4-1463454BB9B0}"/>
                      </a:ext>
                    </a:extLst>
                  </p:cNvPr>
                  <p:cNvSpPr/>
                  <p:nvPr/>
                </p:nvSpPr>
                <p:spPr>
                  <a:xfrm>
                    <a:off x="2690862" y="4564269"/>
                    <a:ext cx="329609" cy="318977"/>
                  </a:xfrm>
                  <a:prstGeom prst="ellipse">
                    <a:avLst/>
                  </a:prstGeom>
                  <a:solidFill>
                    <a:schemeClr val="bg1">
                      <a:lumMod val="50000"/>
                    </a:schemeClr>
                  </a:solidFill>
                  <a:ln>
                    <a:solidFill>
                      <a:schemeClr val="tx2">
                        <a:lumMod val="7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24" name="橢圓 123">
                    <a:extLst>
                      <a:ext uri="{FF2B5EF4-FFF2-40B4-BE49-F238E27FC236}">
                        <a16:creationId xmlns:a16="http://schemas.microsoft.com/office/drawing/2014/main" id="{5289216D-E0CB-5F58-759B-1490A7D270EE}"/>
                      </a:ext>
                    </a:extLst>
                  </p:cNvPr>
                  <p:cNvSpPr/>
                  <p:nvPr/>
                </p:nvSpPr>
                <p:spPr>
                  <a:xfrm>
                    <a:off x="2832806" y="4700898"/>
                    <a:ext cx="45719" cy="45719"/>
                  </a:xfrm>
                  <a:prstGeom prst="ellipse">
                    <a:avLst/>
                  </a:prstGeom>
                  <a:solidFill>
                    <a:schemeClr val="bg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25" name="矩形 124">
                    <a:extLst>
                      <a:ext uri="{FF2B5EF4-FFF2-40B4-BE49-F238E27FC236}">
                        <a16:creationId xmlns:a16="http://schemas.microsoft.com/office/drawing/2014/main" id="{B746EF1B-874C-BC66-9A02-AB70382898E1}"/>
                      </a:ext>
                    </a:extLst>
                  </p:cNvPr>
                  <p:cNvSpPr/>
                  <p:nvPr/>
                </p:nvSpPr>
                <p:spPr>
                  <a:xfrm>
                    <a:off x="3099336" y="4556351"/>
                    <a:ext cx="340241" cy="33481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26" name="橢圓 125">
                    <a:extLst>
                      <a:ext uri="{FF2B5EF4-FFF2-40B4-BE49-F238E27FC236}">
                        <a16:creationId xmlns:a16="http://schemas.microsoft.com/office/drawing/2014/main" id="{3FAE1CF0-CD05-7A12-7655-19B45A19EACA}"/>
                      </a:ext>
                    </a:extLst>
                  </p:cNvPr>
                  <p:cNvSpPr/>
                  <p:nvPr/>
                </p:nvSpPr>
                <p:spPr>
                  <a:xfrm>
                    <a:off x="3104651" y="4564269"/>
                    <a:ext cx="329609" cy="318977"/>
                  </a:xfrm>
                  <a:prstGeom prst="ellipse">
                    <a:avLst/>
                  </a:prstGeom>
                  <a:solidFill>
                    <a:schemeClr val="bg1">
                      <a:lumMod val="50000"/>
                    </a:schemeClr>
                  </a:solidFill>
                  <a:ln>
                    <a:solidFill>
                      <a:schemeClr val="tx2">
                        <a:lumMod val="7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27" name="橢圓 126">
                    <a:extLst>
                      <a:ext uri="{FF2B5EF4-FFF2-40B4-BE49-F238E27FC236}">
                        <a16:creationId xmlns:a16="http://schemas.microsoft.com/office/drawing/2014/main" id="{21C7270B-BDE5-7C6A-E88B-AF6AAF75FC85}"/>
                      </a:ext>
                    </a:extLst>
                  </p:cNvPr>
                  <p:cNvSpPr/>
                  <p:nvPr/>
                </p:nvSpPr>
                <p:spPr>
                  <a:xfrm>
                    <a:off x="3246595" y="4700898"/>
                    <a:ext cx="45719" cy="45719"/>
                  </a:xfrm>
                  <a:prstGeom prst="ellipse">
                    <a:avLst/>
                  </a:prstGeom>
                  <a:solidFill>
                    <a:schemeClr val="bg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28" name="矩形 127">
                    <a:extLst>
                      <a:ext uri="{FF2B5EF4-FFF2-40B4-BE49-F238E27FC236}">
                        <a16:creationId xmlns:a16="http://schemas.microsoft.com/office/drawing/2014/main" id="{EAD22A1C-8EC3-7E27-CB2A-3F8645CEBDC1}"/>
                      </a:ext>
                    </a:extLst>
                  </p:cNvPr>
                  <p:cNvSpPr/>
                  <p:nvPr/>
                </p:nvSpPr>
                <p:spPr>
                  <a:xfrm>
                    <a:off x="3516783" y="4556351"/>
                    <a:ext cx="340241" cy="33481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29" name="橢圓 128">
                    <a:extLst>
                      <a:ext uri="{FF2B5EF4-FFF2-40B4-BE49-F238E27FC236}">
                        <a16:creationId xmlns:a16="http://schemas.microsoft.com/office/drawing/2014/main" id="{1B772BBC-874B-98FD-9675-49029A4792EE}"/>
                      </a:ext>
                    </a:extLst>
                  </p:cNvPr>
                  <p:cNvSpPr/>
                  <p:nvPr/>
                </p:nvSpPr>
                <p:spPr>
                  <a:xfrm>
                    <a:off x="3522098" y="4564269"/>
                    <a:ext cx="329609" cy="318977"/>
                  </a:xfrm>
                  <a:prstGeom prst="ellipse">
                    <a:avLst/>
                  </a:prstGeom>
                  <a:solidFill>
                    <a:schemeClr val="bg1">
                      <a:lumMod val="50000"/>
                    </a:schemeClr>
                  </a:solidFill>
                  <a:ln>
                    <a:solidFill>
                      <a:schemeClr val="tx2">
                        <a:lumMod val="7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30" name="橢圓 129">
                    <a:extLst>
                      <a:ext uri="{FF2B5EF4-FFF2-40B4-BE49-F238E27FC236}">
                        <a16:creationId xmlns:a16="http://schemas.microsoft.com/office/drawing/2014/main" id="{154D7D93-B68E-025F-9B54-37378D0B534F}"/>
                      </a:ext>
                    </a:extLst>
                  </p:cNvPr>
                  <p:cNvSpPr/>
                  <p:nvPr/>
                </p:nvSpPr>
                <p:spPr>
                  <a:xfrm>
                    <a:off x="3664042" y="4700898"/>
                    <a:ext cx="45719" cy="45719"/>
                  </a:xfrm>
                  <a:prstGeom prst="ellipse">
                    <a:avLst/>
                  </a:prstGeom>
                  <a:solidFill>
                    <a:schemeClr val="bg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31" name="矩形 130">
                    <a:extLst>
                      <a:ext uri="{FF2B5EF4-FFF2-40B4-BE49-F238E27FC236}">
                        <a16:creationId xmlns:a16="http://schemas.microsoft.com/office/drawing/2014/main" id="{6F41EB85-714E-3E6B-475D-E25B014C59EB}"/>
                      </a:ext>
                    </a:extLst>
                  </p:cNvPr>
                  <p:cNvSpPr/>
                  <p:nvPr/>
                </p:nvSpPr>
                <p:spPr>
                  <a:xfrm>
                    <a:off x="2566383" y="4893701"/>
                    <a:ext cx="1404000" cy="132050"/>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cxnSp>
            <p:nvCxnSpPr>
              <p:cNvPr id="40" name="直線接點 39">
                <a:extLst>
                  <a:ext uri="{FF2B5EF4-FFF2-40B4-BE49-F238E27FC236}">
                    <a16:creationId xmlns:a16="http://schemas.microsoft.com/office/drawing/2014/main" id="{7A982DF2-68B6-EC35-CB2C-3E8A2367BDD3}"/>
                  </a:ext>
                </a:extLst>
              </p:cNvPr>
              <p:cNvCxnSpPr>
                <a:cxnSpLocks/>
              </p:cNvCxnSpPr>
              <p:nvPr/>
            </p:nvCxnSpPr>
            <p:spPr>
              <a:xfrm>
                <a:off x="2913395" y="4055897"/>
                <a:ext cx="509667"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41" name="矩形: 剪去同側角落 40">
                <a:extLst>
                  <a:ext uri="{FF2B5EF4-FFF2-40B4-BE49-F238E27FC236}">
                    <a16:creationId xmlns:a16="http://schemas.microsoft.com/office/drawing/2014/main" id="{943073D1-D684-2C96-52F1-AF7595888D07}"/>
                  </a:ext>
                </a:extLst>
              </p:cNvPr>
              <p:cNvSpPr/>
              <p:nvPr/>
            </p:nvSpPr>
            <p:spPr>
              <a:xfrm rot="5400000">
                <a:off x="3397343" y="3743633"/>
                <a:ext cx="461189" cy="637492"/>
              </a:xfrm>
              <a:prstGeom prst="snip2SameRect">
                <a:avLst>
                  <a:gd name="adj1" fmla="val 16667"/>
                  <a:gd name="adj2" fmla="val 0"/>
                </a:avLst>
              </a:prstGeom>
              <a:solidFill>
                <a:schemeClr val="accent3">
                  <a:lumMod val="60000"/>
                  <a:lumOff val="40000"/>
                </a:schemeClr>
              </a:solidFill>
              <a:ln>
                <a:solidFill>
                  <a:schemeClr val="tx1"/>
                </a:solidFill>
              </a:ln>
              <a:scene3d>
                <a:camera prst="orthographicFront"/>
                <a:lightRig rig="threePt" dir="t"/>
              </a:scene3d>
              <a:sp3d>
                <a:bevelT w="139700" h="139700" prst="divo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nvGrpSpPr>
              <p:cNvPr id="42" name="群組 41">
                <a:extLst>
                  <a:ext uri="{FF2B5EF4-FFF2-40B4-BE49-F238E27FC236}">
                    <a16:creationId xmlns:a16="http://schemas.microsoft.com/office/drawing/2014/main" id="{C4E83C63-60B2-B9FB-4AF3-7663797DEC06}"/>
                  </a:ext>
                </a:extLst>
              </p:cNvPr>
              <p:cNvGrpSpPr/>
              <p:nvPr/>
            </p:nvGrpSpPr>
            <p:grpSpPr>
              <a:xfrm>
                <a:off x="815442" y="3530104"/>
                <a:ext cx="2161181" cy="1002253"/>
                <a:chOff x="1444245" y="3863775"/>
                <a:chExt cx="4399965" cy="1775476"/>
              </a:xfrm>
            </p:grpSpPr>
            <p:sp>
              <p:nvSpPr>
                <p:cNvPr id="74" name="矩形 73">
                  <a:extLst>
                    <a:ext uri="{FF2B5EF4-FFF2-40B4-BE49-F238E27FC236}">
                      <a16:creationId xmlns:a16="http://schemas.microsoft.com/office/drawing/2014/main" id="{AC99F839-D136-3996-FE74-2F96ECBB64DE}"/>
                    </a:ext>
                  </a:extLst>
                </p:cNvPr>
                <p:cNvSpPr/>
                <p:nvPr/>
              </p:nvSpPr>
              <p:spPr>
                <a:xfrm>
                  <a:off x="1737442" y="3863775"/>
                  <a:ext cx="4106768" cy="1775476"/>
                </a:xfrm>
                <a:prstGeom prst="rect">
                  <a:avLst/>
                </a:prstGeom>
                <a:solidFill>
                  <a:schemeClr val="bg1"/>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75" name="直線接點 74">
                  <a:extLst>
                    <a:ext uri="{FF2B5EF4-FFF2-40B4-BE49-F238E27FC236}">
                      <a16:creationId xmlns:a16="http://schemas.microsoft.com/office/drawing/2014/main" id="{9097D841-C875-E511-F4EC-797AA4B4233D}"/>
                    </a:ext>
                  </a:extLst>
                </p:cNvPr>
                <p:cNvCxnSpPr>
                  <a:cxnSpLocks/>
                </p:cNvCxnSpPr>
                <p:nvPr/>
              </p:nvCxnSpPr>
              <p:spPr>
                <a:xfrm flipV="1">
                  <a:off x="1444245" y="4742924"/>
                  <a:ext cx="705398" cy="4"/>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76" name="群組 75">
                  <a:extLst>
                    <a:ext uri="{FF2B5EF4-FFF2-40B4-BE49-F238E27FC236}">
                      <a16:creationId xmlns:a16="http://schemas.microsoft.com/office/drawing/2014/main" id="{FBC34B34-40DA-2B51-F651-ED9ED6B11C20}"/>
                    </a:ext>
                  </a:extLst>
                </p:cNvPr>
                <p:cNvGrpSpPr/>
                <p:nvPr/>
              </p:nvGrpSpPr>
              <p:grpSpPr>
                <a:xfrm>
                  <a:off x="1959051" y="4079177"/>
                  <a:ext cx="3755037" cy="1470254"/>
                  <a:chOff x="5452495" y="1690688"/>
                  <a:chExt cx="3755037" cy="1470254"/>
                </a:xfrm>
              </p:grpSpPr>
              <p:grpSp>
                <p:nvGrpSpPr>
                  <p:cNvPr id="77" name="群組 76">
                    <a:extLst>
                      <a:ext uri="{FF2B5EF4-FFF2-40B4-BE49-F238E27FC236}">
                        <a16:creationId xmlns:a16="http://schemas.microsoft.com/office/drawing/2014/main" id="{EB0B441F-43AF-5BD9-1027-BDEFFBDCACFA}"/>
                      </a:ext>
                    </a:extLst>
                  </p:cNvPr>
                  <p:cNvGrpSpPr/>
                  <p:nvPr/>
                </p:nvGrpSpPr>
                <p:grpSpPr>
                  <a:xfrm>
                    <a:off x="5452495" y="1690688"/>
                    <a:ext cx="3755037" cy="1325563"/>
                    <a:chOff x="5452495" y="1690688"/>
                    <a:chExt cx="5182376" cy="1898258"/>
                  </a:xfrm>
                </p:grpSpPr>
                <p:grpSp>
                  <p:nvGrpSpPr>
                    <p:cNvPr id="79" name="群組 78">
                      <a:extLst>
                        <a:ext uri="{FF2B5EF4-FFF2-40B4-BE49-F238E27FC236}">
                          <a16:creationId xmlns:a16="http://schemas.microsoft.com/office/drawing/2014/main" id="{7E4C990D-7FC6-1F3C-B9B4-796EEA48E8B7}"/>
                        </a:ext>
                      </a:extLst>
                    </p:cNvPr>
                    <p:cNvGrpSpPr/>
                    <p:nvPr/>
                  </p:nvGrpSpPr>
                  <p:grpSpPr>
                    <a:xfrm>
                      <a:off x="5452495" y="1690688"/>
                      <a:ext cx="5182376" cy="1898258"/>
                      <a:chOff x="7182049" y="4957016"/>
                      <a:chExt cx="2683845" cy="994597"/>
                    </a:xfrm>
                  </p:grpSpPr>
                  <p:sp>
                    <p:nvSpPr>
                      <p:cNvPr id="118" name="矩形 117">
                        <a:extLst>
                          <a:ext uri="{FF2B5EF4-FFF2-40B4-BE49-F238E27FC236}">
                            <a16:creationId xmlns:a16="http://schemas.microsoft.com/office/drawing/2014/main" id="{24E7C0DF-6913-EB3C-B911-0E4F17412F9A}"/>
                          </a:ext>
                        </a:extLst>
                      </p:cNvPr>
                      <p:cNvSpPr/>
                      <p:nvPr/>
                    </p:nvSpPr>
                    <p:spPr>
                      <a:xfrm>
                        <a:off x="7182049" y="4957016"/>
                        <a:ext cx="2683845" cy="994597"/>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119" name="直線接點 118">
                        <a:extLst>
                          <a:ext uri="{FF2B5EF4-FFF2-40B4-BE49-F238E27FC236}">
                            <a16:creationId xmlns:a16="http://schemas.microsoft.com/office/drawing/2014/main" id="{A1D42AE9-3BB5-61F8-BF9C-55ACE8D21360}"/>
                          </a:ext>
                        </a:extLst>
                      </p:cNvPr>
                      <p:cNvCxnSpPr>
                        <a:stCxn id="118" idx="1"/>
                        <a:endCxn id="118" idx="3"/>
                      </p:cNvCxnSpPr>
                      <p:nvPr/>
                    </p:nvCxnSpPr>
                    <p:spPr>
                      <a:xfrm>
                        <a:off x="7182049" y="5454315"/>
                        <a:ext cx="2683845" cy="0"/>
                      </a:xfrm>
                      <a:prstGeom prst="line">
                        <a:avLst/>
                      </a:prstGeom>
                      <a:ln w="57150">
                        <a:solidFill>
                          <a:schemeClr val="bg1">
                            <a:lumMod val="50000"/>
                          </a:schemeClr>
                        </a:solidFill>
                      </a:ln>
                      <a:effectLst>
                        <a:glow rad="101600">
                          <a:schemeClr val="bg1">
                            <a:lumMod val="65000"/>
                            <a:alpha val="60000"/>
                          </a:schemeClr>
                        </a:glow>
                      </a:effectLst>
                    </p:spPr>
                    <p:style>
                      <a:lnRef idx="1">
                        <a:schemeClr val="accent1"/>
                      </a:lnRef>
                      <a:fillRef idx="0">
                        <a:schemeClr val="accent1"/>
                      </a:fillRef>
                      <a:effectRef idx="0">
                        <a:schemeClr val="accent1"/>
                      </a:effectRef>
                      <a:fontRef idx="minor">
                        <a:schemeClr val="tx1"/>
                      </a:fontRef>
                    </p:style>
                  </p:cxnSp>
                </p:grpSp>
                <p:grpSp>
                  <p:nvGrpSpPr>
                    <p:cNvPr id="80" name="群組 79">
                      <a:extLst>
                        <a:ext uri="{FF2B5EF4-FFF2-40B4-BE49-F238E27FC236}">
                          <a16:creationId xmlns:a16="http://schemas.microsoft.com/office/drawing/2014/main" id="{CE0D326B-DED8-8475-B1AA-120AFCE81585}"/>
                        </a:ext>
                      </a:extLst>
                    </p:cNvPr>
                    <p:cNvGrpSpPr/>
                    <p:nvPr/>
                  </p:nvGrpSpPr>
                  <p:grpSpPr>
                    <a:xfrm>
                      <a:off x="5789803" y="2366525"/>
                      <a:ext cx="3623052" cy="546584"/>
                      <a:chOff x="5646496" y="3137430"/>
                      <a:chExt cx="3623052" cy="546584"/>
                    </a:xfrm>
                  </p:grpSpPr>
                  <p:grpSp>
                    <p:nvGrpSpPr>
                      <p:cNvPr id="91" name="群組 90">
                        <a:extLst>
                          <a:ext uri="{FF2B5EF4-FFF2-40B4-BE49-F238E27FC236}">
                            <a16:creationId xmlns:a16="http://schemas.microsoft.com/office/drawing/2014/main" id="{1EBC59BD-BB5A-6BD8-BCD1-5712190A6E06}"/>
                          </a:ext>
                        </a:extLst>
                      </p:cNvPr>
                      <p:cNvGrpSpPr/>
                      <p:nvPr/>
                    </p:nvGrpSpPr>
                    <p:grpSpPr>
                      <a:xfrm>
                        <a:off x="5646496" y="3141495"/>
                        <a:ext cx="1197015" cy="542519"/>
                        <a:chOff x="8338333" y="3971052"/>
                        <a:chExt cx="391256" cy="490702"/>
                      </a:xfrm>
                    </p:grpSpPr>
                    <p:sp>
                      <p:nvSpPr>
                        <p:cNvPr id="110" name="矩形 109">
                          <a:extLst>
                            <a:ext uri="{FF2B5EF4-FFF2-40B4-BE49-F238E27FC236}">
                              <a16:creationId xmlns:a16="http://schemas.microsoft.com/office/drawing/2014/main" id="{6FF4B821-B07B-E2DA-1219-96A4707671F3}"/>
                            </a:ext>
                          </a:extLst>
                        </p:cNvPr>
                        <p:cNvSpPr/>
                        <p:nvPr/>
                      </p:nvSpPr>
                      <p:spPr>
                        <a:xfrm>
                          <a:off x="8387142" y="3971052"/>
                          <a:ext cx="45719" cy="488667"/>
                        </a:xfrm>
                        <a:prstGeom prst="rect">
                          <a:avLst/>
                        </a:prstGeom>
                        <a:solidFill>
                          <a:srgbClr val="0070C0">
                            <a:alpha val="50000"/>
                          </a:srgb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11" name="矩形 110">
                          <a:extLst>
                            <a:ext uri="{FF2B5EF4-FFF2-40B4-BE49-F238E27FC236}">
                              <a16:creationId xmlns:a16="http://schemas.microsoft.com/office/drawing/2014/main" id="{6B802E0A-6629-C43E-506B-7B705A8F3F79}"/>
                            </a:ext>
                          </a:extLst>
                        </p:cNvPr>
                        <p:cNvSpPr/>
                        <p:nvPr/>
                      </p:nvSpPr>
                      <p:spPr>
                        <a:xfrm>
                          <a:off x="8338333" y="3971052"/>
                          <a:ext cx="45719" cy="488667"/>
                        </a:xfrm>
                        <a:prstGeom prst="rect">
                          <a:avLst/>
                        </a:prstGeom>
                        <a:solidFill>
                          <a:schemeClr val="accent1">
                            <a:lumMod val="75000"/>
                            <a:alpha val="50000"/>
                          </a:scheme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12" name="矩形 111">
                          <a:extLst>
                            <a:ext uri="{FF2B5EF4-FFF2-40B4-BE49-F238E27FC236}">
                              <a16:creationId xmlns:a16="http://schemas.microsoft.com/office/drawing/2014/main" id="{8F4FCD53-958A-7F16-D88C-017C95101158}"/>
                            </a:ext>
                          </a:extLst>
                        </p:cNvPr>
                        <p:cNvSpPr/>
                        <p:nvPr/>
                      </p:nvSpPr>
                      <p:spPr>
                        <a:xfrm>
                          <a:off x="8484752" y="3973087"/>
                          <a:ext cx="45719" cy="488667"/>
                        </a:xfrm>
                        <a:prstGeom prst="rect">
                          <a:avLst/>
                        </a:prstGeom>
                        <a:solidFill>
                          <a:srgbClr val="0070C0">
                            <a:alpha val="50000"/>
                          </a:srgb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13" name="矩形 112">
                          <a:extLst>
                            <a:ext uri="{FF2B5EF4-FFF2-40B4-BE49-F238E27FC236}">
                              <a16:creationId xmlns:a16="http://schemas.microsoft.com/office/drawing/2014/main" id="{802051F2-7AE4-873A-47E2-E33AA2B7A8CA}"/>
                            </a:ext>
                          </a:extLst>
                        </p:cNvPr>
                        <p:cNvSpPr/>
                        <p:nvPr/>
                      </p:nvSpPr>
                      <p:spPr>
                        <a:xfrm>
                          <a:off x="8434269" y="3971052"/>
                          <a:ext cx="45719" cy="488667"/>
                        </a:xfrm>
                        <a:prstGeom prst="rect">
                          <a:avLst/>
                        </a:prstGeom>
                        <a:solidFill>
                          <a:schemeClr val="accent1">
                            <a:lumMod val="75000"/>
                            <a:alpha val="50000"/>
                          </a:scheme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14" name="矩形 113">
                          <a:extLst>
                            <a:ext uri="{FF2B5EF4-FFF2-40B4-BE49-F238E27FC236}">
                              <a16:creationId xmlns:a16="http://schemas.microsoft.com/office/drawing/2014/main" id="{5B188B4D-D771-5F6B-C23D-558B1B07AB5C}"/>
                            </a:ext>
                          </a:extLst>
                        </p:cNvPr>
                        <p:cNvSpPr/>
                        <p:nvPr/>
                      </p:nvSpPr>
                      <p:spPr>
                        <a:xfrm>
                          <a:off x="8585954" y="3971052"/>
                          <a:ext cx="45719" cy="488667"/>
                        </a:xfrm>
                        <a:prstGeom prst="rect">
                          <a:avLst/>
                        </a:prstGeom>
                        <a:solidFill>
                          <a:srgbClr val="0070C0">
                            <a:alpha val="50000"/>
                          </a:srgb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15" name="矩形 114">
                          <a:extLst>
                            <a:ext uri="{FF2B5EF4-FFF2-40B4-BE49-F238E27FC236}">
                              <a16:creationId xmlns:a16="http://schemas.microsoft.com/office/drawing/2014/main" id="{DD94CEBD-3D24-785F-07AD-6B810E8AD1A3}"/>
                            </a:ext>
                          </a:extLst>
                        </p:cNvPr>
                        <p:cNvSpPr/>
                        <p:nvPr/>
                      </p:nvSpPr>
                      <p:spPr>
                        <a:xfrm>
                          <a:off x="8534754" y="3971362"/>
                          <a:ext cx="45719" cy="488667"/>
                        </a:xfrm>
                        <a:prstGeom prst="rect">
                          <a:avLst/>
                        </a:prstGeom>
                        <a:solidFill>
                          <a:schemeClr val="accent1">
                            <a:lumMod val="75000"/>
                            <a:alpha val="50000"/>
                          </a:scheme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16" name="矩形 115">
                          <a:extLst>
                            <a:ext uri="{FF2B5EF4-FFF2-40B4-BE49-F238E27FC236}">
                              <a16:creationId xmlns:a16="http://schemas.microsoft.com/office/drawing/2014/main" id="{2C3391C0-F858-A398-B645-9C3414717D24}"/>
                            </a:ext>
                          </a:extLst>
                        </p:cNvPr>
                        <p:cNvSpPr/>
                        <p:nvPr/>
                      </p:nvSpPr>
                      <p:spPr>
                        <a:xfrm>
                          <a:off x="8683870" y="3971052"/>
                          <a:ext cx="45719" cy="488667"/>
                        </a:xfrm>
                        <a:prstGeom prst="rect">
                          <a:avLst/>
                        </a:prstGeom>
                        <a:solidFill>
                          <a:srgbClr val="0070C0">
                            <a:alpha val="50000"/>
                          </a:srgb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17" name="矩形 116">
                          <a:extLst>
                            <a:ext uri="{FF2B5EF4-FFF2-40B4-BE49-F238E27FC236}">
                              <a16:creationId xmlns:a16="http://schemas.microsoft.com/office/drawing/2014/main" id="{7D8A4147-0145-A908-B07A-030065DCE091}"/>
                            </a:ext>
                          </a:extLst>
                        </p:cNvPr>
                        <p:cNvSpPr/>
                        <p:nvPr/>
                      </p:nvSpPr>
                      <p:spPr>
                        <a:xfrm>
                          <a:off x="8632706" y="3971052"/>
                          <a:ext cx="45719" cy="488667"/>
                        </a:xfrm>
                        <a:prstGeom prst="rect">
                          <a:avLst/>
                        </a:prstGeom>
                        <a:solidFill>
                          <a:schemeClr val="accent1">
                            <a:lumMod val="75000"/>
                            <a:alpha val="50000"/>
                          </a:scheme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nvGrpSpPr>
                      <p:cNvPr id="92" name="群組 91">
                        <a:extLst>
                          <a:ext uri="{FF2B5EF4-FFF2-40B4-BE49-F238E27FC236}">
                            <a16:creationId xmlns:a16="http://schemas.microsoft.com/office/drawing/2014/main" id="{F688CCA2-FB3D-5DDE-45BA-B9BB2F4C0EE1}"/>
                          </a:ext>
                        </a:extLst>
                      </p:cNvPr>
                      <p:cNvGrpSpPr/>
                      <p:nvPr/>
                    </p:nvGrpSpPr>
                    <p:grpSpPr>
                      <a:xfrm>
                        <a:off x="6943069" y="3137430"/>
                        <a:ext cx="1137089" cy="540269"/>
                        <a:chOff x="7556468" y="3141495"/>
                        <a:chExt cx="1823500" cy="1690702"/>
                      </a:xfrm>
                    </p:grpSpPr>
                    <p:sp>
                      <p:nvSpPr>
                        <p:cNvPr id="102" name="矩形 101">
                          <a:extLst>
                            <a:ext uri="{FF2B5EF4-FFF2-40B4-BE49-F238E27FC236}">
                              <a16:creationId xmlns:a16="http://schemas.microsoft.com/office/drawing/2014/main" id="{2284188D-4DBE-368F-D39D-98419C635FEB}"/>
                            </a:ext>
                          </a:extLst>
                        </p:cNvPr>
                        <p:cNvSpPr/>
                        <p:nvPr/>
                      </p:nvSpPr>
                      <p:spPr>
                        <a:xfrm>
                          <a:off x="7783949" y="3141495"/>
                          <a:ext cx="213079" cy="1683690"/>
                        </a:xfrm>
                        <a:prstGeom prst="rect">
                          <a:avLst/>
                        </a:prstGeom>
                        <a:solidFill>
                          <a:schemeClr val="accent6">
                            <a:lumMod val="60000"/>
                            <a:lumOff val="40000"/>
                            <a:alpha val="50000"/>
                          </a:scheme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03" name="矩形 102">
                          <a:extLst>
                            <a:ext uri="{FF2B5EF4-FFF2-40B4-BE49-F238E27FC236}">
                              <a16:creationId xmlns:a16="http://schemas.microsoft.com/office/drawing/2014/main" id="{0CDBCBD2-4346-01FD-0507-B90350059D65}"/>
                            </a:ext>
                          </a:extLst>
                        </p:cNvPr>
                        <p:cNvSpPr/>
                        <p:nvPr/>
                      </p:nvSpPr>
                      <p:spPr>
                        <a:xfrm>
                          <a:off x="7556468" y="3141495"/>
                          <a:ext cx="213079" cy="1683690"/>
                        </a:xfrm>
                        <a:prstGeom prst="rect">
                          <a:avLst/>
                        </a:prstGeom>
                        <a:solidFill>
                          <a:srgbClr val="00B050">
                            <a:alpha val="50000"/>
                          </a:srgb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04" name="矩形 103">
                          <a:extLst>
                            <a:ext uri="{FF2B5EF4-FFF2-40B4-BE49-F238E27FC236}">
                              <a16:creationId xmlns:a16="http://schemas.microsoft.com/office/drawing/2014/main" id="{BB76141B-5CEC-74C5-E918-5722D518B1F6}"/>
                            </a:ext>
                          </a:extLst>
                        </p:cNvPr>
                        <p:cNvSpPr/>
                        <p:nvPr/>
                      </p:nvSpPr>
                      <p:spPr>
                        <a:xfrm>
                          <a:off x="8238873" y="3148507"/>
                          <a:ext cx="213079" cy="1683690"/>
                        </a:xfrm>
                        <a:prstGeom prst="rect">
                          <a:avLst/>
                        </a:prstGeom>
                        <a:solidFill>
                          <a:schemeClr val="accent6">
                            <a:lumMod val="60000"/>
                            <a:lumOff val="40000"/>
                            <a:alpha val="50000"/>
                          </a:scheme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05" name="矩形 104">
                          <a:extLst>
                            <a:ext uri="{FF2B5EF4-FFF2-40B4-BE49-F238E27FC236}">
                              <a16:creationId xmlns:a16="http://schemas.microsoft.com/office/drawing/2014/main" id="{E5B3A7E0-BA0B-5A47-D3B0-35D91D79B646}"/>
                            </a:ext>
                          </a:extLst>
                        </p:cNvPr>
                        <p:cNvSpPr/>
                        <p:nvPr/>
                      </p:nvSpPr>
                      <p:spPr>
                        <a:xfrm>
                          <a:off x="8003590" y="3141495"/>
                          <a:ext cx="213079" cy="1683690"/>
                        </a:xfrm>
                        <a:prstGeom prst="rect">
                          <a:avLst/>
                        </a:prstGeom>
                        <a:solidFill>
                          <a:srgbClr val="00B050">
                            <a:alpha val="50000"/>
                          </a:srgb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06" name="矩形 105">
                          <a:extLst>
                            <a:ext uri="{FF2B5EF4-FFF2-40B4-BE49-F238E27FC236}">
                              <a16:creationId xmlns:a16="http://schemas.microsoft.com/office/drawing/2014/main" id="{FD0B46C3-73B8-CF5C-8210-BC2F2DD28935}"/>
                            </a:ext>
                          </a:extLst>
                        </p:cNvPr>
                        <p:cNvSpPr/>
                        <p:nvPr/>
                      </p:nvSpPr>
                      <p:spPr>
                        <a:xfrm>
                          <a:off x="8710538" y="3141495"/>
                          <a:ext cx="213079" cy="1683690"/>
                        </a:xfrm>
                        <a:prstGeom prst="rect">
                          <a:avLst/>
                        </a:prstGeom>
                        <a:solidFill>
                          <a:schemeClr val="accent6">
                            <a:lumMod val="60000"/>
                            <a:lumOff val="40000"/>
                            <a:alpha val="50000"/>
                          </a:scheme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07" name="矩形 106">
                          <a:extLst>
                            <a:ext uri="{FF2B5EF4-FFF2-40B4-BE49-F238E27FC236}">
                              <a16:creationId xmlns:a16="http://schemas.microsoft.com/office/drawing/2014/main" id="{D721077B-0A95-16AF-0070-976EB2F69F5F}"/>
                            </a:ext>
                          </a:extLst>
                        </p:cNvPr>
                        <p:cNvSpPr/>
                        <p:nvPr/>
                      </p:nvSpPr>
                      <p:spPr>
                        <a:xfrm>
                          <a:off x="8471914" y="3142563"/>
                          <a:ext cx="213079" cy="1683690"/>
                        </a:xfrm>
                        <a:prstGeom prst="rect">
                          <a:avLst/>
                        </a:prstGeom>
                        <a:solidFill>
                          <a:srgbClr val="00B050">
                            <a:alpha val="50000"/>
                          </a:srgb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08" name="矩形 107">
                          <a:extLst>
                            <a:ext uri="{FF2B5EF4-FFF2-40B4-BE49-F238E27FC236}">
                              <a16:creationId xmlns:a16="http://schemas.microsoft.com/office/drawing/2014/main" id="{6C7A1DDC-13B8-2276-DDB3-DD21E6D31381}"/>
                            </a:ext>
                          </a:extLst>
                        </p:cNvPr>
                        <p:cNvSpPr/>
                        <p:nvPr/>
                      </p:nvSpPr>
                      <p:spPr>
                        <a:xfrm>
                          <a:off x="9166889" y="3141495"/>
                          <a:ext cx="213079" cy="1683690"/>
                        </a:xfrm>
                        <a:prstGeom prst="rect">
                          <a:avLst/>
                        </a:prstGeom>
                        <a:solidFill>
                          <a:schemeClr val="accent6">
                            <a:lumMod val="60000"/>
                            <a:lumOff val="40000"/>
                            <a:alpha val="50000"/>
                          </a:scheme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09" name="矩形 108">
                          <a:extLst>
                            <a:ext uri="{FF2B5EF4-FFF2-40B4-BE49-F238E27FC236}">
                              <a16:creationId xmlns:a16="http://schemas.microsoft.com/office/drawing/2014/main" id="{40BAB87F-37BE-DBB7-C342-0DEC53DFEDBB}"/>
                            </a:ext>
                          </a:extLst>
                        </p:cNvPr>
                        <p:cNvSpPr/>
                        <p:nvPr/>
                      </p:nvSpPr>
                      <p:spPr>
                        <a:xfrm>
                          <a:off x="8928432" y="3141495"/>
                          <a:ext cx="213079" cy="1683690"/>
                        </a:xfrm>
                        <a:prstGeom prst="rect">
                          <a:avLst/>
                        </a:prstGeom>
                        <a:solidFill>
                          <a:srgbClr val="00B050">
                            <a:alpha val="50000"/>
                          </a:srgb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nvGrpSpPr>
                      <p:cNvPr id="93" name="群組 92">
                        <a:extLst>
                          <a:ext uri="{FF2B5EF4-FFF2-40B4-BE49-F238E27FC236}">
                            <a16:creationId xmlns:a16="http://schemas.microsoft.com/office/drawing/2014/main" id="{335AE051-0131-E11C-559C-81EBE1D7B05E}"/>
                          </a:ext>
                        </a:extLst>
                      </p:cNvPr>
                      <p:cNvGrpSpPr/>
                      <p:nvPr/>
                    </p:nvGrpSpPr>
                    <p:grpSpPr>
                      <a:xfrm>
                        <a:off x="8192884" y="3139350"/>
                        <a:ext cx="1076664" cy="542757"/>
                        <a:chOff x="8338333" y="3971052"/>
                        <a:chExt cx="391256" cy="490791"/>
                      </a:xfrm>
                    </p:grpSpPr>
                    <p:sp>
                      <p:nvSpPr>
                        <p:cNvPr id="94" name="矩形 93">
                          <a:extLst>
                            <a:ext uri="{FF2B5EF4-FFF2-40B4-BE49-F238E27FC236}">
                              <a16:creationId xmlns:a16="http://schemas.microsoft.com/office/drawing/2014/main" id="{F5BC175A-F851-D115-3D8C-ACCB16B25E94}"/>
                            </a:ext>
                          </a:extLst>
                        </p:cNvPr>
                        <p:cNvSpPr/>
                        <p:nvPr/>
                      </p:nvSpPr>
                      <p:spPr>
                        <a:xfrm>
                          <a:off x="8387142" y="3971052"/>
                          <a:ext cx="45719" cy="488667"/>
                        </a:xfrm>
                        <a:prstGeom prst="rect">
                          <a:avLst/>
                        </a:prstGeom>
                        <a:solidFill>
                          <a:srgbClr val="0070C0">
                            <a:alpha val="50000"/>
                          </a:srgb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95" name="矩形 94">
                          <a:extLst>
                            <a:ext uri="{FF2B5EF4-FFF2-40B4-BE49-F238E27FC236}">
                              <a16:creationId xmlns:a16="http://schemas.microsoft.com/office/drawing/2014/main" id="{18702BBB-12E8-3A16-26E1-2E849AC0B489}"/>
                            </a:ext>
                          </a:extLst>
                        </p:cNvPr>
                        <p:cNvSpPr/>
                        <p:nvPr/>
                      </p:nvSpPr>
                      <p:spPr>
                        <a:xfrm>
                          <a:off x="8338333" y="3971052"/>
                          <a:ext cx="45719" cy="488667"/>
                        </a:xfrm>
                        <a:prstGeom prst="rect">
                          <a:avLst/>
                        </a:prstGeom>
                        <a:solidFill>
                          <a:schemeClr val="accent1">
                            <a:lumMod val="75000"/>
                            <a:alpha val="50000"/>
                          </a:scheme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96" name="矩形 95">
                          <a:extLst>
                            <a:ext uri="{FF2B5EF4-FFF2-40B4-BE49-F238E27FC236}">
                              <a16:creationId xmlns:a16="http://schemas.microsoft.com/office/drawing/2014/main" id="{3627198C-B9F4-86CA-26BE-9A49D5CB52B3}"/>
                            </a:ext>
                          </a:extLst>
                        </p:cNvPr>
                        <p:cNvSpPr/>
                        <p:nvPr/>
                      </p:nvSpPr>
                      <p:spPr>
                        <a:xfrm>
                          <a:off x="8484752" y="3973176"/>
                          <a:ext cx="45719" cy="488667"/>
                        </a:xfrm>
                        <a:prstGeom prst="rect">
                          <a:avLst/>
                        </a:prstGeom>
                        <a:solidFill>
                          <a:srgbClr val="0070C0">
                            <a:alpha val="50000"/>
                          </a:srgb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97" name="矩形 96">
                          <a:extLst>
                            <a:ext uri="{FF2B5EF4-FFF2-40B4-BE49-F238E27FC236}">
                              <a16:creationId xmlns:a16="http://schemas.microsoft.com/office/drawing/2014/main" id="{6AD87027-B945-8148-C71B-92BF3F1687C8}"/>
                            </a:ext>
                          </a:extLst>
                        </p:cNvPr>
                        <p:cNvSpPr/>
                        <p:nvPr/>
                      </p:nvSpPr>
                      <p:spPr>
                        <a:xfrm>
                          <a:off x="8434269" y="3971052"/>
                          <a:ext cx="45719" cy="488667"/>
                        </a:xfrm>
                        <a:prstGeom prst="rect">
                          <a:avLst/>
                        </a:prstGeom>
                        <a:solidFill>
                          <a:schemeClr val="accent1">
                            <a:lumMod val="75000"/>
                            <a:alpha val="50000"/>
                          </a:scheme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98" name="矩形 97">
                          <a:extLst>
                            <a:ext uri="{FF2B5EF4-FFF2-40B4-BE49-F238E27FC236}">
                              <a16:creationId xmlns:a16="http://schemas.microsoft.com/office/drawing/2014/main" id="{D2B37D69-21D2-8EC9-F0CA-75BF5A67E023}"/>
                            </a:ext>
                          </a:extLst>
                        </p:cNvPr>
                        <p:cNvSpPr/>
                        <p:nvPr/>
                      </p:nvSpPr>
                      <p:spPr>
                        <a:xfrm>
                          <a:off x="8585954" y="3971052"/>
                          <a:ext cx="45719" cy="488667"/>
                        </a:xfrm>
                        <a:prstGeom prst="rect">
                          <a:avLst/>
                        </a:prstGeom>
                        <a:solidFill>
                          <a:srgbClr val="0070C0">
                            <a:alpha val="50000"/>
                          </a:srgb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99" name="矩形 98">
                          <a:extLst>
                            <a:ext uri="{FF2B5EF4-FFF2-40B4-BE49-F238E27FC236}">
                              <a16:creationId xmlns:a16="http://schemas.microsoft.com/office/drawing/2014/main" id="{D88BB073-0558-4517-8176-485E5847D833}"/>
                            </a:ext>
                          </a:extLst>
                        </p:cNvPr>
                        <p:cNvSpPr/>
                        <p:nvPr/>
                      </p:nvSpPr>
                      <p:spPr>
                        <a:xfrm>
                          <a:off x="8534754" y="3971450"/>
                          <a:ext cx="45719" cy="488667"/>
                        </a:xfrm>
                        <a:prstGeom prst="rect">
                          <a:avLst/>
                        </a:prstGeom>
                        <a:solidFill>
                          <a:schemeClr val="accent1">
                            <a:lumMod val="75000"/>
                            <a:alpha val="50000"/>
                          </a:scheme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00" name="矩形 99">
                          <a:extLst>
                            <a:ext uri="{FF2B5EF4-FFF2-40B4-BE49-F238E27FC236}">
                              <a16:creationId xmlns:a16="http://schemas.microsoft.com/office/drawing/2014/main" id="{B684FFF5-5071-FACA-8729-81149AD84EB5}"/>
                            </a:ext>
                          </a:extLst>
                        </p:cNvPr>
                        <p:cNvSpPr/>
                        <p:nvPr/>
                      </p:nvSpPr>
                      <p:spPr>
                        <a:xfrm>
                          <a:off x="8683870" y="3971052"/>
                          <a:ext cx="45719" cy="488667"/>
                        </a:xfrm>
                        <a:prstGeom prst="rect">
                          <a:avLst/>
                        </a:prstGeom>
                        <a:solidFill>
                          <a:srgbClr val="0070C0">
                            <a:alpha val="50000"/>
                          </a:srgbClr>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01" name="矩形 100">
                          <a:extLst>
                            <a:ext uri="{FF2B5EF4-FFF2-40B4-BE49-F238E27FC236}">
                              <a16:creationId xmlns:a16="http://schemas.microsoft.com/office/drawing/2014/main" id="{00D4A527-44F0-DADE-9328-B30488D37321}"/>
                            </a:ext>
                          </a:extLst>
                        </p:cNvPr>
                        <p:cNvSpPr/>
                        <p:nvPr/>
                      </p:nvSpPr>
                      <p:spPr>
                        <a:xfrm>
                          <a:off x="8632706" y="3971052"/>
                          <a:ext cx="45719" cy="488667"/>
                        </a:xfrm>
                        <a:prstGeom prst="rect">
                          <a:avLst/>
                        </a:prstGeom>
                        <a:solidFill>
                          <a:schemeClr val="accent1">
                            <a:lumMod val="75000"/>
                            <a:alpha val="50000"/>
                          </a:schemeClr>
                        </a:solidFill>
                        <a:ln w="190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grpSp>
                  <p:nvGrpSpPr>
                    <p:cNvPr id="81" name="群組 80">
                      <a:extLst>
                        <a:ext uri="{FF2B5EF4-FFF2-40B4-BE49-F238E27FC236}">
                          <a16:creationId xmlns:a16="http://schemas.microsoft.com/office/drawing/2014/main" id="{8154C5D5-A596-F37F-82F6-3686C796B43A}"/>
                        </a:ext>
                      </a:extLst>
                    </p:cNvPr>
                    <p:cNvGrpSpPr/>
                    <p:nvPr/>
                  </p:nvGrpSpPr>
                  <p:grpSpPr>
                    <a:xfrm>
                      <a:off x="7057363" y="2492972"/>
                      <a:ext cx="1217678" cy="281065"/>
                      <a:chOff x="7008252" y="1816146"/>
                      <a:chExt cx="1757513" cy="340956"/>
                    </a:xfrm>
                  </p:grpSpPr>
                  <p:sp>
                    <p:nvSpPr>
                      <p:cNvPr id="88" name="矩形 87">
                        <a:extLst>
                          <a:ext uri="{FF2B5EF4-FFF2-40B4-BE49-F238E27FC236}">
                            <a16:creationId xmlns:a16="http://schemas.microsoft.com/office/drawing/2014/main" id="{A47E88B7-E24A-9B5D-9C1C-C7C18F0A1B9A}"/>
                          </a:ext>
                        </a:extLst>
                      </p:cNvPr>
                      <p:cNvSpPr/>
                      <p:nvPr/>
                    </p:nvSpPr>
                    <p:spPr>
                      <a:xfrm>
                        <a:off x="7008252" y="2033053"/>
                        <a:ext cx="1742391" cy="9174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89" name="矩形 88">
                        <a:extLst>
                          <a:ext uri="{FF2B5EF4-FFF2-40B4-BE49-F238E27FC236}">
                            <a16:creationId xmlns:a16="http://schemas.microsoft.com/office/drawing/2014/main" id="{49E0FAA0-2D5A-1034-B620-613F715775C2}"/>
                          </a:ext>
                        </a:extLst>
                      </p:cNvPr>
                      <p:cNvSpPr/>
                      <p:nvPr/>
                    </p:nvSpPr>
                    <p:spPr>
                      <a:xfrm>
                        <a:off x="7019560" y="1816146"/>
                        <a:ext cx="1742389" cy="9174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90" name="矩形 89">
                        <a:extLst>
                          <a:ext uri="{FF2B5EF4-FFF2-40B4-BE49-F238E27FC236}">
                            <a16:creationId xmlns:a16="http://schemas.microsoft.com/office/drawing/2014/main" id="{F2815959-F5ED-7EDF-6F2C-FA4265D00235}"/>
                          </a:ext>
                        </a:extLst>
                      </p:cNvPr>
                      <p:cNvSpPr/>
                      <p:nvPr/>
                    </p:nvSpPr>
                    <p:spPr>
                      <a:xfrm>
                        <a:off x="7023375" y="2065355"/>
                        <a:ext cx="1742390" cy="91747"/>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grpSp>
                <p:grpSp>
                  <p:nvGrpSpPr>
                    <p:cNvPr id="82" name="群組 81">
                      <a:extLst>
                        <a:ext uri="{FF2B5EF4-FFF2-40B4-BE49-F238E27FC236}">
                          <a16:creationId xmlns:a16="http://schemas.microsoft.com/office/drawing/2014/main" id="{13554436-6083-1451-D432-21F151B933AE}"/>
                        </a:ext>
                      </a:extLst>
                    </p:cNvPr>
                    <p:cNvGrpSpPr/>
                    <p:nvPr/>
                  </p:nvGrpSpPr>
                  <p:grpSpPr>
                    <a:xfrm>
                      <a:off x="9532915" y="2459418"/>
                      <a:ext cx="769785" cy="338501"/>
                      <a:chOff x="7929255" y="881026"/>
                      <a:chExt cx="1755807" cy="565256"/>
                    </a:xfrm>
                  </p:grpSpPr>
                  <p:sp>
                    <p:nvSpPr>
                      <p:cNvPr id="83" name="矩形 82">
                        <a:extLst>
                          <a:ext uri="{FF2B5EF4-FFF2-40B4-BE49-F238E27FC236}">
                            <a16:creationId xmlns:a16="http://schemas.microsoft.com/office/drawing/2014/main" id="{29A4986B-7292-5753-F70B-FA419CF93898}"/>
                          </a:ext>
                        </a:extLst>
                      </p:cNvPr>
                      <p:cNvSpPr/>
                      <p:nvPr/>
                    </p:nvSpPr>
                    <p:spPr>
                      <a:xfrm>
                        <a:off x="7929255" y="1316069"/>
                        <a:ext cx="1742391" cy="9174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84" name="矩形 83">
                        <a:extLst>
                          <a:ext uri="{FF2B5EF4-FFF2-40B4-BE49-F238E27FC236}">
                            <a16:creationId xmlns:a16="http://schemas.microsoft.com/office/drawing/2014/main" id="{94E0AC04-7EE9-307A-6FBA-9A35586AAFA3}"/>
                          </a:ext>
                        </a:extLst>
                      </p:cNvPr>
                      <p:cNvSpPr/>
                      <p:nvPr/>
                    </p:nvSpPr>
                    <p:spPr>
                      <a:xfrm>
                        <a:off x="7940562" y="1099162"/>
                        <a:ext cx="1742391" cy="9174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85" name="矩形 84">
                        <a:extLst>
                          <a:ext uri="{FF2B5EF4-FFF2-40B4-BE49-F238E27FC236}">
                            <a16:creationId xmlns:a16="http://schemas.microsoft.com/office/drawing/2014/main" id="{31C999A6-036E-055B-C705-D8932D7C1502}"/>
                          </a:ext>
                        </a:extLst>
                      </p:cNvPr>
                      <p:cNvSpPr/>
                      <p:nvPr/>
                    </p:nvSpPr>
                    <p:spPr>
                      <a:xfrm>
                        <a:off x="7940562" y="881026"/>
                        <a:ext cx="1742391" cy="9174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86" name="矩形 85">
                        <a:extLst>
                          <a:ext uri="{FF2B5EF4-FFF2-40B4-BE49-F238E27FC236}">
                            <a16:creationId xmlns:a16="http://schemas.microsoft.com/office/drawing/2014/main" id="{3EA1ED85-83E3-6859-B9CB-A5A9197D1D6E}"/>
                          </a:ext>
                        </a:extLst>
                      </p:cNvPr>
                      <p:cNvSpPr/>
                      <p:nvPr/>
                    </p:nvSpPr>
                    <p:spPr>
                      <a:xfrm>
                        <a:off x="7942669" y="1083030"/>
                        <a:ext cx="1742393" cy="9174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87" name="矩形 86">
                        <a:extLst>
                          <a:ext uri="{FF2B5EF4-FFF2-40B4-BE49-F238E27FC236}">
                            <a16:creationId xmlns:a16="http://schemas.microsoft.com/office/drawing/2014/main" id="{2A7B4D05-4CA5-F4CC-A9B9-77CE3EF5D59D}"/>
                          </a:ext>
                        </a:extLst>
                      </p:cNvPr>
                      <p:cNvSpPr/>
                      <p:nvPr/>
                    </p:nvSpPr>
                    <p:spPr>
                      <a:xfrm>
                        <a:off x="7936241" y="1354534"/>
                        <a:ext cx="1742393" cy="9174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sp>
                <p:nvSpPr>
                  <p:cNvPr id="78" name="文字方塊 77">
                    <a:extLst>
                      <a:ext uri="{FF2B5EF4-FFF2-40B4-BE49-F238E27FC236}">
                        <a16:creationId xmlns:a16="http://schemas.microsoft.com/office/drawing/2014/main" id="{5F29162C-4F89-4EA6-6B51-2D8F8BFEBBF2}"/>
                      </a:ext>
                    </a:extLst>
                  </p:cNvPr>
                  <p:cNvSpPr txBox="1"/>
                  <p:nvPr/>
                </p:nvSpPr>
                <p:spPr>
                  <a:xfrm>
                    <a:off x="6758509" y="2540504"/>
                    <a:ext cx="1051522" cy="62043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Chip</a:t>
                    </a:r>
                    <a:endParaRPr kumimoji="0" lang="zh-TW" altLang="en-US" sz="11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grpSp>
          <p:sp>
            <p:nvSpPr>
              <p:cNvPr id="43" name="文字方塊 42">
                <a:extLst>
                  <a:ext uri="{FF2B5EF4-FFF2-40B4-BE49-F238E27FC236}">
                    <a16:creationId xmlns:a16="http://schemas.microsoft.com/office/drawing/2014/main" id="{EC6C0DE5-E060-A84C-0A23-8C09275C5C66}"/>
                  </a:ext>
                </a:extLst>
              </p:cNvPr>
              <p:cNvSpPr txBox="1"/>
              <p:nvPr/>
            </p:nvSpPr>
            <p:spPr>
              <a:xfrm>
                <a:off x="3047680" y="4448304"/>
                <a:ext cx="958787" cy="37083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Object lens</a:t>
                </a:r>
                <a:endParaRPr kumimoji="0" lang="zh-TW" altLang="en-US"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4" name="文字方塊 43">
                <a:extLst>
                  <a:ext uri="{FF2B5EF4-FFF2-40B4-BE49-F238E27FC236}">
                    <a16:creationId xmlns:a16="http://schemas.microsoft.com/office/drawing/2014/main" id="{70624B2B-C383-DFC3-6554-C4DACC33578E}"/>
                  </a:ext>
                </a:extLst>
              </p:cNvPr>
              <p:cNvSpPr txBox="1"/>
              <p:nvPr/>
            </p:nvSpPr>
            <p:spPr>
              <a:xfrm>
                <a:off x="332212" y="4852661"/>
                <a:ext cx="2880928" cy="37083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Chip oven(with temperature controller)</a:t>
                </a:r>
                <a:endParaRPr kumimoji="0" lang="zh-TW" altLang="en-US"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5" name="文字方塊 44">
                <a:extLst>
                  <a:ext uri="{FF2B5EF4-FFF2-40B4-BE49-F238E27FC236}">
                    <a16:creationId xmlns:a16="http://schemas.microsoft.com/office/drawing/2014/main" id="{E75CCA8B-F467-B47D-3CAE-A4F9DD98AFFB}"/>
                  </a:ext>
                </a:extLst>
              </p:cNvPr>
              <p:cNvSpPr txBox="1"/>
              <p:nvPr/>
            </p:nvSpPr>
            <p:spPr>
              <a:xfrm>
                <a:off x="3949143" y="1450066"/>
                <a:ext cx="1985175" cy="37083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Polarization controller(PC)</a:t>
                </a:r>
                <a:endParaRPr kumimoji="0" lang="zh-TW" altLang="en-US"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46" name="文字方塊 45">
                <a:extLst>
                  <a:ext uri="{FF2B5EF4-FFF2-40B4-BE49-F238E27FC236}">
                    <a16:creationId xmlns:a16="http://schemas.microsoft.com/office/drawing/2014/main" id="{0E990224-A113-92F8-0536-4EA0730435D7}"/>
                  </a:ext>
                </a:extLst>
              </p:cNvPr>
              <p:cNvSpPr txBox="1"/>
              <p:nvPr/>
            </p:nvSpPr>
            <p:spPr>
              <a:xfrm>
                <a:off x="7616" y="1372155"/>
                <a:ext cx="2213155" cy="37083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FPV785S Laser diode (785nm)</a:t>
                </a:r>
                <a:endParaRPr kumimoji="0" lang="zh-TW" altLang="en-US"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cxnSp>
            <p:nvCxnSpPr>
              <p:cNvPr id="47" name="直線接點 46">
                <a:extLst>
                  <a:ext uri="{FF2B5EF4-FFF2-40B4-BE49-F238E27FC236}">
                    <a16:creationId xmlns:a16="http://schemas.microsoft.com/office/drawing/2014/main" id="{1A67C561-7D54-A959-47DC-50EC8B0D483E}"/>
                  </a:ext>
                </a:extLst>
              </p:cNvPr>
              <p:cNvCxnSpPr>
                <a:cxnSpLocks/>
              </p:cNvCxnSpPr>
              <p:nvPr/>
            </p:nvCxnSpPr>
            <p:spPr>
              <a:xfrm>
                <a:off x="6946879" y="4835035"/>
                <a:ext cx="1114555"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48" name="直線接點 47">
                <a:extLst>
                  <a:ext uri="{FF2B5EF4-FFF2-40B4-BE49-F238E27FC236}">
                    <a16:creationId xmlns:a16="http://schemas.microsoft.com/office/drawing/2014/main" id="{2FBA7919-DE6F-B000-EE42-FA4B8C928853}"/>
                  </a:ext>
                </a:extLst>
              </p:cNvPr>
              <p:cNvCxnSpPr>
                <a:cxnSpLocks/>
              </p:cNvCxnSpPr>
              <p:nvPr/>
            </p:nvCxnSpPr>
            <p:spPr>
              <a:xfrm>
                <a:off x="2443415" y="2378534"/>
                <a:ext cx="2316879"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49" name="直線接點 48">
                <a:extLst>
                  <a:ext uri="{FF2B5EF4-FFF2-40B4-BE49-F238E27FC236}">
                    <a16:creationId xmlns:a16="http://schemas.microsoft.com/office/drawing/2014/main" id="{CAAAFE32-7C79-9896-8A49-39AAFA24FE38}"/>
                  </a:ext>
                </a:extLst>
              </p:cNvPr>
              <p:cNvCxnSpPr>
                <a:cxnSpLocks/>
              </p:cNvCxnSpPr>
              <p:nvPr/>
            </p:nvCxnSpPr>
            <p:spPr>
              <a:xfrm flipH="1">
                <a:off x="6926936" y="4048946"/>
                <a:ext cx="1483" cy="899099"/>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50" name="矩形 49">
                <a:extLst>
                  <a:ext uri="{FF2B5EF4-FFF2-40B4-BE49-F238E27FC236}">
                    <a16:creationId xmlns:a16="http://schemas.microsoft.com/office/drawing/2014/main" id="{75A1D831-A105-19C8-66DC-95C8D88CD75C}"/>
                  </a:ext>
                </a:extLst>
              </p:cNvPr>
              <p:cNvSpPr/>
              <p:nvPr/>
            </p:nvSpPr>
            <p:spPr>
              <a:xfrm>
                <a:off x="4499662" y="3628219"/>
                <a:ext cx="143564" cy="914400"/>
              </a:xfrm>
              <a:prstGeom prst="rect">
                <a:avLst/>
              </a:prstGeom>
              <a:solidFill>
                <a:srgbClr val="052F61"/>
              </a:solidFill>
              <a:ln w="15875" cap="rnd" cmpd="sng" algn="ctr">
                <a:solidFill>
                  <a:srgbClr val="052F61">
                    <a:shade val="50000"/>
                    <a:hueMod val="94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entury Gothic" panose="020B0502020202020204"/>
                  <a:ea typeface="微軟正黑體" panose="020B0604030504040204" pitchFamily="34" charset="-120"/>
                  <a:cs typeface="+mn-cs"/>
                </a:endParaRPr>
              </a:p>
            </p:txBody>
          </p:sp>
          <p:sp>
            <p:nvSpPr>
              <p:cNvPr id="51" name="文字方塊 50">
                <a:extLst>
                  <a:ext uri="{FF2B5EF4-FFF2-40B4-BE49-F238E27FC236}">
                    <a16:creationId xmlns:a16="http://schemas.microsoft.com/office/drawing/2014/main" id="{FF69835D-069F-93CC-C9C1-0B97A5CF8A3D}"/>
                  </a:ext>
                </a:extLst>
              </p:cNvPr>
              <p:cNvSpPr txBox="1"/>
              <p:nvPr/>
            </p:nvSpPr>
            <p:spPr>
              <a:xfrm>
                <a:off x="3714703" y="3147046"/>
                <a:ext cx="1832554" cy="369333"/>
              </a:xfrm>
              <a:prstGeom prst="rect">
                <a:avLst/>
              </a:prstGeom>
              <a:noFill/>
            </p:spPr>
            <p:txBody>
              <a:bodyPr wrap="square" rtlCol="0">
                <a:spAutoFit/>
              </a:bodyPr>
              <a:lstStyle/>
              <a:p>
                <a:r>
                  <a:rPr lang="en-US" altLang="zh-TW" sz="1200" b="1" dirty="0">
                    <a:solidFill>
                      <a:prstClr val="black"/>
                    </a:solidFill>
                    <a:latin typeface="Century Gothic" panose="020B0502020202020204"/>
                    <a:ea typeface="微軟正黑體" panose="020B0604030504040204" pitchFamily="34" charset="-120"/>
                  </a:rPr>
                  <a:t>785nm</a:t>
                </a:r>
                <a:r>
                  <a:rPr lang="zh-TW" altLang="en-US" sz="1200" b="1" dirty="0">
                    <a:solidFill>
                      <a:prstClr val="black"/>
                    </a:solidFill>
                    <a:latin typeface="Century Gothic" panose="020B0502020202020204"/>
                    <a:ea typeface="微軟正黑體" panose="020B0604030504040204" pitchFamily="34" charset="-120"/>
                  </a:rPr>
                  <a:t> </a:t>
                </a:r>
                <a:r>
                  <a:rPr lang="en-US" altLang="zh-TW" sz="1200" b="1" dirty="0">
                    <a:solidFill>
                      <a:prstClr val="black"/>
                    </a:solidFill>
                    <a:latin typeface="Century Gothic" panose="020B0502020202020204"/>
                    <a:ea typeface="微軟正黑體" panose="020B0604030504040204" pitchFamily="34" charset="-120"/>
                  </a:rPr>
                  <a:t>pump filter</a:t>
                </a:r>
                <a:endParaRPr lang="zh-TW" altLang="en-US" sz="1200" b="1" dirty="0">
                  <a:solidFill>
                    <a:prstClr val="black"/>
                  </a:solidFill>
                  <a:latin typeface="Century Gothic" panose="020B0502020202020204"/>
                  <a:ea typeface="微軟正黑體" panose="020B0604030504040204" pitchFamily="34" charset="-120"/>
                </a:endParaRPr>
              </a:p>
            </p:txBody>
          </p:sp>
          <p:cxnSp>
            <p:nvCxnSpPr>
              <p:cNvPr id="52" name="直線接點 51">
                <a:extLst>
                  <a:ext uri="{FF2B5EF4-FFF2-40B4-BE49-F238E27FC236}">
                    <a16:creationId xmlns:a16="http://schemas.microsoft.com/office/drawing/2014/main" id="{7AA6620D-DDE7-743E-0C7B-83FECF3797EE}"/>
                  </a:ext>
                </a:extLst>
              </p:cNvPr>
              <p:cNvCxnSpPr>
                <a:cxnSpLocks/>
              </p:cNvCxnSpPr>
              <p:nvPr/>
            </p:nvCxnSpPr>
            <p:spPr>
              <a:xfrm flipV="1">
                <a:off x="4642275" y="4048933"/>
                <a:ext cx="2303061" cy="14126"/>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53" name="群組 52">
                <a:extLst>
                  <a:ext uri="{FF2B5EF4-FFF2-40B4-BE49-F238E27FC236}">
                    <a16:creationId xmlns:a16="http://schemas.microsoft.com/office/drawing/2014/main" id="{5009550B-98B8-84BE-F8E0-E33BE15CAD51}"/>
                  </a:ext>
                </a:extLst>
              </p:cNvPr>
              <p:cNvGrpSpPr/>
              <p:nvPr/>
            </p:nvGrpSpPr>
            <p:grpSpPr>
              <a:xfrm>
                <a:off x="5311783" y="3705310"/>
                <a:ext cx="642539" cy="776345"/>
                <a:chOff x="5993909" y="4737832"/>
                <a:chExt cx="642539" cy="776345"/>
              </a:xfrm>
            </p:grpSpPr>
            <p:sp>
              <p:nvSpPr>
                <p:cNvPr id="72" name="矩形 71">
                  <a:extLst>
                    <a:ext uri="{FF2B5EF4-FFF2-40B4-BE49-F238E27FC236}">
                      <a16:creationId xmlns:a16="http://schemas.microsoft.com/office/drawing/2014/main" id="{826C4016-EA66-7BDA-CF7F-999532B8F0DE}"/>
                    </a:ext>
                  </a:extLst>
                </p:cNvPr>
                <p:cNvSpPr/>
                <p:nvPr/>
              </p:nvSpPr>
              <p:spPr>
                <a:xfrm>
                  <a:off x="6001357" y="4745209"/>
                  <a:ext cx="635091" cy="74361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73" name="直線接點 72">
                  <a:extLst>
                    <a:ext uri="{FF2B5EF4-FFF2-40B4-BE49-F238E27FC236}">
                      <a16:creationId xmlns:a16="http://schemas.microsoft.com/office/drawing/2014/main" id="{3251169E-A074-5C01-8C97-9C558A04994C}"/>
                    </a:ext>
                  </a:extLst>
                </p:cNvPr>
                <p:cNvCxnSpPr>
                  <a:cxnSpLocks/>
                </p:cNvCxnSpPr>
                <p:nvPr/>
              </p:nvCxnSpPr>
              <p:spPr>
                <a:xfrm>
                  <a:off x="5993909" y="4737832"/>
                  <a:ext cx="642538" cy="77634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4" name="矩形 53">
                <a:extLst>
                  <a:ext uri="{FF2B5EF4-FFF2-40B4-BE49-F238E27FC236}">
                    <a16:creationId xmlns:a16="http://schemas.microsoft.com/office/drawing/2014/main" id="{D1309988-67B8-76CF-B699-58EB90F27215}"/>
                  </a:ext>
                </a:extLst>
              </p:cNvPr>
              <p:cNvSpPr/>
              <p:nvPr/>
            </p:nvSpPr>
            <p:spPr>
              <a:xfrm rot="2759155">
                <a:off x="6525652" y="3930324"/>
                <a:ext cx="984527" cy="134885"/>
              </a:xfrm>
              <a:prstGeom prst="rect">
                <a:avLst/>
              </a:prstGeom>
              <a:solidFill>
                <a:sysClr val="window" lastClr="FFFFFF">
                  <a:lumMod val="65000"/>
                </a:sysClr>
              </a:solidFill>
              <a:ln w="28575" cap="rnd" cmpd="sng" algn="ctr">
                <a:solidFill>
                  <a:srgbClr val="052F61">
                    <a:shade val="50000"/>
                    <a:hueMod val="94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entury Gothic" panose="020B0502020202020204"/>
                  <a:ea typeface="微軟正黑體" panose="020B0604030504040204" pitchFamily="34" charset="-120"/>
                  <a:cs typeface="+mn-cs"/>
                </a:endParaRPr>
              </a:p>
            </p:txBody>
          </p:sp>
          <p:sp>
            <p:nvSpPr>
              <p:cNvPr id="55" name="矩形 54">
                <a:extLst>
                  <a:ext uri="{FF2B5EF4-FFF2-40B4-BE49-F238E27FC236}">
                    <a16:creationId xmlns:a16="http://schemas.microsoft.com/office/drawing/2014/main" id="{470802F9-587B-DD5D-E42D-6CB75212156B}"/>
                  </a:ext>
                </a:extLst>
              </p:cNvPr>
              <p:cNvSpPr/>
              <p:nvPr/>
            </p:nvSpPr>
            <p:spPr>
              <a:xfrm rot="2759155">
                <a:off x="6434671" y="4896055"/>
                <a:ext cx="984527" cy="134885"/>
              </a:xfrm>
              <a:prstGeom prst="rect">
                <a:avLst/>
              </a:prstGeom>
              <a:solidFill>
                <a:sysClr val="window" lastClr="FFFFFF">
                  <a:lumMod val="65000"/>
                </a:sysClr>
              </a:solidFill>
              <a:ln w="28575" cap="rnd" cmpd="sng" algn="ctr">
                <a:solidFill>
                  <a:srgbClr val="052F61">
                    <a:shade val="50000"/>
                    <a:hueMod val="94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entury Gothic" panose="020B0502020202020204"/>
                  <a:ea typeface="微軟正黑體" panose="020B0604030504040204" pitchFamily="34" charset="-120"/>
                  <a:cs typeface="+mn-cs"/>
                </a:endParaRPr>
              </a:p>
            </p:txBody>
          </p:sp>
          <p:sp>
            <p:nvSpPr>
              <p:cNvPr id="56" name="矩形 55">
                <a:extLst>
                  <a:ext uri="{FF2B5EF4-FFF2-40B4-BE49-F238E27FC236}">
                    <a16:creationId xmlns:a16="http://schemas.microsoft.com/office/drawing/2014/main" id="{437AF331-CD8E-4500-4E62-C7121C058EDA}"/>
                  </a:ext>
                </a:extLst>
              </p:cNvPr>
              <p:cNvSpPr/>
              <p:nvPr/>
            </p:nvSpPr>
            <p:spPr>
              <a:xfrm rot="2759155">
                <a:off x="5121739" y="5472774"/>
                <a:ext cx="984527" cy="134885"/>
              </a:xfrm>
              <a:prstGeom prst="rect">
                <a:avLst/>
              </a:prstGeom>
              <a:solidFill>
                <a:sysClr val="window" lastClr="FFFFFF">
                  <a:lumMod val="65000"/>
                </a:sysClr>
              </a:solidFill>
              <a:ln w="28575" cap="rnd" cmpd="sng" algn="ctr">
                <a:solidFill>
                  <a:srgbClr val="052F61">
                    <a:shade val="50000"/>
                    <a:hueMod val="94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entury Gothic" panose="020B0502020202020204"/>
                  <a:ea typeface="微軟正黑體" panose="020B0604030504040204" pitchFamily="34" charset="-120"/>
                  <a:cs typeface="+mn-cs"/>
                </a:endParaRPr>
              </a:p>
            </p:txBody>
          </p:sp>
          <p:sp>
            <p:nvSpPr>
              <p:cNvPr id="57" name="矩形 56">
                <a:extLst>
                  <a:ext uri="{FF2B5EF4-FFF2-40B4-BE49-F238E27FC236}">
                    <a16:creationId xmlns:a16="http://schemas.microsoft.com/office/drawing/2014/main" id="{15BE44C3-6278-B27B-733D-E3A910D636EB}"/>
                  </a:ext>
                </a:extLst>
              </p:cNvPr>
              <p:cNvSpPr/>
              <p:nvPr/>
            </p:nvSpPr>
            <p:spPr>
              <a:xfrm rot="2759155">
                <a:off x="6113939" y="5364559"/>
                <a:ext cx="984527" cy="134885"/>
              </a:xfrm>
              <a:prstGeom prst="rect">
                <a:avLst/>
              </a:prstGeom>
              <a:solidFill>
                <a:sysClr val="window" lastClr="FFFFFF">
                  <a:lumMod val="65000"/>
                </a:sysClr>
              </a:solidFill>
              <a:ln w="28575" cap="rnd" cmpd="sng" algn="ctr">
                <a:solidFill>
                  <a:srgbClr val="052F61">
                    <a:shade val="50000"/>
                    <a:hueMod val="94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entury Gothic" panose="020B0502020202020204"/>
                  <a:ea typeface="微軟正黑體" panose="020B0604030504040204" pitchFamily="34" charset="-120"/>
                  <a:cs typeface="+mn-cs"/>
                </a:endParaRPr>
              </a:p>
            </p:txBody>
          </p:sp>
          <p:cxnSp>
            <p:nvCxnSpPr>
              <p:cNvPr id="58" name="直線接點 57">
                <a:extLst>
                  <a:ext uri="{FF2B5EF4-FFF2-40B4-BE49-F238E27FC236}">
                    <a16:creationId xmlns:a16="http://schemas.microsoft.com/office/drawing/2014/main" id="{D4BFC305-A3F4-FD00-FB15-AD1D42880695}"/>
                  </a:ext>
                </a:extLst>
              </p:cNvPr>
              <p:cNvCxnSpPr>
                <a:cxnSpLocks/>
              </p:cNvCxnSpPr>
              <p:nvPr/>
            </p:nvCxnSpPr>
            <p:spPr>
              <a:xfrm flipH="1">
                <a:off x="6449738" y="5408458"/>
                <a:ext cx="1483" cy="899099"/>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59" name="群組 58">
                <a:extLst>
                  <a:ext uri="{FF2B5EF4-FFF2-40B4-BE49-F238E27FC236}">
                    <a16:creationId xmlns:a16="http://schemas.microsoft.com/office/drawing/2014/main" id="{9143D1BB-DC0A-0430-A6F2-EF6833B84F59}"/>
                  </a:ext>
                </a:extLst>
              </p:cNvPr>
              <p:cNvGrpSpPr/>
              <p:nvPr/>
            </p:nvGrpSpPr>
            <p:grpSpPr>
              <a:xfrm>
                <a:off x="8061434" y="4591143"/>
                <a:ext cx="190279" cy="487784"/>
                <a:chOff x="9773066" y="4641940"/>
                <a:chExt cx="190279" cy="487784"/>
              </a:xfrm>
            </p:grpSpPr>
            <p:sp>
              <p:nvSpPr>
                <p:cNvPr id="70" name="矩形: 剪去同側角落 69">
                  <a:extLst>
                    <a:ext uri="{FF2B5EF4-FFF2-40B4-BE49-F238E27FC236}">
                      <a16:creationId xmlns:a16="http://schemas.microsoft.com/office/drawing/2014/main" id="{AE7503DF-D0FB-7E5F-8E54-088595C13888}"/>
                    </a:ext>
                  </a:extLst>
                </p:cNvPr>
                <p:cNvSpPr/>
                <p:nvPr/>
              </p:nvSpPr>
              <p:spPr>
                <a:xfrm rot="5400000">
                  <a:off x="9740140" y="4812505"/>
                  <a:ext cx="261457" cy="184953"/>
                </a:xfrm>
                <a:prstGeom prst="snip2SameRect">
                  <a:avLst/>
                </a:prstGeom>
                <a:solidFill>
                  <a:srgbClr val="052F61"/>
                </a:solidFill>
                <a:ln w="15875" cap="rnd" cmpd="sng" algn="ctr">
                  <a:solidFill>
                    <a:srgbClr val="052F61">
                      <a:shade val="50000"/>
                      <a:hueMod val="94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entury Gothic" panose="020B0502020202020204"/>
                    <a:ea typeface="微軟正黑體" panose="020B0604030504040204" pitchFamily="34" charset="-120"/>
                    <a:cs typeface="+mn-cs"/>
                  </a:endParaRPr>
                </a:p>
              </p:txBody>
            </p:sp>
            <p:sp>
              <p:nvSpPr>
                <p:cNvPr id="71" name="矩形 70">
                  <a:extLst>
                    <a:ext uri="{FF2B5EF4-FFF2-40B4-BE49-F238E27FC236}">
                      <a16:creationId xmlns:a16="http://schemas.microsoft.com/office/drawing/2014/main" id="{CDDE3C8B-A9F3-9B9D-9EE3-4F367830541E}"/>
                    </a:ext>
                  </a:extLst>
                </p:cNvPr>
                <p:cNvSpPr/>
                <p:nvPr/>
              </p:nvSpPr>
              <p:spPr>
                <a:xfrm>
                  <a:off x="9773066" y="4641940"/>
                  <a:ext cx="45719" cy="487784"/>
                </a:xfrm>
                <a:prstGeom prst="rect">
                  <a:avLst/>
                </a:prstGeom>
                <a:solidFill>
                  <a:srgbClr val="052F61"/>
                </a:solidFill>
                <a:ln w="15875" cap="rnd" cmpd="sng" algn="ctr">
                  <a:solidFill>
                    <a:srgbClr val="052F61">
                      <a:shade val="50000"/>
                      <a:hueMod val="94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entury Gothic" panose="020B0502020202020204"/>
                    <a:ea typeface="微軟正黑體" panose="020B0604030504040204" pitchFamily="34" charset="-120"/>
                    <a:cs typeface="+mn-cs"/>
                  </a:endParaRPr>
                </a:p>
              </p:txBody>
            </p:sp>
          </p:grpSp>
          <p:grpSp>
            <p:nvGrpSpPr>
              <p:cNvPr id="60" name="群組 59">
                <a:extLst>
                  <a:ext uri="{FF2B5EF4-FFF2-40B4-BE49-F238E27FC236}">
                    <a16:creationId xmlns:a16="http://schemas.microsoft.com/office/drawing/2014/main" id="{EF906299-F439-E82A-F732-769306F8AD43}"/>
                  </a:ext>
                </a:extLst>
              </p:cNvPr>
              <p:cNvGrpSpPr/>
              <p:nvPr/>
            </p:nvGrpSpPr>
            <p:grpSpPr>
              <a:xfrm rot="5400000">
                <a:off x="6357648" y="6161247"/>
                <a:ext cx="190279" cy="487784"/>
                <a:chOff x="9773066" y="4662960"/>
                <a:chExt cx="190279" cy="487784"/>
              </a:xfrm>
            </p:grpSpPr>
            <p:sp>
              <p:nvSpPr>
                <p:cNvPr id="68" name="矩形: 剪去同側角落 67">
                  <a:extLst>
                    <a:ext uri="{FF2B5EF4-FFF2-40B4-BE49-F238E27FC236}">
                      <a16:creationId xmlns:a16="http://schemas.microsoft.com/office/drawing/2014/main" id="{111C0DF0-D733-12B1-3367-1969222B4FFA}"/>
                    </a:ext>
                  </a:extLst>
                </p:cNvPr>
                <p:cNvSpPr/>
                <p:nvPr/>
              </p:nvSpPr>
              <p:spPr>
                <a:xfrm rot="5400000">
                  <a:off x="9740140" y="4812505"/>
                  <a:ext cx="261457" cy="184953"/>
                </a:xfrm>
                <a:prstGeom prst="snip2SameRect">
                  <a:avLst/>
                </a:prstGeom>
                <a:solidFill>
                  <a:srgbClr val="052F61"/>
                </a:solidFill>
                <a:ln w="15875" cap="rnd" cmpd="sng" algn="ctr">
                  <a:solidFill>
                    <a:srgbClr val="052F61">
                      <a:shade val="50000"/>
                      <a:hueMod val="94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entury Gothic" panose="020B0502020202020204"/>
                    <a:ea typeface="微軟正黑體" panose="020B0604030504040204" pitchFamily="34" charset="-120"/>
                    <a:cs typeface="+mn-cs"/>
                  </a:endParaRPr>
                </a:p>
              </p:txBody>
            </p:sp>
            <p:sp>
              <p:nvSpPr>
                <p:cNvPr id="69" name="矩形 68">
                  <a:extLst>
                    <a:ext uri="{FF2B5EF4-FFF2-40B4-BE49-F238E27FC236}">
                      <a16:creationId xmlns:a16="http://schemas.microsoft.com/office/drawing/2014/main" id="{6B617361-6198-4E05-5977-1A98EDCDE624}"/>
                    </a:ext>
                  </a:extLst>
                </p:cNvPr>
                <p:cNvSpPr/>
                <p:nvPr/>
              </p:nvSpPr>
              <p:spPr>
                <a:xfrm>
                  <a:off x="9773066" y="4662960"/>
                  <a:ext cx="45719" cy="487784"/>
                </a:xfrm>
                <a:prstGeom prst="rect">
                  <a:avLst/>
                </a:prstGeom>
                <a:solidFill>
                  <a:srgbClr val="052F61"/>
                </a:solidFill>
                <a:ln w="15875" cap="rnd" cmpd="sng" algn="ctr">
                  <a:solidFill>
                    <a:srgbClr val="052F61">
                      <a:shade val="50000"/>
                      <a:hueMod val="94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entury Gothic" panose="020B0502020202020204"/>
                    <a:ea typeface="微軟正黑體" panose="020B0604030504040204" pitchFamily="34" charset="-120"/>
                    <a:cs typeface="+mn-cs"/>
                  </a:endParaRPr>
                </a:p>
              </p:txBody>
            </p:sp>
          </p:grpSp>
          <p:sp>
            <p:nvSpPr>
              <p:cNvPr id="61" name="文字方塊 60">
                <a:extLst>
                  <a:ext uri="{FF2B5EF4-FFF2-40B4-BE49-F238E27FC236}">
                    <a16:creationId xmlns:a16="http://schemas.microsoft.com/office/drawing/2014/main" id="{E70F618E-ADA0-C8B5-0686-1123BEAA1515}"/>
                  </a:ext>
                </a:extLst>
              </p:cNvPr>
              <p:cNvSpPr txBox="1"/>
              <p:nvPr/>
            </p:nvSpPr>
            <p:spPr>
              <a:xfrm>
                <a:off x="8691689" y="7657274"/>
                <a:ext cx="365301" cy="37083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BS</a:t>
                </a:r>
                <a:endParaRPr kumimoji="0" lang="zh-TW" altLang="en-US"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2" name="文字方塊 61">
                <a:extLst>
                  <a:ext uri="{FF2B5EF4-FFF2-40B4-BE49-F238E27FC236}">
                    <a16:creationId xmlns:a16="http://schemas.microsoft.com/office/drawing/2014/main" id="{9316D27D-ACBC-EA78-29CF-58C61B4885DF}"/>
                  </a:ext>
                </a:extLst>
              </p:cNvPr>
              <p:cNvSpPr txBox="1"/>
              <p:nvPr/>
            </p:nvSpPr>
            <p:spPr>
              <a:xfrm>
                <a:off x="5401635" y="3172404"/>
                <a:ext cx="452276" cy="37083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PBS</a:t>
                </a:r>
                <a:endParaRPr kumimoji="0" lang="zh-TW" altLang="en-US"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3" name="文字方塊 62">
                <a:extLst>
                  <a:ext uri="{FF2B5EF4-FFF2-40B4-BE49-F238E27FC236}">
                    <a16:creationId xmlns:a16="http://schemas.microsoft.com/office/drawing/2014/main" id="{1F56B66B-1ABC-320E-37BE-8B8AD6ABB1DD}"/>
                  </a:ext>
                </a:extLst>
              </p:cNvPr>
              <p:cNvSpPr txBox="1"/>
              <p:nvPr/>
            </p:nvSpPr>
            <p:spPr>
              <a:xfrm>
                <a:off x="4807535" y="5502706"/>
                <a:ext cx="631074" cy="37083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mirror</a:t>
                </a:r>
                <a:endParaRPr kumimoji="0" lang="zh-TW" altLang="en-US"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64" name="矩形 63">
                <a:extLst>
                  <a:ext uri="{FF2B5EF4-FFF2-40B4-BE49-F238E27FC236}">
                    <a16:creationId xmlns:a16="http://schemas.microsoft.com/office/drawing/2014/main" id="{92B126D6-154D-7F45-3A2F-B75A61D265E0}"/>
                  </a:ext>
                </a:extLst>
              </p:cNvPr>
              <p:cNvSpPr/>
              <p:nvPr/>
            </p:nvSpPr>
            <p:spPr>
              <a:xfrm>
                <a:off x="7772787" y="4377835"/>
                <a:ext cx="143564" cy="914401"/>
              </a:xfrm>
              <a:prstGeom prst="rect">
                <a:avLst/>
              </a:prstGeom>
              <a:solidFill>
                <a:srgbClr val="052F61"/>
              </a:solidFill>
              <a:ln w="15875" cap="rnd" cmpd="sng" algn="ctr">
                <a:solidFill>
                  <a:srgbClr val="052F61">
                    <a:shade val="50000"/>
                    <a:hueMod val="94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entury Gothic" panose="020B0502020202020204"/>
                  <a:ea typeface="微軟正黑體" panose="020B0604030504040204" pitchFamily="34" charset="-120"/>
                  <a:cs typeface="+mn-cs"/>
                </a:endParaRPr>
              </a:p>
            </p:txBody>
          </p:sp>
          <p:sp>
            <p:nvSpPr>
              <p:cNvPr id="65" name="矩形 64">
                <a:extLst>
                  <a:ext uri="{FF2B5EF4-FFF2-40B4-BE49-F238E27FC236}">
                    <a16:creationId xmlns:a16="http://schemas.microsoft.com/office/drawing/2014/main" id="{DC999478-FEDE-3FE2-2B13-2EBF5ED0B30A}"/>
                  </a:ext>
                </a:extLst>
              </p:cNvPr>
              <p:cNvSpPr/>
              <p:nvPr/>
            </p:nvSpPr>
            <p:spPr>
              <a:xfrm rot="16200000">
                <a:off x="6358621" y="5708119"/>
                <a:ext cx="180658" cy="726651"/>
              </a:xfrm>
              <a:prstGeom prst="rect">
                <a:avLst/>
              </a:prstGeom>
              <a:solidFill>
                <a:srgbClr val="052F61"/>
              </a:solidFill>
              <a:ln w="15875" cap="rnd" cmpd="sng" algn="ctr">
                <a:solidFill>
                  <a:srgbClr val="052F61">
                    <a:shade val="50000"/>
                    <a:hueMod val="94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entury Gothic" panose="020B0502020202020204"/>
                  <a:ea typeface="微軟正黑體" panose="020B0604030504040204" pitchFamily="34" charset="-120"/>
                  <a:cs typeface="+mn-cs"/>
                </a:endParaRPr>
              </a:p>
            </p:txBody>
          </p:sp>
          <p:sp>
            <p:nvSpPr>
              <p:cNvPr id="66" name="文字方塊 65">
                <a:extLst>
                  <a:ext uri="{FF2B5EF4-FFF2-40B4-BE49-F238E27FC236}">
                    <a16:creationId xmlns:a16="http://schemas.microsoft.com/office/drawing/2014/main" id="{3A546116-F04D-5947-AA24-D59D07235762}"/>
                  </a:ext>
                </a:extLst>
              </p:cNvPr>
              <p:cNvSpPr txBox="1"/>
              <p:nvPr/>
            </p:nvSpPr>
            <p:spPr>
              <a:xfrm>
                <a:off x="7393063" y="3936463"/>
                <a:ext cx="2131549" cy="370839"/>
              </a:xfrm>
              <a:prstGeom prst="rect">
                <a:avLst/>
              </a:prstGeom>
              <a:noFill/>
            </p:spPr>
            <p:txBody>
              <a:bodyPr wrap="square" rtlCol="0">
                <a:spAutoFit/>
              </a:bodyPr>
              <a:lstStyle/>
              <a:p>
                <a:r>
                  <a:rPr lang="en-US" altLang="zh-TW" sz="1200" b="1" dirty="0">
                    <a:solidFill>
                      <a:prstClr val="black"/>
                    </a:solidFill>
                    <a:latin typeface="Century Gothic" panose="020B0502020202020204"/>
                    <a:ea typeface="微軟正黑體" panose="020B0604030504040204" pitchFamily="34" charset="-120"/>
                  </a:rPr>
                  <a:t>1570nm</a:t>
                </a:r>
                <a:r>
                  <a:rPr lang="zh-TW" altLang="en-US" sz="1200" b="1" dirty="0">
                    <a:solidFill>
                      <a:prstClr val="black"/>
                    </a:solidFill>
                    <a:latin typeface="Century Gothic" panose="020B0502020202020204"/>
                    <a:ea typeface="微軟正黑體" panose="020B0604030504040204" pitchFamily="34" charset="-120"/>
                  </a:rPr>
                  <a:t> </a:t>
                </a:r>
                <a:r>
                  <a:rPr lang="en-US" altLang="zh-TW" sz="1200" b="1" dirty="0">
                    <a:solidFill>
                      <a:prstClr val="black"/>
                    </a:solidFill>
                    <a:latin typeface="Century Gothic" panose="020B0502020202020204"/>
                    <a:ea typeface="微軟正黑體" panose="020B0604030504040204" pitchFamily="34" charset="-120"/>
                  </a:rPr>
                  <a:t>bandpass filter</a:t>
                </a:r>
                <a:endParaRPr lang="zh-TW" altLang="en-US" sz="1200" b="1" dirty="0">
                  <a:solidFill>
                    <a:prstClr val="black"/>
                  </a:solidFill>
                  <a:latin typeface="Century Gothic" panose="020B0502020202020204"/>
                  <a:ea typeface="微軟正黑體" panose="020B0604030504040204" pitchFamily="34" charset="-120"/>
                </a:endParaRPr>
              </a:p>
            </p:txBody>
          </p:sp>
          <p:sp>
            <p:nvSpPr>
              <p:cNvPr id="67" name="文字方塊 66">
                <a:extLst>
                  <a:ext uri="{FF2B5EF4-FFF2-40B4-BE49-F238E27FC236}">
                    <a16:creationId xmlns:a16="http://schemas.microsoft.com/office/drawing/2014/main" id="{97FB866D-3913-CF5E-A3D0-0CCD3EE0ED73}"/>
                  </a:ext>
                </a:extLst>
              </p:cNvPr>
              <p:cNvSpPr txBox="1"/>
              <p:nvPr/>
            </p:nvSpPr>
            <p:spPr>
              <a:xfrm>
                <a:off x="10169186" y="8073875"/>
                <a:ext cx="464215" cy="37083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SPD</a:t>
                </a:r>
                <a:endParaRPr kumimoji="0" lang="zh-TW" altLang="en-US" sz="12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grpSp>
        <p:cxnSp>
          <p:nvCxnSpPr>
            <p:cNvPr id="8" name="接點: 弧形 7">
              <a:extLst>
                <a:ext uri="{FF2B5EF4-FFF2-40B4-BE49-F238E27FC236}">
                  <a16:creationId xmlns:a16="http://schemas.microsoft.com/office/drawing/2014/main" id="{35BDF705-957A-DBB4-6AAC-575B9DE813FE}"/>
                </a:ext>
              </a:extLst>
            </p:cNvPr>
            <p:cNvCxnSpPr>
              <a:cxnSpLocks/>
            </p:cNvCxnSpPr>
            <p:nvPr/>
          </p:nvCxnSpPr>
          <p:spPr>
            <a:xfrm>
              <a:off x="6052715" y="5214306"/>
              <a:ext cx="1898606" cy="704144"/>
            </a:xfrm>
            <a:prstGeom prst="curvedConnector3">
              <a:avLst>
                <a:gd name="adj1"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 name="群組 8">
              <a:extLst>
                <a:ext uri="{FF2B5EF4-FFF2-40B4-BE49-F238E27FC236}">
                  <a16:creationId xmlns:a16="http://schemas.microsoft.com/office/drawing/2014/main" id="{D113253B-6965-D9F4-C543-D0AB56837674}"/>
                </a:ext>
              </a:extLst>
            </p:cNvPr>
            <p:cNvGrpSpPr/>
            <p:nvPr/>
          </p:nvGrpSpPr>
          <p:grpSpPr>
            <a:xfrm>
              <a:off x="7494121" y="3973068"/>
              <a:ext cx="914400" cy="1840350"/>
              <a:chOff x="7494121" y="3973068"/>
              <a:chExt cx="914400" cy="1840350"/>
            </a:xfrm>
          </p:grpSpPr>
          <p:cxnSp>
            <p:nvCxnSpPr>
              <p:cNvPr id="30" name="接點: 弧形 29">
                <a:extLst>
                  <a:ext uri="{FF2B5EF4-FFF2-40B4-BE49-F238E27FC236}">
                    <a16:creationId xmlns:a16="http://schemas.microsoft.com/office/drawing/2014/main" id="{8BB38023-55BB-B624-CA06-176EDC3BF735}"/>
                  </a:ext>
                </a:extLst>
              </p:cNvPr>
              <p:cNvCxnSpPr>
                <a:cxnSpLocks/>
                <a:stCxn id="70" idx="3"/>
              </p:cNvCxnSpPr>
              <p:nvPr/>
            </p:nvCxnSpPr>
            <p:spPr>
              <a:xfrm flipH="1">
                <a:off x="7494121" y="3973068"/>
                <a:ext cx="262514" cy="1423413"/>
              </a:xfrm>
              <a:prstGeom prst="curvedConnector4">
                <a:avLst>
                  <a:gd name="adj1" fmla="val -87081"/>
                  <a:gd name="adj2" fmla="val 53053"/>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弧形 30">
                <a:extLst>
                  <a:ext uri="{FF2B5EF4-FFF2-40B4-BE49-F238E27FC236}">
                    <a16:creationId xmlns:a16="http://schemas.microsoft.com/office/drawing/2014/main" id="{6EC9ECDA-DE98-6247-CFC6-CCC22B659EE3}"/>
                  </a:ext>
                </a:extLst>
              </p:cNvPr>
              <p:cNvSpPr/>
              <p:nvPr/>
            </p:nvSpPr>
            <p:spPr>
              <a:xfrm rot="11724378">
                <a:off x="7494121" y="4899018"/>
                <a:ext cx="914400" cy="914400"/>
              </a:xfrm>
              <a:prstGeom prst="arc">
                <a:avLst>
                  <a:gd name="adj1" fmla="val 15150971"/>
                  <a:gd name="adj2" fmla="val 20809025"/>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zh-TW" altLang="en-US" dirty="0"/>
              </a:p>
            </p:txBody>
          </p:sp>
        </p:grpSp>
        <p:sp>
          <p:nvSpPr>
            <p:cNvPr id="10" name="矩形 9">
              <a:extLst>
                <a:ext uri="{FF2B5EF4-FFF2-40B4-BE49-F238E27FC236}">
                  <a16:creationId xmlns:a16="http://schemas.microsoft.com/office/drawing/2014/main" id="{F67D320D-0C47-E8B4-5D52-0EB770A126C6}"/>
                </a:ext>
              </a:extLst>
            </p:cNvPr>
            <p:cNvSpPr/>
            <p:nvPr/>
          </p:nvSpPr>
          <p:spPr>
            <a:xfrm>
              <a:off x="7951321" y="5728138"/>
              <a:ext cx="782776" cy="309975"/>
            </a:xfrm>
            <a:prstGeom prst="rect">
              <a:avLst/>
            </a:prstGeom>
            <a:solidFill>
              <a:schemeClr val="bg1">
                <a:lumMod val="50000"/>
              </a:schemeClr>
            </a:solidFill>
            <a:ln w="28575">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左大括弧 10">
              <a:extLst>
                <a:ext uri="{FF2B5EF4-FFF2-40B4-BE49-F238E27FC236}">
                  <a16:creationId xmlns:a16="http://schemas.microsoft.com/office/drawing/2014/main" id="{0D3D2F28-B432-EA56-F76E-3885585BD07E}"/>
                </a:ext>
              </a:extLst>
            </p:cNvPr>
            <p:cNvSpPr/>
            <p:nvPr/>
          </p:nvSpPr>
          <p:spPr>
            <a:xfrm>
              <a:off x="8728088" y="5622268"/>
              <a:ext cx="342278" cy="520109"/>
            </a:xfrm>
            <a:prstGeom prst="leftBrace">
              <a:avLst>
                <a:gd name="adj1" fmla="val 14813"/>
                <a:gd name="adj2" fmla="val 51253"/>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cxnSp>
          <p:nvCxnSpPr>
            <p:cNvPr id="12" name="直線接點 11">
              <a:extLst>
                <a:ext uri="{FF2B5EF4-FFF2-40B4-BE49-F238E27FC236}">
                  <a16:creationId xmlns:a16="http://schemas.microsoft.com/office/drawing/2014/main" id="{4DA459C9-0849-5741-1F36-A81356AE9DB7}"/>
                </a:ext>
              </a:extLst>
            </p:cNvPr>
            <p:cNvCxnSpPr>
              <a:cxnSpLocks/>
            </p:cNvCxnSpPr>
            <p:nvPr/>
          </p:nvCxnSpPr>
          <p:spPr>
            <a:xfrm>
              <a:off x="9059856" y="5621877"/>
              <a:ext cx="73212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線接點 12">
              <a:extLst>
                <a:ext uri="{FF2B5EF4-FFF2-40B4-BE49-F238E27FC236}">
                  <a16:creationId xmlns:a16="http://schemas.microsoft.com/office/drawing/2014/main" id="{A0096AD1-43D9-9A1E-E880-4C268FCCC004}"/>
                </a:ext>
              </a:extLst>
            </p:cNvPr>
            <p:cNvCxnSpPr>
              <a:cxnSpLocks/>
            </p:cNvCxnSpPr>
            <p:nvPr/>
          </p:nvCxnSpPr>
          <p:spPr>
            <a:xfrm>
              <a:off x="9070366" y="6138645"/>
              <a:ext cx="73212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流程圖: 延遲 13">
              <a:extLst>
                <a:ext uri="{FF2B5EF4-FFF2-40B4-BE49-F238E27FC236}">
                  <a16:creationId xmlns:a16="http://schemas.microsoft.com/office/drawing/2014/main" id="{5A48B760-5976-AFCF-0FCF-2EA15639544B}"/>
                </a:ext>
              </a:extLst>
            </p:cNvPr>
            <p:cNvSpPr/>
            <p:nvPr/>
          </p:nvSpPr>
          <p:spPr>
            <a:xfrm>
              <a:off x="9630350" y="5538290"/>
              <a:ext cx="247640" cy="220977"/>
            </a:xfrm>
            <a:prstGeom prst="flowChartDelay">
              <a:avLst/>
            </a:prstGeom>
            <a:solidFill>
              <a:sysClr val="windowText" lastClr="000000"/>
            </a:solidFill>
            <a:ln w="15875" cap="rnd" cmpd="sng" algn="ctr">
              <a:solidFill>
                <a:sysClr val="windowText" lastClr="000000">
                  <a:shade val="50000"/>
                  <a:hueMod val="94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entury Gothic" panose="020B0502020202020204"/>
                <a:ea typeface="微軟正黑體" panose="020B0604030504040204" pitchFamily="34" charset="-120"/>
                <a:cs typeface="+mn-cs"/>
              </a:endParaRPr>
            </a:p>
          </p:txBody>
        </p:sp>
        <p:sp>
          <p:nvSpPr>
            <p:cNvPr id="15" name="流程圖: 延遲 14">
              <a:extLst>
                <a:ext uri="{FF2B5EF4-FFF2-40B4-BE49-F238E27FC236}">
                  <a16:creationId xmlns:a16="http://schemas.microsoft.com/office/drawing/2014/main" id="{9F25289A-2246-689A-80FF-A4DE8703B93B}"/>
                </a:ext>
              </a:extLst>
            </p:cNvPr>
            <p:cNvSpPr/>
            <p:nvPr/>
          </p:nvSpPr>
          <p:spPr>
            <a:xfrm>
              <a:off x="9614331" y="6028156"/>
              <a:ext cx="247640" cy="220977"/>
            </a:xfrm>
            <a:prstGeom prst="flowChartDelay">
              <a:avLst/>
            </a:prstGeom>
            <a:solidFill>
              <a:sysClr val="windowText" lastClr="000000"/>
            </a:solidFill>
            <a:ln w="15875" cap="rnd" cmpd="sng" algn="ctr">
              <a:solidFill>
                <a:sysClr val="windowText" lastClr="000000">
                  <a:shade val="50000"/>
                  <a:hueMod val="94000"/>
                </a:sys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prstClr val="white"/>
                </a:solidFill>
                <a:effectLst/>
                <a:uLnTx/>
                <a:uFillTx/>
                <a:latin typeface="Century Gothic" panose="020B0502020202020204"/>
                <a:ea typeface="微軟正黑體" panose="020B0604030504040204" pitchFamily="34" charset="-120"/>
                <a:cs typeface="+mn-cs"/>
              </a:endParaRPr>
            </a:p>
          </p:txBody>
        </p:sp>
        <p:cxnSp>
          <p:nvCxnSpPr>
            <p:cNvPr id="16" name="直線接點 15">
              <a:extLst>
                <a:ext uri="{FF2B5EF4-FFF2-40B4-BE49-F238E27FC236}">
                  <a16:creationId xmlns:a16="http://schemas.microsoft.com/office/drawing/2014/main" id="{16E45377-A0ED-BD04-C175-893A8A946191}"/>
                </a:ext>
              </a:extLst>
            </p:cNvPr>
            <p:cNvCxnSpPr>
              <a:cxnSpLocks/>
            </p:cNvCxnSpPr>
            <p:nvPr/>
          </p:nvCxnSpPr>
          <p:spPr>
            <a:xfrm>
              <a:off x="9666881" y="5621877"/>
              <a:ext cx="73212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線接點 16">
              <a:extLst>
                <a:ext uri="{FF2B5EF4-FFF2-40B4-BE49-F238E27FC236}">
                  <a16:creationId xmlns:a16="http://schemas.microsoft.com/office/drawing/2014/main" id="{A4E27093-33EB-4B4D-79EB-9F193B2D24FE}"/>
                </a:ext>
              </a:extLst>
            </p:cNvPr>
            <p:cNvCxnSpPr>
              <a:cxnSpLocks/>
            </p:cNvCxnSpPr>
            <p:nvPr/>
          </p:nvCxnSpPr>
          <p:spPr>
            <a:xfrm>
              <a:off x="9730641" y="6138645"/>
              <a:ext cx="73212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 name="群組 17">
              <a:extLst>
                <a:ext uri="{FF2B5EF4-FFF2-40B4-BE49-F238E27FC236}">
                  <a16:creationId xmlns:a16="http://schemas.microsoft.com/office/drawing/2014/main" id="{3A8BDB63-B864-D68F-6A9B-D48BBDC63F12}"/>
                </a:ext>
              </a:extLst>
            </p:cNvPr>
            <p:cNvGrpSpPr/>
            <p:nvPr/>
          </p:nvGrpSpPr>
          <p:grpSpPr>
            <a:xfrm>
              <a:off x="10344210" y="5420812"/>
              <a:ext cx="1427484" cy="923030"/>
              <a:chOff x="9804492" y="2888993"/>
              <a:chExt cx="1295214" cy="923030"/>
            </a:xfrm>
          </p:grpSpPr>
          <p:sp>
            <p:nvSpPr>
              <p:cNvPr id="28" name="矩形 27">
                <a:extLst>
                  <a:ext uri="{FF2B5EF4-FFF2-40B4-BE49-F238E27FC236}">
                    <a16:creationId xmlns:a16="http://schemas.microsoft.com/office/drawing/2014/main" id="{C7D3B4A1-F686-2CB3-2B44-13D967BBD1DD}"/>
                  </a:ext>
                </a:extLst>
              </p:cNvPr>
              <p:cNvSpPr/>
              <p:nvPr/>
            </p:nvSpPr>
            <p:spPr>
              <a:xfrm>
                <a:off x="9806152" y="2892722"/>
                <a:ext cx="1293554" cy="919301"/>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1400" dirty="0">
                  <a:solidFill>
                    <a:schemeClr val="bg1"/>
                  </a:solidFill>
                  <a:latin typeface="Century Gothic" panose="020B0502020202020204"/>
                  <a:ea typeface="微軟正黑體" panose="020B0604030504040204" pitchFamily="34" charset="-120"/>
                </a:endParaRPr>
              </a:p>
              <a:p>
                <a:pPr algn="ctr"/>
                <a:r>
                  <a:rPr lang="en-US" altLang="zh-TW" sz="1400" dirty="0">
                    <a:solidFill>
                      <a:schemeClr val="bg1"/>
                    </a:solidFill>
                    <a:latin typeface="Century Gothic" panose="020B0502020202020204"/>
                    <a:ea typeface="微軟正黑體" panose="020B0604030504040204" pitchFamily="34" charset="-120"/>
                  </a:rPr>
                  <a:t>Coincidence counter</a:t>
                </a:r>
                <a:endParaRPr lang="zh-TW" altLang="en-US" sz="1400" dirty="0">
                  <a:solidFill>
                    <a:schemeClr val="bg1"/>
                  </a:solidFill>
                  <a:latin typeface="Century Gothic" panose="020B0502020202020204"/>
                  <a:ea typeface="微軟正黑體" panose="020B0604030504040204" pitchFamily="34" charset="-120"/>
                </a:endParaRPr>
              </a:p>
              <a:p>
                <a:pPr algn="ctr"/>
                <a:endParaRPr lang="zh-TW" altLang="en-US" dirty="0"/>
              </a:p>
            </p:txBody>
          </p:sp>
          <p:sp>
            <p:nvSpPr>
              <p:cNvPr id="29" name="直角三角形 28">
                <a:extLst>
                  <a:ext uri="{FF2B5EF4-FFF2-40B4-BE49-F238E27FC236}">
                    <a16:creationId xmlns:a16="http://schemas.microsoft.com/office/drawing/2014/main" id="{CB595F4C-F523-70EA-C25F-4A5A9D848890}"/>
                  </a:ext>
                </a:extLst>
              </p:cNvPr>
              <p:cNvSpPr/>
              <p:nvPr/>
            </p:nvSpPr>
            <p:spPr>
              <a:xfrm rot="5400000">
                <a:off x="9786121" y="2907364"/>
                <a:ext cx="342278" cy="305535"/>
              </a:xfrm>
              <a:prstGeom prst="rtTriangl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FADF6BDB-33F4-5C9B-31DC-BA719DE5C8C4}"/>
                    </a:ext>
                  </a:extLst>
                </p:cNvPr>
                <p:cNvSpPr txBox="1"/>
                <p:nvPr/>
              </p:nvSpPr>
              <p:spPr>
                <a:xfrm>
                  <a:off x="2016335" y="4955751"/>
                  <a:ext cx="3115148" cy="369332"/>
                </a:xfrm>
                <a:prstGeom prst="rect">
                  <a:avLst/>
                </a:prstGeom>
                <a:noFill/>
              </p:spPr>
              <p:txBody>
                <a:bodyPr wrap="none" rtlCol="0">
                  <a:spAutoFit/>
                </a:bodyPr>
                <a:lstStyle/>
                <a:p>
                  <a:r>
                    <a:rPr lang="en-US" altLang="zh-TW" dirty="0"/>
                    <a:t>PPLN Type 0:</a:t>
                  </a:r>
                  <a:r>
                    <a:rPr lang="en-US" altLang="zh-TW" dirty="0">
                      <a:solidFill>
                        <a:srgbClr val="FF0000"/>
                      </a:solidFill>
                    </a:rPr>
                    <a:t> </a:t>
                  </a:r>
                  <a14:m>
                    <m:oMath xmlns:m="http://schemas.openxmlformats.org/officeDocument/2006/math">
                      <m:r>
                        <a:rPr lang="en-US" altLang="zh-TW" i="1">
                          <a:solidFill>
                            <a:srgbClr val="FF0000"/>
                          </a:solidFill>
                          <a:latin typeface="Cambria Math" panose="02040503050406030204" pitchFamily="18" charset="0"/>
                        </a:rPr>
                        <m:t>①</m:t>
                      </m:r>
                      <m:r>
                        <a:rPr lang="en-US" altLang="zh-TW" i="1">
                          <a:solidFill>
                            <a:srgbClr val="FF0000"/>
                          </a:solidFill>
                          <a:latin typeface="Cambria Math" panose="02040503050406030204" pitchFamily="18" charset="0"/>
                        </a:rPr>
                        <m:t> </m:t>
                      </m:r>
                    </m:oMath>
                  </a14:m>
                  <a:r>
                    <a:rPr lang="en-US" altLang="zh-TW" dirty="0">
                      <a:solidFill>
                        <a:srgbClr val="FF0000"/>
                      </a:solidFill>
                    </a:rPr>
                    <a:t>|VV⟩+</a:t>
                  </a:r>
                  <a:r>
                    <a:rPr lang="en-US" altLang="zh-TW" dirty="0">
                      <a:solidFill>
                        <a:srgbClr val="002060"/>
                      </a:solidFill>
                    </a:rPr>
                    <a:t> </a:t>
                  </a:r>
                  <a14:m>
                    <m:oMath xmlns:m="http://schemas.openxmlformats.org/officeDocument/2006/math">
                      <m:r>
                        <a:rPr lang="en-US" altLang="zh-TW" i="1">
                          <a:solidFill>
                            <a:srgbClr val="002060"/>
                          </a:solidFill>
                          <a:latin typeface="Cambria Math" panose="02040503050406030204" pitchFamily="18" charset="0"/>
                        </a:rPr>
                        <m:t>②</m:t>
                      </m:r>
                    </m:oMath>
                  </a14:m>
                  <a:r>
                    <a:rPr lang="zh-TW" altLang="en-US" dirty="0">
                      <a:solidFill>
                        <a:srgbClr val="002060"/>
                      </a:solidFill>
                    </a:rPr>
                    <a:t> </a:t>
                  </a:r>
                  <a:r>
                    <a:rPr lang="en-US" altLang="zh-TW" dirty="0">
                      <a:solidFill>
                        <a:srgbClr val="002060"/>
                      </a:solidFill>
                    </a:rPr>
                    <a:t>|HH⟩</a:t>
                  </a:r>
                  <a:endParaRPr lang="zh-TW" altLang="en-US" dirty="0">
                    <a:solidFill>
                      <a:srgbClr val="FF0000"/>
                    </a:solidFill>
                  </a:endParaRPr>
                </a:p>
              </p:txBody>
            </p:sp>
          </mc:Choice>
          <mc:Fallback xmlns="">
            <p:sp>
              <p:nvSpPr>
                <p:cNvPr id="19" name="文字方塊 18">
                  <a:extLst>
                    <a:ext uri="{FF2B5EF4-FFF2-40B4-BE49-F238E27FC236}">
                      <a16:creationId xmlns:a16="http://schemas.microsoft.com/office/drawing/2014/main" id="{FADF6BDB-33F4-5C9B-31DC-BA719DE5C8C4}"/>
                    </a:ext>
                  </a:extLst>
                </p:cNvPr>
                <p:cNvSpPr txBox="1">
                  <a:spLocks noRot="1" noChangeAspect="1" noMove="1" noResize="1" noEditPoints="1" noAdjustHandles="1" noChangeArrowheads="1" noChangeShapeType="1" noTextEdit="1"/>
                </p:cNvSpPr>
                <p:nvPr/>
              </p:nvSpPr>
              <p:spPr>
                <a:xfrm>
                  <a:off x="2016335" y="4955751"/>
                  <a:ext cx="3115148" cy="369332"/>
                </a:xfrm>
                <a:prstGeom prst="rect">
                  <a:avLst/>
                </a:prstGeom>
                <a:blipFill>
                  <a:blip r:embed="rId4"/>
                  <a:stretch>
                    <a:fillRect l="-1761" t="-11475" r="-1370" b="-24590"/>
                  </a:stretch>
                </a:blipFill>
              </p:spPr>
              <p:txBody>
                <a:bodyPr/>
                <a:lstStyle/>
                <a:p>
                  <a:r>
                    <a:rPr lang="zh-TW" altLang="en-US">
                      <a:noFill/>
                    </a:rPr>
                    <a:t> </a:t>
                  </a:r>
                </a:p>
              </p:txBody>
            </p:sp>
          </mc:Fallback>
        </mc:AlternateContent>
        <p:cxnSp>
          <p:nvCxnSpPr>
            <p:cNvPr id="20" name="直線單箭頭接點 19">
              <a:extLst>
                <a:ext uri="{FF2B5EF4-FFF2-40B4-BE49-F238E27FC236}">
                  <a16:creationId xmlns:a16="http://schemas.microsoft.com/office/drawing/2014/main" id="{5AB62257-6D91-99B8-BAC7-77D24CC0FC3F}"/>
                </a:ext>
              </a:extLst>
            </p:cNvPr>
            <p:cNvCxnSpPr>
              <a:cxnSpLocks/>
            </p:cNvCxnSpPr>
            <p:nvPr/>
          </p:nvCxnSpPr>
          <p:spPr>
            <a:xfrm flipH="1" flipV="1">
              <a:off x="2847766" y="3502592"/>
              <a:ext cx="417064" cy="153184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文字方塊 22">
              <a:extLst>
                <a:ext uri="{FF2B5EF4-FFF2-40B4-BE49-F238E27FC236}">
                  <a16:creationId xmlns:a16="http://schemas.microsoft.com/office/drawing/2014/main" id="{888716C1-182C-ADBE-F38D-B94D7691ABFC}"/>
                </a:ext>
              </a:extLst>
            </p:cNvPr>
            <p:cNvSpPr txBox="1"/>
            <p:nvPr/>
          </p:nvSpPr>
          <p:spPr>
            <a:xfrm>
              <a:off x="5541908" y="5379346"/>
              <a:ext cx="1130566" cy="369332"/>
            </a:xfrm>
            <a:prstGeom prst="rect">
              <a:avLst/>
            </a:prstGeom>
            <a:noFill/>
          </p:spPr>
          <p:txBody>
            <a:bodyPr wrap="none" rtlCol="0">
              <a:spAutoFit/>
            </a:bodyPr>
            <a:lstStyle/>
            <a:p>
              <a:r>
                <a:rPr lang="en-US" altLang="zh-TW" dirty="0"/>
                <a:t>collimator</a:t>
              </a:r>
              <a:endParaRPr lang="zh-TW" altLang="en-US" dirty="0"/>
            </a:p>
          </p:txBody>
        </p:sp>
      </p:grpSp>
      <p:sp>
        <p:nvSpPr>
          <p:cNvPr id="137" name="矩形 136">
            <a:extLst>
              <a:ext uri="{FF2B5EF4-FFF2-40B4-BE49-F238E27FC236}">
                <a16:creationId xmlns:a16="http://schemas.microsoft.com/office/drawing/2014/main" id="{DEEC7F7B-5E48-5A1B-43DB-94EB5A272A43}"/>
              </a:ext>
            </a:extLst>
          </p:cNvPr>
          <p:cNvSpPr/>
          <p:nvPr/>
        </p:nvSpPr>
        <p:spPr>
          <a:xfrm>
            <a:off x="6025607" y="2968120"/>
            <a:ext cx="113236" cy="81751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21" name="矩形 20">
            <a:extLst>
              <a:ext uri="{FF2B5EF4-FFF2-40B4-BE49-F238E27FC236}">
                <a16:creationId xmlns:a16="http://schemas.microsoft.com/office/drawing/2014/main" id="{AA9BD6EA-D66E-5A2A-EC69-2A36112AAE5D}"/>
              </a:ext>
            </a:extLst>
          </p:cNvPr>
          <p:cNvSpPr/>
          <p:nvPr/>
        </p:nvSpPr>
        <p:spPr>
          <a:xfrm rot="5400000">
            <a:off x="5534197" y="3547098"/>
            <a:ext cx="113236" cy="81751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22" name="文字方塊 21">
            <a:extLst>
              <a:ext uri="{FF2B5EF4-FFF2-40B4-BE49-F238E27FC236}">
                <a16:creationId xmlns:a16="http://schemas.microsoft.com/office/drawing/2014/main" id="{FC683620-28EC-E783-1511-5E74195D447E}"/>
              </a:ext>
            </a:extLst>
          </p:cNvPr>
          <p:cNvSpPr txBox="1"/>
          <p:nvPr/>
        </p:nvSpPr>
        <p:spPr>
          <a:xfrm>
            <a:off x="9008876" y="1332362"/>
            <a:ext cx="3183124" cy="307777"/>
          </a:xfrm>
          <a:prstGeom prst="rect">
            <a:avLst/>
          </a:prstGeom>
          <a:noFill/>
          <a:ln>
            <a:solidFill>
              <a:schemeClr val="bg2">
                <a:lumMod val="25000"/>
              </a:schemeClr>
            </a:solidFill>
          </a:ln>
        </p:spPr>
        <p:txBody>
          <a:bodyPr wrap="square">
            <a:spAutoFit/>
          </a:bodyPr>
          <a:lstStyle/>
          <a:p>
            <a:pPr algn="ctr"/>
            <a:r>
              <a:rPr lang="en-US" altLang="zh-TW" sz="1400" b="1" dirty="0">
                <a:latin typeface="+mj-lt"/>
                <a:cs typeface="Times New Roman" panose="02020603050405020304" pitchFamily="18" charset="0"/>
              </a:rPr>
              <a:t>Dual photon pair measure </a:t>
            </a:r>
            <a:r>
              <a:rPr lang="en-US" altLang="zh-TW" sz="1400" dirty="0">
                <a:solidFill>
                  <a:srgbClr val="002060"/>
                </a:solidFill>
              </a:rPr>
              <a:t>|HH⟩ </a:t>
            </a:r>
            <a:r>
              <a:rPr lang="en-US" altLang="zh-TW" sz="1400" b="1" dirty="0">
                <a:latin typeface="+mj-lt"/>
                <a:cs typeface="Times New Roman" panose="02020603050405020304" pitchFamily="18" charset="0"/>
              </a:rPr>
              <a:t>with 55V</a:t>
            </a:r>
          </a:p>
        </p:txBody>
      </p:sp>
      <p:grpSp>
        <p:nvGrpSpPr>
          <p:cNvPr id="24" name="群組 23">
            <a:extLst>
              <a:ext uri="{FF2B5EF4-FFF2-40B4-BE49-F238E27FC236}">
                <a16:creationId xmlns:a16="http://schemas.microsoft.com/office/drawing/2014/main" id="{05292257-CBEA-400C-3A17-223F5DCE2438}"/>
              </a:ext>
            </a:extLst>
          </p:cNvPr>
          <p:cNvGrpSpPr/>
          <p:nvPr/>
        </p:nvGrpSpPr>
        <p:grpSpPr>
          <a:xfrm>
            <a:off x="3324607" y="3238084"/>
            <a:ext cx="702111" cy="252443"/>
            <a:chOff x="5867116" y="4112845"/>
            <a:chExt cx="702111" cy="252443"/>
          </a:xfrm>
        </p:grpSpPr>
        <p:cxnSp>
          <p:nvCxnSpPr>
            <p:cNvPr id="26" name="直線單箭頭接點 25">
              <a:extLst>
                <a:ext uri="{FF2B5EF4-FFF2-40B4-BE49-F238E27FC236}">
                  <a16:creationId xmlns:a16="http://schemas.microsoft.com/office/drawing/2014/main" id="{F24F3300-BF1D-2157-D2FA-AC41D37B7AB9}"/>
                </a:ext>
              </a:extLst>
            </p:cNvPr>
            <p:cNvCxnSpPr>
              <a:cxnSpLocks/>
            </p:cNvCxnSpPr>
            <p:nvPr/>
          </p:nvCxnSpPr>
          <p:spPr>
            <a:xfrm flipH="1">
              <a:off x="5867116" y="4241508"/>
              <a:ext cx="702111" cy="12322"/>
            </a:xfrm>
            <a:prstGeom prst="straightConnector1">
              <a:avLst/>
            </a:prstGeom>
            <a:solidFill>
              <a:srgbClr val="00B0F0"/>
            </a:solidFill>
            <a:ln w="381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橢圓 26">
              <a:extLst>
                <a:ext uri="{FF2B5EF4-FFF2-40B4-BE49-F238E27FC236}">
                  <a16:creationId xmlns:a16="http://schemas.microsoft.com/office/drawing/2014/main" id="{27545400-ED36-D677-C4BF-39317763508A}"/>
                </a:ext>
              </a:extLst>
            </p:cNvPr>
            <p:cNvSpPr/>
            <p:nvPr/>
          </p:nvSpPr>
          <p:spPr>
            <a:xfrm>
              <a:off x="6084353" y="4112845"/>
              <a:ext cx="265438" cy="252443"/>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a:t>H</a:t>
              </a:r>
              <a:endParaRPr lang="zh-TW" altLang="en-US" sz="1400" dirty="0"/>
            </a:p>
          </p:txBody>
        </p:sp>
      </p:grpSp>
      <p:grpSp>
        <p:nvGrpSpPr>
          <p:cNvPr id="136" name="群組 135">
            <a:extLst>
              <a:ext uri="{FF2B5EF4-FFF2-40B4-BE49-F238E27FC236}">
                <a16:creationId xmlns:a16="http://schemas.microsoft.com/office/drawing/2014/main" id="{F10B4552-53CF-AC88-74DC-B1D2B67F7780}"/>
              </a:ext>
            </a:extLst>
          </p:cNvPr>
          <p:cNvGrpSpPr/>
          <p:nvPr/>
        </p:nvGrpSpPr>
        <p:grpSpPr>
          <a:xfrm>
            <a:off x="3324786" y="3240112"/>
            <a:ext cx="702111" cy="252443"/>
            <a:chOff x="5867116" y="4112845"/>
            <a:chExt cx="702111" cy="252443"/>
          </a:xfrm>
        </p:grpSpPr>
        <p:cxnSp>
          <p:nvCxnSpPr>
            <p:cNvPr id="138" name="直線單箭頭接點 137">
              <a:extLst>
                <a:ext uri="{FF2B5EF4-FFF2-40B4-BE49-F238E27FC236}">
                  <a16:creationId xmlns:a16="http://schemas.microsoft.com/office/drawing/2014/main" id="{D2E76075-7B21-9A7D-B4E7-773A1DB3A9B1}"/>
                </a:ext>
              </a:extLst>
            </p:cNvPr>
            <p:cNvCxnSpPr>
              <a:cxnSpLocks/>
            </p:cNvCxnSpPr>
            <p:nvPr/>
          </p:nvCxnSpPr>
          <p:spPr>
            <a:xfrm flipH="1">
              <a:off x="5867116" y="4241508"/>
              <a:ext cx="702111" cy="12322"/>
            </a:xfrm>
            <a:prstGeom prst="straightConnector1">
              <a:avLst/>
            </a:prstGeom>
            <a:solidFill>
              <a:srgbClr val="00B0F0"/>
            </a:solidFill>
            <a:ln w="3810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9" name="橢圓 138">
              <a:extLst>
                <a:ext uri="{FF2B5EF4-FFF2-40B4-BE49-F238E27FC236}">
                  <a16:creationId xmlns:a16="http://schemas.microsoft.com/office/drawing/2014/main" id="{E56A6459-3D9B-075E-76C8-B10A1BEB1B98}"/>
                </a:ext>
              </a:extLst>
            </p:cNvPr>
            <p:cNvSpPr/>
            <p:nvPr/>
          </p:nvSpPr>
          <p:spPr>
            <a:xfrm>
              <a:off x="6084353" y="4112845"/>
              <a:ext cx="265438" cy="252443"/>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a:t>H</a:t>
              </a:r>
              <a:endParaRPr lang="zh-TW" altLang="en-US" sz="1400" dirty="0"/>
            </a:p>
          </p:txBody>
        </p:sp>
      </p:grpSp>
      <p:pic>
        <p:nvPicPr>
          <p:cNvPr id="25" name="圖片 24">
            <a:extLst>
              <a:ext uri="{FF2B5EF4-FFF2-40B4-BE49-F238E27FC236}">
                <a16:creationId xmlns:a16="http://schemas.microsoft.com/office/drawing/2014/main" id="{0C6BA61C-FFE9-A6E7-7D31-92D6A845CD10}"/>
              </a:ext>
            </a:extLst>
          </p:cNvPr>
          <p:cNvPicPr>
            <a:picLocks noChangeAspect="1"/>
          </p:cNvPicPr>
          <p:nvPr/>
        </p:nvPicPr>
        <p:blipFill>
          <a:blip r:embed="rId5"/>
          <a:stretch>
            <a:fillRect/>
          </a:stretch>
        </p:blipFill>
        <p:spPr>
          <a:xfrm>
            <a:off x="9070130" y="1700931"/>
            <a:ext cx="2996818" cy="2362272"/>
          </a:xfrm>
          <a:prstGeom prst="rect">
            <a:avLst/>
          </a:prstGeom>
        </p:spPr>
      </p:pic>
      <p:sp>
        <p:nvSpPr>
          <p:cNvPr id="140" name="文字方塊 139">
            <a:extLst>
              <a:ext uri="{FF2B5EF4-FFF2-40B4-BE49-F238E27FC236}">
                <a16:creationId xmlns:a16="http://schemas.microsoft.com/office/drawing/2014/main" id="{DE629960-AE4D-7755-3D4B-F9B854331343}"/>
              </a:ext>
            </a:extLst>
          </p:cNvPr>
          <p:cNvSpPr txBox="1"/>
          <p:nvPr/>
        </p:nvSpPr>
        <p:spPr>
          <a:xfrm>
            <a:off x="2036861" y="6398450"/>
            <a:ext cx="1632948" cy="276999"/>
          </a:xfrm>
          <a:prstGeom prst="rect">
            <a:avLst/>
          </a:prstGeom>
          <a:noFill/>
        </p:spPr>
        <p:txBody>
          <a:bodyPr wrap="none" rtlCol="0">
            <a:spAutoFit/>
          </a:bodyPr>
          <a:lstStyle/>
          <a:p>
            <a:pPr lvl="0" defTabSz="914400">
              <a:defRPr/>
            </a:pPr>
            <a:r>
              <a:rPr lang="en-US" altLang="zh-TW" sz="1200" b="1" u="sng" dirty="0">
                <a:solidFill>
                  <a:prstClr val="black"/>
                </a:solidFill>
              </a:rPr>
              <a:t>Plus 55V </a:t>
            </a:r>
            <a:r>
              <a:rPr lang="en-US" altLang="zh-TW" sz="1200" b="1" dirty="0">
                <a:solidFill>
                  <a:prstClr val="black"/>
                </a:solidFill>
              </a:rPr>
              <a:t>Power supply</a:t>
            </a:r>
          </a:p>
        </p:txBody>
      </p:sp>
      <p:grpSp>
        <p:nvGrpSpPr>
          <p:cNvPr id="142" name="群組 141">
            <a:extLst>
              <a:ext uri="{FF2B5EF4-FFF2-40B4-BE49-F238E27FC236}">
                <a16:creationId xmlns:a16="http://schemas.microsoft.com/office/drawing/2014/main" id="{4D72CAD9-E07E-F5E5-EBF4-1C0350D6A4F9}"/>
              </a:ext>
            </a:extLst>
          </p:cNvPr>
          <p:cNvGrpSpPr/>
          <p:nvPr/>
        </p:nvGrpSpPr>
        <p:grpSpPr>
          <a:xfrm rot="2909183">
            <a:off x="1178938" y="3745723"/>
            <a:ext cx="1895236" cy="1470239"/>
            <a:chOff x="2194124" y="3328156"/>
            <a:chExt cx="2873565" cy="2368333"/>
          </a:xfrm>
        </p:grpSpPr>
        <p:cxnSp>
          <p:nvCxnSpPr>
            <p:cNvPr id="151" name="直線接點 150">
              <a:extLst>
                <a:ext uri="{FF2B5EF4-FFF2-40B4-BE49-F238E27FC236}">
                  <a16:creationId xmlns:a16="http://schemas.microsoft.com/office/drawing/2014/main" id="{25183EFF-02AB-25B5-BDF1-6D45B8C71ED1}"/>
                </a:ext>
              </a:extLst>
            </p:cNvPr>
            <p:cNvCxnSpPr>
              <a:cxnSpLocks/>
            </p:cNvCxnSpPr>
            <p:nvPr/>
          </p:nvCxnSpPr>
          <p:spPr>
            <a:xfrm flipH="1" flipV="1">
              <a:off x="4570881" y="5207908"/>
              <a:ext cx="496808" cy="488581"/>
            </a:xfrm>
            <a:prstGeom prst="line">
              <a:avLst/>
            </a:prstGeom>
            <a:ln w="38100"/>
          </p:spPr>
          <p:style>
            <a:lnRef idx="1">
              <a:schemeClr val="dk1"/>
            </a:lnRef>
            <a:fillRef idx="0">
              <a:schemeClr val="dk1"/>
            </a:fillRef>
            <a:effectRef idx="0">
              <a:schemeClr val="dk1"/>
            </a:effectRef>
            <a:fontRef idx="minor">
              <a:schemeClr val="tx1"/>
            </a:fontRef>
          </p:style>
        </p:cxnSp>
        <p:cxnSp>
          <p:nvCxnSpPr>
            <p:cNvPr id="152" name="直線接點 151">
              <a:extLst>
                <a:ext uri="{FF2B5EF4-FFF2-40B4-BE49-F238E27FC236}">
                  <a16:creationId xmlns:a16="http://schemas.microsoft.com/office/drawing/2014/main" id="{07A48D23-14D5-AD56-E126-64580BD86C83}"/>
                </a:ext>
              </a:extLst>
            </p:cNvPr>
            <p:cNvCxnSpPr>
              <a:cxnSpLocks/>
            </p:cNvCxnSpPr>
            <p:nvPr/>
          </p:nvCxnSpPr>
          <p:spPr>
            <a:xfrm>
              <a:off x="2194124" y="3411609"/>
              <a:ext cx="2236376" cy="168570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3" name="直線接點 152">
              <a:extLst>
                <a:ext uri="{FF2B5EF4-FFF2-40B4-BE49-F238E27FC236}">
                  <a16:creationId xmlns:a16="http://schemas.microsoft.com/office/drawing/2014/main" id="{C7E55A0F-21F5-EE04-9C0B-ADABCE042C7E}"/>
                </a:ext>
              </a:extLst>
            </p:cNvPr>
            <p:cNvCxnSpPr>
              <a:cxnSpLocks/>
            </p:cNvCxnSpPr>
            <p:nvPr/>
          </p:nvCxnSpPr>
          <p:spPr>
            <a:xfrm>
              <a:off x="2282573" y="3328156"/>
              <a:ext cx="2158857" cy="1769162"/>
            </a:xfrm>
            <a:prstGeom prst="line">
              <a:avLst/>
            </a:prstGeom>
          </p:spPr>
          <p:style>
            <a:lnRef idx="1">
              <a:schemeClr val="dk1"/>
            </a:lnRef>
            <a:fillRef idx="0">
              <a:schemeClr val="dk1"/>
            </a:fillRef>
            <a:effectRef idx="0">
              <a:schemeClr val="dk1"/>
            </a:effectRef>
            <a:fontRef idx="minor">
              <a:schemeClr val="tx1"/>
            </a:fontRef>
          </p:style>
        </p:cxnSp>
        <p:sp>
          <p:nvSpPr>
            <p:cNvPr id="154" name="矩形 153">
              <a:extLst>
                <a:ext uri="{FF2B5EF4-FFF2-40B4-BE49-F238E27FC236}">
                  <a16:creationId xmlns:a16="http://schemas.microsoft.com/office/drawing/2014/main" id="{3A06B264-55CA-00A2-A19F-9357E49416DF}"/>
                </a:ext>
              </a:extLst>
            </p:cNvPr>
            <p:cNvSpPr/>
            <p:nvPr/>
          </p:nvSpPr>
          <p:spPr>
            <a:xfrm rot="2503572">
              <a:off x="4348693" y="5105512"/>
              <a:ext cx="257738" cy="579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nvGrpSpPr>
          <p:cNvPr id="143" name="群組 142">
            <a:extLst>
              <a:ext uri="{FF2B5EF4-FFF2-40B4-BE49-F238E27FC236}">
                <a16:creationId xmlns:a16="http://schemas.microsoft.com/office/drawing/2014/main" id="{0DAE78FF-F0E3-7FBB-2C56-3637D70EC3B0}"/>
              </a:ext>
            </a:extLst>
          </p:cNvPr>
          <p:cNvGrpSpPr/>
          <p:nvPr/>
        </p:nvGrpSpPr>
        <p:grpSpPr>
          <a:xfrm>
            <a:off x="1965910" y="5596290"/>
            <a:ext cx="1744587" cy="723088"/>
            <a:chOff x="7134306" y="2681776"/>
            <a:chExt cx="1744587" cy="723088"/>
          </a:xfrm>
        </p:grpSpPr>
        <p:sp>
          <p:nvSpPr>
            <p:cNvPr id="144" name="矩形 143">
              <a:extLst>
                <a:ext uri="{FF2B5EF4-FFF2-40B4-BE49-F238E27FC236}">
                  <a16:creationId xmlns:a16="http://schemas.microsoft.com/office/drawing/2014/main" id="{08536B5F-9192-C184-8040-F6CCC44109D8}"/>
                </a:ext>
              </a:extLst>
            </p:cNvPr>
            <p:cNvSpPr/>
            <p:nvPr/>
          </p:nvSpPr>
          <p:spPr>
            <a:xfrm>
              <a:off x="7134306" y="2681776"/>
              <a:ext cx="1744587" cy="723088"/>
            </a:xfrm>
            <a:prstGeom prst="rect">
              <a:avLst/>
            </a:prstGeom>
            <a:solidFill>
              <a:schemeClr val="bg2">
                <a:lumMod val="50000"/>
              </a:scheme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145" name="加號 144">
              <a:extLst>
                <a:ext uri="{FF2B5EF4-FFF2-40B4-BE49-F238E27FC236}">
                  <a16:creationId xmlns:a16="http://schemas.microsoft.com/office/drawing/2014/main" id="{D7FD6E0D-ED25-C2D0-9E9E-5093864A38F1}"/>
                </a:ext>
              </a:extLst>
            </p:cNvPr>
            <p:cNvSpPr/>
            <p:nvPr/>
          </p:nvSpPr>
          <p:spPr>
            <a:xfrm>
              <a:off x="7329312" y="3125217"/>
              <a:ext cx="300937" cy="258454"/>
            </a:xfrm>
            <a:prstGeom prst="mathPlus">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6" name="減號 145">
              <a:extLst>
                <a:ext uri="{FF2B5EF4-FFF2-40B4-BE49-F238E27FC236}">
                  <a16:creationId xmlns:a16="http://schemas.microsoft.com/office/drawing/2014/main" id="{915893D8-C80A-0E59-5CF3-CAD90EC85A23}"/>
                </a:ext>
              </a:extLst>
            </p:cNvPr>
            <p:cNvSpPr/>
            <p:nvPr/>
          </p:nvSpPr>
          <p:spPr>
            <a:xfrm>
              <a:off x="7711004" y="3160099"/>
              <a:ext cx="300937" cy="168563"/>
            </a:xfrm>
            <a:prstGeom prst="mathMinu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7" name="加號 146">
              <a:extLst>
                <a:ext uri="{FF2B5EF4-FFF2-40B4-BE49-F238E27FC236}">
                  <a16:creationId xmlns:a16="http://schemas.microsoft.com/office/drawing/2014/main" id="{6A137E10-CC38-CD49-B46F-C2A04EB53FB5}"/>
                </a:ext>
              </a:extLst>
            </p:cNvPr>
            <p:cNvSpPr/>
            <p:nvPr/>
          </p:nvSpPr>
          <p:spPr>
            <a:xfrm>
              <a:off x="8071871" y="3125217"/>
              <a:ext cx="300937" cy="258454"/>
            </a:xfrm>
            <a:prstGeom prst="mathPlus">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8" name="減號 147">
              <a:extLst>
                <a:ext uri="{FF2B5EF4-FFF2-40B4-BE49-F238E27FC236}">
                  <a16:creationId xmlns:a16="http://schemas.microsoft.com/office/drawing/2014/main" id="{52B7864A-1370-D5B5-955B-F86ED2E70124}"/>
                </a:ext>
              </a:extLst>
            </p:cNvPr>
            <p:cNvSpPr/>
            <p:nvPr/>
          </p:nvSpPr>
          <p:spPr>
            <a:xfrm>
              <a:off x="8453563" y="3160099"/>
              <a:ext cx="300937" cy="168563"/>
            </a:xfrm>
            <a:prstGeom prst="mathMinu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9" name="矩形 148">
              <a:extLst>
                <a:ext uri="{FF2B5EF4-FFF2-40B4-BE49-F238E27FC236}">
                  <a16:creationId xmlns:a16="http://schemas.microsoft.com/office/drawing/2014/main" id="{5CED6FFC-BD84-F30A-BA45-D778C7DF416E}"/>
                </a:ext>
              </a:extLst>
            </p:cNvPr>
            <p:cNvSpPr/>
            <p:nvPr/>
          </p:nvSpPr>
          <p:spPr>
            <a:xfrm>
              <a:off x="7391801" y="2761937"/>
              <a:ext cx="476895" cy="32883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150" name="矩形 149">
              <a:extLst>
                <a:ext uri="{FF2B5EF4-FFF2-40B4-BE49-F238E27FC236}">
                  <a16:creationId xmlns:a16="http://schemas.microsoft.com/office/drawing/2014/main" id="{4B716E39-0295-51A1-9E48-E7554CA31A0F}"/>
                </a:ext>
              </a:extLst>
            </p:cNvPr>
            <p:cNvSpPr/>
            <p:nvPr/>
          </p:nvSpPr>
          <p:spPr>
            <a:xfrm>
              <a:off x="8222339" y="2747188"/>
              <a:ext cx="476895" cy="32883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3735857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par>
                                <p:cTn id="9" presetID="2" presetClass="exit" presetSubtype="1" fill="hold" grpId="0" nodeType="withEffect">
                                  <p:stCondLst>
                                    <p:cond delay="0"/>
                                  </p:stCondLst>
                                  <p:childTnLst>
                                    <p:anim calcmode="lin" valueType="num">
                                      <p:cBhvr additive="base">
                                        <p:cTn id="10" dur="500"/>
                                        <p:tgtEl>
                                          <p:spTgt spid="137"/>
                                        </p:tgtEl>
                                        <p:attrNameLst>
                                          <p:attrName>ppt_x</p:attrName>
                                        </p:attrNameLst>
                                      </p:cBhvr>
                                      <p:tavLst>
                                        <p:tav tm="0">
                                          <p:val>
                                            <p:strVal val="ppt_x"/>
                                          </p:val>
                                        </p:tav>
                                        <p:tav tm="100000">
                                          <p:val>
                                            <p:strVal val="ppt_x"/>
                                          </p:val>
                                        </p:tav>
                                      </p:tavLst>
                                    </p:anim>
                                    <p:anim calcmode="lin" valueType="num">
                                      <p:cBhvr additive="base">
                                        <p:cTn id="11" dur="500"/>
                                        <p:tgtEl>
                                          <p:spTgt spid="137"/>
                                        </p:tgtEl>
                                        <p:attrNameLst>
                                          <p:attrName>ppt_y</p:attrName>
                                        </p:attrNameLst>
                                      </p:cBhvr>
                                      <p:tavLst>
                                        <p:tav tm="0">
                                          <p:val>
                                            <p:strVal val="ppt_y"/>
                                          </p:val>
                                        </p:tav>
                                        <p:tav tm="100000">
                                          <p:val>
                                            <p:strVal val="0-ppt_h/2"/>
                                          </p:val>
                                        </p:tav>
                                      </p:tavLst>
                                    </p:anim>
                                    <p:set>
                                      <p:cBhvr>
                                        <p:cTn id="12" dur="1" fill="hold">
                                          <p:stCondLst>
                                            <p:cond delay="499"/>
                                          </p:stCondLst>
                                        </p:cTn>
                                        <p:tgtEl>
                                          <p:spTgt spid="13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0" presetClass="path" presetSubtype="0" accel="50000" decel="50000" fill="hold" nodeType="clickEffect">
                                  <p:stCondLst>
                                    <p:cond delay="0"/>
                                  </p:stCondLst>
                                  <p:childTnLst>
                                    <p:animMotion origin="layout" path="M -0.00052 0.00046 L -0.00052 0.00046 C 0.0138 -0.00116 0.02643 -0.00255 0.04115 -0.00301 L 0.16276 -0.00463 C 0.16589 -0.00532 0.16901 -0.00648 0.17227 -0.00625 C 0.23021 -0.00232 0.19349 -0.0044 0.22344 0.00208 C 0.22722 0.00301 0.23112 0.00324 0.2349 0.0037 L 0.26237 0.0088 C 0.26211 0.01343 0.26185 0.01782 0.26146 0.02245 C 0.26107 0.02662 0.26029 0.03009 0.25964 0.03426 C 0.2599 0.05324 0.25091 0.08287 0.26055 0.09167 C 0.27943 0.1088 0.303 0.09213 0.32409 0.09329 C 0.33529 0.09398 0.34636 0.0956 0.35742 0.09676 C 0.35938 0.10023 0.36042 0.10255 0.36302 0.10509 C 0.36927 0.11134 0.3625 0.10139 0.36875 0.11018 C 0.37149 0.11412 0.37005 0.11343 0.37253 0.11852 C 0.37865 0.13171 0.37266 0.1162 0.37735 0.1287 C 0.37761 0.13055 0.37826 0.13194 0.37826 0.1338 C 0.37826 0.14375 0.37735 0.15023 0.3763 0.15926 C 0.37526 0.19954 0.37839 0.18403 0.37162 0.2081 C 0.36927 0.21643 0.3711 0.21412 0.36693 0.21667 C 0.36628 0.21829 0.36589 0.22037 0.36498 0.22153 C 0.36393 0.22315 0.36237 0.22384 0.3612 0.225 C 0.36016 0.22593 0.35925 0.22708 0.35834 0.22847 C 0.35156 0.23796 0.36237 0.22477 0.35352 0.23518 C 0.35261 0.23796 0.35156 0.24074 0.35078 0.24352 C 0.34675 0.25764 0.35326 0.23912 0.34792 0.2537 C 0.34727 0.2581 0.34597 0.26643 0.34597 0.2706 C 0.34597 0.32731 0.34401 0.29375 0.34974 0.31968 C 0.35026 0.32176 0.35026 0.3243 0.35078 0.32639 C 0.35222 0.33241 0.35508 0.33495 0.35834 0.33819 C 0.35925 0.33912 0.36029 0.33912 0.3612 0.33981 C 0.37904 0.35208 0.36354 0.34329 0.3763 0.34838 C 0.37943 0.34954 0.38073 0.35185 0.38399 0.35347 C 0.38737 0.35509 0.39675 0.35625 0.39909 0.35671 C 0.40013 0.35741 0.40104 0.3581 0.40196 0.35833 C 0.41107 0.3625 0.4181 0.36088 0.42865 0.3618 C 0.43268 0.3625 0.44128 0.36528 0.44571 0.3618 C 0.44623 0.36134 0.44974 0.35162 0.45039 0.35 C 0.45078 0.34768 0.45065 0.34514 0.45143 0.34329 C 0.45378 0.33657 0.45716 0.33333 0.46081 0.32963 C 0.46211 0.32847 0.46328 0.32708 0.46472 0.32639 C 0.4668 0.32523 0.46914 0.32523 0.47136 0.32454 C 0.48242 0.32523 0.49349 0.32546 0.50456 0.32639 C 0.50651 0.32639 0.50834 0.32755 0.51029 0.32801 C 0.5125 0.3287 0.51472 0.32917 0.51693 0.32963 C 0.55078 0.32801 0.53906 0.32801 0.55209 0.32801 " pathEditMode="relative" ptsTypes="AAAAAAAAAAAAAAAAAAAAAAAAAAAAAAAAAAAAAAAAAAAAAAA">
                                      <p:cBhvr>
                                        <p:cTn id="16" dur="4000" fill="hold"/>
                                        <p:tgtEl>
                                          <p:spTgt spid="24"/>
                                        </p:tgtEl>
                                        <p:attrNameLst>
                                          <p:attrName>ppt_x</p:attrName>
                                          <p:attrName>ppt_y</p:attrName>
                                        </p:attrNameLst>
                                      </p:cBhvr>
                                    </p:animMotion>
                                  </p:childTnLst>
                                </p:cTn>
                              </p:par>
                              <p:par>
                                <p:cTn id="17" presetID="0" presetClass="path" presetSubtype="0" accel="50000" decel="50000" fill="hold" nodeType="withEffect">
                                  <p:stCondLst>
                                    <p:cond delay="0"/>
                                  </p:stCondLst>
                                  <p:childTnLst>
                                    <p:animMotion origin="layout" path="M -0.00052 -0.00139 L -0.00052 -0.00139 L 0.07162 0.00023 C 0.07318 0.00046 0.07474 0.00208 0.0763 0.00208 C 0.08555 0.00208 0.09466 0.00093 0.10391 0.00023 C 0.11224 -0.00463 0.10755 -0.00278 0.1181 -0.00486 C 0.30521 -7.40741E-7 0.21224 -0.04792 0.25287 0.0037 C 0.25378 0.00486 0.25482 0.00602 0.25573 0.00695 C 0.25612 0.02338 0.25612 0.03958 0.25677 0.05602 C 0.25677 0.05787 0.25742 0.05926 0.25768 0.06111 C 0.25808 0.06435 0.25834 0.06782 0.2586 0.07107 C 0.25899 0.07616 0.2586 0.08148 0.25951 0.08634 C 0.2599 0.0882 0.26146 0.08843 0.26237 0.08982 C 0.2642 0.09236 0.26459 0.09491 0.26719 0.09653 C 0.26901 0.09745 0.27097 0.09769 0.27279 0.09815 C 0.27826 0.09769 0.2836 0.09722 0.28893 0.09653 C 0.29154 0.09607 0.29414 0.09583 0.29662 0.09491 C 0.29857 0.09398 0.30235 0.09144 0.30235 0.09144 L 0.33841 0.09306 C 0.34193 0.09329 0.34453 0.09514 0.34792 0.09653 C 0.34948 0.09699 0.35104 0.09769 0.35261 0.09815 C 0.3642 0.10833 0.35873 0.10486 0.36875 0.10995 C 0.3694 0.11111 0.37018 0.11204 0.37071 0.11343 C 0.37188 0.11667 0.37292 0.1213 0.37344 0.12523 C 0.37383 0.12732 0.37409 0.12963 0.37448 0.13195 C 0.37474 0.13357 0.37513 0.13519 0.37539 0.13704 C 0.37513 0.15208 0.37474 0.16736 0.37448 0.18264 C 0.37422 0.19375 0.37435 0.20509 0.37344 0.2162 C 0.37331 0.21782 0.37227 0.21852 0.37162 0.21968 C 0.36927 0.23171 0.37253 0.21806 0.36302 0.23495 L 0.35729 0.24491 C 0.35638 0.24676 0.35534 0.24815 0.35456 0.25 L 0.3517 0.25671 C 0.3513 0.25903 0.35039 0.2662 0.34974 0.26852 C 0.34922 0.27037 0.34844 0.27199 0.34792 0.27361 C 0.34584 0.2882 0.34636 0.28171 0.34792 0.30741 C 0.34792 0.30926 0.34831 0.31088 0.34883 0.3125 C 0.34922 0.31389 0.35026 0.31458 0.35065 0.31574 C 0.35143 0.31782 0.3517 0.3206 0.35261 0.32269 C 0.35365 0.32477 0.35534 0.3257 0.35638 0.32755 C 0.35925 0.33264 0.35729 0.33357 0.3612 0.33773 C 0.36732 0.34445 0.36667 0.34167 0.37253 0.34445 C 0.37448 0.34537 0.3763 0.34699 0.37826 0.34792 C 0.38386 0.35046 0.38985 0.35139 0.39531 0.35463 C 0.39623 0.35532 0.39714 0.35625 0.39818 0.35625 C 0.40287 0.35718 0.40768 0.35741 0.41237 0.3581 C 0.43802 0.37176 0.41042 0.35764 0.42761 0.36482 C 0.42982 0.36574 0.43203 0.36759 0.43425 0.36806 C 0.43802 0.36921 0.4418 0.36921 0.44571 0.36991 C 0.44688 0.37037 0.44831 0.37037 0.44948 0.37153 C 0.45026 0.37222 0.45091 0.37338 0.4513 0.375 C 0.45274 0.38056 0.45326 0.39005 0.45612 0.39514 C 0.45716 0.39722 0.45847 0.39907 0.4599 0.40023 C 0.46953 0.40787 0.47318 0.40741 0.4836 0.41042 C 0.49037 0.41435 0.48685 0.41273 0.49974 0.41366 C 0.51016 0.41458 0.52071 0.41482 0.53112 0.41551 C 0.53737 0.41482 0.54375 0.41528 0.55013 0.41366 C 0.55117 0.41343 0.553 0.41042 0.553 0.41042 " pathEditMode="relative" ptsTypes="AAAAAAAAAAAAAAAAAAAAAAAAAAAAAAAAAAAAAAAAAAAAAAAAAAAAAAAAAA">
                                      <p:cBhvr>
                                        <p:cTn id="18" dur="4000" fill="hold"/>
                                        <p:tgtEl>
                                          <p:spTgt spid="136"/>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circle(in)">
                                      <p:cBhvr>
                                        <p:cTn id="23" dur="1000"/>
                                        <p:tgtEl>
                                          <p:spTgt spid="22"/>
                                        </p:tgtEl>
                                      </p:cBhvr>
                                    </p:animEffect>
                                  </p:childTnLst>
                                </p:cTn>
                              </p:par>
                              <p:par>
                                <p:cTn id="24" presetID="6" presetClass="entr" presetSubtype="16"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circle(in)">
                                      <p:cBhvr>
                                        <p:cTn id="26"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 grpId="0" animBg="1"/>
      <p:bldP spid="21" grpId="0" animBg="1"/>
      <p:bldP spid="22"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Autofit/>
          </a:bodyPr>
          <a:lstStyle/>
          <a:p>
            <a:r>
              <a:rPr lang="en-US" altLang="zh-TW" sz="3200" b="1" dirty="0">
                <a:latin typeface="Times New Roman" panose="02020603050405020304" pitchFamily="18" charset="0"/>
                <a:cs typeface="Times New Roman" panose="02020603050405020304" pitchFamily="18" charset="0"/>
              </a:rPr>
              <a:t>Dual orthogonal-polarization photon-pair measurement</a:t>
            </a: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1663407" y="6437815"/>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56</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sp>
        <p:nvSpPr>
          <p:cNvPr id="7" name="文字方塊 6">
            <a:extLst>
              <a:ext uri="{FF2B5EF4-FFF2-40B4-BE49-F238E27FC236}">
                <a16:creationId xmlns:a16="http://schemas.microsoft.com/office/drawing/2014/main" id="{3982F6D4-41BA-FEB6-3B76-EBF487518689}"/>
              </a:ext>
            </a:extLst>
          </p:cNvPr>
          <p:cNvSpPr txBox="1"/>
          <p:nvPr/>
        </p:nvSpPr>
        <p:spPr>
          <a:xfrm>
            <a:off x="7459329" y="1319304"/>
            <a:ext cx="3045001" cy="338554"/>
          </a:xfrm>
          <a:prstGeom prst="rect">
            <a:avLst/>
          </a:prstGeom>
          <a:noFill/>
          <a:ln>
            <a:solidFill>
              <a:schemeClr val="tx1"/>
            </a:solidFill>
          </a:ln>
        </p:spPr>
        <p:txBody>
          <a:bodyPr wrap="square" rtlCol="0">
            <a:spAutoFit/>
          </a:bodyPr>
          <a:lstStyle/>
          <a:p>
            <a:r>
              <a:rPr lang="en-US" altLang="zh-TW" sz="1600" dirty="0"/>
              <a:t>When EOPMC at 0V </a:t>
            </a:r>
            <a:r>
              <a:rPr lang="en-US" altLang="zh-TW" sz="1600" dirty="0">
                <a:solidFill>
                  <a:srgbClr val="FF0000"/>
                </a:solidFill>
              </a:rPr>
              <a:t>|VV</a:t>
            </a:r>
            <a:r>
              <a:rPr lang="zh-TW" altLang="en-US" sz="1600" dirty="0">
                <a:solidFill>
                  <a:srgbClr val="002060"/>
                </a:solidFill>
              </a:rPr>
              <a:t> </a:t>
            </a:r>
            <a:r>
              <a:rPr lang="en-US" altLang="zh-TW" sz="1600" dirty="0">
                <a:solidFill>
                  <a:srgbClr val="FF0000"/>
                </a:solidFill>
              </a:rPr>
              <a:t>⟩</a:t>
            </a:r>
            <a:r>
              <a:rPr lang="en-US" altLang="zh-TW" sz="1600" dirty="0"/>
              <a:t>&amp;</a:t>
            </a:r>
            <a:r>
              <a:rPr lang="en-US" altLang="zh-TW" sz="1600" dirty="0">
                <a:solidFill>
                  <a:srgbClr val="002060"/>
                </a:solidFill>
              </a:rPr>
              <a:t>|HH⟩</a:t>
            </a:r>
            <a:r>
              <a:rPr lang="en-US" altLang="zh-TW" sz="1600" dirty="0"/>
              <a:t> </a:t>
            </a:r>
            <a:endParaRPr lang="zh-TW" altLang="en-US" sz="1600" dirty="0"/>
          </a:p>
        </p:txBody>
      </p:sp>
      <p:sp>
        <p:nvSpPr>
          <p:cNvPr id="9" name="文字方塊 8">
            <a:extLst>
              <a:ext uri="{FF2B5EF4-FFF2-40B4-BE49-F238E27FC236}">
                <a16:creationId xmlns:a16="http://schemas.microsoft.com/office/drawing/2014/main" id="{FC0683BB-2DEB-402C-6FED-00CB9BE3F77B}"/>
              </a:ext>
            </a:extLst>
          </p:cNvPr>
          <p:cNvSpPr txBox="1"/>
          <p:nvPr/>
        </p:nvSpPr>
        <p:spPr>
          <a:xfrm>
            <a:off x="7459329" y="4057266"/>
            <a:ext cx="3045001" cy="338554"/>
          </a:xfrm>
          <a:prstGeom prst="rect">
            <a:avLst/>
          </a:prstGeom>
          <a:noFill/>
          <a:ln>
            <a:solidFill>
              <a:schemeClr val="tx1"/>
            </a:solidFill>
          </a:ln>
        </p:spPr>
        <p:txBody>
          <a:bodyPr wrap="none" rtlCol="0">
            <a:spAutoFit/>
          </a:bodyPr>
          <a:lstStyle/>
          <a:p>
            <a:r>
              <a:rPr lang="en-US" altLang="zh-TW" sz="1600" dirty="0"/>
              <a:t>When EOPMC at 55V </a:t>
            </a:r>
            <a:r>
              <a:rPr lang="en-US" altLang="zh-TW" sz="1600" dirty="0">
                <a:solidFill>
                  <a:srgbClr val="FF0000"/>
                </a:solidFill>
              </a:rPr>
              <a:t>|VV</a:t>
            </a:r>
            <a:r>
              <a:rPr lang="zh-TW" altLang="en-US" sz="1600" dirty="0">
                <a:solidFill>
                  <a:srgbClr val="002060"/>
                </a:solidFill>
              </a:rPr>
              <a:t> </a:t>
            </a:r>
            <a:r>
              <a:rPr lang="en-US" altLang="zh-TW" sz="1600" dirty="0">
                <a:solidFill>
                  <a:srgbClr val="FF0000"/>
                </a:solidFill>
              </a:rPr>
              <a:t>⟩</a:t>
            </a:r>
            <a:r>
              <a:rPr lang="en-US" altLang="zh-TW" sz="1600" dirty="0"/>
              <a:t>&amp;</a:t>
            </a:r>
            <a:r>
              <a:rPr lang="en-US" altLang="zh-TW" sz="1600" dirty="0">
                <a:solidFill>
                  <a:srgbClr val="002060"/>
                </a:solidFill>
              </a:rPr>
              <a:t>|HH⟩</a:t>
            </a:r>
            <a:r>
              <a:rPr lang="en-US" altLang="zh-TW" sz="1600" dirty="0"/>
              <a:t> </a:t>
            </a:r>
            <a:endParaRPr lang="zh-TW" altLang="en-US" sz="1600" dirty="0"/>
          </a:p>
        </p:txBody>
      </p:sp>
      <p:pic>
        <p:nvPicPr>
          <p:cNvPr id="12" name="圖片 11">
            <a:extLst>
              <a:ext uri="{FF2B5EF4-FFF2-40B4-BE49-F238E27FC236}">
                <a16:creationId xmlns:a16="http://schemas.microsoft.com/office/drawing/2014/main" id="{FE263739-17D5-D478-E9D5-4FF65A8FC1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1819" y="1909243"/>
            <a:ext cx="5929479" cy="4447109"/>
          </a:xfrm>
          <a:prstGeom prst="rect">
            <a:avLst/>
          </a:prstGeom>
        </p:spPr>
      </p:pic>
      <p:pic>
        <p:nvPicPr>
          <p:cNvPr id="6" name="圖片 5">
            <a:extLst>
              <a:ext uri="{FF2B5EF4-FFF2-40B4-BE49-F238E27FC236}">
                <a16:creationId xmlns:a16="http://schemas.microsoft.com/office/drawing/2014/main" id="{79814800-F3B9-1B2F-3C84-E8FC9B269D4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88481" y="1742810"/>
            <a:ext cx="2905670" cy="2262692"/>
          </a:xfrm>
          <a:prstGeom prst="rect">
            <a:avLst/>
          </a:prstGeom>
        </p:spPr>
      </p:pic>
      <p:pic>
        <p:nvPicPr>
          <p:cNvPr id="10" name="圖片 9">
            <a:extLst>
              <a:ext uri="{FF2B5EF4-FFF2-40B4-BE49-F238E27FC236}">
                <a16:creationId xmlns:a16="http://schemas.microsoft.com/office/drawing/2014/main" id="{EDB76D79-76ED-B84E-BB77-CA37CFFA630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10704" y="1742810"/>
            <a:ext cx="2986350" cy="2229504"/>
          </a:xfrm>
          <a:prstGeom prst="rect">
            <a:avLst/>
          </a:prstGeom>
        </p:spPr>
      </p:pic>
      <p:pic>
        <p:nvPicPr>
          <p:cNvPr id="17" name="圖片 16">
            <a:extLst>
              <a:ext uri="{FF2B5EF4-FFF2-40B4-BE49-F238E27FC236}">
                <a16:creationId xmlns:a16="http://schemas.microsoft.com/office/drawing/2014/main" id="{F165B099-6A05-6DDE-7F82-AA561833660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10704" y="4512520"/>
            <a:ext cx="2986350" cy="2229504"/>
          </a:xfrm>
          <a:prstGeom prst="rect">
            <a:avLst/>
          </a:prstGeom>
        </p:spPr>
      </p:pic>
      <p:pic>
        <p:nvPicPr>
          <p:cNvPr id="21" name="圖片 20">
            <a:extLst>
              <a:ext uri="{FF2B5EF4-FFF2-40B4-BE49-F238E27FC236}">
                <a16:creationId xmlns:a16="http://schemas.microsoft.com/office/drawing/2014/main" id="{0C2FA9F3-6E8C-E2B1-88A1-DFF1B8DC7A1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088480" y="4634166"/>
            <a:ext cx="2810477" cy="2107858"/>
          </a:xfrm>
          <a:prstGeom prst="rect">
            <a:avLst/>
          </a:prstGeom>
        </p:spPr>
      </p:pic>
    </p:spTree>
    <p:extLst>
      <p:ext uri="{BB962C8B-B14F-4D97-AF65-F5344CB8AC3E}">
        <p14:creationId xmlns:p14="http://schemas.microsoft.com/office/powerpoint/2010/main" val="42838773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sz="3200" b="1" dirty="0">
                <a:latin typeface="Times New Roman" panose="02020603050405020304" pitchFamily="18" charset="0"/>
                <a:cs typeface="Times New Roman" panose="02020603050405020304" pitchFamily="18" charset="0"/>
              </a:rPr>
              <a:t>Applied different voltage |HH⟩ photon-pair measurement </a:t>
            </a:r>
            <a:endParaRPr lang="zh-TW" altLang="en-US" sz="3200" b="1"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1674156" y="6545179"/>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57</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pic>
        <p:nvPicPr>
          <p:cNvPr id="7" name="圖片 6">
            <a:extLst>
              <a:ext uri="{FF2B5EF4-FFF2-40B4-BE49-F238E27FC236}">
                <a16:creationId xmlns:a16="http://schemas.microsoft.com/office/drawing/2014/main" id="{89861872-41E3-A118-04F6-C36859FB3F96}"/>
              </a:ext>
            </a:extLst>
          </p:cNvPr>
          <p:cNvPicPr>
            <a:picLocks noChangeAspect="1"/>
          </p:cNvPicPr>
          <p:nvPr/>
        </p:nvPicPr>
        <p:blipFill>
          <a:blip r:embed="rId4"/>
          <a:stretch>
            <a:fillRect/>
          </a:stretch>
        </p:blipFill>
        <p:spPr>
          <a:xfrm>
            <a:off x="6486105" y="2026266"/>
            <a:ext cx="5707021" cy="4603134"/>
          </a:xfrm>
          <a:prstGeom prst="rect">
            <a:avLst/>
          </a:prstGeom>
        </p:spPr>
      </p:pic>
      <p:sp>
        <p:nvSpPr>
          <p:cNvPr id="8" name="文字方塊 7">
            <a:extLst>
              <a:ext uri="{FF2B5EF4-FFF2-40B4-BE49-F238E27FC236}">
                <a16:creationId xmlns:a16="http://schemas.microsoft.com/office/drawing/2014/main" id="{1A934EED-8D44-CBD0-E26E-735EFAA38925}"/>
              </a:ext>
            </a:extLst>
          </p:cNvPr>
          <p:cNvSpPr txBox="1"/>
          <p:nvPr/>
        </p:nvSpPr>
        <p:spPr>
          <a:xfrm>
            <a:off x="2177138" y="1265218"/>
            <a:ext cx="6830075" cy="338554"/>
          </a:xfrm>
          <a:prstGeom prst="rect">
            <a:avLst/>
          </a:prstGeom>
          <a:noFill/>
          <a:ln>
            <a:solidFill>
              <a:schemeClr val="tx1"/>
            </a:solidFill>
          </a:ln>
        </p:spPr>
        <p:txBody>
          <a:bodyPr wrap="none" rtlCol="0">
            <a:spAutoFit/>
          </a:bodyPr>
          <a:lstStyle/>
          <a:p>
            <a:r>
              <a:rPr lang="en-US" altLang="zh-TW" sz="1600" dirty="0"/>
              <a:t>When EOPMC applied different voltage from 0V to 90V |HH⟩ photon-pair result </a:t>
            </a:r>
            <a:endParaRPr lang="zh-TW" altLang="en-US" sz="1600" dirty="0"/>
          </a:p>
        </p:txBody>
      </p:sp>
      <p:pic>
        <p:nvPicPr>
          <p:cNvPr id="6" name="圖片 5">
            <a:extLst>
              <a:ext uri="{FF2B5EF4-FFF2-40B4-BE49-F238E27FC236}">
                <a16:creationId xmlns:a16="http://schemas.microsoft.com/office/drawing/2014/main" id="{D3A4A66B-E2E0-66C3-2F26-8CBF497E6F2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2293" y="2026265"/>
            <a:ext cx="6442314" cy="4831735"/>
          </a:xfrm>
          <a:prstGeom prst="rect">
            <a:avLst/>
          </a:prstGeom>
        </p:spPr>
      </p:pic>
    </p:spTree>
    <p:extLst>
      <p:ext uri="{BB962C8B-B14F-4D97-AF65-F5344CB8AC3E}">
        <p14:creationId xmlns:p14="http://schemas.microsoft.com/office/powerpoint/2010/main" val="7853176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66F64AE-CAE4-0A78-C8F9-867765DF3067}"/>
              </a:ext>
            </a:extLst>
          </p:cNvPr>
          <p:cNvSpPr>
            <a:spLocks noGrp="1"/>
          </p:cNvSpPr>
          <p:nvPr>
            <p:ph type="ctrTitle"/>
          </p:nvPr>
        </p:nvSpPr>
        <p:spPr>
          <a:xfrm>
            <a:off x="1115751" y="1742155"/>
            <a:ext cx="9960497" cy="2098226"/>
          </a:xfrm>
        </p:spPr>
        <p:txBody>
          <a:bodyPr/>
          <a:lstStyle/>
          <a:p>
            <a:r>
              <a:rPr lang="en-US" altLang="zh-TW" b="1" dirty="0">
                <a:solidFill>
                  <a:schemeClr val="tx1"/>
                </a:solidFill>
              </a:rPr>
              <a:t>Conclusions and Future work</a:t>
            </a:r>
          </a:p>
        </p:txBody>
      </p:sp>
    </p:spTree>
    <p:extLst>
      <p:ext uri="{BB962C8B-B14F-4D97-AF65-F5344CB8AC3E}">
        <p14:creationId xmlns:p14="http://schemas.microsoft.com/office/powerpoint/2010/main" val="7947264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pPr lvl="0">
              <a:spcAft>
                <a:spcPts val="0"/>
              </a:spcAft>
            </a:pPr>
            <a:r>
              <a:rPr lang="en-US" altLang="zh-TW" sz="4400" b="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Conclusions and Future work</a:t>
            </a:r>
            <a:endParaRPr lang="zh-TW" altLang="zh-TW" sz="2400" kern="100" dirty="0">
              <a:solidFill>
                <a:schemeClr val="tx1"/>
              </a:solidFill>
              <a:latin typeface="Calibri" panose="020F0502020204030204" pitchFamily="34"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1581381" y="6385597"/>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59</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pic>
        <p:nvPicPr>
          <p:cNvPr id="8" name="圖片 7">
            <a:extLst>
              <a:ext uri="{FF2B5EF4-FFF2-40B4-BE49-F238E27FC236}">
                <a16:creationId xmlns:a16="http://schemas.microsoft.com/office/drawing/2014/main" id="{95671F7B-BCDB-4F96-F710-5AB884B3C8A9}"/>
              </a:ext>
            </a:extLst>
          </p:cNvPr>
          <p:cNvPicPr>
            <a:picLocks noChangeAspect="1"/>
          </p:cNvPicPr>
          <p:nvPr/>
        </p:nvPicPr>
        <p:blipFill>
          <a:blip r:embed="rId4"/>
          <a:stretch>
            <a:fillRect/>
          </a:stretch>
        </p:blipFill>
        <p:spPr>
          <a:xfrm>
            <a:off x="8797529" y="-7807"/>
            <a:ext cx="1712923" cy="781178"/>
          </a:xfrm>
          <a:prstGeom prst="rect">
            <a:avLst/>
          </a:prstGeom>
        </p:spPr>
      </p:pic>
      <p:sp>
        <p:nvSpPr>
          <p:cNvPr id="9" name="文字方塊 8">
            <a:extLst>
              <a:ext uri="{FF2B5EF4-FFF2-40B4-BE49-F238E27FC236}">
                <a16:creationId xmlns:a16="http://schemas.microsoft.com/office/drawing/2014/main" id="{577EF3EF-2297-B626-0383-CF3B43214C40}"/>
              </a:ext>
            </a:extLst>
          </p:cNvPr>
          <p:cNvSpPr txBox="1"/>
          <p:nvPr/>
        </p:nvSpPr>
        <p:spPr>
          <a:xfrm>
            <a:off x="219919" y="881583"/>
            <a:ext cx="1980118" cy="53833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800" b="1" i="1" u="sng" dirty="0">
                <a:solidFill>
                  <a:prstClr val="black"/>
                </a:solidFill>
                <a:effectLst>
                  <a:outerShdw blurRad="38100" dist="38100" dir="2700000" algn="tl">
                    <a:srgbClr val="000000">
                      <a:alpha val="43137"/>
                    </a:srgbClr>
                  </a:outerShdw>
                </a:effectLst>
                <a:latin typeface="Calibri" panose="020F0502020204030204"/>
                <a:ea typeface="新細明體" panose="02020500000000000000" pitchFamily="18" charset="-120"/>
              </a:rPr>
              <a:t>Conclusion</a:t>
            </a:r>
            <a:endParaRPr kumimoji="0" lang="en-US" altLang="zh-TW" sz="2800" b="1" i="1" u="sng"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a typeface="新細明體" panose="02020500000000000000" pitchFamily="18" charset="-120"/>
              <a:cs typeface="+mn-cs"/>
            </a:endParaRPr>
          </a:p>
        </p:txBody>
      </p:sp>
      <p:sp>
        <p:nvSpPr>
          <p:cNvPr id="11" name="文字方塊 10">
            <a:extLst>
              <a:ext uri="{FF2B5EF4-FFF2-40B4-BE49-F238E27FC236}">
                <a16:creationId xmlns:a16="http://schemas.microsoft.com/office/drawing/2014/main" id="{FE42569A-8738-CDFE-A705-718730B08DA3}"/>
              </a:ext>
            </a:extLst>
          </p:cNvPr>
          <p:cNvSpPr txBox="1"/>
          <p:nvPr/>
        </p:nvSpPr>
        <p:spPr>
          <a:xfrm>
            <a:off x="219919" y="1631029"/>
            <a:ext cx="11153883" cy="3892732"/>
          </a:xfrm>
          <a:prstGeom prst="rect">
            <a:avLst/>
          </a:prstGeom>
          <a:noFill/>
        </p:spPr>
        <p:txBody>
          <a:bodyPr wrap="square" rtlCol="0">
            <a:spAutoFit/>
          </a:bodyPr>
          <a:lstStyle/>
          <a:p>
            <a:pPr marL="342900" indent="-342900">
              <a:lnSpc>
                <a:spcPct val="200000"/>
              </a:lnSpc>
              <a:buFont typeface="+mj-lt"/>
              <a:buAutoNum type="arabicPeriod"/>
            </a:pPr>
            <a:r>
              <a:rPr lang="en-US" altLang="zh-TW" dirty="0"/>
              <a:t>Use genetic algorithms to simulate and design the aperiodic poling EOPMC structure which can achieved high polarization mode conversion efficiency when a y-direction voltage of 55V is applied, and the mode conversion can be up to </a:t>
            </a:r>
            <a:r>
              <a:rPr lang="en-US" altLang="zh-TW" dirty="0">
                <a:solidFill>
                  <a:srgbClr val="FF0000"/>
                </a:solidFill>
              </a:rPr>
              <a:t>99%</a:t>
            </a:r>
            <a:r>
              <a:rPr lang="en-US" altLang="zh-TW" dirty="0"/>
              <a:t> at a wavelength of 1569nm, and the mode conversion can reach more than </a:t>
            </a:r>
            <a:r>
              <a:rPr lang="en-US" altLang="zh-TW" dirty="0">
                <a:solidFill>
                  <a:srgbClr val="FF0000"/>
                </a:solidFill>
              </a:rPr>
              <a:t>90% </a:t>
            </a:r>
            <a:r>
              <a:rPr lang="en-US" altLang="zh-TW" dirty="0"/>
              <a:t>with a </a:t>
            </a:r>
            <a:r>
              <a:rPr lang="en-US" altLang="zh-TW" dirty="0">
                <a:solidFill>
                  <a:srgbClr val="FF0000"/>
                </a:solidFill>
              </a:rPr>
              <a:t>bandwidth of 7nm</a:t>
            </a:r>
            <a:r>
              <a:rPr lang="en-US" altLang="zh-TW" dirty="0"/>
              <a:t>.</a:t>
            </a:r>
          </a:p>
          <a:p>
            <a:pPr marL="342900" indent="-342900">
              <a:lnSpc>
                <a:spcPct val="200000"/>
              </a:lnSpc>
              <a:buFont typeface="+mj-lt"/>
              <a:buAutoNum type="arabicPeriod"/>
            </a:pPr>
            <a:r>
              <a:rPr lang="en-US" altLang="zh-TW" dirty="0"/>
              <a:t>This chip </a:t>
            </a:r>
            <a:r>
              <a:rPr lang="en-US" altLang="zh-TW" dirty="0">
                <a:solidFill>
                  <a:srgbClr val="FF0000"/>
                </a:solidFill>
              </a:rPr>
              <a:t>phase modulation</a:t>
            </a:r>
            <a:r>
              <a:rPr lang="en-US" altLang="zh-TW" dirty="0"/>
              <a:t> function when a z-direction voltage of 25V is applied.</a:t>
            </a:r>
          </a:p>
          <a:p>
            <a:pPr marL="342900" indent="-342900">
              <a:lnSpc>
                <a:spcPct val="200000"/>
              </a:lnSpc>
              <a:buFont typeface="+mj-lt"/>
              <a:buAutoNum type="arabicPeriod"/>
            </a:pPr>
            <a:r>
              <a:rPr lang="en-US" altLang="zh-TW" dirty="0"/>
              <a:t>Dual to APPLN EOPMC structure, we successfully generate the </a:t>
            </a:r>
            <a:r>
              <a:rPr lang="en-US" altLang="zh-TW" dirty="0">
                <a:solidFill>
                  <a:srgbClr val="FF0000"/>
                </a:solidFill>
              </a:rPr>
              <a:t>dual orthogonal-polarization photon-pair</a:t>
            </a:r>
            <a:r>
              <a:rPr lang="en-US" altLang="zh-TW" dirty="0"/>
              <a:t> on one </a:t>
            </a:r>
            <a:r>
              <a:rPr lang="en-US" altLang="zh-TW" dirty="0" err="1"/>
              <a:t>singal</a:t>
            </a:r>
            <a:r>
              <a:rPr lang="en-US" altLang="zh-TW" dirty="0"/>
              <a:t> chip.</a:t>
            </a:r>
          </a:p>
        </p:txBody>
      </p:sp>
    </p:spTree>
    <p:extLst>
      <p:ext uri="{BB962C8B-B14F-4D97-AF65-F5344CB8AC3E}">
        <p14:creationId xmlns:p14="http://schemas.microsoft.com/office/powerpoint/2010/main" val="42401270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pPr lvl="0">
              <a:spcAft>
                <a:spcPts val="0"/>
              </a:spcAft>
            </a:pPr>
            <a:r>
              <a:rPr lang="en-US" altLang="zh-TW" sz="4400" b="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Conclusions and Future work</a:t>
            </a:r>
            <a:endParaRPr lang="zh-TW" altLang="zh-TW" sz="2400" kern="100" dirty="0">
              <a:solidFill>
                <a:schemeClr val="tx1"/>
              </a:solidFill>
              <a:latin typeface="Calibri" panose="020F0502020204030204" pitchFamily="34"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1581381" y="6385597"/>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60</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pic>
        <p:nvPicPr>
          <p:cNvPr id="8" name="圖片 7">
            <a:extLst>
              <a:ext uri="{FF2B5EF4-FFF2-40B4-BE49-F238E27FC236}">
                <a16:creationId xmlns:a16="http://schemas.microsoft.com/office/drawing/2014/main" id="{95671F7B-BCDB-4F96-F710-5AB884B3C8A9}"/>
              </a:ext>
            </a:extLst>
          </p:cNvPr>
          <p:cNvPicPr>
            <a:picLocks noChangeAspect="1"/>
          </p:cNvPicPr>
          <p:nvPr/>
        </p:nvPicPr>
        <p:blipFill>
          <a:blip r:embed="rId4"/>
          <a:stretch>
            <a:fillRect/>
          </a:stretch>
        </p:blipFill>
        <p:spPr>
          <a:xfrm>
            <a:off x="8797529" y="-7807"/>
            <a:ext cx="1712923" cy="781178"/>
          </a:xfrm>
          <a:prstGeom prst="rect">
            <a:avLst/>
          </a:prstGeom>
        </p:spPr>
      </p:pic>
      <p:sp>
        <p:nvSpPr>
          <p:cNvPr id="3" name="文字方塊 2">
            <a:extLst>
              <a:ext uri="{FF2B5EF4-FFF2-40B4-BE49-F238E27FC236}">
                <a16:creationId xmlns:a16="http://schemas.microsoft.com/office/drawing/2014/main" id="{B2B7312B-DF60-BE54-67B3-63C2C859B9D9}"/>
              </a:ext>
            </a:extLst>
          </p:cNvPr>
          <p:cNvSpPr txBox="1"/>
          <p:nvPr/>
        </p:nvSpPr>
        <p:spPr>
          <a:xfrm>
            <a:off x="219919" y="881583"/>
            <a:ext cx="1980118" cy="53833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800" b="1" i="1" u="sng" dirty="0">
                <a:solidFill>
                  <a:prstClr val="black"/>
                </a:solidFill>
                <a:effectLst>
                  <a:outerShdw blurRad="38100" dist="38100" dir="2700000" algn="tl">
                    <a:srgbClr val="000000">
                      <a:alpha val="43137"/>
                    </a:srgbClr>
                  </a:outerShdw>
                </a:effectLst>
                <a:latin typeface="Calibri" panose="020F0502020204030204"/>
                <a:ea typeface="新細明體" panose="02020500000000000000" pitchFamily="18" charset="-120"/>
              </a:rPr>
              <a:t>Future work</a:t>
            </a:r>
            <a:endParaRPr kumimoji="0" lang="en-US" altLang="zh-TW" sz="2800" b="1" i="1" u="sng"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a typeface="新細明體" panose="02020500000000000000" pitchFamily="18" charset="-120"/>
              <a:cs typeface="+mn-cs"/>
            </a:endParaRPr>
          </a:p>
        </p:txBody>
      </p:sp>
      <p:grpSp>
        <p:nvGrpSpPr>
          <p:cNvPr id="9" name="群組 8">
            <a:extLst>
              <a:ext uri="{FF2B5EF4-FFF2-40B4-BE49-F238E27FC236}">
                <a16:creationId xmlns:a16="http://schemas.microsoft.com/office/drawing/2014/main" id="{3275BBF1-4701-FC0B-D2FD-EAE80C61067B}"/>
              </a:ext>
            </a:extLst>
          </p:cNvPr>
          <p:cNvGrpSpPr/>
          <p:nvPr/>
        </p:nvGrpSpPr>
        <p:grpSpPr>
          <a:xfrm>
            <a:off x="5976133" y="1150751"/>
            <a:ext cx="3822523" cy="2926334"/>
            <a:chOff x="6886267" y="1419919"/>
            <a:chExt cx="3822523" cy="2926334"/>
          </a:xfrm>
        </p:grpSpPr>
        <p:pic>
          <p:nvPicPr>
            <p:cNvPr id="6" name="圖片 5">
              <a:extLst>
                <a:ext uri="{FF2B5EF4-FFF2-40B4-BE49-F238E27FC236}">
                  <a16:creationId xmlns:a16="http://schemas.microsoft.com/office/drawing/2014/main" id="{9C14EC99-1639-F26F-337F-16BC4A3EC08C}"/>
                </a:ext>
              </a:extLst>
            </p:cNvPr>
            <p:cNvPicPr>
              <a:picLocks noChangeAspect="1"/>
            </p:cNvPicPr>
            <p:nvPr/>
          </p:nvPicPr>
          <p:blipFill>
            <a:blip r:embed="rId5"/>
            <a:stretch>
              <a:fillRect/>
            </a:stretch>
          </p:blipFill>
          <p:spPr>
            <a:xfrm>
              <a:off x="6886267" y="1419919"/>
              <a:ext cx="3822523" cy="2926334"/>
            </a:xfrm>
            <a:prstGeom prst="rect">
              <a:avLst/>
            </a:prstGeom>
          </p:spPr>
        </p:pic>
        <p:sp>
          <p:nvSpPr>
            <p:cNvPr id="7" name="矩形 6">
              <a:extLst>
                <a:ext uri="{FF2B5EF4-FFF2-40B4-BE49-F238E27FC236}">
                  <a16:creationId xmlns:a16="http://schemas.microsoft.com/office/drawing/2014/main" id="{27B6C806-9EC5-F287-8327-DFE0FCA6FDAB}"/>
                </a:ext>
              </a:extLst>
            </p:cNvPr>
            <p:cNvSpPr/>
            <p:nvPr/>
          </p:nvSpPr>
          <p:spPr>
            <a:xfrm>
              <a:off x="8556831" y="2278309"/>
              <a:ext cx="1828800" cy="787078"/>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0" name="文字方塊 9">
            <a:extLst>
              <a:ext uri="{FF2B5EF4-FFF2-40B4-BE49-F238E27FC236}">
                <a16:creationId xmlns:a16="http://schemas.microsoft.com/office/drawing/2014/main" id="{81E54011-CA1B-FF89-ED4D-CF4B9034D3FC}"/>
              </a:ext>
            </a:extLst>
          </p:cNvPr>
          <p:cNvSpPr txBox="1"/>
          <p:nvPr/>
        </p:nvSpPr>
        <p:spPr>
          <a:xfrm>
            <a:off x="9653990" y="2244586"/>
            <a:ext cx="1918026" cy="369332"/>
          </a:xfrm>
          <a:prstGeom prst="rect">
            <a:avLst/>
          </a:prstGeom>
          <a:noFill/>
        </p:spPr>
        <p:txBody>
          <a:bodyPr wrap="none" rtlCol="0">
            <a:spAutoFit/>
          </a:bodyPr>
          <a:lstStyle/>
          <a:p>
            <a:r>
              <a:rPr lang="en-US" altLang="zh-TW" dirty="0">
                <a:solidFill>
                  <a:srgbClr val="FF0000"/>
                </a:solidFill>
              </a:rPr>
              <a:t>Phase </a:t>
            </a:r>
            <a:r>
              <a:rPr lang="en-US" altLang="zh-TW" dirty="0" err="1">
                <a:solidFill>
                  <a:srgbClr val="FF0000"/>
                </a:solidFill>
              </a:rPr>
              <a:t>stabilisation</a:t>
            </a:r>
            <a:endParaRPr lang="zh-TW" altLang="en-US" dirty="0">
              <a:solidFill>
                <a:srgbClr val="FF0000"/>
              </a:solidFill>
            </a:endParaRPr>
          </a:p>
        </p:txBody>
      </p:sp>
      <p:sp>
        <p:nvSpPr>
          <p:cNvPr id="13" name="文字方塊 12">
            <a:extLst>
              <a:ext uri="{FF2B5EF4-FFF2-40B4-BE49-F238E27FC236}">
                <a16:creationId xmlns:a16="http://schemas.microsoft.com/office/drawing/2014/main" id="{72D79106-38EF-7ABC-C4DC-0B2A547E8702}"/>
              </a:ext>
            </a:extLst>
          </p:cNvPr>
          <p:cNvSpPr txBox="1"/>
          <p:nvPr/>
        </p:nvSpPr>
        <p:spPr>
          <a:xfrm>
            <a:off x="219919" y="1677438"/>
            <a:ext cx="3689856" cy="369332"/>
          </a:xfrm>
          <a:prstGeom prst="rect">
            <a:avLst/>
          </a:prstGeom>
          <a:noFill/>
        </p:spPr>
        <p:txBody>
          <a:bodyPr wrap="none" rtlCol="0">
            <a:spAutoFit/>
          </a:bodyPr>
          <a:lstStyle/>
          <a:p>
            <a:r>
              <a:rPr lang="en-US" altLang="zh-TW" b="1" i="1" dirty="0"/>
              <a:t>1.Phase modulator feedback system </a:t>
            </a:r>
            <a:endParaRPr lang="zh-TW" altLang="en-US" b="1" i="1" dirty="0"/>
          </a:p>
        </p:txBody>
      </p:sp>
      <p:pic>
        <p:nvPicPr>
          <p:cNvPr id="15" name="圖片 14">
            <a:extLst>
              <a:ext uri="{FF2B5EF4-FFF2-40B4-BE49-F238E27FC236}">
                <a16:creationId xmlns:a16="http://schemas.microsoft.com/office/drawing/2014/main" id="{843196A6-29BA-FDBC-6C4F-605410E1AD41}"/>
              </a:ext>
            </a:extLst>
          </p:cNvPr>
          <p:cNvPicPr>
            <a:picLocks noChangeAspect="1"/>
          </p:cNvPicPr>
          <p:nvPr/>
        </p:nvPicPr>
        <p:blipFill>
          <a:blip r:embed="rId6"/>
          <a:stretch>
            <a:fillRect/>
          </a:stretch>
        </p:blipFill>
        <p:spPr>
          <a:xfrm>
            <a:off x="8927432" y="3949631"/>
            <a:ext cx="2124155" cy="1535774"/>
          </a:xfrm>
          <a:prstGeom prst="rect">
            <a:avLst/>
          </a:prstGeom>
        </p:spPr>
      </p:pic>
      <p:pic>
        <p:nvPicPr>
          <p:cNvPr id="16" name="圖片 15">
            <a:extLst>
              <a:ext uri="{FF2B5EF4-FFF2-40B4-BE49-F238E27FC236}">
                <a16:creationId xmlns:a16="http://schemas.microsoft.com/office/drawing/2014/main" id="{CBCC9DB3-5D18-992F-6395-8A295F1ED913}"/>
              </a:ext>
            </a:extLst>
          </p:cNvPr>
          <p:cNvPicPr>
            <a:picLocks noChangeAspect="1"/>
          </p:cNvPicPr>
          <p:nvPr/>
        </p:nvPicPr>
        <p:blipFill>
          <a:blip r:embed="rId7"/>
          <a:stretch>
            <a:fillRect/>
          </a:stretch>
        </p:blipFill>
        <p:spPr>
          <a:xfrm>
            <a:off x="331497" y="3165607"/>
            <a:ext cx="8229600" cy="3615476"/>
          </a:xfrm>
          <a:prstGeom prst="rect">
            <a:avLst/>
          </a:prstGeom>
        </p:spPr>
      </p:pic>
    </p:spTree>
    <p:extLst>
      <p:ext uri="{BB962C8B-B14F-4D97-AF65-F5344CB8AC3E}">
        <p14:creationId xmlns:p14="http://schemas.microsoft.com/office/powerpoint/2010/main" val="167374776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pPr lvl="0">
              <a:spcAft>
                <a:spcPts val="0"/>
              </a:spcAft>
            </a:pPr>
            <a:r>
              <a:rPr lang="en-US" altLang="zh-TW" sz="4400" b="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Conclusions and Future work</a:t>
            </a:r>
            <a:endParaRPr lang="zh-TW" altLang="zh-TW" sz="2400" kern="100" dirty="0">
              <a:solidFill>
                <a:schemeClr val="tx1"/>
              </a:solidFill>
              <a:latin typeface="Calibri" panose="020F0502020204030204" pitchFamily="34"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1581381" y="6385597"/>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61</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pic>
        <p:nvPicPr>
          <p:cNvPr id="8" name="圖片 7">
            <a:extLst>
              <a:ext uri="{FF2B5EF4-FFF2-40B4-BE49-F238E27FC236}">
                <a16:creationId xmlns:a16="http://schemas.microsoft.com/office/drawing/2014/main" id="{95671F7B-BCDB-4F96-F710-5AB884B3C8A9}"/>
              </a:ext>
            </a:extLst>
          </p:cNvPr>
          <p:cNvPicPr>
            <a:picLocks noChangeAspect="1"/>
          </p:cNvPicPr>
          <p:nvPr/>
        </p:nvPicPr>
        <p:blipFill>
          <a:blip r:embed="rId4"/>
          <a:stretch>
            <a:fillRect/>
          </a:stretch>
        </p:blipFill>
        <p:spPr>
          <a:xfrm>
            <a:off x="8797529" y="-7807"/>
            <a:ext cx="1712923" cy="781178"/>
          </a:xfrm>
          <a:prstGeom prst="rect">
            <a:avLst/>
          </a:prstGeom>
        </p:spPr>
      </p:pic>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80820E36-080A-7E9D-418E-7AFF6C83E26F}"/>
                  </a:ext>
                </a:extLst>
              </p:cNvPr>
              <p:cNvSpPr txBox="1"/>
              <p:nvPr/>
            </p:nvSpPr>
            <p:spPr>
              <a:xfrm>
                <a:off x="243067" y="1110279"/>
                <a:ext cx="6007261" cy="781624"/>
              </a:xfrm>
              <a:prstGeom prst="rect">
                <a:avLst/>
              </a:prstGeom>
              <a:noFill/>
            </p:spPr>
            <p:txBody>
              <a:bodyPr wrap="square" rtlCol="0">
                <a:spAutoFit/>
              </a:bodyPr>
              <a:lstStyle/>
              <a:p>
                <a:r>
                  <a:rPr lang="en-US" altLang="zh-TW" b="1" i="1" dirty="0"/>
                  <a:t>2. Generation </a:t>
                </a:r>
                <a:r>
                  <a:rPr lang="en-US" altLang="zh-TW" b="1" i="1" dirty="0" err="1"/>
                  <a:t>polarisation</a:t>
                </a:r>
                <a:r>
                  <a:rPr lang="en-US" altLang="zh-TW" b="1" i="1" dirty="0"/>
                  <a:t>-entangled state  </a:t>
                </a:r>
                <a14:m>
                  <m:oMath xmlns:m="http://schemas.openxmlformats.org/officeDocument/2006/math">
                    <m:f>
                      <m:fPr>
                        <m:ctrlPr>
                          <a:rPr lang="zh-TW" altLang="zh-TW" b="1" i="1">
                            <a:latin typeface="Cambria Math" panose="02040503050406030204" pitchFamily="18" charset="0"/>
                          </a:rPr>
                        </m:ctrlPr>
                      </m:fPr>
                      <m:num>
                        <m:r>
                          <a:rPr lang="en-US" altLang="zh-TW" b="1" i="1">
                            <a:latin typeface="Cambria Math" panose="02040503050406030204" pitchFamily="18" charset="0"/>
                          </a:rPr>
                          <m:t>1</m:t>
                        </m:r>
                      </m:num>
                      <m:den>
                        <m:rad>
                          <m:radPr>
                            <m:degHide m:val="on"/>
                            <m:ctrlPr>
                              <a:rPr lang="zh-TW" altLang="zh-TW" b="1" i="1">
                                <a:latin typeface="Cambria Math" panose="02040503050406030204" pitchFamily="18" charset="0"/>
                              </a:rPr>
                            </m:ctrlPr>
                          </m:radPr>
                          <m:deg/>
                          <m:e>
                            <m:r>
                              <a:rPr lang="en-US" altLang="zh-TW" b="1" i="1">
                                <a:latin typeface="Cambria Math" panose="02040503050406030204" pitchFamily="18" charset="0"/>
                              </a:rPr>
                              <m:t>2</m:t>
                            </m:r>
                          </m:e>
                        </m:rad>
                      </m:den>
                    </m:f>
                  </m:oMath>
                </a14:m>
                <a:r>
                  <a:rPr lang="en-US" altLang="zh-TW" b="1" i="1" dirty="0"/>
                  <a:t>(|HH⟩+|VV⟩)  and use  Quantum state tomography to measurement </a:t>
                </a:r>
                <a:endParaRPr lang="zh-TW" altLang="en-US" b="1" i="1" dirty="0"/>
              </a:p>
            </p:txBody>
          </p:sp>
        </mc:Choice>
        <mc:Fallback xmlns="">
          <p:sp>
            <p:nvSpPr>
              <p:cNvPr id="3" name="文字方塊 2">
                <a:extLst>
                  <a:ext uri="{FF2B5EF4-FFF2-40B4-BE49-F238E27FC236}">
                    <a16:creationId xmlns:a16="http://schemas.microsoft.com/office/drawing/2014/main" id="{80820E36-080A-7E9D-418E-7AFF6C83E26F}"/>
                  </a:ext>
                </a:extLst>
              </p:cNvPr>
              <p:cNvSpPr txBox="1">
                <a:spLocks noRot="1" noChangeAspect="1" noMove="1" noResize="1" noEditPoints="1" noAdjustHandles="1" noChangeArrowheads="1" noChangeShapeType="1" noTextEdit="1"/>
              </p:cNvSpPr>
              <p:nvPr/>
            </p:nvSpPr>
            <p:spPr>
              <a:xfrm>
                <a:off x="243067" y="1110279"/>
                <a:ext cx="6007261" cy="781624"/>
              </a:xfrm>
              <a:prstGeom prst="rect">
                <a:avLst/>
              </a:prstGeom>
              <a:blipFill>
                <a:blip r:embed="rId5"/>
                <a:stretch>
                  <a:fillRect l="-914" b="-11719"/>
                </a:stretch>
              </a:blipFill>
            </p:spPr>
            <p:txBody>
              <a:bodyPr/>
              <a:lstStyle/>
              <a:p>
                <a:r>
                  <a:rPr lang="zh-TW" altLang="en-US">
                    <a:noFill/>
                  </a:rPr>
                  <a:t> </a:t>
                </a:r>
              </a:p>
            </p:txBody>
          </p:sp>
        </mc:Fallback>
      </mc:AlternateContent>
      <p:pic>
        <p:nvPicPr>
          <p:cNvPr id="6" name="圖片 5">
            <a:extLst>
              <a:ext uri="{FF2B5EF4-FFF2-40B4-BE49-F238E27FC236}">
                <a16:creationId xmlns:a16="http://schemas.microsoft.com/office/drawing/2014/main" id="{3546FE13-3CC9-5940-8A26-98D1E9C402C5}"/>
              </a:ext>
            </a:extLst>
          </p:cNvPr>
          <p:cNvPicPr>
            <a:picLocks noChangeAspect="1"/>
          </p:cNvPicPr>
          <p:nvPr/>
        </p:nvPicPr>
        <p:blipFill>
          <a:blip r:embed="rId6"/>
          <a:stretch>
            <a:fillRect/>
          </a:stretch>
        </p:blipFill>
        <p:spPr>
          <a:xfrm>
            <a:off x="601285" y="2808254"/>
            <a:ext cx="8415393" cy="3071685"/>
          </a:xfrm>
          <a:prstGeom prst="rect">
            <a:avLst/>
          </a:prstGeom>
        </p:spPr>
      </p:pic>
      <p:sp>
        <p:nvSpPr>
          <p:cNvPr id="7" name="文字方塊 6">
            <a:extLst>
              <a:ext uri="{FF2B5EF4-FFF2-40B4-BE49-F238E27FC236}">
                <a16:creationId xmlns:a16="http://schemas.microsoft.com/office/drawing/2014/main" id="{727612F0-D32E-B7C5-D5FE-05F0B6A00A6F}"/>
              </a:ext>
            </a:extLst>
          </p:cNvPr>
          <p:cNvSpPr txBox="1"/>
          <p:nvPr/>
        </p:nvSpPr>
        <p:spPr>
          <a:xfrm>
            <a:off x="9532396" y="4590217"/>
            <a:ext cx="2291872" cy="276999"/>
          </a:xfrm>
          <a:prstGeom prst="rect">
            <a:avLst/>
          </a:prstGeom>
          <a:noFill/>
        </p:spPr>
        <p:txBody>
          <a:bodyPr wrap="square">
            <a:spAutoFit/>
          </a:bodyPr>
          <a:lstStyle/>
          <a:p>
            <a:r>
              <a:rPr lang="nn-NO" altLang="zh-TW" sz="1200" dirty="0"/>
              <a:t> </a:t>
            </a:r>
            <a:r>
              <a:rPr lang="en-US" altLang="zh-TW" sz="1200" dirty="0"/>
              <a:t>Opt. Express 21, 29013 (2013)</a:t>
            </a:r>
            <a:endParaRPr lang="nl-NL" altLang="zh-TW" sz="1200" dirty="0"/>
          </a:p>
        </p:txBody>
      </p:sp>
      <p:pic>
        <p:nvPicPr>
          <p:cNvPr id="10" name="圖片 9">
            <a:extLst>
              <a:ext uri="{FF2B5EF4-FFF2-40B4-BE49-F238E27FC236}">
                <a16:creationId xmlns:a16="http://schemas.microsoft.com/office/drawing/2014/main" id="{DC187C8C-22FE-2867-EEFC-33D9F65DE21D}"/>
              </a:ext>
            </a:extLst>
          </p:cNvPr>
          <p:cNvPicPr>
            <a:picLocks noChangeAspect="1"/>
          </p:cNvPicPr>
          <p:nvPr/>
        </p:nvPicPr>
        <p:blipFill>
          <a:blip r:embed="rId7"/>
          <a:stretch>
            <a:fillRect/>
          </a:stretch>
        </p:blipFill>
        <p:spPr>
          <a:xfrm>
            <a:off x="9366818" y="2262507"/>
            <a:ext cx="2457450" cy="2228850"/>
          </a:xfrm>
          <a:prstGeom prst="rect">
            <a:avLst/>
          </a:prstGeom>
        </p:spPr>
      </p:pic>
    </p:spTree>
    <p:extLst>
      <p:ext uri="{BB962C8B-B14F-4D97-AF65-F5344CB8AC3E}">
        <p14:creationId xmlns:p14="http://schemas.microsoft.com/office/powerpoint/2010/main" val="7812435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13000">
              <a:srgbClr val="FFE1E1"/>
            </a:gs>
            <a:gs pos="30000">
              <a:srgbClr val="FFF1C5"/>
            </a:gs>
            <a:gs pos="98601">
              <a:srgbClr val="E4D2F2"/>
            </a:gs>
            <a:gs pos="86000">
              <a:srgbClr val="C9DBFF"/>
            </a:gs>
            <a:gs pos="72000">
              <a:srgbClr val="D9F5FF"/>
            </a:gs>
            <a:gs pos="58000">
              <a:srgbClr val="E7F4D8"/>
            </a:gs>
            <a:gs pos="44000">
              <a:srgbClr val="FFFFB9"/>
            </a:gs>
          </a:gsLst>
          <a:lin ang="5400000" scaled="1"/>
        </a:gradFill>
        <a:effectLst/>
      </p:bgPr>
    </p:bg>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2BAF0E19-7B42-A0AF-340A-B6F68D79C774}"/>
              </a:ext>
            </a:extLst>
          </p:cNvPr>
          <p:cNvSpPr txBox="1"/>
          <p:nvPr/>
        </p:nvSpPr>
        <p:spPr>
          <a:xfrm>
            <a:off x="1623041" y="2413337"/>
            <a:ext cx="9630803" cy="1015663"/>
          </a:xfrm>
          <a:prstGeom prst="rect">
            <a:avLst/>
          </a:prstGeom>
          <a:noFill/>
        </p:spPr>
        <p:txBody>
          <a:bodyPr wrap="square">
            <a:spAutoFit/>
            <a:scene3d>
              <a:camera prst="orthographicFront"/>
              <a:lightRig rig="soft" dir="t">
                <a:rot lat="0" lon="0" rev="15600000"/>
              </a:lightRig>
            </a:scene3d>
            <a:sp3d extrusionH="57150" prstMaterial="softEdge">
              <a:bevelT w="25400" h="38100"/>
            </a:sp3d>
          </a:bodyPr>
          <a:lstStyle/>
          <a:p>
            <a:r>
              <a:rPr lang="en-US" altLang="zh-TW" sz="6000" dirty="0">
                <a:ln w="0"/>
                <a:solidFill>
                  <a:schemeClr val="accent1">
                    <a:lumMod val="75000"/>
                  </a:schemeClr>
                </a:solidFill>
                <a:effectLst>
                  <a:reflection blurRad="6350" stA="53000" endA="300" endPos="35500" dir="5400000" sy="-90000" algn="bl" rotWithShape="0"/>
                </a:effectLst>
              </a:rPr>
              <a:t>Thank you for your attention!</a:t>
            </a:r>
          </a:p>
        </p:txBody>
      </p:sp>
      <p:pic>
        <p:nvPicPr>
          <p:cNvPr id="9" name="圖片 8">
            <a:extLst>
              <a:ext uri="{FF2B5EF4-FFF2-40B4-BE49-F238E27FC236}">
                <a16:creationId xmlns:a16="http://schemas.microsoft.com/office/drawing/2014/main" id="{8E1D96E6-DA6E-701D-AC28-000F9CAE4B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42163" y="5474677"/>
            <a:ext cx="3449837" cy="1383323"/>
          </a:xfrm>
          <a:prstGeom prst="rect">
            <a:avLst/>
          </a:prstGeom>
        </p:spPr>
      </p:pic>
      <p:pic>
        <p:nvPicPr>
          <p:cNvPr id="11" name="圖片 10">
            <a:extLst>
              <a:ext uri="{FF2B5EF4-FFF2-40B4-BE49-F238E27FC236}">
                <a16:creationId xmlns:a16="http://schemas.microsoft.com/office/drawing/2014/main" id="{F92A546E-93CC-444A-F2D2-F9EB46F0EDE3}"/>
              </a:ext>
            </a:extLst>
          </p:cNvPr>
          <p:cNvPicPr>
            <a:picLocks noChangeAspect="1"/>
          </p:cNvPicPr>
          <p:nvPr/>
        </p:nvPicPr>
        <p:blipFill>
          <a:blip r:embed="rId4"/>
          <a:stretch>
            <a:fillRect/>
          </a:stretch>
        </p:blipFill>
        <p:spPr>
          <a:xfrm>
            <a:off x="-1" y="4411307"/>
            <a:ext cx="4302369" cy="2446694"/>
          </a:xfrm>
          <a:prstGeom prst="rect">
            <a:avLst/>
          </a:prstGeom>
        </p:spPr>
      </p:pic>
    </p:spTree>
    <p:extLst>
      <p:ext uri="{BB962C8B-B14F-4D97-AF65-F5344CB8AC3E}">
        <p14:creationId xmlns:p14="http://schemas.microsoft.com/office/powerpoint/2010/main" val="58382443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Objective</a:t>
            </a:r>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grpSp>
        <p:nvGrpSpPr>
          <p:cNvPr id="7" name="群組 6">
            <a:extLst>
              <a:ext uri="{FF2B5EF4-FFF2-40B4-BE49-F238E27FC236}">
                <a16:creationId xmlns:a16="http://schemas.microsoft.com/office/drawing/2014/main" id="{EB54B662-A91E-73DF-F6CC-16C201F29041}"/>
              </a:ext>
            </a:extLst>
          </p:cNvPr>
          <p:cNvGrpSpPr/>
          <p:nvPr/>
        </p:nvGrpSpPr>
        <p:grpSpPr>
          <a:xfrm>
            <a:off x="1736570" y="904689"/>
            <a:ext cx="5762302" cy="2182366"/>
            <a:chOff x="1721251" y="1009374"/>
            <a:chExt cx="5762302" cy="2679758"/>
          </a:xfrm>
        </p:grpSpPr>
        <p:grpSp>
          <p:nvGrpSpPr>
            <p:cNvPr id="8" name="群組 7">
              <a:extLst>
                <a:ext uri="{FF2B5EF4-FFF2-40B4-BE49-F238E27FC236}">
                  <a16:creationId xmlns:a16="http://schemas.microsoft.com/office/drawing/2014/main" id="{50AB3085-696C-0D2F-21C9-A321ADA1BD52}"/>
                </a:ext>
              </a:extLst>
            </p:cNvPr>
            <p:cNvGrpSpPr/>
            <p:nvPr/>
          </p:nvGrpSpPr>
          <p:grpSpPr>
            <a:xfrm>
              <a:off x="1721251" y="2064152"/>
              <a:ext cx="5762302" cy="1624980"/>
              <a:chOff x="1721251" y="2064147"/>
              <a:chExt cx="5762302" cy="1624977"/>
            </a:xfrm>
          </p:grpSpPr>
          <p:grpSp>
            <p:nvGrpSpPr>
              <p:cNvPr id="30" name="群組 29">
                <a:extLst>
                  <a:ext uri="{FF2B5EF4-FFF2-40B4-BE49-F238E27FC236}">
                    <a16:creationId xmlns:a16="http://schemas.microsoft.com/office/drawing/2014/main" id="{E06752AD-48B5-4355-AB26-41055A463A9E}"/>
                  </a:ext>
                </a:extLst>
              </p:cNvPr>
              <p:cNvGrpSpPr/>
              <p:nvPr/>
            </p:nvGrpSpPr>
            <p:grpSpPr>
              <a:xfrm>
                <a:off x="1721251" y="2073343"/>
                <a:ext cx="1597732" cy="1615781"/>
                <a:chOff x="7755536" y="4682354"/>
                <a:chExt cx="1539881" cy="1413646"/>
              </a:xfrm>
            </p:grpSpPr>
            <p:grpSp>
              <p:nvGrpSpPr>
                <p:cNvPr id="60" name="群組 59">
                  <a:extLst>
                    <a:ext uri="{FF2B5EF4-FFF2-40B4-BE49-F238E27FC236}">
                      <a16:creationId xmlns:a16="http://schemas.microsoft.com/office/drawing/2014/main" id="{4FF0DB97-0839-72A3-91CC-8F57D883374F}"/>
                    </a:ext>
                  </a:extLst>
                </p:cNvPr>
                <p:cNvGrpSpPr/>
                <p:nvPr/>
              </p:nvGrpSpPr>
              <p:grpSpPr>
                <a:xfrm>
                  <a:off x="7755536" y="4682354"/>
                  <a:ext cx="382023" cy="1413646"/>
                  <a:chOff x="7755536" y="4682354"/>
                  <a:chExt cx="382023" cy="1413646"/>
                </a:xfrm>
              </p:grpSpPr>
              <p:sp>
                <p:nvSpPr>
                  <p:cNvPr id="70" name="矩形 69">
                    <a:extLst>
                      <a:ext uri="{FF2B5EF4-FFF2-40B4-BE49-F238E27FC236}">
                        <a16:creationId xmlns:a16="http://schemas.microsoft.com/office/drawing/2014/main" id="{9D5198FA-43A2-163F-F691-7D4110994476}"/>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1" name="矩形 70">
                    <a:extLst>
                      <a:ext uri="{FF2B5EF4-FFF2-40B4-BE49-F238E27FC236}">
                        <a16:creationId xmlns:a16="http://schemas.microsoft.com/office/drawing/2014/main" id="{404D6AD2-14B7-691B-9ABF-859C28E3817E}"/>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61" name="群組 60">
                  <a:extLst>
                    <a:ext uri="{FF2B5EF4-FFF2-40B4-BE49-F238E27FC236}">
                      <a16:creationId xmlns:a16="http://schemas.microsoft.com/office/drawing/2014/main" id="{05A2653F-9E8F-2314-C6B1-0425E9F72723}"/>
                    </a:ext>
                  </a:extLst>
                </p:cNvPr>
                <p:cNvGrpSpPr/>
                <p:nvPr/>
              </p:nvGrpSpPr>
              <p:grpSpPr>
                <a:xfrm>
                  <a:off x="8136791" y="4682354"/>
                  <a:ext cx="382023" cy="1413646"/>
                  <a:chOff x="7755536" y="4682354"/>
                  <a:chExt cx="382023" cy="1413646"/>
                </a:xfrm>
              </p:grpSpPr>
              <p:sp>
                <p:nvSpPr>
                  <p:cNvPr id="68" name="矩形 67">
                    <a:extLst>
                      <a:ext uri="{FF2B5EF4-FFF2-40B4-BE49-F238E27FC236}">
                        <a16:creationId xmlns:a16="http://schemas.microsoft.com/office/drawing/2014/main" id="{D1E16859-5EC0-CFAA-AEA0-3A685329CFF0}"/>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9" name="矩形 68">
                    <a:extLst>
                      <a:ext uri="{FF2B5EF4-FFF2-40B4-BE49-F238E27FC236}">
                        <a16:creationId xmlns:a16="http://schemas.microsoft.com/office/drawing/2014/main" id="{88D7EC10-13CE-1ADE-DF64-4437B0C73079}"/>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62" name="群組 61">
                  <a:extLst>
                    <a:ext uri="{FF2B5EF4-FFF2-40B4-BE49-F238E27FC236}">
                      <a16:creationId xmlns:a16="http://schemas.microsoft.com/office/drawing/2014/main" id="{CB86A049-75EC-66E8-E3D5-7A392BFBA01C}"/>
                    </a:ext>
                  </a:extLst>
                </p:cNvPr>
                <p:cNvGrpSpPr/>
                <p:nvPr/>
              </p:nvGrpSpPr>
              <p:grpSpPr>
                <a:xfrm>
                  <a:off x="8529017" y="4682354"/>
                  <a:ext cx="382023" cy="1413646"/>
                  <a:chOff x="7755536" y="4682354"/>
                  <a:chExt cx="382023" cy="1413646"/>
                </a:xfrm>
              </p:grpSpPr>
              <p:sp>
                <p:nvSpPr>
                  <p:cNvPr id="66" name="矩形 65">
                    <a:extLst>
                      <a:ext uri="{FF2B5EF4-FFF2-40B4-BE49-F238E27FC236}">
                        <a16:creationId xmlns:a16="http://schemas.microsoft.com/office/drawing/2014/main" id="{CBA239CF-ABFA-3B84-87EE-710A27C458CA}"/>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7" name="矩形 66">
                    <a:extLst>
                      <a:ext uri="{FF2B5EF4-FFF2-40B4-BE49-F238E27FC236}">
                        <a16:creationId xmlns:a16="http://schemas.microsoft.com/office/drawing/2014/main" id="{B99704B0-DD38-9FF4-0BF4-EC72F0A52019}"/>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63" name="群組 62">
                  <a:extLst>
                    <a:ext uri="{FF2B5EF4-FFF2-40B4-BE49-F238E27FC236}">
                      <a16:creationId xmlns:a16="http://schemas.microsoft.com/office/drawing/2014/main" id="{05DB19BF-8878-728D-0DC5-B82876FB6375}"/>
                    </a:ext>
                  </a:extLst>
                </p:cNvPr>
                <p:cNvGrpSpPr/>
                <p:nvPr/>
              </p:nvGrpSpPr>
              <p:grpSpPr>
                <a:xfrm>
                  <a:off x="8913394" y="4682354"/>
                  <a:ext cx="382023" cy="1413646"/>
                  <a:chOff x="7755536" y="4682354"/>
                  <a:chExt cx="382023" cy="1413646"/>
                </a:xfrm>
              </p:grpSpPr>
              <p:sp>
                <p:nvSpPr>
                  <p:cNvPr id="64" name="矩形 63">
                    <a:extLst>
                      <a:ext uri="{FF2B5EF4-FFF2-40B4-BE49-F238E27FC236}">
                        <a16:creationId xmlns:a16="http://schemas.microsoft.com/office/drawing/2014/main" id="{332D4DF3-E9F5-26C4-7304-9515744C41FB}"/>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5" name="矩形 64">
                    <a:extLst>
                      <a:ext uri="{FF2B5EF4-FFF2-40B4-BE49-F238E27FC236}">
                        <a16:creationId xmlns:a16="http://schemas.microsoft.com/office/drawing/2014/main" id="{C3669667-3FF5-D4D1-93C7-DD9BA8DCFEB3}"/>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grpSp>
            <p:nvGrpSpPr>
              <p:cNvPr id="31" name="群組 30">
                <a:extLst>
                  <a:ext uri="{FF2B5EF4-FFF2-40B4-BE49-F238E27FC236}">
                    <a16:creationId xmlns:a16="http://schemas.microsoft.com/office/drawing/2014/main" id="{4A82667A-D330-70DE-C1AF-25FDFA134F76}"/>
                  </a:ext>
                </a:extLst>
              </p:cNvPr>
              <p:cNvGrpSpPr/>
              <p:nvPr/>
            </p:nvGrpSpPr>
            <p:grpSpPr>
              <a:xfrm>
                <a:off x="3335221" y="2064148"/>
                <a:ext cx="1597732" cy="1615781"/>
                <a:chOff x="3923113" y="2277371"/>
                <a:chExt cx="1539881" cy="1413646"/>
              </a:xfrm>
            </p:grpSpPr>
            <p:grpSp>
              <p:nvGrpSpPr>
                <p:cNvPr id="48" name="群組 47">
                  <a:extLst>
                    <a:ext uri="{FF2B5EF4-FFF2-40B4-BE49-F238E27FC236}">
                      <a16:creationId xmlns:a16="http://schemas.microsoft.com/office/drawing/2014/main" id="{22B2CA9B-F648-65EA-AB87-7B332BF44F09}"/>
                    </a:ext>
                  </a:extLst>
                </p:cNvPr>
                <p:cNvGrpSpPr/>
                <p:nvPr/>
              </p:nvGrpSpPr>
              <p:grpSpPr>
                <a:xfrm>
                  <a:off x="3923113" y="2277371"/>
                  <a:ext cx="382023" cy="1413646"/>
                  <a:chOff x="7755536" y="4682354"/>
                  <a:chExt cx="382023" cy="1413646"/>
                </a:xfrm>
                <a:solidFill>
                  <a:schemeClr val="accent6">
                    <a:lumMod val="60000"/>
                    <a:lumOff val="40000"/>
                  </a:schemeClr>
                </a:solidFill>
              </p:grpSpPr>
              <p:sp>
                <p:nvSpPr>
                  <p:cNvPr id="58" name="矩形 57">
                    <a:extLst>
                      <a:ext uri="{FF2B5EF4-FFF2-40B4-BE49-F238E27FC236}">
                        <a16:creationId xmlns:a16="http://schemas.microsoft.com/office/drawing/2014/main" id="{57266A9D-48D0-81A7-BD39-566A788242FB}"/>
                      </a:ext>
                    </a:extLst>
                  </p:cNvPr>
                  <p:cNvSpPr/>
                  <p:nvPr/>
                </p:nvSpPr>
                <p:spPr>
                  <a:xfrm>
                    <a:off x="7755536"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9" name="矩形 58">
                    <a:extLst>
                      <a:ext uri="{FF2B5EF4-FFF2-40B4-BE49-F238E27FC236}">
                        <a16:creationId xmlns:a16="http://schemas.microsoft.com/office/drawing/2014/main" id="{87DCBD77-4379-453D-EEE4-3BB0171293CD}"/>
                      </a:ext>
                    </a:extLst>
                  </p:cNvPr>
                  <p:cNvSpPr/>
                  <p:nvPr/>
                </p:nvSpPr>
                <p:spPr>
                  <a:xfrm>
                    <a:off x="7946547"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49" name="群組 48">
                  <a:extLst>
                    <a:ext uri="{FF2B5EF4-FFF2-40B4-BE49-F238E27FC236}">
                      <a16:creationId xmlns:a16="http://schemas.microsoft.com/office/drawing/2014/main" id="{D6FDEC6C-5990-935B-5A97-AC078B34E739}"/>
                    </a:ext>
                  </a:extLst>
                </p:cNvPr>
                <p:cNvGrpSpPr/>
                <p:nvPr/>
              </p:nvGrpSpPr>
              <p:grpSpPr>
                <a:xfrm>
                  <a:off x="4304368" y="2277371"/>
                  <a:ext cx="382023" cy="1413646"/>
                  <a:chOff x="7755536" y="4682354"/>
                  <a:chExt cx="382023" cy="1413646"/>
                </a:xfrm>
                <a:solidFill>
                  <a:schemeClr val="accent6">
                    <a:lumMod val="20000"/>
                    <a:lumOff val="80000"/>
                  </a:schemeClr>
                </a:solidFill>
              </p:grpSpPr>
              <p:sp>
                <p:nvSpPr>
                  <p:cNvPr id="56" name="矩形 55">
                    <a:extLst>
                      <a:ext uri="{FF2B5EF4-FFF2-40B4-BE49-F238E27FC236}">
                        <a16:creationId xmlns:a16="http://schemas.microsoft.com/office/drawing/2014/main" id="{B0BFA81D-CBD0-867E-0A11-16FC330200C4}"/>
                      </a:ext>
                    </a:extLst>
                  </p:cNvPr>
                  <p:cNvSpPr/>
                  <p:nvPr/>
                </p:nvSpPr>
                <p:spPr>
                  <a:xfrm>
                    <a:off x="7755536"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7" name="矩形 56">
                    <a:extLst>
                      <a:ext uri="{FF2B5EF4-FFF2-40B4-BE49-F238E27FC236}">
                        <a16:creationId xmlns:a16="http://schemas.microsoft.com/office/drawing/2014/main" id="{87794C5E-F5A9-37FD-2E77-76838136BCAA}"/>
                      </a:ext>
                    </a:extLst>
                  </p:cNvPr>
                  <p:cNvSpPr/>
                  <p:nvPr/>
                </p:nvSpPr>
                <p:spPr>
                  <a:xfrm>
                    <a:off x="7946547"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50" name="群組 49">
                  <a:extLst>
                    <a:ext uri="{FF2B5EF4-FFF2-40B4-BE49-F238E27FC236}">
                      <a16:creationId xmlns:a16="http://schemas.microsoft.com/office/drawing/2014/main" id="{30971F92-CE48-185A-594D-EEAD317FBFA6}"/>
                    </a:ext>
                  </a:extLst>
                </p:cNvPr>
                <p:cNvGrpSpPr/>
                <p:nvPr/>
              </p:nvGrpSpPr>
              <p:grpSpPr>
                <a:xfrm>
                  <a:off x="4696594" y="2277371"/>
                  <a:ext cx="382023" cy="1413646"/>
                  <a:chOff x="7755536" y="4682354"/>
                  <a:chExt cx="382023" cy="1413646"/>
                </a:xfrm>
              </p:grpSpPr>
              <p:sp>
                <p:nvSpPr>
                  <p:cNvPr id="54" name="矩形 53">
                    <a:extLst>
                      <a:ext uri="{FF2B5EF4-FFF2-40B4-BE49-F238E27FC236}">
                        <a16:creationId xmlns:a16="http://schemas.microsoft.com/office/drawing/2014/main" id="{0D5C195C-293D-E266-3C78-56ADD732184D}"/>
                      </a:ext>
                    </a:extLst>
                  </p:cNvPr>
                  <p:cNvSpPr/>
                  <p:nvPr/>
                </p:nvSpPr>
                <p:spPr>
                  <a:xfrm>
                    <a:off x="7755536" y="4682354"/>
                    <a:ext cx="191012" cy="1413646"/>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5" name="矩形 54">
                    <a:extLst>
                      <a:ext uri="{FF2B5EF4-FFF2-40B4-BE49-F238E27FC236}">
                        <a16:creationId xmlns:a16="http://schemas.microsoft.com/office/drawing/2014/main" id="{FAC5B5EB-0EF7-DD4C-C891-A9395579D658}"/>
                      </a:ext>
                    </a:extLst>
                  </p:cNvPr>
                  <p:cNvSpPr/>
                  <p:nvPr/>
                </p:nvSpPr>
                <p:spPr>
                  <a:xfrm>
                    <a:off x="7946547" y="4682354"/>
                    <a:ext cx="191012" cy="141364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51" name="群組 50">
                  <a:extLst>
                    <a:ext uri="{FF2B5EF4-FFF2-40B4-BE49-F238E27FC236}">
                      <a16:creationId xmlns:a16="http://schemas.microsoft.com/office/drawing/2014/main" id="{1E5A129A-CAAC-53A4-DEE9-A898831454F4}"/>
                    </a:ext>
                  </a:extLst>
                </p:cNvPr>
                <p:cNvGrpSpPr/>
                <p:nvPr/>
              </p:nvGrpSpPr>
              <p:grpSpPr>
                <a:xfrm>
                  <a:off x="5080971" y="2277371"/>
                  <a:ext cx="382023" cy="1413646"/>
                  <a:chOff x="7755536" y="4682354"/>
                  <a:chExt cx="382023" cy="1413646"/>
                </a:xfrm>
              </p:grpSpPr>
              <p:sp>
                <p:nvSpPr>
                  <p:cNvPr id="52" name="矩形 51">
                    <a:extLst>
                      <a:ext uri="{FF2B5EF4-FFF2-40B4-BE49-F238E27FC236}">
                        <a16:creationId xmlns:a16="http://schemas.microsoft.com/office/drawing/2014/main" id="{AE3F6C0A-8A6C-572B-B467-C0F568647D8D}"/>
                      </a:ext>
                    </a:extLst>
                  </p:cNvPr>
                  <p:cNvSpPr/>
                  <p:nvPr/>
                </p:nvSpPr>
                <p:spPr>
                  <a:xfrm>
                    <a:off x="7755536" y="4682354"/>
                    <a:ext cx="191012" cy="141364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3" name="矩形 52">
                    <a:extLst>
                      <a:ext uri="{FF2B5EF4-FFF2-40B4-BE49-F238E27FC236}">
                        <a16:creationId xmlns:a16="http://schemas.microsoft.com/office/drawing/2014/main" id="{12C6C776-7200-23EE-5CB9-FC1B75BB5419}"/>
                      </a:ext>
                    </a:extLst>
                  </p:cNvPr>
                  <p:cNvSpPr/>
                  <p:nvPr/>
                </p:nvSpPr>
                <p:spPr>
                  <a:xfrm>
                    <a:off x="7946547" y="4682354"/>
                    <a:ext cx="191012" cy="1413646"/>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grpSp>
            <p:nvGrpSpPr>
              <p:cNvPr id="32" name="群組 31">
                <a:extLst>
                  <a:ext uri="{FF2B5EF4-FFF2-40B4-BE49-F238E27FC236}">
                    <a16:creationId xmlns:a16="http://schemas.microsoft.com/office/drawing/2014/main" id="{08124897-B1F0-1E2F-A403-318C169662D4}"/>
                  </a:ext>
                </a:extLst>
              </p:cNvPr>
              <p:cNvGrpSpPr/>
              <p:nvPr/>
            </p:nvGrpSpPr>
            <p:grpSpPr>
              <a:xfrm>
                <a:off x="4932953" y="2064148"/>
                <a:ext cx="1597732" cy="1615781"/>
                <a:chOff x="7755536" y="4682354"/>
                <a:chExt cx="1539881" cy="1413646"/>
              </a:xfrm>
            </p:grpSpPr>
            <p:grpSp>
              <p:nvGrpSpPr>
                <p:cNvPr id="36" name="群組 35">
                  <a:extLst>
                    <a:ext uri="{FF2B5EF4-FFF2-40B4-BE49-F238E27FC236}">
                      <a16:creationId xmlns:a16="http://schemas.microsoft.com/office/drawing/2014/main" id="{4DE962EC-314D-66F3-B8AE-A8BF860357A7}"/>
                    </a:ext>
                  </a:extLst>
                </p:cNvPr>
                <p:cNvGrpSpPr/>
                <p:nvPr/>
              </p:nvGrpSpPr>
              <p:grpSpPr>
                <a:xfrm>
                  <a:off x="7755536" y="4682354"/>
                  <a:ext cx="382023" cy="1413646"/>
                  <a:chOff x="7755536" y="4682354"/>
                  <a:chExt cx="382023" cy="1413646"/>
                </a:xfrm>
              </p:grpSpPr>
              <p:sp>
                <p:nvSpPr>
                  <p:cNvPr id="46" name="矩形 45">
                    <a:extLst>
                      <a:ext uri="{FF2B5EF4-FFF2-40B4-BE49-F238E27FC236}">
                        <a16:creationId xmlns:a16="http://schemas.microsoft.com/office/drawing/2014/main" id="{CBFCC1DA-5632-69E1-4C9C-35027A1A1B9E}"/>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9326AD4B-B66E-8D47-7CC8-AAFD285518B0}"/>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7" name="群組 36">
                  <a:extLst>
                    <a:ext uri="{FF2B5EF4-FFF2-40B4-BE49-F238E27FC236}">
                      <a16:creationId xmlns:a16="http://schemas.microsoft.com/office/drawing/2014/main" id="{B3951137-1DF2-D017-637D-E9520600DA35}"/>
                    </a:ext>
                  </a:extLst>
                </p:cNvPr>
                <p:cNvGrpSpPr/>
                <p:nvPr/>
              </p:nvGrpSpPr>
              <p:grpSpPr>
                <a:xfrm>
                  <a:off x="8136791" y="4682354"/>
                  <a:ext cx="382023" cy="1413646"/>
                  <a:chOff x="7755536" y="4682354"/>
                  <a:chExt cx="382023" cy="1413646"/>
                </a:xfrm>
              </p:grpSpPr>
              <p:sp>
                <p:nvSpPr>
                  <p:cNvPr id="44" name="矩形 43">
                    <a:extLst>
                      <a:ext uri="{FF2B5EF4-FFF2-40B4-BE49-F238E27FC236}">
                        <a16:creationId xmlns:a16="http://schemas.microsoft.com/office/drawing/2014/main" id="{DA5248A6-3C3F-11BE-0F0C-E536695D837B}"/>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553B5835-1509-2EB1-91FB-C96AE1E840A2}"/>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8" name="群組 37">
                  <a:extLst>
                    <a:ext uri="{FF2B5EF4-FFF2-40B4-BE49-F238E27FC236}">
                      <a16:creationId xmlns:a16="http://schemas.microsoft.com/office/drawing/2014/main" id="{5D0D2995-AFFB-7164-805D-2AE8CE1D472B}"/>
                    </a:ext>
                  </a:extLst>
                </p:cNvPr>
                <p:cNvGrpSpPr/>
                <p:nvPr/>
              </p:nvGrpSpPr>
              <p:grpSpPr>
                <a:xfrm>
                  <a:off x="8529017" y="4682354"/>
                  <a:ext cx="382023" cy="1413646"/>
                  <a:chOff x="7755536" y="4682354"/>
                  <a:chExt cx="382023" cy="1413646"/>
                </a:xfrm>
              </p:grpSpPr>
              <p:sp>
                <p:nvSpPr>
                  <p:cNvPr id="42" name="矩形 41">
                    <a:extLst>
                      <a:ext uri="{FF2B5EF4-FFF2-40B4-BE49-F238E27FC236}">
                        <a16:creationId xmlns:a16="http://schemas.microsoft.com/office/drawing/2014/main" id="{C8FD5796-FCCF-3B95-5D50-60D3F6CBDF24}"/>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3" name="矩形 42">
                    <a:extLst>
                      <a:ext uri="{FF2B5EF4-FFF2-40B4-BE49-F238E27FC236}">
                        <a16:creationId xmlns:a16="http://schemas.microsoft.com/office/drawing/2014/main" id="{13760667-69A9-BCB7-2CF2-6B90F241733B}"/>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9" name="群組 38">
                  <a:extLst>
                    <a:ext uri="{FF2B5EF4-FFF2-40B4-BE49-F238E27FC236}">
                      <a16:creationId xmlns:a16="http://schemas.microsoft.com/office/drawing/2014/main" id="{999D7773-F198-4FAF-D4F5-D1DD1363DA73}"/>
                    </a:ext>
                  </a:extLst>
                </p:cNvPr>
                <p:cNvGrpSpPr/>
                <p:nvPr/>
              </p:nvGrpSpPr>
              <p:grpSpPr>
                <a:xfrm>
                  <a:off x="8913394" y="4682354"/>
                  <a:ext cx="382023" cy="1413646"/>
                  <a:chOff x="7755536" y="4682354"/>
                  <a:chExt cx="382023" cy="1413646"/>
                </a:xfrm>
              </p:grpSpPr>
              <p:sp>
                <p:nvSpPr>
                  <p:cNvPr id="40" name="矩形 39">
                    <a:extLst>
                      <a:ext uri="{FF2B5EF4-FFF2-40B4-BE49-F238E27FC236}">
                        <a16:creationId xmlns:a16="http://schemas.microsoft.com/office/drawing/2014/main" id="{FDA63A45-D4CB-76C9-2CF4-BAD6016A1300}"/>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1" name="矩形 40">
                    <a:extLst>
                      <a:ext uri="{FF2B5EF4-FFF2-40B4-BE49-F238E27FC236}">
                        <a16:creationId xmlns:a16="http://schemas.microsoft.com/office/drawing/2014/main" id="{42916E3C-F199-2192-382E-3D382BDD2880}"/>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33" name="矩形 32">
                <a:extLst>
                  <a:ext uri="{FF2B5EF4-FFF2-40B4-BE49-F238E27FC236}">
                    <a16:creationId xmlns:a16="http://schemas.microsoft.com/office/drawing/2014/main" id="{57A91604-B51F-901A-4DAD-8B7ED288FE16}"/>
                  </a:ext>
                </a:extLst>
              </p:cNvPr>
              <p:cNvSpPr/>
              <p:nvPr/>
            </p:nvSpPr>
            <p:spPr>
              <a:xfrm>
                <a:off x="6526342" y="2064147"/>
                <a:ext cx="938615" cy="1615781"/>
              </a:xfrm>
              <a:prstGeom prst="rect">
                <a:avLst/>
              </a:prstGeom>
              <a:solidFill>
                <a:srgbClr val="ECDFF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矩形 33">
                <a:extLst>
                  <a:ext uri="{FF2B5EF4-FFF2-40B4-BE49-F238E27FC236}">
                    <a16:creationId xmlns:a16="http://schemas.microsoft.com/office/drawing/2014/main" id="{68E8F4BA-EF5F-A5C3-DACC-687C55225417}"/>
                  </a:ext>
                </a:extLst>
              </p:cNvPr>
              <p:cNvSpPr/>
              <p:nvPr/>
            </p:nvSpPr>
            <p:spPr>
              <a:xfrm>
                <a:off x="1737487" y="3415508"/>
                <a:ext cx="5746066" cy="264355"/>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5" name="矩形 34">
                <a:extLst>
                  <a:ext uri="{FF2B5EF4-FFF2-40B4-BE49-F238E27FC236}">
                    <a16:creationId xmlns:a16="http://schemas.microsoft.com/office/drawing/2014/main" id="{14AC0B5C-83D9-D788-EB16-449E1EC56EC6}"/>
                  </a:ext>
                </a:extLst>
              </p:cNvPr>
              <p:cNvSpPr/>
              <p:nvPr/>
            </p:nvSpPr>
            <p:spPr>
              <a:xfrm>
                <a:off x="1733796" y="2654937"/>
                <a:ext cx="5731161" cy="217107"/>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nvGrpSpPr>
            <p:cNvPr id="9" name="群組 8">
              <a:extLst>
                <a:ext uri="{FF2B5EF4-FFF2-40B4-BE49-F238E27FC236}">
                  <a16:creationId xmlns:a16="http://schemas.microsoft.com/office/drawing/2014/main" id="{E2364857-CD93-9F99-1AAA-4EED03B900EA}"/>
                </a:ext>
              </a:extLst>
            </p:cNvPr>
            <p:cNvGrpSpPr/>
            <p:nvPr/>
          </p:nvGrpSpPr>
          <p:grpSpPr>
            <a:xfrm>
              <a:off x="3334516" y="2335994"/>
              <a:ext cx="1595995" cy="869130"/>
              <a:chOff x="3334516" y="2335993"/>
              <a:chExt cx="1595995" cy="869130"/>
            </a:xfrm>
          </p:grpSpPr>
          <p:sp>
            <p:nvSpPr>
              <p:cNvPr id="28" name="矩形 27">
                <a:extLst>
                  <a:ext uri="{FF2B5EF4-FFF2-40B4-BE49-F238E27FC236}">
                    <a16:creationId xmlns:a16="http://schemas.microsoft.com/office/drawing/2014/main" id="{03BA34A9-2437-FE78-E62E-2FE259927AC8}"/>
                  </a:ext>
                </a:extLst>
              </p:cNvPr>
              <p:cNvSpPr/>
              <p:nvPr/>
            </p:nvSpPr>
            <p:spPr>
              <a:xfrm>
                <a:off x="3345196" y="2335993"/>
                <a:ext cx="1585315"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9" name="矩形 28">
                <a:extLst>
                  <a:ext uri="{FF2B5EF4-FFF2-40B4-BE49-F238E27FC236}">
                    <a16:creationId xmlns:a16="http://schemas.microsoft.com/office/drawing/2014/main" id="{5185DFF9-4B5C-2C8E-5524-388F2B8D3C86}"/>
                  </a:ext>
                </a:extLst>
              </p:cNvPr>
              <p:cNvSpPr/>
              <p:nvPr/>
            </p:nvSpPr>
            <p:spPr>
              <a:xfrm>
                <a:off x="3334516" y="2988016"/>
                <a:ext cx="1585315"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nvGrpSpPr>
            <p:cNvPr id="10" name="群組 9">
              <a:extLst>
                <a:ext uri="{FF2B5EF4-FFF2-40B4-BE49-F238E27FC236}">
                  <a16:creationId xmlns:a16="http://schemas.microsoft.com/office/drawing/2014/main" id="{238E27AF-2AED-D086-1A95-1CCB04115C18}"/>
                </a:ext>
              </a:extLst>
            </p:cNvPr>
            <p:cNvGrpSpPr/>
            <p:nvPr/>
          </p:nvGrpSpPr>
          <p:grpSpPr>
            <a:xfrm>
              <a:off x="6529057" y="2340691"/>
              <a:ext cx="954496" cy="864433"/>
              <a:chOff x="6529057" y="2340690"/>
              <a:chExt cx="954496" cy="864433"/>
            </a:xfrm>
          </p:grpSpPr>
          <p:sp>
            <p:nvSpPr>
              <p:cNvPr id="25" name="矩形 24">
                <a:extLst>
                  <a:ext uri="{FF2B5EF4-FFF2-40B4-BE49-F238E27FC236}">
                    <a16:creationId xmlns:a16="http://schemas.microsoft.com/office/drawing/2014/main" id="{69A8514D-71A7-81D3-C7A7-1909038852A3}"/>
                  </a:ext>
                </a:extLst>
              </p:cNvPr>
              <p:cNvSpPr/>
              <p:nvPr/>
            </p:nvSpPr>
            <p:spPr>
              <a:xfrm>
                <a:off x="6537474" y="2988016"/>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6" name="矩形 25">
                <a:extLst>
                  <a:ext uri="{FF2B5EF4-FFF2-40B4-BE49-F238E27FC236}">
                    <a16:creationId xmlns:a16="http://schemas.microsoft.com/office/drawing/2014/main" id="{80BE52A9-49D2-3B47-2D5B-EE7D1BE062ED}"/>
                  </a:ext>
                </a:extLst>
              </p:cNvPr>
              <p:cNvSpPr/>
              <p:nvPr/>
            </p:nvSpPr>
            <p:spPr>
              <a:xfrm>
                <a:off x="6529057" y="2340690"/>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7" name="矩形 26">
                <a:extLst>
                  <a:ext uri="{FF2B5EF4-FFF2-40B4-BE49-F238E27FC236}">
                    <a16:creationId xmlns:a16="http://schemas.microsoft.com/office/drawing/2014/main" id="{878BA91A-EB6A-6A33-9405-1427B1BBA578}"/>
                  </a:ext>
                </a:extLst>
              </p:cNvPr>
              <p:cNvSpPr/>
              <p:nvPr/>
            </p:nvSpPr>
            <p:spPr>
              <a:xfrm>
                <a:off x="6529057" y="2654936"/>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grpSp>
          <p:nvGrpSpPr>
            <p:cNvPr id="11" name="群組 10">
              <a:extLst>
                <a:ext uri="{FF2B5EF4-FFF2-40B4-BE49-F238E27FC236}">
                  <a16:creationId xmlns:a16="http://schemas.microsoft.com/office/drawing/2014/main" id="{1ED8FED4-6F33-EABA-D589-1B3A2EDE8325}"/>
                </a:ext>
              </a:extLst>
            </p:cNvPr>
            <p:cNvGrpSpPr/>
            <p:nvPr/>
          </p:nvGrpSpPr>
          <p:grpSpPr>
            <a:xfrm>
              <a:off x="3400382" y="1365382"/>
              <a:ext cx="1029173" cy="1735170"/>
              <a:chOff x="3400382" y="1365382"/>
              <a:chExt cx="1029173" cy="1735170"/>
            </a:xfrm>
          </p:grpSpPr>
          <p:cxnSp>
            <p:nvCxnSpPr>
              <p:cNvPr id="20" name="直線接點 19">
                <a:extLst>
                  <a:ext uri="{FF2B5EF4-FFF2-40B4-BE49-F238E27FC236}">
                    <a16:creationId xmlns:a16="http://schemas.microsoft.com/office/drawing/2014/main" id="{73309AC6-67E3-D7F7-F07E-19E5AAEDBCAB}"/>
                  </a:ext>
                </a:extLst>
              </p:cNvPr>
              <p:cNvCxnSpPr>
                <a:cxnSpLocks/>
              </p:cNvCxnSpPr>
              <p:nvPr/>
            </p:nvCxnSpPr>
            <p:spPr>
              <a:xfrm flipH="1" flipV="1">
                <a:off x="3401676" y="1690688"/>
                <a:ext cx="131732" cy="140986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直線接點 20">
                <a:extLst>
                  <a:ext uri="{FF2B5EF4-FFF2-40B4-BE49-F238E27FC236}">
                    <a16:creationId xmlns:a16="http://schemas.microsoft.com/office/drawing/2014/main" id="{0C8D4365-B429-2B28-609E-A0F75EE0E1FA}"/>
                  </a:ext>
                </a:extLst>
              </p:cNvPr>
              <p:cNvCxnSpPr>
                <a:cxnSpLocks/>
              </p:cNvCxnSpPr>
              <p:nvPr/>
            </p:nvCxnSpPr>
            <p:spPr>
              <a:xfrm flipH="1" flipV="1">
                <a:off x="4327862" y="1376673"/>
                <a:ext cx="101693" cy="10542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線接點 21">
                <a:extLst>
                  <a:ext uri="{FF2B5EF4-FFF2-40B4-BE49-F238E27FC236}">
                    <a16:creationId xmlns:a16="http://schemas.microsoft.com/office/drawing/2014/main" id="{621DE2F7-BF55-AEF3-6BBE-03FB60E9CEBE}"/>
                  </a:ext>
                </a:extLst>
              </p:cNvPr>
              <p:cNvCxnSpPr>
                <a:cxnSpLocks/>
              </p:cNvCxnSpPr>
              <p:nvPr/>
            </p:nvCxnSpPr>
            <p:spPr>
              <a:xfrm flipV="1">
                <a:off x="3400382" y="1616089"/>
                <a:ext cx="232120" cy="8522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直線接點 22">
                <a:extLst>
                  <a:ext uri="{FF2B5EF4-FFF2-40B4-BE49-F238E27FC236}">
                    <a16:creationId xmlns:a16="http://schemas.microsoft.com/office/drawing/2014/main" id="{898FFFED-B81C-ED85-A2EF-FF81F52DD215}"/>
                  </a:ext>
                </a:extLst>
              </p:cNvPr>
              <p:cNvCxnSpPr>
                <a:cxnSpLocks/>
              </p:cNvCxnSpPr>
              <p:nvPr/>
            </p:nvCxnSpPr>
            <p:spPr>
              <a:xfrm flipH="1">
                <a:off x="4017570" y="1386323"/>
                <a:ext cx="319098" cy="1220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橢圓 23">
                <a:extLst>
                  <a:ext uri="{FF2B5EF4-FFF2-40B4-BE49-F238E27FC236}">
                    <a16:creationId xmlns:a16="http://schemas.microsoft.com/office/drawing/2014/main" id="{0E60F103-EFE3-5419-CE7F-E9C694246AB9}"/>
                  </a:ext>
                </a:extLst>
              </p:cNvPr>
              <p:cNvSpPr/>
              <p:nvPr/>
            </p:nvSpPr>
            <p:spPr>
              <a:xfrm>
                <a:off x="3628128" y="1365382"/>
                <a:ext cx="382626" cy="378964"/>
              </a:xfrm>
              <a:prstGeom prst="ellipse">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solidFill>
                      <a:schemeClr val="tx1"/>
                    </a:solidFill>
                  </a:rPr>
                  <a:t>V</a:t>
                </a:r>
                <a:endParaRPr lang="zh-TW" altLang="en-US" b="1" dirty="0">
                  <a:solidFill>
                    <a:schemeClr val="tx1"/>
                  </a:solidFill>
                </a:endParaRPr>
              </a:p>
            </p:txBody>
          </p:sp>
        </p:grpSp>
        <p:grpSp>
          <p:nvGrpSpPr>
            <p:cNvPr id="12" name="群組 11">
              <a:extLst>
                <a:ext uri="{FF2B5EF4-FFF2-40B4-BE49-F238E27FC236}">
                  <a16:creationId xmlns:a16="http://schemas.microsoft.com/office/drawing/2014/main" id="{48746D1B-0E3D-AB42-370C-54F867E36CBE}"/>
                </a:ext>
              </a:extLst>
            </p:cNvPr>
            <p:cNvGrpSpPr/>
            <p:nvPr/>
          </p:nvGrpSpPr>
          <p:grpSpPr>
            <a:xfrm>
              <a:off x="6632767" y="1009374"/>
              <a:ext cx="701586" cy="2087197"/>
              <a:chOff x="3400382" y="1365382"/>
              <a:chExt cx="1011332" cy="1656169"/>
            </a:xfrm>
          </p:grpSpPr>
          <p:cxnSp>
            <p:nvCxnSpPr>
              <p:cNvPr id="13" name="直線接點 12">
                <a:extLst>
                  <a:ext uri="{FF2B5EF4-FFF2-40B4-BE49-F238E27FC236}">
                    <a16:creationId xmlns:a16="http://schemas.microsoft.com/office/drawing/2014/main" id="{8E5E1310-60BE-DEE5-6C6F-709918071273}"/>
                  </a:ext>
                </a:extLst>
              </p:cNvPr>
              <p:cNvCxnSpPr>
                <a:cxnSpLocks/>
              </p:cNvCxnSpPr>
              <p:nvPr/>
            </p:nvCxnSpPr>
            <p:spPr>
              <a:xfrm flipH="1" flipV="1">
                <a:off x="3401676" y="1690688"/>
                <a:ext cx="47881" cy="109998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線接點 13">
                <a:extLst>
                  <a:ext uri="{FF2B5EF4-FFF2-40B4-BE49-F238E27FC236}">
                    <a16:creationId xmlns:a16="http://schemas.microsoft.com/office/drawing/2014/main" id="{A0C61E32-5F43-410A-9B57-8279FFFF197C}"/>
                  </a:ext>
                </a:extLst>
              </p:cNvPr>
              <p:cNvCxnSpPr>
                <a:cxnSpLocks/>
              </p:cNvCxnSpPr>
              <p:nvPr/>
            </p:nvCxnSpPr>
            <p:spPr>
              <a:xfrm flipH="1" flipV="1">
                <a:off x="4327862" y="1393353"/>
                <a:ext cx="83852" cy="10999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線接點 14">
                <a:extLst>
                  <a:ext uri="{FF2B5EF4-FFF2-40B4-BE49-F238E27FC236}">
                    <a16:creationId xmlns:a16="http://schemas.microsoft.com/office/drawing/2014/main" id="{6E2092C2-B7F4-A5BE-8552-5B342EF89EF3}"/>
                  </a:ext>
                </a:extLst>
              </p:cNvPr>
              <p:cNvCxnSpPr>
                <a:cxnSpLocks/>
              </p:cNvCxnSpPr>
              <p:nvPr/>
            </p:nvCxnSpPr>
            <p:spPr>
              <a:xfrm flipV="1">
                <a:off x="3400382" y="1616089"/>
                <a:ext cx="232120" cy="8522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線接點 15">
                <a:extLst>
                  <a:ext uri="{FF2B5EF4-FFF2-40B4-BE49-F238E27FC236}">
                    <a16:creationId xmlns:a16="http://schemas.microsoft.com/office/drawing/2014/main" id="{032243FE-9F27-05EC-C3AA-08AF44CA1EED}"/>
                  </a:ext>
                </a:extLst>
              </p:cNvPr>
              <p:cNvCxnSpPr>
                <a:cxnSpLocks/>
              </p:cNvCxnSpPr>
              <p:nvPr/>
            </p:nvCxnSpPr>
            <p:spPr>
              <a:xfrm flipH="1">
                <a:off x="4017570" y="1386323"/>
                <a:ext cx="319098" cy="1220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橢圓 16">
                <a:extLst>
                  <a:ext uri="{FF2B5EF4-FFF2-40B4-BE49-F238E27FC236}">
                    <a16:creationId xmlns:a16="http://schemas.microsoft.com/office/drawing/2014/main" id="{D66ACBE3-50EC-B92F-D471-DADF098FDEC7}"/>
                  </a:ext>
                </a:extLst>
              </p:cNvPr>
              <p:cNvSpPr/>
              <p:nvPr/>
            </p:nvSpPr>
            <p:spPr>
              <a:xfrm>
                <a:off x="3628128" y="1365382"/>
                <a:ext cx="382626" cy="378964"/>
              </a:xfrm>
              <a:prstGeom prst="ellipse">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solidFill>
                      <a:schemeClr val="tx1"/>
                    </a:solidFill>
                  </a:rPr>
                  <a:t>V</a:t>
                </a:r>
                <a:endParaRPr lang="zh-TW" altLang="en-US" b="1" dirty="0">
                  <a:solidFill>
                    <a:schemeClr val="tx1"/>
                  </a:solidFill>
                </a:endParaRPr>
              </a:p>
            </p:txBody>
          </p:sp>
          <p:cxnSp>
            <p:nvCxnSpPr>
              <p:cNvPr id="18" name="直線接點 17">
                <a:extLst>
                  <a:ext uri="{FF2B5EF4-FFF2-40B4-BE49-F238E27FC236}">
                    <a16:creationId xmlns:a16="http://schemas.microsoft.com/office/drawing/2014/main" id="{0C6A4BB9-2340-00C2-3E8B-A4A50B6E18B4}"/>
                  </a:ext>
                </a:extLst>
              </p:cNvPr>
              <p:cNvCxnSpPr>
                <a:cxnSpLocks/>
              </p:cNvCxnSpPr>
              <p:nvPr/>
            </p:nvCxnSpPr>
            <p:spPr>
              <a:xfrm flipH="1" flipV="1">
                <a:off x="3982231" y="1720495"/>
                <a:ext cx="80729" cy="13010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線接點 18">
                <a:extLst>
                  <a:ext uri="{FF2B5EF4-FFF2-40B4-BE49-F238E27FC236}">
                    <a16:creationId xmlns:a16="http://schemas.microsoft.com/office/drawing/2014/main" id="{CCDC5BA9-F006-DC4A-9DFA-16F7E7540639}"/>
                  </a:ext>
                </a:extLst>
              </p:cNvPr>
              <p:cNvCxnSpPr>
                <a:cxnSpLocks/>
              </p:cNvCxnSpPr>
              <p:nvPr/>
            </p:nvCxnSpPr>
            <p:spPr>
              <a:xfrm flipH="1" flipV="1">
                <a:off x="3942803" y="1690687"/>
                <a:ext cx="39428" cy="986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73" name="文字方塊 72">
            <a:extLst>
              <a:ext uri="{FF2B5EF4-FFF2-40B4-BE49-F238E27FC236}">
                <a16:creationId xmlns:a16="http://schemas.microsoft.com/office/drawing/2014/main" id="{6EF3D214-BE01-6D3A-E95D-5D6934C51B50}"/>
              </a:ext>
            </a:extLst>
          </p:cNvPr>
          <p:cNvSpPr txBox="1"/>
          <p:nvPr/>
        </p:nvSpPr>
        <p:spPr>
          <a:xfrm>
            <a:off x="539909" y="1830002"/>
            <a:ext cx="784189" cy="369332"/>
          </a:xfrm>
          <a:prstGeom prst="rect">
            <a:avLst/>
          </a:prstGeom>
          <a:noFill/>
        </p:spPr>
        <p:txBody>
          <a:bodyPr wrap="none" rtlCol="0">
            <a:spAutoFit/>
          </a:bodyPr>
          <a:lstStyle/>
          <a:p>
            <a:r>
              <a:rPr lang="en-US" altLang="zh-TW" dirty="0"/>
              <a:t>Pump </a:t>
            </a:r>
            <a:endParaRPr lang="zh-TW" altLang="en-US" dirty="0"/>
          </a:p>
        </p:txBody>
      </p:sp>
      <p:sp>
        <p:nvSpPr>
          <p:cNvPr id="74" name="箭號: 向右 73">
            <a:extLst>
              <a:ext uri="{FF2B5EF4-FFF2-40B4-BE49-F238E27FC236}">
                <a16:creationId xmlns:a16="http://schemas.microsoft.com/office/drawing/2014/main" id="{88E76F04-D5FB-F49C-844D-420766D8482D}"/>
              </a:ext>
            </a:extLst>
          </p:cNvPr>
          <p:cNvSpPr/>
          <p:nvPr/>
        </p:nvSpPr>
        <p:spPr>
          <a:xfrm>
            <a:off x="7517807" y="2241008"/>
            <a:ext cx="1754045" cy="307776"/>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7" name="文字方塊 76">
            <a:extLst>
              <a:ext uri="{FF2B5EF4-FFF2-40B4-BE49-F238E27FC236}">
                <a16:creationId xmlns:a16="http://schemas.microsoft.com/office/drawing/2014/main" id="{E0758701-7594-2508-76C9-6A42AE4C57FA}"/>
              </a:ext>
            </a:extLst>
          </p:cNvPr>
          <p:cNvSpPr txBox="1"/>
          <p:nvPr/>
        </p:nvSpPr>
        <p:spPr>
          <a:xfrm>
            <a:off x="7490251" y="1642264"/>
            <a:ext cx="1699828" cy="646331"/>
          </a:xfrm>
          <a:prstGeom prst="rect">
            <a:avLst/>
          </a:prstGeom>
          <a:noFill/>
        </p:spPr>
        <p:txBody>
          <a:bodyPr wrap="square" rtlCol="0">
            <a:spAutoFit/>
          </a:bodyPr>
          <a:lstStyle/>
          <a:p>
            <a:r>
              <a:rPr lang="en-US" altLang="zh-TW" dirty="0"/>
              <a:t>|HH⟩ + |VV⟩ photon pair</a:t>
            </a:r>
          </a:p>
        </p:txBody>
      </p:sp>
      <p:grpSp>
        <p:nvGrpSpPr>
          <p:cNvPr id="102" name="群組 101">
            <a:extLst>
              <a:ext uri="{FF2B5EF4-FFF2-40B4-BE49-F238E27FC236}">
                <a16:creationId xmlns:a16="http://schemas.microsoft.com/office/drawing/2014/main" id="{D6A67E73-24D9-5BC8-A4EC-7A0347D71CDD}"/>
              </a:ext>
            </a:extLst>
          </p:cNvPr>
          <p:cNvGrpSpPr/>
          <p:nvPr/>
        </p:nvGrpSpPr>
        <p:grpSpPr>
          <a:xfrm>
            <a:off x="1741113" y="3057416"/>
            <a:ext cx="5983912" cy="795056"/>
            <a:chOff x="1741113" y="3057416"/>
            <a:chExt cx="5983912" cy="795056"/>
          </a:xfrm>
        </p:grpSpPr>
        <p:sp>
          <p:nvSpPr>
            <p:cNvPr id="78" name="左大括弧 77">
              <a:extLst>
                <a:ext uri="{FF2B5EF4-FFF2-40B4-BE49-F238E27FC236}">
                  <a16:creationId xmlns:a16="http://schemas.microsoft.com/office/drawing/2014/main" id="{D27E4118-1092-E5DE-ED03-3AE49E207554}"/>
                </a:ext>
              </a:extLst>
            </p:cNvPr>
            <p:cNvSpPr/>
            <p:nvPr/>
          </p:nvSpPr>
          <p:spPr>
            <a:xfrm rot="16200000">
              <a:off x="2332728" y="2487897"/>
              <a:ext cx="401957" cy="1585187"/>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sp>
          <p:nvSpPr>
            <p:cNvPr id="79" name="左大括弧 78">
              <a:extLst>
                <a:ext uri="{FF2B5EF4-FFF2-40B4-BE49-F238E27FC236}">
                  <a16:creationId xmlns:a16="http://schemas.microsoft.com/office/drawing/2014/main" id="{BEA997C8-D4DA-249F-EA1E-454710297D9A}"/>
                </a:ext>
              </a:extLst>
            </p:cNvPr>
            <p:cNvSpPr/>
            <p:nvPr/>
          </p:nvSpPr>
          <p:spPr>
            <a:xfrm rot="16200000">
              <a:off x="5537910" y="2486828"/>
              <a:ext cx="401957" cy="1585187"/>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sp>
          <p:nvSpPr>
            <p:cNvPr id="80" name="左大括弧 79">
              <a:extLst>
                <a:ext uri="{FF2B5EF4-FFF2-40B4-BE49-F238E27FC236}">
                  <a16:creationId xmlns:a16="http://schemas.microsoft.com/office/drawing/2014/main" id="{1EC118FD-A6E9-3EAD-80CB-2FC1DAE30826}"/>
                </a:ext>
              </a:extLst>
            </p:cNvPr>
            <p:cNvSpPr/>
            <p:nvPr/>
          </p:nvSpPr>
          <p:spPr>
            <a:xfrm rot="16200000">
              <a:off x="3941340" y="2465801"/>
              <a:ext cx="401957" cy="1585187"/>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sp>
          <p:nvSpPr>
            <p:cNvPr id="81" name="左大括弧 80">
              <a:extLst>
                <a:ext uri="{FF2B5EF4-FFF2-40B4-BE49-F238E27FC236}">
                  <a16:creationId xmlns:a16="http://schemas.microsoft.com/office/drawing/2014/main" id="{A585A748-0A25-04DE-714B-616326F359B2}"/>
                </a:ext>
              </a:extLst>
            </p:cNvPr>
            <p:cNvSpPr/>
            <p:nvPr/>
          </p:nvSpPr>
          <p:spPr>
            <a:xfrm rot="16200000">
              <a:off x="6804409" y="2830684"/>
              <a:ext cx="401957" cy="938615"/>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sp>
          <p:nvSpPr>
            <p:cNvPr id="82" name="文字方塊 81">
              <a:extLst>
                <a:ext uri="{FF2B5EF4-FFF2-40B4-BE49-F238E27FC236}">
                  <a16:creationId xmlns:a16="http://schemas.microsoft.com/office/drawing/2014/main" id="{A3208C3D-0083-985B-A04E-E72C42B0DA7F}"/>
                </a:ext>
              </a:extLst>
            </p:cNvPr>
            <p:cNvSpPr txBox="1"/>
            <p:nvPr/>
          </p:nvSpPr>
          <p:spPr>
            <a:xfrm>
              <a:off x="2105063" y="3446844"/>
              <a:ext cx="1391728" cy="369332"/>
            </a:xfrm>
            <a:prstGeom prst="rect">
              <a:avLst/>
            </a:prstGeom>
            <a:noFill/>
          </p:spPr>
          <p:txBody>
            <a:bodyPr wrap="none" rtlCol="0">
              <a:spAutoFit/>
            </a:bodyPr>
            <a:lstStyle/>
            <a:p>
              <a:r>
                <a:rPr lang="en-US" altLang="zh-TW" dirty="0"/>
                <a:t>SPDC</a:t>
              </a:r>
              <a:r>
                <a:rPr lang="en-US" altLang="zh-TW" baseline="-25000" dirty="0"/>
                <a:t>type0(1cm)</a:t>
              </a:r>
              <a:endParaRPr lang="zh-TW" altLang="en-US" baseline="-25000" dirty="0"/>
            </a:p>
          </p:txBody>
        </p:sp>
        <p:sp>
          <p:nvSpPr>
            <p:cNvPr id="83" name="文字方塊 82">
              <a:extLst>
                <a:ext uri="{FF2B5EF4-FFF2-40B4-BE49-F238E27FC236}">
                  <a16:creationId xmlns:a16="http://schemas.microsoft.com/office/drawing/2014/main" id="{C573487F-E807-CC92-83FA-D44175482790}"/>
                </a:ext>
              </a:extLst>
            </p:cNvPr>
            <p:cNvSpPr txBox="1"/>
            <p:nvPr/>
          </p:nvSpPr>
          <p:spPr>
            <a:xfrm>
              <a:off x="5216572" y="3483140"/>
              <a:ext cx="1391728" cy="369332"/>
            </a:xfrm>
            <a:prstGeom prst="rect">
              <a:avLst/>
            </a:prstGeom>
            <a:noFill/>
          </p:spPr>
          <p:txBody>
            <a:bodyPr wrap="none" rtlCol="0">
              <a:spAutoFit/>
            </a:bodyPr>
            <a:lstStyle/>
            <a:p>
              <a:r>
                <a:rPr lang="en-US" altLang="zh-TW" dirty="0"/>
                <a:t>SPDC</a:t>
              </a:r>
              <a:r>
                <a:rPr lang="en-US" altLang="zh-TW" baseline="-25000" dirty="0"/>
                <a:t>type0(1cm)</a:t>
              </a:r>
              <a:endParaRPr lang="zh-TW" altLang="en-US" baseline="-25000" dirty="0"/>
            </a:p>
          </p:txBody>
        </p:sp>
        <p:sp>
          <p:nvSpPr>
            <p:cNvPr id="84" name="文字方塊 83">
              <a:extLst>
                <a:ext uri="{FF2B5EF4-FFF2-40B4-BE49-F238E27FC236}">
                  <a16:creationId xmlns:a16="http://schemas.microsoft.com/office/drawing/2014/main" id="{FA292BB0-11E1-EDBA-C905-23E6DE1C367B}"/>
                </a:ext>
              </a:extLst>
            </p:cNvPr>
            <p:cNvSpPr txBox="1"/>
            <p:nvPr/>
          </p:nvSpPr>
          <p:spPr>
            <a:xfrm>
              <a:off x="3596577" y="3440858"/>
              <a:ext cx="1594924" cy="369332"/>
            </a:xfrm>
            <a:prstGeom prst="rect">
              <a:avLst/>
            </a:prstGeom>
            <a:noFill/>
          </p:spPr>
          <p:txBody>
            <a:bodyPr wrap="none" rtlCol="0">
              <a:spAutoFit/>
            </a:bodyPr>
            <a:lstStyle/>
            <a:p>
              <a:r>
                <a:rPr lang="en-US" altLang="zh-TW" dirty="0" err="1"/>
                <a:t>EOPMC</a:t>
              </a:r>
              <a:r>
                <a:rPr lang="en-US" altLang="zh-TW" baseline="-25000" dirty="0" err="1"/>
                <a:t>appln</a:t>
              </a:r>
              <a:r>
                <a:rPr lang="en-US" altLang="zh-TW" baseline="-25000" dirty="0"/>
                <a:t>(1cm)</a:t>
              </a:r>
              <a:endParaRPr lang="zh-TW" altLang="en-US" baseline="-25000" dirty="0"/>
            </a:p>
          </p:txBody>
        </p:sp>
        <p:sp>
          <p:nvSpPr>
            <p:cNvPr id="85" name="文字方塊 84">
              <a:extLst>
                <a:ext uri="{FF2B5EF4-FFF2-40B4-BE49-F238E27FC236}">
                  <a16:creationId xmlns:a16="http://schemas.microsoft.com/office/drawing/2014/main" id="{A212DB4A-29DD-3FB8-91F1-E3ECB9352948}"/>
                </a:ext>
              </a:extLst>
            </p:cNvPr>
            <p:cNvSpPr txBox="1"/>
            <p:nvPr/>
          </p:nvSpPr>
          <p:spPr>
            <a:xfrm>
              <a:off x="6801759" y="3480400"/>
              <a:ext cx="923266" cy="369332"/>
            </a:xfrm>
            <a:prstGeom prst="rect">
              <a:avLst/>
            </a:prstGeom>
            <a:noFill/>
          </p:spPr>
          <p:txBody>
            <a:bodyPr wrap="none" rtlCol="0">
              <a:spAutoFit/>
            </a:bodyPr>
            <a:lstStyle/>
            <a:p>
              <a:r>
                <a:rPr lang="en-US" altLang="zh-TW" dirty="0"/>
                <a:t>EO</a:t>
              </a:r>
              <a:r>
                <a:rPr lang="en-US" altLang="zh-TW" baseline="-25000" dirty="0"/>
                <a:t>(0.6cm)</a:t>
              </a:r>
              <a:endParaRPr lang="zh-TW" altLang="en-US" baseline="-25000" dirty="0"/>
            </a:p>
          </p:txBody>
        </p:sp>
      </p:grpSp>
      <p:sp>
        <p:nvSpPr>
          <p:cNvPr id="252" name="箭號: 向右 251">
            <a:extLst>
              <a:ext uri="{FF2B5EF4-FFF2-40B4-BE49-F238E27FC236}">
                <a16:creationId xmlns:a16="http://schemas.microsoft.com/office/drawing/2014/main" id="{AD0D8386-EED1-10CE-248D-734398BB2F67}"/>
              </a:ext>
            </a:extLst>
          </p:cNvPr>
          <p:cNvSpPr/>
          <p:nvPr/>
        </p:nvSpPr>
        <p:spPr>
          <a:xfrm>
            <a:off x="241160" y="2200735"/>
            <a:ext cx="1474713" cy="217083"/>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文字方塊 2">
            <a:extLst>
              <a:ext uri="{FF2B5EF4-FFF2-40B4-BE49-F238E27FC236}">
                <a16:creationId xmlns:a16="http://schemas.microsoft.com/office/drawing/2014/main" id="{BA67EFD7-09FD-60DF-4D4A-D48DA2CA1C93}"/>
              </a:ext>
            </a:extLst>
          </p:cNvPr>
          <p:cNvSpPr txBox="1"/>
          <p:nvPr/>
        </p:nvSpPr>
        <p:spPr>
          <a:xfrm>
            <a:off x="474333" y="2361861"/>
            <a:ext cx="1238760" cy="461665"/>
          </a:xfrm>
          <a:prstGeom prst="rect">
            <a:avLst/>
          </a:prstGeom>
          <a:noFill/>
        </p:spPr>
        <p:txBody>
          <a:bodyPr wrap="square" rtlCol="0">
            <a:spAutoFit/>
          </a:bodyPr>
          <a:lstStyle/>
          <a:p>
            <a:r>
              <a:rPr lang="en-US" altLang="zh-TW" sz="1200" dirty="0"/>
              <a:t>CW</a:t>
            </a:r>
            <a:r>
              <a:rPr lang="zh-TW" altLang="en-US" sz="1200" dirty="0"/>
              <a:t> </a:t>
            </a:r>
            <a:r>
              <a:rPr lang="en-US" altLang="zh-TW" sz="1200" dirty="0"/>
              <a:t>785nm pump laser </a:t>
            </a:r>
            <a:endParaRPr lang="zh-TW" altLang="en-US" sz="1200" dirty="0"/>
          </a:p>
        </p:txBody>
      </p:sp>
      <p:pic>
        <p:nvPicPr>
          <p:cNvPr id="87" name="圖片 86">
            <a:extLst>
              <a:ext uri="{FF2B5EF4-FFF2-40B4-BE49-F238E27FC236}">
                <a16:creationId xmlns:a16="http://schemas.microsoft.com/office/drawing/2014/main" id="{D2441B15-8BF9-4DD4-4B08-8FF05ED9BB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8972" y="3916055"/>
            <a:ext cx="5153025" cy="2590800"/>
          </a:xfrm>
          <a:prstGeom prst="rect">
            <a:avLst/>
          </a:prstGeom>
        </p:spPr>
      </p:pic>
      <p:sp>
        <p:nvSpPr>
          <p:cNvPr id="89" name="文字方塊 88">
            <a:extLst>
              <a:ext uri="{FF2B5EF4-FFF2-40B4-BE49-F238E27FC236}">
                <a16:creationId xmlns:a16="http://schemas.microsoft.com/office/drawing/2014/main" id="{E824FF7E-7EA9-7809-FCF3-5A2A89FEE0D9}"/>
              </a:ext>
            </a:extLst>
          </p:cNvPr>
          <p:cNvSpPr txBox="1"/>
          <p:nvPr/>
        </p:nvSpPr>
        <p:spPr>
          <a:xfrm>
            <a:off x="5468003" y="4495672"/>
            <a:ext cx="5744324" cy="1200329"/>
          </a:xfrm>
          <a:prstGeom prst="rect">
            <a:avLst/>
          </a:prstGeom>
          <a:noFill/>
          <a:ln>
            <a:solidFill>
              <a:schemeClr val="tx1"/>
            </a:solidFill>
          </a:ln>
        </p:spPr>
        <p:txBody>
          <a:bodyPr wrap="square">
            <a:spAutoFit/>
          </a:bodyPr>
          <a:lstStyle/>
          <a:p>
            <a:pPr algn="just"/>
            <a:r>
              <a:rPr lang="en-US" altLang="zh-TW" dirty="0"/>
              <a:t>The L-band is the second lowest-loss wavelength band, and is a popular choice when the use of the C-band is not sufficient to meet the bandwidth demand. The same WDM and EDFA technologies can be applied to the L-band.</a:t>
            </a:r>
            <a:endParaRPr lang="zh-TW" altLang="en-US" dirty="0"/>
          </a:p>
        </p:txBody>
      </p:sp>
      <p:sp>
        <p:nvSpPr>
          <p:cNvPr id="103" name="文字方塊 102">
            <a:extLst>
              <a:ext uri="{FF2B5EF4-FFF2-40B4-BE49-F238E27FC236}">
                <a16:creationId xmlns:a16="http://schemas.microsoft.com/office/drawing/2014/main" id="{4450FAF3-B810-4A86-1413-7C6186CD66C0}"/>
              </a:ext>
            </a:extLst>
          </p:cNvPr>
          <p:cNvSpPr txBox="1"/>
          <p:nvPr/>
        </p:nvSpPr>
        <p:spPr>
          <a:xfrm>
            <a:off x="621750" y="6432615"/>
            <a:ext cx="4722099" cy="246221"/>
          </a:xfrm>
          <a:prstGeom prst="rect">
            <a:avLst/>
          </a:prstGeom>
          <a:noFill/>
        </p:spPr>
        <p:txBody>
          <a:bodyPr wrap="square">
            <a:spAutoFit/>
          </a:bodyPr>
          <a:lstStyle/>
          <a:p>
            <a:r>
              <a:rPr lang="en-US" altLang="zh-TW" sz="1000" dirty="0" err="1"/>
              <a:t>Fiberlabs</a:t>
            </a:r>
            <a:r>
              <a:rPr lang="en-US" altLang="zh-TW" sz="1000" dirty="0"/>
              <a:t> Inc .(2022) https://www.fiberlabs.com/glossary/optical-communication-band/</a:t>
            </a:r>
            <a:endParaRPr lang="zh-TW" altLang="en-US" sz="1000" dirty="0"/>
          </a:p>
        </p:txBody>
      </p:sp>
    </p:spTree>
    <p:extLst>
      <p:ext uri="{BB962C8B-B14F-4D97-AF65-F5344CB8AC3E}">
        <p14:creationId xmlns:p14="http://schemas.microsoft.com/office/powerpoint/2010/main" val="252732255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Applications</a:t>
            </a: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grpSp>
        <p:nvGrpSpPr>
          <p:cNvPr id="3" name="群組 2">
            <a:extLst>
              <a:ext uri="{FF2B5EF4-FFF2-40B4-BE49-F238E27FC236}">
                <a16:creationId xmlns:a16="http://schemas.microsoft.com/office/drawing/2014/main" id="{7D1578EC-3AE5-8EA0-4E75-99238C006F5D}"/>
              </a:ext>
            </a:extLst>
          </p:cNvPr>
          <p:cNvGrpSpPr/>
          <p:nvPr/>
        </p:nvGrpSpPr>
        <p:grpSpPr>
          <a:xfrm>
            <a:off x="6665966" y="2466474"/>
            <a:ext cx="4330897" cy="2228493"/>
            <a:chOff x="6006387" y="4604920"/>
            <a:chExt cx="3867987" cy="1933994"/>
          </a:xfrm>
        </p:grpSpPr>
        <p:pic>
          <p:nvPicPr>
            <p:cNvPr id="6" name="圖片 5">
              <a:extLst>
                <a:ext uri="{FF2B5EF4-FFF2-40B4-BE49-F238E27FC236}">
                  <a16:creationId xmlns:a16="http://schemas.microsoft.com/office/drawing/2014/main" id="{487A2753-E10D-FB89-2155-1B117FE26B5A}"/>
                </a:ext>
              </a:extLst>
            </p:cNvPr>
            <p:cNvPicPr>
              <a:picLocks noChangeAspect="1"/>
            </p:cNvPicPr>
            <p:nvPr/>
          </p:nvPicPr>
          <p:blipFill>
            <a:blip r:embed="rId4"/>
            <a:stretch>
              <a:fillRect/>
            </a:stretch>
          </p:blipFill>
          <p:spPr>
            <a:xfrm>
              <a:off x="6006387" y="4604920"/>
              <a:ext cx="3867987" cy="1933994"/>
            </a:xfrm>
            <a:prstGeom prst="rect">
              <a:avLst/>
            </a:prstGeom>
          </p:spPr>
        </p:pic>
        <p:sp>
          <p:nvSpPr>
            <p:cNvPr id="7" name="矩形 6">
              <a:extLst>
                <a:ext uri="{FF2B5EF4-FFF2-40B4-BE49-F238E27FC236}">
                  <a16:creationId xmlns:a16="http://schemas.microsoft.com/office/drawing/2014/main" id="{655B34F4-5A1F-EFC4-5DB4-5A02B009BFBC}"/>
                </a:ext>
              </a:extLst>
            </p:cNvPr>
            <p:cNvSpPr/>
            <p:nvPr/>
          </p:nvSpPr>
          <p:spPr>
            <a:xfrm>
              <a:off x="8061407" y="5365836"/>
              <a:ext cx="853994" cy="2255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8" name="文字方塊 7">
            <a:extLst>
              <a:ext uri="{FF2B5EF4-FFF2-40B4-BE49-F238E27FC236}">
                <a16:creationId xmlns:a16="http://schemas.microsoft.com/office/drawing/2014/main" id="{5D3A627E-CFE4-5A30-D5AB-03B7CB932913}"/>
              </a:ext>
            </a:extLst>
          </p:cNvPr>
          <p:cNvSpPr txBox="1"/>
          <p:nvPr/>
        </p:nvSpPr>
        <p:spPr>
          <a:xfrm>
            <a:off x="7184515" y="4901600"/>
            <a:ext cx="3493817" cy="276999"/>
          </a:xfrm>
          <a:prstGeom prst="rect">
            <a:avLst/>
          </a:prstGeom>
          <a:noFill/>
        </p:spPr>
        <p:txBody>
          <a:bodyPr wrap="square">
            <a:spAutoFit/>
          </a:bodyPr>
          <a:lstStyle/>
          <a:p>
            <a:r>
              <a:rPr lang="en-US" altLang="zh-TW" sz="1200" dirty="0"/>
              <a:t>Optics Express Vol. 24, Issue 3, pp. 2712-2727 (2016)</a:t>
            </a:r>
            <a:endParaRPr lang="zh-TW" altLang="en-US" sz="1200" dirty="0"/>
          </a:p>
        </p:txBody>
      </p:sp>
      <p:pic>
        <p:nvPicPr>
          <p:cNvPr id="10" name="圖片 9">
            <a:extLst>
              <a:ext uri="{FF2B5EF4-FFF2-40B4-BE49-F238E27FC236}">
                <a16:creationId xmlns:a16="http://schemas.microsoft.com/office/drawing/2014/main" id="{DEB70A2F-2F78-1D3B-0452-CA4FC42FD878}"/>
              </a:ext>
            </a:extLst>
          </p:cNvPr>
          <p:cNvPicPr>
            <a:picLocks noChangeAspect="1"/>
          </p:cNvPicPr>
          <p:nvPr/>
        </p:nvPicPr>
        <p:blipFill>
          <a:blip r:embed="rId5"/>
          <a:stretch>
            <a:fillRect/>
          </a:stretch>
        </p:blipFill>
        <p:spPr>
          <a:xfrm>
            <a:off x="290277" y="2760973"/>
            <a:ext cx="5942082" cy="1581110"/>
          </a:xfrm>
          <a:prstGeom prst="rect">
            <a:avLst/>
          </a:prstGeom>
        </p:spPr>
      </p:pic>
      <p:sp>
        <p:nvSpPr>
          <p:cNvPr id="11" name="文字方塊 10">
            <a:extLst>
              <a:ext uri="{FF2B5EF4-FFF2-40B4-BE49-F238E27FC236}">
                <a16:creationId xmlns:a16="http://schemas.microsoft.com/office/drawing/2014/main" id="{C8368B85-340E-4923-0A94-72E7F3E15B5A}"/>
              </a:ext>
            </a:extLst>
          </p:cNvPr>
          <p:cNvSpPr txBox="1"/>
          <p:nvPr/>
        </p:nvSpPr>
        <p:spPr>
          <a:xfrm>
            <a:off x="819703" y="4901601"/>
            <a:ext cx="3493817" cy="276999"/>
          </a:xfrm>
          <a:prstGeom prst="rect">
            <a:avLst/>
          </a:prstGeom>
          <a:noFill/>
        </p:spPr>
        <p:txBody>
          <a:bodyPr wrap="square">
            <a:spAutoFit/>
          </a:bodyPr>
          <a:lstStyle/>
          <a:p>
            <a:r>
              <a:rPr lang="en-US" altLang="zh-TW" sz="1200" dirty="0"/>
              <a:t>Opt. Express 15, 12769–12776,(2007)</a:t>
            </a:r>
            <a:endParaRPr lang="zh-TW" altLang="en-US" sz="1200" dirty="0"/>
          </a:p>
        </p:txBody>
      </p:sp>
    </p:spTree>
    <p:extLst>
      <p:ext uri="{BB962C8B-B14F-4D97-AF65-F5344CB8AC3E}">
        <p14:creationId xmlns:p14="http://schemas.microsoft.com/office/powerpoint/2010/main" val="159284238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Applications</a:t>
            </a: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9510308" y="6329315"/>
            <a:ext cx="47110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A51F5D-0E00-425F-A9D9-084622BDD753}" type="slidenum">
              <a:rPr kumimoji="0" lang="zh-TW" altLang="en-US" sz="1200" b="1"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新細明體" panose="02020500000000000000" pitchFamily="18" charset="-120"/>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zh-TW" altLang="en-US" sz="1200" b="1"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新細明體" panose="02020500000000000000" pitchFamily="18" charset="-12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pic>
        <p:nvPicPr>
          <p:cNvPr id="15" name="圖片 14">
            <a:extLst>
              <a:ext uri="{FF2B5EF4-FFF2-40B4-BE49-F238E27FC236}">
                <a16:creationId xmlns:a16="http://schemas.microsoft.com/office/drawing/2014/main" id="{2EBBBF23-0CC8-5C58-1F8D-CADF277DF122}"/>
              </a:ext>
            </a:extLst>
          </p:cNvPr>
          <p:cNvPicPr>
            <a:picLocks noChangeAspect="1"/>
          </p:cNvPicPr>
          <p:nvPr/>
        </p:nvPicPr>
        <p:blipFill>
          <a:blip r:embed="rId4"/>
          <a:stretch>
            <a:fillRect/>
          </a:stretch>
        </p:blipFill>
        <p:spPr>
          <a:xfrm>
            <a:off x="4851547" y="951070"/>
            <a:ext cx="4862452" cy="3029795"/>
          </a:xfrm>
          <a:prstGeom prst="rect">
            <a:avLst/>
          </a:prstGeom>
        </p:spPr>
      </p:pic>
      <p:pic>
        <p:nvPicPr>
          <p:cNvPr id="25" name="圖片 24">
            <a:extLst>
              <a:ext uri="{FF2B5EF4-FFF2-40B4-BE49-F238E27FC236}">
                <a16:creationId xmlns:a16="http://schemas.microsoft.com/office/drawing/2014/main" id="{F0C837EE-382A-7752-CEFC-4ED85CA4B22B}"/>
              </a:ext>
            </a:extLst>
          </p:cNvPr>
          <p:cNvPicPr>
            <a:picLocks noChangeAspect="1"/>
          </p:cNvPicPr>
          <p:nvPr/>
        </p:nvPicPr>
        <p:blipFill>
          <a:blip r:embed="rId5"/>
          <a:stretch>
            <a:fillRect/>
          </a:stretch>
        </p:blipFill>
        <p:spPr>
          <a:xfrm>
            <a:off x="9163432" y="1360552"/>
            <a:ext cx="3029799" cy="2172099"/>
          </a:xfrm>
          <a:prstGeom prst="rect">
            <a:avLst/>
          </a:prstGeom>
        </p:spPr>
      </p:pic>
      <p:pic>
        <p:nvPicPr>
          <p:cNvPr id="27" name="圖片 26">
            <a:extLst>
              <a:ext uri="{FF2B5EF4-FFF2-40B4-BE49-F238E27FC236}">
                <a16:creationId xmlns:a16="http://schemas.microsoft.com/office/drawing/2014/main" id="{B8F1FAA7-26D8-1434-21F5-CD74E16239FC}"/>
              </a:ext>
            </a:extLst>
          </p:cNvPr>
          <p:cNvPicPr>
            <a:picLocks noChangeAspect="1"/>
          </p:cNvPicPr>
          <p:nvPr/>
        </p:nvPicPr>
        <p:blipFill>
          <a:blip r:embed="rId6"/>
          <a:stretch>
            <a:fillRect/>
          </a:stretch>
        </p:blipFill>
        <p:spPr>
          <a:xfrm>
            <a:off x="5664360" y="4304819"/>
            <a:ext cx="3236825" cy="2166889"/>
          </a:xfrm>
          <a:prstGeom prst="rect">
            <a:avLst/>
          </a:prstGeom>
        </p:spPr>
      </p:pic>
      <p:sp>
        <p:nvSpPr>
          <p:cNvPr id="29" name="文字方塊 28">
            <a:extLst>
              <a:ext uri="{FF2B5EF4-FFF2-40B4-BE49-F238E27FC236}">
                <a16:creationId xmlns:a16="http://schemas.microsoft.com/office/drawing/2014/main" id="{A01041DD-2B72-3D10-EDA1-4B3456E2EAB5}"/>
              </a:ext>
            </a:extLst>
          </p:cNvPr>
          <p:cNvSpPr txBox="1"/>
          <p:nvPr/>
        </p:nvSpPr>
        <p:spPr>
          <a:xfrm>
            <a:off x="9745858" y="3703866"/>
            <a:ext cx="1962320" cy="276999"/>
          </a:xfrm>
          <a:prstGeom prst="rect">
            <a:avLst/>
          </a:prstGeom>
          <a:noFill/>
        </p:spPr>
        <p:txBody>
          <a:bodyPr wrap="square">
            <a:spAutoFit/>
          </a:bodyPr>
          <a:lstStyle/>
          <a:p>
            <a:r>
              <a:rPr lang="nn-NO" altLang="zh-TW" sz="1200" dirty="0"/>
              <a:t> Phys. Lett. 85, 2457 (2004)</a:t>
            </a:r>
            <a:endParaRPr lang="nl-NL" altLang="zh-TW" sz="1200" dirty="0"/>
          </a:p>
        </p:txBody>
      </p:sp>
      <p:sp>
        <p:nvSpPr>
          <p:cNvPr id="34" name="文字方塊 33">
            <a:extLst>
              <a:ext uri="{FF2B5EF4-FFF2-40B4-BE49-F238E27FC236}">
                <a16:creationId xmlns:a16="http://schemas.microsoft.com/office/drawing/2014/main" id="{BE06C840-7B07-8C9B-F8E5-927606B36D53}"/>
              </a:ext>
            </a:extLst>
          </p:cNvPr>
          <p:cNvSpPr txBox="1"/>
          <p:nvPr/>
        </p:nvSpPr>
        <p:spPr>
          <a:xfrm>
            <a:off x="6388893" y="6551493"/>
            <a:ext cx="1922424" cy="276999"/>
          </a:xfrm>
          <a:prstGeom prst="rect">
            <a:avLst/>
          </a:prstGeom>
          <a:noFill/>
        </p:spPr>
        <p:txBody>
          <a:bodyPr wrap="square">
            <a:spAutoFit/>
          </a:bodyPr>
          <a:lstStyle/>
          <a:p>
            <a:r>
              <a:rPr lang="nl-NL" altLang="zh-TW" sz="1200" dirty="0"/>
              <a:t>J. Opt. 18, 104001 (2016)</a:t>
            </a:r>
            <a:endParaRPr lang="zh-TW" altLang="en-US" sz="1200" dirty="0"/>
          </a:p>
        </p:txBody>
      </p:sp>
      <p:pic>
        <p:nvPicPr>
          <p:cNvPr id="6" name="圖片 5">
            <a:extLst>
              <a:ext uri="{FF2B5EF4-FFF2-40B4-BE49-F238E27FC236}">
                <a16:creationId xmlns:a16="http://schemas.microsoft.com/office/drawing/2014/main" id="{E1FB2D19-B3AB-4E8D-42CB-42A0FA998FD3}"/>
              </a:ext>
            </a:extLst>
          </p:cNvPr>
          <p:cNvPicPr>
            <a:picLocks noChangeAspect="1"/>
          </p:cNvPicPr>
          <p:nvPr/>
        </p:nvPicPr>
        <p:blipFill>
          <a:blip r:embed="rId7"/>
          <a:stretch>
            <a:fillRect/>
          </a:stretch>
        </p:blipFill>
        <p:spPr>
          <a:xfrm>
            <a:off x="735917" y="1563486"/>
            <a:ext cx="3888456" cy="2040939"/>
          </a:xfrm>
          <a:prstGeom prst="rect">
            <a:avLst/>
          </a:prstGeom>
        </p:spPr>
      </p:pic>
      <p:sp>
        <p:nvSpPr>
          <p:cNvPr id="7" name="文字方塊 6">
            <a:extLst>
              <a:ext uri="{FF2B5EF4-FFF2-40B4-BE49-F238E27FC236}">
                <a16:creationId xmlns:a16="http://schemas.microsoft.com/office/drawing/2014/main" id="{7780200B-A54C-60C3-29D8-062C29FFA18E}"/>
              </a:ext>
            </a:extLst>
          </p:cNvPr>
          <p:cNvSpPr txBox="1"/>
          <p:nvPr/>
        </p:nvSpPr>
        <p:spPr>
          <a:xfrm>
            <a:off x="4851547" y="4069521"/>
            <a:ext cx="5772158" cy="369332"/>
          </a:xfrm>
          <a:prstGeom prst="rect">
            <a:avLst/>
          </a:prstGeom>
          <a:noFill/>
        </p:spPr>
        <p:txBody>
          <a:bodyPr wrap="none" rtlCol="0">
            <a:spAutoFit/>
          </a:bodyPr>
          <a:lstStyle/>
          <a:p>
            <a:r>
              <a:rPr lang="en-US" altLang="zh-TW" dirty="0"/>
              <a:t>The type 0</a:t>
            </a:r>
            <a:r>
              <a:rPr lang="zh-TW" altLang="en-US" dirty="0"/>
              <a:t> </a:t>
            </a:r>
            <a:r>
              <a:rPr lang="en-US" altLang="zh-TW" dirty="0"/>
              <a:t>spectra</a:t>
            </a:r>
            <a:r>
              <a:rPr lang="zh-TW" altLang="en-US" dirty="0"/>
              <a:t> </a:t>
            </a:r>
            <a:r>
              <a:rPr lang="en-US" altLang="zh-TW" dirty="0"/>
              <a:t>and used DWDM to divide multi channel</a:t>
            </a:r>
            <a:endParaRPr lang="zh-TW" altLang="en-US" dirty="0"/>
          </a:p>
        </p:txBody>
      </p:sp>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B7C3DC57-300E-EF09-4D99-39ECDDABB0BD}"/>
                  </a:ext>
                </a:extLst>
              </p:cNvPr>
              <p:cNvSpPr txBox="1"/>
              <p:nvPr/>
            </p:nvSpPr>
            <p:spPr>
              <a:xfrm>
                <a:off x="1843499" y="839047"/>
                <a:ext cx="1676961" cy="500393"/>
              </a:xfrm>
              <a:prstGeom prst="rect">
                <a:avLst/>
              </a:prstGeom>
              <a:noFill/>
            </p:spPr>
            <p:txBody>
              <a:bodyPr wrap="square">
                <a:spAutoFit/>
              </a:bodyPr>
              <a:lstStyle/>
              <a:p>
                <a14:m>
                  <m:oMath xmlns:m="http://schemas.openxmlformats.org/officeDocument/2006/math">
                    <m:f>
                      <m:fPr>
                        <m:ctrlPr>
                          <a:rPr lang="zh-TW" altLang="zh-TW" b="1" i="1" smtClean="0">
                            <a:latin typeface="Cambria Math" panose="02040503050406030204" pitchFamily="18" charset="0"/>
                          </a:rPr>
                        </m:ctrlPr>
                      </m:fPr>
                      <m:num>
                        <m:r>
                          <a:rPr lang="en-US" altLang="zh-TW" b="1" i="1">
                            <a:latin typeface="Cambria Math" panose="02040503050406030204" pitchFamily="18" charset="0"/>
                          </a:rPr>
                          <m:t>1</m:t>
                        </m:r>
                      </m:num>
                      <m:den>
                        <m:rad>
                          <m:radPr>
                            <m:degHide m:val="on"/>
                            <m:ctrlPr>
                              <a:rPr lang="zh-TW" altLang="zh-TW" b="1" i="1">
                                <a:latin typeface="Cambria Math" panose="02040503050406030204" pitchFamily="18" charset="0"/>
                              </a:rPr>
                            </m:ctrlPr>
                          </m:radPr>
                          <m:deg/>
                          <m:e>
                            <m:r>
                              <a:rPr lang="en-US" altLang="zh-TW" b="1" i="1">
                                <a:latin typeface="Cambria Math" panose="02040503050406030204" pitchFamily="18" charset="0"/>
                              </a:rPr>
                              <m:t>2</m:t>
                            </m:r>
                          </m:e>
                        </m:rad>
                      </m:den>
                    </m:f>
                  </m:oMath>
                </a14:m>
                <a:r>
                  <a:rPr lang="en-US" altLang="zh-TW" i="1" dirty="0"/>
                  <a:t>(|HV⟩+|VH⟩) </a:t>
                </a:r>
                <a:endParaRPr lang="zh-TW" altLang="en-US" dirty="0"/>
              </a:p>
            </p:txBody>
          </p:sp>
        </mc:Choice>
        <mc:Fallback xmlns="">
          <p:sp>
            <p:nvSpPr>
              <p:cNvPr id="9" name="文字方塊 8">
                <a:extLst>
                  <a:ext uri="{FF2B5EF4-FFF2-40B4-BE49-F238E27FC236}">
                    <a16:creationId xmlns:a16="http://schemas.microsoft.com/office/drawing/2014/main" id="{B7C3DC57-300E-EF09-4D99-39ECDDABB0BD}"/>
                  </a:ext>
                </a:extLst>
              </p:cNvPr>
              <p:cNvSpPr txBox="1">
                <a:spLocks noRot="1" noChangeAspect="1" noMove="1" noResize="1" noEditPoints="1" noAdjustHandles="1" noChangeArrowheads="1" noChangeShapeType="1" noTextEdit="1"/>
              </p:cNvSpPr>
              <p:nvPr/>
            </p:nvSpPr>
            <p:spPr>
              <a:xfrm>
                <a:off x="1843499" y="839047"/>
                <a:ext cx="1676961" cy="500393"/>
              </a:xfrm>
              <a:prstGeom prst="rect">
                <a:avLst/>
              </a:prstGeom>
              <a:blipFill>
                <a:blip r:embed="rId8"/>
                <a:stretch>
                  <a:fillRect b="-48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1576499B-C536-A539-1B79-41ED2F4E58AE}"/>
                  </a:ext>
                </a:extLst>
              </p:cNvPr>
              <p:cNvSpPr txBox="1"/>
              <p:nvPr/>
            </p:nvSpPr>
            <p:spPr>
              <a:xfrm>
                <a:off x="6216313" y="839046"/>
                <a:ext cx="1854438" cy="500393"/>
              </a:xfrm>
              <a:prstGeom prst="rect">
                <a:avLst/>
              </a:prstGeom>
              <a:noFill/>
            </p:spPr>
            <p:txBody>
              <a:bodyPr wrap="square">
                <a:spAutoFit/>
              </a:bodyPr>
              <a:lstStyle/>
              <a:p>
                <a14:m>
                  <m:oMath xmlns:m="http://schemas.openxmlformats.org/officeDocument/2006/math">
                    <m:f>
                      <m:fPr>
                        <m:ctrlPr>
                          <a:rPr lang="zh-TW" altLang="zh-TW" b="1" i="1" smtClean="0">
                            <a:latin typeface="Cambria Math" panose="02040503050406030204" pitchFamily="18" charset="0"/>
                          </a:rPr>
                        </m:ctrlPr>
                      </m:fPr>
                      <m:num>
                        <m:r>
                          <a:rPr lang="en-US" altLang="zh-TW" b="1" i="1">
                            <a:latin typeface="Cambria Math" panose="02040503050406030204" pitchFamily="18" charset="0"/>
                          </a:rPr>
                          <m:t>1</m:t>
                        </m:r>
                      </m:num>
                      <m:den>
                        <m:rad>
                          <m:radPr>
                            <m:degHide m:val="on"/>
                            <m:ctrlPr>
                              <a:rPr lang="zh-TW" altLang="zh-TW" b="1" i="1">
                                <a:latin typeface="Cambria Math" panose="02040503050406030204" pitchFamily="18" charset="0"/>
                              </a:rPr>
                            </m:ctrlPr>
                          </m:radPr>
                          <m:deg/>
                          <m:e>
                            <m:r>
                              <a:rPr lang="en-US" altLang="zh-TW" b="1" i="1">
                                <a:latin typeface="Cambria Math" panose="02040503050406030204" pitchFamily="18" charset="0"/>
                              </a:rPr>
                              <m:t>2</m:t>
                            </m:r>
                          </m:e>
                        </m:rad>
                      </m:den>
                    </m:f>
                  </m:oMath>
                </a14:m>
                <a:r>
                  <a:rPr lang="en-US" altLang="zh-TW" i="1" dirty="0"/>
                  <a:t>(|HH⟩+|VV⟩) </a:t>
                </a:r>
                <a:endParaRPr lang="zh-TW" altLang="en-US" dirty="0"/>
              </a:p>
            </p:txBody>
          </p:sp>
        </mc:Choice>
        <mc:Fallback xmlns="">
          <p:sp>
            <p:nvSpPr>
              <p:cNvPr id="11" name="文字方塊 10">
                <a:extLst>
                  <a:ext uri="{FF2B5EF4-FFF2-40B4-BE49-F238E27FC236}">
                    <a16:creationId xmlns:a16="http://schemas.microsoft.com/office/drawing/2014/main" id="{1576499B-C536-A539-1B79-41ED2F4E58AE}"/>
                  </a:ext>
                </a:extLst>
              </p:cNvPr>
              <p:cNvSpPr txBox="1">
                <a:spLocks noRot="1" noChangeAspect="1" noMove="1" noResize="1" noEditPoints="1" noAdjustHandles="1" noChangeArrowheads="1" noChangeShapeType="1" noTextEdit="1"/>
              </p:cNvSpPr>
              <p:nvPr/>
            </p:nvSpPr>
            <p:spPr>
              <a:xfrm>
                <a:off x="6216313" y="839046"/>
                <a:ext cx="1854438" cy="500393"/>
              </a:xfrm>
              <a:prstGeom prst="rect">
                <a:avLst/>
              </a:prstGeom>
              <a:blipFill>
                <a:blip r:embed="rId9"/>
                <a:stretch>
                  <a:fillRect b="-4878"/>
                </a:stretch>
              </a:blipFill>
            </p:spPr>
            <p:txBody>
              <a:bodyPr/>
              <a:lstStyle/>
              <a:p>
                <a:r>
                  <a:rPr lang="zh-TW" altLang="en-US">
                    <a:noFill/>
                  </a:rPr>
                  <a:t> </a:t>
                </a:r>
              </a:p>
            </p:txBody>
          </p:sp>
        </mc:Fallback>
      </mc:AlternateContent>
      <p:sp>
        <p:nvSpPr>
          <p:cNvPr id="12" name="文字方塊 11">
            <a:extLst>
              <a:ext uri="{FF2B5EF4-FFF2-40B4-BE49-F238E27FC236}">
                <a16:creationId xmlns:a16="http://schemas.microsoft.com/office/drawing/2014/main" id="{C9617302-1C64-7D21-6E95-E71CF76C539B}"/>
              </a:ext>
            </a:extLst>
          </p:cNvPr>
          <p:cNvSpPr txBox="1"/>
          <p:nvPr/>
        </p:nvSpPr>
        <p:spPr>
          <a:xfrm>
            <a:off x="1166171" y="6551492"/>
            <a:ext cx="3171312" cy="276999"/>
          </a:xfrm>
          <a:prstGeom prst="rect">
            <a:avLst/>
          </a:prstGeom>
          <a:noFill/>
        </p:spPr>
        <p:txBody>
          <a:bodyPr wrap="square">
            <a:spAutoFit/>
          </a:bodyPr>
          <a:lstStyle/>
          <a:p>
            <a:r>
              <a:rPr lang="es-ES" altLang="zh-TW" sz="1200" dirty="0"/>
              <a:t>Laser &amp; Photon. Rev. 3, No. 4, 370–393 (2009)</a:t>
            </a:r>
            <a:endParaRPr lang="zh-TW" altLang="en-US" sz="1200" dirty="0"/>
          </a:p>
        </p:txBody>
      </p:sp>
      <p:pic>
        <p:nvPicPr>
          <p:cNvPr id="8" name="圖片 7">
            <a:extLst>
              <a:ext uri="{FF2B5EF4-FFF2-40B4-BE49-F238E27FC236}">
                <a16:creationId xmlns:a16="http://schemas.microsoft.com/office/drawing/2014/main" id="{51917115-A745-7323-76A8-A2375F71F8C1}"/>
              </a:ext>
            </a:extLst>
          </p:cNvPr>
          <p:cNvPicPr>
            <a:picLocks noChangeAspect="1"/>
          </p:cNvPicPr>
          <p:nvPr/>
        </p:nvPicPr>
        <p:blipFill>
          <a:blip r:embed="rId10"/>
          <a:stretch>
            <a:fillRect/>
          </a:stretch>
        </p:blipFill>
        <p:spPr>
          <a:xfrm>
            <a:off x="1102794" y="4286973"/>
            <a:ext cx="2997398" cy="2140998"/>
          </a:xfrm>
          <a:prstGeom prst="rect">
            <a:avLst/>
          </a:prstGeom>
        </p:spPr>
      </p:pic>
      <p:sp>
        <p:nvSpPr>
          <p:cNvPr id="10" name="文字方塊 9">
            <a:extLst>
              <a:ext uri="{FF2B5EF4-FFF2-40B4-BE49-F238E27FC236}">
                <a16:creationId xmlns:a16="http://schemas.microsoft.com/office/drawing/2014/main" id="{530D0225-2F54-E6E4-3281-9AF5378FC481}"/>
              </a:ext>
            </a:extLst>
          </p:cNvPr>
          <p:cNvSpPr txBox="1"/>
          <p:nvPr/>
        </p:nvSpPr>
        <p:spPr>
          <a:xfrm>
            <a:off x="1722960" y="3917641"/>
            <a:ext cx="1914370" cy="369332"/>
          </a:xfrm>
          <a:prstGeom prst="rect">
            <a:avLst/>
          </a:prstGeom>
          <a:noFill/>
        </p:spPr>
        <p:txBody>
          <a:bodyPr wrap="none" rtlCol="0">
            <a:spAutoFit/>
          </a:bodyPr>
          <a:lstStyle/>
          <a:p>
            <a:r>
              <a:rPr lang="en-US" altLang="zh-TW" dirty="0"/>
              <a:t>The type II spectra</a:t>
            </a:r>
            <a:endParaRPr lang="zh-TW" altLang="en-US" dirty="0"/>
          </a:p>
        </p:txBody>
      </p:sp>
    </p:spTree>
    <p:extLst>
      <p:ext uri="{BB962C8B-B14F-4D97-AF65-F5344CB8AC3E}">
        <p14:creationId xmlns:p14="http://schemas.microsoft.com/office/powerpoint/2010/main" val="215838705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Introduction Application</a:t>
            </a:r>
            <a:endParaRPr lang="zh-TW" altLang="en-US" b="1" dirty="0">
              <a:latin typeface="Times New Roman" panose="02020603050405020304" pitchFamily="18" charset="0"/>
              <a:cs typeface="Times New Roman" panose="02020603050405020304" pitchFamily="18" charset="0"/>
            </a:endParaRPr>
          </a:p>
        </p:txBody>
      </p:sp>
      <p:pic>
        <p:nvPicPr>
          <p:cNvPr id="8" name="內容版面配置區 7">
            <a:extLst>
              <a:ext uri="{FF2B5EF4-FFF2-40B4-BE49-F238E27FC236}">
                <a16:creationId xmlns:a16="http://schemas.microsoft.com/office/drawing/2014/main" id="{ACB6CDE6-BE1D-47DA-FCC3-2A1DB907344D}"/>
              </a:ext>
            </a:extLst>
          </p:cNvPr>
          <p:cNvPicPr>
            <a:picLocks noGrp="1" noChangeAspect="1"/>
          </p:cNvPicPr>
          <p:nvPr>
            <p:ph idx="4294967295"/>
          </p:nvPr>
        </p:nvPicPr>
        <p:blipFill>
          <a:blip r:embed="rId3">
            <a:extLst>
              <a:ext uri="{28A0092B-C50C-407E-A947-70E740481C1C}">
                <a14:useLocalDpi xmlns:a14="http://schemas.microsoft.com/office/drawing/2010/main" val="0"/>
              </a:ext>
            </a:extLst>
          </a:blip>
          <a:stretch>
            <a:fillRect/>
          </a:stretch>
        </p:blipFill>
        <p:spPr>
          <a:xfrm>
            <a:off x="284513" y="2381459"/>
            <a:ext cx="3157199" cy="2756285"/>
          </a:xfrm>
        </p:spPr>
      </p:pic>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0039351" y="6356352"/>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66</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sp>
        <p:nvSpPr>
          <p:cNvPr id="10" name="文字方塊 9">
            <a:extLst>
              <a:ext uri="{FF2B5EF4-FFF2-40B4-BE49-F238E27FC236}">
                <a16:creationId xmlns:a16="http://schemas.microsoft.com/office/drawing/2014/main" id="{18CA1CCC-8B7D-E2B0-1415-01E3CA1AEF72}"/>
              </a:ext>
            </a:extLst>
          </p:cNvPr>
          <p:cNvSpPr txBox="1"/>
          <p:nvPr/>
        </p:nvSpPr>
        <p:spPr>
          <a:xfrm>
            <a:off x="911509" y="5137744"/>
            <a:ext cx="2055222" cy="276999"/>
          </a:xfrm>
          <a:prstGeom prst="rect">
            <a:avLst/>
          </a:prstGeom>
          <a:noFill/>
        </p:spPr>
        <p:txBody>
          <a:bodyPr wrap="square">
            <a:spAutoFit/>
          </a:bodyPr>
          <a:lstStyle/>
          <a:p>
            <a:r>
              <a:rPr lang="nn-NO" altLang="zh-TW" sz="1200" dirty="0"/>
              <a:t>Phys. Lett. 92, 211103 (2008)</a:t>
            </a:r>
            <a:endParaRPr lang="zh-TW" altLang="en-US" sz="1200" dirty="0"/>
          </a:p>
        </p:txBody>
      </p:sp>
      <p:sp>
        <p:nvSpPr>
          <p:cNvPr id="12" name="文字方塊 11">
            <a:extLst>
              <a:ext uri="{FF2B5EF4-FFF2-40B4-BE49-F238E27FC236}">
                <a16:creationId xmlns:a16="http://schemas.microsoft.com/office/drawing/2014/main" id="{0138AE04-D795-B1F3-168E-64F6DD73634C}"/>
              </a:ext>
            </a:extLst>
          </p:cNvPr>
          <p:cNvSpPr txBox="1"/>
          <p:nvPr/>
        </p:nvSpPr>
        <p:spPr>
          <a:xfrm>
            <a:off x="402656" y="1965960"/>
            <a:ext cx="2664558" cy="276999"/>
          </a:xfrm>
          <a:prstGeom prst="rect">
            <a:avLst/>
          </a:prstGeom>
          <a:noFill/>
        </p:spPr>
        <p:txBody>
          <a:bodyPr wrap="square">
            <a:spAutoFit/>
          </a:bodyPr>
          <a:lstStyle/>
          <a:p>
            <a:r>
              <a:rPr lang="en-US" altLang="zh-TW" sz="1200" dirty="0"/>
              <a:t>Polarization photon pair source in BBO</a:t>
            </a:r>
            <a:endParaRPr lang="zh-TW" altLang="en-US" sz="1200" dirty="0"/>
          </a:p>
        </p:txBody>
      </p:sp>
      <p:pic>
        <p:nvPicPr>
          <p:cNvPr id="16" name="圖片 15">
            <a:extLst>
              <a:ext uri="{FF2B5EF4-FFF2-40B4-BE49-F238E27FC236}">
                <a16:creationId xmlns:a16="http://schemas.microsoft.com/office/drawing/2014/main" id="{CB688C5A-CF88-5BF8-DB44-0DD8C3470EF0}"/>
              </a:ext>
            </a:extLst>
          </p:cNvPr>
          <p:cNvPicPr>
            <a:picLocks noChangeAspect="1"/>
          </p:cNvPicPr>
          <p:nvPr/>
        </p:nvPicPr>
        <p:blipFill>
          <a:blip r:embed="rId5"/>
          <a:stretch>
            <a:fillRect/>
          </a:stretch>
        </p:blipFill>
        <p:spPr>
          <a:xfrm>
            <a:off x="7847763" y="2322223"/>
            <a:ext cx="4000316" cy="2808887"/>
          </a:xfrm>
          <a:prstGeom prst="rect">
            <a:avLst/>
          </a:prstGeom>
        </p:spPr>
      </p:pic>
      <p:sp>
        <p:nvSpPr>
          <p:cNvPr id="19" name="文字方塊 18">
            <a:extLst>
              <a:ext uri="{FF2B5EF4-FFF2-40B4-BE49-F238E27FC236}">
                <a16:creationId xmlns:a16="http://schemas.microsoft.com/office/drawing/2014/main" id="{0C28EDE9-7EBB-DEB3-E89F-E012BAFB8FD9}"/>
              </a:ext>
            </a:extLst>
          </p:cNvPr>
          <p:cNvSpPr txBox="1"/>
          <p:nvPr/>
        </p:nvSpPr>
        <p:spPr>
          <a:xfrm>
            <a:off x="8090287" y="5254002"/>
            <a:ext cx="3533138" cy="276999"/>
          </a:xfrm>
          <a:prstGeom prst="rect">
            <a:avLst/>
          </a:prstGeom>
          <a:noFill/>
        </p:spPr>
        <p:txBody>
          <a:bodyPr wrap="square">
            <a:spAutoFit/>
          </a:bodyPr>
          <a:lstStyle/>
          <a:p>
            <a:r>
              <a:rPr lang="fr-FR" altLang="zh-TW" sz="1200" dirty="0"/>
              <a:t>Optics Communications, Elsevier,2014, 327, pp.7-16</a:t>
            </a:r>
            <a:endParaRPr lang="zh-TW" altLang="en-US" sz="1200" dirty="0"/>
          </a:p>
        </p:txBody>
      </p:sp>
      <p:sp>
        <p:nvSpPr>
          <p:cNvPr id="20" name="文字方塊 19">
            <a:extLst>
              <a:ext uri="{FF2B5EF4-FFF2-40B4-BE49-F238E27FC236}">
                <a16:creationId xmlns:a16="http://schemas.microsoft.com/office/drawing/2014/main" id="{0D194141-D146-22EC-1616-4D7F7A53F542}"/>
              </a:ext>
            </a:extLst>
          </p:cNvPr>
          <p:cNvSpPr txBox="1"/>
          <p:nvPr/>
        </p:nvSpPr>
        <p:spPr>
          <a:xfrm>
            <a:off x="7847763" y="1881955"/>
            <a:ext cx="3533138" cy="276999"/>
          </a:xfrm>
          <a:prstGeom prst="rect">
            <a:avLst/>
          </a:prstGeom>
          <a:noFill/>
        </p:spPr>
        <p:txBody>
          <a:bodyPr wrap="square">
            <a:spAutoFit/>
          </a:bodyPr>
          <a:lstStyle/>
          <a:p>
            <a:r>
              <a:rPr lang="en-US" altLang="zh-TW" sz="1200" dirty="0"/>
              <a:t>Polarization photon pair source in PPLN waveguide</a:t>
            </a:r>
            <a:endParaRPr lang="zh-TW" altLang="en-US" sz="1200" dirty="0"/>
          </a:p>
        </p:txBody>
      </p:sp>
      <p:pic>
        <p:nvPicPr>
          <p:cNvPr id="22" name="圖片 21">
            <a:extLst>
              <a:ext uri="{FF2B5EF4-FFF2-40B4-BE49-F238E27FC236}">
                <a16:creationId xmlns:a16="http://schemas.microsoft.com/office/drawing/2014/main" id="{12A3319A-1248-8339-22ED-28FAC36A11A2}"/>
              </a:ext>
            </a:extLst>
          </p:cNvPr>
          <p:cNvPicPr>
            <a:picLocks noChangeAspect="1"/>
          </p:cNvPicPr>
          <p:nvPr/>
        </p:nvPicPr>
        <p:blipFill>
          <a:blip r:embed="rId6"/>
          <a:stretch>
            <a:fillRect/>
          </a:stretch>
        </p:blipFill>
        <p:spPr>
          <a:xfrm>
            <a:off x="3676728" y="2403700"/>
            <a:ext cx="3671753" cy="2756285"/>
          </a:xfrm>
          <a:prstGeom prst="rect">
            <a:avLst/>
          </a:prstGeom>
        </p:spPr>
      </p:pic>
      <p:sp>
        <p:nvSpPr>
          <p:cNvPr id="23" name="文字方塊 22">
            <a:extLst>
              <a:ext uri="{FF2B5EF4-FFF2-40B4-BE49-F238E27FC236}">
                <a16:creationId xmlns:a16="http://schemas.microsoft.com/office/drawing/2014/main" id="{425A3CC5-404A-2336-4C7E-7092C332CD50}"/>
              </a:ext>
            </a:extLst>
          </p:cNvPr>
          <p:cNvSpPr txBox="1"/>
          <p:nvPr/>
        </p:nvSpPr>
        <p:spPr>
          <a:xfrm>
            <a:off x="3676728" y="1965960"/>
            <a:ext cx="3929873" cy="461665"/>
          </a:xfrm>
          <a:prstGeom prst="rect">
            <a:avLst/>
          </a:prstGeom>
          <a:noFill/>
        </p:spPr>
        <p:txBody>
          <a:bodyPr wrap="square">
            <a:spAutoFit/>
          </a:bodyPr>
          <a:lstStyle/>
          <a:p>
            <a:r>
              <a:rPr lang="en-US" altLang="zh-TW" sz="1200" dirty="0"/>
              <a:t>Polarization photon pair source in PPLN used </a:t>
            </a:r>
            <a:r>
              <a:rPr lang="en-US" altLang="zh-TW" sz="1200" dirty="0" err="1"/>
              <a:t>Sagnac</a:t>
            </a:r>
            <a:r>
              <a:rPr lang="en-US" altLang="zh-TW" sz="1200" dirty="0"/>
              <a:t> interferometer</a:t>
            </a:r>
            <a:endParaRPr lang="zh-TW" altLang="en-US" sz="1200" dirty="0"/>
          </a:p>
        </p:txBody>
      </p:sp>
      <p:sp>
        <p:nvSpPr>
          <p:cNvPr id="24" name="文字方塊 23">
            <a:extLst>
              <a:ext uri="{FF2B5EF4-FFF2-40B4-BE49-F238E27FC236}">
                <a16:creationId xmlns:a16="http://schemas.microsoft.com/office/drawing/2014/main" id="{406E4675-FE97-CB9F-A3DF-A3EB3E858798}"/>
              </a:ext>
            </a:extLst>
          </p:cNvPr>
          <p:cNvSpPr txBox="1"/>
          <p:nvPr/>
        </p:nvSpPr>
        <p:spPr>
          <a:xfrm>
            <a:off x="4374247" y="5276243"/>
            <a:ext cx="2675753" cy="276999"/>
          </a:xfrm>
          <a:prstGeom prst="rect">
            <a:avLst/>
          </a:prstGeom>
          <a:noFill/>
        </p:spPr>
        <p:txBody>
          <a:bodyPr wrap="square">
            <a:spAutoFit/>
          </a:bodyPr>
          <a:lstStyle/>
          <a:p>
            <a:r>
              <a:rPr lang="en-US" altLang="zh-TW" sz="1200" dirty="0"/>
              <a:t>Sci Rep. 2019 Mar 22</a:t>
            </a:r>
            <a:endParaRPr lang="zh-TW" altLang="en-US" sz="1200" dirty="0"/>
          </a:p>
        </p:txBody>
      </p:sp>
    </p:spTree>
    <p:extLst>
      <p:ext uri="{BB962C8B-B14F-4D97-AF65-F5344CB8AC3E}">
        <p14:creationId xmlns:p14="http://schemas.microsoft.com/office/powerpoint/2010/main" val="39238571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Objective</a:t>
            </a:r>
            <a:endParaRPr lang="zh-TW" altLang="en-US" b="1"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0039351" y="6356352"/>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67</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grpSp>
        <p:nvGrpSpPr>
          <p:cNvPr id="86" name="群組 85">
            <a:extLst>
              <a:ext uri="{FF2B5EF4-FFF2-40B4-BE49-F238E27FC236}">
                <a16:creationId xmlns:a16="http://schemas.microsoft.com/office/drawing/2014/main" id="{A40FBE4A-7A06-038D-356F-E691893841AA}"/>
              </a:ext>
            </a:extLst>
          </p:cNvPr>
          <p:cNvGrpSpPr/>
          <p:nvPr/>
        </p:nvGrpSpPr>
        <p:grpSpPr>
          <a:xfrm>
            <a:off x="2862584" y="4330974"/>
            <a:ext cx="1755678" cy="736664"/>
            <a:chOff x="1748077" y="3079921"/>
            <a:chExt cx="1755678" cy="736664"/>
          </a:xfrm>
        </p:grpSpPr>
        <p:sp>
          <p:nvSpPr>
            <p:cNvPr id="78" name="左大括弧 77">
              <a:extLst>
                <a:ext uri="{FF2B5EF4-FFF2-40B4-BE49-F238E27FC236}">
                  <a16:creationId xmlns:a16="http://schemas.microsoft.com/office/drawing/2014/main" id="{D27E4118-1092-E5DE-ED03-3AE49E207554}"/>
                </a:ext>
              </a:extLst>
            </p:cNvPr>
            <p:cNvSpPr/>
            <p:nvPr/>
          </p:nvSpPr>
          <p:spPr>
            <a:xfrm rot="16200000">
              <a:off x="2339692" y="2488306"/>
              <a:ext cx="401957" cy="1585187"/>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sp>
          <p:nvSpPr>
            <p:cNvPr id="82" name="文字方塊 81">
              <a:extLst>
                <a:ext uri="{FF2B5EF4-FFF2-40B4-BE49-F238E27FC236}">
                  <a16:creationId xmlns:a16="http://schemas.microsoft.com/office/drawing/2014/main" id="{A3208C3D-0083-985B-A04E-E72C42B0DA7F}"/>
                </a:ext>
              </a:extLst>
            </p:cNvPr>
            <p:cNvSpPr txBox="1"/>
            <p:nvPr/>
          </p:nvSpPr>
          <p:spPr>
            <a:xfrm>
              <a:off x="2112027" y="3447253"/>
              <a:ext cx="1391728" cy="369332"/>
            </a:xfrm>
            <a:prstGeom prst="rect">
              <a:avLst/>
            </a:prstGeom>
            <a:noFill/>
          </p:spPr>
          <p:txBody>
            <a:bodyPr wrap="none" rtlCol="0">
              <a:spAutoFit/>
            </a:bodyPr>
            <a:lstStyle/>
            <a:p>
              <a:r>
                <a:rPr lang="en-US" altLang="zh-TW" dirty="0"/>
                <a:t>SPDC</a:t>
              </a:r>
              <a:r>
                <a:rPr lang="en-US" altLang="zh-TW" baseline="-25000" dirty="0"/>
                <a:t>type0(1cm)</a:t>
              </a:r>
              <a:endParaRPr lang="zh-TW" altLang="en-US" baseline="-25000" dirty="0"/>
            </a:p>
          </p:txBody>
        </p:sp>
      </p:grpSp>
      <p:grpSp>
        <p:nvGrpSpPr>
          <p:cNvPr id="88" name="群組 87">
            <a:extLst>
              <a:ext uri="{FF2B5EF4-FFF2-40B4-BE49-F238E27FC236}">
                <a16:creationId xmlns:a16="http://schemas.microsoft.com/office/drawing/2014/main" id="{0ECC9EF4-A7FF-821C-B73C-4E878D54F6F0}"/>
              </a:ext>
            </a:extLst>
          </p:cNvPr>
          <p:cNvGrpSpPr/>
          <p:nvPr/>
        </p:nvGrpSpPr>
        <p:grpSpPr>
          <a:xfrm>
            <a:off x="6061827" y="4311291"/>
            <a:ext cx="1662005" cy="774029"/>
            <a:chOff x="4953259" y="3078852"/>
            <a:chExt cx="1662005" cy="774029"/>
          </a:xfrm>
        </p:grpSpPr>
        <p:sp>
          <p:nvSpPr>
            <p:cNvPr id="79" name="左大括弧 78">
              <a:extLst>
                <a:ext uri="{FF2B5EF4-FFF2-40B4-BE49-F238E27FC236}">
                  <a16:creationId xmlns:a16="http://schemas.microsoft.com/office/drawing/2014/main" id="{BEA997C8-D4DA-249F-EA1E-454710297D9A}"/>
                </a:ext>
              </a:extLst>
            </p:cNvPr>
            <p:cNvSpPr/>
            <p:nvPr/>
          </p:nvSpPr>
          <p:spPr>
            <a:xfrm rot="16200000">
              <a:off x="5544874" y="2487237"/>
              <a:ext cx="401957" cy="1585187"/>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sp>
          <p:nvSpPr>
            <p:cNvPr id="83" name="文字方塊 82">
              <a:extLst>
                <a:ext uri="{FF2B5EF4-FFF2-40B4-BE49-F238E27FC236}">
                  <a16:creationId xmlns:a16="http://schemas.microsoft.com/office/drawing/2014/main" id="{C573487F-E807-CC92-83FA-D44175482790}"/>
                </a:ext>
              </a:extLst>
            </p:cNvPr>
            <p:cNvSpPr txBox="1"/>
            <p:nvPr/>
          </p:nvSpPr>
          <p:spPr>
            <a:xfrm>
              <a:off x="5223536" y="3483549"/>
              <a:ext cx="1391728" cy="369332"/>
            </a:xfrm>
            <a:prstGeom prst="rect">
              <a:avLst/>
            </a:prstGeom>
            <a:noFill/>
          </p:spPr>
          <p:txBody>
            <a:bodyPr wrap="none" rtlCol="0">
              <a:spAutoFit/>
            </a:bodyPr>
            <a:lstStyle/>
            <a:p>
              <a:r>
                <a:rPr lang="en-US" altLang="zh-TW" dirty="0"/>
                <a:t>SPDC</a:t>
              </a:r>
              <a:r>
                <a:rPr lang="en-US" altLang="zh-TW" baseline="-25000" dirty="0"/>
                <a:t>type0(1cm)</a:t>
              </a:r>
              <a:endParaRPr lang="zh-TW" altLang="en-US" baseline="-25000" dirty="0"/>
            </a:p>
          </p:txBody>
        </p:sp>
      </p:grpSp>
      <p:grpSp>
        <p:nvGrpSpPr>
          <p:cNvPr id="87" name="群組 86">
            <a:extLst>
              <a:ext uri="{FF2B5EF4-FFF2-40B4-BE49-F238E27FC236}">
                <a16:creationId xmlns:a16="http://schemas.microsoft.com/office/drawing/2014/main" id="{0E57B996-5BB3-8C7B-74F0-22F70682F9AA}"/>
              </a:ext>
            </a:extLst>
          </p:cNvPr>
          <p:cNvGrpSpPr/>
          <p:nvPr/>
        </p:nvGrpSpPr>
        <p:grpSpPr>
          <a:xfrm>
            <a:off x="4455181" y="4330323"/>
            <a:ext cx="1841776" cy="752774"/>
            <a:chOff x="3356689" y="3057825"/>
            <a:chExt cx="1841776" cy="752774"/>
          </a:xfrm>
        </p:grpSpPr>
        <p:sp>
          <p:nvSpPr>
            <p:cNvPr id="80" name="左大括弧 79">
              <a:extLst>
                <a:ext uri="{FF2B5EF4-FFF2-40B4-BE49-F238E27FC236}">
                  <a16:creationId xmlns:a16="http://schemas.microsoft.com/office/drawing/2014/main" id="{1EC118FD-A6E9-3EAD-80CB-2FC1DAE30826}"/>
                </a:ext>
              </a:extLst>
            </p:cNvPr>
            <p:cNvSpPr/>
            <p:nvPr/>
          </p:nvSpPr>
          <p:spPr>
            <a:xfrm rot="16200000">
              <a:off x="3948304" y="2466210"/>
              <a:ext cx="401957" cy="1585187"/>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sp>
          <p:nvSpPr>
            <p:cNvPr id="84" name="文字方塊 83">
              <a:extLst>
                <a:ext uri="{FF2B5EF4-FFF2-40B4-BE49-F238E27FC236}">
                  <a16:creationId xmlns:a16="http://schemas.microsoft.com/office/drawing/2014/main" id="{FA292BB0-11E1-EDBA-C905-23E6DE1C367B}"/>
                </a:ext>
              </a:extLst>
            </p:cNvPr>
            <p:cNvSpPr txBox="1"/>
            <p:nvPr/>
          </p:nvSpPr>
          <p:spPr>
            <a:xfrm>
              <a:off x="3603541" y="3441267"/>
              <a:ext cx="1594924" cy="369332"/>
            </a:xfrm>
            <a:prstGeom prst="rect">
              <a:avLst/>
            </a:prstGeom>
            <a:noFill/>
          </p:spPr>
          <p:txBody>
            <a:bodyPr wrap="none" rtlCol="0">
              <a:spAutoFit/>
            </a:bodyPr>
            <a:lstStyle/>
            <a:p>
              <a:r>
                <a:rPr lang="en-US" altLang="zh-TW" dirty="0" err="1"/>
                <a:t>EOPMC</a:t>
              </a:r>
              <a:r>
                <a:rPr lang="en-US" altLang="zh-TW" baseline="-25000" dirty="0" err="1"/>
                <a:t>appln</a:t>
              </a:r>
              <a:r>
                <a:rPr lang="en-US" altLang="zh-TW" baseline="-25000" dirty="0"/>
                <a:t>(1cm)</a:t>
              </a:r>
              <a:endParaRPr lang="zh-TW" altLang="en-US" baseline="-25000" dirty="0"/>
            </a:p>
          </p:txBody>
        </p:sp>
      </p:grpSp>
      <p:grpSp>
        <p:nvGrpSpPr>
          <p:cNvPr id="89" name="群組 88">
            <a:extLst>
              <a:ext uri="{FF2B5EF4-FFF2-40B4-BE49-F238E27FC236}">
                <a16:creationId xmlns:a16="http://schemas.microsoft.com/office/drawing/2014/main" id="{347010C7-22E3-62D1-1E78-04F47A644FA1}"/>
              </a:ext>
            </a:extLst>
          </p:cNvPr>
          <p:cNvGrpSpPr/>
          <p:nvPr/>
        </p:nvGrpSpPr>
        <p:grpSpPr>
          <a:xfrm>
            <a:off x="7640410" y="4305294"/>
            <a:ext cx="1188945" cy="750719"/>
            <a:chOff x="6543044" y="3099422"/>
            <a:chExt cx="1188945" cy="750719"/>
          </a:xfrm>
        </p:grpSpPr>
        <p:sp>
          <p:nvSpPr>
            <p:cNvPr id="81" name="左大括弧 80">
              <a:extLst>
                <a:ext uri="{FF2B5EF4-FFF2-40B4-BE49-F238E27FC236}">
                  <a16:creationId xmlns:a16="http://schemas.microsoft.com/office/drawing/2014/main" id="{A585A748-0A25-04DE-714B-616326F359B2}"/>
                </a:ext>
              </a:extLst>
            </p:cNvPr>
            <p:cNvSpPr/>
            <p:nvPr/>
          </p:nvSpPr>
          <p:spPr>
            <a:xfrm rot="16200000">
              <a:off x="6811373" y="2831093"/>
              <a:ext cx="401957" cy="938615"/>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effectLst/>
                <a:uLnTx/>
                <a:uFillTx/>
                <a:latin typeface="Calibri" panose="020F0502020204030204"/>
                <a:ea typeface="新細明體" panose="02020500000000000000" pitchFamily="18" charset="-120"/>
                <a:cs typeface="+mn-cs"/>
              </a:endParaRPr>
            </a:p>
          </p:txBody>
        </p:sp>
        <p:sp>
          <p:nvSpPr>
            <p:cNvPr id="85" name="文字方塊 84">
              <a:extLst>
                <a:ext uri="{FF2B5EF4-FFF2-40B4-BE49-F238E27FC236}">
                  <a16:creationId xmlns:a16="http://schemas.microsoft.com/office/drawing/2014/main" id="{A212DB4A-29DD-3FB8-91F1-E3ECB9352948}"/>
                </a:ext>
              </a:extLst>
            </p:cNvPr>
            <p:cNvSpPr txBox="1"/>
            <p:nvPr/>
          </p:nvSpPr>
          <p:spPr>
            <a:xfrm>
              <a:off x="6808723" y="3480809"/>
              <a:ext cx="923266" cy="369332"/>
            </a:xfrm>
            <a:prstGeom prst="rect">
              <a:avLst/>
            </a:prstGeom>
            <a:noFill/>
          </p:spPr>
          <p:txBody>
            <a:bodyPr wrap="none" rtlCol="0">
              <a:spAutoFit/>
            </a:bodyPr>
            <a:lstStyle/>
            <a:p>
              <a:r>
                <a:rPr lang="en-US" altLang="zh-TW" dirty="0"/>
                <a:t>EO</a:t>
              </a:r>
              <a:r>
                <a:rPr lang="en-US" altLang="zh-TW" baseline="-25000" dirty="0"/>
                <a:t>(0.6cm)</a:t>
              </a:r>
              <a:endParaRPr lang="zh-TW" altLang="en-US" baseline="-25000" dirty="0"/>
            </a:p>
          </p:txBody>
        </p:sp>
      </p:grpSp>
      <p:grpSp>
        <p:nvGrpSpPr>
          <p:cNvPr id="187" name="群組 186">
            <a:extLst>
              <a:ext uri="{FF2B5EF4-FFF2-40B4-BE49-F238E27FC236}">
                <a16:creationId xmlns:a16="http://schemas.microsoft.com/office/drawing/2014/main" id="{643C5346-3317-062F-DF84-0F382BC0F762}"/>
              </a:ext>
            </a:extLst>
          </p:cNvPr>
          <p:cNvGrpSpPr/>
          <p:nvPr/>
        </p:nvGrpSpPr>
        <p:grpSpPr>
          <a:xfrm>
            <a:off x="2850294" y="2714539"/>
            <a:ext cx="1597732" cy="1615784"/>
            <a:chOff x="1547796" y="4590564"/>
            <a:chExt cx="1597732" cy="1615784"/>
          </a:xfrm>
        </p:grpSpPr>
        <p:grpSp>
          <p:nvGrpSpPr>
            <p:cNvPr id="6" name="群組 5">
              <a:extLst>
                <a:ext uri="{FF2B5EF4-FFF2-40B4-BE49-F238E27FC236}">
                  <a16:creationId xmlns:a16="http://schemas.microsoft.com/office/drawing/2014/main" id="{D20ED634-A613-01A6-71CF-5FF0C56811B3}"/>
                </a:ext>
              </a:extLst>
            </p:cNvPr>
            <p:cNvGrpSpPr/>
            <p:nvPr/>
          </p:nvGrpSpPr>
          <p:grpSpPr>
            <a:xfrm>
              <a:off x="1547796" y="4590564"/>
              <a:ext cx="1597732" cy="1615784"/>
              <a:chOff x="7755536" y="4682354"/>
              <a:chExt cx="1539881" cy="1413646"/>
            </a:xfrm>
          </p:grpSpPr>
          <p:grpSp>
            <p:nvGrpSpPr>
              <p:cNvPr id="75" name="群組 74">
                <a:extLst>
                  <a:ext uri="{FF2B5EF4-FFF2-40B4-BE49-F238E27FC236}">
                    <a16:creationId xmlns:a16="http://schemas.microsoft.com/office/drawing/2014/main" id="{4C9670E7-88D1-9077-32E5-2F916CB65BD6}"/>
                  </a:ext>
                </a:extLst>
              </p:cNvPr>
              <p:cNvGrpSpPr/>
              <p:nvPr/>
            </p:nvGrpSpPr>
            <p:grpSpPr>
              <a:xfrm>
                <a:off x="7755536" y="4682354"/>
                <a:ext cx="382023" cy="1413646"/>
                <a:chOff x="7755536" y="4682354"/>
                <a:chExt cx="382023" cy="1413646"/>
              </a:xfrm>
            </p:grpSpPr>
            <p:sp>
              <p:nvSpPr>
                <p:cNvPr id="98" name="矩形 97">
                  <a:extLst>
                    <a:ext uri="{FF2B5EF4-FFF2-40B4-BE49-F238E27FC236}">
                      <a16:creationId xmlns:a16="http://schemas.microsoft.com/office/drawing/2014/main" id="{D4714103-9281-C4A3-C7EC-0DB8E8A67DCE}"/>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9" name="矩形 98">
                  <a:extLst>
                    <a:ext uri="{FF2B5EF4-FFF2-40B4-BE49-F238E27FC236}">
                      <a16:creationId xmlns:a16="http://schemas.microsoft.com/office/drawing/2014/main" id="{FC4D2F9A-C88B-4525-8396-2FC97F770CE7}"/>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76" name="群組 75">
                <a:extLst>
                  <a:ext uri="{FF2B5EF4-FFF2-40B4-BE49-F238E27FC236}">
                    <a16:creationId xmlns:a16="http://schemas.microsoft.com/office/drawing/2014/main" id="{9A14E843-2DE4-0EB8-D374-E3F247BB2DCF}"/>
                  </a:ext>
                </a:extLst>
              </p:cNvPr>
              <p:cNvGrpSpPr/>
              <p:nvPr/>
            </p:nvGrpSpPr>
            <p:grpSpPr>
              <a:xfrm>
                <a:off x="8136791" y="4682354"/>
                <a:ext cx="382023" cy="1413646"/>
                <a:chOff x="7755536" y="4682354"/>
                <a:chExt cx="382023" cy="1413646"/>
              </a:xfrm>
            </p:grpSpPr>
            <p:sp>
              <p:nvSpPr>
                <p:cNvPr id="96" name="矩形 95">
                  <a:extLst>
                    <a:ext uri="{FF2B5EF4-FFF2-40B4-BE49-F238E27FC236}">
                      <a16:creationId xmlns:a16="http://schemas.microsoft.com/office/drawing/2014/main" id="{5E1578CD-C5A7-F61E-F9F1-382870E0FE40}"/>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7" name="矩形 96">
                  <a:extLst>
                    <a:ext uri="{FF2B5EF4-FFF2-40B4-BE49-F238E27FC236}">
                      <a16:creationId xmlns:a16="http://schemas.microsoft.com/office/drawing/2014/main" id="{4CA60876-376E-81D1-AAEA-3CA13E2F961A}"/>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90" name="群組 89">
                <a:extLst>
                  <a:ext uri="{FF2B5EF4-FFF2-40B4-BE49-F238E27FC236}">
                    <a16:creationId xmlns:a16="http://schemas.microsoft.com/office/drawing/2014/main" id="{3DB5E330-CB58-A26E-2E7E-CD90AE737277}"/>
                  </a:ext>
                </a:extLst>
              </p:cNvPr>
              <p:cNvGrpSpPr/>
              <p:nvPr/>
            </p:nvGrpSpPr>
            <p:grpSpPr>
              <a:xfrm>
                <a:off x="8529017" y="4682354"/>
                <a:ext cx="382023" cy="1413646"/>
                <a:chOff x="7755536" y="4682354"/>
                <a:chExt cx="382023" cy="1413646"/>
              </a:xfrm>
            </p:grpSpPr>
            <p:sp>
              <p:nvSpPr>
                <p:cNvPr id="94" name="矩形 93">
                  <a:extLst>
                    <a:ext uri="{FF2B5EF4-FFF2-40B4-BE49-F238E27FC236}">
                      <a16:creationId xmlns:a16="http://schemas.microsoft.com/office/drawing/2014/main" id="{B5F65E98-E9A7-2825-FA77-D4ACF3B8C467}"/>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5" name="矩形 94">
                  <a:extLst>
                    <a:ext uri="{FF2B5EF4-FFF2-40B4-BE49-F238E27FC236}">
                      <a16:creationId xmlns:a16="http://schemas.microsoft.com/office/drawing/2014/main" id="{87542D68-2A60-1ED7-7BA1-26A60BEF53F9}"/>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91" name="群組 90">
                <a:extLst>
                  <a:ext uri="{FF2B5EF4-FFF2-40B4-BE49-F238E27FC236}">
                    <a16:creationId xmlns:a16="http://schemas.microsoft.com/office/drawing/2014/main" id="{88F7A957-93F0-20FC-0CC2-F1D6F36ACB45}"/>
                  </a:ext>
                </a:extLst>
              </p:cNvPr>
              <p:cNvGrpSpPr/>
              <p:nvPr/>
            </p:nvGrpSpPr>
            <p:grpSpPr>
              <a:xfrm>
                <a:off x="8913394" y="4682354"/>
                <a:ext cx="382023" cy="1413646"/>
                <a:chOff x="7755536" y="4682354"/>
                <a:chExt cx="382023" cy="1413646"/>
              </a:xfrm>
            </p:grpSpPr>
            <p:sp>
              <p:nvSpPr>
                <p:cNvPr id="92" name="矩形 91">
                  <a:extLst>
                    <a:ext uri="{FF2B5EF4-FFF2-40B4-BE49-F238E27FC236}">
                      <a16:creationId xmlns:a16="http://schemas.microsoft.com/office/drawing/2014/main" id="{2E64A673-DC07-3D3E-AE38-E98B349A23B9}"/>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3" name="矩形 92">
                  <a:extLst>
                    <a:ext uri="{FF2B5EF4-FFF2-40B4-BE49-F238E27FC236}">
                      <a16:creationId xmlns:a16="http://schemas.microsoft.com/office/drawing/2014/main" id="{FE97A7C1-3165-1389-1143-F0CC799D012E}"/>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100" name="矩形 99">
              <a:extLst>
                <a:ext uri="{FF2B5EF4-FFF2-40B4-BE49-F238E27FC236}">
                  <a16:creationId xmlns:a16="http://schemas.microsoft.com/office/drawing/2014/main" id="{BD7CF3CE-D650-3CFD-83E5-03700D0E467F}"/>
                </a:ext>
              </a:extLst>
            </p:cNvPr>
            <p:cNvSpPr/>
            <p:nvPr/>
          </p:nvSpPr>
          <p:spPr>
            <a:xfrm>
              <a:off x="1560341" y="5172154"/>
              <a:ext cx="1575773" cy="262714"/>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86" name="矩形 185">
              <a:extLst>
                <a:ext uri="{FF2B5EF4-FFF2-40B4-BE49-F238E27FC236}">
                  <a16:creationId xmlns:a16="http://schemas.microsoft.com/office/drawing/2014/main" id="{D97C8FBE-0158-A447-B443-16A016E07D72}"/>
                </a:ext>
              </a:extLst>
            </p:cNvPr>
            <p:cNvSpPr/>
            <p:nvPr/>
          </p:nvSpPr>
          <p:spPr>
            <a:xfrm>
              <a:off x="1554254" y="5982936"/>
              <a:ext cx="1591274" cy="223412"/>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193" name="箭號: 向右 192">
            <a:extLst>
              <a:ext uri="{FF2B5EF4-FFF2-40B4-BE49-F238E27FC236}">
                <a16:creationId xmlns:a16="http://schemas.microsoft.com/office/drawing/2014/main" id="{22CEFEFD-2292-4A69-0F5B-E509624EC2B4}"/>
              </a:ext>
            </a:extLst>
          </p:cNvPr>
          <p:cNvSpPr/>
          <p:nvPr/>
        </p:nvSpPr>
        <p:spPr>
          <a:xfrm>
            <a:off x="2086126" y="3322236"/>
            <a:ext cx="750491" cy="275824"/>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4" name="文字方塊 193">
            <a:extLst>
              <a:ext uri="{FF2B5EF4-FFF2-40B4-BE49-F238E27FC236}">
                <a16:creationId xmlns:a16="http://schemas.microsoft.com/office/drawing/2014/main" id="{D3C38CEB-DC6A-271E-A15D-F63AAB9E194F}"/>
              </a:ext>
            </a:extLst>
          </p:cNvPr>
          <p:cNvSpPr txBox="1"/>
          <p:nvPr/>
        </p:nvSpPr>
        <p:spPr>
          <a:xfrm>
            <a:off x="2105997" y="3081275"/>
            <a:ext cx="618015" cy="307777"/>
          </a:xfrm>
          <a:prstGeom prst="rect">
            <a:avLst/>
          </a:prstGeom>
          <a:noFill/>
        </p:spPr>
        <p:txBody>
          <a:bodyPr wrap="square" rtlCol="0">
            <a:spAutoFit/>
          </a:bodyPr>
          <a:lstStyle/>
          <a:p>
            <a:r>
              <a:rPr lang="en-US" altLang="zh-TW" sz="1400" dirty="0"/>
              <a:t>Pump </a:t>
            </a:r>
            <a:endParaRPr lang="zh-TW" altLang="en-US" sz="1400" dirty="0"/>
          </a:p>
        </p:txBody>
      </p:sp>
      <p:grpSp>
        <p:nvGrpSpPr>
          <p:cNvPr id="235" name="群組 234">
            <a:extLst>
              <a:ext uri="{FF2B5EF4-FFF2-40B4-BE49-F238E27FC236}">
                <a16:creationId xmlns:a16="http://schemas.microsoft.com/office/drawing/2014/main" id="{58001093-5102-6A53-675E-2D0DC04C8F0C}"/>
              </a:ext>
            </a:extLst>
          </p:cNvPr>
          <p:cNvGrpSpPr/>
          <p:nvPr/>
        </p:nvGrpSpPr>
        <p:grpSpPr>
          <a:xfrm>
            <a:off x="4456498" y="2011968"/>
            <a:ext cx="1598437" cy="2314555"/>
            <a:chOff x="8442672" y="1013979"/>
            <a:chExt cx="1598437" cy="2314555"/>
          </a:xfrm>
        </p:grpSpPr>
        <p:grpSp>
          <p:nvGrpSpPr>
            <p:cNvPr id="236" name="群組 235">
              <a:extLst>
                <a:ext uri="{FF2B5EF4-FFF2-40B4-BE49-F238E27FC236}">
                  <a16:creationId xmlns:a16="http://schemas.microsoft.com/office/drawing/2014/main" id="{ED13C53B-29D8-7150-9BDE-8D6B369990FC}"/>
                </a:ext>
              </a:extLst>
            </p:cNvPr>
            <p:cNvGrpSpPr/>
            <p:nvPr/>
          </p:nvGrpSpPr>
          <p:grpSpPr>
            <a:xfrm>
              <a:off x="8442672" y="1013979"/>
              <a:ext cx="1598437" cy="2314554"/>
              <a:chOff x="8442672" y="1013979"/>
              <a:chExt cx="1598437" cy="2314554"/>
            </a:xfrm>
          </p:grpSpPr>
          <p:grpSp>
            <p:nvGrpSpPr>
              <p:cNvPr id="239" name="群組 238">
                <a:extLst>
                  <a:ext uri="{FF2B5EF4-FFF2-40B4-BE49-F238E27FC236}">
                    <a16:creationId xmlns:a16="http://schemas.microsoft.com/office/drawing/2014/main" id="{54406BB5-B5EE-9D1D-1E52-56602CF614B1}"/>
                  </a:ext>
                </a:extLst>
              </p:cNvPr>
              <p:cNvGrpSpPr/>
              <p:nvPr/>
            </p:nvGrpSpPr>
            <p:grpSpPr>
              <a:xfrm>
                <a:off x="8443377" y="1712749"/>
                <a:ext cx="1597732" cy="1615784"/>
                <a:chOff x="3923113" y="2277371"/>
                <a:chExt cx="1539881" cy="1413646"/>
              </a:xfrm>
            </p:grpSpPr>
            <p:grpSp>
              <p:nvGrpSpPr>
                <p:cNvPr id="294" name="群組 293">
                  <a:extLst>
                    <a:ext uri="{FF2B5EF4-FFF2-40B4-BE49-F238E27FC236}">
                      <a16:creationId xmlns:a16="http://schemas.microsoft.com/office/drawing/2014/main" id="{FC0FAA66-FEDD-AF3A-1C1C-0590DD2634A3}"/>
                    </a:ext>
                  </a:extLst>
                </p:cNvPr>
                <p:cNvGrpSpPr/>
                <p:nvPr/>
              </p:nvGrpSpPr>
              <p:grpSpPr>
                <a:xfrm>
                  <a:off x="3923113" y="2277371"/>
                  <a:ext cx="382023" cy="1413646"/>
                  <a:chOff x="7755536" y="4682354"/>
                  <a:chExt cx="382023" cy="1413646"/>
                </a:xfrm>
                <a:solidFill>
                  <a:schemeClr val="accent6">
                    <a:lumMod val="60000"/>
                    <a:lumOff val="40000"/>
                  </a:schemeClr>
                </a:solidFill>
              </p:grpSpPr>
              <p:sp>
                <p:nvSpPr>
                  <p:cNvPr id="304" name="矩形 303">
                    <a:extLst>
                      <a:ext uri="{FF2B5EF4-FFF2-40B4-BE49-F238E27FC236}">
                        <a16:creationId xmlns:a16="http://schemas.microsoft.com/office/drawing/2014/main" id="{D25B2392-EC46-7D58-6D5D-127B0E38A5A8}"/>
                      </a:ext>
                    </a:extLst>
                  </p:cNvPr>
                  <p:cNvSpPr/>
                  <p:nvPr/>
                </p:nvSpPr>
                <p:spPr>
                  <a:xfrm>
                    <a:off x="7755536"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5" name="矩形 304">
                    <a:extLst>
                      <a:ext uri="{FF2B5EF4-FFF2-40B4-BE49-F238E27FC236}">
                        <a16:creationId xmlns:a16="http://schemas.microsoft.com/office/drawing/2014/main" id="{C9E553EF-221A-3321-FC87-F4112418CEC7}"/>
                      </a:ext>
                    </a:extLst>
                  </p:cNvPr>
                  <p:cNvSpPr/>
                  <p:nvPr/>
                </p:nvSpPr>
                <p:spPr>
                  <a:xfrm>
                    <a:off x="7946547"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295" name="群組 294">
                  <a:extLst>
                    <a:ext uri="{FF2B5EF4-FFF2-40B4-BE49-F238E27FC236}">
                      <a16:creationId xmlns:a16="http://schemas.microsoft.com/office/drawing/2014/main" id="{68BE1CC3-B3EB-E89D-59AE-85E5B9A7723B}"/>
                    </a:ext>
                  </a:extLst>
                </p:cNvPr>
                <p:cNvGrpSpPr/>
                <p:nvPr/>
              </p:nvGrpSpPr>
              <p:grpSpPr>
                <a:xfrm>
                  <a:off x="4304368" y="2277371"/>
                  <a:ext cx="382023" cy="1413646"/>
                  <a:chOff x="7755536" y="4682354"/>
                  <a:chExt cx="382023" cy="1413646"/>
                </a:xfrm>
                <a:solidFill>
                  <a:schemeClr val="accent6">
                    <a:lumMod val="20000"/>
                    <a:lumOff val="80000"/>
                  </a:schemeClr>
                </a:solidFill>
              </p:grpSpPr>
              <p:sp>
                <p:nvSpPr>
                  <p:cNvPr id="302" name="矩形 301">
                    <a:extLst>
                      <a:ext uri="{FF2B5EF4-FFF2-40B4-BE49-F238E27FC236}">
                        <a16:creationId xmlns:a16="http://schemas.microsoft.com/office/drawing/2014/main" id="{1F74DE05-CD51-BA35-8858-BF9941D24233}"/>
                      </a:ext>
                    </a:extLst>
                  </p:cNvPr>
                  <p:cNvSpPr/>
                  <p:nvPr/>
                </p:nvSpPr>
                <p:spPr>
                  <a:xfrm>
                    <a:off x="7755536"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3" name="矩形 302">
                    <a:extLst>
                      <a:ext uri="{FF2B5EF4-FFF2-40B4-BE49-F238E27FC236}">
                        <a16:creationId xmlns:a16="http://schemas.microsoft.com/office/drawing/2014/main" id="{64EC3D46-E4B0-3E4A-EFA0-906C6C194617}"/>
                      </a:ext>
                    </a:extLst>
                  </p:cNvPr>
                  <p:cNvSpPr/>
                  <p:nvPr/>
                </p:nvSpPr>
                <p:spPr>
                  <a:xfrm>
                    <a:off x="7946547" y="4682354"/>
                    <a:ext cx="191012" cy="1413646"/>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296" name="群組 295">
                  <a:extLst>
                    <a:ext uri="{FF2B5EF4-FFF2-40B4-BE49-F238E27FC236}">
                      <a16:creationId xmlns:a16="http://schemas.microsoft.com/office/drawing/2014/main" id="{D7592430-200D-A221-9627-B75263B46D65}"/>
                    </a:ext>
                  </a:extLst>
                </p:cNvPr>
                <p:cNvGrpSpPr/>
                <p:nvPr/>
              </p:nvGrpSpPr>
              <p:grpSpPr>
                <a:xfrm>
                  <a:off x="4696594" y="2277371"/>
                  <a:ext cx="382023" cy="1413646"/>
                  <a:chOff x="7755536" y="4682354"/>
                  <a:chExt cx="382023" cy="1413646"/>
                </a:xfrm>
              </p:grpSpPr>
              <p:sp>
                <p:nvSpPr>
                  <p:cNvPr id="300" name="矩形 299">
                    <a:extLst>
                      <a:ext uri="{FF2B5EF4-FFF2-40B4-BE49-F238E27FC236}">
                        <a16:creationId xmlns:a16="http://schemas.microsoft.com/office/drawing/2014/main" id="{9276A22F-19C3-09A0-6805-C45AE53D3A12}"/>
                      </a:ext>
                    </a:extLst>
                  </p:cNvPr>
                  <p:cNvSpPr/>
                  <p:nvPr/>
                </p:nvSpPr>
                <p:spPr>
                  <a:xfrm>
                    <a:off x="7755536" y="4682354"/>
                    <a:ext cx="191012" cy="1413646"/>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1" name="矩形 300">
                    <a:extLst>
                      <a:ext uri="{FF2B5EF4-FFF2-40B4-BE49-F238E27FC236}">
                        <a16:creationId xmlns:a16="http://schemas.microsoft.com/office/drawing/2014/main" id="{F197B09E-B457-0128-F12C-50F863019BA6}"/>
                      </a:ext>
                    </a:extLst>
                  </p:cNvPr>
                  <p:cNvSpPr/>
                  <p:nvPr/>
                </p:nvSpPr>
                <p:spPr>
                  <a:xfrm>
                    <a:off x="7946547" y="4682354"/>
                    <a:ext cx="191012" cy="141364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297" name="群組 296">
                  <a:extLst>
                    <a:ext uri="{FF2B5EF4-FFF2-40B4-BE49-F238E27FC236}">
                      <a16:creationId xmlns:a16="http://schemas.microsoft.com/office/drawing/2014/main" id="{1C02879F-40B5-93FC-BC56-77C9625F08E6}"/>
                    </a:ext>
                  </a:extLst>
                </p:cNvPr>
                <p:cNvGrpSpPr/>
                <p:nvPr/>
              </p:nvGrpSpPr>
              <p:grpSpPr>
                <a:xfrm>
                  <a:off x="5080971" y="2277371"/>
                  <a:ext cx="382023" cy="1413646"/>
                  <a:chOff x="7755536" y="4682354"/>
                  <a:chExt cx="382023" cy="1413646"/>
                </a:xfrm>
              </p:grpSpPr>
              <p:sp>
                <p:nvSpPr>
                  <p:cNvPr id="298" name="矩形 297">
                    <a:extLst>
                      <a:ext uri="{FF2B5EF4-FFF2-40B4-BE49-F238E27FC236}">
                        <a16:creationId xmlns:a16="http://schemas.microsoft.com/office/drawing/2014/main" id="{C14D46E3-39D2-50C7-9C73-85D52C515073}"/>
                      </a:ext>
                    </a:extLst>
                  </p:cNvPr>
                  <p:cNvSpPr/>
                  <p:nvPr/>
                </p:nvSpPr>
                <p:spPr>
                  <a:xfrm>
                    <a:off x="7755536" y="4682354"/>
                    <a:ext cx="191012" cy="141364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99" name="矩形 298">
                    <a:extLst>
                      <a:ext uri="{FF2B5EF4-FFF2-40B4-BE49-F238E27FC236}">
                        <a16:creationId xmlns:a16="http://schemas.microsoft.com/office/drawing/2014/main" id="{170A57E1-6B85-A008-45FA-C9DDC726B6EE}"/>
                      </a:ext>
                    </a:extLst>
                  </p:cNvPr>
                  <p:cNvSpPr/>
                  <p:nvPr/>
                </p:nvSpPr>
                <p:spPr>
                  <a:xfrm>
                    <a:off x="7946547" y="4682354"/>
                    <a:ext cx="191012" cy="1413646"/>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241" name="矩形 240">
                <a:extLst>
                  <a:ext uri="{FF2B5EF4-FFF2-40B4-BE49-F238E27FC236}">
                    <a16:creationId xmlns:a16="http://schemas.microsoft.com/office/drawing/2014/main" id="{D73A12A9-3B52-2037-2B74-86FD8705A04F}"/>
                  </a:ext>
                </a:extLst>
              </p:cNvPr>
              <p:cNvSpPr/>
              <p:nvPr/>
            </p:nvSpPr>
            <p:spPr>
              <a:xfrm>
                <a:off x="8453352" y="1984590"/>
                <a:ext cx="1585315"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46" name="矩形 245">
                <a:extLst>
                  <a:ext uri="{FF2B5EF4-FFF2-40B4-BE49-F238E27FC236}">
                    <a16:creationId xmlns:a16="http://schemas.microsoft.com/office/drawing/2014/main" id="{7AAD89B5-EFBD-C61A-C2BE-6DAADC5E40BF}"/>
                  </a:ext>
                </a:extLst>
              </p:cNvPr>
              <p:cNvSpPr/>
              <p:nvPr/>
            </p:nvSpPr>
            <p:spPr>
              <a:xfrm>
                <a:off x="8442672" y="2636613"/>
                <a:ext cx="1585315"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267" name="直線接點 266">
                <a:extLst>
                  <a:ext uri="{FF2B5EF4-FFF2-40B4-BE49-F238E27FC236}">
                    <a16:creationId xmlns:a16="http://schemas.microsoft.com/office/drawing/2014/main" id="{6C909218-F352-E25D-37A2-BF01D9FEC07A}"/>
                  </a:ext>
                </a:extLst>
              </p:cNvPr>
              <p:cNvCxnSpPr>
                <a:cxnSpLocks/>
              </p:cNvCxnSpPr>
              <p:nvPr/>
            </p:nvCxnSpPr>
            <p:spPr>
              <a:xfrm flipH="1" flipV="1">
                <a:off x="8509832" y="1339285"/>
                <a:ext cx="131732" cy="140986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5" name="直線接點 274">
                <a:extLst>
                  <a:ext uri="{FF2B5EF4-FFF2-40B4-BE49-F238E27FC236}">
                    <a16:creationId xmlns:a16="http://schemas.microsoft.com/office/drawing/2014/main" id="{51935ED9-E9B4-0117-0C87-3EFD2084E7DD}"/>
                  </a:ext>
                </a:extLst>
              </p:cNvPr>
              <p:cNvCxnSpPr>
                <a:cxnSpLocks/>
              </p:cNvCxnSpPr>
              <p:nvPr/>
            </p:nvCxnSpPr>
            <p:spPr>
              <a:xfrm flipH="1" flipV="1">
                <a:off x="9436018" y="1025270"/>
                <a:ext cx="101693" cy="10542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1" name="直線接點 290">
                <a:extLst>
                  <a:ext uri="{FF2B5EF4-FFF2-40B4-BE49-F238E27FC236}">
                    <a16:creationId xmlns:a16="http://schemas.microsoft.com/office/drawing/2014/main" id="{16100671-DED2-3706-7B5E-38E183869359}"/>
                  </a:ext>
                </a:extLst>
              </p:cNvPr>
              <p:cNvCxnSpPr>
                <a:cxnSpLocks/>
              </p:cNvCxnSpPr>
              <p:nvPr/>
            </p:nvCxnSpPr>
            <p:spPr>
              <a:xfrm flipV="1">
                <a:off x="8508538" y="1264686"/>
                <a:ext cx="232120" cy="8522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2" name="直線接點 291">
                <a:extLst>
                  <a:ext uri="{FF2B5EF4-FFF2-40B4-BE49-F238E27FC236}">
                    <a16:creationId xmlns:a16="http://schemas.microsoft.com/office/drawing/2014/main" id="{1AD66B2E-33C9-4BB3-E5EE-0AF56DE615FA}"/>
                  </a:ext>
                </a:extLst>
              </p:cNvPr>
              <p:cNvCxnSpPr>
                <a:cxnSpLocks/>
              </p:cNvCxnSpPr>
              <p:nvPr/>
            </p:nvCxnSpPr>
            <p:spPr>
              <a:xfrm flipH="1">
                <a:off x="9125726" y="1034920"/>
                <a:ext cx="319098" cy="1220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93" name="橢圓 292">
                <a:extLst>
                  <a:ext uri="{FF2B5EF4-FFF2-40B4-BE49-F238E27FC236}">
                    <a16:creationId xmlns:a16="http://schemas.microsoft.com/office/drawing/2014/main" id="{614B2AC3-0DA8-D030-65EF-7AD59D024A2F}"/>
                  </a:ext>
                </a:extLst>
              </p:cNvPr>
              <p:cNvSpPr/>
              <p:nvPr/>
            </p:nvSpPr>
            <p:spPr>
              <a:xfrm>
                <a:off x="8736284" y="1013979"/>
                <a:ext cx="382626" cy="378964"/>
              </a:xfrm>
              <a:prstGeom prst="ellipse">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solidFill>
                      <a:schemeClr val="tx1"/>
                    </a:solidFill>
                  </a:rPr>
                  <a:t>V</a:t>
                </a:r>
                <a:endParaRPr lang="zh-TW" altLang="en-US" b="1" dirty="0">
                  <a:solidFill>
                    <a:schemeClr val="tx1"/>
                  </a:solidFill>
                </a:endParaRPr>
              </a:p>
            </p:txBody>
          </p:sp>
        </p:grpSp>
        <p:sp>
          <p:nvSpPr>
            <p:cNvPr id="237" name="矩形 236">
              <a:extLst>
                <a:ext uri="{FF2B5EF4-FFF2-40B4-BE49-F238E27FC236}">
                  <a16:creationId xmlns:a16="http://schemas.microsoft.com/office/drawing/2014/main" id="{BA284123-0556-21AF-67C0-964480CD1FCC}"/>
                </a:ext>
              </a:extLst>
            </p:cNvPr>
            <p:cNvSpPr/>
            <p:nvPr/>
          </p:nvSpPr>
          <p:spPr>
            <a:xfrm>
              <a:off x="8456889" y="3089226"/>
              <a:ext cx="1581778" cy="239308"/>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38" name="矩形 237">
              <a:extLst>
                <a:ext uri="{FF2B5EF4-FFF2-40B4-BE49-F238E27FC236}">
                  <a16:creationId xmlns:a16="http://schemas.microsoft.com/office/drawing/2014/main" id="{B88D2D2F-9625-41EF-F442-09B39E0597E9}"/>
                </a:ext>
              </a:extLst>
            </p:cNvPr>
            <p:cNvSpPr/>
            <p:nvPr/>
          </p:nvSpPr>
          <p:spPr>
            <a:xfrm>
              <a:off x="8453198" y="2328648"/>
              <a:ext cx="1577675" cy="196537"/>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nvGrpSpPr>
          <p:cNvPr id="306" name="群組 305">
            <a:extLst>
              <a:ext uri="{FF2B5EF4-FFF2-40B4-BE49-F238E27FC236}">
                <a16:creationId xmlns:a16="http://schemas.microsoft.com/office/drawing/2014/main" id="{6906D793-AF4D-BF11-CD9C-2674AED87A31}"/>
              </a:ext>
            </a:extLst>
          </p:cNvPr>
          <p:cNvGrpSpPr/>
          <p:nvPr/>
        </p:nvGrpSpPr>
        <p:grpSpPr>
          <a:xfrm>
            <a:off x="6049562" y="2707836"/>
            <a:ext cx="1597732" cy="1615786"/>
            <a:chOff x="1547796" y="4590565"/>
            <a:chExt cx="1597732" cy="1615786"/>
          </a:xfrm>
        </p:grpSpPr>
        <p:grpSp>
          <p:nvGrpSpPr>
            <p:cNvPr id="307" name="群組 306">
              <a:extLst>
                <a:ext uri="{FF2B5EF4-FFF2-40B4-BE49-F238E27FC236}">
                  <a16:creationId xmlns:a16="http://schemas.microsoft.com/office/drawing/2014/main" id="{E16FCB19-D9A4-2C95-4FA8-7A779CED8C53}"/>
                </a:ext>
              </a:extLst>
            </p:cNvPr>
            <p:cNvGrpSpPr/>
            <p:nvPr/>
          </p:nvGrpSpPr>
          <p:grpSpPr>
            <a:xfrm>
              <a:off x="1547796" y="4590565"/>
              <a:ext cx="1597732" cy="1615786"/>
              <a:chOff x="7755536" y="4682353"/>
              <a:chExt cx="1539881" cy="1413647"/>
            </a:xfrm>
          </p:grpSpPr>
          <p:grpSp>
            <p:nvGrpSpPr>
              <p:cNvPr id="310" name="群組 309">
                <a:extLst>
                  <a:ext uri="{FF2B5EF4-FFF2-40B4-BE49-F238E27FC236}">
                    <a16:creationId xmlns:a16="http://schemas.microsoft.com/office/drawing/2014/main" id="{3F9220EE-773C-2042-91E9-E686BA36FAC2}"/>
                  </a:ext>
                </a:extLst>
              </p:cNvPr>
              <p:cNvGrpSpPr/>
              <p:nvPr/>
            </p:nvGrpSpPr>
            <p:grpSpPr>
              <a:xfrm>
                <a:off x="7755536" y="4682354"/>
                <a:ext cx="382023" cy="1413646"/>
                <a:chOff x="7755536" y="4682354"/>
                <a:chExt cx="382023" cy="1413646"/>
              </a:xfrm>
            </p:grpSpPr>
            <p:sp>
              <p:nvSpPr>
                <p:cNvPr id="320" name="矩形 319">
                  <a:extLst>
                    <a:ext uri="{FF2B5EF4-FFF2-40B4-BE49-F238E27FC236}">
                      <a16:creationId xmlns:a16="http://schemas.microsoft.com/office/drawing/2014/main" id="{F9951B22-8E50-35F4-9BC1-309DE28405E9}"/>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1" name="矩形 320">
                  <a:extLst>
                    <a:ext uri="{FF2B5EF4-FFF2-40B4-BE49-F238E27FC236}">
                      <a16:creationId xmlns:a16="http://schemas.microsoft.com/office/drawing/2014/main" id="{FC3A3A17-A4AF-9B2C-891C-453EEBC580EC}"/>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11" name="群組 310">
                <a:extLst>
                  <a:ext uri="{FF2B5EF4-FFF2-40B4-BE49-F238E27FC236}">
                    <a16:creationId xmlns:a16="http://schemas.microsoft.com/office/drawing/2014/main" id="{7EF784CA-A07E-22E1-B563-0E5FD41D2FEA}"/>
                  </a:ext>
                </a:extLst>
              </p:cNvPr>
              <p:cNvGrpSpPr/>
              <p:nvPr/>
            </p:nvGrpSpPr>
            <p:grpSpPr>
              <a:xfrm>
                <a:off x="8136791" y="4682354"/>
                <a:ext cx="382023" cy="1413646"/>
                <a:chOff x="7755536" y="4682354"/>
                <a:chExt cx="382023" cy="1413646"/>
              </a:xfrm>
            </p:grpSpPr>
            <p:sp>
              <p:nvSpPr>
                <p:cNvPr id="318" name="矩形 317">
                  <a:extLst>
                    <a:ext uri="{FF2B5EF4-FFF2-40B4-BE49-F238E27FC236}">
                      <a16:creationId xmlns:a16="http://schemas.microsoft.com/office/drawing/2014/main" id="{C0F35C31-4B97-7F6A-4A15-AC43DD6BAC41}"/>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9" name="矩形 318">
                  <a:extLst>
                    <a:ext uri="{FF2B5EF4-FFF2-40B4-BE49-F238E27FC236}">
                      <a16:creationId xmlns:a16="http://schemas.microsoft.com/office/drawing/2014/main" id="{4D413EF0-D670-6919-DA86-EF299162CBE3}"/>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12" name="群組 311">
                <a:extLst>
                  <a:ext uri="{FF2B5EF4-FFF2-40B4-BE49-F238E27FC236}">
                    <a16:creationId xmlns:a16="http://schemas.microsoft.com/office/drawing/2014/main" id="{6F3EB298-81F6-5941-D21E-12BF2298F268}"/>
                  </a:ext>
                </a:extLst>
              </p:cNvPr>
              <p:cNvGrpSpPr/>
              <p:nvPr/>
            </p:nvGrpSpPr>
            <p:grpSpPr>
              <a:xfrm>
                <a:off x="8529018" y="4682353"/>
                <a:ext cx="382022" cy="1413647"/>
                <a:chOff x="7755537" y="4682353"/>
                <a:chExt cx="382022" cy="1413647"/>
              </a:xfrm>
            </p:grpSpPr>
            <p:sp>
              <p:nvSpPr>
                <p:cNvPr id="316" name="矩形 315">
                  <a:extLst>
                    <a:ext uri="{FF2B5EF4-FFF2-40B4-BE49-F238E27FC236}">
                      <a16:creationId xmlns:a16="http://schemas.microsoft.com/office/drawing/2014/main" id="{9189EDA1-FFDD-5EC9-E5EE-7CEFEDD8CD23}"/>
                    </a:ext>
                  </a:extLst>
                </p:cNvPr>
                <p:cNvSpPr/>
                <p:nvPr/>
              </p:nvSpPr>
              <p:spPr>
                <a:xfrm>
                  <a:off x="7755537" y="4682353"/>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7" name="矩形 316">
                  <a:extLst>
                    <a:ext uri="{FF2B5EF4-FFF2-40B4-BE49-F238E27FC236}">
                      <a16:creationId xmlns:a16="http://schemas.microsoft.com/office/drawing/2014/main" id="{5C7BDBDC-147A-5661-9353-7A97DDFABAC4}"/>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13" name="群組 312">
                <a:extLst>
                  <a:ext uri="{FF2B5EF4-FFF2-40B4-BE49-F238E27FC236}">
                    <a16:creationId xmlns:a16="http://schemas.microsoft.com/office/drawing/2014/main" id="{8C387FD1-D7CA-485C-0986-00E69E20BF8F}"/>
                  </a:ext>
                </a:extLst>
              </p:cNvPr>
              <p:cNvGrpSpPr/>
              <p:nvPr/>
            </p:nvGrpSpPr>
            <p:grpSpPr>
              <a:xfrm>
                <a:off x="8913394" y="4682354"/>
                <a:ext cx="382023" cy="1413646"/>
                <a:chOff x="7755536" y="4682354"/>
                <a:chExt cx="382023" cy="1413646"/>
              </a:xfrm>
            </p:grpSpPr>
            <p:sp>
              <p:nvSpPr>
                <p:cNvPr id="314" name="矩形 313">
                  <a:extLst>
                    <a:ext uri="{FF2B5EF4-FFF2-40B4-BE49-F238E27FC236}">
                      <a16:creationId xmlns:a16="http://schemas.microsoft.com/office/drawing/2014/main" id="{6E4E387E-77D6-776F-CE0C-BF95614F3511}"/>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5" name="矩形 314">
                  <a:extLst>
                    <a:ext uri="{FF2B5EF4-FFF2-40B4-BE49-F238E27FC236}">
                      <a16:creationId xmlns:a16="http://schemas.microsoft.com/office/drawing/2014/main" id="{BA5C0EDD-0953-D791-B052-92FA854CD651}"/>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308" name="矩形 307">
              <a:extLst>
                <a:ext uri="{FF2B5EF4-FFF2-40B4-BE49-F238E27FC236}">
                  <a16:creationId xmlns:a16="http://schemas.microsoft.com/office/drawing/2014/main" id="{7CE9B7CC-0DC7-8CAC-E25C-E90689E689C0}"/>
                </a:ext>
              </a:extLst>
            </p:cNvPr>
            <p:cNvSpPr/>
            <p:nvPr/>
          </p:nvSpPr>
          <p:spPr>
            <a:xfrm>
              <a:off x="1560341" y="5172154"/>
              <a:ext cx="1575773" cy="262714"/>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09" name="矩形 308">
              <a:extLst>
                <a:ext uri="{FF2B5EF4-FFF2-40B4-BE49-F238E27FC236}">
                  <a16:creationId xmlns:a16="http://schemas.microsoft.com/office/drawing/2014/main" id="{15546F46-280F-9D3D-5D14-79CF6D401B82}"/>
                </a:ext>
              </a:extLst>
            </p:cNvPr>
            <p:cNvSpPr/>
            <p:nvPr/>
          </p:nvSpPr>
          <p:spPr>
            <a:xfrm>
              <a:off x="1554254" y="5982936"/>
              <a:ext cx="1591274" cy="223412"/>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grpSp>
        <p:nvGrpSpPr>
          <p:cNvPr id="377" name="群組 376">
            <a:extLst>
              <a:ext uri="{FF2B5EF4-FFF2-40B4-BE49-F238E27FC236}">
                <a16:creationId xmlns:a16="http://schemas.microsoft.com/office/drawing/2014/main" id="{B8309ACC-4E37-DD5B-A21B-C1B29A527E15}"/>
              </a:ext>
            </a:extLst>
          </p:cNvPr>
          <p:cNvGrpSpPr/>
          <p:nvPr/>
        </p:nvGrpSpPr>
        <p:grpSpPr>
          <a:xfrm>
            <a:off x="7627941" y="1646847"/>
            <a:ext cx="978393" cy="2670776"/>
            <a:chOff x="9494716" y="1425376"/>
            <a:chExt cx="978393" cy="2670776"/>
          </a:xfrm>
        </p:grpSpPr>
        <p:grpSp>
          <p:nvGrpSpPr>
            <p:cNvPr id="378" name="群組 377">
              <a:extLst>
                <a:ext uri="{FF2B5EF4-FFF2-40B4-BE49-F238E27FC236}">
                  <a16:creationId xmlns:a16="http://schemas.microsoft.com/office/drawing/2014/main" id="{62CDA436-1F4A-2755-51B4-72449D79B4BB}"/>
                </a:ext>
              </a:extLst>
            </p:cNvPr>
            <p:cNvGrpSpPr/>
            <p:nvPr/>
          </p:nvGrpSpPr>
          <p:grpSpPr>
            <a:xfrm>
              <a:off x="9494716" y="1425376"/>
              <a:ext cx="978393" cy="2670776"/>
              <a:chOff x="9494716" y="1425376"/>
              <a:chExt cx="978393" cy="2670776"/>
            </a:xfrm>
          </p:grpSpPr>
          <p:sp>
            <p:nvSpPr>
              <p:cNvPr id="380" name="矩形 379">
                <a:extLst>
                  <a:ext uri="{FF2B5EF4-FFF2-40B4-BE49-F238E27FC236}">
                    <a16:creationId xmlns:a16="http://schemas.microsoft.com/office/drawing/2014/main" id="{0817E433-04B9-C487-776E-4456815221C3}"/>
                  </a:ext>
                </a:extLst>
              </p:cNvPr>
              <p:cNvSpPr/>
              <p:nvPr/>
            </p:nvSpPr>
            <p:spPr>
              <a:xfrm>
                <a:off x="9515898" y="2480154"/>
                <a:ext cx="938615" cy="1615784"/>
              </a:xfrm>
              <a:prstGeom prst="rect">
                <a:avLst/>
              </a:prstGeom>
              <a:solidFill>
                <a:srgbClr val="ECDFF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1" name="矩形 380">
                <a:extLst>
                  <a:ext uri="{FF2B5EF4-FFF2-40B4-BE49-F238E27FC236}">
                    <a16:creationId xmlns:a16="http://schemas.microsoft.com/office/drawing/2014/main" id="{4105BE5C-CA06-4E49-72C4-B6E6B4FDA2AC}"/>
                  </a:ext>
                </a:extLst>
              </p:cNvPr>
              <p:cNvSpPr/>
              <p:nvPr/>
            </p:nvSpPr>
            <p:spPr>
              <a:xfrm>
                <a:off x="9527030" y="3404018"/>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82" name="矩形 381">
                <a:extLst>
                  <a:ext uri="{FF2B5EF4-FFF2-40B4-BE49-F238E27FC236}">
                    <a16:creationId xmlns:a16="http://schemas.microsoft.com/office/drawing/2014/main" id="{5E226601-84D5-1CB2-6FFF-ED08E470BFD1}"/>
                  </a:ext>
                </a:extLst>
              </p:cNvPr>
              <p:cNvSpPr/>
              <p:nvPr/>
            </p:nvSpPr>
            <p:spPr>
              <a:xfrm>
                <a:off x="9518613" y="2756692"/>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83" name="矩形 382">
                <a:extLst>
                  <a:ext uri="{FF2B5EF4-FFF2-40B4-BE49-F238E27FC236}">
                    <a16:creationId xmlns:a16="http://schemas.microsoft.com/office/drawing/2014/main" id="{4F9B8AD3-0279-FB66-263E-C062B45DCF21}"/>
                  </a:ext>
                </a:extLst>
              </p:cNvPr>
              <p:cNvSpPr/>
              <p:nvPr/>
            </p:nvSpPr>
            <p:spPr>
              <a:xfrm>
                <a:off x="9518613" y="3070938"/>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384" name="直線接點 383">
                <a:extLst>
                  <a:ext uri="{FF2B5EF4-FFF2-40B4-BE49-F238E27FC236}">
                    <a16:creationId xmlns:a16="http://schemas.microsoft.com/office/drawing/2014/main" id="{0E762F30-E0A8-3737-CEE3-87ECDBF5F1EA}"/>
                  </a:ext>
                </a:extLst>
              </p:cNvPr>
              <p:cNvCxnSpPr>
                <a:cxnSpLocks/>
              </p:cNvCxnSpPr>
              <p:nvPr/>
            </p:nvCxnSpPr>
            <p:spPr>
              <a:xfrm flipH="1" flipV="1">
                <a:off x="9623221" y="1835345"/>
                <a:ext cx="33216" cy="138626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5" name="直線接點 384">
                <a:extLst>
                  <a:ext uri="{FF2B5EF4-FFF2-40B4-BE49-F238E27FC236}">
                    <a16:creationId xmlns:a16="http://schemas.microsoft.com/office/drawing/2014/main" id="{5DF0B335-B2DC-E0A4-0DCD-E94F48491358}"/>
                  </a:ext>
                </a:extLst>
              </p:cNvPr>
              <p:cNvCxnSpPr>
                <a:cxnSpLocks/>
              </p:cNvCxnSpPr>
              <p:nvPr/>
            </p:nvCxnSpPr>
            <p:spPr>
              <a:xfrm flipH="1" flipV="1">
                <a:off x="10265739" y="1460627"/>
                <a:ext cx="58170" cy="138626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6" name="直線接點 385">
                <a:extLst>
                  <a:ext uri="{FF2B5EF4-FFF2-40B4-BE49-F238E27FC236}">
                    <a16:creationId xmlns:a16="http://schemas.microsoft.com/office/drawing/2014/main" id="{D9843B6F-EE94-F012-144E-A3099639D01E}"/>
                  </a:ext>
                </a:extLst>
              </p:cNvPr>
              <p:cNvCxnSpPr>
                <a:cxnSpLocks/>
              </p:cNvCxnSpPr>
              <p:nvPr/>
            </p:nvCxnSpPr>
            <p:spPr>
              <a:xfrm flipV="1">
                <a:off x="9622323" y="1741331"/>
                <a:ext cx="161027" cy="10739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7" name="直線接點 386">
                <a:extLst>
                  <a:ext uri="{FF2B5EF4-FFF2-40B4-BE49-F238E27FC236}">
                    <a16:creationId xmlns:a16="http://schemas.microsoft.com/office/drawing/2014/main" id="{14A54D30-655B-EB8B-D125-5241EC1CEDA5}"/>
                  </a:ext>
                </a:extLst>
              </p:cNvPr>
              <p:cNvCxnSpPr>
                <a:cxnSpLocks/>
              </p:cNvCxnSpPr>
              <p:nvPr/>
            </p:nvCxnSpPr>
            <p:spPr>
              <a:xfrm flipH="1">
                <a:off x="10050482" y="1451767"/>
                <a:ext cx="221366" cy="1538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88" name="橢圓 387">
                <a:extLst>
                  <a:ext uri="{FF2B5EF4-FFF2-40B4-BE49-F238E27FC236}">
                    <a16:creationId xmlns:a16="http://schemas.microsoft.com/office/drawing/2014/main" id="{C76AD94F-97B0-CB02-F08E-BB77F6D35910}"/>
                  </a:ext>
                </a:extLst>
              </p:cNvPr>
              <p:cNvSpPr/>
              <p:nvPr/>
            </p:nvSpPr>
            <p:spPr>
              <a:xfrm>
                <a:off x="9780316" y="1425376"/>
                <a:ext cx="265437" cy="477591"/>
              </a:xfrm>
              <a:prstGeom prst="ellipse">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b="1" dirty="0">
                    <a:solidFill>
                      <a:schemeClr val="tx1"/>
                    </a:solidFill>
                  </a:rPr>
                  <a:t>V</a:t>
                </a:r>
                <a:endParaRPr lang="zh-TW" altLang="en-US" b="1" dirty="0">
                  <a:solidFill>
                    <a:schemeClr val="tx1"/>
                  </a:solidFill>
                </a:endParaRPr>
              </a:p>
            </p:txBody>
          </p:sp>
          <p:cxnSp>
            <p:nvCxnSpPr>
              <p:cNvPr id="389" name="直線接點 388">
                <a:extLst>
                  <a:ext uri="{FF2B5EF4-FFF2-40B4-BE49-F238E27FC236}">
                    <a16:creationId xmlns:a16="http://schemas.microsoft.com/office/drawing/2014/main" id="{603C1131-53E0-989C-B3D9-849D1A94F934}"/>
                  </a:ext>
                </a:extLst>
              </p:cNvPr>
              <p:cNvCxnSpPr>
                <a:cxnSpLocks/>
              </p:cNvCxnSpPr>
              <p:nvPr/>
            </p:nvCxnSpPr>
            <p:spPr>
              <a:xfrm flipH="1" flipV="1">
                <a:off x="10025966" y="1872909"/>
                <a:ext cx="56004" cy="163966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0" name="直線接點 389">
                <a:extLst>
                  <a:ext uri="{FF2B5EF4-FFF2-40B4-BE49-F238E27FC236}">
                    <a16:creationId xmlns:a16="http://schemas.microsoft.com/office/drawing/2014/main" id="{5330714B-4110-1EAE-DFD4-A1DAE9F287D7}"/>
                  </a:ext>
                </a:extLst>
              </p:cNvPr>
              <p:cNvCxnSpPr>
                <a:cxnSpLocks/>
              </p:cNvCxnSpPr>
              <p:nvPr/>
            </p:nvCxnSpPr>
            <p:spPr>
              <a:xfrm flipH="1" flipV="1">
                <a:off x="9998614" y="1835343"/>
                <a:ext cx="27352" cy="1243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91" name="矩形 390">
                <a:extLst>
                  <a:ext uri="{FF2B5EF4-FFF2-40B4-BE49-F238E27FC236}">
                    <a16:creationId xmlns:a16="http://schemas.microsoft.com/office/drawing/2014/main" id="{FA96E96C-F4EF-51EE-EC78-DDEC4053DA0B}"/>
                  </a:ext>
                </a:extLst>
              </p:cNvPr>
              <p:cNvSpPr/>
              <p:nvPr/>
            </p:nvSpPr>
            <p:spPr>
              <a:xfrm>
                <a:off x="9510858" y="3815312"/>
                <a:ext cx="946080" cy="280840"/>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92" name="矩形 391">
                <a:extLst>
                  <a:ext uri="{FF2B5EF4-FFF2-40B4-BE49-F238E27FC236}">
                    <a16:creationId xmlns:a16="http://schemas.microsoft.com/office/drawing/2014/main" id="{662DAB5C-4F75-3842-BAEE-1B4D8C7AB124}"/>
                  </a:ext>
                </a:extLst>
              </p:cNvPr>
              <p:cNvSpPr/>
              <p:nvPr/>
            </p:nvSpPr>
            <p:spPr>
              <a:xfrm>
                <a:off x="9494716" y="3054735"/>
                <a:ext cx="943626" cy="230646"/>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379" name="矩形 378">
              <a:extLst>
                <a:ext uri="{FF2B5EF4-FFF2-40B4-BE49-F238E27FC236}">
                  <a16:creationId xmlns:a16="http://schemas.microsoft.com/office/drawing/2014/main" id="{1B75336E-BD12-1D54-A2AC-1E4B0E0704F9}"/>
                </a:ext>
              </a:extLst>
            </p:cNvPr>
            <p:cNvSpPr/>
            <p:nvPr/>
          </p:nvSpPr>
          <p:spPr>
            <a:xfrm>
              <a:off x="9513459" y="3054364"/>
              <a:ext cx="946079" cy="21710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grpSp>
      <p:sp>
        <p:nvSpPr>
          <p:cNvPr id="72" name="文字方塊 71">
            <a:extLst>
              <a:ext uri="{FF2B5EF4-FFF2-40B4-BE49-F238E27FC236}">
                <a16:creationId xmlns:a16="http://schemas.microsoft.com/office/drawing/2014/main" id="{4EDDEB61-4940-7BC9-C8B7-E9DB0C0CFB1E}"/>
              </a:ext>
            </a:extLst>
          </p:cNvPr>
          <p:cNvSpPr txBox="1"/>
          <p:nvPr/>
        </p:nvSpPr>
        <p:spPr>
          <a:xfrm>
            <a:off x="2009564" y="3534760"/>
            <a:ext cx="808797" cy="400110"/>
          </a:xfrm>
          <a:prstGeom prst="rect">
            <a:avLst/>
          </a:prstGeom>
          <a:noFill/>
        </p:spPr>
        <p:txBody>
          <a:bodyPr wrap="square" rtlCol="0">
            <a:spAutoFit/>
          </a:bodyPr>
          <a:lstStyle/>
          <a:p>
            <a:r>
              <a:rPr lang="en-US" altLang="zh-TW" sz="1000" dirty="0"/>
              <a:t>CW</a:t>
            </a:r>
            <a:r>
              <a:rPr lang="zh-TW" altLang="en-US" sz="1000" dirty="0"/>
              <a:t> </a:t>
            </a:r>
            <a:r>
              <a:rPr lang="en-US" altLang="zh-TW" sz="1000" dirty="0"/>
              <a:t>785nm pump laser </a:t>
            </a:r>
            <a:endParaRPr lang="zh-TW" altLang="en-US" sz="1000" dirty="0"/>
          </a:p>
        </p:txBody>
      </p:sp>
      <p:grpSp>
        <p:nvGrpSpPr>
          <p:cNvPr id="7" name="群組 6">
            <a:extLst>
              <a:ext uri="{FF2B5EF4-FFF2-40B4-BE49-F238E27FC236}">
                <a16:creationId xmlns:a16="http://schemas.microsoft.com/office/drawing/2014/main" id="{715D6C64-5146-4AEC-08D1-852DBA1531D5}"/>
              </a:ext>
            </a:extLst>
          </p:cNvPr>
          <p:cNvGrpSpPr/>
          <p:nvPr/>
        </p:nvGrpSpPr>
        <p:grpSpPr>
          <a:xfrm rot="5400000">
            <a:off x="8920858" y="3537695"/>
            <a:ext cx="291528" cy="666144"/>
            <a:chOff x="8147879" y="2874761"/>
            <a:chExt cx="320447" cy="747169"/>
          </a:xfrm>
        </p:grpSpPr>
        <p:cxnSp>
          <p:nvCxnSpPr>
            <p:cNvPr id="8" name="直線單箭頭接點 7">
              <a:extLst>
                <a:ext uri="{FF2B5EF4-FFF2-40B4-BE49-F238E27FC236}">
                  <a16:creationId xmlns:a16="http://schemas.microsoft.com/office/drawing/2014/main" id="{ED91E5CC-C3B0-144E-88CA-14AF47AD5B49}"/>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橢圓 8">
              <a:extLst>
                <a:ext uri="{FF2B5EF4-FFF2-40B4-BE49-F238E27FC236}">
                  <a16:creationId xmlns:a16="http://schemas.microsoft.com/office/drawing/2014/main" id="{EA1D2A1B-0EA2-4F0C-000A-F3B5609A1391}"/>
                </a:ext>
              </a:extLst>
            </p:cNvPr>
            <p:cNvSpPr/>
            <p:nvPr/>
          </p:nvSpPr>
          <p:spPr>
            <a:xfrm>
              <a:off x="8147879" y="3074008"/>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dirty="0"/>
            </a:p>
          </p:txBody>
        </p:sp>
      </p:grpSp>
      <p:grpSp>
        <p:nvGrpSpPr>
          <p:cNvPr id="10" name="群組 9">
            <a:extLst>
              <a:ext uri="{FF2B5EF4-FFF2-40B4-BE49-F238E27FC236}">
                <a16:creationId xmlns:a16="http://schemas.microsoft.com/office/drawing/2014/main" id="{E3AC9A4E-DFC1-92D0-9B42-F597757F6FB1}"/>
              </a:ext>
            </a:extLst>
          </p:cNvPr>
          <p:cNvGrpSpPr/>
          <p:nvPr/>
        </p:nvGrpSpPr>
        <p:grpSpPr>
          <a:xfrm rot="5400000">
            <a:off x="8900518" y="2417504"/>
            <a:ext cx="291528" cy="666144"/>
            <a:chOff x="8147879" y="2874761"/>
            <a:chExt cx="320447" cy="747169"/>
          </a:xfrm>
        </p:grpSpPr>
        <p:cxnSp>
          <p:nvCxnSpPr>
            <p:cNvPr id="11" name="直線單箭頭接點 10">
              <a:extLst>
                <a:ext uri="{FF2B5EF4-FFF2-40B4-BE49-F238E27FC236}">
                  <a16:creationId xmlns:a16="http://schemas.microsoft.com/office/drawing/2014/main" id="{134804EF-E6A9-4275-7633-93CB613D6F43}"/>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橢圓 11">
              <a:extLst>
                <a:ext uri="{FF2B5EF4-FFF2-40B4-BE49-F238E27FC236}">
                  <a16:creationId xmlns:a16="http://schemas.microsoft.com/office/drawing/2014/main" id="{78A3167D-DB9D-DBB8-5205-ACD31A4E47E1}"/>
                </a:ext>
              </a:extLst>
            </p:cNvPr>
            <p:cNvSpPr/>
            <p:nvPr/>
          </p:nvSpPr>
          <p:spPr>
            <a:xfrm>
              <a:off x="8147879" y="3074007"/>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dirty="0"/>
            </a:p>
          </p:txBody>
        </p:sp>
      </p:grpSp>
      <p:grpSp>
        <p:nvGrpSpPr>
          <p:cNvPr id="18" name="群組 17">
            <a:extLst>
              <a:ext uri="{FF2B5EF4-FFF2-40B4-BE49-F238E27FC236}">
                <a16:creationId xmlns:a16="http://schemas.microsoft.com/office/drawing/2014/main" id="{7AED5304-A411-6208-D847-8E7C82CE0135}"/>
              </a:ext>
            </a:extLst>
          </p:cNvPr>
          <p:cNvGrpSpPr/>
          <p:nvPr/>
        </p:nvGrpSpPr>
        <p:grpSpPr>
          <a:xfrm>
            <a:off x="9833724" y="2355898"/>
            <a:ext cx="308414" cy="743295"/>
            <a:chOff x="8147879" y="2874761"/>
            <a:chExt cx="320447" cy="747169"/>
          </a:xfrm>
        </p:grpSpPr>
        <p:cxnSp>
          <p:nvCxnSpPr>
            <p:cNvPr id="19" name="直線單箭頭接點 18">
              <a:extLst>
                <a:ext uri="{FF2B5EF4-FFF2-40B4-BE49-F238E27FC236}">
                  <a16:creationId xmlns:a16="http://schemas.microsoft.com/office/drawing/2014/main" id="{244A47AF-AFBE-A946-6151-F792C7F06F13}"/>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橢圓 19">
              <a:extLst>
                <a:ext uri="{FF2B5EF4-FFF2-40B4-BE49-F238E27FC236}">
                  <a16:creationId xmlns:a16="http://schemas.microsoft.com/office/drawing/2014/main" id="{82EB2161-E066-5863-A4FD-A313F437C669}"/>
                </a:ext>
              </a:extLst>
            </p:cNvPr>
            <p:cNvSpPr/>
            <p:nvPr/>
          </p:nvSpPr>
          <p:spPr>
            <a:xfrm>
              <a:off x="8147879" y="3074008"/>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dirty="0"/>
            </a:p>
          </p:txBody>
        </p:sp>
      </p:grpSp>
      <p:grpSp>
        <p:nvGrpSpPr>
          <p:cNvPr id="21" name="群組 20">
            <a:extLst>
              <a:ext uri="{FF2B5EF4-FFF2-40B4-BE49-F238E27FC236}">
                <a16:creationId xmlns:a16="http://schemas.microsoft.com/office/drawing/2014/main" id="{2AC29DCC-3FDF-60C0-84C6-E01EB9EF2BA2}"/>
              </a:ext>
            </a:extLst>
          </p:cNvPr>
          <p:cNvGrpSpPr/>
          <p:nvPr/>
        </p:nvGrpSpPr>
        <p:grpSpPr>
          <a:xfrm>
            <a:off x="9822317" y="3563222"/>
            <a:ext cx="308414" cy="743295"/>
            <a:chOff x="8147879" y="2874761"/>
            <a:chExt cx="320447" cy="747169"/>
          </a:xfrm>
        </p:grpSpPr>
        <p:cxnSp>
          <p:nvCxnSpPr>
            <p:cNvPr id="22" name="直線單箭頭接點 21">
              <a:extLst>
                <a:ext uri="{FF2B5EF4-FFF2-40B4-BE49-F238E27FC236}">
                  <a16:creationId xmlns:a16="http://schemas.microsoft.com/office/drawing/2014/main" id="{61929418-3C97-54C0-E002-5574B049622F}"/>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橢圓 22">
              <a:extLst>
                <a:ext uri="{FF2B5EF4-FFF2-40B4-BE49-F238E27FC236}">
                  <a16:creationId xmlns:a16="http://schemas.microsoft.com/office/drawing/2014/main" id="{0A04324A-D5B7-C2FB-09E2-AD6AF0062D8D}"/>
                </a:ext>
              </a:extLst>
            </p:cNvPr>
            <p:cNvSpPr/>
            <p:nvPr/>
          </p:nvSpPr>
          <p:spPr>
            <a:xfrm>
              <a:off x="8147879" y="3074008"/>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00" dirty="0"/>
            </a:p>
          </p:txBody>
        </p:sp>
      </p:grpSp>
      <p:grpSp>
        <p:nvGrpSpPr>
          <p:cNvPr id="27" name="群組 26">
            <a:extLst>
              <a:ext uri="{FF2B5EF4-FFF2-40B4-BE49-F238E27FC236}">
                <a16:creationId xmlns:a16="http://schemas.microsoft.com/office/drawing/2014/main" id="{1F189E85-E2A2-0A51-35CD-EC498A083CA4}"/>
              </a:ext>
            </a:extLst>
          </p:cNvPr>
          <p:cNvGrpSpPr/>
          <p:nvPr/>
        </p:nvGrpSpPr>
        <p:grpSpPr>
          <a:xfrm>
            <a:off x="8604101" y="3194079"/>
            <a:ext cx="3581202" cy="2784778"/>
            <a:chOff x="11075424" y="5262960"/>
            <a:chExt cx="3735216" cy="2140284"/>
          </a:xfrm>
        </p:grpSpPr>
        <p:sp>
          <p:nvSpPr>
            <p:cNvPr id="28" name="箭號: 向右 27">
              <a:extLst>
                <a:ext uri="{FF2B5EF4-FFF2-40B4-BE49-F238E27FC236}">
                  <a16:creationId xmlns:a16="http://schemas.microsoft.com/office/drawing/2014/main" id="{4E03C53A-187E-18A8-13B3-5BF7514C1C15}"/>
                </a:ext>
              </a:extLst>
            </p:cNvPr>
            <p:cNvSpPr/>
            <p:nvPr/>
          </p:nvSpPr>
          <p:spPr>
            <a:xfrm>
              <a:off x="11075424" y="5262960"/>
              <a:ext cx="1676464" cy="275193"/>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文字方塊 28">
              <a:extLst>
                <a:ext uri="{FF2B5EF4-FFF2-40B4-BE49-F238E27FC236}">
                  <a16:creationId xmlns:a16="http://schemas.microsoft.com/office/drawing/2014/main" id="{923DFA74-490A-1225-9C58-2B324A0D0C42}"/>
                </a:ext>
              </a:extLst>
            </p:cNvPr>
            <p:cNvSpPr txBox="1"/>
            <p:nvPr/>
          </p:nvSpPr>
          <p:spPr>
            <a:xfrm>
              <a:off x="11326376" y="6149548"/>
              <a:ext cx="3484264" cy="1253696"/>
            </a:xfrm>
            <a:prstGeom prst="rect">
              <a:avLst/>
            </a:prstGeom>
            <a:noFill/>
          </p:spPr>
          <p:txBody>
            <a:bodyPr wrap="square" rtlCol="0">
              <a:spAutoFit/>
            </a:bodyPr>
            <a:lstStyle/>
            <a:p>
              <a:pPr algn="just"/>
              <a:r>
                <a:rPr lang="en-US" altLang="zh-TW" sz="2000" dirty="0">
                  <a:latin typeface="標楷體" panose="03000509000000000000" pitchFamily="65" charset="-120"/>
                  <a:ea typeface="標楷體" panose="03000509000000000000" pitchFamily="65" charset="-120"/>
                </a:rPr>
                <a:t>Pump&amp;|HH⟩&amp;|VV⟩</a:t>
              </a:r>
              <a:r>
                <a:rPr lang="zh-TW" altLang="en-US" sz="2000" dirty="0">
                  <a:latin typeface="標楷體" panose="03000509000000000000" pitchFamily="65" charset="-120"/>
                  <a:ea typeface="標楷體" panose="03000509000000000000" pitchFamily="65" charset="-120"/>
                </a:rPr>
                <a:t>走出晶片所花的時間</a:t>
              </a:r>
              <a:endParaRPr lang="en-US" altLang="zh-TW" sz="2000" dirty="0">
                <a:latin typeface="標楷體" panose="03000509000000000000" pitchFamily="65" charset="-120"/>
                <a:ea typeface="標楷體" panose="03000509000000000000" pitchFamily="65" charset="-120"/>
              </a:endParaRPr>
            </a:p>
            <a:p>
              <a:pPr algn="just"/>
              <a:r>
                <a:rPr lang="en-US" altLang="zh-TW" sz="2000" dirty="0">
                  <a:latin typeface="標楷體" panose="03000509000000000000" pitchFamily="65" charset="-120"/>
                  <a:ea typeface="標楷體" panose="03000509000000000000" pitchFamily="65" charset="-120"/>
                </a:rPr>
                <a:t>|HH⟩</a:t>
              </a:r>
              <a:r>
                <a:rPr lang="en-US" altLang="zh-TW" sz="2000" baseline="-25000" dirty="0">
                  <a:latin typeface="標楷體" panose="03000509000000000000" pitchFamily="65" charset="-120"/>
                  <a:ea typeface="標楷體" panose="03000509000000000000" pitchFamily="65" charset="-120"/>
                </a:rPr>
                <a:t> 1570</a:t>
              </a:r>
              <a:r>
                <a:rPr lang="zh-TW" altLang="en-US" sz="2000" baseline="-25000" dirty="0">
                  <a:latin typeface="標楷體" panose="03000509000000000000" pitchFamily="65" charset="-120"/>
                  <a:ea typeface="標楷體" panose="03000509000000000000" pitchFamily="65" charset="-120"/>
                </a:rPr>
                <a:t>   </a:t>
              </a:r>
              <a:r>
                <a:rPr lang="en-US" altLang="zh-TW" sz="2000" dirty="0">
                  <a:latin typeface="標楷體" panose="03000509000000000000" pitchFamily="65" charset="-120"/>
                  <a:ea typeface="標楷體" panose="03000509000000000000" pitchFamily="65" charset="-120"/>
                </a:rPr>
                <a:t>:</a:t>
              </a:r>
              <a:r>
                <a:rPr lang="zh-TW" altLang="en-US" sz="2000" dirty="0">
                  <a:latin typeface="標楷體" panose="03000509000000000000" pitchFamily="65" charset="-120"/>
                  <a:ea typeface="標楷體" panose="03000509000000000000" pitchFamily="65" charset="-120"/>
                </a:rPr>
                <a:t> </a:t>
              </a:r>
              <a:r>
                <a:rPr lang="en-US" altLang="zh-TW" sz="2000" dirty="0">
                  <a:latin typeface="標楷體" panose="03000509000000000000" pitchFamily="65" charset="-120"/>
                  <a:ea typeface="標楷體" panose="03000509000000000000" pitchFamily="65" charset="-120"/>
                </a:rPr>
                <a:t>332.31ps</a:t>
              </a:r>
            </a:p>
            <a:p>
              <a:pPr algn="just"/>
              <a:r>
                <a:rPr lang="en-US" altLang="zh-TW" sz="2000" dirty="0">
                  <a:latin typeface="標楷體" panose="03000509000000000000" pitchFamily="65" charset="-120"/>
                  <a:ea typeface="標楷體" panose="03000509000000000000" pitchFamily="65" charset="-120"/>
                </a:rPr>
                <a:t>|VV⟩</a:t>
              </a:r>
              <a:r>
                <a:rPr lang="en-US" altLang="zh-TW" sz="2000" baseline="-25000" dirty="0">
                  <a:latin typeface="標楷體" panose="03000509000000000000" pitchFamily="65" charset="-120"/>
                  <a:ea typeface="標楷體" panose="03000509000000000000" pitchFamily="65" charset="-120"/>
                </a:rPr>
                <a:t> 1570</a:t>
              </a:r>
              <a:r>
                <a:rPr lang="en-US" altLang="zh-TW" sz="2000" dirty="0">
                  <a:latin typeface="標楷體" panose="03000509000000000000" pitchFamily="65" charset="-120"/>
                  <a:ea typeface="標楷體" panose="03000509000000000000" pitchFamily="65" charset="-120"/>
                </a:rPr>
                <a:t> </a:t>
              </a:r>
              <a:r>
                <a:rPr lang="zh-TW" altLang="en-US" sz="2000" dirty="0">
                  <a:latin typeface="標楷體" panose="03000509000000000000" pitchFamily="65" charset="-120"/>
                  <a:ea typeface="標楷體" panose="03000509000000000000" pitchFamily="65" charset="-120"/>
                </a:rPr>
                <a:t> </a:t>
              </a:r>
              <a:r>
                <a:rPr lang="en-US" altLang="zh-TW" sz="2000" dirty="0">
                  <a:latin typeface="標楷體" panose="03000509000000000000" pitchFamily="65" charset="-120"/>
                  <a:ea typeface="標楷體" panose="03000509000000000000" pitchFamily="65" charset="-120"/>
                </a:rPr>
                <a:t>:</a:t>
              </a:r>
              <a:r>
                <a:rPr lang="zh-TW" altLang="en-US" sz="2000" dirty="0">
                  <a:latin typeface="標楷體" panose="03000509000000000000" pitchFamily="65" charset="-120"/>
                  <a:ea typeface="標楷體" panose="03000509000000000000" pitchFamily="65" charset="-120"/>
                </a:rPr>
                <a:t> </a:t>
              </a:r>
              <a:r>
                <a:rPr lang="en-US" altLang="zh-TW" sz="2000" dirty="0">
                  <a:latin typeface="標楷體" panose="03000509000000000000" pitchFamily="65" charset="-120"/>
                  <a:ea typeface="標楷體" panose="03000509000000000000" pitchFamily="65" charset="-120"/>
                </a:rPr>
                <a:t>335.12ps</a:t>
              </a:r>
            </a:p>
            <a:p>
              <a:pPr algn="just"/>
              <a:r>
                <a:rPr lang="en-US" altLang="zh-TW" sz="2000" dirty="0">
                  <a:latin typeface="標楷體" panose="03000509000000000000" pitchFamily="65" charset="-120"/>
                  <a:ea typeface="標楷體" panose="03000509000000000000" pitchFamily="65" charset="-120"/>
                </a:rPr>
                <a:t>Pump</a:t>
              </a:r>
              <a:r>
                <a:rPr lang="en-US" altLang="zh-TW" sz="2000" baseline="-25000" dirty="0">
                  <a:latin typeface="標楷體" panose="03000509000000000000" pitchFamily="65" charset="-120"/>
                  <a:ea typeface="標楷體" panose="03000509000000000000" pitchFamily="65" charset="-120"/>
                </a:rPr>
                <a:t> 785 </a:t>
              </a:r>
              <a:r>
                <a:rPr lang="zh-TW" altLang="en-US" sz="2000" baseline="-25000" dirty="0">
                  <a:latin typeface="標楷體" panose="03000509000000000000" pitchFamily="65" charset="-120"/>
                  <a:ea typeface="標楷體" panose="03000509000000000000" pitchFamily="65" charset="-120"/>
                </a:rPr>
                <a:t>   </a:t>
              </a:r>
              <a:r>
                <a:rPr lang="en-US" altLang="zh-TW" sz="2000" dirty="0">
                  <a:latin typeface="標楷體" panose="03000509000000000000" pitchFamily="65" charset="-120"/>
                  <a:ea typeface="標楷體" panose="03000509000000000000" pitchFamily="65" charset="-120"/>
                </a:rPr>
                <a:t>:</a:t>
              </a:r>
              <a:r>
                <a:rPr lang="zh-TW" altLang="en-US" sz="2000" dirty="0">
                  <a:latin typeface="標楷體" panose="03000509000000000000" pitchFamily="65" charset="-120"/>
                  <a:ea typeface="標楷體" panose="03000509000000000000" pitchFamily="65" charset="-120"/>
                </a:rPr>
                <a:t> </a:t>
              </a:r>
              <a:r>
                <a:rPr lang="en-US" altLang="zh-TW" sz="2000" dirty="0">
                  <a:latin typeface="標楷體" panose="03000509000000000000" pitchFamily="65" charset="-120"/>
                  <a:ea typeface="標楷體" panose="03000509000000000000" pitchFamily="65" charset="-120"/>
                </a:rPr>
                <a:t>364.95ps</a:t>
              </a:r>
            </a:p>
          </p:txBody>
        </p:sp>
      </p:grpSp>
      <p:sp>
        <p:nvSpPr>
          <p:cNvPr id="13" name="文字方塊 12">
            <a:extLst>
              <a:ext uri="{FF2B5EF4-FFF2-40B4-BE49-F238E27FC236}">
                <a16:creationId xmlns:a16="http://schemas.microsoft.com/office/drawing/2014/main" id="{9ADDFBD9-1BB2-CC38-D20C-FAF266DC5E57}"/>
              </a:ext>
            </a:extLst>
          </p:cNvPr>
          <p:cNvSpPr txBox="1"/>
          <p:nvPr/>
        </p:nvSpPr>
        <p:spPr>
          <a:xfrm>
            <a:off x="8697600" y="2902724"/>
            <a:ext cx="2780526" cy="369332"/>
          </a:xfrm>
          <a:prstGeom prst="rect">
            <a:avLst/>
          </a:prstGeom>
          <a:noFill/>
        </p:spPr>
        <p:txBody>
          <a:bodyPr wrap="square">
            <a:spAutoFit/>
          </a:bodyPr>
          <a:lstStyle/>
          <a:p>
            <a:r>
              <a:rPr lang="en-US" altLang="zh-TW" sz="1800" dirty="0"/>
              <a:t>Pump+|HH⟩</a:t>
            </a:r>
            <a:r>
              <a:rPr lang="en-US" altLang="zh-TW" sz="1800" baseline="-25000" dirty="0"/>
              <a:t> 1570 </a:t>
            </a:r>
            <a:r>
              <a:rPr lang="en-US" altLang="zh-TW" sz="1800" dirty="0"/>
              <a:t>+ |VV⟩</a:t>
            </a:r>
            <a:r>
              <a:rPr lang="en-US" altLang="zh-TW" sz="1800" baseline="-25000" dirty="0"/>
              <a:t> 1570</a:t>
            </a:r>
            <a:endParaRPr lang="en-US" altLang="zh-TW" sz="1800" dirty="0"/>
          </a:p>
        </p:txBody>
      </p:sp>
      <p:sp>
        <p:nvSpPr>
          <p:cNvPr id="14" name="內容版面配置區 2">
            <a:extLst>
              <a:ext uri="{FF2B5EF4-FFF2-40B4-BE49-F238E27FC236}">
                <a16:creationId xmlns:a16="http://schemas.microsoft.com/office/drawing/2014/main" id="{6266A211-C7F6-5E67-C2C8-44150EEBFB73}"/>
              </a:ext>
            </a:extLst>
          </p:cNvPr>
          <p:cNvSpPr txBox="1">
            <a:spLocks/>
          </p:cNvSpPr>
          <p:nvPr/>
        </p:nvSpPr>
        <p:spPr>
          <a:xfrm>
            <a:off x="301914" y="618558"/>
            <a:ext cx="7453634" cy="107271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200000"/>
              </a:lnSpc>
              <a:buFont typeface="Arial" panose="020B0604020202020204" pitchFamily="34" charset="0"/>
              <a:buNone/>
            </a:pPr>
            <a:r>
              <a:rPr lang="en-US" altLang="zh-TW" sz="3200" b="1" dirty="0">
                <a:effectLst>
                  <a:outerShdw blurRad="38100" dist="38100" dir="2700000" algn="tl">
                    <a:srgbClr val="000000">
                      <a:alpha val="43137"/>
                    </a:srgbClr>
                  </a:outerShdw>
                </a:effectLst>
              </a:rPr>
              <a:t>Delay between Pump&amp;|HH⟩&amp;|VV⟩</a:t>
            </a:r>
            <a:endParaRPr lang="zh-TW" altLang="en-US" sz="32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4149991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SHG/SPDC</a:t>
            </a:r>
            <a:endParaRPr lang="zh-TW" altLang="en-US"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7785E72D-3875-448F-8D77-75F9CFD57AC4}"/>
                  </a:ext>
                </a:extLst>
              </p:cNvPr>
              <p:cNvSpPr>
                <a:spLocks noGrp="1"/>
              </p:cNvSpPr>
              <p:nvPr>
                <p:ph idx="4294967295"/>
              </p:nvPr>
            </p:nvSpPr>
            <p:spPr>
              <a:xfrm>
                <a:off x="270535" y="4461601"/>
                <a:ext cx="11388811" cy="2259875"/>
              </a:xfrm>
            </p:spPr>
            <p:txBody>
              <a:bodyPr>
                <a:normAutofit/>
              </a:bodyPr>
              <a:lstStyle/>
              <a:p>
                <a:pPr>
                  <a:lnSpc>
                    <a:spcPct val="200000"/>
                  </a:lnSpc>
                </a:pPr>
                <a:r>
                  <a:rPr lang="en-US" altLang="zh-TW" sz="2800" dirty="0">
                    <a:latin typeface="arial" panose="020B0604020202020204" pitchFamily="34" charset="0"/>
                  </a:rPr>
                  <a:t>∆k</a:t>
                </a:r>
                <a:r>
                  <a:rPr lang="en-US" altLang="zh-TW" sz="2800" dirty="0"/>
                  <a:t>=k3-k1-k2-</a:t>
                </a:r>
                <a:r>
                  <a:rPr lang="el-GR" altLang="zh-TW" sz="2800" dirty="0"/>
                  <a:t> </a:t>
                </a:r>
                <a:r>
                  <a:rPr lang="en-US" altLang="zh-TW" sz="2800" dirty="0"/>
                  <a:t>k</a:t>
                </a:r>
                <a:r>
                  <a:rPr lang="en-US" altLang="zh-TW" sz="2800" baseline="-25000" dirty="0"/>
                  <a:t>m </a:t>
                </a:r>
                <a:r>
                  <a:rPr lang="zh-TW" altLang="en-US" sz="2800" dirty="0"/>
                  <a:t>，</a:t>
                </a:r>
                <a:r>
                  <a:rPr lang="en-US" altLang="zh-TW" sz="2800" dirty="0"/>
                  <a:t>(k</a:t>
                </a:r>
                <a:r>
                  <a:rPr lang="en-US" altLang="zh-TW" sz="2800" baseline="-25000" dirty="0"/>
                  <a:t>m</a:t>
                </a:r>
                <a:r>
                  <a:rPr lang="en-US" altLang="zh-TW" sz="2800" dirty="0"/>
                  <a:t>=</a:t>
                </a:r>
                <a:r>
                  <a:rPr lang="el-GR" altLang="zh-TW" sz="2800" dirty="0"/>
                  <a:t>2π</a:t>
                </a:r>
                <a:r>
                  <a:rPr lang="en-US" altLang="zh-TW" sz="2800" dirty="0"/>
                  <a:t>m</a:t>
                </a:r>
                <a:r>
                  <a:rPr lang="el-GR" altLang="zh-TW" sz="2800" dirty="0"/>
                  <a:t>/</a:t>
                </a:r>
                <a14:m>
                  <m:oMath xmlns:m="http://schemas.openxmlformats.org/officeDocument/2006/math">
                    <m:r>
                      <m:rPr>
                        <m:sty m:val="p"/>
                      </m:rPr>
                      <a:rPr lang="zh-TW" altLang="en-US" smtClean="0">
                        <a:latin typeface="Cambria Math" panose="02040503050406030204" pitchFamily="18" charset="0"/>
                      </a:rPr>
                      <m:t>Λ</m:t>
                    </m:r>
                  </m:oMath>
                </a14:m>
                <a:r>
                  <a:rPr lang="en-US" altLang="zh-TW" sz="2800" dirty="0"/>
                  <a:t>)</a:t>
                </a:r>
              </a:p>
              <a:p>
                <a:pPr>
                  <a:lnSpc>
                    <a:spcPct val="200000"/>
                  </a:lnSpc>
                </a:pPr>
                <a:endParaRPr lang="zh-TW" altLang="en-US"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7785E72D-3875-448F-8D77-75F9CFD57AC4}"/>
                  </a:ext>
                </a:extLst>
              </p:cNvPr>
              <p:cNvSpPr>
                <a:spLocks noGrp="1" noRot="1" noChangeAspect="1" noMove="1" noResize="1" noEditPoints="1" noAdjustHandles="1" noChangeArrowheads="1" noChangeShapeType="1" noTextEdit="1"/>
              </p:cNvSpPr>
              <p:nvPr>
                <p:ph idx="4294967295"/>
              </p:nvPr>
            </p:nvSpPr>
            <p:spPr>
              <a:xfrm>
                <a:off x="270535" y="4461601"/>
                <a:ext cx="11388811" cy="2259875"/>
              </a:xfrm>
              <a:blipFill>
                <a:blip r:embed="rId3"/>
                <a:stretch>
                  <a:fillRect l="-963"/>
                </a:stretch>
              </a:blipFill>
            </p:spPr>
            <p:txBody>
              <a:bodyPr/>
              <a:lstStyle/>
              <a:p>
                <a:r>
                  <a:rPr lang="zh-TW" altLang="en-US">
                    <a:noFill/>
                  </a:rPr>
                  <a:t> </a:t>
                </a:r>
              </a:p>
            </p:txBody>
          </p:sp>
        </mc:Fallback>
      </mc:AlternateContent>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0039351" y="6356352"/>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68</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sp>
        <p:nvSpPr>
          <p:cNvPr id="22" name="內容版面配置區 2">
            <a:extLst>
              <a:ext uri="{FF2B5EF4-FFF2-40B4-BE49-F238E27FC236}">
                <a16:creationId xmlns:a16="http://schemas.microsoft.com/office/drawing/2014/main" id="{920C3F16-8604-E4DF-22BE-61FA0E32D356}"/>
              </a:ext>
            </a:extLst>
          </p:cNvPr>
          <p:cNvSpPr txBox="1">
            <a:spLocks/>
          </p:cNvSpPr>
          <p:nvPr/>
        </p:nvSpPr>
        <p:spPr>
          <a:xfrm>
            <a:off x="3402430" y="448750"/>
            <a:ext cx="5124768" cy="107271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200000"/>
              </a:lnSpc>
              <a:buNone/>
            </a:pPr>
            <a:r>
              <a:rPr lang="en-US" altLang="zh-TW" sz="3200" b="1" dirty="0">
                <a:effectLst>
                  <a:outerShdw blurRad="38100" dist="38100" dir="2700000" algn="tl">
                    <a:srgbClr val="000000">
                      <a:alpha val="43137"/>
                    </a:srgbClr>
                  </a:outerShdw>
                </a:effectLst>
              </a:rPr>
              <a:t>Quasi phase matching(QPM)</a:t>
            </a:r>
            <a:endParaRPr lang="zh-TW" altLang="en-US" sz="3200" b="1" dirty="0">
              <a:effectLst>
                <a:outerShdw blurRad="38100" dist="38100" dir="2700000" algn="tl">
                  <a:srgbClr val="000000">
                    <a:alpha val="43137"/>
                  </a:srgbClr>
                </a:outerShdw>
              </a:effectLst>
            </a:endParaRPr>
          </a:p>
        </p:txBody>
      </p:sp>
      <p:grpSp>
        <p:nvGrpSpPr>
          <p:cNvPr id="46" name="群組 45">
            <a:extLst>
              <a:ext uri="{FF2B5EF4-FFF2-40B4-BE49-F238E27FC236}">
                <a16:creationId xmlns:a16="http://schemas.microsoft.com/office/drawing/2014/main" id="{7E5AD148-0D0F-A6AE-CA3D-8E2342406853}"/>
              </a:ext>
            </a:extLst>
          </p:cNvPr>
          <p:cNvGrpSpPr/>
          <p:nvPr/>
        </p:nvGrpSpPr>
        <p:grpSpPr>
          <a:xfrm>
            <a:off x="8492530" y="29639"/>
            <a:ext cx="1698173" cy="706286"/>
            <a:chOff x="1136186" y="2750157"/>
            <a:chExt cx="3433822" cy="1925470"/>
          </a:xfrm>
        </p:grpSpPr>
        <p:grpSp>
          <p:nvGrpSpPr>
            <p:cNvPr id="47" name="群組 46">
              <a:extLst>
                <a:ext uri="{FF2B5EF4-FFF2-40B4-BE49-F238E27FC236}">
                  <a16:creationId xmlns:a16="http://schemas.microsoft.com/office/drawing/2014/main" id="{A1611B9D-98A6-AAF1-DAED-3B7F7C90A688}"/>
                </a:ext>
              </a:extLst>
            </p:cNvPr>
            <p:cNvGrpSpPr/>
            <p:nvPr/>
          </p:nvGrpSpPr>
          <p:grpSpPr>
            <a:xfrm>
              <a:off x="1900354" y="3002965"/>
              <a:ext cx="1597732" cy="1615784"/>
              <a:chOff x="1547796" y="4590564"/>
              <a:chExt cx="1597732" cy="1615784"/>
            </a:xfrm>
          </p:grpSpPr>
          <p:grpSp>
            <p:nvGrpSpPr>
              <p:cNvPr id="59" name="群組 58">
                <a:extLst>
                  <a:ext uri="{FF2B5EF4-FFF2-40B4-BE49-F238E27FC236}">
                    <a16:creationId xmlns:a16="http://schemas.microsoft.com/office/drawing/2014/main" id="{8B2E256C-A629-F73E-CD38-814FAD79B784}"/>
                  </a:ext>
                </a:extLst>
              </p:cNvPr>
              <p:cNvGrpSpPr/>
              <p:nvPr/>
            </p:nvGrpSpPr>
            <p:grpSpPr>
              <a:xfrm>
                <a:off x="1547796" y="4590564"/>
                <a:ext cx="1597732" cy="1615784"/>
                <a:chOff x="7755536" y="4682354"/>
                <a:chExt cx="1539881" cy="1413646"/>
              </a:xfrm>
            </p:grpSpPr>
            <p:grpSp>
              <p:nvGrpSpPr>
                <p:cNvPr id="62" name="群組 61">
                  <a:extLst>
                    <a:ext uri="{FF2B5EF4-FFF2-40B4-BE49-F238E27FC236}">
                      <a16:creationId xmlns:a16="http://schemas.microsoft.com/office/drawing/2014/main" id="{35583304-6961-0D3A-BC02-9DE844F2BD73}"/>
                    </a:ext>
                  </a:extLst>
                </p:cNvPr>
                <p:cNvGrpSpPr/>
                <p:nvPr/>
              </p:nvGrpSpPr>
              <p:grpSpPr>
                <a:xfrm>
                  <a:off x="7755536" y="4682354"/>
                  <a:ext cx="382023" cy="1413646"/>
                  <a:chOff x="7755536" y="4682354"/>
                  <a:chExt cx="382023" cy="1413646"/>
                </a:xfrm>
              </p:grpSpPr>
              <p:sp>
                <p:nvSpPr>
                  <p:cNvPr id="72" name="矩形 71">
                    <a:extLst>
                      <a:ext uri="{FF2B5EF4-FFF2-40B4-BE49-F238E27FC236}">
                        <a16:creationId xmlns:a16="http://schemas.microsoft.com/office/drawing/2014/main" id="{0EBB6A61-0075-872A-5763-A53720F003CA}"/>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矩形 72">
                    <a:extLst>
                      <a:ext uri="{FF2B5EF4-FFF2-40B4-BE49-F238E27FC236}">
                        <a16:creationId xmlns:a16="http://schemas.microsoft.com/office/drawing/2014/main" id="{8A2CD9B3-A870-B2D6-2E63-A82E167F76C5}"/>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63" name="群組 62">
                  <a:extLst>
                    <a:ext uri="{FF2B5EF4-FFF2-40B4-BE49-F238E27FC236}">
                      <a16:creationId xmlns:a16="http://schemas.microsoft.com/office/drawing/2014/main" id="{57366113-1DA2-2F40-4D8B-10C195643901}"/>
                    </a:ext>
                  </a:extLst>
                </p:cNvPr>
                <p:cNvGrpSpPr/>
                <p:nvPr/>
              </p:nvGrpSpPr>
              <p:grpSpPr>
                <a:xfrm>
                  <a:off x="8136791" y="4682354"/>
                  <a:ext cx="382023" cy="1413646"/>
                  <a:chOff x="7755536" y="4682354"/>
                  <a:chExt cx="382023" cy="1413646"/>
                </a:xfrm>
              </p:grpSpPr>
              <p:sp>
                <p:nvSpPr>
                  <p:cNvPr id="70" name="矩形 69">
                    <a:extLst>
                      <a:ext uri="{FF2B5EF4-FFF2-40B4-BE49-F238E27FC236}">
                        <a16:creationId xmlns:a16="http://schemas.microsoft.com/office/drawing/2014/main" id="{AFAE303B-7227-9CF5-1E82-ED8E1B675ABD}"/>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1" name="矩形 70">
                    <a:extLst>
                      <a:ext uri="{FF2B5EF4-FFF2-40B4-BE49-F238E27FC236}">
                        <a16:creationId xmlns:a16="http://schemas.microsoft.com/office/drawing/2014/main" id="{FEBE5383-15F5-10FA-D2B4-4631D121E06D}"/>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64" name="群組 63">
                  <a:extLst>
                    <a:ext uri="{FF2B5EF4-FFF2-40B4-BE49-F238E27FC236}">
                      <a16:creationId xmlns:a16="http://schemas.microsoft.com/office/drawing/2014/main" id="{A377386E-151A-EC5C-83FF-6AEDE7079636}"/>
                    </a:ext>
                  </a:extLst>
                </p:cNvPr>
                <p:cNvGrpSpPr/>
                <p:nvPr/>
              </p:nvGrpSpPr>
              <p:grpSpPr>
                <a:xfrm>
                  <a:off x="8529017" y="4682354"/>
                  <a:ext cx="382023" cy="1413646"/>
                  <a:chOff x="7755536" y="4682354"/>
                  <a:chExt cx="382023" cy="1413646"/>
                </a:xfrm>
              </p:grpSpPr>
              <p:sp>
                <p:nvSpPr>
                  <p:cNvPr id="68" name="矩形 67">
                    <a:extLst>
                      <a:ext uri="{FF2B5EF4-FFF2-40B4-BE49-F238E27FC236}">
                        <a16:creationId xmlns:a16="http://schemas.microsoft.com/office/drawing/2014/main" id="{41DC0BC8-BA24-CD37-09CD-552C53166746}"/>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9" name="矩形 68">
                    <a:extLst>
                      <a:ext uri="{FF2B5EF4-FFF2-40B4-BE49-F238E27FC236}">
                        <a16:creationId xmlns:a16="http://schemas.microsoft.com/office/drawing/2014/main" id="{3987853C-5AA1-B52F-7C82-47572A160F3B}"/>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65" name="群組 64">
                  <a:extLst>
                    <a:ext uri="{FF2B5EF4-FFF2-40B4-BE49-F238E27FC236}">
                      <a16:creationId xmlns:a16="http://schemas.microsoft.com/office/drawing/2014/main" id="{CE59B9A4-DCDC-2E4D-D14C-88140E994959}"/>
                    </a:ext>
                  </a:extLst>
                </p:cNvPr>
                <p:cNvGrpSpPr/>
                <p:nvPr/>
              </p:nvGrpSpPr>
              <p:grpSpPr>
                <a:xfrm>
                  <a:off x="8913394" y="4682354"/>
                  <a:ext cx="382023" cy="1413646"/>
                  <a:chOff x="7755536" y="4682354"/>
                  <a:chExt cx="382023" cy="1413646"/>
                </a:xfrm>
              </p:grpSpPr>
              <p:sp>
                <p:nvSpPr>
                  <p:cNvPr id="66" name="矩形 65">
                    <a:extLst>
                      <a:ext uri="{FF2B5EF4-FFF2-40B4-BE49-F238E27FC236}">
                        <a16:creationId xmlns:a16="http://schemas.microsoft.com/office/drawing/2014/main" id="{D71EABD3-F782-C036-A20D-884CA820FBBF}"/>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7" name="矩形 66">
                    <a:extLst>
                      <a:ext uri="{FF2B5EF4-FFF2-40B4-BE49-F238E27FC236}">
                        <a16:creationId xmlns:a16="http://schemas.microsoft.com/office/drawing/2014/main" id="{4B65318C-4349-02A4-E4C1-A30AED7C0227}"/>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60" name="矩形 59">
                <a:extLst>
                  <a:ext uri="{FF2B5EF4-FFF2-40B4-BE49-F238E27FC236}">
                    <a16:creationId xmlns:a16="http://schemas.microsoft.com/office/drawing/2014/main" id="{89B00DF7-6076-6F33-4E42-4D7678F0EE23}"/>
                  </a:ext>
                </a:extLst>
              </p:cNvPr>
              <p:cNvSpPr/>
              <p:nvPr/>
            </p:nvSpPr>
            <p:spPr>
              <a:xfrm>
                <a:off x="1560341" y="5172154"/>
                <a:ext cx="1575773" cy="262714"/>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1" name="矩形 60">
                <a:extLst>
                  <a:ext uri="{FF2B5EF4-FFF2-40B4-BE49-F238E27FC236}">
                    <a16:creationId xmlns:a16="http://schemas.microsoft.com/office/drawing/2014/main" id="{12001623-445E-AB23-1E29-6499F43047F0}"/>
                  </a:ext>
                </a:extLst>
              </p:cNvPr>
              <p:cNvSpPr/>
              <p:nvPr/>
            </p:nvSpPr>
            <p:spPr>
              <a:xfrm>
                <a:off x="1554254" y="5982936"/>
                <a:ext cx="1591274" cy="223412"/>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48" name="箭號: 向右 47">
              <a:extLst>
                <a:ext uri="{FF2B5EF4-FFF2-40B4-BE49-F238E27FC236}">
                  <a16:creationId xmlns:a16="http://schemas.microsoft.com/office/drawing/2014/main" id="{1D0C0A2B-3119-4CFB-A5EE-C6F131F98988}"/>
                </a:ext>
              </a:extLst>
            </p:cNvPr>
            <p:cNvSpPr/>
            <p:nvPr/>
          </p:nvSpPr>
          <p:spPr>
            <a:xfrm>
              <a:off x="1136186" y="3610662"/>
              <a:ext cx="750491" cy="275824"/>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箭號: 向右 48">
              <a:extLst>
                <a:ext uri="{FF2B5EF4-FFF2-40B4-BE49-F238E27FC236}">
                  <a16:creationId xmlns:a16="http://schemas.microsoft.com/office/drawing/2014/main" id="{9837B7DB-4795-073B-3897-8B18978EED2A}"/>
                </a:ext>
              </a:extLst>
            </p:cNvPr>
            <p:cNvSpPr/>
            <p:nvPr/>
          </p:nvSpPr>
          <p:spPr>
            <a:xfrm>
              <a:off x="3519268" y="3575529"/>
              <a:ext cx="1050740" cy="304814"/>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50" name="群組 49">
              <a:extLst>
                <a:ext uri="{FF2B5EF4-FFF2-40B4-BE49-F238E27FC236}">
                  <a16:creationId xmlns:a16="http://schemas.microsoft.com/office/drawing/2014/main" id="{A6295DC5-75AB-6D73-7ABD-1E068B4099EB}"/>
                </a:ext>
              </a:extLst>
            </p:cNvPr>
            <p:cNvGrpSpPr/>
            <p:nvPr/>
          </p:nvGrpSpPr>
          <p:grpSpPr>
            <a:xfrm>
              <a:off x="2210507" y="3378595"/>
              <a:ext cx="291528" cy="666144"/>
              <a:chOff x="8147879" y="2874761"/>
              <a:chExt cx="320447" cy="747169"/>
            </a:xfrm>
          </p:grpSpPr>
          <p:cxnSp>
            <p:nvCxnSpPr>
              <p:cNvPr id="57" name="直線單箭頭接點 56">
                <a:extLst>
                  <a:ext uri="{FF2B5EF4-FFF2-40B4-BE49-F238E27FC236}">
                    <a16:creationId xmlns:a16="http://schemas.microsoft.com/office/drawing/2014/main" id="{4E826ACB-E354-0AEF-B362-B3A8FC7594E2}"/>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8" name="橢圓 57">
                <a:extLst>
                  <a:ext uri="{FF2B5EF4-FFF2-40B4-BE49-F238E27FC236}">
                    <a16:creationId xmlns:a16="http://schemas.microsoft.com/office/drawing/2014/main" id="{30DD40AD-9D04-C28E-59DD-EA0798C84ABF}"/>
                  </a:ext>
                </a:extLst>
              </p:cNvPr>
              <p:cNvSpPr/>
              <p:nvPr/>
            </p:nvSpPr>
            <p:spPr>
              <a:xfrm>
                <a:off x="8147879" y="3074007"/>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a:t>V</a:t>
                </a:r>
                <a:endParaRPr lang="zh-TW" altLang="en-US" sz="1400" dirty="0"/>
              </a:p>
            </p:txBody>
          </p:sp>
        </p:grpSp>
        <p:grpSp>
          <p:nvGrpSpPr>
            <p:cNvPr id="51" name="群組 50">
              <a:extLst>
                <a:ext uri="{FF2B5EF4-FFF2-40B4-BE49-F238E27FC236}">
                  <a16:creationId xmlns:a16="http://schemas.microsoft.com/office/drawing/2014/main" id="{09CDA295-ECCB-7DB0-3154-93FE4CB0783F}"/>
                </a:ext>
              </a:extLst>
            </p:cNvPr>
            <p:cNvGrpSpPr/>
            <p:nvPr/>
          </p:nvGrpSpPr>
          <p:grpSpPr>
            <a:xfrm>
              <a:off x="3873301" y="2750157"/>
              <a:ext cx="308414" cy="743295"/>
              <a:chOff x="8147879" y="2874761"/>
              <a:chExt cx="320447" cy="747169"/>
            </a:xfrm>
          </p:grpSpPr>
          <p:cxnSp>
            <p:nvCxnSpPr>
              <p:cNvPr id="55" name="直線單箭頭接點 54">
                <a:extLst>
                  <a:ext uri="{FF2B5EF4-FFF2-40B4-BE49-F238E27FC236}">
                    <a16:creationId xmlns:a16="http://schemas.microsoft.com/office/drawing/2014/main" id="{67B302BB-5003-30FC-F811-2BE706770D40}"/>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6" name="橢圓 55">
                <a:extLst>
                  <a:ext uri="{FF2B5EF4-FFF2-40B4-BE49-F238E27FC236}">
                    <a16:creationId xmlns:a16="http://schemas.microsoft.com/office/drawing/2014/main" id="{02ED67B7-FE3A-B012-2D47-C2985FB110C4}"/>
                  </a:ext>
                </a:extLst>
              </p:cNvPr>
              <p:cNvSpPr/>
              <p:nvPr/>
            </p:nvSpPr>
            <p:spPr>
              <a:xfrm>
                <a:off x="8147879" y="3074008"/>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a:t>V</a:t>
                </a:r>
                <a:endParaRPr lang="zh-TW" altLang="en-US" sz="1400" dirty="0"/>
              </a:p>
            </p:txBody>
          </p:sp>
        </p:grpSp>
        <p:grpSp>
          <p:nvGrpSpPr>
            <p:cNvPr id="52" name="群組 51">
              <a:extLst>
                <a:ext uri="{FF2B5EF4-FFF2-40B4-BE49-F238E27FC236}">
                  <a16:creationId xmlns:a16="http://schemas.microsoft.com/office/drawing/2014/main" id="{3D039A22-03A8-E093-5301-A1C0BADB4807}"/>
                </a:ext>
              </a:extLst>
            </p:cNvPr>
            <p:cNvGrpSpPr/>
            <p:nvPr/>
          </p:nvGrpSpPr>
          <p:grpSpPr>
            <a:xfrm>
              <a:off x="3860644" y="3932332"/>
              <a:ext cx="308414" cy="743295"/>
              <a:chOff x="8147879" y="2874761"/>
              <a:chExt cx="320447" cy="747169"/>
            </a:xfrm>
          </p:grpSpPr>
          <p:cxnSp>
            <p:nvCxnSpPr>
              <p:cNvPr id="53" name="直線單箭頭接點 52">
                <a:extLst>
                  <a:ext uri="{FF2B5EF4-FFF2-40B4-BE49-F238E27FC236}">
                    <a16:creationId xmlns:a16="http://schemas.microsoft.com/office/drawing/2014/main" id="{ECBA9BBC-31D0-40BF-A3C4-B7B29791D549}"/>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4" name="橢圓 53">
                <a:extLst>
                  <a:ext uri="{FF2B5EF4-FFF2-40B4-BE49-F238E27FC236}">
                    <a16:creationId xmlns:a16="http://schemas.microsoft.com/office/drawing/2014/main" id="{23151498-A06E-2290-5245-947EE80E776E}"/>
                  </a:ext>
                </a:extLst>
              </p:cNvPr>
              <p:cNvSpPr/>
              <p:nvPr/>
            </p:nvSpPr>
            <p:spPr>
              <a:xfrm>
                <a:off x="8147879" y="3074008"/>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a:t>V</a:t>
                </a:r>
                <a:endParaRPr lang="zh-TW" altLang="en-US" sz="1400" dirty="0"/>
              </a:p>
            </p:txBody>
          </p:sp>
        </p:grpSp>
      </p:grpSp>
      <p:pic>
        <p:nvPicPr>
          <p:cNvPr id="74" name="圖片 73">
            <a:extLst>
              <a:ext uri="{FF2B5EF4-FFF2-40B4-BE49-F238E27FC236}">
                <a16:creationId xmlns:a16="http://schemas.microsoft.com/office/drawing/2014/main" id="{7B68B379-0B5D-4F53-DD09-A1BC2F6A3AE2}"/>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131154" y="1337481"/>
            <a:ext cx="2766112" cy="2259875"/>
          </a:xfrm>
          <a:prstGeom prst="rect">
            <a:avLst/>
          </a:prstGeom>
          <a:noFill/>
        </p:spPr>
      </p:pic>
      <p:pic>
        <p:nvPicPr>
          <p:cNvPr id="77" name="圖片 76">
            <a:extLst>
              <a:ext uri="{FF2B5EF4-FFF2-40B4-BE49-F238E27FC236}">
                <a16:creationId xmlns:a16="http://schemas.microsoft.com/office/drawing/2014/main" id="{55982050-6BD1-14BC-BD01-87A0EAD6D79F}"/>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272090" y="3886622"/>
            <a:ext cx="3093256" cy="2545588"/>
          </a:xfrm>
          <a:prstGeom prst="rect">
            <a:avLst/>
          </a:prstGeom>
          <a:noFill/>
        </p:spPr>
      </p:pic>
      <p:pic>
        <p:nvPicPr>
          <p:cNvPr id="78" name="圖片 77">
            <a:extLst>
              <a:ext uri="{FF2B5EF4-FFF2-40B4-BE49-F238E27FC236}">
                <a16:creationId xmlns:a16="http://schemas.microsoft.com/office/drawing/2014/main" id="{B3A172EB-9C6A-1CBD-B630-EB9449B9A4D7}"/>
              </a:ext>
            </a:extLst>
          </p:cNvPr>
          <p:cNvPicPr>
            <a:picLocks noChangeAspect="1"/>
          </p:cNvPicPr>
          <p:nvPr/>
        </p:nvPicPr>
        <p:blipFill>
          <a:blip r:embed="rId7"/>
          <a:stretch>
            <a:fillRect/>
          </a:stretch>
        </p:blipFill>
        <p:spPr>
          <a:xfrm>
            <a:off x="9615706" y="4328945"/>
            <a:ext cx="1912382" cy="930692"/>
          </a:xfrm>
          <a:prstGeom prst="rect">
            <a:avLst/>
          </a:prstGeom>
        </p:spPr>
      </p:pic>
      <p:pic>
        <p:nvPicPr>
          <p:cNvPr id="8" name="圖片 7">
            <a:extLst>
              <a:ext uri="{FF2B5EF4-FFF2-40B4-BE49-F238E27FC236}">
                <a16:creationId xmlns:a16="http://schemas.microsoft.com/office/drawing/2014/main" id="{E47F06FF-467D-3F26-5575-3E150E5E6103}"/>
              </a:ext>
            </a:extLst>
          </p:cNvPr>
          <p:cNvPicPr>
            <a:picLocks noChangeAspect="1"/>
          </p:cNvPicPr>
          <p:nvPr/>
        </p:nvPicPr>
        <p:blipFill>
          <a:blip r:embed="rId8"/>
          <a:stretch>
            <a:fillRect/>
          </a:stretch>
        </p:blipFill>
        <p:spPr>
          <a:xfrm>
            <a:off x="270535" y="1610622"/>
            <a:ext cx="5019868" cy="2718323"/>
          </a:xfrm>
          <a:prstGeom prst="rect">
            <a:avLst/>
          </a:prstGeom>
        </p:spPr>
      </p:pic>
      <p:pic>
        <p:nvPicPr>
          <p:cNvPr id="9" name="圖片 8">
            <a:extLst>
              <a:ext uri="{FF2B5EF4-FFF2-40B4-BE49-F238E27FC236}">
                <a16:creationId xmlns:a16="http://schemas.microsoft.com/office/drawing/2014/main" id="{632B7B7B-166C-C8D9-4186-DB728D92A0ED}"/>
              </a:ext>
            </a:extLst>
          </p:cNvPr>
          <p:cNvPicPr>
            <a:picLocks noChangeAspect="1"/>
          </p:cNvPicPr>
          <p:nvPr/>
        </p:nvPicPr>
        <p:blipFill>
          <a:blip r:embed="rId9"/>
          <a:stretch>
            <a:fillRect/>
          </a:stretch>
        </p:blipFill>
        <p:spPr>
          <a:xfrm>
            <a:off x="1368776" y="5411056"/>
            <a:ext cx="2609314" cy="1127858"/>
          </a:xfrm>
          <a:prstGeom prst="rect">
            <a:avLst/>
          </a:prstGeom>
        </p:spPr>
      </p:pic>
      <p:sp>
        <p:nvSpPr>
          <p:cNvPr id="13" name="文字方塊 12">
            <a:extLst>
              <a:ext uri="{FF2B5EF4-FFF2-40B4-BE49-F238E27FC236}">
                <a16:creationId xmlns:a16="http://schemas.microsoft.com/office/drawing/2014/main" id="{5127F893-FEBA-D22D-F780-428363BD663A}"/>
              </a:ext>
            </a:extLst>
          </p:cNvPr>
          <p:cNvSpPr txBox="1"/>
          <p:nvPr/>
        </p:nvSpPr>
        <p:spPr>
          <a:xfrm>
            <a:off x="5901641" y="3597356"/>
            <a:ext cx="3060539" cy="338554"/>
          </a:xfrm>
          <a:prstGeom prst="rect">
            <a:avLst/>
          </a:prstGeom>
          <a:noFill/>
        </p:spPr>
        <p:txBody>
          <a:bodyPr wrap="square">
            <a:spAutoFit/>
          </a:bodyPr>
          <a:lstStyle/>
          <a:p>
            <a:r>
              <a:rPr lang="zh-TW" altLang="en-US" sz="1600" dirty="0">
                <a:latin typeface="標楷體" panose="03000509000000000000" pitchFamily="65" charset="-120"/>
                <a:ea typeface="標楷體" panose="03000509000000000000" pitchFamily="65" charset="-120"/>
              </a:rPr>
              <a:t>鈮酸鋰雙穩態偏極化方向示意圖</a:t>
            </a:r>
          </a:p>
        </p:txBody>
      </p:sp>
      <p:sp>
        <p:nvSpPr>
          <p:cNvPr id="15" name="文字方塊 14">
            <a:extLst>
              <a:ext uri="{FF2B5EF4-FFF2-40B4-BE49-F238E27FC236}">
                <a16:creationId xmlns:a16="http://schemas.microsoft.com/office/drawing/2014/main" id="{C57D96D1-3F6B-EA7B-F6B2-0296D0EB3B89}"/>
              </a:ext>
            </a:extLst>
          </p:cNvPr>
          <p:cNvSpPr txBox="1"/>
          <p:nvPr/>
        </p:nvSpPr>
        <p:spPr>
          <a:xfrm>
            <a:off x="6658333" y="6432210"/>
            <a:ext cx="2320770" cy="338554"/>
          </a:xfrm>
          <a:prstGeom prst="rect">
            <a:avLst/>
          </a:prstGeom>
          <a:noFill/>
        </p:spPr>
        <p:txBody>
          <a:bodyPr wrap="square">
            <a:spAutoFit/>
          </a:bodyPr>
          <a:lstStyle/>
          <a:p>
            <a:r>
              <a:rPr lang="zh-TW" altLang="zh-TW" sz="1600" dirty="0">
                <a:effectLst/>
                <a:latin typeface="Times New Roman" panose="02020603050405020304" pitchFamily="18" charset="0"/>
                <a:ea typeface="標楷體" panose="03000509000000000000" pitchFamily="65" charset="-120"/>
                <a:cs typeface="Times New Roman" panose="02020603050405020304" pitchFamily="18" charset="0"/>
              </a:rPr>
              <a:t>鈮酸鋰電相結構示意圖</a:t>
            </a:r>
            <a:endParaRPr lang="zh-TW" altLang="en-US" sz="1600" dirty="0"/>
          </a:p>
        </p:txBody>
      </p:sp>
    </p:spTree>
    <p:extLst>
      <p:ext uri="{BB962C8B-B14F-4D97-AF65-F5344CB8AC3E}">
        <p14:creationId xmlns:p14="http://schemas.microsoft.com/office/powerpoint/2010/main" val="76422632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SHG/SPDC</a:t>
            </a:r>
            <a:endParaRPr lang="zh-TW" altLang="en-US"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7785E72D-3875-448F-8D77-75F9CFD57AC4}"/>
                  </a:ext>
                </a:extLst>
              </p:cNvPr>
              <p:cNvSpPr>
                <a:spLocks noGrp="1"/>
              </p:cNvSpPr>
              <p:nvPr>
                <p:ph idx="4294967295"/>
              </p:nvPr>
            </p:nvSpPr>
            <p:spPr>
              <a:xfrm>
                <a:off x="401595" y="2534195"/>
                <a:ext cx="5563220" cy="2259875"/>
              </a:xfrm>
            </p:spPr>
            <p:txBody>
              <a:bodyPr>
                <a:normAutofit/>
              </a:bodyPr>
              <a:lstStyle/>
              <a:p>
                <a:pPr>
                  <a:lnSpc>
                    <a:spcPct val="200000"/>
                  </a:lnSpc>
                </a:pPr>
                <a:r>
                  <a:rPr lang="en-US" altLang="zh-TW" sz="2800" dirty="0">
                    <a:latin typeface="arial" panose="020B0604020202020204" pitchFamily="34" charset="0"/>
                  </a:rPr>
                  <a:t>∆k</a:t>
                </a:r>
                <a:r>
                  <a:rPr lang="en-US" altLang="zh-TW" sz="2800" dirty="0"/>
                  <a:t>=k3-k1-k2-</a:t>
                </a:r>
                <a:r>
                  <a:rPr lang="el-GR" altLang="zh-TW" sz="2800" dirty="0"/>
                  <a:t> </a:t>
                </a:r>
                <a:r>
                  <a:rPr lang="en-US" altLang="zh-TW" sz="2800" dirty="0"/>
                  <a:t>k</a:t>
                </a:r>
                <a:r>
                  <a:rPr lang="en-US" altLang="zh-TW" sz="2800" baseline="-25000" dirty="0"/>
                  <a:t>m </a:t>
                </a:r>
                <a:r>
                  <a:rPr lang="zh-TW" altLang="en-US" sz="2800" dirty="0"/>
                  <a:t>，</a:t>
                </a:r>
                <a:r>
                  <a:rPr lang="en-US" altLang="zh-TW" sz="2800" dirty="0"/>
                  <a:t>(k</a:t>
                </a:r>
                <a:r>
                  <a:rPr lang="en-US" altLang="zh-TW" sz="2800" baseline="-25000" dirty="0"/>
                  <a:t>m</a:t>
                </a:r>
                <a:r>
                  <a:rPr lang="en-US" altLang="zh-TW" sz="2800" dirty="0"/>
                  <a:t>=</a:t>
                </a:r>
                <a:r>
                  <a:rPr lang="el-GR" altLang="zh-TW" sz="2800" dirty="0"/>
                  <a:t>2π</a:t>
                </a:r>
                <a:r>
                  <a:rPr lang="en-US" altLang="zh-TW" sz="2800" dirty="0"/>
                  <a:t>m</a:t>
                </a:r>
                <a:r>
                  <a:rPr lang="el-GR" altLang="zh-TW" sz="2800" dirty="0"/>
                  <a:t>/</a:t>
                </a:r>
                <a14:m>
                  <m:oMath xmlns:m="http://schemas.openxmlformats.org/officeDocument/2006/math">
                    <m:r>
                      <m:rPr>
                        <m:sty m:val="p"/>
                      </m:rPr>
                      <a:rPr lang="zh-TW" altLang="en-US" smtClean="0">
                        <a:latin typeface="Cambria Math" panose="02040503050406030204" pitchFamily="18" charset="0"/>
                      </a:rPr>
                      <m:t>Λ</m:t>
                    </m:r>
                  </m:oMath>
                </a14:m>
                <a:r>
                  <a:rPr lang="en-US" altLang="zh-TW" sz="2800" dirty="0"/>
                  <a:t>)</a:t>
                </a:r>
              </a:p>
              <a:p>
                <a:pPr>
                  <a:lnSpc>
                    <a:spcPct val="200000"/>
                  </a:lnSpc>
                </a:pPr>
                <a:endParaRPr lang="zh-TW" altLang="en-US" dirty="0">
                  <a:latin typeface="Times New Roman" panose="02020603050405020304" pitchFamily="18" charset="0"/>
                  <a:cs typeface="Times New Roman" panose="02020603050405020304" pitchFamily="18" charset="0"/>
                </a:endParaRPr>
              </a:p>
            </p:txBody>
          </p:sp>
        </mc:Choice>
        <mc:Fallback xmlns="">
          <p:sp>
            <p:nvSpPr>
              <p:cNvPr id="3" name="內容版面配置區 2">
                <a:extLst>
                  <a:ext uri="{FF2B5EF4-FFF2-40B4-BE49-F238E27FC236}">
                    <a16:creationId xmlns:a16="http://schemas.microsoft.com/office/drawing/2014/main" id="{7785E72D-3875-448F-8D77-75F9CFD57AC4}"/>
                  </a:ext>
                </a:extLst>
              </p:cNvPr>
              <p:cNvSpPr>
                <a:spLocks noGrp="1" noRot="1" noChangeAspect="1" noMove="1" noResize="1" noEditPoints="1" noAdjustHandles="1" noChangeArrowheads="1" noChangeShapeType="1" noTextEdit="1"/>
              </p:cNvSpPr>
              <p:nvPr>
                <p:ph idx="4294967295"/>
              </p:nvPr>
            </p:nvSpPr>
            <p:spPr>
              <a:xfrm>
                <a:off x="401595" y="2534195"/>
                <a:ext cx="5563220" cy="2259875"/>
              </a:xfrm>
              <a:blipFill>
                <a:blip r:embed="rId3"/>
                <a:stretch>
                  <a:fillRect l="-1974"/>
                </a:stretch>
              </a:blipFill>
            </p:spPr>
            <p:txBody>
              <a:bodyPr/>
              <a:lstStyle/>
              <a:p>
                <a:r>
                  <a:rPr lang="zh-TW" altLang="en-US">
                    <a:noFill/>
                  </a:rPr>
                  <a:t> </a:t>
                </a:r>
              </a:p>
            </p:txBody>
          </p:sp>
        </mc:Fallback>
      </mc:AlternateContent>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0039351" y="6356352"/>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69</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sp>
        <p:nvSpPr>
          <p:cNvPr id="22" name="內容版面配置區 2">
            <a:extLst>
              <a:ext uri="{FF2B5EF4-FFF2-40B4-BE49-F238E27FC236}">
                <a16:creationId xmlns:a16="http://schemas.microsoft.com/office/drawing/2014/main" id="{920C3F16-8604-E4DF-22BE-61FA0E32D356}"/>
              </a:ext>
            </a:extLst>
          </p:cNvPr>
          <p:cNvSpPr txBox="1">
            <a:spLocks/>
          </p:cNvSpPr>
          <p:nvPr/>
        </p:nvSpPr>
        <p:spPr>
          <a:xfrm>
            <a:off x="3402430" y="448750"/>
            <a:ext cx="5124768" cy="107271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200000"/>
              </a:lnSpc>
              <a:buNone/>
            </a:pPr>
            <a:r>
              <a:rPr lang="en-US" altLang="zh-TW" sz="3200" b="1" dirty="0">
                <a:effectLst>
                  <a:outerShdw blurRad="38100" dist="38100" dir="2700000" algn="tl">
                    <a:srgbClr val="000000">
                      <a:alpha val="43137"/>
                    </a:srgbClr>
                  </a:outerShdw>
                </a:effectLst>
              </a:rPr>
              <a:t>Quasi phase matching(QPM)</a:t>
            </a:r>
            <a:endParaRPr lang="zh-TW" altLang="en-US" sz="3200" b="1" dirty="0">
              <a:effectLst>
                <a:outerShdw blurRad="38100" dist="38100" dir="2700000" algn="tl">
                  <a:srgbClr val="000000">
                    <a:alpha val="43137"/>
                  </a:srgbClr>
                </a:outerShdw>
              </a:effectLst>
            </a:endParaRPr>
          </a:p>
        </p:txBody>
      </p:sp>
      <p:grpSp>
        <p:nvGrpSpPr>
          <p:cNvPr id="46" name="群組 45">
            <a:extLst>
              <a:ext uri="{FF2B5EF4-FFF2-40B4-BE49-F238E27FC236}">
                <a16:creationId xmlns:a16="http://schemas.microsoft.com/office/drawing/2014/main" id="{7E5AD148-0D0F-A6AE-CA3D-8E2342406853}"/>
              </a:ext>
            </a:extLst>
          </p:cNvPr>
          <p:cNvGrpSpPr/>
          <p:nvPr/>
        </p:nvGrpSpPr>
        <p:grpSpPr>
          <a:xfrm>
            <a:off x="8492530" y="29639"/>
            <a:ext cx="1698173" cy="706286"/>
            <a:chOff x="1136186" y="2750157"/>
            <a:chExt cx="3433822" cy="1925470"/>
          </a:xfrm>
        </p:grpSpPr>
        <p:grpSp>
          <p:nvGrpSpPr>
            <p:cNvPr id="47" name="群組 46">
              <a:extLst>
                <a:ext uri="{FF2B5EF4-FFF2-40B4-BE49-F238E27FC236}">
                  <a16:creationId xmlns:a16="http://schemas.microsoft.com/office/drawing/2014/main" id="{A1611B9D-98A6-AAF1-DAED-3B7F7C90A688}"/>
                </a:ext>
              </a:extLst>
            </p:cNvPr>
            <p:cNvGrpSpPr/>
            <p:nvPr/>
          </p:nvGrpSpPr>
          <p:grpSpPr>
            <a:xfrm>
              <a:off x="1900354" y="3002965"/>
              <a:ext cx="1597732" cy="1615784"/>
              <a:chOff x="1547796" y="4590564"/>
              <a:chExt cx="1597732" cy="1615784"/>
            </a:xfrm>
          </p:grpSpPr>
          <p:grpSp>
            <p:nvGrpSpPr>
              <p:cNvPr id="59" name="群組 58">
                <a:extLst>
                  <a:ext uri="{FF2B5EF4-FFF2-40B4-BE49-F238E27FC236}">
                    <a16:creationId xmlns:a16="http://schemas.microsoft.com/office/drawing/2014/main" id="{8B2E256C-A629-F73E-CD38-814FAD79B784}"/>
                  </a:ext>
                </a:extLst>
              </p:cNvPr>
              <p:cNvGrpSpPr/>
              <p:nvPr/>
            </p:nvGrpSpPr>
            <p:grpSpPr>
              <a:xfrm>
                <a:off x="1547796" y="4590564"/>
                <a:ext cx="1597732" cy="1615784"/>
                <a:chOff x="7755536" y="4682354"/>
                <a:chExt cx="1539881" cy="1413646"/>
              </a:xfrm>
            </p:grpSpPr>
            <p:grpSp>
              <p:nvGrpSpPr>
                <p:cNvPr id="62" name="群組 61">
                  <a:extLst>
                    <a:ext uri="{FF2B5EF4-FFF2-40B4-BE49-F238E27FC236}">
                      <a16:creationId xmlns:a16="http://schemas.microsoft.com/office/drawing/2014/main" id="{35583304-6961-0D3A-BC02-9DE844F2BD73}"/>
                    </a:ext>
                  </a:extLst>
                </p:cNvPr>
                <p:cNvGrpSpPr/>
                <p:nvPr/>
              </p:nvGrpSpPr>
              <p:grpSpPr>
                <a:xfrm>
                  <a:off x="7755536" y="4682354"/>
                  <a:ext cx="382023" cy="1413646"/>
                  <a:chOff x="7755536" y="4682354"/>
                  <a:chExt cx="382023" cy="1413646"/>
                </a:xfrm>
              </p:grpSpPr>
              <p:sp>
                <p:nvSpPr>
                  <p:cNvPr id="72" name="矩形 71">
                    <a:extLst>
                      <a:ext uri="{FF2B5EF4-FFF2-40B4-BE49-F238E27FC236}">
                        <a16:creationId xmlns:a16="http://schemas.microsoft.com/office/drawing/2014/main" id="{0EBB6A61-0075-872A-5763-A53720F003CA}"/>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矩形 72">
                    <a:extLst>
                      <a:ext uri="{FF2B5EF4-FFF2-40B4-BE49-F238E27FC236}">
                        <a16:creationId xmlns:a16="http://schemas.microsoft.com/office/drawing/2014/main" id="{8A2CD9B3-A870-B2D6-2E63-A82E167F76C5}"/>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63" name="群組 62">
                  <a:extLst>
                    <a:ext uri="{FF2B5EF4-FFF2-40B4-BE49-F238E27FC236}">
                      <a16:creationId xmlns:a16="http://schemas.microsoft.com/office/drawing/2014/main" id="{57366113-1DA2-2F40-4D8B-10C195643901}"/>
                    </a:ext>
                  </a:extLst>
                </p:cNvPr>
                <p:cNvGrpSpPr/>
                <p:nvPr/>
              </p:nvGrpSpPr>
              <p:grpSpPr>
                <a:xfrm>
                  <a:off x="8136791" y="4682354"/>
                  <a:ext cx="382023" cy="1413646"/>
                  <a:chOff x="7755536" y="4682354"/>
                  <a:chExt cx="382023" cy="1413646"/>
                </a:xfrm>
              </p:grpSpPr>
              <p:sp>
                <p:nvSpPr>
                  <p:cNvPr id="70" name="矩形 69">
                    <a:extLst>
                      <a:ext uri="{FF2B5EF4-FFF2-40B4-BE49-F238E27FC236}">
                        <a16:creationId xmlns:a16="http://schemas.microsoft.com/office/drawing/2014/main" id="{AFAE303B-7227-9CF5-1E82-ED8E1B675ABD}"/>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1" name="矩形 70">
                    <a:extLst>
                      <a:ext uri="{FF2B5EF4-FFF2-40B4-BE49-F238E27FC236}">
                        <a16:creationId xmlns:a16="http://schemas.microsoft.com/office/drawing/2014/main" id="{FEBE5383-15F5-10FA-D2B4-4631D121E06D}"/>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64" name="群組 63">
                  <a:extLst>
                    <a:ext uri="{FF2B5EF4-FFF2-40B4-BE49-F238E27FC236}">
                      <a16:creationId xmlns:a16="http://schemas.microsoft.com/office/drawing/2014/main" id="{A377386E-151A-EC5C-83FF-6AEDE7079636}"/>
                    </a:ext>
                  </a:extLst>
                </p:cNvPr>
                <p:cNvGrpSpPr/>
                <p:nvPr/>
              </p:nvGrpSpPr>
              <p:grpSpPr>
                <a:xfrm>
                  <a:off x="8529017" y="4682354"/>
                  <a:ext cx="382023" cy="1413646"/>
                  <a:chOff x="7755536" y="4682354"/>
                  <a:chExt cx="382023" cy="1413646"/>
                </a:xfrm>
              </p:grpSpPr>
              <p:sp>
                <p:nvSpPr>
                  <p:cNvPr id="68" name="矩形 67">
                    <a:extLst>
                      <a:ext uri="{FF2B5EF4-FFF2-40B4-BE49-F238E27FC236}">
                        <a16:creationId xmlns:a16="http://schemas.microsoft.com/office/drawing/2014/main" id="{41DC0BC8-BA24-CD37-09CD-552C53166746}"/>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9" name="矩形 68">
                    <a:extLst>
                      <a:ext uri="{FF2B5EF4-FFF2-40B4-BE49-F238E27FC236}">
                        <a16:creationId xmlns:a16="http://schemas.microsoft.com/office/drawing/2014/main" id="{3987853C-5AA1-B52F-7C82-47572A160F3B}"/>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65" name="群組 64">
                  <a:extLst>
                    <a:ext uri="{FF2B5EF4-FFF2-40B4-BE49-F238E27FC236}">
                      <a16:creationId xmlns:a16="http://schemas.microsoft.com/office/drawing/2014/main" id="{CE59B9A4-DCDC-2E4D-D14C-88140E994959}"/>
                    </a:ext>
                  </a:extLst>
                </p:cNvPr>
                <p:cNvGrpSpPr/>
                <p:nvPr/>
              </p:nvGrpSpPr>
              <p:grpSpPr>
                <a:xfrm>
                  <a:off x="8913394" y="4682354"/>
                  <a:ext cx="382023" cy="1413646"/>
                  <a:chOff x="7755536" y="4682354"/>
                  <a:chExt cx="382023" cy="1413646"/>
                </a:xfrm>
              </p:grpSpPr>
              <p:sp>
                <p:nvSpPr>
                  <p:cNvPr id="66" name="矩形 65">
                    <a:extLst>
                      <a:ext uri="{FF2B5EF4-FFF2-40B4-BE49-F238E27FC236}">
                        <a16:creationId xmlns:a16="http://schemas.microsoft.com/office/drawing/2014/main" id="{D71EABD3-F782-C036-A20D-884CA820FBBF}"/>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7" name="矩形 66">
                    <a:extLst>
                      <a:ext uri="{FF2B5EF4-FFF2-40B4-BE49-F238E27FC236}">
                        <a16:creationId xmlns:a16="http://schemas.microsoft.com/office/drawing/2014/main" id="{4B65318C-4349-02A4-E4C1-A30AED7C0227}"/>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60" name="矩形 59">
                <a:extLst>
                  <a:ext uri="{FF2B5EF4-FFF2-40B4-BE49-F238E27FC236}">
                    <a16:creationId xmlns:a16="http://schemas.microsoft.com/office/drawing/2014/main" id="{89B00DF7-6076-6F33-4E42-4D7678F0EE23}"/>
                  </a:ext>
                </a:extLst>
              </p:cNvPr>
              <p:cNvSpPr/>
              <p:nvPr/>
            </p:nvSpPr>
            <p:spPr>
              <a:xfrm>
                <a:off x="1560341" y="5172154"/>
                <a:ext cx="1575773" cy="262714"/>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1" name="矩形 60">
                <a:extLst>
                  <a:ext uri="{FF2B5EF4-FFF2-40B4-BE49-F238E27FC236}">
                    <a16:creationId xmlns:a16="http://schemas.microsoft.com/office/drawing/2014/main" id="{12001623-445E-AB23-1E29-6499F43047F0}"/>
                  </a:ext>
                </a:extLst>
              </p:cNvPr>
              <p:cNvSpPr/>
              <p:nvPr/>
            </p:nvSpPr>
            <p:spPr>
              <a:xfrm>
                <a:off x="1554254" y="5982936"/>
                <a:ext cx="1591274" cy="223412"/>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48" name="箭號: 向右 47">
              <a:extLst>
                <a:ext uri="{FF2B5EF4-FFF2-40B4-BE49-F238E27FC236}">
                  <a16:creationId xmlns:a16="http://schemas.microsoft.com/office/drawing/2014/main" id="{1D0C0A2B-3119-4CFB-A5EE-C6F131F98988}"/>
                </a:ext>
              </a:extLst>
            </p:cNvPr>
            <p:cNvSpPr/>
            <p:nvPr/>
          </p:nvSpPr>
          <p:spPr>
            <a:xfrm>
              <a:off x="1136186" y="3610662"/>
              <a:ext cx="750491" cy="275824"/>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箭號: 向右 48">
              <a:extLst>
                <a:ext uri="{FF2B5EF4-FFF2-40B4-BE49-F238E27FC236}">
                  <a16:creationId xmlns:a16="http://schemas.microsoft.com/office/drawing/2014/main" id="{9837B7DB-4795-073B-3897-8B18978EED2A}"/>
                </a:ext>
              </a:extLst>
            </p:cNvPr>
            <p:cNvSpPr/>
            <p:nvPr/>
          </p:nvSpPr>
          <p:spPr>
            <a:xfrm>
              <a:off x="3519268" y="3575529"/>
              <a:ext cx="1050740" cy="304814"/>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50" name="群組 49">
              <a:extLst>
                <a:ext uri="{FF2B5EF4-FFF2-40B4-BE49-F238E27FC236}">
                  <a16:creationId xmlns:a16="http://schemas.microsoft.com/office/drawing/2014/main" id="{A6295DC5-75AB-6D73-7ABD-1E068B4099EB}"/>
                </a:ext>
              </a:extLst>
            </p:cNvPr>
            <p:cNvGrpSpPr/>
            <p:nvPr/>
          </p:nvGrpSpPr>
          <p:grpSpPr>
            <a:xfrm>
              <a:off x="2210507" y="3378595"/>
              <a:ext cx="291528" cy="666144"/>
              <a:chOff x="8147879" y="2874761"/>
              <a:chExt cx="320447" cy="747169"/>
            </a:xfrm>
          </p:grpSpPr>
          <p:cxnSp>
            <p:nvCxnSpPr>
              <p:cNvPr id="57" name="直線單箭頭接點 56">
                <a:extLst>
                  <a:ext uri="{FF2B5EF4-FFF2-40B4-BE49-F238E27FC236}">
                    <a16:creationId xmlns:a16="http://schemas.microsoft.com/office/drawing/2014/main" id="{4E826ACB-E354-0AEF-B362-B3A8FC7594E2}"/>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8" name="橢圓 57">
                <a:extLst>
                  <a:ext uri="{FF2B5EF4-FFF2-40B4-BE49-F238E27FC236}">
                    <a16:creationId xmlns:a16="http://schemas.microsoft.com/office/drawing/2014/main" id="{30DD40AD-9D04-C28E-59DD-EA0798C84ABF}"/>
                  </a:ext>
                </a:extLst>
              </p:cNvPr>
              <p:cNvSpPr/>
              <p:nvPr/>
            </p:nvSpPr>
            <p:spPr>
              <a:xfrm>
                <a:off x="8147879" y="3074007"/>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a:t>V</a:t>
                </a:r>
                <a:endParaRPr lang="zh-TW" altLang="en-US" sz="1400" dirty="0"/>
              </a:p>
            </p:txBody>
          </p:sp>
        </p:grpSp>
        <p:grpSp>
          <p:nvGrpSpPr>
            <p:cNvPr id="51" name="群組 50">
              <a:extLst>
                <a:ext uri="{FF2B5EF4-FFF2-40B4-BE49-F238E27FC236}">
                  <a16:creationId xmlns:a16="http://schemas.microsoft.com/office/drawing/2014/main" id="{09CDA295-ECCB-7DB0-3154-93FE4CB0783F}"/>
                </a:ext>
              </a:extLst>
            </p:cNvPr>
            <p:cNvGrpSpPr/>
            <p:nvPr/>
          </p:nvGrpSpPr>
          <p:grpSpPr>
            <a:xfrm>
              <a:off x="3873301" y="2750157"/>
              <a:ext cx="308414" cy="743295"/>
              <a:chOff x="8147879" y="2874761"/>
              <a:chExt cx="320447" cy="747169"/>
            </a:xfrm>
          </p:grpSpPr>
          <p:cxnSp>
            <p:nvCxnSpPr>
              <p:cNvPr id="55" name="直線單箭頭接點 54">
                <a:extLst>
                  <a:ext uri="{FF2B5EF4-FFF2-40B4-BE49-F238E27FC236}">
                    <a16:creationId xmlns:a16="http://schemas.microsoft.com/office/drawing/2014/main" id="{67B302BB-5003-30FC-F811-2BE706770D40}"/>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6" name="橢圓 55">
                <a:extLst>
                  <a:ext uri="{FF2B5EF4-FFF2-40B4-BE49-F238E27FC236}">
                    <a16:creationId xmlns:a16="http://schemas.microsoft.com/office/drawing/2014/main" id="{02ED67B7-FE3A-B012-2D47-C2985FB110C4}"/>
                  </a:ext>
                </a:extLst>
              </p:cNvPr>
              <p:cNvSpPr/>
              <p:nvPr/>
            </p:nvSpPr>
            <p:spPr>
              <a:xfrm>
                <a:off x="8147879" y="3074008"/>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a:t>V</a:t>
                </a:r>
                <a:endParaRPr lang="zh-TW" altLang="en-US" sz="1400" dirty="0"/>
              </a:p>
            </p:txBody>
          </p:sp>
        </p:grpSp>
        <p:grpSp>
          <p:nvGrpSpPr>
            <p:cNvPr id="52" name="群組 51">
              <a:extLst>
                <a:ext uri="{FF2B5EF4-FFF2-40B4-BE49-F238E27FC236}">
                  <a16:creationId xmlns:a16="http://schemas.microsoft.com/office/drawing/2014/main" id="{3D039A22-03A8-E093-5301-A1C0BADB4807}"/>
                </a:ext>
              </a:extLst>
            </p:cNvPr>
            <p:cNvGrpSpPr/>
            <p:nvPr/>
          </p:nvGrpSpPr>
          <p:grpSpPr>
            <a:xfrm>
              <a:off x="3860644" y="3932332"/>
              <a:ext cx="308414" cy="743295"/>
              <a:chOff x="8147879" y="2874761"/>
              <a:chExt cx="320447" cy="747169"/>
            </a:xfrm>
          </p:grpSpPr>
          <p:cxnSp>
            <p:nvCxnSpPr>
              <p:cNvPr id="53" name="直線單箭頭接點 52">
                <a:extLst>
                  <a:ext uri="{FF2B5EF4-FFF2-40B4-BE49-F238E27FC236}">
                    <a16:creationId xmlns:a16="http://schemas.microsoft.com/office/drawing/2014/main" id="{ECBA9BBC-31D0-40BF-A3C4-B7B29791D549}"/>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4" name="橢圓 53">
                <a:extLst>
                  <a:ext uri="{FF2B5EF4-FFF2-40B4-BE49-F238E27FC236}">
                    <a16:creationId xmlns:a16="http://schemas.microsoft.com/office/drawing/2014/main" id="{23151498-A06E-2290-5245-947EE80E776E}"/>
                  </a:ext>
                </a:extLst>
              </p:cNvPr>
              <p:cNvSpPr/>
              <p:nvPr/>
            </p:nvSpPr>
            <p:spPr>
              <a:xfrm>
                <a:off x="8147879" y="3074008"/>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a:t>V</a:t>
                </a:r>
                <a:endParaRPr lang="zh-TW" altLang="en-US" sz="1400" dirty="0"/>
              </a:p>
            </p:txBody>
          </p:sp>
        </p:grpSp>
      </p:grpSp>
      <p:pic>
        <p:nvPicPr>
          <p:cNvPr id="9" name="圖片 8">
            <a:extLst>
              <a:ext uri="{FF2B5EF4-FFF2-40B4-BE49-F238E27FC236}">
                <a16:creationId xmlns:a16="http://schemas.microsoft.com/office/drawing/2014/main" id="{632B7B7B-166C-C8D9-4186-DB728D92A0ED}"/>
              </a:ext>
            </a:extLst>
          </p:cNvPr>
          <p:cNvPicPr>
            <a:picLocks noChangeAspect="1"/>
          </p:cNvPicPr>
          <p:nvPr/>
        </p:nvPicPr>
        <p:blipFill>
          <a:blip r:embed="rId5"/>
          <a:stretch>
            <a:fillRect/>
          </a:stretch>
        </p:blipFill>
        <p:spPr>
          <a:xfrm>
            <a:off x="1499835" y="3483650"/>
            <a:ext cx="2609314" cy="1127858"/>
          </a:xfrm>
          <a:prstGeom prst="rect">
            <a:avLst/>
          </a:prstGeom>
        </p:spPr>
      </p:pic>
      <p:pic>
        <p:nvPicPr>
          <p:cNvPr id="6" name="圖片 5">
            <a:extLst>
              <a:ext uri="{FF2B5EF4-FFF2-40B4-BE49-F238E27FC236}">
                <a16:creationId xmlns:a16="http://schemas.microsoft.com/office/drawing/2014/main" id="{2ED625C2-6861-2983-8B26-4F29760D4629}"/>
              </a:ext>
            </a:extLst>
          </p:cNvPr>
          <p:cNvPicPr>
            <a:picLocks noChangeAspect="1"/>
          </p:cNvPicPr>
          <p:nvPr/>
        </p:nvPicPr>
        <p:blipFill>
          <a:blip r:embed="rId6"/>
          <a:stretch>
            <a:fillRect/>
          </a:stretch>
        </p:blipFill>
        <p:spPr>
          <a:xfrm>
            <a:off x="6227187" y="1336657"/>
            <a:ext cx="4535817" cy="3353091"/>
          </a:xfrm>
          <a:prstGeom prst="rect">
            <a:avLst/>
          </a:prstGeom>
        </p:spPr>
      </p:pic>
      <p:pic>
        <p:nvPicPr>
          <p:cNvPr id="7" name="圖片 6">
            <a:extLst>
              <a:ext uri="{FF2B5EF4-FFF2-40B4-BE49-F238E27FC236}">
                <a16:creationId xmlns:a16="http://schemas.microsoft.com/office/drawing/2014/main" id="{9B2DB20A-CFF6-59AF-F90D-62F4375CDF06}"/>
              </a:ext>
            </a:extLst>
          </p:cNvPr>
          <p:cNvPicPr>
            <a:picLocks noChangeAspect="1"/>
          </p:cNvPicPr>
          <p:nvPr/>
        </p:nvPicPr>
        <p:blipFill>
          <a:blip r:embed="rId7"/>
          <a:stretch>
            <a:fillRect/>
          </a:stretch>
        </p:blipFill>
        <p:spPr>
          <a:xfrm>
            <a:off x="5952782" y="4032399"/>
            <a:ext cx="5248618" cy="2718323"/>
          </a:xfrm>
          <a:prstGeom prst="rect">
            <a:avLst/>
          </a:prstGeom>
        </p:spPr>
      </p:pic>
    </p:spTree>
    <p:extLst>
      <p:ext uri="{BB962C8B-B14F-4D97-AF65-F5344CB8AC3E}">
        <p14:creationId xmlns:p14="http://schemas.microsoft.com/office/powerpoint/2010/main" val="238435045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pPr lvl="0">
              <a:spcAft>
                <a:spcPts val="0"/>
              </a:spcAft>
            </a:pPr>
            <a:r>
              <a:rPr lang="en-US" altLang="zh-TW" sz="4400" b="1" kern="1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Conclusions and Future work</a:t>
            </a:r>
            <a:endParaRPr lang="zh-TW" altLang="zh-TW" sz="2400" kern="100" dirty="0">
              <a:solidFill>
                <a:schemeClr val="tx1"/>
              </a:solidFill>
              <a:latin typeface="Calibri" panose="020F0502020204030204" pitchFamily="34"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1581381" y="6385597"/>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70</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pic>
        <p:nvPicPr>
          <p:cNvPr id="8" name="圖片 7">
            <a:extLst>
              <a:ext uri="{FF2B5EF4-FFF2-40B4-BE49-F238E27FC236}">
                <a16:creationId xmlns:a16="http://schemas.microsoft.com/office/drawing/2014/main" id="{95671F7B-BCDB-4F96-F710-5AB884B3C8A9}"/>
              </a:ext>
            </a:extLst>
          </p:cNvPr>
          <p:cNvPicPr>
            <a:picLocks noChangeAspect="1"/>
          </p:cNvPicPr>
          <p:nvPr/>
        </p:nvPicPr>
        <p:blipFill>
          <a:blip r:embed="rId4"/>
          <a:stretch>
            <a:fillRect/>
          </a:stretch>
        </p:blipFill>
        <p:spPr>
          <a:xfrm>
            <a:off x="8797529" y="-7807"/>
            <a:ext cx="1712923" cy="781178"/>
          </a:xfrm>
          <a:prstGeom prst="rect">
            <a:avLst/>
          </a:prstGeom>
        </p:spPr>
      </p:pic>
      <p:sp>
        <p:nvSpPr>
          <p:cNvPr id="3" name="文字方塊 2">
            <a:extLst>
              <a:ext uri="{FF2B5EF4-FFF2-40B4-BE49-F238E27FC236}">
                <a16:creationId xmlns:a16="http://schemas.microsoft.com/office/drawing/2014/main" id="{B2B7312B-DF60-BE54-67B3-63C2C859B9D9}"/>
              </a:ext>
            </a:extLst>
          </p:cNvPr>
          <p:cNvSpPr txBox="1"/>
          <p:nvPr/>
        </p:nvSpPr>
        <p:spPr>
          <a:xfrm>
            <a:off x="219919" y="881583"/>
            <a:ext cx="1980118" cy="53833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2800" b="1" i="1" u="sng" dirty="0">
                <a:solidFill>
                  <a:prstClr val="black"/>
                </a:solidFill>
                <a:effectLst>
                  <a:outerShdw blurRad="38100" dist="38100" dir="2700000" algn="tl">
                    <a:srgbClr val="000000">
                      <a:alpha val="43137"/>
                    </a:srgbClr>
                  </a:outerShdw>
                </a:effectLst>
                <a:latin typeface="Calibri" panose="020F0502020204030204"/>
                <a:ea typeface="新細明體" panose="02020500000000000000" pitchFamily="18" charset="-120"/>
              </a:rPr>
              <a:t>Future work</a:t>
            </a:r>
            <a:endParaRPr kumimoji="0" lang="en-US" altLang="zh-TW" sz="2800" b="1" i="1" u="sng"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alibri" panose="020F0502020204030204"/>
              <a:ea typeface="新細明體" panose="02020500000000000000" pitchFamily="18" charset="-120"/>
              <a:cs typeface="+mn-cs"/>
            </a:endParaRPr>
          </a:p>
        </p:txBody>
      </p:sp>
      <p:grpSp>
        <p:nvGrpSpPr>
          <p:cNvPr id="9" name="群組 8">
            <a:extLst>
              <a:ext uri="{FF2B5EF4-FFF2-40B4-BE49-F238E27FC236}">
                <a16:creationId xmlns:a16="http://schemas.microsoft.com/office/drawing/2014/main" id="{3275BBF1-4701-FC0B-D2FD-EAE80C61067B}"/>
              </a:ext>
            </a:extLst>
          </p:cNvPr>
          <p:cNvGrpSpPr/>
          <p:nvPr/>
        </p:nvGrpSpPr>
        <p:grpSpPr>
          <a:xfrm>
            <a:off x="6096000" y="880649"/>
            <a:ext cx="3822523" cy="2926334"/>
            <a:chOff x="6886267" y="1419919"/>
            <a:chExt cx="3822523" cy="2926334"/>
          </a:xfrm>
        </p:grpSpPr>
        <p:pic>
          <p:nvPicPr>
            <p:cNvPr id="6" name="圖片 5">
              <a:extLst>
                <a:ext uri="{FF2B5EF4-FFF2-40B4-BE49-F238E27FC236}">
                  <a16:creationId xmlns:a16="http://schemas.microsoft.com/office/drawing/2014/main" id="{9C14EC99-1639-F26F-337F-16BC4A3EC08C}"/>
                </a:ext>
              </a:extLst>
            </p:cNvPr>
            <p:cNvPicPr>
              <a:picLocks noChangeAspect="1"/>
            </p:cNvPicPr>
            <p:nvPr/>
          </p:nvPicPr>
          <p:blipFill>
            <a:blip r:embed="rId5"/>
            <a:stretch>
              <a:fillRect/>
            </a:stretch>
          </p:blipFill>
          <p:spPr>
            <a:xfrm>
              <a:off x="6886267" y="1419919"/>
              <a:ext cx="3822523" cy="2926334"/>
            </a:xfrm>
            <a:prstGeom prst="rect">
              <a:avLst/>
            </a:prstGeom>
          </p:spPr>
        </p:pic>
        <p:sp>
          <p:nvSpPr>
            <p:cNvPr id="7" name="矩形 6">
              <a:extLst>
                <a:ext uri="{FF2B5EF4-FFF2-40B4-BE49-F238E27FC236}">
                  <a16:creationId xmlns:a16="http://schemas.microsoft.com/office/drawing/2014/main" id="{27B6C806-9EC5-F287-8327-DFE0FCA6FDAB}"/>
                </a:ext>
              </a:extLst>
            </p:cNvPr>
            <p:cNvSpPr/>
            <p:nvPr/>
          </p:nvSpPr>
          <p:spPr>
            <a:xfrm>
              <a:off x="8556831" y="2278309"/>
              <a:ext cx="1828800" cy="787078"/>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0" name="文字方塊 9">
            <a:extLst>
              <a:ext uri="{FF2B5EF4-FFF2-40B4-BE49-F238E27FC236}">
                <a16:creationId xmlns:a16="http://schemas.microsoft.com/office/drawing/2014/main" id="{81E54011-CA1B-FF89-ED4D-CF4B9034D3FC}"/>
              </a:ext>
            </a:extLst>
          </p:cNvPr>
          <p:cNvSpPr txBox="1"/>
          <p:nvPr/>
        </p:nvSpPr>
        <p:spPr>
          <a:xfrm>
            <a:off x="9773857" y="1974484"/>
            <a:ext cx="1918026" cy="369332"/>
          </a:xfrm>
          <a:prstGeom prst="rect">
            <a:avLst/>
          </a:prstGeom>
          <a:noFill/>
        </p:spPr>
        <p:txBody>
          <a:bodyPr wrap="none" rtlCol="0">
            <a:spAutoFit/>
          </a:bodyPr>
          <a:lstStyle/>
          <a:p>
            <a:r>
              <a:rPr lang="en-US" altLang="zh-TW" dirty="0">
                <a:solidFill>
                  <a:srgbClr val="FF0000"/>
                </a:solidFill>
              </a:rPr>
              <a:t>Phase </a:t>
            </a:r>
            <a:r>
              <a:rPr lang="en-US" altLang="zh-TW" dirty="0" err="1">
                <a:solidFill>
                  <a:srgbClr val="FF0000"/>
                </a:solidFill>
              </a:rPr>
              <a:t>stabilisation</a:t>
            </a:r>
            <a:endParaRPr lang="zh-TW" altLang="en-US" dirty="0">
              <a:solidFill>
                <a:srgbClr val="FF0000"/>
              </a:solidFill>
            </a:endParaRPr>
          </a:p>
        </p:txBody>
      </p:sp>
      <p:sp>
        <p:nvSpPr>
          <p:cNvPr id="13" name="文字方塊 12">
            <a:extLst>
              <a:ext uri="{FF2B5EF4-FFF2-40B4-BE49-F238E27FC236}">
                <a16:creationId xmlns:a16="http://schemas.microsoft.com/office/drawing/2014/main" id="{72D79106-38EF-7ABC-C4DC-0B2A547E8702}"/>
              </a:ext>
            </a:extLst>
          </p:cNvPr>
          <p:cNvSpPr txBox="1"/>
          <p:nvPr/>
        </p:nvSpPr>
        <p:spPr>
          <a:xfrm>
            <a:off x="219919" y="1677438"/>
            <a:ext cx="3689856" cy="369332"/>
          </a:xfrm>
          <a:prstGeom prst="rect">
            <a:avLst/>
          </a:prstGeom>
          <a:noFill/>
        </p:spPr>
        <p:txBody>
          <a:bodyPr wrap="none" rtlCol="0">
            <a:spAutoFit/>
          </a:bodyPr>
          <a:lstStyle/>
          <a:p>
            <a:r>
              <a:rPr lang="en-US" altLang="zh-TW" b="1" i="1" dirty="0"/>
              <a:t>1.Phase modulator feedback system </a:t>
            </a:r>
            <a:endParaRPr lang="zh-TW" altLang="en-US" b="1" i="1" dirty="0"/>
          </a:p>
        </p:txBody>
      </p:sp>
      <p:pic>
        <p:nvPicPr>
          <p:cNvPr id="12" name="圖片 11">
            <a:extLst>
              <a:ext uri="{FF2B5EF4-FFF2-40B4-BE49-F238E27FC236}">
                <a16:creationId xmlns:a16="http://schemas.microsoft.com/office/drawing/2014/main" id="{39FF0D0C-27AA-DE65-7FB7-D5C29DE03403}"/>
              </a:ext>
            </a:extLst>
          </p:cNvPr>
          <p:cNvPicPr>
            <a:picLocks noChangeAspect="1"/>
          </p:cNvPicPr>
          <p:nvPr/>
        </p:nvPicPr>
        <p:blipFill>
          <a:blip r:embed="rId6"/>
          <a:stretch>
            <a:fillRect/>
          </a:stretch>
        </p:blipFill>
        <p:spPr>
          <a:xfrm>
            <a:off x="827805" y="2905160"/>
            <a:ext cx="8350165" cy="3669938"/>
          </a:xfrm>
          <a:prstGeom prst="rect">
            <a:avLst/>
          </a:prstGeom>
        </p:spPr>
      </p:pic>
    </p:spTree>
    <p:extLst>
      <p:ext uri="{BB962C8B-B14F-4D97-AF65-F5344CB8AC3E}">
        <p14:creationId xmlns:p14="http://schemas.microsoft.com/office/powerpoint/2010/main" val="211726227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SHG/SPDC</a:t>
            </a:r>
          </a:p>
        </p:txBody>
      </p:sp>
      <p:sp>
        <p:nvSpPr>
          <p:cNvPr id="3" name="內容版面配置區 2">
            <a:extLst>
              <a:ext uri="{FF2B5EF4-FFF2-40B4-BE49-F238E27FC236}">
                <a16:creationId xmlns:a16="http://schemas.microsoft.com/office/drawing/2014/main" id="{7785E72D-3875-448F-8D77-75F9CFD57AC4}"/>
              </a:ext>
            </a:extLst>
          </p:cNvPr>
          <p:cNvSpPr>
            <a:spLocks noGrp="1"/>
          </p:cNvSpPr>
          <p:nvPr>
            <p:ph idx="4294967295"/>
          </p:nvPr>
        </p:nvSpPr>
        <p:spPr>
          <a:xfrm>
            <a:off x="2246740" y="547757"/>
            <a:ext cx="7453634" cy="1072712"/>
          </a:xfrm>
        </p:spPr>
        <p:txBody>
          <a:bodyPr>
            <a:noAutofit/>
          </a:bodyPr>
          <a:lstStyle/>
          <a:p>
            <a:pPr marL="0" indent="0">
              <a:lnSpc>
                <a:spcPct val="200000"/>
              </a:lnSpc>
              <a:buNone/>
            </a:pPr>
            <a:r>
              <a:rPr lang="en-US" altLang="zh-TW" sz="3200" b="1" dirty="0">
                <a:effectLst>
                  <a:outerShdw blurRad="38100" dist="38100" dir="2700000" algn="tl">
                    <a:srgbClr val="000000">
                      <a:alpha val="43137"/>
                    </a:srgbClr>
                  </a:outerShdw>
                </a:effectLst>
              </a:rPr>
              <a:t>Second  Harmonic Generation(SHG)/SPDC</a:t>
            </a:r>
            <a:endParaRPr lang="zh-TW" altLang="en-US" sz="3200" b="1" dirty="0">
              <a:effectLst>
                <a:outerShdw blurRad="38100" dist="38100" dir="2700000" algn="tl">
                  <a:srgbClr val="000000">
                    <a:alpha val="43137"/>
                  </a:srgbClr>
                </a:outerShdw>
              </a:effectLst>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0039351" y="6356352"/>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71</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grpSp>
        <p:nvGrpSpPr>
          <p:cNvPr id="65" name="群組 64">
            <a:extLst>
              <a:ext uri="{FF2B5EF4-FFF2-40B4-BE49-F238E27FC236}">
                <a16:creationId xmlns:a16="http://schemas.microsoft.com/office/drawing/2014/main" id="{4D2DAC09-E74F-1014-0764-10E3C3E7E5FD}"/>
              </a:ext>
            </a:extLst>
          </p:cNvPr>
          <p:cNvGrpSpPr/>
          <p:nvPr/>
        </p:nvGrpSpPr>
        <p:grpSpPr>
          <a:xfrm>
            <a:off x="8492530" y="29639"/>
            <a:ext cx="1698173" cy="706286"/>
            <a:chOff x="1136186" y="2750157"/>
            <a:chExt cx="3433822" cy="1925470"/>
          </a:xfrm>
        </p:grpSpPr>
        <p:grpSp>
          <p:nvGrpSpPr>
            <p:cNvPr id="38" name="群組 37">
              <a:extLst>
                <a:ext uri="{FF2B5EF4-FFF2-40B4-BE49-F238E27FC236}">
                  <a16:creationId xmlns:a16="http://schemas.microsoft.com/office/drawing/2014/main" id="{36F4B540-B9B1-77DA-2364-0F3258FE9A4C}"/>
                </a:ext>
              </a:extLst>
            </p:cNvPr>
            <p:cNvGrpSpPr/>
            <p:nvPr/>
          </p:nvGrpSpPr>
          <p:grpSpPr>
            <a:xfrm>
              <a:off x="1900354" y="3002965"/>
              <a:ext cx="1597732" cy="1615784"/>
              <a:chOff x="1547796" y="4590564"/>
              <a:chExt cx="1597732" cy="1615784"/>
            </a:xfrm>
          </p:grpSpPr>
          <p:grpSp>
            <p:nvGrpSpPr>
              <p:cNvPr id="39" name="群組 38">
                <a:extLst>
                  <a:ext uri="{FF2B5EF4-FFF2-40B4-BE49-F238E27FC236}">
                    <a16:creationId xmlns:a16="http://schemas.microsoft.com/office/drawing/2014/main" id="{9091209D-D0A9-5643-8E8A-BAD516A3C1A7}"/>
                  </a:ext>
                </a:extLst>
              </p:cNvPr>
              <p:cNvGrpSpPr/>
              <p:nvPr/>
            </p:nvGrpSpPr>
            <p:grpSpPr>
              <a:xfrm>
                <a:off x="1547796" y="4590564"/>
                <a:ext cx="1597732" cy="1615784"/>
                <a:chOff x="7755536" y="4682354"/>
                <a:chExt cx="1539881" cy="1413646"/>
              </a:xfrm>
            </p:grpSpPr>
            <p:grpSp>
              <p:nvGrpSpPr>
                <p:cNvPr id="42" name="群組 41">
                  <a:extLst>
                    <a:ext uri="{FF2B5EF4-FFF2-40B4-BE49-F238E27FC236}">
                      <a16:creationId xmlns:a16="http://schemas.microsoft.com/office/drawing/2014/main" id="{CC298555-DECA-8FB5-12CA-63971B73DD9A}"/>
                    </a:ext>
                  </a:extLst>
                </p:cNvPr>
                <p:cNvGrpSpPr/>
                <p:nvPr/>
              </p:nvGrpSpPr>
              <p:grpSpPr>
                <a:xfrm>
                  <a:off x="7755536" y="4682354"/>
                  <a:ext cx="382023" cy="1413646"/>
                  <a:chOff x="7755536" y="4682354"/>
                  <a:chExt cx="382023" cy="1413646"/>
                </a:xfrm>
              </p:grpSpPr>
              <p:sp>
                <p:nvSpPr>
                  <p:cNvPr id="52" name="矩形 51">
                    <a:extLst>
                      <a:ext uri="{FF2B5EF4-FFF2-40B4-BE49-F238E27FC236}">
                        <a16:creationId xmlns:a16="http://schemas.microsoft.com/office/drawing/2014/main" id="{7E5551C8-81EC-15D8-9B55-1BC88460B24E}"/>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3" name="矩形 52">
                    <a:extLst>
                      <a:ext uri="{FF2B5EF4-FFF2-40B4-BE49-F238E27FC236}">
                        <a16:creationId xmlns:a16="http://schemas.microsoft.com/office/drawing/2014/main" id="{27833BC3-0C48-EBDC-8842-C323C4BF021C}"/>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43" name="群組 42">
                  <a:extLst>
                    <a:ext uri="{FF2B5EF4-FFF2-40B4-BE49-F238E27FC236}">
                      <a16:creationId xmlns:a16="http://schemas.microsoft.com/office/drawing/2014/main" id="{E41A948F-8AA0-6E38-9259-1D5B52127B9B}"/>
                    </a:ext>
                  </a:extLst>
                </p:cNvPr>
                <p:cNvGrpSpPr/>
                <p:nvPr/>
              </p:nvGrpSpPr>
              <p:grpSpPr>
                <a:xfrm>
                  <a:off x="8136791" y="4682354"/>
                  <a:ext cx="382023" cy="1413646"/>
                  <a:chOff x="7755536" y="4682354"/>
                  <a:chExt cx="382023" cy="1413646"/>
                </a:xfrm>
              </p:grpSpPr>
              <p:sp>
                <p:nvSpPr>
                  <p:cNvPr id="50" name="矩形 49">
                    <a:extLst>
                      <a:ext uri="{FF2B5EF4-FFF2-40B4-BE49-F238E27FC236}">
                        <a16:creationId xmlns:a16="http://schemas.microsoft.com/office/drawing/2014/main" id="{9A0391F2-8564-D368-D45B-1C65D143BFAB}"/>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a:extLst>
                      <a:ext uri="{FF2B5EF4-FFF2-40B4-BE49-F238E27FC236}">
                        <a16:creationId xmlns:a16="http://schemas.microsoft.com/office/drawing/2014/main" id="{90CFE2C3-AF6F-4C63-6566-BAFCB742E2F3}"/>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44" name="群組 43">
                  <a:extLst>
                    <a:ext uri="{FF2B5EF4-FFF2-40B4-BE49-F238E27FC236}">
                      <a16:creationId xmlns:a16="http://schemas.microsoft.com/office/drawing/2014/main" id="{0C20D49F-A113-8414-43A1-EE08D9091A89}"/>
                    </a:ext>
                  </a:extLst>
                </p:cNvPr>
                <p:cNvGrpSpPr/>
                <p:nvPr/>
              </p:nvGrpSpPr>
              <p:grpSpPr>
                <a:xfrm>
                  <a:off x="8529017" y="4682354"/>
                  <a:ext cx="382023" cy="1413646"/>
                  <a:chOff x="7755536" y="4682354"/>
                  <a:chExt cx="382023" cy="1413646"/>
                </a:xfrm>
              </p:grpSpPr>
              <p:sp>
                <p:nvSpPr>
                  <p:cNvPr id="48" name="矩形 47">
                    <a:extLst>
                      <a:ext uri="{FF2B5EF4-FFF2-40B4-BE49-F238E27FC236}">
                        <a16:creationId xmlns:a16="http://schemas.microsoft.com/office/drawing/2014/main" id="{32140372-B49D-1EFB-B44A-44C367CB4DF8}"/>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矩形 48">
                    <a:extLst>
                      <a:ext uri="{FF2B5EF4-FFF2-40B4-BE49-F238E27FC236}">
                        <a16:creationId xmlns:a16="http://schemas.microsoft.com/office/drawing/2014/main" id="{3A1524C3-E7DD-9F14-EB76-D0CAAF595D45}"/>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45" name="群組 44">
                  <a:extLst>
                    <a:ext uri="{FF2B5EF4-FFF2-40B4-BE49-F238E27FC236}">
                      <a16:creationId xmlns:a16="http://schemas.microsoft.com/office/drawing/2014/main" id="{53F52FE8-3DF4-EB64-F1E1-D6BC57EB81D8}"/>
                    </a:ext>
                  </a:extLst>
                </p:cNvPr>
                <p:cNvGrpSpPr/>
                <p:nvPr/>
              </p:nvGrpSpPr>
              <p:grpSpPr>
                <a:xfrm>
                  <a:off x="8913394" y="4682354"/>
                  <a:ext cx="382023" cy="1413646"/>
                  <a:chOff x="7755536" y="4682354"/>
                  <a:chExt cx="382023" cy="1413646"/>
                </a:xfrm>
              </p:grpSpPr>
              <p:sp>
                <p:nvSpPr>
                  <p:cNvPr id="46" name="矩形 45">
                    <a:extLst>
                      <a:ext uri="{FF2B5EF4-FFF2-40B4-BE49-F238E27FC236}">
                        <a16:creationId xmlns:a16="http://schemas.microsoft.com/office/drawing/2014/main" id="{CB4124E4-A88A-ADA6-90F7-0037F8EF7B4E}"/>
                      </a:ext>
                    </a:extLst>
                  </p:cNvPr>
                  <p:cNvSpPr/>
                  <p:nvPr/>
                </p:nvSpPr>
                <p:spPr>
                  <a:xfrm>
                    <a:off x="7755536" y="4682354"/>
                    <a:ext cx="191012" cy="141364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B04B4110-3A04-25BA-3349-84A741E508AC}"/>
                      </a:ext>
                    </a:extLst>
                  </p:cNvPr>
                  <p:cNvSpPr/>
                  <p:nvPr/>
                </p:nvSpPr>
                <p:spPr>
                  <a:xfrm>
                    <a:off x="7946547" y="4682354"/>
                    <a:ext cx="191012" cy="141364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sp>
            <p:nvSpPr>
              <p:cNvPr id="40" name="矩形 39">
                <a:extLst>
                  <a:ext uri="{FF2B5EF4-FFF2-40B4-BE49-F238E27FC236}">
                    <a16:creationId xmlns:a16="http://schemas.microsoft.com/office/drawing/2014/main" id="{367AB91E-CC9A-60DE-DD97-FDECCC8438B3}"/>
                  </a:ext>
                </a:extLst>
              </p:cNvPr>
              <p:cNvSpPr/>
              <p:nvPr/>
            </p:nvSpPr>
            <p:spPr>
              <a:xfrm>
                <a:off x="1560341" y="5172154"/>
                <a:ext cx="1575773" cy="262714"/>
              </a:xfrm>
              <a:prstGeom prst="rect">
                <a:avLst/>
              </a:prstGeom>
              <a:solidFill>
                <a:schemeClr val="bg2">
                  <a:alpha val="42000"/>
                </a:schemeClr>
              </a:solidFill>
              <a:ln>
                <a:noFill/>
              </a:ln>
              <a:effectLst>
                <a:glow rad="76200">
                  <a:schemeClr val="bg2">
                    <a:alpha val="77000"/>
                  </a:schemeClr>
                </a:glo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1" name="矩形 40">
                <a:extLst>
                  <a:ext uri="{FF2B5EF4-FFF2-40B4-BE49-F238E27FC236}">
                    <a16:creationId xmlns:a16="http://schemas.microsoft.com/office/drawing/2014/main" id="{E1885FDA-7436-B4C9-0A4A-740F480F9B6F}"/>
                  </a:ext>
                </a:extLst>
              </p:cNvPr>
              <p:cNvSpPr/>
              <p:nvPr/>
            </p:nvSpPr>
            <p:spPr>
              <a:xfrm>
                <a:off x="1554254" y="5982936"/>
                <a:ext cx="1591274" cy="223412"/>
              </a:xfrm>
              <a:prstGeom prst="rect">
                <a:avLst/>
              </a:prstGeom>
              <a:solidFill>
                <a:schemeClr val="bg1">
                  <a:lumMod val="50000"/>
                  <a:alpha val="34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54" name="箭號: 向右 53">
              <a:extLst>
                <a:ext uri="{FF2B5EF4-FFF2-40B4-BE49-F238E27FC236}">
                  <a16:creationId xmlns:a16="http://schemas.microsoft.com/office/drawing/2014/main" id="{E68B69E9-ED61-4EC3-89E1-17E101CB80D8}"/>
                </a:ext>
              </a:extLst>
            </p:cNvPr>
            <p:cNvSpPr/>
            <p:nvPr/>
          </p:nvSpPr>
          <p:spPr>
            <a:xfrm>
              <a:off x="1136186" y="3610662"/>
              <a:ext cx="750491" cy="275824"/>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5" name="箭號: 向右 54">
              <a:extLst>
                <a:ext uri="{FF2B5EF4-FFF2-40B4-BE49-F238E27FC236}">
                  <a16:creationId xmlns:a16="http://schemas.microsoft.com/office/drawing/2014/main" id="{2C44CBB0-3542-DCA9-0E17-97C761FDF918}"/>
                </a:ext>
              </a:extLst>
            </p:cNvPr>
            <p:cNvSpPr/>
            <p:nvPr/>
          </p:nvSpPr>
          <p:spPr>
            <a:xfrm>
              <a:off x="3519268" y="3575529"/>
              <a:ext cx="1050740" cy="304814"/>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56" name="群組 55">
              <a:extLst>
                <a:ext uri="{FF2B5EF4-FFF2-40B4-BE49-F238E27FC236}">
                  <a16:creationId xmlns:a16="http://schemas.microsoft.com/office/drawing/2014/main" id="{BD48DC1D-0CDF-D1E0-F898-CB00D054D4A8}"/>
                </a:ext>
              </a:extLst>
            </p:cNvPr>
            <p:cNvGrpSpPr/>
            <p:nvPr/>
          </p:nvGrpSpPr>
          <p:grpSpPr>
            <a:xfrm>
              <a:off x="2210507" y="3378595"/>
              <a:ext cx="291528" cy="666144"/>
              <a:chOff x="8147879" y="2874761"/>
              <a:chExt cx="320447" cy="747169"/>
            </a:xfrm>
          </p:grpSpPr>
          <p:cxnSp>
            <p:nvCxnSpPr>
              <p:cNvPr id="57" name="直線單箭頭接點 56">
                <a:extLst>
                  <a:ext uri="{FF2B5EF4-FFF2-40B4-BE49-F238E27FC236}">
                    <a16:creationId xmlns:a16="http://schemas.microsoft.com/office/drawing/2014/main" id="{3B7D72D5-5816-EEEE-118E-6083F02017D1}"/>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8" name="橢圓 57">
                <a:extLst>
                  <a:ext uri="{FF2B5EF4-FFF2-40B4-BE49-F238E27FC236}">
                    <a16:creationId xmlns:a16="http://schemas.microsoft.com/office/drawing/2014/main" id="{1E747FBB-1ED6-7EAE-2CA4-12BABDFBB326}"/>
                  </a:ext>
                </a:extLst>
              </p:cNvPr>
              <p:cNvSpPr/>
              <p:nvPr/>
            </p:nvSpPr>
            <p:spPr>
              <a:xfrm>
                <a:off x="8147879" y="3074007"/>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a:t>V</a:t>
                </a:r>
                <a:endParaRPr lang="zh-TW" altLang="en-US" sz="1400" dirty="0"/>
              </a:p>
            </p:txBody>
          </p:sp>
        </p:grpSp>
        <p:grpSp>
          <p:nvGrpSpPr>
            <p:cNvPr id="59" name="群組 58">
              <a:extLst>
                <a:ext uri="{FF2B5EF4-FFF2-40B4-BE49-F238E27FC236}">
                  <a16:creationId xmlns:a16="http://schemas.microsoft.com/office/drawing/2014/main" id="{23101D3A-A8C5-68C5-358A-39D414B6189C}"/>
                </a:ext>
              </a:extLst>
            </p:cNvPr>
            <p:cNvGrpSpPr/>
            <p:nvPr/>
          </p:nvGrpSpPr>
          <p:grpSpPr>
            <a:xfrm>
              <a:off x="3873301" y="2750157"/>
              <a:ext cx="308414" cy="743295"/>
              <a:chOff x="8147879" y="2874761"/>
              <a:chExt cx="320447" cy="747169"/>
            </a:xfrm>
          </p:grpSpPr>
          <p:cxnSp>
            <p:nvCxnSpPr>
              <p:cNvPr id="60" name="直線單箭頭接點 59">
                <a:extLst>
                  <a:ext uri="{FF2B5EF4-FFF2-40B4-BE49-F238E27FC236}">
                    <a16:creationId xmlns:a16="http://schemas.microsoft.com/office/drawing/2014/main" id="{BBC8AC70-41EA-3A71-BF67-3C23FBAE94EE}"/>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1" name="橢圓 60">
                <a:extLst>
                  <a:ext uri="{FF2B5EF4-FFF2-40B4-BE49-F238E27FC236}">
                    <a16:creationId xmlns:a16="http://schemas.microsoft.com/office/drawing/2014/main" id="{85173CCB-23E8-93E1-3260-0CB6C4C92A8D}"/>
                  </a:ext>
                </a:extLst>
              </p:cNvPr>
              <p:cNvSpPr/>
              <p:nvPr/>
            </p:nvSpPr>
            <p:spPr>
              <a:xfrm>
                <a:off x="8147879" y="3074008"/>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a:t>V</a:t>
                </a:r>
                <a:endParaRPr lang="zh-TW" altLang="en-US" sz="1400" dirty="0"/>
              </a:p>
            </p:txBody>
          </p:sp>
        </p:grpSp>
        <p:grpSp>
          <p:nvGrpSpPr>
            <p:cNvPr id="62" name="群組 61">
              <a:extLst>
                <a:ext uri="{FF2B5EF4-FFF2-40B4-BE49-F238E27FC236}">
                  <a16:creationId xmlns:a16="http://schemas.microsoft.com/office/drawing/2014/main" id="{0FDE246A-65BD-6D3B-D652-036B5B09AEDB}"/>
                </a:ext>
              </a:extLst>
            </p:cNvPr>
            <p:cNvGrpSpPr/>
            <p:nvPr/>
          </p:nvGrpSpPr>
          <p:grpSpPr>
            <a:xfrm>
              <a:off x="3860644" y="3932332"/>
              <a:ext cx="308414" cy="743295"/>
              <a:chOff x="8147879" y="2874761"/>
              <a:chExt cx="320447" cy="747169"/>
            </a:xfrm>
          </p:grpSpPr>
          <p:cxnSp>
            <p:nvCxnSpPr>
              <p:cNvPr id="63" name="直線單箭頭接點 62">
                <a:extLst>
                  <a:ext uri="{FF2B5EF4-FFF2-40B4-BE49-F238E27FC236}">
                    <a16:creationId xmlns:a16="http://schemas.microsoft.com/office/drawing/2014/main" id="{8D9F6EDD-4926-711D-4127-47A436B06AEF}"/>
                  </a:ext>
                </a:extLst>
              </p:cNvPr>
              <p:cNvCxnSpPr>
                <a:cxnSpLocks/>
              </p:cNvCxnSpPr>
              <p:nvPr/>
            </p:nvCxnSpPr>
            <p:spPr>
              <a:xfrm flipV="1">
                <a:off x="8303909" y="2874761"/>
                <a:ext cx="9414" cy="74716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4" name="橢圓 63">
                <a:extLst>
                  <a:ext uri="{FF2B5EF4-FFF2-40B4-BE49-F238E27FC236}">
                    <a16:creationId xmlns:a16="http://schemas.microsoft.com/office/drawing/2014/main" id="{4EB1F60F-5570-F886-6AC5-A3DD559C326C}"/>
                  </a:ext>
                </a:extLst>
              </p:cNvPr>
              <p:cNvSpPr/>
              <p:nvPr/>
            </p:nvSpPr>
            <p:spPr>
              <a:xfrm>
                <a:off x="8147879" y="3074008"/>
                <a:ext cx="320447" cy="3030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a:t>V</a:t>
                </a:r>
                <a:endParaRPr lang="zh-TW" altLang="en-US" sz="1400" dirty="0"/>
              </a:p>
            </p:txBody>
          </p:sp>
        </p:grpSp>
      </p:grpSp>
      <p:sp>
        <p:nvSpPr>
          <p:cNvPr id="16" name="文字方塊 15">
            <a:extLst>
              <a:ext uri="{FF2B5EF4-FFF2-40B4-BE49-F238E27FC236}">
                <a16:creationId xmlns:a16="http://schemas.microsoft.com/office/drawing/2014/main" id="{A9278F34-745C-9DB6-7986-82567EE08850}"/>
              </a:ext>
            </a:extLst>
          </p:cNvPr>
          <p:cNvSpPr txBox="1"/>
          <p:nvPr/>
        </p:nvSpPr>
        <p:spPr>
          <a:xfrm>
            <a:off x="5083254" y="1667076"/>
            <a:ext cx="1892762" cy="369332"/>
          </a:xfrm>
          <a:prstGeom prst="rect">
            <a:avLst/>
          </a:prstGeom>
          <a:noFill/>
        </p:spPr>
        <p:txBody>
          <a:bodyPr wrap="none" rtlCol="0">
            <a:spAutoFit/>
          </a:bodyPr>
          <a:lstStyle/>
          <a:p>
            <a:r>
              <a:rPr lang="en-US" altLang="zh-TW" dirty="0"/>
              <a:t>Energy conversion</a:t>
            </a:r>
            <a:endParaRPr lang="zh-TW" altLang="en-US" dirty="0"/>
          </a:p>
        </p:txBody>
      </p:sp>
      <p:sp>
        <p:nvSpPr>
          <p:cNvPr id="18" name="矩形: 圓角 17">
            <a:extLst>
              <a:ext uri="{FF2B5EF4-FFF2-40B4-BE49-F238E27FC236}">
                <a16:creationId xmlns:a16="http://schemas.microsoft.com/office/drawing/2014/main" id="{7AD20389-186C-DE1D-38D0-F586AFB9858C}"/>
              </a:ext>
            </a:extLst>
          </p:cNvPr>
          <p:cNvSpPr/>
          <p:nvPr/>
        </p:nvSpPr>
        <p:spPr>
          <a:xfrm>
            <a:off x="1746558" y="2521218"/>
            <a:ext cx="1499616" cy="1043567"/>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ysClr val="windowText" lastClr="000000"/>
                </a:solidFill>
              </a:rPr>
              <a:t>SHG</a:t>
            </a:r>
            <a:endParaRPr lang="zh-TW" altLang="en-US" dirty="0">
              <a:solidFill>
                <a:sysClr val="windowText" lastClr="000000"/>
              </a:solidFill>
            </a:endParaRPr>
          </a:p>
        </p:txBody>
      </p:sp>
      <p:sp>
        <p:nvSpPr>
          <p:cNvPr id="22" name="箭號: 向右 21">
            <a:extLst>
              <a:ext uri="{FF2B5EF4-FFF2-40B4-BE49-F238E27FC236}">
                <a16:creationId xmlns:a16="http://schemas.microsoft.com/office/drawing/2014/main" id="{EE00D667-A60F-EE0E-025E-CB51EC27F937}"/>
              </a:ext>
            </a:extLst>
          </p:cNvPr>
          <p:cNvSpPr/>
          <p:nvPr/>
        </p:nvSpPr>
        <p:spPr>
          <a:xfrm>
            <a:off x="3246174" y="2854737"/>
            <a:ext cx="1138881" cy="375138"/>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391CBD97-4E38-AE0E-F794-57E9745B50EA}"/>
                  </a:ext>
                </a:extLst>
              </p:cNvPr>
              <p:cNvSpPr txBox="1"/>
              <p:nvPr/>
            </p:nvSpPr>
            <p:spPr>
              <a:xfrm>
                <a:off x="3554533" y="2475317"/>
                <a:ext cx="434991" cy="362984"/>
              </a:xfrm>
              <a:prstGeom prst="rect">
                <a:avLst/>
              </a:prstGeom>
              <a:noFill/>
            </p:spPr>
            <p:txBody>
              <a:bodyPr wrap="square" rtlCol="0">
                <a:spAutoFit/>
              </a:bodyPr>
              <a:lstStyle/>
              <a:p>
                <a14:m>
                  <m:oMath xmlns:m="http://schemas.openxmlformats.org/officeDocument/2006/math">
                    <m:r>
                      <a:rPr lang="zh-TW" altLang="en-US" i="1" dirty="0" smtClean="0">
                        <a:latin typeface="Cambria Math" panose="02040503050406030204" pitchFamily="18" charset="0"/>
                      </a:rPr>
                      <m:t>𝜔</m:t>
                    </m:r>
                  </m:oMath>
                </a14:m>
                <a:r>
                  <a:rPr lang="en-US" altLang="zh-TW" baseline="-25000" dirty="0"/>
                  <a:t>3</a:t>
                </a:r>
                <a:endParaRPr lang="zh-TW" altLang="en-US" baseline="-25000" dirty="0"/>
              </a:p>
            </p:txBody>
          </p:sp>
        </mc:Choice>
        <mc:Fallback xmlns="">
          <p:sp>
            <p:nvSpPr>
              <p:cNvPr id="24" name="文字方塊 23">
                <a:extLst>
                  <a:ext uri="{FF2B5EF4-FFF2-40B4-BE49-F238E27FC236}">
                    <a16:creationId xmlns:a16="http://schemas.microsoft.com/office/drawing/2014/main" id="{391CBD97-4E38-AE0E-F794-57E9745B50EA}"/>
                  </a:ext>
                </a:extLst>
              </p:cNvPr>
              <p:cNvSpPr txBox="1">
                <a:spLocks noRot="1" noChangeAspect="1" noMove="1" noResize="1" noEditPoints="1" noAdjustHandles="1" noChangeArrowheads="1" noChangeShapeType="1" noTextEdit="1"/>
              </p:cNvSpPr>
              <p:nvPr/>
            </p:nvSpPr>
            <p:spPr>
              <a:xfrm>
                <a:off x="3554533" y="2475317"/>
                <a:ext cx="434991" cy="362984"/>
              </a:xfrm>
              <a:prstGeom prst="rect">
                <a:avLst/>
              </a:prstGeom>
              <a:blipFill>
                <a:blip r:embed="rId4"/>
                <a:stretch>
                  <a:fillRect r="-1408" b="-23333"/>
                </a:stretch>
              </a:blipFill>
            </p:spPr>
            <p:txBody>
              <a:bodyPr/>
              <a:lstStyle/>
              <a:p>
                <a:r>
                  <a:rPr lang="zh-TW" altLang="en-US">
                    <a:noFill/>
                  </a:rPr>
                  <a:t> </a:t>
                </a:r>
              </a:p>
            </p:txBody>
          </p:sp>
        </mc:Fallback>
      </mc:AlternateContent>
      <p:sp>
        <p:nvSpPr>
          <p:cNvPr id="25" name="箭號: 向右 24">
            <a:extLst>
              <a:ext uri="{FF2B5EF4-FFF2-40B4-BE49-F238E27FC236}">
                <a16:creationId xmlns:a16="http://schemas.microsoft.com/office/drawing/2014/main" id="{21A0AFC8-ED96-4465-9FAF-4C1761DC00CF}"/>
              </a:ext>
            </a:extLst>
          </p:cNvPr>
          <p:cNvSpPr/>
          <p:nvPr/>
        </p:nvSpPr>
        <p:spPr>
          <a:xfrm>
            <a:off x="602054" y="2724353"/>
            <a:ext cx="1144504" cy="163016"/>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B2A9D771-0229-0C4F-E671-6915609E2351}"/>
                  </a:ext>
                </a:extLst>
              </p:cNvPr>
              <p:cNvSpPr txBox="1"/>
              <p:nvPr/>
            </p:nvSpPr>
            <p:spPr>
              <a:xfrm>
                <a:off x="953998" y="2373680"/>
                <a:ext cx="434991" cy="362984"/>
              </a:xfrm>
              <a:prstGeom prst="rect">
                <a:avLst/>
              </a:prstGeom>
              <a:noFill/>
            </p:spPr>
            <p:txBody>
              <a:bodyPr wrap="none" rtlCol="0">
                <a:spAutoFit/>
              </a:bodyPr>
              <a:lstStyle/>
              <a:p>
                <a14:m>
                  <m:oMath xmlns:m="http://schemas.openxmlformats.org/officeDocument/2006/math">
                    <m:r>
                      <a:rPr lang="zh-TW" altLang="en-US" i="1" dirty="0" smtClean="0">
                        <a:latin typeface="Cambria Math" panose="02040503050406030204" pitchFamily="18" charset="0"/>
                      </a:rPr>
                      <m:t>𝜔</m:t>
                    </m:r>
                  </m:oMath>
                </a14:m>
                <a:r>
                  <a:rPr lang="en-US" altLang="zh-TW" baseline="-25000" dirty="0"/>
                  <a:t>1</a:t>
                </a:r>
                <a:endParaRPr lang="zh-TW" altLang="en-US" baseline="-25000" dirty="0"/>
              </a:p>
            </p:txBody>
          </p:sp>
        </mc:Choice>
        <mc:Fallback xmlns="">
          <p:sp>
            <p:nvSpPr>
              <p:cNvPr id="26" name="文字方塊 25">
                <a:extLst>
                  <a:ext uri="{FF2B5EF4-FFF2-40B4-BE49-F238E27FC236}">
                    <a16:creationId xmlns:a16="http://schemas.microsoft.com/office/drawing/2014/main" id="{B2A9D771-0229-0C4F-E671-6915609E2351}"/>
                  </a:ext>
                </a:extLst>
              </p:cNvPr>
              <p:cNvSpPr txBox="1">
                <a:spLocks noRot="1" noChangeAspect="1" noMove="1" noResize="1" noEditPoints="1" noAdjustHandles="1" noChangeArrowheads="1" noChangeShapeType="1" noTextEdit="1"/>
              </p:cNvSpPr>
              <p:nvPr/>
            </p:nvSpPr>
            <p:spPr>
              <a:xfrm>
                <a:off x="953998" y="2373680"/>
                <a:ext cx="434991" cy="362984"/>
              </a:xfrm>
              <a:prstGeom prst="rect">
                <a:avLst/>
              </a:prstGeom>
              <a:blipFill>
                <a:blip r:embed="rId5"/>
                <a:stretch>
                  <a:fillRect b="-23333"/>
                </a:stretch>
              </a:blipFill>
            </p:spPr>
            <p:txBody>
              <a:bodyPr/>
              <a:lstStyle/>
              <a:p>
                <a:r>
                  <a:rPr lang="zh-TW" altLang="en-US">
                    <a:noFill/>
                  </a:rPr>
                  <a:t> </a:t>
                </a:r>
              </a:p>
            </p:txBody>
          </p:sp>
        </mc:Fallback>
      </mc:AlternateContent>
      <p:sp>
        <p:nvSpPr>
          <p:cNvPr id="27" name="箭號: 向右 26">
            <a:extLst>
              <a:ext uri="{FF2B5EF4-FFF2-40B4-BE49-F238E27FC236}">
                <a16:creationId xmlns:a16="http://schemas.microsoft.com/office/drawing/2014/main" id="{B355B1B9-7CB4-33E9-99A9-72885250D392}"/>
              </a:ext>
            </a:extLst>
          </p:cNvPr>
          <p:cNvSpPr/>
          <p:nvPr/>
        </p:nvSpPr>
        <p:spPr>
          <a:xfrm>
            <a:off x="602054" y="3205981"/>
            <a:ext cx="1144504" cy="163017"/>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E20C5A2F-20E1-5264-FED2-5B12128720FE}"/>
                  </a:ext>
                </a:extLst>
              </p:cNvPr>
              <p:cNvSpPr txBox="1"/>
              <p:nvPr/>
            </p:nvSpPr>
            <p:spPr>
              <a:xfrm>
                <a:off x="939421" y="2903477"/>
                <a:ext cx="434991" cy="362984"/>
              </a:xfrm>
              <a:prstGeom prst="rect">
                <a:avLst/>
              </a:prstGeom>
              <a:noFill/>
            </p:spPr>
            <p:txBody>
              <a:bodyPr wrap="none" rtlCol="0">
                <a:spAutoFit/>
              </a:bodyPr>
              <a:lstStyle/>
              <a:p>
                <a14:m>
                  <m:oMath xmlns:m="http://schemas.openxmlformats.org/officeDocument/2006/math">
                    <m:r>
                      <a:rPr lang="zh-TW" altLang="en-US" i="1" dirty="0" smtClean="0">
                        <a:latin typeface="Cambria Math" panose="02040503050406030204" pitchFamily="18" charset="0"/>
                      </a:rPr>
                      <m:t>𝜔</m:t>
                    </m:r>
                  </m:oMath>
                </a14:m>
                <a:r>
                  <a:rPr lang="en-US" altLang="zh-TW" baseline="-25000" dirty="0"/>
                  <a:t>1</a:t>
                </a:r>
                <a:endParaRPr lang="zh-TW" altLang="en-US" baseline="-25000" dirty="0"/>
              </a:p>
            </p:txBody>
          </p:sp>
        </mc:Choice>
        <mc:Fallback xmlns="">
          <p:sp>
            <p:nvSpPr>
              <p:cNvPr id="28" name="文字方塊 27">
                <a:extLst>
                  <a:ext uri="{FF2B5EF4-FFF2-40B4-BE49-F238E27FC236}">
                    <a16:creationId xmlns:a16="http://schemas.microsoft.com/office/drawing/2014/main" id="{E20C5A2F-20E1-5264-FED2-5B12128720FE}"/>
                  </a:ext>
                </a:extLst>
              </p:cNvPr>
              <p:cNvSpPr txBox="1">
                <a:spLocks noRot="1" noChangeAspect="1" noMove="1" noResize="1" noEditPoints="1" noAdjustHandles="1" noChangeArrowheads="1" noChangeShapeType="1" noTextEdit="1"/>
              </p:cNvSpPr>
              <p:nvPr/>
            </p:nvSpPr>
            <p:spPr>
              <a:xfrm>
                <a:off x="939421" y="2903477"/>
                <a:ext cx="434991" cy="362984"/>
              </a:xfrm>
              <a:prstGeom prst="rect">
                <a:avLst/>
              </a:prstGeom>
              <a:blipFill>
                <a:blip r:embed="rId6"/>
                <a:stretch>
                  <a:fillRect r="-1408" b="-23333"/>
                </a:stretch>
              </a:blipFill>
            </p:spPr>
            <p:txBody>
              <a:bodyPr/>
              <a:lstStyle/>
              <a:p>
                <a:r>
                  <a:rPr lang="zh-TW" altLang="en-US">
                    <a:noFill/>
                  </a:rPr>
                  <a:t> </a:t>
                </a:r>
              </a:p>
            </p:txBody>
          </p:sp>
        </mc:Fallback>
      </mc:AlternateContent>
      <p:sp>
        <p:nvSpPr>
          <p:cNvPr id="31" name="矩形: 圓角 30">
            <a:extLst>
              <a:ext uri="{FF2B5EF4-FFF2-40B4-BE49-F238E27FC236}">
                <a16:creationId xmlns:a16="http://schemas.microsoft.com/office/drawing/2014/main" id="{DA9E6BA5-6A40-7E49-A2D9-DB6AC2B10629}"/>
              </a:ext>
            </a:extLst>
          </p:cNvPr>
          <p:cNvSpPr/>
          <p:nvPr/>
        </p:nvSpPr>
        <p:spPr>
          <a:xfrm>
            <a:off x="1746558" y="4731855"/>
            <a:ext cx="1499616" cy="1043567"/>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ysClr val="windowText" lastClr="000000"/>
                </a:solidFill>
              </a:rPr>
              <a:t>SPDC</a:t>
            </a:r>
            <a:endParaRPr lang="zh-TW" altLang="en-US" dirty="0">
              <a:solidFill>
                <a:sysClr val="windowText" lastClr="000000"/>
              </a:solidFill>
            </a:endParaRPr>
          </a:p>
        </p:txBody>
      </p:sp>
      <p:sp>
        <p:nvSpPr>
          <p:cNvPr id="32" name="箭號: 向右 31">
            <a:extLst>
              <a:ext uri="{FF2B5EF4-FFF2-40B4-BE49-F238E27FC236}">
                <a16:creationId xmlns:a16="http://schemas.microsoft.com/office/drawing/2014/main" id="{40C818BB-64BA-A0A9-4921-EF9D71E65F93}"/>
              </a:ext>
            </a:extLst>
          </p:cNvPr>
          <p:cNvSpPr/>
          <p:nvPr/>
        </p:nvSpPr>
        <p:spPr>
          <a:xfrm>
            <a:off x="602054" y="5005084"/>
            <a:ext cx="1138881" cy="375138"/>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18A9B071-B170-7FAB-233E-6B239BA0FF5E}"/>
                  </a:ext>
                </a:extLst>
              </p:cNvPr>
              <p:cNvSpPr txBox="1"/>
              <p:nvPr/>
            </p:nvSpPr>
            <p:spPr>
              <a:xfrm>
                <a:off x="910413" y="4625664"/>
                <a:ext cx="434991" cy="362984"/>
              </a:xfrm>
              <a:prstGeom prst="rect">
                <a:avLst/>
              </a:prstGeom>
              <a:noFill/>
            </p:spPr>
            <p:txBody>
              <a:bodyPr wrap="square" rtlCol="0">
                <a:spAutoFit/>
              </a:bodyPr>
              <a:lstStyle/>
              <a:p>
                <a14:m>
                  <m:oMath xmlns:m="http://schemas.openxmlformats.org/officeDocument/2006/math">
                    <m:r>
                      <a:rPr lang="zh-TW" altLang="en-US" i="1" dirty="0" smtClean="0">
                        <a:latin typeface="Cambria Math" panose="02040503050406030204" pitchFamily="18" charset="0"/>
                      </a:rPr>
                      <m:t>𝜔</m:t>
                    </m:r>
                  </m:oMath>
                </a14:m>
                <a:r>
                  <a:rPr lang="en-US" altLang="zh-TW" baseline="-25000" dirty="0"/>
                  <a:t>p</a:t>
                </a:r>
                <a:endParaRPr lang="zh-TW" altLang="en-US" baseline="-25000" dirty="0"/>
              </a:p>
            </p:txBody>
          </p:sp>
        </mc:Choice>
        <mc:Fallback xmlns="">
          <p:sp>
            <p:nvSpPr>
              <p:cNvPr id="33" name="文字方塊 32">
                <a:extLst>
                  <a:ext uri="{FF2B5EF4-FFF2-40B4-BE49-F238E27FC236}">
                    <a16:creationId xmlns:a16="http://schemas.microsoft.com/office/drawing/2014/main" id="{18A9B071-B170-7FAB-233E-6B239BA0FF5E}"/>
                  </a:ext>
                </a:extLst>
              </p:cNvPr>
              <p:cNvSpPr txBox="1">
                <a:spLocks noRot="1" noChangeAspect="1" noMove="1" noResize="1" noEditPoints="1" noAdjustHandles="1" noChangeArrowheads="1" noChangeShapeType="1" noTextEdit="1"/>
              </p:cNvSpPr>
              <p:nvPr/>
            </p:nvSpPr>
            <p:spPr>
              <a:xfrm>
                <a:off x="910413" y="4625664"/>
                <a:ext cx="434991" cy="362984"/>
              </a:xfrm>
              <a:prstGeom prst="rect">
                <a:avLst/>
              </a:prstGeom>
              <a:blipFill>
                <a:blip r:embed="rId7"/>
                <a:stretch>
                  <a:fillRect b="-254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5" name="文字方塊 34">
                <a:extLst>
                  <a:ext uri="{FF2B5EF4-FFF2-40B4-BE49-F238E27FC236}">
                    <a16:creationId xmlns:a16="http://schemas.microsoft.com/office/drawing/2014/main" id="{406A61FD-A7D2-88F0-7678-52C30F701BA9}"/>
                  </a:ext>
                </a:extLst>
              </p:cNvPr>
              <p:cNvSpPr txBox="1"/>
              <p:nvPr/>
            </p:nvSpPr>
            <p:spPr>
              <a:xfrm>
                <a:off x="3597814" y="4542181"/>
                <a:ext cx="417358" cy="362984"/>
              </a:xfrm>
              <a:prstGeom prst="rect">
                <a:avLst/>
              </a:prstGeom>
              <a:noFill/>
            </p:spPr>
            <p:txBody>
              <a:bodyPr wrap="none" rtlCol="0">
                <a:spAutoFit/>
              </a:bodyPr>
              <a:lstStyle/>
              <a:p>
                <a14:m>
                  <m:oMath xmlns:m="http://schemas.openxmlformats.org/officeDocument/2006/math">
                    <m:r>
                      <a:rPr lang="zh-TW" altLang="en-US" i="1" dirty="0" smtClean="0">
                        <a:latin typeface="Cambria Math" panose="02040503050406030204" pitchFamily="18" charset="0"/>
                      </a:rPr>
                      <m:t>𝜔</m:t>
                    </m:r>
                  </m:oMath>
                </a14:m>
                <a:r>
                  <a:rPr lang="en-US" altLang="zh-TW" baseline="-25000" dirty="0"/>
                  <a:t>s</a:t>
                </a:r>
                <a:endParaRPr lang="zh-TW" altLang="en-US" baseline="-25000" dirty="0"/>
              </a:p>
            </p:txBody>
          </p:sp>
        </mc:Choice>
        <mc:Fallback xmlns="">
          <p:sp>
            <p:nvSpPr>
              <p:cNvPr id="35" name="文字方塊 34">
                <a:extLst>
                  <a:ext uri="{FF2B5EF4-FFF2-40B4-BE49-F238E27FC236}">
                    <a16:creationId xmlns:a16="http://schemas.microsoft.com/office/drawing/2014/main" id="{406A61FD-A7D2-88F0-7678-52C30F701BA9}"/>
                  </a:ext>
                </a:extLst>
              </p:cNvPr>
              <p:cNvSpPr txBox="1">
                <a:spLocks noRot="1" noChangeAspect="1" noMove="1" noResize="1" noEditPoints="1" noAdjustHandles="1" noChangeArrowheads="1" noChangeShapeType="1" noTextEdit="1"/>
              </p:cNvSpPr>
              <p:nvPr/>
            </p:nvSpPr>
            <p:spPr>
              <a:xfrm>
                <a:off x="3597814" y="4542181"/>
                <a:ext cx="417358" cy="362984"/>
              </a:xfrm>
              <a:prstGeom prst="rect">
                <a:avLst/>
              </a:prstGeom>
              <a:blipFill>
                <a:blip r:embed="rId8"/>
                <a:stretch>
                  <a:fillRect b="-23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3936F81C-5BF6-D7A3-4FFB-46D103CD2437}"/>
                  </a:ext>
                </a:extLst>
              </p:cNvPr>
              <p:cNvSpPr txBox="1"/>
              <p:nvPr/>
            </p:nvSpPr>
            <p:spPr>
              <a:xfrm>
                <a:off x="3597814" y="5061610"/>
                <a:ext cx="391710" cy="362984"/>
              </a:xfrm>
              <a:prstGeom prst="rect">
                <a:avLst/>
              </a:prstGeom>
              <a:noFill/>
            </p:spPr>
            <p:txBody>
              <a:bodyPr wrap="none" rtlCol="0">
                <a:spAutoFit/>
              </a:bodyPr>
              <a:lstStyle/>
              <a:p>
                <a14:m>
                  <m:oMath xmlns:m="http://schemas.openxmlformats.org/officeDocument/2006/math">
                    <m:r>
                      <a:rPr lang="zh-TW" altLang="en-US" i="1" dirty="0" smtClean="0">
                        <a:latin typeface="Cambria Math" panose="02040503050406030204" pitchFamily="18" charset="0"/>
                      </a:rPr>
                      <m:t>𝜔</m:t>
                    </m:r>
                  </m:oMath>
                </a14:m>
                <a:r>
                  <a:rPr lang="en-US" altLang="zh-TW" baseline="-25000" dirty="0"/>
                  <a:t>i</a:t>
                </a:r>
                <a:endParaRPr lang="zh-TW" altLang="en-US" baseline="-25000" dirty="0"/>
              </a:p>
            </p:txBody>
          </p:sp>
        </mc:Choice>
        <mc:Fallback xmlns="">
          <p:sp>
            <p:nvSpPr>
              <p:cNvPr id="37" name="文字方塊 36">
                <a:extLst>
                  <a:ext uri="{FF2B5EF4-FFF2-40B4-BE49-F238E27FC236}">
                    <a16:creationId xmlns:a16="http://schemas.microsoft.com/office/drawing/2014/main" id="{3936F81C-5BF6-D7A3-4FFB-46D103CD2437}"/>
                  </a:ext>
                </a:extLst>
              </p:cNvPr>
              <p:cNvSpPr txBox="1">
                <a:spLocks noRot="1" noChangeAspect="1" noMove="1" noResize="1" noEditPoints="1" noAdjustHandles="1" noChangeArrowheads="1" noChangeShapeType="1" noTextEdit="1"/>
              </p:cNvSpPr>
              <p:nvPr/>
            </p:nvSpPr>
            <p:spPr>
              <a:xfrm>
                <a:off x="3597814" y="5061610"/>
                <a:ext cx="391710" cy="362984"/>
              </a:xfrm>
              <a:prstGeom prst="rect">
                <a:avLst/>
              </a:prstGeom>
              <a:blipFill>
                <a:blip r:embed="rId9"/>
                <a:stretch>
                  <a:fillRect r="-1563" b="-23333"/>
                </a:stretch>
              </a:blipFill>
            </p:spPr>
            <p:txBody>
              <a:bodyPr/>
              <a:lstStyle/>
              <a:p>
                <a:r>
                  <a:rPr lang="zh-TW" altLang="en-US">
                    <a:noFill/>
                  </a:rPr>
                  <a:t> </a:t>
                </a:r>
              </a:p>
            </p:txBody>
          </p:sp>
        </mc:Fallback>
      </mc:AlternateContent>
      <p:sp>
        <p:nvSpPr>
          <p:cNvPr id="66" name="箭號: 向右 65">
            <a:extLst>
              <a:ext uri="{FF2B5EF4-FFF2-40B4-BE49-F238E27FC236}">
                <a16:creationId xmlns:a16="http://schemas.microsoft.com/office/drawing/2014/main" id="{EC01969C-7569-3C95-AE17-D9C9C9ACDE22}"/>
              </a:ext>
            </a:extLst>
          </p:cNvPr>
          <p:cNvSpPr/>
          <p:nvPr/>
        </p:nvSpPr>
        <p:spPr>
          <a:xfrm>
            <a:off x="3257173" y="4898594"/>
            <a:ext cx="1144504" cy="163016"/>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7" name="箭號: 向右 66">
            <a:extLst>
              <a:ext uri="{FF2B5EF4-FFF2-40B4-BE49-F238E27FC236}">
                <a16:creationId xmlns:a16="http://schemas.microsoft.com/office/drawing/2014/main" id="{29EEE9B4-25E2-A19C-B1BD-EA2D00CFA1E6}"/>
              </a:ext>
            </a:extLst>
          </p:cNvPr>
          <p:cNvSpPr/>
          <p:nvPr/>
        </p:nvSpPr>
        <p:spPr>
          <a:xfrm>
            <a:off x="3257173" y="5380222"/>
            <a:ext cx="1144504" cy="163017"/>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4" name="箭號: 上-下雙向 83">
            <a:extLst>
              <a:ext uri="{FF2B5EF4-FFF2-40B4-BE49-F238E27FC236}">
                <a16:creationId xmlns:a16="http://schemas.microsoft.com/office/drawing/2014/main" id="{02D1B543-C0D5-A2BC-5D13-7D631A7AE675}"/>
              </a:ext>
            </a:extLst>
          </p:cNvPr>
          <p:cNvSpPr/>
          <p:nvPr/>
        </p:nvSpPr>
        <p:spPr>
          <a:xfrm>
            <a:off x="2298562" y="3621770"/>
            <a:ext cx="434991" cy="990811"/>
          </a:xfrm>
          <a:prstGeom prst="up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946AEF55-5277-7C44-1EC2-DE1DDEF3D24D}"/>
                  </a:ext>
                </a:extLst>
              </p:cNvPr>
              <p:cNvSpPr txBox="1"/>
              <p:nvPr/>
            </p:nvSpPr>
            <p:spPr>
              <a:xfrm>
                <a:off x="3554533" y="4175912"/>
                <a:ext cx="739818" cy="369332"/>
              </a:xfrm>
              <a:prstGeom prst="rect">
                <a:avLst/>
              </a:prstGeom>
              <a:noFill/>
            </p:spPr>
            <p:txBody>
              <a:bodyPr wrap="none" rtlCol="0">
                <a:spAutoFit/>
              </a:bodyPr>
              <a:lstStyle/>
              <a:p>
                <a14:m>
                  <m:oMath xmlns:m="http://schemas.openxmlformats.org/officeDocument/2006/math">
                    <m:r>
                      <a:rPr lang="zh-TW" altLang="en-US" i="1" dirty="0" smtClean="0">
                        <a:latin typeface="Cambria Math" panose="02040503050406030204" pitchFamily="18" charset="0"/>
                      </a:rPr>
                      <m:t>𝜔</m:t>
                    </m:r>
                  </m:oMath>
                </a14:m>
                <a:r>
                  <a:rPr lang="en-US" altLang="zh-TW" baseline="-25000" dirty="0"/>
                  <a:t>s</a:t>
                </a:r>
                <a:r>
                  <a:rPr lang="en-US" altLang="zh-TW" dirty="0"/>
                  <a:t>=</a:t>
                </a:r>
                <a14:m>
                  <m:oMath xmlns:m="http://schemas.openxmlformats.org/officeDocument/2006/math">
                    <m:r>
                      <a:rPr lang="zh-TW" altLang="en-US" i="1" dirty="0">
                        <a:latin typeface="Cambria Math" panose="02040503050406030204" pitchFamily="18" charset="0"/>
                      </a:rPr>
                      <m:t>𝜔</m:t>
                    </m:r>
                  </m:oMath>
                </a14:m>
                <a:r>
                  <a:rPr lang="en-US" altLang="zh-TW" baseline="-25000" dirty="0"/>
                  <a:t>i</a:t>
                </a:r>
                <a:endParaRPr lang="zh-TW" altLang="en-US" baseline="-25000" dirty="0"/>
              </a:p>
            </p:txBody>
          </p:sp>
        </mc:Choice>
        <mc:Fallback xmlns="">
          <p:sp>
            <p:nvSpPr>
              <p:cNvPr id="6" name="文字方塊 5">
                <a:extLst>
                  <a:ext uri="{FF2B5EF4-FFF2-40B4-BE49-F238E27FC236}">
                    <a16:creationId xmlns:a16="http://schemas.microsoft.com/office/drawing/2014/main" id="{946AEF55-5277-7C44-1EC2-DE1DDEF3D24D}"/>
                  </a:ext>
                </a:extLst>
              </p:cNvPr>
              <p:cNvSpPr txBox="1">
                <a:spLocks noRot="1" noChangeAspect="1" noMove="1" noResize="1" noEditPoints="1" noAdjustHandles="1" noChangeArrowheads="1" noChangeShapeType="1" noTextEdit="1"/>
              </p:cNvSpPr>
              <p:nvPr/>
            </p:nvSpPr>
            <p:spPr>
              <a:xfrm>
                <a:off x="3554533" y="4175912"/>
                <a:ext cx="739818" cy="369332"/>
              </a:xfrm>
              <a:prstGeom prst="rect">
                <a:avLst/>
              </a:prstGeom>
              <a:blipFill>
                <a:blip r:embed="rId10"/>
                <a:stretch>
                  <a:fillRect t="-8197" r="-826" b="-24590"/>
                </a:stretch>
              </a:blipFill>
            </p:spPr>
            <p:txBody>
              <a:bodyPr/>
              <a:lstStyle/>
              <a:p>
                <a:r>
                  <a:rPr lang="zh-TW" altLang="en-US">
                    <a:noFill/>
                  </a:rPr>
                  <a:t> </a:t>
                </a:r>
              </a:p>
            </p:txBody>
          </p:sp>
        </mc:Fallback>
      </mc:AlternateContent>
      <p:grpSp>
        <p:nvGrpSpPr>
          <p:cNvPr id="72" name="群組 71">
            <a:extLst>
              <a:ext uri="{FF2B5EF4-FFF2-40B4-BE49-F238E27FC236}">
                <a16:creationId xmlns:a16="http://schemas.microsoft.com/office/drawing/2014/main" id="{8764303E-D6EF-F783-19DB-EF488D57E6F0}"/>
              </a:ext>
            </a:extLst>
          </p:cNvPr>
          <p:cNvGrpSpPr/>
          <p:nvPr/>
        </p:nvGrpSpPr>
        <p:grpSpPr>
          <a:xfrm>
            <a:off x="5204167" y="2211044"/>
            <a:ext cx="2479812" cy="1964868"/>
            <a:chOff x="5270532" y="2180873"/>
            <a:chExt cx="2479812" cy="1964868"/>
          </a:xfrm>
        </p:grpSpPr>
        <p:pic>
          <p:nvPicPr>
            <p:cNvPr id="13" name="圖片 12">
              <a:extLst>
                <a:ext uri="{FF2B5EF4-FFF2-40B4-BE49-F238E27FC236}">
                  <a16:creationId xmlns:a16="http://schemas.microsoft.com/office/drawing/2014/main" id="{A902C678-8791-E20B-2BAE-717058AB38C8}"/>
                </a:ext>
              </a:extLst>
            </p:cNvPr>
            <p:cNvPicPr>
              <a:picLocks noChangeAspect="1"/>
            </p:cNvPicPr>
            <p:nvPr/>
          </p:nvPicPr>
          <p:blipFill>
            <a:blip r:embed="rId11"/>
            <a:stretch>
              <a:fillRect/>
            </a:stretch>
          </p:blipFill>
          <p:spPr>
            <a:xfrm>
              <a:off x="5270532" y="2435635"/>
              <a:ext cx="1901801" cy="1480349"/>
            </a:xfrm>
            <a:prstGeom prst="rect">
              <a:avLst/>
            </a:prstGeom>
          </p:spPr>
        </p:pic>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30DCCD10-0636-9394-7260-B1EA2C112B22}"/>
                    </a:ext>
                  </a:extLst>
                </p:cNvPr>
                <p:cNvSpPr txBox="1"/>
                <p:nvPr/>
              </p:nvSpPr>
              <p:spPr>
                <a:xfrm>
                  <a:off x="5433181" y="2180873"/>
                  <a:ext cx="571247" cy="362984"/>
                </a:xfrm>
                <a:prstGeom prst="rect">
                  <a:avLst/>
                </a:prstGeom>
                <a:noFill/>
              </p:spPr>
              <p:txBody>
                <a:bodyPr wrap="none" rtlCol="0">
                  <a:spAutoFit/>
                </a:bodyPr>
                <a:lstStyle/>
                <a:p>
                  <a14:m>
                    <m:oMath xmlns:m="http://schemas.openxmlformats.org/officeDocument/2006/math">
                      <m:r>
                        <a:rPr lang="en-US" altLang="zh-TW" i="1" dirty="0" smtClean="0">
                          <a:latin typeface="Cambria Math" panose="02040503050406030204" pitchFamily="18" charset="0"/>
                          <a:ea typeface="Cambria Math" panose="02040503050406030204" pitchFamily="18" charset="0"/>
                        </a:rPr>
                        <m:t>ℏ</m:t>
                      </m:r>
                      <m:r>
                        <a:rPr lang="zh-TW" altLang="en-US" i="1" dirty="0" smtClean="0">
                          <a:latin typeface="Cambria Math" panose="02040503050406030204" pitchFamily="18" charset="0"/>
                        </a:rPr>
                        <m:t>𝜔</m:t>
                      </m:r>
                    </m:oMath>
                  </a14:m>
                  <a:r>
                    <a:rPr lang="en-US" altLang="zh-TW" baseline="-25000" dirty="0"/>
                    <a:t>1</a:t>
                  </a:r>
                  <a:endParaRPr lang="zh-TW" altLang="en-US" baseline="-25000" dirty="0"/>
                </a:p>
              </p:txBody>
            </p:sp>
          </mc:Choice>
          <mc:Fallback xmlns="">
            <p:sp>
              <p:nvSpPr>
                <p:cNvPr id="14" name="文字方塊 13">
                  <a:extLst>
                    <a:ext uri="{FF2B5EF4-FFF2-40B4-BE49-F238E27FC236}">
                      <a16:creationId xmlns:a16="http://schemas.microsoft.com/office/drawing/2014/main" id="{30DCCD10-0636-9394-7260-B1EA2C112B22}"/>
                    </a:ext>
                  </a:extLst>
                </p:cNvPr>
                <p:cNvSpPr txBox="1">
                  <a:spLocks noRot="1" noChangeAspect="1" noMove="1" noResize="1" noEditPoints="1" noAdjustHandles="1" noChangeArrowheads="1" noChangeShapeType="1" noTextEdit="1"/>
                </p:cNvSpPr>
                <p:nvPr/>
              </p:nvSpPr>
              <p:spPr>
                <a:xfrm>
                  <a:off x="5433181" y="2180873"/>
                  <a:ext cx="571247" cy="362984"/>
                </a:xfrm>
                <a:prstGeom prst="rect">
                  <a:avLst/>
                </a:prstGeom>
                <a:blipFill>
                  <a:blip r:embed="rId12"/>
                  <a:stretch>
                    <a:fillRect b="-254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D3916FBE-F2B4-29DB-66BE-A73E4F9C81DE}"/>
                    </a:ext>
                  </a:extLst>
                </p:cNvPr>
                <p:cNvSpPr txBox="1"/>
                <p:nvPr/>
              </p:nvSpPr>
              <p:spPr>
                <a:xfrm>
                  <a:off x="5433180" y="3782757"/>
                  <a:ext cx="571247" cy="362984"/>
                </a:xfrm>
                <a:prstGeom prst="rect">
                  <a:avLst/>
                </a:prstGeom>
                <a:noFill/>
              </p:spPr>
              <p:txBody>
                <a:bodyPr wrap="none" rtlCol="0">
                  <a:spAutoFit/>
                </a:bodyPr>
                <a:lstStyle/>
                <a:p>
                  <a14:m>
                    <m:oMath xmlns:m="http://schemas.openxmlformats.org/officeDocument/2006/math">
                      <m:r>
                        <a:rPr lang="en-US" altLang="zh-TW" i="1" dirty="0" smtClean="0">
                          <a:latin typeface="Cambria Math" panose="02040503050406030204" pitchFamily="18" charset="0"/>
                          <a:ea typeface="Cambria Math" panose="02040503050406030204" pitchFamily="18" charset="0"/>
                        </a:rPr>
                        <m:t>ℏ</m:t>
                      </m:r>
                      <m:r>
                        <a:rPr lang="zh-TW" altLang="en-US" i="1" dirty="0" smtClean="0">
                          <a:latin typeface="Cambria Math" panose="02040503050406030204" pitchFamily="18" charset="0"/>
                        </a:rPr>
                        <m:t>𝜔</m:t>
                      </m:r>
                    </m:oMath>
                  </a14:m>
                  <a:r>
                    <a:rPr lang="en-US" altLang="zh-TW" baseline="-25000" dirty="0"/>
                    <a:t>1</a:t>
                  </a:r>
                  <a:endParaRPr lang="zh-TW" altLang="en-US" baseline="-25000" dirty="0"/>
                </a:p>
              </p:txBody>
            </p:sp>
          </mc:Choice>
          <mc:Fallback xmlns="">
            <p:sp>
              <p:nvSpPr>
                <p:cNvPr id="19" name="文字方塊 18">
                  <a:extLst>
                    <a:ext uri="{FF2B5EF4-FFF2-40B4-BE49-F238E27FC236}">
                      <a16:creationId xmlns:a16="http://schemas.microsoft.com/office/drawing/2014/main" id="{D3916FBE-F2B4-29DB-66BE-A73E4F9C81DE}"/>
                    </a:ext>
                  </a:extLst>
                </p:cNvPr>
                <p:cNvSpPr txBox="1">
                  <a:spLocks noRot="1" noChangeAspect="1" noMove="1" noResize="1" noEditPoints="1" noAdjustHandles="1" noChangeArrowheads="1" noChangeShapeType="1" noTextEdit="1"/>
                </p:cNvSpPr>
                <p:nvPr/>
              </p:nvSpPr>
              <p:spPr>
                <a:xfrm>
                  <a:off x="5433180" y="3782757"/>
                  <a:ext cx="571247" cy="362984"/>
                </a:xfrm>
                <a:prstGeom prst="rect">
                  <a:avLst/>
                </a:prstGeom>
                <a:blipFill>
                  <a:blip r:embed="rId13"/>
                  <a:stretch>
                    <a:fillRect b="-23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4" name="文字方塊 73">
                  <a:extLst>
                    <a:ext uri="{FF2B5EF4-FFF2-40B4-BE49-F238E27FC236}">
                      <a16:creationId xmlns:a16="http://schemas.microsoft.com/office/drawing/2014/main" id="{279A3633-1648-9D50-084C-DA1BEC618BBA}"/>
                    </a:ext>
                  </a:extLst>
                </p:cNvPr>
                <p:cNvSpPr txBox="1"/>
                <p:nvPr/>
              </p:nvSpPr>
              <p:spPr>
                <a:xfrm>
                  <a:off x="7179097" y="2881462"/>
                  <a:ext cx="571247" cy="362984"/>
                </a:xfrm>
                <a:prstGeom prst="rect">
                  <a:avLst/>
                </a:prstGeom>
                <a:noFill/>
              </p:spPr>
              <p:txBody>
                <a:bodyPr wrap="none" rtlCol="0">
                  <a:spAutoFit/>
                </a:bodyPr>
                <a:lstStyle/>
                <a:p>
                  <a14:m>
                    <m:oMath xmlns:m="http://schemas.openxmlformats.org/officeDocument/2006/math">
                      <m:r>
                        <a:rPr lang="en-US" altLang="zh-TW" i="1" dirty="0" smtClean="0">
                          <a:latin typeface="Cambria Math" panose="02040503050406030204" pitchFamily="18" charset="0"/>
                          <a:ea typeface="Cambria Math" panose="02040503050406030204" pitchFamily="18" charset="0"/>
                        </a:rPr>
                        <m:t>ℏ</m:t>
                      </m:r>
                      <m:r>
                        <a:rPr lang="zh-TW" altLang="en-US" i="1" dirty="0" smtClean="0">
                          <a:latin typeface="Cambria Math" panose="02040503050406030204" pitchFamily="18" charset="0"/>
                        </a:rPr>
                        <m:t>𝜔</m:t>
                      </m:r>
                    </m:oMath>
                  </a14:m>
                  <a:r>
                    <a:rPr lang="en-US" altLang="zh-TW" baseline="-25000" dirty="0"/>
                    <a:t>3</a:t>
                  </a:r>
                  <a:endParaRPr lang="zh-TW" altLang="en-US" baseline="-25000" dirty="0"/>
                </a:p>
              </p:txBody>
            </p:sp>
          </mc:Choice>
          <mc:Fallback xmlns="">
            <p:sp>
              <p:nvSpPr>
                <p:cNvPr id="74" name="文字方塊 73">
                  <a:extLst>
                    <a:ext uri="{FF2B5EF4-FFF2-40B4-BE49-F238E27FC236}">
                      <a16:creationId xmlns:a16="http://schemas.microsoft.com/office/drawing/2014/main" id="{279A3633-1648-9D50-084C-DA1BEC618BBA}"/>
                    </a:ext>
                  </a:extLst>
                </p:cNvPr>
                <p:cNvSpPr txBox="1">
                  <a:spLocks noRot="1" noChangeAspect="1" noMove="1" noResize="1" noEditPoints="1" noAdjustHandles="1" noChangeArrowheads="1" noChangeShapeType="1" noTextEdit="1"/>
                </p:cNvSpPr>
                <p:nvPr/>
              </p:nvSpPr>
              <p:spPr>
                <a:xfrm>
                  <a:off x="7179097" y="2881462"/>
                  <a:ext cx="571247" cy="362984"/>
                </a:xfrm>
                <a:prstGeom prst="rect">
                  <a:avLst/>
                </a:prstGeom>
                <a:blipFill>
                  <a:blip r:embed="rId14"/>
                  <a:stretch>
                    <a:fillRect b="-25424"/>
                  </a:stretch>
                </a:blipFill>
              </p:spPr>
              <p:txBody>
                <a:bodyPr/>
                <a:lstStyle/>
                <a:p>
                  <a:r>
                    <a:rPr lang="zh-TW" altLang="en-US">
                      <a:noFill/>
                    </a:rPr>
                    <a:t> </a:t>
                  </a:r>
                </a:p>
              </p:txBody>
            </p:sp>
          </mc:Fallback>
        </mc:AlternateContent>
      </p:grpSp>
      <p:grpSp>
        <p:nvGrpSpPr>
          <p:cNvPr id="73" name="群組 72">
            <a:extLst>
              <a:ext uri="{FF2B5EF4-FFF2-40B4-BE49-F238E27FC236}">
                <a16:creationId xmlns:a16="http://schemas.microsoft.com/office/drawing/2014/main" id="{7EF7C32B-2BDD-D496-EC42-5A41F6803E0F}"/>
              </a:ext>
            </a:extLst>
          </p:cNvPr>
          <p:cNvGrpSpPr/>
          <p:nvPr/>
        </p:nvGrpSpPr>
        <p:grpSpPr>
          <a:xfrm>
            <a:off x="5061567" y="4318246"/>
            <a:ext cx="2068866" cy="1849712"/>
            <a:chOff x="4990564" y="4077031"/>
            <a:chExt cx="2068866" cy="1849712"/>
          </a:xfrm>
        </p:grpSpPr>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9EC4D9EC-268B-A5A6-10C9-E6F6130F5CDC}"/>
                    </a:ext>
                  </a:extLst>
                </p:cNvPr>
                <p:cNvSpPr txBox="1"/>
                <p:nvPr/>
              </p:nvSpPr>
              <p:spPr>
                <a:xfrm>
                  <a:off x="5154186" y="4534683"/>
                  <a:ext cx="716522" cy="362984"/>
                </a:xfrm>
                <a:prstGeom prst="rect">
                  <a:avLst/>
                </a:prstGeom>
                <a:noFill/>
              </p:spPr>
              <p:txBody>
                <a:bodyPr wrap="square" rtlCol="0">
                  <a:spAutoFit/>
                </a:bodyPr>
                <a:lstStyle/>
                <a:p>
                  <a14:m>
                    <m:oMath xmlns:m="http://schemas.openxmlformats.org/officeDocument/2006/math">
                      <m:r>
                        <a:rPr lang="en-US" altLang="zh-TW" i="1" dirty="0">
                          <a:latin typeface="Cambria Math" panose="02040503050406030204" pitchFamily="18" charset="0"/>
                          <a:ea typeface="Cambria Math" panose="02040503050406030204" pitchFamily="18" charset="0"/>
                        </a:rPr>
                        <m:t>ℏ</m:t>
                      </m:r>
                      <m:r>
                        <a:rPr lang="zh-TW" altLang="en-US" i="1" dirty="0" smtClean="0">
                          <a:latin typeface="Cambria Math" panose="02040503050406030204" pitchFamily="18" charset="0"/>
                        </a:rPr>
                        <m:t>𝜔</m:t>
                      </m:r>
                    </m:oMath>
                  </a14:m>
                  <a:r>
                    <a:rPr lang="en-US" altLang="zh-TW" baseline="-25000" dirty="0"/>
                    <a:t>p</a:t>
                  </a:r>
                  <a:endParaRPr lang="zh-TW" altLang="en-US" baseline="-25000" dirty="0"/>
                </a:p>
              </p:txBody>
            </p:sp>
          </mc:Choice>
          <mc:Fallback xmlns="">
            <p:sp>
              <p:nvSpPr>
                <p:cNvPr id="17" name="文字方塊 16">
                  <a:extLst>
                    <a:ext uri="{FF2B5EF4-FFF2-40B4-BE49-F238E27FC236}">
                      <a16:creationId xmlns:a16="http://schemas.microsoft.com/office/drawing/2014/main" id="{9EC4D9EC-268B-A5A6-10C9-E6F6130F5CDC}"/>
                    </a:ext>
                  </a:extLst>
                </p:cNvPr>
                <p:cNvSpPr txBox="1">
                  <a:spLocks noRot="1" noChangeAspect="1" noMove="1" noResize="1" noEditPoints="1" noAdjustHandles="1" noChangeArrowheads="1" noChangeShapeType="1" noTextEdit="1"/>
                </p:cNvSpPr>
                <p:nvPr/>
              </p:nvSpPr>
              <p:spPr>
                <a:xfrm>
                  <a:off x="5154186" y="4534683"/>
                  <a:ext cx="716522" cy="362984"/>
                </a:xfrm>
                <a:prstGeom prst="rect">
                  <a:avLst/>
                </a:prstGeom>
                <a:blipFill>
                  <a:blip r:embed="rId15"/>
                  <a:stretch>
                    <a:fillRect b="-23333"/>
                  </a:stretch>
                </a:blipFill>
              </p:spPr>
              <p:txBody>
                <a:bodyPr/>
                <a:lstStyle/>
                <a:p>
                  <a:r>
                    <a:rPr lang="zh-TW" altLang="en-US">
                      <a:noFill/>
                    </a:rPr>
                    <a:t> </a:t>
                  </a:r>
                </a:p>
              </p:txBody>
            </p:sp>
          </mc:Fallback>
        </mc:AlternateContent>
        <p:pic>
          <p:nvPicPr>
            <p:cNvPr id="20" name="圖片 19">
              <a:extLst>
                <a:ext uri="{FF2B5EF4-FFF2-40B4-BE49-F238E27FC236}">
                  <a16:creationId xmlns:a16="http://schemas.microsoft.com/office/drawing/2014/main" id="{87ABA6D3-04CC-2478-4BEF-7F7545127CF5}"/>
                </a:ext>
              </a:extLst>
            </p:cNvPr>
            <p:cNvPicPr>
              <a:picLocks noChangeAspect="1"/>
            </p:cNvPicPr>
            <p:nvPr/>
          </p:nvPicPr>
          <p:blipFill>
            <a:blip r:embed="rId16"/>
            <a:stretch>
              <a:fillRect/>
            </a:stretch>
          </p:blipFill>
          <p:spPr>
            <a:xfrm>
              <a:off x="4990564" y="4330407"/>
              <a:ext cx="2068866" cy="1390494"/>
            </a:xfrm>
            <a:prstGeom prst="rect">
              <a:avLst/>
            </a:prstGeom>
          </p:spPr>
        </p:pic>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AF4C8B1C-4C78-04BD-2B34-0E55B38D70C3}"/>
                    </a:ext>
                  </a:extLst>
                </p:cNvPr>
                <p:cNvSpPr txBox="1"/>
                <p:nvPr/>
              </p:nvSpPr>
              <p:spPr>
                <a:xfrm>
                  <a:off x="6232090" y="5563759"/>
                  <a:ext cx="716522" cy="362984"/>
                </a:xfrm>
                <a:prstGeom prst="rect">
                  <a:avLst/>
                </a:prstGeom>
                <a:noFill/>
              </p:spPr>
              <p:txBody>
                <a:bodyPr wrap="square" rtlCol="0">
                  <a:spAutoFit/>
                </a:bodyPr>
                <a:lstStyle/>
                <a:p>
                  <a14:m>
                    <m:oMath xmlns:m="http://schemas.openxmlformats.org/officeDocument/2006/math">
                      <m:r>
                        <a:rPr lang="en-US" altLang="zh-TW" i="1" dirty="0">
                          <a:latin typeface="Cambria Math" panose="02040503050406030204" pitchFamily="18" charset="0"/>
                          <a:ea typeface="Cambria Math" panose="02040503050406030204" pitchFamily="18" charset="0"/>
                        </a:rPr>
                        <m:t>ℏ</m:t>
                      </m:r>
                      <m:r>
                        <a:rPr lang="zh-TW" altLang="en-US" i="1" dirty="0" smtClean="0">
                          <a:latin typeface="Cambria Math" panose="02040503050406030204" pitchFamily="18" charset="0"/>
                        </a:rPr>
                        <m:t>𝜔</m:t>
                      </m:r>
                    </m:oMath>
                  </a14:m>
                  <a:r>
                    <a:rPr lang="en-US" altLang="zh-TW" baseline="-25000" dirty="0"/>
                    <a:t>i</a:t>
                  </a:r>
                  <a:endParaRPr lang="zh-TW" altLang="en-US" baseline="-25000" dirty="0"/>
                </a:p>
              </p:txBody>
            </p:sp>
          </mc:Choice>
          <mc:Fallback xmlns="">
            <p:sp>
              <p:nvSpPr>
                <p:cNvPr id="21" name="文字方塊 20">
                  <a:extLst>
                    <a:ext uri="{FF2B5EF4-FFF2-40B4-BE49-F238E27FC236}">
                      <a16:creationId xmlns:a16="http://schemas.microsoft.com/office/drawing/2014/main" id="{AF4C8B1C-4C78-04BD-2B34-0E55B38D70C3}"/>
                    </a:ext>
                  </a:extLst>
                </p:cNvPr>
                <p:cNvSpPr txBox="1">
                  <a:spLocks noRot="1" noChangeAspect="1" noMove="1" noResize="1" noEditPoints="1" noAdjustHandles="1" noChangeArrowheads="1" noChangeShapeType="1" noTextEdit="1"/>
                </p:cNvSpPr>
                <p:nvPr/>
              </p:nvSpPr>
              <p:spPr>
                <a:xfrm>
                  <a:off x="6232090" y="5563759"/>
                  <a:ext cx="716522" cy="362984"/>
                </a:xfrm>
                <a:prstGeom prst="rect">
                  <a:avLst/>
                </a:prstGeom>
                <a:blipFill>
                  <a:blip r:embed="rId17"/>
                  <a:stretch>
                    <a:fillRect b="-23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C379C04E-88C6-2BFE-5467-6911DE1DD591}"/>
                    </a:ext>
                  </a:extLst>
                </p:cNvPr>
                <p:cNvSpPr txBox="1"/>
                <p:nvPr/>
              </p:nvSpPr>
              <p:spPr>
                <a:xfrm>
                  <a:off x="6187575" y="4077031"/>
                  <a:ext cx="716522" cy="362984"/>
                </a:xfrm>
                <a:prstGeom prst="rect">
                  <a:avLst/>
                </a:prstGeom>
                <a:noFill/>
              </p:spPr>
              <p:txBody>
                <a:bodyPr wrap="square" rtlCol="0">
                  <a:spAutoFit/>
                </a:bodyPr>
                <a:lstStyle/>
                <a:p>
                  <a14:m>
                    <m:oMath xmlns:m="http://schemas.openxmlformats.org/officeDocument/2006/math">
                      <m:r>
                        <a:rPr lang="en-US" altLang="zh-TW" i="1" dirty="0">
                          <a:latin typeface="Cambria Math" panose="02040503050406030204" pitchFamily="18" charset="0"/>
                          <a:ea typeface="Cambria Math" panose="02040503050406030204" pitchFamily="18" charset="0"/>
                        </a:rPr>
                        <m:t>ℏ</m:t>
                      </m:r>
                      <m:r>
                        <a:rPr lang="zh-TW" altLang="en-US" i="1" dirty="0" smtClean="0">
                          <a:latin typeface="Cambria Math" panose="02040503050406030204" pitchFamily="18" charset="0"/>
                        </a:rPr>
                        <m:t>𝜔</m:t>
                      </m:r>
                    </m:oMath>
                  </a14:m>
                  <a:r>
                    <a:rPr lang="en-US" altLang="zh-TW" baseline="-25000" dirty="0"/>
                    <a:t>s</a:t>
                  </a:r>
                  <a:endParaRPr lang="zh-TW" altLang="en-US" baseline="-25000" dirty="0"/>
                </a:p>
              </p:txBody>
            </p:sp>
          </mc:Choice>
          <mc:Fallback xmlns="">
            <p:sp>
              <p:nvSpPr>
                <p:cNvPr id="23" name="文字方塊 22">
                  <a:extLst>
                    <a:ext uri="{FF2B5EF4-FFF2-40B4-BE49-F238E27FC236}">
                      <a16:creationId xmlns:a16="http://schemas.microsoft.com/office/drawing/2014/main" id="{C379C04E-88C6-2BFE-5467-6911DE1DD591}"/>
                    </a:ext>
                  </a:extLst>
                </p:cNvPr>
                <p:cNvSpPr txBox="1">
                  <a:spLocks noRot="1" noChangeAspect="1" noMove="1" noResize="1" noEditPoints="1" noAdjustHandles="1" noChangeArrowheads="1" noChangeShapeType="1" noTextEdit="1"/>
                </p:cNvSpPr>
                <p:nvPr/>
              </p:nvSpPr>
              <p:spPr>
                <a:xfrm>
                  <a:off x="6187575" y="4077031"/>
                  <a:ext cx="716522" cy="362984"/>
                </a:xfrm>
                <a:prstGeom prst="rect">
                  <a:avLst/>
                </a:prstGeom>
                <a:blipFill>
                  <a:blip r:embed="rId18"/>
                  <a:stretch>
                    <a:fillRect b="-23333"/>
                  </a:stretch>
                </a:blipFill>
              </p:spPr>
              <p:txBody>
                <a:bodyPr/>
                <a:lstStyle/>
                <a:p>
                  <a:r>
                    <a:rPr lang="zh-TW" altLang="en-US">
                      <a:noFill/>
                    </a:rPr>
                    <a:t> </a:t>
                  </a:r>
                </a:p>
              </p:txBody>
            </p:sp>
          </mc:Fallback>
        </mc:AlternateContent>
      </p:grpSp>
      <p:grpSp>
        <p:nvGrpSpPr>
          <p:cNvPr id="95" name="群組 94">
            <a:extLst>
              <a:ext uri="{FF2B5EF4-FFF2-40B4-BE49-F238E27FC236}">
                <a16:creationId xmlns:a16="http://schemas.microsoft.com/office/drawing/2014/main" id="{1FFAB82D-3919-04CB-13D3-8766054C206E}"/>
              </a:ext>
            </a:extLst>
          </p:cNvPr>
          <p:cNvGrpSpPr/>
          <p:nvPr/>
        </p:nvGrpSpPr>
        <p:grpSpPr>
          <a:xfrm>
            <a:off x="8261141" y="1620469"/>
            <a:ext cx="2973895" cy="4305481"/>
            <a:chOff x="8249400" y="1651004"/>
            <a:chExt cx="2973895" cy="4305481"/>
          </a:xfrm>
        </p:grpSpPr>
        <p:sp>
          <p:nvSpPr>
            <p:cNvPr id="85" name="文字方塊 84">
              <a:extLst>
                <a:ext uri="{FF2B5EF4-FFF2-40B4-BE49-F238E27FC236}">
                  <a16:creationId xmlns:a16="http://schemas.microsoft.com/office/drawing/2014/main" id="{D1F6E839-20CB-F281-AD71-D69376DAC2C2}"/>
                </a:ext>
              </a:extLst>
            </p:cNvPr>
            <p:cNvSpPr txBox="1"/>
            <p:nvPr/>
          </p:nvSpPr>
          <p:spPr>
            <a:xfrm>
              <a:off x="8916215" y="1651004"/>
              <a:ext cx="1707837" cy="369332"/>
            </a:xfrm>
            <a:prstGeom prst="rect">
              <a:avLst/>
            </a:prstGeom>
            <a:noFill/>
          </p:spPr>
          <p:txBody>
            <a:bodyPr wrap="square">
              <a:spAutoFit/>
            </a:bodyPr>
            <a:lstStyle/>
            <a:p>
              <a:r>
                <a:rPr lang="en-US" altLang="zh-TW" dirty="0"/>
                <a:t>Phase Matching</a:t>
              </a:r>
              <a:endParaRPr lang="zh-TW" altLang="en-US" dirty="0"/>
            </a:p>
          </p:txBody>
        </p:sp>
        <p:pic>
          <p:nvPicPr>
            <p:cNvPr id="91" name="圖片 90">
              <a:extLst>
                <a:ext uri="{FF2B5EF4-FFF2-40B4-BE49-F238E27FC236}">
                  <a16:creationId xmlns:a16="http://schemas.microsoft.com/office/drawing/2014/main" id="{48E9D97E-F5BB-A017-2929-3BED7F84B907}"/>
                </a:ext>
              </a:extLst>
            </p:cNvPr>
            <p:cNvPicPr>
              <a:picLocks noChangeAspect="1"/>
            </p:cNvPicPr>
            <p:nvPr/>
          </p:nvPicPr>
          <p:blipFill>
            <a:blip r:embed="rId19"/>
            <a:stretch>
              <a:fillRect/>
            </a:stretch>
          </p:blipFill>
          <p:spPr>
            <a:xfrm>
              <a:off x="8327444" y="4359195"/>
              <a:ext cx="2895851" cy="1597290"/>
            </a:xfrm>
            <a:prstGeom prst="rect">
              <a:avLst/>
            </a:prstGeom>
          </p:spPr>
        </p:pic>
        <p:pic>
          <p:nvPicPr>
            <p:cNvPr id="92" name="圖片 91">
              <a:extLst>
                <a:ext uri="{FF2B5EF4-FFF2-40B4-BE49-F238E27FC236}">
                  <a16:creationId xmlns:a16="http://schemas.microsoft.com/office/drawing/2014/main" id="{50A17363-E832-8C0A-2643-19F338054C9E}"/>
                </a:ext>
              </a:extLst>
            </p:cNvPr>
            <p:cNvPicPr>
              <a:picLocks noChangeAspect="1"/>
            </p:cNvPicPr>
            <p:nvPr/>
          </p:nvPicPr>
          <p:blipFill>
            <a:blip r:embed="rId20"/>
            <a:stretch>
              <a:fillRect/>
            </a:stretch>
          </p:blipFill>
          <p:spPr>
            <a:xfrm>
              <a:off x="8249400" y="2178694"/>
              <a:ext cx="2901948" cy="1560711"/>
            </a:xfrm>
            <a:prstGeom prst="rect">
              <a:avLst/>
            </a:prstGeom>
          </p:spPr>
        </p:pic>
      </p:grpSp>
      <p:grpSp>
        <p:nvGrpSpPr>
          <p:cNvPr id="94" name="群組 93">
            <a:extLst>
              <a:ext uri="{FF2B5EF4-FFF2-40B4-BE49-F238E27FC236}">
                <a16:creationId xmlns:a16="http://schemas.microsoft.com/office/drawing/2014/main" id="{C484E562-9755-F84F-54C1-0C06DC190629}"/>
              </a:ext>
            </a:extLst>
          </p:cNvPr>
          <p:cNvGrpSpPr/>
          <p:nvPr/>
        </p:nvGrpSpPr>
        <p:grpSpPr>
          <a:xfrm>
            <a:off x="8272178" y="1772660"/>
            <a:ext cx="2895851" cy="4395298"/>
            <a:chOff x="9946412" y="1796771"/>
            <a:chExt cx="2895851" cy="4395298"/>
          </a:xfrm>
        </p:grpSpPr>
        <p:sp>
          <p:nvSpPr>
            <p:cNvPr id="81" name="文字方塊 80">
              <a:extLst>
                <a:ext uri="{FF2B5EF4-FFF2-40B4-BE49-F238E27FC236}">
                  <a16:creationId xmlns:a16="http://schemas.microsoft.com/office/drawing/2014/main" id="{4C8227B6-CB14-A1C2-0CCD-A869BDDB491B}"/>
                </a:ext>
              </a:extLst>
            </p:cNvPr>
            <p:cNvSpPr txBox="1"/>
            <p:nvPr/>
          </p:nvSpPr>
          <p:spPr>
            <a:xfrm>
              <a:off x="10267891" y="1796771"/>
              <a:ext cx="2220351" cy="369332"/>
            </a:xfrm>
            <a:prstGeom prst="rect">
              <a:avLst/>
            </a:prstGeom>
            <a:noFill/>
          </p:spPr>
          <p:txBody>
            <a:bodyPr wrap="none" rtlCol="0">
              <a:spAutoFit/>
            </a:bodyPr>
            <a:lstStyle/>
            <a:p>
              <a:r>
                <a:rPr lang="en-US" altLang="zh-TW" dirty="0"/>
                <a:t>SPDC Phase Matching</a:t>
              </a:r>
              <a:endParaRPr lang="zh-TW" altLang="en-US" dirty="0"/>
            </a:p>
          </p:txBody>
        </p:sp>
        <p:pic>
          <p:nvPicPr>
            <p:cNvPr id="82" name="圖片 81">
              <a:extLst>
                <a:ext uri="{FF2B5EF4-FFF2-40B4-BE49-F238E27FC236}">
                  <a16:creationId xmlns:a16="http://schemas.microsoft.com/office/drawing/2014/main" id="{44DEB3FA-9B6B-0429-7743-5F49D15E8C07}"/>
                </a:ext>
              </a:extLst>
            </p:cNvPr>
            <p:cNvPicPr>
              <a:picLocks noChangeAspect="1"/>
            </p:cNvPicPr>
            <p:nvPr/>
          </p:nvPicPr>
          <p:blipFill>
            <a:blip r:embed="rId21"/>
            <a:stretch>
              <a:fillRect/>
            </a:stretch>
          </p:blipFill>
          <p:spPr>
            <a:xfrm>
              <a:off x="10104738" y="5064211"/>
              <a:ext cx="2609314" cy="1127858"/>
            </a:xfrm>
            <a:prstGeom prst="rect">
              <a:avLst/>
            </a:prstGeom>
          </p:spPr>
        </p:pic>
        <p:sp>
          <p:nvSpPr>
            <p:cNvPr id="34" name="箭號: 向下 33">
              <a:extLst>
                <a:ext uri="{FF2B5EF4-FFF2-40B4-BE49-F238E27FC236}">
                  <a16:creationId xmlns:a16="http://schemas.microsoft.com/office/drawing/2014/main" id="{5B9B131A-5BE2-1919-5FB6-06B7721DDDFB}"/>
                </a:ext>
              </a:extLst>
            </p:cNvPr>
            <p:cNvSpPr/>
            <p:nvPr/>
          </p:nvSpPr>
          <p:spPr>
            <a:xfrm>
              <a:off x="10975199" y="3884130"/>
              <a:ext cx="716522" cy="71674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9" name="文字方塊 78">
              <a:extLst>
                <a:ext uri="{FF2B5EF4-FFF2-40B4-BE49-F238E27FC236}">
                  <a16:creationId xmlns:a16="http://schemas.microsoft.com/office/drawing/2014/main" id="{18B89319-7286-EC4F-52F5-1BF4E3BEEE4D}"/>
                </a:ext>
              </a:extLst>
            </p:cNvPr>
            <p:cNvSpPr txBox="1"/>
            <p:nvPr/>
          </p:nvSpPr>
          <p:spPr>
            <a:xfrm>
              <a:off x="9992416" y="4690114"/>
              <a:ext cx="2803844" cy="369332"/>
            </a:xfrm>
            <a:prstGeom prst="rect">
              <a:avLst/>
            </a:prstGeom>
            <a:noFill/>
          </p:spPr>
          <p:txBody>
            <a:bodyPr wrap="none" rtlCol="0">
              <a:spAutoFit/>
            </a:bodyPr>
            <a:lstStyle/>
            <a:p>
              <a:r>
                <a:rPr lang="en-US" altLang="zh-TW" dirty="0"/>
                <a:t>SPDC Quasi Phase Matching</a:t>
              </a:r>
              <a:endParaRPr lang="zh-TW" altLang="en-US" dirty="0"/>
            </a:p>
          </p:txBody>
        </p:sp>
        <p:pic>
          <p:nvPicPr>
            <p:cNvPr id="93" name="圖片 92">
              <a:extLst>
                <a:ext uri="{FF2B5EF4-FFF2-40B4-BE49-F238E27FC236}">
                  <a16:creationId xmlns:a16="http://schemas.microsoft.com/office/drawing/2014/main" id="{3AB9EF3B-519F-95A4-DEBE-DC88EE810845}"/>
                </a:ext>
              </a:extLst>
            </p:cNvPr>
            <p:cNvPicPr>
              <a:picLocks noChangeAspect="1"/>
            </p:cNvPicPr>
            <p:nvPr/>
          </p:nvPicPr>
          <p:blipFill>
            <a:blip r:embed="rId19"/>
            <a:stretch>
              <a:fillRect/>
            </a:stretch>
          </p:blipFill>
          <p:spPr>
            <a:xfrm>
              <a:off x="9946412" y="2141073"/>
              <a:ext cx="2895851" cy="1597290"/>
            </a:xfrm>
            <a:prstGeom prst="rect">
              <a:avLst/>
            </a:prstGeom>
          </p:spPr>
        </p:pic>
      </p:grpSp>
    </p:spTree>
    <p:extLst>
      <p:ext uri="{BB962C8B-B14F-4D97-AF65-F5344CB8AC3E}">
        <p14:creationId xmlns:p14="http://schemas.microsoft.com/office/powerpoint/2010/main" val="770593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95"/>
                                        </p:tgtEl>
                                      </p:cBhvr>
                                    </p:animEffect>
                                    <p:set>
                                      <p:cBhvr>
                                        <p:cTn id="7" dur="1" fill="hold">
                                          <p:stCondLst>
                                            <p:cond delay="499"/>
                                          </p:stCondLst>
                                        </p:cTn>
                                        <p:tgtEl>
                                          <p:spTgt spid="95"/>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94"/>
                                        </p:tgtEl>
                                        <p:attrNameLst>
                                          <p:attrName>style.visibility</p:attrName>
                                        </p:attrNameLst>
                                      </p:cBhvr>
                                      <p:to>
                                        <p:strVal val="visible"/>
                                      </p:to>
                                    </p:set>
                                    <p:animEffect transition="in" filter="fade">
                                      <p:cBhvr>
                                        <p:cTn id="10" dur="5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Electro-Optic Effect</a:t>
            </a:r>
          </a:p>
        </p:txBody>
      </p:sp>
      <p:sp>
        <p:nvSpPr>
          <p:cNvPr id="3" name="內容版面配置區 2">
            <a:extLst>
              <a:ext uri="{FF2B5EF4-FFF2-40B4-BE49-F238E27FC236}">
                <a16:creationId xmlns:a16="http://schemas.microsoft.com/office/drawing/2014/main" id="{7785E72D-3875-448F-8D77-75F9CFD57AC4}"/>
              </a:ext>
            </a:extLst>
          </p:cNvPr>
          <p:cNvSpPr>
            <a:spLocks noGrp="1"/>
          </p:cNvSpPr>
          <p:nvPr>
            <p:ph idx="4294967295"/>
          </p:nvPr>
        </p:nvSpPr>
        <p:spPr>
          <a:xfrm>
            <a:off x="2351415" y="579121"/>
            <a:ext cx="8522472" cy="1101552"/>
          </a:xfrm>
        </p:spPr>
        <p:txBody>
          <a:bodyPr>
            <a:noAutofit/>
          </a:bodyPr>
          <a:lstStyle/>
          <a:p>
            <a:pPr marL="0" indent="0">
              <a:lnSpc>
                <a:spcPct val="200000"/>
              </a:lnSpc>
              <a:buNone/>
            </a:pPr>
            <a:r>
              <a:rPr lang="en-US" altLang="zh-TW" b="1" dirty="0">
                <a:effectLst>
                  <a:outerShdw blurRad="38100" dist="38100" dir="2700000" algn="tl">
                    <a:srgbClr val="000000">
                      <a:alpha val="43137"/>
                    </a:srgbClr>
                  </a:outerShdw>
                </a:effectLst>
              </a:rPr>
              <a:t>Electric-optic polarization mode conversion(EOPMC)</a:t>
            </a:r>
          </a:p>
          <a:p>
            <a:pPr>
              <a:lnSpc>
                <a:spcPct val="200000"/>
              </a:lnSpc>
            </a:pPr>
            <a:endParaRPr lang="en-US" altLang="zh-TW"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0039351" y="6356352"/>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72</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FCDA6E13-3FF3-B68B-84C4-941F4BBF075A}"/>
                  </a:ext>
                </a:extLst>
              </p:cNvPr>
              <p:cNvSpPr txBox="1"/>
              <p:nvPr/>
            </p:nvSpPr>
            <p:spPr>
              <a:xfrm>
                <a:off x="454714" y="1546743"/>
                <a:ext cx="4999413" cy="391646"/>
              </a:xfrm>
              <a:prstGeom prst="rect">
                <a:avLst/>
              </a:prstGeom>
              <a:noFill/>
            </p:spPr>
            <p:txBody>
              <a:bodyPr wrap="square">
                <a:spAutoFit/>
              </a:bodyPr>
              <a:lstStyle/>
              <a:p>
                <a14:m>
                  <m:oMath xmlns:m="http://schemas.openxmlformats.org/officeDocument/2006/math">
                    <m:r>
                      <a:rPr lang="zh-TW" altLang="en-US" i="1" smtClean="0">
                        <a:latin typeface="Cambria Math" panose="02040503050406030204" pitchFamily="18" charset="0"/>
                      </a:rPr>
                      <m:t>𝞰</m:t>
                    </m:r>
                  </m:oMath>
                </a14:m>
                <a:r>
                  <a:rPr lang="en-US" altLang="zh-TW" baseline="-25000" dirty="0" err="1"/>
                  <a:t>ij</a:t>
                </a:r>
                <a:r>
                  <a:rPr lang="en-US" altLang="zh-TW" dirty="0"/>
                  <a:t>(E) =</a:t>
                </a:r>
                <a14:m>
                  <m:oMath xmlns:m="http://schemas.openxmlformats.org/officeDocument/2006/math">
                    <m:r>
                      <a:rPr lang="zh-TW" altLang="en-US" i="1">
                        <a:latin typeface="Cambria Math" panose="02040503050406030204" pitchFamily="18" charset="0"/>
                      </a:rPr>
                      <m:t>𝞰</m:t>
                    </m:r>
                  </m:oMath>
                </a14:m>
                <a:r>
                  <a:rPr lang="en-US" altLang="zh-TW" baseline="-25000" dirty="0" err="1"/>
                  <a:t>ij</a:t>
                </a:r>
                <a:r>
                  <a:rPr lang="en-US" altLang="zh-TW" sz="1800" dirty="0"/>
                  <a:t>(0) + </a:t>
                </a:r>
                <a14:m>
                  <m:oMath xmlns:m="http://schemas.openxmlformats.org/officeDocument/2006/math">
                    <m:nary>
                      <m:naryPr>
                        <m:chr m:val="∑"/>
                        <m:limLoc m:val="subSup"/>
                        <m:supHide m:val="on"/>
                        <m:ctrlPr>
                          <a:rPr lang="en-US" altLang="zh-TW" sz="1800" i="1" smtClean="0">
                            <a:latin typeface="Cambria Math" panose="02040503050406030204" pitchFamily="18" charset="0"/>
                          </a:rPr>
                        </m:ctrlPr>
                      </m:naryPr>
                      <m:sub>
                        <m:r>
                          <m:rPr>
                            <m:brk m:alnAt="9"/>
                          </m:rPr>
                          <a:rPr lang="en-US" altLang="zh-TW" sz="1800" b="0" i="1" smtClean="0">
                            <a:latin typeface="Cambria Math" panose="02040503050406030204" pitchFamily="18" charset="0"/>
                          </a:rPr>
                          <m:t>𝑘</m:t>
                        </m:r>
                      </m:sub>
                      <m:sup/>
                      <m:e>
                        <m:r>
                          <a:rPr lang="en-US" altLang="zh-TW" sz="1800" b="0" i="1" smtClean="0">
                            <a:latin typeface="Cambria Math" panose="02040503050406030204" pitchFamily="18" charset="0"/>
                          </a:rPr>
                          <m:t>𝑟</m:t>
                        </m:r>
                        <m:r>
                          <a:rPr lang="zh-TW" altLang="en-US" sz="1800" i="1">
                            <a:latin typeface="Cambria Math" panose="02040503050406030204" pitchFamily="18" charset="0"/>
                          </a:rPr>
                          <m:t> </m:t>
                        </m:r>
                        <m:r>
                          <m:rPr>
                            <m:nor/>
                          </m:rPr>
                          <a:rPr lang="en-US" altLang="zh-TW" sz="1800" baseline="-25000" dirty="0"/>
                          <m:t>ij</m:t>
                        </m:r>
                        <m:r>
                          <m:rPr>
                            <m:nor/>
                          </m:rPr>
                          <a:rPr lang="en-US" altLang="zh-TW" sz="1800" b="0" i="0" baseline="-25000" dirty="0" smtClean="0"/>
                          <m:t>k</m:t>
                        </m:r>
                      </m:e>
                    </m:nary>
                  </m:oMath>
                </a14:m>
                <a:r>
                  <a:rPr lang="en-US" altLang="zh-TW" sz="1800" dirty="0"/>
                  <a:t>E</a:t>
                </a:r>
                <a:r>
                  <a:rPr lang="en-US" altLang="zh-TW" sz="1800" baseline="-25000" dirty="0"/>
                  <a:t>k</a:t>
                </a:r>
                <a:r>
                  <a:rPr lang="en-US" altLang="zh-TW" sz="1800" dirty="0"/>
                  <a:t> + </a:t>
                </a:r>
                <a14:m>
                  <m:oMath xmlns:m="http://schemas.openxmlformats.org/officeDocument/2006/math">
                    <m:nary>
                      <m:naryPr>
                        <m:chr m:val="∑"/>
                        <m:limLoc m:val="subSup"/>
                        <m:supHide m:val="on"/>
                        <m:ctrlPr>
                          <a:rPr lang="en-US" altLang="zh-TW" sz="1800" i="1" smtClean="0">
                            <a:latin typeface="Cambria Math" panose="02040503050406030204" pitchFamily="18" charset="0"/>
                          </a:rPr>
                        </m:ctrlPr>
                      </m:naryPr>
                      <m:sub>
                        <m:r>
                          <m:rPr>
                            <m:brk m:alnAt="9"/>
                          </m:rPr>
                          <a:rPr lang="en-US" altLang="zh-TW" sz="1800" i="1">
                            <a:latin typeface="Cambria Math" panose="02040503050406030204" pitchFamily="18" charset="0"/>
                          </a:rPr>
                          <m:t>𝑘</m:t>
                        </m:r>
                        <m:r>
                          <a:rPr lang="en-US" altLang="zh-TW" sz="1800" b="0" i="1" smtClean="0">
                            <a:latin typeface="Cambria Math" panose="02040503050406030204" pitchFamily="18" charset="0"/>
                          </a:rPr>
                          <m:t>𝑙</m:t>
                        </m:r>
                      </m:sub>
                      <m:sup/>
                      <m:e>
                        <m:sSub>
                          <m:sSubPr>
                            <m:ctrlPr>
                              <a:rPr lang="en-US" altLang="zh-TW" sz="1800" b="0" i="1" smtClean="0">
                                <a:latin typeface="Cambria Math" panose="02040503050406030204" pitchFamily="18" charset="0"/>
                              </a:rPr>
                            </m:ctrlPr>
                          </m:sSubPr>
                          <m:e>
                            <m:r>
                              <a:rPr lang="zh-TW" altLang="en-US" sz="1800" b="0" i="1" smtClean="0">
                                <a:latin typeface="Cambria Math" panose="02040503050406030204" pitchFamily="18" charset="0"/>
                              </a:rPr>
                              <m:t>𝜍</m:t>
                            </m:r>
                          </m:e>
                          <m:sub>
                            <m:r>
                              <a:rPr lang="en-US" altLang="zh-TW" sz="1800" b="0" i="1" smtClean="0">
                                <a:latin typeface="Cambria Math" panose="02040503050406030204" pitchFamily="18" charset="0"/>
                              </a:rPr>
                              <m:t>𝑖𝑗𝑘</m:t>
                            </m:r>
                          </m:sub>
                        </m:sSub>
                      </m:e>
                    </m:nary>
                  </m:oMath>
                </a14:m>
                <a:r>
                  <a:rPr lang="en-US" altLang="zh-TW" sz="1800" dirty="0"/>
                  <a:t>E</a:t>
                </a:r>
                <a:r>
                  <a:rPr lang="en-US" altLang="zh-TW" sz="1800" baseline="-25000" dirty="0"/>
                  <a:t>k</a:t>
                </a:r>
                <a:r>
                  <a:rPr lang="en-US" altLang="zh-TW" sz="1800" dirty="0"/>
                  <a:t>E</a:t>
                </a:r>
                <a14:m>
                  <m:oMath xmlns:m="http://schemas.openxmlformats.org/officeDocument/2006/math">
                    <m:r>
                      <m:rPr>
                        <m:brk m:alnAt="9"/>
                      </m:rPr>
                      <a:rPr lang="en-US" altLang="zh-TW" sz="1800" i="1" baseline="-25000">
                        <a:latin typeface="Cambria Math" panose="02040503050406030204" pitchFamily="18" charset="0"/>
                      </a:rPr>
                      <m:t>𝑙</m:t>
                    </m:r>
                  </m:oMath>
                </a14:m>
                <a:endParaRPr lang="en-US" altLang="zh-TW" sz="1800" baseline="-25000" dirty="0"/>
              </a:p>
            </p:txBody>
          </p:sp>
        </mc:Choice>
        <mc:Fallback xmlns="">
          <p:sp>
            <p:nvSpPr>
              <p:cNvPr id="7" name="文字方塊 6">
                <a:extLst>
                  <a:ext uri="{FF2B5EF4-FFF2-40B4-BE49-F238E27FC236}">
                    <a16:creationId xmlns:a16="http://schemas.microsoft.com/office/drawing/2014/main" id="{FCDA6E13-3FF3-B68B-84C4-941F4BBF075A}"/>
                  </a:ext>
                </a:extLst>
              </p:cNvPr>
              <p:cNvSpPr txBox="1">
                <a:spLocks noRot="1" noChangeAspect="1" noMove="1" noResize="1" noEditPoints="1" noAdjustHandles="1" noChangeArrowheads="1" noChangeShapeType="1" noTextEdit="1"/>
              </p:cNvSpPr>
              <p:nvPr/>
            </p:nvSpPr>
            <p:spPr>
              <a:xfrm>
                <a:off x="454714" y="1546743"/>
                <a:ext cx="4999413" cy="391646"/>
              </a:xfrm>
              <a:prstGeom prst="rect">
                <a:avLst/>
              </a:prstGeom>
              <a:blipFill>
                <a:blip r:embed="rId4"/>
                <a:stretch>
                  <a:fillRect t="-112500" b="-171875"/>
                </a:stretch>
              </a:blipFill>
            </p:spPr>
            <p:txBody>
              <a:bodyPr/>
              <a:lstStyle/>
              <a:p>
                <a:r>
                  <a:rPr lang="zh-TW" altLang="en-US">
                    <a:noFill/>
                  </a:rPr>
                  <a:t> </a:t>
                </a:r>
              </a:p>
            </p:txBody>
          </p:sp>
        </mc:Fallback>
      </mc:AlternateContent>
      <p:sp>
        <p:nvSpPr>
          <p:cNvPr id="8" name="矩形 7">
            <a:extLst>
              <a:ext uri="{FF2B5EF4-FFF2-40B4-BE49-F238E27FC236}">
                <a16:creationId xmlns:a16="http://schemas.microsoft.com/office/drawing/2014/main" id="{870B05B6-99BA-E6CE-244B-4E02C87990BB}"/>
              </a:ext>
            </a:extLst>
          </p:cNvPr>
          <p:cNvSpPr/>
          <p:nvPr/>
        </p:nvSpPr>
        <p:spPr>
          <a:xfrm rot="19735376">
            <a:off x="3224204" y="1782139"/>
            <a:ext cx="810023" cy="4571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2FF023AB-7E5B-6D0C-DF3A-C2CA6179C3F6}"/>
              </a:ext>
            </a:extLst>
          </p:cNvPr>
          <p:cNvSpPr txBox="1"/>
          <p:nvPr/>
        </p:nvSpPr>
        <p:spPr>
          <a:xfrm>
            <a:off x="3270533" y="1961248"/>
            <a:ext cx="1146596" cy="369332"/>
          </a:xfrm>
          <a:prstGeom prst="rect">
            <a:avLst/>
          </a:prstGeom>
          <a:noFill/>
        </p:spPr>
        <p:txBody>
          <a:bodyPr wrap="none" rtlCol="0">
            <a:spAutoFit/>
          </a:bodyPr>
          <a:lstStyle/>
          <a:p>
            <a:r>
              <a:rPr lang="en-US" altLang="zh-TW" dirty="0" err="1"/>
              <a:t>kerr</a:t>
            </a:r>
            <a:r>
              <a:rPr lang="en-US" altLang="zh-TW" dirty="0"/>
              <a:t> effect</a:t>
            </a:r>
            <a:endParaRPr lang="zh-TW" altLang="en-US" dirty="0"/>
          </a:p>
        </p:txBody>
      </p:sp>
      <p:sp>
        <p:nvSpPr>
          <p:cNvPr id="10" name="文字方塊 9">
            <a:extLst>
              <a:ext uri="{FF2B5EF4-FFF2-40B4-BE49-F238E27FC236}">
                <a16:creationId xmlns:a16="http://schemas.microsoft.com/office/drawing/2014/main" id="{9115322F-43DF-8548-A101-CA94320229F7}"/>
              </a:ext>
            </a:extLst>
          </p:cNvPr>
          <p:cNvSpPr txBox="1"/>
          <p:nvPr/>
        </p:nvSpPr>
        <p:spPr>
          <a:xfrm>
            <a:off x="1805765" y="1937843"/>
            <a:ext cx="1372812" cy="369332"/>
          </a:xfrm>
          <a:prstGeom prst="rect">
            <a:avLst/>
          </a:prstGeom>
          <a:noFill/>
        </p:spPr>
        <p:txBody>
          <a:bodyPr wrap="none" rtlCol="0">
            <a:spAutoFit/>
          </a:bodyPr>
          <a:lstStyle/>
          <a:p>
            <a:r>
              <a:rPr lang="en-US" altLang="zh-TW" dirty="0" err="1"/>
              <a:t>Pockel</a:t>
            </a:r>
            <a:r>
              <a:rPr lang="en-US" altLang="zh-TW" dirty="0"/>
              <a:t> effect</a:t>
            </a:r>
            <a:endParaRPr lang="zh-TW" altLang="en-US" dirty="0"/>
          </a:p>
        </p:txBody>
      </p:sp>
      <p:sp>
        <p:nvSpPr>
          <p:cNvPr id="11" name="矩形 10">
            <a:extLst>
              <a:ext uri="{FF2B5EF4-FFF2-40B4-BE49-F238E27FC236}">
                <a16:creationId xmlns:a16="http://schemas.microsoft.com/office/drawing/2014/main" id="{654A6EED-9CF1-0148-6BD5-D11924A41A58}"/>
              </a:ext>
            </a:extLst>
          </p:cNvPr>
          <p:cNvSpPr/>
          <p:nvPr/>
        </p:nvSpPr>
        <p:spPr>
          <a:xfrm>
            <a:off x="2069021" y="1915529"/>
            <a:ext cx="846301" cy="4571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7EB22BF2-07D6-BF7A-6A6E-364116A28C3C}"/>
                  </a:ext>
                </a:extLst>
              </p:cNvPr>
              <p:cNvSpPr txBox="1"/>
              <p:nvPr/>
            </p:nvSpPr>
            <p:spPr>
              <a:xfrm>
                <a:off x="2506531" y="2790616"/>
                <a:ext cx="6585289" cy="1724511"/>
              </a:xfrm>
              <a:prstGeom prst="rect">
                <a:avLst/>
              </a:prstGeom>
              <a:noFill/>
            </p:spPr>
            <p:txBody>
              <a:bodyPr wrap="square">
                <a:spAutoFit/>
              </a:bodyPr>
              <a:lstStyle/>
              <a:p>
                <a14:m>
                  <m:oMath xmlns:m="http://schemas.openxmlformats.org/officeDocument/2006/math">
                    <m:nary>
                      <m:naryPr>
                        <m:chr m:val="∑"/>
                        <m:limLoc m:val="subSup"/>
                        <m:supHide m:val="on"/>
                        <m:ctrlPr>
                          <a:rPr lang="en-US" altLang="zh-TW" i="1">
                            <a:latin typeface="Cambria Math" panose="02040503050406030204" pitchFamily="18" charset="0"/>
                          </a:rPr>
                        </m:ctrlPr>
                      </m:naryPr>
                      <m:sub>
                        <m:r>
                          <m:rPr>
                            <m:brk m:alnAt="9"/>
                          </m:rPr>
                          <a:rPr lang="en-US" altLang="zh-TW" i="1">
                            <a:latin typeface="Cambria Math" panose="02040503050406030204" pitchFamily="18" charset="0"/>
                          </a:rPr>
                          <m:t>𝑘</m:t>
                        </m:r>
                      </m:sub>
                      <m:sup/>
                      <m:e>
                        <m:r>
                          <a:rPr lang="en-US" altLang="zh-TW" i="1">
                            <a:latin typeface="Cambria Math" panose="02040503050406030204" pitchFamily="18" charset="0"/>
                          </a:rPr>
                          <m:t>𝑟</m:t>
                        </m:r>
                        <m:r>
                          <a:rPr lang="zh-TW" altLang="en-US" i="1">
                            <a:latin typeface="Cambria Math" panose="02040503050406030204" pitchFamily="18" charset="0"/>
                          </a:rPr>
                          <m:t> </m:t>
                        </m:r>
                        <m:r>
                          <m:rPr>
                            <m:nor/>
                          </m:rPr>
                          <a:rPr lang="en-US" altLang="zh-TW" baseline="-25000" dirty="0"/>
                          <m:t>ijk</m:t>
                        </m:r>
                      </m:e>
                    </m:nary>
                  </m:oMath>
                </a14:m>
                <a:r>
                  <a:rPr lang="en-US" altLang="zh-TW" dirty="0"/>
                  <a:t>E</a:t>
                </a:r>
                <a:r>
                  <a:rPr lang="en-US" altLang="zh-TW" baseline="-25000" dirty="0"/>
                  <a:t>k</a:t>
                </a:r>
                <a:r>
                  <a:rPr lang="en-US" altLang="zh-TW" dirty="0"/>
                  <a:t> </a:t>
                </a:r>
                <a:r>
                  <a:rPr lang="en-US" altLang="zh-TW" sz="1800" dirty="0">
                    <a:latin typeface="arial" panose="020B0604020202020204" pitchFamily="34" charset="0"/>
                  </a:rPr>
                  <a:t>=∆</a:t>
                </a:r>
                <a14:m>
                  <m:oMath xmlns:m="http://schemas.openxmlformats.org/officeDocument/2006/math">
                    <m:r>
                      <a:rPr lang="zh-TW" altLang="en-US" i="1">
                        <a:latin typeface="Cambria Math" panose="02040503050406030204" pitchFamily="18" charset="0"/>
                      </a:rPr>
                      <m:t>𝞰</m:t>
                    </m:r>
                  </m:oMath>
                </a14:m>
                <a:r>
                  <a:rPr lang="en-US" altLang="zh-TW" baseline="-25000" dirty="0" err="1"/>
                  <a:t>ij</a:t>
                </a:r>
                <a:r>
                  <a:rPr lang="en-US" altLang="zh-TW" dirty="0"/>
                  <a:t>(</a:t>
                </a:r>
                <a14:m>
                  <m:oMath xmlns:m="http://schemas.openxmlformats.org/officeDocument/2006/math">
                    <m:r>
                      <a:rPr lang="en-US" altLang="zh-TW" i="1">
                        <a:latin typeface="Cambria Math" panose="02040503050406030204" pitchFamily="18" charset="0"/>
                      </a:rPr>
                      <m:t>𝐸</m:t>
                    </m:r>
                    <m:r>
                      <a:rPr lang="en-US" altLang="zh-TW" i="1" baseline="-25000">
                        <a:latin typeface="Cambria Math" panose="02040503050406030204" pitchFamily="18" charset="0"/>
                      </a:rPr>
                      <m:t>𝑦</m:t>
                    </m:r>
                  </m:oMath>
                </a14:m>
                <a:r>
                  <a:rPr lang="en-US" altLang="zh-TW" dirty="0"/>
                  <a:t>) </a:t>
                </a:r>
                <a:r>
                  <a:rPr lang="en-US" altLang="zh-TW" sz="1800" dirty="0"/>
                  <a:t>=</a:t>
                </a:r>
                <a:r>
                  <a:rPr lang="zh-TW" altLang="en-US" sz="1800" dirty="0"/>
                  <a:t> </a:t>
                </a:r>
                <a14:m>
                  <m:oMath xmlns:m="http://schemas.openxmlformats.org/officeDocument/2006/math">
                    <m:d>
                      <m:dPr>
                        <m:begChr m:val="["/>
                        <m:endChr m:val="]"/>
                        <m:ctrlPr>
                          <a:rPr lang="en-US" altLang="zh-TW" sz="1800" i="1">
                            <a:latin typeface="Cambria Math" panose="02040503050406030204" pitchFamily="18" charset="0"/>
                          </a:rPr>
                        </m:ctrlPr>
                      </m:dPr>
                      <m:e>
                        <m:m>
                          <m:mPr>
                            <m:mcs>
                              <m:mc>
                                <m:mcPr>
                                  <m:count m:val="1"/>
                                  <m:mcJc m:val="center"/>
                                </m:mcPr>
                              </m:mc>
                            </m:mcs>
                            <m:ctrlPr>
                              <a:rPr lang="en-US" altLang="zh-TW" sz="1800" i="1">
                                <a:latin typeface="Cambria Math" panose="02040503050406030204" pitchFamily="18" charset="0"/>
                              </a:rPr>
                            </m:ctrlPr>
                          </m:mPr>
                          <m:mr>
                            <m:e>
                              <m:m>
                                <m:mPr>
                                  <m:mcs>
                                    <m:mc>
                                      <m:mcPr>
                                        <m:count m:val="1"/>
                                        <m:mcJc m:val="center"/>
                                      </m:mcPr>
                                    </m:mc>
                                  </m:mcs>
                                  <m:ctrlPr>
                                    <a:rPr lang="en-US" altLang="zh-TW" sz="1800" i="1">
                                      <a:latin typeface="Cambria Math" panose="02040503050406030204" pitchFamily="18" charset="0"/>
                                    </a:rPr>
                                  </m:ctrlPr>
                                </m:mPr>
                                <m:mr>
                                  <m:e>
                                    <m:r>
                                      <m:rPr>
                                        <m:nor/>
                                      </m:rPr>
                                      <a:rPr lang="en-US" altLang="zh-TW" sz="1800" dirty="0">
                                        <a:latin typeface="arial" panose="020B0604020202020204" pitchFamily="34" charset="0"/>
                                      </a:rPr>
                                      <m:t>∆</m:t>
                                    </m:r>
                                    <m:r>
                                      <a:rPr lang="zh-TW" altLang="en-US" sz="1800" i="1">
                                        <a:latin typeface="Cambria Math" panose="02040503050406030204" pitchFamily="18" charset="0"/>
                                      </a:rPr>
                                      <m:t>𝞰</m:t>
                                    </m:r>
                                    <m:r>
                                      <a:rPr lang="en-US" altLang="zh-TW" sz="1800" i="1" baseline="-25000">
                                        <a:latin typeface="Cambria Math" panose="02040503050406030204" pitchFamily="18" charset="0"/>
                                      </a:rPr>
                                      <m:t>1</m:t>
                                    </m:r>
                                  </m:e>
                                </m:mr>
                                <m:mr>
                                  <m:e>
                                    <m:r>
                                      <m:rPr>
                                        <m:nor/>
                                      </m:rPr>
                                      <a:rPr lang="en-US" altLang="zh-TW" sz="1800" dirty="0">
                                        <a:latin typeface="arial" panose="020B0604020202020204" pitchFamily="34" charset="0"/>
                                      </a:rPr>
                                      <m:t>∆</m:t>
                                    </m:r>
                                    <m:r>
                                      <a:rPr lang="zh-TW" altLang="en-US" sz="1800" i="1">
                                        <a:latin typeface="Cambria Math" panose="02040503050406030204" pitchFamily="18" charset="0"/>
                                      </a:rPr>
                                      <m:t>𝞰</m:t>
                                    </m:r>
                                    <m:r>
                                      <a:rPr lang="en-US" altLang="zh-TW" sz="1800" i="1" baseline="-25000">
                                        <a:latin typeface="Cambria Math" panose="02040503050406030204" pitchFamily="18" charset="0"/>
                                      </a:rPr>
                                      <m:t>2</m:t>
                                    </m:r>
                                  </m:e>
                                </m:mr>
                                <m:mr>
                                  <m:e>
                                    <m:r>
                                      <m:rPr>
                                        <m:nor/>
                                      </m:rPr>
                                      <a:rPr lang="en-US" altLang="zh-TW" sz="1800" dirty="0">
                                        <a:latin typeface="arial" panose="020B0604020202020204" pitchFamily="34" charset="0"/>
                                      </a:rPr>
                                      <m:t>∆</m:t>
                                    </m:r>
                                    <m:r>
                                      <a:rPr lang="zh-TW" altLang="en-US" sz="1800" i="1">
                                        <a:latin typeface="Cambria Math" panose="02040503050406030204" pitchFamily="18" charset="0"/>
                                      </a:rPr>
                                      <m:t>𝞰</m:t>
                                    </m:r>
                                    <m:r>
                                      <a:rPr lang="en-US" altLang="zh-TW" sz="1800" i="1" baseline="-25000">
                                        <a:latin typeface="Cambria Math" panose="02040503050406030204" pitchFamily="18" charset="0"/>
                                      </a:rPr>
                                      <m:t>3</m:t>
                                    </m:r>
                                  </m:e>
                                </m:mr>
                              </m:m>
                            </m:e>
                          </m:mr>
                          <m:mr>
                            <m:e>
                              <m:m>
                                <m:mPr>
                                  <m:mcs>
                                    <m:mc>
                                      <m:mcPr>
                                        <m:count m:val="1"/>
                                        <m:mcJc m:val="center"/>
                                      </m:mcPr>
                                    </m:mc>
                                  </m:mcs>
                                  <m:ctrlPr>
                                    <a:rPr lang="en-US" altLang="zh-TW" sz="1800" i="1">
                                      <a:latin typeface="Cambria Math" panose="02040503050406030204" pitchFamily="18" charset="0"/>
                                    </a:rPr>
                                  </m:ctrlPr>
                                </m:mPr>
                                <m:mr>
                                  <m:e>
                                    <m:r>
                                      <m:rPr>
                                        <m:nor/>
                                      </m:rPr>
                                      <a:rPr lang="en-US" altLang="zh-TW" sz="1800" dirty="0">
                                        <a:latin typeface="arial" panose="020B0604020202020204" pitchFamily="34" charset="0"/>
                                      </a:rPr>
                                      <m:t>∆</m:t>
                                    </m:r>
                                    <m:r>
                                      <a:rPr lang="zh-TW" altLang="en-US" sz="1800" i="1">
                                        <a:latin typeface="Cambria Math" panose="02040503050406030204" pitchFamily="18" charset="0"/>
                                      </a:rPr>
                                      <m:t>𝞰</m:t>
                                    </m:r>
                                    <m:r>
                                      <a:rPr lang="en-US" altLang="zh-TW" sz="1800" i="1" baseline="-25000">
                                        <a:latin typeface="Cambria Math" panose="02040503050406030204" pitchFamily="18" charset="0"/>
                                      </a:rPr>
                                      <m:t>4</m:t>
                                    </m:r>
                                  </m:e>
                                </m:mr>
                                <m:mr>
                                  <m:e>
                                    <m:r>
                                      <m:rPr>
                                        <m:nor/>
                                      </m:rPr>
                                      <a:rPr lang="en-US" altLang="zh-TW" sz="1800" dirty="0">
                                        <a:latin typeface="arial" panose="020B0604020202020204" pitchFamily="34" charset="0"/>
                                      </a:rPr>
                                      <m:t>∆</m:t>
                                    </m:r>
                                    <m:r>
                                      <a:rPr lang="zh-TW" altLang="en-US" sz="1800" i="1">
                                        <a:latin typeface="Cambria Math" panose="02040503050406030204" pitchFamily="18" charset="0"/>
                                      </a:rPr>
                                      <m:t>𝞰</m:t>
                                    </m:r>
                                    <m:r>
                                      <a:rPr lang="en-US" altLang="zh-TW" sz="1800" i="1" baseline="-25000">
                                        <a:latin typeface="Cambria Math" panose="02040503050406030204" pitchFamily="18" charset="0"/>
                                      </a:rPr>
                                      <m:t>5</m:t>
                                    </m:r>
                                  </m:e>
                                </m:mr>
                                <m:mr>
                                  <m:e>
                                    <m:r>
                                      <m:rPr>
                                        <m:nor/>
                                      </m:rPr>
                                      <a:rPr lang="en-US" altLang="zh-TW" sz="1800" dirty="0">
                                        <a:latin typeface="arial" panose="020B0604020202020204" pitchFamily="34" charset="0"/>
                                      </a:rPr>
                                      <m:t>∆</m:t>
                                    </m:r>
                                    <m:r>
                                      <a:rPr lang="zh-TW" altLang="en-US" sz="1800" i="1">
                                        <a:latin typeface="Cambria Math" panose="02040503050406030204" pitchFamily="18" charset="0"/>
                                      </a:rPr>
                                      <m:t>𝞰</m:t>
                                    </m:r>
                                    <m:r>
                                      <a:rPr lang="en-US" altLang="zh-TW" sz="1800" i="1" baseline="-25000">
                                        <a:latin typeface="Cambria Math" panose="02040503050406030204" pitchFamily="18" charset="0"/>
                                      </a:rPr>
                                      <m:t>6</m:t>
                                    </m:r>
                                  </m:e>
                                </m:mr>
                              </m:m>
                            </m:e>
                          </m:mr>
                        </m:m>
                      </m:e>
                    </m:d>
                    <m:r>
                      <a:rPr lang="zh-TW" altLang="en-US" sz="1800" i="1">
                        <a:latin typeface="Cambria Math" panose="02040503050406030204" pitchFamily="18" charset="0"/>
                      </a:rPr>
                      <m:t> </m:t>
                    </m:r>
                  </m:oMath>
                </a14:m>
                <a:r>
                  <a:rPr lang="en-US" altLang="zh-TW" sz="1800" dirty="0"/>
                  <a:t>=</a:t>
                </a:r>
                <a:r>
                  <a:rPr lang="zh-TW" altLang="en-US" sz="1800" dirty="0"/>
                  <a:t>   </a:t>
                </a:r>
                <a:r>
                  <a:rPr lang="en-US" altLang="zh-TW" sz="1800" dirty="0"/>
                  <a:t>  </a:t>
                </a:r>
                <a:r>
                  <a:rPr lang="zh-TW" altLang="en-US" sz="1800" dirty="0"/>
                  <a:t> </a:t>
                </a:r>
                <a:r>
                  <a:rPr lang="en-US" altLang="zh-TW" sz="1800" dirty="0"/>
                  <a:t>		</a:t>
                </a:r>
                <a:endParaRPr lang="zh-TW" altLang="en-US" dirty="0"/>
              </a:p>
            </p:txBody>
          </p:sp>
        </mc:Choice>
        <mc:Fallback xmlns="">
          <p:sp>
            <p:nvSpPr>
              <p:cNvPr id="13" name="文字方塊 12">
                <a:extLst>
                  <a:ext uri="{FF2B5EF4-FFF2-40B4-BE49-F238E27FC236}">
                    <a16:creationId xmlns:a16="http://schemas.microsoft.com/office/drawing/2014/main" id="{7EB22BF2-07D6-BF7A-6A6E-364116A28C3C}"/>
                  </a:ext>
                </a:extLst>
              </p:cNvPr>
              <p:cNvSpPr txBox="1">
                <a:spLocks noRot="1" noChangeAspect="1" noMove="1" noResize="1" noEditPoints="1" noAdjustHandles="1" noChangeArrowheads="1" noChangeShapeType="1" noTextEdit="1"/>
              </p:cNvSpPr>
              <p:nvPr/>
            </p:nvSpPr>
            <p:spPr>
              <a:xfrm>
                <a:off x="2506531" y="2790616"/>
                <a:ext cx="6585289" cy="1724511"/>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3CACF2FE-75B4-0545-1ED3-04E1DBAB365A}"/>
                  </a:ext>
                </a:extLst>
              </p:cNvPr>
              <p:cNvSpPr txBox="1"/>
              <p:nvPr/>
            </p:nvSpPr>
            <p:spPr>
              <a:xfrm>
                <a:off x="5191308" y="2801804"/>
                <a:ext cx="1998232" cy="1597297"/>
              </a:xfrm>
              <a:prstGeom prst="rect">
                <a:avLst/>
              </a:prstGeom>
              <a:noFill/>
            </p:spPr>
            <p:txBody>
              <a:bodyPr wrap="square">
                <a:spAutoFit/>
              </a:bodyPr>
              <a:lstStyle/>
              <a:p>
                <a14:m>
                  <m:oMath xmlns:m="http://schemas.openxmlformats.org/officeDocument/2006/math">
                    <m:d>
                      <m:dPr>
                        <m:begChr m:val="["/>
                        <m:endChr m:val="]"/>
                        <m:ctrlPr>
                          <a:rPr lang="en-US" altLang="zh-TW" sz="1800" i="1" smtClean="0">
                            <a:latin typeface="Cambria Math" panose="02040503050406030204" pitchFamily="18" charset="0"/>
                          </a:rPr>
                        </m:ctrlPr>
                      </m:dPr>
                      <m:e>
                        <m:m>
                          <m:mPr>
                            <m:mcs>
                              <m:mc>
                                <m:mcPr>
                                  <m:count m:val="1"/>
                                  <m:mcJc m:val="center"/>
                                </m:mcPr>
                              </m:mc>
                            </m:mcs>
                            <m:ctrlPr>
                              <a:rPr lang="en-US" altLang="zh-TW" sz="1800" i="1">
                                <a:latin typeface="Cambria Math" panose="02040503050406030204" pitchFamily="18" charset="0"/>
                              </a:rPr>
                            </m:ctrlPr>
                          </m:mPr>
                          <m:mr>
                            <m:e>
                              <m:m>
                                <m:mPr>
                                  <m:mcs>
                                    <m:mc>
                                      <m:mcPr>
                                        <m:count m:val="3"/>
                                        <m:mcJc m:val="center"/>
                                      </m:mcPr>
                                    </m:mc>
                                  </m:mcs>
                                  <m:ctrlPr>
                                    <a:rPr lang="en-US" altLang="zh-TW" sz="1800" i="1">
                                      <a:latin typeface="Cambria Math" panose="02040503050406030204" pitchFamily="18" charset="0"/>
                                    </a:rPr>
                                  </m:ctrlPr>
                                </m:mPr>
                                <m:mr>
                                  <m:e>
                                    <m:r>
                                      <m:rPr>
                                        <m:brk m:alnAt="7"/>
                                      </m:rPr>
                                      <a:rPr lang="en-US" altLang="zh-TW" sz="1800" i="1">
                                        <a:latin typeface="Cambria Math" panose="02040503050406030204" pitchFamily="18" charset="0"/>
                                      </a:rPr>
                                      <m:t> </m:t>
                                    </m:r>
                                    <m:r>
                                      <a:rPr lang="en-US" altLang="zh-TW" sz="1800" i="1">
                                        <a:latin typeface="Cambria Math" panose="02040503050406030204" pitchFamily="18" charset="0"/>
                                      </a:rPr>
                                      <m:t>     0</m:t>
                                    </m:r>
                                  </m:e>
                                  <m:e>
                                    <m:r>
                                      <a:rPr lang="en-US" altLang="zh-TW" sz="1800" i="1">
                                        <a:latin typeface="Cambria Math" panose="02040503050406030204" pitchFamily="18" charset="0"/>
                                      </a:rPr>
                                      <m:t>−</m:t>
                                    </m:r>
                                    <m:r>
                                      <a:rPr lang="en-US" altLang="zh-TW" sz="1800" i="1">
                                        <a:latin typeface="Cambria Math" panose="02040503050406030204" pitchFamily="18" charset="0"/>
                                      </a:rPr>
                                      <m:t>𝑟</m:t>
                                    </m:r>
                                    <m:r>
                                      <a:rPr lang="en-US" altLang="zh-TW" sz="1800" i="1" baseline="-25000">
                                        <a:latin typeface="Cambria Math" panose="02040503050406030204" pitchFamily="18" charset="0"/>
                                      </a:rPr>
                                      <m:t>22</m:t>
                                    </m:r>
                                  </m:e>
                                  <m:e>
                                    <m:r>
                                      <a:rPr lang="en-US" altLang="zh-TW" sz="1800" i="1">
                                        <a:latin typeface="Cambria Math" panose="02040503050406030204" pitchFamily="18" charset="0"/>
                                      </a:rPr>
                                      <m:t>𝑟</m:t>
                                    </m:r>
                                    <m:r>
                                      <a:rPr lang="en-US" altLang="zh-TW" sz="1800" i="1" baseline="-25000">
                                        <a:latin typeface="Cambria Math" panose="02040503050406030204" pitchFamily="18" charset="0"/>
                                      </a:rPr>
                                      <m:t>33</m:t>
                                    </m:r>
                                  </m:e>
                                </m:mr>
                                <m:mr>
                                  <m:e>
                                    <m:r>
                                      <a:rPr lang="en-US" altLang="zh-TW" sz="1800" i="1">
                                        <a:latin typeface="Cambria Math" panose="02040503050406030204" pitchFamily="18" charset="0"/>
                                      </a:rPr>
                                      <m:t>      0</m:t>
                                    </m:r>
                                  </m:e>
                                  <m:e>
                                    <m:r>
                                      <a:rPr lang="en-US" altLang="zh-TW" sz="1800" i="1">
                                        <a:latin typeface="Cambria Math" panose="02040503050406030204" pitchFamily="18" charset="0"/>
                                      </a:rPr>
                                      <m:t>𝑟</m:t>
                                    </m:r>
                                    <m:r>
                                      <a:rPr lang="en-US" altLang="zh-TW" sz="1800" i="1" baseline="-25000">
                                        <a:latin typeface="Cambria Math" panose="02040503050406030204" pitchFamily="18" charset="0"/>
                                      </a:rPr>
                                      <m:t>22</m:t>
                                    </m:r>
                                  </m:e>
                                  <m:e>
                                    <m:r>
                                      <a:rPr lang="en-US" altLang="zh-TW" sz="1800" i="1">
                                        <a:latin typeface="Cambria Math" panose="02040503050406030204" pitchFamily="18" charset="0"/>
                                      </a:rPr>
                                      <m:t>𝑟</m:t>
                                    </m:r>
                                    <m:r>
                                      <a:rPr lang="en-US" altLang="zh-TW" sz="1800" i="1" baseline="-25000">
                                        <a:latin typeface="Cambria Math" panose="02040503050406030204" pitchFamily="18" charset="0"/>
                                      </a:rPr>
                                      <m:t>13</m:t>
                                    </m:r>
                                  </m:e>
                                </m:mr>
                                <m:mr>
                                  <m:e>
                                    <m:r>
                                      <a:rPr lang="en-US" altLang="zh-TW" sz="1800" i="1" smtClean="0">
                                        <a:latin typeface="Cambria Math" panose="02040503050406030204" pitchFamily="18" charset="0"/>
                                      </a:rPr>
                                      <m:t>  </m:t>
                                    </m:r>
                                    <m:r>
                                      <a:rPr lang="en-US" altLang="zh-TW" sz="1800" i="1">
                                        <a:latin typeface="Cambria Math" panose="02040503050406030204" pitchFamily="18" charset="0"/>
                                      </a:rPr>
                                      <m:t>    0</m:t>
                                    </m:r>
                                  </m:e>
                                  <m:e>
                                    <m:r>
                                      <a:rPr lang="en-US" altLang="zh-TW" sz="1800" i="1">
                                        <a:latin typeface="Cambria Math" panose="02040503050406030204" pitchFamily="18" charset="0"/>
                                      </a:rPr>
                                      <m:t>0</m:t>
                                    </m:r>
                                  </m:e>
                                  <m:e>
                                    <m:r>
                                      <a:rPr lang="en-US" altLang="zh-TW" sz="1800" i="1">
                                        <a:latin typeface="Cambria Math" panose="02040503050406030204" pitchFamily="18" charset="0"/>
                                      </a:rPr>
                                      <m:t>𝑟</m:t>
                                    </m:r>
                                    <m:r>
                                      <a:rPr lang="en-US" altLang="zh-TW" sz="1800" i="1" baseline="-25000">
                                        <a:latin typeface="Cambria Math" panose="02040503050406030204" pitchFamily="18" charset="0"/>
                                      </a:rPr>
                                      <m:t>33</m:t>
                                    </m:r>
                                  </m:e>
                                </m:mr>
                              </m:m>
                            </m:e>
                          </m:mr>
                          <m:mr>
                            <m:e>
                              <m:m>
                                <m:mPr>
                                  <m:mcs>
                                    <m:mc>
                                      <m:mcPr>
                                        <m:count m:val="3"/>
                                        <m:mcJc m:val="center"/>
                                      </m:mcPr>
                                    </m:mc>
                                  </m:mcs>
                                  <m:ctrlPr>
                                    <a:rPr lang="en-US" altLang="zh-TW" sz="1800" i="1">
                                      <a:latin typeface="Cambria Math" panose="02040503050406030204" pitchFamily="18" charset="0"/>
                                    </a:rPr>
                                  </m:ctrlPr>
                                </m:mPr>
                                <m:mr>
                                  <m:e>
                                    <m:r>
                                      <m:rPr>
                                        <m:brk m:alnAt="7"/>
                                      </m:rPr>
                                      <a:rPr lang="en-US" altLang="zh-TW" sz="1800" i="1">
                                        <a:latin typeface="Cambria Math" panose="02040503050406030204" pitchFamily="18" charset="0"/>
                                      </a:rPr>
                                      <m:t>0</m:t>
                                    </m:r>
                                  </m:e>
                                  <m:e>
                                    <m:r>
                                      <a:rPr lang="en-US" altLang="zh-TW" sz="1800" i="1">
                                        <a:latin typeface="Cambria Math" panose="02040503050406030204" pitchFamily="18" charset="0"/>
                                      </a:rPr>
                                      <m:t>𝑟</m:t>
                                    </m:r>
                                    <m:r>
                                      <a:rPr lang="en-US" altLang="zh-TW" sz="1800" i="1" baseline="-25000">
                                        <a:latin typeface="Cambria Math" panose="02040503050406030204" pitchFamily="18" charset="0"/>
                                      </a:rPr>
                                      <m:t>51</m:t>
                                    </m:r>
                                  </m:e>
                                  <m:e>
                                    <m:r>
                                      <a:rPr lang="en-US" altLang="zh-TW" sz="1800" i="1">
                                        <a:latin typeface="Cambria Math" panose="02040503050406030204" pitchFamily="18" charset="0"/>
                                      </a:rPr>
                                      <m:t>0</m:t>
                                    </m:r>
                                  </m:e>
                                </m:mr>
                                <m:mr>
                                  <m:e>
                                    <m:r>
                                      <a:rPr lang="en-US" altLang="zh-TW" sz="1800" i="1">
                                        <a:latin typeface="Cambria Math" panose="02040503050406030204" pitchFamily="18" charset="0"/>
                                      </a:rPr>
                                      <m:t>𝑟</m:t>
                                    </m:r>
                                    <m:r>
                                      <a:rPr lang="en-US" altLang="zh-TW" sz="1800" i="1" baseline="-25000">
                                        <a:latin typeface="Cambria Math" panose="02040503050406030204" pitchFamily="18" charset="0"/>
                                      </a:rPr>
                                      <m:t>51</m:t>
                                    </m:r>
                                  </m:e>
                                  <m:e>
                                    <m:r>
                                      <a:rPr lang="en-US" altLang="zh-TW" sz="1800" i="1">
                                        <a:latin typeface="Cambria Math" panose="02040503050406030204" pitchFamily="18" charset="0"/>
                                      </a:rPr>
                                      <m:t>0</m:t>
                                    </m:r>
                                  </m:e>
                                  <m:e>
                                    <m:r>
                                      <a:rPr lang="en-US" altLang="zh-TW" sz="1800" i="1">
                                        <a:latin typeface="Cambria Math" panose="02040503050406030204" pitchFamily="18" charset="0"/>
                                      </a:rPr>
                                      <m:t>0</m:t>
                                    </m:r>
                                  </m:e>
                                </m:mr>
                                <m:mr>
                                  <m:e>
                                    <m:r>
                                      <a:rPr lang="en-US" altLang="zh-TW" sz="1800" i="1">
                                        <a:latin typeface="Cambria Math" panose="02040503050406030204" pitchFamily="18" charset="0"/>
                                      </a:rPr>
                                      <m:t>−</m:t>
                                    </m:r>
                                    <m:r>
                                      <a:rPr lang="en-US" altLang="zh-TW" sz="1800" i="1">
                                        <a:latin typeface="Cambria Math" panose="02040503050406030204" pitchFamily="18" charset="0"/>
                                      </a:rPr>
                                      <m:t>𝑟</m:t>
                                    </m:r>
                                    <m:r>
                                      <a:rPr lang="en-US" altLang="zh-TW" sz="1800" i="1" baseline="-25000">
                                        <a:latin typeface="Cambria Math" panose="02040503050406030204" pitchFamily="18" charset="0"/>
                                      </a:rPr>
                                      <m:t>22</m:t>
                                    </m:r>
                                  </m:e>
                                  <m:e>
                                    <m:r>
                                      <a:rPr lang="en-US" altLang="zh-TW" sz="1800" i="1">
                                        <a:latin typeface="Cambria Math" panose="02040503050406030204" pitchFamily="18" charset="0"/>
                                      </a:rPr>
                                      <m:t>0</m:t>
                                    </m:r>
                                  </m:e>
                                  <m:e>
                                    <m:r>
                                      <a:rPr lang="en-US" altLang="zh-TW" sz="1800" i="1">
                                        <a:latin typeface="Cambria Math" panose="02040503050406030204" pitchFamily="18" charset="0"/>
                                      </a:rPr>
                                      <m:t>0</m:t>
                                    </m:r>
                                  </m:e>
                                </m:mr>
                              </m:m>
                            </m:e>
                          </m:mr>
                        </m:m>
                      </m:e>
                    </m:d>
                  </m:oMath>
                </a14:m>
                <a:r>
                  <a:rPr lang="en-US" altLang="zh-TW" sz="1800" dirty="0"/>
                  <a:t> </a:t>
                </a:r>
                <a:endParaRPr lang="zh-TW" altLang="en-US" dirty="0"/>
              </a:p>
            </p:txBody>
          </p:sp>
        </mc:Choice>
        <mc:Fallback xmlns="">
          <p:sp>
            <p:nvSpPr>
              <p:cNvPr id="15" name="文字方塊 14">
                <a:extLst>
                  <a:ext uri="{FF2B5EF4-FFF2-40B4-BE49-F238E27FC236}">
                    <a16:creationId xmlns:a16="http://schemas.microsoft.com/office/drawing/2014/main" id="{3CACF2FE-75B4-0545-1ED3-04E1DBAB365A}"/>
                  </a:ext>
                </a:extLst>
              </p:cNvPr>
              <p:cNvSpPr txBox="1">
                <a:spLocks noRot="1" noChangeAspect="1" noMove="1" noResize="1" noEditPoints="1" noAdjustHandles="1" noChangeArrowheads="1" noChangeShapeType="1" noTextEdit="1"/>
              </p:cNvSpPr>
              <p:nvPr/>
            </p:nvSpPr>
            <p:spPr>
              <a:xfrm>
                <a:off x="5191308" y="2801804"/>
                <a:ext cx="1998232" cy="1597297"/>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4F15CE22-EDAB-55F1-D96A-989C0E9AF068}"/>
                  </a:ext>
                </a:extLst>
              </p:cNvPr>
              <p:cNvSpPr txBox="1"/>
              <p:nvPr/>
            </p:nvSpPr>
            <p:spPr>
              <a:xfrm>
                <a:off x="5376877" y="2860862"/>
                <a:ext cx="1627094" cy="1504066"/>
              </a:xfrm>
              <a:prstGeom prst="rect">
                <a:avLst/>
              </a:prstGeom>
              <a:noFill/>
            </p:spPr>
            <p:txBody>
              <a:bodyPr wrap="square">
                <a:spAutoFit/>
              </a:bodyPr>
              <a:lstStyle/>
              <a:p>
                <a14:m>
                  <m:oMath xmlns:m="http://schemas.openxmlformats.org/officeDocument/2006/math">
                    <m:d>
                      <m:dPr>
                        <m:begChr m:val="["/>
                        <m:endChr m:val="]"/>
                        <m:ctrlPr>
                          <a:rPr lang="en-US" altLang="zh-TW" sz="1800" i="1" smtClean="0">
                            <a:latin typeface="Cambria Math" panose="02040503050406030204" pitchFamily="18" charset="0"/>
                          </a:rPr>
                        </m:ctrlPr>
                      </m:dPr>
                      <m:e>
                        <m:m>
                          <m:mPr>
                            <m:mcs>
                              <m:mc>
                                <m:mcPr>
                                  <m:count m:val="1"/>
                                  <m:mcJc m:val="center"/>
                                </m:mcPr>
                              </m:mc>
                            </m:mcs>
                            <m:ctrlPr>
                              <a:rPr lang="en-US" altLang="zh-TW" i="1">
                                <a:latin typeface="Cambria Math" panose="02040503050406030204" pitchFamily="18" charset="0"/>
                              </a:rPr>
                            </m:ctrlPr>
                          </m:mPr>
                          <m:mr>
                            <m:e>
                              <m:m>
                                <m:mPr>
                                  <m:mcs>
                                    <m:mc>
                                      <m:mcPr>
                                        <m:count m:val="3"/>
                                        <m:mcJc m:val="center"/>
                                      </m:mcPr>
                                    </m:mc>
                                  </m:mcs>
                                  <m:ctrlPr>
                                    <a:rPr lang="en-US" altLang="zh-TW" i="1">
                                      <a:latin typeface="Cambria Math" panose="02040503050406030204" pitchFamily="18" charset="0"/>
                                    </a:rPr>
                                  </m:ctrlPr>
                                </m:mPr>
                                <m:mr>
                                  <m:e>
                                    <m:r>
                                      <m:rPr>
                                        <m:brk m:alnAt="7"/>
                                      </m:rPr>
                                      <a:rPr lang="en-US" altLang="zh-TW" i="1">
                                        <a:latin typeface="Cambria Math" panose="02040503050406030204" pitchFamily="18" charset="0"/>
                                      </a:rPr>
                                      <m:t>𝑟</m:t>
                                    </m:r>
                                    <m:r>
                                      <a:rPr lang="en-US" altLang="zh-TW" i="1" baseline="-25000">
                                        <a:latin typeface="Cambria Math" panose="02040503050406030204" pitchFamily="18" charset="0"/>
                                      </a:rPr>
                                      <m:t>11</m:t>
                                    </m:r>
                                  </m:e>
                                  <m:e>
                                    <m:r>
                                      <a:rPr lang="en-US" altLang="zh-TW" i="1">
                                        <a:latin typeface="Cambria Math" panose="02040503050406030204" pitchFamily="18" charset="0"/>
                                      </a:rPr>
                                      <m:t>𝑟</m:t>
                                    </m:r>
                                    <m:r>
                                      <a:rPr lang="en-US" altLang="zh-TW" i="1" baseline="-25000">
                                        <a:latin typeface="Cambria Math" panose="02040503050406030204" pitchFamily="18" charset="0"/>
                                      </a:rPr>
                                      <m:t>12</m:t>
                                    </m:r>
                                  </m:e>
                                  <m:e>
                                    <m:r>
                                      <a:rPr lang="en-US" altLang="zh-TW" i="1">
                                        <a:latin typeface="Cambria Math" panose="02040503050406030204" pitchFamily="18" charset="0"/>
                                      </a:rPr>
                                      <m:t>𝑟</m:t>
                                    </m:r>
                                    <m:r>
                                      <a:rPr lang="en-US" altLang="zh-TW" i="1" baseline="-25000">
                                        <a:latin typeface="Cambria Math" panose="02040503050406030204" pitchFamily="18" charset="0"/>
                                      </a:rPr>
                                      <m:t>13</m:t>
                                    </m:r>
                                  </m:e>
                                </m:mr>
                                <m:mr>
                                  <m:e>
                                    <m:r>
                                      <a:rPr lang="en-US" altLang="zh-TW" i="1">
                                        <a:latin typeface="Cambria Math" panose="02040503050406030204" pitchFamily="18" charset="0"/>
                                      </a:rPr>
                                      <m:t>𝑟</m:t>
                                    </m:r>
                                    <m:r>
                                      <a:rPr lang="en-US" altLang="zh-TW" i="1" baseline="-25000">
                                        <a:latin typeface="Cambria Math" panose="02040503050406030204" pitchFamily="18" charset="0"/>
                                      </a:rPr>
                                      <m:t>21</m:t>
                                    </m:r>
                                  </m:e>
                                  <m:e>
                                    <m:r>
                                      <a:rPr lang="en-US" altLang="zh-TW" i="1">
                                        <a:latin typeface="Cambria Math" panose="02040503050406030204" pitchFamily="18" charset="0"/>
                                      </a:rPr>
                                      <m:t>𝑟</m:t>
                                    </m:r>
                                    <m:r>
                                      <a:rPr lang="en-US" altLang="zh-TW" i="1" baseline="-25000">
                                        <a:latin typeface="Cambria Math" panose="02040503050406030204" pitchFamily="18" charset="0"/>
                                      </a:rPr>
                                      <m:t>22</m:t>
                                    </m:r>
                                  </m:e>
                                  <m:e>
                                    <m:r>
                                      <a:rPr lang="en-US" altLang="zh-TW" i="1">
                                        <a:latin typeface="Cambria Math" panose="02040503050406030204" pitchFamily="18" charset="0"/>
                                      </a:rPr>
                                      <m:t>𝑟</m:t>
                                    </m:r>
                                    <m:r>
                                      <a:rPr lang="en-US" altLang="zh-TW" i="1" baseline="-25000">
                                        <a:latin typeface="Cambria Math" panose="02040503050406030204" pitchFamily="18" charset="0"/>
                                      </a:rPr>
                                      <m:t>23</m:t>
                                    </m:r>
                                  </m:e>
                                </m:mr>
                                <m:mr>
                                  <m:e>
                                    <m:r>
                                      <a:rPr lang="en-US" altLang="zh-TW" i="1">
                                        <a:latin typeface="Cambria Math" panose="02040503050406030204" pitchFamily="18" charset="0"/>
                                      </a:rPr>
                                      <m:t>𝑟</m:t>
                                    </m:r>
                                    <m:r>
                                      <a:rPr lang="en-US" altLang="zh-TW" i="1" baseline="-25000">
                                        <a:latin typeface="Cambria Math" panose="02040503050406030204" pitchFamily="18" charset="0"/>
                                      </a:rPr>
                                      <m:t>31</m:t>
                                    </m:r>
                                  </m:e>
                                  <m:e>
                                    <m:r>
                                      <a:rPr lang="en-US" altLang="zh-TW" i="1">
                                        <a:latin typeface="Cambria Math" panose="02040503050406030204" pitchFamily="18" charset="0"/>
                                      </a:rPr>
                                      <m:t>𝑟</m:t>
                                    </m:r>
                                    <m:r>
                                      <a:rPr lang="en-US" altLang="zh-TW" i="1" baseline="-25000">
                                        <a:latin typeface="Cambria Math" panose="02040503050406030204" pitchFamily="18" charset="0"/>
                                      </a:rPr>
                                      <m:t>32</m:t>
                                    </m:r>
                                  </m:e>
                                  <m:e>
                                    <m:r>
                                      <a:rPr lang="en-US" altLang="zh-TW" i="1">
                                        <a:latin typeface="Cambria Math" panose="02040503050406030204" pitchFamily="18" charset="0"/>
                                      </a:rPr>
                                      <m:t>𝑟</m:t>
                                    </m:r>
                                    <m:r>
                                      <a:rPr lang="en-US" altLang="zh-TW" i="1" baseline="-25000">
                                        <a:latin typeface="Cambria Math" panose="02040503050406030204" pitchFamily="18" charset="0"/>
                                      </a:rPr>
                                      <m:t>33</m:t>
                                    </m:r>
                                  </m:e>
                                </m:mr>
                              </m:m>
                            </m:e>
                          </m:mr>
                          <m:mr>
                            <m:e>
                              <m:m>
                                <m:mPr>
                                  <m:mcs>
                                    <m:mc>
                                      <m:mcPr>
                                        <m:count m:val="3"/>
                                        <m:mcJc m:val="center"/>
                                      </m:mcPr>
                                    </m:mc>
                                  </m:mcs>
                                  <m:ctrlPr>
                                    <a:rPr lang="en-US" altLang="zh-TW" i="1">
                                      <a:latin typeface="Cambria Math" panose="02040503050406030204" pitchFamily="18" charset="0"/>
                                    </a:rPr>
                                  </m:ctrlPr>
                                </m:mPr>
                                <m:mr>
                                  <m:e>
                                    <m:r>
                                      <m:rPr>
                                        <m:brk m:alnAt="7"/>
                                      </m:rPr>
                                      <a:rPr lang="en-US" altLang="zh-TW" i="1">
                                        <a:latin typeface="Cambria Math" panose="02040503050406030204" pitchFamily="18" charset="0"/>
                                      </a:rPr>
                                      <m:t>𝑟</m:t>
                                    </m:r>
                                    <m:r>
                                      <a:rPr lang="en-US" altLang="zh-TW" i="1" baseline="-25000">
                                        <a:latin typeface="Cambria Math" panose="02040503050406030204" pitchFamily="18" charset="0"/>
                                      </a:rPr>
                                      <m:t>41</m:t>
                                    </m:r>
                                  </m:e>
                                  <m:e>
                                    <m:r>
                                      <a:rPr lang="en-US" altLang="zh-TW" i="1">
                                        <a:latin typeface="Cambria Math" panose="02040503050406030204" pitchFamily="18" charset="0"/>
                                      </a:rPr>
                                      <m:t>𝑟</m:t>
                                    </m:r>
                                    <m:r>
                                      <a:rPr lang="en-US" altLang="zh-TW" i="1" baseline="-25000">
                                        <a:latin typeface="Cambria Math" panose="02040503050406030204" pitchFamily="18" charset="0"/>
                                      </a:rPr>
                                      <m:t>42</m:t>
                                    </m:r>
                                  </m:e>
                                  <m:e>
                                    <m:r>
                                      <a:rPr lang="en-US" altLang="zh-TW" i="1">
                                        <a:latin typeface="Cambria Math" panose="02040503050406030204" pitchFamily="18" charset="0"/>
                                      </a:rPr>
                                      <m:t>𝑟</m:t>
                                    </m:r>
                                    <m:r>
                                      <a:rPr lang="en-US" altLang="zh-TW" i="1" baseline="-25000">
                                        <a:latin typeface="Cambria Math" panose="02040503050406030204" pitchFamily="18" charset="0"/>
                                      </a:rPr>
                                      <m:t>43</m:t>
                                    </m:r>
                                  </m:e>
                                </m:mr>
                                <m:mr>
                                  <m:e>
                                    <m:r>
                                      <a:rPr lang="en-US" altLang="zh-TW" i="1">
                                        <a:latin typeface="Cambria Math" panose="02040503050406030204" pitchFamily="18" charset="0"/>
                                      </a:rPr>
                                      <m:t>𝑟</m:t>
                                    </m:r>
                                    <m:r>
                                      <a:rPr lang="en-US" altLang="zh-TW" i="1" baseline="-25000">
                                        <a:latin typeface="Cambria Math" panose="02040503050406030204" pitchFamily="18" charset="0"/>
                                      </a:rPr>
                                      <m:t>51</m:t>
                                    </m:r>
                                  </m:e>
                                  <m:e>
                                    <m:r>
                                      <a:rPr lang="en-US" altLang="zh-TW" i="1">
                                        <a:latin typeface="Cambria Math" panose="02040503050406030204" pitchFamily="18" charset="0"/>
                                      </a:rPr>
                                      <m:t>𝑟</m:t>
                                    </m:r>
                                    <m:r>
                                      <a:rPr lang="en-US" altLang="zh-TW" i="1" baseline="-25000">
                                        <a:latin typeface="Cambria Math" panose="02040503050406030204" pitchFamily="18" charset="0"/>
                                      </a:rPr>
                                      <m:t>52</m:t>
                                    </m:r>
                                  </m:e>
                                  <m:e>
                                    <m:r>
                                      <a:rPr lang="en-US" altLang="zh-TW" i="1">
                                        <a:latin typeface="Cambria Math" panose="02040503050406030204" pitchFamily="18" charset="0"/>
                                      </a:rPr>
                                      <m:t>𝑟</m:t>
                                    </m:r>
                                    <m:r>
                                      <a:rPr lang="en-US" altLang="zh-TW" i="1" baseline="-25000">
                                        <a:latin typeface="Cambria Math" panose="02040503050406030204" pitchFamily="18" charset="0"/>
                                      </a:rPr>
                                      <m:t>53</m:t>
                                    </m:r>
                                  </m:e>
                                </m:mr>
                                <m:mr>
                                  <m:e>
                                    <m:r>
                                      <a:rPr lang="en-US" altLang="zh-TW" i="1">
                                        <a:latin typeface="Cambria Math" panose="02040503050406030204" pitchFamily="18" charset="0"/>
                                      </a:rPr>
                                      <m:t>𝑟</m:t>
                                    </m:r>
                                    <m:r>
                                      <a:rPr lang="en-US" altLang="zh-TW" i="1" baseline="-25000">
                                        <a:latin typeface="Cambria Math" panose="02040503050406030204" pitchFamily="18" charset="0"/>
                                      </a:rPr>
                                      <m:t>61</m:t>
                                    </m:r>
                                  </m:e>
                                  <m:e>
                                    <m:r>
                                      <a:rPr lang="en-US" altLang="zh-TW" i="1">
                                        <a:latin typeface="Cambria Math" panose="02040503050406030204" pitchFamily="18" charset="0"/>
                                      </a:rPr>
                                      <m:t>𝑟</m:t>
                                    </m:r>
                                    <m:r>
                                      <a:rPr lang="en-US" altLang="zh-TW" i="1" baseline="-25000">
                                        <a:latin typeface="Cambria Math" panose="02040503050406030204" pitchFamily="18" charset="0"/>
                                      </a:rPr>
                                      <m:t>62</m:t>
                                    </m:r>
                                  </m:e>
                                  <m:e>
                                    <m:r>
                                      <a:rPr lang="en-US" altLang="zh-TW" i="1">
                                        <a:latin typeface="Cambria Math" panose="02040503050406030204" pitchFamily="18" charset="0"/>
                                      </a:rPr>
                                      <m:t>𝑟</m:t>
                                    </m:r>
                                    <m:r>
                                      <a:rPr lang="en-US" altLang="zh-TW" i="1" baseline="-25000">
                                        <a:latin typeface="Cambria Math" panose="02040503050406030204" pitchFamily="18" charset="0"/>
                                      </a:rPr>
                                      <m:t>63</m:t>
                                    </m:r>
                                  </m:e>
                                </m:mr>
                              </m:m>
                            </m:e>
                          </m:mr>
                        </m:m>
                      </m:e>
                    </m:d>
                  </m:oMath>
                </a14:m>
                <a:r>
                  <a:rPr lang="en-US" altLang="zh-TW" sz="1800" dirty="0"/>
                  <a:t> </a:t>
                </a:r>
                <a:endParaRPr lang="zh-TW" altLang="en-US" dirty="0"/>
              </a:p>
            </p:txBody>
          </p:sp>
        </mc:Choice>
        <mc:Fallback xmlns="">
          <p:sp>
            <p:nvSpPr>
              <p:cNvPr id="17" name="文字方塊 16">
                <a:extLst>
                  <a:ext uri="{FF2B5EF4-FFF2-40B4-BE49-F238E27FC236}">
                    <a16:creationId xmlns:a16="http://schemas.microsoft.com/office/drawing/2014/main" id="{4F15CE22-EDAB-55F1-D96A-989C0E9AF068}"/>
                  </a:ext>
                </a:extLst>
              </p:cNvPr>
              <p:cNvSpPr txBox="1">
                <a:spLocks noRot="1" noChangeAspect="1" noMove="1" noResize="1" noEditPoints="1" noAdjustHandles="1" noChangeArrowheads="1" noChangeShapeType="1" noTextEdit="1"/>
              </p:cNvSpPr>
              <p:nvPr/>
            </p:nvSpPr>
            <p:spPr>
              <a:xfrm>
                <a:off x="5376877" y="2860862"/>
                <a:ext cx="1627094" cy="1504066"/>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6EDCD282-549D-40D1-DC79-AB951180C643}"/>
                  </a:ext>
                </a:extLst>
              </p:cNvPr>
              <p:cNvSpPr txBox="1"/>
              <p:nvPr/>
            </p:nvSpPr>
            <p:spPr>
              <a:xfrm>
                <a:off x="7033213" y="3212991"/>
                <a:ext cx="551329" cy="82490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1800" i="1" smtClean="0">
                              <a:latin typeface="Cambria Math" panose="02040503050406030204" pitchFamily="18" charset="0"/>
                            </a:rPr>
                          </m:ctrlPr>
                        </m:dPr>
                        <m:e>
                          <m:m>
                            <m:mPr>
                              <m:mcs>
                                <m:mc>
                                  <m:mcPr>
                                    <m:count m:val="1"/>
                                    <m:mcJc m:val="center"/>
                                  </m:mcPr>
                                </m:mc>
                              </m:mcs>
                              <m:ctrlPr>
                                <a:rPr lang="en-US" altLang="zh-TW" sz="1800" i="1">
                                  <a:latin typeface="Cambria Math" panose="02040503050406030204" pitchFamily="18" charset="0"/>
                                </a:rPr>
                              </m:ctrlPr>
                            </m:mPr>
                            <m:mr>
                              <m:e>
                                <m:r>
                                  <m:rPr>
                                    <m:brk m:alnAt="7"/>
                                  </m:rPr>
                                  <a:rPr lang="en-US" altLang="zh-TW" sz="1800" i="1">
                                    <a:latin typeface="Cambria Math" panose="02040503050406030204" pitchFamily="18" charset="0"/>
                                  </a:rPr>
                                  <m:t>0</m:t>
                                </m:r>
                              </m:e>
                            </m:mr>
                            <m:mr>
                              <m:e>
                                <m:r>
                                  <a:rPr lang="en-US" altLang="zh-TW" sz="1800" i="1">
                                    <a:latin typeface="Cambria Math" panose="02040503050406030204" pitchFamily="18" charset="0"/>
                                  </a:rPr>
                                  <m:t>𝐸</m:t>
                                </m:r>
                                <m:r>
                                  <a:rPr lang="en-US" altLang="zh-TW" sz="1800" b="0" i="1" baseline="-25000" smtClean="0">
                                    <a:latin typeface="Cambria Math" panose="02040503050406030204" pitchFamily="18" charset="0"/>
                                  </a:rPr>
                                  <m:t>𝑦</m:t>
                                </m:r>
                              </m:e>
                            </m:mr>
                            <m:mr>
                              <m:e>
                                <m:r>
                                  <a:rPr lang="en-US" altLang="zh-TW" sz="1800" i="1">
                                    <a:latin typeface="Cambria Math" panose="02040503050406030204" pitchFamily="18" charset="0"/>
                                  </a:rPr>
                                  <m:t>0</m:t>
                                </m:r>
                              </m:e>
                            </m:mr>
                          </m:m>
                        </m:e>
                      </m:d>
                    </m:oMath>
                  </m:oMathPara>
                </a14:m>
                <a:endParaRPr lang="zh-TW" altLang="en-US" dirty="0"/>
              </a:p>
            </p:txBody>
          </p:sp>
        </mc:Choice>
        <mc:Fallback xmlns="">
          <p:sp>
            <p:nvSpPr>
              <p:cNvPr id="19" name="文字方塊 18">
                <a:extLst>
                  <a:ext uri="{FF2B5EF4-FFF2-40B4-BE49-F238E27FC236}">
                    <a16:creationId xmlns:a16="http://schemas.microsoft.com/office/drawing/2014/main" id="{6EDCD282-549D-40D1-DC79-AB951180C643}"/>
                  </a:ext>
                </a:extLst>
              </p:cNvPr>
              <p:cNvSpPr txBox="1">
                <a:spLocks noRot="1" noChangeAspect="1" noMove="1" noResize="1" noEditPoints="1" noAdjustHandles="1" noChangeArrowheads="1" noChangeShapeType="1" noTextEdit="1"/>
              </p:cNvSpPr>
              <p:nvPr/>
            </p:nvSpPr>
            <p:spPr>
              <a:xfrm>
                <a:off x="7033213" y="3212991"/>
                <a:ext cx="551329" cy="824906"/>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2B4F2B1C-911A-5E43-1FDA-88646EA1B43E}"/>
                  </a:ext>
                </a:extLst>
              </p:cNvPr>
              <p:cNvSpPr txBox="1"/>
              <p:nvPr/>
            </p:nvSpPr>
            <p:spPr>
              <a:xfrm>
                <a:off x="7037111" y="3227189"/>
                <a:ext cx="551329" cy="8224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1800" i="1" smtClean="0">
                              <a:latin typeface="Cambria Math" panose="02040503050406030204" pitchFamily="18" charset="0"/>
                            </a:rPr>
                          </m:ctrlPr>
                        </m:dPr>
                        <m:e>
                          <m:m>
                            <m:mPr>
                              <m:mcs>
                                <m:mc>
                                  <m:mcPr>
                                    <m:count m:val="1"/>
                                    <m:mcJc m:val="center"/>
                                  </m:mcPr>
                                </m:mc>
                              </m:mcs>
                              <m:ctrlPr>
                                <a:rPr lang="en-US" altLang="zh-TW" sz="1800" i="1">
                                  <a:latin typeface="Cambria Math" panose="02040503050406030204" pitchFamily="18" charset="0"/>
                                </a:rPr>
                              </m:ctrlPr>
                            </m:mPr>
                            <m:mr>
                              <m:e>
                                <m:r>
                                  <m:rPr>
                                    <m:brk m:alnAt="7"/>
                                  </m:rPr>
                                  <a:rPr lang="en-US" altLang="zh-TW" sz="1800" i="1">
                                    <a:latin typeface="Cambria Math" panose="02040503050406030204" pitchFamily="18" charset="0"/>
                                  </a:rPr>
                                  <m:t>𝐸</m:t>
                                </m:r>
                                <m:r>
                                  <a:rPr lang="en-US" altLang="zh-TW" sz="1800" i="1" baseline="-25000">
                                    <a:latin typeface="Cambria Math" panose="02040503050406030204" pitchFamily="18" charset="0"/>
                                  </a:rPr>
                                  <m:t>1</m:t>
                                </m:r>
                              </m:e>
                            </m:mr>
                            <m:mr>
                              <m:e>
                                <m:r>
                                  <a:rPr lang="en-US" altLang="zh-TW" sz="1800" i="1">
                                    <a:latin typeface="Cambria Math" panose="02040503050406030204" pitchFamily="18" charset="0"/>
                                  </a:rPr>
                                  <m:t>𝐸</m:t>
                                </m:r>
                                <m:r>
                                  <a:rPr lang="en-US" altLang="zh-TW" sz="1800" i="1" baseline="-25000">
                                    <a:latin typeface="Cambria Math" panose="02040503050406030204" pitchFamily="18" charset="0"/>
                                  </a:rPr>
                                  <m:t>2</m:t>
                                </m:r>
                              </m:e>
                            </m:mr>
                            <m:mr>
                              <m:e>
                                <m:r>
                                  <a:rPr lang="en-US" altLang="zh-TW" sz="1800" i="1">
                                    <a:latin typeface="Cambria Math" panose="02040503050406030204" pitchFamily="18" charset="0"/>
                                  </a:rPr>
                                  <m:t>𝐸</m:t>
                                </m:r>
                                <m:r>
                                  <a:rPr lang="en-US" altLang="zh-TW" sz="1800" i="1" baseline="-25000">
                                    <a:latin typeface="Cambria Math" panose="02040503050406030204" pitchFamily="18" charset="0"/>
                                  </a:rPr>
                                  <m:t>3</m:t>
                                </m:r>
                              </m:e>
                            </m:mr>
                          </m:m>
                        </m:e>
                      </m:d>
                    </m:oMath>
                  </m:oMathPara>
                </a14:m>
                <a:endParaRPr lang="zh-TW" altLang="en-US" dirty="0"/>
              </a:p>
            </p:txBody>
          </p:sp>
        </mc:Choice>
        <mc:Fallback xmlns="">
          <p:sp>
            <p:nvSpPr>
              <p:cNvPr id="21" name="文字方塊 20">
                <a:extLst>
                  <a:ext uri="{FF2B5EF4-FFF2-40B4-BE49-F238E27FC236}">
                    <a16:creationId xmlns:a16="http://schemas.microsoft.com/office/drawing/2014/main" id="{2B4F2B1C-911A-5E43-1FDA-88646EA1B43E}"/>
                  </a:ext>
                </a:extLst>
              </p:cNvPr>
              <p:cNvSpPr txBox="1">
                <a:spLocks noRot="1" noChangeAspect="1" noMove="1" noResize="1" noEditPoints="1" noAdjustHandles="1" noChangeArrowheads="1" noChangeShapeType="1" noTextEdit="1"/>
              </p:cNvSpPr>
              <p:nvPr/>
            </p:nvSpPr>
            <p:spPr>
              <a:xfrm>
                <a:off x="7037111" y="3227189"/>
                <a:ext cx="551329" cy="822469"/>
              </a:xfrm>
              <a:prstGeom prst="rect">
                <a:avLst/>
              </a:prstGeom>
              <a:blipFill>
                <a:blip r:embed="rId9"/>
                <a:stretch>
                  <a:fillRect b="-741"/>
                </a:stretch>
              </a:blipFill>
            </p:spPr>
            <p:txBody>
              <a:bodyPr/>
              <a:lstStyle/>
              <a:p>
                <a:r>
                  <a:rPr lang="zh-TW" altLang="en-US">
                    <a:noFill/>
                  </a:rPr>
                  <a:t> </a:t>
                </a:r>
              </a:p>
            </p:txBody>
          </p:sp>
        </mc:Fallback>
      </mc:AlternateContent>
      <p:sp>
        <p:nvSpPr>
          <p:cNvPr id="22" name="文字方塊 21">
            <a:extLst>
              <a:ext uri="{FF2B5EF4-FFF2-40B4-BE49-F238E27FC236}">
                <a16:creationId xmlns:a16="http://schemas.microsoft.com/office/drawing/2014/main" id="{CF13CE73-3DAD-8080-6652-82B8B0566859}"/>
              </a:ext>
            </a:extLst>
          </p:cNvPr>
          <p:cNvSpPr txBox="1"/>
          <p:nvPr/>
        </p:nvSpPr>
        <p:spPr>
          <a:xfrm>
            <a:off x="6750467" y="4375599"/>
            <a:ext cx="1497526" cy="369332"/>
          </a:xfrm>
          <a:prstGeom prst="rect">
            <a:avLst/>
          </a:prstGeom>
          <a:noFill/>
        </p:spPr>
        <p:txBody>
          <a:bodyPr wrap="none" rtlCol="0">
            <a:spAutoFit/>
          </a:bodyPr>
          <a:lstStyle/>
          <a:p>
            <a:r>
              <a:rPr lang="en-US" altLang="zh-TW" dirty="0"/>
              <a:t>y</a:t>
            </a:r>
            <a:r>
              <a:rPr lang="zh-TW" altLang="en-US" dirty="0"/>
              <a:t> </a:t>
            </a:r>
            <a:r>
              <a:rPr lang="en-US" altLang="zh-TW" dirty="0"/>
              <a:t>electric field</a:t>
            </a:r>
            <a:endParaRPr lang="zh-TW" altLang="en-US" dirty="0"/>
          </a:p>
        </p:txBody>
      </p:sp>
      <p:cxnSp>
        <p:nvCxnSpPr>
          <p:cNvPr id="24" name="直線單箭頭接點 23">
            <a:extLst>
              <a:ext uri="{FF2B5EF4-FFF2-40B4-BE49-F238E27FC236}">
                <a16:creationId xmlns:a16="http://schemas.microsoft.com/office/drawing/2014/main" id="{54251919-EA73-47CB-C133-0BEFAFB43AC7}"/>
              </a:ext>
            </a:extLst>
          </p:cNvPr>
          <p:cNvCxnSpPr>
            <a:cxnSpLocks/>
          </p:cNvCxnSpPr>
          <p:nvPr/>
        </p:nvCxnSpPr>
        <p:spPr>
          <a:xfrm>
            <a:off x="2196298" y="2279363"/>
            <a:ext cx="888666" cy="1149637"/>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8861A539-988D-EF2F-60C5-D370FF1A4E77}"/>
                  </a:ext>
                </a:extLst>
              </p:cNvPr>
              <p:cNvSpPr txBox="1"/>
              <p:nvPr/>
            </p:nvSpPr>
            <p:spPr>
              <a:xfrm>
                <a:off x="245913" y="2827239"/>
                <a:ext cx="2105502" cy="1469057"/>
              </a:xfrm>
              <a:prstGeom prst="rect">
                <a:avLst/>
              </a:prstGeom>
              <a:noFill/>
            </p:spPr>
            <p:txBody>
              <a:bodyPr wrap="square">
                <a:spAutoFit/>
              </a:bodyPr>
              <a:lstStyle/>
              <a:p>
                <a14:m>
                  <m:oMath xmlns:m="http://schemas.openxmlformats.org/officeDocument/2006/math">
                    <m:r>
                      <a:rPr lang="zh-TW" altLang="en-US" sz="1800" i="1" smtClean="0">
                        <a:latin typeface="Cambria Math" panose="02040503050406030204" pitchFamily="18" charset="0"/>
                      </a:rPr>
                      <m:t>𝞰</m:t>
                    </m:r>
                  </m:oMath>
                </a14:m>
                <a:r>
                  <a:rPr lang="en-US" altLang="zh-TW" sz="1800" baseline="-25000" dirty="0" err="1"/>
                  <a:t>ij</a:t>
                </a:r>
                <a:r>
                  <a:rPr lang="en-US" altLang="zh-TW" sz="1800" dirty="0"/>
                  <a:t>(0) =</a:t>
                </a:r>
                <a14:m>
                  <m:oMath xmlns:m="http://schemas.openxmlformats.org/officeDocument/2006/math">
                    <m:d>
                      <m:dPr>
                        <m:begChr m:val="⌈"/>
                        <m:endChr m:val="⌉"/>
                        <m:ctrlPr>
                          <a:rPr lang="en-US" altLang="zh-TW" sz="1800" i="1" smtClean="0">
                            <a:latin typeface="Cambria Math" panose="02040503050406030204" pitchFamily="18" charset="0"/>
                          </a:rPr>
                        </m:ctrlPr>
                      </m:dPr>
                      <m:e>
                        <m:m>
                          <m:mPr>
                            <m:mcs>
                              <m:mc>
                                <m:mcPr>
                                  <m:count m:val="3"/>
                                  <m:mcJc m:val="center"/>
                                </m:mcPr>
                              </m:mc>
                            </m:mcs>
                            <m:ctrlPr>
                              <a:rPr lang="en-US" altLang="zh-TW" sz="1800" i="1" smtClean="0">
                                <a:latin typeface="Cambria Math" panose="02040503050406030204" pitchFamily="18" charset="0"/>
                              </a:rPr>
                            </m:ctrlPr>
                          </m:mPr>
                          <m:mr>
                            <m:e>
                              <m:f>
                                <m:fPr>
                                  <m:ctrlPr>
                                    <a:rPr lang="en-US" altLang="zh-TW" sz="1800" i="1" smtClean="0">
                                      <a:latin typeface="Cambria Math" panose="02040503050406030204" pitchFamily="18" charset="0"/>
                                    </a:rPr>
                                  </m:ctrlPr>
                                </m:fPr>
                                <m:num>
                                  <m:r>
                                    <a:rPr lang="en-US" altLang="zh-TW" sz="1800" b="0" i="1" smtClean="0">
                                      <a:latin typeface="Cambria Math" panose="02040503050406030204" pitchFamily="18" charset="0"/>
                                    </a:rPr>
                                    <m:t>1</m:t>
                                  </m:r>
                                </m:num>
                                <m:den>
                                  <m:sSubSup>
                                    <m:sSubSupPr>
                                      <m:ctrlPr>
                                        <a:rPr lang="en-US" altLang="zh-TW" sz="1800" i="1" smtClean="0">
                                          <a:latin typeface="Cambria Math" panose="02040503050406030204" pitchFamily="18" charset="0"/>
                                        </a:rPr>
                                      </m:ctrlPr>
                                    </m:sSubSupPr>
                                    <m:e>
                                      <m:r>
                                        <a:rPr lang="en-US" altLang="zh-TW" sz="1800" b="0" i="1" smtClean="0">
                                          <a:latin typeface="Cambria Math" panose="02040503050406030204" pitchFamily="18" charset="0"/>
                                        </a:rPr>
                                        <m:t>𝑛</m:t>
                                      </m:r>
                                    </m:e>
                                    <m:sub>
                                      <m:r>
                                        <a:rPr lang="en-US" altLang="zh-TW" sz="1800" b="0" i="1" smtClean="0">
                                          <a:latin typeface="Cambria Math" panose="02040503050406030204" pitchFamily="18" charset="0"/>
                                        </a:rPr>
                                        <m:t>𝑜</m:t>
                                      </m:r>
                                    </m:sub>
                                    <m:sup>
                                      <m:r>
                                        <a:rPr lang="en-US" altLang="zh-TW" sz="1800" b="0" i="1" smtClean="0">
                                          <a:latin typeface="Cambria Math" panose="02040503050406030204" pitchFamily="18" charset="0"/>
                                        </a:rPr>
                                        <m:t>2</m:t>
                                      </m:r>
                                    </m:sup>
                                  </m:sSubSup>
                                </m:den>
                              </m:f>
                            </m:e>
                            <m:e>
                              <m:r>
                                <a:rPr lang="en-US" altLang="zh-TW" sz="1800" b="0" i="1" smtClean="0">
                                  <a:latin typeface="Cambria Math" panose="02040503050406030204" pitchFamily="18" charset="0"/>
                                </a:rPr>
                                <m:t>0</m:t>
                              </m:r>
                            </m:e>
                            <m:e>
                              <m:r>
                                <a:rPr lang="en-US" altLang="zh-TW" sz="1800" b="0" i="1" smtClean="0">
                                  <a:latin typeface="Cambria Math" panose="02040503050406030204" pitchFamily="18" charset="0"/>
                                </a:rPr>
                                <m:t>0</m:t>
                              </m:r>
                            </m:e>
                          </m:mr>
                          <m:mr>
                            <m:e>
                              <m:r>
                                <a:rPr lang="en-US" altLang="zh-TW" sz="1800" b="0" i="1" smtClean="0">
                                  <a:latin typeface="Cambria Math" panose="02040503050406030204" pitchFamily="18" charset="0"/>
                                </a:rPr>
                                <m:t>0</m:t>
                              </m:r>
                            </m:e>
                            <m:e>
                              <m:f>
                                <m:fPr>
                                  <m:ctrlPr>
                                    <a:rPr lang="en-US" altLang="zh-TW" sz="1800" i="1">
                                      <a:latin typeface="Cambria Math" panose="02040503050406030204" pitchFamily="18" charset="0"/>
                                    </a:rPr>
                                  </m:ctrlPr>
                                </m:fPr>
                                <m:num>
                                  <m:r>
                                    <a:rPr lang="en-US" altLang="zh-TW" sz="1800" i="1">
                                      <a:latin typeface="Cambria Math" panose="02040503050406030204" pitchFamily="18" charset="0"/>
                                    </a:rPr>
                                    <m:t>1</m:t>
                                  </m:r>
                                </m:num>
                                <m:den>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𝑛</m:t>
                                      </m:r>
                                    </m:e>
                                    <m:sub>
                                      <m:r>
                                        <a:rPr lang="en-US" altLang="zh-TW" sz="1800" i="1">
                                          <a:latin typeface="Cambria Math" panose="02040503050406030204" pitchFamily="18" charset="0"/>
                                        </a:rPr>
                                        <m:t>𝑜</m:t>
                                      </m:r>
                                    </m:sub>
                                    <m:sup>
                                      <m:r>
                                        <a:rPr lang="en-US" altLang="zh-TW" sz="1800" i="1">
                                          <a:latin typeface="Cambria Math" panose="02040503050406030204" pitchFamily="18" charset="0"/>
                                        </a:rPr>
                                        <m:t>2</m:t>
                                      </m:r>
                                    </m:sup>
                                  </m:sSubSup>
                                </m:den>
                              </m:f>
                            </m:e>
                            <m:e>
                              <m:r>
                                <a:rPr lang="en-US" altLang="zh-TW" sz="1800" b="0" i="1" smtClean="0">
                                  <a:latin typeface="Cambria Math" panose="02040503050406030204" pitchFamily="18" charset="0"/>
                                </a:rPr>
                                <m:t>0</m:t>
                              </m:r>
                            </m:e>
                          </m:mr>
                          <m:mr>
                            <m:e>
                              <m:r>
                                <a:rPr lang="en-US" altLang="zh-TW" sz="1800" b="0" i="1" smtClean="0">
                                  <a:latin typeface="Cambria Math" panose="02040503050406030204" pitchFamily="18" charset="0"/>
                                </a:rPr>
                                <m:t>0</m:t>
                              </m:r>
                            </m:e>
                            <m:e>
                              <m:r>
                                <a:rPr lang="en-US" altLang="zh-TW" sz="1800" b="0" i="1" smtClean="0">
                                  <a:latin typeface="Cambria Math" panose="02040503050406030204" pitchFamily="18" charset="0"/>
                                </a:rPr>
                                <m:t>0</m:t>
                              </m:r>
                            </m:e>
                            <m:e>
                              <m:f>
                                <m:fPr>
                                  <m:ctrlPr>
                                    <a:rPr lang="en-US" altLang="zh-TW" sz="1800" i="1">
                                      <a:latin typeface="Cambria Math" panose="02040503050406030204" pitchFamily="18" charset="0"/>
                                    </a:rPr>
                                  </m:ctrlPr>
                                </m:fPr>
                                <m:num>
                                  <m:r>
                                    <a:rPr lang="en-US" altLang="zh-TW" sz="1800" i="1">
                                      <a:latin typeface="Cambria Math" panose="02040503050406030204" pitchFamily="18" charset="0"/>
                                    </a:rPr>
                                    <m:t>1</m:t>
                                  </m:r>
                                </m:num>
                                <m:den>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𝑛</m:t>
                                      </m:r>
                                    </m:e>
                                    <m:sub>
                                      <m:r>
                                        <a:rPr lang="en-US" altLang="zh-TW" sz="1800" b="0" i="1" smtClean="0">
                                          <a:latin typeface="Cambria Math" panose="02040503050406030204" pitchFamily="18" charset="0"/>
                                        </a:rPr>
                                        <m:t>𝑒</m:t>
                                      </m:r>
                                    </m:sub>
                                    <m:sup>
                                      <m:r>
                                        <a:rPr lang="en-US" altLang="zh-TW" sz="1800" i="1">
                                          <a:latin typeface="Cambria Math" panose="02040503050406030204" pitchFamily="18" charset="0"/>
                                        </a:rPr>
                                        <m:t>2</m:t>
                                      </m:r>
                                    </m:sup>
                                  </m:sSubSup>
                                </m:den>
                              </m:f>
                            </m:e>
                          </m:mr>
                        </m:m>
                      </m:e>
                    </m:d>
                  </m:oMath>
                </a14:m>
                <a:endParaRPr lang="zh-TW" altLang="en-US" dirty="0"/>
              </a:p>
            </p:txBody>
          </p:sp>
        </mc:Choice>
        <mc:Fallback xmlns="">
          <p:sp>
            <p:nvSpPr>
              <p:cNvPr id="27" name="文字方塊 26">
                <a:extLst>
                  <a:ext uri="{FF2B5EF4-FFF2-40B4-BE49-F238E27FC236}">
                    <a16:creationId xmlns:a16="http://schemas.microsoft.com/office/drawing/2014/main" id="{8861A539-988D-EF2F-60C5-D370FF1A4E77}"/>
                  </a:ext>
                </a:extLst>
              </p:cNvPr>
              <p:cNvSpPr txBox="1">
                <a:spLocks noRot="1" noChangeAspect="1" noMove="1" noResize="1" noEditPoints="1" noAdjustHandles="1" noChangeArrowheads="1" noChangeShapeType="1" noTextEdit="1"/>
              </p:cNvSpPr>
              <p:nvPr/>
            </p:nvSpPr>
            <p:spPr>
              <a:xfrm>
                <a:off x="245913" y="2827239"/>
                <a:ext cx="2105502" cy="1469057"/>
              </a:xfrm>
              <a:prstGeom prst="rect">
                <a:avLst/>
              </a:prstGeom>
              <a:blipFill>
                <a:blip r:embed="rId10"/>
                <a:stretch>
                  <a:fillRect/>
                </a:stretch>
              </a:blipFill>
            </p:spPr>
            <p:txBody>
              <a:bodyPr/>
              <a:lstStyle/>
              <a:p>
                <a:r>
                  <a:rPr lang="zh-TW" altLang="en-US">
                    <a:noFill/>
                  </a:rPr>
                  <a:t> </a:t>
                </a:r>
              </a:p>
            </p:txBody>
          </p:sp>
        </mc:Fallback>
      </mc:AlternateContent>
      <p:cxnSp>
        <p:nvCxnSpPr>
          <p:cNvPr id="28" name="直線單箭頭接點 27">
            <a:extLst>
              <a:ext uri="{FF2B5EF4-FFF2-40B4-BE49-F238E27FC236}">
                <a16:creationId xmlns:a16="http://schemas.microsoft.com/office/drawing/2014/main" id="{A423970F-7D2F-25B0-62F0-C41073666921}"/>
              </a:ext>
            </a:extLst>
          </p:cNvPr>
          <p:cNvCxnSpPr>
            <a:cxnSpLocks/>
          </p:cNvCxnSpPr>
          <p:nvPr/>
        </p:nvCxnSpPr>
        <p:spPr>
          <a:xfrm flipH="1">
            <a:off x="529709" y="1992389"/>
            <a:ext cx="880101" cy="1404856"/>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文字方塊 30">
                <a:extLst>
                  <a:ext uri="{FF2B5EF4-FFF2-40B4-BE49-F238E27FC236}">
                    <a16:creationId xmlns:a16="http://schemas.microsoft.com/office/drawing/2014/main" id="{7F8094D2-96EF-A487-E2D8-3C8CCC0A335C}"/>
                  </a:ext>
                </a:extLst>
              </p:cNvPr>
              <p:cNvSpPr txBox="1"/>
              <p:nvPr/>
            </p:nvSpPr>
            <p:spPr>
              <a:xfrm>
                <a:off x="588490" y="4605675"/>
                <a:ext cx="4104282" cy="1469057"/>
              </a:xfrm>
              <a:prstGeom prst="rect">
                <a:avLst/>
              </a:prstGeom>
              <a:noFill/>
            </p:spPr>
            <p:txBody>
              <a:bodyPr wrap="square">
                <a:spAutoFit/>
              </a:bodyPr>
              <a:lstStyle/>
              <a:p>
                <a14:m>
                  <m:oMath xmlns:m="http://schemas.openxmlformats.org/officeDocument/2006/math">
                    <m:r>
                      <a:rPr lang="zh-TW" altLang="en-US" i="1" smtClean="0">
                        <a:latin typeface="Cambria Math" panose="02040503050406030204" pitchFamily="18" charset="0"/>
                      </a:rPr>
                      <m:t>𝞰</m:t>
                    </m:r>
                  </m:oMath>
                </a14:m>
                <a:r>
                  <a:rPr lang="en-US" altLang="zh-TW" baseline="-25000" dirty="0" err="1"/>
                  <a:t>ij</a:t>
                </a:r>
                <a:r>
                  <a:rPr lang="en-US" altLang="zh-TW" sz="1800" dirty="0"/>
                  <a:t>(</a:t>
                </a:r>
                <a14:m>
                  <m:oMath xmlns:m="http://schemas.openxmlformats.org/officeDocument/2006/math">
                    <m:r>
                      <a:rPr lang="en-US" altLang="zh-TW" i="1">
                        <a:latin typeface="Cambria Math" panose="02040503050406030204" pitchFamily="18" charset="0"/>
                      </a:rPr>
                      <m:t>𝐸</m:t>
                    </m:r>
                    <m:r>
                      <a:rPr lang="en-US" altLang="zh-TW" i="1" baseline="-25000">
                        <a:latin typeface="Cambria Math" panose="02040503050406030204" pitchFamily="18" charset="0"/>
                      </a:rPr>
                      <m:t>𝑦</m:t>
                    </m:r>
                  </m:oMath>
                </a14:m>
                <a:r>
                  <a:rPr lang="en-US" altLang="zh-TW" sz="1800" dirty="0"/>
                  <a:t>)</a:t>
                </a:r>
                <a:r>
                  <a:rPr lang="zh-TW" altLang="en-US" sz="1800" dirty="0"/>
                  <a:t> </a:t>
                </a:r>
                <a:r>
                  <a:rPr lang="en-US" altLang="zh-TW" sz="1800" dirty="0"/>
                  <a:t>=</a:t>
                </a:r>
                <a:r>
                  <a:rPr lang="zh-TW" altLang="en-US" sz="1800" dirty="0"/>
                  <a:t> </a:t>
                </a:r>
                <a14:m>
                  <m:oMath xmlns:m="http://schemas.openxmlformats.org/officeDocument/2006/math">
                    <m:d>
                      <m:dPr>
                        <m:begChr m:val="["/>
                        <m:endChr m:val="]"/>
                        <m:ctrlPr>
                          <a:rPr lang="en-US" altLang="zh-TW" sz="1800" i="1">
                            <a:latin typeface="Cambria Math" panose="02040503050406030204" pitchFamily="18" charset="0"/>
                          </a:rPr>
                        </m:ctrlPr>
                      </m:dPr>
                      <m:e>
                        <m:m>
                          <m:mPr>
                            <m:mcs>
                              <m:mc>
                                <m:mcPr>
                                  <m:count m:val="3"/>
                                  <m:mcJc m:val="center"/>
                                </m:mcPr>
                              </m:mc>
                            </m:mcs>
                            <m:ctrlPr>
                              <a:rPr lang="en-US" altLang="zh-TW" sz="1800" i="1">
                                <a:latin typeface="Cambria Math" panose="02040503050406030204" pitchFamily="18" charset="0"/>
                              </a:rPr>
                            </m:ctrlPr>
                          </m:mPr>
                          <m:mr>
                            <m:e>
                              <m:f>
                                <m:fPr>
                                  <m:ctrlPr>
                                    <a:rPr lang="en-US" altLang="zh-TW" sz="1800" i="1">
                                      <a:latin typeface="Cambria Math" panose="02040503050406030204" pitchFamily="18" charset="0"/>
                                    </a:rPr>
                                  </m:ctrlPr>
                                </m:fPr>
                                <m:num>
                                  <m:r>
                                    <a:rPr lang="en-US" altLang="zh-TW" sz="1800" i="1">
                                      <a:latin typeface="Cambria Math" panose="02040503050406030204" pitchFamily="18" charset="0"/>
                                    </a:rPr>
                                    <m:t>1</m:t>
                                  </m:r>
                                </m:num>
                                <m:den>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𝑛</m:t>
                                      </m:r>
                                    </m:e>
                                    <m:sub>
                                      <m:r>
                                        <a:rPr lang="en-US" altLang="zh-TW" sz="1800" i="1">
                                          <a:latin typeface="Cambria Math" panose="02040503050406030204" pitchFamily="18" charset="0"/>
                                        </a:rPr>
                                        <m:t>𝑜</m:t>
                                      </m:r>
                                    </m:sub>
                                    <m:sup>
                                      <m:r>
                                        <a:rPr lang="en-US" altLang="zh-TW" sz="1800" i="1">
                                          <a:latin typeface="Cambria Math" panose="02040503050406030204" pitchFamily="18" charset="0"/>
                                        </a:rPr>
                                        <m:t>2</m:t>
                                      </m:r>
                                    </m:sup>
                                  </m:sSubSup>
                                </m:den>
                              </m:f>
                              <m:r>
                                <a:rPr lang="en-US" altLang="zh-TW" sz="1800" i="1">
                                  <a:latin typeface="Cambria Math" panose="02040503050406030204" pitchFamily="18" charset="0"/>
                                </a:rPr>
                                <m:t>−</m:t>
                              </m:r>
                              <m:r>
                                <a:rPr lang="en-US" altLang="zh-TW" sz="1800" i="1">
                                  <a:latin typeface="Cambria Math" panose="02040503050406030204" pitchFamily="18" charset="0"/>
                                </a:rPr>
                                <m:t>𝑟</m:t>
                              </m:r>
                              <m:r>
                                <a:rPr lang="en-US" altLang="zh-TW" sz="1800" i="1" baseline="-25000" smtClean="0">
                                  <a:latin typeface="Cambria Math" panose="02040503050406030204" pitchFamily="18" charset="0"/>
                                </a:rPr>
                                <m:t>22</m:t>
                              </m:r>
                              <m:r>
                                <m:rPr>
                                  <m:sty m:val="p"/>
                                </m:rPr>
                                <a:rPr lang="en-US" altLang="zh-TW" sz="1800" i="1">
                                  <a:latin typeface="Cambria Math" panose="02040503050406030204" pitchFamily="18" charset="0"/>
                                </a:rPr>
                                <m:t>E</m:t>
                              </m:r>
                              <m:r>
                                <a:rPr lang="en-US" altLang="zh-TW" sz="1800" i="1" baseline="-25000">
                                  <a:latin typeface="Cambria Math" panose="02040503050406030204" pitchFamily="18" charset="0"/>
                                </a:rPr>
                                <m:t>𝑦</m:t>
                              </m:r>
                            </m:e>
                            <m:e>
                              <m:r>
                                <a:rPr lang="en-US" altLang="zh-TW" sz="1800" i="1">
                                  <a:latin typeface="Cambria Math" panose="02040503050406030204" pitchFamily="18" charset="0"/>
                                </a:rPr>
                                <m:t>0</m:t>
                              </m:r>
                            </m:e>
                            <m:e>
                              <m:r>
                                <a:rPr lang="en-US" altLang="zh-TW" sz="1800" i="1">
                                  <a:latin typeface="Cambria Math" panose="02040503050406030204" pitchFamily="18" charset="0"/>
                                </a:rPr>
                                <m:t>0</m:t>
                              </m:r>
                            </m:e>
                          </m:mr>
                          <m:mr>
                            <m:e>
                              <m:r>
                                <a:rPr lang="en-US" altLang="zh-TW" sz="1800" i="1">
                                  <a:latin typeface="Cambria Math" panose="02040503050406030204" pitchFamily="18" charset="0"/>
                                </a:rPr>
                                <m:t>0</m:t>
                              </m:r>
                            </m:e>
                            <m:e>
                              <m:f>
                                <m:fPr>
                                  <m:ctrlPr>
                                    <a:rPr lang="en-US" altLang="zh-TW" sz="1800" i="1">
                                      <a:latin typeface="Cambria Math" panose="02040503050406030204" pitchFamily="18" charset="0"/>
                                    </a:rPr>
                                  </m:ctrlPr>
                                </m:fPr>
                                <m:num>
                                  <m:r>
                                    <a:rPr lang="en-US" altLang="zh-TW" sz="1800" i="1">
                                      <a:latin typeface="Cambria Math" panose="02040503050406030204" pitchFamily="18" charset="0"/>
                                    </a:rPr>
                                    <m:t>1</m:t>
                                  </m:r>
                                </m:num>
                                <m:den>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𝑛</m:t>
                                      </m:r>
                                    </m:e>
                                    <m:sub>
                                      <m:r>
                                        <a:rPr lang="en-US" altLang="zh-TW" sz="1800" i="1">
                                          <a:latin typeface="Cambria Math" panose="02040503050406030204" pitchFamily="18" charset="0"/>
                                        </a:rPr>
                                        <m:t>𝑜</m:t>
                                      </m:r>
                                    </m:sub>
                                    <m:sup>
                                      <m:r>
                                        <a:rPr lang="en-US" altLang="zh-TW" sz="1800" i="1">
                                          <a:latin typeface="Cambria Math" panose="02040503050406030204" pitchFamily="18" charset="0"/>
                                        </a:rPr>
                                        <m:t>2</m:t>
                                      </m:r>
                                    </m:sup>
                                  </m:sSubSup>
                                </m:den>
                              </m:f>
                              <m:r>
                                <a:rPr lang="en-US" altLang="zh-TW" sz="1800" i="1">
                                  <a:latin typeface="Cambria Math" panose="02040503050406030204" pitchFamily="18" charset="0"/>
                                </a:rPr>
                                <m:t>+</m:t>
                              </m:r>
                              <m:r>
                                <a:rPr lang="en-US" altLang="zh-TW" sz="1800" i="1">
                                  <a:latin typeface="Cambria Math" panose="02040503050406030204" pitchFamily="18" charset="0"/>
                                </a:rPr>
                                <m:t>𝑟</m:t>
                              </m:r>
                              <m:r>
                                <a:rPr lang="en-US" altLang="zh-TW" sz="1800" i="1" baseline="-25000">
                                  <a:latin typeface="Cambria Math" panose="02040503050406030204" pitchFamily="18" charset="0"/>
                                </a:rPr>
                                <m:t>22</m:t>
                              </m:r>
                              <m:r>
                                <m:rPr>
                                  <m:sty m:val="p"/>
                                </m:rPr>
                                <a:rPr lang="en-US" altLang="zh-TW" sz="1800" i="1">
                                  <a:latin typeface="Cambria Math" panose="02040503050406030204" pitchFamily="18" charset="0"/>
                                </a:rPr>
                                <m:t>E</m:t>
                              </m:r>
                              <m:r>
                                <a:rPr lang="en-US" altLang="zh-TW" sz="1800" i="1" baseline="-25000">
                                  <a:latin typeface="Cambria Math" panose="02040503050406030204" pitchFamily="18" charset="0"/>
                                </a:rPr>
                                <m:t>𝑦</m:t>
                              </m:r>
                            </m:e>
                            <m:e>
                              <m:r>
                                <a:rPr lang="en-US" altLang="zh-TW" sz="1800" i="1">
                                  <a:latin typeface="Cambria Math" panose="02040503050406030204" pitchFamily="18" charset="0"/>
                                </a:rPr>
                                <m:t>𝑟</m:t>
                              </m:r>
                              <m:r>
                                <a:rPr lang="en-US" altLang="zh-TW" sz="1800" i="1" baseline="-25000">
                                  <a:latin typeface="Cambria Math" panose="02040503050406030204" pitchFamily="18" charset="0"/>
                                </a:rPr>
                                <m:t>51</m:t>
                              </m:r>
                              <m:r>
                                <a:rPr lang="en-US" altLang="zh-TW" sz="1800" i="1">
                                  <a:latin typeface="Cambria Math" panose="02040503050406030204" pitchFamily="18" charset="0"/>
                                </a:rPr>
                                <m:t>𝐸</m:t>
                              </m:r>
                              <m:r>
                                <a:rPr lang="en-US" altLang="zh-TW" sz="1800" i="1" baseline="-25000">
                                  <a:latin typeface="Cambria Math" panose="02040503050406030204" pitchFamily="18" charset="0"/>
                                </a:rPr>
                                <m:t>𝑦</m:t>
                              </m:r>
                            </m:e>
                          </m:mr>
                          <m:mr>
                            <m:e>
                              <m:r>
                                <a:rPr lang="en-US" altLang="zh-TW" sz="1800" i="1">
                                  <a:latin typeface="Cambria Math" panose="02040503050406030204" pitchFamily="18" charset="0"/>
                                </a:rPr>
                                <m:t>0</m:t>
                              </m:r>
                            </m:e>
                            <m:e>
                              <m:r>
                                <a:rPr lang="en-US" altLang="zh-TW" sz="1800" i="1">
                                  <a:latin typeface="Cambria Math" panose="02040503050406030204" pitchFamily="18" charset="0"/>
                                </a:rPr>
                                <m:t>𝑟</m:t>
                              </m:r>
                              <m:r>
                                <a:rPr lang="en-US" altLang="zh-TW" sz="1800" i="1" baseline="-25000">
                                  <a:latin typeface="Cambria Math" panose="02040503050406030204" pitchFamily="18" charset="0"/>
                                </a:rPr>
                                <m:t>51</m:t>
                              </m:r>
                              <m:r>
                                <a:rPr lang="en-US" altLang="zh-TW" sz="1800" i="1">
                                  <a:latin typeface="Cambria Math" panose="02040503050406030204" pitchFamily="18" charset="0"/>
                                </a:rPr>
                                <m:t>𝐸</m:t>
                              </m:r>
                              <m:r>
                                <a:rPr lang="en-US" altLang="zh-TW" sz="1800" i="1" baseline="-25000">
                                  <a:latin typeface="Cambria Math" panose="02040503050406030204" pitchFamily="18" charset="0"/>
                                </a:rPr>
                                <m:t>𝑦</m:t>
                              </m:r>
                            </m:e>
                            <m:e>
                              <m:f>
                                <m:fPr>
                                  <m:ctrlPr>
                                    <a:rPr lang="en-US" altLang="zh-TW" sz="1800" i="1">
                                      <a:latin typeface="Cambria Math" panose="02040503050406030204" pitchFamily="18" charset="0"/>
                                    </a:rPr>
                                  </m:ctrlPr>
                                </m:fPr>
                                <m:num>
                                  <m:r>
                                    <a:rPr lang="en-US" altLang="zh-TW" sz="1800" i="1">
                                      <a:latin typeface="Cambria Math" panose="02040503050406030204" pitchFamily="18" charset="0"/>
                                    </a:rPr>
                                    <m:t>1</m:t>
                                  </m:r>
                                </m:num>
                                <m:den>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𝑛</m:t>
                                      </m:r>
                                    </m:e>
                                    <m:sub>
                                      <m:r>
                                        <a:rPr lang="en-US" altLang="zh-TW" sz="1800" i="1">
                                          <a:latin typeface="Cambria Math" panose="02040503050406030204" pitchFamily="18" charset="0"/>
                                        </a:rPr>
                                        <m:t>𝑒</m:t>
                                      </m:r>
                                    </m:sub>
                                    <m:sup>
                                      <m:r>
                                        <a:rPr lang="en-US" altLang="zh-TW" sz="1800" i="1">
                                          <a:latin typeface="Cambria Math" panose="02040503050406030204" pitchFamily="18" charset="0"/>
                                        </a:rPr>
                                        <m:t>2</m:t>
                                      </m:r>
                                    </m:sup>
                                  </m:sSubSup>
                                </m:den>
                              </m:f>
                            </m:e>
                          </m:mr>
                        </m:m>
                      </m:e>
                    </m:d>
                  </m:oMath>
                </a14:m>
                <a:endParaRPr lang="zh-TW" altLang="en-US" dirty="0"/>
              </a:p>
            </p:txBody>
          </p:sp>
        </mc:Choice>
        <mc:Fallback xmlns="">
          <p:sp>
            <p:nvSpPr>
              <p:cNvPr id="31" name="文字方塊 30">
                <a:extLst>
                  <a:ext uri="{FF2B5EF4-FFF2-40B4-BE49-F238E27FC236}">
                    <a16:creationId xmlns:a16="http://schemas.microsoft.com/office/drawing/2014/main" id="{7F8094D2-96EF-A487-E2D8-3C8CCC0A335C}"/>
                  </a:ext>
                </a:extLst>
              </p:cNvPr>
              <p:cNvSpPr txBox="1">
                <a:spLocks noRot="1" noChangeAspect="1" noMove="1" noResize="1" noEditPoints="1" noAdjustHandles="1" noChangeArrowheads="1" noChangeShapeType="1" noTextEdit="1"/>
              </p:cNvSpPr>
              <p:nvPr/>
            </p:nvSpPr>
            <p:spPr>
              <a:xfrm>
                <a:off x="588490" y="4605675"/>
                <a:ext cx="4104282" cy="1469057"/>
              </a:xfrm>
              <a:prstGeom prst="rect">
                <a:avLst/>
              </a:prstGeom>
              <a:blipFill>
                <a:blip r:embed="rId11"/>
                <a:stretch>
                  <a:fillRect/>
                </a:stretch>
              </a:blipFill>
            </p:spPr>
            <p:txBody>
              <a:bodyPr/>
              <a:lstStyle/>
              <a:p>
                <a:r>
                  <a:rPr lang="zh-TW" altLang="en-US">
                    <a:noFill/>
                  </a:rPr>
                  <a:t> </a:t>
                </a:r>
              </a:p>
            </p:txBody>
          </p:sp>
        </mc:Fallback>
      </mc:AlternateContent>
      <p:sp>
        <p:nvSpPr>
          <p:cNvPr id="32" name="箭號: 向右 31">
            <a:extLst>
              <a:ext uri="{FF2B5EF4-FFF2-40B4-BE49-F238E27FC236}">
                <a16:creationId xmlns:a16="http://schemas.microsoft.com/office/drawing/2014/main" id="{FDD0B953-B4C5-8D58-B0E9-BB2C59F8DFB0}"/>
              </a:ext>
            </a:extLst>
          </p:cNvPr>
          <p:cNvSpPr/>
          <p:nvPr/>
        </p:nvSpPr>
        <p:spPr>
          <a:xfrm>
            <a:off x="99713" y="5193292"/>
            <a:ext cx="355001" cy="387223"/>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33" name="箭號: 向右 32">
            <a:extLst>
              <a:ext uri="{FF2B5EF4-FFF2-40B4-BE49-F238E27FC236}">
                <a16:creationId xmlns:a16="http://schemas.microsoft.com/office/drawing/2014/main" id="{FADA38AB-C1FC-0CD0-6476-2ACC8AA1FFD5}"/>
              </a:ext>
            </a:extLst>
          </p:cNvPr>
          <p:cNvSpPr/>
          <p:nvPr/>
        </p:nvSpPr>
        <p:spPr>
          <a:xfrm>
            <a:off x="99713" y="6283899"/>
            <a:ext cx="355001" cy="387223"/>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5" name="文字方塊 34">
                <a:extLst>
                  <a:ext uri="{FF2B5EF4-FFF2-40B4-BE49-F238E27FC236}">
                    <a16:creationId xmlns:a16="http://schemas.microsoft.com/office/drawing/2014/main" id="{2C5BCD45-8327-0A04-DCFB-372EBD5FC0AA}"/>
                  </a:ext>
                </a:extLst>
              </p:cNvPr>
              <p:cNvSpPr txBox="1"/>
              <p:nvPr/>
            </p:nvSpPr>
            <p:spPr>
              <a:xfrm>
                <a:off x="553360" y="6215162"/>
                <a:ext cx="5706763" cy="524695"/>
              </a:xfrm>
              <a:prstGeom prst="rect">
                <a:avLst/>
              </a:prstGeom>
              <a:noFill/>
            </p:spPr>
            <p:txBody>
              <a:bodyPr wrap="square">
                <a:spAutoFit/>
              </a:bodyPr>
              <a:lstStyle/>
              <a:p>
                <a:pPr marL="0" indent="0">
                  <a:buNone/>
                </a:pPr>
                <a:r>
                  <a:rPr lang="en-US" altLang="zh-TW" sz="1800" dirty="0"/>
                  <a:t>(</a:t>
                </a:r>
                <a14:m>
                  <m:oMath xmlns:m="http://schemas.openxmlformats.org/officeDocument/2006/math">
                    <m:f>
                      <m:fPr>
                        <m:ctrlPr>
                          <a:rPr lang="en-US" altLang="zh-TW" sz="1800" i="1" smtClean="0">
                            <a:latin typeface="Cambria Math" panose="02040503050406030204" pitchFamily="18" charset="0"/>
                          </a:rPr>
                        </m:ctrlPr>
                      </m:fPr>
                      <m:num>
                        <m:r>
                          <a:rPr lang="en-US" altLang="zh-TW" sz="1800" i="1">
                            <a:latin typeface="Cambria Math" panose="02040503050406030204" pitchFamily="18" charset="0"/>
                          </a:rPr>
                          <m:t>1</m:t>
                        </m:r>
                      </m:num>
                      <m:den>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𝑛</m:t>
                            </m:r>
                          </m:e>
                          <m:sub>
                            <m:r>
                              <a:rPr lang="en-US" altLang="zh-TW" sz="1800" i="1">
                                <a:latin typeface="Cambria Math" panose="02040503050406030204" pitchFamily="18" charset="0"/>
                              </a:rPr>
                              <m:t>𝑜</m:t>
                            </m:r>
                          </m:sub>
                          <m:sup>
                            <m:r>
                              <a:rPr lang="en-US" altLang="zh-TW" sz="1800" i="1">
                                <a:latin typeface="Cambria Math" panose="02040503050406030204" pitchFamily="18" charset="0"/>
                              </a:rPr>
                              <m:t>2</m:t>
                            </m:r>
                          </m:sup>
                        </m:sSubSup>
                      </m:den>
                    </m:f>
                    <m:r>
                      <a:rPr lang="en-US" altLang="zh-TW" sz="1800" i="1">
                        <a:latin typeface="Cambria Math" panose="02040503050406030204" pitchFamily="18" charset="0"/>
                      </a:rPr>
                      <m:t>−</m:t>
                    </m:r>
                    <m:r>
                      <a:rPr lang="en-US" altLang="zh-TW" sz="1800" i="1">
                        <a:latin typeface="Cambria Math" panose="02040503050406030204" pitchFamily="18" charset="0"/>
                      </a:rPr>
                      <m:t>𝑟</m:t>
                    </m:r>
                    <m:r>
                      <a:rPr lang="en-US" altLang="zh-TW" sz="1800" i="1" baseline="-25000">
                        <a:latin typeface="Cambria Math" panose="02040503050406030204" pitchFamily="18" charset="0"/>
                      </a:rPr>
                      <m:t>22</m:t>
                    </m:r>
                    <m:r>
                      <m:rPr>
                        <m:sty m:val="p"/>
                      </m:rPr>
                      <a:rPr lang="en-US" altLang="zh-TW" sz="1800" i="1">
                        <a:latin typeface="Cambria Math" panose="02040503050406030204" pitchFamily="18" charset="0"/>
                      </a:rPr>
                      <m:t>E</m:t>
                    </m:r>
                    <m:r>
                      <a:rPr lang="en-US" altLang="zh-TW" sz="1800" i="1" baseline="-25000">
                        <a:latin typeface="Cambria Math" panose="02040503050406030204" pitchFamily="18" charset="0"/>
                      </a:rPr>
                      <m:t>𝑦</m:t>
                    </m:r>
                  </m:oMath>
                </a14:m>
                <a:r>
                  <a:rPr lang="en-US" altLang="zh-TW" sz="1800" dirty="0"/>
                  <a:t>)</a:t>
                </a:r>
                <a14:m>
                  <m:oMath xmlns:m="http://schemas.openxmlformats.org/officeDocument/2006/math">
                    <m:r>
                      <a:rPr lang="en-US" altLang="zh-TW" sz="1800" b="0" i="1" dirty="0" smtClean="0">
                        <a:latin typeface="Cambria Math" panose="02040503050406030204" pitchFamily="18" charset="0"/>
                      </a:rPr>
                      <m:t>𝑥</m:t>
                    </m:r>
                    <m:r>
                      <a:rPr lang="en-US" altLang="zh-TW" sz="1800" b="0" i="1" baseline="30000" dirty="0" smtClean="0">
                        <a:latin typeface="Cambria Math" panose="02040503050406030204" pitchFamily="18" charset="0"/>
                      </a:rPr>
                      <m:t>2</m:t>
                    </m:r>
                    <m:r>
                      <a:rPr lang="en-US" altLang="zh-TW" sz="1800" b="0" i="1" dirty="0" smtClean="0">
                        <a:latin typeface="Cambria Math" panose="02040503050406030204" pitchFamily="18" charset="0"/>
                      </a:rPr>
                      <m:t>+(</m:t>
                    </m:r>
                    <m:f>
                      <m:fPr>
                        <m:ctrlPr>
                          <a:rPr lang="en-US" altLang="zh-TW" sz="1800" i="1">
                            <a:latin typeface="Cambria Math" panose="02040503050406030204" pitchFamily="18" charset="0"/>
                          </a:rPr>
                        </m:ctrlPr>
                      </m:fPr>
                      <m:num>
                        <m:r>
                          <a:rPr lang="en-US" altLang="zh-TW" sz="1800" i="1">
                            <a:latin typeface="Cambria Math" panose="02040503050406030204" pitchFamily="18" charset="0"/>
                          </a:rPr>
                          <m:t>1</m:t>
                        </m:r>
                      </m:num>
                      <m:den>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𝑛</m:t>
                            </m:r>
                          </m:e>
                          <m:sub>
                            <m:r>
                              <a:rPr lang="en-US" altLang="zh-TW" sz="1800" i="1">
                                <a:latin typeface="Cambria Math" panose="02040503050406030204" pitchFamily="18" charset="0"/>
                              </a:rPr>
                              <m:t>𝑜</m:t>
                            </m:r>
                          </m:sub>
                          <m:sup>
                            <m:r>
                              <a:rPr lang="en-US" altLang="zh-TW" sz="1800" i="1">
                                <a:latin typeface="Cambria Math" panose="02040503050406030204" pitchFamily="18" charset="0"/>
                              </a:rPr>
                              <m:t>2</m:t>
                            </m:r>
                          </m:sup>
                        </m:sSubSup>
                      </m:den>
                    </m:f>
                    <m:r>
                      <a:rPr lang="en-US" altLang="zh-TW" sz="1800" i="1">
                        <a:latin typeface="Cambria Math" panose="02040503050406030204" pitchFamily="18" charset="0"/>
                      </a:rPr>
                      <m:t>+</m:t>
                    </m:r>
                    <m:r>
                      <a:rPr lang="en-US" altLang="zh-TW" sz="1800" i="1">
                        <a:latin typeface="Cambria Math" panose="02040503050406030204" pitchFamily="18" charset="0"/>
                      </a:rPr>
                      <m:t>𝑟</m:t>
                    </m:r>
                    <m:r>
                      <a:rPr lang="en-US" altLang="zh-TW" sz="1800" i="1" baseline="-25000">
                        <a:latin typeface="Cambria Math" panose="02040503050406030204" pitchFamily="18" charset="0"/>
                      </a:rPr>
                      <m:t>22</m:t>
                    </m:r>
                    <m:r>
                      <m:rPr>
                        <m:sty m:val="p"/>
                      </m:rPr>
                      <a:rPr lang="en-US" altLang="zh-TW" sz="1800" i="1">
                        <a:latin typeface="Cambria Math" panose="02040503050406030204" pitchFamily="18" charset="0"/>
                      </a:rPr>
                      <m:t>E</m:t>
                    </m:r>
                    <m:r>
                      <a:rPr lang="en-US" altLang="zh-TW" sz="1800" i="1" baseline="-25000">
                        <a:latin typeface="Cambria Math" panose="02040503050406030204" pitchFamily="18" charset="0"/>
                      </a:rPr>
                      <m:t>𝑦</m:t>
                    </m:r>
                  </m:oMath>
                </a14:m>
                <a:r>
                  <a:rPr lang="en-US" altLang="zh-TW" sz="1800" dirty="0"/>
                  <a:t>)</a:t>
                </a:r>
                <a14:m>
                  <m:oMath xmlns:m="http://schemas.openxmlformats.org/officeDocument/2006/math">
                    <m:r>
                      <a:rPr lang="en-US" altLang="zh-TW" sz="1800" b="0" i="1" dirty="0" smtClean="0">
                        <a:latin typeface="Cambria Math" panose="02040503050406030204" pitchFamily="18" charset="0"/>
                      </a:rPr>
                      <m:t>𝑦</m:t>
                    </m:r>
                    <m:r>
                      <a:rPr lang="en-US" altLang="zh-TW" sz="1800" b="0" i="1" baseline="30000" dirty="0" smtClean="0">
                        <a:latin typeface="Cambria Math" panose="02040503050406030204" pitchFamily="18" charset="0"/>
                      </a:rPr>
                      <m:t>2</m:t>
                    </m:r>
                    <m:r>
                      <a:rPr lang="en-US" altLang="zh-TW" sz="1800" b="0" i="1" dirty="0" smtClean="0">
                        <a:latin typeface="Cambria Math" panose="02040503050406030204" pitchFamily="18" charset="0"/>
                      </a:rPr>
                      <m:t>+(</m:t>
                    </m:r>
                    <m:f>
                      <m:fPr>
                        <m:ctrlPr>
                          <a:rPr lang="en-US" altLang="zh-TW" sz="1800" i="1">
                            <a:latin typeface="Cambria Math" panose="02040503050406030204" pitchFamily="18" charset="0"/>
                          </a:rPr>
                        </m:ctrlPr>
                      </m:fPr>
                      <m:num>
                        <m:r>
                          <a:rPr lang="en-US" altLang="zh-TW" sz="1800" i="1">
                            <a:latin typeface="Cambria Math" panose="02040503050406030204" pitchFamily="18" charset="0"/>
                          </a:rPr>
                          <m:t>1</m:t>
                        </m:r>
                      </m:num>
                      <m:den>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𝑛</m:t>
                            </m:r>
                          </m:e>
                          <m:sub>
                            <m:r>
                              <a:rPr lang="en-US" altLang="zh-TW" sz="1800" i="1">
                                <a:latin typeface="Cambria Math" panose="02040503050406030204" pitchFamily="18" charset="0"/>
                              </a:rPr>
                              <m:t>𝑒</m:t>
                            </m:r>
                          </m:sub>
                          <m:sup>
                            <m:r>
                              <a:rPr lang="en-US" altLang="zh-TW" sz="1800" i="1">
                                <a:latin typeface="Cambria Math" panose="02040503050406030204" pitchFamily="18" charset="0"/>
                              </a:rPr>
                              <m:t>2</m:t>
                            </m:r>
                          </m:sup>
                        </m:sSubSup>
                      </m:den>
                    </m:f>
                  </m:oMath>
                </a14:m>
                <a:r>
                  <a:rPr lang="en-US" altLang="zh-TW" sz="1800" dirty="0"/>
                  <a:t>)</a:t>
                </a:r>
                <a14:m>
                  <m:oMath xmlns:m="http://schemas.openxmlformats.org/officeDocument/2006/math">
                    <m:r>
                      <a:rPr lang="en-US" altLang="zh-TW" sz="1800" b="0" i="1" dirty="0" smtClean="0">
                        <a:latin typeface="Cambria Math" panose="02040503050406030204" pitchFamily="18" charset="0"/>
                      </a:rPr>
                      <m:t>𝑧</m:t>
                    </m:r>
                    <m:r>
                      <a:rPr lang="en-US" altLang="zh-TW" sz="1800" b="0" i="1" baseline="30000" dirty="0" smtClean="0">
                        <a:latin typeface="Cambria Math" panose="02040503050406030204" pitchFamily="18" charset="0"/>
                      </a:rPr>
                      <m:t>2</m:t>
                    </m:r>
                    <m:r>
                      <a:rPr lang="en-US" altLang="zh-TW" sz="1800" b="0" i="1" dirty="0" smtClean="0">
                        <a:latin typeface="Cambria Math" panose="02040503050406030204" pitchFamily="18" charset="0"/>
                      </a:rPr>
                      <m:t>+(2</m:t>
                    </m:r>
                    <m:r>
                      <a:rPr lang="en-US" altLang="zh-TW" sz="1800" i="1">
                        <a:latin typeface="Cambria Math" panose="02040503050406030204" pitchFamily="18" charset="0"/>
                      </a:rPr>
                      <m:t>𝑟</m:t>
                    </m:r>
                    <m:r>
                      <a:rPr lang="en-US" altLang="zh-TW" sz="1800" i="1" baseline="-25000">
                        <a:latin typeface="Cambria Math" panose="02040503050406030204" pitchFamily="18" charset="0"/>
                      </a:rPr>
                      <m:t>51</m:t>
                    </m:r>
                    <m:r>
                      <a:rPr lang="en-US" altLang="zh-TW" sz="1800" i="1">
                        <a:latin typeface="Cambria Math" panose="02040503050406030204" pitchFamily="18" charset="0"/>
                      </a:rPr>
                      <m:t>𝐸</m:t>
                    </m:r>
                    <m:r>
                      <a:rPr lang="en-US" altLang="zh-TW" sz="1800" i="1" baseline="-25000">
                        <a:latin typeface="Cambria Math" panose="02040503050406030204" pitchFamily="18" charset="0"/>
                      </a:rPr>
                      <m:t>𝑦</m:t>
                    </m:r>
                    <m:r>
                      <a:rPr lang="en-US" altLang="zh-TW" sz="1800" b="0" i="1" smtClean="0">
                        <a:latin typeface="Cambria Math" panose="02040503050406030204" pitchFamily="18" charset="0"/>
                      </a:rPr>
                      <m:t>)</m:t>
                    </m:r>
                    <m:r>
                      <a:rPr lang="en-US" altLang="zh-TW" sz="1800" b="0" i="1" dirty="0" smtClean="0">
                        <a:latin typeface="Cambria Math" panose="02040503050406030204" pitchFamily="18" charset="0"/>
                      </a:rPr>
                      <m:t>𝑦𝑧</m:t>
                    </m:r>
                  </m:oMath>
                </a14:m>
                <a:r>
                  <a:rPr lang="en-US" altLang="zh-TW" sz="1800" dirty="0"/>
                  <a:t> = 1</a:t>
                </a:r>
              </a:p>
            </p:txBody>
          </p:sp>
        </mc:Choice>
        <mc:Fallback xmlns="">
          <p:sp>
            <p:nvSpPr>
              <p:cNvPr id="35" name="文字方塊 34">
                <a:extLst>
                  <a:ext uri="{FF2B5EF4-FFF2-40B4-BE49-F238E27FC236}">
                    <a16:creationId xmlns:a16="http://schemas.microsoft.com/office/drawing/2014/main" id="{2C5BCD45-8327-0A04-DCFB-372EBD5FC0AA}"/>
                  </a:ext>
                </a:extLst>
              </p:cNvPr>
              <p:cNvSpPr txBox="1">
                <a:spLocks noRot="1" noChangeAspect="1" noMove="1" noResize="1" noEditPoints="1" noAdjustHandles="1" noChangeArrowheads="1" noChangeShapeType="1" noTextEdit="1"/>
              </p:cNvSpPr>
              <p:nvPr/>
            </p:nvSpPr>
            <p:spPr>
              <a:xfrm>
                <a:off x="553360" y="6215162"/>
                <a:ext cx="5706763" cy="524695"/>
              </a:xfrm>
              <a:prstGeom prst="rect">
                <a:avLst/>
              </a:prstGeom>
              <a:blipFill>
                <a:blip r:embed="rId12"/>
                <a:stretch>
                  <a:fillRect l="-96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3358D8BE-693B-1FC1-CD3C-93F6566173B0}"/>
                  </a:ext>
                </a:extLst>
              </p:cNvPr>
              <p:cNvSpPr txBox="1"/>
              <p:nvPr/>
            </p:nvSpPr>
            <p:spPr>
              <a:xfrm>
                <a:off x="9445766" y="1644475"/>
                <a:ext cx="2750848" cy="602281"/>
              </a:xfrm>
              <a:prstGeom prst="rect">
                <a:avLst/>
              </a:prstGeom>
              <a:noFill/>
            </p:spPr>
            <p:txBody>
              <a:bodyPr wrap="square">
                <a:spAutoFit/>
              </a:bodyPr>
              <a:lstStyle/>
              <a:p>
                <a14:m>
                  <m:oMath xmlns:m="http://schemas.openxmlformats.org/officeDocument/2006/math">
                    <m:d>
                      <m:dPr>
                        <m:begChr m:val="["/>
                        <m:endChr m:val="]"/>
                        <m:ctrlPr>
                          <a:rPr lang="en-US" altLang="zh-TW" sz="1800" i="1" smtClean="0">
                            <a:latin typeface="Cambria Math" panose="02040503050406030204" pitchFamily="18" charset="0"/>
                          </a:rPr>
                        </m:ctrlPr>
                      </m:dPr>
                      <m:e>
                        <m:m>
                          <m:mPr>
                            <m:mcs>
                              <m:mc>
                                <m:mcPr>
                                  <m:count m:val="1"/>
                                  <m:mcJc m:val="center"/>
                                </m:mcPr>
                              </m:mc>
                            </m:mcs>
                            <m:ctrlPr>
                              <a:rPr lang="en-US" altLang="zh-TW" sz="1800" i="1" smtClean="0">
                                <a:latin typeface="Cambria Math" panose="02040503050406030204" pitchFamily="18" charset="0"/>
                              </a:rPr>
                            </m:ctrlPr>
                          </m:mPr>
                          <m:mr>
                            <m:e>
                              <m:r>
                                <m:rPr>
                                  <m:brk m:alnAt="7"/>
                                </m:rPr>
                                <a:rPr lang="en-US" altLang="zh-TW" sz="1800" b="0" i="1" smtClean="0">
                                  <a:latin typeface="Cambria Math" panose="02040503050406030204" pitchFamily="18" charset="0"/>
                                </a:rPr>
                                <m:t>𝑦</m:t>
                              </m:r>
                            </m:e>
                          </m:mr>
                          <m:mr>
                            <m:e>
                              <m:r>
                                <a:rPr lang="en-US" altLang="zh-TW" sz="1800" b="0" i="1" smtClean="0">
                                  <a:latin typeface="Cambria Math" panose="02040503050406030204" pitchFamily="18" charset="0"/>
                                </a:rPr>
                                <m:t>𝑧</m:t>
                              </m:r>
                            </m:e>
                          </m:mr>
                        </m:m>
                      </m:e>
                    </m:d>
                  </m:oMath>
                </a14:m>
                <a:r>
                  <a:rPr lang="zh-TW" altLang="en-US" sz="1800" dirty="0"/>
                  <a:t> </a:t>
                </a:r>
                <a:r>
                  <a:rPr lang="en-US" altLang="zh-TW" sz="1800" dirty="0"/>
                  <a:t>=</a:t>
                </a:r>
                <a:r>
                  <a:rPr lang="zh-TW" altLang="en-US" sz="1800" dirty="0"/>
                  <a:t> </a:t>
                </a:r>
                <a14:m>
                  <m:oMath xmlns:m="http://schemas.openxmlformats.org/officeDocument/2006/math">
                    <m:d>
                      <m:dPr>
                        <m:begChr m:val="["/>
                        <m:endChr m:val="]"/>
                        <m:ctrlPr>
                          <a:rPr lang="en-US" altLang="zh-TW" sz="1800" i="1" smtClean="0">
                            <a:latin typeface="Cambria Math" panose="02040503050406030204" pitchFamily="18" charset="0"/>
                          </a:rPr>
                        </m:ctrlPr>
                      </m:dPr>
                      <m:e>
                        <m:m>
                          <m:mPr>
                            <m:mcs>
                              <m:mc>
                                <m:mcPr>
                                  <m:count m:val="2"/>
                                  <m:mcJc m:val="center"/>
                                </m:mcPr>
                              </m:mc>
                            </m:mcs>
                            <m:ctrlPr>
                              <a:rPr lang="en-US" altLang="zh-TW" sz="1800" i="1" smtClean="0">
                                <a:latin typeface="Cambria Math" panose="02040503050406030204" pitchFamily="18" charset="0"/>
                              </a:rPr>
                            </m:ctrlPr>
                          </m:mPr>
                          <m:mr>
                            <m:e>
                              <m:func>
                                <m:funcPr>
                                  <m:ctrlPr>
                                    <a:rPr lang="en-US" altLang="zh-TW" sz="1800" i="1" smtClean="0">
                                      <a:latin typeface="Cambria Math" panose="02040503050406030204" pitchFamily="18" charset="0"/>
                                    </a:rPr>
                                  </m:ctrlPr>
                                </m:funcPr>
                                <m:fName>
                                  <m:r>
                                    <m:rPr>
                                      <m:sty m:val="p"/>
                                      <m:brk m:alnAt="7"/>
                                    </m:rPr>
                                    <a:rPr lang="en-US" altLang="zh-TW" sz="1800" i="0" smtClean="0">
                                      <a:latin typeface="Cambria Math" panose="02040503050406030204" pitchFamily="18" charset="0"/>
                                    </a:rPr>
                                    <m:t>c</m:t>
                                  </m:r>
                                  <m:r>
                                    <m:rPr>
                                      <m:sty m:val="p"/>
                                    </m:rPr>
                                    <a:rPr lang="en-US" altLang="zh-TW" sz="1800" i="0" smtClean="0">
                                      <a:latin typeface="Cambria Math" panose="02040503050406030204" pitchFamily="18" charset="0"/>
                                    </a:rPr>
                                    <m:t>os</m:t>
                                  </m:r>
                                </m:fName>
                                <m:e>
                                  <m:r>
                                    <a:rPr lang="zh-TW" altLang="en-US" sz="1800" i="1">
                                      <a:latin typeface="Cambria Math" panose="02040503050406030204" pitchFamily="18" charset="0"/>
                                    </a:rPr>
                                    <m:t>𝜃</m:t>
                                  </m:r>
                                </m:e>
                              </m:func>
                            </m:e>
                            <m:e>
                              <m:r>
                                <a:rPr lang="en-US" altLang="zh-TW" sz="1800" b="0" i="1" smtClean="0">
                                  <a:latin typeface="Cambria Math" panose="02040503050406030204" pitchFamily="18" charset="0"/>
                                </a:rPr>
                                <m:t>−</m:t>
                              </m:r>
                              <m:func>
                                <m:funcPr>
                                  <m:ctrlPr>
                                    <a:rPr lang="en-US" altLang="zh-TW" sz="1800" i="1">
                                      <a:latin typeface="Cambria Math" panose="02040503050406030204" pitchFamily="18" charset="0"/>
                                    </a:rPr>
                                  </m:ctrlPr>
                                </m:funcPr>
                                <m:fName>
                                  <m:r>
                                    <m:rPr>
                                      <m:sty m:val="p"/>
                                    </m:rPr>
                                    <a:rPr lang="en-US" altLang="zh-TW" sz="1800">
                                      <a:latin typeface="Cambria Math" panose="02040503050406030204" pitchFamily="18" charset="0"/>
                                    </a:rPr>
                                    <m:t>sin</m:t>
                                  </m:r>
                                </m:fName>
                                <m:e>
                                  <m:r>
                                    <a:rPr lang="zh-TW" altLang="en-US" sz="1800" i="1">
                                      <a:latin typeface="Cambria Math" panose="02040503050406030204" pitchFamily="18" charset="0"/>
                                    </a:rPr>
                                    <m:t>𝜃</m:t>
                                  </m:r>
                                </m:e>
                              </m:func>
                            </m:e>
                          </m:mr>
                          <m:mr>
                            <m:e>
                              <m:func>
                                <m:funcPr>
                                  <m:ctrlPr>
                                    <a:rPr lang="en-US" altLang="zh-TW" sz="1800" i="1" smtClean="0">
                                      <a:latin typeface="Cambria Math" panose="02040503050406030204" pitchFamily="18" charset="0"/>
                                    </a:rPr>
                                  </m:ctrlPr>
                                </m:funcPr>
                                <m:fName>
                                  <m:r>
                                    <m:rPr>
                                      <m:sty m:val="p"/>
                                    </m:rPr>
                                    <a:rPr lang="en-US" altLang="zh-TW" sz="1800" i="0" smtClean="0">
                                      <a:latin typeface="Cambria Math" panose="02040503050406030204" pitchFamily="18" charset="0"/>
                                    </a:rPr>
                                    <m:t>sin</m:t>
                                  </m:r>
                                </m:fName>
                                <m:e>
                                  <m:r>
                                    <a:rPr lang="zh-TW" altLang="en-US" sz="1800" i="1">
                                      <a:latin typeface="Cambria Math" panose="02040503050406030204" pitchFamily="18" charset="0"/>
                                    </a:rPr>
                                    <m:t>𝜃</m:t>
                                  </m:r>
                                </m:e>
                              </m:func>
                            </m:e>
                            <m:e>
                              <m:func>
                                <m:funcPr>
                                  <m:ctrlPr>
                                    <a:rPr lang="en-US" altLang="zh-TW" sz="1800" i="1">
                                      <a:latin typeface="Cambria Math" panose="02040503050406030204" pitchFamily="18" charset="0"/>
                                    </a:rPr>
                                  </m:ctrlPr>
                                </m:funcPr>
                                <m:fName>
                                  <m:r>
                                    <m:rPr>
                                      <m:sty m:val="p"/>
                                      <m:brk m:alnAt="7"/>
                                    </m:rPr>
                                    <a:rPr lang="en-US" altLang="zh-TW" sz="1800">
                                      <a:latin typeface="Cambria Math" panose="02040503050406030204" pitchFamily="18" charset="0"/>
                                    </a:rPr>
                                    <m:t>c</m:t>
                                  </m:r>
                                  <m:r>
                                    <m:rPr>
                                      <m:sty m:val="p"/>
                                    </m:rPr>
                                    <a:rPr lang="en-US" altLang="zh-TW" sz="1800">
                                      <a:latin typeface="Cambria Math" panose="02040503050406030204" pitchFamily="18" charset="0"/>
                                    </a:rPr>
                                    <m:t>os</m:t>
                                  </m:r>
                                </m:fName>
                                <m:e>
                                  <m:r>
                                    <a:rPr lang="zh-TW" altLang="en-US" sz="1800" i="1">
                                      <a:latin typeface="Cambria Math" panose="02040503050406030204" pitchFamily="18" charset="0"/>
                                    </a:rPr>
                                    <m:t>𝜃</m:t>
                                  </m:r>
                                </m:e>
                              </m:func>
                            </m:e>
                          </m:mr>
                        </m:m>
                      </m:e>
                    </m:d>
                    <m:d>
                      <m:dPr>
                        <m:begChr m:val="["/>
                        <m:endChr m:val="]"/>
                        <m:ctrlPr>
                          <a:rPr lang="en-US" altLang="zh-TW" sz="1800" i="1" smtClean="0">
                            <a:latin typeface="Cambria Math" panose="02040503050406030204" pitchFamily="18" charset="0"/>
                          </a:rPr>
                        </m:ctrlPr>
                      </m:dPr>
                      <m:e>
                        <m:m>
                          <m:mPr>
                            <m:mcs>
                              <m:mc>
                                <m:mcPr>
                                  <m:count m:val="1"/>
                                  <m:mcJc m:val="center"/>
                                </m:mcPr>
                              </m:mc>
                            </m:mcs>
                            <m:ctrlPr>
                              <a:rPr lang="en-US" altLang="zh-TW" sz="1800" i="1" smtClean="0">
                                <a:latin typeface="Cambria Math" panose="02040503050406030204" pitchFamily="18" charset="0"/>
                              </a:rPr>
                            </m:ctrlPr>
                          </m:mPr>
                          <m:mr>
                            <m:e>
                              <m:r>
                                <m:rPr>
                                  <m:brk m:alnAt="7"/>
                                </m:rPr>
                                <a:rPr lang="en-US" altLang="zh-TW" sz="1800" b="0" i="1" smtClean="0">
                                  <a:latin typeface="Cambria Math" panose="02040503050406030204" pitchFamily="18" charset="0"/>
                                </a:rPr>
                                <m:t>𝑦</m:t>
                              </m:r>
                              <m:r>
                                <a:rPr lang="en-US" altLang="zh-TW" sz="1800" b="0" i="1" smtClean="0">
                                  <a:latin typeface="Cambria Math" panose="02040503050406030204" pitchFamily="18" charset="0"/>
                                </a:rPr>
                                <m:t>′</m:t>
                              </m:r>
                            </m:e>
                          </m:mr>
                          <m:mr>
                            <m:e>
                              <m:r>
                                <a:rPr lang="en-US" altLang="zh-TW" sz="1800" b="0" i="1" smtClean="0">
                                  <a:latin typeface="Cambria Math" panose="02040503050406030204" pitchFamily="18" charset="0"/>
                                </a:rPr>
                                <m:t>𝑧</m:t>
                              </m:r>
                              <m:r>
                                <a:rPr lang="en-US" altLang="zh-TW" sz="1800" b="0" i="1" smtClean="0">
                                  <a:latin typeface="Cambria Math" panose="02040503050406030204" pitchFamily="18" charset="0"/>
                                </a:rPr>
                                <m:t>′</m:t>
                              </m:r>
                            </m:e>
                          </m:mr>
                        </m:m>
                      </m:e>
                    </m:d>
                  </m:oMath>
                </a14:m>
                <a:endParaRPr lang="zh-TW" altLang="en-US" dirty="0"/>
              </a:p>
            </p:txBody>
          </p:sp>
        </mc:Choice>
        <mc:Fallback xmlns="">
          <p:sp>
            <p:nvSpPr>
              <p:cNvPr id="37" name="文字方塊 36">
                <a:extLst>
                  <a:ext uri="{FF2B5EF4-FFF2-40B4-BE49-F238E27FC236}">
                    <a16:creationId xmlns:a16="http://schemas.microsoft.com/office/drawing/2014/main" id="{3358D8BE-693B-1FC1-CD3C-93F6566173B0}"/>
                  </a:ext>
                </a:extLst>
              </p:cNvPr>
              <p:cNvSpPr txBox="1">
                <a:spLocks noRot="1" noChangeAspect="1" noMove="1" noResize="1" noEditPoints="1" noAdjustHandles="1" noChangeArrowheads="1" noChangeShapeType="1" noTextEdit="1"/>
              </p:cNvSpPr>
              <p:nvPr/>
            </p:nvSpPr>
            <p:spPr>
              <a:xfrm>
                <a:off x="9445766" y="1644475"/>
                <a:ext cx="2750848" cy="602281"/>
              </a:xfrm>
              <a:prstGeom prst="rect">
                <a:avLst/>
              </a:prstGeom>
              <a:blipFill>
                <a:blip r:embed="rId13"/>
                <a:stretch>
                  <a:fillRect/>
                </a:stretch>
              </a:blipFill>
            </p:spPr>
            <p:txBody>
              <a:bodyPr/>
              <a:lstStyle/>
              <a:p>
                <a:r>
                  <a:rPr lang="zh-TW" altLang="en-US">
                    <a:noFill/>
                  </a:rPr>
                  <a:t> </a:t>
                </a:r>
              </a:p>
            </p:txBody>
          </p:sp>
        </mc:Fallback>
      </mc:AlternateContent>
      <p:sp>
        <p:nvSpPr>
          <p:cNvPr id="38" name="箭號: 向右 37">
            <a:extLst>
              <a:ext uri="{FF2B5EF4-FFF2-40B4-BE49-F238E27FC236}">
                <a16:creationId xmlns:a16="http://schemas.microsoft.com/office/drawing/2014/main" id="{51AA3332-5F84-4859-6450-0340147DD271}"/>
              </a:ext>
            </a:extLst>
          </p:cNvPr>
          <p:cNvSpPr/>
          <p:nvPr/>
        </p:nvSpPr>
        <p:spPr>
          <a:xfrm>
            <a:off x="8919543" y="1786213"/>
            <a:ext cx="486913" cy="387223"/>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p:sp>
        <p:nvSpPr>
          <p:cNvPr id="39" name="箭號: 向下 38">
            <a:extLst>
              <a:ext uri="{FF2B5EF4-FFF2-40B4-BE49-F238E27FC236}">
                <a16:creationId xmlns:a16="http://schemas.microsoft.com/office/drawing/2014/main" id="{0AD597C8-9DA2-0A34-C720-9351E6605934}"/>
              </a:ext>
            </a:extLst>
          </p:cNvPr>
          <p:cNvSpPr/>
          <p:nvPr/>
        </p:nvSpPr>
        <p:spPr>
          <a:xfrm>
            <a:off x="10148814" y="1242211"/>
            <a:ext cx="916870" cy="365125"/>
          </a:xfrm>
          <a:prstGeom prst="down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箭號: 向下 39">
            <a:extLst>
              <a:ext uri="{FF2B5EF4-FFF2-40B4-BE49-F238E27FC236}">
                <a16:creationId xmlns:a16="http://schemas.microsoft.com/office/drawing/2014/main" id="{8697D73F-7C24-0E48-BC9A-675AE2379837}"/>
              </a:ext>
            </a:extLst>
          </p:cNvPr>
          <p:cNvSpPr/>
          <p:nvPr/>
        </p:nvSpPr>
        <p:spPr>
          <a:xfrm>
            <a:off x="10148814" y="2469887"/>
            <a:ext cx="916870" cy="365125"/>
          </a:xfrm>
          <a:prstGeom prst="down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42" name="文字方塊 41">
                <a:extLst>
                  <a:ext uri="{FF2B5EF4-FFF2-40B4-BE49-F238E27FC236}">
                    <a16:creationId xmlns:a16="http://schemas.microsoft.com/office/drawing/2014/main" id="{7291CBA8-42FB-D0A3-5E9C-5A0FF27C89F0}"/>
                  </a:ext>
                </a:extLst>
              </p:cNvPr>
              <p:cNvSpPr txBox="1"/>
              <p:nvPr/>
            </p:nvSpPr>
            <p:spPr>
              <a:xfrm>
                <a:off x="9445766" y="3058143"/>
                <a:ext cx="2456443" cy="9151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TW" altLang="en-US" sz="1800" i="1" smtClean="0">
                          <a:latin typeface="Cambria Math" panose="02040503050406030204" pitchFamily="18" charset="0"/>
                        </a:rPr>
                        <m:t>𝜃</m:t>
                      </m:r>
                      <m:r>
                        <a:rPr lang="zh-TW" altLang="en-US" sz="1800" i="1" smtClean="0">
                          <a:latin typeface="Cambria Math" panose="02040503050406030204" pitchFamily="18" charset="0"/>
                        </a:rPr>
                        <m:t>≈</m:t>
                      </m:r>
                      <m:r>
                        <a:rPr lang="en-US" altLang="zh-TW" sz="1800" b="0" i="1" smtClean="0">
                          <a:latin typeface="Cambria Math" panose="02040503050406030204" pitchFamily="18" charset="0"/>
                        </a:rPr>
                        <m:t>𝑡𝑎𝑛</m:t>
                      </m:r>
                      <m:r>
                        <a:rPr lang="zh-TW" altLang="en-US" sz="1800" b="0" i="1" smtClean="0">
                          <a:latin typeface="Cambria Math" panose="02040503050406030204" pitchFamily="18" charset="0"/>
                        </a:rPr>
                        <m:t>𝜃</m:t>
                      </m:r>
                      <m:r>
                        <a:rPr lang="en-US" altLang="zh-TW" sz="1800" b="0" i="1" smtClean="0">
                          <a:latin typeface="Cambria Math" panose="02040503050406030204" pitchFamily="18" charset="0"/>
                        </a:rPr>
                        <m:t>=</m:t>
                      </m:r>
                      <m:f>
                        <m:fPr>
                          <m:ctrlPr>
                            <a:rPr lang="en-US" altLang="zh-TW" sz="1800" i="1" dirty="0">
                              <a:latin typeface="Cambria Math" panose="02040503050406030204" pitchFamily="18" charset="0"/>
                            </a:rPr>
                          </m:ctrlPr>
                        </m:fPr>
                        <m:num>
                          <m:r>
                            <m:rPr>
                              <m:nor/>
                            </m:rPr>
                            <a:rPr lang="en-US" altLang="zh-TW" sz="1800" dirty="0"/>
                            <m:t> </m:t>
                          </m:r>
                          <m:r>
                            <a:rPr lang="en-US" altLang="zh-TW" sz="1800" i="1">
                              <a:latin typeface="Cambria Math" panose="02040503050406030204" pitchFamily="18" charset="0"/>
                            </a:rPr>
                            <m:t>𝑟</m:t>
                          </m:r>
                          <m:r>
                            <a:rPr lang="en-US" altLang="zh-TW" sz="1800" i="1" baseline="-25000">
                              <a:latin typeface="Cambria Math" panose="02040503050406030204" pitchFamily="18" charset="0"/>
                            </a:rPr>
                            <m:t>51</m:t>
                          </m:r>
                          <m:r>
                            <a:rPr lang="en-US" altLang="zh-TW" sz="1800" i="1">
                              <a:latin typeface="Cambria Math" panose="02040503050406030204" pitchFamily="18" charset="0"/>
                            </a:rPr>
                            <m:t>𝐸</m:t>
                          </m:r>
                          <m:r>
                            <a:rPr lang="en-US" altLang="zh-TW" sz="1800" i="1" baseline="-25000">
                              <a:latin typeface="Cambria Math" panose="02040503050406030204" pitchFamily="18" charset="0"/>
                            </a:rPr>
                            <m:t>𝑦</m:t>
                          </m:r>
                        </m:num>
                        <m:den>
                          <m:r>
                            <m:rPr>
                              <m:nor/>
                            </m:rPr>
                            <a:rPr lang="en-US" altLang="zh-TW" sz="1800" dirty="0"/>
                            <m:t>(</m:t>
                          </m:r>
                          <m:f>
                            <m:fPr>
                              <m:ctrlPr>
                                <a:rPr lang="en-US" altLang="zh-TW" sz="1800" i="1">
                                  <a:latin typeface="Cambria Math" panose="02040503050406030204" pitchFamily="18" charset="0"/>
                                </a:rPr>
                              </m:ctrlPr>
                            </m:fPr>
                            <m:num>
                              <m:r>
                                <a:rPr lang="en-US" altLang="zh-TW" sz="1800" i="1">
                                  <a:latin typeface="Cambria Math" panose="02040503050406030204" pitchFamily="18" charset="0"/>
                                </a:rPr>
                                <m:t>1</m:t>
                              </m:r>
                            </m:num>
                            <m:den>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𝑛</m:t>
                                  </m:r>
                                </m:e>
                                <m:sub>
                                  <m:r>
                                    <a:rPr lang="en-US" altLang="zh-TW" sz="1800" i="1">
                                      <a:latin typeface="Cambria Math" panose="02040503050406030204" pitchFamily="18" charset="0"/>
                                    </a:rPr>
                                    <m:t>𝑒</m:t>
                                  </m:r>
                                </m:sub>
                                <m:sup>
                                  <m:r>
                                    <a:rPr lang="en-US" altLang="zh-TW" sz="1800" i="1">
                                      <a:latin typeface="Cambria Math" panose="02040503050406030204" pitchFamily="18" charset="0"/>
                                    </a:rPr>
                                    <m:t>2</m:t>
                                  </m:r>
                                </m:sup>
                              </m:sSubSup>
                            </m:den>
                          </m:f>
                          <m:r>
                            <a:rPr lang="en-US" altLang="zh-TW" sz="1800" i="1">
                              <a:latin typeface="Cambria Math" panose="02040503050406030204" pitchFamily="18" charset="0"/>
                            </a:rPr>
                            <m:t>−</m:t>
                          </m:r>
                          <m:f>
                            <m:fPr>
                              <m:ctrlPr>
                                <a:rPr lang="en-US" altLang="zh-TW" sz="1800" i="1">
                                  <a:latin typeface="Cambria Math" panose="02040503050406030204" pitchFamily="18" charset="0"/>
                                </a:rPr>
                              </m:ctrlPr>
                            </m:fPr>
                            <m:num>
                              <m:r>
                                <a:rPr lang="en-US" altLang="zh-TW" sz="1800" i="1">
                                  <a:latin typeface="Cambria Math" panose="02040503050406030204" pitchFamily="18" charset="0"/>
                                </a:rPr>
                                <m:t>1</m:t>
                              </m:r>
                            </m:num>
                            <m:den>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𝑛</m:t>
                                  </m:r>
                                </m:e>
                                <m:sub>
                                  <m:r>
                                    <a:rPr lang="en-US" altLang="zh-TW" sz="1800" i="1">
                                      <a:latin typeface="Cambria Math" panose="02040503050406030204" pitchFamily="18" charset="0"/>
                                    </a:rPr>
                                    <m:t>𝑜</m:t>
                                  </m:r>
                                </m:sub>
                                <m:sup>
                                  <m:r>
                                    <a:rPr lang="en-US" altLang="zh-TW" sz="1800" i="1">
                                      <a:latin typeface="Cambria Math" panose="02040503050406030204" pitchFamily="18" charset="0"/>
                                    </a:rPr>
                                    <m:t>2</m:t>
                                  </m:r>
                                </m:sup>
                              </m:sSubSup>
                            </m:den>
                          </m:f>
                          <m:r>
                            <a:rPr lang="en-US" altLang="zh-TW" sz="1800" i="1">
                              <a:latin typeface="Cambria Math" panose="02040503050406030204" pitchFamily="18" charset="0"/>
                            </a:rPr>
                            <m:t>)</m:t>
                          </m:r>
                        </m:den>
                      </m:f>
                    </m:oMath>
                  </m:oMathPara>
                </a14:m>
                <a:endParaRPr lang="zh-TW" altLang="en-US" dirty="0"/>
              </a:p>
            </p:txBody>
          </p:sp>
        </mc:Choice>
        <mc:Fallback xmlns="">
          <p:sp>
            <p:nvSpPr>
              <p:cNvPr id="42" name="文字方塊 41">
                <a:extLst>
                  <a:ext uri="{FF2B5EF4-FFF2-40B4-BE49-F238E27FC236}">
                    <a16:creationId xmlns:a16="http://schemas.microsoft.com/office/drawing/2014/main" id="{7291CBA8-42FB-D0A3-5E9C-5A0FF27C89F0}"/>
                  </a:ext>
                </a:extLst>
              </p:cNvPr>
              <p:cNvSpPr txBox="1">
                <a:spLocks noRot="1" noChangeAspect="1" noMove="1" noResize="1" noEditPoints="1" noAdjustHandles="1" noChangeArrowheads="1" noChangeShapeType="1" noTextEdit="1"/>
              </p:cNvSpPr>
              <p:nvPr/>
            </p:nvSpPr>
            <p:spPr>
              <a:xfrm>
                <a:off x="9445766" y="3058143"/>
                <a:ext cx="2456443" cy="915187"/>
              </a:xfrm>
              <a:prstGeom prst="rect">
                <a:avLst/>
              </a:prstGeom>
              <a:blipFill>
                <a:blip r:embed="rId14"/>
                <a:stretch>
                  <a:fillRect/>
                </a:stretch>
              </a:blipFill>
            </p:spPr>
            <p:txBody>
              <a:bodyPr/>
              <a:lstStyle/>
              <a:p>
                <a:r>
                  <a:rPr lang="zh-TW" altLang="en-US">
                    <a:noFill/>
                  </a:rPr>
                  <a:t> </a:t>
                </a:r>
              </a:p>
            </p:txBody>
          </p:sp>
        </mc:Fallback>
      </mc:AlternateContent>
      <p:sp>
        <p:nvSpPr>
          <p:cNvPr id="43" name="箭號: 向右 42">
            <a:extLst>
              <a:ext uri="{FF2B5EF4-FFF2-40B4-BE49-F238E27FC236}">
                <a16:creationId xmlns:a16="http://schemas.microsoft.com/office/drawing/2014/main" id="{77FE2C6D-66F8-D22F-D059-2D9E65EEEBA9}"/>
              </a:ext>
            </a:extLst>
          </p:cNvPr>
          <p:cNvSpPr/>
          <p:nvPr/>
        </p:nvSpPr>
        <p:spPr>
          <a:xfrm>
            <a:off x="8919543" y="3192121"/>
            <a:ext cx="486913" cy="387223"/>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44" name="文字方塊 43">
                <a:extLst>
                  <a:ext uri="{FF2B5EF4-FFF2-40B4-BE49-F238E27FC236}">
                    <a16:creationId xmlns:a16="http://schemas.microsoft.com/office/drawing/2014/main" id="{C7F76838-C7C2-1FC8-08DF-EBD111076A62}"/>
                  </a:ext>
                </a:extLst>
              </p:cNvPr>
              <p:cNvSpPr txBox="1"/>
              <p:nvPr/>
            </p:nvSpPr>
            <p:spPr>
              <a:xfrm>
                <a:off x="7473566" y="2784972"/>
                <a:ext cx="1378711" cy="1630959"/>
              </a:xfrm>
              <a:prstGeom prst="rect">
                <a:avLst/>
              </a:prstGeom>
              <a:noFill/>
            </p:spPr>
            <p:txBody>
              <a:bodyPr wrap="none" rtlCol="0">
                <a:spAutoFit/>
              </a:bodyPr>
              <a:lstStyle/>
              <a:p>
                <a:r>
                  <a:rPr lang="en-US" altLang="zh-TW" dirty="0"/>
                  <a:t>= </a:t>
                </a:r>
                <a14:m>
                  <m:oMath xmlns:m="http://schemas.openxmlformats.org/officeDocument/2006/math">
                    <m:d>
                      <m:dPr>
                        <m:ctrlPr>
                          <a:rPr lang="en-US" altLang="zh-TW" i="1" smtClean="0">
                            <a:latin typeface="Cambria Math" panose="02040503050406030204" pitchFamily="18" charset="0"/>
                          </a:rPr>
                        </m:ctrlPr>
                      </m:dPr>
                      <m:e>
                        <m:m>
                          <m:mPr>
                            <m:mcs>
                              <m:mc>
                                <m:mcPr>
                                  <m:count m:val="1"/>
                                  <m:mcJc m:val="center"/>
                                </m:mcPr>
                              </m:mc>
                            </m:mcs>
                            <m:ctrlPr>
                              <a:rPr lang="en-US" altLang="zh-TW" i="1" smtClean="0">
                                <a:latin typeface="Cambria Math" panose="02040503050406030204" pitchFamily="18" charset="0"/>
                              </a:rPr>
                            </m:ctrlPr>
                          </m:mPr>
                          <m:mr>
                            <m:e>
                              <m:m>
                                <m:mPr>
                                  <m:mcs>
                                    <m:mc>
                                      <m:mcPr>
                                        <m:count m:val="1"/>
                                        <m:mcJc m:val="center"/>
                                      </m:mcPr>
                                    </m:mc>
                                  </m:mcs>
                                  <m:ctrlPr>
                                    <a:rPr lang="en-US" altLang="zh-TW" i="1" smtClean="0">
                                      <a:latin typeface="Cambria Math" panose="02040503050406030204" pitchFamily="18" charset="0"/>
                                    </a:rPr>
                                  </m:ctrlPr>
                                </m:mPr>
                                <m:mr>
                                  <m:e>
                                    <m:r>
                                      <a:rPr lang="en-US" altLang="zh-TW" i="1">
                                        <a:latin typeface="Cambria Math" panose="02040503050406030204" pitchFamily="18" charset="0"/>
                                      </a:rPr>
                                      <m:t>−</m:t>
                                    </m:r>
                                    <m:r>
                                      <a:rPr lang="en-US" altLang="zh-TW" i="1">
                                        <a:latin typeface="Cambria Math" panose="02040503050406030204" pitchFamily="18" charset="0"/>
                                      </a:rPr>
                                      <m:t>𝑟</m:t>
                                    </m:r>
                                    <m:r>
                                      <a:rPr lang="en-US" altLang="zh-TW" i="1" baseline="-25000">
                                        <a:latin typeface="Cambria Math" panose="02040503050406030204" pitchFamily="18" charset="0"/>
                                      </a:rPr>
                                      <m:t>22</m:t>
                                    </m:r>
                                    <m:r>
                                      <m:rPr>
                                        <m:sty m:val="p"/>
                                      </m:rPr>
                                      <a:rPr lang="en-US" altLang="zh-TW" i="1">
                                        <a:latin typeface="Cambria Math" panose="02040503050406030204" pitchFamily="18" charset="0"/>
                                      </a:rPr>
                                      <m:t>E</m:t>
                                    </m:r>
                                    <m:r>
                                      <a:rPr lang="en-US" altLang="zh-TW" i="1" baseline="-25000">
                                        <a:latin typeface="Cambria Math" panose="02040503050406030204" pitchFamily="18" charset="0"/>
                                      </a:rPr>
                                      <m:t>𝑦</m:t>
                                    </m:r>
                                  </m:e>
                                </m:mr>
                                <m:mr>
                                  <m:e>
                                    <m:r>
                                      <a:rPr lang="en-US" altLang="zh-TW" i="1">
                                        <a:latin typeface="Cambria Math" panose="02040503050406030204" pitchFamily="18" charset="0"/>
                                      </a:rPr>
                                      <m:t>𝑟</m:t>
                                    </m:r>
                                    <m:r>
                                      <a:rPr lang="en-US" altLang="zh-TW" i="1" baseline="-25000">
                                        <a:latin typeface="Cambria Math" panose="02040503050406030204" pitchFamily="18" charset="0"/>
                                      </a:rPr>
                                      <m:t>22</m:t>
                                    </m:r>
                                    <m:r>
                                      <m:rPr>
                                        <m:sty m:val="p"/>
                                      </m:rPr>
                                      <a:rPr lang="en-US" altLang="zh-TW" i="1">
                                        <a:latin typeface="Cambria Math" panose="02040503050406030204" pitchFamily="18" charset="0"/>
                                      </a:rPr>
                                      <m:t>E</m:t>
                                    </m:r>
                                    <m:r>
                                      <a:rPr lang="en-US" altLang="zh-TW" i="1" baseline="-25000">
                                        <a:latin typeface="Cambria Math" panose="02040503050406030204" pitchFamily="18" charset="0"/>
                                      </a:rPr>
                                      <m:t>𝑦</m:t>
                                    </m:r>
                                  </m:e>
                                </m:mr>
                              </m:m>
                            </m:e>
                          </m:mr>
                          <m:mr>
                            <m:e>
                              <m:m>
                                <m:mPr>
                                  <m:mcs>
                                    <m:mc>
                                      <m:mcPr>
                                        <m:count m:val="1"/>
                                        <m:mcJc m:val="center"/>
                                      </m:mcPr>
                                    </m:mc>
                                  </m:mcs>
                                  <m:ctrlPr>
                                    <a:rPr lang="en-US" altLang="zh-TW" i="1" smtClean="0">
                                      <a:latin typeface="Cambria Math" panose="02040503050406030204" pitchFamily="18" charset="0"/>
                                    </a:rPr>
                                  </m:ctrlPr>
                                </m:mPr>
                                <m:mr>
                                  <m:e>
                                    <m:r>
                                      <m:rPr>
                                        <m:brk m:alnAt="7"/>
                                      </m:rPr>
                                      <a:rPr lang="en-US" altLang="zh-TW" b="0" i="1" smtClean="0">
                                        <a:latin typeface="Cambria Math" panose="02040503050406030204" pitchFamily="18" charset="0"/>
                                      </a:rPr>
                                      <m:t>0</m:t>
                                    </m:r>
                                  </m:e>
                                </m:mr>
                                <m:mr>
                                  <m:e>
                                    <m:r>
                                      <a:rPr lang="en-US" altLang="zh-TW" i="1">
                                        <a:latin typeface="Cambria Math" panose="02040503050406030204" pitchFamily="18" charset="0"/>
                                      </a:rPr>
                                      <m:t>𝑟</m:t>
                                    </m:r>
                                    <m:r>
                                      <a:rPr lang="en-US" altLang="zh-TW" b="0" i="1" baseline="-25000" smtClean="0">
                                        <a:latin typeface="Cambria Math" panose="02040503050406030204" pitchFamily="18" charset="0"/>
                                      </a:rPr>
                                      <m:t>51</m:t>
                                    </m:r>
                                    <m:r>
                                      <m:rPr>
                                        <m:sty m:val="p"/>
                                      </m:rPr>
                                      <a:rPr lang="en-US" altLang="zh-TW" i="1">
                                        <a:latin typeface="Cambria Math" panose="02040503050406030204" pitchFamily="18" charset="0"/>
                                      </a:rPr>
                                      <m:t>E</m:t>
                                    </m:r>
                                    <m:r>
                                      <a:rPr lang="en-US" altLang="zh-TW" i="1" baseline="-25000">
                                        <a:latin typeface="Cambria Math" panose="02040503050406030204" pitchFamily="18" charset="0"/>
                                      </a:rPr>
                                      <m:t>𝑦</m:t>
                                    </m:r>
                                  </m:e>
                                </m:mr>
                              </m:m>
                            </m:e>
                          </m:mr>
                          <m:mr>
                            <m:e>
                              <m:m>
                                <m:mPr>
                                  <m:mcs>
                                    <m:mc>
                                      <m:mcPr>
                                        <m:count m:val="1"/>
                                        <m:mcJc m:val="center"/>
                                      </m:mcPr>
                                    </m:mc>
                                  </m:mcs>
                                  <m:ctrlPr>
                                    <a:rPr lang="en-US" altLang="zh-TW" i="1" smtClean="0">
                                      <a:latin typeface="Cambria Math" panose="02040503050406030204" pitchFamily="18" charset="0"/>
                                    </a:rPr>
                                  </m:ctrlPr>
                                </m:mPr>
                                <m:mr>
                                  <m:e>
                                    <m:r>
                                      <m:rPr>
                                        <m:brk m:alnAt="7"/>
                                      </m:rPr>
                                      <a:rPr lang="en-US" altLang="zh-TW" b="0" i="1" smtClean="0">
                                        <a:latin typeface="Cambria Math" panose="02040503050406030204" pitchFamily="18" charset="0"/>
                                      </a:rPr>
                                      <m:t>0</m:t>
                                    </m:r>
                                  </m:e>
                                </m:mr>
                                <m:mr>
                                  <m:e>
                                    <m:r>
                                      <a:rPr lang="en-US" altLang="zh-TW" b="0" i="1" smtClean="0">
                                        <a:latin typeface="Cambria Math" panose="02040503050406030204" pitchFamily="18" charset="0"/>
                                      </a:rPr>
                                      <m:t>0</m:t>
                                    </m:r>
                                  </m:e>
                                </m:mr>
                              </m:m>
                            </m:e>
                          </m:mr>
                        </m:m>
                      </m:e>
                    </m:d>
                  </m:oMath>
                </a14:m>
                <a:endParaRPr lang="zh-TW" altLang="en-US" dirty="0"/>
              </a:p>
            </p:txBody>
          </p:sp>
        </mc:Choice>
        <mc:Fallback xmlns="">
          <p:sp>
            <p:nvSpPr>
              <p:cNvPr id="44" name="文字方塊 43">
                <a:extLst>
                  <a:ext uri="{FF2B5EF4-FFF2-40B4-BE49-F238E27FC236}">
                    <a16:creationId xmlns:a16="http://schemas.microsoft.com/office/drawing/2014/main" id="{C7F76838-C7C2-1FC8-08DF-EBD111076A62}"/>
                  </a:ext>
                </a:extLst>
              </p:cNvPr>
              <p:cNvSpPr txBox="1">
                <a:spLocks noRot="1" noChangeAspect="1" noMove="1" noResize="1" noEditPoints="1" noAdjustHandles="1" noChangeArrowheads="1" noChangeShapeType="1" noTextEdit="1"/>
              </p:cNvSpPr>
              <p:nvPr/>
            </p:nvSpPr>
            <p:spPr>
              <a:xfrm>
                <a:off x="7473566" y="2784972"/>
                <a:ext cx="1378711" cy="1630959"/>
              </a:xfrm>
              <a:prstGeom prst="rect">
                <a:avLst/>
              </a:prstGeom>
              <a:blipFill>
                <a:blip r:embed="rId15"/>
                <a:stretch>
                  <a:fillRect l="-3982"/>
                </a:stretch>
              </a:blipFill>
            </p:spPr>
            <p:txBody>
              <a:bodyPr/>
              <a:lstStyle/>
              <a:p>
                <a:r>
                  <a:rPr lang="zh-TW" altLang="en-US">
                    <a:noFill/>
                  </a:rPr>
                  <a:t> </a:t>
                </a:r>
              </a:p>
            </p:txBody>
          </p:sp>
        </mc:Fallback>
      </mc:AlternateContent>
      <p:pic>
        <p:nvPicPr>
          <p:cNvPr id="150" name="圖片 149">
            <a:extLst>
              <a:ext uri="{FF2B5EF4-FFF2-40B4-BE49-F238E27FC236}">
                <a16:creationId xmlns:a16="http://schemas.microsoft.com/office/drawing/2014/main" id="{56764313-703D-FBEE-B8F5-52C26CDCF657}"/>
              </a:ext>
            </a:extLst>
          </p:cNvPr>
          <p:cNvPicPr>
            <a:picLocks noChangeAspect="1"/>
          </p:cNvPicPr>
          <p:nvPr/>
        </p:nvPicPr>
        <p:blipFill>
          <a:blip r:embed="rId16"/>
          <a:stretch>
            <a:fillRect/>
          </a:stretch>
        </p:blipFill>
        <p:spPr>
          <a:xfrm>
            <a:off x="9274902" y="54389"/>
            <a:ext cx="1142251" cy="700265"/>
          </a:xfrm>
          <a:prstGeom prst="rect">
            <a:avLst/>
          </a:prstGeom>
        </p:spPr>
      </p:pic>
      <p:pic>
        <p:nvPicPr>
          <p:cNvPr id="14" name="圖片 13">
            <a:extLst>
              <a:ext uri="{FF2B5EF4-FFF2-40B4-BE49-F238E27FC236}">
                <a16:creationId xmlns:a16="http://schemas.microsoft.com/office/drawing/2014/main" id="{736E6599-1EE0-2635-803B-903297BF1146}"/>
              </a:ext>
            </a:extLst>
          </p:cNvPr>
          <p:cNvPicPr>
            <a:picLocks noChangeAspect="1"/>
          </p:cNvPicPr>
          <p:nvPr/>
        </p:nvPicPr>
        <p:blipFill>
          <a:blip r:embed="rId17"/>
          <a:stretch>
            <a:fillRect/>
          </a:stretch>
        </p:blipFill>
        <p:spPr>
          <a:xfrm>
            <a:off x="8766262" y="4515127"/>
            <a:ext cx="1574706" cy="1788226"/>
          </a:xfrm>
          <a:prstGeom prst="rect">
            <a:avLst/>
          </a:prstGeom>
        </p:spPr>
      </p:pic>
      <p:pic>
        <p:nvPicPr>
          <p:cNvPr id="16" name="圖片 15">
            <a:extLst>
              <a:ext uri="{FF2B5EF4-FFF2-40B4-BE49-F238E27FC236}">
                <a16:creationId xmlns:a16="http://schemas.microsoft.com/office/drawing/2014/main" id="{02B02024-3CDC-9D73-A2B2-55CA9C13F5EB}"/>
              </a:ext>
            </a:extLst>
          </p:cNvPr>
          <p:cNvPicPr>
            <a:picLocks noChangeAspect="1"/>
          </p:cNvPicPr>
          <p:nvPr/>
        </p:nvPicPr>
        <p:blipFill>
          <a:blip r:embed="rId18"/>
          <a:stretch>
            <a:fillRect/>
          </a:stretch>
        </p:blipFill>
        <p:spPr>
          <a:xfrm>
            <a:off x="10578054" y="4517737"/>
            <a:ext cx="1574706" cy="1694345"/>
          </a:xfrm>
          <a:prstGeom prst="rect">
            <a:avLst/>
          </a:prstGeom>
        </p:spPr>
      </p:pic>
    </p:spTree>
    <p:extLst>
      <p:ext uri="{BB962C8B-B14F-4D97-AF65-F5344CB8AC3E}">
        <p14:creationId xmlns:p14="http://schemas.microsoft.com/office/powerpoint/2010/main" val="2099404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10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10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10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500"/>
                                        <p:tgtEl>
                                          <p:spTgt spid="2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500"/>
                                        <p:tgtEl>
                                          <p:spTgt spid="2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nodeType="with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xit" presetSubtype="0" fill="hold" grpId="1" nodeType="withEffect">
                                  <p:stCondLst>
                                    <p:cond delay="0"/>
                                  </p:stCondLst>
                                  <p:childTnLst>
                                    <p:animEffect transition="out" filter="fade">
                                      <p:cBhvr>
                                        <p:cTn id="45" dur="500"/>
                                        <p:tgtEl>
                                          <p:spTgt spid="17"/>
                                        </p:tgtEl>
                                      </p:cBhvr>
                                    </p:animEffect>
                                    <p:set>
                                      <p:cBhvr>
                                        <p:cTn id="46" dur="1" fill="hold">
                                          <p:stCondLst>
                                            <p:cond delay="499"/>
                                          </p:stCondLst>
                                        </p:cTn>
                                        <p:tgtEl>
                                          <p:spTgt spid="17"/>
                                        </p:tgtEl>
                                        <p:attrNameLst>
                                          <p:attrName>style.visibility</p:attrName>
                                        </p:attrNameLst>
                                      </p:cBhvr>
                                      <p:to>
                                        <p:strVal val="hidden"/>
                                      </p:to>
                                    </p:se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xit" presetSubtype="0" fill="hold" grpId="1" nodeType="withEffect">
                                  <p:stCondLst>
                                    <p:cond delay="0"/>
                                  </p:stCondLst>
                                  <p:childTnLst>
                                    <p:animEffect transition="out" filter="fade">
                                      <p:cBhvr>
                                        <p:cTn id="51" dur="500"/>
                                        <p:tgtEl>
                                          <p:spTgt spid="21"/>
                                        </p:tgtEl>
                                      </p:cBhvr>
                                    </p:animEffect>
                                    <p:set>
                                      <p:cBhvr>
                                        <p:cTn id="52" dur="1" fill="hold">
                                          <p:stCondLst>
                                            <p:cond delay="499"/>
                                          </p:stCondLst>
                                        </p:cTn>
                                        <p:tgtEl>
                                          <p:spTgt spid="21"/>
                                        </p:tgtEl>
                                        <p:attrNameLst>
                                          <p:attrName>style.visibility</p:attrName>
                                        </p:attrNameLst>
                                      </p:cBhvr>
                                      <p:to>
                                        <p:strVal val="hidden"/>
                                      </p:to>
                                    </p:set>
                                  </p:childTnLst>
                                </p:cTn>
                              </p:par>
                              <p:par>
                                <p:cTn id="53" presetID="22" presetClass="entr" presetSubtype="4"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wipe(down)">
                                      <p:cBhvr>
                                        <p:cTn id="55" dur="500"/>
                                        <p:tgtEl>
                                          <p:spTgt spid="2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44"/>
                                        </p:tgtEl>
                                        <p:attrNameLst>
                                          <p:attrName>style.visibility</p:attrName>
                                        </p:attrNameLst>
                                      </p:cBhvr>
                                      <p:to>
                                        <p:strVal val="visible"/>
                                      </p:to>
                                    </p:set>
                                    <p:animEffect transition="in" filter="fade">
                                      <p:cBhvr>
                                        <p:cTn id="60" dur="500"/>
                                        <p:tgtEl>
                                          <p:spTgt spid="44"/>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wipe(left)">
                                      <p:cBhvr>
                                        <p:cTn id="65" dur="500"/>
                                        <p:tgtEl>
                                          <p:spTgt spid="32"/>
                                        </p:tgtEl>
                                      </p:cBhvr>
                                    </p:animEffect>
                                  </p:childTnLst>
                                </p:cTn>
                              </p:par>
                            </p:childTnLst>
                          </p:cTn>
                        </p:par>
                        <p:par>
                          <p:cTn id="66" fill="hold">
                            <p:stCondLst>
                              <p:cond delay="500"/>
                            </p:stCondLst>
                            <p:childTnLst>
                              <p:par>
                                <p:cTn id="67" presetID="10" presetClass="entr" presetSubtype="0" fill="hold" grpId="0" nodeType="afterEffect">
                                  <p:stCondLst>
                                    <p:cond delay="0"/>
                                  </p:stCondLst>
                                  <p:childTnLst>
                                    <p:set>
                                      <p:cBhvr>
                                        <p:cTn id="68" dur="1" fill="hold">
                                          <p:stCondLst>
                                            <p:cond delay="0"/>
                                          </p:stCondLst>
                                        </p:cTn>
                                        <p:tgtEl>
                                          <p:spTgt spid="31"/>
                                        </p:tgtEl>
                                        <p:attrNameLst>
                                          <p:attrName>style.visibility</p:attrName>
                                        </p:attrNameLst>
                                      </p:cBhvr>
                                      <p:to>
                                        <p:strVal val="visible"/>
                                      </p:to>
                                    </p:set>
                                    <p:animEffect transition="in" filter="fade">
                                      <p:cBhvr>
                                        <p:cTn id="69" dur="500"/>
                                        <p:tgtEl>
                                          <p:spTgt spid="31"/>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33"/>
                                        </p:tgtEl>
                                        <p:attrNameLst>
                                          <p:attrName>style.visibility</p:attrName>
                                        </p:attrNameLst>
                                      </p:cBhvr>
                                      <p:to>
                                        <p:strVal val="visible"/>
                                      </p:to>
                                    </p:set>
                                    <p:animEffect transition="in" filter="wipe(left)">
                                      <p:cBhvr>
                                        <p:cTn id="74" dur="500"/>
                                        <p:tgtEl>
                                          <p:spTgt spid="33"/>
                                        </p:tgtEl>
                                      </p:cBhvr>
                                    </p:animEffect>
                                  </p:childTnLst>
                                </p:cTn>
                              </p:par>
                            </p:childTnLst>
                          </p:cTn>
                        </p:par>
                        <p:par>
                          <p:cTn id="75" fill="hold">
                            <p:stCondLst>
                              <p:cond delay="500"/>
                            </p:stCondLst>
                            <p:childTnLst>
                              <p:par>
                                <p:cTn id="76" presetID="10" presetClass="entr" presetSubtype="0" fill="hold" grpId="0" nodeType="afterEffect">
                                  <p:stCondLst>
                                    <p:cond delay="0"/>
                                  </p:stCondLst>
                                  <p:childTnLst>
                                    <p:set>
                                      <p:cBhvr>
                                        <p:cTn id="77" dur="1" fill="hold">
                                          <p:stCondLst>
                                            <p:cond delay="0"/>
                                          </p:stCondLst>
                                        </p:cTn>
                                        <p:tgtEl>
                                          <p:spTgt spid="35"/>
                                        </p:tgtEl>
                                        <p:attrNameLst>
                                          <p:attrName>style.visibility</p:attrName>
                                        </p:attrNameLst>
                                      </p:cBhvr>
                                      <p:to>
                                        <p:strVal val="visible"/>
                                      </p:to>
                                    </p:set>
                                    <p:animEffect transition="in" filter="fade">
                                      <p:cBhvr>
                                        <p:cTn id="78" dur="500"/>
                                        <p:tgtEl>
                                          <p:spTgt spid="35"/>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1" fill="hold" grpId="0" nodeType="clickEffect">
                                  <p:stCondLst>
                                    <p:cond delay="0"/>
                                  </p:stCondLst>
                                  <p:childTnLst>
                                    <p:set>
                                      <p:cBhvr>
                                        <p:cTn id="82" dur="1" fill="hold">
                                          <p:stCondLst>
                                            <p:cond delay="0"/>
                                          </p:stCondLst>
                                        </p:cTn>
                                        <p:tgtEl>
                                          <p:spTgt spid="39"/>
                                        </p:tgtEl>
                                        <p:attrNameLst>
                                          <p:attrName>style.visibility</p:attrName>
                                        </p:attrNameLst>
                                      </p:cBhvr>
                                      <p:to>
                                        <p:strVal val="visible"/>
                                      </p:to>
                                    </p:set>
                                    <p:animEffect transition="in" filter="wipe(up)">
                                      <p:cBhvr>
                                        <p:cTn id="83" dur="500"/>
                                        <p:tgtEl>
                                          <p:spTgt spid="39"/>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38"/>
                                        </p:tgtEl>
                                        <p:attrNameLst>
                                          <p:attrName>style.visibility</p:attrName>
                                        </p:attrNameLst>
                                      </p:cBhvr>
                                      <p:to>
                                        <p:strVal val="visible"/>
                                      </p:to>
                                    </p:set>
                                    <p:animEffect transition="in" filter="wipe(left)">
                                      <p:cBhvr>
                                        <p:cTn id="88" dur="500"/>
                                        <p:tgtEl>
                                          <p:spTgt spid="38"/>
                                        </p:tgtEl>
                                      </p:cBhvr>
                                    </p:animEffect>
                                  </p:childTnLst>
                                </p:cTn>
                              </p:par>
                            </p:childTnLst>
                          </p:cTn>
                        </p:par>
                        <p:par>
                          <p:cTn id="89" fill="hold">
                            <p:stCondLst>
                              <p:cond delay="500"/>
                            </p:stCondLst>
                            <p:childTnLst>
                              <p:par>
                                <p:cTn id="90" presetID="10" presetClass="entr" presetSubtype="0" fill="hold" grpId="0" nodeType="afterEffect">
                                  <p:stCondLst>
                                    <p:cond delay="0"/>
                                  </p:stCondLst>
                                  <p:childTnLst>
                                    <p:set>
                                      <p:cBhvr>
                                        <p:cTn id="91" dur="1" fill="hold">
                                          <p:stCondLst>
                                            <p:cond delay="0"/>
                                          </p:stCondLst>
                                        </p:cTn>
                                        <p:tgtEl>
                                          <p:spTgt spid="37"/>
                                        </p:tgtEl>
                                        <p:attrNameLst>
                                          <p:attrName>style.visibility</p:attrName>
                                        </p:attrNameLst>
                                      </p:cBhvr>
                                      <p:to>
                                        <p:strVal val="visible"/>
                                      </p:to>
                                    </p:set>
                                    <p:animEffect transition="in" filter="fade">
                                      <p:cBhvr>
                                        <p:cTn id="92" dur="500"/>
                                        <p:tgtEl>
                                          <p:spTgt spid="37"/>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1" fill="hold" grpId="0" nodeType="clickEffect">
                                  <p:stCondLst>
                                    <p:cond delay="0"/>
                                  </p:stCondLst>
                                  <p:childTnLst>
                                    <p:set>
                                      <p:cBhvr>
                                        <p:cTn id="96" dur="1" fill="hold">
                                          <p:stCondLst>
                                            <p:cond delay="0"/>
                                          </p:stCondLst>
                                        </p:cTn>
                                        <p:tgtEl>
                                          <p:spTgt spid="40"/>
                                        </p:tgtEl>
                                        <p:attrNameLst>
                                          <p:attrName>style.visibility</p:attrName>
                                        </p:attrNameLst>
                                      </p:cBhvr>
                                      <p:to>
                                        <p:strVal val="visible"/>
                                      </p:to>
                                    </p:set>
                                    <p:animEffect transition="in" filter="wipe(up)">
                                      <p:cBhvr>
                                        <p:cTn id="97" dur="750"/>
                                        <p:tgtEl>
                                          <p:spTgt spid="40"/>
                                        </p:tgtEl>
                                      </p:cBhvr>
                                    </p:animEffect>
                                  </p:childTnLst>
                                </p:cTn>
                              </p:par>
                            </p:childTnLst>
                          </p:cTn>
                        </p:par>
                        <p:par>
                          <p:cTn id="98" fill="hold">
                            <p:stCondLst>
                              <p:cond delay="750"/>
                            </p:stCondLst>
                            <p:childTnLst>
                              <p:par>
                                <p:cTn id="99" presetID="22" presetClass="entr" presetSubtype="8" fill="hold" grpId="0" nodeType="afterEffect">
                                  <p:stCondLst>
                                    <p:cond delay="0"/>
                                  </p:stCondLst>
                                  <p:childTnLst>
                                    <p:set>
                                      <p:cBhvr>
                                        <p:cTn id="100" dur="1" fill="hold">
                                          <p:stCondLst>
                                            <p:cond delay="0"/>
                                          </p:stCondLst>
                                        </p:cTn>
                                        <p:tgtEl>
                                          <p:spTgt spid="43"/>
                                        </p:tgtEl>
                                        <p:attrNameLst>
                                          <p:attrName>style.visibility</p:attrName>
                                        </p:attrNameLst>
                                      </p:cBhvr>
                                      <p:to>
                                        <p:strVal val="visible"/>
                                      </p:to>
                                    </p:set>
                                    <p:animEffect transition="in" filter="wipe(left)">
                                      <p:cBhvr>
                                        <p:cTn id="101" dur="500"/>
                                        <p:tgtEl>
                                          <p:spTgt spid="4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2"/>
                                        </p:tgtEl>
                                        <p:attrNameLst>
                                          <p:attrName>style.visibility</p:attrName>
                                        </p:attrNameLst>
                                      </p:cBhvr>
                                      <p:to>
                                        <p:strVal val="visible"/>
                                      </p:to>
                                    </p:set>
                                    <p:animEffect transition="in" filter="fade">
                                      <p:cBhvr>
                                        <p:cTn id="104" dur="500"/>
                                        <p:tgtEl>
                                          <p:spTgt spid="42"/>
                                        </p:tgtEl>
                                      </p:cBhvr>
                                    </p:animEffect>
                                  </p:childTnLst>
                                </p:cTn>
                              </p:par>
                            </p:childTnLst>
                          </p:cTn>
                        </p:par>
                        <p:par>
                          <p:cTn id="105" fill="hold">
                            <p:stCondLst>
                              <p:cond delay="1250"/>
                            </p:stCondLst>
                            <p:childTnLst>
                              <p:par>
                                <p:cTn id="106" presetID="10" presetClass="entr" presetSubtype="0" fill="hold" nodeType="afterEffect">
                                  <p:stCondLst>
                                    <p:cond delay="0"/>
                                  </p:stCondLst>
                                  <p:childTnLst>
                                    <p:set>
                                      <p:cBhvr>
                                        <p:cTn id="107" dur="1" fill="hold">
                                          <p:stCondLst>
                                            <p:cond delay="0"/>
                                          </p:stCondLst>
                                        </p:cTn>
                                        <p:tgtEl>
                                          <p:spTgt spid="16"/>
                                        </p:tgtEl>
                                        <p:attrNameLst>
                                          <p:attrName>style.visibility</p:attrName>
                                        </p:attrNameLst>
                                      </p:cBhvr>
                                      <p:to>
                                        <p:strVal val="visible"/>
                                      </p:to>
                                    </p:set>
                                    <p:animEffect transition="in" filter="fade">
                                      <p:cBhvr>
                                        <p:cTn id="108" dur="500"/>
                                        <p:tgtEl>
                                          <p:spTgt spid="16"/>
                                        </p:tgtEl>
                                      </p:cBhvr>
                                    </p:animEffect>
                                  </p:childTnLst>
                                </p:cTn>
                              </p:par>
                              <p:par>
                                <p:cTn id="109" presetID="10" presetClass="entr" presetSubtype="0" fill="hold" nodeType="withEffect">
                                  <p:stCondLst>
                                    <p:cond delay="0"/>
                                  </p:stCondLst>
                                  <p:childTnLst>
                                    <p:set>
                                      <p:cBhvr>
                                        <p:cTn id="110" dur="1" fill="hold">
                                          <p:stCondLst>
                                            <p:cond delay="0"/>
                                          </p:stCondLst>
                                        </p:cTn>
                                        <p:tgtEl>
                                          <p:spTgt spid="14"/>
                                        </p:tgtEl>
                                        <p:attrNameLst>
                                          <p:attrName>style.visibility</p:attrName>
                                        </p:attrNameLst>
                                      </p:cBhvr>
                                      <p:to>
                                        <p:strVal val="visible"/>
                                      </p:to>
                                    </p:set>
                                    <p:animEffect transition="in" filter="fade">
                                      <p:cBhvr>
                                        <p:cTn id="11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p:bldP spid="11" grpId="0" animBg="1"/>
      <p:bldP spid="13" grpId="0"/>
      <p:bldP spid="15" grpId="0"/>
      <p:bldP spid="17" grpId="0"/>
      <p:bldP spid="17" grpId="1"/>
      <p:bldP spid="19" grpId="0"/>
      <p:bldP spid="21" grpId="0"/>
      <p:bldP spid="21" grpId="1"/>
      <p:bldP spid="22" grpId="0"/>
      <p:bldP spid="27" grpId="0"/>
      <p:bldP spid="31" grpId="0"/>
      <p:bldP spid="32" grpId="0" animBg="1"/>
      <p:bldP spid="33" grpId="0" animBg="1"/>
      <p:bldP spid="35" grpId="0"/>
      <p:bldP spid="37" grpId="0"/>
      <p:bldP spid="38" grpId="0" animBg="1"/>
      <p:bldP spid="39" grpId="0" animBg="1"/>
      <p:bldP spid="40" grpId="0" animBg="1"/>
      <p:bldP spid="42" grpId="0"/>
      <p:bldP spid="43" grpId="0" animBg="1"/>
      <p:bldP spid="44"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Simulated EOPMC</a:t>
            </a:r>
            <a:endParaRPr lang="zh-TW" altLang="en-US" b="1"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0039351" y="6356352"/>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73</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sp>
        <p:nvSpPr>
          <p:cNvPr id="7" name="文字方塊 6">
            <a:extLst>
              <a:ext uri="{FF2B5EF4-FFF2-40B4-BE49-F238E27FC236}">
                <a16:creationId xmlns:a16="http://schemas.microsoft.com/office/drawing/2014/main" id="{C9AD403D-6D72-413A-2558-CB94418F834F}"/>
              </a:ext>
            </a:extLst>
          </p:cNvPr>
          <p:cNvSpPr txBox="1"/>
          <p:nvPr/>
        </p:nvSpPr>
        <p:spPr>
          <a:xfrm>
            <a:off x="4381717" y="658287"/>
            <a:ext cx="3118338" cy="727571"/>
          </a:xfrm>
          <a:prstGeom prst="rect">
            <a:avLst/>
          </a:prstGeom>
          <a:noFill/>
        </p:spPr>
        <p:txBody>
          <a:bodyPr wrap="square">
            <a:spAutoFit/>
          </a:bodyPr>
          <a:lstStyle/>
          <a:p>
            <a:pPr marL="0" indent="0">
              <a:lnSpc>
                <a:spcPct val="200000"/>
              </a:lnSpc>
              <a:buNone/>
            </a:pPr>
            <a:r>
              <a:rPr lang="en-US" altLang="zh-TW" sz="2400" b="1" dirty="0">
                <a:effectLst>
                  <a:outerShdw blurRad="38100" dist="38100" dir="2700000" algn="tl">
                    <a:srgbClr val="000000">
                      <a:alpha val="43137"/>
                    </a:srgbClr>
                  </a:outerShdw>
                </a:effectLst>
              </a:rPr>
              <a:t>Genetic Algorithm(GA)</a:t>
            </a:r>
            <a:endParaRPr lang="zh-TW" altLang="en-US" sz="2400" b="1" dirty="0">
              <a:effectLst>
                <a:outerShdw blurRad="38100" dist="38100" dir="2700000" algn="tl">
                  <a:srgbClr val="000000">
                    <a:alpha val="43137"/>
                  </a:srgbClr>
                </a:outerShdw>
              </a:effectLst>
            </a:endParaRPr>
          </a:p>
        </p:txBody>
      </p:sp>
      <p:pic>
        <p:nvPicPr>
          <p:cNvPr id="8" name="圖片 7">
            <a:extLst>
              <a:ext uri="{FF2B5EF4-FFF2-40B4-BE49-F238E27FC236}">
                <a16:creationId xmlns:a16="http://schemas.microsoft.com/office/drawing/2014/main" id="{A7AC9585-A022-1A98-8823-85443C0339A6}"/>
              </a:ext>
            </a:extLst>
          </p:cNvPr>
          <p:cNvPicPr>
            <a:picLocks noChangeAspect="1"/>
          </p:cNvPicPr>
          <p:nvPr/>
        </p:nvPicPr>
        <p:blipFill>
          <a:blip r:embed="rId4"/>
          <a:stretch>
            <a:fillRect/>
          </a:stretch>
        </p:blipFill>
        <p:spPr>
          <a:xfrm>
            <a:off x="9274902" y="54389"/>
            <a:ext cx="1142251" cy="700265"/>
          </a:xfrm>
          <a:prstGeom prst="rect">
            <a:avLst/>
          </a:prstGeom>
        </p:spPr>
      </p:pic>
      <p:pic>
        <p:nvPicPr>
          <p:cNvPr id="11" name="圖片 10">
            <a:extLst>
              <a:ext uri="{FF2B5EF4-FFF2-40B4-BE49-F238E27FC236}">
                <a16:creationId xmlns:a16="http://schemas.microsoft.com/office/drawing/2014/main" id="{F0E2A3B0-5F48-F1E8-29DE-F4A714CF3031}"/>
              </a:ext>
            </a:extLst>
          </p:cNvPr>
          <p:cNvPicPr>
            <a:picLocks noChangeAspect="1"/>
          </p:cNvPicPr>
          <p:nvPr/>
        </p:nvPicPr>
        <p:blipFill>
          <a:blip r:embed="rId5"/>
          <a:stretch>
            <a:fillRect/>
          </a:stretch>
        </p:blipFill>
        <p:spPr>
          <a:xfrm>
            <a:off x="3556643" y="2487711"/>
            <a:ext cx="1089025" cy="735519"/>
          </a:xfrm>
          <a:prstGeom prst="rect">
            <a:avLst/>
          </a:prstGeom>
        </p:spPr>
      </p:pic>
      <p:pic>
        <p:nvPicPr>
          <p:cNvPr id="15" name="圖片 14">
            <a:extLst>
              <a:ext uri="{FF2B5EF4-FFF2-40B4-BE49-F238E27FC236}">
                <a16:creationId xmlns:a16="http://schemas.microsoft.com/office/drawing/2014/main" id="{BBCD0766-0021-5FD8-2355-79A520E5EC9A}"/>
              </a:ext>
            </a:extLst>
          </p:cNvPr>
          <p:cNvPicPr>
            <a:picLocks noChangeAspect="1"/>
          </p:cNvPicPr>
          <p:nvPr/>
        </p:nvPicPr>
        <p:blipFill>
          <a:blip r:embed="rId6"/>
          <a:stretch>
            <a:fillRect/>
          </a:stretch>
        </p:blipFill>
        <p:spPr>
          <a:xfrm>
            <a:off x="3470704" y="4846589"/>
            <a:ext cx="1249788" cy="1164437"/>
          </a:xfrm>
          <a:prstGeom prst="rect">
            <a:avLst/>
          </a:prstGeom>
        </p:spPr>
      </p:pic>
      <p:pic>
        <p:nvPicPr>
          <p:cNvPr id="17" name="圖片 16">
            <a:extLst>
              <a:ext uri="{FF2B5EF4-FFF2-40B4-BE49-F238E27FC236}">
                <a16:creationId xmlns:a16="http://schemas.microsoft.com/office/drawing/2014/main" id="{FC934911-3B9C-0DAD-79F0-AE7B9A2F5BB8}"/>
              </a:ext>
            </a:extLst>
          </p:cNvPr>
          <p:cNvPicPr>
            <a:picLocks noChangeAspect="1"/>
          </p:cNvPicPr>
          <p:nvPr/>
        </p:nvPicPr>
        <p:blipFill>
          <a:blip r:embed="rId7"/>
          <a:stretch>
            <a:fillRect/>
          </a:stretch>
        </p:blipFill>
        <p:spPr>
          <a:xfrm>
            <a:off x="8232320" y="1282647"/>
            <a:ext cx="3614061" cy="4868379"/>
          </a:xfrm>
          <a:prstGeom prst="rect">
            <a:avLst/>
          </a:prstGeom>
        </p:spPr>
      </p:pic>
      <p:pic>
        <p:nvPicPr>
          <p:cNvPr id="6" name="圖片 5">
            <a:extLst>
              <a:ext uri="{FF2B5EF4-FFF2-40B4-BE49-F238E27FC236}">
                <a16:creationId xmlns:a16="http://schemas.microsoft.com/office/drawing/2014/main" id="{9E2F4FE8-1842-7055-E116-A7FFA7B7B21E}"/>
              </a:ext>
            </a:extLst>
          </p:cNvPr>
          <p:cNvPicPr>
            <a:picLocks noChangeAspect="1"/>
          </p:cNvPicPr>
          <p:nvPr/>
        </p:nvPicPr>
        <p:blipFill>
          <a:blip r:embed="rId8"/>
          <a:stretch>
            <a:fillRect/>
          </a:stretch>
        </p:blipFill>
        <p:spPr>
          <a:xfrm>
            <a:off x="96681" y="1412814"/>
            <a:ext cx="3298222" cy="2914141"/>
          </a:xfrm>
          <a:prstGeom prst="rect">
            <a:avLst/>
          </a:prstGeom>
        </p:spPr>
      </p:pic>
      <p:pic>
        <p:nvPicPr>
          <p:cNvPr id="10" name="圖片 9">
            <a:extLst>
              <a:ext uri="{FF2B5EF4-FFF2-40B4-BE49-F238E27FC236}">
                <a16:creationId xmlns:a16="http://schemas.microsoft.com/office/drawing/2014/main" id="{7D9BE284-0313-1319-E4C2-3CE213F151AD}"/>
              </a:ext>
            </a:extLst>
          </p:cNvPr>
          <p:cNvPicPr>
            <a:picLocks noChangeAspect="1"/>
          </p:cNvPicPr>
          <p:nvPr/>
        </p:nvPicPr>
        <p:blipFill>
          <a:blip r:embed="rId9"/>
          <a:stretch>
            <a:fillRect/>
          </a:stretch>
        </p:blipFill>
        <p:spPr>
          <a:xfrm>
            <a:off x="4707125" y="1439465"/>
            <a:ext cx="3463737" cy="2914141"/>
          </a:xfrm>
          <a:prstGeom prst="rect">
            <a:avLst/>
          </a:prstGeom>
        </p:spPr>
      </p:pic>
      <p:pic>
        <p:nvPicPr>
          <p:cNvPr id="14" name="圖片 13">
            <a:extLst>
              <a:ext uri="{FF2B5EF4-FFF2-40B4-BE49-F238E27FC236}">
                <a16:creationId xmlns:a16="http://schemas.microsoft.com/office/drawing/2014/main" id="{7FF71A8A-865B-4A52-2E0F-D2AB1252EBFB}"/>
              </a:ext>
            </a:extLst>
          </p:cNvPr>
          <p:cNvPicPr>
            <a:picLocks noChangeAspect="1"/>
          </p:cNvPicPr>
          <p:nvPr/>
        </p:nvPicPr>
        <p:blipFill>
          <a:blip r:embed="rId10"/>
          <a:stretch>
            <a:fillRect/>
          </a:stretch>
        </p:blipFill>
        <p:spPr>
          <a:xfrm>
            <a:off x="96681" y="4929764"/>
            <a:ext cx="3292125" cy="1426588"/>
          </a:xfrm>
          <a:prstGeom prst="rect">
            <a:avLst/>
          </a:prstGeom>
        </p:spPr>
      </p:pic>
      <p:pic>
        <p:nvPicPr>
          <p:cNvPr id="18" name="圖片 17">
            <a:extLst>
              <a:ext uri="{FF2B5EF4-FFF2-40B4-BE49-F238E27FC236}">
                <a16:creationId xmlns:a16="http://schemas.microsoft.com/office/drawing/2014/main" id="{1CAE2E66-3505-0FDF-DB84-55A6B12D7B4B}"/>
              </a:ext>
            </a:extLst>
          </p:cNvPr>
          <p:cNvPicPr>
            <a:picLocks noChangeAspect="1"/>
          </p:cNvPicPr>
          <p:nvPr/>
        </p:nvPicPr>
        <p:blipFill>
          <a:blip r:embed="rId11"/>
          <a:stretch>
            <a:fillRect/>
          </a:stretch>
        </p:blipFill>
        <p:spPr>
          <a:xfrm>
            <a:off x="4878737" y="4929764"/>
            <a:ext cx="3292125" cy="1426588"/>
          </a:xfrm>
          <a:prstGeom prst="rect">
            <a:avLst/>
          </a:prstGeom>
        </p:spPr>
      </p:pic>
    </p:spTree>
    <p:extLst>
      <p:ext uri="{BB962C8B-B14F-4D97-AF65-F5344CB8AC3E}">
        <p14:creationId xmlns:p14="http://schemas.microsoft.com/office/powerpoint/2010/main" val="4013000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left)">
                                      <p:cBhvr>
                                        <p:cTn id="21" dur="500"/>
                                        <p:tgtEl>
                                          <p:spTgt spid="15"/>
                                        </p:tgtEl>
                                      </p:cBhvr>
                                    </p:animEffect>
                                  </p:childTnLst>
                                </p:cTn>
                              </p:par>
                            </p:childTnLst>
                          </p:cTn>
                        </p:par>
                        <p:par>
                          <p:cTn id="22" fill="hold">
                            <p:stCondLst>
                              <p:cond delay="500"/>
                            </p:stCondLst>
                            <p:childTnLst>
                              <p:par>
                                <p:cTn id="23" presetID="10" presetClass="entr" presetSubtype="0" fill="hold" nodeType="after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Simulated EOPMC</a:t>
            </a:r>
            <a:endParaRPr lang="zh-TW" altLang="en-US" b="1"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0039351" y="6356352"/>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74</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sp>
        <p:nvSpPr>
          <p:cNvPr id="7" name="文字方塊 6">
            <a:extLst>
              <a:ext uri="{FF2B5EF4-FFF2-40B4-BE49-F238E27FC236}">
                <a16:creationId xmlns:a16="http://schemas.microsoft.com/office/drawing/2014/main" id="{C9AD403D-6D72-413A-2558-CB94418F834F}"/>
              </a:ext>
            </a:extLst>
          </p:cNvPr>
          <p:cNvSpPr txBox="1"/>
          <p:nvPr/>
        </p:nvSpPr>
        <p:spPr>
          <a:xfrm>
            <a:off x="-1" y="658287"/>
            <a:ext cx="7774075" cy="727571"/>
          </a:xfrm>
          <a:prstGeom prst="rect">
            <a:avLst/>
          </a:prstGeom>
          <a:noFill/>
        </p:spPr>
        <p:txBody>
          <a:bodyPr wrap="square">
            <a:spAutoFit/>
          </a:bodyPr>
          <a:lstStyle/>
          <a:p>
            <a:pPr marL="0" indent="0">
              <a:lnSpc>
                <a:spcPct val="200000"/>
              </a:lnSpc>
              <a:buNone/>
            </a:pPr>
            <a:r>
              <a:rPr lang="en-US" altLang="zh-TW" sz="2400" b="1" dirty="0">
                <a:effectLst>
                  <a:outerShdw blurRad="38100" dist="38100" dir="2700000" algn="tl">
                    <a:srgbClr val="000000">
                      <a:alpha val="43137"/>
                    </a:srgbClr>
                  </a:outerShdw>
                </a:effectLst>
              </a:rPr>
              <a:t>How to make APPLN EOPMC’s structure  initial condition </a:t>
            </a:r>
            <a:endParaRPr lang="zh-TW" altLang="en-US" sz="2400" b="1" dirty="0">
              <a:effectLst>
                <a:outerShdw blurRad="38100" dist="38100" dir="2700000" algn="tl">
                  <a:srgbClr val="000000">
                    <a:alpha val="43137"/>
                  </a:srgbClr>
                </a:outerShdw>
              </a:effectLst>
            </a:endParaRPr>
          </a:p>
        </p:txBody>
      </p:sp>
      <p:pic>
        <p:nvPicPr>
          <p:cNvPr id="8" name="圖片 7">
            <a:extLst>
              <a:ext uri="{FF2B5EF4-FFF2-40B4-BE49-F238E27FC236}">
                <a16:creationId xmlns:a16="http://schemas.microsoft.com/office/drawing/2014/main" id="{A7AC9585-A022-1A98-8823-85443C0339A6}"/>
              </a:ext>
            </a:extLst>
          </p:cNvPr>
          <p:cNvPicPr>
            <a:picLocks noChangeAspect="1"/>
          </p:cNvPicPr>
          <p:nvPr/>
        </p:nvPicPr>
        <p:blipFill>
          <a:blip r:embed="rId4"/>
          <a:stretch>
            <a:fillRect/>
          </a:stretch>
        </p:blipFill>
        <p:spPr>
          <a:xfrm>
            <a:off x="9274902" y="54389"/>
            <a:ext cx="1142251" cy="700265"/>
          </a:xfrm>
          <a:prstGeom prst="rect">
            <a:avLst/>
          </a:prstGeom>
        </p:spPr>
      </p:pic>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B08E3A6D-1FE5-C5C5-CA01-A46BA66AE0B6}"/>
                  </a:ext>
                </a:extLst>
              </p:cNvPr>
              <p:cNvSpPr/>
              <p:nvPr/>
            </p:nvSpPr>
            <p:spPr>
              <a:xfrm>
                <a:off x="504412" y="4641266"/>
                <a:ext cx="4668116" cy="1618136"/>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sSub>
                        <m:sSubPr>
                          <m:ctrlPr>
                            <a:rPr lang="zh-TW" altLang="zh-TW"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𝑜</m:t>
                          </m:r>
                        </m:sub>
                      </m:sSub>
                      <m:d>
                        <m:dPr>
                          <m:ctrlPr>
                            <a:rPr lang="zh-TW" altLang="zh-TW" sz="12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+1</m:t>
                              </m:r>
                            </m:sub>
                          </m:sSub>
                        </m:e>
                      </m:d>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m:t>
                      </m:r>
                      <m:sSup>
                        <m:sSupPr>
                          <m:ctrlPr>
                            <a:rPr lang="zh-TW" altLang="zh-TW" sz="1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𝑒</m:t>
                          </m:r>
                        </m:e>
                        <m:sup>
                          <m:f>
                            <m:fPr>
                              <m:ctrlPr>
                                <a:rPr lang="zh-TW" altLang="zh-TW" sz="1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𝑖</m:t>
                              </m:r>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m:t>
                              </m:r>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𝑘</m:t>
                              </m:r>
                            </m:num>
                            <m:den>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2</m:t>
                              </m:r>
                            </m:den>
                          </m:f>
                          <m:sSub>
                            <m:sSubPr>
                              <m:ctrlPr>
                                <a:rPr lang="zh-TW" altLang="zh-TW"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+1</m:t>
                              </m:r>
                            </m:sub>
                          </m:sSub>
                        </m:sup>
                      </m:sSup>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𝑝</m:t>
                          </m:r>
                        </m:e>
                        <m:sub>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1</m:t>
                          </m:r>
                        </m:sub>
                      </m:sSub>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𝑗</m:t>
                          </m:r>
                        </m:sub>
                      </m:sSub>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m:t>
                      </m:r>
                      <m:func>
                        <m:funcPr>
                          <m:ctrlPr>
                            <a:rPr lang="zh-TW" altLang="zh-TW" sz="1200" i="1" kern="100">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TW" sz="1200" kern="100">
                              <a:latin typeface="Cambria Math" panose="02040503050406030204" pitchFamily="18" charset="0"/>
                              <a:ea typeface="標楷體" panose="03000509000000000000" pitchFamily="65" charset="-120"/>
                              <a:cs typeface="Times New Roman" panose="02020603050405020304" pitchFamily="18" charset="0"/>
                            </a:rPr>
                            <m:t>cos</m:t>
                          </m:r>
                        </m:fName>
                        <m:e>
                          <m:sSub>
                            <m:sSubPr>
                              <m:ctrlPr>
                                <a:rPr lang="zh-TW" altLang="zh-TW"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𝑟𝑥</m:t>
                              </m:r>
                            </m:e>
                            <m:sub>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+1</m:t>
                              </m:r>
                            </m:sub>
                          </m:sSub>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m:t>
                          </m:r>
                        </m:e>
                      </m:func>
                      <m:sSub>
                        <m:sSubPr>
                          <m:ctrlPr>
                            <a:rPr lang="zh-TW" altLang="zh-TW"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𝑝</m:t>
                          </m:r>
                        </m:e>
                        <m:sub>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2</m:t>
                          </m:r>
                        </m:sub>
                      </m:sSub>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𝑗</m:t>
                          </m:r>
                        </m:sub>
                      </m:sSub>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m:t>
                      </m:r>
                      <m:func>
                        <m:funcPr>
                          <m:ctrlPr>
                            <a:rPr lang="zh-TW" altLang="zh-TW" sz="1200" i="1" kern="100">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TW" sz="1200" kern="100">
                              <a:latin typeface="Cambria Math" panose="02040503050406030204" pitchFamily="18" charset="0"/>
                              <a:ea typeface="標楷體" panose="03000509000000000000" pitchFamily="65" charset="-120"/>
                              <a:cs typeface="Times New Roman" panose="02020603050405020304" pitchFamily="18" charset="0"/>
                            </a:rPr>
                            <m:t>sin</m:t>
                          </m:r>
                        </m:fName>
                        <m:e>
                          <m:sSub>
                            <m:sSubPr>
                              <m:ctrlPr>
                                <a:rPr lang="zh-TW" altLang="zh-TW" sz="1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𝑟𝑥</m:t>
                              </m:r>
                            </m:e>
                            <m:sub>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+1</m:t>
                              </m:r>
                            </m:sub>
                          </m:sSub>
                        </m:e>
                      </m:func>
                      <m:r>
                        <a:rPr lang="en-US" altLang="zh-TW" sz="1200" i="1" kern="100">
                          <a:latin typeface="Cambria Math" panose="02040503050406030204" pitchFamily="18" charset="0"/>
                          <a:ea typeface="標楷體" panose="03000509000000000000" pitchFamily="65" charset="-120"/>
                          <a:cs typeface="Times New Roman" panose="02020603050405020304" pitchFamily="18" charset="0"/>
                        </a:rPr>
                        <m:t>)</m:t>
                      </m:r>
                    </m:oMath>
                  </m:oMathPara>
                </a14:m>
                <a:endParaRPr lang="zh-TW" altLang="zh-TW" sz="1200" kern="100" dirty="0">
                  <a:latin typeface="Calibri" panose="020F0502020204030204" pitchFamily="34" charset="0"/>
                  <a:cs typeface="Times New Roman" panose="02020603050405020304" pitchFamily="18" charset="0"/>
                </a:endParaRPr>
              </a:p>
              <a:p>
                <a:endParaRPr lang="en-US" altLang="zh-TW" sz="1200" i="1" dirty="0">
                  <a:latin typeface="Cambria Math" panose="02040503050406030204" pitchFamily="18" charset="0"/>
                  <a:ea typeface="Cambria Math" panose="02040503050406030204" pitchFamily="18" charset="0"/>
                  <a:cs typeface="Times New Roman" panose="02020603050405020304" pitchFamily="18" charset="0"/>
                </a:endParaRPr>
              </a:p>
              <a:p>
                <a:pPr/>
                <a14:m>
                  <m:oMathPara xmlns:m="http://schemas.openxmlformats.org/officeDocument/2006/math">
                    <m:oMathParaPr>
                      <m:jc m:val="left"/>
                    </m:oMathParaPr>
                    <m:oMath xmlns:m="http://schemas.openxmlformats.org/officeDocument/2006/math">
                      <m:sSub>
                        <m:sSubPr>
                          <m:ctrlPr>
                            <a:rPr lang="zh-TW" altLang="zh-TW" sz="12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200" i="1">
                              <a:latin typeface="Cambria Math" panose="02040503050406030204" pitchFamily="18" charset="0"/>
                              <a:ea typeface="標楷體" panose="03000509000000000000" pitchFamily="65" charset="-120"/>
                              <a:cs typeface="Times New Roman" panose="02020603050405020304" pitchFamily="18" charset="0"/>
                            </a:rPr>
                            <m:t>𝐴</m:t>
                          </m:r>
                        </m:e>
                        <m:sub>
                          <m:r>
                            <a:rPr lang="en-US" altLang="zh-TW" sz="1200" i="1">
                              <a:latin typeface="Cambria Math" panose="02040503050406030204" pitchFamily="18" charset="0"/>
                              <a:ea typeface="標楷體" panose="03000509000000000000" pitchFamily="65" charset="-120"/>
                              <a:cs typeface="Times New Roman" panose="02020603050405020304" pitchFamily="18" charset="0"/>
                            </a:rPr>
                            <m:t>𝑒</m:t>
                          </m:r>
                        </m:sub>
                      </m:sSub>
                      <m:d>
                        <m:dPr>
                          <m:ctrlPr>
                            <a:rPr lang="zh-TW" altLang="zh-TW" sz="1200" i="1">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2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200" i="1">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200" i="1" smtClean="0">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200" i="1">
                                  <a:latin typeface="Cambria Math" panose="02040503050406030204" pitchFamily="18" charset="0"/>
                                  <a:ea typeface="標楷體" panose="03000509000000000000" pitchFamily="65" charset="-120"/>
                                  <a:cs typeface="Times New Roman" panose="02020603050405020304" pitchFamily="18" charset="0"/>
                                </a:rPr>
                                <m:t>+1</m:t>
                              </m:r>
                            </m:sub>
                          </m:sSub>
                        </m:e>
                      </m:d>
                      <m:r>
                        <a:rPr lang="en-US" altLang="zh-TW" sz="1200" i="1">
                          <a:latin typeface="Cambria Math" panose="02040503050406030204" pitchFamily="18" charset="0"/>
                          <a:ea typeface="標楷體" panose="03000509000000000000" pitchFamily="65" charset="-120"/>
                          <a:cs typeface="Times New Roman" panose="02020603050405020304" pitchFamily="18" charset="0"/>
                        </a:rPr>
                        <m:t>=</m:t>
                      </m:r>
                      <m:sSup>
                        <m:sSupPr>
                          <m:ctrlPr>
                            <a:rPr lang="zh-TW" altLang="zh-TW" sz="12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TW" sz="1200" i="1">
                              <a:latin typeface="Cambria Math" panose="02040503050406030204" pitchFamily="18" charset="0"/>
                              <a:ea typeface="標楷體" panose="03000509000000000000" pitchFamily="65" charset="-120"/>
                              <a:cs typeface="Times New Roman" panose="02020603050405020304" pitchFamily="18" charset="0"/>
                            </a:rPr>
                            <m:t>𝑒</m:t>
                          </m:r>
                        </m:e>
                        <m:sup>
                          <m:f>
                            <m:fPr>
                              <m:ctrlPr>
                                <a:rPr lang="zh-TW" altLang="zh-TW" sz="12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sz="1200" i="1">
                                  <a:latin typeface="Cambria Math" panose="02040503050406030204" pitchFamily="18" charset="0"/>
                                  <a:ea typeface="標楷體" panose="03000509000000000000" pitchFamily="65" charset="-120"/>
                                  <a:cs typeface="Times New Roman" panose="02020603050405020304" pitchFamily="18" charset="0"/>
                                </a:rPr>
                                <m:t>𝑖</m:t>
                              </m:r>
                              <m:r>
                                <a:rPr lang="en-US" altLang="zh-TW" sz="1200" i="1">
                                  <a:latin typeface="Cambria Math" panose="02040503050406030204" pitchFamily="18" charset="0"/>
                                  <a:ea typeface="標楷體" panose="03000509000000000000" pitchFamily="65" charset="-120"/>
                                  <a:cs typeface="Times New Roman" panose="02020603050405020304" pitchFamily="18" charset="0"/>
                                </a:rPr>
                                <m:t>∆</m:t>
                              </m:r>
                              <m:r>
                                <a:rPr lang="en-US" altLang="zh-TW" sz="1200" i="1">
                                  <a:latin typeface="Cambria Math" panose="02040503050406030204" pitchFamily="18" charset="0"/>
                                  <a:ea typeface="標楷體" panose="03000509000000000000" pitchFamily="65" charset="-120"/>
                                  <a:cs typeface="Times New Roman" panose="02020603050405020304" pitchFamily="18" charset="0"/>
                                </a:rPr>
                                <m:t>𝑘</m:t>
                              </m:r>
                            </m:num>
                            <m:den>
                              <m:r>
                                <a:rPr lang="en-US" altLang="zh-TW" sz="1200" i="1">
                                  <a:latin typeface="Cambria Math" panose="02040503050406030204" pitchFamily="18" charset="0"/>
                                  <a:ea typeface="標楷體" panose="03000509000000000000" pitchFamily="65" charset="-120"/>
                                  <a:cs typeface="Times New Roman" panose="02020603050405020304" pitchFamily="18" charset="0"/>
                                </a:rPr>
                                <m:t>2</m:t>
                              </m:r>
                            </m:den>
                          </m:f>
                          <m:sSub>
                            <m:sSubPr>
                              <m:ctrlPr>
                                <a:rPr lang="zh-TW" altLang="zh-TW" sz="12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200" i="1">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200" i="1">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200" i="1">
                                  <a:latin typeface="Cambria Math" panose="02040503050406030204" pitchFamily="18" charset="0"/>
                                  <a:ea typeface="標楷體" panose="03000509000000000000" pitchFamily="65" charset="-120"/>
                                  <a:cs typeface="Times New Roman" panose="02020603050405020304" pitchFamily="18" charset="0"/>
                                </a:rPr>
                                <m:t>+1</m:t>
                              </m:r>
                            </m:sub>
                          </m:sSub>
                        </m:sup>
                      </m:sSup>
                      <m:d>
                        <m:dPr>
                          <m:begChr m:val="{"/>
                          <m:endChr m:val="}"/>
                          <m:ctrlPr>
                            <a:rPr lang="zh-TW" altLang="zh-TW" sz="1200" i="1">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2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200" i="1">
                                  <a:latin typeface="Cambria Math" panose="02040503050406030204" pitchFamily="18" charset="0"/>
                                  <a:ea typeface="標楷體" panose="03000509000000000000" pitchFamily="65" charset="-120"/>
                                  <a:cs typeface="Times New Roman" panose="02020603050405020304" pitchFamily="18" charset="0"/>
                                </a:rPr>
                                <m:t>𝑝</m:t>
                              </m:r>
                            </m:e>
                            <m:sub>
                              <m:r>
                                <a:rPr lang="en-US" altLang="zh-TW" sz="1200" i="1">
                                  <a:latin typeface="Cambria Math" panose="02040503050406030204" pitchFamily="18" charset="0"/>
                                  <a:ea typeface="標楷體" panose="03000509000000000000" pitchFamily="65" charset="-120"/>
                                  <a:cs typeface="Times New Roman" panose="02020603050405020304" pitchFamily="18" charset="0"/>
                                </a:rPr>
                                <m:t>1</m:t>
                              </m:r>
                            </m:sub>
                          </m:sSub>
                          <m:d>
                            <m:dPr>
                              <m:ctrlPr>
                                <a:rPr lang="zh-TW" altLang="zh-TW" sz="1200" i="1">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TW" altLang="zh-TW" sz="12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200" i="1">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200" i="1">
                                      <a:latin typeface="Cambria Math" panose="02040503050406030204" pitchFamily="18" charset="0"/>
                                      <a:ea typeface="標楷體" panose="03000509000000000000" pitchFamily="65" charset="-120"/>
                                      <a:cs typeface="Times New Roman" panose="02020603050405020304" pitchFamily="18" charset="0"/>
                                    </a:rPr>
                                    <m:t>𝑗</m:t>
                                  </m:r>
                                </m:sub>
                              </m:sSub>
                            </m:e>
                          </m:d>
                          <m:d>
                            <m:dPr>
                              <m:begChr m:val="["/>
                              <m:endChr m:val="]"/>
                              <m:ctrlPr>
                                <a:rPr lang="zh-TW" altLang="zh-TW" sz="1200" i="1">
                                  <a:latin typeface="Cambria Math" panose="02040503050406030204" pitchFamily="18" charset="0"/>
                                  <a:ea typeface="Cambria Math" panose="02040503050406030204" pitchFamily="18" charset="0"/>
                                  <a:cs typeface="Times New Roman" panose="02020603050405020304" pitchFamily="18" charset="0"/>
                                </a:rPr>
                              </m:ctrlPr>
                            </m:dPr>
                            <m:e>
                              <m:func>
                                <m:funcPr>
                                  <m:ctrlPr>
                                    <a:rPr lang="zh-TW" altLang="zh-TW" sz="1200" i="1">
                                      <a:latin typeface="Cambria Math" panose="02040503050406030204" pitchFamily="18" charset="0"/>
                                      <a:ea typeface="Cambria Math" panose="02040503050406030204" pitchFamily="18" charset="0"/>
                                      <a:cs typeface="Times New Roman" panose="02020603050405020304" pitchFamily="18" charset="0"/>
                                    </a:rPr>
                                  </m:ctrlPr>
                                </m:funcPr>
                                <m:fName>
                                  <m:f>
                                    <m:fPr>
                                      <m:ctrlPr>
                                        <a:rPr lang="zh-TW" altLang="zh-TW" sz="12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sz="1200" i="1">
                                          <a:latin typeface="Cambria Math" panose="02040503050406030204" pitchFamily="18" charset="0"/>
                                          <a:ea typeface="標楷體" panose="03000509000000000000" pitchFamily="65" charset="-120"/>
                                          <a:cs typeface="Times New Roman" panose="02020603050405020304" pitchFamily="18" charset="0"/>
                                        </a:rPr>
                                        <m:t>−∆</m:t>
                                      </m:r>
                                      <m:r>
                                        <a:rPr lang="en-US" altLang="zh-TW" sz="1200" i="1">
                                          <a:latin typeface="Cambria Math" panose="02040503050406030204" pitchFamily="18" charset="0"/>
                                          <a:ea typeface="標楷體" panose="03000509000000000000" pitchFamily="65" charset="-120"/>
                                          <a:cs typeface="Times New Roman" panose="02020603050405020304" pitchFamily="18" charset="0"/>
                                        </a:rPr>
                                        <m:t>𝑘</m:t>
                                      </m:r>
                                    </m:num>
                                    <m:den>
                                      <m:r>
                                        <a:rPr lang="en-US" altLang="zh-TW" sz="1200" i="1">
                                          <a:latin typeface="Cambria Math" panose="02040503050406030204" pitchFamily="18" charset="0"/>
                                          <a:ea typeface="標楷體" panose="03000509000000000000" pitchFamily="65" charset="-120"/>
                                          <a:cs typeface="Times New Roman" panose="02020603050405020304" pitchFamily="18" charset="0"/>
                                        </a:rPr>
                                        <m:t>2</m:t>
                                      </m:r>
                                      <m:r>
                                        <a:rPr lang="en-US" altLang="zh-TW" sz="1200" i="1">
                                          <a:latin typeface="Cambria Math" panose="02040503050406030204" pitchFamily="18" charset="0"/>
                                          <a:ea typeface="標楷體" panose="03000509000000000000" pitchFamily="65" charset="-120"/>
                                          <a:cs typeface="Times New Roman" panose="02020603050405020304" pitchFamily="18" charset="0"/>
                                        </a:rPr>
                                        <m:t>𝜅</m:t>
                                      </m:r>
                                      <m:r>
                                        <a:rPr lang="en-US" altLang="zh-TW" sz="1200" i="1">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2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200" i="1">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200" i="1">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200" i="1">
                                              <a:latin typeface="Cambria Math" panose="02040503050406030204" pitchFamily="18" charset="0"/>
                                              <a:ea typeface="標楷體" panose="03000509000000000000" pitchFamily="65" charset="-120"/>
                                              <a:cs typeface="Times New Roman" panose="02020603050405020304" pitchFamily="18" charset="0"/>
                                            </a:rPr>
                                            <m:t>+1</m:t>
                                          </m:r>
                                        </m:sub>
                                      </m:sSub>
                                      <m:r>
                                        <a:rPr lang="en-US" altLang="zh-TW" sz="1200" i="1">
                                          <a:latin typeface="Cambria Math" panose="02040503050406030204" pitchFamily="18" charset="0"/>
                                          <a:ea typeface="標楷體" panose="03000509000000000000" pitchFamily="65" charset="-120"/>
                                          <a:cs typeface="Times New Roman" panose="02020603050405020304" pitchFamily="18" charset="0"/>
                                        </a:rPr>
                                        <m:t>)</m:t>
                                      </m:r>
                                    </m:den>
                                  </m:f>
                                  <m:r>
                                    <m:rPr>
                                      <m:sty m:val="p"/>
                                    </m:rPr>
                                    <a:rPr lang="en-US" altLang="zh-TW" sz="1200">
                                      <a:latin typeface="Cambria Math" panose="02040503050406030204" pitchFamily="18" charset="0"/>
                                      <a:ea typeface="標楷體" panose="03000509000000000000" pitchFamily="65" charset="-120"/>
                                      <a:cs typeface="Times New Roman" panose="02020603050405020304" pitchFamily="18" charset="0"/>
                                    </a:rPr>
                                    <m:t>cos</m:t>
                                  </m:r>
                                </m:fName>
                                <m:e>
                                  <m:sSub>
                                    <m:sSubPr>
                                      <m:ctrlPr>
                                        <a:rPr lang="zh-TW" altLang="zh-TW" sz="12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200" i="1">
                                          <a:latin typeface="Cambria Math" panose="02040503050406030204" pitchFamily="18" charset="0"/>
                                          <a:ea typeface="標楷體" panose="03000509000000000000" pitchFamily="65" charset="-120"/>
                                          <a:cs typeface="Times New Roman" panose="02020603050405020304" pitchFamily="18" charset="0"/>
                                        </a:rPr>
                                        <m:t>𝑟𝑥</m:t>
                                      </m:r>
                                    </m:e>
                                    <m:sub>
                                      <m:r>
                                        <a:rPr lang="en-US" altLang="zh-TW" sz="1200" i="1">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200" i="1">
                                          <a:latin typeface="Cambria Math" panose="02040503050406030204" pitchFamily="18" charset="0"/>
                                          <a:ea typeface="標楷體" panose="03000509000000000000" pitchFamily="65" charset="-120"/>
                                          <a:cs typeface="Times New Roman" panose="02020603050405020304" pitchFamily="18" charset="0"/>
                                        </a:rPr>
                                        <m:t>+1</m:t>
                                      </m:r>
                                    </m:sub>
                                  </m:sSub>
                                  <m:r>
                                    <a:rPr lang="en-US" altLang="zh-TW" sz="1200" i="1">
                                      <a:latin typeface="Cambria Math" panose="02040503050406030204" pitchFamily="18" charset="0"/>
                                      <a:ea typeface="標楷體" panose="03000509000000000000" pitchFamily="65" charset="-120"/>
                                      <a:cs typeface="Times New Roman" panose="02020603050405020304" pitchFamily="18" charset="0"/>
                                    </a:rPr>
                                    <m:t>−</m:t>
                                  </m:r>
                                  <m:f>
                                    <m:fPr>
                                      <m:ctrlPr>
                                        <a:rPr lang="zh-TW" altLang="zh-TW" sz="12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sz="1200" i="1">
                                          <a:latin typeface="Cambria Math" panose="02040503050406030204" pitchFamily="18" charset="0"/>
                                          <a:ea typeface="標楷體" panose="03000509000000000000" pitchFamily="65" charset="-120"/>
                                          <a:cs typeface="Times New Roman" panose="02020603050405020304" pitchFamily="18" charset="0"/>
                                        </a:rPr>
                                        <m:t>𝑖𝑟</m:t>
                                      </m:r>
                                    </m:num>
                                    <m:den>
                                      <m:r>
                                        <a:rPr lang="en-US" altLang="zh-TW" sz="1200" i="1">
                                          <a:latin typeface="Cambria Math" panose="02040503050406030204" pitchFamily="18" charset="0"/>
                                          <a:ea typeface="標楷體" panose="03000509000000000000" pitchFamily="65" charset="-120"/>
                                          <a:cs typeface="Times New Roman" panose="02020603050405020304" pitchFamily="18" charset="0"/>
                                        </a:rPr>
                                        <m:t>𝜅</m:t>
                                      </m:r>
                                      <m:r>
                                        <a:rPr lang="en-US" altLang="zh-TW" sz="1200" i="1">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2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200" i="1">
                                              <a:latin typeface="Cambria Math" panose="02040503050406030204" pitchFamily="18" charset="0"/>
                                              <a:ea typeface="標楷體" panose="03000509000000000000" pitchFamily="65" charset="-120"/>
                                              <a:cs typeface="Times New Roman" panose="02020603050405020304" pitchFamily="18" charset="0"/>
                                            </a:rPr>
                                            <m:t>𝜒</m:t>
                                          </m:r>
                                        </m:e>
                                        <m:sub>
                                          <m:r>
                                            <a:rPr lang="en-US" altLang="zh-TW" sz="1200" i="1">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200" i="1">
                                              <a:latin typeface="Cambria Math" panose="02040503050406030204" pitchFamily="18" charset="0"/>
                                              <a:ea typeface="標楷體" panose="03000509000000000000" pitchFamily="65" charset="-120"/>
                                              <a:cs typeface="Times New Roman" panose="02020603050405020304" pitchFamily="18" charset="0"/>
                                            </a:rPr>
                                            <m:t>+1</m:t>
                                          </m:r>
                                        </m:sub>
                                      </m:sSub>
                                      <m:r>
                                        <a:rPr lang="en-US" altLang="zh-TW" sz="1200" i="1">
                                          <a:latin typeface="Cambria Math" panose="02040503050406030204" pitchFamily="18" charset="0"/>
                                          <a:ea typeface="標楷體" panose="03000509000000000000" pitchFamily="65" charset="-120"/>
                                          <a:cs typeface="Times New Roman" panose="02020603050405020304" pitchFamily="18" charset="0"/>
                                        </a:rPr>
                                        <m:t>)</m:t>
                                      </m:r>
                                    </m:den>
                                  </m:f>
                                  <m:func>
                                    <m:funcPr>
                                      <m:ctrlPr>
                                        <a:rPr lang="zh-TW" altLang="zh-TW" sz="1200"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TW" sz="1200">
                                          <a:latin typeface="Cambria Math" panose="02040503050406030204" pitchFamily="18" charset="0"/>
                                          <a:ea typeface="標楷體" panose="03000509000000000000" pitchFamily="65" charset="-120"/>
                                          <a:cs typeface="Times New Roman" panose="02020603050405020304" pitchFamily="18" charset="0"/>
                                        </a:rPr>
                                        <m:t>sin</m:t>
                                      </m:r>
                                    </m:fName>
                                    <m:e>
                                      <m:sSub>
                                        <m:sSubPr>
                                          <m:ctrlPr>
                                            <a:rPr lang="zh-TW" altLang="zh-TW" sz="12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200" i="1">
                                              <a:latin typeface="Cambria Math" panose="02040503050406030204" pitchFamily="18" charset="0"/>
                                              <a:ea typeface="標楷體" panose="03000509000000000000" pitchFamily="65" charset="-120"/>
                                              <a:cs typeface="Times New Roman" panose="02020603050405020304" pitchFamily="18" charset="0"/>
                                            </a:rPr>
                                            <m:t>𝑟𝑥</m:t>
                                          </m:r>
                                        </m:e>
                                        <m:sub>
                                          <m:r>
                                            <a:rPr lang="en-US" altLang="zh-TW" sz="1200" i="1">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200" i="1">
                                              <a:latin typeface="Cambria Math" panose="02040503050406030204" pitchFamily="18" charset="0"/>
                                              <a:ea typeface="標楷體" panose="03000509000000000000" pitchFamily="65" charset="-120"/>
                                              <a:cs typeface="Times New Roman" panose="02020603050405020304" pitchFamily="18" charset="0"/>
                                            </a:rPr>
                                            <m:t>+1</m:t>
                                          </m:r>
                                        </m:sub>
                                      </m:sSub>
                                    </m:e>
                                  </m:func>
                                </m:e>
                              </m:func>
                            </m:e>
                          </m:d>
                          <m:r>
                            <a:rPr lang="en-US" altLang="zh-TW" sz="1200" i="1">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2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200" i="1">
                                  <a:latin typeface="Cambria Math" panose="02040503050406030204" pitchFamily="18" charset="0"/>
                                  <a:ea typeface="標楷體" panose="03000509000000000000" pitchFamily="65" charset="-120"/>
                                  <a:cs typeface="Times New Roman" panose="02020603050405020304" pitchFamily="18" charset="0"/>
                                </a:rPr>
                                <m:t>𝑝</m:t>
                              </m:r>
                            </m:e>
                            <m:sub>
                              <m:r>
                                <a:rPr lang="en-US" altLang="zh-TW" sz="1200" i="1">
                                  <a:latin typeface="Cambria Math" panose="02040503050406030204" pitchFamily="18" charset="0"/>
                                  <a:ea typeface="標楷體" panose="03000509000000000000" pitchFamily="65" charset="-120"/>
                                  <a:cs typeface="Times New Roman" panose="02020603050405020304" pitchFamily="18" charset="0"/>
                                </a:rPr>
                                <m:t>2</m:t>
                              </m:r>
                            </m:sub>
                          </m:sSub>
                          <m:r>
                            <a:rPr lang="en-US" altLang="zh-TW" sz="1200" i="1">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2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200" i="1">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200" i="1">
                                  <a:latin typeface="Cambria Math" panose="02040503050406030204" pitchFamily="18" charset="0"/>
                                  <a:ea typeface="標楷體" panose="03000509000000000000" pitchFamily="65" charset="-120"/>
                                  <a:cs typeface="Times New Roman" panose="02020603050405020304" pitchFamily="18" charset="0"/>
                                </a:rPr>
                                <m:t>𝑗</m:t>
                              </m:r>
                            </m:sub>
                          </m:sSub>
                          <m:r>
                            <a:rPr lang="en-US" altLang="zh-TW" sz="1200" i="1">
                              <a:latin typeface="Cambria Math" panose="02040503050406030204" pitchFamily="18" charset="0"/>
                              <a:ea typeface="標楷體" panose="03000509000000000000" pitchFamily="65" charset="-120"/>
                              <a:cs typeface="Times New Roman" panose="02020603050405020304" pitchFamily="18" charset="0"/>
                            </a:rPr>
                            <m:t>)</m:t>
                          </m:r>
                          <m:d>
                            <m:dPr>
                              <m:begChr m:val="["/>
                              <m:endChr m:val="]"/>
                              <m:ctrlPr>
                                <a:rPr lang="zh-TW" altLang="zh-TW" sz="1200" i="1">
                                  <a:latin typeface="Cambria Math" panose="02040503050406030204" pitchFamily="18" charset="0"/>
                                  <a:ea typeface="Cambria Math" panose="02040503050406030204" pitchFamily="18" charset="0"/>
                                  <a:cs typeface="Times New Roman" panose="02020603050405020304" pitchFamily="18" charset="0"/>
                                </a:rPr>
                              </m:ctrlPr>
                            </m:dPr>
                            <m:e>
                              <m:func>
                                <m:funcPr>
                                  <m:ctrlPr>
                                    <a:rPr lang="zh-TW" altLang="zh-TW" sz="1200" i="1">
                                      <a:latin typeface="Cambria Math" panose="02040503050406030204" pitchFamily="18" charset="0"/>
                                      <a:ea typeface="Cambria Math" panose="02040503050406030204" pitchFamily="18" charset="0"/>
                                      <a:cs typeface="Times New Roman" panose="02020603050405020304" pitchFamily="18" charset="0"/>
                                    </a:rPr>
                                  </m:ctrlPr>
                                </m:funcPr>
                                <m:fName>
                                  <m:f>
                                    <m:fPr>
                                      <m:ctrlPr>
                                        <a:rPr lang="zh-TW" altLang="zh-TW" sz="12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sz="1200" i="1">
                                          <a:latin typeface="Cambria Math" panose="02040503050406030204" pitchFamily="18" charset="0"/>
                                          <a:ea typeface="標楷體" panose="03000509000000000000" pitchFamily="65" charset="-120"/>
                                          <a:cs typeface="Times New Roman" panose="02020603050405020304" pitchFamily="18" charset="0"/>
                                        </a:rPr>
                                        <m:t>−∆</m:t>
                                      </m:r>
                                      <m:r>
                                        <a:rPr lang="en-US" altLang="zh-TW" sz="1200" i="1">
                                          <a:latin typeface="Cambria Math" panose="02040503050406030204" pitchFamily="18" charset="0"/>
                                          <a:ea typeface="標楷體" panose="03000509000000000000" pitchFamily="65" charset="-120"/>
                                          <a:cs typeface="Times New Roman" panose="02020603050405020304" pitchFamily="18" charset="0"/>
                                        </a:rPr>
                                        <m:t>𝑘</m:t>
                                      </m:r>
                                    </m:num>
                                    <m:den>
                                      <m:r>
                                        <a:rPr lang="en-US" altLang="zh-TW" sz="1200" i="1">
                                          <a:latin typeface="Cambria Math" panose="02040503050406030204" pitchFamily="18" charset="0"/>
                                          <a:ea typeface="標楷體" panose="03000509000000000000" pitchFamily="65" charset="-120"/>
                                          <a:cs typeface="Times New Roman" panose="02020603050405020304" pitchFamily="18" charset="0"/>
                                        </a:rPr>
                                        <m:t>2</m:t>
                                      </m:r>
                                      <m:r>
                                        <a:rPr lang="en-US" altLang="zh-TW" sz="1200" i="1">
                                          <a:latin typeface="Cambria Math" panose="02040503050406030204" pitchFamily="18" charset="0"/>
                                          <a:ea typeface="標楷體" panose="03000509000000000000" pitchFamily="65" charset="-120"/>
                                          <a:cs typeface="Times New Roman" panose="02020603050405020304" pitchFamily="18" charset="0"/>
                                        </a:rPr>
                                        <m:t>𝜅</m:t>
                                      </m:r>
                                      <m:r>
                                        <a:rPr lang="en-US" altLang="zh-TW" sz="1200" i="1">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2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200" i="1">
                                              <a:latin typeface="Cambria Math" panose="02040503050406030204" pitchFamily="18" charset="0"/>
                                              <a:ea typeface="標楷體" panose="03000509000000000000" pitchFamily="65" charset="-120"/>
                                              <a:cs typeface="Times New Roman" panose="02020603050405020304" pitchFamily="18" charset="0"/>
                                            </a:rPr>
                                            <m:t>𝑥</m:t>
                                          </m:r>
                                        </m:e>
                                        <m:sub>
                                          <m:r>
                                            <a:rPr lang="en-US" altLang="zh-TW" sz="1200" i="1">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200" i="1">
                                              <a:latin typeface="Cambria Math" panose="02040503050406030204" pitchFamily="18" charset="0"/>
                                              <a:ea typeface="標楷體" panose="03000509000000000000" pitchFamily="65" charset="-120"/>
                                              <a:cs typeface="Times New Roman" panose="02020603050405020304" pitchFamily="18" charset="0"/>
                                            </a:rPr>
                                            <m:t>+1</m:t>
                                          </m:r>
                                        </m:sub>
                                      </m:sSub>
                                      <m:r>
                                        <a:rPr lang="en-US" altLang="zh-TW" sz="1200" i="1">
                                          <a:latin typeface="Cambria Math" panose="02040503050406030204" pitchFamily="18" charset="0"/>
                                          <a:ea typeface="標楷體" panose="03000509000000000000" pitchFamily="65" charset="-120"/>
                                          <a:cs typeface="Times New Roman" panose="02020603050405020304" pitchFamily="18" charset="0"/>
                                        </a:rPr>
                                        <m:t>)</m:t>
                                      </m:r>
                                    </m:den>
                                  </m:f>
                                  <m:r>
                                    <m:rPr>
                                      <m:sty m:val="p"/>
                                    </m:rPr>
                                    <a:rPr lang="en-US" altLang="zh-TW" sz="1200">
                                      <a:latin typeface="Cambria Math" panose="02040503050406030204" pitchFamily="18" charset="0"/>
                                      <a:ea typeface="標楷體" panose="03000509000000000000" pitchFamily="65" charset="-120"/>
                                      <a:cs typeface="Times New Roman" panose="02020603050405020304" pitchFamily="18" charset="0"/>
                                    </a:rPr>
                                    <m:t>sin</m:t>
                                  </m:r>
                                </m:fName>
                                <m:e>
                                  <m:sSub>
                                    <m:sSubPr>
                                      <m:ctrlPr>
                                        <a:rPr lang="zh-TW" altLang="zh-TW" sz="12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200" i="1">
                                          <a:latin typeface="Cambria Math" panose="02040503050406030204" pitchFamily="18" charset="0"/>
                                          <a:ea typeface="標楷體" panose="03000509000000000000" pitchFamily="65" charset="-120"/>
                                          <a:cs typeface="Times New Roman" panose="02020603050405020304" pitchFamily="18" charset="0"/>
                                        </a:rPr>
                                        <m:t>𝑟𝑥</m:t>
                                      </m:r>
                                    </m:e>
                                    <m:sub>
                                      <m:r>
                                        <a:rPr lang="en-US" altLang="zh-TW" sz="1200" i="1">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200" i="1">
                                          <a:latin typeface="Cambria Math" panose="02040503050406030204" pitchFamily="18" charset="0"/>
                                          <a:ea typeface="標楷體" panose="03000509000000000000" pitchFamily="65" charset="-120"/>
                                          <a:cs typeface="Times New Roman" panose="02020603050405020304" pitchFamily="18" charset="0"/>
                                        </a:rPr>
                                        <m:t>+1</m:t>
                                      </m:r>
                                    </m:sub>
                                  </m:sSub>
                                  <m:r>
                                    <a:rPr lang="en-US" altLang="zh-TW" sz="1200" i="1">
                                      <a:latin typeface="Cambria Math" panose="02040503050406030204" pitchFamily="18" charset="0"/>
                                      <a:ea typeface="標楷體" panose="03000509000000000000" pitchFamily="65" charset="-120"/>
                                      <a:cs typeface="Times New Roman" panose="02020603050405020304" pitchFamily="18" charset="0"/>
                                    </a:rPr>
                                    <m:t>+</m:t>
                                  </m:r>
                                  <m:f>
                                    <m:fPr>
                                      <m:ctrlPr>
                                        <a:rPr lang="zh-TW" altLang="zh-TW" sz="1200"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sz="1200" i="1">
                                          <a:latin typeface="Cambria Math" panose="02040503050406030204" pitchFamily="18" charset="0"/>
                                          <a:ea typeface="標楷體" panose="03000509000000000000" pitchFamily="65" charset="-120"/>
                                          <a:cs typeface="Times New Roman" panose="02020603050405020304" pitchFamily="18" charset="0"/>
                                        </a:rPr>
                                        <m:t>𝑖𝑟</m:t>
                                      </m:r>
                                    </m:num>
                                    <m:den>
                                      <m:r>
                                        <a:rPr lang="en-US" altLang="zh-TW" sz="1200" i="1">
                                          <a:latin typeface="Cambria Math" panose="02040503050406030204" pitchFamily="18" charset="0"/>
                                          <a:ea typeface="標楷體" panose="03000509000000000000" pitchFamily="65" charset="-120"/>
                                          <a:cs typeface="Times New Roman" panose="02020603050405020304" pitchFamily="18" charset="0"/>
                                        </a:rPr>
                                        <m:t>𝜅</m:t>
                                      </m:r>
                                      <m:r>
                                        <a:rPr lang="en-US" altLang="zh-TW" sz="1200" i="1">
                                          <a:latin typeface="Cambria Math" panose="02040503050406030204" pitchFamily="18" charset="0"/>
                                          <a:ea typeface="標楷體" panose="03000509000000000000" pitchFamily="65" charset="-120"/>
                                          <a:cs typeface="Times New Roman" panose="02020603050405020304" pitchFamily="18" charset="0"/>
                                        </a:rPr>
                                        <m:t>(</m:t>
                                      </m:r>
                                      <m:sSub>
                                        <m:sSubPr>
                                          <m:ctrlPr>
                                            <a:rPr lang="zh-TW" altLang="zh-TW" sz="12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200" i="1">
                                              <a:latin typeface="Cambria Math" panose="02040503050406030204" pitchFamily="18" charset="0"/>
                                              <a:ea typeface="標楷體" panose="03000509000000000000" pitchFamily="65" charset="-120"/>
                                              <a:cs typeface="Times New Roman" panose="02020603050405020304" pitchFamily="18" charset="0"/>
                                            </a:rPr>
                                            <m:t>𝜒</m:t>
                                          </m:r>
                                        </m:e>
                                        <m:sub>
                                          <m:r>
                                            <a:rPr lang="en-US" altLang="zh-TW" sz="1200" i="1">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200" i="1">
                                              <a:latin typeface="Cambria Math" panose="02040503050406030204" pitchFamily="18" charset="0"/>
                                              <a:ea typeface="標楷體" panose="03000509000000000000" pitchFamily="65" charset="-120"/>
                                              <a:cs typeface="Times New Roman" panose="02020603050405020304" pitchFamily="18" charset="0"/>
                                            </a:rPr>
                                            <m:t>+1</m:t>
                                          </m:r>
                                        </m:sub>
                                      </m:sSub>
                                      <m:r>
                                        <a:rPr lang="en-US" altLang="zh-TW" sz="1200" i="1">
                                          <a:latin typeface="Cambria Math" panose="02040503050406030204" pitchFamily="18" charset="0"/>
                                          <a:ea typeface="標楷體" panose="03000509000000000000" pitchFamily="65" charset="-120"/>
                                          <a:cs typeface="Times New Roman" panose="02020603050405020304" pitchFamily="18" charset="0"/>
                                        </a:rPr>
                                        <m:t>)</m:t>
                                      </m:r>
                                    </m:den>
                                  </m:f>
                                  <m:func>
                                    <m:funcPr>
                                      <m:ctrlPr>
                                        <a:rPr lang="zh-TW" altLang="zh-TW" sz="1200" i="1">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TW" sz="1200">
                                          <a:latin typeface="Cambria Math" panose="02040503050406030204" pitchFamily="18" charset="0"/>
                                          <a:ea typeface="標楷體" panose="03000509000000000000" pitchFamily="65" charset="-120"/>
                                          <a:cs typeface="Times New Roman" panose="02020603050405020304" pitchFamily="18" charset="0"/>
                                        </a:rPr>
                                        <m:t>cos</m:t>
                                      </m:r>
                                    </m:fName>
                                    <m:e>
                                      <m:sSub>
                                        <m:sSubPr>
                                          <m:ctrlPr>
                                            <a:rPr lang="zh-TW" altLang="zh-TW" sz="12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1200" i="1">
                                              <a:latin typeface="Cambria Math" panose="02040503050406030204" pitchFamily="18" charset="0"/>
                                              <a:ea typeface="標楷體" panose="03000509000000000000" pitchFamily="65" charset="-120"/>
                                              <a:cs typeface="Times New Roman" panose="02020603050405020304" pitchFamily="18" charset="0"/>
                                            </a:rPr>
                                            <m:t>𝑟𝑥</m:t>
                                          </m:r>
                                        </m:e>
                                        <m:sub>
                                          <m:r>
                                            <a:rPr lang="en-US" altLang="zh-TW" sz="1200" i="1">
                                              <a:latin typeface="Cambria Math" panose="02040503050406030204" pitchFamily="18" charset="0"/>
                                              <a:ea typeface="標楷體" panose="03000509000000000000" pitchFamily="65" charset="-120"/>
                                              <a:cs typeface="Times New Roman" panose="02020603050405020304" pitchFamily="18" charset="0"/>
                                            </a:rPr>
                                            <m:t>𝑗</m:t>
                                          </m:r>
                                          <m:r>
                                            <a:rPr lang="en-US" altLang="zh-TW" sz="1200" i="1">
                                              <a:latin typeface="Cambria Math" panose="02040503050406030204" pitchFamily="18" charset="0"/>
                                              <a:ea typeface="標楷體" panose="03000509000000000000" pitchFamily="65" charset="-120"/>
                                              <a:cs typeface="Times New Roman" panose="02020603050405020304" pitchFamily="18" charset="0"/>
                                            </a:rPr>
                                            <m:t>+1</m:t>
                                          </m:r>
                                        </m:sub>
                                      </m:sSub>
                                    </m:e>
                                  </m:func>
                                </m:e>
                              </m:func>
                            </m:e>
                          </m:d>
                        </m:e>
                      </m:d>
                    </m:oMath>
                  </m:oMathPara>
                </a14:m>
                <a:endParaRPr lang="zh-TW" altLang="en-US" sz="1200" dirty="0"/>
              </a:p>
            </p:txBody>
          </p:sp>
        </mc:Choice>
        <mc:Fallback xmlns="">
          <p:sp>
            <p:nvSpPr>
              <p:cNvPr id="10" name="矩形 9">
                <a:extLst>
                  <a:ext uri="{FF2B5EF4-FFF2-40B4-BE49-F238E27FC236}">
                    <a16:creationId xmlns:a16="http://schemas.microsoft.com/office/drawing/2014/main" id="{B08E3A6D-1FE5-C5C5-CA01-A46BA66AE0B6}"/>
                  </a:ext>
                </a:extLst>
              </p:cNvPr>
              <p:cNvSpPr>
                <a:spLocks noRot="1" noChangeAspect="1" noMove="1" noResize="1" noEditPoints="1" noAdjustHandles="1" noChangeArrowheads="1" noChangeShapeType="1" noTextEdit="1"/>
              </p:cNvSpPr>
              <p:nvPr/>
            </p:nvSpPr>
            <p:spPr>
              <a:xfrm>
                <a:off x="504412" y="4641266"/>
                <a:ext cx="4668116" cy="1618136"/>
              </a:xfrm>
              <a:prstGeom prst="rect">
                <a:avLst/>
              </a:prstGeom>
              <a:blipFill>
                <a:blip r:embed="rId5"/>
                <a:stretch>
                  <a:fillRect t="-12406" b="-79323"/>
                </a:stretch>
              </a:blipFill>
            </p:spPr>
            <p:txBody>
              <a:bodyPr/>
              <a:lstStyle/>
              <a:p>
                <a:r>
                  <a:rPr lang="zh-TW" altLang="en-US">
                    <a:noFill/>
                  </a:rPr>
                  <a:t> </a:t>
                </a:r>
              </a:p>
            </p:txBody>
          </p:sp>
        </mc:Fallback>
      </mc:AlternateContent>
      <p:sp>
        <p:nvSpPr>
          <p:cNvPr id="11" name="矩形 10">
            <a:extLst>
              <a:ext uri="{FF2B5EF4-FFF2-40B4-BE49-F238E27FC236}">
                <a16:creationId xmlns:a16="http://schemas.microsoft.com/office/drawing/2014/main" id="{1CF7370B-B9E3-E3DD-313D-00475D1D2324}"/>
              </a:ext>
            </a:extLst>
          </p:cNvPr>
          <p:cNvSpPr/>
          <p:nvPr/>
        </p:nvSpPr>
        <p:spPr>
          <a:xfrm>
            <a:off x="504412" y="4189914"/>
            <a:ext cx="3886962" cy="369332"/>
          </a:xfrm>
          <a:prstGeom prst="rect">
            <a:avLst/>
          </a:prstGeom>
        </p:spPr>
        <p:txBody>
          <a:bodyPr wrap="none">
            <a:spAutoFit/>
          </a:bodyPr>
          <a:lstStyle/>
          <a:p>
            <a:r>
              <a:rPr lang="en-US" altLang="zh-TW" u="sng" dirty="0"/>
              <a:t>C</a:t>
            </a:r>
            <a:r>
              <a:rPr lang="zh-TW" altLang="en-US" u="sng" dirty="0"/>
              <a:t>o-directional coupled mode equations</a:t>
            </a:r>
          </a:p>
        </p:txBody>
      </p:sp>
      <p:grpSp>
        <p:nvGrpSpPr>
          <p:cNvPr id="3" name="群組 2">
            <a:extLst>
              <a:ext uri="{FF2B5EF4-FFF2-40B4-BE49-F238E27FC236}">
                <a16:creationId xmlns:a16="http://schemas.microsoft.com/office/drawing/2014/main" id="{71753D00-AE12-93B6-C509-8685B110FDAC}"/>
              </a:ext>
            </a:extLst>
          </p:cNvPr>
          <p:cNvGrpSpPr/>
          <p:nvPr/>
        </p:nvGrpSpPr>
        <p:grpSpPr>
          <a:xfrm>
            <a:off x="6060871" y="786941"/>
            <a:ext cx="6131129" cy="3302408"/>
            <a:chOff x="422071" y="1439465"/>
            <a:chExt cx="6131129" cy="3302408"/>
          </a:xfrm>
        </p:grpSpPr>
        <p:grpSp>
          <p:nvGrpSpPr>
            <p:cNvPr id="9" name="群組 8">
              <a:extLst>
                <a:ext uri="{FF2B5EF4-FFF2-40B4-BE49-F238E27FC236}">
                  <a16:creationId xmlns:a16="http://schemas.microsoft.com/office/drawing/2014/main" id="{A5CD7293-F6A0-9A78-820F-CCD2919FFD91}"/>
                </a:ext>
              </a:extLst>
            </p:cNvPr>
            <p:cNvGrpSpPr/>
            <p:nvPr/>
          </p:nvGrpSpPr>
          <p:grpSpPr>
            <a:xfrm>
              <a:off x="1279371" y="3696789"/>
              <a:ext cx="3606066" cy="1045084"/>
              <a:chOff x="749920" y="2527550"/>
              <a:chExt cx="3817667" cy="1235101"/>
            </a:xfrm>
          </p:grpSpPr>
          <p:sp>
            <p:nvSpPr>
              <p:cNvPr id="51" name="矩形 50">
                <a:extLst>
                  <a:ext uri="{FF2B5EF4-FFF2-40B4-BE49-F238E27FC236}">
                    <a16:creationId xmlns:a16="http://schemas.microsoft.com/office/drawing/2014/main" id="{C35B5E7E-8729-8177-F4A7-D6795A23CF06}"/>
                  </a:ext>
                </a:extLst>
              </p:cNvPr>
              <p:cNvSpPr/>
              <p:nvPr/>
            </p:nvSpPr>
            <p:spPr>
              <a:xfrm>
                <a:off x="1650381" y="2570356"/>
                <a:ext cx="1795346" cy="8586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箭號: 向右 51">
                <a:extLst>
                  <a:ext uri="{FF2B5EF4-FFF2-40B4-BE49-F238E27FC236}">
                    <a16:creationId xmlns:a16="http://schemas.microsoft.com/office/drawing/2014/main" id="{E92D38C3-BB17-DDE3-D378-570D2BAF86C3}"/>
                  </a:ext>
                </a:extLst>
              </p:cNvPr>
              <p:cNvSpPr/>
              <p:nvPr/>
            </p:nvSpPr>
            <p:spPr>
              <a:xfrm>
                <a:off x="1929161" y="2754351"/>
                <a:ext cx="1293541" cy="390292"/>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53" name="文字方塊 52">
                    <a:extLst>
                      <a:ext uri="{FF2B5EF4-FFF2-40B4-BE49-F238E27FC236}">
                        <a16:creationId xmlns:a16="http://schemas.microsoft.com/office/drawing/2014/main" id="{6072DE79-1CE2-F87C-6BD1-6B0EFED71F1D}"/>
                      </a:ext>
                    </a:extLst>
                  </p:cNvPr>
                  <p:cNvSpPr txBox="1"/>
                  <p:nvPr/>
                </p:nvSpPr>
                <p:spPr>
                  <a:xfrm>
                    <a:off x="749920" y="2538102"/>
                    <a:ext cx="855856" cy="4113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i="1" smtClean="0">
                                  <a:solidFill>
                                    <a:srgbClr val="836967"/>
                                  </a:solidFill>
                                  <a:latin typeface="Cambria Math" panose="02040503050406030204" pitchFamily="18" charset="0"/>
                                </a:rPr>
                              </m:ctrlPr>
                            </m:sSubPr>
                            <m:e>
                              <m:r>
                                <a:rPr lang="zh-TW" altLang="en-US" i="1">
                                  <a:latin typeface="Cambria Math" panose="02040503050406030204" pitchFamily="18" charset="0"/>
                                </a:rPr>
                                <m:t>𝐴</m:t>
                              </m:r>
                            </m:e>
                            <m:sub>
                              <m:r>
                                <a:rPr lang="zh-TW" altLang="en-US" i="1">
                                  <a:latin typeface="Cambria Math" panose="02040503050406030204" pitchFamily="18" charset="0"/>
                                </a:rPr>
                                <m:t>𝑒</m:t>
                              </m:r>
                            </m:sub>
                          </m:sSub>
                          <m:d>
                            <m:dPr>
                              <m:ctrlPr>
                                <a:rPr lang="zh-TW" altLang="en-US" i="1">
                                  <a:latin typeface="Cambria Math" panose="02040503050406030204" pitchFamily="18" charset="0"/>
                                </a:rPr>
                              </m:ctrlPr>
                            </m:dPr>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𝑥</m:t>
                                  </m:r>
                                </m:e>
                                <m:sub>
                                  <m:r>
                                    <a:rPr lang="zh-TW" altLang="en-US" i="1">
                                      <a:latin typeface="Cambria Math" panose="02040503050406030204" pitchFamily="18" charset="0"/>
                                    </a:rPr>
                                    <m:t>𝑗</m:t>
                                  </m:r>
                                </m:sub>
                              </m:sSub>
                            </m:e>
                          </m:d>
                        </m:oMath>
                      </m:oMathPara>
                    </a14:m>
                    <a:endParaRPr lang="zh-TW" altLang="en-US" dirty="0"/>
                  </a:p>
                </p:txBody>
              </p:sp>
            </mc:Choice>
            <mc:Fallback xmlns="">
              <p:sp>
                <p:nvSpPr>
                  <p:cNvPr id="53" name="文字方塊 52">
                    <a:extLst>
                      <a:ext uri="{FF2B5EF4-FFF2-40B4-BE49-F238E27FC236}">
                        <a16:creationId xmlns:a16="http://schemas.microsoft.com/office/drawing/2014/main" id="{6072DE79-1CE2-F87C-6BD1-6B0EFED71F1D}"/>
                      </a:ext>
                    </a:extLst>
                  </p:cNvPr>
                  <p:cNvSpPr txBox="1">
                    <a:spLocks noRot="1" noChangeAspect="1" noMove="1" noResize="1" noEditPoints="1" noAdjustHandles="1" noChangeArrowheads="1" noChangeShapeType="1" noTextEdit="1"/>
                  </p:cNvSpPr>
                  <p:nvPr/>
                </p:nvSpPr>
                <p:spPr>
                  <a:xfrm>
                    <a:off x="749920" y="2538102"/>
                    <a:ext cx="855856" cy="411395"/>
                  </a:xfrm>
                  <a:prstGeom prst="rect">
                    <a:avLst/>
                  </a:prstGeom>
                  <a:blipFill>
                    <a:blip r:embed="rId6"/>
                    <a:stretch>
                      <a:fillRect b="-2631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4" name="文字方塊 53">
                    <a:extLst>
                      <a:ext uri="{FF2B5EF4-FFF2-40B4-BE49-F238E27FC236}">
                        <a16:creationId xmlns:a16="http://schemas.microsoft.com/office/drawing/2014/main" id="{D4A35775-F1F4-FED5-4E7D-8A28070E2B6A}"/>
                      </a:ext>
                    </a:extLst>
                  </p:cNvPr>
                  <p:cNvSpPr txBox="1"/>
                  <p:nvPr/>
                </p:nvSpPr>
                <p:spPr>
                  <a:xfrm>
                    <a:off x="749920" y="2938945"/>
                    <a:ext cx="855856" cy="4113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i="1" smtClean="0">
                                  <a:solidFill>
                                    <a:srgbClr val="836967"/>
                                  </a:solidFill>
                                  <a:latin typeface="Cambria Math" panose="02040503050406030204" pitchFamily="18" charset="0"/>
                                </a:rPr>
                              </m:ctrlPr>
                            </m:sSubPr>
                            <m:e>
                              <m:r>
                                <a:rPr lang="zh-TW" altLang="en-US" i="1">
                                  <a:latin typeface="Cambria Math" panose="02040503050406030204" pitchFamily="18" charset="0"/>
                                </a:rPr>
                                <m:t>𝐴</m:t>
                              </m:r>
                            </m:e>
                            <m:sub>
                              <m:r>
                                <a:rPr lang="en-US" altLang="zh-TW" b="0" i="1" smtClean="0">
                                  <a:latin typeface="Cambria Math" panose="02040503050406030204" pitchFamily="18" charset="0"/>
                                </a:rPr>
                                <m:t>𝑜</m:t>
                              </m:r>
                            </m:sub>
                          </m:sSub>
                          <m:d>
                            <m:dPr>
                              <m:ctrlPr>
                                <a:rPr lang="zh-TW" altLang="en-US" i="1">
                                  <a:latin typeface="Cambria Math" panose="02040503050406030204" pitchFamily="18" charset="0"/>
                                </a:rPr>
                              </m:ctrlPr>
                            </m:dPr>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𝑥</m:t>
                                  </m:r>
                                </m:e>
                                <m:sub>
                                  <m:r>
                                    <a:rPr lang="zh-TW" altLang="en-US" i="1">
                                      <a:latin typeface="Cambria Math" panose="02040503050406030204" pitchFamily="18" charset="0"/>
                                    </a:rPr>
                                    <m:t>𝑗</m:t>
                                  </m:r>
                                </m:sub>
                              </m:sSub>
                            </m:e>
                          </m:d>
                        </m:oMath>
                      </m:oMathPara>
                    </a14:m>
                    <a:endParaRPr lang="zh-TW" altLang="en-US" dirty="0"/>
                  </a:p>
                </p:txBody>
              </p:sp>
            </mc:Choice>
            <mc:Fallback xmlns="">
              <p:sp>
                <p:nvSpPr>
                  <p:cNvPr id="54" name="文字方塊 53">
                    <a:extLst>
                      <a:ext uri="{FF2B5EF4-FFF2-40B4-BE49-F238E27FC236}">
                        <a16:creationId xmlns:a16="http://schemas.microsoft.com/office/drawing/2014/main" id="{D4A35775-F1F4-FED5-4E7D-8A28070E2B6A}"/>
                      </a:ext>
                    </a:extLst>
                  </p:cNvPr>
                  <p:cNvSpPr txBox="1">
                    <a:spLocks noRot="1" noChangeAspect="1" noMove="1" noResize="1" noEditPoints="1" noAdjustHandles="1" noChangeArrowheads="1" noChangeShapeType="1" noTextEdit="1"/>
                  </p:cNvSpPr>
                  <p:nvPr/>
                </p:nvSpPr>
                <p:spPr>
                  <a:xfrm>
                    <a:off x="749920" y="2938945"/>
                    <a:ext cx="855856" cy="411395"/>
                  </a:xfrm>
                  <a:prstGeom prst="rect">
                    <a:avLst/>
                  </a:prstGeom>
                  <a:blipFill>
                    <a:blip r:embed="rId7"/>
                    <a:stretch>
                      <a:fillRect b="-2631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5" name="文字方塊 54">
                    <a:extLst>
                      <a:ext uri="{FF2B5EF4-FFF2-40B4-BE49-F238E27FC236}">
                        <a16:creationId xmlns:a16="http://schemas.microsoft.com/office/drawing/2014/main" id="{E9E3BC23-6344-5973-7A67-90FC4EA70F1F}"/>
                      </a:ext>
                    </a:extLst>
                  </p:cNvPr>
                  <p:cNvSpPr txBox="1"/>
                  <p:nvPr/>
                </p:nvSpPr>
                <p:spPr>
                  <a:xfrm>
                    <a:off x="1177848" y="3451870"/>
                    <a:ext cx="679225" cy="2993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𝑥</m:t>
                              </m:r>
                            </m:e>
                            <m:sub>
                              <m:r>
                                <a:rPr lang="zh-TW" altLang="en-US" i="1">
                                  <a:latin typeface="Cambria Math" panose="02040503050406030204" pitchFamily="18" charset="0"/>
                                </a:rPr>
                                <m:t>𝑗</m:t>
                              </m:r>
                            </m:sub>
                          </m:sSub>
                        </m:oMath>
                      </m:oMathPara>
                    </a14:m>
                    <a:endParaRPr lang="zh-TW" altLang="en-US" dirty="0"/>
                  </a:p>
                </p:txBody>
              </p:sp>
            </mc:Choice>
            <mc:Fallback xmlns="">
              <p:sp>
                <p:nvSpPr>
                  <p:cNvPr id="55" name="文字方塊 54">
                    <a:extLst>
                      <a:ext uri="{FF2B5EF4-FFF2-40B4-BE49-F238E27FC236}">
                        <a16:creationId xmlns:a16="http://schemas.microsoft.com/office/drawing/2014/main" id="{E9E3BC23-6344-5973-7A67-90FC4EA70F1F}"/>
                      </a:ext>
                    </a:extLst>
                  </p:cNvPr>
                  <p:cNvSpPr txBox="1">
                    <a:spLocks noRot="1" noChangeAspect="1" noMove="1" noResize="1" noEditPoints="1" noAdjustHandles="1" noChangeArrowheads="1" noChangeShapeType="1" noTextEdit="1"/>
                  </p:cNvSpPr>
                  <p:nvPr/>
                </p:nvSpPr>
                <p:spPr>
                  <a:xfrm>
                    <a:off x="1177848" y="3451870"/>
                    <a:ext cx="679225" cy="299313"/>
                  </a:xfrm>
                  <a:prstGeom prst="rect">
                    <a:avLst/>
                  </a:prstGeom>
                  <a:blipFill>
                    <a:blip r:embed="rId8"/>
                    <a:stretch>
                      <a:fillRect l="-7619" r="-9524" b="-5122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6" name="文字方塊 55">
                    <a:extLst>
                      <a:ext uri="{FF2B5EF4-FFF2-40B4-BE49-F238E27FC236}">
                        <a16:creationId xmlns:a16="http://schemas.microsoft.com/office/drawing/2014/main" id="{53351703-F513-C48B-60A9-6CDA241DCAEF}"/>
                      </a:ext>
                    </a:extLst>
                  </p:cNvPr>
                  <p:cNvSpPr txBox="1"/>
                  <p:nvPr/>
                </p:nvSpPr>
                <p:spPr>
                  <a:xfrm>
                    <a:off x="3222702" y="3463338"/>
                    <a:ext cx="898836" cy="2993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𝑥</m:t>
                              </m:r>
                            </m:e>
                            <m:sub>
                              <m:r>
                                <a:rPr lang="zh-TW" altLang="en-US" i="1">
                                  <a:latin typeface="Cambria Math" panose="02040503050406030204" pitchFamily="18" charset="0"/>
                                </a:rPr>
                                <m:t>𝑗</m:t>
                              </m:r>
                              <m:r>
                                <a:rPr lang="en-US" altLang="zh-TW" b="0" i="1" smtClean="0">
                                  <a:latin typeface="Cambria Math" panose="02040503050406030204" pitchFamily="18" charset="0"/>
                                </a:rPr>
                                <m:t>+1</m:t>
                              </m:r>
                            </m:sub>
                          </m:sSub>
                        </m:oMath>
                      </m:oMathPara>
                    </a14:m>
                    <a:endParaRPr lang="zh-TW" altLang="en-US" dirty="0"/>
                  </a:p>
                </p:txBody>
              </p:sp>
            </mc:Choice>
            <mc:Fallback xmlns="">
              <p:sp>
                <p:nvSpPr>
                  <p:cNvPr id="56" name="文字方塊 55">
                    <a:extLst>
                      <a:ext uri="{FF2B5EF4-FFF2-40B4-BE49-F238E27FC236}">
                        <a16:creationId xmlns:a16="http://schemas.microsoft.com/office/drawing/2014/main" id="{53351703-F513-C48B-60A9-6CDA241DCAEF}"/>
                      </a:ext>
                    </a:extLst>
                  </p:cNvPr>
                  <p:cNvSpPr txBox="1">
                    <a:spLocks noRot="1" noChangeAspect="1" noMove="1" noResize="1" noEditPoints="1" noAdjustHandles="1" noChangeArrowheads="1" noChangeShapeType="1" noTextEdit="1"/>
                  </p:cNvSpPr>
                  <p:nvPr/>
                </p:nvSpPr>
                <p:spPr>
                  <a:xfrm>
                    <a:off x="3222702" y="3463338"/>
                    <a:ext cx="898836" cy="299313"/>
                  </a:xfrm>
                  <a:prstGeom prst="rect">
                    <a:avLst/>
                  </a:prstGeom>
                  <a:blipFill>
                    <a:blip r:embed="rId9"/>
                    <a:stretch>
                      <a:fillRect l="-6475" r="-5755" b="-4761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7" name="文字方塊 56">
                    <a:extLst>
                      <a:ext uri="{FF2B5EF4-FFF2-40B4-BE49-F238E27FC236}">
                        <a16:creationId xmlns:a16="http://schemas.microsoft.com/office/drawing/2014/main" id="{819B06E5-294B-1ABD-5048-9FD6A4594D3B}"/>
                      </a:ext>
                    </a:extLst>
                  </p:cNvPr>
                  <p:cNvSpPr txBox="1"/>
                  <p:nvPr/>
                </p:nvSpPr>
                <p:spPr>
                  <a:xfrm>
                    <a:off x="3522160" y="2527550"/>
                    <a:ext cx="1045427" cy="4113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i="1" smtClean="0">
                                  <a:solidFill>
                                    <a:srgbClr val="836967"/>
                                  </a:solidFill>
                                  <a:latin typeface="Cambria Math" panose="02040503050406030204" pitchFamily="18" charset="0"/>
                                </a:rPr>
                              </m:ctrlPr>
                            </m:sSubPr>
                            <m:e>
                              <m:r>
                                <a:rPr lang="zh-TW" altLang="en-US" i="1">
                                  <a:latin typeface="Cambria Math" panose="02040503050406030204" pitchFamily="18" charset="0"/>
                                </a:rPr>
                                <m:t>𝐴</m:t>
                              </m:r>
                            </m:e>
                            <m:sub>
                              <m:r>
                                <a:rPr lang="en-US" altLang="zh-TW" b="0" i="1" smtClean="0">
                                  <a:latin typeface="Cambria Math" panose="02040503050406030204" pitchFamily="18" charset="0"/>
                                </a:rPr>
                                <m:t>𝑒</m:t>
                              </m:r>
                            </m:sub>
                          </m:sSub>
                          <m:d>
                            <m:dPr>
                              <m:ctrlPr>
                                <a:rPr lang="zh-TW" altLang="en-US" i="1">
                                  <a:solidFill>
                                    <a:srgbClr val="836967"/>
                                  </a:solidFill>
                                  <a:latin typeface="Cambria Math" panose="02040503050406030204" pitchFamily="18" charset="0"/>
                                </a:rPr>
                              </m:ctrlPr>
                            </m:dPr>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𝑥</m:t>
                                  </m:r>
                                </m:e>
                                <m:sub>
                                  <m:r>
                                    <a:rPr lang="zh-TW" altLang="en-US" i="1">
                                      <a:latin typeface="Cambria Math" panose="02040503050406030204" pitchFamily="18" charset="0"/>
                                    </a:rPr>
                                    <m:t>𝑗</m:t>
                                  </m:r>
                                  <m:r>
                                    <a:rPr lang="zh-TW" altLang="en-US" i="0">
                                      <a:latin typeface="Cambria Math" panose="02040503050406030204" pitchFamily="18" charset="0"/>
                                    </a:rPr>
                                    <m:t>+1</m:t>
                                  </m:r>
                                </m:sub>
                              </m:sSub>
                            </m:e>
                          </m:d>
                        </m:oMath>
                      </m:oMathPara>
                    </a14:m>
                    <a:endParaRPr lang="zh-TW" altLang="en-US" dirty="0"/>
                  </a:p>
                </p:txBody>
              </p:sp>
            </mc:Choice>
            <mc:Fallback xmlns="">
              <p:sp>
                <p:nvSpPr>
                  <p:cNvPr id="57" name="文字方塊 56">
                    <a:extLst>
                      <a:ext uri="{FF2B5EF4-FFF2-40B4-BE49-F238E27FC236}">
                        <a16:creationId xmlns:a16="http://schemas.microsoft.com/office/drawing/2014/main" id="{819B06E5-294B-1ABD-5048-9FD6A4594D3B}"/>
                      </a:ext>
                    </a:extLst>
                  </p:cNvPr>
                  <p:cNvSpPr txBox="1">
                    <a:spLocks noRot="1" noChangeAspect="1" noMove="1" noResize="1" noEditPoints="1" noAdjustHandles="1" noChangeArrowheads="1" noChangeShapeType="1" noTextEdit="1"/>
                  </p:cNvSpPr>
                  <p:nvPr/>
                </p:nvSpPr>
                <p:spPr>
                  <a:xfrm>
                    <a:off x="3522160" y="2527550"/>
                    <a:ext cx="1045427" cy="411395"/>
                  </a:xfrm>
                  <a:prstGeom prst="rect">
                    <a:avLst/>
                  </a:prstGeom>
                  <a:blipFill>
                    <a:blip r:embed="rId10"/>
                    <a:stretch>
                      <a:fillRect b="-2586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8" name="文字方塊 57">
                    <a:extLst>
                      <a:ext uri="{FF2B5EF4-FFF2-40B4-BE49-F238E27FC236}">
                        <a16:creationId xmlns:a16="http://schemas.microsoft.com/office/drawing/2014/main" id="{2AB5231C-DA61-AC0B-F6AA-C050297BCB32}"/>
                      </a:ext>
                    </a:extLst>
                  </p:cNvPr>
                  <p:cNvSpPr txBox="1"/>
                  <p:nvPr/>
                </p:nvSpPr>
                <p:spPr>
                  <a:xfrm>
                    <a:off x="3522160" y="3017605"/>
                    <a:ext cx="1045427" cy="4113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i="1" smtClean="0">
                                  <a:solidFill>
                                    <a:srgbClr val="836967"/>
                                  </a:solidFill>
                                  <a:latin typeface="Cambria Math" panose="02040503050406030204" pitchFamily="18" charset="0"/>
                                </a:rPr>
                              </m:ctrlPr>
                            </m:sSubPr>
                            <m:e>
                              <m:r>
                                <a:rPr lang="zh-TW" altLang="en-US" i="1">
                                  <a:latin typeface="Cambria Math" panose="02040503050406030204" pitchFamily="18" charset="0"/>
                                </a:rPr>
                                <m:t>𝐴</m:t>
                              </m:r>
                            </m:e>
                            <m:sub>
                              <m:r>
                                <a:rPr lang="zh-TW" altLang="en-US" i="1">
                                  <a:latin typeface="Cambria Math" panose="02040503050406030204" pitchFamily="18" charset="0"/>
                                </a:rPr>
                                <m:t>𝑜</m:t>
                              </m:r>
                            </m:sub>
                          </m:sSub>
                          <m:d>
                            <m:dPr>
                              <m:ctrlPr>
                                <a:rPr lang="zh-TW" altLang="en-US" i="1">
                                  <a:solidFill>
                                    <a:srgbClr val="836967"/>
                                  </a:solidFill>
                                  <a:latin typeface="Cambria Math" panose="02040503050406030204" pitchFamily="18" charset="0"/>
                                </a:rPr>
                              </m:ctrlPr>
                            </m:dPr>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𝑥</m:t>
                                  </m:r>
                                </m:e>
                                <m:sub>
                                  <m:r>
                                    <a:rPr lang="zh-TW" altLang="en-US" i="1">
                                      <a:latin typeface="Cambria Math" panose="02040503050406030204" pitchFamily="18" charset="0"/>
                                    </a:rPr>
                                    <m:t>𝑗</m:t>
                                  </m:r>
                                  <m:r>
                                    <a:rPr lang="zh-TW" altLang="en-US" i="0">
                                      <a:latin typeface="Cambria Math" panose="02040503050406030204" pitchFamily="18" charset="0"/>
                                    </a:rPr>
                                    <m:t>+1</m:t>
                                  </m:r>
                                </m:sub>
                              </m:sSub>
                            </m:e>
                          </m:d>
                        </m:oMath>
                      </m:oMathPara>
                    </a14:m>
                    <a:endParaRPr lang="zh-TW" altLang="en-US" dirty="0"/>
                  </a:p>
                </p:txBody>
              </p:sp>
            </mc:Choice>
            <mc:Fallback xmlns="">
              <p:sp>
                <p:nvSpPr>
                  <p:cNvPr id="58" name="文字方塊 57">
                    <a:extLst>
                      <a:ext uri="{FF2B5EF4-FFF2-40B4-BE49-F238E27FC236}">
                        <a16:creationId xmlns:a16="http://schemas.microsoft.com/office/drawing/2014/main" id="{2AB5231C-DA61-AC0B-F6AA-C050297BCB32}"/>
                      </a:ext>
                    </a:extLst>
                  </p:cNvPr>
                  <p:cNvSpPr txBox="1">
                    <a:spLocks noRot="1" noChangeAspect="1" noMove="1" noResize="1" noEditPoints="1" noAdjustHandles="1" noChangeArrowheads="1" noChangeShapeType="1" noTextEdit="1"/>
                  </p:cNvSpPr>
                  <p:nvPr/>
                </p:nvSpPr>
                <p:spPr>
                  <a:xfrm>
                    <a:off x="3522160" y="3017605"/>
                    <a:ext cx="1045427" cy="411395"/>
                  </a:xfrm>
                  <a:prstGeom prst="rect">
                    <a:avLst/>
                  </a:prstGeom>
                  <a:blipFill>
                    <a:blip r:embed="rId11"/>
                    <a:stretch>
                      <a:fillRect b="-25862"/>
                    </a:stretch>
                  </a:blipFill>
                </p:spPr>
                <p:txBody>
                  <a:bodyPr/>
                  <a:lstStyle/>
                  <a:p>
                    <a:r>
                      <a:rPr lang="zh-TW" altLang="en-US">
                        <a:noFill/>
                      </a:rPr>
                      <a:t> </a:t>
                    </a:r>
                  </a:p>
                </p:txBody>
              </p:sp>
            </mc:Fallback>
          </mc:AlternateContent>
        </p:grpSp>
        <p:sp>
          <p:nvSpPr>
            <p:cNvPr id="12" name="矩形 11">
              <a:extLst>
                <a:ext uri="{FF2B5EF4-FFF2-40B4-BE49-F238E27FC236}">
                  <a16:creationId xmlns:a16="http://schemas.microsoft.com/office/drawing/2014/main" id="{24BBF740-B8BF-83D0-1B39-696F050B9B86}"/>
                </a:ext>
              </a:extLst>
            </p:cNvPr>
            <p:cNvSpPr/>
            <p:nvPr/>
          </p:nvSpPr>
          <p:spPr>
            <a:xfrm>
              <a:off x="5602238" y="2111149"/>
              <a:ext cx="477641" cy="935114"/>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3" name="矩形 12">
              <a:extLst>
                <a:ext uri="{FF2B5EF4-FFF2-40B4-BE49-F238E27FC236}">
                  <a16:creationId xmlns:a16="http://schemas.microsoft.com/office/drawing/2014/main" id="{8E1FFABE-811D-1546-B58D-6F3272189841}"/>
                </a:ext>
              </a:extLst>
            </p:cNvPr>
            <p:cNvSpPr/>
            <p:nvPr/>
          </p:nvSpPr>
          <p:spPr>
            <a:xfrm>
              <a:off x="6075557" y="2111149"/>
              <a:ext cx="477641" cy="935114"/>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4" name="群組 13">
              <a:extLst>
                <a:ext uri="{FF2B5EF4-FFF2-40B4-BE49-F238E27FC236}">
                  <a16:creationId xmlns:a16="http://schemas.microsoft.com/office/drawing/2014/main" id="{704DC5D4-185F-5E83-ADF2-30B22DE936F6}"/>
                </a:ext>
              </a:extLst>
            </p:cNvPr>
            <p:cNvGrpSpPr/>
            <p:nvPr/>
          </p:nvGrpSpPr>
          <p:grpSpPr>
            <a:xfrm>
              <a:off x="2794621" y="2118570"/>
              <a:ext cx="477641" cy="935114"/>
              <a:chOff x="959006" y="1391751"/>
              <a:chExt cx="412595" cy="959005"/>
            </a:xfrm>
          </p:grpSpPr>
          <p:sp>
            <p:nvSpPr>
              <p:cNvPr id="49" name="矩形 48">
                <a:extLst>
                  <a:ext uri="{FF2B5EF4-FFF2-40B4-BE49-F238E27FC236}">
                    <a16:creationId xmlns:a16="http://schemas.microsoft.com/office/drawing/2014/main" id="{7919C651-EE56-BCE9-50FD-07793BE0D823}"/>
                  </a:ext>
                </a:extLst>
              </p:cNvPr>
              <p:cNvSpPr/>
              <p:nvPr/>
            </p:nvSpPr>
            <p:spPr>
              <a:xfrm>
                <a:off x="959006" y="1391751"/>
                <a:ext cx="412595" cy="95900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箭號: 向下 49">
                <a:extLst>
                  <a:ext uri="{FF2B5EF4-FFF2-40B4-BE49-F238E27FC236}">
                    <a16:creationId xmlns:a16="http://schemas.microsoft.com/office/drawing/2014/main" id="{D3848395-A00D-F532-C30F-67A4AAAFD58C}"/>
                  </a:ext>
                </a:extLst>
              </p:cNvPr>
              <p:cNvSpPr/>
              <p:nvPr/>
            </p:nvSpPr>
            <p:spPr>
              <a:xfrm rot="10800000">
                <a:off x="1062154" y="1536715"/>
                <a:ext cx="206297" cy="669073"/>
              </a:xfrm>
              <a:prstGeom prst="downArrow">
                <a:avLst/>
              </a:prstGeom>
              <a:solidFill>
                <a:srgbClr val="FF505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5" name="群組 14">
              <a:extLst>
                <a:ext uri="{FF2B5EF4-FFF2-40B4-BE49-F238E27FC236}">
                  <a16:creationId xmlns:a16="http://schemas.microsoft.com/office/drawing/2014/main" id="{757B0AAF-C9D6-5AD5-3084-C5FBC0DAAFF9}"/>
                </a:ext>
              </a:extLst>
            </p:cNvPr>
            <p:cNvGrpSpPr/>
            <p:nvPr/>
          </p:nvGrpSpPr>
          <p:grpSpPr>
            <a:xfrm>
              <a:off x="3276583" y="2122121"/>
              <a:ext cx="477641" cy="935114"/>
              <a:chOff x="1371601" y="1401428"/>
              <a:chExt cx="412595" cy="959005"/>
            </a:xfrm>
          </p:grpSpPr>
          <p:sp>
            <p:nvSpPr>
              <p:cNvPr id="47" name="矩形 46">
                <a:extLst>
                  <a:ext uri="{FF2B5EF4-FFF2-40B4-BE49-F238E27FC236}">
                    <a16:creationId xmlns:a16="http://schemas.microsoft.com/office/drawing/2014/main" id="{10C0CDC9-6DBF-05F0-17C5-CCD9B3A6CBA8}"/>
                  </a:ext>
                </a:extLst>
              </p:cNvPr>
              <p:cNvSpPr/>
              <p:nvPr/>
            </p:nvSpPr>
            <p:spPr>
              <a:xfrm>
                <a:off x="1371601" y="1401428"/>
                <a:ext cx="412595" cy="959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8" name="箭號: 向下 47">
                <a:extLst>
                  <a:ext uri="{FF2B5EF4-FFF2-40B4-BE49-F238E27FC236}">
                    <a16:creationId xmlns:a16="http://schemas.microsoft.com/office/drawing/2014/main" id="{217503C6-BDDE-59E4-0EB1-DB2F0C1D882A}"/>
                  </a:ext>
                </a:extLst>
              </p:cNvPr>
              <p:cNvSpPr/>
              <p:nvPr/>
            </p:nvSpPr>
            <p:spPr>
              <a:xfrm>
                <a:off x="1474749" y="1536716"/>
                <a:ext cx="206297" cy="669073"/>
              </a:xfrm>
              <a:prstGeom prst="downArrow">
                <a:avLst/>
              </a:prstGeom>
              <a:solidFill>
                <a:srgbClr val="FF505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6" name="群組 15">
              <a:extLst>
                <a:ext uri="{FF2B5EF4-FFF2-40B4-BE49-F238E27FC236}">
                  <a16:creationId xmlns:a16="http://schemas.microsoft.com/office/drawing/2014/main" id="{106FC6FE-6A23-1484-F92D-EF984F8D596F}"/>
                </a:ext>
              </a:extLst>
            </p:cNvPr>
            <p:cNvGrpSpPr/>
            <p:nvPr/>
          </p:nvGrpSpPr>
          <p:grpSpPr>
            <a:xfrm>
              <a:off x="5118199" y="2111149"/>
              <a:ext cx="1435001" cy="935114"/>
              <a:chOff x="1371601" y="1391751"/>
              <a:chExt cx="1239578" cy="959005"/>
            </a:xfrm>
          </p:grpSpPr>
          <p:sp>
            <p:nvSpPr>
              <p:cNvPr id="45" name="矩形 44">
                <a:extLst>
                  <a:ext uri="{FF2B5EF4-FFF2-40B4-BE49-F238E27FC236}">
                    <a16:creationId xmlns:a16="http://schemas.microsoft.com/office/drawing/2014/main" id="{09BB0D7B-CE32-B382-86F7-34FAD5343547}"/>
                  </a:ext>
                </a:extLst>
              </p:cNvPr>
              <p:cNvSpPr/>
              <p:nvPr/>
            </p:nvSpPr>
            <p:spPr>
              <a:xfrm>
                <a:off x="1371601" y="1391751"/>
                <a:ext cx="412595" cy="959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箭號: 向下 45">
                <a:extLst>
                  <a:ext uri="{FF2B5EF4-FFF2-40B4-BE49-F238E27FC236}">
                    <a16:creationId xmlns:a16="http://schemas.microsoft.com/office/drawing/2014/main" id="{B8114D70-09C1-6C84-6105-A54CB9B31370}"/>
                  </a:ext>
                </a:extLst>
              </p:cNvPr>
              <p:cNvSpPr/>
              <p:nvPr/>
            </p:nvSpPr>
            <p:spPr>
              <a:xfrm>
                <a:off x="1474749" y="1536716"/>
                <a:ext cx="1136430" cy="669073"/>
              </a:xfrm>
              <a:prstGeom prst="downArrow">
                <a:avLst/>
              </a:prstGeom>
              <a:solidFill>
                <a:srgbClr val="FF505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7" name="群組 16">
              <a:extLst>
                <a:ext uri="{FF2B5EF4-FFF2-40B4-BE49-F238E27FC236}">
                  <a16:creationId xmlns:a16="http://schemas.microsoft.com/office/drawing/2014/main" id="{3E19CD62-41DD-29B5-677C-E4233E9550BB}"/>
                </a:ext>
              </a:extLst>
            </p:cNvPr>
            <p:cNvGrpSpPr/>
            <p:nvPr/>
          </p:nvGrpSpPr>
          <p:grpSpPr>
            <a:xfrm>
              <a:off x="4651279" y="2115116"/>
              <a:ext cx="477641" cy="935114"/>
              <a:chOff x="959006" y="1391751"/>
              <a:chExt cx="412595" cy="959005"/>
            </a:xfrm>
          </p:grpSpPr>
          <p:sp>
            <p:nvSpPr>
              <p:cNvPr id="43" name="矩形 42">
                <a:extLst>
                  <a:ext uri="{FF2B5EF4-FFF2-40B4-BE49-F238E27FC236}">
                    <a16:creationId xmlns:a16="http://schemas.microsoft.com/office/drawing/2014/main" id="{C978AF1C-142D-A81C-D3E9-81BD2AB0D16C}"/>
                  </a:ext>
                </a:extLst>
              </p:cNvPr>
              <p:cNvSpPr/>
              <p:nvPr/>
            </p:nvSpPr>
            <p:spPr>
              <a:xfrm>
                <a:off x="959006" y="1391751"/>
                <a:ext cx="412595" cy="95900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4" name="箭號: 向下 43">
                <a:extLst>
                  <a:ext uri="{FF2B5EF4-FFF2-40B4-BE49-F238E27FC236}">
                    <a16:creationId xmlns:a16="http://schemas.microsoft.com/office/drawing/2014/main" id="{9D23B7E3-CC78-C85F-FA8B-E6D304AE7EEE}"/>
                  </a:ext>
                </a:extLst>
              </p:cNvPr>
              <p:cNvSpPr/>
              <p:nvPr/>
            </p:nvSpPr>
            <p:spPr>
              <a:xfrm rot="10800000">
                <a:off x="1062154" y="1536715"/>
                <a:ext cx="206297" cy="669073"/>
              </a:xfrm>
              <a:prstGeom prst="downArrow">
                <a:avLst/>
              </a:prstGeom>
              <a:solidFill>
                <a:srgbClr val="FF505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8" name="矩形 17">
              <a:extLst>
                <a:ext uri="{FF2B5EF4-FFF2-40B4-BE49-F238E27FC236}">
                  <a16:creationId xmlns:a16="http://schemas.microsoft.com/office/drawing/2014/main" id="{E47BC7E2-55B4-A151-FD7E-828E50BC4236}"/>
                </a:ext>
              </a:extLst>
            </p:cNvPr>
            <p:cNvSpPr/>
            <p:nvPr/>
          </p:nvSpPr>
          <p:spPr>
            <a:xfrm>
              <a:off x="2333088" y="2116426"/>
              <a:ext cx="477641" cy="935114"/>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9" name="群組 18">
              <a:extLst>
                <a:ext uri="{FF2B5EF4-FFF2-40B4-BE49-F238E27FC236}">
                  <a16:creationId xmlns:a16="http://schemas.microsoft.com/office/drawing/2014/main" id="{9041FB9F-EB2F-F8BC-EBCC-91A6FB05C240}"/>
                </a:ext>
              </a:extLst>
            </p:cNvPr>
            <p:cNvGrpSpPr/>
            <p:nvPr/>
          </p:nvGrpSpPr>
          <p:grpSpPr>
            <a:xfrm>
              <a:off x="1855447" y="2116426"/>
              <a:ext cx="879442" cy="935114"/>
              <a:chOff x="1371601" y="1391751"/>
              <a:chExt cx="759677" cy="959005"/>
            </a:xfrm>
          </p:grpSpPr>
          <p:sp>
            <p:nvSpPr>
              <p:cNvPr id="41" name="矩形 40">
                <a:extLst>
                  <a:ext uri="{FF2B5EF4-FFF2-40B4-BE49-F238E27FC236}">
                    <a16:creationId xmlns:a16="http://schemas.microsoft.com/office/drawing/2014/main" id="{79311442-4B5A-A2E9-8E71-674ABA64755F}"/>
                  </a:ext>
                </a:extLst>
              </p:cNvPr>
              <p:cNvSpPr/>
              <p:nvPr/>
            </p:nvSpPr>
            <p:spPr>
              <a:xfrm>
                <a:off x="1371601" y="1391751"/>
                <a:ext cx="412595" cy="959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箭號: 向下 41">
                <a:extLst>
                  <a:ext uri="{FF2B5EF4-FFF2-40B4-BE49-F238E27FC236}">
                    <a16:creationId xmlns:a16="http://schemas.microsoft.com/office/drawing/2014/main" id="{A4068E26-7DC6-16F6-D9DA-BA748A00327B}"/>
                  </a:ext>
                </a:extLst>
              </p:cNvPr>
              <p:cNvSpPr/>
              <p:nvPr/>
            </p:nvSpPr>
            <p:spPr>
              <a:xfrm>
                <a:off x="1425917" y="1536714"/>
                <a:ext cx="705361" cy="669073"/>
              </a:xfrm>
              <a:prstGeom prst="downArrow">
                <a:avLst/>
              </a:prstGeom>
              <a:solidFill>
                <a:srgbClr val="FF505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20" name="群組 19">
              <a:extLst>
                <a:ext uri="{FF2B5EF4-FFF2-40B4-BE49-F238E27FC236}">
                  <a16:creationId xmlns:a16="http://schemas.microsoft.com/office/drawing/2014/main" id="{85762DB5-BAA6-F906-1724-C442F721385A}"/>
                </a:ext>
              </a:extLst>
            </p:cNvPr>
            <p:cNvGrpSpPr/>
            <p:nvPr/>
          </p:nvGrpSpPr>
          <p:grpSpPr>
            <a:xfrm>
              <a:off x="422071" y="2110541"/>
              <a:ext cx="477641" cy="935114"/>
              <a:chOff x="959006" y="1391751"/>
              <a:chExt cx="412595" cy="959005"/>
            </a:xfrm>
          </p:grpSpPr>
          <p:sp>
            <p:nvSpPr>
              <p:cNvPr id="39" name="矩形 38">
                <a:extLst>
                  <a:ext uri="{FF2B5EF4-FFF2-40B4-BE49-F238E27FC236}">
                    <a16:creationId xmlns:a16="http://schemas.microsoft.com/office/drawing/2014/main" id="{06250D00-123F-4B94-BF95-4885A620C3D4}"/>
                  </a:ext>
                </a:extLst>
              </p:cNvPr>
              <p:cNvSpPr/>
              <p:nvPr/>
            </p:nvSpPr>
            <p:spPr>
              <a:xfrm>
                <a:off x="959006" y="1391751"/>
                <a:ext cx="412595" cy="95900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箭號: 向下 39">
                <a:extLst>
                  <a:ext uri="{FF2B5EF4-FFF2-40B4-BE49-F238E27FC236}">
                    <a16:creationId xmlns:a16="http://schemas.microsoft.com/office/drawing/2014/main" id="{7E57D8BA-3934-9708-8D9F-FCF447947EBC}"/>
                  </a:ext>
                </a:extLst>
              </p:cNvPr>
              <p:cNvSpPr/>
              <p:nvPr/>
            </p:nvSpPr>
            <p:spPr>
              <a:xfrm rot="10800000">
                <a:off x="1062154" y="1536715"/>
                <a:ext cx="206297" cy="669073"/>
              </a:xfrm>
              <a:prstGeom prst="downArrow">
                <a:avLst/>
              </a:prstGeom>
              <a:solidFill>
                <a:srgbClr val="FF505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21" name="群組 20">
              <a:extLst>
                <a:ext uri="{FF2B5EF4-FFF2-40B4-BE49-F238E27FC236}">
                  <a16:creationId xmlns:a16="http://schemas.microsoft.com/office/drawing/2014/main" id="{37CBFBB2-883F-E079-38C8-689F54A6CE7B}"/>
                </a:ext>
              </a:extLst>
            </p:cNvPr>
            <p:cNvGrpSpPr/>
            <p:nvPr/>
          </p:nvGrpSpPr>
          <p:grpSpPr>
            <a:xfrm>
              <a:off x="904034" y="2104656"/>
              <a:ext cx="477641" cy="935114"/>
              <a:chOff x="1371601" y="1391751"/>
              <a:chExt cx="412595" cy="959005"/>
            </a:xfrm>
          </p:grpSpPr>
          <p:sp>
            <p:nvSpPr>
              <p:cNvPr id="37" name="矩形 36">
                <a:extLst>
                  <a:ext uri="{FF2B5EF4-FFF2-40B4-BE49-F238E27FC236}">
                    <a16:creationId xmlns:a16="http://schemas.microsoft.com/office/drawing/2014/main" id="{8E4AC216-F1E3-6171-5BBB-B8BC47CD0413}"/>
                  </a:ext>
                </a:extLst>
              </p:cNvPr>
              <p:cNvSpPr/>
              <p:nvPr/>
            </p:nvSpPr>
            <p:spPr>
              <a:xfrm>
                <a:off x="1371601" y="1391751"/>
                <a:ext cx="412595" cy="959005"/>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箭號: 向下 37">
                <a:extLst>
                  <a:ext uri="{FF2B5EF4-FFF2-40B4-BE49-F238E27FC236}">
                    <a16:creationId xmlns:a16="http://schemas.microsoft.com/office/drawing/2014/main" id="{3CA253EE-A69E-15A5-AD4A-E79AF3C9ECDF}"/>
                  </a:ext>
                </a:extLst>
              </p:cNvPr>
              <p:cNvSpPr/>
              <p:nvPr/>
            </p:nvSpPr>
            <p:spPr>
              <a:xfrm>
                <a:off x="1474749" y="1536716"/>
                <a:ext cx="206297" cy="669073"/>
              </a:xfrm>
              <a:prstGeom prst="downArrow">
                <a:avLst/>
              </a:prstGeom>
              <a:solidFill>
                <a:srgbClr val="FF505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22" name="群組 21">
              <a:extLst>
                <a:ext uri="{FF2B5EF4-FFF2-40B4-BE49-F238E27FC236}">
                  <a16:creationId xmlns:a16="http://schemas.microsoft.com/office/drawing/2014/main" id="{1C50F1FE-34A9-5A52-4C3A-AE3379702B07}"/>
                </a:ext>
              </a:extLst>
            </p:cNvPr>
            <p:cNvGrpSpPr/>
            <p:nvPr/>
          </p:nvGrpSpPr>
          <p:grpSpPr>
            <a:xfrm>
              <a:off x="1373086" y="2108625"/>
              <a:ext cx="477641" cy="935114"/>
              <a:chOff x="959006" y="1391751"/>
              <a:chExt cx="412595" cy="959005"/>
            </a:xfrm>
          </p:grpSpPr>
          <p:sp>
            <p:nvSpPr>
              <p:cNvPr id="35" name="矩形 34">
                <a:extLst>
                  <a:ext uri="{FF2B5EF4-FFF2-40B4-BE49-F238E27FC236}">
                    <a16:creationId xmlns:a16="http://schemas.microsoft.com/office/drawing/2014/main" id="{8B64458F-7D87-9C82-9555-046CB67966A7}"/>
                  </a:ext>
                </a:extLst>
              </p:cNvPr>
              <p:cNvSpPr/>
              <p:nvPr/>
            </p:nvSpPr>
            <p:spPr>
              <a:xfrm>
                <a:off x="959006" y="1391751"/>
                <a:ext cx="412595" cy="95900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箭號: 向下 35">
                <a:extLst>
                  <a:ext uri="{FF2B5EF4-FFF2-40B4-BE49-F238E27FC236}">
                    <a16:creationId xmlns:a16="http://schemas.microsoft.com/office/drawing/2014/main" id="{4B6A3E5A-DE6C-E8FA-BE91-0A350A8E9F92}"/>
                  </a:ext>
                </a:extLst>
              </p:cNvPr>
              <p:cNvSpPr/>
              <p:nvPr/>
            </p:nvSpPr>
            <p:spPr>
              <a:xfrm rot="10800000">
                <a:off x="1062154" y="1536715"/>
                <a:ext cx="206297" cy="669073"/>
              </a:xfrm>
              <a:prstGeom prst="downArrow">
                <a:avLst/>
              </a:prstGeom>
              <a:solidFill>
                <a:srgbClr val="FF505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23" name="矩形 22">
              <a:extLst>
                <a:ext uri="{FF2B5EF4-FFF2-40B4-BE49-F238E27FC236}">
                  <a16:creationId xmlns:a16="http://schemas.microsoft.com/office/drawing/2014/main" id="{EAB8D92F-F34E-3705-ACA5-4D0E8F683FD5}"/>
                </a:ext>
              </a:extLst>
            </p:cNvPr>
            <p:cNvSpPr/>
            <p:nvPr/>
          </p:nvSpPr>
          <p:spPr>
            <a:xfrm>
              <a:off x="3754227" y="2122943"/>
              <a:ext cx="893854" cy="935114"/>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800" dirty="0">
                  <a:solidFill>
                    <a:schemeClr val="tx1"/>
                  </a:solidFill>
                </a:rPr>
                <a:t>…..</a:t>
              </a:r>
              <a:endParaRPr lang="zh-TW" altLang="en-US" sz="2800" dirty="0">
                <a:solidFill>
                  <a:schemeClr val="tx1"/>
                </a:solidFill>
              </a:endParaRPr>
            </a:p>
          </p:txBody>
        </p:sp>
        <p:sp>
          <p:nvSpPr>
            <p:cNvPr id="24" name="箭號: 向下 23">
              <a:extLst>
                <a:ext uri="{FF2B5EF4-FFF2-40B4-BE49-F238E27FC236}">
                  <a16:creationId xmlns:a16="http://schemas.microsoft.com/office/drawing/2014/main" id="{BB03EA61-2278-E6CF-4548-0B03788D552E}"/>
                </a:ext>
              </a:extLst>
            </p:cNvPr>
            <p:cNvSpPr/>
            <p:nvPr/>
          </p:nvSpPr>
          <p:spPr>
            <a:xfrm>
              <a:off x="2914030" y="3034301"/>
              <a:ext cx="238820" cy="652404"/>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6E4B81BE-9543-2A3C-703A-9BA5A9AB2237}"/>
                    </a:ext>
                  </a:extLst>
                </p:cNvPr>
                <p:cNvSpPr txBox="1"/>
                <p:nvPr/>
              </p:nvSpPr>
              <p:spPr>
                <a:xfrm>
                  <a:off x="440604" y="3462405"/>
                  <a:ext cx="378842" cy="234384"/>
                </a:xfrm>
                <a:prstGeom prst="rect">
                  <a:avLst/>
                </a:prstGeom>
                <a:noFill/>
              </p:spPr>
              <p:txBody>
                <a:bodyPr wrap="none" rtlCol="0">
                  <a:spAutoFit/>
                </a:bodyPr>
                <a:lstStyle/>
                <a:p>
                  <a14:m>
                    <m:oMath xmlns:m="http://schemas.openxmlformats.org/officeDocument/2006/math">
                      <m:r>
                        <a:rPr lang="en-US" altLang="zh-TW" sz="1200" b="0" i="1" dirty="0" smtClean="0">
                          <a:latin typeface="Cambria Math" panose="02040503050406030204" pitchFamily="18" charset="0"/>
                        </a:rPr>
                        <m:t>0</m:t>
                      </m:r>
                    </m:oMath>
                  </a14:m>
                  <a:r>
                    <a:rPr lang="en-US" altLang="zh-TW" sz="1200" dirty="0"/>
                    <a:t>th</a:t>
                  </a:r>
                  <a:endParaRPr lang="zh-TW" altLang="en-US" sz="1200" dirty="0"/>
                </a:p>
              </p:txBody>
            </p:sp>
          </mc:Choice>
          <mc:Fallback xmlns="">
            <p:sp>
              <p:nvSpPr>
                <p:cNvPr id="25" name="文字方塊 24">
                  <a:extLst>
                    <a:ext uri="{FF2B5EF4-FFF2-40B4-BE49-F238E27FC236}">
                      <a16:creationId xmlns:a16="http://schemas.microsoft.com/office/drawing/2014/main" id="{6E4B81BE-9543-2A3C-703A-9BA5A9AB2237}"/>
                    </a:ext>
                  </a:extLst>
                </p:cNvPr>
                <p:cNvSpPr txBox="1">
                  <a:spLocks noRot="1" noChangeAspect="1" noMove="1" noResize="1" noEditPoints="1" noAdjustHandles="1" noChangeArrowheads="1" noChangeShapeType="1" noTextEdit="1"/>
                </p:cNvSpPr>
                <p:nvPr/>
              </p:nvSpPr>
              <p:spPr>
                <a:xfrm>
                  <a:off x="440604" y="3462405"/>
                  <a:ext cx="378842" cy="234384"/>
                </a:xfrm>
                <a:prstGeom prst="rect">
                  <a:avLst/>
                </a:prstGeom>
                <a:blipFill>
                  <a:blip r:embed="rId12"/>
                  <a:stretch>
                    <a:fillRect t="-2632" r="-6452" b="-3947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D488413C-C011-9830-81D6-4EDAF0F19489}"/>
                    </a:ext>
                  </a:extLst>
                </p:cNvPr>
                <p:cNvSpPr txBox="1"/>
                <p:nvPr/>
              </p:nvSpPr>
              <p:spPr>
                <a:xfrm>
                  <a:off x="899712" y="3464305"/>
                  <a:ext cx="428264" cy="23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1200" i="1" dirty="0" smtClean="0">
                            <a:latin typeface="Cambria Math" panose="02040503050406030204" pitchFamily="18" charset="0"/>
                          </a:rPr>
                          <m:t>1</m:t>
                        </m:r>
                        <m:r>
                          <a:rPr lang="en-US" altLang="zh-TW" sz="1200" b="0" i="1" dirty="0" smtClean="0">
                            <a:latin typeface="Cambria Math" panose="02040503050406030204" pitchFamily="18" charset="0"/>
                          </a:rPr>
                          <m:t>𝑡h</m:t>
                        </m:r>
                      </m:oMath>
                    </m:oMathPara>
                  </a14:m>
                  <a:endParaRPr lang="zh-TW" altLang="en-US" sz="1200" dirty="0"/>
                </a:p>
              </p:txBody>
            </p:sp>
          </mc:Choice>
          <mc:Fallback xmlns="">
            <p:sp>
              <p:nvSpPr>
                <p:cNvPr id="26" name="文字方塊 25">
                  <a:extLst>
                    <a:ext uri="{FF2B5EF4-FFF2-40B4-BE49-F238E27FC236}">
                      <a16:creationId xmlns:a16="http://schemas.microsoft.com/office/drawing/2014/main" id="{D488413C-C011-9830-81D6-4EDAF0F19489}"/>
                    </a:ext>
                  </a:extLst>
                </p:cNvPr>
                <p:cNvSpPr txBox="1">
                  <a:spLocks noRot="1" noChangeAspect="1" noMove="1" noResize="1" noEditPoints="1" noAdjustHandles="1" noChangeArrowheads="1" noChangeShapeType="1" noTextEdit="1"/>
                </p:cNvSpPr>
                <p:nvPr/>
              </p:nvSpPr>
              <p:spPr>
                <a:xfrm>
                  <a:off x="899712" y="3464305"/>
                  <a:ext cx="428264" cy="234384"/>
                </a:xfrm>
                <a:prstGeom prst="rect">
                  <a:avLst/>
                </a:prstGeom>
                <a:blipFill>
                  <a:blip r:embed="rId13"/>
                  <a:stretch>
                    <a:fillRect b="-2564"/>
                  </a:stretch>
                </a:blipFill>
              </p:spPr>
              <p:txBody>
                <a:bodyPr/>
                <a:lstStyle/>
                <a:p>
                  <a:r>
                    <a:rPr lang="zh-TW" altLang="en-US">
                      <a:noFill/>
                    </a:rPr>
                    <a:t> </a:t>
                  </a:r>
                </a:p>
              </p:txBody>
            </p:sp>
          </mc:Fallback>
        </mc:AlternateContent>
        <p:sp>
          <p:nvSpPr>
            <p:cNvPr id="27" name="箭號: 向下 26">
              <a:extLst>
                <a:ext uri="{FF2B5EF4-FFF2-40B4-BE49-F238E27FC236}">
                  <a16:creationId xmlns:a16="http://schemas.microsoft.com/office/drawing/2014/main" id="{826A3D9F-3FC0-AEAE-9C30-86251567A81A}"/>
                </a:ext>
              </a:extLst>
            </p:cNvPr>
            <p:cNvSpPr/>
            <p:nvPr/>
          </p:nvSpPr>
          <p:spPr>
            <a:xfrm>
              <a:off x="541479" y="3059538"/>
              <a:ext cx="86243" cy="34432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箭號: 向下 27">
              <a:extLst>
                <a:ext uri="{FF2B5EF4-FFF2-40B4-BE49-F238E27FC236}">
                  <a16:creationId xmlns:a16="http://schemas.microsoft.com/office/drawing/2014/main" id="{884DC637-AE77-F784-FB11-625E6182CE58}"/>
                </a:ext>
              </a:extLst>
            </p:cNvPr>
            <p:cNvSpPr/>
            <p:nvPr/>
          </p:nvSpPr>
          <p:spPr>
            <a:xfrm>
              <a:off x="1090328" y="3068339"/>
              <a:ext cx="86243" cy="34432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箭號: 向下 28">
              <a:extLst>
                <a:ext uri="{FF2B5EF4-FFF2-40B4-BE49-F238E27FC236}">
                  <a16:creationId xmlns:a16="http://schemas.microsoft.com/office/drawing/2014/main" id="{6ABA8515-7D37-3A9D-C7D3-6AAD4488E21D}"/>
                </a:ext>
              </a:extLst>
            </p:cNvPr>
            <p:cNvSpPr/>
            <p:nvPr/>
          </p:nvSpPr>
          <p:spPr>
            <a:xfrm rot="12744619">
              <a:off x="3143580" y="1654382"/>
              <a:ext cx="91225" cy="48974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0" name="文字方塊 29">
                  <a:extLst>
                    <a:ext uri="{FF2B5EF4-FFF2-40B4-BE49-F238E27FC236}">
                      <a16:creationId xmlns:a16="http://schemas.microsoft.com/office/drawing/2014/main" id="{5C2734A7-668A-0661-5D66-C24BF9795D66}"/>
                    </a:ext>
                  </a:extLst>
                </p:cNvPr>
                <p:cNvSpPr txBox="1"/>
                <p:nvPr/>
              </p:nvSpPr>
              <p:spPr>
                <a:xfrm>
                  <a:off x="3231602" y="1484127"/>
                  <a:ext cx="401009" cy="23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1200" i="1" dirty="0" smtClean="0">
                            <a:latin typeface="Cambria Math" panose="02040503050406030204" pitchFamily="18" charset="0"/>
                          </a:rPr>
                          <m:t>𝑗𝑡</m:t>
                        </m:r>
                        <m:r>
                          <a:rPr lang="en-US" altLang="zh-TW" sz="1200" b="0" i="1" dirty="0" smtClean="0">
                            <a:latin typeface="Cambria Math" panose="02040503050406030204" pitchFamily="18" charset="0"/>
                          </a:rPr>
                          <m:t>h</m:t>
                        </m:r>
                      </m:oMath>
                    </m:oMathPara>
                  </a14:m>
                  <a:endParaRPr lang="zh-TW" altLang="en-US" sz="1200" dirty="0"/>
                </a:p>
              </p:txBody>
            </p:sp>
          </mc:Choice>
          <mc:Fallback xmlns="">
            <p:sp>
              <p:nvSpPr>
                <p:cNvPr id="30" name="文字方塊 29">
                  <a:extLst>
                    <a:ext uri="{FF2B5EF4-FFF2-40B4-BE49-F238E27FC236}">
                      <a16:creationId xmlns:a16="http://schemas.microsoft.com/office/drawing/2014/main" id="{5C2734A7-668A-0661-5D66-C24BF9795D66}"/>
                    </a:ext>
                  </a:extLst>
                </p:cNvPr>
                <p:cNvSpPr txBox="1">
                  <a:spLocks noRot="1" noChangeAspect="1" noMove="1" noResize="1" noEditPoints="1" noAdjustHandles="1" noChangeArrowheads="1" noChangeShapeType="1" noTextEdit="1"/>
                </p:cNvSpPr>
                <p:nvPr/>
              </p:nvSpPr>
              <p:spPr>
                <a:xfrm>
                  <a:off x="3231602" y="1484127"/>
                  <a:ext cx="401009" cy="234384"/>
                </a:xfrm>
                <a:prstGeom prst="rect">
                  <a:avLst/>
                </a:prstGeom>
                <a:blipFill>
                  <a:blip r:embed="rId14"/>
                  <a:stretch>
                    <a:fillRect b="-20513"/>
                  </a:stretch>
                </a:blipFill>
              </p:spPr>
              <p:txBody>
                <a:bodyPr/>
                <a:lstStyle/>
                <a:p>
                  <a:r>
                    <a:rPr lang="zh-TW" altLang="en-US">
                      <a:noFill/>
                    </a:rPr>
                    <a:t> </a:t>
                  </a:r>
                </a:p>
              </p:txBody>
            </p:sp>
          </mc:Fallback>
        </mc:AlternateContent>
        <p:sp>
          <p:nvSpPr>
            <p:cNvPr id="31" name="箭號: 向下 30">
              <a:extLst>
                <a:ext uri="{FF2B5EF4-FFF2-40B4-BE49-F238E27FC236}">
                  <a16:creationId xmlns:a16="http://schemas.microsoft.com/office/drawing/2014/main" id="{1FD8CD82-7082-9475-EACF-65EA4EC03D14}"/>
                </a:ext>
              </a:extLst>
            </p:cNvPr>
            <p:cNvSpPr/>
            <p:nvPr/>
          </p:nvSpPr>
          <p:spPr>
            <a:xfrm rot="12744619">
              <a:off x="3680285" y="1636934"/>
              <a:ext cx="91225" cy="48974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2" name="文字方塊 31">
                  <a:extLst>
                    <a:ext uri="{FF2B5EF4-FFF2-40B4-BE49-F238E27FC236}">
                      <a16:creationId xmlns:a16="http://schemas.microsoft.com/office/drawing/2014/main" id="{CA6F7DE8-9992-28FF-F9BF-2C551B523145}"/>
                    </a:ext>
                  </a:extLst>
                </p:cNvPr>
                <p:cNvSpPr txBox="1"/>
                <p:nvPr/>
              </p:nvSpPr>
              <p:spPr>
                <a:xfrm>
                  <a:off x="3646151" y="1447267"/>
                  <a:ext cx="778457" cy="23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1200" b="0" i="1" dirty="0" smtClean="0">
                            <a:latin typeface="Cambria Math" panose="02040503050406030204" pitchFamily="18" charset="0"/>
                          </a:rPr>
                          <m:t>(</m:t>
                        </m:r>
                        <m:r>
                          <a:rPr lang="en-US" altLang="zh-TW" sz="1200" i="1" dirty="0" smtClean="0">
                            <a:latin typeface="Cambria Math" panose="02040503050406030204" pitchFamily="18" charset="0"/>
                          </a:rPr>
                          <m:t>𝑗</m:t>
                        </m:r>
                        <m:r>
                          <a:rPr lang="en-US" altLang="zh-TW" sz="1200" b="0" i="1" dirty="0" smtClean="0">
                            <a:latin typeface="Cambria Math" panose="02040503050406030204" pitchFamily="18" charset="0"/>
                          </a:rPr>
                          <m:t>+1)</m:t>
                        </m:r>
                        <m:r>
                          <a:rPr lang="en-US" altLang="zh-TW" sz="1200" i="1" dirty="0" smtClean="0">
                            <a:latin typeface="Cambria Math" panose="02040503050406030204" pitchFamily="18" charset="0"/>
                          </a:rPr>
                          <m:t>𝑡</m:t>
                        </m:r>
                        <m:r>
                          <a:rPr lang="en-US" altLang="zh-TW" sz="1200" b="0" i="1" dirty="0" smtClean="0">
                            <a:latin typeface="Cambria Math" panose="02040503050406030204" pitchFamily="18" charset="0"/>
                          </a:rPr>
                          <m:t>h</m:t>
                        </m:r>
                      </m:oMath>
                    </m:oMathPara>
                  </a14:m>
                  <a:endParaRPr lang="zh-TW" altLang="en-US" sz="1200" dirty="0"/>
                </a:p>
              </p:txBody>
            </p:sp>
          </mc:Choice>
          <mc:Fallback xmlns="">
            <p:sp>
              <p:nvSpPr>
                <p:cNvPr id="32" name="文字方塊 31">
                  <a:extLst>
                    <a:ext uri="{FF2B5EF4-FFF2-40B4-BE49-F238E27FC236}">
                      <a16:creationId xmlns:a16="http://schemas.microsoft.com/office/drawing/2014/main" id="{CA6F7DE8-9992-28FF-F9BF-2C551B523145}"/>
                    </a:ext>
                  </a:extLst>
                </p:cNvPr>
                <p:cNvSpPr txBox="1">
                  <a:spLocks noRot="1" noChangeAspect="1" noMove="1" noResize="1" noEditPoints="1" noAdjustHandles="1" noChangeArrowheads="1" noChangeShapeType="1" noTextEdit="1"/>
                </p:cNvSpPr>
                <p:nvPr/>
              </p:nvSpPr>
              <p:spPr>
                <a:xfrm>
                  <a:off x="3646151" y="1447267"/>
                  <a:ext cx="778457" cy="234384"/>
                </a:xfrm>
                <a:prstGeom prst="rect">
                  <a:avLst/>
                </a:prstGeom>
                <a:blipFill>
                  <a:blip r:embed="rId15"/>
                  <a:stretch>
                    <a:fillRect b="-25641"/>
                  </a:stretch>
                </a:blipFill>
              </p:spPr>
              <p:txBody>
                <a:bodyPr/>
                <a:lstStyle/>
                <a:p>
                  <a:r>
                    <a:rPr lang="zh-TW" altLang="en-US">
                      <a:noFill/>
                    </a:rPr>
                    <a:t> </a:t>
                  </a:r>
                </a:p>
              </p:txBody>
            </p:sp>
          </mc:Fallback>
        </mc:AlternateContent>
        <p:sp>
          <p:nvSpPr>
            <p:cNvPr id="33" name="箭號: 向下 32">
              <a:extLst>
                <a:ext uri="{FF2B5EF4-FFF2-40B4-BE49-F238E27FC236}">
                  <a16:creationId xmlns:a16="http://schemas.microsoft.com/office/drawing/2014/main" id="{D94DEAF2-445F-E8E3-C9E2-23E3045A385F}"/>
                </a:ext>
              </a:extLst>
            </p:cNvPr>
            <p:cNvSpPr/>
            <p:nvPr/>
          </p:nvSpPr>
          <p:spPr>
            <a:xfrm rot="10800000">
              <a:off x="2490482" y="1681650"/>
              <a:ext cx="91553" cy="39892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FBF55802-8740-7662-FF4E-67CD68C9C061}"/>
                    </a:ext>
                  </a:extLst>
                </p:cNvPr>
                <p:cNvSpPr txBox="1"/>
                <p:nvPr/>
              </p:nvSpPr>
              <p:spPr>
                <a:xfrm>
                  <a:off x="2174838" y="1439465"/>
                  <a:ext cx="778457" cy="23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1200" b="0" i="1" dirty="0" smtClean="0">
                            <a:latin typeface="Cambria Math" panose="02040503050406030204" pitchFamily="18" charset="0"/>
                          </a:rPr>
                          <m:t>(</m:t>
                        </m:r>
                        <m:r>
                          <a:rPr lang="en-US" altLang="zh-TW" sz="1200" i="1" dirty="0" smtClean="0">
                            <a:latin typeface="Cambria Math" panose="02040503050406030204" pitchFamily="18" charset="0"/>
                          </a:rPr>
                          <m:t>𝑗</m:t>
                        </m:r>
                        <m:r>
                          <a:rPr lang="en-US" altLang="zh-TW" sz="1200" b="0" i="1" dirty="0" smtClean="0">
                            <a:latin typeface="Cambria Math" panose="02040503050406030204" pitchFamily="18" charset="0"/>
                          </a:rPr>
                          <m:t>−1)</m:t>
                        </m:r>
                        <m:r>
                          <a:rPr lang="en-US" altLang="zh-TW" sz="1200" i="1" dirty="0" smtClean="0">
                            <a:latin typeface="Cambria Math" panose="02040503050406030204" pitchFamily="18" charset="0"/>
                          </a:rPr>
                          <m:t>𝑡</m:t>
                        </m:r>
                        <m:r>
                          <a:rPr lang="en-US" altLang="zh-TW" sz="1200" b="0" i="1" dirty="0" smtClean="0">
                            <a:latin typeface="Cambria Math" panose="02040503050406030204" pitchFamily="18" charset="0"/>
                          </a:rPr>
                          <m:t>h</m:t>
                        </m:r>
                      </m:oMath>
                    </m:oMathPara>
                  </a14:m>
                  <a:endParaRPr lang="zh-TW" altLang="en-US" sz="1200" dirty="0"/>
                </a:p>
              </p:txBody>
            </p:sp>
          </mc:Choice>
          <mc:Fallback xmlns="">
            <p:sp>
              <p:nvSpPr>
                <p:cNvPr id="34" name="文字方塊 33">
                  <a:extLst>
                    <a:ext uri="{FF2B5EF4-FFF2-40B4-BE49-F238E27FC236}">
                      <a16:creationId xmlns:a16="http://schemas.microsoft.com/office/drawing/2014/main" id="{FBF55802-8740-7662-FF4E-67CD68C9C061}"/>
                    </a:ext>
                  </a:extLst>
                </p:cNvPr>
                <p:cNvSpPr txBox="1">
                  <a:spLocks noRot="1" noChangeAspect="1" noMove="1" noResize="1" noEditPoints="1" noAdjustHandles="1" noChangeArrowheads="1" noChangeShapeType="1" noTextEdit="1"/>
                </p:cNvSpPr>
                <p:nvPr/>
              </p:nvSpPr>
              <p:spPr>
                <a:xfrm>
                  <a:off x="2174838" y="1439465"/>
                  <a:ext cx="778457" cy="234384"/>
                </a:xfrm>
                <a:prstGeom prst="rect">
                  <a:avLst/>
                </a:prstGeom>
                <a:blipFill>
                  <a:blip r:embed="rId16"/>
                  <a:stretch>
                    <a:fillRect b="-25641"/>
                  </a:stretch>
                </a:blipFill>
              </p:spPr>
              <p:txBody>
                <a:bodyPr/>
                <a:lstStyle/>
                <a:p>
                  <a:r>
                    <a:rPr lang="zh-TW" altLang="en-US">
                      <a:noFill/>
                    </a:rPr>
                    <a:t> </a:t>
                  </a:r>
                </a:p>
              </p:txBody>
            </p:sp>
          </mc:Fallback>
        </mc:AlternateContent>
      </p:grpSp>
      <p:sp>
        <p:nvSpPr>
          <p:cNvPr id="59" name="箭號: 向右 58">
            <a:extLst>
              <a:ext uri="{FF2B5EF4-FFF2-40B4-BE49-F238E27FC236}">
                <a16:creationId xmlns:a16="http://schemas.microsoft.com/office/drawing/2014/main" id="{C1067243-58B8-525D-6CDD-1F723AE6E9E9}"/>
              </a:ext>
            </a:extLst>
          </p:cNvPr>
          <p:cNvSpPr/>
          <p:nvPr/>
        </p:nvSpPr>
        <p:spPr>
          <a:xfrm>
            <a:off x="5549982" y="5472675"/>
            <a:ext cx="2320147" cy="65240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0" name="文字方塊 59">
            <a:extLst>
              <a:ext uri="{FF2B5EF4-FFF2-40B4-BE49-F238E27FC236}">
                <a16:creationId xmlns:a16="http://schemas.microsoft.com/office/drawing/2014/main" id="{E69E9C4B-6493-C0AE-DF77-3B460C601A65}"/>
              </a:ext>
            </a:extLst>
          </p:cNvPr>
          <p:cNvSpPr txBox="1"/>
          <p:nvPr/>
        </p:nvSpPr>
        <p:spPr>
          <a:xfrm>
            <a:off x="5537816" y="5265668"/>
            <a:ext cx="1996124" cy="369332"/>
          </a:xfrm>
          <a:prstGeom prst="rect">
            <a:avLst/>
          </a:prstGeom>
          <a:noFill/>
        </p:spPr>
        <p:txBody>
          <a:bodyPr wrap="none" rtlCol="0">
            <a:spAutoFit/>
          </a:bodyPr>
          <a:lstStyle/>
          <a:p>
            <a:r>
              <a:rPr lang="en-US" altLang="zh-TW" dirty="0"/>
              <a:t>Set initial condition</a:t>
            </a:r>
            <a:endParaRPr lang="zh-TW" altLang="en-US" dirty="0"/>
          </a:p>
        </p:txBody>
      </p:sp>
      <p:sp>
        <p:nvSpPr>
          <p:cNvPr id="61" name="文字方塊 60">
            <a:extLst>
              <a:ext uri="{FF2B5EF4-FFF2-40B4-BE49-F238E27FC236}">
                <a16:creationId xmlns:a16="http://schemas.microsoft.com/office/drawing/2014/main" id="{EEA2B31F-4BA8-9CC8-6065-90B336C69CE0}"/>
              </a:ext>
            </a:extLst>
          </p:cNvPr>
          <p:cNvSpPr txBox="1"/>
          <p:nvPr/>
        </p:nvSpPr>
        <p:spPr>
          <a:xfrm>
            <a:off x="7856760" y="4929934"/>
            <a:ext cx="2904257" cy="369332"/>
          </a:xfrm>
          <a:prstGeom prst="rect">
            <a:avLst/>
          </a:prstGeom>
          <a:noFill/>
        </p:spPr>
        <p:txBody>
          <a:bodyPr wrap="none" rtlCol="0">
            <a:spAutoFit/>
          </a:bodyPr>
          <a:lstStyle/>
          <a:p>
            <a:r>
              <a:rPr lang="en-US" altLang="zh-TW" u="sng" dirty="0"/>
              <a:t>Set structure initial condition</a:t>
            </a:r>
            <a:endParaRPr lang="zh-TW" altLang="en-US" u="sng" dirty="0"/>
          </a:p>
        </p:txBody>
      </p:sp>
      <p:sp>
        <p:nvSpPr>
          <p:cNvPr id="62" name="矩形 61">
            <a:extLst>
              <a:ext uri="{FF2B5EF4-FFF2-40B4-BE49-F238E27FC236}">
                <a16:creationId xmlns:a16="http://schemas.microsoft.com/office/drawing/2014/main" id="{514301CA-256D-C7D0-76E4-37725B716F6E}"/>
              </a:ext>
            </a:extLst>
          </p:cNvPr>
          <p:cNvSpPr/>
          <p:nvPr/>
        </p:nvSpPr>
        <p:spPr>
          <a:xfrm>
            <a:off x="5841058" y="6473900"/>
            <a:ext cx="4771884" cy="276999"/>
          </a:xfrm>
          <a:prstGeom prst="rect">
            <a:avLst/>
          </a:prstGeom>
        </p:spPr>
        <p:txBody>
          <a:bodyPr wrap="none">
            <a:spAutoFit/>
          </a:bodyPr>
          <a:lstStyle/>
          <a:p>
            <a:r>
              <a:rPr lang="en-US" altLang="zh-TW" sz="1200" i="1" dirty="0">
                <a:latin typeface="Times New Roman" panose="02020603050405020304" pitchFamily="18" charset="0"/>
                <a:cs typeface="Times New Roman" panose="02020603050405020304" pitchFamily="18" charset="0"/>
              </a:rPr>
              <a:t>Lin, C. H.,</a:t>
            </a:r>
            <a:r>
              <a:rPr lang="zh-TW" altLang="en-US" sz="1200" i="1" dirty="0">
                <a:latin typeface="Times New Roman" panose="02020603050405020304" pitchFamily="18" charset="0"/>
                <a:cs typeface="Times New Roman" panose="02020603050405020304" pitchFamily="18" charset="0"/>
              </a:rPr>
              <a:t> </a:t>
            </a:r>
            <a:r>
              <a:rPr lang="en-US" altLang="zh-TW" sz="1200" i="1" dirty="0">
                <a:latin typeface="Times New Roman" panose="02020603050405020304" pitchFamily="18" charset="0"/>
                <a:cs typeface="Times New Roman" panose="02020603050405020304" pitchFamily="18" charset="0"/>
              </a:rPr>
              <a:t>Y. H. Chen, et al, Optics express 15.15, p. 9859~9866, (2007) </a:t>
            </a:r>
            <a:endParaRPr lang="zh-TW" altLang="en-US" sz="1200" i="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4" name="文字方塊 63">
                <a:extLst>
                  <a:ext uri="{FF2B5EF4-FFF2-40B4-BE49-F238E27FC236}">
                    <a16:creationId xmlns:a16="http://schemas.microsoft.com/office/drawing/2014/main" id="{06C4A424-6E78-33DF-4A4A-E71796656BCD}"/>
                  </a:ext>
                </a:extLst>
              </p:cNvPr>
              <p:cNvSpPr txBox="1"/>
              <p:nvPr/>
            </p:nvSpPr>
            <p:spPr>
              <a:xfrm>
                <a:off x="10286881" y="5065325"/>
                <a:ext cx="1472999" cy="1082925"/>
              </a:xfrm>
              <a:prstGeom prst="rect">
                <a:avLst/>
              </a:prstGeom>
              <a:noFill/>
            </p:spPr>
            <p:txBody>
              <a:bodyPr wrap="square">
                <a:spAutoFit/>
              </a:bodyPr>
              <a:lstStyle/>
              <a:p>
                <a:pPr>
                  <a:lnSpc>
                    <a:spcPct val="200000"/>
                  </a:lnSpc>
                </a:pPr>
                <a:r>
                  <a:rPr lang="en-US"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T = </a:t>
                </a:r>
                <a14:m>
                  <m:oMath xmlns:m="http://schemas.openxmlformats.org/officeDocument/2006/math">
                    <m:sSup>
                      <m:sSupPr>
                        <m:ctrlPr>
                          <a:rPr lang="zh-TW" altLang="zh-TW" sz="1800" i="1" kern="0">
                            <a:effectLst/>
                            <a:latin typeface="Cambria Math" panose="02040503050406030204" pitchFamily="18" charset="0"/>
                            <a:ea typeface="Cambria Math" panose="02040503050406030204" pitchFamily="18" charset="0"/>
                            <a:cs typeface="新細明體" panose="02020500000000000000" pitchFamily="18" charset="-120"/>
                          </a:rPr>
                        </m:ctrlPr>
                      </m:sSupPr>
                      <m:e>
                        <m:d>
                          <m:dPr>
                            <m:begChr m:val="|"/>
                            <m:endChr m:val="|"/>
                            <m:ctrlPr>
                              <a:rPr lang="zh-TW" altLang="zh-TW" sz="1800" i="1" kern="0">
                                <a:effectLst/>
                                <a:latin typeface="Cambria Math" panose="02040503050406030204" pitchFamily="18" charset="0"/>
                                <a:ea typeface="Cambria Math" panose="02040503050406030204" pitchFamily="18" charset="0"/>
                                <a:cs typeface="新細明體" panose="02020500000000000000" pitchFamily="18" charset="-120"/>
                              </a:rPr>
                            </m:ctrlPr>
                          </m:dPr>
                          <m:e>
                            <m:f>
                              <m:fPr>
                                <m:ctrlPr>
                                  <a:rPr lang="zh-TW" altLang="zh-TW" sz="1800" i="1" kern="0">
                                    <a:effectLst/>
                                    <a:latin typeface="Cambria Math" panose="02040503050406030204" pitchFamily="18" charset="0"/>
                                    <a:ea typeface="Cambria Math" panose="02040503050406030204" pitchFamily="18" charset="0"/>
                                    <a:cs typeface="新細明體" panose="02020500000000000000" pitchFamily="18" charset="-120"/>
                                  </a:rPr>
                                </m:ctrlPr>
                              </m:fPr>
                              <m:num>
                                <m:sSub>
                                  <m:sSubPr>
                                    <m:ctrlPr>
                                      <a:rPr lang="zh-TW" altLang="zh-TW" sz="1800" i="1" kern="0">
                                        <a:effectLst/>
                                        <a:latin typeface="Cambria Math" panose="02040503050406030204" pitchFamily="18" charset="0"/>
                                        <a:ea typeface="Cambria Math" panose="02040503050406030204" pitchFamily="18" charset="0"/>
                                        <a:cs typeface="新細明體" panose="02020500000000000000" pitchFamily="18" charset="-120"/>
                                      </a:rPr>
                                    </m:ctrlPr>
                                  </m:sSubPr>
                                  <m:e>
                                    <m:r>
                                      <a:rPr lang="en-US" altLang="zh-TW" sz="1800" i="1" kern="0">
                                        <a:effectLst/>
                                        <a:latin typeface="Cambria Math" panose="02040503050406030204" pitchFamily="18" charset="0"/>
                                        <a:ea typeface="標楷體" panose="03000509000000000000" pitchFamily="65" charset="-120"/>
                                        <a:cs typeface="新細明體" panose="02020500000000000000" pitchFamily="18" charset="-120"/>
                                      </a:rPr>
                                      <m:t>𝐴</m:t>
                                    </m:r>
                                  </m:e>
                                  <m:sub>
                                    <m:r>
                                      <a:rPr lang="en-US" altLang="zh-TW" sz="1800" b="0" i="1" kern="0" smtClean="0">
                                        <a:effectLst/>
                                        <a:latin typeface="Cambria Math" panose="02040503050406030204" pitchFamily="18" charset="0"/>
                                        <a:ea typeface="標楷體" panose="03000509000000000000" pitchFamily="65" charset="-120"/>
                                        <a:cs typeface="新細明體" panose="02020500000000000000" pitchFamily="18" charset="-120"/>
                                      </a:rPr>
                                      <m:t>𝑜</m:t>
                                    </m:r>
                                  </m:sub>
                                </m:sSub>
                                <m:r>
                                  <a:rPr lang="en-US" altLang="zh-TW" sz="1800" i="1" kern="0">
                                    <a:effectLst/>
                                    <a:latin typeface="Cambria Math" panose="02040503050406030204" pitchFamily="18" charset="0"/>
                                    <a:ea typeface="標楷體" panose="03000509000000000000" pitchFamily="65" charset="-120"/>
                                    <a:cs typeface="新細明體" panose="02020500000000000000" pitchFamily="18" charset="-120"/>
                                  </a:rPr>
                                  <m:t>(</m:t>
                                </m:r>
                                <m:sSub>
                                  <m:sSubPr>
                                    <m:ctrlPr>
                                      <a:rPr lang="zh-TW" altLang="zh-TW" sz="1800" i="1" kern="0">
                                        <a:effectLst/>
                                        <a:latin typeface="Cambria Math" panose="02040503050406030204" pitchFamily="18" charset="0"/>
                                        <a:ea typeface="Cambria Math" panose="02040503050406030204" pitchFamily="18" charset="0"/>
                                        <a:cs typeface="新細明體" panose="02020500000000000000" pitchFamily="18" charset="-120"/>
                                      </a:rPr>
                                    </m:ctrlPr>
                                  </m:sSubPr>
                                  <m:e>
                                    <m:r>
                                      <a:rPr lang="en-US" altLang="zh-TW" sz="1800" i="1" kern="0">
                                        <a:effectLst/>
                                        <a:latin typeface="Cambria Math" panose="02040503050406030204" pitchFamily="18" charset="0"/>
                                        <a:ea typeface="標楷體" panose="03000509000000000000" pitchFamily="65" charset="-120"/>
                                        <a:cs typeface="新細明體" panose="02020500000000000000" pitchFamily="18" charset="-120"/>
                                      </a:rPr>
                                      <m:t>𝑥</m:t>
                                    </m:r>
                                  </m:e>
                                  <m:sub>
                                    <m:r>
                                      <a:rPr lang="en-US" altLang="zh-TW" sz="1800" i="1" kern="0">
                                        <a:effectLst/>
                                        <a:latin typeface="Cambria Math" panose="02040503050406030204" pitchFamily="18" charset="0"/>
                                        <a:ea typeface="標楷體" panose="03000509000000000000" pitchFamily="65" charset="-120"/>
                                        <a:cs typeface="新細明體" panose="02020500000000000000" pitchFamily="18" charset="-120"/>
                                      </a:rPr>
                                      <m:t>𝑁</m:t>
                                    </m:r>
                                  </m:sub>
                                </m:sSub>
                                <m:r>
                                  <a:rPr lang="en-US" altLang="zh-TW" sz="1800" i="1" kern="0">
                                    <a:effectLst/>
                                    <a:latin typeface="Cambria Math" panose="02040503050406030204" pitchFamily="18" charset="0"/>
                                    <a:ea typeface="標楷體" panose="03000509000000000000" pitchFamily="65" charset="-120"/>
                                    <a:cs typeface="新細明體" panose="02020500000000000000" pitchFamily="18" charset="-120"/>
                                  </a:rPr>
                                  <m:t>)</m:t>
                                </m:r>
                              </m:num>
                              <m:den>
                                <m:sSub>
                                  <m:sSubPr>
                                    <m:ctrlPr>
                                      <a:rPr lang="zh-TW" altLang="zh-TW" sz="1800" i="1" kern="0">
                                        <a:effectLst/>
                                        <a:latin typeface="Cambria Math" panose="02040503050406030204" pitchFamily="18" charset="0"/>
                                        <a:ea typeface="Cambria Math" panose="02040503050406030204" pitchFamily="18" charset="0"/>
                                        <a:cs typeface="新細明體" panose="02020500000000000000" pitchFamily="18" charset="-120"/>
                                      </a:rPr>
                                    </m:ctrlPr>
                                  </m:sSubPr>
                                  <m:e>
                                    <m:r>
                                      <a:rPr lang="en-US" altLang="zh-TW" sz="1800" i="1" kern="0">
                                        <a:effectLst/>
                                        <a:latin typeface="Cambria Math" panose="02040503050406030204" pitchFamily="18" charset="0"/>
                                        <a:ea typeface="標楷體" panose="03000509000000000000" pitchFamily="65" charset="-120"/>
                                        <a:cs typeface="新細明體" panose="02020500000000000000" pitchFamily="18" charset="-120"/>
                                      </a:rPr>
                                      <m:t>𝐴</m:t>
                                    </m:r>
                                  </m:e>
                                  <m:sub>
                                    <m:r>
                                      <a:rPr lang="en-US" altLang="zh-TW" sz="1800" b="0" i="1" kern="0" smtClean="0">
                                        <a:effectLst/>
                                        <a:latin typeface="Cambria Math" panose="02040503050406030204" pitchFamily="18" charset="0"/>
                                        <a:ea typeface="標楷體" panose="03000509000000000000" pitchFamily="65" charset="-120"/>
                                        <a:cs typeface="新細明體" panose="02020500000000000000" pitchFamily="18" charset="-120"/>
                                      </a:rPr>
                                      <m:t>𝑒</m:t>
                                    </m:r>
                                    <m:r>
                                      <a:rPr lang="en-US" altLang="zh-TW" sz="1800" i="1" kern="0">
                                        <a:effectLst/>
                                        <a:latin typeface="Cambria Math" panose="02040503050406030204" pitchFamily="18" charset="0"/>
                                        <a:ea typeface="標楷體" panose="03000509000000000000" pitchFamily="65" charset="-120"/>
                                        <a:cs typeface="新細明體" panose="02020500000000000000" pitchFamily="18" charset="-120"/>
                                      </a:rPr>
                                      <m:t>(0)</m:t>
                                    </m:r>
                                  </m:sub>
                                </m:sSub>
                              </m:den>
                            </m:f>
                          </m:e>
                        </m:d>
                      </m:e>
                      <m:sup>
                        <m:r>
                          <a:rPr lang="en-US" altLang="zh-TW" sz="1800" i="1" kern="0">
                            <a:effectLst/>
                            <a:latin typeface="Cambria Math" panose="02040503050406030204" pitchFamily="18" charset="0"/>
                            <a:ea typeface="標楷體" panose="03000509000000000000" pitchFamily="65" charset="-120"/>
                            <a:cs typeface="新細明體" panose="02020500000000000000" pitchFamily="18" charset="-120"/>
                          </a:rPr>
                          <m:t>2</m:t>
                        </m:r>
                      </m:sup>
                    </m:sSup>
                  </m:oMath>
                </a14:m>
                <a:endParaRPr lang="zh-TW" alt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p:txBody>
          </p:sp>
        </mc:Choice>
        <mc:Fallback xmlns="">
          <p:sp>
            <p:nvSpPr>
              <p:cNvPr id="64" name="文字方塊 63">
                <a:extLst>
                  <a:ext uri="{FF2B5EF4-FFF2-40B4-BE49-F238E27FC236}">
                    <a16:creationId xmlns:a16="http://schemas.microsoft.com/office/drawing/2014/main" id="{06C4A424-6E78-33DF-4A4A-E71796656BCD}"/>
                  </a:ext>
                </a:extLst>
              </p:cNvPr>
              <p:cNvSpPr txBox="1">
                <a:spLocks noRot="1" noChangeAspect="1" noMove="1" noResize="1" noEditPoints="1" noAdjustHandles="1" noChangeArrowheads="1" noChangeShapeType="1" noTextEdit="1"/>
              </p:cNvSpPr>
              <p:nvPr/>
            </p:nvSpPr>
            <p:spPr>
              <a:xfrm>
                <a:off x="10286881" y="5065325"/>
                <a:ext cx="1472999" cy="1082925"/>
              </a:xfrm>
              <a:prstGeom prst="rect">
                <a:avLst/>
              </a:prstGeom>
              <a:blipFill>
                <a:blip r:embed="rId17"/>
                <a:stretch>
                  <a:fillRect l="-330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6" name="文字方塊 65">
                <a:extLst>
                  <a:ext uri="{FF2B5EF4-FFF2-40B4-BE49-F238E27FC236}">
                    <a16:creationId xmlns:a16="http://schemas.microsoft.com/office/drawing/2014/main" id="{7D15C201-308F-E641-E12E-D9004B406636}"/>
                  </a:ext>
                </a:extLst>
              </p:cNvPr>
              <p:cNvSpPr txBox="1"/>
              <p:nvPr/>
            </p:nvSpPr>
            <p:spPr>
              <a:xfrm>
                <a:off x="8015735" y="5659214"/>
                <a:ext cx="2350018" cy="369332"/>
              </a:xfrm>
              <a:prstGeom prst="rect">
                <a:avLst/>
              </a:prstGeom>
              <a:noFill/>
            </p:spPr>
            <p:txBody>
              <a:bodyPr wrap="square">
                <a:spAutoFit/>
              </a:bodyPr>
              <a:lstStyle/>
              <a:p>
                <a14:m>
                  <m:oMath xmlns:m="http://schemas.openxmlformats.org/officeDocument/2006/math">
                    <m:sSub>
                      <m:sSubPr>
                        <m:ctrlPr>
                          <a:rPr lang="zh-TW" altLang="zh-TW" i="1" kern="0" smtClean="0">
                            <a:effectLst/>
                            <a:latin typeface="Cambria Math" panose="02040503050406030204" pitchFamily="18" charset="0"/>
                            <a:ea typeface="Cambria Math" panose="02040503050406030204" pitchFamily="18" charset="0"/>
                            <a:cs typeface="新細明體" panose="02020500000000000000" pitchFamily="18" charset="-120"/>
                          </a:rPr>
                        </m:ctrlPr>
                      </m:sSubPr>
                      <m:e>
                        <m:r>
                          <a:rPr lang="en-US" altLang="zh-TW" sz="1800" i="1" kern="0">
                            <a:effectLst/>
                            <a:latin typeface="Cambria Math" panose="02040503050406030204" pitchFamily="18" charset="0"/>
                            <a:ea typeface="標楷體" panose="03000509000000000000" pitchFamily="65" charset="-120"/>
                            <a:cs typeface="新細明體" panose="02020500000000000000" pitchFamily="18" charset="-120"/>
                          </a:rPr>
                          <m:t>𝐴</m:t>
                        </m:r>
                      </m:e>
                      <m:sub>
                        <m:r>
                          <a:rPr lang="en-US" altLang="zh-TW" sz="1800" b="0" i="1" kern="0" smtClean="0">
                            <a:effectLst/>
                            <a:latin typeface="Cambria Math" panose="02040503050406030204" pitchFamily="18" charset="0"/>
                            <a:ea typeface="標楷體" panose="03000509000000000000" pitchFamily="65" charset="-120"/>
                            <a:cs typeface="新細明體" panose="02020500000000000000" pitchFamily="18" charset="-120"/>
                          </a:rPr>
                          <m:t>𝑒</m:t>
                        </m:r>
                      </m:sub>
                    </m:sSub>
                    <m:d>
                      <m:dPr>
                        <m:ctrlPr>
                          <a:rPr lang="zh-TW" altLang="zh-TW" i="1" kern="0">
                            <a:effectLst/>
                            <a:latin typeface="Cambria Math" panose="02040503050406030204" pitchFamily="18" charset="0"/>
                            <a:ea typeface="Cambria Math" panose="02040503050406030204" pitchFamily="18" charset="0"/>
                            <a:cs typeface="新細明體" panose="02020500000000000000" pitchFamily="18" charset="-120"/>
                          </a:rPr>
                        </m:ctrlPr>
                      </m:dPr>
                      <m:e>
                        <m:r>
                          <a:rPr lang="en-US" altLang="zh-TW" sz="1800" i="1" kern="0">
                            <a:effectLst/>
                            <a:latin typeface="Cambria Math" panose="02040503050406030204" pitchFamily="18" charset="0"/>
                            <a:ea typeface="標楷體" panose="03000509000000000000" pitchFamily="65" charset="-120"/>
                            <a:cs typeface="新細明體" panose="02020500000000000000" pitchFamily="18" charset="-120"/>
                          </a:rPr>
                          <m:t>0</m:t>
                        </m:r>
                      </m:e>
                    </m:d>
                    <m:r>
                      <a:rPr lang="en-US" altLang="zh-TW" sz="1800" i="1" kern="0">
                        <a:effectLst/>
                        <a:latin typeface="Cambria Math" panose="02040503050406030204" pitchFamily="18" charset="0"/>
                        <a:ea typeface="標楷體" panose="03000509000000000000" pitchFamily="65" charset="-120"/>
                        <a:cs typeface="新細明體" panose="02020500000000000000" pitchFamily="18" charset="-120"/>
                      </a:rPr>
                      <m:t>=</m:t>
                    </m:r>
                    <m:r>
                      <a:rPr lang="en-US" altLang="zh-TW" sz="1800" b="0" i="1" kern="0" smtClean="0">
                        <a:effectLst/>
                        <a:latin typeface="Cambria Math" panose="02040503050406030204" pitchFamily="18" charset="0"/>
                        <a:ea typeface="標楷體" panose="03000509000000000000" pitchFamily="65" charset="-120"/>
                        <a:cs typeface="新細明體" panose="02020500000000000000" pitchFamily="18" charset="-120"/>
                      </a:rPr>
                      <m:t>1</m:t>
                    </m:r>
                  </m:oMath>
                </a14:m>
                <a:r>
                  <a:rPr lang="en-US"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a:t>
                </a:r>
                <a:r>
                  <a:rPr lang="en-US" altLang="zh-TW" sz="1800" i="1" kern="0" dirty="0">
                    <a:effectLst/>
                    <a:latin typeface="Times New Roman" panose="02020603050405020304" pitchFamily="18" charset="0"/>
                    <a:ea typeface="標楷體" panose="03000509000000000000" pitchFamily="65" charset="-120"/>
                    <a:cs typeface="新細明體" panose="02020500000000000000" pitchFamily="18" charset="-120"/>
                  </a:rPr>
                  <a:t> </a:t>
                </a:r>
                <a14:m>
                  <m:oMath xmlns:m="http://schemas.openxmlformats.org/officeDocument/2006/math">
                    <m:sSub>
                      <m:sSubPr>
                        <m:ctrlPr>
                          <a:rPr lang="zh-TW" altLang="zh-TW" i="1" kern="0">
                            <a:effectLst/>
                            <a:latin typeface="Cambria Math" panose="02040503050406030204" pitchFamily="18" charset="0"/>
                            <a:ea typeface="Cambria Math" panose="02040503050406030204" pitchFamily="18" charset="0"/>
                            <a:cs typeface="新細明體" panose="02020500000000000000" pitchFamily="18" charset="-120"/>
                          </a:rPr>
                        </m:ctrlPr>
                      </m:sSubPr>
                      <m:e>
                        <m:r>
                          <a:rPr lang="en-US" altLang="zh-TW" sz="1800" i="1" kern="0">
                            <a:effectLst/>
                            <a:latin typeface="Cambria Math" panose="02040503050406030204" pitchFamily="18" charset="0"/>
                            <a:ea typeface="標楷體" panose="03000509000000000000" pitchFamily="65" charset="-120"/>
                            <a:cs typeface="新細明體" panose="02020500000000000000" pitchFamily="18" charset="-120"/>
                          </a:rPr>
                          <m:t>𝐴</m:t>
                        </m:r>
                      </m:e>
                      <m:sub>
                        <m:r>
                          <a:rPr lang="en-US" altLang="zh-TW" sz="1800" b="0" i="1" kern="0" smtClean="0">
                            <a:effectLst/>
                            <a:latin typeface="Cambria Math" panose="02040503050406030204" pitchFamily="18" charset="0"/>
                            <a:ea typeface="標楷體" panose="03000509000000000000" pitchFamily="65" charset="-120"/>
                            <a:cs typeface="新細明體" panose="02020500000000000000" pitchFamily="18" charset="-120"/>
                          </a:rPr>
                          <m:t>𝑜</m:t>
                        </m:r>
                      </m:sub>
                    </m:sSub>
                    <m:r>
                      <a:rPr lang="en-US" altLang="zh-TW" sz="1800" i="1" kern="0">
                        <a:effectLst/>
                        <a:latin typeface="Cambria Math" panose="02040503050406030204" pitchFamily="18" charset="0"/>
                        <a:ea typeface="標楷體" panose="03000509000000000000" pitchFamily="65" charset="-120"/>
                        <a:cs typeface="新細明體" panose="02020500000000000000" pitchFamily="18" charset="-120"/>
                      </a:rPr>
                      <m:t>(0)</m:t>
                    </m:r>
                  </m:oMath>
                </a14:m>
                <a:r>
                  <a:rPr lang="en-US" altLang="zh-TW" sz="1800" kern="0" dirty="0">
                    <a:effectLst/>
                    <a:latin typeface="Times New Roman" panose="02020603050405020304" pitchFamily="18" charset="0"/>
                    <a:ea typeface="標楷體" panose="03000509000000000000" pitchFamily="65" charset="-120"/>
                    <a:cs typeface="新細明體" panose="02020500000000000000" pitchFamily="18" charset="-120"/>
                  </a:rPr>
                  <a:t>=0</a:t>
                </a:r>
                <a:endParaRPr lang="zh-TW" altLang="en-US" dirty="0"/>
              </a:p>
            </p:txBody>
          </p:sp>
        </mc:Choice>
        <mc:Fallback xmlns="">
          <p:sp>
            <p:nvSpPr>
              <p:cNvPr id="66" name="文字方塊 65">
                <a:extLst>
                  <a:ext uri="{FF2B5EF4-FFF2-40B4-BE49-F238E27FC236}">
                    <a16:creationId xmlns:a16="http://schemas.microsoft.com/office/drawing/2014/main" id="{7D15C201-308F-E641-E12E-D9004B406636}"/>
                  </a:ext>
                </a:extLst>
              </p:cNvPr>
              <p:cNvSpPr txBox="1">
                <a:spLocks noRot="1" noChangeAspect="1" noMove="1" noResize="1" noEditPoints="1" noAdjustHandles="1" noChangeArrowheads="1" noChangeShapeType="1" noTextEdit="1"/>
              </p:cNvSpPr>
              <p:nvPr/>
            </p:nvSpPr>
            <p:spPr>
              <a:xfrm>
                <a:off x="8015735" y="5659214"/>
                <a:ext cx="2350018" cy="369332"/>
              </a:xfrm>
              <a:prstGeom prst="rect">
                <a:avLst/>
              </a:prstGeom>
              <a:blipFill>
                <a:blip r:embed="rId18"/>
                <a:stretch>
                  <a:fillRect t="-9836" b="-2295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3" name="矩形 62">
                <a:extLst>
                  <a:ext uri="{FF2B5EF4-FFF2-40B4-BE49-F238E27FC236}">
                    <a16:creationId xmlns:a16="http://schemas.microsoft.com/office/drawing/2014/main" id="{8FC157AA-1C30-63BE-5455-1E09F4DC2A73}"/>
                  </a:ext>
                </a:extLst>
              </p:cNvPr>
              <p:cNvSpPr/>
              <p:nvPr/>
            </p:nvSpPr>
            <p:spPr>
              <a:xfrm>
                <a:off x="634922" y="2316682"/>
                <a:ext cx="2278764" cy="50135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zh-TW" altLang="en-US" sz="1400" i="1">
                              <a:latin typeface="Cambria Math" panose="02040503050406030204" pitchFamily="18" charset="0"/>
                            </a:rPr>
                          </m:ctrlPr>
                        </m:fPr>
                        <m:num>
                          <m:r>
                            <a:rPr lang="zh-TW" altLang="en-US" sz="1400" i="1">
                              <a:latin typeface="Cambria Math" panose="02040503050406030204" pitchFamily="18" charset="0"/>
                            </a:rPr>
                            <m:t>𝑑</m:t>
                          </m:r>
                        </m:num>
                        <m:den>
                          <m:r>
                            <a:rPr lang="zh-TW" altLang="en-US" sz="1400" i="1">
                              <a:latin typeface="Cambria Math" panose="02040503050406030204" pitchFamily="18" charset="0"/>
                            </a:rPr>
                            <m:t>𝑑𝑥</m:t>
                          </m:r>
                        </m:den>
                      </m:f>
                      <m:sSub>
                        <m:sSubPr>
                          <m:ctrlPr>
                            <a:rPr lang="zh-TW" altLang="en-US" sz="1400" i="1">
                              <a:latin typeface="Cambria Math" panose="02040503050406030204" pitchFamily="18" charset="0"/>
                            </a:rPr>
                          </m:ctrlPr>
                        </m:sSubPr>
                        <m:e>
                          <m:r>
                            <a:rPr lang="zh-TW" altLang="en-US" sz="1400" i="1">
                              <a:latin typeface="Cambria Math" panose="02040503050406030204" pitchFamily="18" charset="0"/>
                            </a:rPr>
                            <m:t>𝐴</m:t>
                          </m:r>
                        </m:e>
                        <m:sub>
                          <m:r>
                            <a:rPr lang="zh-TW" altLang="en-US" sz="1400" i="1">
                              <a:latin typeface="Cambria Math" panose="02040503050406030204" pitchFamily="18" charset="0"/>
                            </a:rPr>
                            <m:t>𝑜</m:t>
                          </m:r>
                        </m:sub>
                      </m:sSub>
                      <m:r>
                        <a:rPr lang="zh-TW" altLang="en-US" sz="1400" i="0">
                          <a:latin typeface="Cambria Math" panose="02040503050406030204" pitchFamily="18" charset="0"/>
                        </a:rPr>
                        <m:t>=−</m:t>
                      </m:r>
                      <m:r>
                        <a:rPr lang="zh-TW" altLang="en-US" sz="1400" i="1">
                          <a:latin typeface="Cambria Math" panose="02040503050406030204" pitchFamily="18" charset="0"/>
                        </a:rPr>
                        <m:t>𝑖</m:t>
                      </m:r>
                      <m:r>
                        <a:rPr lang="zh-TW" altLang="en-US" sz="1400" i="1">
                          <a:latin typeface="Cambria Math" panose="02040503050406030204" pitchFamily="18" charset="0"/>
                        </a:rPr>
                        <m:t>𝜅</m:t>
                      </m:r>
                      <m:r>
                        <a:rPr lang="zh-TW" altLang="en-US" sz="1400" i="0">
                          <a:latin typeface="Cambria Math" panose="02040503050406030204" pitchFamily="18" charset="0"/>
                        </a:rPr>
                        <m:t>(</m:t>
                      </m:r>
                      <m:r>
                        <a:rPr lang="zh-TW" altLang="en-US" sz="1400" i="1">
                          <a:latin typeface="Cambria Math" panose="02040503050406030204" pitchFamily="18" charset="0"/>
                        </a:rPr>
                        <m:t>𝑥</m:t>
                      </m:r>
                      <m:r>
                        <a:rPr lang="zh-TW" altLang="en-US" sz="1400" i="0">
                          <a:latin typeface="Cambria Math" panose="02040503050406030204" pitchFamily="18" charset="0"/>
                        </a:rPr>
                        <m:t>)</m:t>
                      </m:r>
                      <m:sSub>
                        <m:sSubPr>
                          <m:ctrlPr>
                            <a:rPr lang="zh-TW" altLang="en-US" sz="1400" i="1">
                              <a:latin typeface="Cambria Math" panose="02040503050406030204" pitchFamily="18" charset="0"/>
                            </a:rPr>
                          </m:ctrlPr>
                        </m:sSubPr>
                        <m:e>
                          <m:r>
                            <a:rPr lang="zh-TW" altLang="en-US" sz="1400" i="1">
                              <a:latin typeface="Cambria Math" panose="02040503050406030204" pitchFamily="18" charset="0"/>
                            </a:rPr>
                            <m:t>𝐴</m:t>
                          </m:r>
                        </m:e>
                        <m:sub>
                          <m:r>
                            <a:rPr lang="zh-TW" altLang="en-US" sz="1400" i="1">
                              <a:latin typeface="Cambria Math" panose="02040503050406030204" pitchFamily="18" charset="0"/>
                            </a:rPr>
                            <m:t>𝑒</m:t>
                          </m:r>
                        </m:sub>
                      </m:sSub>
                      <m:r>
                        <a:rPr lang="zh-TW" altLang="en-US" sz="1400" i="0">
                          <a:latin typeface="Cambria Math" panose="02040503050406030204" pitchFamily="18" charset="0"/>
                        </a:rPr>
                        <m:t>(</m:t>
                      </m:r>
                      <m:r>
                        <a:rPr lang="zh-TW" altLang="en-US" sz="1400" i="1">
                          <a:latin typeface="Cambria Math" panose="02040503050406030204" pitchFamily="18" charset="0"/>
                        </a:rPr>
                        <m:t>𝑥</m:t>
                      </m:r>
                      <m:r>
                        <a:rPr lang="zh-TW" altLang="en-US" sz="1400" i="0">
                          <a:latin typeface="Cambria Math" panose="02040503050406030204" pitchFamily="18" charset="0"/>
                        </a:rPr>
                        <m:t>)</m:t>
                      </m:r>
                      <m:sSup>
                        <m:sSupPr>
                          <m:ctrlPr>
                            <a:rPr lang="zh-TW" altLang="en-US" sz="1400" i="1">
                              <a:latin typeface="Cambria Math" panose="02040503050406030204" pitchFamily="18" charset="0"/>
                            </a:rPr>
                          </m:ctrlPr>
                        </m:sSupPr>
                        <m:e>
                          <m:r>
                            <a:rPr lang="zh-TW" altLang="en-US" sz="1400" i="1">
                              <a:latin typeface="Cambria Math" panose="02040503050406030204" pitchFamily="18" charset="0"/>
                            </a:rPr>
                            <m:t>𝑒</m:t>
                          </m:r>
                        </m:e>
                        <m:sup>
                          <m:r>
                            <a:rPr lang="zh-TW" altLang="en-US" sz="1400" i="1">
                              <a:latin typeface="Cambria Math" panose="02040503050406030204" pitchFamily="18" charset="0"/>
                            </a:rPr>
                            <m:t>𝑖</m:t>
                          </m:r>
                          <m:r>
                            <a:rPr lang="zh-TW" altLang="en-US" sz="1400" i="0">
                              <a:latin typeface="Cambria Math" panose="02040503050406030204" pitchFamily="18" charset="0"/>
                            </a:rPr>
                            <m:t>∆</m:t>
                          </m:r>
                          <m:r>
                            <a:rPr lang="zh-TW" altLang="en-US" sz="1400" i="1">
                              <a:latin typeface="Cambria Math" panose="02040503050406030204" pitchFamily="18" charset="0"/>
                            </a:rPr>
                            <m:t>𝑘𝑥</m:t>
                          </m:r>
                        </m:sup>
                      </m:sSup>
                    </m:oMath>
                  </m:oMathPara>
                </a14:m>
                <a:endParaRPr lang="zh-TW" altLang="en-US" sz="1400" dirty="0"/>
              </a:p>
            </p:txBody>
          </p:sp>
        </mc:Choice>
        <mc:Fallback xmlns="">
          <p:sp>
            <p:nvSpPr>
              <p:cNvPr id="63" name="矩形 62">
                <a:extLst>
                  <a:ext uri="{FF2B5EF4-FFF2-40B4-BE49-F238E27FC236}">
                    <a16:creationId xmlns:a16="http://schemas.microsoft.com/office/drawing/2014/main" id="{8FC157AA-1C30-63BE-5455-1E09F4DC2A73}"/>
                  </a:ext>
                </a:extLst>
              </p:cNvPr>
              <p:cNvSpPr>
                <a:spLocks noRot="1" noChangeAspect="1" noMove="1" noResize="1" noEditPoints="1" noAdjustHandles="1" noChangeArrowheads="1" noChangeShapeType="1" noTextEdit="1"/>
              </p:cNvSpPr>
              <p:nvPr/>
            </p:nvSpPr>
            <p:spPr>
              <a:xfrm>
                <a:off x="634922" y="2316682"/>
                <a:ext cx="2278764" cy="501356"/>
              </a:xfrm>
              <a:prstGeom prst="rect">
                <a:avLst/>
              </a:prstGeom>
              <a:blipFill>
                <a:blip r:embed="rId19"/>
                <a:stretch>
                  <a:fillRect b="-243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5" name="矩形 64">
                <a:extLst>
                  <a:ext uri="{FF2B5EF4-FFF2-40B4-BE49-F238E27FC236}">
                    <a16:creationId xmlns:a16="http://schemas.microsoft.com/office/drawing/2014/main" id="{3F5DD937-5748-C693-62F4-BB7D72A92DAD}"/>
                  </a:ext>
                </a:extLst>
              </p:cNvPr>
              <p:cNvSpPr/>
              <p:nvPr/>
            </p:nvSpPr>
            <p:spPr>
              <a:xfrm>
                <a:off x="634922" y="2917643"/>
                <a:ext cx="2452530" cy="50135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zh-TW" altLang="en-US" sz="1400" i="1">
                              <a:latin typeface="Cambria Math" panose="02040503050406030204" pitchFamily="18" charset="0"/>
                            </a:rPr>
                          </m:ctrlPr>
                        </m:fPr>
                        <m:num>
                          <m:r>
                            <a:rPr lang="zh-TW" altLang="en-US" sz="1400" i="1">
                              <a:latin typeface="Cambria Math" panose="02040503050406030204" pitchFamily="18" charset="0"/>
                            </a:rPr>
                            <m:t>𝑑</m:t>
                          </m:r>
                        </m:num>
                        <m:den>
                          <m:r>
                            <a:rPr lang="zh-TW" altLang="en-US" sz="1400" i="1">
                              <a:latin typeface="Cambria Math" panose="02040503050406030204" pitchFamily="18" charset="0"/>
                            </a:rPr>
                            <m:t>𝑑𝑥</m:t>
                          </m:r>
                        </m:den>
                      </m:f>
                      <m:sSub>
                        <m:sSubPr>
                          <m:ctrlPr>
                            <a:rPr lang="zh-TW" altLang="en-US" sz="1400" i="1">
                              <a:latin typeface="Cambria Math" panose="02040503050406030204" pitchFamily="18" charset="0"/>
                            </a:rPr>
                          </m:ctrlPr>
                        </m:sSubPr>
                        <m:e>
                          <m:r>
                            <a:rPr lang="zh-TW" altLang="en-US" sz="1400" i="1">
                              <a:latin typeface="Cambria Math" panose="02040503050406030204" pitchFamily="18" charset="0"/>
                            </a:rPr>
                            <m:t>𝐴</m:t>
                          </m:r>
                        </m:e>
                        <m:sub>
                          <m:r>
                            <a:rPr lang="zh-TW" altLang="en-US" sz="1400" i="1">
                              <a:latin typeface="Cambria Math" panose="02040503050406030204" pitchFamily="18" charset="0"/>
                            </a:rPr>
                            <m:t>𝑒</m:t>
                          </m:r>
                        </m:sub>
                      </m:sSub>
                      <m:r>
                        <a:rPr lang="zh-TW" altLang="en-US" sz="1400" i="0">
                          <a:latin typeface="Cambria Math" panose="02040503050406030204" pitchFamily="18" charset="0"/>
                        </a:rPr>
                        <m:t>=−</m:t>
                      </m:r>
                      <m:r>
                        <a:rPr lang="zh-TW" altLang="en-US" sz="1400" i="1">
                          <a:latin typeface="Cambria Math" panose="02040503050406030204" pitchFamily="18" charset="0"/>
                        </a:rPr>
                        <m:t>𝑖</m:t>
                      </m:r>
                      <m:sSup>
                        <m:sSupPr>
                          <m:ctrlPr>
                            <a:rPr lang="zh-TW" altLang="en-US" sz="1400" i="1">
                              <a:latin typeface="Cambria Math" panose="02040503050406030204" pitchFamily="18" charset="0"/>
                            </a:rPr>
                          </m:ctrlPr>
                        </m:sSupPr>
                        <m:e>
                          <m:r>
                            <a:rPr lang="zh-TW" altLang="en-US" sz="1400" i="1">
                              <a:latin typeface="Cambria Math" panose="02040503050406030204" pitchFamily="18" charset="0"/>
                            </a:rPr>
                            <m:t>𝜅</m:t>
                          </m:r>
                        </m:e>
                        <m:sup>
                          <m:r>
                            <a:rPr lang="zh-TW" altLang="en-US" sz="1400" i="0">
                              <a:latin typeface="Cambria Math" panose="02040503050406030204" pitchFamily="18" charset="0"/>
                            </a:rPr>
                            <m:t>∗</m:t>
                          </m:r>
                        </m:sup>
                      </m:sSup>
                      <m:r>
                        <a:rPr lang="zh-TW" altLang="en-US" sz="1400" i="0">
                          <a:latin typeface="Cambria Math" panose="02040503050406030204" pitchFamily="18" charset="0"/>
                        </a:rPr>
                        <m:t>(</m:t>
                      </m:r>
                      <m:r>
                        <a:rPr lang="zh-TW" altLang="en-US" sz="1400" i="1">
                          <a:latin typeface="Cambria Math" panose="02040503050406030204" pitchFamily="18" charset="0"/>
                        </a:rPr>
                        <m:t>𝑥</m:t>
                      </m:r>
                      <m:r>
                        <a:rPr lang="zh-TW" altLang="en-US" sz="1400" i="0">
                          <a:latin typeface="Cambria Math" panose="02040503050406030204" pitchFamily="18" charset="0"/>
                        </a:rPr>
                        <m:t>)</m:t>
                      </m:r>
                      <m:sSub>
                        <m:sSubPr>
                          <m:ctrlPr>
                            <a:rPr lang="zh-TW" altLang="en-US" sz="1400" i="1">
                              <a:latin typeface="Cambria Math" panose="02040503050406030204" pitchFamily="18" charset="0"/>
                            </a:rPr>
                          </m:ctrlPr>
                        </m:sSubPr>
                        <m:e>
                          <m:r>
                            <a:rPr lang="zh-TW" altLang="en-US" sz="1400" i="1">
                              <a:latin typeface="Cambria Math" panose="02040503050406030204" pitchFamily="18" charset="0"/>
                            </a:rPr>
                            <m:t>𝐴</m:t>
                          </m:r>
                        </m:e>
                        <m:sub>
                          <m:r>
                            <a:rPr lang="zh-TW" altLang="en-US" sz="1400" i="1">
                              <a:latin typeface="Cambria Math" panose="02040503050406030204" pitchFamily="18" charset="0"/>
                            </a:rPr>
                            <m:t>𝑜</m:t>
                          </m:r>
                        </m:sub>
                      </m:sSub>
                      <m:r>
                        <a:rPr lang="zh-TW" altLang="en-US" sz="1400" i="0">
                          <a:latin typeface="Cambria Math" panose="02040503050406030204" pitchFamily="18" charset="0"/>
                        </a:rPr>
                        <m:t>(</m:t>
                      </m:r>
                      <m:r>
                        <a:rPr lang="zh-TW" altLang="en-US" sz="1400" i="1">
                          <a:latin typeface="Cambria Math" panose="02040503050406030204" pitchFamily="18" charset="0"/>
                        </a:rPr>
                        <m:t>𝑥</m:t>
                      </m:r>
                      <m:r>
                        <a:rPr lang="zh-TW" altLang="en-US" sz="1400" i="0">
                          <a:latin typeface="Cambria Math" panose="02040503050406030204" pitchFamily="18" charset="0"/>
                        </a:rPr>
                        <m:t>)</m:t>
                      </m:r>
                      <m:sSup>
                        <m:sSupPr>
                          <m:ctrlPr>
                            <a:rPr lang="zh-TW" altLang="en-US" sz="1400" i="1">
                              <a:latin typeface="Cambria Math" panose="02040503050406030204" pitchFamily="18" charset="0"/>
                            </a:rPr>
                          </m:ctrlPr>
                        </m:sSupPr>
                        <m:e>
                          <m:r>
                            <a:rPr lang="zh-TW" altLang="en-US" sz="1400" i="1">
                              <a:latin typeface="Cambria Math" panose="02040503050406030204" pitchFamily="18" charset="0"/>
                            </a:rPr>
                            <m:t>𝑒</m:t>
                          </m:r>
                        </m:e>
                        <m:sup>
                          <m:r>
                            <a:rPr lang="zh-TW" altLang="en-US" sz="1400" i="0">
                              <a:latin typeface="Cambria Math" panose="02040503050406030204" pitchFamily="18" charset="0"/>
                            </a:rPr>
                            <m:t>−</m:t>
                          </m:r>
                          <m:r>
                            <a:rPr lang="zh-TW" altLang="en-US" sz="1400" i="1">
                              <a:latin typeface="Cambria Math" panose="02040503050406030204" pitchFamily="18" charset="0"/>
                            </a:rPr>
                            <m:t>𝑖</m:t>
                          </m:r>
                          <m:r>
                            <a:rPr lang="zh-TW" altLang="en-US" sz="1400" i="0">
                              <a:latin typeface="Cambria Math" panose="02040503050406030204" pitchFamily="18" charset="0"/>
                            </a:rPr>
                            <m:t>∆</m:t>
                          </m:r>
                          <m:r>
                            <a:rPr lang="zh-TW" altLang="en-US" sz="1400" i="1">
                              <a:latin typeface="Cambria Math" panose="02040503050406030204" pitchFamily="18" charset="0"/>
                            </a:rPr>
                            <m:t>𝑘𝑥</m:t>
                          </m:r>
                        </m:sup>
                      </m:sSup>
                    </m:oMath>
                  </m:oMathPara>
                </a14:m>
                <a:endParaRPr lang="zh-TW" altLang="en-US" sz="1400" dirty="0"/>
              </a:p>
            </p:txBody>
          </p:sp>
        </mc:Choice>
        <mc:Fallback xmlns="">
          <p:sp>
            <p:nvSpPr>
              <p:cNvPr id="65" name="矩形 64">
                <a:extLst>
                  <a:ext uri="{FF2B5EF4-FFF2-40B4-BE49-F238E27FC236}">
                    <a16:creationId xmlns:a16="http://schemas.microsoft.com/office/drawing/2014/main" id="{3F5DD937-5748-C693-62F4-BB7D72A92DAD}"/>
                  </a:ext>
                </a:extLst>
              </p:cNvPr>
              <p:cNvSpPr>
                <a:spLocks noRot="1" noChangeAspect="1" noMove="1" noResize="1" noEditPoints="1" noAdjustHandles="1" noChangeArrowheads="1" noChangeShapeType="1" noTextEdit="1"/>
              </p:cNvSpPr>
              <p:nvPr/>
            </p:nvSpPr>
            <p:spPr>
              <a:xfrm>
                <a:off x="634922" y="2917643"/>
                <a:ext cx="2452530" cy="501356"/>
              </a:xfrm>
              <a:prstGeom prst="rect">
                <a:avLst/>
              </a:prstGeom>
              <a:blipFill>
                <a:blip r:embed="rId20"/>
                <a:stretch>
                  <a:fillRect b="-243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7" name="矩形 66">
                <a:extLst>
                  <a:ext uri="{FF2B5EF4-FFF2-40B4-BE49-F238E27FC236}">
                    <a16:creationId xmlns:a16="http://schemas.microsoft.com/office/drawing/2014/main" id="{8EBA7953-63C6-9330-0A12-D12D522ED085}"/>
                  </a:ext>
                </a:extLst>
              </p:cNvPr>
              <p:cNvSpPr/>
              <p:nvPr/>
            </p:nvSpPr>
            <p:spPr>
              <a:xfrm>
                <a:off x="616879" y="3418056"/>
                <a:ext cx="2403735" cy="52290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TW" altLang="en-US" sz="1400" i="1">
                          <a:latin typeface="Cambria Math" panose="02040503050406030204" pitchFamily="18" charset="0"/>
                        </a:rPr>
                        <m:t>𝜅</m:t>
                      </m:r>
                      <m:d>
                        <m:dPr>
                          <m:ctrlPr>
                            <a:rPr lang="zh-TW" altLang="en-US" sz="1400" i="1">
                              <a:latin typeface="Cambria Math" panose="02040503050406030204" pitchFamily="18" charset="0"/>
                            </a:rPr>
                          </m:ctrlPr>
                        </m:dPr>
                        <m:e>
                          <m:r>
                            <a:rPr lang="zh-TW" altLang="en-US" sz="1400" i="1">
                              <a:latin typeface="Cambria Math" panose="02040503050406030204" pitchFamily="18" charset="0"/>
                            </a:rPr>
                            <m:t>𝑥</m:t>
                          </m:r>
                        </m:e>
                      </m:d>
                      <m:r>
                        <a:rPr lang="zh-TW" altLang="en-US" sz="1400" i="0">
                          <a:latin typeface="Cambria Math" panose="02040503050406030204" pitchFamily="18" charset="0"/>
                        </a:rPr>
                        <m:t>=</m:t>
                      </m:r>
                      <m:f>
                        <m:fPr>
                          <m:ctrlPr>
                            <a:rPr lang="zh-TW" altLang="en-US" sz="1400" i="1">
                              <a:latin typeface="Cambria Math" panose="02040503050406030204" pitchFamily="18" charset="0"/>
                            </a:rPr>
                          </m:ctrlPr>
                        </m:fPr>
                        <m:num>
                          <m:r>
                            <a:rPr lang="zh-TW" altLang="en-US" sz="1400" i="1">
                              <a:latin typeface="Cambria Math" panose="02040503050406030204" pitchFamily="18" charset="0"/>
                            </a:rPr>
                            <m:t>𝜋</m:t>
                          </m:r>
                        </m:num>
                        <m:den>
                          <m:sSub>
                            <m:sSubPr>
                              <m:ctrlPr>
                                <a:rPr lang="zh-TW" altLang="en-US" sz="1400" i="1">
                                  <a:latin typeface="Cambria Math" panose="02040503050406030204" pitchFamily="18" charset="0"/>
                                </a:rPr>
                              </m:ctrlPr>
                            </m:sSubPr>
                            <m:e>
                              <m:r>
                                <a:rPr lang="zh-TW" altLang="en-US" sz="1400" i="1">
                                  <a:latin typeface="Cambria Math" panose="02040503050406030204" pitchFamily="18" charset="0"/>
                                </a:rPr>
                                <m:t>𝜆</m:t>
                              </m:r>
                            </m:e>
                            <m:sub>
                              <m:r>
                                <a:rPr lang="zh-TW" altLang="en-US" sz="1400" i="0">
                                  <a:latin typeface="Cambria Math" panose="02040503050406030204" pitchFamily="18" charset="0"/>
                                </a:rPr>
                                <m:t>0</m:t>
                              </m:r>
                            </m:sub>
                          </m:sSub>
                        </m:den>
                      </m:f>
                      <m:sSup>
                        <m:sSupPr>
                          <m:ctrlPr>
                            <a:rPr lang="zh-TW" altLang="en-US" sz="1400" i="1">
                              <a:latin typeface="Cambria Math" panose="02040503050406030204" pitchFamily="18" charset="0"/>
                            </a:rPr>
                          </m:ctrlPr>
                        </m:sSupPr>
                        <m:e>
                          <m:d>
                            <m:dPr>
                              <m:ctrlPr>
                                <a:rPr lang="zh-TW" altLang="en-US" sz="1400" i="1">
                                  <a:latin typeface="Cambria Math" panose="02040503050406030204" pitchFamily="18" charset="0"/>
                                </a:rPr>
                              </m:ctrlPr>
                            </m:dPr>
                            <m:e>
                              <m:sSub>
                                <m:sSubPr>
                                  <m:ctrlPr>
                                    <a:rPr lang="zh-TW" altLang="en-US" sz="1400" i="1">
                                      <a:latin typeface="Cambria Math" panose="02040503050406030204" pitchFamily="18" charset="0"/>
                                    </a:rPr>
                                  </m:ctrlPr>
                                </m:sSubPr>
                                <m:e>
                                  <m:r>
                                    <a:rPr lang="zh-TW" altLang="en-US" sz="1400" i="1">
                                      <a:latin typeface="Cambria Math" panose="02040503050406030204" pitchFamily="18" charset="0"/>
                                    </a:rPr>
                                    <m:t>𝑛</m:t>
                                  </m:r>
                                </m:e>
                                <m:sub>
                                  <m:r>
                                    <a:rPr lang="zh-TW" altLang="en-US" sz="1400" i="1">
                                      <a:latin typeface="Cambria Math" panose="02040503050406030204" pitchFamily="18" charset="0"/>
                                    </a:rPr>
                                    <m:t>𝑜</m:t>
                                  </m:r>
                                </m:sub>
                              </m:sSub>
                              <m:sSub>
                                <m:sSubPr>
                                  <m:ctrlPr>
                                    <a:rPr lang="zh-TW" altLang="en-US" sz="1400" i="1">
                                      <a:latin typeface="Cambria Math" panose="02040503050406030204" pitchFamily="18" charset="0"/>
                                    </a:rPr>
                                  </m:ctrlPr>
                                </m:sSubPr>
                                <m:e>
                                  <m:r>
                                    <a:rPr lang="zh-TW" altLang="en-US" sz="1400" i="1">
                                      <a:latin typeface="Cambria Math" panose="02040503050406030204" pitchFamily="18" charset="0"/>
                                    </a:rPr>
                                    <m:t>𝑛</m:t>
                                  </m:r>
                                </m:e>
                                <m:sub>
                                  <m:r>
                                    <a:rPr lang="zh-TW" altLang="en-US" sz="1400" i="1">
                                      <a:latin typeface="Cambria Math" panose="02040503050406030204" pitchFamily="18" charset="0"/>
                                    </a:rPr>
                                    <m:t>𝑒</m:t>
                                  </m:r>
                                </m:sub>
                              </m:sSub>
                            </m:e>
                          </m:d>
                        </m:e>
                        <m:sup>
                          <m:f>
                            <m:fPr>
                              <m:ctrlPr>
                                <a:rPr lang="zh-TW" altLang="en-US" sz="1400" i="1">
                                  <a:latin typeface="Cambria Math" panose="02040503050406030204" pitchFamily="18" charset="0"/>
                                </a:rPr>
                              </m:ctrlPr>
                            </m:fPr>
                            <m:num>
                              <m:r>
                                <a:rPr lang="zh-TW" altLang="en-US" sz="1400" i="0">
                                  <a:latin typeface="Cambria Math" panose="02040503050406030204" pitchFamily="18" charset="0"/>
                                </a:rPr>
                                <m:t>3</m:t>
                              </m:r>
                            </m:num>
                            <m:den>
                              <m:r>
                                <a:rPr lang="zh-TW" altLang="en-US" sz="1400" i="0">
                                  <a:latin typeface="Cambria Math" panose="02040503050406030204" pitchFamily="18" charset="0"/>
                                </a:rPr>
                                <m:t>2</m:t>
                              </m:r>
                            </m:den>
                          </m:f>
                        </m:sup>
                      </m:sSup>
                      <m:sSub>
                        <m:sSubPr>
                          <m:ctrlPr>
                            <a:rPr lang="zh-TW" altLang="en-US" sz="1400" i="1">
                              <a:latin typeface="Cambria Math" panose="02040503050406030204" pitchFamily="18" charset="0"/>
                            </a:rPr>
                          </m:ctrlPr>
                        </m:sSubPr>
                        <m:e>
                          <m:r>
                            <a:rPr lang="zh-TW" altLang="en-US" sz="1400" i="1">
                              <a:latin typeface="Cambria Math" panose="02040503050406030204" pitchFamily="18" charset="0"/>
                            </a:rPr>
                            <m:t>𝛾</m:t>
                          </m:r>
                        </m:e>
                        <m:sub>
                          <m:r>
                            <a:rPr lang="zh-TW" altLang="en-US" sz="1400" i="0">
                              <a:latin typeface="Cambria Math" panose="02040503050406030204" pitchFamily="18" charset="0"/>
                            </a:rPr>
                            <m:t>51</m:t>
                          </m:r>
                        </m:sub>
                      </m:sSub>
                      <m:sSub>
                        <m:sSubPr>
                          <m:ctrlPr>
                            <a:rPr lang="zh-TW" altLang="en-US" sz="1400" i="1">
                              <a:latin typeface="Cambria Math" panose="02040503050406030204" pitchFamily="18" charset="0"/>
                            </a:rPr>
                          </m:ctrlPr>
                        </m:sSubPr>
                        <m:e>
                          <m:r>
                            <a:rPr lang="zh-TW" altLang="en-US" sz="1400" i="1">
                              <a:latin typeface="Cambria Math" panose="02040503050406030204" pitchFamily="18" charset="0"/>
                            </a:rPr>
                            <m:t>𝐸</m:t>
                          </m:r>
                        </m:e>
                        <m:sub>
                          <m:r>
                            <a:rPr lang="zh-TW" altLang="en-US" sz="1400" i="1">
                              <a:latin typeface="Cambria Math" panose="02040503050406030204" pitchFamily="18" charset="0"/>
                            </a:rPr>
                            <m:t>𝑦</m:t>
                          </m:r>
                        </m:sub>
                      </m:sSub>
                      <m:r>
                        <a:rPr lang="zh-TW" altLang="en-US" sz="1400" i="1">
                          <a:latin typeface="Cambria Math" panose="02040503050406030204" pitchFamily="18" charset="0"/>
                        </a:rPr>
                        <m:t>𝑠</m:t>
                      </m:r>
                      <m:r>
                        <a:rPr lang="zh-TW" altLang="en-US" sz="1400" i="0">
                          <a:latin typeface="Cambria Math" panose="02040503050406030204" pitchFamily="18" charset="0"/>
                        </a:rPr>
                        <m:t>(</m:t>
                      </m:r>
                      <m:r>
                        <a:rPr lang="zh-TW" altLang="en-US" sz="1400" i="1">
                          <a:latin typeface="Cambria Math" panose="02040503050406030204" pitchFamily="18" charset="0"/>
                        </a:rPr>
                        <m:t>𝑥</m:t>
                      </m:r>
                      <m:r>
                        <a:rPr lang="en-US" altLang="zh-TW" sz="1400" i="1" smtClean="0">
                          <a:latin typeface="Cambria Math" panose="02040503050406030204" pitchFamily="18" charset="0"/>
                        </a:rPr>
                        <m:t>)</m:t>
                      </m:r>
                    </m:oMath>
                  </m:oMathPara>
                </a14:m>
                <a:endParaRPr lang="zh-TW" altLang="en-US" sz="1400" dirty="0"/>
              </a:p>
            </p:txBody>
          </p:sp>
        </mc:Choice>
        <mc:Fallback xmlns="">
          <p:sp>
            <p:nvSpPr>
              <p:cNvPr id="67" name="矩形 66">
                <a:extLst>
                  <a:ext uri="{FF2B5EF4-FFF2-40B4-BE49-F238E27FC236}">
                    <a16:creationId xmlns:a16="http://schemas.microsoft.com/office/drawing/2014/main" id="{8EBA7953-63C6-9330-0A12-D12D522ED085}"/>
                  </a:ext>
                </a:extLst>
              </p:cNvPr>
              <p:cNvSpPr>
                <a:spLocks noRot="1" noChangeAspect="1" noMove="1" noResize="1" noEditPoints="1" noAdjustHandles="1" noChangeArrowheads="1" noChangeShapeType="1" noTextEdit="1"/>
              </p:cNvSpPr>
              <p:nvPr/>
            </p:nvSpPr>
            <p:spPr>
              <a:xfrm>
                <a:off x="616879" y="3418056"/>
                <a:ext cx="2403735" cy="522900"/>
              </a:xfrm>
              <a:prstGeom prst="rect">
                <a:avLst/>
              </a:prstGeom>
              <a:blipFill>
                <a:blip r:embed="rId21"/>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8" name="矩形 67">
                <a:extLst>
                  <a:ext uri="{FF2B5EF4-FFF2-40B4-BE49-F238E27FC236}">
                    <a16:creationId xmlns:a16="http://schemas.microsoft.com/office/drawing/2014/main" id="{9DE3D2FE-3068-6123-1CA5-CF928E8BA0D7}"/>
                  </a:ext>
                </a:extLst>
              </p:cNvPr>
              <p:cNvSpPr/>
              <p:nvPr/>
            </p:nvSpPr>
            <p:spPr>
              <a:xfrm>
                <a:off x="2942055" y="3518604"/>
                <a:ext cx="1097673"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1400" b="0" i="1" smtClean="0">
                          <a:latin typeface="Cambria Math" panose="02040503050406030204" pitchFamily="18" charset="0"/>
                        </a:rPr>
                        <m:t>, </m:t>
                      </m:r>
                      <m:r>
                        <a:rPr lang="zh-TW" altLang="en-US" sz="1400" i="1">
                          <a:latin typeface="Cambria Math" panose="02040503050406030204" pitchFamily="18" charset="0"/>
                        </a:rPr>
                        <m:t>𝑠</m:t>
                      </m:r>
                      <m:d>
                        <m:dPr>
                          <m:ctrlPr>
                            <a:rPr lang="zh-TW" altLang="en-US" sz="1400" i="1">
                              <a:latin typeface="Cambria Math" panose="02040503050406030204" pitchFamily="18" charset="0"/>
                            </a:rPr>
                          </m:ctrlPr>
                        </m:dPr>
                        <m:e>
                          <m:r>
                            <a:rPr lang="zh-TW" altLang="en-US" sz="1400" i="1">
                              <a:latin typeface="Cambria Math" panose="02040503050406030204" pitchFamily="18" charset="0"/>
                            </a:rPr>
                            <m:t>𝑥</m:t>
                          </m:r>
                        </m:e>
                      </m:d>
                      <m:r>
                        <a:rPr lang="zh-TW" altLang="en-US" sz="1400" i="0">
                          <a:latin typeface="Cambria Math" panose="02040503050406030204" pitchFamily="18" charset="0"/>
                        </a:rPr>
                        <m:t>=±1</m:t>
                      </m:r>
                    </m:oMath>
                  </m:oMathPara>
                </a14:m>
                <a:endParaRPr lang="zh-TW" altLang="en-US" sz="1400" dirty="0"/>
              </a:p>
            </p:txBody>
          </p:sp>
        </mc:Choice>
        <mc:Fallback xmlns="">
          <p:sp>
            <p:nvSpPr>
              <p:cNvPr id="68" name="矩形 67">
                <a:extLst>
                  <a:ext uri="{FF2B5EF4-FFF2-40B4-BE49-F238E27FC236}">
                    <a16:creationId xmlns:a16="http://schemas.microsoft.com/office/drawing/2014/main" id="{9DE3D2FE-3068-6123-1CA5-CF928E8BA0D7}"/>
                  </a:ext>
                </a:extLst>
              </p:cNvPr>
              <p:cNvSpPr>
                <a:spLocks noRot="1" noChangeAspect="1" noMove="1" noResize="1" noEditPoints="1" noAdjustHandles="1" noChangeArrowheads="1" noChangeShapeType="1" noTextEdit="1"/>
              </p:cNvSpPr>
              <p:nvPr/>
            </p:nvSpPr>
            <p:spPr>
              <a:xfrm>
                <a:off x="2942055" y="3518604"/>
                <a:ext cx="1097673" cy="307777"/>
              </a:xfrm>
              <a:prstGeom prst="rect">
                <a:avLst/>
              </a:prstGeom>
              <a:blipFill>
                <a:blip r:embed="rId22"/>
                <a:stretch>
                  <a:fillRect/>
                </a:stretch>
              </a:blipFill>
            </p:spPr>
            <p:txBody>
              <a:bodyPr/>
              <a:lstStyle/>
              <a:p>
                <a:r>
                  <a:rPr lang="zh-TW" altLang="en-US">
                    <a:noFill/>
                  </a:rPr>
                  <a:t> </a:t>
                </a:r>
              </a:p>
            </p:txBody>
          </p:sp>
        </mc:Fallback>
      </mc:AlternateContent>
      <p:sp>
        <p:nvSpPr>
          <p:cNvPr id="69" name="矩形 68">
            <a:extLst>
              <a:ext uri="{FF2B5EF4-FFF2-40B4-BE49-F238E27FC236}">
                <a16:creationId xmlns:a16="http://schemas.microsoft.com/office/drawing/2014/main" id="{9DFA4247-12A1-AE56-31E0-0A21DE409419}"/>
              </a:ext>
            </a:extLst>
          </p:cNvPr>
          <p:cNvSpPr/>
          <p:nvPr/>
        </p:nvSpPr>
        <p:spPr>
          <a:xfrm>
            <a:off x="4084873" y="3479291"/>
            <a:ext cx="1518364" cy="461665"/>
          </a:xfrm>
          <a:prstGeom prst="rect">
            <a:avLst/>
          </a:prstGeom>
        </p:spPr>
        <p:txBody>
          <a:bodyPr wrap="none">
            <a:spAutoFit/>
          </a:bodyPr>
          <a:lstStyle/>
          <a:p>
            <a:r>
              <a:rPr lang="en-US" altLang="zh-TW" sz="1200" i="1" dirty="0">
                <a:latin typeface="Times New Roman" panose="02020603050405020304" pitchFamily="18" charset="0"/>
                <a:cs typeface="Times New Roman" panose="02020603050405020304" pitchFamily="18" charset="0"/>
              </a:rPr>
              <a:t>+1</a:t>
            </a:r>
            <a:r>
              <a:rPr lang="zh-TW" altLang="en-US" sz="1200" i="1" dirty="0">
                <a:latin typeface="Times New Roman" panose="02020603050405020304" pitchFamily="18" charset="0"/>
                <a:cs typeface="Times New Roman" panose="02020603050405020304" pitchFamily="18" charset="0"/>
              </a:rPr>
              <a:t> </a:t>
            </a:r>
            <a:r>
              <a:rPr lang="en-US" altLang="zh-TW" sz="1200" i="1" dirty="0">
                <a:latin typeface="Times New Roman" panose="02020603050405020304" pitchFamily="18" charset="0"/>
                <a:cs typeface="Times New Roman" panose="02020603050405020304" pitchFamily="18" charset="0"/>
              </a:rPr>
              <a:t>is positive domain</a:t>
            </a:r>
          </a:p>
          <a:p>
            <a:r>
              <a:rPr lang="en-US" altLang="zh-TW" sz="1200" i="1" dirty="0">
                <a:latin typeface="Times New Roman" panose="02020603050405020304" pitchFamily="18" charset="0"/>
                <a:cs typeface="Times New Roman" panose="02020603050405020304" pitchFamily="18" charset="0"/>
              </a:rPr>
              <a:t>-1 is negative domain</a:t>
            </a:r>
            <a:endParaRPr lang="zh-TW" altLang="en-US" sz="1200" i="1" dirty="0">
              <a:latin typeface="Times New Roman" panose="02020603050405020304" pitchFamily="18" charset="0"/>
              <a:cs typeface="Times New Roman" panose="02020603050405020304" pitchFamily="18" charset="0"/>
            </a:endParaRPr>
          </a:p>
        </p:txBody>
      </p:sp>
      <p:sp>
        <p:nvSpPr>
          <p:cNvPr id="70" name="矩形 69">
            <a:extLst>
              <a:ext uri="{FF2B5EF4-FFF2-40B4-BE49-F238E27FC236}">
                <a16:creationId xmlns:a16="http://schemas.microsoft.com/office/drawing/2014/main" id="{85837417-183D-C172-43DA-CCF9DC2B6D69}"/>
              </a:ext>
            </a:extLst>
          </p:cNvPr>
          <p:cNvSpPr/>
          <p:nvPr/>
        </p:nvSpPr>
        <p:spPr>
          <a:xfrm>
            <a:off x="504412" y="1801210"/>
            <a:ext cx="2516202" cy="369332"/>
          </a:xfrm>
          <a:prstGeom prst="rect">
            <a:avLst/>
          </a:prstGeom>
        </p:spPr>
        <p:txBody>
          <a:bodyPr wrap="none">
            <a:spAutoFit/>
          </a:bodyPr>
          <a:lstStyle/>
          <a:p>
            <a:r>
              <a:rPr lang="zh-TW" altLang="en-US" u="sng" dirty="0"/>
              <a:t>coupled mode equations</a:t>
            </a:r>
          </a:p>
        </p:txBody>
      </p:sp>
    </p:spTree>
    <p:extLst>
      <p:ext uri="{BB962C8B-B14F-4D97-AF65-F5344CB8AC3E}">
        <p14:creationId xmlns:p14="http://schemas.microsoft.com/office/powerpoint/2010/main" val="419624477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Simulated EOPMC</a:t>
            </a:r>
            <a:endParaRPr lang="zh-TW" altLang="en-US" b="1"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0039351" y="6356352"/>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75</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sp>
        <p:nvSpPr>
          <p:cNvPr id="7" name="文字方塊 6">
            <a:extLst>
              <a:ext uri="{FF2B5EF4-FFF2-40B4-BE49-F238E27FC236}">
                <a16:creationId xmlns:a16="http://schemas.microsoft.com/office/drawing/2014/main" id="{C9AD403D-6D72-413A-2558-CB94418F834F}"/>
              </a:ext>
            </a:extLst>
          </p:cNvPr>
          <p:cNvSpPr txBox="1"/>
          <p:nvPr/>
        </p:nvSpPr>
        <p:spPr>
          <a:xfrm>
            <a:off x="4381717" y="658287"/>
            <a:ext cx="3118338" cy="727571"/>
          </a:xfrm>
          <a:prstGeom prst="rect">
            <a:avLst/>
          </a:prstGeom>
          <a:noFill/>
        </p:spPr>
        <p:txBody>
          <a:bodyPr wrap="square">
            <a:spAutoFit/>
          </a:bodyPr>
          <a:lstStyle/>
          <a:p>
            <a:pPr marL="0" indent="0">
              <a:lnSpc>
                <a:spcPct val="200000"/>
              </a:lnSpc>
              <a:buNone/>
            </a:pPr>
            <a:r>
              <a:rPr lang="en-US" altLang="zh-TW" sz="2400" b="1" dirty="0">
                <a:effectLst>
                  <a:outerShdw blurRad="38100" dist="38100" dir="2700000" algn="tl">
                    <a:srgbClr val="000000">
                      <a:alpha val="43137"/>
                    </a:srgbClr>
                  </a:outerShdw>
                </a:effectLst>
              </a:rPr>
              <a:t>Genetic Algorithm(GA)</a:t>
            </a:r>
            <a:endParaRPr lang="zh-TW" altLang="en-US" sz="2400" b="1" dirty="0">
              <a:effectLst>
                <a:outerShdw blurRad="38100" dist="38100" dir="2700000" algn="tl">
                  <a:srgbClr val="000000">
                    <a:alpha val="43137"/>
                  </a:srgbClr>
                </a:outerShdw>
              </a:effectLst>
            </a:endParaRPr>
          </a:p>
        </p:txBody>
      </p:sp>
      <p:pic>
        <p:nvPicPr>
          <p:cNvPr id="8" name="圖片 7">
            <a:extLst>
              <a:ext uri="{FF2B5EF4-FFF2-40B4-BE49-F238E27FC236}">
                <a16:creationId xmlns:a16="http://schemas.microsoft.com/office/drawing/2014/main" id="{A7AC9585-A022-1A98-8823-85443C0339A6}"/>
              </a:ext>
            </a:extLst>
          </p:cNvPr>
          <p:cNvPicPr>
            <a:picLocks noChangeAspect="1"/>
          </p:cNvPicPr>
          <p:nvPr/>
        </p:nvPicPr>
        <p:blipFill>
          <a:blip r:embed="rId4"/>
          <a:stretch>
            <a:fillRect/>
          </a:stretch>
        </p:blipFill>
        <p:spPr>
          <a:xfrm>
            <a:off x="9274902" y="54389"/>
            <a:ext cx="1142251" cy="700265"/>
          </a:xfrm>
          <a:prstGeom prst="rect">
            <a:avLst/>
          </a:prstGeom>
        </p:spPr>
      </p:pic>
      <p:pic>
        <p:nvPicPr>
          <p:cNvPr id="11" name="圖片 10">
            <a:extLst>
              <a:ext uri="{FF2B5EF4-FFF2-40B4-BE49-F238E27FC236}">
                <a16:creationId xmlns:a16="http://schemas.microsoft.com/office/drawing/2014/main" id="{F0E2A3B0-5F48-F1E8-29DE-F4A714CF3031}"/>
              </a:ext>
            </a:extLst>
          </p:cNvPr>
          <p:cNvPicPr>
            <a:picLocks noChangeAspect="1"/>
          </p:cNvPicPr>
          <p:nvPr/>
        </p:nvPicPr>
        <p:blipFill>
          <a:blip r:embed="rId5"/>
          <a:stretch>
            <a:fillRect/>
          </a:stretch>
        </p:blipFill>
        <p:spPr>
          <a:xfrm>
            <a:off x="3556643" y="2487711"/>
            <a:ext cx="1089025" cy="735519"/>
          </a:xfrm>
          <a:prstGeom prst="rect">
            <a:avLst/>
          </a:prstGeom>
        </p:spPr>
      </p:pic>
      <p:pic>
        <p:nvPicPr>
          <p:cNvPr id="15" name="圖片 14">
            <a:extLst>
              <a:ext uri="{FF2B5EF4-FFF2-40B4-BE49-F238E27FC236}">
                <a16:creationId xmlns:a16="http://schemas.microsoft.com/office/drawing/2014/main" id="{BBCD0766-0021-5FD8-2355-79A520E5EC9A}"/>
              </a:ext>
            </a:extLst>
          </p:cNvPr>
          <p:cNvPicPr>
            <a:picLocks noChangeAspect="1"/>
          </p:cNvPicPr>
          <p:nvPr/>
        </p:nvPicPr>
        <p:blipFill>
          <a:blip r:embed="rId6"/>
          <a:stretch>
            <a:fillRect/>
          </a:stretch>
        </p:blipFill>
        <p:spPr>
          <a:xfrm>
            <a:off x="3470704" y="4846589"/>
            <a:ext cx="1249788" cy="1164437"/>
          </a:xfrm>
          <a:prstGeom prst="rect">
            <a:avLst/>
          </a:prstGeom>
        </p:spPr>
      </p:pic>
      <p:pic>
        <p:nvPicPr>
          <p:cNvPr id="17" name="圖片 16">
            <a:extLst>
              <a:ext uri="{FF2B5EF4-FFF2-40B4-BE49-F238E27FC236}">
                <a16:creationId xmlns:a16="http://schemas.microsoft.com/office/drawing/2014/main" id="{FC934911-3B9C-0DAD-79F0-AE7B9A2F5BB8}"/>
              </a:ext>
            </a:extLst>
          </p:cNvPr>
          <p:cNvPicPr>
            <a:picLocks noChangeAspect="1"/>
          </p:cNvPicPr>
          <p:nvPr/>
        </p:nvPicPr>
        <p:blipFill>
          <a:blip r:embed="rId7"/>
          <a:stretch>
            <a:fillRect/>
          </a:stretch>
        </p:blipFill>
        <p:spPr>
          <a:xfrm>
            <a:off x="8232320" y="1282647"/>
            <a:ext cx="3614061" cy="4868379"/>
          </a:xfrm>
          <a:prstGeom prst="rect">
            <a:avLst/>
          </a:prstGeom>
        </p:spPr>
      </p:pic>
      <p:pic>
        <p:nvPicPr>
          <p:cNvPr id="6" name="圖片 5">
            <a:extLst>
              <a:ext uri="{FF2B5EF4-FFF2-40B4-BE49-F238E27FC236}">
                <a16:creationId xmlns:a16="http://schemas.microsoft.com/office/drawing/2014/main" id="{9E2F4FE8-1842-7055-E116-A7FFA7B7B21E}"/>
              </a:ext>
            </a:extLst>
          </p:cNvPr>
          <p:cNvPicPr>
            <a:picLocks noChangeAspect="1"/>
          </p:cNvPicPr>
          <p:nvPr/>
        </p:nvPicPr>
        <p:blipFill>
          <a:blip r:embed="rId8"/>
          <a:stretch>
            <a:fillRect/>
          </a:stretch>
        </p:blipFill>
        <p:spPr>
          <a:xfrm>
            <a:off x="96681" y="1412814"/>
            <a:ext cx="3298222" cy="2914141"/>
          </a:xfrm>
          <a:prstGeom prst="rect">
            <a:avLst/>
          </a:prstGeom>
        </p:spPr>
      </p:pic>
      <p:pic>
        <p:nvPicPr>
          <p:cNvPr id="10" name="圖片 9">
            <a:extLst>
              <a:ext uri="{FF2B5EF4-FFF2-40B4-BE49-F238E27FC236}">
                <a16:creationId xmlns:a16="http://schemas.microsoft.com/office/drawing/2014/main" id="{7D9BE284-0313-1319-E4C2-3CE213F151AD}"/>
              </a:ext>
            </a:extLst>
          </p:cNvPr>
          <p:cNvPicPr>
            <a:picLocks noChangeAspect="1"/>
          </p:cNvPicPr>
          <p:nvPr/>
        </p:nvPicPr>
        <p:blipFill>
          <a:blip r:embed="rId9"/>
          <a:stretch>
            <a:fillRect/>
          </a:stretch>
        </p:blipFill>
        <p:spPr>
          <a:xfrm>
            <a:off x="4707125" y="1439465"/>
            <a:ext cx="3463737" cy="2914141"/>
          </a:xfrm>
          <a:prstGeom prst="rect">
            <a:avLst/>
          </a:prstGeom>
        </p:spPr>
      </p:pic>
      <p:pic>
        <p:nvPicPr>
          <p:cNvPr id="14" name="圖片 13">
            <a:extLst>
              <a:ext uri="{FF2B5EF4-FFF2-40B4-BE49-F238E27FC236}">
                <a16:creationId xmlns:a16="http://schemas.microsoft.com/office/drawing/2014/main" id="{7FF71A8A-865B-4A52-2E0F-D2AB1252EBFB}"/>
              </a:ext>
            </a:extLst>
          </p:cNvPr>
          <p:cNvPicPr>
            <a:picLocks noChangeAspect="1"/>
          </p:cNvPicPr>
          <p:nvPr/>
        </p:nvPicPr>
        <p:blipFill>
          <a:blip r:embed="rId10"/>
          <a:stretch>
            <a:fillRect/>
          </a:stretch>
        </p:blipFill>
        <p:spPr>
          <a:xfrm>
            <a:off x="96681" y="4929764"/>
            <a:ext cx="3292125" cy="1426588"/>
          </a:xfrm>
          <a:prstGeom prst="rect">
            <a:avLst/>
          </a:prstGeom>
        </p:spPr>
      </p:pic>
      <p:pic>
        <p:nvPicPr>
          <p:cNvPr id="18" name="圖片 17">
            <a:extLst>
              <a:ext uri="{FF2B5EF4-FFF2-40B4-BE49-F238E27FC236}">
                <a16:creationId xmlns:a16="http://schemas.microsoft.com/office/drawing/2014/main" id="{1CAE2E66-3505-0FDF-DB84-55A6B12D7B4B}"/>
              </a:ext>
            </a:extLst>
          </p:cNvPr>
          <p:cNvPicPr>
            <a:picLocks noChangeAspect="1"/>
          </p:cNvPicPr>
          <p:nvPr/>
        </p:nvPicPr>
        <p:blipFill>
          <a:blip r:embed="rId11"/>
          <a:stretch>
            <a:fillRect/>
          </a:stretch>
        </p:blipFill>
        <p:spPr>
          <a:xfrm>
            <a:off x="4878737" y="4929764"/>
            <a:ext cx="3292125" cy="1426588"/>
          </a:xfrm>
          <a:prstGeom prst="rect">
            <a:avLst/>
          </a:prstGeom>
        </p:spPr>
      </p:pic>
    </p:spTree>
    <p:extLst>
      <p:ext uri="{BB962C8B-B14F-4D97-AF65-F5344CB8AC3E}">
        <p14:creationId xmlns:p14="http://schemas.microsoft.com/office/powerpoint/2010/main" val="1774151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left)">
                                      <p:cBhvr>
                                        <p:cTn id="21" dur="500"/>
                                        <p:tgtEl>
                                          <p:spTgt spid="15"/>
                                        </p:tgtEl>
                                      </p:cBhvr>
                                    </p:animEffect>
                                  </p:childTnLst>
                                </p:cTn>
                              </p:par>
                            </p:childTnLst>
                          </p:cTn>
                        </p:par>
                        <p:par>
                          <p:cTn id="22" fill="hold">
                            <p:stCondLst>
                              <p:cond delay="500"/>
                            </p:stCondLst>
                            <p:childTnLst>
                              <p:par>
                                <p:cTn id="23" presetID="10" presetClass="entr" presetSubtype="0" fill="hold" nodeType="after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104D4D6-8C0C-4520-AE45-A6AE1C449FBE}"/>
              </a:ext>
            </a:extLst>
          </p:cNvPr>
          <p:cNvSpPr>
            <a:spLocks noGrp="1"/>
          </p:cNvSpPr>
          <p:nvPr>
            <p:ph type="title"/>
          </p:nvPr>
        </p:nvSpPr>
        <p:spPr>
          <a:xfrm>
            <a:off x="0" y="0"/>
            <a:ext cx="12192000" cy="781178"/>
          </a:xfrm>
          <a:gradFill flip="none" rotWithShape="1">
            <a:gsLst>
              <a:gs pos="0">
                <a:schemeClr val="accent5">
                  <a:lumMod val="20000"/>
                  <a:lumOff val="80000"/>
                  <a:shade val="30000"/>
                  <a:satMod val="115000"/>
                </a:schemeClr>
              </a:gs>
              <a:gs pos="50000">
                <a:schemeClr val="accent5">
                  <a:lumMod val="20000"/>
                  <a:lumOff val="80000"/>
                  <a:shade val="67500"/>
                  <a:satMod val="115000"/>
                </a:schemeClr>
              </a:gs>
              <a:gs pos="100000">
                <a:schemeClr val="accent5">
                  <a:lumMod val="20000"/>
                  <a:lumOff val="80000"/>
                  <a:shade val="100000"/>
                  <a:satMod val="115000"/>
                </a:schemeClr>
              </a:gs>
            </a:gsLst>
            <a:path path="circle">
              <a:fillToRect l="100000" t="100000"/>
            </a:path>
            <a:tileRect r="-100000" b="-100000"/>
          </a:gradFill>
        </p:spPr>
        <p:txBody>
          <a:bodyPr>
            <a:normAutofit/>
          </a:bodyPr>
          <a:lstStyle/>
          <a:p>
            <a:r>
              <a:rPr lang="en-US" altLang="zh-TW" b="1" dirty="0">
                <a:latin typeface="Times New Roman" panose="02020603050405020304" pitchFamily="18" charset="0"/>
                <a:cs typeface="Times New Roman" panose="02020603050405020304" pitchFamily="18" charset="0"/>
              </a:rPr>
              <a:t>Motivation</a:t>
            </a:r>
            <a:endParaRPr lang="zh-TW" altLang="en-US" b="1" dirty="0">
              <a:latin typeface="Times New Roman" panose="02020603050405020304" pitchFamily="18" charset="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DFA42527-C14F-4769-B1CD-9C2F4FE7AAD6}"/>
              </a:ext>
            </a:extLst>
          </p:cNvPr>
          <p:cNvSpPr>
            <a:spLocks noGrp="1"/>
          </p:cNvSpPr>
          <p:nvPr>
            <p:ph type="sldNum" sz="quarter" idx="4294967295"/>
          </p:nvPr>
        </p:nvSpPr>
        <p:spPr>
          <a:xfrm>
            <a:off x="11595397" y="5262760"/>
            <a:ext cx="471101" cy="365125"/>
          </a:xfrm>
        </p:spPr>
        <p:txBody>
          <a:bodyPr/>
          <a:lstStyle/>
          <a:p>
            <a:fld id="{09A51F5D-0E00-425F-A9D9-084622BDD753}" type="slidenum">
              <a:rPr lang="zh-TW" altLang="en-US" b="1" smtClean="0">
                <a:latin typeface="Times New Roman" panose="02020603050405020304" pitchFamily="18" charset="0"/>
                <a:cs typeface="Times New Roman" panose="02020603050405020304" pitchFamily="18" charset="0"/>
              </a:rPr>
              <a:t>76</a:t>
            </a:fld>
            <a:endParaRPr lang="zh-TW" altLang="en-US" b="1"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CD52FCB6-44A1-3C83-83E3-66C2036B8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8332" y="107278"/>
            <a:ext cx="1374150" cy="551009"/>
          </a:xfrm>
          <a:prstGeom prst="round2DiagRect">
            <a:avLst>
              <a:gd name="adj1" fmla="val 11157"/>
              <a:gd name="adj2" fmla="val 0"/>
            </a:avLst>
          </a:prstGeom>
          <a:ln w="88900" cap="sq">
            <a:solidFill>
              <a:srgbClr val="FFFFFF"/>
            </a:solidFill>
            <a:miter lim="800000"/>
          </a:ln>
          <a:effectLst>
            <a:outerShdw blurRad="254000" algn="tl" rotWithShape="0">
              <a:srgbClr val="000000">
                <a:alpha val="43000"/>
              </a:srgbClr>
            </a:outerShdw>
          </a:effectLst>
        </p:spPr>
      </p:pic>
      <p:pic>
        <p:nvPicPr>
          <p:cNvPr id="9" name="圖片 8">
            <a:extLst>
              <a:ext uri="{FF2B5EF4-FFF2-40B4-BE49-F238E27FC236}">
                <a16:creationId xmlns:a16="http://schemas.microsoft.com/office/drawing/2014/main" id="{942E12CE-C8D8-CD0E-2552-3D1835CC04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340320"/>
            <a:ext cx="3696543" cy="2569889"/>
          </a:xfrm>
          <a:prstGeom prst="rect">
            <a:avLst/>
          </a:prstGeom>
        </p:spPr>
      </p:pic>
      <p:pic>
        <p:nvPicPr>
          <p:cNvPr id="11" name="圖片 10">
            <a:extLst>
              <a:ext uri="{FF2B5EF4-FFF2-40B4-BE49-F238E27FC236}">
                <a16:creationId xmlns:a16="http://schemas.microsoft.com/office/drawing/2014/main" id="{4FF6B54A-4284-751A-0139-99D4F0C1ED6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28488" y="3447975"/>
            <a:ext cx="3823994" cy="2569889"/>
          </a:xfrm>
          <a:prstGeom prst="rect">
            <a:avLst/>
          </a:prstGeom>
        </p:spPr>
      </p:pic>
      <p:sp>
        <p:nvSpPr>
          <p:cNvPr id="16" name="文字方塊 15">
            <a:extLst>
              <a:ext uri="{FF2B5EF4-FFF2-40B4-BE49-F238E27FC236}">
                <a16:creationId xmlns:a16="http://schemas.microsoft.com/office/drawing/2014/main" id="{553B265F-A54C-8B56-5CE7-8168FF0EEA32}"/>
              </a:ext>
            </a:extLst>
          </p:cNvPr>
          <p:cNvSpPr txBox="1"/>
          <p:nvPr/>
        </p:nvSpPr>
        <p:spPr>
          <a:xfrm>
            <a:off x="773614" y="6307291"/>
            <a:ext cx="1962320" cy="276999"/>
          </a:xfrm>
          <a:prstGeom prst="rect">
            <a:avLst/>
          </a:prstGeom>
          <a:noFill/>
        </p:spPr>
        <p:txBody>
          <a:bodyPr wrap="square">
            <a:spAutoFit/>
          </a:bodyPr>
          <a:lstStyle/>
          <a:p>
            <a:r>
              <a:rPr lang="nn-NO" altLang="zh-TW" sz="1200" dirty="0"/>
              <a:t> Phys. Lett. 85, 2457 (2004)</a:t>
            </a:r>
            <a:endParaRPr lang="nl-NL" altLang="zh-TW" sz="1200" dirty="0"/>
          </a:p>
        </p:txBody>
      </p:sp>
      <p:sp>
        <p:nvSpPr>
          <p:cNvPr id="17" name="文字方塊 16">
            <a:extLst>
              <a:ext uri="{FF2B5EF4-FFF2-40B4-BE49-F238E27FC236}">
                <a16:creationId xmlns:a16="http://schemas.microsoft.com/office/drawing/2014/main" id="{06EF57AC-1204-702C-C560-209DD3E4110C}"/>
              </a:ext>
            </a:extLst>
          </p:cNvPr>
          <p:cNvSpPr txBox="1"/>
          <p:nvPr/>
        </p:nvSpPr>
        <p:spPr>
          <a:xfrm>
            <a:off x="9062873" y="6307290"/>
            <a:ext cx="2273320" cy="276999"/>
          </a:xfrm>
          <a:prstGeom prst="rect">
            <a:avLst/>
          </a:prstGeom>
          <a:noFill/>
        </p:spPr>
        <p:txBody>
          <a:bodyPr wrap="square">
            <a:spAutoFit/>
          </a:bodyPr>
          <a:lstStyle/>
          <a:p>
            <a:r>
              <a:rPr lang="nn-NO" altLang="zh-TW" sz="1200" dirty="0"/>
              <a:t> </a:t>
            </a:r>
            <a:r>
              <a:rPr lang="en-US" altLang="zh-TW" sz="1200" dirty="0"/>
              <a:t>Opt. Express 21, 29013 (2013)</a:t>
            </a:r>
            <a:endParaRPr lang="nl-NL" altLang="zh-TW" sz="1200" dirty="0"/>
          </a:p>
        </p:txBody>
      </p:sp>
      <p:sp>
        <p:nvSpPr>
          <p:cNvPr id="19" name="文字方塊 18">
            <a:extLst>
              <a:ext uri="{FF2B5EF4-FFF2-40B4-BE49-F238E27FC236}">
                <a16:creationId xmlns:a16="http://schemas.microsoft.com/office/drawing/2014/main" id="{9DFEA7C0-C3C8-35AE-FC02-375E8C51FA4A}"/>
              </a:ext>
            </a:extLst>
          </p:cNvPr>
          <p:cNvSpPr txBox="1"/>
          <p:nvPr/>
        </p:nvSpPr>
        <p:spPr>
          <a:xfrm>
            <a:off x="1754774" y="1342324"/>
            <a:ext cx="7852213" cy="1015663"/>
          </a:xfrm>
          <a:prstGeom prst="rect">
            <a:avLst/>
          </a:prstGeom>
          <a:noFill/>
          <a:ln w="19050">
            <a:solidFill>
              <a:schemeClr val="accent1"/>
            </a:solidFill>
          </a:ln>
        </p:spPr>
        <p:txBody>
          <a:bodyPr wrap="square">
            <a:spAutoFit/>
          </a:bodyPr>
          <a:lstStyle/>
          <a:p>
            <a:pPr algn="just"/>
            <a:r>
              <a:rPr lang="en-US" altLang="zh-TW" sz="2000" dirty="0"/>
              <a:t>Generation of polarization-entangled photon pairs at 1550 nm using two PPLN waveguides and used this entangle-photon </a:t>
            </a:r>
            <a:r>
              <a:rPr lang="en-US" altLang="zh-TW" sz="2000" dirty="0" err="1"/>
              <a:t>sourse</a:t>
            </a:r>
            <a:r>
              <a:rPr lang="en-US" altLang="zh-TW" sz="2000" dirty="0"/>
              <a:t> (EPS) in entanglement distribution fiber network.</a:t>
            </a:r>
            <a:endParaRPr lang="zh-TW" altLang="en-US" sz="2000" dirty="0"/>
          </a:p>
        </p:txBody>
      </p:sp>
      <p:sp>
        <p:nvSpPr>
          <p:cNvPr id="10" name="文字方塊 9">
            <a:extLst>
              <a:ext uri="{FF2B5EF4-FFF2-40B4-BE49-F238E27FC236}">
                <a16:creationId xmlns:a16="http://schemas.microsoft.com/office/drawing/2014/main" id="{17CF2186-223D-092B-704F-230F9D693642}"/>
              </a:ext>
            </a:extLst>
          </p:cNvPr>
          <p:cNvSpPr txBox="1"/>
          <p:nvPr/>
        </p:nvSpPr>
        <p:spPr>
          <a:xfrm>
            <a:off x="4404271" y="6332285"/>
            <a:ext cx="2990265" cy="276999"/>
          </a:xfrm>
          <a:prstGeom prst="rect">
            <a:avLst/>
          </a:prstGeom>
          <a:noFill/>
        </p:spPr>
        <p:txBody>
          <a:bodyPr wrap="square">
            <a:spAutoFit/>
          </a:bodyPr>
          <a:lstStyle/>
          <a:p>
            <a:r>
              <a:rPr lang="en-US" altLang="zh-TW" sz="1200" dirty="0"/>
              <a:t>Optics Express 16, 14512-14523 (2008) </a:t>
            </a:r>
            <a:endParaRPr lang="nl-NL" altLang="zh-TW" sz="1200" dirty="0"/>
          </a:p>
        </p:txBody>
      </p:sp>
      <p:sp>
        <p:nvSpPr>
          <p:cNvPr id="12" name="文字方塊 11">
            <a:extLst>
              <a:ext uri="{FF2B5EF4-FFF2-40B4-BE49-F238E27FC236}">
                <a16:creationId xmlns:a16="http://schemas.microsoft.com/office/drawing/2014/main" id="{9B1AF697-33CC-F432-2019-C9C899D46AE3}"/>
              </a:ext>
            </a:extLst>
          </p:cNvPr>
          <p:cNvSpPr txBox="1"/>
          <p:nvPr/>
        </p:nvSpPr>
        <p:spPr>
          <a:xfrm>
            <a:off x="288408" y="2725813"/>
            <a:ext cx="3116915" cy="646331"/>
          </a:xfrm>
          <a:prstGeom prst="rect">
            <a:avLst/>
          </a:prstGeom>
          <a:noFill/>
          <a:ln>
            <a:solidFill>
              <a:schemeClr val="accent1"/>
            </a:solidFill>
          </a:ln>
        </p:spPr>
        <p:txBody>
          <a:bodyPr wrap="square" rtlCol="0">
            <a:spAutoFit/>
          </a:bodyPr>
          <a:lstStyle/>
          <a:p>
            <a:r>
              <a:rPr lang="en-US" altLang="zh-TW" dirty="0"/>
              <a:t>Generation of polarization-entangled</a:t>
            </a:r>
            <a:r>
              <a:rPr lang="zh-TW" altLang="en-US" dirty="0"/>
              <a:t> </a:t>
            </a:r>
            <a:r>
              <a:rPr lang="en-US" altLang="zh-TW" dirty="0"/>
              <a:t>photon</a:t>
            </a:r>
            <a:r>
              <a:rPr lang="zh-TW" altLang="en-US" dirty="0"/>
              <a:t> </a:t>
            </a:r>
            <a:r>
              <a:rPr lang="en-US" altLang="zh-TW" dirty="0"/>
              <a:t>pairs</a:t>
            </a:r>
            <a:endParaRPr lang="zh-TW" altLang="en-US" dirty="0"/>
          </a:p>
        </p:txBody>
      </p:sp>
      <p:sp>
        <p:nvSpPr>
          <p:cNvPr id="13" name="文字方塊 12">
            <a:extLst>
              <a:ext uri="{FF2B5EF4-FFF2-40B4-BE49-F238E27FC236}">
                <a16:creationId xmlns:a16="http://schemas.microsoft.com/office/drawing/2014/main" id="{DDC326AE-316E-49B3-1C16-B70E7DB01FBD}"/>
              </a:ext>
            </a:extLst>
          </p:cNvPr>
          <p:cNvSpPr txBox="1"/>
          <p:nvPr/>
        </p:nvSpPr>
        <p:spPr>
          <a:xfrm>
            <a:off x="4318718" y="2723297"/>
            <a:ext cx="2795366" cy="646331"/>
          </a:xfrm>
          <a:prstGeom prst="rect">
            <a:avLst/>
          </a:prstGeom>
          <a:noFill/>
          <a:ln>
            <a:solidFill>
              <a:schemeClr val="accent1"/>
            </a:solidFill>
          </a:ln>
        </p:spPr>
        <p:txBody>
          <a:bodyPr wrap="square" rtlCol="0">
            <a:spAutoFit/>
          </a:bodyPr>
          <a:lstStyle/>
          <a:p>
            <a:r>
              <a:rPr lang="en-US" altLang="zh-TW" dirty="0"/>
              <a:t>A local-area fiber network</a:t>
            </a:r>
          </a:p>
          <a:p>
            <a:endParaRPr lang="zh-TW" altLang="en-US" dirty="0"/>
          </a:p>
        </p:txBody>
      </p:sp>
      <p:pic>
        <p:nvPicPr>
          <p:cNvPr id="18" name="圖片 17">
            <a:extLst>
              <a:ext uri="{FF2B5EF4-FFF2-40B4-BE49-F238E27FC236}">
                <a16:creationId xmlns:a16="http://schemas.microsoft.com/office/drawing/2014/main" id="{AA4B9815-168F-FF17-CC7D-FC67ABD33A7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18718" y="3429000"/>
            <a:ext cx="3075818" cy="2588864"/>
          </a:xfrm>
          <a:prstGeom prst="rect">
            <a:avLst/>
          </a:prstGeom>
        </p:spPr>
      </p:pic>
      <p:sp>
        <p:nvSpPr>
          <p:cNvPr id="20" name="文字方塊 19">
            <a:extLst>
              <a:ext uri="{FF2B5EF4-FFF2-40B4-BE49-F238E27FC236}">
                <a16:creationId xmlns:a16="http://schemas.microsoft.com/office/drawing/2014/main" id="{50406689-38F1-0F49-B843-81B3D7F4D098}"/>
              </a:ext>
            </a:extLst>
          </p:cNvPr>
          <p:cNvSpPr txBox="1"/>
          <p:nvPr/>
        </p:nvSpPr>
        <p:spPr>
          <a:xfrm>
            <a:off x="7697248" y="2725813"/>
            <a:ext cx="4355234" cy="646331"/>
          </a:xfrm>
          <a:prstGeom prst="rect">
            <a:avLst/>
          </a:prstGeom>
          <a:noFill/>
          <a:ln>
            <a:solidFill>
              <a:schemeClr val="accent1"/>
            </a:solidFill>
          </a:ln>
        </p:spPr>
        <p:txBody>
          <a:bodyPr wrap="square" rtlCol="0">
            <a:spAutoFit/>
          </a:bodyPr>
          <a:lstStyle/>
          <a:p>
            <a:r>
              <a:rPr lang="en-US" altLang="zh-TW" dirty="0"/>
              <a:t>Use EPS to demonstration entanglement in a multi-user network transmission</a:t>
            </a:r>
            <a:endParaRPr lang="zh-TW" altLang="en-US" dirty="0"/>
          </a:p>
        </p:txBody>
      </p:sp>
    </p:spTree>
    <p:extLst>
      <p:ext uri="{BB962C8B-B14F-4D97-AF65-F5344CB8AC3E}">
        <p14:creationId xmlns:p14="http://schemas.microsoft.com/office/powerpoint/2010/main" val="209122607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D24F51A-E241-4176-F63F-EB8569E3BE32}"/>
              </a:ext>
            </a:extLst>
          </p:cNvPr>
          <p:cNvSpPr>
            <a:spLocks noGrp="1"/>
          </p:cNvSpPr>
          <p:nvPr>
            <p:ph type="title"/>
          </p:nvPr>
        </p:nvSpPr>
        <p:spPr>
          <a:xfrm>
            <a:off x="838200" y="365125"/>
            <a:ext cx="8305800" cy="1325563"/>
          </a:xfrm>
        </p:spPr>
        <p:txBody>
          <a:bodyPr/>
          <a:lstStyle/>
          <a:p>
            <a:r>
              <a:rPr lang="en-US" altLang="zh-TW" dirty="0"/>
              <a:t>100</a:t>
            </a:r>
            <a:r>
              <a:rPr lang="zh-TW" altLang="en-US" dirty="0"/>
              <a:t>度加電壓 </a:t>
            </a:r>
            <a:r>
              <a:rPr lang="en-US" altLang="zh-TW" dirty="0"/>
              <a:t>high resolution</a:t>
            </a:r>
            <a:endParaRPr lang="zh-TW" altLang="en-US" dirty="0"/>
          </a:p>
        </p:txBody>
      </p:sp>
      <p:pic>
        <p:nvPicPr>
          <p:cNvPr id="7" name="圖片 6">
            <a:extLst>
              <a:ext uri="{FF2B5EF4-FFF2-40B4-BE49-F238E27FC236}">
                <a16:creationId xmlns:a16="http://schemas.microsoft.com/office/drawing/2014/main" id="{7EFC3D95-2B85-552D-DFE6-580178C273C9}"/>
              </a:ext>
            </a:extLst>
          </p:cNvPr>
          <p:cNvPicPr>
            <a:picLocks noChangeAspect="1"/>
          </p:cNvPicPr>
          <p:nvPr/>
        </p:nvPicPr>
        <p:blipFill rotWithShape="1">
          <a:blip r:embed="rId2">
            <a:extLst>
              <a:ext uri="{28A0092B-C50C-407E-A947-70E740481C1C}">
                <a14:useLocalDpi xmlns:a14="http://schemas.microsoft.com/office/drawing/2010/main" val="0"/>
              </a:ext>
            </a:extLst>
          </a:blip>
          <a:srcRect l="10284" r="9304" b="4965"/>
          <a:stretch/>
        </p:blipFill>
        <p:spPr>
          <a:xfrm>
            <a:off x="499497" y="1507019"/>
            <a:ext cx="8644503" cy="4985856"/>
          </a:xfrm>
          <a:prstGeom prst="rect">
            <a:avLst/>
          </a:prstGeom>
          <a:ln>
            <a:solidFill>
              <a:schemeClr val="accent1"/>
            </a:solidFill>
          </a:ln>
        </p:spPr>
      </p:pic>
      <p:pic>
        <p:nvPicPr>
          <p:cNvPr id="3" name="圖片 2">
            <a:extLst>
              <a:ext uri="{FF2B5EF4-FFF2-40B4-BE49-F238E27FC236}">
                <a16:creationId xmlns:a16="http://schemas.microsoft.com/office/drawing/2014/main" id="{ADF6F11C-26C1-58D2-07FC-B8869FF164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16715" y="0"/>
            <a:ext cx="2775285" cy="2081463"/>
          </a:xfrm>
          <a:prstGeom prst="rect">
            <a:avLst/>
          </a:prstGeom>
        </p:spPr>
      </p:pic>
    </p:spTree>
    <p:extLst>
      <p:ext uri="{BB962C8B-B14F-4D97-AF65-F5344CB8AC3E}">
        <p14:creationId xmlns:p14="http://schemas.microsoft.com/office/powerpoint/2010/main" val="130590298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D24F51A-E241-4176-F63F-EB8569E3BE32}"/>
              </a:ext>
            </a:extLst>
          </p:cNvPr>
          <p:cNvSpPr>
            <a:spLocks noGrp="1"/>
          </p:cNvSpPr>
          <p:nvPr>
            <p:ph type="title"/>
          </p:nvPr>
        </p:nvSpPr>
        <p:spPr/>
        <p:txBody>
          <a:bodyPr/>
          <a:lstStyle/>
          <a:p>
            <a:r>
              <a:rPr lang="en-US" altLang="zh-TW" dirty="0"/>
              <a:t>110</a:t>
            </a:r>
            <a:r>
              <a:rPr lang="zh-TW" altLang="en-US" dirty="0"/>
              <a:t>度加電壓 </a:t>
            </a:r>
            <a:r>
              <a:rPr lang="en-US" altLang="zh-TW" dirty="0"/>
              <a:t>high resolution</a:t>
            </a:r>
            <a:endParaRPr lang="zh-TW" altLang="en-US" dirty="0"/>
          </a:p>
        </p:txBody>
      </p:sp>
      <p:pic>
        <p:nvPicPr>
          <p:cNvPr id="5" name="圖片 4">
            <a:extLst>
              <a:ext uri="{FF2B5EF4-FFF2-40B4-BE49-F238E27FC236}">
                <a16:creationId xmlns:a16="http://schemas.microsoft.com/office/drawing/2014/main" id="{8ABE0AB4-2E56-A3E6-E20F-016111F5B59E}"/>
              </a:ext>
            </a:extLst>
          </p:cNvPr>
          <p:cNvPicPr>
            <a:picLocks noChangeAspect="1"/>
          </p:cNvPicPr>
          <p:nvPr/>
        </p:nvPicPr>
        <p:blipFill rotWithShape="1">
          <a:blip r:embed="rId2">
            <a:extLst>
              <a:ext uri="{28A0092B-C50C-407E-A947-70E740481C1C}">
                <a14:useLocalDpi xmlns:a14="http://schemas.microsoft.com/office/drawing/2010/main" val="0"/>
              </a:ext>
            </a:extLst>
          </a:blip>
          <a:srcRect l="10670" r="8763" b="4807"/>
          <a:stretch/>
        </p:blipFill>
        <p:spPr>
          <a:xfrm>
            <a:off x="231399" y="1597846"/>
            <a:ext cx="8805420" cy="5077370"/>
          </a:xfrm>
          <a:prstGeom prst="rect">
            <a:avLst/>
          </a:prstGeom>
          <a:ln>
            <a:solidFill>
              <a:schemeClr val="accent1"/>
            </a:solidFill>
          </a:ln>
        </p:spPr>
      </p:pic>
      <p:pic>
        <p:nvPicPr>
          <p:cNvPr id="4" name="圖片 3">
            <a:extLst>
              <a:ext uri="{FF2B5EF4-FFF2-40B4-BE49-F238E27FC236}">
                <a16:creationId xmlns:a16="http://schemas.microsoft.com/office/drawing/2014/main" id="{45642C52-9A83-AC13-CA07-B9481F1DB6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05721" y="13007"/>
            <a:ext cx="2886279" cy="2164709"/>
          </a:xfrm>
          <a:prstGeom prst="rect">
            <a:avLst/>
          </a:prstGeom>
        </p:spPr>
      </p:pic>
    </p:spTree>
    <p:extLst>
      <p:ext uri="{BB962C8B-B14F-4D97-AF65-F5344CB8AC3E}">
        <p14:creationId xmlns:p14="http://schemas.microsoft.com/office/powerpoint/2010/main" val="3548424055"/>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裁剪">
  <a:themeElements>
    <a:clrScheme name="自訂 6">
      <a:dk1>
        <a:sysClr val="windowText" lastClr="000000"/>
      </a:dk1>
      <a:lt1>
        <a:sysClr val="window" lastClr="FFFFFF"/>
      </a:lt1>
      <a:dk2>
        <a:srgbClr val="ADC7D6"/>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裁剪">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裁剪">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TM10001114[[fn=圖庫]]</Template>
  <TotalTime>13372</TotalTime>
  <Words>9995</Words>
  <Application>Microsoft Office PowerPoint</Application>
  <PresentationFormat>寬螢幕</PresentationFormat>
  <Paragraphs>924</Paragraphs>
  <Slides>78</Slides>
  <Notes>69</Notes>
  <HiddenSlides>4</HiddenSlides>
  <MMClips>0</MMClips>
  <ScaleCrop>false</ScaleCrop>
  <HeadingPairs>
    <vt:vector size="6" baseType="variant">
      <vt:variant>
        <vt:lpstr>使用字型</vt:lpstr>
      </vt:variant>
      <vt:variant>
        <vt:i4>15</vt:i4>
      </vt:variant>
      <vt:variant>
        <vt:lpstr>佈景主題</vt:lpstr>
      </vt:variant>
      <vt:variant>
        <vt:i4>2</vt:i4>
      </vt:variant>
      <vt:variant>
        <vt:lpstr>投影片標題</vt:lpstr>
      </vt:variant>
      <vt:variant>
        <vt:i4>78</vt:i4>
      </vt:variant>
    </vt:vector>
  </HeadingPairs>
  <TitlesOfParts>
    <vt:vector size="95" baseType="lpstr">
      <vt:lpstr>-apple-system</vt:lpstr>
      <vt:lpstr>Google Sans</vt:lpstr>
      <vt:lpstr>Microsoft YaHei</vt:lpstr>
      <vt:lpstr>微軟正黑體</vt:lpstr>
      <vt:lpstr>新細明體</vt:lpstr>
      <vt:lpstr>標楷體</vt:lpstr>
      <vt:lpstr>Arial</vt:lpstr>
      <vt:lpstr>Arial</vt:lpstr>
      <vt:lpstr>Calibri</vt:lpstr>
      <vt:lpstr>Calibri Light</vt:lpstr>
      <vt:lpstr>Cambria Math</vt:lpstr>
      <vt:lpstr>Century Gothic</vt:lpstr>
      <vt:lpstr>Franklin Gothic Book</vt:lpstr>
      <vt:lpstr>Montserrat</vt:lpstr>
      <vt:lpstr>Times New Roman</vt:lpstr>
      <vt:lpstr>Office 佈景主題</vt:lpstr>
      <vt:lpstr>裁剪</vt:lpstr>
      <vt:lpstr>電光調制積體週期性晶疇極化反轉鈮酸鋰自發參量下轉換晶片產生雙偏振正交光子對之研究 The study of electro-optically controlled integrated periodically poled lithium niobate spontaneous parametric down-conversion chip for dual orthogonal-polarization photon-pair generation</vt:lpstr>
      <vt:lpstr>Outline</vt:lpstr>
      <vt:lpstr>Introduction</vt:lpstr>
      <vt:lpstr>Applications</vt:lpstr>
      <vt:lpstr>Motivation</vt:lpstr>
      <vt:lpstr>Motivation</vt:lpstr>
      <vt:lpstr>Motivation</vt:lpstr>
      <vt:lpstr>Objective</vt:lpstr>
      <vt:lpstr>Objective</vt:lpstr>
      <vt:lpstr>Objective</vt:lpstr>
      <vt:lpstr>Objective</vt:lpstr>
      <vt:lpstr>Objective</vt:lpstr>
      <vt:lpstr>Objective</vt:lpstr>
      <vt:lpstr>Objective</vt:lpstr>
      <vt:lpstr>Working principles</vt:lpstr>
      <vt:lpstr>SHG/SPDC</vt:lpstr>
      <vt:lpstr>SHG/SPDC</vt:lpstr>
      <vt:lpstr>Working principles</vt:lpstr>
      <vt:lpstr>Electro-Optic Effect</vt:lpstr>
      <vt:lpstr>Electro-Optic Effect</vt:lpstr>
      <vt:lpstr>Electro-Optic Effect</vt:lpstr>
      <vt:lpstr>Working principles</vt:lpstr>
      <vt:lpstr>Electro-Optic Effect</vt:lpstr>
      <vt:lpstr>Device Design and Simulation Results</vt:lpstr>
      <vt:lpstr>Simulated EOPMC</vt:lpstr>
      <vt:lpstr>Simulated EOPMC</vt:lpstr>
      <vt:lpstr>EOPMC simulation flow chart</vt:lpstr>
      <vt:lpstr>EOPMC simulation process</vt:lpstr>
      <vt:lpstr>Device Design and Simulation Results</vt:lpstr>
      <vt:lpstr>Simulated EO</vt:lpstr>
      <vt:lpstr>Electrode design</vt:lpstr>
      <vt:lpstr>EOPMC&amp;EO electrode design and simulate</vt:lpstr>
      <vt:lpstr>EOPMC&amp;EO electrode design and simulate</vt:lpstr>
      <vt:lpstr>Device Fabrication</vt:lpstr>
      <vt:lpstr>Device Fabrication</vt:lpstr>
      <vt:lpstr>Device Fabrication</vt:lpstr>
      <vt:lpstr>Device Fabrication</vt:lpstr>
      <vt:lpstr>Device Fabrication</vt:lpstr>
      <vt:lpstr>Device Fabrication</vt:lpstr>
      <vt:lpstr>Device Fabrication</vt:lpstr>
      <vt:lpstr>Device Fabrication</vt:lpstr>
      <vt:lpstr>Introduction Objective</vt:lpstr>
      <vt:lpstr>Experimental Setup and Results Analysis</vt:lpstr>
      <vt:lpstr>Experimental Setup and Results Analysis</vt:lpstr>
      <vt:lpstr>Experimental Setup and Results Analysis</vt:lpstr>
      <vt:lpstr>Experimental Setup and Results Analysis</vt:lpstr>
      <vt:lpstr>Experimental setup for EOPMC measurement</vt:lpstr>
      <vt:lpstr>APPLN EOPMC measurement </vt:lpstr>
      <vt:lpstr>APPLN EOPMC and SHG different °C measurement </vt:lpstr>
      <vt:lpstr>Experimental Setup and Results Analysis</vt:lpstr>
      <vt:lpstr>Experimental setup for phase measurement</vt:lpstr>
      <vt:lpstr>Experimental Setup and Results Analysis</vt:lpstr>
      <vt:lpstr>Experimental setup for Photon pair measurement</vt:lpstr>
      <vt:lpstr>Applied 55V for |VV⟩ Photon pair measurement</vt:lpstr>
      <vt:lpstr>Applied 55V for |HH⟩ Photon pair measurement</vt:lpstr>
      <vt:lpstr>Dual orthogonal-polarization photon-pair measurement</vt:lpstr>
      <vt:lpstr>Applied different voltage |HH⟩ photon-pair measurement </vt:lpstr>
      <vt:lpstr>Conclusions and Future work</vt:lpstr>
      <vt:lpstr>Conclusions and Future work</vt:lpstr>
      <vt:lpstr>Conclusions and Future work</vt:lpstr>
      <vt:lpstr>Conclusions and Future work</vt:lpstr>
      <vt:lpstr>PowerPoint 簡報</vt:lpstr>
      <vt:lpstr>Objective</vt:lpstr>
      <vt:lpstr>Applications</vt:lpstr>
      <vt:lpstr>Applications</vt:lpstr>
      <vt:lpstr>Introduction Application</vt:lpstr>
      <vt:lpstr>Objective</vt:lpstr>
      <vt:lpstr>SHG/SPDC</vt:lpstr>
      <vt:lpstr>SHG/SPDC</vt:lpstr>
      <vt:lpstr>Conclusions and Future work</vt:lpstr>
      <vt:lpstr>SHG/SPDC</vt:lpstr>
      <vt:lpstr>Electro-Optic Effect</vt:lpstr>
      <vt:lpstr>Simulated EOPMC</vt:lpstr>
      <vt:lpstr>Simulated EOPMC</vt:lpstr>
      <vt:lpstr>Simulated EOPMC</vt:lpstr>
      <vt:lpstr>Motivation</vt:lpstr>
      <vt:lpstr>100度加電壓 high resolution</vt:lpstr>
      <vt:lpstr>110度加電壓 high resolution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Nonperiodic optical superlattice lithium niobite waveguides for the generation of polarization entanglement</dc:title>
  <dc:creator>承中</dc:creator>
  <cp:lastModifiedBy>承中</cp:lastModifiedBy>
  <cp:revision>355</cp:revision>
  <dcterms:created xsi:type="dcterms:W3CDTF">2022-09-20T05:37:54Z</dcterms:created>
  <dcterms:modified xsi:type="dcterms:W3CDTF">2022-10-11T12:04:40Z</dcterms:modified>
</cp:coreProperties>
</file>