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4" r:id="rId1"/>
  </p:sldMasterIdLst>
  <p:notesMasterIdLst>
    <p:notesMasterId r:id="rId59"/>
  </p:notesMasterIdLst>
  <p:sldIdLst>
    <p:sldId id="542" r:id="rId2"/>
    <p:sldId id="612" r:id="rId3"/>
    <p:sldId id="568" r:id="rId4"/>
    <p:sldId id="552" r:id="rId5"/>
    <p:sldId id="578" r:id="rId6"/>
    <p:sldId id="613" r:id="rId7"/>
    <p:sldId id="571" r:id="rId8"/>
    <p:sldId id="570" r:id="rId9"/>
    <p:sldId id="573" r:id="rId10"/>
    <p:sldId id="572" r:id="rId11"/>
    <p:sldId id="574" r:id="rId12"/>
    <p:sldId id="576" r:id="rId13"/>
    <p:sldId id="575" r:id="rId14"/>
    <p:sldId id="534" r:id="rId15"/>
    <p:sldId id="577" r:id="rId16"/>
    <p:sldId id="614" r:id="rId17"/>
    <p:sldId id="579" r:id="rId18"/>
    <p:sldId id="580" r:id="rId19"/>
    <p:sldId id="535" r:id="rId20"/>
    <p:sldId id="258" r:id="rId21"/>
    <p:sldId id="582" r:id="rId22"/>
    <p:sldId id="533" r:id="rId23"/>
    <p:sldId id="615" r:id="rId24"/>
    <p:sldId id="588" r:id="rId25"/>
    <p:sldId id="589" r:id="rId26"/>
    <p:sldId id="530" r:id="rId27"/>
    <p:sldId id="531" r:id="rId28"/>
    <p:sldId id="590" r:id="rId29"/>
    <p:sldId id="616" r:id="rId30"/>
    <p:sldId id="592" r:id="rId31"/>
    <p:sldId id="593" r:id="rId32"/>
    <p:sldId id="623" r:id="rId33"/>
    <p:sldId id="622" r:id="rId34"/>
    <p:sldId id="595" r:id="rId35"/>
    <p:sldId id="596" r:id="rId36"/>
    <p:sldId id="597" r:id="rId37"/>
    <p:sldId id="598" r:id="rId38"/>
    <p:sldId id="602" r:id="rId39"/>
    <p:sldId id="601" r:id="rId40"/>
    <p:sldId id="599" r:id="rId41"/>
    <p:sldId id="600" r:id="rId42"/>
    <p:sldId id="268" r:id="rId43"/>
    <p:sldId id="619" r:id="rId44"/>
    <p:sldId id="620" r:id="rId45"/>
    <p:sldId id="518" r:id="rId46"/>
    <p:sldId id="523" r:id="rId47"/>
    <p:sldId id="617" r:id="rId48"/>
    <p:sldId id="547" r:id="rId49"/>
    <p:sldId id="587" r:id="rId50"/>
    <p:sldId id="566" r:id="rId51"/>
    <p:sldId id="607" r:id="rId52"/>
    <p:sldId id="581" r:id="rId53"/>
    <p:sldId id="583" r:id="rId54"/>
    <p:sldId id="525" r:id="rId55"/>
    <p:sldId id="591" r:id="rId56"/>
    <p:sldId id="594" r:id="rId57"/>
    <p:sldId id="621"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高梃澄" initials="高梃澄" lastIdx="1" clrIdx="0">
    <p:extLst>
      <p:ext uri="{19B8F6BF-5375-455C-9EA6-DF929625EA0E}">
        <p15:presenceInfo xmlns:p15="http://schemas.microsoft.com/office/powerpoint/2012/main" userId="090739230d5004e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83832"/>
    <a:srgbClr val="C5C0BE"/>
    <a:srgbClr val="640FFD"/>
    <a:srgbClr val="8441FD"/>
    <a:srgbClr val="8E51FD"/>
    <a:srgbClr val="9964FD"/>
    <a:srgbClr val="8AB56C"/>
    <a:srgbClr val="528035"/>
    <a:srgbClr val="FD6799"/>
    <a:srgbClr val="775F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3770" autoAdjust="0"/>
  </p:normalViewPr>
  <p:slideViewPr>
    <p:cSldViewPr snapToGrid="0">
      <p:cViewPr varScale="1">
        <p:scale>
          <a:sx n="72" d="100"/>
          <a:sy n="72" d="100"/>
        </p:scale>
        <p:origin x="1094" y="62"/>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zh-TW" altLang="en-US" dirty="0"/>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CD837363-AD86-4A41-8AAE-DEF83D57F56D}" type="datetimeFigureOut">
              <a:rPr lang="zh-TW" altLang="en-US" smtClean="0"/>
              <a:pPr/>
              <a:t>2022/10/28</a:t>
            </a:fld>
            <a:endParaRPr lang="zh-TW" altLang="en-US" dirty="0"/>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dirty="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zh-TW" altLang="en-US" dirty="0"/>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DE573447-DA6E-40F4-BFED-1121A9417FC4}" type="slidenum">
              <a:rPr lang="zh-TW" altLang="en-US" smtClean="0"/>
              <a:pPr/>
              <a:t>‹#›</a:t>
            </a:fld>
            <a:endParaRPr lang="zh-TW" altLang="en-US" dirty="0"/>
          </a:p>
        </p:txBody>
      </p:sp>
    </p:spTree>
    <p:extLst>
      <p:ext uri="{BB962C8B-B14F-4D97-AF65-F5344CB8AC3E}">
        <p14:creationId xmlns:p14="http://schemas.microsoft.com/office/powerpoint/2010/main" val="736373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a:lvl2pPr marL="457200" algn="l" defTabSz="914400" rtl="0" eaLnBrk="1" latinLnBrk="0" hangingPunct="1">
      <a:defRPr sz="1200" kern="1200">
        <a:solidFill>
          <a:schemeClr val="tx1"/>
        </a:solidFill>
        <a:latin typeface="Times New Roman" panose="02020603050405020304" pitchFamily="18" charset="0"/>
        <a:ea typeface="+mn-ea"/>
        <a:cs typeface="+mn-cs"/>
      </a:defRPr>
    </a:lvl2pPr>
    <a:lvl3pPr marL="914400" algn="l" defTabSz="914400" rtl="0" eaLnBrk="1" latinLnBrk="0" hangingPunct="1">
      <a:defRPr sz="120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各位口試委員，午安，大家好，我是高梃澄，今天我要報告的題目是</a:t>
            </a:r>
            <a:r>
              <a:rPr lang="en-US" altLang="zh-TW" dirty="0"/>
              <a:t>…</a:t>
            </a:r>
            <a:r>
              <a:rPr lang="zh-TW" altLang="en-US" dirty="0"/>
              <a:t>，</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1</a:t>
            </a:fld>
            <a:endParaRPr lang="zh-TW" altLang="en-US" dirty="0"/>
          </a:p>
        </p:txBody>
      </p:sp>
    </p:spTree>
    <p:extLst>
      <p:ext uri="{BB962C8B-B14F-4D97-AF65-F5344CB8AC3E}">
        <p14:creationId xmlns:p14="http://schemas.microsoft.com/office/powerpoint/2010/main" val="779388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Outline</a:t>
            </a:r>
            <a:r>
              <a:rPr lang="zh-TW" altLang="en-US" dirty="0"/>
              <a:t>順過</a:t>
            </a:r>
            <a:endParaRPr lang="en-US" altLang="zh-TW" dirty="0"/>
          </a:p>
          <a:p>
            <a:r>
              <a:rPr lang="zh-TW" altLang="en-US" dirty="0"/>
              <a:t>在各部分在介紹為何這樣編排</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t>2</a:t>
            </a:fld>
            <a:endParaRPr lang="zh-TW" altLang="en-US"/>
          </a:p>
        </p:txBody>
      </p:sp>
    </p:spTree>
    <p:extLst>
      <p:ext uri="{BB962C8B-B14F-4D97-AF65-F5344CB8AC3E}">
        <p14:creationId xmlns:p14="http://schemas.microsoft.com/office/powerpoint/2010/main" val="878146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壓縮光是非古典的光在某個正交項會比一般古典光的雜訊還要低，根據海森堡不確定性原理，相干態的雜訊定義出標準量子雜訊，透過壓縮光特性可以超過這個量子極限，以提高感測上的精準度</a:t>
            </a:r>
            <a:endParaRPr lang="en-US" altLang="zh-TW" dirty="0"/>
          </a:p>
          <a:p>
            <a:r>
              <a:rPr lang="en-US" altLang="zh-TW" dirty="0"/>
              <a:t>a.(</a:t>
            </a:r>
            <a:r>
              <a:rPr lang="en-US" altLang="zh-TW" dirty="0" err="1"/>
              <a:t>i</a:t>
            </a:r>
            <a:r>
              <a:rPr lang="en-US" altLang="zh-TW" dirty="0"/>
              <a:t>)shot-noise(ii)squeezed noise</a:t>
            </a:r>
            <a:r>
              <a:rPr lang="zh-TW" altLang="en-US" dirty="0"/>
              <a:t>表示壓縮光的光子數統計下小於</a:t>
            </a:r>
            <a:r>
              <a:rPr lang="en-US" altLang="zh-TW" dirty="0"/>
              <a:t>shot-noise</a:t>
            </a:r>
          </a:p>
          <a:p>
            <a:r>
              <a:rPr lang="en-US" altLang="zh-TW" dirty="0"/>
              <a:t>b.</a:t>
            </a:r>
            <a:r>
              <a:rPr lang="zh-TW" altLang="en-US" dirty="0"/>
              <a:t>透過</a:t>
            </a:r>
            <a:r>
              <a:rPr lang="en-US" altLang="zh-TW" dirty="0"/>
              <a:t>Michelson</a:t>
            </a:r>
            <a:r>
              <a:rPr lang="zh-TW" altLang="en-US" dirty="0"/>
              <a:t>干涉儀將一般雷射和壓縮光做干涉，能夠提升訊雜比</a:t>
            </a:r>
            <a:endParaRPr lang="en-US" altLang="zh-TW" dirty="0"/>
          </a:p>
          <a:p>
            <a:r>
              <a:rPr lang="zh-TW" altLang="en-US" dirty="0"/>
              <a:t>比較</a:t>
            </a:r>
            <a:r>
              <a:rPr lang="en-US" altLang="zh-TW" dirty="0"/>
              <a:t>1284Hz</a:t>
            </a:r>
            <a:r>
              <a:rPr lang="zh-TW" altLang="en-US" dirty="0"/>
              <a:t>調制訊號，沒壓縮光參與看不到訊號，可以在</a:t>
            </a:r>
            <a:r>
              <a:rPr lang="en-US" altLang="zh-TW" dirty="0"/>
              <a:t>c.</a:t>
            </a:r>
            <a:r>
              <a:rPr lang="zh-TW" altLang="en-US" dirty="0"/>
              <a:t>光電流圖</a:t>
            </a:r>
            <a:r>
              <a:rPr lang="en-US" altLang="zh-TW" dirty="0"/>
              <a:t>d.</a:t>
            </a:r>
            <a:r>
              <a:rPr lang="zh-TW" altLang="en-US" dirty="0"/>
              <a:t>雜訊頻譜圖</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3</a:t>
            </a:fld>
            <a:endParaRPr lang="zh-TW" altLang="en-US" dirty="0"/>
          </a:p>
        </p:txBody>
      </p:sp>
    </p:spTree>
    <p:extLst>
      <p:ext uri="{BB962C8B-B14F-4D97-AF65-F5344CB8AC3E}">
        <p14:creationId xmlns:p14="http://schemas.microsoft.com/office/powerpoint/2010/main" val="3583545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進步性跟其他研究</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4</a:t>
            </a:fld>
            <a:endParaRPr lang="zh-TW" altLang="en-US" dirty="0"/>
          </a:p>
        </p:txBody>
      </p:sp>
    </p:spTree>
    <p:extLst>
      <p:ext uri="{BB962C8B-B14F-4D97-AF65-F5344CB8AC3E}">
        <p14:creationId xmlns:p14="http://schemas.microsoft.com/office/powerpoint/2010/main" val="3054108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晶片是使用</a:t>
            </a:r>
            <a:r>
              <a:rPr lang="en-US" altLang="zh-TW" dirty="0"/>
              <a:t>type-0 OPA</a:t>
            </a:r>
            <a:r>
              <a:rPr lang="zh-TW" altLang="en-US" dirty="0"/>
              <a:t>方式將真空態轉成真空壓縮態</a:t>
            </a:r>
            <a:endParaRPr lang="en-US" altLang="zh-TW" dirty="0"/>
          </a:p>
          <a:p>
            <a:r>
              <a:rPr lang="zh-TW" altLang="en-US" dirty="0"/>
              <a:t>後面接一段絕熱耦和分光器將</a:t>
            </a:r>
            <a:r>
              <a:rPr lang="en-US" altLang="zh-TW" dirty="0"/>
              <a:t>pump</a:t>
            </a:r>
            <a:r>
              <a:rPr lang="zh-TW" altLang="en-US" dirty="0"/>
              <a:t> </a:t>
            </a:r>
            <a:r>
              <a:rPr lang="en-US" altLang="zh-TW" dirty="0"/>
              <a:t>775nm</a:t>
            </a:r>
            <a:r>
              <a:rPr lang="zh-TW" altLang="en-US" dirty="0"/>
              <a:t>和</a:t>
            </a:r>
            <a:r>
              <a:rPr lang="en-US" altLang="zh-TW" dirty="0"/>
              <a:t>signal</a:t>
            </a:r>
            <a:r>
              <a:rPr lang="zh-TW" altLang="en-US" dirty="0"/>
              <a:t> </a:t>
            </a:r>
            <a:r>
              <a:rPr lang="en-US" altLang="zh-TW" dirty="0"/>
              <a:t>1550nm</a:t>
            </a:r>
            <a:r>
              <a:rPr lang="zh-TW" altLang="en-US" dirty="0"/>
              <a:t>分開</a:t>
            </a:r>
            <a:endParaRPr lang="en-US" altLang="zh-TW" dirty="0"/>
          </a:p>
          <a:p>
            <a:r>
              <a:rPr lang="zh-TW" altLang="en-US" dirty="0"/>
              <a:t>完成積體化晶片型量子壓縮光源</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5</a:t>
            </a:fld>
            <a:endParaRPr lang="zh-TW" altLang="en-US" dirty="0"/>
          </a:p>
        </p:txBody>
      </p:sp>
    </p:spTree>
    <p:extLst>
      <p:ext uri="{BB962C8B-B14F-4D97-AF65-F5344CB8AC3E}">
        <p14:creationId xmlns:p14="http://schemas.microsoft.com/office/powerpoint/2010/main" val="353923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t>6</a:t>
            </a:fld>
            <a:endParaRPr lang="zh-TW" altLang="en-US"/>
          </a:p>
        </p:txBody>
      </p:sp>
    </p:spTree>
    <p:extLst>
      <p:ext uri="{BB962C8B-B14F-4D97-AF65-F5344CB8AC3E}">
        <p14:creationId xmlns:p14="http://schemas.microsoft.com/office/powerpoint/2010/main" val="3410352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量子化光場</a:t>
            </a:r>
            <a:endParaRPr lang="en-US" altLang="zh-TW" dirty="0"/>
          </a:p>
          <a:p>
            <a:r>
              <a:rPr lang="zh-TW" altLang="en-US" dirty="0"/>
              <a:t>正交算符由上升合下降算符表示為</a:t>
            </a:r>
            <a:endParaRPr lang="en-US" altLang="zh-TW" dirty="0"/>
          </a:p>
          <a:p>
            <a:r>
              <a:rPr lang="zh-TW" altLang="en-US" dirty="0"/>
              <a:t>零點能量對應到</a:t>
            </a:r>
            <a:r>
              <a:rPr lang="en-US" altLang="zh-TW" dirty="0"/>
              <a:t>vacuum state</a:t>
            </a:r>
          </a:p>
          <a:p>
            <a:r>
              <a:rPr lang="zh-TW" altLang="en-US" dirty="0"/>
              <a:t>相位圖、</a:t>
            </a:r>
            <a:r>
              <a:rPr lang="en-US" altLang="zh-TW" dirty="0"/>
              <a:t>time domain</a:t>
            </a:r>
            <a:r>
              <a:rPr lang="zh-TW" altLang="en-US" dirty="0"/>
              <a:t>上量測可以看到隨著干涉的相位差改變而出現建設性和破壞性的干涉現象</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7</a:t>
            </a:fld>
            <a:endParaRPr lang="zh-TW" altLang="en-US" dirty="0"/>
          </a:p>
        </p:txBody>
      </p:sp>
    </p:spTree>
    <p:extLst>
      <p:ext uri="{BB962C8B-B14F-4D97-AF65-F5344CB8AC3E}">
        <p14:creationId xmlns:p14="http://schemas.microsoft.com/office/powerpoint/2010/main" val="2713782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量子態中最基本的是真空態</a:t>
            </a:r>
            <a:endParaRPr lang="en-US" altLang="zh-TW" dirty="0"/>
          </a:p>
          <a:p>
            <a:r>
              <a:rPr lang="zh-TW" altLang="en-US" dirty="0"/>
              <a:t>海森堡不確定性原理，得到兩個正交態的變異數的乘積最小為</a:t>
            </a:r>
            <a:r>
              <a:rPr lang="en-US" altLang="zh-TW" dirty="0"/>
              <a:t>1</a:t>
            </a:r>
          </a:p>
          <a:p>
            <a:r>
              <a:rPr lang="zh-TW" altLang="en-US" dirty="0"/>
              <a:t>振幅和相位皆為</a:t>
            </a:r>
            <a:r>
              <a:rPr lang="en-US" altLang="zh-TW" dirty="0"/>
              <a:t>1</a:t>
            </a:r>
            <a:r>
              <a:rPr lang="zh-TW" altLang="en-US" dirty="0"/>
              <a:t>，對應到的正是相干態或是真空態的正交算符變異數如左圖</a:t>
            </a:r>
            <a:endParaRPr lang="en-US" altLang="zh-TW"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8</a:t>
            </a:fld>
            <a:endParaRPr lang="zh-TW" altLang="en-US" dirty="0"/>
          </a:p>
        </p:txBody>
      </p:sp>
    </p:spTree>
    <p:extLst>
      <p:ext uri="{BB962C8B-B14F-4D97-AF65-F5344CB8AC3E}">
        <p14:creationId xmlns:p14="http://schemas.microsoft.com/office/powerpoint/2010/main" val="545940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從不確定原理中可以預測出是不是有個量子態可以達到在某一個正交態小於</a:t>
            </a:r>
            <a:r>
              <a:rPr lang="en-US" altLang="zh-TW" dirty="0"/>
              <a:t>1</a:t>
            </a:r>
            <a:r>
              <a:rPr lang="zh-TW" altLang="en-US" dirty="0"/>
              <a:t>而另一部份大於</a:t>
            </a:r>
            <a:r>
              <a:rPr lang="en-US" altLang="zh-TW" dirty="0"/>
              <a:t>1</a:t>
            </a:r>
            <a:r>
              <a:rPr lang="zh-TW" altLang="en-US" dirty="0"/>
              <a:t>，這個量子態就是壓縮態</a:t>
            </a:r>
            <a:endParaRPr lang="en-US" altLang="zh-TW" dirty="0"/>
          </a:p>
          <a:p>
            <a:r>
              <a:rPr lang="zh-TW" altLang="en-US" dirty="0"/>
              <a:t>左圖是真空壓縮態</a:t>
            </a:r>
            <a:endParaRPr lang="en-US" altLang="zh-TW" dirty="0"/>
          </a:p>
          <a:p>
            <a:r>
              <a:rPr lang="zh-TW" altLang="en-US" dirty="0"/>
              <a:t>右邊變異數的成績依舊為</a:t>
            </a:r>
            <a:r>
              <a:rPr lang="en-US" altLang="zh-TW" dirty="0"/>
              <a:t>1</a:t>
            </a:r>
            <a:r>
              <a:rPr lang="zh-TW" altLang="en-US" dirty="0"/>
              <a:t>，其中的</a:t>
            </a:r>
            <a:r>
              <a:rPr lang="en-US" altLang="zh-TW" dirty="0"/>
              <a:t>r </a:t>
            </a:r>
            <a:r>
              <a:rPr lang="zh-TW" altLang="en-US" dirty="0"/>
              <a:t>稱作壓縮參數，和倍頻轉換效率、</a:t>
            </a:r>
            <a:r>
              <a:rPr lang="en-US" altLang="zh-TW" dirty="0"/>
              <a:t>pump</a:t>
            </a:r>
            <a:r>
              <a:rPr lang="zh-TW" altLang="en-US" dirty="0"/>
              <a:t>能量有關</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9</a:t>
            </a:fld>
            <a:endParaRPr lang="zh-TW" altLang="en-US" dirty="0"/>
          </a:p>
        </p:txBody>
      </p:sp>
    </p:spTree>
    <p:extLst>
      <p:ext uri="{BB962C8B-B14F-4D97-AF65-F5344CB8AC3E}">
        <p14:creationId xmlns:p14="http://schemas.microsoft.com/office/powerpoint/2010/main" val="230699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量測真空壓縮光的方法是利用干涉的技術將</a:t>
            </a:r>
            <a:r>
              <a:rPr lang="en-US" altLang="zh-TW" dirty="0"/>
              <a:t>coherent state</a:t>
            </a:r>
            <a:r>
              <a:rPr lang="zh-TW" altLang="en-US" dirty="0"/>
              <a:t>、</a:t>
            </a:r>
            <a:r>
              <a:rPr lang="en-US" altLang="zh-TW" dirty="0"/>
              <a:t>squeezed vacuum state</a:t>
            </a:r>
            <a:r>
              <a:rPr lang="zh-TW" altLang="en-US" dirty="0"/>
              <a:t>干涉，並將兩道干涉光經由光偵測器後相減，稱作</a:t>
            </a:r>
            <a:r>
              <a:rPr lang="en-US" altLang="zh-TW" dirty="0"/>
              <a:t>BHD</a:t>
            </a:r>
          </a:p>
          <a:p>
            <a:r>
              <a:rPr lang="zh-TW" altLang="en-US" dirty="0"/>
              <a:t>能夠將壓縮光微量的雜訊擾動透過本地振盪器</a:t>
            </a:r>
            <a:r>
              <a:rPr lang="en-US" altLang="zh-TW" dirty="0"/>
              <a:t>(Local Oscillator)</a:t>
            </a:r>
            <a:r>
              <a:rPr lang="zh-TW" altLang="en-US" dirty="0"/>
              <a:t>放大</a:t>
            </a:r>
            <a:endParaRPr lang="en-US" altLang="zh-TW" dirty="0"/>
          </a:p>
          <a:p>
            <a:r>
              <a:rPr lang="zh-TW" altLang="en-US" dirty="0"/>
              <a:t>推導中 透過</a:t>
            </a:r>
            <a:r>
              <a:rPr lang="en-US" altLang="zh-TW" dirty="0"/>
              <a:t>BHD</a:t>
            </a:r>
            <a:r>
              <a:rPr lang="zh-TW" altLang="en-US" dirty="0"/>
              <a:t>技術可以量測任意的正交項變異數</a:t>
            </a:r>
            <a:endParaRPr lang="en-US" altLang="zh-TW" dirty="0"/>
          </a:p>
          <a:p>
            <a:r>
              <a:rPr lang="en-US" altLang="zh-TW" dirty="0"/>
              <a:t>Visibility</a:t>
            </a:r>
            <a:r>
              <a:rPr lang="zh-TW" altLang="en-US" dirty="0"/>
              <a:t>描述的是兩道光的重合程度，重合度愈高代表</a:t>
            </a:r>
            <a:r>
              <a:rPr lang="en-US" altLang="zh-TW" dirty="0"/>
              <a:t>LO</a:t>
            </a:r>
            <a:r>
              <a:rPr lang="zh-TW" altLang="en-US" dirty="0"/>
              <a:t>可以有效地去放大壓縮光正交算符的變異數並偵測</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10</a:t>
            </a:fld>
            <a:endParaRPr lang="zh-TW" altLang="en-US" dirty="0"/>
          </a:p>
        </p:txBody>
      </p:sp>
    </p:spTree>
    <p:extLst>
      <p:ext uri="{BB962C8B-B14F-4D97-AF65-F5344CB8AC3E}">
        <p14:creationId xmlns:p14="http://schemas.microsoft.com/office/powerpoint/2010/main" val="752825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要產生非線性過程需要滿足能量守恆、動量守恆也就是相位匹配會在下一張投影片解釋</a:t>
            </a:r>
            <a:endParaRPr lang="en-US" altLang="zh-TW" dirty="0"/>
          </a:p>
          <a:p>
            <a:r>
              <a:rPr lang="zh-TW" altLang="en-US" dirty="0"/>
              <a:t>上轉換</a:t>
            </a:r>
            <a:r>
              <a:rPr lang="en-US" altLang="zh-TW" dirty="0"/>
              <a:t>SHG</a:t>
            </a:r>
          </a:p>
          <a:p>
            <a:r>
              <a:rPr lang="zh-TW" altLang="en-US" dirty="0"/>
              <a:t>下轉換</a:t>
            </a:r>
            <a:r>
              <a:rPr lang="en-US" altLang="zh-TW" dirty="0"/>
              <a:t>OPA</a:t>
            </a:r>
          </a:p>
          <a:p>
            <a:r>
              <a:rPr lang="zh-TW" altLang="en-US" dirty="0"/>
              <a:t>最後想產生真空壓縮態，可以將</a:t>
            </a:r>
            <a:r>
              <a:rPr lang="en-US" altLang="zh-TW" dirty="0"/>
              <a:t>seed</a:t>
            </a:r>
            <a:r>
              <a:rPr lang="zh-TW" altLang="en-US" dirty="0"/>
              <a:t>光類比成</a:t>
            </a:r>
            <a:r>
              <a:rPr lang="en-US" altLang="zh-TW" dirty="0"/>
              <a:t>vacuum</a:t>
            </a:r>
            <a:r>
              <a:rPr lang="zh-TW" altLang="en-US" dirty="0"/>
              <a:t>達到真空態轉成真空壓縮態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11</a:t>
            </a:fld>
            <a:endParaRPr lang="zh-TW" altLang="en-US" dirty="0"/>
          </a:p>
        </p:txBody>
      </p:sp>
    </p:spTree>
    <p:extLst>
      <p:ext uri="{BB962C8B-B14F-4D97-AF65-F5344CB8AC3E}">
        <p14:creationId xmlns:p14="http://schemas.microsoft.com/office/powerpoint/2010/main" val="28659241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能夠外加電場讓晶疇反轉，達到相位補償，稱作準相位匹配如左圖</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右圖是</a:t>
            </a:r>
            <a:r>
              <a:rPr lang="en-US" altLang="zh-TW" dirty="0"/>
              <a:t>PPM</a:t>
            </a:r>
            <a:r>
              <a:rPr lang="zh-TW" altLang="en-US" dirty="0"/>
              <a:t> </a:t>
            </a:r>
            <a:r>
              <a:rPr lang="en-US" altLang="zh-TW" dirty="0"/>
              <a:t>QPM</a:t>
            </a:r>
            <a:r>
              <a:rPr lang="zh-TW" altLang="en-US" dirty="0"/>
              <a:t> </a:t>
            </a:r>
            <a:r>
              <a:rPr lang="en-US" altLang="zh-TW" dirty="0"/>
              <a:t>NPM</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12</a:t>
            </a:fld>
            <a:endParaRPr lang="zh-TW" altLang="en-US" dirty="0"/>
          </a:p>
        </p:txBody>
      </p:sp>
    </p:spTree>
    <p:extLst>
      <p:ext uri="{BB962C8B-B14F-4D97-AF65-F5344CB8AC3E}">
        <p14:creationId xmlns:p14="http://schemas.microsoft.com/office/powerpoint/2010/main" val="2739858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相位匹配在一般</a:t>
                </a:r>
                <a:r>
                  <a:rPr lang="en-US" altLang="zh-TW" dirty="0"/>
                  <a:t>anisotropic</a:t>
                </a:r>
                <a:r>
                  <a:rPr lang="zh-TW" altLang="en-US" dirty="0"/>
                  <a:t>晶體因為色散關係無法有相位匹配，本研究所使用的是</a:t>
                </a:r>
                <a:r>
                  <a:rPr lang="en-US" altLang="zh-TW" dirty="0"/>
                  <a:t>LN</a:t>
                </a:r>
                <a:r>
                  <a:rPr lang="zh-TW" altLang="en-US" dirty="0"/>
                  <a:t>晶體為負單軸雙折射晶體</a:t>
                </a:r>
                <a:endParaRPr lang="en-US" altLang="zh-TW" dirty="0"/>
              </a:p>
              <a:p>
                <a:r>
                  <a:rPr lang="zh-TW" altLang="en-US" dirty="0"/>
                  <a:t>在和頻實驗中，可以推導出右邊方程式，其中</a:t>
                </a:r>
                <a14:m>
                  <m:oMath xmlns:m="http://schemas.openxmlformats.org/officeDocument/2006/math">
                    <m:r>
                      <a:rPr lang="zh-TW" altLang="en-US" smtClean="0">
                        <a:solidFill>
                          <a:srgbClr val="483832"/>
                        </a:solidFill>
                        <a:latin typeface="Cambria Math" panose="02040503050406030204" pitchFamily="18" charset="0"/>
                      </a:rPr>
                      <m:t>∆</m:t>
                    </m:r>
                    <m:r>
                      <a:rPr lang="zh-TW" altLang="en-US" i="1">
                        <a:solidFill>
                          <a:srgbClr val="483832"/>
                        </a:solidFill>
                        <a:latin typeface="Cambria Math" panose="02040503050406030204" pitchFamily="18" charset="0"/>
                      </a:rPr>
                      <m:t>𝑘</m:t>
                    </m:r>
                  </m:oMath>
                </a14:m>
                <a:r>
                  <a:rPr lang="zh-TW" altLang="en-US" dirty="0"/>
                  <a:t>正是影響著整個非線性轉換是否有效率</a:t>
                </a:r>
                <a:endParaRPr lang="en-US" altLang="zh-TW" dirty="0"/>
              </a:p>
              <a:p>
                <a:r>
                  <a:rPr lang="zh-TW" altLang="en-US" dirty="0"/>
                  <a:t>呼應前面提到的壓縮參數</a:t>
                </a:r>
                <a:r>
                  <a:rPr lang="en-US" altLang="zh-TW" dirty="0"/>
                  <a:t>r</a:t>
                </a:r>
                <a:r>
                  <a:rPr lang="zh-TW" altLang="en-US" dirty="0"/>
                  <a:t>和非線性轉換效率有關，在方程式中可以看到</a:t>
                </a:r>
                <a14:m>
                  <m:oMath xmlns:m="http://schemas.openxmlformats.org/officeDocument/2006/math">
                    <m:sSub>
                      <m:sSubPr>
                        <m:ctrlPr>
                          <a:rPr lang="zh-TW" altLang="en-US" i="1" smtClean="0">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𝐴</m:t>
                        </m:r>
                      </m:e>
                      <m:sub>
                        <m:r>
                          <a:rPr lang="zh-TW" altLang="en-US">
                            <a:solidFill>
                              <a:srgbClr val="483832"/>
                            </a:solidFill>
                            <a:latin typeface="Cambria Math" panose="02040503050406030204" pitchFamily="18" charset="0"/>
                          </a:rPr>
                          <m:t>1</m:t>
                        </m:r>
                      </m:sub>
                    </m:sSub>
                    <m:sSub>
                      <m:sSubPr>
                        <m:ctrlPr>
                          <a:rPr lang="zh-TW" altLang="en-US" i="1" smtClean="0">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𝐴</m:t>
                        </m:r>
                      </m:e>
                      <m:sub>
                        <m:r>
                          <a:rPr lang="en-US" altLang="zh-TW" i="1">
                            <a:solidFill>
                              <a:srgbClr val="483832"/>
                            </a:solidFill>
                            <a:latin typeface="Cambria Math" panose="02040503050406030204" pitchFamily="18" charset="0"/>
                          </a:rPr>
                          <m:t>2</m:t>
                        </m:r>
                      </m:sub>
                    </m:sSub>
                  </m:oMath>
                </a14:m>
                <a:r>
                  <a:rPr lang="en-US" altLang="zh-TW" dirty="0"/>
                  <a:t>pump power</a:t>
                </a:r>
                <a:r>
                  <a:rPr lang="zh-TW" altLang="en-US" dirty="0"/>
                  <a:t>、等效非線性係數以及晶體的長度，在相同波導結構中控制這三個參數能夠達到最高的轉換效率</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左邊為和頻量測的實驗結果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本實驗為了有高非線性轉換效率，使用</a:t>
                </a:r>
                <a:r>
                  <a:rPr lang="en-US" altLang="zh-TW" dirty="0"/>
                  <a:t>type-0</a:t>
                </a:r>
                <a:r>
                  <a:rPr lang="zh-TW" altLang="en-US" dirty="0"/>
                  <a:t>拿到</a:t>
                </a:r>
                <a:r>
                  <a:rPr lang="en-US" altLang="zh-TW" dirty="0"/>
                  <a:t>d33</a:t>
                </a:r>
                <a:r>
                  <a:rPr lang="zh-TW" altLang="en-US" dirty="0"/>
                  <a:t>最高的非線性係數做轉換，也就是</a:t>
                </a:r>
                <a:r>
                  <a:rPr lang="en-US" altLang="zh-TW" dirty="0"/>
                  <a:t>TM</a:t>
                </a:r>
                <a:r>
                  <a:rPr lang="zh-TW" altLang="en-US" dirty="0"/>
                  <a:t> </a:t>
                </a:r>
                <a:r>
                  <a:rPr lang="en-US" altLang="zh-TW" dirty="0"/>
                  <a:t>pump</a:t>
                </a:r>
                <a:r>
                  <a:rPr lang="zh-TW" altLang="en-US" dirty="0"/>
                  <a:t>轉成</a:t>
                </a:r>
                <a:r>
                  <a:rPr lang="en-US" altLang="zh-TW" dirty="0"/>
                  <a:t>TM</a:t>
                </a:r>
                <a:r>
                  <a:rPr lang="zh-TW" altLang="en-US" dirty="0"/>
                  <a:t> </a:t>
                </a:r>
                <a:r>
                  <a:rPr lang="en-US" altLang="zh-TW" dirty="0" err="1"/>
                  <a:t>signal+TM</a:t>
                </a:r>
                <a:r>
                  <a:rPr lang="zh-TW" altLang="en-US" dirty="0"/>
                  <a:t> </a:t>
                </a:r>
                <a:r>
                  <a:rPr lang="en-US" altLang="zh-TW" dirty="0"/>
                  <a:t>idler</a:t>
                </a:r>
                <a:r>
                  <a:rPr lang="zh-TW" altLang="en-US" dirty="0"/>
                  <a:t>。</a:t>
                </a:r>
                <a:endParaRPr lang="en-US" altLang="zh-TW" dirty="0"/>
              </a:p>
            </p:txBody>
          </p:sp>
        </mc:Choice>
        <mc:Fallback xmlns="">
          <p:sp>
            <p:nvSpPr>
              <p:cNvPr id="3" name="備忘稿版面配置區 2"/>
              <p:cNvSpPr>
                <a:spLocks noGrp="1"/>
              </p:cNvSpPr>
              <p:nvPr>
                <p:ph type="body" idx="1"/>
              </p:nvPr>
            </p:nvSpPr>
            <p:spPr/>
            <p:txBody>
              <a:bodyPr/>
              <a:lstStyle/>
              <a:p>
                <a:r>
                  <a:rPr lang="zh-TW" altLang="en-US" dirty="0"/>
                  <a:t>相位匹配在一般</a:t>
                </a:r>
                <a:r>
                  <a:rPr lang="en-US" altLang="zh-TW" dirty="0"/>
                  <a:t>anisotropic</a:t>
                </a:r>
                <a:r>
                  <a:rPr lang="zh-TW" altLang="en-US" dirty="0"/>
                  <a:t>晶體因為色散關係無法有相位匹配，本研究所使用的是</a:t>
                </a:r>
                <a:r>
                  <a:rPr lang="en-US" altLang="zh-TW" dirty="0"/>
                  <a:t>LN</a:t>
                </a:r>
                <a:r>
                  <a:rPr lang="zh-TW" altLang="en-US" dirty="0"/>
                  <a:t>晶體為負單軸雙折射晶體</a:t>
                </a:r>
                <a:endParaRPr lang="en-US" altLang="zh-TW" dirty="0"/>
              </a:p>
              <a:p>
                <a:r>
                  <a:rPr lang="zh-TW" altLang="en-US" dirty="0"/>
                  <a:t>在和頻實驗中，可以推導出右邊方程式，其中</a:t>
                </a:r>
                <a:r>
                  <a:rPr lang="zh-TW" altLang="en-US" i="0">
                    <a:solidFill>
                      <a:srgbClr val="483832"/>
                    </a:solidFill>
                    <a:latin typeface="Cambria Math" panose="02040503050406030204" pitchFamily="18" charset="0"/>
                  </a:rPr>
                  <a:t>∆𝑘</a:t>
                </a:r>
                <a:r>
                  <a:rPr lang="zh-TW" altLang="en-US" dirty="0"/>
                  <a:t>正是影響著整個非線性轉換是否有效率</a:t>
                </a:r>
                <a:endParaRPr lang="en-US" altLang="zh-TW" dirty="0"/>
              </a:p>
              <a:p>
                <a:r>
                  <a:rPr lang="zh-TW" altLang="en-US" dirty="0"/>
                  <a:t>呼應前面提到的壓縮參數</a:t>
                </a:r>
                <a:r>
                  <a:rPr lang="en-US" altLang="zh-TW" dirty="0"/>
                  <a:t>r</a:t>
                </a:r>
                <a:r>
                  <a:rPr lang="zh-TW" altLang="en-US" dirty="0"/>
                  <a:t>和非線性轉換效率有關，在方程式中可以看到</a:t>
                </a:r>
                <a:r>
                  <a:rPr lang="zh-TW" altLang="en-US" i="0">
                    <a:solidFill>
                      <a:srgbClr val="483832"/>
                    </a:solidFill>
                    <a:latin typeface="Cambria Math" panose="02040503050406030204" pitchFamily="18" charset="0"/>
                  </a:rPr>
                  <a:t>𝐴_1 𝐴_</a:t>
                </a:r>
                <a:r>
                  <a:rPr lang="en-US" altLang="zh-TW" i="0">
                    <a:solidFill>
                      <a:srgbClr val="483832"/>
                    </a:solidFill>
                    <a:latin typeface="Cambria Math" panose="02040503050406030204" pitchFamily="18" charset="0"/>
                  </a:rPr>
                  <a:t>2</a:t>
                </a:r>
                <a:r>
                  <a:rPr lang="en-US" altLang="zh-TW" dirty="0"/>
                  <a:t>pump power</a:t>
                </a:r>
                <a:r>
                  <a:rPr lang="zh-TW" altLang="en-US" dirty="0"/>
                  <a:t>、等效非線性係數以及晶體的長度，在相同波導結構中控制這三個參數能夠達到最高的轉換效率</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左邊為和頻量測的實驗結果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本實驗為了有高非線性轉換效率，使用</a:t>
                </a:r>
                <a:r>
                  <a:rPr lang="en-US" altLang="zh-TW" dirty="0"/>
                  <a:t>type-0</a:t>
                </a:r>
                <a:r>
                  <a:rPr lang="zh-TW" altLang="en-US" dirty="0"/>
                  <a:t>拿到</a:t>
                </a:r>
                <a:r>
                  <a:rPr lang="en-US" altLang="zh-TW" dirty="0"/>
                  <a:t>d33</a:t>
                </a:r>
                <a:r>
                  <a:rPr lang="zh-TW" altLang="en-US" dirty="0"/>
                  <a:t>最高的非線性係數做轉換，也就是</a:t>
                </a:r>
                <a:r>
                  <a:rPr lang="en-US" altLang="zh-TW" dirty="0"/>
                  <a:t>TM</a:t>
                </a:r>
                <a:r>
                  <a:rPr lang="zh-TW" altLang="en-US" dirty="0"/>
                  <a:t> </a:t>
                </a:r>
                <a:r>
                  <a:rPr lang="en-US" altLang="zh-TW" dirty="0"/>
                  <a:t>pump</a:t>
                </a:r>
                <a:r>
                  <a:rPr lang="zh-TW" altLang="en-US" dirty="0"/>
                  <a:t>轉成</a:t>
                </a:r>
                <a:r>
                  <a:rPr lang="en-US" altLang="zh-TW" dirty="0"/>
                  <a:t>TM</a:t>
                </a:r>
                <a:r>
                  <a:rPr lang="zh-TW" altLang="en-US" dirty="0"/>
                  <a:t> </a:t>
                </a:r>
                <a:r>
                  <a:rPr lang="en-US" altLang="zh-TW" dirty="0" err="1"/>
                  <a:t>signal+TM</a:t>
                </a:r>
                <a:r>
                  <a:rPr lang="zh-TW" altLang="en-US" dirty="0"/>
                  <a:t> </a:t>
                </a:r>
                <a:r>
                  <a:rPr lang="en-US" altLang="zh-TW" dirty="0"/>
                  <a:t>idler</a:t>
                </a:r>
                <a:r>
                  <a:rPr lang="zh-TW" altLang="en-US" dirty="0"/>
                  <a:t>。</a:t>
                </a:r>
                <a:endParaRPr lang="en-US" altLang="zh-TW" dirty="0"/>
              </a:p>
            </p:txBody>
          </p:sp>
        </mc:Fallback>
      </mc:AlternateContent>
      <p:sp>
        <p:nvSpPr>
          <p:cNvPr id="4" name="投影片編號版面配置區 3"/>
          <p:cNvSpPr>
            <a:spLocks noGrp="1"/>
          </p:cNvSpPr>
          <p:nvPr>
            <p:ph type="sldNum" sz="quarter" idx="5"/>
          </p:nvPr>
        </p:nvSpPr>
        <p:spPr/>
        <p:txBody>
          <a:bodyPr/>
          <a:lstStyle/>
          <a:p>
            <a:fld id="{DE573447-DA6E-40F4-BFED-1121A9417FC4}" type="slidenum">
              <a:rPr lang="zh-TW" altLang="en-US" smtClean="0"/>
              <a:pPr/>
              <a:t>13</a:t>
            </a:fld>
            <a:endParaRPr lang="zh-TW" altLang="en-US" dirty="0"/>
          </a:p>
        </p:txBody>
      </p:sp>
    </p:spTree>
    <p:extLst>
      <p:ext uri="{BB962C8B-B14F-4D97-AF65-F5344CB8AC3E}">
        <p14:creationId xmlns:p14="http://schemas.microsoft.com/office/powerpoint/2010/main" val="2452666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STIRAP</a:t>
                </a:r>
                <a:r>
                  <a:rPr lang="zh-TW" altLang="en-US" dirty="0"/>
                  <a:t>是透過拉比共振和絕熱過程，利用兩者的優點，使粒子能夠產生了穩定的共振效應</a:t>
                </a:r>
                <a14:m>
                  <m:oMath xmlns:m="http://schemas.openxmlformats.org/officeDocument/2006/math">
                    <m:sSub>
                      <m:sSubPr>
                        <m:ctrlPr>
                          <a:rPr lang="zh-TW" altLang="zh-TW" sz="1200" i="1" smtClean="0">
                            <a:solidFill>
                              <a:srgbClr val="483832"/>
                            </a:solidFill>
                            <a:latin typeface="Cambria Math" panose="02040503050406030204" pitchFamily="18" charset="0"/>
                          </a:rPr>
                        </m:ctrlPr>
                      </m:sSubPr>
                      <m:e>
                        <m:r>
                          <a:rPr lang="en-US" altLang="zh-TW" sz="1200">
                            <a:solidFill>
                              <a:srgbClr val="483832"/>
                            </a:solidFill>
                            <a:latin typeface="Cambria Math" panose="02040503050406030204" pitchFamily="18" charset="0"/>
                          </a:rPr>
                          <m:t>∆</m:t>
                        </m:r>
                      </m:e>
                      <m:sub>
                        <m:r>
                          <a:rPr lang="en-US" altLang="zh-TW" sz="1200" i="1">
                            <a:solidFill>
                              <a:srgbClr val="483832"/>
                            </a:solidFill>
                            <a:latin typeface="Cambria Math" panose="02040503050406030204" pitchFamily="18" charset="0"/>
                          </a:rPr>
                          <m:t>𝑝</m:t>
                        </m:r>
                      </m:sub>
                    </m:sSub>
                    <m:r>
                      <a:rPr lang="en-US" altLang="zh-TW" sz="1200" i="1">
                        <a:solidFill>
                          <a:srgbClr val="483832"/>
                        </a:solidFill>
                        <a:latin typeface="Cambria Math" panose="02040503050406030204" pitchFamily="18" charset="0"/>
                      </a:rPr>
                      <m:t>=</m:t>
                    </m:r>
                    <m:sSub>
                      <m:sSubPr>
                        <m:ctrlPr>
                          <a:rPr lang="zh-TW" altLang="zh-TW" sz="1200" i="1">
                            <a:solidFill>
                              <a:srgbClr val="483832"/>
                            </a:solidFill>
                            <a:latin typeface="Cambria Math" panose="02040503050406030204" pitchFamily="18" charset="0"/>
                          </a:rPr>
                        </m:ctrlPr>
                      </m:sSubPr>
                      <m:e>
                        <m:r>
                          <a:rPr lang="en-US" altLang="zh-TW" sz="1200">
                            <a:solidFill>
                              <a:srgbClr val="483832"/>
                            </a:solidFill>
                            <a:latin typeface="Cambria Math" panose="02040503050406030204" pitchFamily="18" charset="0"/>
                          </a:rPr>
                          <m:t>∆</m:t>
                        </m:r>
                      </m:e>
                      <m:sub>
                        <m:r>
                          <a:rPr lang="en-US" altLang="zh-TW" sz="1200" i="1">
                            <a:solidFill>
                              <a:srgbClr val="483832"/>
                            </a:solidFill>
                            <a:latin typeface="Cambria Math" panose="02040503050406030204" pitchFamily="18" charset="0"/>
                          </a:rPr>
                          <m:t>𝑠</m:t>
                        </m:r>
                      </m:sub>
                    </m:sSub>
                  </m:oMath>
                </a14:m>
                <a:r>
                  <a:rPr lang="zh-TW" altLang="en-US" dirty="0"/>
                  <a:t>，在共振系統中</a:t>
                </a:r>
                <a:r>
                  <a:rPr lang="en-US" altLang="zh-TW" sz="1200" dirty="0">
                    <a:solidFill>
                      <a:srgbClr val="483832"/>
                    </a:solidFill>
                    <a:latin typeface="Times New Roman" panose="02020603050405020304" pitchFamily="18" charset="0"/>
                    <a:cs typeface="Times New Roman" panose="02020603050405020304" pitchFamily="18" charset="0"/>
                  </a:rPr>
                  <a:t>Hamiltonian</a:t>
                </a:r>
                <a:r>
                  <a:rPr lang="zh-TW" altLang="en-US" sz="1200" dirty="0">
                    <a:solidFill>
                      <a:srgbClr val="483832"/>
                    </a:solidFill>
                    <a:latin typeface="Times New Roman" panose="02020603050405020304" pitchFamily="18" charset="0"/>
                    <a:cs typeface="Times New Roman" panose="02020603050405020304" pitchFamily="18" charset="0"/>
                  </a:rPr>
                  <a:t>描述如投影片中的矩陣</a:t>
                </a:r>
                <a:endParaRPr lang="en-US" altLang="zh-TW" sz="1200" dirty="0">
                  <a:solidFill>
                    <a:srgbClr val="483832"/>
                  </a:solidFill>
                  <a:latin typeface="Times New Roman" panose="02020603050405020304" pitchFamily="18" charset="0"/>
                  <a:cs typeface="Times New Roman" panose="02020603050405020304" pitchFamily="18" charset="0"/>
                </a:endParaRPr>
              </a:p>
              <a:p>
                <a:r>
                  <a:rPr lang="zh-TW" altLang="en-US" sz="1200" dirty="0">
                    <a:solidFill>
                      <a:srgbClr val="483832"/>
                    </a:solidFill>
                    <a:latin typeface="Times New Roman" panose="02020603050405020304" pitchFamily="18" charset="0"/>
                    <a:cs typeface="Times New Roman" panose="02020603050405020304" pitchFamily="18" charset="0"/>
                  </a:rPr>
                  <a:t>三能階系統 粒子數轉換 在時間上是先</a:t>
                </a:r>
                <a:r>
                  <a:rPr lang="en-US" altLang="zh-TW" sz="1200" dirty="0">
                    <a:solidFill>
                      <a:srgbClr val="483832"/>
                    </a:solidFill>
                    <a:latin typeface="Times New Roman" panose="02020603050405020304" pitchFamily="18" charset="0"/>
                    <a:cs typeface="Times New Roman" panose="02020603050405020304" pitchFamily="18" charset="0"/>
                  </a:rPr>
                  <a:t>P</a:t>
                </a:r>
                <a:r>
                  <a:rPr lang="zh-TW" altLang="en-US" sz="1200" dirty="0">
                    <a:solidFill>
                      <a:srgbClr val="483832"/>
                    </a:solidFill>
                    <a:latin typeface="Times New Roman" panose="02020603050405020304" pitchFamily="18" charset="0"/>
                    <a:cs typeface="Times New Roman" panose="02020603050405020304" pitchFamily="18" charset="0"/>
                  </a:rPr>
                  <a:t>再</a:t>
                </a:r>
                <a:r>
                  <a:rPr lang="en-US" altLang="zh-TW" sz="1200" dirty="0">
                    <a:solidFill>
                      <a:srgbClr val="483832"/>
                    </a:solidFill>
                    <a:latin typeface="Times New Roman" panose="02020603050405020304" pitchFamily="18" charset="0"/>
                    <a:cs typeface="Times New Roman" panose="02020603050405020304" pitchFamily="18" charset="0"/>
                  </a:rPr>
                  <a:t>S</a:t>
                </a:r>
                <a:r>
                  <a:rPr lang="zh-TW" altLang="en-US" sz="1200" dirty="0">
                    <a:solidFill>
                      <a:srgbClr val="483832"/>
                    </a:solidFill>
                    <a:latin typeface="Times New Roman" panose="02020603050405020304" pitchFamily="18" charset="0"/>
                    <a:cs typeface="Times New Roman" panose="02020603050405020304" pitchFamily="18" charset="0"/>
                  </a:rPr>
                  <a:t>是拉比共振過程</a:t>
                </a:r>
                <a:endParaRPr lang="en-US" altLang="zh-TW" sz="1200" dirty="0">
                  <a:solidFill>
                    <a:srgbClr val="483832"/>
                  </a:solidFill>
                  <a:latin typeface="Times New Roman" panose="02020603050405020304" pitchFamily="18" charset="0"/>
                  <a:cs typeface="Times New Roman" panose="02020603050405020304" pitchFamily="18" charset="0"/>
                </a:endParaRPr>
              </a:p>
              <a:p>
                <a:r>
                  <a:rPr lang="zh-TW" altLang="en-US" sz="1200" dirty="0">
                    <a:solidFill>
                      <a:srgbClr val="483832"/>
                    </a:solidFill>
                    <a:latin typeface="Times New Roman" panose="02020603050405020304" pitchFamily="18" charset="0"/>
                    <a:cs typeface="Times New Roman" panose="02020603050405020304" pitchFamily="18" charset="0"/>
                  </a:rPr>
                  <a:t>先</a:t>
                </a:r>
                <a:r>
                  <a:rPr lang="en-US" altLang="zh-TW" sz="1200" dirty="0">
                    <a:solidFill>
                      <a:srgbClr val="483832"/>
                    </a:solidFill>
                    <a:latin typeface="Times New Roman" panose="02020603050405020304" pitchFamily="18" charset="0"/>
                    <a:cs typeface="Times New Roman" panose="02020603050405020304" pitchFamily="18" charset="0"/>
                  </a:rPr>
                  <a:t>P</a:t>
                </a:r>
                <a:r>
                  <a:rPr lang="zh-TW" altLang="en-US" sz="1200" dirty="0">
                    <a:solidFill>
                      <a:srgbClr val="483832"/>
                    </a:solidFill>
                    <a:latin typeface="Times New Roman" panose="02020603050405020304" pitchFamily="18" charset="0"/>
                    <a:cs typeface="Times New Roman" panose="02020603050405020304" pitchFamily="18" charset="0"/>
                  </a:rPr>
                  <a:t>再</a:t>
                </a:r>
                <a:r>
                  <a:rPr lang="en-US" altLang="zh-TW" sz="1200" dirty="0">
                    <a:solidFill>
                      <a:srgbClr val="483832"/>
                    </a:solidFill>
                    <a:latin typeface="Times New Roman" panose="02020603050405020304" pitchFamily="18" charset="0"/>
                    <a:cs typeface="Times New Roman" panose="02020603050405020304" pitchFamily="18" charset="0"/>
                  </a:rPr>
                  <a:t>S</a:t>
                </a:r>
                <a:r>
                  <a:rPr lang="zh-TW" altLang="en-US" sz="1200" dirty="0">
                    <a:solidFill>
                      <a:srgbClr val="483832"/>
                    </a:solidFill>
                    <a:latin typeface="Times New Roman" panose="02020603050405020304" pitchFamily="18" charset="0"/>
                    <a:cs typeface="Times New Roman" panose="02020603050405020304" pitchFamily="18" charset="0"/>
                  </a:rPr>
                  <a:t>可以達到</a:t>
                </a:r>
                <a:r>
                  <a:rPr lang="en-US" altLang="zh-TW" sz="1200" dirty="0">
                    <a:solidFill>
                      <a:srgbClr val="483832"/>
                    </a:solidFill>
                    <a:latin typeface="Times New Roman" panose="02020603050405020304" pitchFamily="18" charset="0"/>
                    <a:cs typeface="Times New Roman" panose="02020603050405020304" pitchFamily="18" charset="0"/>
                  </a:rPr>
                  <a:t>23</a:t>
                </a:r>
                <a:r>
                  <a:rPr lang="zh-TW" altLang="en-US" sz="1200" dirty="0">
                    <a:solidFill>
                      <a:srgbClr val="483832"/>
                    </a:solidFill>
                    <a:latin typeface="Times New Roman" panose="02020603050405020304" pitchFamily="18" charset="0"/>
                    <a:cs typeface="Times New Roman" panose="02020603050405020304" pitchFamily="18" charset="0"/>
                  </a:rPr>
                  <a:t>能階先有相干疊加，後續</a:t>
                </a:r>
                <a:r>
                  <a:rPr lang="en-US" altLang="zh-TW" sz="1200" dirty="0">
                    <a:solidFill>
                      <a:srgbClr val="483832"/>
                    </a:solidFill>
                    <a:latin typeface="Times New Roman" panose="02020603050405020304" pitchFamily="18" charset="0"/>
                    <a:cs typeface="Times New Roman" panose="02020603050405020304" pitchFamily="18" charset="0"/>
                  </a:rPr>
                  <a:t>S</a:t>
                </a:r>
                <a:r>
                  <a:rPr lang="zh-TW" altLang="en-US" sz="1200" dirty="0">
                    <a:solidFill>
                      <a:srgbClr val="483832"/>
                    </a:solidFill>
                    <a:latin typeface="Times New Roman" panose="02020603050405020304" pitchFamily="18" charset="0"/>
                    <a:cs typeface="Times New Roman" panose="02020603050405020304" pitchFamily="18" charset="0"/>
                  </a:rPr>
                  <a:t>進來可以直接將粒子從</a:t>
                </a:r>
                <a:r>
                  <a:rPr lang="en-US" altLang="zh-TW" sz="1200" dirty="0">
                    <a:solidFill>
                      <a:srgbClr val="483832"/>
                    </a:solidFill>
                    <a:latin typeface="Times New Roman" panose="02020603050405020304" pitchFamily="18" charset="0"/>
                    <a:cs typeface="Times New Roman" panose="02020603050405020304" pitchFamily="18" charset="0"/>
                  </a:rPr>
                  <a:t>1</a:t>
                </a:r>
                <a:r>
                  <a:rPr lang="zh-TW" altLang="en-US" sz="1200" dirty="0">
                    <a:solidFill>
                      <a:srgbClr val="483832"/>
                    </a:solidFill>
                    <a:latin typeface="Times New Roman" panose="02020603050405020304" pitchFamily="18" charset="0"/>
                    <a:cs typeface="Times New Roman" panose="02020603050405020304" pitchFamily="18" charset="0"/>
                  </a:rPr>
                  <a:t>轉換</a:t>
                </a:r>
                <a:r>
                  <a:rPr lang="en-US" altLang="zh-TW" sz="1200" dirty="0">
                    <a:solidFill>
                      <a:srgbClr val="483832"/>
                    </a:solidFill>
                    <a:latin typeface="Times New Roman" panose="02020603050405020304" pitchFamily="18" charset="0"/>
                    <a:cs typeface="Times New Roman" panose="02020603050405020304" pitchFamily="18" charset="0"/>
                  </a:rPr>
                  <a:t>3</a:t>
                </a:r>
                <a:r>
                  <a:rPr lang="zh-TW" altLang="en-US" sz="1200" dirty="0">
                    <a:solidFill>
                      <a:srgbClr val="483832"/>
                    </a:solidFill>
                    <a:latin typeface="Times New Roman" panose="02020603050405020304" pitchFamily="18" charset="0"/>
                    <a:cs typeface="Times New Roman" panose="02020603050405020304" pitchFamily="18" charset="0"/>
                  </a:rPr>
                  <a:t>能階，</a:t>
                </a:r>
                <a:r>
                  <a:rPr lang="zh-TW" altLang="zh-TW" sz="1200" kern="1200" dirty="0">
                    <a:solidFill>
                      <a:schemeClr val="tx1"/>
                    </a:solidFill>
                    <a:effectLst/>
                    <a:latin typeface="Times New Roman" panose="02020603050405020304" pitchFamily="18" charset="0"/>
                    <a:ea typeface="+mn-ea"/>
                    <a:cs typeface="+mn-cs"/>
                  </a:rPr>
                  <a:t>當系統交互作用足夠緩慢</a:t>
                </a:r>
                <a:r>
                  <a:rPr lang="zh-TW" altLang="en-US" sz="1200" kern="1200" dirty="0">
                    <a:solidFill>
                      <a:schemeClr val="tx1"/>
                    </a:solidFill>
                    <a:effectLst/>
                    <a:latin typeface="Times New Roman" panose="02020603050405020304" pitchFamily="18" charset="0"/>
                    <a:ea typeface="+mn-ea"/>
                    <a:cs typeface="+mn-cs"/>
                  </a:rPr>
                  <a:t>，就不會激發</a:t>
                </a:r>
                <a:r>
                  <a:rPr lang="en-US" altLang="zh-TW" sz="1200" kern="1200" dirty="0">
                    <a:solidFill>
                      <a:schemeClr val="tx1"/>
                    </a:solidFill>
                    <a:effectLst/>
                    <a:latin typeface="Times New Roman" panose="02020603050405020304" pitchFamily="18" charset="0"/>
                    <a:ea typeface="+mn-ea"/>
                    <a:cs typeface="+mn-cs"/>
                  </a:rPr>
                  <a:t>2</a:t>
                </a:r>
                <a:r>
                  <a:rPr lang="zh-TW" altLang="en-US" sz="1200" kern="1200" dirty="0">
                    <a:solidFill>
                      <a:schemeClr val="tx1"/>
                    </a:solidFill>
                    <a:effectLst/>
                    <a:latin typeface="Times New Roman" panose="02020603050405020304" pitchFamily="18" charset="0"/>
                    <a:ea typeface="+mn-ea"/>
                    <a:cs typeface="+mn-cs"/>
                  </a:rPr>
                  <a:t>能階，稱作絕熱過程</a:t>
                </a:r>
                <a:endParaRPr lang="en-US" altLang="zh-TW" sz="1200" kern="1200" dirty="0">
                  <a:solidFill>
                    <a:schemeClr val="tx1"/>
                  </a:solidFill>
                  <a:effectLst/>
                  <a:latin typeface="Times New Roman" panose="02020603050405020304" pitchFamily="18" charset="0"/>
                  <a:ea typeface="+mn-ea"/>
                  <a:cs typeface="+mn-cs"/>
                </a:endParaRPr>
              </a:p>
              <a:p>
                <a:r>
                  <a:rPr lang="zh-TW" altLang="en-US" sz="1200" kern="1200" dirty="0">
                    <a:solidFill>
                      <a:schemeClr val="tx1"/>
                    </a:solidFill>
                    <a:effectLst/>
                    <a:latin typeface="Times New Roman" panose="02020603050405020304" pitchFamily="18" charset="0"/>
                    <a:ea typeface="+mn-ea"/>
                    <a:cs typeface="+mn-cs"/>
                  </a:rPr>
                  <a:t>此時時間上粒子分布和</a:t>
                </a:r>
                <a:r>
                  <a:rPr lang="en-US" altLang="zh-TW" sz="1200" kern="1200" dirty="0">
                    <a:solidFill>
                      <a:schemeClr val="tx1"/>
                    </a:solidFill>
                    <a:effectLst/>
                    <a:latin typeface="Times New Roman" panose="02020603050405020304" pitchFamily="18" charset="0"/>
                    <a:ea typeface="+mn-ea"/>
                    <a:cs typeface="+mn-cs"/>
                  </a:rPr>
                  <a:t>pulses</a:t>
                </a:r>
                <a:r>
                  <a:rPr lang="zh-TW" altLang="en-US" sz="1200" kern="1200" dirty="0">
                    <a:solidFill>
                      <a:schemeClr val="tx1"/>
                    </a:solidFill>
                    <a:effectLst/>
                    <a:latin typeface="Times New Roman" panose="02020603050405020304" pitchFamily="18" charset="0"/>
                    <a:ea typeface="+mn-ea"/>
                    <a:cs typeface="+mn-cs"/>
                  </a:rPr>
                  <a:t>是反直覺的過程</a:t>
                </a:r>
                <a:endParaRPr lang="zh-TW" altLang="en-US" dirty="0"/>
              </a:p>
            </p:txBody>
          </p:sp>
        </mc:Choice>
        <mc:Fallback xmlns="">
          <p:sp>
            <p:nvSpPr>
              <p:cNvPr id="3" name="備忘稿版面配置區 2"/>
              <p:cNvSpPr>
                <a:spLocks noGrp="1"/>
              </p:cNvSpPr>
              <p:nvPr>
                <p:ph type="body" idx="1"/>
              </p:nvPr>
            </p:nvSpPr>
            <p:spPr/>
            <p:txBody>
              <a:bodyPr/>
              <a:lstStyle/>
              <a:p>
                <a:r>
                  <a:rPr lang="en-US" altLang="zh-TW" dirty="0"/>
                  <a:t>STIRAP</a:t>
                </a:r>
                <a:r>
                  <a:rPr lang="zh-TW" altLang="en-US" dirty="0"/>
                  <a:t>是透過拉比共振和絕熱過程，利用兩者的優點，使粒子能夠產生了穩定的共振效應</a:t>
                </a:r>
                <a:r>
                  <a:rPr lang="en-US" altLang="zh-TW" sz="1200" i="0">
                    <a:solidFill>
                      <a:srgbClr val="483832"/>
                    </a:solidFill>
                    <a:latin typeface="Cambria Math" panose="02040503050406030204" pitchFamily="18" charset="0"/>
                  </a:rPr>
                  <a:t>∆</a:t>
                </a:r>
                <a:r>
                  <a:rPr lang="zh-TW" altLang="zh-TW" sz="1200" i="0">
                    <a:solidFill>
                      <a:srgbClr val="483832"/>
                    </a:solidFill>
                    <a:latin typeface="Cambria Math" panose="02040503050406030204" pitchFamily="18" charset="0"/>
                  </a:rPr>
                  <a:t>_</a:t>
                </a:r>
                <a:r>
                  <a:rPr lang="en-US" altLang="zh-TW" sz="1200" i="0">
                    <a:solidFill>
                      <a:srgbClr val="483832"/>
                    </a:solidFill>
                    <a:latin typeface="Cambria Math" panose="02040503050406030204" pitchFamily="18" charset="0"/>
                  </a:rPr>
                  <a:t>𝑝=∆</a:t>
                </a:r>
                <a:r>
                  <a:rPr lang="zh-TW" altLang="zh-TW" sz="1200" i="0">
                    <a:solidFill>
                      <a:srgbClr val="483832"/>
                    </a:solidFill>
                    <a:latin typeface="Cambria Math" panose="02040503050406030204" pitchFamily="18" charset="0"/>
                  </a:rPr>
                  <a:t>_</a:t>
                </a:r>
                <a:r>
                  <a:rPr lang="en-US" altLang="zh-TW" sz="1200" i="0">
                    <a:solidFill>
                      <a:srgbClr val="483832"/>
                    </a:solidFill>
                    <a:latin typeface="Cambria Math" panose="02040503050406030204" pitchFamily="18" charset="0"/>
                  </a:rPr>
                  <a:t>𝑠</a:t>
                </a:r>
                <a:r>
                  <a:rPr lang="zh-TW" altLang="en-US" dirty="0"/>
                  <a:t>，在共振系統中</a:t>
                </a:r>
                <a:r>
                  <a:rPr lang="en-US" altLang="zh-TW" sz="1200" dirty="0">
                    <a:solidFill>
                      <a:srgbClr val="483832"/>
                    </a:solidFill>
                    <a:latin typeface="Times New Roman" panose="02020603050405020304" pitchFamily="18" charset="0"/>
                    <a:cs typeface="Times New Roman" panose="02020603050405020304" pitchFamily="18" charset="0"/>
                  </a:rPr>
                  <a:t>Hamiltonian</a:t>
                </a:r>
                <a:r>
                  <a:rPr lang="zh-TW" altLang="en-US" sz="1200" dirty="0">
                    <a:solidFill>
                      <a:srgbClr val="483832"/>
                    </a:solidFill>
                    <a:latin typeface="Times New Roman" panose="02020603050405020304" pitchFamily="18" charset="0"/>
                    <a:cs typeface="Times New Roman" panose="02020603050405020304" pitchFamily="18" charset="0"/>
                  </a:rPr>
                  <a:t>描述如投影片中的矩陣</a:t>
                </a:r>
                <a:endParaRPr lang="en-US" altLang="zh-TW" sz="1200" dirty="0">
                  <a:solidFill>
                    <a:srgbClr val="483832"/>
                  </a:solidFill>
                  <a:latin typeface="Times New Roman" panose="02020603050405020304" pitchFamily="18" charset="0"/>
                  <a:cs typeface="Times New Roman" panose="02020603050405020304" pitchFamily="18" charset="0"/>
                </a:endParaRPr>
              </a:p>
              <a:p>
                <a:r>
                  <a:rPr lang="zh-TW" altLang="en-US" sz="1200" dirty="0">
                    <a:solidFill>
                      <a:srgbClr val="483832"/>
                    </a:solidFill>
                    <a:latin typeface="Times New Roman" panose="02020603050405020304" pitchFamily="18" charset="0"/>
                    <a:cs typeface="Times New Roman" panose="02020603050405020304" pitchFamily="18" charset="0"/>
                  </a:rPr>
                  <a:t>三能階系統 粒子數轉換 在時間上是先</a:t>
                </a:r>
                <a:r>
                  <a:rPr lang="en-US" altLang="zh-TW" sz="1200" dirty="0">
                    <a:solidFill>
                      <a:srgbClr val="483832"/>
                    </a:solidFill>
                    <a:latin typeface="Times New Roman" panose="02020603050405020304" pitchFamily="18" charset="0"/>
                    <a:cs typeface="Times New Roman" panose="02020603050405020304" pitchFamily="18" charset="0"/>
                  </a:rPr>
                  <a:t>P</a:t>
                </a:r>
                <a:r>
                  <a:rPr lang="zh-TW" altLang="en-US" sz="1200" dirty="0">
                    <a:solidFill>
                      <a:srgbClr val="483832"/>
                    </a:solidFill>
                    <a:latin typeface="Times New Roman" panose="02020603050405020304" pitchFamily="18" charset="0"/>
                    <a:cs typeface="Times New Roman" panose="02020603050405020304" pitchFamily="18" charset="0"/>
                  </a:rPr>
                  <a:t>再</a:t>
                </a:r>
                <a:r>
                  <a:rPr lang="en-US" altLang="zh-TW" sz="1200" dirty="0">
                    <a:solidFill>
                      <a:srgbClr val="483832"/>
                    </a:solidFill>
                    <a:latin typeface="Times New Roman" panose="02020603050405020304" pitchFamily="18" charset="0"/>
                    <a:cs typeface="Times New Roman" panose="02020603050405020304" pitchFamily="18" charset="0"/>
                  </a:rPr>
                  <a:t>S</a:t>
                </a:r>
                <a:r>
                  <a:rPr lang="zh-TW" altLang="en-US" sz="1200" dirty="0">
                    <a:solidFill>
                      <a:srgbClr val="483832"/>
                    </a:solidFill>
                    <a:latin typeface="Times New Roman" panose="02020603050405020304" pitchFamily="18" charset="0"/>
                    <a:cs typeface="Times New Roman" panose="02020603050405020304" pitchFamily="18" charset="0"/>
                  </a:rPr>
                  <a:t>是拉比共振過程</a:t>
                </a:r>
                <a:endParaRPr lang="en-US" altLang="zh-TW" sz="1200" dirty="0">
                  <a:solidFill>
                    <a:srgbClr val="483832"/>
                  </a:solidFill>
                  <a:latin typeface="Times New Roman" panose="02020603050405020304" pitchFamily="18" charset="0"/>
                  <a:cs typeface="Times New Roman" panose="02020603050405020304" pitchFamily="18" charset="0"/>
                </a:endParaRPr>
              </a:p>
              <a:p>
                <a:r>
                  <a:rPr lang="zh-TW" altLang="en-US" sz="1200" dirty="0">
                    <a:solidFill>
                      <a:srgbClr val="483832"/>
                    </a:solidFill>
                    <a:latin typeface="Times New Roman" panose="02020603050405020304" pitchFamily="18" charset="0"/>
                    <a:cs typeface="Times New Roman" panose="02020603050405020304" pitchFamily="18" charset="0"/>
                  </a:rPr>
                  <a:t>先</a:t>
                </a:r>
                <a:r>
                  <a:rPr lang="en-US" altLang="zh-TW" sz="1200" dirty="0">
                    <a:solidFill>
                      <a:srgbClr val="483832"/>
                    </a:solidFill>
                    <a:latin typeface="Times New Roman" panose="02020603050405020304" pitchFamily="18" charset="0"/>
                    <a:cs typeface="Times New Roman" panose="02020603050405020304" pitchFamily="18" charset="0"/>
                  </a:rPr>
                  <a:t>P</a:t>
                </a:r>
                <a:r>
                  <a:rPr lang="zh-TW" altLang="en-US" sz="1200" dirty="0">
                    <a:solidFill>
                      <a:srgbClr val="483832"/>
                    </a:solidFill>
                    <a:latin typeface="Times New Roman" panose="02020603050405020304" pitchFamily="18" charset="0"/>
                    <a:cs typeface="Times New Roman" panose="02020603050405020304" pitchFamily="18" charset="0"/>
                  </a:rPr>
                  <a:t>再</a:t>
                </a:r>
                <a:r>
                  <a:rPr lang="en-US" altLang="zh-TW" sz="1200" dirty="0">
                    <a:solidFill>
                      <a:srgbClr val="483832"/>
                    </a:solidFill>
                    <a:latin typeface="Times New Roman" panose="02020603050405020304" pitchFamily="18" charset="0"/>
                    <a:cs typeface="Times New Roman" panose="02020603050405020304" pitchFamily="18" charset="0"/>
                  </a:rPr>
                  <a:t>S</a:t>
                </a:r>
                <a:r>
                  <a:rPr lang="zh-TW" altLang="en-US" sz="1200" dirty="0">
                    <a:solidFill>
                      <a:srgbClr val="483832"/>
                    </a:solidFill>
                    <a:latin typeface="Times New Roman" panose="02020603050405020304" pitchFamily="18" charset="0"/>
                    <a:cs typeface="Times New Roman" panose="02020603050405020304" pitchFamily="18" charset="0"/>
                  </a:rPr>
                  <a:t>可以達到</a:t>
                </a:r>
                <a:r>
                  <a:rPr lang="en-US" altLang="zh-TW" sz="1200" dirty="0">
                    <a:solidFill>
                      <a:srgbClr val="483832"/>
                    </a:solidFill>
                    <a:latin typeface="Times New Roman" panose="02020603050405020304" pitchFamily="18" charset="0"/>
                    <a:cs typeface="Times New Roman" panose="02020603050405020304" pitchFamily="18" charset="0"/>
                  </a:rPr>
                  <a:t>23</a:t>
                </a:r>
                <a:r>
                  <a:rPr lang="zh-TW" altLang="en-US" sz="1200" dirty="0">
                    <a:solidFill>
                      <a:srgbClr val="483832"/>
                    </a:solidFill>
                    <a:latin typeface="Times New Roman" panose="02020603050405020304" pitchFamily="18" charset="0"/>
                    <a:cs typeface="Times New Roman" panose="02020603050405020304" pitchFamily="18" charset="0"/>
                  </a:rPr>
                  <a:t>能階先有相干疊加，後續</a:t>
                </a:r>
                <a:r>
                  <a:rPr lang="en-US" altLang="zh-TW" sz="1200" dirty="0">
                    <a:solidFill>
                      <a:srgbClr val="483832"/>
                    </a:solidFill>
                    <a:latin typeface="Times New Roman" panose="02020603050405020304" pitchFamily="18" charset="0"/>
                    <a:cs typeface="Times New Roman" panose="02020603050405020304" pitchFamily="18" charset="0"/>
                  </a:rPr>
                  <a:t>S</a:t>
                </a:r>
                <a:r>
                  <a:rPr lang="zh-TW" altLang="en-US" sz="1200" dirty="0">
                    <a:solidFill>
                      <a:srgbClr val="483832"/>
                    </a:solidFill>
                    <a:latin typeface="Times New Roman" panose="02020603050405020304" pitchFamily="18" charset="0"/>
                    <a:cs typeface="Times New Roman" panose="02020603050405020304" pitchFamily="18" charset="0"/>
                  </a:rPr>
                  <a:t>進來可以直接將粒子從</a:t>
                </a:r>
                <a:r>
                  <a:rPr lang="en-US" altLang="zh-TW" sz="1200" dirty="0">
                    <a:solidFill>
                      <a:srgbClr val="483832"/>
                    </a:solidFill>
                    <a:latin typeface="Times New Roman" panose="02020603050405020304" pitchFamily="18" charset="0"/>
                    <a:cs typeface="Times New Roman" panose="02020603050405020304" pitchFamily="18" charset="0"/>
                  </a:rPr>
                  <a:t>1</a:t>
                </a:r>
                <a:r>
                  <a:rPr lang="zh-TW" altLang="en-US" sz="1200" dirty="0">
                    <a:solidFill>
                      <a:srgbClr val="483832"/>
                    </a:solidFill>
                    <a:latin typeface="Times New Roman" panose="02020603050405020304" pitchFamily="18" charset="0"/>
                    <a:cs typeface="Times New Roman" panose="02020603050405020304" pitchFamily="18" charset="0"/>
                  </a:rPr>
                  <a:t>轉換</a:t>
                </a:r>
                <a:r>
                  <a:rPr lang="en-US" altLang="zh-TW" sz="1200" dirty="0">
                    <a:solidFill>
                      <a:srgbClr val="483832"/>
                    </a:solidFill>
                    <a:latin typeface="Times New Roman" panose="02020603050405020304" pitchFamily="18" charset="0"/>
                    <a:cs typeface="Times New Roman" panose="02020603050405020304" pitchFamily="18" charset="0"/>
                  </a:rPr>
                  <a:t>3</a:t>
                </a:r>
                <a:r>
                  <a:rPr lang="zh-TW" altLang="en-US" sz="1200" dirty="0">
                    <a:solidFill>
                      <a:srgbClr val="483832"/>
                    </a:solidFill>
                    <a:latin typeface="Times New Roman" panose="02020603050405020304" pitchFamily="18" charset="0"/>
                    <a:cs typeface="Times New Roman" panose="02020603050405020304" pitchFamily="18" charset="0"/>
                  </a:rPr>
                  <a:t>能階，</a:t>
                </a:r>
                <a:r>
                  <a:rPr lang="zh-TW" altLang="zh-TW" sz="1200" kern="1200" dirty="0">
                    <a:solidFill>
                      <a:schemeClr val="tx1"/>
                    </a:solidFill>
                    <a:effectLst/>
                    <a:latin typeface="Times New Roman" panose="02020603050405020304" pitchFamily="18" charset="0"/>
                    <a:ea typeface="+mn-ea"/>
                    <a:cs typeface="+mn-cs"/>
                  </a:rPr>
                  <a:t>當系統交互作用足夠緩慢</a:t>
                </a:r>
                <a:r>
                  <a:rPr lang="zh-TW" altLang="en-US" sz="1200" kern="1200" dirty="0">
                    <a:solidFill>
                      <a:schemeClr val="tx1"/>
                    </a:solidFill>
                    <a:effectLst/>
                    <a:latin typeface="Times New Roman" panose="02020603050405020304" pitchFamily="18" charset="0"/>
                    <a:ea typeface="+mn-ea"/>
                    <a:cs typeface="+mn-cs"/>
                  </a:rPr>
                  <a:t>，就不會激發</a:t>
                </a:r>
                <a:r>
                  <a:rPr lang="en-US" altLang="zh-TW" sz="1200" kern="1200" dirty="0">
                    <a:solidFill>
                      <a:schemeClr val="tx1"/>
                    </a:solidFill>
                    <a:effectLst/>
                    <a:latin typeface="Times New Roman" panose="02020603050405020304" pitchFamily="18" charset="0"/>
                    <a:ea typeface="+mn-ea"/>
                    <a:cs typeface="+mn-cs"/>
                  </a:rPr>
                  <a:t>2</a:t>
                </a:r>
                <a:r>
                  <a:rPr lang="zh-TW" altLang="en-US" sz="1200" kern="1200" dirty="0">
                    <a:solidFill>
                      <a:schemeClr val="tx1"/>
                    </a:solidFill>
                    <a:effectLst/>
                    <a:latin typeface="Times New Roman" panose="02020603050405020304" pitchFamily="18" charset="0"/>
                    <a:ea typeface="+mn-ea"/>
                    <a:cs typeface="+mn-cs"/>
                  </a:rPr>
                  <a:t>能階，稱作絕熱過程</a:t>
                </a:r>
                <a:endParaRPr lang="en-US" altLang="zh-TW" sz="1200" kern="1200" dirty="0">
                  <a:solidFill>
                    <a:schemeClr val="tx1"/>
                  </a:solidFill>
                  <a:effectLst/>
                  <a:latin typeface="Times New Roman" panose="02020603050405020304" pitchFamily="18" charset="0"/>
                  <a:ea typeface="+mn-ea"/>
                  <a:cs typeface="+mn-cs"/>
                </a:endParaRPr>
              </a:p>
              <a:p>
                <a:r>
                  <a:rPr lang="zh-TW" altLang="en-US" sz="1200" kern="1200" dirty="0">
                    <a:solidFill>
                      <a:schemeClr val="tx1"/>
                    </a:solidFill>
                    <a:effectLst/>
                    <a:latin typeface="Times New Roman" panose="02020603050405020304" pitchFamily="18" charset="0"/>
                    <a:ea typeface="+mn-ea"/>
                    <a:cs typeface="+mn-cs"/>
                  </a:rPr>
                  <a:t>此時時間上粒子分布和</a:t>
                </a:r>
                <a:r>
                  <a:rPr lang="en-US" altLang="zh-TW" sz="1200" kern="1200" dirty="0">
                    <a:solidFill>
                      <a:schemeClr val="tx1"/>
                    </a:solidFill>
                    <a:effectLst/>
                    <a:latin typeface="Times New Roman" panose="02020603050405020304" pitchFamily="18" charset="0"/>
                    <a:ea typeface="+mn-ea"/>
                    <a:cs typeface="+mn-cs"/>
                  </a:rPr>
                  <a:t>pulses</a:t>
                </a:r>
                <a:r>
                  <a:rPr lang="zh-TW" altLang="en-US" sz="1200" kern="1200" dirty="0">
                    <a:solidFill>
                      <a:schemeClr val="tx1"/>
                    </a:solidFill>
                    <a:effectLst/>
                    <a:latin typeface="Times New Roman" panose="02020603050405020304" pitchFamily="18" charset="0"/>
                    <a:ea typeface="+mn-ea"/>
                    <a:cs typeface="+mn-cs"/>
                  </a:rPr>
                  <a:t>是反直覺的過程</a:t>
                </a:r>
                <a:endParaRPr lang="zh-TW" altLang="en-US" dirty="0"/>
              </a:p>
            </p:txBody>
          </p:sp>
        </mc:Fallback>
      </mc:AlternateContent>
      <p:sp>
        <p:nvSpPr>
          <p:cNvPr id="4" name="投影片編號版面配置區 3"/>
          <p:cNvSpPr>
            <a:spLocks noGrp="1"/>
          </p:cNvSpPr>
          <p:nvPr>
            <p:ph type="sldNum" sz="quarter" idx="5"/>
          </p:nvPr>
        </p:nvSpPr>
        <p:spPr/>
        <p:txBody>
          <a:bodyPr/>
          <a:lstStyle/>
          <a:p>
            <a:fld id="{DE573447-DA6E-40F4-BFED-1121A9417FC4}" type="slidenum">
              <a:rPr lang="zh-TW" altLang="en-US" smtClean="0"/>
              <a:t>14</a:t>
            </a:fld>
            <a:endParaRPr lang="zh-TW" altLang="en-US"/>
          </a:p>
        </p:txBody>
      </p:sp>
    </p:spTree>
    <p:extLst>
      <p:ext uri="{BB962C8B-B14F-4D97-AF65-F5344CB8AC3E}">
        <p14:creationId xmlns:p14="http://schemas.microsoft.com/office/powerpoint/2010/main" val="4227566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kern="1200" dirty="0">
                    <a:solidFill>
                      <a:schemeClr val="tx1"/>
                    </a:solidFill>
                    <a:effectLst/>
                    <a:latin typeface="Times New Roman" panose="02020603050405020304" pitchFamily="18" charset="0"/>
                    <a:ea typeface="+mn-ea"/>
                    <a:cs typeface="+mn-cs"/>
                  </a:rPr>
                  <a:t>將拉比共振換成耦合係數、將時間域換成空間域</a:t>
                </a:r>
                <a:r>
                  <a:rPr lang="zh-TW" altLang="en-US" sz="1200" kern="1200" dirty="0">
                    <a:solidFill>
                      <a:schemeClr val="tx1"/>
                    </a:solidFill>
                    <a:effectLst/>
                    <a:latin typeface="Times New Roman" panose="02020603050405020304" pitchFamily="18" charset="0"/>
                    <a:ea typeface="+mn-ea"/>
                    <a:cs typeface="+mn-cs"/>
                  </a:rPr>
                  <a:t>，</a:t>
                </a:r>
                <a:r>
                  <a:rPr lang="zh-TW" altLang="en-US" dirty="0"/>
                  <a:t>同樣在一個三能階系統中</a:t>
                </a:r>
                <a:endParaRPr lang="en-US" altLang="zh-TW" dirty="0"/>
              </a:p>
              <a:p>
                <a:r>
                  <a:rPr lang="zh-TW" altLang="en-US" dirty="0"/>
                  <a:t>絕熱性是否足夠可以透過絕熱條件</a:t>
                </a:r>
                <a14:m>
                  <m:oMath xmlns:m="http://schemas.openxmlformats.org/officeDocument/2006/math">
                    <m:r>
                      <m:rPr>
                        <m:sty m:val="p"/>
                      </m:rPr>
                      <a:rPr lang="en-US" altLang="zh-TW" sz="1200" smtClean="0">
                        <a:solidFill>
                          <a:srgbClr val="483832"/>
                        </a:solidFill>
                        <a:latin typeface="Cambria Math" panose="02040503050406030204" pitchFamily="18" charset="0"/>
                      </a:rPr>
                      <m:t>γ</m:t>
                    </m:r>
                  </m:oMath>
                </a14:m>
                <a:r>
                  <a:rPr lang="zh-TW" altLang="en-US" dirty="0"/>
                  <a:t>來判斷</a:t>
                </a:r>
                <a:endParaRPr lang="en-US" altLang="zh-TW" dirty="0"/>
              </a:p>
              <a:p>
                <a:r>
                  <a:rPr lang="zh-TW" altLang="en-US" dirty="0"/>
                  <a:t>分子</a:t>
                </a:r>
                <a:r>
                  <a:rPr lang="en-US" altLang="zh-TW" dirty="0"/>
                  <a:t>…</a:t>
                </a:r>
              </a:p>
              <a:p>
                <a:r>
                  <a:rPr lang="zh-TW" altLang="en-US" dirty="0"/>
                  <a:t>分母</a:t>
                </a:r>
                <a:r>
                  <a:rPr lang="en-US" altLang="zh-TW" dirty="0"/>
                  <a:t>…</a:t>
                </a:r>
              </a:p>
              <a:p>
                <a:r>
                  <a:rPr lang="zh-TW" altLang="en-US"/>
                  <a:t>最後調整三個參數</a:t>
                </a:r>
                <a:endParaRPr lang="en-US" altLang="zh-TW"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kern="1200" dirty="0">
                    <a:solidFill>
                      <a:schemeClr val="tx1"/>
                    </a:solidFill>
                    <a:effectLst/>
                    <a:latin typeface="Times New Roman" panose="02020603050405020304" pitchFamily="18" charset="0"/>
                    <a:ea typeface="+mn-ea"/>
                    <a:cs typeface="+mn-cs"/>
                  </a:rPr>
                  <a:t>將拉比共振換成耦合係數、將時間域換成空間域</a:t>
                </a:r>
                <a:r>
                  <a:rPr lang="zh-TW" altLang="en-US" sz="1200" kern="1200" dirty="0">
                    <a:solidFill>
                      <a:schemeClr val="tx1"/>
                    </a:solidFill>
                    <a:effectLst/>
                    <a:latin typeface="Times New Roman" panose="02020603050405020304" pitchFamily="18" charset="0"/>
                    <a:ea typeface="+mn-ea"/>
                    <a:cs typeface="+mn-cs"/>
                  </a:rPr>
                  <a:t>，</a:t>
                </a:r>
                <a:r>
                  <a:rPr lang="zh-TW" altLang="en-US" dirty="0"/>
                  <a:t>同樣在一個三能階系統中</a:t>
                </a:r>
                <a:endParaRPr lang="en-US" altLang="zh-TW" dirty="0"/>
              </a:p>
              <a:p>
                <a:r>
                  <a:rPr lang="zh-TW" altLang="en-US" dirty="0"/>
                  <a:t>絕熱性是否足夠可以透過絕熱條件</a:t>
                </a:r>
                <a:r>
                  <a:rPr lang="en-US" altLang="zh-TW" sz="1200" i="0">
                    <a:solidFill>
                      <a:srgbClr val="483832"/>
                    </a:solidFill>
                    <a:latin typeface="Cambria Math" panose="02040503050406030204" pitchFamily="18" charset="0"/>
                  </a:rPr>
                  <a:t>γ</a:t>
                </a:r>
                <a:r>
                  <a:rPr lang="zh-TW" altLang="en-US" dirty="0"/>
                  <a:t>來判斷</a:t>
                </a:r>
                <a:r>
                  <a:rPr lang="en-US" altLang="zh-TW" dirty="0"/>
                  <a:t>…</a:t>
                </a:r>
              </a:p>
            </p:txBody>
          </p:sp>
        </mc:Fallback>
      </mc:AlternateContent>
      <p:sp>
        <p:nvSpPr>
          <p:cNvPr id="4" name="投影片編號版面配置區 3"/>
          <p:cNvSpPr>
            <a:spLocks noGrp="1"/>
          </p:cNvSpPr>
          <p:nvPr>
            <p:ph type="sldNum" sz="quarter" idx="5"/>
          </p:nvPr>
        </p:nvSpPr>
        <p:spPr/>
        <p:txBody>
          <a:bodyPr/>
          <a:lstStyle/>
          <a:p>
            <a:fld id="{DE573447-DA6E-40F4-BFED-1121A9417FC4}" type="slidenum">
              <a:rPr lang="zh-TW" altLang="en-US" smtClean="0"/>
              <a:pPr/>
              <a:t>15</a:t>
            </a:fld>
            <a:endParaRPr lang="zh-TW" altLang="en-US" dirty="0"/>
          </a:p>
        </p:txBody>
      </p:sp>
    </p:spTree>
    <p:extLst>
      <p:ext uri="{BB962C8B-B14F-4D97-AF65-F5344CB8AC3E}">
        <p14:creationId xmlns:p14="http://schemas.microsoft.com/office/powerpoint/2010/main" val="2499415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t>16</a:t>
            </a:fld>
            <a:endParaRPr lang="zh-TW" altLang="en-US"/>
          </a:p>
        </p:txBody>
      </p:sp>
    </p:spTree>
    <p:extLst>
      <p:ext uri="{BB962C8B-B14F-4D97-AF65-F5344CB8AC3E}">
        <p14:creationId xmlns:p14="http://schemas.microsoft.com/office/powerpoint/2010/main" val="3866552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中間圖要改 </a:t>
            </a:r>
            <a:r>
              <a:rPr lang="en-US" altLang="zh-TW" dirty="0"/>
              <a:t>775nm 775</a:t>
            </a:r>
            <a:r>
              <a:rPr lang="zh-TW" altLang="en-US"/>
              <a:t>高模</a:t>
            </a:r>
            <a:r>
              <a:rPr lang="en-US" altLang="zh-TW"/>
              <a:t> </a:t>
            </a:r>
            <a:r>
              <a:rPr lang="zh-TW" altLang="en-US" dirty="0"/>
              <a:t>右圖要改</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17</a:t>
            </a:fld>
            <a:endParaRPr lang="zh-TW" altLang="en-US" dirty="0"/>
          </a:p>
        </p:txBody>
      </p:sp>
    </p:spTree>
    <p:extLst>
      <p:ext uri="{BB962C8B-B14F-4D97-AF65-F5344CB8AC3E}">
        <p14:creationId xmlns:p14="http://schemas.microsoft.com/office/powerpoint/2010/main" val="3346054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1550ER</a:t>
            </a:r>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19</a:t>
            </a:fld>
            <a:endParaRPr lang="zh-TW" altLang="en-US" dirty="0"/>
          </a:p>
        </p:txBody>
      </p:sp>
    </p:spTree>
    <p:extLst>
      <p:ext uri="{BB962C8B-B14F-4D97-AF65-F5344CB8AC3E}">
        <p14:creationId xmlns:p14="http://schemas.microsoft.com/office/powerpoint/2010/main" val="503134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20</a:t>
            </a:fld>
            <a:endParaRPr lang="zh-TW" altLang="en-US" dirty="0"/>
          </a:p>
        </p:txBody>
      </p:sp>
    </p:spTree>
    <p:extLst>
      <p:ext uri="{BB962C8B-B14F-4D97-AF65-F5344CB8AC3E}">
        <p14:creationId xmlns:p14="http://schemas.microsoft.com/office/powerpoint/2010/main" val="19994791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21</a:t>
            </a:fld>
            <a:endParaRPr lang="zh-TW" altLang="en-US" dirty="0"/>
          </a:p>
        </p:txBody>
      </p:sp>
    </p:spTree>
    <p:extLst>
      <p:ext uri="{BB962C8B-B14F-4D97-AF65-F5344CB8AC3E}">
        <p14:creationId xmlns:p14="http://schemas.microsoft.com/office/powerpoint/2010/main" val="4228287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首先製作</a:t>
            </a:r>
            <a:r>
              <a:rPr lang="en-US" altLang="zh-TW" dirty="0" err="1"/>
              <a:t>Ti</a:t>
            </a:r>
            <a:r>
              <a:rPr lang="zh-TW" altLang="en-US" dirty="0"/>
              <a:t>波導</a:t>
            </a:r>
            <a:endParaRPr lang="en-US" altLang="zh-TW" dirty="0"/>
          </a:p>
          <a:p>
            <a:r>
              <a:rPr lang="zh-TW" altLang="en-US" dirty="0"/>
              <a:t>在透過外加電場反轉晶疇 達到週期性結構</a:t>
            </a:r>
            <a:endParaRPr lang="en-US" altLang="zh-TW" dirty="0"/>
          </a:p>
          <a:p>
            <a:r>
              <a:rPr lang="zh-TW" altLang="en-US" dirty="0"/>
              <a:t>最後經過端面處理才能進入量測部分</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t>23</a:t>
            </a:fld>
            <a:endParaRPr lang="zh-TW" altLang="en-US"/>
          </a:p>
        </p:txBody>
      </p:sp>
    </p:spTree>
    <p:extLst>
      <p:ext uri="{BB962C8B-B14F-4D97-AF65-F5344CB8AC3E}">
        <p14:creationId xmlns:p14="http://schemas.microsoft.com/office/powerpoint/2010/main" val="9500461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25</a:t>
            </a:fld>
            <a:endParaRPr lang="zh-TW" altLang="en-US" dirty="0"/>
          </a:p>
        </p:txBody>
      </p:sp>
    </p:spTree>
    <p:extLst>
      <p:ext uri="{BB962C8B-B14F-4D97-AF65-F5344CB8AC3E}">
        <p14:creationId xmlns:p14="http://schemas.microsoft.com/office/powerpoint/2010/main" val="2309789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t>29</a:t>
            </a:fld>
            <a:endParaRPr lang="zh-TW" altLang="en-US"/>
          </a:p>
        </p:txBody>
      </p:sp>
    </p:spTree>
    <p:extLst>
      <p:ext uri="{BB962C8B-B14F-4D97-AF65-F5344CB8AC3E}">
        <p14:creationId xmlns:p14="http://schemas.microsoft.com/office/powerpoint/2010/main" val="32107891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solidFill>
                  <a:srgbClr val="483832"/>
                </a:solidFill>
                <a:highlight>
                  <a:srgbClr val="FFAFB1"/>
                </a:highlight>
                <a:latin typeface="Times New Roman" panose="02020603050405020304" pitchFamily="18" charset="0"/>
              </a:rPr>
              <a:t>ER&gt;10dB with 50nm</a:t>
            </a:r>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33</a:t>
            </a:fld>
            <a:endParaRPr lang="zh-TW" altLang="en-US" dirty="0"/>
          </a:p>
        </p:txBody>
      </p:sp>
    </p:spTree>
    <p:extLst>
      <p:ext uri="{BB962C8B-B14F-4D97-AF65-F5344CB8AC3E}">
        <p14:creationId xmlns:p14="http://schemas.microsoft.com/office/powerpoint/2010/main" val="26673692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再量測壓縮光可以分為兩個部分討論 第一種是晶片的非線性的轉換效率 其次是光路的偵測效率</a:t>
            </a:r>
            <a:endParaRPr lang="en-US" altLang="zh-TW" dirty="0"/>
          </a:p>
          <a:p>
            <a:r>
              <a:rPr lang="zh-TW" altLang="en-US" dirty="0"/>
              <a:t>這個表格主要是討論我們所設計的晶片所使用的波導材料以及具備的轉換效率 和其他文獻的差別 可以看到他們所使用的</a:t>
            </a:r>
            <a:r>
              <a:rPr lang="en-US" altLang="zh-TW" dirty="0"/>
              <a:t>QPM</a:t>
            </a:r>
            <a:r>
              <a:rPr lang="zh-TW" altLang="en-US" dirty="0"/>
              <a:t>長度大多是我們兩倍的長度，使用的材料效率最差的是</a:t>
            </a:r>
            <a:r>
              <a:rPr lang="en-US" altLang="zh-TW" dirty="0"/>
              <a:t>SPE</a:t>
            </a:r>
            <a:r>
              <a:rPr lang="zh-TW" altLang="en-US" dirty="0"/>
              <a:t>的波導 效率比鈦高</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45</a:t>
            </a:fld>
            <a:endParaRPr lang="zh-TW" altLang="en-US" dirty="0"/>
          </a:p>
        </p:txBody>
      </p:sp>
    </p:spTree>
    <p:extLst>
      <p:ext uri="{BB962C8B-B14F-4D97-AF65-F5344CB8AC3E}">
        <p14:creationId xmlns:p14="http://schemas.microsoft.com/office/powerpoint/2010/main" val="2897950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所計算的方式是使用</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46</a:t>
            </a:fld>
            <a:endParaRPr lang="zh-TW" altLang="en-US" dirty="0"/>
          </a:p>
        </p:txBody>
      </p:sp>
    </p:spTree>
    <p:extLst>
      <p:ext uri="{BB962C8B-B14F-4D97-AF65-F5344CB8AC3E}">
        <p14:creationId xmlns:p14="http://schemas.microsoft.com/office/powerpoint/2010/main" val="24674775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t>47</a:t>
            </a:fld>
            <a:endParaRPr lang="zh-TW" altLang="en-US"/>
          </a:p>
        </p:txBody>
      </p:sp>
    </p:spTree>
    <p:extLst>
      <p:ext uri="{BB962C8B-B14F-4D97-AF65-F5344CB8AC3E}">
        <p14:creationId xmlns:p14="http://schemas.microsoft.com/office/powerpoint/2010/main" val="2582353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48</a:t>
            </a:fld>
            <a:endParaRPr lang="zh-TW" altLang="en-US" dirty="0"/>
          </a:p>
        </p:txBody>
      </p:sp>
    </p:spTree>
    <p:extLst>
      <p:ext uri="{BB962C8B-B14F-4D97-AF65-F5344CB8AC3E}">
        <p14:creationId xmlns:p14="http://schemas.microsoft.com/office/powerpoint/2010/main" val="12878568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先不使用</a:t>
            </a:r>
            <a:r>
              <a:rPr lang="en-US" altLang="zh-TW" dirty="0"/>
              <a:t>AC</a:t>
            </a:r>
            <a:r>
              <a:rPr lang="zh-TW" altLang="en-US" dirty="0"/>
              <a:t>做分光 先將</a:t>
            </a:r>
            <a:r>
              <a:rPr lang="en-US" altLang="zh-TW" dirty="0"/>
              <a:t>QPM</a:t>
            </a:r>
            <a:r>
              <a:rPr lang="zh-TW" altLang="en-US" dirty="0"/>
              <a:t>長度拉長提高非線性效率</a:t>
            </a:r>
            <a:endParaRPr lang="en-US" altLang="zh-TW" dirty="0"/>
          </a:p>
          <a:p>
            <a:r>
              <a:rPr lang="zh-TW" altLang="en-US" dirty="0"/>
              <a:t>希望整合更多元件就會建議採用其他種類的波導</a:t>
            </a:r>
            <a:endParaRPr lang="en-US" altLang="zh-TW" dirty="0"/>
          </a:p>
          <a:p>
            <a:endParaRPr lang="en-US" altLang="zh-TW" dirty="0"/>
          </a:p>
          <a:p>
            <a:r>
              <a:rPr lang="zh-TW" altLang="en-US" dirty="0"/>
              <a:t>架構已經完整了，可以加消色差物鏡耦合方式、設計更為穩定的溫控器，使得量測系統更加完善穩定</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49</a:t>
            </a:fld>
            <a:endParaRPr lang="zh-TW" altLang="en-US" dirty="0"/>
          </a:p>
        </p:txBody>
      </p:sp>
    </p:spTree>
    <p:extLst>
      <p:ext uri="{BB962C8B-B14F-4D97-AF65-F5344CB8AC3E}">
        <p14:creationId xmlns:p14="http://schemas.microsoft.com/office/powerpoint/2010/main" val="26238995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solidFill>
                  <a:srgbClr val="483832"/>
                </a:solidFill>
                <a:highlight>
                  <a:srgbClr val="FFAFB1"/>
                </a:highlight>
                <a:latin typeface="Times New Roman" panose="02020603050405020304" pitchFamily="18" charset="0"/>
              </a:rPr>
              <a:t>ER&gt;10dB with 50nm</a:t>
            </a:r>
            <a:endParaRPr lang="zh-TW" altLang="en-US" dirty="0"/>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56</a:t>
            </a:fld>
            <a:endParaRPr lang="zh-TW" altLang="en-US" dirty="0"/>
          </a:p>
        </p:txBody>
      </p:sp>
    </p:spTree>
    <p:extLst>
      <p:ext uri="{BB962C8B-B14F-4D97-AF65-F5344CB8AC3E}">
        <p14:creationId xmlns:p14="http://schemas.microsoft.com/office/powerpoint/2010/main" val="13809000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再量測壓縮光可以分為兩個部分討論 第一種是晶片的非線性的轉換效率 其次是光路的偵測效率</a:t>
            </a:r>
            <a:endParaRPr lang="en-US" altLang="zh-TW" dirty="0"/>
          </a:p>
          <a:p>
            <a:r>
              <a:rPr lang="zh-TW" altLang="en-US" dirty="0"/>
              <a:t>這個表格主要是討論我們所設計的晶片所使用的波導材料以及具備的轉換效率 和其他文獻的差別 可以看到他們所使用的</a:t>
            </a:r>
            <a:r>
              <a:rPr lang="en-US" altLang="zh-TW" dirty="0"/>
              <a:t>QPM</a:t>
            </a:r>
            <a:r>
              <a:rPr lang="zh-TW" altLang="en-US" dirty="0"/>
              <a:t>長度大多是我們兩倍的長度，使用的材料效率最差的是</a:t>
            </a:r>
            <a:r>
              <a:rPr lang="en-US" altLang="zh-TW" dirty="0"/>
              <a:t>SPE</a:t>
            </a:r>
            <a:r>
              <a:rPr lang="zh-TW" altLang="en-US" dirty="0"/>
              <a:t>的波導 效率比鈦高</a:t>
            </a:r>
          </a:p>
        </p:txBody>
      </p:sp>
      <p:sp>
        <p:nvSpPr>
          <p:cNvPr id="4" name="投影片編號版面配置區 3"/>
          <p:cNvSpPr>
            <a:spLocks noGrp="1"/>
          </p:cNvSpPr>
          <p:nvPr>
            <p:ph type="sldNum" sz="quarter" idx="5"/>
          </p:nvPr>
        </p:nvSpPr>
        <p:spPr/>
        <p:txBody>
          <a:bodyPr/>
          <a:lstStyle/>
          <a:p>
            <a:fld id="{DE573447-DA6E-40F4-BFED-1121A9417FC4}" type="slidenum">
              <a:rPr lang="zh-TW" altLang="en-US" smtClean="0"/>
              <a:pPr/>
              <a:t>57</a:t>
            </a:fld>
            <a:endParaRPr lang="zh-TW" altLang="en-US" dirty="0"/>
          </a:p>
        </p:txBody>
      </p:sp>
    </p:spTree>
    <p:extLst>
      <p:ext uri="{BB962C8B-B14F-4D97-AF65-F5344CB8AC3E}">
        <p14:creationId xmlns:p14="http://schemas.microsoft.com/office/powerpoint/2010/main" val="461421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jpg"/><Relationship Id="rId4"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1064290" y="555586"/>
            <a:ext cx="10105278" cy="5304576"/>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rgbClr val="F1E6D3"/>
          </a:solidFill>
          <a:ln w="0">
            <a:noFill/>
            <a:prstDash val="solid"/>
            <a:round/>
            <a:headEnd/>
            <a:tailEnd/>
          </a:ln>
          <a:effectLst>
            <a:softEdge rad="152400"/>
          </a:effectLst>
        </p:spPr>
      </p:sp>
      <p:sp>
        <p:nvSpPr>
          <p:cNvPr id="2" name="Title 1"/>
          <p:cNvSpPr>
            <a:spLocks noGrp="1"/>
          </p:cNvSpPr>
          <p:nvPr>
            <p:ph type="ctrTitle"/>
          </p:nvPr>
        </p:nvSpPr>
        <p:spPr>
          <a:xfrm>
            <a:off x="1078523" y="1098388"/>
            <a:ext cx="10318418" cy="4394988"/>
          </a:xfrm>
        </p:spPr>
        <p:txBody>
          <a:bodyPr anchor="ctr">
            <a:noAutofit/>
          </a:bodyPr>
          <a:lstStyle>
            <a:lvl1pPr algn="ctr">
              <a:defRPr sz="10000" b="1" spc="800" baseline="0">
                <a:solidFill>
                  <a:srgbClr val="483832"/>
                </a:solidFill>
                <a:effectLst>
                  <a:outerShdw blurRad="38100" dist="38100" dir="2700000" algn="tl">
                    <a:srgbClr val="000000">
                      <a:alpha val="43137"/>
                    </a:srgbClr>
                  </a:outerShdw>
                </a:effectLst>
              </a:defRPr>
            </a:lvl1pPr>
          </a:lstStyle>
          <a:p>
            <a:r>
              <a:rPr lang="zh-TW" altLang="en-US"/>
              <a:t>按一下以編輯母片標題樣式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rgbClr val="48383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C05534FC-9D65-4D98-BA06-44C42453DA54}" type="datetime1">
              <a:rPr lang="zh-TW" altLang="en-US" smtClean="0"/>
              <a:t>2022/10/28</a:t>
            </a:fld>
            <a:endParaRPr lang="zh-TW" alt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zh-TW" alt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9820161B-3DFF-4FF5-AA0E-35496F014571}" type="slidenum">
              <a:rPr lang="zh-TW" altLang="en-US" smtClean="0"/>
              <a:t>‹#›</a:t>
            </a:fld>
            <a:endParaRPr lang="zh-TW" alt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69782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bg>
      <p:bgPr>
        <a:solidFill>
          <a:srgbClr val="FFFFFF"/>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A27D13-EE51-4B5E-A1E5-BC8CD53A8B0C}" type="datetime1">
              <a:rPr lang="zh-TW" altLang="en-US" smtClean="0"/>
              <a:t>2022/10/28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9820161B-3DFF-4FF5-AA0E-35496F014571}" type="slidenum">
              <a:rPr lang="zh-TW" altLang="en-US" smtClean="0"/>
              <a:t>‹#›</a:t>
            </a:fld>
            <a:endParaRPr lang="zh-TW" altLang="en-US"/>
          </a:p>
        </p:txBody>
      </p:sp>
      <p:pic>
        <p:nvPicPr>
          <p:cNvPr id="6" name="Picture 2" descr="https://lh3.googleusercontent.com/iNfYtOvoRnBEmylMu-NC142lEc4fcv_1Npp9Qt7lpNz9p3OWpSAE6hfvFhivvC_uuLplcNZ0-_cPCa5yfPR4ClQCo-YI7DbLKShyWIYnsm3Zy1OqX4SR0YFcYIWS5EQJO_KvbmNAUVY1VQ4itaDFJ8Fnd-ftlrmYNAP7AYoS0-SkFj7tPJsN3qjq3-4-2TGR_XSC">
            <a:extLst>
              <a:ext uri="{FF2B5EF4-FFF2-40B4-BE49-F238E27FC236}">
                <a16:creationId xmlns:a16="http://schemas.microsoft.com/office/drawing/2014/main" id="{9CEB6015-E102-4616-893B-F6AE82054922}"/>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ackgroundRemoval t="10000" b="90000" l="10000" r="90000">
                        <a14:foregroundMark x1="50286" y1="59109" x2="50286" y2="59109"/>
                        <a14:foregroundMark x1="55714" y1="60324" x2="55714" y2="60324"/>
                        <a14:foregroundMark x1="59429" y1="59109" x2="59429" y2="59109"/>
                        <a14:foregroundMark x1="42857" y1="59109" x2="42857" y2="59109"/>
                        <a14:foregroundMark x1="46000" y1="62146" x2="46000" y2="62146"/>
                        <a14:foregroundMark x1="42571" y1="61943" x2="57429" y2="62146"/>
                        <a14:foregroundMark x1="46286" y1="64777" x2="51714" y2="65182"/>
                        <a14:foregroundMark x1="44571" y1="66397" x2="52286" y2="65992"/>
                      </a14:backgroundRemoval>
                    </a14:imgEffect>
                    <a14:imgEffect>
                      <a14:artisticCrisscrossEtching trans="55000" pressure="5"/>
                    </a14:imgEffect>
                  </a14:imgLayer>
                </a14:imgProps>
              </a:ext>
              <a:ext uri="{28A0092B-C50C-407E-A947-70E740481C1C}">
                <a14:useLocalDpi xmlns:a14="http://schemas.microsoft.com/office/drawing/2010/main" val="0"/>
              </a:ext>
            </a:extLst>
          </a:blip>
          <a:srcRect t="22031" b="17800"/>
          <a:stretch/>
        </p:blipFill>
        <p:spPr bwMode="auto">
          <a:xfrm>
            <a:off x="10941809" y="0"/>
            <a:ext cx="976381" cy="82918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3">
            <a:extLst>
              <a:ext uri="{FF2B5EF4-FFF2-40B4-BE49-F238E27FC236}">
                <a16:creationId xmlns:a16="http://schemas.microsoft.com/office/drawing/2014/main" id="{8A5E6A8D-C855-4E52-B8CE-6EA7B7697B83}"/>
              </a:ext>
            </a:extLst>
          </p:cNvPr>
          <p:cNvSpPr>
            <a:spLocks noGrp="1"/>
          </p:cNvSpPr>
          <p:nvPr>
            <p:ph type="body" sz="half" idx="13"/>
          </p:nvPr>
        </p:nvSpPr>
        <p:spPr>
          <a:xfrm>
            <a:off x="4549943" y="16590"/>
            <a:ext cx="3092115" cy="660417"/>
          </a:xfrm>
        </p:spPr>
        <p:txBody>
          <a:bodyPr anchor="ctr">
            <a:normAutofit/>
          </a:bodyPr>
          <a:lstStyle>
            <a:lvl1pPr marL="0" indent="0" algn="ctr">
              <a:lnSpc>
                <a:spcPct val="120000"/>
              </a:lnSpc>
              <a:spcBef>
                <a:spcPts val="1200"/>
              </a:spcBef>
              <a:buNone/>
              <a:defRPr sz="2800" b="1" baseline="0">
                <a:solidFill>
                  <a:srgbClr val="48383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dirty="0"/>
              <a:t>編輯母片文字樣式</a:t>
            </a:r>
          </a:p>
        </p:txBody>
      </p:sp>
      <p:cxnSp>
        <p:nvCxnSpPr>
          <p:cNvPr id="11" name="直線接點 10">
            <a:extLst>
              <a:ext uri="{FF2B5EF4-FFF2-40B4-BE49-F238E27FC236}">
                <a16:creationId xmlns:a16="http://schemas.microsoft.com/office/drawing/2014/main" id="{4209AE01-5407-47C3-B118-1C50FF0F34A8}"/>
              </a:ext>
            </a:extLst>
          </p:cNvPr>
          <p:cNvCxnSpPr/>
          <p:nvPr userDrawn="1"/>
        </p:nvCxnSpPr>
        <p:spPr>
          <a:xfrm>
            <a:off x="2951544" y="690287"/>
            <a:ext cx="6111433" cy="0"/>
          </a:xfrm>
          <a:prstGeom prst="line">
            <a:avLst/>
          </a:prstGeom>
          <a:ln w="28575">
            <a:solidFill>
              <a:srgbClr val="775F5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197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b="1" spc="800" baseline="0">
                <a:solidFill>
                  <a:schemeClr val="tx2"/>
                </a:solidFill>
                <a:effectLst>
                  <a:outerShdw blurRad="38100" dist="38100" dir="2700000" algn="tl">
                    <a:srgbClr val="000000">
                      <a:alpha val="43137"/>
                    </a:srgbClr>
                  </a:outerShdw>
                </a:effectLst>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66BA8037-FCC9-41A9-94A1-DC9793AD9C6E}" type="datetime1">
              <a:rPr lang="zh-TW" altLang="en-US" smtClean="0"/>
              <a:t>2022/10/28</a:t>
            </a:fld>
            <a:endParaRPr lang="zh-TW" alt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zh-TW" alt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9820161B-3DFF-4FF5-AA0E-35496F014571}" type="slidenum">
              <a:rPr lang="zh-TW" altLang="en-US" smtClean="0"/>
              <a:t>‹#›</a:t>
            </a:fld>
            <a:endParaRPr lang="zh-TW" altLang="en-US"/>
          </a:p>
        </p:txBody>
      </p:sp>
      <p:grpSp>
        <p:nvGrpSpPr>
          <p:cNvPr id="7" name="Group 6" title="left scallop shape"/>
          <p:cNvGrpSpPr/>
          <p:nvPr/>
        </p:nvGrpSpPr>
        <p:grpSpPr>
          <a:xfrm>
            <a:off x="0" y="0"/>
            <a:ext cx="2814638" cy="6858000"/>
            <a:chOff x="0" y="0"/>
            <a:chExt cx="2814638" cy="6858000"/>
          </a:xfrm>
          <a:effectLst>
            <a:outerShdw blurRad="152400" dist="38100" algn="l" rotWithShape="0">
              <a:prstClr val="black">
                <a:alpha val="40000"/>
              </a:prstClr>
            </a:outerShdw>
          </a:effectLst>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rgbClr val="F1E6D3"/>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1050359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含標題的內容">
    <p:bg>
      <p:bgPr>
        <a:solidFill>
          <a:schemeClr val="bg1"/>
        </a:solidFill>
        <a:effectLst/>
      </p:bgPr>
    </p:bg>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a:effectLst>
            <a:innerShdw blurRad="101600" dist="50800" dir="10800000">
              <a:prstClr val="black">
                <a:alpha val="27000"/>
              </a:prstClr>
            </a:innerShdw>
          </a:effectLst>
        </p:spPr>
        <p:txBody>
          <a:bodyPr/>
          <a:lstStyle/>
          <a:p>
            <a:endParaRPr lang="zh-TW" altLang="en-US" dirty="0">
              <a:latin typeface="Times New Roman" panose="02020603050405020304" pitchFamily="18" charset="0"/>
            </a:endParaRPr>
          </a:p>
        </p:txBody>
      </p:sp>
      <p:sp>
        <p:nvSpPr>
          <p:cNvPr id="3" name="Content Placeholder 2"/>
          <p:cNvSpPr>
            <a:spLocks noGrp="1"/>
          </p:cNvSpPr>
          <p:nvPr>
            <p:ph idx="1"/>
          </p:nvPr>
        </p:nvSpPr>
        <p:spPr>
          <a:xfrm>
            <a:off x="765051" y="920377"/>
            <a:ext cx="6158418" cy="4985124"/>
          </a:xfrm>
        </p:spPr>
        <p:txBody>
          <a:bodyPr/>
          <a:lstStyle>
            <a:lvl1pPr>
              <a:buClr>
                <a:srgbClr val="483832"/>
              </a:buClr>
              <a:defRPr sz="3200">
                <a:solidFill>
                  <a:srgbClr val="483832"/>
                </a:solidFill>
              </a:defRPr>
            </a:lvl1pPr>
            <a:lvl2pPr>
              <a:buClr>
                <a:srgbClr val="483832"/>
              </a:buClr>
              <a:defRPr sz="2800">
                <a:solidFill>
                  <a:srgbClr val="483832"/>
                </a:solidFill>
              </a:defRPr>
            </a:lvl2pPr>
            <a:lvl3pPr>
              <a:defRPr sz="2400">
                <a:solidFill>
                  <a:srgbClr val="483832"/>
                </a:solidFill>
              </a:defRPr>
            </a:lvl3pPr>
            <a:lvl4pPr>
              <a:buClr>
                <a:srgbClr val="483832"/>
              </a:buClr>
              <a:defRPr sz="2000">
                <a:solidFill>
                  <a:srgbClr val="483832"/>
                </a:solidFill>
              </a:defRPr>
            </a:lvl4pPr>
            <a:lvl5pPr>
              <a:buClr>
                <a:srgbClr val="483832"/>
              </a:buClr>
              <a:defRPr sz="2000">
                <a:solidFill>
                  <a:srgbClr val="483832"/>
                </a:solidFill>
              </a:defRPr>
            </a:lvl5pPr>
            <a:lvl6pPr>
              <a:defRPr sz="2000"/>
            </a:lvl6pPr>
            <a:lvl7pPr>
              <a:defRPr sz="2000"/>
            </a:lvl7pPr>
            <a:lvl8pPr>
              <a:defRPr sz="2000"/>
            </a:lvl8pPr>
            <a:lvl9pPr>
              <a:defRPr sz="2000"/>
            </a:lvl9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5" name="Date Placeholder 4"/>
          <p:cNvSpPr>
            <a:spLocks noGrp="1"/>
          </p:cNvSpPr>
          <p:nvPr>
            <p:ph type="dt" sz="half" idx="10"/>
          </p:nvPr>
        </p:nvSpPr>
        <p:spPr>
          <a:xfrm>
            <a:off x="765051" y="6375679"/>
            <a:ext cx="1233355" cy="348462"/>
          </a:xfrm>
        </p:spPr>
        <p:txBody>
          <a:bodyPr/>
          <a:lstStyle/>
          <a:p>
            <a:fld id="{2FC39628-3CC1-4C07-ABC1-58C3B1540A7F}" type="datetime1">
              <a:rPr lang="zh-TW" altLang="en-US" smtClean="0"/>
              <a:t>2022/10/28</a:t>
            </a:fld>
            <a:endParaRPr lang="zh-TW" altLang="en-US"/>
          </a:p>
        </p:txBody>
      </p:sp>
      <p:sp>
        <p:nvSpPr>
          <p:cNvPr id="6" name="Footer Placeholder 5"/>
          <p:cNvSpPr>
            <a:spLocks noGrp="1"/>
          </p:cNvSpPr>
          <p:nvPr>
            <p:ph type="ftr" sz="quarter" idx="11"/>
          </p:nvPr>
        </p:nvSpPr>
        <p:spPr>
          <a:xfrm>
            <a:off x="2103620" y="6375679"/>
            <a:ext cx="3482179" cy="345796"/>
          </a:xfrm>
        </p:spPr>
        <p:txBody>
          <a:bodyPr/>
          <a:lstStyle/>
          <a:p>
            <a:endParaRPr lang="zh-TW" altLang="en-US"/>
          </a:p>
        </p:txBody>
      </p:sp>
      <p:sp>
        <p:nvSpPr>
          <p:cNvPr id="7" name="Slide Number Placeholder 6"/>
          <p:cNvSpPr>
            <a:spLocks noGrp="1"/>
          </p:cNvSpPr>
          <p:nvPr>
            <p:ph type="sldNum" sz="quarter" idx="12"/>
          </p:nvPr>
        </p:nvSpPr>
        <p:spPr>
          <a:xfrm>
            <a:off x="5691014" y="6375679"/>
            <a:ext cx="1232456" cy="345796"/>
          </a:xfrm>
        </p:spPr>
        <p:txBody>
          <a:bodyPr/>
          <a:lstStyle/>
          <a:p>
            <a:fld id="{9820161B-3DFF-4FF5-AA0E-35496F014571}" type="slidenum">
              <a:rPr lang="zh-TW" altLang="en-US" smtClean="0"/>
              <a:t>‹#›</a:t>
            </a:fld>
            <a:endParaRPr lang="zh-TW" alt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圖片 9">
            <a:extLst>
              <a:ext uri="{FF2B5EF4-FFF2-40B4-BE49-F238E27FC236}">
                <a16:creationId xmlns:a16="http://schemas.microsoft.com/office/drawing/2014/main" id="{3C7ECE9E-595A-4769-8A9B-B0C46CA4C3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60014" y="6306061"/>
            <a:ext cx="1303537" cy="522694"/>
          </a:xfrm>
          <a:prstGeom prst="rect">
            <a:avLst/>
          </a:prstGeom>
        </p:spPr>
      </p:pic>
      <p:cxnSp>
        <p:nvCxnSpPr>
          <p:cNvPr id="14" name="直線接點 13">
            <a:extLst>
              <a:ext uri="{FF2B5EF4-FFF2-40B4-BE49-F238E27FC236}">
                <a16:creationId xmlns:a16="http://schemas.microsoft.com/office/drawing/2014/main" id="{F98B84F2-7554-4484-864C-D642E3FDFF22}"/>
              </a:ext>
            </a:extLst>
          </p:cNvPr>
          <p:cNvCxnSpPr/>
          <p:nvPr userDrawn="1"/>
        </p:nvCxnSpPr>
        <p:spPr>
          <a:xfrm>
            <a:off x="780921" y="690287"/>
            <a:ext cx="6111433" cy="0"/>
          </a:xfrm>
          <a:prstGeom prst="line">
            <a:avLst/>
          </a:prstGeom>
          <a:ln w="28575">
            <a:solidFill>
              <a:srgbClr val="775F55"/>
            </a:solidFill>
          </a:ln>
        </p:spPr>
        <p:style>
          <a:lnRef idx="1">
            <a:schemeClr val="accent1"/>
          </a:lnRef>
          <a:fillRef idx="0">
            <a:schemeClr val="accent1"/>
          </a:fillRef>
          <a:effectRef idx="0">
            <a:schemeClr val="accent1"/>
          </a:effectRef>
          <a:fontRef idx="minor">
            <a:schemeClr val="tx1"/>
          </a:fontRef>
        </p:style>
      </p:cxnSp>
      <p:pic>
        <p:nvPicPr>
          <p:cNvPr id="15" name="圖片 14">
            <a:extLst>
              <a:ext uri="{FF2B5EF4-FFF2-40B4-BE49-F238E27FC236}">
                <a16:creationId xmlns:a16="http://schemas.microsoft.com/office/drawing/2014/main" id="{B702C25B-BFD3-4D59-B379-3407D299602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6464" t="9856" r="15741" b="12349"/>
          <a:stretch/>
        </p:blipFill>
        <p:spPr>
          <a:xfrm>
            <a:off x="7923321" y="168990"/>
            <a:ext cx="2772000" cy="2078062"/>
          </a:xfrm>
          <a:prstGeom prst="rect">
            <a:avLst/>
          </a:prstGeom>
          <a:ln>
            <a:noFill/>
          </a:ln>
          <a:effectLst>
            <a:outerShdw blurRad="292100" dist="139700" dir="2700000" algn="tl" rotWithShape="0">
              <a:srgbClr val="333333">
                <a:alpha val="65000"/>
              </a:srgbClr>
            </a:outerShdw>
          </a:effectLst>
        </p:spPr>
      </p:pic>
      <p:pic>
        <p:nvPicPr>
          <p:cNvPr id="16" name="圖片 15">
            <a:extLst>
              <a:ext uri="{FF2B5EF4-FFF2-40B4-BE49-F238E27FC236}">
                <a16:creationId xmlns:a16="http://schemas.microsoft.com/office/drawing/2014/main" id="{3026B613-9897-4A9A-AEF3-B0A6FF11866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121019" y="2357281"/>
            <a:ext cx="2772000" cy="2079000"/>
          </a:xfrm>
          <a:prstGeom prst="rect">
            <a:avLst/>
          </a:prstGeom>
          <a:ln>
            <a:noFill/>
          </a:ln>
          <a:effectLst>
            <a:outerShdw blurRad="292100" dist="139700" dir="2700000" algn="tl" rotWithShape="0">
              <a:srgbClr val="333333">
                <a:alpha val="65000"/>
              </a:srgbClr>
            </a:outerShdw>
          </a:effectLst>
        </p:spPr>
      </p:pic>
      <p:pic>
        <p:nvPicPr>
          <p:cNvPr id="18" name="內容版面配置區 9">
            <a:extLst>
              <a:ext uri="{FF2B5EF4-FFF2-40B4-BE49-F238E27FC236}">
                <a16:creationId xmlns:a16="http://schemas.microsoft.com/office/drawing/2014/main" id="{0B1DEB85-5DAC-448E-B9DB-99D04CD12104}"/>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4968" r="25266"/>
          <a:stretch/>
        </p:blipFill>
        <p:spPr>
          <a:xfrm>
            <a:off x="7923321" y="4546509"/>
            <a:ext cx="2772000" cy="2087147"/>
          </a:xfrm>
          <a:prstGeom prst="rect">
            <a:avLst/>
          </a:prstGeom>
          <a:ln>
            <a:noFill/>
          </a:ln>
          <a:effectLst>
            <a:outerShdw blurRad="292100" dist="139700" dir="2700000" algn="tl" rotWithShape="0">
              <a:srgbClr val="333333">
                <a:alpha val="65000"/>
              </a:srgbClr>
            </a:outerShdw>
          </a:effectLst>
        </p:spPr>
      </p:pic>
      <p:sp>
        <p:nvSpPr>
          <p:cNvPr id="20" name="文字版面配置區 4">
            <a:extLst>
              <a:ext uri="{FF2B5EF4-FFF2-40B4-BE49-F238E27FC236}">
                <a16:creationId xmlns:a16="http://schemas.microsoft.com/office/drawing/2014/main" id="{0C5EB9FD-A295-462F-88EB-EBDF69FA4E40}"/>
              </a:ext>
            </a:extLst>
          </p:cNvPr>
          <p:cNvSpPr txBox="1">
            <a:spLocks/>
          </p:cNvSpPr>
          <p:nvPr userDrawn="1"/>
        </p:nvSpPr>
        <p:spPr>
          <a:xfrm>
            <a:off x="2290581" y="-4288"/>
            <a:ext cx="3092115" cy="660417"/>
          </a:xfrm>
          <a:prstGeom prst="rect">
            <a:avLst/>
          </a:prstGeom>
        </p:spPr>
        <p:txBody>
          <a:bodyPr vert="horz" lIns="91440" tIns="45720" rIns="91440" bIns="45720" rtlCol="0" anchor="ctr">
            <a:normAutofit/>
          </a:bodyPr>
          <a:lstStyle>
            <a:lvl1pPr marL="0" indent="0" algn="ctr" defTabSz="914400" rtl="0" eaLnBrk="1" latinLnBrk="0" hangingPunct="1">
              <a:lnSpc>
                <a:spcPct val="120000"/>
              </a:lnSpc>
              <a:spcBef>
                <a:spcPts val="1200"/>
              </a:spcBef>
              <a:buClr>
                <a:schemeClr val="tx2"/>
              </a:buClr>
              <a:buFont typeface="Arial" panose="020B0604020202020204" pitchFamily="34" charset="0"/>
              <a:buNone/>
              <a:defRPr sz="2800" b="1" kern="1200" baseline="0">
                <a:solidFill>
                  <a:srgbClr val="483832"/>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lvl1pPr>
            <a:lvl2pPr marL="457200" indent="0" algn="l" defTabSz="914400" rtl="0" eaLnBrk="1" latinLnBrk="0" hangingPunct="1">
              <a:lnSpc>
                <a:spcPct val="110000"/>
              </a:lnSpc>
              <a:spcBef>
                <a:spcPts val="700"/>
              </a:spcBef>
              <a:buClr>
                <a:schemeClr val="tx2"/>
              </a:buClr>
              <a:buFont typeface="Gill Sans MT" panose="020B0502020104020203" pitchFamily="34" charset="0"/>
              <a:buNone/>
              <a:defRPr sz="1400" kern="1200">
                <a:solidFill>
                  <a:schemeClr val="tx1">
                    <a:lumMod val="65000"/>
                    <a:lumOff val="35000"/>
                  </a:schemeClr>
                </a:solidFill>
                <a:latin typeface="+mn-lt"/>
                <a:ea typeface="+mn-ea"/>
                <a:cs typeface="+mn-cs"/>
              </a:defRPr>
            </a:lvl2pPr>
            <a:lvl3pPr marL="914400" indent="0" algn="l" defTabSz="914400" rtl="0" eaLnBrk="1" latinLnBrk="0" hangingPunct="1">
              <a:lnSpc>
                <a:spcPct val="110000"/>
              </a:lnSpc>
              <a:spcBef>
                <a:spcPts val="700"/>
              </a:spcBef>
              <a:buClr>
                <a:schemeClr val="tx2"/>
              </a:buClr>
              <a:buFont typeface="Arial" panose="020B0604020202020204" pitchFamily="34" charset="0"/>
              <a:buNone/>
              <a:defRPr sz="1200" kern="1200">
                <a:solidFill>
                  <a:schemeClr val="tx1">
                    <a:lumMod val="65000"/>
                    <a:lumOff val="35000"/>
                  </a:schemeClr>
                </a:solidFill>
                <a:latin typeface="+mn-lt"/>
                <a:ea typeface="+mn-ea"/>
                <a:cs typeface="+mn-cs"/>
              </a:defRPr>
            </a:lvl3pPr>
            <a:lvl4pPr marL="1371600" indent="0" algn="l" defTabSz="914400" rtl="0" eaLnBrk="1" latinLnBrk="0" hangingPunct="1">
              <a:lnSpc>
                <a:spcPct val="110000"/>
              </a:lnSpc>
              <a:spcBef>
                <a:spcPts val="700"/>
              </a:spcBef>
              <a:buClr>
                <a:schemeClr val="tx2"/>
              </a:buClr>
              <a:buFont typeface="Gill Sans MT" panose="020B0502020104020203" pitchFamily="34" charset="0"/>
              <a:buNone/>
              <a:defRPr sz="1000" kern="1200">
                <a:solidFill>
                  <a:schemeClr val="tx1">
                    <a:lumMod val="65000"/>
                    <a:lumOff val="35000"/>
                  </a:schemeClr>
                </a:solidFill>
                <a:latin typeface="+mn-lt"/>
                <a:ea typeface="+mn-ea"/>
                <a:cs typeface="+mn-cs"/>
              </a:defRPr>
            </a:lvl4pPr>
            <a:lvl5pPr marL="1828800" indent="0" algn="l" defTabSz="914400" rtl="0" eaLnBrk="1" latinLnBrk="0" hangingPunct="1">
              <a:lnSpc>
                <a:spcPct val="110000"/>
              </a:lnSpc>
              <a:spcBef>
                <a:spcPts val="700"/>
              </a:spcBef>
              <a:buClr>
                <a:schemeClr val="tx2"/>
              </a:buClr>
              <a:buFont typeface="Arial" panose="020B0604020202020204" pitchFamily="34" charset="0"/>
              <a:buNone/>
              <a:defRPr sz="1000" kern="1200">
                <a:solidFill>
                  <a:schemeClr val="tx1">
                    <a:lumMod val="65000"/>
                    <a:lumOff val="35000"/>
                  </a:schemeClr>
                </a:solidFill>
                <a:latin typeface="+mn-lt"/>
                <a:ea typeface="+mn-ea"/>
                <a:cs typeface="+mn-cs"/>
              </a:defRPr>
            </a:lvl5pPr>
            <a:lvl6pPr marL="2286000" indent="0" algn="l" defTabSz="914400" rtl="0" eaLnBrk="1" latinLnBrk="0" hangingPunct="1">
              <a:lnSpc>
                <a:spcPct val="110000"/>
              </a:lnSpc>
              <a:spcBef>
                <a:spcPts val="700"/>
              </a:spcBef>
              <a:buClr>
                <a:schemeClr val="tx2"/>
              </a:buClr>
              <a:buFont typeface="Gill Sans MT" panose="020B0502020104020203" pitchFamily="34" charset="0"/>
              <a:buNone/>
              <a:defRPr sz="1000" kern="1200">
                <a:solidFill>
                  <a:schemeClr val="tx1">
                    <a:lumMod val="65000"/>
                    <a:lumOff val="35000"/>
                  </a:schemeClr>
                </a:solidFill>
                <a:latin typeface="+mn-lt"/>
                <a:ea typeface="+mn-ea"/>
                <a:cs typeface="+mn-cs"/>
              </a:defRPr>
            </a:lvl6pPr>
            <a:lvl7pPr marL="2743200" indent="0" algn="l" defTabSz="914400" rtl="0" eaLnBrk="1" latinLnBrk="0" hangingPunct="1">
              <a:lnSpc>
                <a:spcPct val="110000"/>
              </a:lnSpc>
              <a:spcBef>
                <a:spcPts val="700"/>
              </a:spcBef>
              <a:buClr>
                <a:schemeClr val="tx2"/>
              </a:buClr>
              <a:buFont typeface="Arial" panose="020B0604020202020204" pitchFamily="34" charset="0"/>
              <a:buNone/>
              <a:defRPr sz="1000" kern="1200">
                <a:solidFill>
                  <a:schemeClr val="tx1">
                    <a:lumMod val="65000"/>
                    <a:lumOff val="35000"/>
                  </a:schemeClr>
                </a:solidFill>
                <a:latin typeface="+mn-lt"/>
                <a:ea typeface="+mn-ea"/>
                <a:cs typeface="+mn-cs"/>
              </a:defRPr>
            </a:lvl7pPr>
            <a:lvl8pPr marL="3200400" indent="0" algn="l" defTabSz="914400" rtl="0" eaLnBrk="1" latinLnBrk="0" hangingPunct="1">
              <a:lnSpc>
                <a:spcPct val="110000"/>
              </a:lnSpc>
              <a:spcBef>
                <a:spcPts val="700"/>
              </a:spcBef>
              <a:buClr>
                <a:schemeClr val="tx2"/>
              </a:buClr>
              <a:buFont typeface="Gill Sans MT" panose="020B0502020104020203" pitchFamily="34" charset="0"/>
              <a:buNone/>
              <a:defRPr sz="1000" kern="1200" baseline="0">
                <a:solidFill>
                  <a:schemeClr val="tx1">
                    <a:lumMod val="65000"/>
                    <a:lumOff val="35000"/>
                  </a:schemeClr>
                </a:solidFill>
                <a:latin typeface="+mn-lt"/>
                <a:ea typeface="+mn-ea"/>
                <a:cs typeface="+mn-cs"/>
              </a:defRPr>
            </a:lvl8pPr>
            <a:lvl9pPr marL="3657600" indent="0" algn="l" defTabSz="914400" rtl="0" eaLnBrk="1" latinLnBrk="0" hangingPunct="1">
              <a:lnSpc>
                <a:spcPct val="110000"/>
              </a:lnSpc>
              <a:spcBef>
                <a:spcPts val="700"/>
              </a:spcBef>
              <a:buClr>
                <a:schemeClr val="tx2"/>
              </a:buClr>
              <a:buFont typeface="Arial" panose="020B0604020202020204" pitchFamily="34" charset="0"/>
              <a:buNone/>
              <a:defRPr sz="1000" kern="1200" baseline="0">
                <a:solidFill>
                  <a:schemeClr val="tx1">
                    <a:lumMod val="65000"/>
                    <a:lumOff val="35000"/>
                  </a:schemeClr>
                </a:solidFill>
                <a:latin typeface="+mn-lt"/>
                <a:ea typeface="+mn-ea"/>
                <a:cs typeface="+mn-cs"/>
              </a:defRPr>
            </a:lvl9pPr>
          </a:lstStyle>
          <a:p>
            <a:r>
              <a:rPr lang="en-US" altLang="zh-TW" dirty="0"/>
              <a:t>Outline</a:t>
            </a:r>
            <a:endParaRPr lang="zh-TW" altLang="en-US" dirty="0"/>
          </a:p>
        </p:txBody>
      </p:sp>
    </p:spTree>
    <p:extLst>
      <p:ext uri="{BB962C8B-B14F-4D97-AF65-F5344CB8AC3E}">
        <p14:creationId xmlns:p14="http://schemas.microsoft.com/office/powerpoint/2010/main" val="285288261"/>
      </p:ext>
    </p:extLst>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含標題的內容">
    <p:bg>
      <p:bgPr>
        <a:solidFill>
          <a:schemeClr val="bg1"/>
        </a:solidFill>
        <a:effectLst/>
      </p:bgPr>
    </p:bg>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a:effectLst>
            <a:innerShdw blurRad="101600" dist="50800" dir="10800000">
              <a:prstClr val="black">
                <a:alpha val="27000"/>
              </a:prstClr>
            </a:innerShdw>
          </a:effectLst>
        </p:spPr>
        <p:txBody>
          <a:bodyPr/>
          <a:lstStyle/>
          <a:p>
            <a:endParaRPr lang="zh-TW" altLang="en-US" dirty="0">
              <a:latin typeface="Times New Roman" panose="02020603050405020304" pitchFamily="18" charset="0"/>
            </a:endParaRPr>
          </a:p>
        </p:txBody>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Times New Roman" panose="02020603050405020304" pitchFamily="18" charset="0"/>
              </a:defRPr>
            </a:lvl1pPr>
          </a:lstStyle>
          <a:p>
            <a:r>
              <a:rPr lang="zh-TW" altLang="en-US" dirty="0"/>
              <a:t>按一下以編輯母片標題樣式</a:t>
            </a:r>
            <a:endParaRPr lang="en-US" dirty="0"/>
          </a:p>
        </p:txBody>
      </p:sp>
      <p:sp>
        <p:nvSpPr>
          <p:cNvPr id="3" name="Content Placeholder 2"/>
          <p:cNvSpPr>
            <a:spLocks noGrp="1"/>
          </p:cNvSpPr>
          <p:nvPr>
            <p:ph idx="1"/>
          </p:nvPr>
        </p:nvSpPr>
        <p:spPr>
          <a:xfrm>
            <a:off x="765051" y="920377"/>
            <a:ext cx="6158418" cy="4985124"/>
          </a:xfrm>
        </p:spPr>
        <p:txBody>
          <a:bodyPr/>
          <a:lstStyle>
            <a:lvl1pPr>
              <a:buClr>
                <a:srgbClr val="483832"/>
              </a:buClr>
              <a:defRPr sz="3200"/>
            </a:lvl1pPr>
            <a:lvl2pPr>
              <a:buClr>
                <a:srgbClr val="483832"/>
              </a:buClr>
              <a:defRPr sz="2800"/>
            </a:lvl2pPr>
            <a:lvl3pPr>
              <a:defRPr sz="2400"/>
            </a:lvl3pPr>
            <a:lvl4pPr>
              <a:buClr>
                <a:srgbClr val="483832"/>
              </a:buClr>
              <a:defRPr sz="2000"/>
            </a:lvl4pPr>
            <a:lvl5pPr>
              <a:buClr>
                <a:srgbClr val="483832"/>
              </a:buClr>
              <a:defRPr sz="2000"/>
            </a:lvl5pPr>
            <a:lvl6pPr>
              <a:defRPr sz="2000"/>
            </a:lvl6pPr>
            <a:lvl7pPr>
              <a:defRPr sz="2000"/>
            </a:lvl7pPr>
            <a:lvl8pPr>
              <a:defRPr sz="2000"/>
            </a:lvl8pPr>
            <a:lvl9pPr>
              <a:defRPr sz="2000"/>
            </a:lvl9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dirty="0"/>
              <a:t>編輯母片文字樣式</a:t>
            </a:r>
          </a:p>
        </p:txBody>
      </p:sp>
      <p:sp>
        <p:nvSpPr>
          <p:cNvPr id="5" name="Date Placeholder 4"/>
          <p:cNvSpPr>
            <a:spLocks noGrp="1"/>
          </p:cNvSpPr>
          <p:nvPr>
            <p:ph type="dt" sz="half" idx="10"/>
          </p:nvPr>
        </p:nvSpPr>
        <p:spPr>
          <a:xfrm>
            <a:off x="765051" y="6375679"/>
            <a:ext cx="1233355" cy="348462"/>
          </a:xfrm>
        </p:spPr>
        <p:txBody>
          <a:bodyPr/>
          <a:lstStyle/>
          <a:p>
            <a:fld id="{9BB2A037-3460-4C2F-B973-C983850A8B84}" type="datetime1">
              <a:rPr lang="zh-TW" altLang="en-US" smtClean="0"/>
              <a:t>2022/10/28</a:t>
            </a:fld>
            <a:endParaRPr lang="zh-TW" altLang="en-US"/>
          </a:p>
        </p:txBody>
      </p:sp>
      <p:sp>
        <p:nvSpPr>
          <p:cNvPr id="6" name="Footer Placeholder 5"/>
          <p:cNvSpPr>
            <a:spLocks noGrp="1"/>
          </p:cNvSpPr>
          <p:nvPr>
            <p:ph type="ftr" sz="quarter" idx="11"/>
          </p:nvPr>
        </p:nvSpPr>
        <p:spPr>
          <a:xfrm>
            <a:off x="2103620" y="6375679"/>
            <a:ext cx="3482179" cy="345796"/>
          </a:xfrm>
        </p:spPr>
        <p:txBody>
          <a:bodyPr/>
          <a:lstStyle/>
          <a:p>
            <a:endParaRPr lang="zh-TW" altLang="en-US"/>
          </a:p>
        </p:txBody>
      </p:sp>
      <p:sp>
        <p:nvSpPr>
          <p:cNvPr id="7" name="Slide Number Placeholder 6"/>
          <p:cNvSpPr>
            <a:spLocks noGrp="1"/>
          </p:cNvSpPr>
          <p:nvPr>
            <p:ph type="sldNum" sz="quarter" idx="12"/>
          </p:nvPr>
        </p:nvSpPr>
        <p:spPr>
          <a:xfrm>
            <a:off x="5691014" y="6375679"/>
            <a:ext cx="1232456" cy="345796"/>
          </a:xfrm>
        </p:spPr>
        <p:txBody>
          <a:bodyPr/>
          <a:lstStyle/>
          <a:p>
            <a:fld id="{9820161B-3DFF-4FF5-AA0E-35496F014571}" type="slidenum">
              <a:rPr lang="zh-TW" altLang="en-US" smtClean="0"/>
              <a:t>‹#›</a:t>
            </a:fld>
            <a:endParaRPr lang="zh-TW" alt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圖片 9">
            <a:extLst>
              <a:ext uri="{FF2B5EF4-FFF2-40B4-BE49-F238E27FC236}">
                <a16:creationId xmlns:a16="http://schemas.microsoft.com/office/drawing/2014/main" id="{3C7ECE9E-595A-4769-8A9B-B0C46CA4C3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60014" y="6306061"/>
            <a:ext cx="1303537" cy="522694"/>
          </a:xfrm>
          <a:prstGeom prst="rect">
            <a:avLst/>
          </a:prstGeom>
        </p:spPr>
      </p:pic>
      <p:sp>
        <p:nvSpPr>
          <p:cNvPr id="13" name="Text Placeholder 3">
            <a:extLst>
              <a:ext uri="{FF2B5EF4-FFF2-40B4-BE49-F238E27FC236}">
                <a16:creationId xmlns:a16="http://schemas.microsoft.com/office/drawing/2014/main" id="{80F8D222-8AFF-4986-A591-3948718BE544}"/>
              </a:ext>
            </a:extLst>
          </p:cNvPr>
          <p:cNvSpPr>
            <a:spLocks noGrp="1"/>
          </p:cNvSpPr>
          <p:nvPr>
            <p:ph type="body" sz="half" idx="13"/>
          </p:nvPr>
        </p:nvSpPr>
        <p:spPr>
          <a:xfrm>
            <a:off x="2290581" y="16590"/>
            <a:ext cx="3092115" cy="660417"/>
          </a:xfrm>
        </p:spPr>
        <p:txBody>
          <a:bodyPr anchor="ctr">
            <a:normAutofit/>
          </a:bodyPr>
          <a:lstStyle>
            <a:lvl1pPr marL="0" indent="0" algn="ctr">
              <a:lnSpc>
                <a:spcPct val="120000"/>
              </a:lnSpc>
              <a:spcBef>
                <a:spcPts val="1200"/>
              </a:spcBef>
              <a:buNone/>
              <a:defRPr sz="2800" b="1" baseline="0">
                <a:solidFill>
                  <a:srgbClr val="48383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dirty="0"/>
              <a:t>編輯母片文字樣式</a:t>
            </a:r>
          </a:p>
        </p:txBody>
      </p:sp>
      <p:cxnSp>
        <p:nvCxnSpPr>
          <p:cNvPr id="14" name="直線接點 13">
            <a:extLst>
              <a:ext uri="{FF2B5EF4-FFF2-40B4-BE49-F238E27FC236}">
                <a16:creationId xmlns:a16="http://schemas.microsoft.com/office/drawing/2014/main" id="{F98B84F2-7554-4484-864C-D642E3FDFF22}"/>
              </a:ext>
            </a:extLst>
          </p:cNvPr>
          <p:cNvCxnSpPr/>
          <p:nvPr userDrawn="1"/>
        </p:nvCxnSpPr>
        <p:spPr>
          <a:xfrm>
            <a:off x="780921" y="690287"/>
            <a:ext cx="6111433" cy="0"/>
          </a:xfrm>
          <a:prstGeom prst="line">
            <a:avLst/>
          </a:prstGeom>
          <a:ln w="28575">
            <a:solidFill>
              <a:srgbClr val="775F5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33248"/>
      </p:ext>
    </p:extLst>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標題及內容">
    <p:bg>
      <p:bgPr>
        <a:solidFill>
          <a:srgbClr val="F1E6D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32915C2-C142-4E39-BFEF-9AD77D2E69C5}" type="datetime1">
              <a:rPr lang="zh-TW" altLang="en-US" smtClean="0"/>
              <a:t>2022/10/28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820161B-3DFF-4FF5-AA0E-35496F014571}" type="slidenum">
              <a:rPr lang="zh-TW" altLang="en-US" smtClean="0"/>
              <a:t>‹#›</a:t>
            </a:fld>
            <a:endParaRPr lang="zh-TW" altLang="en-US"/>
          </a:p>
        </p:txBody>
      </p:sp>
    </p:spTree>
    <p:extLst>
      <p:ext uri="{BB962C8B-B14F-4D97-AF65-F5344CB8AC3E}">
        <p14:creationId xmlns:p14="http://schemas.microsoft.com/office/powerpoint/2010/main" val="788838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329D88B5-562F-4E29-8183-220108393026}" type="datetime1">
              <a:rPr lang="zh-TW" altLang="en-US" smtClean="0"/>
              <a:t>2022/10/28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820161B-3DFF-4FF5-AA0E-35496F014571}" type="slidenum">
              <a:rPr lang="zh-TW" altLang="en-US" smtClean="0"/>
              <a:t>‹#›</a:t>
            </a:fld>
            <a:endParaRPr lang="zh-TW" altLang="en-US"/>
          </a:p>
        </p:txBody>
      </p:sp>
    </p:spTree>
    <p:extLst>
      <p:ext uri="{BB962C8B-B14F-4D97-AF65-F5344CB8AC3E}">
        <p14:creationId xmlns:p14="http://schemas.microsoft.com/office/powerpoint/2010/main" val="68205242"/>
      </p:ext>
    </p:extLst>
  </p:cSld>
  <p:clrMapOvr>
    <a:masterClrMapping/>
  </p:clrMapOvr>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257300" y="2909102"/>
            <a:ext cx="4800600" cy="299639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633864" y="2909102"/>
            <a:ext cx="4800600" cy="299639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C375B981-81BF-4CED-92EB-6E5ADDE82131}" type="datetime1">
              <a:rPr lang="zh-TW" altLang="en-US" smtClean="0"/>
              <a:t>2022/10/28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9820161B-3DFF-4FF5-AA0E-35496F014571}" type="slidenum">
              <a:rPr lang="zh-TW" altLang="en-US" smtClean="0"/>
              <a:t>‹#›</a:t>
            </a:fld>
            <a:endParaRPr lang="zh-TW" altLang="en-US"/>
          </a:p>
        </p:txBody>
      </p:sp>
    </p:spTree>
    <p:extLst>
      <p:ext uri="{BB962C8B-B14F-4D97-AF65-F5344CB8AC3E}">
        <p14:creationId xmlns:p14="http://schemas.microsoft.com/office/powerpoint/2010/main" val="566693160"/>
      </p:ext>
    </p:extLst>
  </p:cSld>
  <p:clrMapOvr>
    <a:masterClrMapping/>
  </p:clrMapOvr>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B402902-3C0B-4C6E-9042-B2EEAD85C5F1}" type="datetime1">
              <a:rPr lang="zh-TW" altLang="en-US" smtClean="0"/>
              <a:t>2022/10/28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9820161B-3DFF-4FF5-AA0E-35496F014571}" type="slidenum">
              <a:rPr lang="zh-TW" altLang="en-US" smtClean="0"/>
              <a:t>‹#›</a:t>
            </a:fld>
            <a:endParaRPr lang="zh-TW" altLang="en-US"/>
          </a:p>
        </p:txBody>
      </p:sp>
    </p:spTree>
    <p:extLst>
      <p:ext uri="{BB962C8B-B14F-4D97-AF65-F5344CB8AC3E}">
        <p14:creationId xmlns:p14="http://schemas.microsoft.com/office/powerpoint/2010/main" val="2953862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Times New Roman" panose="02020603050405020304" pitchFamily="18" charset="0"/>
              </a:defRPr>
            </a:lvl1pPr>
          </a:lstStyle>
          <a:p>
            <a:r>
              <a:rPr lang="zh-TW" altLang="en-US" dirty="0"/>
              <a:t>按一下以編輯母片標題樣式</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a:xfrm>
            <a:off x="765950" y="6375679"/>
            <a:ext cx="1232456" cy="348462"/>
          </a:xfrm>
        </p:spPr>
        <p:txBody>
          <a:bodyPr/>
          <a:lstStyle/>
          <a:p>
            <a:fld id="{82EAEB32-B529-4F58-93B0-2E1EF6AC4D56}" type="datetime1">
              <a:rPr lang="zh-TW" altLang="en-US" smtClean="0"/>
              <a:t>2022/10/28</a:t>
            </a:fld>
            <a:endParaRPr lang="zh-TW" altLang="en-US"/>
          </a:p>
        </p:txBody>
      </p:sp>
      <p:sp>
        <p:nvSpPr>
          <p:cNvPr id="6" name="Footer Placeholder 5"/>
          <p:cNvSpPr>
            <a:spLocks noGrp="1"/>
          </p:cNvSpPr>
          <p:nvPr>
            <p:ph type="ftr" sz="quarter" idx="11"/>
          </p:nvPr>
        </p:nvSpPr>
        <p:spPr>
          <a:xfrm>
            <a:off x="2103621" y="6375679"/>
            <a:ext cx="3482178" cy="345796"/>
          </a:xfrm>
        </p:spPr>
        <p:txBody>
          <a:bodyPr/>
          <a:lstStyle/>
          <a:p>
            <a:endParaRPr lang="zh-TW" altLang="en-US"/>
          </a:p>
        </p:txBody>
      </p:sp>
      <p:sp>
        <p:nvSpPr>
          <p:cNvPr id="7" name="Slide Number Placeholder 6"/>
          <p:cNvSpPr>
            <a:spLocks noGrp="1"/>
          </p:cNvSpPr>
          <p:nvPr>
            <p:ph type="sldNum" sz="quarter" idx="12"/>
          </p:nvPr>
        </p:nvSpPr>
        <p:spPr>
          <a:xfrm>
            <a:off x="5687568" y="6375679"/>
            <a:ext cx="1234440" cy="345796"/>
          </a:xfrm>
        </p:spPr>
        <p:txBody>
          <a:bodyPr/>
          <a:lstStyle/>
          <a:p>
            <a:fld id="{9820161B-3DFF-4FF5-AA0E-35496F014571}" type="slidenum">
              <a:rPr lang="zh-TW" altLang="en-US" smtClean="0"/>
              <a:t>‹#›</a:t>
            </a:fld>
            <a:endParaRPr lang="zh-TW" altLang="en-US"/>
          </a:p>
        </p:txBody>
      </p:sp>
    </p:spTree>
    <p:extLst>
      <p:ext uri="{BB962C8B-B14F-4D97-AF65-F5344CB8AC3E}">
        <p14:creationId xmlns:p14="http://schemas.microsoft.com/office/powerpoint/2010/main" val="360266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8DBA8ED-0B59-43C5-8B5B-02112C74CEB3}" type="datetime1">
              <a:rPr lang="zh-TW" altLang="en-US" smtClean="0"/>
              <a:t>2022/10/28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820161B-3DFF-4FF5-AA0E-35496F014571}" type="slidenum">
              <a:rPr lang="zh-TW" altLang="en-US" smtClean="0"/>
              <a:t>‹#›</a:t>
            </a:fld>
            <a:endParaRPr lang="zh-TW" altLang="en-US"/>
          </a:p>
        </p:txBody>
      </p:sp>
    </p:spTree>
    <p:extLst>
      <p:ext uri="{BB962C8B-B14F-4D97-AF65-F5344CB8AC3E}">
        <p14:creationId xmlns:p14="http://schemas.microsoft.com/office/powerpoint/2010/main" val="23241165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D2408353-E0B2-4347-A6E5-CB4256D11BAB}" type="datetime1">
              <a:rPr lang="zh-TW" altLang="en-US" smtClean="0"/>
              <a:t>2022/10/28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820161B-3DFF-4FF5-AA0E-35496F014571}" type="slidenum">
              <a:rPr lang="zh-TW" altLang="en-US" smtClean="0"/>
              <a:t>‹#›</a:t>
            </a:fld>
            <a:endParaRPr lang="zh-TW" altLang="en-US"/>
          </a:p>
        </p:txBody>
      </p:sp>
    </p:spTree>
    <p:extLst>
      <p:ext uri="{BB962C8B-B14F-4D97-AF65-F5344CB8AC3E}">
        <p14:creationId xmlns:p14="http://schemas.microsoft.com/office/powerpoint/2010/main" val="855580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latin typeface="Times New Roman" panose="02020603050405020304" pitchFamily="18" charset="0"/>
              </a:defRPr>
            </a:lvl1pPr>
          </a:lstStyle>
          <a:p>
            <a:fld id="{9BFF3189-2E01-4003-878D-04C78D5DD920}" type="datetime1">
              <a:rPr lang="zh-TW" altLang="en-US" smtClean="0"/>
              <a:pPr/>
              <a:t>2022/10/28</a:t>
            </a:fld>
            <a:endParaRPr lang="zh-TW" alt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latin typeface="Times New Roman" panose="02020603050405020304" pitchFamily="18" charset="0"/>
              </a:defRPr>
            </a:lvl1pPr>
          </a:lstStyle>
          <a:p>
            <a:endParaRPr lang="zh-TW" alt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latin typeface="Times New Roman" panose="02020603050405020304" pitchFamily="18" charset="0"/>
              </a:defRPr>
            </a:lvl1pPr>
          </a:lstStyle>
          <a:p>
            <a:fld id="{9820161B-3DFF-4FF5-AA0E-35496F014571}" type="slidenum">
              <a:rPr lang="zh-TW" altLang="en-US" smtClean="0"/>
              <a:pPr/>
              <a:t>‹#›</a:t>
            </a:fld>
            <a:endParaRPr lang="zh-TW" alt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05329192"/>
      </p:ext>
    </p:extLst>
  </p:cSld>
  <p:clrMap bg1="lt1" tx1="dk1" bg2="lt2" tx2="dk2" accent1="accent1" accent2="accent2" accent3="accent3" accent4="accent4" accent5="accent5" accent6="accent6" hlink="hlink" folHlink="folHlink"/>
  <p:sldLayoutIdLst>
    <p:sldLayoutId id="2147483955" r:id="rId1"/>
    <p:sldLayoutId id="2147483961" r:id="rId2"/>
    <p:sldLayoutId id="2147483957" r:id="rId3"/>
    <p:sldLayoutId id="2147483962" r:id="rId4"/>
    <p:sldLayoutId id="2147483966" r:id="rId5"/>
    <p:sldLayoutId id="2147483956" r:id="rId6"/>
    <p:sldLayoutId id="2147483958" r:id="rId7"/>
    <p:sldLayoutId id="2147483959" r:id="rId8"/>
    <p:sldLayoutId id="2147483960" r:id="rId9"/>
    <p:sldLayoutId id="2147483963" r:id="rId10"/>
    <p:sldLayoutId id="2147483964" r:id="rId11"/>
    <p:sldLayoutId id="2147483965" r:id="rId12"/>
  </p:sldLayoutIdLst>
  <p:hf hdr="0" ft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Times New Roman" panose="02020603050405020304" pitchFamily="18" charset="0"/>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Times New Roman" panose="02020603050405020304" pitchFamily="18" charset="0"/>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Times New Roman" panose="02020603050405020304" pitchFamily="18" charset="0"/>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Times New Roman" panose="02020603050405020304" pitchFamily="18" charset="0"/>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Times New Roman" panose="02020603050405020304" pitchFamily="18" charset="0"/>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image" Target="../media/image6.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3" Type="http://schemas.openxmlformats.org/officeDocument/2006/relationships/image" Target="../media/image27.png"/><Relationship Id="rId8" Type="http://schemas.openxmlformats.org/officeDocument/2006/relationships/image" Target="../media/image22.png"/><Relationship Id="rId18" Type="http://schemas.openxmlformats.org/officeDocument/2006/relationships/image" Target="../media/image24.png"/><Relationship Id="rId21" Type="http://schemas.openxmlformats.org/officeDocument/2006/relationships/image" Target="../media/image34.png"/><Relationship Id="rId12" Type="http://schemas.openxmlformats.org/officeDocument/2006/relationships/image" Target="../media/image26.png"/><Relationship Id="rId17"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11.xml"/><Relationship Id="rId16" Type="http://schemas.openxmlformats.org/officeDocument/2006/relationships/image" Target="../media/image30.png"/><Relationship Id="rId20" Type="http://schemas.openxmlformats.org/officeDocument/2006/relationships/image" Target="../media/image33.png"/><Relationship Id="rId1" Type="http://schemas.openxmlformats.org/officeDocument/2006/relationships/slideLayout" Target="../slideLayouts/slideLayout2.xml"/><Relationship Id="rId11" Type="http://schemas.openxmlformats.org/officeDocument/2006/relationships/image" Target="../media/image25.png"/><Relationship Id="rId6" Type="http://schemas.openxmlformats.org/officeDocument/2006/relationships/image" Target="../media/image20.png"/><Relationship Id="rId24" Type="http://schemas.openxmlformats.org/officeDocument/2006/relationships/image" Target="../media/image25.jpg"/><Relationship Id="rId15" Type="http://schemas.openxmlformats.org/officeDocument/2006/relationships/image" Target="../media/image29.png"/><Relationship Id="rId5" Type="http://schemas.openxmlformats.org/officeDocument/2006/relationships/image" Target="../media/image19.png"/><Relationship Id="rId23" Type="http://schemas.openxmlformats.org/officeDocument/2006/relationships/image" Target="../media/image31.png"/><Relationship Id="rId19" Type="http://schemas.openxmlformats.org/officeDocument/2006/relationships/image" Target="../media/image32.png"/><Relationship Id="rId14" Type="http://schemas.openxmlformats.org/officeDocument/2006/relationships/image" Target="../media/image28.png"/><Relationship Id="rId4" Type="http://schemas.openxmlformats.org/officeDocument/2006/relationships/image" Target="../media/image180.png"/><Relationship Id="rId9" Type="http://schemas.openxmlformats.org/officeDocument/2006/relationships/image" Target="../media/image23.png"/><Relationship Id="rId22"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25.jp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jp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43.png"/><Relationship Id="rId4" Type="http://schemas.openxmlformats.org/officeDocument/2006/relationships/image" Target="../media/image42.jpg"/></Relationships>
</file>

<file path=ppt/slides/_rels/slide15.xml.rels><?xml version="1.0" encoding="UTF-8" standalone="yes"?>
<Relationships xmlns="http://schemas.openxmlformats.org/package/2006/relationships"><Relationship Id="rId3" Type="http://schemas.openxmlformats.org/officeDocument/2006/relationships/image" Target="../media/image42.jpg"/><Relationship Id="rId7"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5.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5.emf"/></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1.emf"/></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70.jpeg"/><Relationship Id="rId4" Type="http://schemas.openxmlformats.org/officeDocument/2006/relationships/image" Target="../media/image69.jpeg"/></Relationships>
</file>

<file path=ppt/slides/_rels/slide2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jpeg"/></Relationships>
</file>

<file path=ppt/slides/_rels/slide28.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image" Target="../media/image76.jpg"/><Relationship Id="rId1" Type="http://schemas.openxmlformats.org/officeDocument/2006/relationships/slideLayout" Target="../slideLayouts/slideLayout2.xml"/><Relationship Id="rId6" Type="http://schemas.openxmlformats.org/officeDocument/2006/relationships/image" Target="../media/image80.jpeg"/><Relationship Id="rId5" Type="http://schemas.openxmlformats.org/officeDocument/2006/relationships/image" Target="../media/image79.jpeg"/><Relationship Id="rId4" Type="http://schemas.openxmlformats.org/officeDocument/2006/relationships/image" Target="../media/image78.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34.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e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38.xml.rels><?xml version="1.0" encoding="UTF-8" standalone="yes"?>
<Relationships xmlns="http://schemas.openxmlformats.org/package/2006/relationships"><Relationship Id="rId2" Type="http://schemas.openxmlformats.org/officeDocument/2006/relationships/image" Target="../media/image95.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8.jpeg"/></Relationships>
</file>

<file path=ppt/slides/_rels/slide4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4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0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image" Target="../media/image105.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870.png"/></Relationships>
</file>

<file path=ppt/slides/_rels/slide56.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14.emf"/></Relationships>
</file>

<file path=ppt/slides/_rels/slide5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EADD3D7-AB0F-47DF-89A8-F9162244D2D2}"/>
              </a:ext>
            </a:extLst>
          </p:cNvPr>
          <p:cNvSpPr/>
          <p:nvPr/>
        </p:nvSpPr>
        <p:spPr>
          <a:xfrm>
            <a:off x="1552839" y="2052171"/>
            <a:ext cx="9086322" cy="2241960"/>
          </a:xfrm>
          <a:prstGeom prst="rect">
            <a:avLst/>
          </a:prstGeom>
        </p:spPr>
        <p:txBody>
          <a:bodyPr wrap="square">
            <a:spAutoFit/>
          </a:bodyPr>
          <a:lstStyle/>
          <a:p>
            <a:pPr algn="ctr" hangingPunct="0">
              <a:lnSpc>
                <a:spcPct val="150000"/>
              </a:lnSpc>
              <a:spcAft>
                <a:spcPts val="0"/>
              </a:spcAft>
            </a:pPr>
            <a:r>
              <a:rPr lang="zh-TW" altLang="zh-TW" sz="2400" b="1" kern="100" dirty="0">
                <a:solidFill>
                  <a:srgbClr val="483832"/>
                </a:solidFill>
                <a:effectLst>
                  <a:outerShdw blurRad="38100" dist="38100" dir="2700000" algn="tl">
                    <a:srgbClr val="000000">
                      <a:alpha val="43137"/>
                    </a:srgbClr>
                  </a:outerShdw>
                </a:effectLst>
                <a:latin typeface="Times New Roman" panose="02020603050405020304" pitchFamily="18" charset="0"/>
                <a:ea typeface="DFKai-SB" panose="03000509000000000000" pitchFamily="65" charset="-120"/>
                <a:cs typeface="Times New Roman" panose="02020603050405020304" pitchFamily="18" charset="0"/>
              </a:rPr>
              <a:t>以積體鈮酸鋰波導光參量放大器及絕熱耦合分光器達成晶片型量子壓縮光源之研究</a:t>
            </a:r>
          </a:p>
          <a:p>
            <a:pPr algn="ctr" hangingPunct="0">
              <a:lnSpc>
                <a:spcPct val="150000"/>
              </a:lnSpc>
              <a:spcAft>
                <a:spcPts val="0"/>
              </a:spcAft>
            </a:pPr>
            <a:r>
              <a:rPr lang="en-US" altLang="zh-TW" sz="2400" b="1" kern="100" dirty="0">
                <a:solidFill>
                  <a:srgbClr val="483832"/>
                </a:solidFill>
                <a:effectLst>
                  <a:outerShdw blurRad="38100" dist="38100" dir="2700000" algn="tl">
                    <a:srgbClr val="000000">
                      <a:alpha val="43137"/>
                    </a:srgbClr>
                  </a:outerShdw>
                </a:effectLst>
                <a:latin typeface="Times New Roman" panose="02020603050405020304" pitchFamily="18" charset="0"/>
                <a:ea typeface="DFKai-SB" panose="03000509000000000000" pitchFamily="65" charset="-120"/>
                <a:cs typeface="Times New Roman" panose="02020603050405020304" pitchFamily="18" charset="0"/>
              </a:rPr>
              <a:t>On-chip quantum squeezer based on integrated lithium </a:t>
            </a:r>
            <a:r>
              <a:rPr lang="en-US" altLang="zh-TW" sz="2400" b="1" kern="100" dirty="0" err="1">
                <a:solidFill>
                  <a:srgbClr val="483832"/>
                </a:solidFill>
                <a:effectLst>
                  <a:outerShdw blurRad="38100" dist="38100" dir="2700000" algn="tl">
                    <a:srgbClr val="000000">
                      <a:alpha val="43137"/>
                    </a:srgbClr>
                  </a:outerShdw>
                </a:effectLst>
                <a:latin typeface="Times New Roman" panose="02020603050405020304" pitchFamily="18" charset="0"/>
                <a:ea typeface="DFKai-SB" panose="03000509000000000000" pitchFamily="65" charset="-120"/>
                <a:cs typeface="Times New Roman" panose="02020603050405020304" pitchFamily="18" charset="0"/>
              </a:rPr>
              <a:t>niobate</a:t>
            </a:r>
            <a:r>
              <a:rPr lang="en-US" altLang="zh-TW" sz="2400" b="1" kern="100" dirty="0">
                <a:solidFill>
                  <a:srgbClr val="483832"/>
                </a:solidFill>
                <a:effectLst>
                  <a:outerShdw blurRad="38100" dist="38100" dir="2700000" algn="tl">
                    <a:srgbClr val="000000">
                      <a:alpha val="43137"/>
                    </a:srgbClr>
                  </a:outerShdw>
                </a:effectLst>
                <a:latin typeface="Times New Roman" panose="02020603050405020304" pitchFamily="18" charset="0"/>
                <a:ea typeface="DFKai-SB" panose="03000509000000000000" pitchFamily="65" charset="-120"/>
                <a:cs typeface="Times New Roman" panose="02020603050405020304" pitchFamily="18" charset="0"/>
              </a:rPr>
              <a:t> waveguide optical parametric amplifier and adiabatic beam splitter</a:t>
            </a:r>
            <a:endParaRPr lang="zh-TW" altLang="zh-TW" sz="2400" b="1" kern="100" dirty="0">
              <a:solidFill>
                <a:srgbClr val="483832"/>
              </a:solidFill>
              <a:effectLst>
                <a:outerShdw blurRad="38100" dist="38100" dir="2700000" algn="tl">
                  <a:srgbClr val="000000">
                    <a:alpha val="43137"/>
                  </a:srgbClr>
                </a:outerShdw>
              </a:effectLst>
              <a:latin typeface="Times New Roman" panose="02020603050405020304" pitchFamily="18" charset="0"/>
              <a:ea typeface="DFKai-SB"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832B68BF-7B1F-41EB-9FED-006AC84ED970}"/>
              </a:ext>
            </a:extLst>
          </p:cNvPr>
          <p:cNvSpPr txBox="1"/>
          <p:nvPr/>
        </p:nvSpPr>
        <p:spPr>
          <a:xfrm>
            <a:off x="5365672" y="4563089"/>
            <a:ext cx="1460656" cy="369332"/>
          </a:xfrm>
          <a:prstGeom prst="rect">
            <a:avLst/>
          </a:prstGeom>
          <a:noFill/>
        </p:spPr>
        <p:txBody>
          <a:bodyPr wrap="none" rtlCol="0">
            <a:spAutoFit/>
          </a:bodyPr>
          <a:lstStyle/>
          <a:p>
            <a:r>
              <a:rPr lang="zh-TW" altLang="en-US" dirty="0">
                <a:solidFill>
                  <a:srgbClr val="483832"/>
                </a:solidFill>
                <a:latin typeface="DFKai-SB" panose="03000509000000000000" pitchFamily="65" charset="-120"/>
                <a:ea typeface="DFKai-SB" panose="03000509000000000000" pitchFamily="65" charset="-120"/>
                <a:cs typeface="Times New Roman" panose="02020603050405020304" pitchFamily="18" charset="0"/>
              </a:rPr>
              <a:t>學生</a:t>
            </a:r>
            <a:r>
              <a:rPr lang="en-US" altLang="zh-TW" dirty="0">
                <a:solidFill>
                  <a:srgbClr val="483832"/>
                </a:solidFill>
                <a:latin typeface="Times New Roman" panose="02020603050405020304" pitchFamily="18" charset="0"/>
                <a:cs typeface="Times New Roman" panose="02020603050405020304" pitchFamily="18" charset="0"/>
              </a:rPr>
              <a:t>: </a:t>
            </a:r>
            <a:r>
              <a:rPr lang="zh-TW" altLang="en-US" dirty="0">
                <a:solidFill>
                  <a:srgbClr val="483832"/>
                </a:solidFill>
                <a:latin typeface="DFKai-SB" panose="03000509000000000000" pitchFamily="65" charset="-120"/>
                <a:ea typeface="DFKai-SB" panose="03000509000000000000" pitchFamily="65" charset="-120"/>
                <a:cs typeface="Times New Roman" panose="02020603050405020304" pitchFamily="18" charset="0"/>
              </a:rPr>
              <a:t>高梃澄</a:t>
            </a:r>
            <a:endParaRPr lang="zh-TW" altLang="en-US"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p:txBody>
      </p:sp>
      <p:sp>
        <p:nvSpPr>
          <p:cNvPr id="4" name="文字方塊 3">
            <a:extLst>
              <a:ext uri="{FF2B5EF4-FFF2-40B4-BE49-F238E27FC236}">
                <a16:creationId xmlns:a16="http://schemas.microsoft.com/office/drawing/2014/main" id="{E76D1F82-A479-4FF2-973C-BD36FD8F6BD4}"/>
              </a:ext>
            </a:extLst>
          </p:cNvPr>
          <p:cNvSpPr txBox="1"/>
          <p:nvPr/>
        </p:nvSpPr>
        <p:spPr>
          <a:xfrm>
            <a:off x="4846299" y="5015877"/>
            <a:ext cx="2499402" cy="369332"/>
          </a:xfrm>
          <a:prstGeom prst="rect">
            <a:avLst/>
          </a:prstGeom>
          <a:noFill/>
        </p:spPr>
        <p:txBody>
          <a:bodyPr wrap="none" rtlCol="0">
            <a:spAutoFit/>
          </a:bodyPr>
          <a:lstStyle/>
          <a:p>
            <a:r>
              <a:rPr lang="zh-TW" altLang="en-US" dirty="0">
                <a:solidFill>
                  <a:srgbClr val="483832"/>
                </a:solidFill>
                <a:latin typeface="DFKai-SB" panose="03000509000000000000" pitchFamily="65" charset="-120"/>
                <a:ea typeface="DFKai-SB" panose="03000509000000000000" pitchFamily="65" charset="-120"/>
                <a:cs typeface="Times New Roman" panose="02020603050405020304" pitchFamily="18" charset="0"/>
              </a:rPr>
              <a:t>指導教授</a:t>
            </a:r>
            <a:r>
              <a:rPr lang="en-US" altLang="zh-TW" dirty="0">
                <a:solidFill>
                  <a:srgbClr val="483832"/>
                </a:solidFill>
                <a:latin typeface="Times New Roman" panose="02020603050405020304" pitchFamily="18" charset="0"/>
                <a:cs typeface="Times New Roman" panose="02020603050405020304" pitchFamily="18" charset="0"/>
              </a:rPr>
              <a:t>: </a:t>
            </a:r>
            <a:r>
              <a:rPr lang="zh-TW" altLang="en-US" dirty="0">
                <a:solidFill>
                  <a:srgbClr val="483832"/>
                </a:solidFill>
                <a:latin typeface="DFKai-SB" panose="03000509000000000000" pitchFamily="65" charset="-120"/>
                <a:ea typeface="DFKai-SB" panose="03000509000000000000" pitchFamily="65" charset="-120"/>
                <a:cs typeface="Times New Roman" panose="02020603050405020304" pitchFamily="18" charset="0"/>
              </a:rPr>
              <a:t>陳彥宏 博士</a:t>
            </a:r>
            <a:endParaRPr lang="zh-TW" altLang="en-US"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p:txBody>
      </p:sp>
      <p:pic>
        <p:nvPicPr>
          <p:cNvPr id="6" name="圖片 5">
            <a:extLst>
              <a:ext uri="{FF2B5EF4-FFF2-40B4-BE49-F238E27FC236}">
                <a16:creationId xmlns:a16="http://schemas.microsoft.com/office/drawing/2014/main" id="{71C047E8-6A8D-4170-BCD8-0C907A3D0D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45614" y="6329210"/>
            <a:ext cx="1303537" cy="522694"/>
          </a:xfrm>
          <a:prstGeom prst="rect">
            <a:avLst/>
          </a:prstGeom>
        </p:spPr>
      </p:pic>
      <p:pic>
        <p:nvPicPr>
          <p:cNvPr id="8" name="圖片 7">
            <a:extLst>
              <a:ext uri="{FF2B5EF4-FFF2-40B4-BE49-F238E27FC236}">
                <a16:creationId xmlns:a16="http://schemas.microsoft.com/office/drawing/2014/main" id="{687039EB-3294-4F50-85E0-6A5E520CE5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6800" y="6329210"/>
            <a:ext cx="965200" cy="514033"/>
          </a:xfrm>
          <a:prstGeom prst="rect">
            <a:avLst/>
          </a:prstGeom>
        </p:spPr>
      </p:pic>
      <p:sp>
        <p:nvSpPr>
          <p:cNvPr id="9" name="矩形 8">
            <a:extLst>
              <a:ext uri="{FF2B5EF4-FFF2-40B4-BE49-F238E27FC236}">
                <a16:creationId xmlns:a16="http://schemas.microsoft.com/office/drawing/2014/main" id="{ECC45919-3005-4081-9DD7-9999D0D6DE2C}"/>
              </a:ext>
            </a:extLst>
          </p:cNvPr>
          <p:cNvSpPr/>
          <p:nvPr/>
        </p:nvSpPr>
        <p:spPr>
          <a:xfrm>
            <a:off x="-1242671" y="6543079"/>
            <a:ext cx="11971457" cy="461665"/>
          </a:xfrm>
          <a:prstGeom prst="rect">
            <a:avLst/>
          </a:prstGeom>
        </p:spPr>
        <p:txBody>
          <a:bodyPr wrap="square">
            <a:spAutoFit/>
          </a:bodyPr>
          <a:lstStyle/>
          <a:p>
            <a:pPr algn="ctr">
              <a:spcBef>
                <a:spcPts val="1000"/>
              </a:spcBef>
            </a:pPr>
            <a:r>
              <a:rPr lang="en-US" altLang="zh-TW" sz="1200" i="1" dirty="0">
                <a:solidFill>
                  <a:srgbClr val="002060"/>
                </a:solidFill>
                <a:latin typeface="Times New Roman" panose="02020603050405020304" pitchFamily="18" charset="0"/>
              </a:rPr>
              <a:t>Nonlinear Integrated Laser Photonics Lab (NILP), Department of Optics and Photonics, National Central University, </a:t>
            </a:r>
            <a:r>
              <a:rPr lang="en-US" altLang="zh-TW" sz="1200" i="1" dirty="0" err="1">
                <a:solidFill>
                  <a:srgbClr val="002060"/>
                </a:solidFill>
                <a:latin typeface="Times New Roman" panose="02020603050405020304" pitchFamily="18" charset="0"/>
              </a:rPr>
              <a:t>Jhongli</a:t>
            </a:r>
            <a:r>
              <a:rPr lang="en-US" altLang="zh-TW" sz="1200" i="1" dirty="0">
                <a:solidFill>
                  <a:srgbClr val="002060"/>
                </a:solidFill>
                <a:latin typeface="Times New Roman" panose="02020603050405020304" pitchFamily="18" charset="0"/>
              </a:rPr>
              <a:t> 320, Taiwan</a:t>
            </a:r>
            <a:br>
              <a:rPr lang="en-US" altLang="zh-TW" sz="1200" dirty="0">
                <a:solidFill>
                  <a:srgbClr val="002060"/>
                </a:solidFill>
                <a:latin typeface="Times New Roman" panose="02020603050405020304" pitchFamily="18" charset="0"/>
              </a:rPr>
            </a:br>
            <a:endParaRPr lang="zh-TW" altLang="en-US" sz="1200" dirty="0">
              <a:solidFill>
                <a:srgbClr val="002060"/>
              </a:solidFill>
              <a:latin typeface="Times New Roman" panose="02020603050405020304" pitchFamily="18" charset="0"/>
            </a:endParaRPr>
          </a:p>
        </p:txBody>
      </p:sp>
      <p:pic>
        <p:nvPicPr>
          <p:cNvPr id="1026" name="Picture 2" descr="https://lh3.googleusercontent.com/iNfYtOvoRnBEmylMu-NC142lEc4fcv_1Npp9Qt7lpNz9p3OWpSAE6hfvFhivvC_uuLplcNZ0-_cPCa5yfPR4ClQCo-YI7DbLKShyWIYnsm3Zy1OqX4SR0YFcYIWS5EQJO_KvbmNAUVY1VQ4itaDFJ8Fnd-ftlrmYNAP7AYoS0-SkFj7tPJsN3qjq3-4-2TGR_XSC">
            <a:extLst>
              <a:ext uri="{FF2B5EF4-FFF2-40B4-BE49-F238E27FC236}">
                <a16:creationId xmlns:a16="http://schemas.microsoft.com/office/drawing/2014/main" id="{A478C46A-70C8-4114-A4E4-1F26E5E1200B}"/>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50286" y1="59109" x2="50286" y2="59109"/>
                        <a14:foregroundMark x1="55714" y1="60324" x2="55714" y2="60324"/>
                        <a14:foregroundMark x1="59429" y1="59109" x2="59429" y2="59109"/>
                        <a14:foregroundMark x1="42857" y1="59109" x2="42857" y2="59109"/>
                        <a14:foregroundMark x1="46000" y1="62146" x2="46000" y2="62146"/>
                        <a14:foregroundMark x1="42571" y1="61943" x2="57429" y2="62146"/>
                        <a14:foregroundMark x1="46286" y1="64777" x2="51714" y2="65182"/>
                        <a14:foregroundMark x1="44571" y1="66397" x2="52286" y2="65992"/>
                      </a14:backgroundRemoval>
                    </a14:imgEffect>
                    <a14:imgEffect>
                      <a14:artisticCrisscrossEtching trans="55000" pressure="5"/>
                    </a14:imgEffect>
                  </a14:imgLayer>
                </a14:imgProps>
              </a:ext>
              <a:ext uri="{28A0092B-C50C-407E-A947-70E740481C1C}">
                <a14:useLocalDpi xmlns:a14="http://schemas.microsoft.com/office/drawing/2010/main" val="0"/>
              </a:ext>
            </a:extLst>
          </a:blip>
          <a:srcRect t="22031" b="17800"/>
          <a:stretch/>
        </p:blipFill>
        <p:spPr bwMode="auto">
          <a:xfrm>
            <a:off x="11215619" y="14757"/>
            <a:ext cx="976381" cy="829187"/>
          </a:xfrm>
          <a:prstGeom prst="rect">
            <a:avLst/>
          </a:prstGeom>
          <a:noFill/>
          <a:extLst>
            <a:ext uri="{909E8E84-426E-40DD-AFC4-6F175D3DCCD1}">
              <a14:hiddenFill xmlns:a14="http://schemas.microsoft.com/office/drawing/2010/main">
                <a:solidFill>
                  <a:srgbClr val="FFFFFF"/>
                </a:solidFill>
              </a14:hiddenFill>
            </a:ext>
          </a:extLst>
        </p:spPr>
      </p:pic>
      <p:sp>
        <p:nvSpPr>
          <p:cNvPr id="5" name="投影片編號版面配置區 4">
            <a:extLst>
              <a:ext uri="{FF2B5EF4-FFF2-40B4-BE49-F238E27FC236}">
                <a16:creationId xmlns:a16="http://schemas.microsoft.com/office/drawing/2014/main" id="{6CED9167-E4F2-47EA-A6C1-E91F61AC6ECE}"/>
              </a:ext>
            </a:extLst>
          </p:cNvPr>
          <p:cNvSpPr>
            <a:spLocks noGrp="1"/>
          </p:cNvSpPr>
          <p:nvPr>
            <p:ph type="sldNum" sz="quarter" idx="12"/>
          </p:nvPr>
        </p:nvSpPr>
        <p:spPr/>
        <p:txBody>
          <a:bodyPr/>
          <a:lstStyle/>
          <a:p>
            <a:fld id="{9820161B-3DFF-4FF5-AA0E-35496F014571}" type="slidenum">
              <a:rPr lang="zh-TW" altLang="en-US" smtClean="0"/>
              <a:t>1</a:t>
            </a:fld>
            <a:endParaRPr lang="zh-TW" altLang="en-US"/>
          </a:p>
        </p:txBody>
      </p:sp>
    </p:spTree>
    <p:extLst>
      <p:ext uri="{BB962C8B-B14F-4D97-AF65-F5344CB8AC3E}">
        <p14:creationId xmlns:p14="http://schemas.microsoft.com/office/powerpoint/2010/main" val="3612687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5AA60C63-0751-4949-8E2B-2BE68848B0E3}"/>
              </a:ext>
            </a:extLst>
          </p:cNvPr>
          <p:cNvSpPr/>
          <p:nvPr/>
        </p:nvSpPr>
        <p:spPr>
          <a:xfrm>
            <a:off x="689849" y="713949"/>
            <a:ext cx="6233621" cy="6247864"/>
          </a:xfrm>
          <a:prstGeom prst="rect">
            <a:avLst/>
          </a:prstGeom>
        </p:spPr>
        <p:txBody>
          <a:bodyPr wrap="square">
            <a:spAutoFit/>
          </a:bodyPr>
          <a:lstStyle/>
          <a:p>
            <a:pPr marL="514350" indent="-514350">
              <a:lnSpc>
                <a:spcPts val="2400"/>
              </a:lnSpc>
              <a:buAutoNum type="romanUcPeriod"/>
            </a:pPr>
            <a:r>
              <a:rPr lang="en-US" altLang="zh-TW" sz="2400" b="1" dirty="0">
                <a:solidFill>
                  <a:srgbClr val="FF0000"/>
                </a:solidFill>
                <a:latin typeface="Times New Roman" panose="02020603050405020304" pitchFamily="18" charset="0"/>
              </a:rPr>
              <a:t>Introduction</a:t>
            </a:r>
          </a:p>
          <a:p>
            <a:pPr marL="514350" indent="-514350">
              <a:lnSpc>
                <a:spcPts val="2400"/>
              </a:lnSpc>
              <a:buFontTx/>
              <a:buAutoNum type="romanUcPeriod"/>
            </a:pPr>
            <a:r>
              <a:rPr lang="en-US" altLang="zh-TW" sz="2000" b="1" dirty="0">
                <a:solidFill>
                  <a:srgbClr val="483832"/>
                </a:solidFill>
                <a:latin typeface="Times New Roman" panose="02020603050405020304" pitchFamily="18" charset="0"/>
              </a:rPr>
              <a:t>Theory</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Quantum state</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Balance homodyne detection(BHD)</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Sum frequency generation(SFG)</a:t>
            </a: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/Optical parametric amplifier(OPA)</a:t>
            </a:r>
            <a:endParaRPr lang="en-US" altLang="zh-TW" sz="1500" dirty="0">
              <a:solidFill>
                <a:srgbClr val="483832"/>
              </a:solidFill>
              <a:latin typeface="Times New Roman" panose="02020603050405020304" pitchFamily="18" charset="0"/>
            </a:endParaRP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Quasi-phase matching(QPM)</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Stimulated Raman adiabatic passage(STIRAP)</a:t>
            </a:r>
            <a:endParaRPr lang="en-US" altLang="zh-TW" sz="1500" b="1" dirty="0">
              <a:solidFill>
                <a:srgbClr val="483832"/>
              </a:solidFill>
              <a:latin typeface="Times New Roman" panose="02020603050405020304" pitchFamily="18" charset="0"/>
            </a:endParaRPr>
          </a:p>
          <a:p>
            <a:pPr marL="514350" indent="-514350">
              <a:lnSpc>
                <a:spcPts val="2400"/>
              </a:lnSpc>
              <a:buFontTx/>
              <a:buAutoNum type="romanUcPeriod"/>
            </a:pPr>
            <a:r>
              <a:rPr lang="en-US" altLang="zh-TW" sz="2000" b="1" dirty="0">
                <a:solidFill>
                  <a:srgbClr val="483832"/>
                </a:solidFill>
                <a:latin typeface="Times New Roman" panose="02020603050405020304" pitchFamily="18" charset="0"/>
              </a:rPr>
              <a:t>Simulation</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Adiabatic beam splitter design</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High-pass filter simulation</a:t>
            </a:r>
            <a:endParaRPr lang="en-US" altLang="zh-TW" sz="15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a:p>
            <a:pPr marL="514350" indent="-514350">
              <a:lnSpc>
                <a:spcPts val="24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Fabrication process</a:t>
            </a:r>
          </a:p>
          <a:p>
            <a:pPr marL="742950" lvl="1" indent="-285750">
              <a:lnSpc>
                <a:spcPts val="2400"/>
              </a:lnSpc>
              <a:buFont typeface="Arial" panose="020B0604020202020204" pitchFamily="34" charset="0"/>
              <a:buChar char="•"/>
            </a:pPr>
            <a:r>
              <a:rPr lang="en-US" altLang="zh-TW" sz="1500" kern="100" dirty="0" err="1">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Ti-indiffused</a:t>
            </a: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waveguide</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Electric field poling</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End face polish</a:t>
            </a:r>
            <a:endParaRPr lang="en-US" altLang="zh-TW" sz="15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a:p>
            <a:pPr marL="514350" indent="-514350">
              <a:lnSpc>
                <a:spcPts val="2400"/>
              </a:lnSpc>
              <a:buFontTx/>
              <a:buAutoNum type="romanUcPeriod"/>
            </a:pPr>
            <a:r>
              <a:rPr lang="en-US" altLang="zh-TW" sz="2000" b="1" dirty="0">
                <a:solidFill>
                  <a:srgbClr val="483832"/>
                </a:solidFill>
                <a:latin typeface="Times New Roman" panose="02020603050405020304" pitchFamily="18" charset="0"/>
              </a:rPr>
              <a:t>Experimental Results and Analysis</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Propagation loss</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ER spectrum</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SHG characteristic</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Squeezing light optical setup</a:t>
            </a:r>
            <a:endParaRPr lang="en-US" altLang="zh-TW" sz="1500" b="1" dirty="0">
              <a:solidFill>
                <a:srgbClr val="483832"/>
              </a:solidFill>
              <a:latin typeface="Times New Roman" panose="02020603050405020304" pitchFamily="18" charset="0"/>
            </a:endParaRPr>
          </a:p>
          <a:p>
            <a:pPr marL="514350" indent="-514350">
              <a:lnSpc>
                <a:spcPts val="24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Conclusion and future work</a:t>
            </a:r>
            <a:endParaRPr lang="en-US" altLang="zh-TW" sz="2000" b="1" dirty="0">
              <a:solidFill>
                <a:srgbClr val="483832"/>
              </a:solidFill>
              <a:latin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8B7D6CB7-BE41-4407-8484-5095438BF9F1}"/>
              </a:ext>
            </a:extLst>
          </p:cNvPr>
          <p:cNvSpPr>
            <a:spLocks noGrp="1"/>
          </p:cNvSpPr>
          <p:nvPr>
            <p:ph type="sldNum" sz="quarter" idx="12"/>
          </p:nvPr>
        </p:nvSpPr>
        <p:spPr/>
        <p:txBody>
          <a:bodyPr/>
          <a:lstStyle/>
          <a:p>
            <a:fld id="{9820161B-3DFF-4FF5-AA0E-35496F014571}" type="slidenum">
              <a:rPr lang="zh-TW" altLang="en-US" smtClean="0"/>
              <a:t>2</a:t>
            </a:fld>
            <a:endParaRPr lang="zh-TW" altLang="en-US"/>
          </a:p>
        </p:txBody>
      </p:sp>
    </p:spTree>
    <p:extLst>
      <p:ext uri="{BB962C8B-B14F-4D97-AF65-F5344CB8AC3E}">
        <p14:creationId xmlns:p14="http://schemas.microsoft.com/office/powerpoint/2010/main" val="4111184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330FCF5C-2E60-493F-9420-63185CD50BD6}"/>
              </a:ext>
            </a:extLst>
          </p:cNvPr>
          <p:cNvSpPr>
            <a:spLocks noGrp="1"/>
          </p:cNvSpPr>
          <p:nvPr>
            <p:ph type="body" sz="half" idx="13"/>
          </p:nvPr>
        </p:nvSpPr>
        <p:spPr/>
        <p:txBody>
          <a:bodyPr/>
          <a:lstStyle/>
          <a:p>
            <a:r>
              <a:rPr lang="en-US" altLang="zh-TW" dirty="0"/>
              <a:t>Introduction</a:t>
            </a:r>
            <a:endParaRPr lang="zh-TW" altLang="en-US" dirty="0"/>
          </a:p>
        </p:txBody>
      </p:sp>
      <p:sp>
        <p:nvSpPr>
          <p:cNvPr id="3" name="投影片編號版面配置區 2">
            <a:extLst>
              <a:ext uri="{FF2B5EF4-FFF2-40B4-BE49-F238E27FC236}">
                <a16:creationId xmlns:a16="http://schemas.microsoft.com/office/drawing/2014/main" id="{4D7E1234-CDEB-4CDA-AB6A-3FDB3B045E14}"/>
              </a:ext>
            </a:extLst>
          </p:cNvPr>
          <p:cNvSpPr>
            <a:spLocks noGrp="1"/>
          </p:cNvSpPr>
          <p:nvPr>
            <p:ph type="sldNum" sz="quarter" idx="12"/>
          </p:nvPr>
        </p:nvSpPr>
        <p:spPr/>
        <p:txBody>
          <a:bodyPr/>
          <a:lstStyle/>
          <a:p>
            <a:fld id="{9820161B-3DFF-4FF5-AA0E-35496F014571}" type="slidenum">
              <a:rPr lang="zh-TW" altLang="en-US" smtClean="0"/>
              <a:t>3</a:t>
            </a:fld>
            <a:endParaRPr lang="zh-TW" altLang="en-US"/>
          </a:p>
        </p:txBody>
      </p:sp>
      <p:pic>
        <p:nvPicPr>
          <p:cNvPr id="4" name="圖片 3">
            <a:extLst>
              <a:ext uri="{FF2B5EF4-FFF2-40B4-BE49-F238E27FC236}">
                <a16:creationId xmlns:a16="http://schemas.microsoft.com/office/drawing/2014/main" id="{3272A6B8-B579-4653-8CC0-94534FC8D508}"/>
              </a:ext>
            </a:extLst>
          </p:cNvPr>
          <p:cNvPicPr>
            <a:picLocks noChangeAspect="1"/>
          </p:cNvPicPr>
          <p:nvPr/>
        </p:nvPicPr>
        <p:blipFill>
          <a:blip r:embed="rId3"/>
          <a:stretch>
            <a:fillRect/>
          </a:stretch>
        </p:blipFill>
        <p:spPr>
          <a:xfrm>
            <a:off x="2905761" y="882860"/>
            <a:ext cx="6299200" cy="5640922"/>
          </a:xfrm>
          <a:prstGeom prst="rect">
            <a:avLst/>
          </a:prstGeom>
        </p:spPr>
      </p:pic>
      <p:sp>
        <p:nvSpPr>
          <p:cNvPr id="5" name="矩形 4">
            <a:extLst>
              <a:ext uri="{FF2B5EF4-FFF2-40B4-BE49-F238E27FC236}">
                <a16:creationId xmlns:a16="http://schemas.microsoft.com/office/drawing/2014/main" id="{9F1FC20A-A9D8-4FC7-A54F-D6FAE7D39194}"/>
              </a:ext>
            </a:extLst>
          </p:cNvPr>
          <p:cNvSpPr/>
          <p:nvPr/>
        </p:nvSpPr>
        <p:spPr>
          <a:xfrm>
            <a:off x="762000" y="6611779"/>
            <a:ext cx="3166251" cy="246221"/>
          </a:xfrm>
          <a:prstGeom prst="rect">
            <a:avLst/>
          </a:prstGeom>
        </p:spPr>
        <p:txBody>
          <a:bodyPr wrap="none">
            <a:spAutoFit/>
          </a:bodyPr>
          <a:lstStyle/>
          <a:p>
            <a:r>
              <a:rPr lang="en-US" altLang="zh-TW" sz="1000" dirty="0">
                <a:latin typeface="Times New Roman" panose="02020603050405020304" pitchFamily="18" charset="0"/>
                <a:cs typeface="Times New Roman" panose="02020603050405020304" pitchFamily="18" charset="0"/>
              </a:rPr>
              <a:t>Roman Schnabel</a:t>
            </a:r>
            <a:r>
              <a:rPr lang="zh-TW" altLang="en-US" sz="1000" dirty="0">
                <a:latin typeface="Times New Roman" panose="02020603050405020304" pitchFamily="18" charset="0"/>
                <a:cs typeface="Times New Roman" panose="02020603050405020304" pitchFamily="18" charset="0"/>
              </a:rPr>
              <a:t> </a:t>
            </a:r>
            <a:r>
              <a:rPr lang="en-US" altLang="zh-TW" sz="1000" dirty="0">
                <a:latin typeface="Times New Roman" panose="02020603050405020304" pitchFamily="18" charset="0"/>
                <a:cs typeface="Times New Roman" panose="02020603050405020304" pitchFamily="18" charset="0"/>
              </a:rPr>
              <a:t>et al, Nature Communications, 1(20210)</a:t>
            </a:r>
            <a:endParaRPr lang="zh-TW" alt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8181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C298F8A-6660-44ED-9B89-ACCC4580B9E9}"/>
              </a:ext>
            </a:extLst>
          </p:cNvPr>
          <p:cNvSpPr/>
          <p:nvPr/>
        </p:nvSpPr>
        <p:spPr>
          <a:xfrm>
            <a:off x="3342639" y="4924986"/>
            <a:ext cx="5506721" cy="992836"/>
          </a:xfrm>
          <a:prstGeom prst="rect">
            <a:avLst/>
          </a:prstGeom>
        </p:spPr>
        <p:txBody>
          <a:bodyPr wrap="square">
            <a:spAutoFit/>
          </a:bodyPr>
          <a:lstStyle/>
          <a:p>
            <a:pPr>
              <a:lnSpc>
                <a:spcPts val="2400"/>
              </a:lnSpc>
            </a:pPr>
            <a:r>
              <a:rPr lang="en-US" altLang="zh-TW" dirty="0">
                <a:solidFill>
                  <a:srgbClr val="483832"/>
                </a:solidFill>
                <a:latin typeface="Times New Roman" panose="02020603050405020304" pitchFamily="18" charset="0"/>
              </a:rPr>
              <a:t>Integrated quantum light source chip, </a:t>
            </a:r>
            <a:r>
              <a:rPr lang="en-US" altLang="zh-TW" dirty="0">
                <a:solidFill>
                  <a:srgbClr val="483832"/>
                </a:solidFill>
                <a:highlight>
                  <a:srgbClr val="FFAFB1"/>
                </a:highlight>
                <a:latin typeface="Times New Roman" panose="02020603050405020304" pitchFamily="18" charset="0"/>
              </a:rPr>
              <a:t>compact and stable</a:t>
            </a:r>
            <a:r>
              <a:rPr lang="en-US" altLang="zh-TW" dirty="0">
                <a:solidFill>
                  <a:srgbClr val="483832"/>
                </a:solidFill>
                <a:latin typeface="Times New Roman" panose="02020603050405020304" pitchFamily="18" charset="0"/>
              </a:rPr>
              <a:t>:</a:t>
            </a:r>
          </a:p>
          <a:p>
            <a:pPr>
              <a:lnSpc>
                <a:spcPts val="2400"/>
              </a:lnSpc>
            </a:pPr>
            <a:r>
              <a:rPr lang="en-US" altLang="zh-TW" dirty="0">
                <a:solidFill>
                  <a:srgbClr val="483832"/>
                </a:solidFill>
                <a:latin typeface="Times New Roman" panose="02020603050405020304" pitchFamily="18" charset="0"/>
              </a:rPr>
              <a:t>OPA</a:t>
            </a:r>
            <a:r>
              <a:rPr lang="zh-TW" altLang="en-US" dirty="0">
                <a:solidFill>
                  <a:srgbClr val="483832"/>
                </a:solidFill>
                <a:latin typeface="Times New Roman" panose="02020603050405020304" pitchFamily="18" charset="0"/>
              </a:rPr>
              <a:t> </a:t>
            </a:r>
            <a:r>
              <a:rPr lang="en-US" altLang="zh-TW" dirty="0">
                <a:solidFill>
                  <a:srgbClr val="483832"/>
                </a:solidFill>
                <a:latin typeface="Times New Roman" panose="02020603050405020304" pitchFamily="18" charset="0"/>
              </a:rPr>
              <a:t>high bandwidth</a:t>
            </a:r>
            <a:r>
              <a:rPr lang="zh-TW" altLang="en-US" dirty="0">
                <a:solidFill>
                  <a:srgbClr val="483832"/>
                </a:solidFill>
                <a:latin typeface="Times New Roman" panose="02020603050405020304" pitchFamily="18" charset="0"/>
              </a:rPr>
              <a:t> </a:t>
            </a:r>
            <a:r>
              <a:rPr lang="en-US" altLang="zh-TW" dirty="0">
                <a:solidFill>
                  <a:srgbClr val="483832"/>
                </a:solidFill>
                <a:latin typeface="Times New Roman" panose="02020603050405020304" pitchFamily="18" charset="0"/>
              </a:rPr>
              <a:t>enhance quantum computation</a:t>
            </a:r>
          </a:p>
          <a:p>
            <a:pPr>
              <a:lnSpc>
                <a:spcPts val="2400"/>
              </a:lnSpc>
            </a:pPr>
            <a:r>
              <a:rPr lang="zh-TW" altLang="en-US" dirty="0">
                <a:solidFill>
                  <a:srgbClr val="483832"/>
                </a:solidFill>
                <a:latin typeface="Times New Roman" panose="02020603050405020304" pitchFamily="18" charset="0"/>
              </a:rPr>
              <a:t>AC</a:t>
            </a:r>
            <a:r>
              <a:rPr lang="en-US" altLang="zh-TW" dirty="0">
                <a:solidFill>
                  <a:srgbClr val="483832"/>
                </a:solidFill>
                <a:latin typeface="Times New Roman" panose="02020603050405020304" pitchFamily="18" charset="0"/>
              </a:rPr>
              <a:t> fabrication tolerant and broadband</a:t>
            </a:r>
          </a:p>
        </p:txBody>
      </p:sp>
      <p:graphicFrame>
        <p:nvGraphicFramePr>
          <p:cNvPr id="3" name="表格 2">
            <a:extLst>
              <a:ext uri="{FF2B5EF4-FFF2-40B4-BE49-F238E27FC236}">
                <a16:creationId xmlns:a16="http://schemas.microsoft.com/office/drawing/2014/main" id="{06F674B7-5D6C-405D-8C60-E0DFB902BDB4}"/>
              </a:ext>
            </a:extLst>
          </p:cNvPr>
          <p:cNvGraphicFramePr>
            <a:graphicFrameLocks noGrp="1"/>
          </p:cNvGraphicFramePr>
          <p:nvPr>
            <p:extLst>
              <p:ext uri="{D42A27DB-BD31-4B8C-83A1-F6EECF244321}">
                <p14:modId xmlns:p14="http://schemas.microsoft.com/office/powerpoint/2010/main" val="3954778095"/>
              </p:ext>
            </p:extLst>
          </p:nvPr>
        </p:nvGraphicFramePr>
        <p:xfrm>
          <a:off x="2032000" y="1095060"/>
          <a:ext cx="8127999" cy="1483360"/>
        </p:xfrm>
        <a:graphic>
          <a:graphicData uri="http://schemas.openxmlformats.org/drawingml/2006/table">
            <a:tbl>
              <a:tblPr firstRow="1" bandRow="1">
                <a:tableStyleId>{9D7B26C5-4107-4FEC-AEDC-1716B250A1EF}</a:tableStyleId>
              </a:tblPr>
              <a:tblGrid>
                <a:gridCol w="2011680">
                  <a:extLst>
                    <a:ext uri="{9D8B030D-6E8A-4147-A177-3AD203B41FA5}">
                      <a16:colId xmlns:a16="http://schemas.microsoft.com/office/drawing/2014/main" val="3975501130"/>
                    </a:ext>
                  </a:extLst>
                </a:gridCol>
                <a:gridCol w="3406986">
                  <a:extLst>
                    <a:ext uri="{9D8B030D-6E8A-4147-A177-3AD203B41FA5}">
                      <a16:colId xmlns:a16="http://schemas.microsoft.com/office/drawing/2014/main" val="969263908"/>
                    </a:ext>
                  </a:extLst>
                </a:gridCol>
                <a:gridCol w="2709333">
                  <a:extLst>
                    <a:ext uri="{9D8B030D-6E8A-4147-A177-3AD203B41FA5}">
                      <a16:colId xmlns:a16="http://schemas.microsoft.com/office/drawing/2014/main" val="1404722844"/>
                    </a:ext>
                  </a:extLst>
                </a:gridCol>
              </a:tblGrid>
              <a:tr h="370840">
                <a:tc>
                  <a:txBody>
                    <a:bodyPr/>
                    <a:lstStyle/>
                    <a:p>
                      <a:r>
                        <a:rPr lang="en-US" altLang="zh-TW" dirty="0">
                          <a:solidFill>
                            <a:srgbClr val="483832"/>
                          </a:solidFill>
                          <a:latin typeface="Times New Roman" panose="02020603050405020304" pitchFamily="18" charset="0"/>
                          <a:cs typeface="Times New Roman" panose="02020603050405020304" pitchFamily="18" charset="0"/>
                        </a:rPr>
                        <a:t>In CW scheme</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rgbClr val="48383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83832"/>
                      </a:solidFill>
                      <a:prstDash val="solid"/>
                      <a:round/>
                      <a:headEnd type="none" w="med" len="med"/>
                      <a:tailEnd type="none" w="med" len="med"/>
                    </a:lnT>
                    <a:solidFill>
                      <a:schemeClr val="accent1">
                        <a:lumMod val="40000"/>
                        <a:lumOff val="60000"/>
                      </a:schemeClr>
                    </a:solidFill>
                  </a:tcPr>
                </a:tc>
                <a:tc>
                  <a:txBody>
                    <a:bodyPr/>
                    <a:lstStyle/>
                    <a:p>
                      <a:pPr algn="ctr"/>
                      <a:r>
                        <a:rPr lang="en-US" altLang="zh-TW" dirty="0">
                          <a:solidFill>
                            <a:srgbClr val="483832"/>
                          </a:solidFill>
                          <a:latin typeface="Times New Roman" panose="02020603050405020304" pitchFamily="18" charset="0"/>
                          <a:cs typeface="Times New Roman" panose="02020603050405020304" pitchFamily="18" charset="0"/>
                        </a:rPr>
                        <a:t>OPO(cavity)</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483832"/>
                      </a:solidFill>
                      <a:prstDash val="solid"/>
                      <a:round/>
                      <a:headEnd type="none" w="med" len="med"/>
                      <a:tailEnd type="none" w="med" len="med"/>
                    </a:lnT>
                    <a:solidFill>
                      <a:schemeClr val="accent1">
                        <a:lumMod val="40000"/>
                        <a:lumOff val="60000"/>
                      </a:schemeClr>
                    </a:solidFill>
                  </a:tcPr>
                </a:tc>
                <a:tc>
                  <a:txBody>
                    <a:bodyPr/>
                    <a:lstStyle/>
                    <a:p>
                      <a:pPr algn="ctr"/>
                      <a:r>
                        <a:rPr lang="en-US" altLang="zh-TW" dirty="0">
                          <a:solidFill>
                            <a:srgbClr val="483832"/>
                          </a:solidFill>
                          <a:latin typeface="Times New Roman" panose="02020603050405020304" pitchFamily="18" charset="0"/>
                          <a:cs typeface="Times New Roman" panose="02020603050405020304" pitchFamily="18" charset="0"/>
                        </a:rPr>
                        <a:t>OPA(waveguide)</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717544810"/>
                  </a:ext>
                </a:extLst>
              </a:tr>
              <a:tr h="370840">
                <a:tc>
                  <a:txBody>
                    <a:bodyPr/>
                    <a:lstStyle/>
                    <a:p>
                      <a:r>
                        <a:rPr lang="en-US" altLang="zh-TW" dirty="0">
                          <a:solidFill>
                            <a:srgbClr val="483832"/>
                          </a:solidFill>
                          <a:latin typeface="Times New Roman" panose="02020603050405020304" pitchFamily="18" charset="0"/>
                          <a:cs typeface="Times New Roman" panose="02020603050405020304" pitchFamily="18" charset="0"/>
                        </a:rPr>
                        <a:t>Squeezing level</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rgbClr val="48383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dirty="0">
                          <a:solidFill>
                            <a:srgbClr val="483832"/>
                          </a:solidFill>
                          <a:latin typeface="Times New Roman" panose="02020603050405020304" pitchFamily="18" charset="0"/>
                          <a:cs typeface="Times New Roman" panose="02020603050405020304" pitchFamily="18" charset="0"/>
                        </a:rPr>
                        <a:t>15dB[1]</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tcPr>
                </a:tc>
                <a:tc>
                  <a:txBody>
                    <a:bodyPr/>
                    <a:lstStyle/>
                    <a:p>
                      <a:pPr algn="ctr"/>
                      <a:r>
                        <a:rPr lang="en-US" altLang="zh-TW" dirty="0">
                          <a:solidFill>
                            <a:srgbClr val="483832"/>
                          </a:solidFill>
                          <a:latin typeface="Times New Roman" panose="02020603050405020304" pitchFamily="18" charset="0"/>
                          <a:cs typeface="Times New Roman" panose="02020603050405020304" pitchFamily="18" charset="0"/>
                        </a:rPr>
                        <a:t>6dB[2]</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extLst>
                  <a:ext uri="{0D108BD9-81ED-4DB2-BD59-A6C34878D82A}">
                    <a16:rowId xmlns:a16="http://schemas.microsoft.com/office/drawing/2014/main" val="3238892816"/>
                  </a:ext>
                </a:extLst>
              </a:tr>
              <a:tr h="370840">
                <a:tc>
                  <a:txBody>
                    <a:bodyPr/>
                    <a:lstStyle/>
                    <a:p>
                      <a:r>
                        <a:rPr lang="en-US" altLang="zh-TW" dirty="0">
                          <a:solidFill>
                            <a:srgbClr val="483832"/>
                          </a:solidFill>
                          <a:latin typeface="Times New Roman" panose="02020603050405020304" pitchFamily="18" charset="0"/>
                          <a:cs typeface="Times New Roman" panose="02020603050405020304" pitchFamily="18" charset="0"/>
                        </a:rPr>
                        <a:t>Bandwidth</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rgbClr val="48383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dirty="0">
                          <a:solidFill>
                            <a:srgbClr val="483832"/>
                          </a:solidFill>
                          <a:latin typeface="Times New Roman" panose="02020603050405020304" pitchFamily="18" charset="0"/>
                          <a:cs typeface="Times New Roman" panose="02020603050405020304" pitchFamily="18" charset="0"/>
                        </a:rPr>
                        <a:t>~GHz</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tcPr>
                </a:tc>
                <a:tc>
                  <a:txBody>
                    <a:bodyPr/>
                    <a:lstStyle/>
                    <a:p>
                      <a:pPr algn="ctr"/>
                      <a:r>
                        <a:rPr lang="en-US" altLang="zh-TW" dirty="0">
                          <a:solidFill>
                            <a:srgbClr val="483832"/>
                          </a:solidFill>
                          <a:latin typeface="Times New Roman" panose="02020603050405020304" pitchFamily="18" charset="0"/>
                          <a:cs typeface="Times New Roman" panose="02020603050405020304" pitchFamily="18" charset="0"/>
                        </a:rPr>
                        <a:t>~THz</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extLst>
                  <a:ext uri="{0D108BD9-81ED-4DB2-BD59-A6C34878D82A}">
                    <a16:rowId xmlns:a16="http://schemas.microsoft.com/office/drawing/2014/main" val="3268043462"/>
                  </a:ext>
                </a:extLst>
              </a:tr>
              <a:tr h="370840">
                <a:tc>
                  <a:txBody>
                    <a:bodyPr/>
                    <a:lstStyle/>
                    <a:p>
                      <a:r>
                        <a:rPr lang="en-US" altLang="zh-TW" dirty="0">
                          <a:solidFill>
                            <a:srgbClr val="483832"/>
                          </a:solidFill>
                          <a:latin typeface="Times New Roman" panose="02020603050405020304" pitchFamily="18" charset="0"/>
                          <a:cs typeface="Times New Roman" panose="02020603050405020304" pitchFamily="18" charset="0"/>
                        </a:rPr>
                        <a:t>volume</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rgbClr val="483832"/>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dirty="0">
                          <a:solidFill>
                            <a:srgbClr val="483832"/>
                          </a:solidFill>
                          <a:latin typeface="Times New Roman" panose="02020603050405020304" pitchFamily="18" charset="0"/>
                          <a:cs typeface="Times New Roman" panose="02020603050405020304" pitchFamily="18" charset="0"/>
                        </a:rPr>
                        <a:t>large</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dirty="0">
                          <a:solidFill>
                            <a:srgbClr val="483832"/>
                          </a:solidFill>
                          <a:latin typeface="Times New Roman" panose="02020603050405020304" pitchFamily="18" charset="0"/>
                          <a:cs typeface="Times New Roman" panose="02020603050405020304" pitchFamily="18" charset="0"/>
                        </a:rPr>
                        <a:t>small</a:t>
                      </a:r>
                      <a:endParaRPr lang="zh-TW" altLang="en-US" dirty="0">
                        <a:solidFill>
                          <a:srgbClr val="483832"/>
                        </a:solidFill>
                        <a:latin typeface="Times New Roman" panose="02020603050405020304" pitchFamily="18"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483832"/>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extLst>
                  <a:ext uri="{0D108BD9-81ED-4DB2-BD59-A6C34878D82A}">
                    <a16:rowId xmlns:a16="http://schemas.microsoft.com/office/drawing/2014/main" val="3737913359"/>
                  </a:ext>
                </a:extLst>
              </a:tr>
            </a:tbl>
          </a:graphicData>
        </a:graphic>
      </p:graphicFrame>
      <p:sp>
        <p:nvSpPr>
          <p:cNvPr id="4" name="文字版面配置區 3">
            <a:extLst>
              <a:ext uri="{FF2B5EF4-FFF2-40B4-BE49-F238E27FC236}">
                <a16:creationId xmlns:a16="http://schemas.microsoft.com/office/drawing/2014/main" id="{99EDC33B-E427-453C-A5F3-DA2499A43D7B}"/>
              </a:ext>
            </a:extLst>
          </p:cNvPr>
          <p:cNvSpPr>
            <a:spLocks noGrp="1"/>
          </p:cNvSpPr>
          <p:nvPr>
            <p:ph type="body" sz="half" idx="13"/>
          </p:nvPr>
        </p:nvSpPr>
        <p:spPr>
          <a:xfrm>
            <a:off x="4549943" y="16590"/>
            <a:ext cx="3092115" cy="660417"/>
          </a:xfrm>
        </p:spPr>
        <p:txBody>
          <a:bodyPr/>
          <a:lstStyle/>
          <a:p>
            <a:r>
              <a:rPr lang="en-US" altLang="zh-TW" dirty="0"/>
              <a:t>Motivation</a:t>
            </a:r>
            <a:endParaRPr lang="zh-TW" altLang="en-US" dirty="0"/>
          </a:p>
        </p:txBody>
      </p:sp>
      <p:sp>
        <p:nvSpPr>
          <p:cNvPr id="5" name="投影片編號版面配置區 4">
            <a:extLst>
              <a:ext uri="{FF2B5EF4-FFF2-40B4-BE49-F238E27FC236}">
                <a16:creationId xmlns:a16="http://schemas.microsoft.com/office/drawing/2014/main" id="{7E7C9634-B735-4239-9C63-70A37BD92099}"/>
              </a:ext>
            </a:extLst>
          </p:cNvPr>
          <p:cNvSpPr>
            <a:spLocks noGrp="1"/>
          </p:cNvSpPr>
          <p:nvPr>
            <p:ph type="sldNum" sz="quarter" idx="12"/>
          </p:nvPr>
        </p:nvSpPr>
        <p:spPr/>
        <p:txBody>
          <a:bodyPr/>
          <a:lstStyle/>
          <a:p>
            <a:fld id="{9820161B-3DFF-4FF5-AA0E-35496F014571}" type="slidenum">
              <a:rPr lang="zh-TW" altLang="en-US" smtClean="0"/>
              <a:t>4</a:t>
            </a:fld>
            <a:endParaRPr lang="zh-TW" altLang="en-US"/>
          </a:p>
        </p:txBody>
      </p:sp>
      <p:graphicFrame>
        <p:nvGraphicFramePr>
          <p:cNvPr id="6" name="表格 5">
            <a:extLst>
              <a:ext uri="{FF2B5EF4-FFF2-40B4-BE49-F238E27FC236}">
                <a16:creationId xmlns:a16="http://schemas.microsoft.com/office/drawing/2014/main" id="{23766385-EFEE-4F24-B536-CFDC1DB79ABB}"/>
              </a:ext>
            </a:extLst>
          </p:cNvPr>
          <p:cNvGraphicFramePr>
            <a:graphicFrameLocks noGrp="1"/>
          </p:cNvGraphicFramePr>
          <p:nvPr>
            <p:extLst>
              <p:ext uri="{D42A27DB-BD31-4B8C-83A1-F6EECF244321}">
                <p14:modId xmlns:p14="http://schemas.microsoft.com/office/powerpoint/2010/main" val="3613947621"/>
              </p:ext>
            </p:extLst>
          </p:nvPr>
        </p:nvGraphicFramePr>
        <p:xfrm>
          <a:off x="2032000" y="2996474"/>
          <a:ext cx="8127999" cy="1483360"/>
        </p:xfrm>
        <a:graphic>
          <a:graphicData uri="http://schemas.openxmlformats.org/drawingml/2006/table">
            <a:tbl>
              <a:tblPr firstRow="1" bandRow="1">
                <a:tableStyleId>{9D7B26C5-4107-4FEC-AEDC-1716B250A1EF}</a:tableStyleId>
              </a:tblPr>
              <a:tblGrid>
                <a:gridCol w="2011680">
                  <a:extLst>
                    <a:ext uri="{9D8B030D-6E8A-4147-A177-3AD203B41FA5}">
                      <a16:colId xmlns:a16="http://schemas.microsoft.com/office/drawing/2014/main" val="904307500"/>
                    </a:ext>
                  </a:extLst>
                </a:gridCol>
                <a:gridCol w="3406986">
                  <a:extLst>
                    <a:ext uri="{9D8B030D-6E8A-4147-A177-3AD203B41FA5}">
                      <a16:colId xmlns:a16="http://schemas.microsoft.com/office/drawing/2014/main" val="490535271"/>
                    </a:ext>
                  </a:extLst>
                </a:gridCol>
                <a:gridCol w="2709333">
                  <a:extLst>
                    <a:ext uri="{9D8B030D-6E8A-4147-A177-3AD203B41FA5}">
                      <a16:colId xmlns:a16="http://schemas.microsoft.com/office/drawing/2014/main" val="1339394056"/>
                    </a:ext>
                  </a:extLst>
                </a:gridCol>
              </a:tblGrid>
              <a:tr h="370840">
                <a:tc>
                  <a:txBody>
                    <a:bodyPr/>
                    <a:lstStyle/>
                    <a:p>
                      <a:r>
                        <a:rPr lang="en-US" altLang="zh-TW" dirty="0">
                          <a:solidFill>
                            <a:srgbClr val="483832"/>
                          </a:solidFill>
                          <a:latin typeface="Times New Roman" panose="02020603050405020304" pitchFamily="18" charset="0"/>
                        </a:rPr>
                        <a:t>Pumping source</a:t>
                      </a:r>
                      <a:endParaRPr lang="zh-TW" altLang="en-US" dirty="0">
                        <a:solidFill>
                          <a:srgbClr val="483832"/>
                        </a:solidFill>
                      </a:endParaRPr>
                    </a:p>
                  </a:txBody>
                  <a:tcPr>
                    <a:lnL w="12700" cap="flat" cmpd="sng" algn="ctr">
                      <a:solidFill>
                        <a:srgbClr val="48383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83832"/>
                      </a:solidFill>
                      <a:prstDash val="solid"/>
                      <a:round/>
                      <a:headEnd type="none" w="med" len="med"/>
                      <a:tailEnd type="none" w="med" len="med"/>
                    </a:lnT>
                    <a:solidFill>
                      <a:schemeClr val="accent1">
                        <a:lumMod val="40000"/>
                        <a:lumOff val="60000"/>
                      </a:schemeClr>
                    </a:solidFill>
                  </a:tcPr>
                </a:tc>
                <a:tc>
                  <a:txBody>
                    <a:bodyPr/>
                    <a:lstStyle/>
                    <a:p>
                      <a:pPr algn="ctr"/>
                      <a:r>
                        <a:rPr lang="en-US" altLang="zh-TW" dirty="0">
                          <a:solidFill>
                            <a:srgbClr val="483832"/>
                          </a:solidFill>
                          <a:latin typeface="Times New Roman" panose="02020603050405020304" pitchFamily="18" charset="0"/>
                        </a:rPr>
                        <a:t>Pulse</a:t>
                      </a:r>
                      <a:endParaRPr lang="zh-TW" altLang="en-US" dirty="0">
                        <a:solidFill>
                          <a:srgbClr val="483832"/>
                        </a:solidFill>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483832"/>
                      </a:solidFill>
                      <a:prstDash val="solid"/>
                      <a:round/>
                      <a:headEnd type="none" w="med" len="med"/>
                      <a:tailEnd type="none" w="med" len="med"/>
                    </a:lnT>
                    <a:solidFill>
                      <a:schemeClr val="accent1">
                        <a:lumMod val="40000"/>
                        <a:lumOff val="60000"/>
                      </a:schemeClr>
                    </a:solidFill>
                  </a:tcPr>
                </a:tc>
                <a:tc>
                  <a:txBody>
                    <a:bodyPr/>
                    <a:lstStyle/>
                    <a:p>
                      <a:pPr algn="ctr"/>
                      <a:r>
                        <a:rPr lang="en-US" altLang="zh-TW" dirty="0">
                          <a:solidFill>
                            <a:srgbClr val="483832"/>
                          </a:solidFill>
                          <a:latin typeface="Times New Roman" panose="02020603050405020304" pitchFamily="18" charset="0"/>
                        </a:rPr>
                        <a:t>CW</a:t>
                      </a:r>
                      <a:endParaRPr lang="zh-TW" altLang="en-US" dirty="0">
                        <a:solidFill>
                          <a:srgbClr val="483832"/>
                        </a:solidFill>
                      </a:endParaRPr>
                    </a:p>
                  </a:txBody>
                  <a:tcPr>
                    <a:lnL w="12700" cap="flat" cmpd="sng" algn="ctr">
                      <a:solidFill>
                        <a:srgbClr val="FFFFFF"/>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1156202763"/>
                  </a:ext>
                </a:extLst>
              </a:tr>
              <a:tr h="370840">
                <a:tc>
                  <a:txBody>
                    <a:bodyPr/>
                    <a:lstStyle/>
                    <a:p>
                      <a:r>
                        <a:rPr lang="en-US" altLang="zh-TW" dirty="0">
                          <a:solidFill>
                            <a:srgbClr val="483832"/>
                          </a:solidFill>
                          <a:latin typeface="Times New Roman" panose="02020603050405020304" pitchFamily="18" charset="0"/>
                        </a:rPr>
                        <a:t>Squeezing level</a:t>
                      </a:r>
                      <a:endParaRPr lang="zh-TW" altLang="en-US" dirty="0">
                        <a:solidFill>
                          <a:srgbClr val="483832"/>
                        </a:solidFill>
                      </a:endParaRPr>
                    </a:p>
                  </a:txBody>
                  <a:tcPr>
                    <a:lnL w="12700" cap="flat" cmpd="sng" algn="ctr">
                      <a:solidFill>
                        <a:srgbClr val="48383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dirty="0">
                          <a:solidFill>
                            <a:srgbClr val="483832"/>
                          </a:solidFill>
                          <a:latin typeface="Times New Roman" panose="02020603050405020304" pitchFamily="18" charset="0"/>
                        </a:rPr>
                        <a:t>large</a:t>
                      </a:r>
                      <a:endParaRPr lang="zh-TW" altLang="en-US" dirty="0">
                        <a:solidFill>
                          <a:srgbClr val="483832"/>
                        </a:solidFill>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tcPr>
                </a:tc>
                <a:tc>
                  <a:txBody>
                    <a:bodyPr/>
                    <a:lstStyle/>
                    <a:p>
                      <a:pPr algn="ctr"/>
                      <a:r>
                        <a:rPr lang="en-US" altLang="zh-TW" dirty="0">
                          <a:solidFill>
                            <a:srgbClr val="483832"/>
                          </a:solidFill>
                          <a:latin typeface="Times New Roman" panose="02020603050405020304" pitchFamily="18" charset="0"/>
                        </a:rPr>
                        <a:t>small</a:t>
                      </a:r>
                      <a:endParaRPr lang="zh-TW" altLang="en-US" dirty="0">
                        <a:solidFill>
                          <a:srgbClr val="483832"/>
                        </a:solidFill>
                      </a:endParaRPr>
                    </a:p>
                  </a:txBody>
                  <a:tcPr>
                    <a:lnL w="12700" cap="flat" cmpd="sng" algn="ctr">
                      <a:solidFill>
                        <a:srgbClr val="FFFFFF"/>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extLst>
                  <a:ext uri="{0D108BD9-81ED-4DB2-BD59-A6C34878D82A}">
                    <a16:rowId xmlns:a16="http://schemas.microsoft.com/office/drawing/2014/main" val="2986370199"/>
                  </a:ext>
                </a:extLst>
              </a:tr>
              <a:tr h="370840">
                <a:tc>
                  <a:txBody>
                    <a:bodyPr/>
                    <a:lstStyle/>
                    <a:p>
                      <a:r>
                        <a:rPr lang="en-US" altLang="zh-TW" dirty="0">
                          <a:solidFill>
                            <a:srgbClr val="483832"/>
                          </a:solidFill>
                          <a:latin typeface="Times New Roman" panose="02020603050405020304" pitchFamily="18" charset="0"/>
                        </a:rPr>
                        <a:t>Damage</a:t>
                      </a:r>
                      <a:r>
                        <a:rPr lang="zh-TW" altLang="en-US" dirty="0">
                          <a:solidFill>
                            <a:srgbClr val="483832"/>
                          </a:solidFill>
                        </a:rPr>
                        <a:t> </a:t>
                      </a:r>
                      <a:r>
                        <a:rPr lang="en-US" altLang="zh-TW" dirty="0">
                          <a:solidFill>
                            <a:srgbClr val="483832"/>
                          </a:solidFill>
                        </a:rPr>
                        <a:t>effect</a:t>
                      </a:r>
                      <a:endParaRPr lang="zh-TW" altLang="en-US" dirty="0">
                        <a:solidFill>
                          <a:srgbClr val="483832"/>
                        </a:solidFill>
                      </a:endParaRPr>
                    </a:p>
                  </a:txBody>
                  <a:tcPr>
                    <a:lnL w="12700" cap="flat" cmpd="sng" algn="ctr">
                      <a:solidFill>
                        <a:srgbClr val="48383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dirty="0">
                          <a:solidFill>
                            <a:srgbClr val="483832"/>
                          </a:solidFill>
                          <a:latin typeface="Times New Roman" panose="02020603050405020304" pitchFamily="18" charset="0"/>
                        </a:rPr>
                        <a:t>Gain-induced diffraction</a:t>
                      </a:r>
                      <a:r>
                        <a:rPr lang="zh-TW" altLang="en-US" dirty="0">
                          <a:solidFill>
                            <a:srgbClr val="483832"/>
                          </a:solidFill>
                        </a:rPr>
                        <a:t> </a:t>
                      </a: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tcPr>
                </a:tc>
                <a:tc>
                  <a:txBody>
                    <a:bodyPr/>
                    <a:lstStyle/>
                    <a:p>
                      <a:pPr algn="ctr"/>
                      <a:r>
                        <a:rPr lang="en-US" altLang="zh-TW" dirty="0">
                          <a:solidFill>
                            <a:srgbClr val="483832"/>
                          </a:solidFill>
                          <a:latin typeface="Times New Roman" panose="02020603050405020304" pitchFamily="18" charset="0"/>
                        </a:rPr>
                        <a:t>Photorefractive</a:t>
                      </a:r>
                      <a:endParaRPr lang="zh-TW" altLang="en-US" dirty="0">
                        <a:solidFill>
                          <a:srgbClr val="483832"/>
                        </a:solidFill>
                      </a:endParaRPr>
                    </a:p>
                  </a:txBody>
                  <a:tcPr>
                    <a:lnL w="12700" cap="flat" cmpd="sng" algn="ctr">
                      <a:solidFill>
                        <a:srgbClr val="FFFFFF"/>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extLst>
                  <a:ext uri="{0D108BD9-81ED-4DB2-BD59-A6C34878D82A}">
                    <a16:rowId xmlns:a16="http://schemas.microsoft.com/office/drawing/2014/main" val="3739553384"/>
                  </a:ext>
                </a:extLst>
              </a:tr>
              <a:tr h="370840">
                <a:tc>
                  <a:txBody>
                    <a:bodyPr/>
                    <a:lstStyle/>
                    <a:p>
                      <a:r>
                        <a:rPr lang="en-US" altLang="zh-TW" dirty="0">
                          <a:solidFill>
                            <a:srgbClr val="483832"/>
                          </a:solidFill>
                          <a:latin typeface="Times New Roman" panose="02020603050405020304" pitchFamily="18" charset="0"/>
                        </a:rPr>
                        <a:t>Mode match</a:t>
                      </a:r>
                      <a:endParaRPr lang="zh-TW" altLang="en-US" dirty="0">
                        <a:solidFill>
                          <a:srgbClr val="483832"/>
                        </a:solidFill>
                      </a:endParaRPr>
                    </a:p>
                  </a:txBody>
                  <a:tcPr>
                    <a:lnL w="12700" cap="flat" cmpd="sng" algn="ctr">
                      <a:solidFill>
                        <a:srgbClr val="483832"/>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dirty="0">
                          <a:solidFill>
                            <a:srgbClr val="483832"/>
                          </a:solidFill>
                          <a:latin typeface="Times New Roman" panose="02020603050405020304" pitchFamily="18" charset="0"/>
                        </a:rPr>
                        <a:t>Temporal mode mismatching</a:t>
                      </a:r>
                      <a:endParaRPr lang="zh-TW" altLang="en-US" dirty="0">
                        <a:solidFill>
                          <a:srgbClr val="483832"/>
                        </a:solidFill>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dirty="0">
                          <a:solidFill>
                            <a:srgbClr val="483832"/>
                          </a:solidFill>
                          <a:latin typeface="Times New Roman" panose="02020603050405020304" pitchFamily="18" charset="0"/>
                        </a:rPr>
                        <a:t>x</a:t>
                      </a:r>
                      <a:endParaRPr lang="zh-TW" altLang="en-US" dirty="0">
                        <a:solidFill>
                          <a:srgbClr val="483832"/>
                        </a:solidFill>
                      </a:endParaRPr>
                    </a:p>
                  </a:txBody>
                  <a:tcPr>
                    <a:lnL w="12700" cap="flat" cmpd="sng" algn="ctr">
                      <a:solidFill>
                        <a:srgbClr val="FFFFFF"/>
                      </a:solidFill>
                      <a:prstDash val="solid"/>
                      <a:round/>
                      <a:headEnd type="none" w="med" len="med"/>
                      <a:tailEnd type="none" w="med" len="med"/>
                    </a:lnL>
                    <a:lnR w="12700" cap="flat" cmpd="sng" algn="ctr">
                      <a:solidFill>
                        <a:srgbClr val="483832"/>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extLst>
                  <a:ext uri="{0D108BD9-81ED-4DB2-BD59-A6C34878D82A}">
                    <a16:rowId xmlns:a16="http://schemas.microsoft.com/office/drawing/2014/main" val="43986579"/>
                  </a:ext>
                </a:extLst>
              </a:tr>
            </a:tbl>
          </a:graphicData>
        </a:graphic>
      </p:graphicFrame>
      <p:sp>
        <p:nvSpPr>
          <p:cNvPr id="9" name="矩形 8">
            <a:extLst>
              <a:ext uri="{FF2B5EF4-FFF2-40B4-BE49-F238E27FC236}">
                <a16:creationId xmlns:a16="http://schemas.microsoft.com/office/drawing/2014/main" id="{EAA0427D-22BA-464A-97EB-9B11404EDF41}"/>
              </a:ext>
            </a:extLst>
          </p:cNvPr>
          <p:cNvSpPr/>
          <p:nvPr/>
        </p:nvSpPr>
        <p:spPr>
          <a:xfrm>
            <a:off x="762000" y="6457890"/>
            <a:ext cx="3549460" cy="400110"/>
          </a:xfrm>
          <a:prstGeom prst="rect">
            <a:avLst/>
          </a:prstGeom>
        </p:spPr>
        <p:txBody>
          <a:bodyPr wrap="square">
            <a:spAutoFit/>
          </a:bodyPr>
          <a:lstStyle/>
          <a:p>
            <a:r>
              <a:rPr lang="en-US" altLang="zh-TW" sz="1000" dirty="0">
                <a:latin typeface="Times New Roman" panose="02020603050405020304" pitchFamily="18" charset="0"/>
                <a:cs typeface="Times New Roman" panose="02020603050405020304" pitchFamily="18" charset="0"/>
              </a:rPr>
              <a:t>[1]Henning </a:t>
            </a:r>
            <a:r>
              <a:rPr lang="en-US" altLang="zh-TW" sz="1000" dirty="0" err="1">
                <a:latin typeface="Times New Roman" panose="02020603050405020304" pitchFamily="18" charset="0"/>
                <a:cs typeface="Times New Roman" panose="02020603050405020304" pitchFamily="18" charset="0"/>
              </a:rPr>
              <a:t>Vahlbruch</a:t>
            </a:r>
            <a:r>
              <a:rPr lang="en-US" altLang="zh-TW" sz="1000" dirty="0">
                <a:latin typeface="Times New Roman" panose="02020603050405020304" pitchFamily="18" charset="0"/>
                <a:cs typeface="Times New Roman" panose="02020603050405020304" pitchFamily="18" charset="0"/>
              </a:rPr>
              <a:t> et al, Phys. Rev. Lett. 117(2016)</a:t>
            </a:r>
          </a:p>
          <a:p>
            <a:r>
              <a:rPr lang="en-US" altLang="zh-TW" sz="1000" dirty="0">
                <a:latin typeface="Times New Roman" panose="02020603050405020304" pitchFamily="18" charset="0"/>
                <a:cs typeface="Times New Roman" panose="02020603050405020304" pitchFamily="18" charset="0"/>
              </a:rPr>
              <a:t>[2]Takahiro </a:t>
            </a:r>
            <a:r>
              <a:rPr lang="en-US" altLang="zh-TW" sz="1000" dirty="0" err="1">
                <a:latin typeface="Times New Roman" panose="02020603050405020304" pitchFamily="18" charset="0"/>
                <a:cs typeface="Times New Roman" panose="02020603050405020304" pitchFamily="18" charset="0"/>
              </a:rPr>
              <a:t>Kashiwazaki</a:t>
            </a:r>
            <a:r>
              <a:rPr lang="en-US" altLang="zh-TW" sz="1000" dirty="0">
                <a:latin typeface="Times New Roman" panose="02020603050405020304" pitchFamily="18" charset="0"/>
                <a:cs typeface="Times New Roman" panose="02020603050405020304" pitchFamily="18" charset="0"/>
              </a:rPr>
              <a:t> et al, APL Photonics 5, 036104 (2020)</a:t>
            </a:r>
            <a:endParaRPr lang="zh-TW" alt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949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33C9CF60-1C8A-49A6-B29F-E1CAEE1E8CA0}"/>
              </a:ext>
            </a:extLst>
          </p:cNvPr>
          <p:cNvSpPr>
            <a:spLocks noGrp="1"/>
          </p:cNvSpPr>
          <p:nvPr>
            <p:ph type="body" sz="half" idx="13"/>
          </p:nvPr>
        </p:nvSpPr>
        <p:spPr/>
        <p:txBody>
          <a:bodyPr/>
          <a:lstStyle/>
          <a:p>
            <a:r>
              <a:rPr lang="en-US" altLang="zh-TW" dirty="0"/>
              <a:t>Chip design</a:t>
            </a:r>
            <a:endParaRPr lang="zh-TW" altLang="en-US" dirty="0"/>
          </a:p>
        </p:txBody>
      </p:sp>
      <p:pic>
        <p:nvPicPr>
          <p:cNvPr id="3" name="圖片 2">
            <a:extLst>
              <a:ext uri="{FF2B5EF4-FFF2-40B4-BE49-F238E27FC236}">
                <a16:creationId xmlns:a16="http://schemas.microsoft.com/office/drawing/2014/main" id="{E1507A65-0737-4CBC-80D0-384C4C9D013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9861" y="1342922"/>
            <a:ext cx="10869540" cy="4565699"/>
          </a:xfrm>
          <a:prstGeom prst="rect">
            <a:avLst/>
          </a:prstGeom>
          <a:noFill/>
          <a:ln>
            <a:noFill/>
          </a:ln>
        </p:spPr>
      </p:pic>
      <p:sp>
        <p:nvSpPr>
          <p:cNvPr id="4" name="投影片編號版面配置區 3">
            <a:extLst>
              <a:ext uri="{FF2B5EF4-FFF2-40B4-BE49-F238E27FC236}">
                <a16:creationId xmlns:a16="http://schemas.microsoft.com/office/drawing/2014/main" id="{E364B5FF-D99D-4431-867D-5E6E7C0120C0}"/>
              </a:ext>
            </a:extLst>
          </p:cNvPr>
          <p:cNvSpPr>
            <a:spLocks noGrp="1"/>
          </p:cNvSpPr>
          <p:nvPr>
            <p:ph type="sldNum" sz="quarter" idx="12"/>
          </p:nvPr>
        </p:nvSpPr>
        <p:spPr/>
        <p:txBody>
          <a:bodyPr/>
          <a:lstStyle/>
          <a:p>
            <a:fld id="{9820161B-3DFF-4FF5-AA0E-35496F014571}" type="slidenum">
              <a:rPr lang="zh-TW" altLang="en-US" smtClean="0"/>
              <a:t>5</a:t>
            </a:fld>
            <a:endParaRPr lang="zh-TW" altLang="en-US"/>
          </a:p>
        </p:txBody>
      </p:sp>
    </p:spTree>
    <p:extLst>
      <p:ext uri="{BB962C8B-B14F-4D97-AF65-F5344CB8AC3E}">
        <p14:creationId xmlns:p14="http://schemas.microsoft.com/office/powerpoint/2010/main" val="4080894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5AA60C63-0751-4949-8E2B-2BE68848B0E3}"/>
              </a:ext>
            </a:extLst>
          </p:cNvPr>
          <p:cNvSpPr/>
          <p:nvPr/>
        </p:nvSpPr>
        <p:spPr>
          <a:xfrm>
            <a:off x="691200" y="712800"/>
            <a:ext cx="6456137" cy="6247864"/>
          </a:xfrm>
          <a:prstGeom prst="rect">
            <a:avLst/>
          </a:prstGeom>
        </p:spPr>
        <p:txBody>
          <a:bodyPr wrap="square">
            <a:spAutoFit/>
          </a:bodyPr>
          <a:lstStyle/>
          <a:p>
            <a:pPr marL="514350" indent="-514350">
              <a:lnSpc>
                <a:spcPts val="2400"/>
              </a:lnSpc>
              <a:buAutoNum type="romanUcPeriod"/>
            </a:pPr>
            <a:r>
              <a:rPr lang="en-US" altLang="zh-TW" sz="2000" b="1" dirty="0">
                <a:solidFill>
                  <a:srgbClr val="483832"/>
                </a:solidFill>
                <a:latin typeface="Times New Roman" panose="02020603050405020304" pitchFamily="18" charset="0"/>
              </a:rPr>
              <a:t>Introduction</a:t>
            </a:r>
          </a:p>
          <a:p>
            <a:pPr marL="514350" indent="-514350">
              <a:lnSpc>
                <a:spcPts val="2400"/>
              </a:lnSpc>
              <a:buFontTx/>
              <a:buAutoNum type="romanUcPeriod"/>
            </a:pPr>
            <a:r>
              <a:rPr lang="en-US" altLang="zh-TW" sz="2400" b="1" dirty="0">
                <a:solidFill>
                  <a:srgbClr val="FF0000"/>
                </a:solidFill>
                <a:latin typeface="Times New Roman" panose="02020603050405020304" pitchFamily="18" charset="0"/>
              </a:rPr>
              <a:t>Theory</a:t>
            </a:r>
          </a:p>
          <a:p>
            <a:pPr marL="742950" lvl="1" indent="-285750">
              <a:lnSpc>
                <a:spcPts val="2400"/>
              </a:lnSpc>
              <a:buFont typeface="Arial" panose="020B0604020202020204" pitchFamily="34" charset="0"/>
              <a:buChar char="•"/>
            </a:pPr>
            <a:r>
              <a:rPr lang="en-US" altLang="zh-TW" sz="1600" dirty="0">
                <a:solidFill>
                  <a:srgbClr val="FF0000"/>
                </a:solidFill>
                <a:latin typeface="Times New Roman" panose="02020603050405020304" pitchFamily="18" charset="0"/>
              </a:rPr>
              <a:t>Quantum state</a:t>
            </a:r>
          </a:p>
          <a:p>
            <a:pPr marL="742950" lvl="1" indent="-285750">
              <a:lnSpc>
                <a:spcPts val="2400"/>
              </a:lnSpc>
              <a:buFont typeface="Arial" panose="020B0604020202020204" pitchFamily="34" charset="0"/>
              <a:buChar char="•"/>
            </a:pPr>
            <a:r>
              <a:rPr lang="en-US" altLang="zh-TW" sz="1600" dirty="0">
                <a:solidFill>
                  <a:srgbClr val="FF0000"/>
                </a:solidFill>
                <a:latin typeface="Times New Roman" panose="02020603050405020304" pitchFamily="18" charset="0"/>
              </a:rPr>
              <a:t>Balance homodyne detection(BHD)</a:t>
            </a:r>
          </a:p>
          <a:p>
            <a:pPr marL="742950" lvl="1" indent="-285750">
              <a:lnSpc>
                <a:spcPts val="2400"/>
              </a:lnSpc>
              <a:buFont typeface="Arial" panose="020B0604020202020204" pitchFamily="34" charset="0"/>
              <a:buChar char="•"/>
            </a:pPr>
            <a:r>
              <a:rPr lang="en-US" altLang="zh-TW" sz="1600" dirty="0">
                <a:solidFill>
                  <a:srgbClr val="FF0000"/>
                </a:solidFill>
                <a:latin typeface="Times New Roman" panose="02020603050405020304" pitchFamily="18" charset="0"/>
              </a:rPr>
              <a:t>Sum frequency generation(SFG)</a:t>
            </a:r>
            <a:r>
              <a:rPr lang="en-US" altLang="zh-TW" sz="1600"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/Optical parametric amplifier(OPA)</a:t>
            </a:r>
            <a:endParaRPr lang="en-US" altLang="zh-TW" sz="1600" dirty="0">
              <a:solidFill>
                <a:srgbClr val="FF0000"/>
              </a:solidFill>
              <a:latin typeface="Times New Roman" panose="02020603050405020304" pitchFamily="18" charset="0"/>
            </a:endParaRPr>
          </a:p>
          <a:p>
            <a:pPr marL="742950" lvl="1" indent="-285750">
              <a:lnSpc>
                <a:spcPts val="2400"/>
              </a:lnSpc>
              <a:buFont typeface="Arial" panose="020B0604020202020204" pitchFamily="34" charset="0"/>
              <a:buChar char="•"/>
            </a:pPr>
            <a:r>
              <a:rPr lang="en-US" altLang="zh-TW" sz="1600" dirty="0">
                <a:solidFill>
                  <a:srgbClr val="FF0000"/>
                </a:solidFill>
                <a:latin typeface="Times New Roman" panose="02020603050405020304" pitchFamily="18" charset="0"/>
              </a:rPr>
              <a:t>Quasi-phase matching(QPM)</a:t>
            </a:r>
          </a:p>
          <a:p>
            <a:pPr marL="742950" lvl="1" indent="-285750">
              <a:lnSpc>
                <a:spcPts val="2400"/>
              </a:lnSpc>
              <a:buFont typeface="Arial" panose="020B0604020202020204" pitchFamily="34" charset="0"/>
              <a:buChar char="•"/>
            </a:pPr>
            <a:r>
              <a:rPr lang="en-US" altLang="zh-TW" sz="1600" dirty="0">
                <a:solidFill>
                  <a:srgbClr val="FF0000"/>
                </a:solidFill>
                <a:latin typeface="Times New Roman" panose="02020603050405020304" pitchFamily="18" charset="0"/>
              </a:rPr>
              <a:t>Stimulated Raman adiabatic passage(STIRAP)</a:t>
            </a:r>
            <a:endParaRPr lang="en-US" altLang="zh-TW" sz="1600" b="1" dirty="0">
              <a:solidFill>
                <a:srgbClr val="FF0000"/>
              </a:solidFill>
              <a:latin typeface="Times New Roman" panose="02020603050405020304" pitchFamily="18" charset="0"/>
            </a:endParaRPr>
          </a:p>
          <a:p>
            <a:pPr marL="514350" indent="-514350">
              <a:lnSpc>
                <a:spcPts val="2400"/>
              </a:lnSpc>
              <a:buFontTx/>
              <a:buAutoNum type="romanUcPeriod"/>
            </a:pPr>
            <a:r>
              <a:rPr lang="en-US" altLang="zh-TW" sz="2000" b="1" dirty="0">
                <a:solidFill>
                  <a:srgbClr val="483832"/>
                </a:solidFill>
                <a:latin typeface="Times New Roman" panose="02020603050405020304" pitchFamily="18" charset="0"/>
              </a:rPr>
              <a:t>Simulation</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Adiabatic beam splitter design</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High-pass filter simulation</a:t>
            </a:r>
            <a:endParaRPr lang="en-US" altLang="zh-TW" sz="15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a:p>
            <a:pPr marL="514350" indent="-514350">
              <a:lnSpc>
                <a:spcPts val="24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Fabrication process</a:t>
            </a:r>
          </a:p>
          <a:p>
            <a:pPr marL="742950" lvl="1" indent="-285750">
              <a:lnSpc>
                <a:spcPts val="2400"/>
              </a:lnSpc>
              <a:buFont typeface="Arial" panose="020B0604020202020204" pitchFamily="34" charset="0"/>
              <a:buChar char="•"/>
            </a:pPr>
            <a:r>
              <a:rPr lang="en-US" altLang="zh-TW" sz="1500" kern="100" dirty="0" err="1">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Ti-indiffused</a:t>
            </a: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waveguide</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Electric field poling</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End face polish</a:t>
            </a:r>
            <a:endParaRPr lang="en-US" altLang="zh-TW" sz="15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a:p>
            <a:pPr marL="514350" indent="-514350">
              <a:lnSpc>
                <a:spcPts val="2400"/>
              </a:lnSpc>
              <a:buFontTx/>
              <a:buAutoNum type="romanUcPeriod"/>
            </a:pPr>
            <a:r>
              <a:rPr lang="en-US" altLang="zh-TW" sz="2000" b="1" dirty="0">
                <a:solidFill>
                  <a:srgbClr val="483832"/>
                </a:solidFill>
                <a:latin typeface="Times New Roman" panose="02020603050405020304" pitchFamily="18" charset="0"/>
              </a:rPr>
              <a:t>Experimental Results and Analysis</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Propagation loss</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ER spectrum</a:t>
            </a:r>
          </a:p>
          <a:p>
            <a:pPr marL="742950" lvl="1" indent="-285750">
              <a:lnSpc>
                <a:spcPts val="2400"/>
              </a:lnSpc>
              <a:buFont typeface="Arial" panose="020B0604020202020204" pitchFamily="34" charset="0"/>
              <a:buChar char="•"/>
            </a:pPr>
            <a:r>
              <a:rPr lang="en-US" altLang="zh-TW" sz="1500" dirty="0">
                <a:solidFill>
                  <a:srgbClr val="483832"/>
                </a:solidFill>
                <a:latin typeface="Times New Roman" panose="02020603050405020304" pitchFamily="18" charset="0"/>
              </a:rPr>
              <a:t>SHG characteristic</a:t>
            </a:r>
          </a:p>
          <a:p>
            <a:pPr marL="742950" lvl="1" indent="-285750">
              <a:lnSpc>
                <a:spcPts val="24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Squeezing light optical setup</a:t>
            </a:r>
            <a:endParaRPr lang="en-US" altLang="zh-TW" sz="1500" b="1" dirty="0">
              <a:solidFill>
                <a:srgbClr val="483832"/>
              </a:solidFill>
              <a:latin typeface="Times New Roman" panose="02020603050405020304" pitchFamily="18" charset="0"/>
            </a:endParaRPr>
          </a:p>
          <a:p>
            <a:pPr marL="514350" indent="-514350">
              <a:lnSpc>
                <a:spcPts val="24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Conclusion and future work</a:t>
            </a:r>
            <a:endParaRPr lang="en-US" altLang="zh-TW" sz="2000" b="1" dirty="0">
              <a:solidFill>
                <a:srgbClr val="483832"/>
              </a:solidFill>
              <a:latin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8B7D6CB7-BE41-4407-8484-5095438BF9F1}"/>
              </a:ext>
            </a:extLst>
          </p:cNvPr>
          <p:cNvSpPr>
            <a:spLocks noGrp="1"/>
          </p:cNvSpPr>
          <p:nvPr>
            <p:ph type="sldNum" sz="quarter" idx="12"/>
          </p:nvPr>
        </p:nvSpPr>
        <p:spPr/>
        <p:txBody>
          <a:bodyPr/>
          <a:lstStyle/>
          <a:p>
            <a:fld id="{9820161B-3DFF-4FF5-AA0E-35496F014571}" type="slidenum">
              <a:rPr lang="zh-TW" altLang="en-US" smtClean="0"/>
              <a:t>6</a:t>
            </a:fld>
            <a:endParaRPr lang="zh-TW" altLang="en-US"/>
          </a:p>
        </p:txBody>
      </p:sp>
    </p:spTree>
    <p:extLst>
      <p:ext uri="{BB962C8B-B14F-4D97-AF65-F5344CB8AC3E}">
        <p14:creationId xmlns:p14="http://schemas.microsoft.com/office/powerpoint/2010/main" val="195436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5A3E210-F68D-45F2-BF56-E1C724213CDC}"/>
              </a:ext>
            </a:extLst>
          </p:cNvPr>
          <p:cNvSpPr>
            <a:spLocks noGrp="1"/>
          </p:cNvSpPr>
          <p:nvPr>
            <p:ph type="body" sz="half" idx="13"/>
          </p:nvPr>
        </p:nvSpPr>
        <p:spPr/>
        <p:txBody>
          <a:bodyPr/>
          <a:lstStyle/>
          <a:p>
            <a:r>
              <a:rPr lang="en-US" altLang="zh-TW" dirty="0"/>
              <a:t>Quantum state</a:t>
            </a:r>
          </a:p>
        </p:txBody>
      </p:sp>
      <mc:AlternateContent xmlns:mc="http://schemas.openxmlformats.org/markup-compatibility/2006" xmlns:a14="http://schemas.microsoft.com/office/drawing/2010/main">
        <mc:Choice Requires="a14">
          <p:sp>
            <p:nvSpPr>
              <p:cNvPr id="5" name="矩形: 圓角 4">
                <a:extLst>
                  <a:ext uri="{FF2B5EF4-FFF2-40B4-BE49-F238E27FC236}">
                    <a16:creationId xmlns:a16="http://schemas.microsoft.com/office/drawing/2014/main" id="{69920736-5F99-4918-B368-3E1B74F352B4}"/>
                  </a:ext>
                </a:extLst>
              </p:cNvPr>
              <p:cNvSpPr/>
              <p:nvPr/>
            </p:nvSpPr>
            <p:spPr>
              <a:xfrm>
                <a:off x="4999262" y="1201195"/>
                <a:ext cx="6512513" cy="1804749"/>
              </a:xfrm>
              <a:prstGeom prst="roundRect">
                <a:avLst>
                  <a:gd name="adj" fmla="val 11724"/>
                </a:avLst>
              </a:prstGeom>
              <a:ln w="19050">
                <a:solidFill>
                  <a:schemeClr val="accent1">
                    <a:lumMod val="75000"/>
                  </a:schemeClr>
                </a:solidFill>
                <a:prstDash val="lgDash"/>
              </a:ln>
            </p:spPr>
            <p:txBody>
              <a:bodyPr wrap="square">
                <a:spAutoFit/>
              </a:bodyPr>
              <a:lstStyle/>
              <a:p>
                <a:pPr>
                  <a:lnSpc>
                    <a:spcPts val="2400"/>
                  </a:lnSpc>
                </a:pPr>
                <a14:m>
                  <m:oMath xmlns:m="http://schemas.openxmlformats.org/officeDocument/2006/math">
                    <m:sSub>
                      <m:sSubPr>
                        <m:ctrlPr>
                          <a:rPr lang="zh-TW" altLang="en-US" sz="2000" i="1" smtClean="0">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𝐸</m:t>
                            </m:r>
                          </m:e>
                        </m:acc>
                      </m:e>
                      <m:sub>
                        <m:r>
                          <a:rPr lang="zh-TW" altLang="en-US" sz="2000" i="1">
                            <a:solidFill>
                              <a:srgbClr val="483832"/>
                            </a:solidFill>
                            <a:latin typeface="Cambria Math" panose="02040503050406030204" pitchFamily="18" charset="0"/>
                          </a:rPr>
                          <m:t>𝑘</m:t>
                        </m:r>
                      </m:sub>
                    </m:sSub>
                    <m:d>
                      <m:dPr>
                        <m:ctrlPr>
                          <a:rPr lang="zh-TW" altLang="en-US" sz="2000" i="1">
                            <a:solidFill>
                              <a:srgbClr val="483832"/>
                            </a:solidFill>
                            <a:latin typeface="Cambria Math" panose="02040503050406030204" pitchFamily="18" charset="0"/>
                          </a:rPr>
                        </m:ctrlPr>
                      </m:d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𝑟</m:t>
                            </m:r>
                          </m:e>
                        </m:acc>
                        <m:r>
                          <a:rPr lang="zh-TW" altLang="en-US" sz="2000">
                            <a:solidFill>
                              <a:srgbClr val="483832"/>
                            </a:solidFill>
                            <a:latin typeface="Cambria Math" panose="02040503050406030204" pitchFamily="18" charset="0"/>
                          </a:rPr>
                          <m:t>,</m:t>
                        </m:r>
                        <m:r>
                          <a:rPr lang="zh-TW" altLang="en-US" sz="2000" i="1">
                            <a:solidFill>
                              <a:srgbClr val="483832"/>
                            </a:solidFill>
                            <a:latin typeface="Cambria Math" panose="02040503050406030204" pitchFamily="18" charset="0"/>
                          </a:rPr>
                          <m:t>𝑡</m:t>
                        </m:r>
                      </m:e>
                    </m:d>
                    <m:r>
                      <a:rPr lang="zh-TW" altLang="en-US" sz="2000">
                        <a:solidFill>
                          <a:srgbClr val="483832"/>
                        </a:solidFill>
                        <a:latin typeface="Cambria Math" panose="02040503050406030204" pitchFamily="18" charset="0"/>
                      </a:rPr>
                      <m:t>=2</m:t>
                    </m:r>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𝐸</m:t>
                        </m:r>
                      </m:e>
                      <m:sub>
                        <m:r>
                          <a:rPr lang="zh-TW" altLang="en-US" sz="2000">
                            <a:solidFill>
                              <a:srgbClr val="483832"/>
                            </a:solidFill>
                            <a:latin typeface="Cambria Math" panose="02040503050406030204" pitchFamily="18" charset="0"/>
                          </a:rPr>
                          <m:t>0</m:t>
                        </m:r>
                      </m:sub>
                    </m:sSub>
                    <m:d>
                      <m:dPr>
                        <m:begChr m:val="["/>
                        <m:endChr m:val="]"/>
                        <m:ctrlPr>
                          <a:rPr lang="zh-TW" altLang="en-US" sz="2000" i="1">
                            <a:solidFill>
                              <a:srgbClr val="483832"/>
                            </a:solidFill>
                            <a:latin typeface="Cambria Math" panose="02040503050406030204" pitchFamily="18" charset="0"/>
                          </a:rPr>
                        </m:ctrlPr>
                      </m:dPr>
                      <m:e>
                        <m:sSub>
                          <m:sSubPr>
                            <m:ctrlPr>
                              <a:rPr lang="en-US" altLang="zh-TW"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en-US" altLang="zh-TW" sz="2000" i="1">
                                <a:solidFill>
                                  <a:srgbClr val="483832"/>
                                </a:solidFill>
                                <a:latin typeface="Cambria Math" panose="02040503050406030204" pitchFamily="18" charset="0"/>
                              </a:rPr>
                              <m:t>1</m:t>
                            </m:r>
                          </m:sub>
                        </m:sSub>
                        <m:func>
                          <m:funcPr>
                            <m:ctrlPr>
                              <a:rPr lang="zh-TW" altLang="en-US" sz="2000" i="1">
                                <a:solidFill>
                                  <a:srgbClr val="483832"/>
                                </a:solidFill>
                                <a:latin typeface="Cambria Math" panose="02040503050406030204" pitchFamily="18" charset="0"/>
                              </a:rPr>
                            </m:ctrlPr>
                          </m:funcPr>
                          <m:fName>
                            <m:r>
                              <m:rPr>
                                <m:sty m:val="p"/>
                              </m:rPr>
                              <a:rPr lang="zh-TW" altLang="en-US" sz="2000">
                                <a:solidFill>
                                  <a:srgbClr val="483832"/>
                                </a:solidFill>
                                <a:latin typeface="Cambria Math" panose="02040503050406030204" pitchFamily="18" charset="0"/>
                              </a:rPr>
                              <m:t>cos</m:t>
                            </m:r>
                          </m:fName>
                          <m:e>
                            <m:d>
                              <m:dPr>
                                <m:ctrlPr>
                                  <a:rPr lang="zh-TW" altLang="en-US" sz="2000" i="1">
                                    <a:solidFill>
                                      <a:srgbClr val="483832"/>
                                    </a:solidFill>
                                    <a:latin typeface="Cambria Math" panose="02040503050406030204" pitchFamily="18" charset="0"/>
                                  </a:rPr>
                                </m:ctrlPr>
                              </m:dPr>
                              <m:e>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𝜔</m:t>
                                    </m:r>
                                  </m:e>
                                  <m:sub>
                                    <m:r>
                                      <a:rPr lang="zh-TW" altLang="en-US" sz="2000" i="1">
                                        <a:solidFill>
                                          <a:srgbClr val="483832"/>
                                        </a:solidFill>
                                        <a:latin typeface="Cambria Math" panose="02040503050406030204" pitchFamily="18" charset="0"/>
                                      </a:rPr>
                                      <m:t>𝑘</m:t>
                                    </m:r>
                                  </m:sub>
                                </m:sSub>
                                <m:r>
                                  <a:rPr lang="zh-TW" altLang="en-US" sz="2000" i="1">
                                    <a:solidFill>
                                      <a:srgbClr val="483832"/>
                                    </a:solidFill>
                                    <a:latin typeface="Cambria Math" panose="02040503050406030204" pitchFamily="18" charset="0"/>
                                  </a:rPr>
                                  <m:t>𝑡</m:t>
                                </m:r>
                                <m:r>
                                  <a:rPr lang="zh-TW" altLang="en-US" sz="2000">
                                    <a:solidFill>
                                      <a:srgbClr val="483832"/>
                                    </a:solidFill>
                                    <a:latin typeface="Cambria Math" panose="02040503050406030204" pitchFamily="18" charset="0"/>
                                  </a:rPr>
                                  <m:t>−</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𝑘</m:t>
                                    </m:r>
                                  </m:e>
                                </m:acc>
                                <m:r>
                                  <a:rPr lang="zh-TW" altLang="en-US" sz="2000">
                                    <a:solidFill>
                                      <a:srgbClr val="483832"/>
                                    </a:solidFill>
                                    <a:latin typeface="Cambria Math" panose="02040503050406030204" pitchFamily="18" charset="0"/>
                                  </a:rPr>
                                  <m:t>⋅</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𝑟</m:t>
                                    </m:r>
                                  </m:e>
                                </m:acc>
                              </m:e>
                            </m:d>
                          </m:e>
                        </m:func>
                        <m:r>
                          <a:rPr lang="zh-TW" altLang="en-US" sz="2000">
                            <a:solidFill>
                              <a:srgbClr val="483832"/>
                            </a:solidFill>
                            <a:latin typeface="Cambria Math" panose="02040503050406030204" pitchFamily="18" charset="0"/>
                          </a:rPr>
                          <m:t>+</m:t>
                        </m:r>
                        <m:sSub>
                          <m:sSubPr>
                            <m:ctrlPr>
                              <a:rPr lang="en-US" altLang="zh-TW"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en-US" altLang="zh-TW" sz="2000" i="1">
                                <a:solidFill>
                                  <a:srgbClr val="483832"/>
                                </a:solidFill>
                                <a:latin typeface="Cambria Math" panose="02040503050406030204" pitchFamily="18" charset="0"/>
                              </a:rPr>
                              <m:t>2</m:t>
                            </m:r>
                          </m:sub>
                        </m:sSub>
                        <m:func>
                          <m:funcPr>
                            <m:ctrlPr>
                              <a:rPr lang="zh-TW" altLang="en-US" sz="2000" i="1">
                                <a:solidFill>
                                  <a:srgbClr val="483832"/>
                                </a:solidFill>
                                <a:latin typeface="Cambria Math" panose="02040503050406030204" pitchFamily="18" charset="0"/>
                              </a:rPr>
                            </m:ctrlPr>
                          </m:funcPr>
                          <m:fName>
                            <m:r>
                              <m:rPr>
                                <m:sty m:val="p"/>
                              </m:rPr>
                              <a:rPr lang="zh-TW" altLang="en-US" sz="2000">
                                <a:solidFill>
                                  <a:srgbClr val="483832"/>
                                </a:solidFill>
                                <a:latin typeface="Cambria Math" panose="02040503050406030204" pitchFamily="18" charset="0"/>
                              </a:rPr>
                              <m:t>sin</m:t>
                            </m:r>
                          </m:fName>
                          <m:e>
                            <m:d>
                              <m:dPr>
                                <m:ctrlPr>
                                  <a:rPr lang="zh-TW" altLang="en-US" sz="2000" i="1">
                                    <a:solidFill>
                                      <a:srgbClr val="483832"/>
                                    </a:solidFill>
                                    <a:latin typeface="Cambria Math" panose="02040503050406030204" pitchFamily="18" charset="0"/>
                                  </a:rPr>
                                </m:ctrlPr>
                              </m:dPr>
                              <m:e>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𝜔</m:t>
                                    </m:r>
                                  </m:e>
                                  <m:sub>
                                    <m:r>
                                      <a:rPr lang="zh-TW" altLang="en-US" sz="2000" i="1">
                                        <a:solidFill>
                                          <a:srgbClr val="483832"/>
                                        </a:solidFill>
                                        <a:latin typeface="Cambria Math" panose="02040503050406030204" pitchFamily="18" charset="0"/>
                                      </a:rPr>
                                      <m:t>𝑘</m:t>
                                    </m:r>
                                  </m:sub>
                                </m:sSub>
                                <m:r>
                                  <a:rPr lang="zh-TW" altLang="en-US" sz="2000" i="1">
                                    <a:solidFill>
                                      <a:srgbClr val="483832"/>
                                    </a:solidFill>
                                    <a:latin typeface="Cambria Math" panose="02040503050406030204" pitchFamily="18" charset="0"/>
                                  </a:rPr>
                                  <m:t>𝑡</m:t>
                                </m:r>
                                <m:r>
                                  <a:rPr lang="zh-TW" altLang="en-US" sz="2000">
                                    <a:solidFill>
                                      <a:srgbClr val="483832"/>
                                    </a:solidFill>
                                    <a:latin typeface="Cambria Math" panose="02040503050406030204" pitchFamily="18" charset="0"/>
                                  </a:rPr>
                                  <m:t>−</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𝑘</m:t>
                                    </m:r>
                                  </m:e>
                                </m:acc>
                                <m:r>
                                  <a:rPr lang="zh-TW" altLang="en-US" sz="2000">
                                    <a:solidFill>
                                      <a:srgbClr val="483832"/>
                                    </a:solidFill>
                                    <a:latin typeface="Cambria Math" panose="02040503050406030204" pitchFamily="18" charset="0"/>
                                  </a:rPr>
                                  <m:t>⋅</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𝑟</m:t>
                                    </m:r>
                                  </m:e>
                                </m:acc>
                              </m:e>
                            </m:d>
                          </m:e>
                        </m:func>
                      </m:e>
                    </m:d>
                  </m:oMath>
                </a14:m>
                <a:r>
                  <a:rPr lang="en-US" altLang="zh-TW" sz="2000" dirty="0">
                    <a:solidFill>
                      <a:srgbClr val="483832"/>
                    </a:solidFill>
                    <a:latin typeface="Times New Roman" panose="02020603050405020304" pitchFamily="18" charset="0"/>
                    <a:cs typeface="Times New Roman" panose="02020603050405020304" pitchFamily="18" charset="0"/>
                  </a:rPr>
                  <a:t> </a:t>
                </a:r>
              </a:p>
              <a:p>
                <a:pPr>
                  <a:lnSpc>
                    <a:spcPts val="2400"/>
                  </a:lnSpc>
                </a:pPr>
                <a:endParaRPr lang="en-US" altLang="zh-TW" sz="2000" dirty="0">
                  <a:solidFill>
                    <a:srgbClr val="483832"/>
                  </a:solidFill>
                  <a:latin typeface="Times New Roman" panose="02020603050405020304" pitchFamily="18" charset="0"/>
                  <a:cs typeface="Times New Roman" panose="02020603050405020304" pitchFamily="18" charset="0"/>
                </a:endParaRPr>
              </a:p>
              <a:p>
                <a:pPr>
                  <a:lnSpc>
                    <a:spcPts val="2400"/>
                  </a:lnSpc>
                </a:pPr>
                <a:r>
                  <a:rPr lang="en-US" altLang="zh-TW" sz="2000" dirty="0">
                    <a:solidFill>
                      <a:srgbClr val="483832"/>
                    </a:solidFill>
                    <a:latin typeface="Times New Roman" panose="02020603050405020304" pitchFamily="18" charset="0"/>
                    <a:cs typeface="Times New Roman" panose="02020603050405020304" pitchFamily="18" charset="0"/>
                  </a:rPr>
                  <a:t>Amplitude</a:t>
                </a:r>
                <a:r>
                  <a:rPr lang="en-US" altLang="zh-TW" sz="2000" dirty="0">
                    <a:solidFill>
                      <a:srgbClr val="483832"/>
                    </a:solidFill>
                  </a:rPr>
                  <a:t> </a:t>
                </a:r>
                <a14:m>
                  <m:oMath xmlns:m="http://schemas.openxmlformats.org/officeDocument/2006/math">
                    <m:sSub>
                      <m:sSubPr>
                        <m:ctrlPr>
                          <a:rPr lang="en-US" altLang="zh-TW"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en-US" altLang="zh-TW" sz="2000" i="1">
                            <a:solidFill>
                              <a:srgbClr val="483832"/>
                            </a:solidFill>
                            <a:latin typeface="Cambria Math" panose="02040503050406030204" pitchFamily="18" charset="0"/>
                          </a:rPr>
                          <m:t>1</m:t>
                        </m:r>
                      </m:sub>
                    </m:sSub>
                    <m:r>
                      <a:rPr lang="zh-TW" altLang="en-US" sz="2000">
                        <a:solidFill>
                          <a:srgbClr val="483832"/>
                        </a:solidFill>
                        <a:latin typeface="Cambria Math" panose="02040503050406030204" pitchFamily="18" charset="0"/>
                      </a:rPr>
                      <m:t>=</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𝑎</m:t>
                        </m:r>
                      </m:e>
                    </m:acc>
                    <m:r>
                      <a:rPr lang="zh-TW" altLang="en-US" sz="2000">
                        <a:solidFill>
                          <a:srgbClr val="483832"/>
                        </a:solidFill>
                        <a:latin typeface="Cambria Math" panose="02040503050406030204" pitchFamily="18" charset="0"/>
                      </a:rPr>
                      <m:t>+</m:t>
                    </m:r>
                    <m:sSup>
                      <m:sSupPr>
                        <m:ctrlPr>
                          <a:rPr lang="zh-TW" altLang="en-US" sz="2000" i="1">
                            <a:solidFill>
                              <a:srgbClr val="483832"/>
                            </a:solidFill>
                            <a:latin typeface="Cambria Math" panose="02040503050406030204" pitchFamily="18" charset="0"/>
                          </a:rPr>
                        </m:ctrlPr>
                      </m:sSup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𝑎</m:t>
                            </m:r>
                          </m:e>
                        </m:acc>
                      </m:e>
                      <m:sup>
                        <m:r>
                          <a:rPr lang="zh-TW" altLang="en-US" sz="2000">
                            <a:solidFill>
                              <a:srgbClr val="483832"/>
                            </a:solidFill>
                            <a:latin typeface="Cambria Math" panose="02040503050406030204" pitchFamily="18" charset="0"/>
                          </a:rPr>
                          <m:t>†</m:t>
                        </m:r>
                      </m:sup>
                    </m:sSup>
                  </m:oMath>
                </a14:m>
                <a:r>
                  <a:rPr lang="en-US" altLang="zh-TW" sz="2000" i="1" dirty="0">
                    <a:solidFill>
                      <a:srgbClr val="483832"/>
                    </a:solidFill>
                    <a:latin typeface="Times New Roman" panose="02020603050405020304" pitchFamily="18" charset="0"/>
                    <a:cs typeface="Times New Roman" panose="02020603050405020304" pitchFamily="18" charset="0"/>
                  </a:rPr>
                  <a:t>, </a:t>
                </a:r>
                <a:r>
                  <a:rPr lang="en-US" altLang="zh-TW" sz="2000" dirty="0">
                    <a:solidFill>
                      <a:srgbClr val="483832"/>
                    </a:solidFill>
                    <a:latin typeface="Times New Roman" panose="02020603050405020304" pitchFamily="18" charset="0"/>
                    <a:cs typeface="Times New Roman" panose="02020603050405020304" pitchFamily="18" charset="0"/>
                  </a:rPr>
                  <a:t>Phase</a:t>
                </a:r>
                <a:r>
                  <a:rPr lang="zh-TW" altLang="en-US" sz="2000" dirty="0">
                    <a:solidFill>
                      <a:srgbClr val="483832"/>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en-US" altLang="zh-TW" sz="2000" i="1">
                            <a:solidFill>
                              <a:srgbClr val="483832"/>
                            </a:solidFill>
                            <a:latin typeface="Cambria Math" panose="02040503050406030204" pitchFamily="18" charset="0"/>
                          </a:rPr>
                          <m:t>2</m:t>
                        </m:r>
                      </m:sub>
                    </m:sSub>
                    <m:r>
                      <a:rPr lang="zh-TW" altLang="en-US" sz="2000">
                        <a:solidFill>
                          <a:srgbClr val="483832"/>
                        </a:solidFill>
                        <a:latin typeface="Cambria Math" panose="02040503050406030204" pitchFamily="18" charset="0"/>
                      </a:rPr>
                      <m:t>=</m:t>
                    </m:r>
                    <m:r>
                      <a:rPr lang="zh-TW" altLang="en-US" sz="2000" i="1">
                        <a:solidFill>
                          <a:srgbClr val="483832"/>
                        </a:solidFill>
                        <a:latin typeface="Cambria Math" panose="02040503050406030204" pitchFamily="18" charset="0"/>
                      </a:rPr>
                      <m:t>𝑖</m:t>
                    </m:r>
                    <m:d>
                      <m:dPr>
                        <m:ctrlPr>
                          <a:rPr lang="en-US" altLang="zh-TW" sz="2000" i="1">
                            <a:solidFill>
                              <a:srgbClr val="483832"/>
                            </a:solidFill>
                            <a:latin typeface="Cambria Math" panose="02040503050406030204" pitchFamily="18" charset="0"/>
                          </a:rPr>
                        </m:ctrlPr>
                      </m:dPr>
                      <m:e>
                        <m:sSup>
                          <m:sSupPr>
                            <m:ctrlPr>
                              <a:rPr lang="zh-TW" altLang="en-US" sz="2000" i="1">
                                <a:solidFill>
                                  <a:srgbClr val="483832"/>
                                </a:solidFill>
                                <a:latin typeface="Cambria Math" panose="02040503050406030204" pitchFamily="18" charset="0"/>
                              </a:rPr>
                            </m:ctrlPr>
                          </m:sSup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𝑎</m:t>
                                </m:r>
                              </m:e>
                            </m:acc>
                          </m:e>
                          <m:sup>
                            <m:r>
                              <a:rPr lang="zh-TW" altLang="en-US" sz="2000">
                                <a:solidFill>
                                  <a:srgbClr val="483832"/>
                                </a:solidFill>
                                <a:latin typeface="Cambria Math" panose="02040503050406030204" pitchFamily="18" charset="0"/>
                              </a:rPr>
                              <m:t>†</m:t>
                            </m:r>
                          </m:sup>
                        </m:sSup>
                        <m:r>
                          <a:rPr lang="zh-TW" altLang="en-US" sz="2000">
                            <a:solidFill>
                              <a:srgbClr val="483832"/>
                            </a:solidFill>
                            <a:latin typeface="Cambria Math" panose="02040503050406030204" pitchFamily="18" charset="0"/>
                          </a:rPr>
                          <m:t>−</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𝑎</m:t>
                            </m:r>
                          </m:e>
                        </m:acc>
                      </m:e>
                    </m:d>
                  </m:oMath>
                </a14:m>
                <a:endParaRPr lang="en-US" altLang="zh-TW" sz="2000" i="1" dirty="0">
                  <a:solidFill>
                    <a:srgbClr val="483832"/>
                  </a:solidFill>
                  <a:latin typeface="Times New Roman" panose="02020603050405020304" pitchFamily="18" charset="0"/>
                  <a:cs typeface="Times New Roman" panose="02020603050405020304" pitchFamily="18" charset="0"/>
                </a:endParaRPr>
              </a:p>
              <a:p>
                <a:pPr>
                  <a:lnSpc>
                    <a:spcPts val="2400"/>
                  </a:lnSpc>
                </a:pPr>
                <a:endParaRPr lang="en-US" altLang="zh-TW" sz="2000" dirty="0">
                  <a:solidFill>
                    <a:srgbClr val="483832"/>
                  </a:solidFill>
                  <a:latin typeface="Times New Roman" panose="02020603050405020304" pitchFamily="18" charset="0"/>
                  <a:cs typeface="Times New Roman" panose="02020603050405020304" pitchFamily="18" charset="0"/>
                </a:endParaRPr>
              </a:p>
              <a:p>
                <a:pPr>
                  <a:lnSpc>
                    <a:spcPts val="2400"/>
                  </a:lnSpc>
                </a:pPr>
                <a:r>
                  <a:rPr lang="en-US" altLang="zh-TW" sz="2000" dirty="0">
                    <a:solidFill>
                      <a:srgbClr val="483832"/>
                    </a:solidFill>
                    <a:latin typeface="Times New Roman" panose="02020603050405020304" pitchFamily="18" charset="0"/>
                    <a:cs typeface="Times New Roman" panose="02020603050405020304" pitchFamily="18" charset="0"/>
                  </a:rPr>
                  <a:t>Quadrature operator general form: </a:t>
                </a:r>
                <a:r>
                  <a:rPr lang="zh-TW" altLang="en-US" sz="2000" dirty="0">
                    <a:solidFill>
                      <a:srgbClr val="483832"/>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zh-TW" altLang="zh-TW" sz="2000" i="1">
                            <a:solidFill>
                              <a:srgbClr val="483832"/>
                            </a:solidFill>
                            <a:latin typeface="Cambria Math" panose="02040503050406030204" pitchFamily="18" charset="0"/>
                          </a:rPr>
                        </m:ctrlPr>
                      </m:sSupPr>
                      <m:e>
                        <m:acc>
                          <m:accPr>
                            <m:chr m:val="̂"/>
                            <m:ctrlPr>
                              <a:rPr lang="zh-TW" altLang="zh-TW" sz="2000" i="1">
                                <a:solidFill>
                                  <a:srgbClr val="483832"/>
                                </a:solidFill>
                                <a:latin typeface="Cambria Math" panose="02040503050406030204" pitchFamily="18" charset="0"/>
                              </a:rPr>
                            </m:ctrlPr>
                          </m:accPr>
                          <m:e>
                            <m:r>
                              <a:rPr lang="en-US" altLang="zh-TW" sz="2000" i="1">
                                <a:solidFill>
                                  <a:srgbClr val="483832"/>
                                </a:solidFill>
                                <a:latin typeface="Cambria Math" panose="02040503050406030204" pitchFamily="18" charset="0"/>
                              </a:rPr>
                              <m:t>𝑋</m:t>
                            </m:r>
                          </m:e>
                        </m:acc>
                      </m:e>
                      <m:sup>
                        <m:r>
                          <a:rPr lang="en-US" altLang="zh-TW" sz="2000" i="1">
                            <a:solidFill>
                              <a:srgbClr val="483832"/>
                            </a:solidFill>
                            <a:latin typeface="Cambria Math" panose="02040503050406030204" pitchFamily="18" charset="0"/>
                          </a:rPr>
                          <m:t>𝜃</m:t>
                        </m:r>
                      </m:sup>
                    </m:sSup>
                    <m:r>
                      <a:rPr lang="en-US" altLang="zh-TW" sz="2000" i="1">
                        <a:solidFill>
                          <a:srgbClr val="483832"/>
                        </a:solidFill>
                        <a:latin typeface="Cambria Math" panose="02040503050406030204" pitchFamily="18" charset="0"/>
                      </a:rPr>
                      <m:t>=</m:t>
                    </m:r>
                    <m:acc>
                      <m:accPr>
                        <m:chr m:val="̂"/>
                        <m:ctrlPr>
                          <a:rPr lang="zh-TW" altLang="zh-TW" sz="2000" i="1">
                            <a:solidFill>
                              <a:srgbClr val="483832"/>
                            </a:solidFill>
                            <a:latin typeface="Cambria Math" panose="02040503050406030204" pitchFamily="18" charset="0"/>
                          </a:rPr>
                        </m:ctrlPr>
                      </m:accPr>
                      <m:e>
                        <m:r>
                          <a:rPr lang="en-US" altLang="zh-TW" sz="2000" i="1">
                            <a:solidFill>
                              <a:srgbClr val="483832"/>
                            </a:solidFill>
                            <a:latin typeface="Cambria Math" panose="02040503050406030204" pitchFamily="18" charset="0"/>
                          </a:rPr>
                          <m:t>𝑎</m:t>
                        </m:r>
                      </m:e>
                    </m:acc>
                    <m:sSup>
                      <m:sSupPr>
                        <m:ctrlPr>
                          <a:rPr lang="zh-TW" altLang="zh-TW" sz="2000" i="1">
                            <a:solidFill>
                              <a:srgbClr val="483832"/>
                            </a:solidFill>
                            <a:latin typeface="Cambria Math" panose="02040503050406030204" pitchFamily="18" charset="0"/>
                          </a:rPr>
                        </m:ctrlPr>
                      </m:sSupPr>
                      <m:e>
                        <m:r>
                          <a:rPr lang="en-US" altLang="zh-TW" sz="2000" i="1">
                            <a:solidFill>
                              <a:srgbClr val="483832"/>
                            </a:solidFill>
                            <a:latin typeface="Cambria Math" panose="02040503050406030204" pitchFamily="18" charset="0"/>
                          </a:rPr>
                          <m:t>𝑒</m:t>
                        </m:r>
                      </m:e>
                      <m:sup>
                        <m:r>
                          <a:rPr lang="zh-TW" altLang="en-US" sz="2000" i="1">
                            <a:solidFill>
                              <a:srgbClr val="483832"/>
                            </a:solidFill>
                            <a:latin typeface="Cambria Math" panose="02040503050406030204" pitchFamily="18" charset="0"/>
                          </a:rPr>
                          <m:t>−</m:t>
                        </m:r>
                        <m:r>
                          <a:rPr lang="en-US" altLang="zh-TW" sz="2000" i="1">
                            <a:solidFill>
                              <a:srgbClr val="483832"/>
                            </a:solidFill>
                            <a:latin typeface="Cambria Math" panose="02040503050406030204" pitchFamily="18" charset="0"/>
                          </a:rPr>
                          <m:t>𝑖</m:t>
                        </m:r>
                        <m:r>
                          <a:rPr lang="en-US" altLang="zh-TW" sz="2000" i="1">
                            <a:solidFill>
                              <a:srgbClr val="483832"/>
                            </a:solidFill>
                            <a:latin typeface="Cambria Math" panose="02040503050406030204" pitchFamily="18" charset="0"/>
                          </a:rPr>
                          <m:t>𝜃</m:t>
                        </m:r>
                      </m:sup>
                    </m:sSup>
                    <m:r>
                      <a:rPr lang="en-US" altLang="zh-TW" sz="2000" i="1">
                        <a:solidFill>
                          <a:srgbClr val="483832"/>
                        </a:solidFill>
                        <a:latin typeface="Cambria Math" panose="02040503050406030204" pitchFamily="18" charset="0"/>
                      </a:rPr>
                      <m:t>+</m:t>
                    </m:r>
                    <m:sSup>
                      <m:sSupPr>
                        <m:ctrlPr>
                          <a:rPr lang="zh-TW" altLang="zh-TW" sz="2000" i="1">
                            <a:solidFill>
                              <a:srgbClr val="483832"/>
                            </a:solidFill>
                            <a:latin typeface="Cambria Math" panose="02040503050406030204" pitchFamily="18" charset="0"/>
                          </a:rPr>
                        </m:ctrlPr>
                      </m:sSupPr>
                      <m:e>
                        <m:acc>
                          <m:accPr>
                            <m:chr m:val="̂"/>
                            <m:ctrlPr>
                              <a:rPr lang="zh-TW" altLang="zh-TW" sz="2000" i="1">
                                <a:solidFill>
                                  <a:srgbClr val="483832"/>
                                </a:solidFill>
                                <a:latin typeface="Cambria Math" panose="02040503050406030204" pitchFamily="18" charset="0"/>
                              </a:rPr>
                            </m:ctrlPr>
                          </m:accPr>
                          <m:e>
                            <m:r>
                              <a:rPr lang="en-US" altLang="zh-TW" sz="2000" i="1">
                                <a:solidFill>
                                  <a:srgbClr val="483832"/>
                                </a:solidFill>
                                <a:latin typeface="Cambria Math" panose="02040503050406030204" pitchFamily="18" charset="0"/>
                              </a:rPr>
                              <m:t>𝑎</m:t>
                            </m:r>
                          </m:e>
                        </m:acc>
                      </m:e>
                      <m:sup>
                        <m:r>
                          <a:rPr lang="en-US" altLang="zh-TW" sz="2000">
                            <a:solidFill>
                              <a:srgbClr val="483832"/>
                            </a:solidFill>
                            <a:latin typeface="Cambria Math" panose="02040503050406030204" pitchFamily="18" charset="0"/>
                          </a:rPr>
                          <m:t>†</m:t>
                        </m:r>
                      </m:sup>
                    </m:sSup>
                    <m:sSup>
                      <m:sSupPr>
                        <m:ctrlPr>
                          <a:rPr lang="zh-TW" altLang="zh-TW" sz="2000" i="1">
                            <a:solidFill>
                              <a:srgbClr val="483832"/>
                            </a:solidFill>
                            <a:latin typeface="Cambria Math" panose="02040503050406030204" pitchFamily="18" charset="0"/>
                          </a:rPr>
                        </m:ctrlPr>
                      </m:sSupPr>
                      <m:e>
                        <m:r>
                          <a:rPr lang="en-US" altLang="zh-TW" sz="2000" i="1">
                            <a:solidFill>
                              <a:srgbClr val="483832"/>
                            </a:solidFill>
                            <a:latin typeface="Cambria Math" panose="02040503050406030204" pitchFamily="18" charset="0"/>
                          </a:rPr>
                          <m:t>𝑒</m:t>
                        </m:r>
                      </m:e>
                      <m:sup>
                        <m:r>
                          <a:rPr lang="en-US" altLang="zh-TW" sz="2000" i="1">
                            <a:solidFill>
                              <a:srgbClr val="483832"/>
                            </a:solidFill>
                            <a:latin typeface="Cambria Math" panose="02040503050406030204" pitchFamily="18" charset="0"/>
                          </a:rPr>
                          <m:t>𝑖</m:t>
                        </m:r>
                        <m:r>
                          <a:rPr lang="en-US" altLang="zh-TW" sz="2000" i="1">
                            <a:solidFill>
                              <a:srgbClr val="483832"/>
                            </a:solidFill>
                            <a:latin typeface="Cambria Math" panose="02040503050406030204" pitchFamily="18" charset="0"/>
                          </a:rPr>
                          <m:t>𝜃</m:t>
                        </m:r>
                      </m:sup>
                    </m:sSup>
                  </m:oMath>
                </a14:m>
                <a:endParaRPr lang="zh-TW" altLang="en-US" sz="2000"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5" name="矩形: 圓角 4">
                <a:extLst>
                  <a:ext uri="{FF2B5EF4-FFF2-40B4-BE49-F238E27FC236}">
                    <a16:creationId xmlns:a16="http://schemas.microsoft.com/office/drawing/2014/main" id="{69920736-5F99-4918-B368-3E1B74F352B4}"/>
                  </a:ext>
                </a:extLst>
              </p:cNvPr>
              <p:cNvSpPr>
                <a:spLocks noRot="1" noChangeAspect="1" noMove="1" noResize="1" noEditPoints="1" noAdjustHandles="1" noChangeArrowheads="1" noChangeShapeType="1" noTextEdit="1"/>
              </p:cNvSpPr>
              <p:nvPr/>
            </p:nvSpPr>
            <p:spPr>
              <a:xfrm>
                <a:off x="4999262" y="1201195"/>
                <a:ext cx="6512513" cy="1804749"/>
              </a:xfrm>
              <a:prstGeom prst="roundRect">
                <a:avLst>
                  <a:gd name="adj" fmla="val 11724"/>
                </a:avLst>
              </a:prstGeom>
              <a:blipFill>
                <a:blip r:embed="rId3"/>
                <a:stretch>
                  <a:fillRect/>
                </a:stretch>
              </a:blipFill>
              <a:ln w="19050">
                <a:solidFill>
                  <a:schemeClr val="accent1">
                    <a:lumMod val="75000"/>
                  </a:schemeClr>
                </a:solidFill>
                <a:prstDash val="lgDash"/>
              </a:ln>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F0584077-61ED-4793-B34B-CFB1BF9677FB}"/>
              </a:ext>
            </a:extLst>
          </p:cNvPr>
          <p:cNvPicPr/>
          <p:nvPr/>
        </p:nvPicPr>
        <p:blipFill>
          <a:blip r:embed="rId4">
            <a:extLst>
              <a:ext uri="{28A0092B-C50C-407E-A947-70E740481C1C}">
                <a14:useLocalDpi xmlns:a14="http://schemas.microsoft.com/office/drawing/2010/main" val="0"/>
              </a:ext>
            </a:extLst>
          </a:blip>
          <a:stretch>
            <a:fillRect/>
          </a:stretch>
        </p:blipFill>
        <p:spPr>
          <a:xfrm>
            <a:off x="4999262" y="3568504"/>
            <a:ext cx="5948045" cy="2519680"/>
          </a:xfrm>
          <a:prstGeom prst="rect">
            <a:avLst/>
          </a:prstGeom>
        </p:spPr>
      </p:pic>
      <p:pic>
        <p:nvPicPr>
          <p:cNvPr id="3" name="圖片 2">
            <a:extLst>
              <a:ext uri="{FF2B5EF4-FFF2-40B4-BE49-F238E27FC236}">
                <a16:creationId xmlns:a16="http://schemas.microsoft.com/office/drawing/2014/main" id="{657F842B-CECC-4C66-AD61-C0E1096BF7FE}"/>
              </a:ext>
            </a:extLst>
          </p:cNvPr>
          <p:cNvPicPr/>
          <p:nvPr/>
        </p:nvPicPr>
        <p:blipFill rotWithShape="1">
          <a:blip r:embed="rId5">
            <a:extLst>
              <a:ext uri="{BEBA8EAE-BF5A-486C-A8C5-ECC9F3942E4B}">
                <a14:imgProps xmlns:a14="http://schemas.microsoft.com/office/drawing/2010/main">
                  <a14:imgLayer r:embed="rId6">
                    <a14:imgEffect>
                      <a14:backgroundRemoval t="1188" b="93705" l="14082" r="97861">
                        <a14:foregroundMark x1="86275" y1="5107" x2="86275" y2="5107"/>
                        <a14:foregroundMark x1="85740" y1="6888" x2="85740" y2="6888"/>
                        <a14:foregroundMark x1="85561" y1="6651" x2="85561" y2="6651"/>
                        <a14:foregroundMark x1="85027" y1="7245" x2="84492" y2="8670"/>
                        <a14:foregroundMark x1="86453" y1="5938" x2="84314" y2="8670"/>
                        <a14:foregroundMark x1="16399" y1="76960" x2="16399" y2="76960"/>
                        <a14:foregroundMark x1="40820" y1="86580" x2="40820" y2="86580"/>
                        <a14:foregroundMark x1="40463" y1="92518" x2="40463" y2="92518"/>
                        <a14:foregroundMark x1="27807" y1="60451" x2="37968" y2="61045"/>
                        <a14:foregroundMark x1="27629" y1="59976" x2="38503" y2="59976"/>
                        <a14:foregroundMark x1="28164" y1="59501" x2="38681" y2="59501"/>
                        <a14:foregroundMark x1="27273" y1="59026" x2="38681" y2="59026"/>
                        <a14:foregroundMark x1="38681" y1="59026" x2="27807" y2="60570"/>
                        <a14:foregroundMark x1="27807" y1="60570" x2="27807" y2="60570"/>
                        <a14:foregroundMark x1="28164" y1="59026" x2="31194" y2="61045"/>
                        <a14:foregroundMark x1="31551" y1="61283" x2="36185" y2="61164"/>
                        <a14:foregroundMark x1="24777" y1="60451" x2="25312" y2="60451"/>
                        <a14:foregroundMark x1="27629" y1="60808" x2="27986" y2="61520"/>
                        <a14:foregroundMark x1="27451" y1="85392" x2="27451" y2="86580"/>
                        <a14:foregroundMark x1="25134" y1="85154" x2="25668" y2="86342"/>
                        <a14:foregroundMark x1="25847" y1="84917" x2="27273" y2="83373"/>
                        <a14:foregroundMark x1="27986" y1="85511" x2="29055" y2="85511"/>
                        <a14:foregroundMark x1="28164" y1="86580" x2="28877" y2="87530"/>
                        <a14:foregroundMark x1="29412" y1="85986" x2="28699" y2="87055"/>
                        <a14:foregroundMark x1="28164" y1="84917" x2="28877" y2="85036"/>
                        <a14:foregroundMark x1="36364" y1="54038" x2="36364" y2="54038"/>
                        <a14:foregroundMark x1="36542" y1="53800" x2="42068" y2="53563"/>
                        <a14:foregroundMark x1="37077" y1="53682" x2="36007" y2="58551"/>
                        <a14:foregroundMark x1="36185" y1="55107" x2="47415" y2="51306"/>
                        <a14:foregroundMark x1="47415" y1="51306" x2="47772" y2="50950"/>
                        <a14:foregroundMark x1="40820" y1="52375" x2="46346" y2="49050"/>
                        <a14:foregroundMark x1="43850" y1="54513" x2="48485" y2="52613"/>
                        <a14:foregroundMark x1="38324" y1="52613" x2="45455" y2="48812"/>
                        <a14:foregroundMark x1="27986" y1="92993" x2="27986" y2="92993"/>
                        <a14:foregroundMark x1="38859" y1="93468" x2="39394" y2="93468"/>
                        <a14:foregroundMark x1="61854" y1="80048" x2="63458" y2="77197"/>
                        <a14:foregroundMark x1="64171" y1="81710" x2="66488" y2="81710"/>
                        <a14:foregroundMark x1="64171" y1="80523" x2="66667" y2="80166"/>
                        <a14:foregroundMark x1="63280" y1="81473" x2="60784" y2="82542"/>
                        <a14:foregroundMark x1="60963" y1="81948" x2="57932" y2="83254"/>
                        <a14:foregroundMark x1="57398" y1="80404" x2="57398" y2="78860"/>
                        <a14:foregroundMark x1="57041" y1="80523" x2="57932" y2="82304"/>
                        <a14:foregroundMark x1="57754" y1="80048" x2="59537" y2="77316"/>
                        <a14:foregroundMark x1="60250" y1="76603" x2="63280" y2="76603"/>
                        <a14:foregroundMark x1="60606" y1="76366" x2="65419" y2="76366"/>
                        <a14:foregroundMark x1="63458" y1="76366" x2="62923" y2="79216"/>
                        <a14:foregroundMark x1="64171" y1="77553" x2="62210" y2="79810"/>
                        <a14:foregroundMark x1="61854" y1="76485" x2="57219" y2="77316"/>
                        <a14:foregroundMark x1="62389" y1="76366" x2="60428" y2="75891"/>
                        <a14:foregroundMark x1="48128" y1="86698" x2="46168" y2="85511"/>
                        <a14:foregroundMark x1="47237" y1="86936" x2="44207" y2="86580"/>
                        <a14:foregroundMark x1="49376" y1="86580" x2="44385" y2="86580"/>
                        <a14:foregroundMark x1="49554" y1="87292" x2="46881" y2="87530"/>
                        <a14:foregroundMark x1="50089" y1="87055" x2="46881" y2="85154"/>
                        <a14:foregroundMark x1="49554" y1="87173" x2="47237" y2="84798"/>
                        <a14:foregroundMark x1="64528" y1="60808" x2="61497" y2="60808"/>
                        <a14:foregroundMark x1="59537" y1="58551" x2="65597" y2="58907"/>
                        <a14:foregroundMark x1="61141" y1="59739" x2="72906" y2="61164"/>
                        <a14:foregroundMark x1="72906" y1="61164" x2="71480" y2="61164"/>
                        <a14:foregroundMark x1="66310" y1="59857" x2="66310" y2="61995"/>
                        <a14:foregroundMark x1="67558" y1="58907" x2="66310" y2="60808"/>
                        <a14:foregroundMark x1="65775" y1="60926" x2="63636" y2="62589"/>
                        <a14:foregroundMark x1="64884" y1="52494" x2="71658" y2="52732"/>
                        <a14:foregroundMark x1="66132" y1="51663" x2="70945" y2="52019"/>
                        <a14:foregroundMark x1="66667" y1="51663" x2="71301" y2="52613"/>
                        <a14:foregroundMark x1="67201" y1="51069" x2="72193" y2="51425"/>
                        <a14:foregroundMark x1="73440" y1="41449" x2="71480" y2="42043"/>
                        <a14:foregroundMark x1="71123" y1="42874" x2="76649" y2="43587"/>
                        <a14:foregroundMark x1="74153" y1="41449" x2="77005" y2="41330"/>
                        <a14:foregroundMark x1="53298" y1="41686" x2="57398" y2="41686"/>
                        <a14:foregroundMark x1="52050" y1="42518" x2="56863" y2="42755"/>
                        <a14:foregroundMark x1="52050" y1="43349" x2="57398" y2="44062"/>
                        <a14:foregroundMark x1="52585" y1="41686" x2="56684" y2="41568"/>
                        <a14:foregroundMark x1="53654" y1="41211" x2="57932" y2="40974"/>
                        <a14:foregroundMark x1="51693" y1="31829" x2="60784" y2="32067"/>
                        <a14:foregroundMark x1="54011" y1="32898" x2="64349" y2="33373"/>
                        <a14:foregroundMark x1="60784" y1="32779" x2="64171" y2="32660"/>
                        <a14:foregroundMark x1="52763" y1="33729" x2="59358" y2="33610"/>
                        <a14:foregroundMark x1="54902" y1="33254" x2="52406" y2="32898"/>
                        <a14:foregroundMark x1="51872" y1="32779" x2="57576" y2="31354"/>
                        <a14:foregroundMark x1="53476" y1="31473" x2="58467" y2="31473"/>
                        <a14:foregroundMark x1="52585" y1="32423" x2="58289" y2="31473"/>
                        <a14:foregroundMark x1="51337" y1="31710" x2="51337" y2="31710"/>
                        <a14:foregroundMark x1="93583" y1="27672" x2="87701" y2="31710"/>
                        <a14:foregroundMark x1="92513" y1="28029" x2="93939" y2="31591"/>
                        <a14:foregroundMark x1="93939" y1="31591" x2="95900" y2="32898"/>
                        <a14:foregroundMark x1="94296" y1="30523" x2="95900" y2="32542"/>
                        <a14:foregroundMark x1="94652" y1="31710" x2="97148" y2="32660"/>
                        <a14:foregroundMark x1="92692" y1="30879" x2="96970" y2="32423"/>
                        <a14:foregroundMark x1="93583" y1="30285" x2="97326" y2="32779"/>
                        <a14:foregroundMark x1="94831" y1="31710" x2="98039" y2="31591"/>
                        <a14:foregroundMark x1="92157" y1="32304" x2="89661" y2="32542"/>
                        <a14:foregroundMark x1="87522" y1="32067" x2="87166" y2="28979"/>
                        <a14:foregroundMark x1="88948" y1="28504" x2="90018" y2="26366"/>
                        <a14:foregroundMark x1="88948" y1="26366" x2="92513" y2="26010"/>
                        <a14:foregroundMark x1="92513" y1="26010" x2="94296" y2="28385"/>
                        <a14:foregroundMark x1="94474" y1="27791" x2="93405" y2="25772"/>
                        <a14:foregroundMark x1="91622" y1="26010" x2="92513" y2="25534"/>
                        <a14:foregroundMark x1="93048" y1="26128" x2="92513" y2="25178"/>
                        <a14:foregroundMark x1="86453" y1="21615" x2="86631" y2="23634"/>
                        <a14:foregroundMark x1="85918" y1="23040" x2="89483" y2="23040"/>
                        <a14:foregroundMark x1="90374" y1="23753" x2="88770" y2="24703"/>
                        <a14:foregroundMark x1="87166" y1="22090" x2="86809" y2="22684"/>
                        <a14:foregroundMark x1="88948" y1="15202" x2="92870" y2="16271"/>
                        <a14:foregroundMark x1="88770" y1="15321" x2="91979" y2="14964"/>
                        <a14:foregroundMark x1="89127" y1="15202" x2="91622" y2="15083"/>
                        <a14:foregroundMark x1="87344" y1="15439" x2="90374" y2="14727"/>
                        <a14:foregroundMark x1="88948" y1="15321" x2="91979" y2="15083"/>
                        <a14:foregroundMark x1="88770" y1="15083" x2="90909" y2="14608"/>
                        <a14:foregroundMark x1="94652" y1="17221" x2="93761" y2="15796"/>
                        <a14:foregroundMark x1="93939" y1="15914" x2="92870" y2="14727"/>
                        <a14:foregroundMark x1="88057" y1="4751" x2="80749" y2="8314"/>
                        <a14:foregroundMark x1="86453" y1="5344" x2="83957" y2="9026"/>
                        <a14:foregroundMark x1="86631" y1="4869" x2="86809" y2="5463"/>
                        <a14:foregroundMark x1="87879" y1="3088" x2="88414" y2="2375"/>
                        <a14:foregroundMark x1="87701" y1="1306" x2="89840" y2="2257"/>
                        <a14:foregroundMark x1="88235" y1="1425" x2="86631" y2="3444"/>
                        <a14:foregroundMark x1="60963" y1="15439" x2="72549" y2="15677"/>
                        <a14:foregroundMark x1="72549" y1="15677" x2="72727" y2="15796"/>
                        <a14:foregroundMark x1="60784" y1="16271" x2="72727" y2="16746"/>
                        <a14:foregroundMark x1="59537" y1="15558" x2="70410" y2="15558"/>
                        <a14:foregroundMark x1="63102" y1="14964" x2="72193" y2="14846"/>
                        <a14:foregroundMark x1="77184" y1="16746" x2="84135" y2="16271"/>
                        <a14:foregroundMark x1="75401" y1="16271" x2="85027" y2="15439"/>
                        <a14:foregroundMark x1="62032" y1="15083" x2="63993" y2="14014"/>
                        <a14:foregroundMark x1="55971" y1="23397" x2="76114" y2="23397"/>
                        <a14:foregroundMark x1="55080" y1="23040" x2="62032" y2="22803"/>
                        <a14:foregroundMark x1="55971" y1="22803" x2="63280" y2="22565"/>
                        <a14:foregroundMark x1="57041" y1="24228" x2="68449" y2="24228"/>
                        <a14:foregroundMark x1="55615" y1="22803" x2="62923" y2="21259"/>
                        <a14:foregroundMark x1="55793" y1="22684" x2="57576" y2="22684"/>
                        <a14:foregroundMark x1="82531" y1="33017" x2="82353" y2="33848"/>
                        <a14:foregroundMark x1="78253" y1="33610" x2="82175" y2="33254"/>
                        <a14:foregroundMark x1="76827" y1="33492" x2="83244" y2="33254"/>
                        <a14:foregroundMark x1="74332" y1="35986" x2="74332" y2="35986"/>
                        <a14:foregroundMark x1="74153" y1="37055" x2="74153" y2="37055"/>
                        <a14:foregroundMark x1="67201" y1="48219" x2="67201" y2="48219"/>
                        <a14:foregroundMark x1="68271" y1="48219" x2="68271" y2="48219"/>
                        <a14:foregroundMark x1="56506" y1="65083" x2="56506" y2="65083"/>
                        <a14:foregroundMark x1="57219" y1="66627" x2="57219" y2="66627"/>
                        <a14:foregroundMark x1="56150" y1="66033" x2="56150" y2="66033"/>
                        <a14:foregroundMark x1="59893" y1="61401" x2="44207" y2="86342"/>
                        <a14:foregroundMark x1="43494" y1="87173" x2="40998" y2="92162"/>
                        <a14:foregroundMark x1="39216" y1="88242" x2="38324" y2="91686"/>
                        <a14:foregroundMark x1="40820" y1="90024" x2="38146" y2="92874"/>
                        <a14:foregroundMark x1="33868" y1="88717" x2="31729" y2="91211"/>
                        <a14:foregroundMark x1="34046" y1="91093" x2="33512" y2="92755"/>
                        <a14:foregroundMark x1="30125" y1="92043" x2="34759" y2="93349"/>
                        <a14:foregroundMark x1="28699" y1="92637" x2="34581" y2="93587"/>
                        <a14:foregroundMark x1="34938" y1="93349" x2="39929" y2="93824"/>
                        <a14:foregroundMark x1="26560" y1="93824" x2="27629" y2="93349"/>
                        <a14:foregroundMark x1="26916" y1="92874" x2="28342" y2="90499"/>
                        <a14:foregroundMark x1="32620" y1="82898" x2="34046" y2="79810"/>
                        <a14:foregroundMark x1="30303" y1="82423" x2="32977" y2="78504"/>
                        <a14:foregroundMark x1="32086" y1="77553" x2="30481" y2="75416"/>
                        <a14:foregroundMark x1="16756" y1="76960" x2="25490" y2="77791"/>
                        <a14:foregroundMark x1="14082" y1="75891" x2="17825" y2="76128"/>
                        <a14:foregroundMark x1="17469" y1="75891" x2="28342" y2="75178"/>
                        <a14:foregroundMark x1="28342" y1="75178" x2="28342" y2="75059"/>
                        <a14:foregroundMark x1="26203" y1="75059" x2="32620" y2="69952"/>
                        <a14:foregroundMark x1="31551" y1="70428" x2="37790" y2="63777"/>
                        <a14:foregroundMark x1="40107" y1="83017" x2="40107" y2="83017"/>
                        <a14:foregroundMark x1="48307" y1="71259" x2="48307" y2="71259"/>
                        <a14:foregroundMark x1="51515" y1="64964" x2="51515" y2="64964"/>
                        <a14:foregroundMark x1="55793" y1="57957" x2="55793" y2="57957"/>
                        <a14:foregroundMark x1="58824" y1="51069" x2="58824" y2="51069"/>
                        <a14:foregroundMark x1="53298" y1="55463" x2="53298" y2="55463"/>
                        <a14:foregroundMark x1="52941" y1="53682" x2="52941" y2="53682"/>
                        <a14:foregroundMark x1="56150" y1="53682" x2="56150" y2="53682"/>
                        <a14:foregroundMark x1="61319" y1="36580" x2="61319" y2="36580"/>
                        <a14:foregroundMark x1="69340" y1="36461" x2="69340" y2="36461"/>
                        <a14:foregroundMark x1="71658" y1="30048" x2="71658" y2="30048"/>
                        <a14:foregroundMark x1="66488" y1="38717" x2="66488" y2="38717"/>
                        <a14:foregroundMark x1="71836" y1="28266" x2="71836" y2="28266"/>
                        <a14:backgroundMark x1="98039" y1="28622" x2="99465" y2="30523"/>
                      </a14:backgroundRemoval>
                    </a14:imgEffect>
                  </a14:imgLayer>
                </a14:imgProps>
              </a:ext>
            </a:extLst>
          </a:blip>
          <a:srcRect l="12706" b="5311"/>
          <a:stretch/>
        </p:blipFill>
        <p:spPr bwMode="auto">
          <a:xfrm>
            <a:off x="1010113" y="964079"/>
            <a:ext cx="3729402" cy="5361221"/>
          </a:xfrm>
          <a:prstGeom prst="rect">
            <a:avLst/>
          </a:prstGeom>
          <a:ln>
            <a:noFill/>
          </a:ln>
          <a:extLst>
            <a:ext uri="{53640926-AAD7-44D8-BBD7-CCE9431645EC}">
              <a14:shadowObscured xmlns:a14="http://schemas.microsoft.com/office/drawing/2010/main"/>
            </a:ext>
          </a:extLst>
        </p:spPr>
      </p:pic>
      <p:sp>
        <p:nvSpPr>
          <p:cNvPr id="7" name="橢圓 6">
            <a:extLst>
              <a:ext uri="{FF2B5EF4-FFF2-40B4-BE49-F238E27FC236}">
                <a16:creationId xmlns:a16="http://schemas.microsoft.com/office/drawing/2014/main" id="{E75B95DE-8302-4BD7-BB53-52540BB50DD0}"/>
              </a:ext>
            </a:extLst>
          </p:cNvPr>
          <p:cNvSpPr/>
          <p:nvPr/>
        </p:nvSpPr>
        <p:spPr>
          <a:xfrm>
            <a:off x="2124116" y="5581168"/>
            <a:ext cx="634734" cy="532056"/>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ndParaRPr>
          </a:p>
        </p:txBody>
      </p:sp>
      <p:sp>
        <p:nvSpPr>
          <p:cNvPr id="8" name="投影片編號版面配置區 7">
            <a:extLst>
              <a:ext uri="{FF2B5EF4-FFF2-40B4-BE49-F238E27FC236}">
                <a16:creationId xmlns:a16="http://schemas.microsoft.com/office/drawing/2014/main" id="{5A35780D-5890-4C8D-B25F-F19474CE7E49}"/>
              </a:ext>
            </a:extLst>
          </p:cNvPr>
          <p:cNvSpPr>
            <a:spLocks noGrp="1"/>
          </p:cNvSpPr>
          <p:nvPr>
            <p:ph type="sldNum" sz="quarter" idx="12"/>
          </p:nvPr>
        </p:nvSpPr>
        <p:spPr/>
        <p:txBody>
          <a:bodyPr/>
          <a:lstStyle/>
          <a:p>
            <a:fld id="{9820161B-3DFF-4FF5-AA0E-35496F014571}" type="slidenum">
              <a:rPr lang="zh-TW" altLang="en-US" smtClean="0"/>
              <a:t>7</a:t>
            </a:fld>
            <a:endParaRPr lang="zh-TW" altLang="en-US"/>
          </a:p>
        </p:txBody>
      </p:sp>
      <p:sp>
        <p:nvSpPr>
          <p:cNvPr id="11" name="矩形 10">
            <a:extLst>
              <a:ext uri="{FF2B5EF4-FFF2-40B4-BE49-F238E27FC236}">
                <a16:creationId xmlns:a16="http://schemas.microsoft.com/office/drawing/2014/main" id="{3CB3C564-9260-477D-9C54-CFFBDED89FB3}"/>
              </a:ext>
            </a:extLst>
          </p:cNvPr>
          <p:cNvSpPr/>
          <p:nvPr/>
        </p:nvSpPr>
        <p:spPr>
          <a:xfrm>
            <a:off x="765472" y="6611779"/>
            <a:ext cx="6765074" cy="246221"/>
          </a:xfrm>
          <a:prstGeom prst="rect">
            <a:avLst/>
          </a:prstGeom>
        </p:spPr>
        <p:txBody>
          <a:bodyPr wrap="square">
            <a:spAutoFit/>
          </a:bodyPr>
          <a:lstStyle/>
          <a:p>
            <a:r>
              <a:rPr lang="en-US" altLang="zh-TW" sz="1000" dirty="0">
                <a:latin typeface="Times New Roman" panose="02020603050405020304" pitchFamily="18" charset="0"/>
                <a:cs typeface="Times New Roman" panose="02020603050405020304" pitchFamily="18" charset="0"/>
              </a:rPr>
              <a:t>D. J. Griffiths and D. F. </a:t>
            </a:r>
            <a:r>
              <a:rPr lang="en-US" altLang="zh-TW" sz="1000" dirty="0" err="1">
                <a:latin typeface="Times New Roman" panose="02020603050405020304" pitchFamily="18" charset="0"/>
                <a:cs typeface="Times New Roman" panose="02020603050405020304" pitchFamily="18" charset="0"/>
              </a:rPr>
              <a:t>Schroeter</a:t>
            </a:r>
            <a:r>
              <a:rPr lang="en-US" altLang="zh-TW" sz="1000" dirty="0">
                <a:latin typeface="Times New Roman" panose="02020603050405020304" pitchFamily="18" charset="0"/>
                <a:cs typeface="Times New Roman" panose="02020603050405020304" pitchFamily="18" charset="0"/>
              </a:rPr>
              <a:t>, </a:t>
            </a:r>
            <a:r>
              <a:rPr lang="en-US" altLang="zh-TW" sz="1000" i="1" dirty="0">
                <a:latin typeface="Times New Roman" panose="02020603050405020304" pitchFamily="18" charset="0"/>
                <a:cs typeface="Times New Roman" panose="02020603050405020304" pitchFamily="18" charset="0"/>
              </a:rPr>
              <a:t>Introduction to Quantum Mechanics</a:t>
            </a:r>
            <a:r>
              <a:rPr lang="en-US" altLang="zh-TW" sz="1000" dirty="0">
                <a:latin typeface="Times New Roman" panose="02020603050405020304" pitchFamily="18" charset="0"/>
                <a:cs typeface="Times New Roman" panose="02020603050405020304" pitchFamily="18" charset="0"/>
              </a:rPr>
              <a:t>, Third edition ed. Cambridge University Press(2018)</a:t>
            </a:r>
          </a:p>
        </p:txBody>
      </p:sp>
    </p:spTree>
    <p:extLst>
      <p:ext uri="{BB962C8B-B14F-4D97-AF65-F5344CB8AC3E}">
        <p14:creationId xmlns:p14="http://schemas.microsoft.com/office/powerpoint/2010/main" val="95668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ppt_x"/>
                                          </p:val>
                                        </p:tav>
                                        <p:tav tm="100000">
                                          <p:val>
                                            <p:strVal val="#ppt_x"/>
                                          </p:val>
                                        </p:tav>
                                      </p:tavLst>
                                    </p:anim>
                                    <p:anim calcmode="lin" valueType="num">
                                      <p:cBhvr additive="base">
                                        <p:cTn id="8" dur="25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250" fill="hold"/>
                                        <p:tgtEl>
                                          <p:spTgt spid="7"/>
                                        </p:tgtEl>
                                        <p:attrNameLst>
                                          <p:attrName>ppt_x</p:attrName>
                                        </p:attrNameLst>
                                      </p:cBhvr>
                                      <p:tavLst>
                                        <p:tav tm="0">
                                          <p:val>
                                            <p:strVal val="#ppt_x"/>
                                          </p:val>
                                        </p:tav>
                                        <p:tav tm="100000">
                                          <p:val>
                                            <p:strVal val="#ppt_x"/>
                                          </p:val>
                                        </p:tav>
                                      </p:tavLst>
                                    </p:anim>
                                    <p:anim calcmode="lin" valueType="num">
                                      <p:cBhvr additive="base">
                                        <p:cTn id="14" dur="2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2266916F-C1E0-4F1A-8F34-03CFADF82839}"/>
              </a:ext>
            </a:extLst>
          </p:cNvPr>
          <p:cNvSpPr>
            <a:spLocks noGrp="1"/>
          </p:cNvSpPr>
          <p:nvPr>
            <p:ph type="body" sz="half" idx="13"/>
          </p:nvPr>
        </p:nvSpPr>
        <p:spPr/>
        <p:txBody>
          <a:bodyPr/>
          <a:lstStyle/>
          <a:p>
            <a:r>
              <a:rPr lang="en-US" altLang="zh-TW" dirty="0"/>
              <a:t>Vacuum state</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226BAE9A-E3B8-4799-BA74-2E24537CCD82}"/>
                  </a:ext>
                </a:extLst>
              </p:cNvPr>
              <p:cNvSpPr txBox="1"/>
              <p:nvPr/>
            </p:nvSpPr>
            <p:spPr>
              <a:xfrm>
                <a:off x="5462363" y="1098632"/>
                <a:ext cx="5866037" cy="4742017"/>
              </a:xfrm>
              <a:prstGeom prst="roundRect">
                <a:avLst>
                  <a:gd name="adj" fmla="val 9280"/>
                </a:avLst>
              </a:prstGeom>
              <a:noFill/>
              <a:ln w="19050">
                <a:solidFill>
                  <a:schemeClr val="accent1">
                    <a:lumMod val="75000"/>
                  </a:schemeClr>
                </a:solidFill>
                <a:prstDash val="lgDash"/>
              </a:ln>
            </p:spPr>
            <p:txBody>
              <a:bodyPr wrap="square" rtlCol="0">
                <a:spAutoFit/>
              </a:bodyPr>
              <a:lstStyle/>
              <a:p>
                <a:endParaRPr lang="en-US" altLang="zh-TW" sz="2000" dirty="0">
                  <a:solidFill>
                    <a:srgbClr val="483832"/>
                  </a:solidFill>
                  <a:latin typeface="Times New Roman" panose="02020603050405020304" pitchFamily="18" charset="0"/>
                  <a:cs typeface="Times New Roman" panose="02020603050405020304" pitchFamily="18" charset="0"/>
                </a:endParaRPr>
              </a:p>
              <a:p>
                <a:r>
                  <a:rPr lang="en-US" altLang="zh-TW" sz="2000" dirty="0">
                    <a:solidFill>
                      <a:srgbClr val="483832"/>
                    </a:solidFill>
                    <a:latin typeface="Times New Roman" panose="02020603050405020304" pitchFamily="18" charset="0"/>
                    <a:cs typeface="Times New Roman" panose="02020603050405020304" pitchFamily="18" charset="0"/>
                  </a:rPr>
                  <a:t>According to Heisenberg uncertainty principle</a:t>
                </a:r>
              </a:p>
              <a:p>
                <a:endParaRPr lang="en-US" altLang="zh-TW" sz="2000" dirty="0">
                  <a:solidFill>
                    <a:srgbClr val="483832"/>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𝐴</m:t>
                                  </m:r>
                                </m:e>
                              </m:acc>
                            </m:e>
                          </m:d>
                        </m:e>
                        <m:sup>
                          <m:r>
                            <a:rPr lang="zh-TW" altLang="en-US" sz="2000">
                              <a:solidFill>
                                <a:srgbClr val="483832"/>
                              </a:solidFill>
                              <a:latin typeface="Cambria Math" panose="02040503050406030204" pitchFamily="18" charset="0"/>
                            </a:rPr>
                            <m:t>2</m:t>
                          </m:r>
                        </m:sup>
                      </m:sSup>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𝐵</m:t>
                                  </m:r>
                                </m:e>
                              </m:acc>
                            </m:e>
                          </m:d>
                        </m:e>
                        <m:sup>
                          <m:r>
                            <a:rPr lang="zh-TW" altLang="en-US" sz="2000">
                              <a:solidFill>
                                <a:srgbClr val="483832"/>
                              </a:solidFill>
                              <a:latin typeface="Cambria Math" panose="02040503050406030204" pitchFamily="18" charset="0"/>
                            </a:rPr>
                            <m:t>2</m:t>
                          </m:r>
                        </m:sup>
                      </m:sSup>
                      <m:r>
                        <a:rPr lang="zh-TW" altLang="en-US" sz="2000">
                          <a:solidFill>
                            <a:srgbClr val="483832"/>
                          </a:solidFill>
                          <a:latin typeface="Cambria Math" panose="02040503050406030204" pitchFamily="18" charset="0"/>
                        </a:rPr>
                        <m:t>≥</m:t>
                      </m:r>
                      <m:f>
                        <m:fPr>
                          <m:ctrlPr>
                            <a:rPr lang="zh-TW" altLang="en-US" sz="2000" i="1">
                              <a:solidFill>
                                <a:srgbClr val="483832"/>
                              </a:solidFill>
                              <a:latin typeface="Cambria Math" panose="02040503050406030204" pitchFamily="18" charset="0"/>
                            </a:rPr>
                          </m:ctrlPr>
                        </m:fPr>
                        <m:num>
                          <m:r>
                            <a:rPr lang="zh-TW" altLang="en-US" sz="2000">
                              <a:solidFill>
                                <a:srgbClr val="483832"/>
                              </a:solidFill>
                              <a:latin typeface="Cambria Math" panose="02040503050406030204" pitchFamily="18" charset="0"/>
                            </a:rPr>
                            <m:t>1</m:t>
                          </m:r>
                        </m:num>
                        <m:den>
                          <m:r>
                            <a:rPr lang="zh-TW" altLang="en-US" sz="2000">
                              <a:solidFill>
                                <a:srgbClr val="483832"/>
                              </a:solidFill>
                              <a:latin typeface="Cambria Math" panose="02040503050406030204" pitchFamily="18" charset="0"/>
                            </a:rPr>
                            <m:t>4</m:t>
                          </m:r>
                        </m:den>
                      </m:f>
                      <m:sSup>
                        <m:sSupPr>
                          <m:ctrlPr>
                            <a:rPr lang="zh-TW" altLang="en-US" sz="2000" i="1">
                              <a:solidFill>
                                <a:srgbClr val="483832"/>
                              </a:solidFill>
                              <a:latin typeface="Cambria Math" panose="02040503050406030204" pitchFamily="18" charset="0"/>
                            </a:rPr>
                          </m:ctrlPr>
                        </m:sSupPr>
                        <m:e>
                          <m:r>
                            <a:rPr lang="zh-TW" altLang="en-US" sz="2000">
                              <a:solidFill>
                                <a:srgbClr val="483832"/>
                              </a:solidFill>
                              <a:latin typeface="Cambria Math" panose="02040503050406030204" pitchFamily="18" charset="0"/>
                            </a:rPr>
                            <m:t>|</m:t>
                          </m:r>
                          <m:d>
                            <m:dPr>
                              <m:begChr m:val="〈"/>
                              <m:endChr m:val="〉"/>
                              <m:ctrlPr>
                                <a:rPr lang="zh-TW" altLang="en-US" sz="2000" i="1">
                                  <a:solidFill>
                                    <a:srgbClr val="483832"/>
                                  </a:solidFill>
                                  <a:latin typeface="Cambria Math" panose="02040503050406030204" pitchFamily="18" charset="0"/>
                                </a:rPr>
                              </m:ctrlPr>
                            </m:dPr>
                            <m:e>
                              <m:d>
                                <m:dPr>
                                  <m:begChr m:val="["/>
                                  <m:endChr m:val="]"/>
                                  <m:ctrlPr>
                                    <a:rPr lang="zh-TW" altLang="en-US" sz="2000" i="1">
                                      <a:solidFill>
                                        <a:srgbClr val="483832"/>
                                      </a:solidFill>
                                      <a:latin typeface="Cambria Math" panose="02040503050406030204" pitchFamily="18" charset="0"/>
                                    </a:rPr>
                                  </m:ctrlPr>
                                </m:d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𝐴</m:t>
                                      </m:r>
                                    </m:e>
                                  </m:acc>
                                  <m:r>
                                    <a:rPr lang="zh-TW" altLang="en-US" sz="2000">
                                      <a:solidFill>
                                        <a:srgbClr val="483832"/>
                                      </a:solidFill>
                                      <a:latin typeface="Cambria Math" panose="02040503050406030204" pitchFamily="18" charset="0"/>
                                    </a:rPr>
                                    <m:t>,</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𝐵</m:t>
                                      </m:r>
                                    </m:e>
                                  </m:acc>
                                </m:e>
                              </m:d>
                            </m:e>
                          </m:d>
                          <m:r>
                            <a:rPr lang="zh-TW" altLang="en-US" sz="2000">
                              <a:solidFill>
                                <a:srgbClr val="483832"/>
                              </a:solidFill>
                              <a:latin typeface="Cambria Math" panose="02040503050406030204" pitchFamily="18" charset="0"/>
                            </a:rPr>
                            <m:t>|</m:t>
                          </m:r>
                        </m:e>
                        <m:sup>
                          <m:r>
                            <a:rPr lang="zh-TW" altLang="en-US" sz="2000">
                              <a:solidFill>
                                <a:srgbClr val="483832"/>
                              </a:solidFill>
                              <a:latin typeface="Cambria Math" panose="02040503050406030204" pitchFamily="18" charset="0"/>
                            </a:rPr>
                            <m:t>2</m:t>
                          </m:r>
                        </m:sup>
                      </m:sSup>
                    </m:oMath>
                  </m:oMathPara>
                </a14:m>
                <a:endParaRPr lang="en-US" altLang="zh-TW" sz="2000" dirty="0">
                  <a:solidFill>
                    <a:srgbClr val="483832"/>
                  </a:solidFill>
                  <a:latin typeface="Times New Roman" panose="02020603050405020304" pitchFamily="18" charset="0"/>
                  <a:cs typeface="Times New Roman" panose="02020603050405020304" pitchFamily="18" charset="0"/>
                </a:endParaRPr>
              </a:p>
              <a:p>
                <a:endParaRPr lang="en-US" altLang="zh-TW" sz="2000" dirty="0">
                  <a:solidFill>
                    <a:srgbClr val="483832"/>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1</m:t>
                                  </m:r>
                                </m:sub>
                              </m:sSub>
                            </m:e>
                          </m:d>
                        </m:e>
                        <m:sup>
                          <m:r>
                            <a:rPr lang="zh-TW" altLang="en-US" sz="2000">
                              <a:solidFill>
                                <a:srgbClr val="483832"/>
                              </a:solidFill>
                              <a:latin typeface="Cambria Math" panose="02040503050406030204" pitchFamily="18" charset="0"/>
                            </a:rPr>
                            <m:t>2</m:t>
                          </m:r>
                        </m:sup>
                      </m:sSup>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2</m:t>
                                  </m:r>
                                </m:sub>
                              </m:sSub>
                            </m:e>
                          </m:d>
                        </m:e>
                        <m:sup>
                          <m:r>
                            <a:rPr lang="zh-TW" altLang="en-US" sz="2000">
                              <a:solidFill>
                                <a:srgbClr val="483832"/>
                              </a:solidFill>
                              <a:latin typeface="Cambria Math" panose="02040503050406030204" pitchFamily="18" charset="0"/>
                            </a:rPr>
                            <m:t>2</m:t>
                          </m:r>
                        </m:sup>
                      </m:sSup>
                      <m:r>
                        <a:rPr lang="zh-TW" altLang="en-US" sz="2000">
                          <a:solidFill>
                            <a:srgbClr val="483832"/>
                          </a:solidFill>
                          <a:latin typeface="Cambria Math" panose="02040503050406030204" pitchFamily="18" charset="0"/>
                        </a:rPr>
                        <m:t>≥</m:t>
                      </m:r>
                      <m:f>
                        <m:fPr>
                          <m:ctrlPr>
                            <a:rPr lang="zh-TW" altLang="en-US" sz="2000" i="1">
                              <a:solidFill>
                                <a:srgbClr val="483832"/>
                              </a:solidFill>
                              <a:latin typeface="Cambria Math" panose="02040503050406030204" pitchFamily="18" charset="0"/>
                            </a:rPr>
                          </m:ctrlPr>
                        </m:fPr>
                        <m:num>
                          <m:r>
                            <a:rPr lang="zh-TW" altLang="en-US" sz="2000">
                              <a:solidFill>
                                <a:srgbClr val="483832"/>
                              </a:solidFill>
                              <a:latin typeface="Cambria Math" panose="02040503050406030204" pitchFamily="18" charset="0"/>
                            </a:rPr>
                            <m:t>1</m:t>
                          </m:r>
                        </m:num>
                        <m:den>
                          <m:r>
                            <a:rPr lang="zh-TW" altLang="en-US" sz="2000">
                              <a:solidFill>
                                <a:srgbClr val="483832"/>
                              </a:solidFill>
                              <a:latin typeface="Cambria Math" panose="02040503050406030204" pitchFamily="18" charset="0"/>
                            </a:rPr>
                            <m:t>4</m:t>
                          </m:r>
                        </m:den>
                      </m:f>
                      <m:sSup>
                        <m:sSupPr>
                          <m:ctrlPr>
                            <a:rPr lang="zh-TW" altLang="en-US" sz="2000" i="1">
                              <a:solidFill>
                                <a:srgbClr val="483832"/>
                              </a:solidFill>
                              <a:latin typeface="Cambria Math" panose="02040503050406030204" pitchFamily="18" charset="0"/>
                            </a:rPr>
                          </m:ctrlPr>
                        </m:sSupPr>
                        <m:e>
                          <m:d>
                            <m:dPr>
                              <m:begChr m:val="|"/>
                              <m:endChr m:val="|"/>
                              <m:ctrlPr>
                                <a:rPr lang="zh-TW" altLang="en-US" sz="2000" i="1">
                                  <a:solidFill>
                                    <a:srgbClr val="483832"/>
                                  </a:solidFill>
                                  <a:latin typeface="Cambria Math" panose="02040503050406030204" pitchFamily="18" charset="0"/>
                                </a:rPr>
                              </m:ctrlPr>
                            </m:dPr>
                            <m:e>
                              <m:d>
                                <m:dPr>
                                  <m:begChr m:val="〈"/>
                                  <m:endChr m:val="〉"/>
                                  <m:ctrlPr>
                                    <a:rPr lang="zh-TW" altLang="en-US" sz="2000" i="1">
                                      <a:solidFill>
                                        <a:srgbClr val="483832"/>
                                      </a:solidFill>
                                      <a:latin typeface="Cambria Math" panose="02040503050406030204" pitchFamily="18" charset="0"/>
                                    </a:rPr>
                                  </m:ctrlPr>
                                </m:dPr>
                                <m:e>
                                  <m:d>
                                    <m:dPr>
                                      <m:begChr m:val="["/>
                                      <m:endChr m:val="]"/>
                                      <m:ctrlPr>
                                        <a:rPr lang="zh-TW" altLang="en-US" sz="2000" i="1">
                                          <a:solidFill>
                                            <a:srgbClr val="483832"/>
                                          </a:solidFill>
                                          <a:latin typeface="Cambria Math" panose="02040503050406030204" pitchFamily="18" charset="0"/>
                                        </a:rPr>
                                      </m:ctrlPr>
                                    </m:dPr>
                                    <m:e>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1</m:t>
                                          </m:r>
                                        </m:sub>
                                      </m:sSub>
                                      <m:r>
                                        <a:rPr lang="zh-TW" altLang="en-US" sz="2000">
                                          <a:solidFill>
                                            <a:srgbClr val="483832"/>
                                          </a:solidFill>
                                          <a:latin typeface="Cambria Math" panose="02040503050406030204" pitchFamily="18" charset="0"/>
                                        </a:rPr>
                                        <m:t>,</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2</m:t>
                                          </m:r>
                                        </m:sub>
                                      </m:sSub>
                                    </m:e>
                                  </m:d>
                                </m:e>
                              </m:d>
                            </m:e>
                          </m:d>
                        </m:e>
                        <m:sup>
                          <m:r>
                            <a:rPr lang="zh-TW" altLang="en-US" sz="2000">
                              <a:solidFill>
                                <a:srgbClr val="483832"/>
                              </a:solidFill>
                              <a:latin typeface="Cambria Math" panose="02040503050406030204" pitchFamily="18" charset="0"/>
                            </a:rPr>
                            <m:t>2</m:t>
                          </m:r>
                        </m:sup>
                      </m:sSup>
                      <m:r>
                        <a:rPr lang="zh-TW" altLang="en-US" sz="2000">
                          <a:solidFill>
                            <a:srgbClr val="483832"/>
                          </a:solidFill>
                          <a:latin typeface="Cambria Math" panose="02040503050406030204" pitchFamily="18" charset="0"/>
                        </a:rPr>
                        <m:t>=1</m:t>
                      </m:r>
                    </m:oMath>
                  </m:oMathPara>
                </a14:m>
                <a:endParaRPr lang="en-US" altLang="zh-TW" sz="2000" dirty="0">
                  <a:solidFill>
                    <a:srgbClr val="483832"/>
                  </a:solidFill>
                  <a:latin typeface="Times New Roman" panose="02020603050405020304" pitchFamily="18" charset="0"/>
                  <a:cs typeface="Times New Roman" panose="02020603050405020304" pitchFamily="18" charset="0"/>
                </a:endParaRPr>
              </a:p>
              <a:p>
                <a:endParaRPr lang="en-US" altLang="zh-TW" sz="2000" dirty="0">
                  <a:solidFill>
                    <a:srgbClr val="483832"/>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1</m:t>
                                  </m:r>
                                </m:sub>
                              </m:sSub>
                            </m:e>
                          </m:d>
                        </m:e>
                        <m:sup>
                          <m:r>
                            <a:rPr lang="zh-TW" altLang="en-US" sz="2000">
                              <a:solidFill>
                                <a:srgbClr val="483832"/>
                              </a:solidFill>
                              <a:latin typeface="Cambria Math" panose="02040503050406030204" pitchFamily="18" charset="0"/>
                            </a:rPr>
                            <m:t>2</m:t>
                          </m:r>
                        </m:sup>
                      </m:sSup>
                      <m:r>
                        <a:rPr lang="en-US" altLang="zh-TW" sz="2000" b="0" i="1" smtClean="0">
                          <a:solidFill>
                            <a:srgbClr val="483832"/>
                          </a:solidFill>
                          <a:latin typeface="Cambria Math" panose="02040503050406030204" pitchFamily="18" charset="0"/>
                        </a:rPr>
                        <m:t>=</m:t>
                      </m:r>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2</m:t>
                                  </m:r>
                                </m:sub>
                              </m:sSub>
                            </m:e>
                          </m:d>
                        </m:e>
                        <m:sup>
                          <m:r>
                            <a:rPr lang="zh-TW" altLang="en-US" sz="2000">
                              <a:solidFill>
                                <a:srgbClr val="483832"/>
                              </a:solidFill>
                              <a:latin typeface="Cambria Math" panose="02040503050406030204" pitchFamily="18" charset="0"/>
                            </a:rPr>
                            <m:t>2</m:t>
                          </m:r>
                        </m:sup>
                      </m:sSup>
                      <m:r>
                        <m:rPr>
                          <m:nor/>
                        </m:rPr>
                        <a:rPr lang="en-US" altLang="zh-TW" sz="2000" b="0" i="0" smtClean="0">
                          <a:solidFill>
                            <a:srgbClr val="483832"/>
                          </a:solidFill>
                          <a:latin typeface="Cambria Math" panose="02040503050406030204" pitchFamily="18" charset="0"/>
                        </a:rPr>
                        <m:t>= </m:t>
                      </m:r>
                      <m:r>
                        <m:rPr>
                          <m:nor/>
                        </m:rPr>
                        <a:rPr lang="en-US" altLang="zh-TW" sz="2000" dirty="0">
                          <a:solidFill>
                            <a:srgbClr val="483832"/>
                          </a:solidFill>
                          <a:latin typeface="Cambria Math" panose="02040503050406030204" pitchFamily="18" charset="0"/>
                        </a:rPr>
                        <m:t>1</m:t>
                      </m:r>
                    </m:oMath>
                  </m:oMathPara>
                </a14:m>
                <a:endParaRPr lang="en-US" altLang="zh-TW" sz="2000" dirty="0">
                  <a:solidFill>
                    <a:srgbClr val="483832"/>
                  </a:solidFill>
                  <a:latin typeface="Times New Roman" panose="02020603050405020304" pitchFamily="18" charset="0"/>
                  <a:cs typeface="Times New Roman" panose="02020603050405020304" pitchFamily="18" charset="0"/>
                </a:endParaRPr>
              </a:p>
              <a:p>
                <a:endParaRPr lang="en-US" altLang="zh-TW" sz="2000" dirty="0">
                  <a:solidFill>
                    <a:srgbClr val="483832"/>
                  </a:solidFill>
                  <a:latin typeface="Times New Roman" panose="02020603050405020304" pitchFamily="18" charset="0"/>
                  <a:cs typeface="Times New Roman" panose="02020603050405020304" pitchFamily="18" charset="0"/>
                </a:endParaRPr>
              </a:p>
              <a:p>
                <a:r>
                  <a:rPr lang="en-US" altLang="zh-TW" sz="2000" dirty="0">
                    <a:solidFill>
                      <a:srgbClr val="483832"/>
                    </a:solidFill>
                    <a:latin typeface="Times New Roman" panose="02020603050405020304" pitchFamily="18" charset="0"/>
                    <a:cs typeface="Times New Roman" panose="02020603050405020304" pitchFamily="18" charset="0"/>
                  </a:rPr>
                  <a:t>Amplitude variance </a:t>
                </a:r>
                <a14:m>
                  <m:oMath xmlns:m="http://schemas.openxmlformats.org/officeDocument/2006/math">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1</m:t>
                                </m:r>
                              </m:sub>
                            </m:sSub>
                          </m:e>
                        </m:d>
                      </m:e>
                      <m:sup>
                        <m:r>
                          <a:rPr lang="zh-TW" altLang="en-US" sz="2000">
                            <a:solidFill>
                              <a:srgbClr val="483832"/>
                            </a:solidFill>
                            <a:latin typeface="Cambria Math" panose="02040503050406030204" pitchFamily="18" charset="0"/>
                          </a:rPr>
                          <m:t>2</m:t>
                        </m:r>
                      </m:sup>
                    </m:sSup>
                  </m:oMath>
                </a14:m>
                <a:r>
                  <a:rPr lang="en-US" altLang="zh-TW" sz="2000" dirty="0">
                    <a:solidFill>
                      <a:srgbClr val="483832"/>
                    </a:solidFill>
                    <a:latin typeface="Times New Roman" panose="02020603050405020304" pitchFamily="18" charset="0"/>
                    <a:cs typeface="Times New Roman" panose="02020603050405020304" pitchFamily="18" charset="0"/>
                  </a:rPr>
                  <a:t>,</a:t>
                </a:r>
                <a:r>
                  <a:rPr lang="zh-TW" altLang="en-US" sz="2000" dirty="0">
                    <a:solidFill>
                      <a:srgbClr val="483832"/>
                    </a:solidFill>
                    <a:latin typeface="Times New Roman" panose="02020603050405020304" pitchFamily="18" charset="0"/>
                    <a:cs typeface="Times New Roman" panose="02020603050405020304" pitchFamily="18" charset="0"/>
                  </a:rPr>
                  <a:t> </a:t>
                </a:r>
                <a:r>
                  <a:rPr lang="en-US" altLang="zh-TW" sz="2000" dirty="0">
                    <a:solidFill>
                      <a:srgbClr val="483832"/>
                    </a:solidFill>
                    <a:latin typeface="Times New Roman" panose="02020603050405020304" pitchFamily="18" charset="0"/>
                    <a:cs typeface="Times New Roman" panose="02020603050405020304" pitchFamily="18" charset="0"/>
                  </a:rPr>
                  <a:t>Phase variance </a:t>
                </a:r>
                <a14:m>
                  <m:oMath xmlns:m="http://schemas.openxmlformats.org/officeDocument/2006/math">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2</m:t>
                                </m:r>
                              </m:sub>
                            </m:sSub>
                          </m:e>
                        </m:d>
                      </m:e>
                      <m:sup>
                        <m:r>
                          <a:rPr lang="zh-TW" altLang="en-US" sz="2000">
                            <a:solidFill>
                              <a:srgbClr val="483832"/>
                            </a:solidFill>
                            <a:latin typeface="Cambria Math" panose="02040503050406030204" pitchFamily="18" charset="0"/>
                          </a:rPr>
                          <m:t>2</m:t>
                        </m:r>
                      </m:sup>
                    </m:sSup>
                  </m:oMath>
                </a14:m>
                <a:r>
                  <a:rPr lang="en-US" altLang="zh-TW" sz="2000" dirty="0">
                    <a:solidFill>
                      <a:srgbClr val="483832"/>
                    </a:solidFill>
                    <a:latin typeface="Times New Roman" panose="02020603050405020304" pitchFamily="18" charset="0"/>
                    <a:cs typeface="Times New Roman" panose="02020603050405020304" pitchFamily="18" charset="0"/>
                  </a:rPr>
                  <a:t> </a:t>
                </a:r>
                <a:endParaRPr lang="zh-TW" altLang="en-US" sz="2000" dirty="0">
                  <a:solidFill>
                    <a:srgbClr val="483832"/>
                  </a:solidFill>
                  <a:latin typeface="Times New Roman" panose="02020603050405020304" pitchFamily="18" charset="0"/>
                  <a:cs typeface="Times New Roman" panose="02020603050405020304" pitchFamily="18" charset="0"/>
                </a:endParaRPr>
              </a:p>
              <a:p>
                <a:r>
                  <a:rPr lang="en-US" altLang="zh-TW" sz="2000" dirty="0">
                    <a:solidFill>
                      <a:srgbClr val="483832"/>
                    </a:solidFill>
                    <a:latin typeface="Times New Roman" panose="02020603050405020304" pitchFamily="18" charset="0"/>
                    <a:cs typeface="Times New Roman" panose="02020603050405020304" pitchFamily="18" charset="0"/>
                  </a:rPr>
                  <a:t>Coherent or vacuum state have minimum uncertainty</a:t>
                </a:r>
              </a:p>
              <a:p>
                <a:endParaRPr lang="en-US" altLang="zh-TW" sz="2000"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226BAE9A-E3B8-4799-BA74-2E24537CCD82}"/>
                  </a:ext>
                </a:extLst>
              </p:cNvPr>
              <p:cNvSpPr txBox="1">
                <a:spLocks noRot="1" noChangeAspect="1" noMove="1" noResize="1" noEditPoints="1" noAdjustHandles="1" noChangeArrowheads="1" noChangeShapeType="1" noTextEdit="1"/>
              </p:cNvSpPr>
              <p:nvPr/>
            </p:nvSpPr>
            <p:spPr>
              <a:xfrm>
                <a:off x="5462363" y="1098632"/>
                <a:ext cx="5866037" cy="4742017"/>
              </a:xfrm>
              <a:prstGeom prst="roundRect">
                <a:avLst>
                  <a:gd name="adj" fmla="val 9280"/>
                </a:avLst>
              </a:prstGeom>
              <a:blipFill>
                <a:blip r:embed="rId3"/>
                <a:stretch>
                  <a:fillRect/>
                </a:stretch>
              </a:blipFill>
              <a:ln w="19050">
                <a:solidFill>
                  <a:schemeClr val="accent1">
                    <a:lumMod val="75000"/>
                  </a:schemeClr>
                </a:solidFill>
                <a:prstDash val="lgDash"/>
              </a:ln>
            </p:spPr>
            <p:txBody>
              <a:bodyPr/>
              <a:lstStyle/>
              <a:p>
                <a:r>
                  <a:rPr lang="zh-TW" altLang="en-US">
                    <a:noFill/>
                  </a:rPr>
                  <a:t> </a:t>
                </a:r>
              </a:p>
            </p:txBody>
          </p:sp>
        </mc:Fallback>
      </mc:AlternateContent>
      <p:grpSp>
        <p:nvGrpSpPr>
          <p:cNvPr id="10" name="群組 9">
            <a:extLst>
              <a:ext uri="{FF2B5EF4-FFF2-40B4-BE49-F238E27FC236}">
                <a16:creationId xmlns:a16="http://schemas.microsoft.com/office/drawing/2014/main" id="{90912482-6BB3-4FB5-BA4F-27BCE19B0003}"/>
              </a:ext>
            </a:extLst>
          </p:cNvPr>
          <p:cNvGrpSpPr/>
          <p:nvPr/>
        </p:nvGrpSpPr>
        <p:grpSpPr>
          <a:xfrm>
            <a:off x="1095654" y="1453598"/>
            <a:ext cx="4190400" cy="4032085"/>
            <a:chOff x="1501142" y="1629000"/>
            <a:chExt cx="4190400" cy="4032085"/>
          </a:xfrm>
        </p:grpSpPr>
        <p:pic>
          <p:nvPicPr>
            <p:cNvPr id="6" name="圖片 5">
              <a:extLst>
                <a:ext uri="{FF2B5EF4-FFF2-40B4-BE49-F238E27FC236}">
                  <a16:creationId xmlns:a16="http://schemas.microsoft.com/office/drawing/2014/main" id="{97C0D1D7-92F5-490F-893E-442C44E5B24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501142" y="1629000"/>
              <a:ext cx="4190400" cy="3600000"/>
            </a:xfrm>
            <a:prstGeom prst="rect">
              <a:avLst/>
            </a:prstGeom>
            <a:noFill/>
          </p:spPr>
        </p:pic>
        <p:sp>
          <p:nvSpPr>
            <p:cNvPr id="7" name="文字方塊 6">
              <a:extLst>
                <a:ext uri="{FF2B5EF4-FFF2-40B4-BE49-F238E27FC236}">
                  <a16:creationId xmlns:a16="http://schemas.microsoft.com/office/drawing/2014/main" id="{05294946-4B11-4F13-ABF8-162469A1B55F}"/>
                </a:ext>
              </a:extLst>
            </p:cNvPr>
            <p:cNvSpPr txBox="1"/>
            <p:nvPr/>
          </p:nvSpPr>
          <p:spPr>
            <a:xfrm>
              <a:off x="2870214" y="5291753"/>
              <a:ext cx="1452257" cy="369332"/>
            </a:xfrm>
            <a:prstGeom prst="rect">
              <a:avLst/>
            </a:prstGeom>
            <a:noFill/>
          </p:spPr>
          <p:txBody>
            <a:bodyPr wrap="none" rtlCol="0">
              <a:spAutoFit/>
            </a:bodyPr>
            <a:lstStyle/>
            <a:p>
              <a:pPr algn="ctr"/>
              <a:r>
                <a:rPr lang="en-US" altLang="zh-TW" dirty="0">
                  <a:latin typeface="Times New Roman" panose="02020603050405020304" pitchFamily="18" charset="0"/>
                </a:rPr>
                <a:t>Vacuum state</a:t>
              </a:r>
              <a:endParaRPr lang="zh-TW" altLang="en-US" dirty="0">
                <a:latin typeface="Times New Roman" panose="02020603050405020304" pitchFamily="18" charset="0"/>
              </a:endParaRPr>
            </a:p>
          </p:txBody>
        </p:sp>
      </p:grpSp>
      <p:sp>
        <p:nvSpPr>
          <p:cNvPr id="8" name="投影片編號版面配置區 7">
            <a:extLst>
              <a:ext uri="{FF2B5EF4-FFF2-40B4-BE49-F238E27FC236}">
                <a16:creationId xmlns:a16="http://schemas.microsoft.com/office/drawing/2014/main" id="{2A26A18C-F772-45FA-87A7-8E58BE4EB805}"/>
              </a:ext>
            </a:extLst>
          </p:cNvPr>
          <p:cNvSpPr>
            <a:spLocks noGrp="1"/>
          </p:cNvSpPr>
          <p:nvPr>
            <p:ph type="sldNum" sz="quarter" idx="12"/>
          </p:nvPr>
        </p:nvSpPr>
        <p:spPr/>
        <p:txBody>
          <a:bodyPr/>
          <a:lstStyle/>
          <a:p>
            <a:fld id="{9820161B-3DFF-4FF5-AA0E-35496F014571}" type="slidenum">
              <a:rPr lang="zh-TW" altLang="en-US" smtClean="0"/>
              <a:t>8</a:t>
            </a:fld>
            <a:endParaRPr lang="zh-TW" altLang="en-US" dirty="0"/>
          </a:p>
        </p:txBody>
      </p:sp>
      <p:sp>
        <p:nvSpPr>
          <p:cNvPr id="9" name="矩形 8">
            <a:extLst>
              <a:ext uri="{FF2B5EF4-FFF2-40B4-BE49-F238E27FC236}">
                <a16:creationId xmlns:a16="http://schemas.microsoft.com/office/drawing/2014/main" id="{2DE1A1A0-43BD-49A7-9313-1F0BF46C03FC}"/>
              </a:ext>
            </a:extLst>
          </p:cNvPr>
          <p:cNvSpPr/>
          <p:nvPr/>
        </p:nvSpPr>
        <p:spPr>
          <a:xfrm>
            <a:off x="762000" y="6441300"/>
            <a:ext cx="4568283" cy="400110"/>
          </a:xfrm>
          <a:prstGeom prst="rect">
            <a:avLst/>
          </a:prstGeom>
        </p:spPr>
        <p:txBody>
          <a:bodyPr wrap="square">
            <a:spAutoFit/>
          </a:bodyPr>
          <a:lstStyle/>
          <a:p>
            <a:r>
              <a:rPr lang="en-US" altLang="zh-TW" sz="1000" dirty="0">
                <a:latin typeface="Times New Roman" panose="02020603050405020304" pitchFamily="18" charset="0"/>
                <a:cs typeface="Times New Roman" panose="02020603050405020304" pitchFamily="18" charset="0"/>
              </a:rPr>
              <a:t>G. L. </a:t>
            </a:r>
            <a:r>
              <a:rPr lang="en-US" altLang="zh-TW" sz="1000" dirty="0" err="1">
                <a:latin typeface="Times New Roman" panose="02020603050405020304" pitchFamily="18" charset="0"/>
                <a:cs typeface="Times New Roman" panose="02020603050405020304" pitchFamily="18" charset="0"/>
              </a:rPr>
              <a:t>Mansell,"Squeezed</a:t>
            </a:r>
            <a:r>
              <a:rPr lang="en-US" altLang="zh-TW" sz="1000" dirty="0">
                <a:latin typeface="Times New Roman" panose="02020603050405020304" pitchFamily="18" charset="0"/>
                <a:cs typeface="Times New Roman" panose="02020603050405020304" pitchFamily="18" charset="0"/>
              </a:rPr>
              <a:t> light sources for current and future interferometric gravitational-wave </a:t>
            </a:r>
            <a:r>
              <a:rPr lang="en-US" altLang="zh-TW" sz="1000" dirty="0" err="1">
                <a:latin typeface="Times New Roman" panose="02020603050405020304" pitchFamily="18" charset="0"/>
                <a:cs typeface="Times New Roman" panose="02020603050405020304" pitchFamily="18" charset="0"/>
              </a:rPr>
              <a:t>detectors",PhD</a:t>
            </a:r>
            <a:r>
              <a:rPr lang="en-US" altLang="zh-TW" sz="1000" dirty="0">
                <a:latin typeface="Times New Roman" panose="02020603050405020304" pitchFamily="18" charset="0"/>
                <a:cs typeface="Times New Roman" panose="02020603050405020304" pitchFamily="18" charset="0"/>
              </a:rPr>
              <a:t> </a:t>
            </a:r>
            <a:r>
              <a:rPr lang="en-US" altLang="zh-TW" sz="1000" dirty="0" err="1">
                <a:latin typeface="Times New Roman" panose="02020603050405020304" pitchFamily="18" charset="0"/>
                <a:cs typeface="Times New Roman" panose="02020603050405020304" pitchFamily="18" charset="0"/>
              </a:rPr>
              <a:t>thesis,Australian</a:t>
            </a:r>
            <a:r>
              <a:rPr lang="en-US" altLang="zh-TW" sz="1000" dirty="0">
                <a:latin typeface="Times New Roman" panose="02020603050405020304" pitchFamily="18" charset="0"/>
                <a:cs typeface="Times New Roman" panose="02020603050405020304" pitchFamily="18" charset="0"/>
              </a:rPr>
              <a:t> National University(2018)</a:t>
            </a:r>
            <a:endParaRPr lang="zh-TW" alt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5024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793CA27-6469-464C-8148-6611BB040CB6}"/>
              </a:ext>
            </a:extLst>
          </p:cNvPr>
          <p:cNvSpPr>
            <a:spLocks noGrp="1"/>
          </p:cNvSpPr>
          <p:nvPr>
            <p:ph type="body" sz="half" idx="13"/>
          </p:nvPr>
        </p:nvSpPr>
        <p:spPr>
          <a:xfrm>
            <a:off x="3495041" y="16590"/>
            <a:ext cx="5201920" cy="660417"/>
          </a:xfrm>
        </p:spPr>
        <p:txBody>
          <a:bodyPr>
            <a:normAutofit/>
          </a:bodyPr>
          <a:lstStyle/>
          <a:p>
            <a:r>
              <a:rPr lang="en-US" altLang="zh-TW" dirty="0"/>
              <a:t>Squeezed</a:t>
            </a:r>
            <a:r>
              <a:rPr lang="zh-TW" altLang="en-US" dirty="0"/>
              <a:t> </a:t>
            </a:r>
            <a:r>
              <a:rPr lang="en-US" altLang="zh-TW" dirty="0"/>
              <a:t>vacuum state</a:t>
            </a:r>
          </a:p>
        </p:txBody>
      </p:sp>
      <mc:AlternateContent xmlns:mc="http://schemas.openxmlformats.org/markup-compatibility/2006" xmlns:a14="http://schemas.microsoft.com/office/drawing/2010/main">
        <mc:Choice Requires="a14">
          <p:sp>
            <p:nvSpPr>
              <p:cNvPr id="5" name="矩形: 圓角 4">
                <a:extLst>
                  <a:ext uri="{FF2B5EF4-FFF2-40B4-BE49-F238E27FC236}">
                    <a16:creationId xmlns:a16="http://schemas.microsoft.com/office/drawing/2014/main" id="{E8DC4D2D-6DE0-4B36-825A-6F261169E2B0}"/>
                  </a:ext>
                </a:extLst>
              </p:cNvPr>
              <p:cNvSpPr/>
              <p:nvPr/>
            </p:nvSpPr>
            <p:spPr>
              <a:xfrm>
                <a:off x="6790151" y="1619398"/>
                <a:ext cx="3895839" cy="4330958"/>
              </a:xfrm>
              <a:prstGeom prst="roundRect">
                <a:avLst>
                  <a:gd name="adj" fmla="val 12011"/>
                </a:avLst>
              </a:prstGeom>
              <a:ln w="19050">
                <a:solidFill>
                  <a:schemeClr val="accent1">
                    <a:lumMod val="75000"/>
                  </a:schemeClr>
                </a:solidFill>
                <a:prstDash val="lgDash"/>
              </a:ln>
            </p:spPr>
            <p:txBody>
              <a:bodyPr wrap="square">
                <a:spAutoFit/>
              </a:bodyPr>
              <a:lstStyle/>
              <a:p>
                <a:pPr>
                  <a:lnSpc>
                    <a:spcPts val="2400"/>
                  </a:lnSpc>
                </a:pPr>
                <a:endParaRPr lang="en-US" altLang="zh-TW" i="1" dirty="0">
                  <a:latin typeface="Cambria Math" panose="02040503050406030204" pitchFamily="18" charset="0"/>
                </a:endParaRPr>
              </a:p>
              <a:p>
                <a:pPr>
                  <a:lnSpc>
                    <a:spcPts val="2400"/>
                  </a:lnSpc>
                </a:pPr>
                <a14:m>
                  <m:oMathPara xmlns:m="http://schemas.openxmlformats.org/officeDocument/2006/math">
                    <m:oMathParaPr>
                      <m:jc m:val="centerGroup"/>
                    </m:oMathParaPr>
                    <m:oMath xmlns:m="http://schemas.openxmlformats.org/officeDocument/2006/math">
                      <m:acc>
                        <m:accPr>
                          <m:chr m:val="̂"/>
                          <m:ctrlPr>
                            <a:rPr lang="zh-TW" altLang="zh-TW" i="1" smtClean="0">
                              <a:latin typeface="Cambria Math" panose="02040503050406030204" pitchFamily="18" charset="0"/>
                            </a:rPr>
                          </m:ctrlPr>
                        </m:accPr>
                        <m:e>
                          <m:r>
                            <a:rPr lang="en-US" altLang="zh-TW" i="1">
                              <a:latin typeface="Cambria Math" panose="02040503050406030204" pitchFamily="18" charset="0"/>
                            </a:rPr>
                            <m:t>𝑆</m:t>
                          </m:r>
                        </m:e>
                      </m:acc>
                      <m:d>
                        <m:dPr>
                          <m:ctrlPr>
                            <a:rPr lang="zh-TW" altLang="zh-TW" i="1">
                              <a:latin typeface="Cambria Math" panose="02040503050406030204" pitchFamily="18" charset="0"/>
                            </a:rPr>
                          </m:ctrlPr>
                        </m:dPr>
                        <m:e>
                          <m:r>
                            <a:rPr lang="en-US" altLang="zh-TW" i="1">
                              <a:latin typeface="Cambria Math" panose="02040503050406030204" pitchFamily="18" charset="0"/>
                            </a:rPr>
                            <m:t>𝜀</m:t>
                          </m:r>
                        </m:e>
                      </m:d>
                      <m:r>
                        <a:rPr lang="en-US" altLang="zh-TW">
                          <a:latin typeface="Cambria Math" panose="02040503050406030204" pitchFamily="18" charset="0"/>
                        </a:rPr>
                        <m:t>=</m:t>
                      </m:r>
                      <m:sSup>
                        <m:sSupPr>
                          <m:ctrlPr>
                            <a:rPr lang="zh-TW" altLang="zh-TW" i="1">
                              <a:latin typeface="Cambria Math" panose="02040503050406030204" pitchFamily="18" charset="0"/>
                            </a:rPr>
                          </m:ctrlPr>
                        </m:sSupPr>
                        <m:e>
                          <m:r>
                            <a:rPr lang="en-US" altLang="zh-TW" i="1">
                              <a:latin typeface="Cambria Math" panose="02040503050406030204" pitchFamily="18" charset="0"/>
                            </a:rPr>
                            <m:t>𝑒</m:t>
                          </m:r>
                        </m:e>
                        <m:sup>
                          <m:f>
                            <m:fPr>
                              <m:ctrlPr>
                                <a:rPr lang="zh-TW" altLang="zh-TW" i="1">
                                  <a:latin typeface="Cambria Math" panose="02040503050406030204" pitchFamily="18" charset="0"/>
                                </a:rPr>
                              </m:ctrlPr>
                            </m:fPr>
                            <m:num>
                              <m:r>
                                <a:rPr lang="en-US" altLang="zh-TW">
                                  <a:latin typeface="Cambria Math" panose="02040503050406030204" pitchFamily="18" charset="0"/>
                                </a:rPr>
                                <m:t>1</m:t>
                              </m:r>
                            </m:num>
                            <m:den>
                              <m:r>
                                <a:rPr lang="en-US" altLang="zh-TW">
                                  <a:latin typeface="Cambria Math" panose="02040503050406030204" pitchFamily="18" charset="0"/>
                                </a:rPr>
                                <m:t>2</m:t>
                              </m:r>
                            </m:den>
                          </m:f>
                          <m:sSup>
                            <m:sSupPr>
                              <m:ctrlPr>
                                <a:rPr lang="zh-TW" altLang="zh-TW" i="1">
                                  <a:latin typeface="Cambria Math" panose="02040503050406030204" pitchFamily="18" charset="0"/>
                                </a:rPr>
                              </m:ctrlPr>
                            </m:sSupPr>
                            <m:e>
                              <m:r>
                                <a:rPr lang="en-US" altLang="zh-TW" i="1">
                                  <a:latin typeface="Cambria Math" panose="02040503050406030204" pitchFamily="18" charset="0"/>
                                </a:rPr>
                                <m:t>𝜀</m:t>
                              </m:r>
                            </m:e>
                            <m:sup>
                              <m:r>
                                <a:rPr lang="zh-TW" altLang="en-US" i="1">
                                  <a:latin typeface="Cambria Math" panose="02040503050406030204" pitchFamily="18" charset="0"/>
                                </a:rPr>
                                <m:t>∗</m:t>
                              </m:r>
                            </m:sup>
                          </m:sSup>
                          <m:sSup>
                            <m:sSupPr>
                              <m:ctrlPr>
                                <a:rPr lang="zh-TW" altLang="zh-TW" i="1">
                                  <a:latin typeface="Cambria Math" panose="02040503050406030204" pitchFamily="18" charset="0"/>
                                </a:rPr>
                              </m:ctrlPr>
                            </m:sSupPr>
                            <m:e>
                              <m:acc>
                                <m:accPr>
                                  <m:chr m:val="̂"/>
                                  <m:ctrlPr>
                                    <a:rPr lang="zh-TW" altLang="zh-TW" i="1">
                                      <a:latin typeface="Cambria Math" panose="02040503050406030204" pitchFamily="18" charset="0"/>
                                    </a:rPr>
                                  </m:ctrlPr>
                                </m:accPr>
                                <m:e>
                                  <m:r>
                                    <a:rPr lang="en-US" altLang="zh-TW" i="1">
                                      <a:latin typeface="Cambria Math" panose="02040503050406030204" pitchFamily="18" charset="0"/>
                                    </a:rPr>
                                    <m:t>𝑎</m:t>
                                  </m:r>
                                </m:e>
                              </m:acc>
                            </m:e>
                            <m:sup>
                              <m:r>
                                <a:rPr lang="en-US" altLang="zh-TW">
                                  <a:latin typeface="Cambria Math" panose="02040503050406030204" pitchFamily="18" charset="0"/>
                                </a:rPr>
                                <m:t>2</m:t>
                              </m:r>
                            </m:sup>
                          </m:sSup>
                        </m:sup>
                      </m:sSup>
                      <m:sSup>
                        <m:sSupPr>
                          <m:ctrlPr>
                            <a:rPr lang="zh-TW" altLang="zh-TW" i="1">
                              <a:latin typeface="Cambria Math" panose="02040503050406030204" pitchFamily="18" charset="0"/>
                            </a:rPr>
                          </m:ctrlPr>
                        </m:sSupPr>
                        <m:e>
                          <m:r>
                            <a:rPr lang="en-US" altLang="zh-TW" i="1">
                              <a:latin typeface="Cambria Math" panose="02040503050406030204" pitchFamily="18" charset="0"/>
                            </a:rPr>
                            <m:t>𝑒</m:t>
                          </m:r>
                        </m:e>
                        <m: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a:latin typeface="Cambria Math" panose="02040503050406030204" pitchFamily="18" charset="0"/>
                                </a:rPr>
                                <m:t>1</m:t>
                              </m:r>
                            </m:num>
                            <m:den>
                              <m:r>
                                <a:rPr lang="en-US" altLang="zh-TW">
                                  <a:latin typeface="Cambria Math" panose="02040503050406030204" pitchFamily="18" charset="0"/>
                                </a:rPr>
                                <m:t>2</m:t>
                              </m:r>
                            </m:den>
                          </m:f>
                          <m:r>
                            <a:rPr lang="en-US" altLang="zh-TW" i="1">
                              <a:latin typeface="Cambria Math" panose="02040503050406030204" pitchFamily="18" charset="0"/>
                            </a:rPr>
                            <m:t>𝜀</m:t>
                          </m:r>
                          <m:sSup>
                            <m:sSupPr>
                              <m:ctrlPr>
                                <a:rPr lang="zh-TW" altLang="zh-TW" i="1">
                                  <a:latin typeface="Cambria Math" panose="02040503050406030204" pitchFamily="18" charset="0"/>
                                </a:rPr>
                              </m:ctrlPr>
                            </m:sSupPr>
                            <m:e>
                              <m:sSup>
                                <m:sSupPr>
                                  <m:ctrlPr>
                                    <a:rPr lang="zh-TW" altLang="zh-TW" i="1">
                                      <a:latin typeface="Cambria Math" panose="02040503050406030204" pitchFamily="18" charset="0"/>
                                    </a:rPr>
                                  </m:ctrlPr>
                                </m:sSupPr>
                                <m:e>
                                  <m:acc>
                                    <m:accPr>
                                      <m:chr m:val="̂"/>
                                      <m:ctrlPr>
                                        <a:rPr lang="zh-TW" altLang="zh-TW" i="1">
                                          <a:latin typeface="Cambria Math" panose="02040503050406030204" pitchFamily="18" charset="0"/>
                                        </a:rPr>
                                      </m:ctrlPr>
                                    </m:accPr>
                                    <m:e>
                                      <m:r>
                                        <a:rPr lang="en-US" altLang="zh-TW" i="1">
                                          <a:latin typeface="Cambria Math" panose="02040503050406030204" pitchFamily="18" charset="0"/>
                                        </a:rPr>
                                        <m:t>𝑎</m:t>
                                      </m:r>
                                    </m:e>
                                  </m:acc>
                                </m:e>
                                <m:sup>
                                  <m:r>
                                    <a:rPr lang="en-US" altLang="zh-TW">
                                      <a:latin typeface="Cambria Math" panose="02040503050406030204" pitchFamily="18" charset="0"/>
                                    </a:rPr>
                                    <m:t>†</m:t>
                                  </m:r>
                                </m:sup>
                              </m:sSup>
                            </m:e>
                            <m:sup>
                              <m:r>
                                <a:rPr lang="en-US" altLang="zh-TW">
                                  <a:latin typeface="Cambria Math" panose="02040503050406030204" pitchFamily="18" charset="0"/>
                                </a:rPr>
                                <m:t>2</m:t>
                              </m:r>
                            </m:sup>
                          </m:sSup>
                        </m:sup>
                      </m:sSup>
                    </m:oMath>
                  </m:oMathPara>
                </a14:m>
                <a:endParaRPr lang="en-US" altLang="zh-TW" sz="2000" i="1" dirty="0">
                  <a:solidFill>
                    <a:srgbClr val="483832"/>
                  </a:solidFill>
                  <a:latin typeface="Cambria Math" panose="02040503050406030204" pitchFamily="18" charset="0"/>
                </a:endParaRPr>
              </a:p>
              <a:p>
                <a:pPr>
                  <a:lnSpc>
                    <a:spcPts val="2400"/>
                  </a:lnSpc>
                </a:pPr>
                <a:endParaRPr lang="en-US" altLang="zh-TW" sz="2000" i="1" dirty="0">
                  <a:solidFill>
                    <a:srgbClr val="483832"/>
                  </a:solidFill>
                  <a:latin typeface="Cambria Math" panose="02040503050406030204" pitchFamily="18" charset="0"/>
                </a:endParaRPr>
              </a:p>
              <a:p>
                <a:pPr>
                  <a:lnSpc>
                    <a:spcPts val="2400"/>
                  </a:lnSpc>
                </a:pPr>
                <a14:m>
                  <m:oMathPara xmlns:m="http://schemas.openxmlformats.org/officeDocument/2006/math">
                    <m:oMathParaPr>
                      <m:jc m:val="centerGroup"/>
                    </m:oMathParaPr>
                    <m:oMath xmlns:m="http://schemas.openxmlformats.org/officeDocument/2006/math">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1</m:t>
                                  </m:r>
                                </m:sub>
                              </m:sSub>
                            </m:e>
                          </m:d>
                        </m:e>
                        <m:sup>
                          <m:r>
                            <a:rPr lang="zh-TW" altLang="en-US" sz="2000">
                              <a:solidFill>
                                <a:srgbClr val="483832"/>
                              </a:solidFill>
                              <a:latin typeface="Cambria Math" panose="02040503050406030204" pitchFamily="18" charset="0"/>
                            </a:rPr>
                            <m:t>2</m:t>
                          </m:r>
                        </m:sup>
                      </m:sSup>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2</m:t>
                                  </m:r>
                                </m:sub>
                              </m:sSub>
                            </m:e>
                          </m:d>
                        </m:e>
                        <m:sup>
                          <m:r>
                            <a:rPr lang="zh-TW" altLang="en-US" sz="2000">
                              <a:solidFill>
                                <a:srgbClr val="483832"/>
                              </a:solidFill>
                              <a:latin typeface="Cambria Math" panose="02040503050406030204" pitchFamily="18" charset="0"/>
                            </a:rPr>
                            <m:t>2</m:t>
                          </m:r>
                        </m:sup>
                      </m:sSup>
                      <m:r>
                        <a:rPr lang="zh-TW" altLang="en-US" sz="2000">
                          <a:solidFill>
                            <a:srgbClr val="483832"/>
                          </a:solidFill>
                          <a:latin typeface="Cambria Math" panose="02040503050406030204" pitchFamily="18" charset="0"/>
                        </a:rPr>
                        <m:t>=</m:t>
                      </m:r>
                      <m:sSup>
                        <m:sSupPr>
                          <m:ctrlPr>
                            <a:rPr lang="zh-TW" altLang="en-US" sz="2000" i="1">
                              <a:solidFill>
                                <a:srgbClr val="483832"/>
                              </a:solidFill>
                              <a:latin typeface="Cambria Math" panose="02040503050406030204" pitchFamily="18" charset="0"/>
                            </a:rPr>
                          </m:ctrlPr>
                        </m:sSupPr>
                        <m:e>
                          <m:r>
                            <a:rPr lang="zh-TW" altLang="en-US" sz="2000" i="1">
                              <a:solidFill>
                                <a:srgbClr val="483832"/>
                              </a:solidFill>
                              <a:latin typeface="Cambria Math" panose="02040503050406030204" pitchFamily="18" charset="0"/>
                            </a:rPr>
                            <m:t>𝑒</m:t>
                          </m:r>
                        </m:e>
                        <m:sup>
                          <m:r>
                            <a:rPr lang="zh-TW" altLang="en-US" sz="2000">
                              <a:solidFill>
                                <a:srgbClr val="483832"/>
                              </a:solidFill>
                              <a:latin typeface="Cambria Math" panose="02040503050406030204" pitchFamily="18" charset="0"/>
                            </a:rPr>
                            <m:t>−2</m:t>
                          </m:r>
                          <m:r>
                            <a:rPr lang="zh-TW" altLang="en-US" sz="2000" i="1">
                              <a:solidFill>
                                <a:srgbClr val="483832"/>
                              </a:solidFill>
                              <a:latin typeface="Cambria Math" panose="02040503050406030204" pitchFamily="18" charset="0"/>
                            </a:rPr>
                            <m:t>𝑟</m:t>
                          </m:r>
                        </m:sup>
                      </m:sSup>
                      <m:sSup>
                        <m:sSupPr>
                          <m:ctrlPr>
                            <a:rPr lang="zh-TW" altLang="en-US" sz="2000" i="1">
                              <a:solidFill>
                                <a:srgbClr val="483832"/>
                              </a:solidFill>
                              <a:latin typeface="Cambria Math" panose="02040503050406030204" pitchFamily="18" charset="0"/>
                            </a:rPr>
                          </m:ctrlPr>
                        </m:sSupPr>
                        <m:e>
                          <m:r>
                            <a:rPr lang="zh-TW" altLang="en-US" sz="2000" i="1">
                              <a:solidFill>
                                <a:srgbClr val="483832"/>
                              </a:solidFill>
                              <a:latin typeface="Cambria Math" panose="02040503050406030204" pitchFamily="18" charset="0"/>
                            </a:rPr>
                            <m:t>𝑒</m:t>
                          </m:r>
                        </m:e>
                        <m:sup>
                          <m:r>
                            <a:rPr lang="zh-TW" altLang="en-US" sz="2000">
                              <a:solidFill>
                                <a:srgbClr val="483832"/>
                              </a:solidFill>
                              <a:latin typeface="Cambria Math" panose="02040503050406030204" pitchFamily="18" charset="0"/>
                            </a:rPr>
                            <m:t>2</m:t>
                          </m:r>
                          <m:r>
                            <a:rPr lang="zh-TW" altLang="en-US" sz="2000" i="1">
                              <a:solidFill>
                                <a:srgbClr val="483832"/>
                              </a:solidFill>
                              <a:latin typeface="Cambria Math" panose="02040503050406030204" pitchFamily="18" charset="0"/>
                            </a:rPr>
                            <m:t>𝑟</m:t>
                          </m:r>
                        </m:sup>
                      </m:sSup>
                      <m:r>
                        <a:rPr lang="zh-TW" altLang="en-US" sz="2000">
                          <a:solidFill>
                            <a:srgbClr val="483832"/>
                          </a:solidFill>
                          <a:latin typeface="Cambria Math" panose="02040503050406030204" pitchFamily="18" charset="0"/>
                        </a:rPr>
                        <m:t>=1</m:t>
                      </m:r>
                    </m:oMath>
                  </m:oMathPara>
                </a14:m>
                <a:endParaRPr lang="en-US" altLang="zh-TW" sz="2000" dirty="0">
                  <a:solidFill>
                    <a:srgbClr val="483832"/>
                  </a:solidFill>
                  <a:latin typeface="Cambria Math" panose="02040503050406030204" pitchFamily="18" charset="0"/>
                </a:endParaRPr>
              </a:p>
              <a:p>
                <a:pPr>
                  <a:lnSpc>
                    <a:spcPts val="2400"/>
                  </a:lnSpc>
                </a:pPr>
                <a:endParaRPr lang="en-US" altLang="zh-TW" sz="2000" dirty="0">
                  <a:solidFill>
                    <a:srgbClr val="483832"/>
                  </a:solidFill>
                  <a:latin typeface="Cambria Math" panose="02040503050406030204" pitchFamily="18" charset="0"/>
                </a:endParaRPr>
              </a:p>
              <a:p>
                <a:pPr>
                  <a:lnSpc>
                    <a:spcPts val="2400"/>
                  </a:lnSpc>
                </a:pPr>
                <a14:m>
                  <m:oMathPara xmlns:m="http://schemas.openxmlformats.org/officeDocument/2006/math">
                    <m:oMathParaPr>
                      <m:jc m:val="centerGroup"/>
                    </m:oMathParaPr>
                    <m:oMath xmlns:m="http://schemas.openxmlformats.org/officeDocument/2006/math">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1</m:t>
                                  </m:r>
                                </m:sub>
                              </m:sSub>
                            </m:e>
                          </m:d>
                        </m:e>
                        <m:sup>
                          <m:r>
                            <a:rPr lang="zh-TW" altLang="en-US" sz="2000">
                              <a:solidFill>
                                <a:srgbClr val="483832"/>
                              </a:solidFill>
                              <a:latin typeface="Cambria Math" panose="02040503050406030204" pitchFamily="18" charset="0"/>
                            </a:rPr>
                            <m:t>2</m:t>
                          </m:r>
                        </m:sup>
                      </m:sSup>
                      <m:r>
                        <a:rPr lang="en-US" altLang="zh-TW" sz="2000" b="0" i="1" smtClean="0">
                          <a:solidFill>
                            <a:srgbClr val="483832"/>
                          </a:solidFill>
                          <a:latin typeface="Cambria Math" panose="02040503050406030204" pitchFamily="18" charset="0"/>
                        </a:rPr>
                        <m:t> </m:t>
                      </m:r>
                      <m:r>
                        <m:rPr>
                          <m:sty m:val="p"/>
                        </m:rPr>
                        <a:rPr lang="en-US" altLang="zh-TW" sz="2000" b="0" i="0" smtClean="0">
                          <a:solidFill>
                            <a:srgbClr val="483832"/>
                          </a:solidFill>
                          <a:latin typeface="Cambria Math" panose="02040503050406030204" pitchFamily="18" charset="0"/>
                        </a:rPr>
                        <m:t>or</m:t>
                      </m:r>
                      <m:r>
                        <a:rPr lang="en-US" altLang="zh-TW" sz="2000" b="0" i="1" smtClean="0">
                          <a:solidFill>
                            <a:srgbClr val="483832"/>
                          </a:solidFill>
                          <a:latin typeface="Cambria Math" panose="02040503050406030204" pitchFamily="18" charset="0"/>
                        </a:rPr>
                        <m:t> </m:t>
                      </m:r>
                      <m:sSup>
                        <m:sSupPr>
                          <m:ctrlPr>
                            <a:rPr lang="zh-TW" altLang="en-US" sz="2000" i="1">
                              <a:solidFill>
                                <a:srgbClr val="483832"/>
                              </a:solidFill>
                              <a:latin typeface="Cambria Math" panose="02040503050406030204" pitchFamily="18" charset="0"/>
                            </a:rPr>
                          </m:ctrlPr>
                        </m:sSupPr>
                        <m:e>
                          <m:d>
                            <m:dPr>
                              <m:ctrlPr>
                                <a:rPr lang="zh-TW" altLang="en-US" sz="2000" i="1">
                                  <a:solidFill>
                                    <a:srgbClr val="483832"/>
                                  </a:solidFill>
                                  <a:latin typeface="Cambria Math" panose="02040503050406030204" pitchFamily="18" charset="0"/>
                                </a:rPr>
                              </m:ctrlPr>
                            </m:dPr>
                            <m:e>
                              <m:r>
                                <m:rPr>
                                  <m:sty m:val="p"/>
                                </m:rPr>
                                <a:rPr lang="zh-TW" altLang="en-US" sz="2000">
                                  <a:solidFill>
                                    <a:srgbClr val="483832"/>
                                  </a:solidFill>
                                  <a:latin typeface="Cambria Math" panose="02040503050406030204" pitchFamily="18" charset="0"/>
                                </a:rPr>
                                <m:t>Δ</m:t>
                              </m:r>
                              <m:sSub>
                                <m:sSubPr>
                                  <m:ctrlPr>
                                    <a:rPr lang="zh-TW" altLang="en-US" sz="2000" i="1">
                                      <a:solidFill>
                                        <a:srgbClr val="483832"/>
                                      </a:solidFill>
                                      <a:latin typeface="Cambria Math" panose="02040503050406030204" pitchFamily="18" charset="0"/>
                                    </a:rPr>
                                  </m:ctrlPr>
                                </m:sSub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𝑋</m:t>
                                      </m:r>
                                    </m:e>
                                  </m:acc>
                                </m:e>
                                <m:sub>
                                  <m:r>
                                    <a:rPr lang="zh-TW" altLang="en-US" sz="2000">
                                      <a:solidFill>
                                        <a:srgbClr val="483832"/>
                                      </a:solidFill>
                                      <a:latin typeface="Cambria Math" panose="02040503050406030204" pitchFamily="18" charset="0"/>
                                    </a:rPr>
                                    <m:t>2</m:t>
                                  </m:r>
                                </m:sub>
                              </m:sSub>
                            </m:e>
                          </m:d>
                        </m:e>
                        <m:sup>
                          <m:r>
                            <a:rPr lang="zh-TW" altLang="en-US" sz="2000">
                              <a:solidFill>
                                <a:srgbClr val="483832"/>
                              </a:solidFill>
                              <a:latin typeface="Cambria Math" panose="02040503050406030204" pitchFamily="18" charset="0"/>
                            </a:rPr>
                            <m:t>2</m:t>
                          </m:r>
                        </m:sup>
                      </m:sSup>
                      <m:r>
                        <m:rPr>
                          <m:nor/>
                        </m:rPr>
                        <a:rPr lang="en-US" altLang="zh-TW" sz="2000" dirty="0">
                          <a:solidFill>
                            <a:srgbClr val="483832"/>
                          </a:solidFill>
                          <a:latin typeface="Cambria Math" panose="02040503050406030204" pitchFamily="18" charset="0"/>
                        </a:rPr>
                        <m:t>≤ 1</m:t>
                      </m:r>
                    </m:oMath>
                  </m:oMathPara>
                </a14:m>
                <a:endParaRPr lang="en-US" altLang="zh-TW" sz="2000" dirty="0">
                  <a:solidFill>
                    <a:srgbClr val="483832"/>
                  </a:solidFill>
                  <a:latin typeface="Cambria Math" panose="02040503050406030204" pitchFamily="18" charset="0"/>
                </a:endParaRPr>
              </a:p>
              <a:p>
                <a:pPr>
                  <a:lnSpc>
                    <a:spcPts val="2400"/>
                  </a:lnSpc>
                </a:pPr>
                <a:endParaRPr lang="en-US" altLang="zh-TW" sz="2000" dirty="0">
                  <a:solidFill>
                    <a:srgbClr val="483832"/>
                  </a:solidFill>
                  <a:latin typeface="Cambria Math" panose="02040503050406030204" pitchFamily="18" charset="0"/>
                </a:endParaRPr>
              </a:p>
              <a:p>
                <a:pPr>
                  <a:lnSpc>
                    <a:spcPts val="2400"/>
                  </a:lnSpc>
                </a:pPr>
                <a14:m>
                  <m:oMathPara xmlns:m="http://schemas.openxmlformats.org/officeDocument/2006/math">
                    <m:oMathParaPr>
                      <m:jc m:val="centerGroup"/>
                    </m:oMathParaPr>
                    <m:oMath xmlns:m="http://schemas.openxmlformats.org/officeDocument/2006/math">
                      <m:r>
                        <m:rPr>
                          <m:sty m:val="p"/>
                        </m:rPr>
                        <a:rPr lang="zh-TW" altLang="en-US" sz="2000" smtClean="0">
                          <a:solidFill>
                            <a:srgbClr val="483832"/>
                          </a:solidFill>
                          <a:latin typeface="Cambria Math" panose="02040503050406030204" pitchFamily="18" charset="0"/>
                        </a:rPr>
                        <m:t>r</m:t>
                      </m:r>
                      <m:r>
                        <a:rPr lang="zh-TW" altLang="en-US" sz="2000" i="0">
                          <a:solidFill>
                            <a:srgbClr val="483832"/>
                          </a:solidFill>
                          <a:latin typeface="Cambria Math" panose="02040503050406030204" pitchFamily="18" charset="0"/>
                        </a:rPr>
                        <m:t>=</m:t>
                      </m:r>
                      <m:r>
                        <m:rPr>
                          <m:sty m:val="p"/>
                        </m:rPr>
                        <a:rPr lang="zh-TW" altLang="en-US" sz="2000" i="0">
                          <a:solidFill>
                            <a:srgbClr val="483832"/>
                          </a:solidFill>
                          <a:latin typeface="Cambria Math" panose="02040503050406030204" pitchFamily="18" charset="0"/>
                        </a:rPr>
                        <m:t>μ</m:t>
                      </m:r>
                      <m:r>
                        <a:rPr lang="zh-TW" altLang="en-US" sz="2000" i="0">
                          <a:solidFill>
                            <a:srgbClr val="483832"/>
                          </a:solidFill>
                          <a:latin typeface="Cambria Math" panose="02040503050406030204" pitchFamily="18" charset="0"/>
                        </a:rPr>
                        <m:t>∗</m:t>
                      </m:r>
                      <m:rad>
                        <m:radPr>
                          <m:degHide m:val="on"/>
                          <m:ctrlPr>
                            <a:rPr lang="zh-TW" altLang="en-US" sz="2000" i="1">
                              <a:solidFill>
                                <a:srgbClr val="483832"/>
                              </a:solidFill>
                              <a:latin typeface="Cambria Math" panose="02040503050406030204" pitchFamily="18" charset="0"/>
                            </a:rPr>
                          </m:ctrlPr>
                        </m:radPr>
                        <m:deg/>
                        <m:e>
                          <m:r>
                            <a:rPr lang="zh-TW" altLang="en-US" sz="2000" i="1">
                              <a:solidFill>
                                <a:srgbClr val="483832"/>
                              </a:solidFill>
                              <a:latin typeface="Cambria Math" panose="02040503050406030204" pitchFamily="18" charset="0"/>
                            </a:rPr>
                            <m:t>𝑃</m:t>
                          </m:r>
                        </m:e>
                      </m:rad>
                    </m:oMath>
                  </m:oMathPara>
                </a14:m>
                <a:endParaRPr lang="en-US" altLang="zh-TW" sz="2000" dirty="0">
                  <a:solidFill>
                    <a:srgbClr val="483832"/>
                  </a:solidFill>
                  <a:latin typeface="Times New Roman" panose="02020603050405020304" pitchFamily="18" charset="0"/>
                </a:endParaRPr>
              </a:p>
              <a:p>
                <a:pPr>
                  <a:lnSpc>
                    <a:spcPts val="2400"/>
                  </a:lnSpc>
                </a:pPr>
                <a:endParaRPr lang="en-US" altLang="zh-TW" sz="2000" dirty="0">
                  <a:solidFill>
                    <a:srgbClr val="483832"/>
                  </a:solidFill>
                  <a:latin typeface="Times New Roman" panose="02020603050405020304" pitchFamily="18" charset="0"/>
                </a:endParaRPr>
              </a:p>
              <a:p>
                <a:pPr>
                  <a:lnSpc>
                    <a:spcPts val="2400"/>
                  </a:lnSpc>
                </a:pPr>
                <a:r>
                  <a:rPr lang="en-US" altLang="zh-TW" sz="2000" dirty="0">
                    <a:solidFill>
                      <a:srgbClr val="483832"/>
                    </a:solidFill>
                    <a:latin typeface="Times New Roman" panose="02020603050405020304" pitchFamily="18" charset="0"/>
                  </a:rPr>
                  <a:t>r : squeezing parameter</a:t>
                </a:r>
              </a:p>
              <a:p>
                <a:pPr>
                  <a:lnSpc>
                    <a:spcPts val="2400"/>
                  </a:lnSpc>
                </a:pPr>
                <a14:m>
                  <m:oMath xmlns:m="http://schemas.openxmlformats.org/officeDocument/2006/math">
                    <m:r>
                      <m:rPr>
                        <m:sty m:val="p"/>
                      </m:rPr>
                      <a:rPr lang="zh-TW" altLang="en-US" sz="2000" smtClean="0">
                        <a:solidFill>
                          <a:srgbClr val="483832"/>
                        </a:solidFill>
                        <a:latin typeface="Cambria Math" panose="02040503050406030204" pitchFamily="18" charset="0"/>
                      </a:rPr>
                      <m:t>μ</m:t>
                    </m:r>
                  </m:oMath>
                </a14:m>
                <a:r>
                  <a:rPr lang="en-US" altLang="zh-TW" sz="2000" dirty="0">
                    <a:solidFill>
                      <a:srgbClr val="483832"/>
                    </a:solidFill>
                    <a:latin typeface="Times New Roman" panose="02020603050405020304" pitchFamily="18" charset="0"/>
                  </a:rPr>
                  <a:t> : second harmonic efficiency</a:t>
                </a:r>
              </a:p>
              <a:p>
                <a:pPr>
                  <a:lnSpc>
                    <a:spcPts val="2400"/>
                  </a:lnSpc>
                </a:pPr>
                <a:r>
                  <a:rPr lang="en-US" altLang="zh-TW" sz="2000" dirty="0">
                    <a:solidFill>
                      <a:srgbClr val="483832"/>
                    </a:solidFill>
                    <a:latin typeface="Times New Roman" panose="02020603050405020304" pitchFamily="18" charset="0"/>
                  </a:rPr>
                  <a:t>P : pump power</a:t>
                </a:r>
              </a:p>
              <a:p>
                <a:pPr>
                  <a:lnSpc>
                    <a:spcPts val="2400"/>
                  </a:lnSpc>
                </a:pPr>
                <a:endParaRPr lang="zh-TW" altLang="en-US" sz="2000" dirty="0">
                  <a:solidFill>
                    <a:srgbClr val="483832"/>
                  </a:solidFill>
                  <a:latin typeface="Times New Roman" panose="02020603050405020304" pitchFamily="18" charset="0"/>
                </a:endParaRPr>
              </a:p>
            </p:txBody>
          </p:sp>
        </mc:Choice>
        <mc:Fallback xmlns="">
          <p:sp>
            <p:nvSpPr>
              <p:cNvPr id="5" name="矩形: 圓角 4">
                <a:extLst>
                  <a:ext uri="{FF2B5EF4-FFF2-40B4-BE49-F238E27FC236}">
                    <a16:creationId xmlns:a16="http://schemas.microsoft.com/office/drawing/2014/main" id="{E8DC4D2D-6DE0-4B36-825A-6F261169E2B0}"/>
                  </a:ext>
                </a:extLst>
              </p:cNvPr>
              <p:cNvSpPr>
                <a:spLocks noRot="1" noChangeAspect="1" noMove="1" noResize="1" noEditPoints="1" noAdjustHandles="1" noChangeArrowheads="1" noChangeShapeType="1" noTextEdit="1"/>
              </p:cNvSpPr>
              <p:nvPr/>
            </p:nvSpPr>
            <p:spPr>
              <a:xfrm>
                <a:off x="6790151" y="1619398"/>
                <a:ext cx="3895839" cy="4330958"/>
              </a:xfrm>
              <a:prstGeom prst="roundRect">
                <a:avLst>
                  <a:gd name="adj" fmla="val 12011"/>
                </a:avLst>
              </a:prstGeom>
              <a:blipFill>
                <a:blip r:embed="rId3"/>
                <a:stretch>
                  <a:fillRect/>
                </a:stretch>
              </a:blipFill>
              <a:ln w="19050">
                <a:solidFill>
                  <a:schemeClr val="accent1">
                    <a:lumMod val="75000"/>
                  </a:schemeClr>
                </a:solidFill>
                <a:prstDash val="lgDash"/>
              </a:ln>
            </p:spPr>
            <p:txBody>
              <a:bodyPr/>
              <a:lstStyle/>
              <a:p>
                <a:r>
                  <a:rPr lang="zh-TW" altLang="en-US">
                    <a:noFill/>
                  </a:rPr>
                  <a:t> </a:t>
                </a:r>
              </a:p>
            </p:txBody>
          </p:sp>
        </mc:Fallback>
      </mc:AlternateContent>
      <p:grpSp>
        <p:nvGrpSpPr>
          <p:cNvPr id="9" name="群組 8">
            <a:extLst>
              <a:ext uri="{FF2B5EF4-FFF2-40B4-BE49-F238E27FC236}">
                <a16:creationId xmlns:a16="http://schemas.microsoft.com/office/drawing/2014/main" id="{9BAB0844-B2BD-486B-9B8D-F46AB0D0D0D2}"/>
              </a:ext>
            </a:extLst>
          </p:cNvPr>
          <p:cNvGrpSpPr/>
          <p:nvPr/>
        </p:nvGrpSpPr>
        <p:grpSpPr>
          <a:xfrm>
            <a:off x="1506010" y="1769611"/>
            <a:ext cx="4188542" cy="4030532"/>
            <a:chOff x="1094400" y="1630800"/>
            <a:chExt cx="4188542" cy="4030532"/>
          </a:xfrm>
        </p:grpSpPr>
        <p:pic>
          <p:nvPicPr>
            <p:cNvPr id="3" name="圖片 2">
              <a:extLst>
                <a:ext uri="{FF2B5EF4-FFF2-40B4-BE49-F238E27FC236}">
                  <a16:creationId xmlns:a16="http://schemas.microsoft.com/office/drawing/2014/main" id="{04A7B674-E013-45A9-9B89-C7A353B5D68C}"/>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94400" y="1630800"/>
              <a:ext cx="4188542" cy="3600000"/>
            </a:xfrm>
            <a:prstGeom prst="rect">
              <a:avLst/>
            </a:prstGeom>
            <a:noFill/>
          </p:spPr>
        </p:pic>
        <p:sp>
          <p:nvSpPr>
            <p:cNvPr id="6" name="文字方塊 5">
              <a:extLst>
                <a:ext uri="{FF2B5EF4-FFF2-40B4-BE49-F238E27FC236}">
                  <a16:creationId xmlns:a16="http://schemas.microsoft.com/office/drawing/2014/main" id="{2C8ECC14-CFE0-4CC5-A88C-6C6682F4AD7E}"/>
                </a:ext>
              </a:extLst>
            </p:cNvPr>
            <p:cNvSpPr txBox="1"/>
            <p:nvPr/>
          </p:nvSpPr>
          <p:spPr>
            <a:xfrm>
              <a:off x="1994274" y="5292000"/>
              <a:ext cx="2388795" cy="369332"/>
            </a:xfrm>
            <a:prstGeom prst="rect">
              <a:avLst/>
            </a:prstGeom>
            <a:noFill/>
          </p:spPr>
          <p:txBody>
            <a:bodyPr wrap="none" rtlCol="0">
              <a:spAutoFit/>
            </a:bodyPr>
            <a:lstStyle/>
            <a:p>
              <a:pPr algn="ctr"/>
              <a:r>
                <a:rPr lang="en-US" altLang="zh-TW" dirty="0">
                  <a:latin typeface="Times New Roman" panose="02020603050405020304" pitchFamily="18" charset="0"/>
                </a:rPr>
                <a:t>Squeezed</a:t>
              </a:r>
              <a:r>
                <a:rPr lang="zh-TW" altLang="en-US" dirty="0">
                  <a:latin typeface="Times New Roman" panose="02020603050405020304" pitchFamily="18" charset="0"/>
                </a:rPr>
                <a:t> </a:t>
              </a:r>
              <a:r>
                <a:rPr lang="en-US" altLang="zh-TW" dirty="0">
                  <a:latin typeface="Times New Roman" panose="02020603050405020304" pitchFamily="18" charset="0"/>
                </a:rPr>
                <a:t>vacuum state</a:t>
              </a:r>
              <a:endParaRPr lang="zh-TW" altLang="en-US" dirty="0">
                <a:latin typeface="Times New Roman" panose="02020603050405020304" pitchFamily="18" charset="0"/>
              </a:endParaRPr>
            </a:p>
          </p:txBody>
        </p:sp>
      </p:grpSp>
      <p:sp>
        <p:nvSpPr>
          <p:cNvPr id="7" name="投影片編號版面配置區 6">
            <a:extLst>
              <a:ext uri="{FF2B5EF4-FFF2-40B4-BE49-F238E27FC236}">
                <a16:creationId xmlns:a16="http://schemas.microsoft.com/office/drawing/2014/main" id="{A56908D9-2B28-4DF9-B55D-B070727BEF57}"/>
              </a:ext>
            </a:extLst>
          </p:cNvPr>
          <p:cNvSpPr>
            <a:spLocks noGrp="1"/>
          </p:cNvSpPr>
          <p:nvPr>
            <p:ph type="sldNum" sz="quarter" idx="12"/>
          </p:nvPr>
        </p:nvSpPr>
        <p:spPr/>
        <p:txBody>
          <a:bodyPr/>
          <a:lstStyle/>
          <a:p>
            <a:fld id="{9820161B-3DFF-4FF5-AA0E-35496F014571}" type="slidenum">
              <a:rPr lang="zh-TW" altLang="en-US" smtClean="0"/>
              <a:t>9</a:t>
            </a:fld>
            <a:endParaRPr lang="zh-TW" altLang="en-US"/>
          </a:p>
        </p:txBody>
      </p:sp>
      <p:sp>
        <p:nvSpPr>
          <p:cNvPr id="8" name="矩形 7">
            <a:extLst>
              <a:ext uri="{FF2B5EF4-FFF2-40B4-BE49-F238E27FC236}">
                <a16:creationId xmlns:a16="http://schemas.microsoft.com/office/drawing/2014/main" id="{CE28FB42-916F-4791-B3B2-F2EF2F55392D}"/>
              </a:ext>
            </a:extLst>
          </p:cNvPr>
          <p:cNvSpPr/>
          <p:nvPr/>
        </p:nvSpPr>
        <p:spPr>
          <a:xfrm>
            <a:off x="762000" y="6441300"/>
            <a:ext cx="4568283" cy="400110"/>
          </a:xfrm>
          <a:prstGeom prst="rect">
            <a:avLst/>
          </a:prstGeom>
        </p:spPr>
        <p:txBody>
          <a:bodyPr wrap="square">
            <a:spAutoFit/>
          </a:bodyPr>
          <a:lstStyle/>
          <a:p>
            <a:r>
              <a:rPr lang="en-US" altLang="zh-TW" sz="1000" dirty="0">
                <a:latin typeface="Times New Roman" panose="02020603050405020304" pitchFamily="18" charset="0"/>
                <a:cs typeface="Times New Roman" panose="02020603050405020304" pitchFamily="18" charset="0"/>
              </a:rPr>
              <a:t>G. L. </a:t>
            </a:r>
            <a:r>
              <a:rPr lang="en-US" altLang="zh-TW" sz="1000" dirty="0" err="1">
                <a:latin typeface="Times New Roman" panose="02020603050405020304" pitchFamily="18" charset="0"/>
                <a:cs typeface="Times New Roman" panose="02020603050405020304" pitchFamily="18" charset="0"/>
              </a:rPr>
              <a:t>Mansell,"Squeezed</a:t>
            </a:r>
            <a:r>
              <a:rPr lang="en-US" altLang="zh-TW" sz="1000" dirty="0">
                <a:latin typeface="Times New Roman" panose="02020603050405020304" pitchFamily="18" charset="0"/>
                <a:cs typeface="Times New Roman" panose="02020603050405020304" pitchFamily="18" charset="0"/>
              </a:rPr>
              <a:t> light sources for current and future interferometric gravitational-wave </a:t>
            </a:r>
            <a:r>
              <a:rPr lang="en-US" altLang="zh-TW" sz="1000" dirty="0" err="1">
                <a:latin typeface="Times New Roman" panose="02020603050405020304" pitchFamily="18" charset="0"/>
                <a:cs typeface="Times New Roman" panose="02020603050405020304" pitchFamily="18" charset="0"/>
              </a:rPr>
              <a:t>detectors",PhD</a:t>
            </a:r>
            <a:r>
              <a:rPr lang="en-US" altLang="zh-TW" sz="1000" dirty="0">
                <a:latin typeface="Times New Roman" panose="02020603050405020304" pitchFamily="18" charset="0"/>
                <a:cs typeface="Times New Roman" panose="02020603050405020304" pitchFamily="18" charset="0"/>
              </a:rPr>
              <a:t> </a:t>
            </a:r>
            <a:r>
              <a:rPr lang="en-US" altLang="zh-TW" sz="1000" dirty="0" err="1">
                <a:latin typeface="Times New Roman" panose="02020603050405020304" pitchFamily="18" charset="0"/>
                <a:cs typeface="Times New Roman" panose="02020603050405020304" pitchFamily="18" charset="0"/>
              </a:rPr>
              <a:t>thesis,Australian</a:t>
            </a:r>
            <a:r>
              <a:rPr lang="en-US" altLang="zh-TW" sz="1000" dirty="0">
                <a:latin typeface="Times New Roman" panose="02020603050405020304" pitchFamily="18" charset="0"/>
                <a:cs typeface="Times New Roman" panose="02020603050405020304" pitchFamily="18" charset="0"/>
              </a:rPr>
              <a:t> National University(2018)</a:t>
            </a:r>
            <a:endParaRPr lang="zh-TW" alt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522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CF5603D1-9A26-4AD4-97CE-22B875295230}"/>
              </a:ext>
            </a:extLst>
          </p:cNvPr>
          <p:cNvSpPr>
            <a:spLocks noGrp="1"/>
          </p:cNvSpPr>
          <p:nvPr>
            <p:ph type="body" sz="half" idx="13"/>
          </p:nvPr>
        </p:nvSpPr>
        <p:spPr>
          <a:xfrm>
            <a:off x="2939846" y="16590"/>
            <a:ext cx="6312310" cy="660417"/>
          </a:xfrm>
        </p:spPr>
        <p:txBody>
          <a:bodyPr>
            <a:normAutofit/>
          </a:bodyPr>
          <a:lstStyle/>
          <a:p>
            <a:r>
              <a:rPr lang="en-US" altLang="zh-TW" dirty="0"/>
              <a:t>Balance homodyne detection(BHD)</a:t>
            </a:r>
          </a:p>
        </p:txBody>
      </p:sp>
      <p:pic>
        <p:nvPicPr>
          <p:cNvPr id="3" name="圖片 2">
            <a:extLst>
              <a:ext uri="{FF2B5EF4-FFF2-40B4-BE49-F238E27FC236}">
                <a16:creationId xmlns:a16="http://schemas.microsoft.com/office/drawing/2014/main" id="{9DB01ABE-9330-4CC2-ACD3-9C5A1D1B2915}"/>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1099194" y="1401896"/>
            <a:ext cx="3918516" cy="4563490"/>
          </a:xfrm>
          <a:prstGeom prst="rect">
            <a:avLst/>
          </a:prstGeom>
          <a:noFill/>
          <a:ln>
            <a:noFill/>
          </a:ln>
        </p:spPr>
      </p:pic>
      <p:sp>
        <p:nvSpPr>
          <p:cNvPr id="11" name="矩形: 圓角 10">
            <a:extLst>
              <a:ext uri="{FF2B5EF4-FFF2-40B4-BE49-F238E27FC236}">
                <a16:creationId xmlns:a16="http://schemas.microsoft.com/office/drawing/2014/main" id="{164F92ED-86F3-4970-95AE-A96E6CF2F16D}"/>
              </a:ext>
            </a:extLst>
          </p:cNvPr>
          <p:cNvSpPr/>
          <p:nvPr/>
        </p:nvSpPr>
        <p:spPr>
          <a:xfrm>
            <a:off x="6575045" y="4551680"/>
            <a:ext cx="3820160" cy="1462984"/>
          </a:xfrm>
          <a:prstGeom prst="roundRect">
            <a:avLst>
              <a:gd name="adj" fmla="val 20202"/>
            </a:avLst>
          </a:prstGeom>
          <a:solidFill>
            <a:srgbClr val="F7F6E9"/>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9" name="矩形: 圓角 8">
                <a:extLst>
                  <a:ext uri="{FF2B5EF4-FFF2-40B4-BE49-F238E27FC236}">
                    <a16:creationId xmlns:a16="http://schemas.microsoft.com/office/drawing/2014/main" id="{24958D80-BCD1-44C3-8FD5-C369F5E97E86}"/>
                  </a:ext>
                </a:extLst>
              </p:cNvPr>
              <p:cNvSpPr/>
              <p:nvPr/>
            </p:nvSpPr>
            <p:spPr>
              <a:xfrm>
                <a:off x="5435745" y="1169756"/>
                <a:ext cx="6043141" cy="5027771"/>
              </a:xfrm>
              <a:prstGeom prst="roundRect">
                <a:avLst>
                  <a:gd name="adj" fmla="val 11270"/>
                </a:avLst>
              </a:prstGeom>
              <a:ln w="19050">
                <a:solidFill>
                  <a:schemeClr val="accent1">
                    <a:lumMod val="75000"/>
                  </a:schemeClr>
                </a:solidFill>
                <a:prstDash val="lgDash"/>
              </a:ln>
            </p:spPr>
            <p:txBody>
              <a:bodyPr wrap="none" anchor="ctr" anchorCtr="1">
                <a:spAutoFit/>
              </a:bodyPr>
              <a:lstStyle/>
              <a:p>
                <a:pPr algn="ctr">
                  <a:lnSpc>
                    <a:spcPts val="2400"/>
                  </a:lnSpc>
                </a:pPr>
                <a14:m>
                  <m:oMath xmlns:m="http://schemas.openxmlformats.org/officeDocument/2006/math">
                    <m:r>
                      <a:rPr lang="zh-TW" altLang="zh-TW" sz="2000" i="1" smtClean="0">
                        <a:solidFill>
                          <a:srgbClr val="483832"/>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TW" altLang="zh-TW" sz="2000" i="1">
                            <a:solidFill>
                              <a:srgbClr val="483832"/>
                            </a:solidFill>
                            <a:effectLst/>
                            <a:latin typeface="Cambria Math" panose="02040503050406030204" pitchFamily="18" charset="0"/>
                            <a:ea typeface="Cambria Math" panose="02040503050406030204" pitchFamily="18" charset="0"/>
                          </a:rPr>
                        </m:ctrlPr>
                      </m:sSubPr>
                      <m:e>
                        <m:r>
                          <a:rPr lang="en-US" altLang="zh-TW" sz="2000" i="1">
                            <a:solidFill>
                              <a:srgbClr val="483832"/>
                            </a:solidFill>
                            <a:latin typeface="Cambria Math" panose="02040503050406030204" pitchFamily="18" charset="0"/>
                            <a:ea typeface="DFKai-SB" panose="03000509000000000000" pitchFamily="65" charset="-120"/>
                            <a:cs typeface="Times New Roman" panose="02020603050405020304" pitchFamily="18" charset="0"/>
                          </a:rPr>
                          <m:t>𝜂</m:t>
                        </m:r>
                      </m:e>
                      <m:sub>
                        <m:r>
                          <a:rPr lang="en-US" altLang="zh-TW" sz="2000" i="1">
                            <a:solidFill>
                              <a:srgbClr val="483832"/>
                            </a:solidFill>
                            <a:latin typeface="Cambria Math" panose="02040503050406030204" pitchFamily="18" charset="0"/>
                            <a:ea typeface="DFKai-SB" panose="03000509000000000000" pitchFamily="65" charset="-120"/>
                            <a:cs typeface="Times New Roman" panose="02020603050405020304" pitchFamily="18" charset="0"/>
                          </a:rPr>
                          <m:t>𝑇</m:t>
                        </m:r>
                      </m:sub>
                    </m:sSub>
                    <m:r>
                      <a:rPr lang="zh-TW" altLang="en-US" sz="2000" i="1" smtClean="0">
                        <a:solidFill>
                          <a:srgbClr val="483832"/>
                        </a:solidFill>
                        <a:latin typeface="Cambria Math" panose="02040503050406030204" pitchFamily="18" charset="0"/>
                        <a:ea typeface="DFKai-SB" panose="03000509000000000000" pitchFamily="65" charset="-120"/>
                        <a:cs typeface="Times New Roman" panose="02020603050405020304" pitchFamily="18" charset="0"/>
                      </a:rPr>
                      <m:t> </m:t>
                    </m:r>
                  </m:oMath>
                </a14:m>
                <a:r>
                  <a:rPr lang="en-US" altLang="zh-TW" sz="2000" dirty="0">
                    <a:solidFill>
                      <a:srgbClr val="483832"/>
                    </a:solidFill>
                    <a:latin typeface="Times New Roman" panose="02020603050405020304" pitchFamily="18" charset="0"/>
                  </a:rPr>
                  <a:t>is BS transmittance, </a:t>
                </a:r>
                <a14:m>
                  <m:oMath xmlns:m="http://schemas.openxmlformats.org/officeDocument/2006/math">
                    <m:r>
                      <a:rPr lang="en-US" altLang="zh-TW" sz="2000" i="1">
                        <a:solidFill>
                          <a:srgbClr val="483832"/>
                        </a:solidFill>
                        <a:latin typeface="Cambria Math" panose="02040503050406030204" pitchFamily="18" charset="0"/>
                      </a:rPr>
                      <m:t>𝛽</m:t>
                    </m:r>
                    <m:r>
                      <a:rPr lang="zh-TW" altLang="en-US" sz="2000" i="1" smtClean="0">
                        <a:solidFill>
                          <a:srgbClr val="483832"/>
                        </a:solidFill>
                        <a:latin typeface="Cambria Math" panose="02040503050406030204" pitchFamily="18" charset="0"/>
                      </a:rPr>
                      <m:t> </m:t>
                    </m:r>
                  </m:oMath>
                </a14:m>
                <a:r>
                  <a:rPr lang="en-US" altLang="zh-TW" sz="2000" dirty="0">
                    <a:solidFill>
                      <a:srgbClr val="483832"/>
                    </a:solidFill>
                    <a:latin typeface="Times New Roman" panose="02020603050405020304" pitchFamily="18" charset="0"/>
                  </a:rPr>
                  <a:t>is </a:t>
                </a:r>
                <a14:m>
                  <m:oMath xmlns:m="http://schemas.openxmlformats.org/officeDocument/2006/math">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𝐵</m:t>
                        </m:r>
                      </m:e>
                    </m:acc>
                  </m:oMath>
                </a14:m>
                <a:r>
                  <a:rPr lang="en-US" altLang="zh-TW" sz="2000" dirty="0">
                    <a:solidFill>
                      <a:srgbClr val="483832"/>
                    </a:solidFill>
                    <a:latin typeface="Times New Roman" panose="02020603050405020304" pitchFamily="18" charset="0"/>
                  </a:rPr>
                  <a:t> amplitude</a:t>
                </a:r>
              </a:p>
              <a:p>
                <a:pPr algn="ctr">
                  <a:lnSpc>
                    <a:spcPts val="2400"/>
                  </a:lnSpc>
                </a:pPr>
                <a:endParaRPr lang="en-US" altLang="zh-TW" sz="2000" dirty="0">
                  <a:solidFill>
                    <a:srgbClr val="483832"/>
                  </a:solidFill>
                  <a:latin typeface="Times New Roman" panose="02020603050405020304" pitchFamily="18" charset="0"/>
                </a:endParaRPr>
              </a:p>
              <a:p>
                <a:pPr algn="ctr">
                  <a:lnSpc>
                    <a:spcPts val="2400"/>
                  </a:lnSpc>
                </a:pPr>
                <a14:m>
                  <m:oMathPara xmlns:m="http://schemas.openxmlformats.org/officeDocument/2006/math">
                    <m:oMathParaPr>
                      <m:jc m:val="centerGroup"/>
                    </m:oMathParaPr>
                    <m:oMath xmlns:m="http://schemas.openxmlformats.org/officeDocument/2006/math">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𝐶</m:t>
                          </m:r>
                        </m:e>
                      </m:acc>
                      <m:r>
                        <a:rPr lang="zh-TW" altLang="en-US" sz="2000">
                          <a:solidFill>
                            <a:srgbClr val="483832"/>
                          </a:solidFill>
                          <a:latin typeface="Cambria Math" panose="02040503050406030204" pitchFamily="18" charset="0"/>
                        </a:rPr>
                        <m:t>=</m:t>
                      </m:r>
                      <m:rad>
                        <m:radPr>
                          <m:degHide m:val="on"/>
                          <m:ctrlPr>
                            <a:rPr lang="zh-TW" altLang="en-US" sz="2000" i="1">
                              <a:solidFill>
                                <a:srgbClr val="483832"/>
                              </a:solidFill>
                              <a:latin typeface="Cambria Math" panose="02040503050406030204" pitchFamily="18" charset="0"/>
                            </a:rPr>
                          </m:ctrlPr>
                        </m:radPr>
                        <m:deg/>
                        <m:e>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𝜂</m:t>
                              </m:r>
                            </m:e>
                            <m:sub>
                              <m:r>
                                <a:rPr lang="zh-TW" altLang="en-US" sz="2000" i="1">
                                  <a:solidFill>
                                    <a:srgbClr val="483832"/>
                                  </a:solidFill>
                                  <a:latin typeface="Cambria Math" panose="02040503050406030204" pitchFamily="18" charset="0"/>
                                </a:rPr>
                                <m:t>𝑇</m:t>
                              </m:r>
                            </m:sub>
                          </m:sSub>
                        </m:e>
                      </m:rad>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𝐴</m:t>
                          </m:r>
                        </m:e>
                      </m:acc>
                      <m:r>
                        <a:rPr lang="zh-TW" altLang="en-US" sz="2000">
                          <a:solidFill>
                            <a:srgbClr val="483832"/>
                          </a:solidFill>
                          <a:latin typeface="Cambria Math" panose="02040503050406030204" pitchFamily="18" charset="0"/>
                        </a:rPr>
                        <m:t>+</m:t>
                      </m:r>
                      <m:r>
                        <a:rPr lang="zh-TW" altLang="en-US" sz="2000" i="1">
                          <a:solidFill>
                            <a:srgbClr val="483832"/>
                          </a:solidFill>
                          <a:latin typeface="Cambria Math" panose="02040503050406030204" pitchFamily="18" charset="0"/>
                        </a:rPr>
                        <m:t>𝑖</m:t>
                      </m:r>
                      <m:rad>
                        <m:radPr>
                          <m:degHide m:val="on"/>
                          <m:ctrlPr>
                            <a:rPr lang="zh-TW" altLang="en-US" sz="2000" i="1">
                              <a:solidFill>
                                <a:srgbClr val="483832"/>
                              </a:solidFill>
                              <a:latin typeface="Cambria Math" panose="02040503050406030204" pitchFamily="18" charset="0"/>
                            </a:rPr>
                          </m:ctrlPr>
                        </m:radPr>
                        <m:deg/>
                        <m:e>
                          <m:r>
                            <a:rPr lang="zh-TW" altLang="en-US" sz="2000">
                              <a:solidFill>
                                <a:srgbClr val="483832"/>
                              </a:solidFill>
                              <a:latin typeface="Cambria Math" panose="02040503050406030204" pitchFamily="18" charset="0"/>
                            </a:rPr>
                            <m:t>1−</m:t>
                          </m:r>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𝜂</m:t>
                              </m:r>
                            </m:e>
                            <m:sub>
                              <m:r>
                                <a:rPr lang="zh-TW" altLang="en-US" sz="2000" i="1">
                                  <a:solidFill>
                                    <a:srgbClr val="483832"/>
                                  </a:solidFill>
                                  <a:latin typeface="Cambria Math" panose="02040503050406030204" pitchFamily="18" charset="0"/>
                                </a:rPr>
                                <m:t>𝑇</m:t>
                              </m:r>
                            </m:sub>
                          </m:sSub>
                        </m:e>
                      </m:rad>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𝐵</m:t>
                          </m:r>
                        </m:e>
                      </m:acc>
                    </m:oMath>
                  </m:oMathPara>
                </a14:m>
                <a:endParaRPr lang="en-US" altLang="zh-TW" sz="2000" dirty="0">
                  <a:solidFill>
                    <a:srgbClr val="483832"/>
                  </a:solidFill>
                  <a:latin typeface="Times New Roman" panose="02020603050405020304" pitchFamily="18" charset="0"/>
                </a:endParaRPr>
              </a:p>
              <a:p>
                <a:pPr algn="ctr">
                  <a:lnSpc>
                    <a:spcPts val="2400"/>
                  </a:lnSpc>
                </a:pPr>
                <a:endParaRPr lang="en-US" altLang="zh-TW" sz="2000" dirty="0">
                  <a:solidFill>
                    <a:srgbClr val="483832"/>
                  </a:solidFill>
                  <a:latin typeface="Times New Roman" panose="02020603050405020304" pitchFamily="18" charset="0"/>
                </a:endParaRPr>
              </a:p>
              <a:p>
                <a:pPr algn="ctr">
                  <a:lnSpc>
                    <a:spcPts val="2400"/>
                  </a:lnSpc>
                </a:pPr>
                <a14:m>
                  <m:oMathPara xmlns:m="http://schemas.openxmlformats.org/officeDocument/2006/math">
                    <m:oMathParaPr>
                      <m:jc m:val="centerGroup"/>
                    </m:oMathParaPr>
                    <m:oMath xmlns:m="http://schemas.openxmlformats.org/officeDocument/2006/math">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𝐷</m:t>
                          </m:r>
                        </m:e>
                      </m:acc>
                      <m:r>
                        <a:rPr lang="zh-TW" altLang="en-US" sz="2000">
                          <a:solidFill>
                            <a:srgbClr val="483832"/>
                          </a:solidFill>
                          <a:latin typeface="Cambria Math" panose="02040503050406030204" pitchFamily="18" charset="0"/>
                        </a:rPr>
                        <m:t>=</m:t>
                      </m:r>
                      <m:r>
                        <a:rPr lang="zh-TW" altLang="en-US" sz="2000" i="1">
                          <a:solidFill>
                            <a:srgbClr val="483832"/>
                          </a:solidFill>
                          <a:latin typeface="Cambria Math" panose="02040503050406030204" pitchFamily="18" charset="0"/>
                        </a:rPr>
                        <m:t>𝑖</m:t>
                      </m:r>
                      <m:rad>
                        <m:radPr>
                          <m:degHide m:val="on"/>
                          <m:ctrlPr>
                            <a:rPr lang="zh-TW" altLang="en-US" sz="2000" i="1">
                              <a:solidFill>
                                <a:srgbClr val="483832"/>
                              </a:solidFill>
                              <a:latin typeface="Cambria Math" panose="02040503050406030204" pitchFamily="18" charset="0"/>
                            </a:rPr>
                          </m:ctrlPr>
                        </m:radPr>
                        <m:deg/>
                        <m:e>
                          <m:r>
                            <a:rPr lang="zh-TW" altLang="en-US" sz="2000">
                              <a:solidFill>
                                <a:srgbClr val="483832"/>
                              </a:solidFill>
                              <a:latin typeface="Cambria Math" panose="02040503050406030204" pitchFamily="18" charset="0"/>
                            </a:rPr>
                            <m:t>1−</m:t>
                          </m:r>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𝜂</m:t>
                              </m:r>
                            </m:e>
                            <m:sub>
                              <m:r>
                                <a:rPr lang="zh-TW" altLang="en-US" sz="2000" i="1">
                                  <a:solidFill>
                                    <a:srgbClr val="483832"/>
                                  </a:solidFill>
                                  <a:latin typeface="Cambria Math" panose="02040503050406030204" pitchFamily="18" charset="0"/>
                                </a:rPr>
                                <m:t>𝑇</m:t>
                              </m:r>
                            </m:sub>
                          </m:sSub>
                        </m:e>
                      </m:rad>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𝐴</m:t>
                          </m:r>
                        </m:e>
                      </m:acc>
                      <m:r>
                        <a:rPr lang="zh-TW" altLang="en-US" sz="2000">
                          <a:solidFill>
                            <a:srgbClr val="483832"/>
                          </a:solidFill>
                          <a:latin typeface="Cambria Math" panose="02040503050406030204" pitchFamily="18" charset="0"/>
                        </a:rPr>
                        <m:t>+</m:t>
                      </m:r>
                      <m:rad>
                        <m:radPr>
                          <m:degHide m:val="on"/>
                          <m:ctrlPr>
                            <a:rPr lang="zh-TW" altLang="en-US" sz="2000" i="1">
                              <a:solidFill>
                                <a:srgbClr val="483832"/>
                              </a:solidFill>
                              <a:latin typeface="Cambria Math" panose="02040503050406030204" pitchFamily="18" charset="0"/>
                            </a:rPr>
                          </m:ctrlPr>
                        </m:radPr>
                        <m:deg/>
                        <m:e>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𝜂</m:t>
                              </m:r>
                            </m:e>
                            <m:sub>
                              <m:r>
                                <a:rPr lang="zh-TW" altLang="en-US" sz="2000" i="1">
                                  <a:solidFill>
                                    <a:srgbClr val="483832"/>
                                  </a:solidFill>
                                  <a:latin typeface="Cambria Math" panose="02040503050406030204" pitchFamily="18" charset="0"/>
                                </a:rPr>
                                <m:t>𝑇</m:t>
                              </m:r>
                            </m:sub>
                          </m:sSub>
                        </m:e>
                      </m:rad>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𝐵</m:t>
                          </m:r>
                        </m:e>
                      </m:acc>
                    </m:oMath>
                  </m:oMathPara>
                </a14:m>
                <a:endParaRPr lang="zh-TW" altLang="en-US" sz="2000" dirty="0">
                  <a:solidFill>
                    <a:srgbClr val="483832"/>
                  </a:solidFill>
                  <a:latin typeface="Times New Roman" panose="02020603050405020304" pitchFamily="18" charset="0"/>
                </a:endParaRPr>
              </a:p>
              <a:p>
                <a:pPr algn="ctr">
                  <a:lnSpc>
                    <a:spcPts val="2400"/>
                  </a:lnSpc>
                </a:pPr>
                <a:endParaRPr lang="en-US" altLang="zh-TW" sz="2000" dirty="0">
                  <a:solidFill>
                    <a:srgbClr val="483832"/>
                  </a:solidFill>
                  <a:latin typeface="Times New Roman" panose="02020603050405020304" pitchFamily="18" charset="0"/>
                </a:endParaRPr>
              </a:p>
              <a:p>
                <a:pPr algn="ctr">
                  <a:lnSpc>
                    <a:spcPts val="2400"/>
                  </a:lnSpc>
                </a:pPr>
                <a14:m>
                  <m:oMath xmlns:m="http://schemas.openxmlformats.org/officeDocument/2006/math">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𝐼</m:t>
                        </m:r>
                      </m:e>
                      <m:sub>
                        <m:r>
                          <a:rPr lang="zh-TW" altLang="en-US" sz="2000" i="1">
                            <a:solidFill>
                              <a:srgbClr val="483832"/>
                            </a:solidFill>
                            <a:latin typeface="Cambria Math" panose="02040503050406030204" pitchFamily="18" charset="0"/>
                          </a:rPr>
                          <m:t>𝐶</m:t>
                        </m:r>
                      </m:sub>
                    </m:sSub>
                    <m:r>
                      <a:rPr lang="zh-TW" altLang="en-US" sz="2000">
                        <a:solidFill>
                          <a:srgbClr val="483832"/>
                        </a:solidFill>
                        <a:latin typeface="Cambria Math" panose="02040503050406030204" pitchFamily="18" charset="0"/>
                      </a:rPr>
                      <m:t>−</m:t>
                    </m:r>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𝐼</m:t>
                        </m:r>
                      </m:e>
                      <m:sub>
                        <m:r>
                          <a:rPr lang="zh-TW" altLang="en-US" sz="2000" i="1">
                            <a:solidFill>
                              <a:srgbClr val="483832"/>
                            </a:solidFill>
                            <a:latin typeface="Cambria Math" panose="02040503050406030204" pitchFamily="18" charset="0"/>
                          </a:rPr>
                          <m:t>𝐷</m:t>
                        </m:r>
                      </m:sub>
                    </m:sSub>
                    <m:r>
                      <a:rPr lang="zh-TW" altLang="en-US" sz="2000">
                        <a:solidFill>
                          <a:srgbClr val="483832"/>
                        </a:solidFill>
                        <a:latin typeface="Cambria Math" panose="02040503050406030204" pitchFamily="18" charset="0"/>
                      </a:rPr>
                      <m:t>=</m:t>
                    </m:r>
                    <m:sSup>
                      <m:sSupPr>
                        <m:ctrlPr>
                          <a:rPr lang="zh-TW" altLang="zh-TW" sz="2000" i="1">
                            <a:solidFill>
                              <a:srgbClr val="483832"/>
                            </a:solidFill>
                            <a:latin typeface="Cambria Math" panose="02040503050406030204" pitchFamily="18" charset="0"/>
                          </a:rPr>
                        </m:ctrlPr>
                      </m:sSupPr>
                      <m:e>
                        <m:acc>
                          <m:accPr>
                            <m:chr m:val="̂"/>
                            <m:ctrlPr>
                              <a:rPr lang="zh-TW" altLang="zh-TW" sz="2000" i="1">
                                <a:solidFill>
                                  <a:srgbClr val="483832"/>
                                </a:solidFill>
                                <a:latin typeface="Cambria Math" panose="02040503050406030204" pitchFamily="18" charset="0"/>
                              </a:rPr>
                            </m:ctrlPr>
                          </m:accPr>
                          <m:e>
                            <m:r>
                              <a:rPr lang="en-US" altLang="zh-TW" sz="2000" i="1">
                                <a:solidFill>
                                  <a:srgbClr val="483832"/>
                                </a:solidFill>
                                <a:latin typeface="Cambria Math" panose="02040503050406030204" pitchFamily="18" charset="0"/>
                              </a:rPr>
                              <m:t>𝐶</m:t>
                            </m:r>
                          </m:e>
                        </m:acc>
                      </m:e>
                      <m:sup>
                        <m:r>
                          <a:rPr lang="en-US" altLang="zh-TW" sz="2000">
                            <a:solidFill>
                              <a:srgbClr val="483832"/>
                            </a:solidFill>
                            <a:latin typeface="Cambria Math" panose="02040503050406030204" pitchFamily="18" charset="0"/>
                          </a:rPr>
                          <m:t>†</m:t>
                        </m:r>
                      </m:sup>
                    </m:sSup>
                    <m:acc>
                      <m:accPr>
                        <m:chr m:val="̂"/>
                        <m:ctrlPr>
                          <a:rPr lang="zh-TW" altLang="zh-TW" sz="2000" i="1">
                            <a:solidFill>
                              <a:srgbClr val="483832"/>
                            </a:solidFill>
                            <a:latin typeface="Cambria Math" panose="02040503050406030204" pitchFamily="18" charset="0"/>
                          </a:rPr>
                        </m:ctrlPr>
                      </m:accPr>
                      <m:e>
                        <m:r>
                          <a:rPr lang="en-US" altLang="zh-TW" sz="2000" i="1">
                            <a:solidFill>
                              <a:srgbClr val="483832"/>
                            </a:solidFill>
                            <a:latin typeface="Cambria Math" panose="02040503050406030204" pitchFamily="18" charset="0"/>
                          </a:rPr>
                          <m:t>𝐶</m:t>
                        </m:r>
                      </m:e>
                    </m:acc>
                    <m:r>
                      <a:rPr lang="en-US" altLang="zh-TW" sz="2000" i="1">
                        <a:solidFill>
                          <a:srgbClr val="483832"/>
                        </a:solidFill>
                        <a:latin typeface="Cambria Math" panose="02040503050406030204" pitchFamily="18" charset="0"/>
                      </a:rPr>
                      <m:t>−</m:t>
                    </m:r>
                    <m:sSup>
                      <m:sSupPr>
                        <m:ctrlPr>
                          <a:rPr lang="zh-TW" altLang="zh-TW" sz="2000" i="1">
                            <a:solidFill>
                              <a:srgbClr val="483832"/>
                            </a:solidFill>
                            <a:latin typeface="Cambria Math" panose="02040503050406030204" pitchFamily="18" charset="0"/>
                          </a:rPr>
                        </m:ctrlPr>
                      </m:sSupPr>
                      <m:e>
                        <m:acc>
                          <m:accPr>
                            <m:chr m:val="̂"/>
                            <m:ctrlPr>
                              <a:rPr lang="zh-TW" altLang="zh-TW" sz="2000" i="1">
                                <a:solidFill>
                                  <a:srgbClr val="483832"/>
                                </a:solidFill>
                                <a:latin typeface="Cambria Math" panose="02040503050406030204" pitchFamily="18" charset="0"/>
                              </a:rPr>
                            </m:ctrlPr>
                          </m:accPr>
                          <m:e>
                            <m:r>
                              <a:rPr lang="en-US" altLang="zh-TW" sz="2000" i="1">
                                <a:solidFill>
                                  <a:srgbClr val="483832"/>
                                </a:solidFill>
                                <a:latin typeface="Cambria Math" panose="02040503050406030204" pitchFamily="18" charset="0"/>
                              </a:rPr>
                              <m:t>𝐷</m:t>
                            </m:r>
                          </m:e>
                        </m:acc>
                      </m:e>
                      <m:sup>
                        <m:r>
                          <a:rPr lang="en-US" altLang="zh-TW" sz="2000">
                            <a:solidFill>
                              <a:srgbClr val="483832"/>
                            </a:solidFill>
                            <a:latin typeface="Cambria Math" panose="02040503050406030204" pitchFamily="18" charset="0"/>
                          </a:rPr>
                          <m:t>†</m:t>
                        </m:r>
                      </m:sup>
                    </m:sSup>
                    <m:acc>
                      <m:accPr>
                        <m:chr m:val="̂"/>
                        <m:ctrlPr>
                          <a:rPr lang="zh-TW" altLang="zh-TW" sz="2000" i="1">
                            <a:solidFill>
                              <a:srgbClr val="483832"/>
                            </a:solidFill>
                            <a:latin typeface="Cambria Math" panose="02040503050406030204" pitchFamily="18" charset="0"/>
                          </a:rPr>
                        </m:ctrlPr>
                      </m:accPr>
                      <m:e>
                        <m:r>
                          <a:rPr lang="en-US" altLang="zh-TW" sz="2000" i="1">
                            <a:solidFill>
                              <a:srgbClr val="483832"/>
                            </a:solidFill>
                            <a:latin typeface="Cambria Math" panose="02040503050406030204" pitchFamily="18" charset="0"/>
                          </a:rPr>
                          <m:t>𝐷</m:t>
                        </m:r>
                      </m:e>
                    </m:acc>
                    <m:r>
                      <a:rPr lang="en-US" altLang="zh-TW" sz="2000" i="1">
                        <a:solidFill>
                          <a:srgbClr val="483832"/>
                        </a:solidFill>
                        <a:latin typeface="Cambria Math" panose="02040503050406030204" pitchFamily="18" charset="0"/>
                      </a:rPr>
                      <m:t>=</m:t>
                    </m:r>
                    <m:r>
                      <a:rPr lang="zh-TW" altLang="en-US" sz="2000" i="1">
                        <a:solidFill>
                          <a:srgbClr val="483832"/>
                        </a:solidFill>
                        <a:latin typeface="Cambria Math" panose="02040503050406030204" pitchFamily="18" charset="0"/>
                      </a:rPr>
                      <m:t>𝛽</m:t>
                    </m:r>
                    <m:d>
                      <m:dPr>
                        <m:begChr m:val="〈"/>
                        <m:endChr m:val="〉"/>
                        <m:ctrlPr>
                          <a:rPr lang="zh-TW" altLang="en-US" sz="2000" i="1">
                            <a:solidFill>
                              <a:srgbClr val="483832"/>
                            </a:solidFill>
                            <a:latin typeface="Cambria Math" panose="02040503050406030204" pitchFamily="18" charset="0"/>
                          </a:rPr>
                        </m:ctrlPr>
                      </m:dPr>
                      <m:e>
                        <m:sSup>
                          <m:sSupPr>
                            <m:ctrlPr>
                              <a:rPr lang="zh-TW" altLang="en-US" sz="2000" i="1">
                                <a:solidFill>
                                  <a:srgbClr val="483832"/>
                                </a:solidFill>
                                <a:latin typeface="Cambria Math" panose="02040503050406030204" pitchFamily="18" charset="0"/>
                              </a:rPr>
                            </m:ctrlPr>
                          </m:sSupPr>
                          <m:e>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𝐴</m:t>
                                </m:r>
                              </m:e>
                            </m:acc>
                          </m:e>
                          <m:sup>
                            <m:r>
                              <a:rPr lang="zh-TW" altLang="en-US" sz="2000">
                                <a:solidFill>
                                  <a:srgbClr val="483832"/>
                                </a:solidFill>
                                <a:latin typeface="Cambria Math" panose="02040503050406030204" pitchFamily="18" charset="0"/>
                              </a:rPr>
                              <m:t>†</m:t>
                            </m:r>
                          </m:sup>
                        </m:sSup>
                        <m:sSup>
                          <m:sSupPr>
                            <m:ctrlPr>
                              <a:rPr lang="zh-TW" altLang="en-US" sz="2000" i="1">
                                <a:solidFill>
                                  <a:srgbClr val="483832"/>
                                </a:solidFill>
                                <a:latin typeface="Cambria Math" panose="02040503050406030204" pitchFamily="18" charset="0"/>
                              </a:rPr>
                            </m:ctrlPr>
                          </m:sSupPr>
                          <m:e>
                            <m:r>
                              <a:rPr lang="zh-TW" altLang="en-US" sz="2000" i="1">
                                <a:solidFill>
                                  <a:srgbClr val="483832"/>
                                </a:solidFill>
                                <a:latin typeface="Cambria Math" panose="02040503050406030204" pitchFamily="18" charset="0"/>
                              </a:rPr>
                              <m:t>𝑒</m:t>
                            </m:r>
                          </m:e>
                          <m:sup>
                            <m:r>
                              <a:rPr lang="zh-TW" altLang="en-US" sz="2000" i="1">
                                <a:solidFill>
                                  <a:srgbClr val="483832"/>
                                </a:solidFill>
                                <a:latin typeface="Cambria Math" panose="02040503050406030204" pitchFamily="18" charset="0"/>
                              </a:rPr>
                              <m:t>𝑖</m:t>
                            </m:r>
                            <m:r>
                              <a:rPr lang="zh-TW" altLang="en-US" sz="2000" i="1">
                                <a:solidFill>
                                  <a:srgbClr val="483832"/>
                                </a:solidFill>
                                <a:latin typeface="Cambria Math" panose="02040503050406030204" pitchFamily="18" charset="0"/>
                              </a:rPr>
                              <m:t>𝜃</m:t>
                            </m:r>
                          </m:sup>
                        </m:sSup>
                        <m:r>
                          <a:rPr lang="zh-TW" altLang="en-US" sz="2000">
                            <a:solidFill>
                              <a:srgbClr val="483832"/>
                            </a:solidFill>
                            <a:latin typeface="Cambria Math" panose="02040503050406030204" pitchFamily="18" charset="0"/>
                          </a:rPr>
                          <m:t>+</m:t>
                        </m:r>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𝐴</m:t>
                            </m:r>
                          </m:e>
                        </m:acc>
                        <m:sSup>
                          <m:sSupPr>
                            <m:ctrlPr>
                              <a:rPr lang="zh-TW" altLang="en-US" sz="2000" i="1">
                                <a:solidFill>
                                  <a:srgbClr val="483832"/>
                                </a:solidFill>
                                <a:latin typeface="Cambria Math" panose="02040503050406030204" pitchFamily="18" charset="0"/>
                              </a:rPr>
                            </m:ctrlPr>
                          </m:sSupPr>
                          <m:e>
                            <m:r>
                              <a:rPr lang="zh-TW" altLang="en-US" sz="2000" i="1">
                                <a:solidFill>
                                  <a:srgbClr val="483832"/>
                                </a:solidFill>
                                <a:latin typeface="Cambria Math" panose="02040503050406030204" pitchFamily="18" charset="0"/>
                              </a:rPr>
                              <m:t>𝑒</m:t>
                            </m:r>
                          </m:e>
                          <m:sup>
                            <m:r>
                              <a:rPr lang="zh-TW" altLang="en-US" sz="2000">
                                <a:solidFill>
                                  <a:srgbClr val="483832"/>
                                </a:solidFill>
                                <a:latin typeface="Cambria Math" panose="02040503050406030204" pitchFamily="18" charset="0"/>
                              </a:rPr>
                              <m:t>−</m:t>
                            </m:r>
                            <m:r>
                              <a:rPr lang="zh-TW" altLang="en-US" sz="2000" i="1">
                                <a:solidFill>
                                  <a:srgbClr val="483832"/>
                                </a:solidFill>
                                <a:latin typeface="Cambria Math" panose="02040503050406030204" pitchFamily="18" charset="0"/>
                              </a:rPr>
                              <m:t>𝑖</m:t>
                            </m:r>
                            <m:r>
                              <a:rPr lang="zh-TW" altLang="en-US" sz="2000" i="1">
                                <a:solidFill>
                                  <a:srgbClr val="483832"/>
                                </a:solidFill>
                                <a:latin typeface="Cambria Math" panose="02040503050406030204" pitchFamily="18" charset="0"/>
                              </a:rPr>
                              <m:t>𝜃</m:t>
                            </m:r>
                          </m:sup>
                        </m:sSup>
                      </m:e>
                    </m:d>
                  </m:oMath>
                </a14:m>
                <a:r>
                  <a:rPr lang="en-US" altLang="zh-TW" sz="2000" dirty="0">
                    <a:solidFill>
                      <a:srgbClr val="483832"/>
                    </a:solidFill>
                    <a:latin typeface="Times New Roman" panose="02020603050405020304" pitchFamily="18" charset="0"/>
                  </a:rPr>
                  <a:t> </a:t>
                </a:r>
                <a14:m>
                  <m:oMath xmlns:m="http://schemas.openxmlformats.org/officeDocument/2006/math">
                    <m:r>
                      <a:rPr lang="en-US" altLang="zh-TW" sz="2000">
                        <a:solidFill>
                          <a:srgbClr val="483832"/>
                        </a:solidFill>
                        <a:latin typeface="Cambria Math" panose="02040503050406030204" pitchFamily="18" charset="0"/>
                      </a:rPr>
                      <m:t>=</m:t>
                    </m:r>
                    <m:r>
                      <a:rPr lang="en-US" altLang="zh-TW" sz="2000" i="1">
                        <a:solidFill>
                          <a:srgbClr val="483832"/>
                        </a:solidFill>
                        <a:latin typeface="Cambria Math" panose="02040503050406030204" pitchFamily="18" charset="0"/>
                      </a:rPr>
                      <m:t>𝛽</m:t>
                    </m:r>
                    <m:d>
                      <m:dPr>
                        <m:begChr m:val="〈"/>
                        <m:endChr m:val="〉"/>
                        <m:ctrlPr>
                          <a:rPr lang="zh-TW" altLang="zh-TW" sz="2000" i="1">
                            <a:solidFill>
                              <a:srgbClr val="483832"/>
                            </a:solidFill>
                            <a:latin typeface="Cambria Math" panose="02040503050406030204" pitchFamily="18" charset="0"/>
                          </a:rPr>
                        </m:ctrlPr>
                      </m:dPr>
                      <m:e>
                        <m:sSup>
                          <m:sSupPr>
                            <m:ctrlPr>
                              <a:rPr lang="zh-TW" altLang="zh-TW" sz="2000" i="1">
                                <a:solidFill>
                                  <a:srgbClr val="483832"/>
                                </a:solidFill>
                                <a:latin typeface="Cambria Math" panose="02040503050406030204" pitchFamily="18" charset="0"/>
                              </a:rPr>
                            </m:ctrlPr>
                          </m:sSupPr>
                          <m:e>
                            <m:acc>
                              <m:accPr>
                                <m:chr m:val="̂"/>
                                <m:ctrlPr>
                                  <a:rPr lang="zh-TW" altLang="zh-TW" sz="2000" i="1">
                                    <a:solidFill>
                                      <a:srgbClr val="483832"/>
                                    </a:solidFill>
                                    <a:latin typeface="Cambria Math" panose="02040503050406030204" pitchFamily="18" charset="0"/>
                                  </a:rPr>
                                </m:ctrlPr>
                              </m:accPr>
                              <m:e>
                                <m:r>
                                  <a:rPr lang="en-US" altLang="zh-TW" sz="2000" i="1">
                                    <a:solidFill>
                                      <a:srgbClr val="483832"/>
                                    </a:solidFill>
                                    <a:latin typeface="Cambria Math" panose="02040503050406030204" pitchFamily="18" charset="0"/>
                                  </a:rPr>
                                  <m:t>𝑋</m:t>
                                </m:r>
                              </m:e>
                            </m:acc>
                          </m:e>
                          <m:sup>
                            <m:r>
                              <a:rPr lang="en-US" altLang="zh-TW" sz="2000" i="1">
                                <a:solidFill>
                                  <a:srgbClr val="483832"/>
                                </a:solidFill>
                                <a:latin typeface="Cambria Math" panose="02040503050406030204" pitchFamily="18" charset="0"/>
                              </a:rPr>
                              <m:t>𝜃</m:t>
                            </m:r>
                          </m:sup>
                        </m:sSup>
                      </m:e>
                    </m:d>
                  </m:oMath>
                </a14:m>
                <a:endParaRPr lang="en-US" altLang="zh-TW" sz="2000" dirty="0">
                  <a:solidFill>
                    <a:srgbClr val="483832"/>
                  </a:solidFill>
                  <a:latin typeface="Times New Roman" panose="02020603050405020304" pitchFamily="18" charset="0"/>
                </a:endParaRPr>
              </a:p>
              <a:p>
                <a:pPr algn="ctr">
                  <a:lnSpc>
                    <a:spcPts val="2400"/>
                  </a:lnSpc>
                </a:pPr>
                <a:endParaRPr lang="en-US" altLang="zh-TW" sz="2000" dirty="0">
                  <a:solidFill>
                    <a:srgbClr val="483832"/>
                  </a:solidFill>
                  <a:latin typeface="Times New Roman" panose="02020603050405020304" pitchFamily="18" charset="0"/>
                </a:endParaRPr>
              </a:p>
              <a:p>
                <a:pPr algn="ctr">
                  <a:lnSpc>
                    <a:spcPts val="2400"/>
                  </a:lnSpc>
                </a:pPr>
                <a14:m>
                  <m:oMath xmlns:m="http://schemas.openxmlformats.org/officeDocument/2006/math">
                    <m:r>
                      <a:rPr lang="zh-TW" altLang="en-US" sz="2000" i="1">
                        <a:solidFill>
                          <a:srgbClr val="483832"/>
                        </a:solidFill>
                        <a:latin typeface="Cambria Math" panose="02040503050406030204" pitchFamily="18" charset="0"/>
                      </a:rPr>
                      <m:t>𝜃</m:t>
                    </m:r>
                  </m:oMath>
                </a14:m>
                <a:r>
                  <a:rPr lang="en-US" altLang="zh-TW" sz="2000" dirty="0">
                    <a:solidFill>
                      <a:srgbClr val="483832"/>
                    </a:solidFill>
                    <a:latin typeface="Times New Roman" panose="02020603050405020304" pitchFamily="18" charset="0"/>
                  </a:rPr>
                  <a:t>= 0  </a:t>
                </a:r>
                <a:r>
                  <a:rPr lang="en-US" altLang="zh-TW" sz="2000" dirty="0">
                    <a:solidFill>
                      <a:srgbClr val="483832"/>
                    </a:solidFill>
                    <a:latin typeface="新細明體" panose="02020500000000000000" pitchFamily="18" charset="-120"/>
                  </a:rPr>
                  <a:t>→ </a:t>
                </a:r>
                <a:r>
                  <a:rPr lang="en-US" altLang="zh-TW" sz="2000" dirty="0">
                    <a:solidFill>
                      <a:srgbClr val="483832"/>
                    </a:solidFill>
                    <a:latin typeface="Times New Roman" panose="02020603050405020304" pitchFamily="18" charset="0"/>
                  </a:rPr>
                  <a:t>quadrature amplitude</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operator</a:t>
                </a:r>
              </a:p>
              <a:p>
                <a:pPr algn="ctr">
                  <a:lnSpc>
                    <a:spcPts val="2400"/>
                  </a:lnSpc>
                </a:pPr>
                <a14:m>
                  <m:oMath xmlns:m="http://schemas.openxmlformats.org/officeDocument/2006/math">
                    <m:r>
                      <a:rPr lang="zh-TW" altLang="en-US" sz="2000" i="1">
                        <a:solidFill>
                          <a:srgbClr val="483832"/>
                        </a:solidFill>
                        <a:latin typeface="Cambria Math" panose="02040503050406030204" pitchFamily="18" charset="0"/>
                      </a:rPr>
                      <m:t>𝜃</m:t>
                    </m:r>
                  </m:oMath>
                </a14:m>
                <a:r>
                  <a:rPr lang="en-US" altLang="zh-TW" sz="2000" dirty="0">
                    <a:solidFill>
                      <a:srgbClr val="483832"/>
                    </a:solidFill>
                    <a:latin typeface="Times New Roman" panose="02020603050405020304" pitchFamily="18" charset="0"/>
                  </a:rPr>
                  <a:t>= π/2  </a:t>
                </a:r>
                <a:r>
                  <a:rPr lang="en-US" altLang="zh-TW" sz="2000" dirty="0">
                    <a:solidFill>
                      <a:srgbClr val="483832"/>
                    </a:solidFill>
                    <a:latin typeface="新細明體" panose="02020500000000000000" pitchFamily="18" charset="-120"/>
                  </a:rPr>
                  <a:t>→ </a:t>
                </a:r>
                <a:r>
                  <a:rPr lang="en-US" altLang="zh-TW" sz="2000" dirty="0">
                    <a:solidFill>
                      <a:srgbClr val="483832"/>
                    </a:solidFill>
                    <a:latin typeface="Times New Roman" panose="02020603050405020304" pitchFamily="18" charset="0"/>
                  </a:rPr>
                  <a:t>quadrature phase</a:t>
                </a:r>
                <a:r>
                  <a:rPr lang="en-US" altLang="zh-TW" sz="2000" dirty="0">
                    <a:solidFill>
                      <a:srgbClr val="483832"/>
                    </a:solidFill>
                    <a:latin typeface="新細明體" panose="02020500000000000000" pitchFamily="18" charset="-120"/>
                  </a:rPr>
                  <a:t> </a:t>
                </a:r>
                <a:r>
                  <a:rPr lang="en-US" altLang="zh-TW" sz="2000" dirty="0">
                    <a:solidFill>
                      <a:srgbClr val="483832"/>
                    </a:solidFill>
                    <a:latin typeface="Times New Roman" panose="02020603050405020304" pitchFamily="18" charset="0"/>
                  </a:rPr>
                  <a:t>operator</a:t>
                </a:r>
              </a:p>
              <a:p>
                <a:pPr algn="ctr">
                  <a:lnSpc>
                    <a:spcPts val="2400"/>
                  </a:lnSpc>
                </a:pPr>
                <a:endParaRPr lang="en-US" altLang="zh-TW" sz="2000" dirty="0">
                  <a:solidFill>
                    <a:srgbClr val="483832"/>
                  </a:solidFill>
                  <a:latin typeface="Times New Roman" panose="02020603050405020304" pitchFamily="18" charset="0"/>
                </a:endParaRPr>
              </a:p>
              <a:p>
                <a:pPr algn="ctr">
                  <a:lnSpc>
                    <a:spcPts val="2400"/>
                  </a:lnSpc>
                </a:pPr>
                <a:r>
                  <a:rPr lang="en-US" altLang="zh-TW" sz="2000" dirty="0">
                    <a:solidFill>
                      <a:srgbClr val="483832"/>
                    </a:solidFill>
                    <a:latin typeface="Times New Roman" panose="02020603050405020304" pitchFamily="18" charset="0"/>
                  </a:rPr>
                  <a:t>Mode match(visibility)</a:t>
                </a:r>
                <a:endParaRPr lang="zh-TW" altLang="en-US" sz="2000" dirty="0">
                  <a:solidFill>
                    <a:srgbClr val="483832"/>
                  </a:solidFill>
                  <a:latin typeface="Times New Roman" panose="02020603050405020304" pitchFamily="18" charset="0"/>
                </a:endParaRPr>
              </a:p>
              <a:p>
                <a:pPr algn="ctr">
                  <a:lnSpc>
                    <a:spcPts val="2400"/>
                  </a:lnSpc>
                </a:pPr>
                <a:endParaRPr lang="en-US" altLang="zh-TW" sz="2000" dirty="0">
                  <a:solidFill>
                    <a:srgbClr val="483832"/>
                  </a:solidFill>
                  <a:latin typeface="Times New Roman" panose="02020603050405020304" pitchFamily="18" charset="0"/>
                </a:endParaRPr>
              </a:p>
              <a:p>
                <a:pPr algn="ctr">
                  <a:lnSpc>
                    <a:spcPts val="2400"/>
                  </a:lnSpc>
                </a:pPr>
                <a14:m>
                  <m:oMathPara xmlns:m="http://schemas.openxmlformats.org/officeDocument/2006/math">
                    <m:oMathParaPr>
                      <m:jc m:val="centerGroup"/>
                    </m:oMathParaPr>
                    <m:oMath xmlns:m="http://schemas.openxmlformats.org/officeDocument/2006/math">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𝜂</m:t>
                          </m:r>
                        </m:e>
                        <m:sub>
                          <m:r>
                            <a:rPr lang="en-US" altLang="zh-TW" sz="2000" i="1">
                              <a:solidFill>
                                <a:srgbClr val="483832"/>
                              </a:solidFill>
                              <a:latin typeface="Cambria Math" panose="02040503050406030204" pitchFamily="18" charset="0"/>
                            </a:rPr>
                            <m:t>𝑣𝑖𝑠</m:t>
                          </m:r>
                        </m:sub>
                      </m:sSub>
                      <m:r>
                        <a:rPr lang="en-US" altLang="zh-TW" sz="2000" i="1">
                          <a:solidFill>
                            <a:srgbClr val="483832"/>
                          </a:solidFill>
                          <a:latin typeface="Cambria Math" panose="02040503050406030204" pitchFamily="18" charset="0"/>
                        </a:rPr>
                        <m:t>=</m:t>
                      </m:r>
                      <m:sSup>
                        <m:sSupPr>
                          <m:ctrlPr>
                            <a:rPr lang="zh-TW" altLang="zh-TW" sz="2000" i="1">
                              <a:solidFill>
                                <a:srgbClr val="483832"/>
                              </a:solidFill>
                              <a:latin typeface="Cambria Math" panose="02040503050406030204" pitchFamily="18" charset="0"/>
                            </a:rPr>
                          </m:ctrlPr>
                        </m:sSupPr>
                        <m:e>
                          <m:r>
                            <a:rPr lang="en-US" altLang="zh-TW" sz="2000" i="1">
                              <a:solidFill>
                                <a:srgbClr val="483832"/>
                              </a:solidFill>
                              <a:latin typeface="Cambria Math" panose="02040503050406030204" pitchFamily="18" charset="0"/>
                            </a:rPr>
                            <m:t>𝑉</m:t>
                          </m:r>
                        </m:e>
                        <m:sup>
                          <m:r>
                            <a:rPr lang="en-US" altLang="zh-TW" sz="2000" i="1">
                              <a:solidFill>
                                <a:srgbClr val="483832"/>
                              </a:solidFill>
                              <a:latin typeface="Cambria Math" panose="02040503050406030204" pitchFamily="18" charset="0"/>
                            </a:rPr>
                            <m:t>2</m:t>
                          </m:r>
                        </m:sup>
                      </m:sSup>
                      <m:r>
                        <a:rPr lang="zh-TW" altLang="en-US" sz="2000">
                          <a:solidFill>
                            <a:srgbClr val="483832"/>
                          </a:solidFill>
                          <a:latin typeface="Cambria Math" panose="02040503050406030204" pitchFamily="18" charset="0"/>
                        </a:rPr>
                        <m:t>=</m:t>
                      </m:r>
                      <m:sSup>
                        <m:sSupPr>
                          <m:ctrlPr>
                            <a:rPr lang="en-US" altLang="zh-TW" sz="2000" i="1">
                              <a:solidFill>
                                <a:srgbClr val="483832"/>
                              </a:solidFill>
                              <a:latin typeface="Cambria Math" panose="02040503050406030204" pitchFamily="18" charset="0"/>
                            </a:rPr>
                          </m:ctrlPr>
                        </m:sSupPr>
                        <m:e>
                          <m:d>
                            <m:dPr>
                              <m:ctrlPr>
                                <a:rPr lang="en-US" altLang="zh-TW" sz="2000" i="1">
                                  <a:solidFill>
                                    <a:srgbClr val="483832"/>
                                  </a:solidFill>
                                  <a:latin typeface="Cambria Math" panose="02040503050406030204" pitchFamily="18" charset="0"/>
                                </a:rPr>
                              </m:ctrlPr>
                            </m:dPr>
                            <m:e>
                              <m:f>
                                <m:fPr>
                                  <m:ctrlPr>
                                    <a:rPr lang="zh-TW" altLang="en-US" sz="2000" i="1">
                                      <a:solidFill>
                                        <a:srgbClr val="483832"/>
                                      </a:solidFill>
                                      <a:latin typeface="Cambria Math" panose="02040503050406030204" pitchFamily="18" charset="0"/>
                                    </a:rPr>
                                  </m:ctrlPr>
                                </m:fPr>
                                <m:num>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𝐼</m:t>
                                      </m:r>
                                    </m:e>
                                    <m:sub>
                                      <m:r>
                                        <a:rPr lang="zh-TW" altLang="en-US" sz="2000" i="1">
                                          <a:solidFill>
                                            <a:srgbClr val="483832"/>
                                          </a:solidFill>
                                          <a:latin typeface="Cambria Math" panose="02040503050406030204" pitchFamily="18" charset="0"/>
                                        </a:rPr>
                                        <m:t>𝑚𝑎𝑥</m:t>
                                      </m:r>
                                    </m:sub>
                                  </m:sSub>
                                  <m:r>
                                    <a:rPr lang="zh-TW" altLang="en-US" sz="2000">
                                      <a:solidFill>
                                        <a:srgbClr val="483832"/>
                                      </a:solidFill>
                                      <a:latin typeface="Cambria Math" panose="02040503050406030204" pitchFamily="18" charset="0"/>
                                    </a:rPr>
                                    <m:t>−</m:t>
                                  </m:r>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𝐼</m:t>
                                      </m:r>
                                    </m:e>
                                    <m:sub>
                                      <m:r>
                                        <a:rPr lang="zh-TW" altLang="en-US" sz="2000" i="1">
                                          <a:solidFill>
                                            <a:srgbClr val="483832"/>
                                          </a:solidFill>
                                          <a:latin typeface="Cambria Math" panose="02040503050406030204" pitchFamily="18" charset="0"/>
                                        </a:rPr>
                                        <m:t>𝑚𝑖𝑛</m:t>
                                      </m:r>
                                    </m:sub>
                                  </m:sSub>
                                </m:num>
                                <m:den>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𝐼</m:t>
                                      </m:r>
                                    </m:e>
                                    <m:sub>
                                      <m:r>
                                        <a:rPr lang="zh-TW" altLang="en-US" sz="2000" i="1">
                                          <a:solidFill>
                                            <a:srgbClr val="483832"/>
                                          </a:solidFill>
                                          <a:latin typeface="Cambria Math" panose="02040503050406030204" pitchFamily="18" charset="0"/>
                                        </a:rPr>
                                        <m:t>𝑚𝑎𝑥</m:t>
                                      </m:r>
                                    </m:sub>
                                  </m:sSub>
                                  <m:r>
                                    <a:rPr lang="zh-TW" altLang="en-US" sz="2000">
                                      <a:solidFill>
                                        <a:srgbClr val="483832"/>
                                      </a:solidFill>
                                      <a:latin typeface="Cambria Math" panose="02040503050406030204" pitchFamily="18" charset="0"/>
                                    </a:rPr>
                                    <m:t>+</m:t>
                                  </m:r>
                                  <m:sSub>
                                    <m:sSubPr>
                                      <m:ctrlPr>
                                        <a:rPr lang="zh-TW" altLang="en-US" sz="2000" i="1">
                                          <a:solidFill>
                                            <a:srgbClr val="483832"/>
                                          </a:solidFill>
                                          <a:latin typeface="Cambria Math" panose="02040503050406030204" pitchFamily="18" charset="0"/>
                                        </a:rPr>
                                      </m:ctrlPr>
                                    </m:sSubPr>
                                    <m:e>
                                      <m:r>
                                        <a:rPr lang="zh-TW" altLang="en-US" sz="2000" i="1">
                                          <a:solidFill>
                                            <a:srgbClr val="483832"/>
                                          </a:solidFill>
                                          <a:latin typeface="Cambria Math" panose="02040503050406030204" pitchFamily="18" charset="0"/>
                                        </a:rPr>
                                        <m:t>𝐼</m:t>
                                      </m:r>
                                    </m:e>
                                    <m:sub>
                                      <m:r>
                                        <a:rPr lang="zh-TW" altLang="en-US" sz="2000" i="1">
                                          <a:solidFill>
                                            <a:srgbClr val="483832"/>
                                          </a:solidFill>
                                          <a:latin typeface="Cambria Math" panose="02040503050406030204" pitchFamily="18" charset="0"/>
                                        </a:rPr>
                                        <m:t>𝑚𝑖𝑛</m:t>
                                      </m:r>
                                    </m:sub>
                                  </m:sSub>
                                </m:den>
                              </m:f>
                            </m:e>
                          </m:d>
                        </m:e>
                        <m:sup>
                          <m:r>
                            <a:rPr lang="en-US" altLang="zh-TW" sz="2000" i="1">
                              <a:solidFill>
                                <a:srgbClr val="483832"/>
                              </a:solidFill>
                              <a:latin typeface="Cambria Math" panose="02040503050406030204" pitchFamily="18" charset="0"/>
                            </a:rPr>
                            <m:t>2</m:t>
                          </m:r>
                        </m:sup>
                      </m:sSup>
                    </m:oMath>
                  </m:oMathPara>
                </a14:m>
                <a:endParaRPr lang="en-US" altLang="zh-TW" sz="2000" dirty="0">
                  <a:solidFill>
                    <a:srgbClr val="483832"/>
                  </a:solidFill>
                  <a:latin typeface="Times New Roman" panose="02020603050405020304" pitchFamily="18" charset="0"/>
                </a:endParaRPr>
              </a:p>
              <a:p>
                <a:pPr algn="ctr">
                  <a:lnSpc>
                    <a:spcPts val="2400"/>
                  </a:lnSpc>
                </a:pPr>
                <a:endParaRPr lang="zh-TW" altLang="en-US" sz="2000" dirty="0">
                  <a:solidFill>
                    <a:srgbClr val="483832"/>
                  </a:solidFill>
                  <a:latin typeface="Times New Roman" panose="02020603050405020304" pitchFamily="18" charset="0"/>
                </a:endParaRPr>
              </a:p>
            </p:txBody>
          </p:sp>
        </mc:Choice>
        <mc:Fallback xmlns="">
          <p:sp>
            <p:nvSpPr>
              <p:cNvPr id="9" name="矩形: 圓角 8">
                <a:extLst>
                  <a:ext uri="{FF2B5EF4-FFF2-40B4-BE49-F238E27FC236}">
                    <a16:creationId xmlns:a16="http://schemas.microsoft.com/office/drawing/2014/main" id="{24958D80-BCD1-44C3-8FD5-C369F5E97E86}"/>
                  </a:ext>
                </a:extLst>
              </p:cNvPr>
              <p:cNvSpPr>
                <a:spLocks noRot="1" noChangeAspect="1" noMove="1" noResize="1" noEditPoints="1" noAdjustHandles="1" noChangeArrowheads="1" noChangeShapeType="1" noTextEdit="1"/>
              </p:cNvSpPr>
              <p:nvPr/>
            </p:nvSpPr>
            <p:spPr>
              <a:xfrm>
                <a:off x="5435745" y="1169756"/>
                <a:ext cx="6043141" cy="5027771"/>
              </a:xfrm>
              <a:prstGeom prst="roundRect">
                <a:avLst>
                  <a:gd name="adj" fmla="val 11270"/>
                </a:avLst>
              </a:prstGeom>
              <a:blipFill>
                <a:blip r:embed="rId4"/>
                <a:stretch>
                  <a:fillRect/>
                </a:stretch>
              </a:blipFill>
              <a:ln w="19050">
                <a:solidFill>
                  <a:schemeClr val="accent1">
                    <a:lumMod val="75000"/>
                  </a:schemeClr>
                </a:solidFill>
                <a:prstDash val="lgDash"/>
              </a:ln>
            </p:spPr>
            <p:txBody>
              <a:bodyPr/>
              <a:lstStyle/>
              <a:p>
                <a:r>
                  <a:rPr lang="zh-TW" altLang="en-US">
                    <a:noFill/>
                  </a:rPr>
                  <a:t> </a:t>
                </a:r>
              </a:p>
            </p:txBody>
          </p:sp>
        </mc:Fallback>
      </mc:AlternateContent>
      <p:sp>
        <p:nvSpPr>
          <p:cNvPr id="10" name="投影片編號版面配置區 9">
            <a:extLst>
              <a:ext uri="{FF2B5EF4-FFF2-40B4-BE49-F238E27FC236}">
                <a16:creationId xmlns:a16="http://schemas.microsoft.com/office/drawing/2014/main" id="{EB211F75-2F3E-427E-A2CC-CF6E5C1DA5BD}"/>
              </a:ext>
            </a:extLst>
          </p:cNvPr>
          <p:cNvSpPr>
            <a:spLocks noGrp="1"/>
          </p:cNvSpPr>
          <p:nvPr>
            <p:ph type="sldNum" sz="quarter" idx="12"/>
          </p:nvPr>
        </p:nvSpPr>
        <p:spPr/>
        <p:txBody>
          <a:bodyPr/>
          <a:lstStyle/>
          <a:p>
            <a:fld id="{9820161B-3DFF-4FF5-AA0E-35496F014571}" type="slidenum">
              <a:rPr lang="zh-TW" altLang="en-US" smtClean="0"/>
              <a:t>10</a:t>
            </a:fld>
            <a:endParaRPr lang="zh-TW" altLang="en-US" dirty="0"/>
          </a:p>
        </p:txBody>
      </p:sp>
    </p:spTree>
    <p:extLst>
      <p:ext uri="{BB962C8B-B14F-4D97-AF65-F5344CB8AC3E}">
        <p14:creationId xmlns:p14="http://schemas.microsoft.com/office/powerpoint/2010/main" val="104763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500" fill="hold"/>
                                        <p:tgtEl>
                                          <p:spTgt spid="11"/>
                                        </p:tgtEl>
                                        <p:attrNameLst>
                                          <p:attrName>fillcolor</p:attrName>
                                        </p:attrNameLst>
                                      </p:cBhvr>
                                      <p:to>
                                        <a:srgbClr val="F1CCB5"/>
                                      </p:to>
                                    </p:animClr>
                                    <p:set>
                                      <p:cBhvr>
                                        <p:cTn id="7" dur="500" fill="hold"/>
                                        <p:tgtEl>
                                          <p:spTgt spid="11"/>
                                        </p:tgtEl>
                                        <p:attrNameLst>
                                          <p:attrName>fill.type</p:attrName>
                                        </p:attrNameLst>
                                      </p:cBhvr>
                                      <p:to>
                                        <p:strVal val="solid"/>
                                      </p:to>
                                    </p:set>
                                    <p:set>
                                      <p:cBhvr>
                                        <p:cTn id="8" dur="500" fill="hold"/>
                                        <p:tgtEl>
                                          <p:spTgt spid="1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D03F6774-6A77-48F2-96D3-1CB6141756A1}"/>
              </a:ext>
            </a:extLst>
          </p:cNvPr>
          <p:cNvSpPr>
            <a:spLocks noGrp="1"/>
          </p:cNvSpPr>
          <p:nvPr>
            <p:ph type="body" sz="half" idx="13"/>
          </p:nvPr>
        </p:nvSpPr>
        <p:spPr>
          <a:xfrm>
            <a:off x="457202" y="16590"/>
            <a:ext cx="11277598" cy="660417"/>
          </a:xfrm>
        </p:spPr>
        <p:txBody>
          <a:bodyPr>
            <a:normAutofit/>
          </a:bodyPr>
          <a:lstStyle/>
          <a:p>
            <a:r>
              <a:rPr lang="en-US" altLang="zh-TW" dirty="0"/>
              <a:t>Sum frequency generation(SHG)</a:t>
            </a:r>
            <a:r>
              <a:rPr lang="en-US" altLang="zh-TW" kern="100" dirty="0">
                <a:ea typeface="DFKai-SB" panose="03000509000000000000" pitchFamily="65" charset="-120"/>
              </a:rPr>
              <a:t>/OPA</a:t>
            </a:r>
            <a:endParaRPr lang="en-US" altLang="zh-TW" dirty="0"/>
          </a:p>
        </p:txBody>
      </p:sp>
      <p:sp>
        <p:nvSpPr>
          <p:cNvPr id="9" name="投影片編號版面配置區 8">
            <a:extLst>
              <a:ext uri="{FF2B5EF4-FFF2-40B4-BE49-F238E27FC236}">
                <a16:creationId xmlns:a16="http://schemas.microsoft.com/office/drawing/2014/main" id="{042E7D63-2394-49C1-BC12-573ED0977BE4}"/>
              </a:ext>
            </a:extLst>
          </p:cNvPr>
          <p:cNvSpPr>
            <a:spLocks noGrp="1"/>
          </p:cNvSpPr>
          <p:nvPr>
            <p:ph type="sldNum" sz="quarter" idx="12"/>
          </p:nvPr>
        </p:nvSpPr>
        <p:spPr>
          <a:xfrm>
            <a:off x="8737926" y="6375679"/>
            <a:ext cx="2819399" cy="345796"/>
          </a:xfrm>
        </p:spPr>
        <p:txBody>
          <a:bodyPr/>
          <a:lstStyle/>
          <a:p>
            <a:fld id="{9820161B-3DFF-4FF5-AA0E-35496F014571}" type="slidenum">
              <a:rPr lang="zh-TW" altLang="en-US" smtClean="0"/>
              <a:t>11</a:t>
            </a:fld>
            <a:endParaRPr lang="zh-TW" altLang="en-US"/>
          </a:p>
        </p:txBody>
      </p:sp>
      <p:sp>
        <p:nvSpPr>
          <p:cNvPr id="12" name="矩形 11">
            <a:extLst>
              <a:ext uri="{FF2B5EF4-FFF2-40B4-BE49-F238E27FC236}">
                <a16:creationId xmlns:a16="http://schemas.microsoft.com/office/drawing/2014/main" id="{588BC207-E2C1-4E32-B906-F37281386C77}"/>
              </a:ext>
            </a:extLst>
          </p:cNvPr>
          <p:cNvSpPr/>
          <p:nvPr/>
        </p:nvSpPr>
        <p:spPr>
          <a:xfrm>
            <a:off x="1468136" y="862611"/>
            <a:ext cx="6160854" cy="400110"/>
          </a:xfrm>
          <a:prstGeom prst="rect">
            <a:avLst/>
          </a:prstGeom>
        </p:spPr>
        <p:txBody>
          <a:bodyPr wrap="none">
            <a:spAutoFit/>
          </a:bodyPr>
          <a:lstStyle/>
          <a:p>
            <a:r>
              <a:rPr lang="en-US" altLang="zh-TW" sz="2000" dirty="0">
                <a:solidFill>
                  <a:srgbClr val="483832"/>
                </a:solidFill>
                <a:latin typeface="Times New Roman" panose="02020603050405020304" pitchFamily="18" charset="0"/>
              </a:rPr>
              <a:t>Conservation of Energy i.e. frequency-matching condition</a:t>
            </a:r>
            <a:endParaRPr lang="zh-TW" altLang="en-US" sz="2000" dirty="0">
              <a:solidFill>
                <a:srgbClr val="483832"/>
              </a:solidFill>
              <a:latin typeface="Times New Roman" panose="02020603050405020304" pitchFamily="18" charset="0"/>
            </a:endParaRPr>
          </a:p>
        </p:txBody>
      </p:sp>
      <p:grpSp>
        <p:nvGrpSpPr>
          <p:cNvPr id="50" name="群組 49">
            <a:extLst>
              <a:ext uri="{FF2B5EF4-FFF2-40B4-BE49-F238E27FC236}">
                <a16:creationId xmlns:a16="http://schemas.microsoft.com/office/drawing/2014/main" id="{89AB58EA-A2D8-474A-9CDA-76829792E08C}"/>
              </a:ext>
            </a:extLst>
          </p:cNvPr>
          <p:cNvGrpSpPr/>
          <p:nvPr/>
        </p:nvGrpSpPr>
        <p:grpSpPr>
          <a:xfrm>
            <a:off x="8353685" y="3500510"/>
            <a:ext cx="3600000" cy="802800"/>
            <a:chOff x="768852" y="2643988"/>
            <a:chExt cx="5556431" cy="1268078"/>
          </a:xfrm>
        </p:grpSpPr>
        <p:grpSp>
          <p:nvGrpSpPr>
            <p:cNvPr id="51" name="群組 50">
              <a:extLst>
                <a:ext uri="{FF2B5EF4-FFF2-40B4-BE49-F238E27FC236}">
                  <a16:creationId xmlns:a16="http://schemas.microsoft.com/office/drawing/2014/main" id="{EC95597C-A432-4965-88FB-BB83B6C02FDB}"/>
                </a:ext>
              </a:extLst>
            </p:cNvPr>
            <p:cNvGrpSpPr/>
            <p:nvPr/>
          </p:nvGrpSpPr>
          <p:grpSpPr>
            <a:xfrm>
              <a:off x="2122402" y="2668714"/>
              <a:ext cx="2817844" cy="1194318"/>
              <a:chOff x="7535363" y="4004110"/>
              <a:chExt cx="2817844" cy="1194318"/>
            </a:xfrm>
          </p:grpSpPr>
          <p:sp>
            <p:nvSpPr>
              <p:cNvPr id="62" name="矩形 61">
                <a:extLst>
                  <a:ext uri="{FF2B5EF4-FFF2-40B4-BE49-F238E27FC236}">
                    <a16:creationId xmlns:a16="http://schemas.microsoft.com/office/drawing/2014/main" id="{B5D7D384-A0E8-42B0-A04B-6CE3F75538FD}"/>
                  </a:ext>
                </a:extLst>
              </p:cNvPr>
              <p:cNvSpPr/>
              <p:nvPr/>
            </p:nvSpPr>
            <p:spPr>
              <a:xfrm>
                <a:off x="7535363" y="4004110"/>
                <a:ext cx="2817844" cy="119431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7B65CECC-CB8F-4639-A1EB-D57F1A6771E1}"/>
                      </a:ext>
                    </a:extLst>
                  </p:cNvPr>
                  <p:cNvSpPr txBox="1"/>
                  <p:nvPr/>
                </p:nvSpPr>
                <p:spPr>
                  <a:xfrm>
                    <a:off x="8722109" y="4428062"/>
                    <a:ext cx="444352" cy="2955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i="1" smtClean="0">
                                  <a:latin typeface="Cambria Math" panose="02040503050406030204" pitchFamily="18" charset="0"/>
                                </a:rPr>
                              </m:ctrlPr>
                            </m:sSupPr>
                            <m:e>
                              <m:r>
                                <a:rPr lang="zh-TW" altLang="en-US" i="1" smtClean="0">
                                  <a:latin typeface="Cambria Math" panose="02040503050406030204" pitchFamily="18" charset="0"/>
                                </a:rPr>
                                <m:t>𝜒</m:t>
                              </m:r>
                            </m:e>
                            <m:sup>
                              <m:d>
                                <m:dPr>
                                  <m:ctrlPr>
                                    <a:rPr lang="en-US" altLang="zh-TW" i="1" smtClean="0">
                                      <a:latin typeface="Cambria Math" panose="02040503050406030204" pitchFamily="18" charset="0"/>
                                    </a:rPr>
                                  </m:ctrlPr>
                                </m:dPr>
                                <m:e>
                                  <m:r>
                                    <a:rPr lang="en-US" altLang="zh-TW" b="0" i="1" smtClean="0">
                                      <a:latin typeface="Cambria Math" panose="02040503050406030204" pitchFamily="18" charset="0"/>
                                    </a:rPr>
                                    <m:t>2</m:t>
                                  </m:r>
                                </m:e>
                              </m:d>
                            </m:sup>
                          </m:sSup>
                        </m:oMath>
                      </m:oMathPara>
                    </a14:m>
                    <a:endParaRPr lang="zh-TW" altLang="en-US" dirty="0"/>
                  </a:p>
                </p:txBody>
              </p:sp>
            </mc:Choice>
            <mc:Fallback xmlns="">
              <p:sp>
                <p:nvSpPr>
                  <p:cNvPr id="63" name="文字方塊 62">
                    <a:extLst>
                      <a:ext uri="{FF2B5EF4-FFF2-40B4-BE49-F238E27FC236}">
                        <a16:creationId xmlns:a16="http://schemas.microsoft.com/office/drawing/2014/main" id="{7B65CECC-CB8F-4639-A1EB-D57F1A6771E1}"/>
                      </a:ext>
                    </a:extLst>
                  </p:cNvPr>
                  <p:cNvSpPr txBox="1">
                    <a:spLocks noRot="1" noChangeAspect="1" noMove="1" noResize="1" noEditPoints="1" noAdjustHandles="1" noChangeArrowheads="1" noChangeShapeType="1" noTextEdit="1"/>
                  </p:cNvSpPr>
                  <p:nvPr/>
                </p:nvSpPr>
                <p:spPr>
                  <a:xfrm>
                    <a:off x="8722109" y="4428062"/>
                    <a:ext cx="444352" cy="295594"/>
                  </a:xfrm>
                  <a:prstGeom prst="rect">
                    <a:avLst/>
                  </a:prstGeom>
                  <a:blipFill>
                    <a:blip r:embed="rId11"/>
                    <a:stretch>
                      <a:fillRect l="-27083" r="-27083" b="-90323"/>
                    </a:stretch>
                  </a:blipFill>
                </p:spPr>
                <p:txBody>
                  <a:bodyPr/>
                  <a:lstStyle/>
                  <a:p>
                    <a:r>
                      <a:rPr lang="zh-TW" altLang="en-US">
                        <a:noFill/>
                      </a:rPr>
                      <a:t> </a:t>
                    </a:r>
                  </a:p>
                </p:txBody>
              </p:sp>
            </mc:Fallback>
          </mc:AlternateContent>
        </p:grpSp>
        <p:cxnSp>
          <p:nvCxnSpPr>
            <p:cNvPr id="52" name="直線單箭頭接點 51">
              <a:extLst>
                <a:ext uri="{FF2B5EF4-FFF2-40B4-BE49-F238E27FC236}">
                  <a16:creationId xmlns:a16="http://schemas.microsoft.com/office/drawing/2014/main" id="{5CA776DC-389B-4C0E-BC37-933A28AF601A}"/>
                </a:ext>
              </a:extLst>
            </p:cNvPr>
            <p:cNvCxnSpPr>
              <a:cxnSpLocks/>
            </p:cNvCxnSpPr>
            <p:nvPr/>
          </p:nvCxnSpPr>
          <p:spPr>
            <a:xfrm>
              <a:off x="1308852" y="3068077"/>
              <a:ext cx="707531" cy="0"/>
            </a:xfrm>
            <a:prstGeom prst="straightConnector1">
              <a:avLst/>
            </a:prstGeom>
            <a:ln w="19050">
              <a:solidFill>
                <a:srgbClr val="0000F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a:extLst>
                <a:ext uri="{FF2B5EF4-FFF2-40B4-BE49-F238E27FC236}">
                  <a16:creationId xmlns:a16="http://schemas.microsoft.com/office/drawing/2014/main" id="{ADF47FC3-A31B-4479-BD6E-7B9AF8D2A3E6}"/>
                </a:ext>
              </a:extLst>
            </p:cNvPr>
            <p:cNvCxnSpPr>
              <a:cxnSpLocks/>
            </p:cNvCxnSpPr>
            <p:nvPr/>
          </p:nvCxnSpPr>
          <p:spPr>
            <a:xfrm>
              <a:off x="1308852" y="3463669"/>
              <a:ext cx="707531" cy="0"/>
            </a:xfrm>
            <a:prstGeom prst="straightConnector1">
              <a:avLst/>
            </a:prstGeom>
            <a:ln w="12700">
              <a:solidFill>
                <a:srgbClr val="F8403C"/>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6F98498F-5177-4A1B-ADFD-78C75B7B30B7}"/>
                </a:ext>
              </a:extLst>
            </p:cNvPr>
            <p:cNvCxnSpPr>
              <a:cxnSpLocks/>
            </p:cNvCxnSpPr>
            <p:nvPr/>
          </p:nvCxnSpPr>
          <p:spPr>
            <a:xfrm>
              <a:off x="5068052" y="3727399"/>
              <a:ext cx="707531" cy="0"/>
            </a:xfrm>
            <a:prstGeom prst="straightConnector1">
              <a:avLst/>
            </a:prstGeom>
            <a:ln w="12700">
              <a:solidFill>
                <a:srgbClr val="0081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4E695425-572B-4D4B-A68C-695D7EA518E5}"/>
                    </a:ext>
                  </a:extLst>
                </p:cNvPr>
                <p:cNvSpPr txBox="1"/>
                <p:nvPr/>
              </p:nvSpPr>
              <p:spPr>
                <a:xfrm>
                  <a:off x="768852" y="2884708"/>
                  <a:ext cx="540000" cy="369332"/>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𝑠</m:t>
                            </m:r>
                          </m:sub>
                        </m:sSub>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4E695425-572B-4D4B-A68C-695D7EA518E5}"/>
                    </a:ext>
                  </a:extLst>
                </p:cNvPr>
                <p:cNvSpPr txBox="1">
                  <a:spLocks noRot="1" noChangeAspect="1" noMove="1" noResize="1" noEditPoints="1" noAdjustHandles="1" noChangeArrowheads="1" noChangeShapeType="1" noTextEdit="1"/>
                </p:cNvSpPr>
                <p:nvPr/>
              </p:nvSpPr>
              <p:spPr>
                <a:xfrm>
                  <a:off x="768852" y="2884708"/>
                  <a:ext cx="540000" cy="369332"/>
                </a:xfrm>
                <a:prstGeom prst="rect">
                  <a:avLst/>
                </a:prstGeom>
                <a:blipFill>
                  <a:blip r:embed="rId12"/>
                  <a:stretch>
                    <a:fillRect l="-10345" b="-2307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C92B9318-309E-4F16-8B8A-C19FA07DB19D}"/>
                    </a:ext>
                  </a:extLst>
                </p:cNvPr>
                <p:cNvSpPr txBox="1"/>
                <p:nvPr/>
              </p:nvSpPr>
              <p:spPr>
                <a:xfrm>
                  <a:off x="768852" y="3270665"/>
                  <a:ext cx="540000" cy="390748"/>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𝑝</m:t>
                            </m:r>
                          </m:sub>
                        </m:sSub>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56" name="文字方塊 55">
                  <a:extLst>
                    <a:ext uri="{FF2B5EF4-FFF2-40B4-BE49-F238E27FC236}">
                      <a16:creationId xmlns:a16="http://schemas.microsoft.com/office/drawing/2014/main" id="{C92B9318-309E-4F16-8B8A-C19FA07DB19D}"/>
                    </a:ext>
                  </a:extLst>
                </p:cNvPr>
                <p:cNvSpPr txBox="1">
                  <a:spLocks noRot="1" noChangeAspect="1" noMove="1" noResize="1" noEditPoints="1" noAdjustHandles="1" noChangeArrowheads="1" noChangeShapeType="1" noTextEdit="1"/>
                </p:cNvSpPr>
                <p:nvPr/>
              </p:nvSpPr>
              <p:spPr>
                <a:xfrm>
                  <a:off x="768852" y="3270665"/>
                  <a:ext cx="540000" cy="390748"/>
                </a:xfrm>
                <a:prstGeom prst="rect">
                  <a:avLst/>
                </a:prstGeom>
                <a:blipFill>
                  <a:blip r:embed="rId13"/>
                  <a:stretch>
                    <a:fillRect l="-13793" b="-341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C94E403F-7E7C-4EE4-8FD9-C9916C3B27AA}"/>
                    </a:ext>
                  </a:extLst>
                </p:cNvPr>
                <p:cNvSpPr txBox="1"/>
                <p:nvPr/>
              </p:nvSpPr>
              <p:spPr>
                <a:xfrm>
                  <a:off x="5776342" y="3542734"/>
                  <a:ext cx="540000" cy="369332"/>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𝑖</m:t>
                            </m:r>
                          </m:sub>
                        </m:sSub>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57" name="文字方塊 56">
                  <a:extLst>
                    <a:ext uri="{FF2B5EF4-FFF2-40B4-BE49-F238E27FC236}">
                      <a16:creationId xmlns:a16="http://schemas.microsoft.com/office/drawing/2014/main" id="{C94E403F-7E7C-4EE4-8FD9-C9916C3B27AA}"/>
                    </a:ext>
                  </a:extLst>
                </p:cNvPr>
                <p:cNvSpPr txBox="1">
                  <a:spLocks noRot="1" noChangeAspect="1" noMove="1" noResize="1" noEditPoints="1" noAdjustHandles="1" noChangeArrowheads="1" noChangeShapeType="1" noTextEdit="1"/>
                </p:cNvSpPr>
                <p:nvPr/>
              </p:nvSpPr>
              <p:spPr>
                <a:xfrm>
                  <a:off x="5776342" y="3542734"/>
                  <a:ext cx="540000" cy="369332"/>
                </a:xfrm>
                <a:prstGeom prst="rect">
                  <a:avLst/>
                </a:prstGeom>
                <a:blipFill>
                  <a:blip r:embed="rId14"/>
                  <a:stretch>
                    <a:fillRect l="-10526" b="-34211"/>
                  </a:stretch>
                </a:blipFill>
              </p:spPr>
              <p:txBody>
                <a:bodyPr/>
                <a:lstStyle/>
                <a:p>
                  <a:r>
                    <a:rPr lang="zh-TW" altLang="en-US">
                      <a:noFill/>
                    </a:rPr>
                    <a:t> </a:t>
                  </a:r>
                </a:p>
              </p:txBody>
            </p:sp>
          </mc:Fallback>
        </mc:AlternateContent>
        <p:cxnSp>
          <p:nvCxnSpPr>
            <p:cNvPr id="58" name="直線單箭頭接點 57">
              <a:extLst>
                <a:ext uri="{FF2B5EF4-FFF2-40B4-BE49-F238E27FC236}">
                  <a16:creationId xmlns:a16="http://schemas.microsoft.com/office/drawing/2014/main" id="{3A09EF3F-0028-4F86-A5E8-C096925BA80A}"/>
                </a:ext>
              </a:extLst>
            </p:cNvPr>
            <p:cNvCxnSpPr>
              <a:cxnSpLocks/>
            </p:cNvCxnSpPr>
            <p:nvPr/>
          </p:nvCxnSpPr>
          <p:spPr>
            <a:xfrm>
              <a:off x="5084051" y="3090909"/>
              <a:ext cx="707531" cy="0"/>
            </a:xfrm>
            <a:prstGeom prst="straightConnector1">
              <a:avLst/>
            </a:prstGeom>
            <a:ln w="12700">
              <a:solidFill>
                <a:srgbClr val="0000F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16DFB5EC-D5FD-4051-964A-9AEA27757310}"/>
                </a:ext>
              </a:extLst>
            </p:cNvPr>
            <p:cNvCxnSpPr>
              <a:cxnSpLocks/>
            </p:cNvCxnSpPr>
            <p:nvPr/>
          </p:nvCxnSpPr>
          <p:spPr>
            <a:xfrm>
              <a:off x="5084051" y="2956581"/>
              <a:ext cx="707531" cy="0"/>
            </a:xfrm>
            <a:prstGeom prst="straightConnector1">
              <a:avLst/>
            </a:prstGeom>
            <a:ln w="12700">
              <a:solidFill>
                <a:srgbClr val="0000FA"/>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085D8FE0-A1DB-4D5A-903A-50B6C9599659}"/>
                    </a:ext>
                  </a:extLst>
                </p:cNvPr>
                <p:cNvSpPr txBox="1"/>
                <p:nvPr/>
              </p:nvSpPr>
              <p:spPr>
                <a:xfrm>
                  <a:off x="5785283" y="2951190"/>
                  <a:ext cx="540000" cy="369332"/>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𝑠</m:t>
                            </m:r>
                          </m:sub>
                        </m:sSub>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0" name="文字方塊 59">
                  <a:extLst>
                    <a:ext uri="{FF2B5EF4-FFF2-40B4-BE49-F238E27FC236}">
                      <a16:creationId xmlns:a16="http://schemas.microsoft.com/office/drawing/2014/main" id="{085D8FE0-A1DB-4D5A-903A-50B6C9599659}"/>
                    </a:ext>
                  </a:extLst>
                </p:cNvPr>
                <p:cNvSpPr txBox="1">
                  <a:spLocks noRot="1" noChangeAspect="1" noMove="1" noResize="1" noEditPoints="1" noAdjustHandles="1" noChangeArrowheads="1" noChangeShapeType="1" noTextEdit="1"/>
                </p:cNvSpPr>
                <p:nvPr/>
              </p:nvSpPr>
              <p:spPr>
                <a:xfrm>
                  <a:off x="5785283" y="2951190"/>
                  <a:ext cx="540000" cy="369332"/>
                </a:xfrm>
                <a:prstGeom prst="rect">
                  <a:avLst/>
                </a:prstGeom>
                <a:blipFill>
                  <a:blip r:embed="rId15"/>
                  <a:stretch>
                    <a:fillRect l="-12281" b="-26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FCA48FB8-6EF3-4BBA-B7FD-A5787AC08814}"/>
                    </a:ext>
                  </a:extLst>
                </p:cNvPr>
                <p:cNvSpPr txBox="1"/>
                <p:nvPr/>
              </p:nvSpPr>
              <p:spPr>
                <a:xfrm>
                  <a:off x="5776342" y="2643988"/>
                  <a:ext cx="540000" cy="369332"/>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𝑠</m:t>
                            </m:r>
                          </m:sub>
                        </m:sSub>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1" name="文字方塊 60">
                  <a:extLst>
                    <a:ext uri="{FF2B5EF4-FFF2-40B4-BE49-F238E27FC236}">
                      <a16:creationId xmlns:a16="http://schemas.microsoft.com/office/drawing/2014/main" id="{FCA48FB8-6EF3-4BBA-B7FD-A5787AC08814}"/>
                    </a:ext>
                  </a:extLst>
                </p:cNvPr>
                <p:cNvSpPr txBox="1">
                  <a:spLocks noRot="1" noChangeAspect="1" noMove="1" noResize="1" noEditPoints="1" noAdjustHandles="1" noChangeArrowheads="1" noChangeShapeType="1" noTextEdit="1"/>
                </p:cNvSpPr>
                <p:nvPr/>
              </p:nvSpPr>
              <p:spPr>
                <a:xfrm>
                  <a:off x="5776342" y="2643988"/>
                  <a:ext cx="540000" cy="369332"/>
                </a:xfrm>
                <a:prstGeom prst="rect">
                  <a:avLst/>
                </a:prstGeom>
                <a:blipFill>
                  <a:blip r:embed="rId16"/>
                  <a:stretch>
                    <a:fillRect l="-12281" b="-23077"/>
                  </a:stretch>
                </a:blipFill>
              </p:spPr>
              <p:txBody>
                <a:bodyPr/>
                <a:lstStyle/>
                <a:p>
                  <a:r>
                    <a:rPr lang="zh-TW" altLang="en-US">
                      <a:noFill/>
                    </a:rPr>
                    <a:t> </a:t>
                  </a:r>
                </a:p>
              </p:txBody>
            </p:sp>
          </mc:Fallback>
        </mc:AlternateContent>
      </p:grpSp>
      <p:grpSp>
        <p:nvGrpSpPr>
          <p:cNvPr id="102" name="群組 101">
            <a:extLst>
              <a:ext uri="{FF2B5EF4-FFF2-40B4-BE49-F238E27FC236}">
                <a16:creationId xmlns:a16="http://schemas.microsoft.com/office/drawing/2014/main" id="{1CDBB299-6395-4A73-9F64-D935479D7C7E}"/>
              </a:ext>
            </a:extLst>
          </p:cNvPr>
          <p:cNvGrpSpPr/>
          <p:nvPr/>
        </p:nvGrpSpPr>
        <p:grpSpPr>
          <a:xfrm>
            <a:off x="4598019" y="1517515"/>
            <a:ext cx="3710584" cy="3244487"/>
            <a:chOff x="4598019" y="1761355"/>
            <a:chExt cx="3710584" cy="3244487"/>
          </a:xfrm>
        </p:grpSpPr>
        <p:sp>
          <p:nvSpPr>
            <p:cNvPr id="99" name="矩形: 圓角 98">
              <a:extLst>
                <a:ext uri="{FF2B5EF4-FFF2-40B4-BE49-F238E27FC236}">
                  <a16:creationId xmlns:a16="http://schemas.microsoft.com/office/drawing/2014/main" id="{67CDDCAE-B0DD-4436-B0A6-45AEE56927E5}"/>
                </a:ext>
              </a:extLst>
            </p:cNvPr>
            <p:cNvSpPr/>
            <p:nvPr/>
          </p:nvSpPr>
          <p:spPr>
            <a:xfrm>
              <a:off x="4598019" y="1761355"/>
              <a:ext cx="3710584" cy="3244487"/>
            </a:xfrm>
            <a:prstGeom prst="roundRect">
              <a:avLst>
                <a:gd name="adj" fmla="val 20202"/>
              </a:avLst>
            </a:prstGeom>
            <a:solidFill>
              <a:srgbClr val="F7F6E9"/>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483832"/>
                </a:solidFill>
              </a:endParaRPr>
            </a:p>
          </p:txBody>
        </p:sp>
        <p:pic>
          <p:nvPicPr>
            <p:cNvPr id="5" name="圖片 4">
              <a:extLst>
                <a:ext uri="{FF2B5EF4-FFF2-40B4-BE49-F238E27FC236}">
                  <a16:creationId xmlns:a16="http://schemas.microsoft.com/office/drawing/2014/main" id="{7FA98D9E-0490-44C6-B455-85C527FFF2F4}"/>
                </a:ext>
              </a:extLst>
            </p:cNvPr>
            <p:cNvPicPr/>
            <p:nvPr/>
          </p:nvPicPr>
          <p:blipFill>
            <a:blip r:embed="rId17">
              <a:extLst>
                <a:ext uri="{28A0092B-C50C-407E-A947-70E740481C1C}">
                  <a14:useLocalDpi xmlns:a14="http://schemas.microsoft.com/office/drawing/2010/main" val="0"/>
                </a:ext>
              </a:extLst>
            </a:blip>
            <a:srcRect/>
            <a:stretch>
              <a:fillRect/>
            </a:stretch>
          </p:blipFill>
          <p:spPr bwMode="auto">
            <a:xfrm>
              <a:off x="5535736" y="2051187"/>
              <a:ext cx="1835150" cy="1371600"/>
            </a:xfrm>
            <a:prstGeom prst="rect">
              <a:avLst/>
            </a:prstGeom>
            <a:noFill/>
          </p:spPr>
        </p:pic>
        <p:grpSp>
          <p:nvGrpSpPr>
            <p:cNvPr id="96" name="群組 95">
              <a:extLst>
                <a:ext uri="{FF2B5EF4-FFF2-40B4-BE49-F238E27FC236}">
                  <a16:creationId xmlns:a16="http://schemas.microsoft.com/office/drawing/2014/main" id="{67DB69B2-E8F4-407E-93EB-B19FCE4A8A28}"/>
                </a:ext>
              </a:extLst>
            </p:cNvPr>
            <p:cNvGrpSpPr/>
            <p:nvPr/>
          </p:nvGrpSpPr>
          <p:grpSpPr>
            <a:xfrm>
              <a:off x="4653311" y="3676592"/>
              <a:ext cx="3600000" cy="1293125"/>
              <a:chOff x="4517306" y="3615632"/>
              <a:chExt cx="3600000" cy="1293125"/>
            </a:xfrm>
          </p:grpSpPr>
          <p:sp>
            <p:nvSpPr>
              <p:cNvPr id="17" name="文字方塊 16">
                <a:extLst>
                  <a:ext uri="{FF2B5EF4-FFF2-40B4-BE49-F238E27FC236}">
                    <a16:creationId xmlns:a16="http://schemas.microsoft.com/office/drawing/2014/main" id="{ABDE862B-A6B9-46D1-9C28-565ED03EE7F7}"/>
                  </a:ext>
                </a:extLst>
              </p:cNvPr>
              <p:cNvSpPr txBox="1"/>
              <p:nvPr/>
            </p:nvSpPr>
            <p:spPr>
              <a:xfrm>
                <a:off x="5397824" y="4539425"/>
                <a:ext cx="1838965" cy="369332"/>
              </a:xfrm>
              <a:prstGeom prst="rect">
                <a:avLst/>
              </a:prstGeom>
              <a:noFill/>
            </p:spPr>
            <p:txBody>
              <a:bodyPr wrap="none" rtlCol="0">
                <a:spAutoFit/>
              </a:bodyPr>
              <a:lstStyle/>
              <a:p>
                <a:r>
                  <a:rPr lang="en-US" altLang="zh-TW" dirty="0">
                    <a:solidFill>
                      <a:srgbClr val="483832"/>
                    </a:solidFill>
                    <a:latin typeface="Times New Roman" panose="02020603050405020304" pitchFamily="18" charset="0"/>
                    <a:cs typeface="Times New Roman" panose="02020603050405020304" pitchFamily="18" charset="0"/>
                  </a:rPr>
                  <a:t>Down-conversion</a:t>
                </a:r>
                <a:endParaRPr lang="zh-TW" altLang="en-US" dirty="0">
                  <a:solidFill>
                    <a:srgbClr val="483832"/>
                  </a:solidFill>
                  <a:latin typeface="Times New Roman" panose="02020603050405020304" pitchFamily="18" charset="0"/>
                  <a:cs typeface="Times New Roman" panose="02020603050405020304" pitchFamily="18" charset="0"/>
                </a:endParaRPr>
              </a:p>
            </p:txBody>
          </p:sp>
          <p:grpSp>
            <p:nvGrpSpPr>
              <p:cNvPr id="64" name="群組 63">
                <a:extLst>
                  <a:ext uri="{FF2B5EF4-FFF2-40B4-BE49-F238E27FC236}">
                    <a16:creationId xmlns:a16="http://schemas.microsoft.com/office/drawing/2014/main" id="{521F1696-4512-4A19-8099-91B46C234540}"/>
                  </a:ext>
                </a:extLst>
              </p:cNvPr>
              <p:cNvGrpSpPr/>
              <p:nvPr/>
            </p:nvGrpSpPr>
            <p:grpSpPr>
              <a:xfrm>
                <a:off x="4517306" y="3615632"/>
                <a:ext cx="3600000" cy="938313"/>
                <a:chOff x="768852" y="2536961"/>
                <a:chExt cx="5556431" cy="1482131"/>
              </a:xfrm>
            </p:grpSpPr>
            <p:grpSp>
              <p:nvGrpSpPr>
                <p:cNvPr id="65" name="群組 64">
                  <a:extLst>
                    <a:ext uri="{FF2B5EF4-FFF2-40B4-BE49-F238E27FC236}">
                      <a16:creationId xmlns:a16="http://schemas.microsoft.com/office/drawing/2014/main" id="{C3959129-FDC4-48FF-8E2F-A2D25EEA6805}"/>
                    </a:ext>
                  </a:extLst>
                </p:cNvPr>
                <p:cNvGrpSpPr/>
                <p:nvPr/>
              </p:nvGrpSpPr>
              <p:grpSpPr>
                <a:xfrm>
                  <a:off x="2122402" y="2668714"/>
                  <a:ext cx="2817844" cy="1194318"/>
                  <a:chOff x="7535363" y="4004110"/>
                  <a:chExt cx="2817844" cy="1194318"/>
                </a:xfrm>
              </p:grpSpPr>
              <p:sp>
                <p:nvSpPr>
                  <p:cNvPr id="76" name="矩形 75">
                    <a:extLst>
                      <a:ext uri="{FF2B5EF4-FFF2-40B4-BE49-F238E27FC236}">
                        <a16:creationId xmlns:a16="http://schemas.microsoft.com/office/drawing/2014/main" id="{BE73331C-D5D1-4940-A579-909ACCC872DF}"/>
                      </a:ext>
                    </a:extLst>
                  </p:cNvPr>
                  <p:cNvSpPr/>
                  <p:nvPr/>
                </p:nvSpPr>
                <p:spPr>
                  <a:xfrm>
                    <a:off x="7535363" y="4004110"/>
                    <a:ext cx="2817844" cy="119431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483832"/>
                      </a:solidFill>
                    </a:endParaRPr>
                  </a:p>
                </p:txBody>
              </p:sp>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82CF8EEF-9DC2-41ED-8AE8-DE3F66371940}"/>
                          </a:ext>
                        </a:extLst>
                      </p:cNvPr>
                      <p:cNvSpPr txBox="1"/>
                      <p:nvPr/>
                    </p:nvSpPr>
                    <p:spPr>
                      <a:xfrm>
                        <a:off x="8722109" y="4428061"/>
                        <a:ext cx="703157" cy="4669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i="1" smtClean="0">
                                      <a:solidFill>
                                        <a:srgbClr val="483832"/>
                                      </a:solidFill>
                                      <a:latin typeface="Cambria Math" panose="02040503050406030204" pitchFamily="18" charset="0"/>
                                    </a:rPr>
                                  </m:ctrlPr>
                                </m:sSupPr>
                                <m:e>
                                  <m:r>
                                    <a:rPr lang="zh-TW" altLang="en-US" i="1" smtClean="0">
                                      <a:solidFill>
                                        <a:srgbClr val="483832"/>
                                      </a:solidFill>
                                      <a:latin typeface="Cambria Math" panose="02040503050406030204" pitchFamily="18" charset="0"/>
                                    </a:rPr>
                                    <m:t>𝜒</m:t>
                                  </m:r>
                                </m:e>
                                <m:sup>
                                  <m:d>
                                    <m:dPr>
                                      <m:ctrlPr>
                                        <a:rPr lang="en-US" altLang="zh-TW" i="1" smtClean="0">
                                          <a:solidFill>
                                            <a:srgbClr val="483832"/>
                                          </a:solidFill>
                                          <a:latin typeface="Cambria Math" panose="02040503050406030204" pitchFamily="18" charset="0"/>
                                        </a:rPr>
                                      </m:ctrlPr>
                                    </m:dPr>
                                    <m:e>
                                      <m:r>
                                        <a:rPr lang="en-US" altLang="zh-TW" b="0" i="1" smtClean="0">
                                          <a:solidFill>
                                            <a:srgbClr val="483832"/>
                                          </a:solidFill>
                                          <a:latin typeface="Cambria Math" panose="02040503050406030204" pitchFamily="18" charset="0"/>
                                        </a:rPr>
                                        <m:t>2</m:t>
                                      </m:r>
                                    </m:e>
                                  </m:d>
                                </m:sup>
                              </m:sSup>
                            </m:oMath>
                          </m:oMathPara>
                        </a14:m>
                        <a:endParaRPr lang="zh-TW" altLang="en-US" dirty="0">
                          <a:solidFill>
                            <a:srgbClr val="483832"/>
                          </a:solidFill>
                        </a:endParaRPr>
                      </a:p>
                    </p:txBody>
                  </p:sp>
                </mc:Choice>
                <mc:Fallback xmlns="">
                  <p:sp>
                    <p:nvSpPr>
                      <p:cNvPr id="77" name="文字方塊 76">
                        <a:extLst>
                          <a:ext uri="{FF2B5EF4-FFF2-40B4-BE49-F238E27FC236}">
                            <a16:creationId xmlns:a16="http://schemas.microsoft.com/office/drawing/2014/main" id="{82CF8EEF-9DC2-41ED-8AE8-DE3F66371940}"/>
                          </a:ext>
                        </a:extLst>
                      </p:cNvPr>
                      <p:cNvSpPr txBox="1">
                        <a:spLocks noRot="1" noChangeAspect="1" noMove="1" noResize="1" noEditPoints="1" noAdjustHandles="1" noChangeArrowheads="1" noChangeShapeType="1" noTextEdit="1"/>
                      </p:cNvSpPr>
                      <p:nvPr/>
                    </p:nvSpPr>
                    <p:spPr>
                      <a:xfrm>
                        <a:off x="8722109" y="4428061"/>
                        <a:ext cx="703157" cy="466911"/>
                      </a:xfrm>
                      <a:prstGeom prst="rect">
                        <a:avLst/>
                      </a:prstGeom>
                      <a:blipFill>
                        <a:blip r:embed="rId4"/>
                        <a:stretch>
                          <a:fillRect l="-10667" b="-22917"/>
                        </a:stretch>
                      </a:blipFill>
                    </p:spPr>
                    <p:txBody>
                      <a:bodyPr/>
                      <a:lstStyle/>
                      <a:p>
                        <a:r>
                          <a:rPr lang="zh-TW" altLang="en-US">
                            <a:noFill/>
                          </a:rPr>
                          <a:t> </a:t>
                        </a:r>
                      </a:p>
                    </p:txBody>
                  </p:sp>
                </mc:Fallback>
              </mc:AlternateContent>
            </p:grpSp>
            <p:cxnSp>
              <p:nvCxnSpPr>
                <p:cNvPr id="66" name="直線單箭頭接點 65">
                  <a:extLst>
                    <a:ext uri="{FF2B5EF4-FFF2-40B4-BE49-F238E27FC236}">
                      <a16:creationId xmlns:a16="http://schemas.microsoft.com/office/drawing/2014/main" id="{FED1D0D5-1051-446B-98BE-D3A40986EA40}"/>
                    </a:ext>
                  </a:extLst>
                </p:cNvPr>
                <p:cNvCxnSpPr>
                  <a:cxnSpLocks/>
                </p:cNvCxnSpPr>
                <p:nvPr/>
              </p:nvCxnSpPr>
              <p:spPr>
                <a:xfrm>
                  <a:off x="1308852" y="3068077"/>
                  <a:ext cx="707531" cy="0"/>
                </a:xfrm>
                <a:prstGeom prst="straightConnector1">
                  <a:avLst/>
                </a:prstGeom>
                <a:ln w="19050">
                  <a:solidFill>
                    <a:srgbClr val="0000FA"/>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a16="http://schemas.microsoft.com/office/drawing/2014/main" id="{2CBD46EB-065D-4F42-A18C-9BAF920E4E7C}"/>
                    </a:ext>
                  </a:extLst>
                </p:cNvPr>
                <p:cNvCxnSpPr>
                  <a:cxnSpLocks/>
                </p:cNvCxnSpPr>
                <p:nvPr/>
              </p:nvCxnSpPr>
              <p:spPr>
                <a:xfrm>
                  <a:off x="1308852" y="3463669"/>
                  <a:ext cx="707531" cy="0"/>
                </a:xfrm>
                <a:prstGeom prst="straightConnector1">
                  <a:avLst/>
                </a:prstGeom>
                <a:ln w="12700">
                  <a:solidFill>
                    <a:srgbClr val="F8403C"/>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3618E735-4E69-41A4-9ACA-F85B447BFF4A}"/>
                    </a:ext>
                  </a:extLst>
                </p:cNvPr>
                <p:cNvCxnSpPr>
                  <a:cxnSpLocks/>
                </p:cNvCxnSpPr>
                <p:nvPr/>
              </p:nvCxnSpPr>
              <p:spPr>
                <a:xfrm>
                  <a:off x="5068052" y="3727399"/>
                  <a:ext cx="707531" cy="0"/>
                </a:xfrm>
                <a:prstGeom prst="straightConnector1">
                  <a:avLst/>
                </a:prstGeom>
                <a:ln w="12700">
                  <a:solidFill>
                    <a:srgbClr val="0081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3A84961D-E81E-4A83-8703-F4AE3AA0992C}"/>
                        </a:ext>
                      </a:extLst>
                    </p:cNvPr>
                    <p:cNvSpPr txBox="1"/>
                    <p:nvPr/>
                  </p:nvSpPr>
                  <p:spPr>
                    <a:xfrm>
                      <a:off x="768852" y="2777681"/>
                      <a:ext cx="540000" cy="583385"/>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rgbClr val="483832"/>
                                    </a:solidFill>
                                    <a:latin typeface="Cambria Math" panose="02040503050406030204" pitchFamily="18" charset="0"/>
                                    <a:cs typeface="Times New Roman" panose="02020603050405020304" pitchFamily="18" charset="0"/>
                                  </a:rPr>
                                </m:ctrlPr>
                              </m:sSubPr>
                              <m:e>
                                <m:r>
                                  <a:rPr lang="zh-TW" altLang="en-US" i="1">
                                    <a:solidFill>
                                      <a:srgbClr val="483832"/>
                                    </a:solidFill>
                                    <a:latin typeface="Cambria Math" panose="02040503050406030204" pitchFamily="18" charset="0"/>
                                    <a:cs typeface="Times New Roman" panose="02020603050405020304" pitchFamily="18" charset="0"/>
                                  </a:rPr>
                                  <m:t>𝜔</m:t>
                                </m:r>
                              </m:e>
                              <m:sub>
                                <m:r>
                                  <a:rPr lang="en-US" altLang="zh-TW" b="0" i="1" smtClean="0">
                                    <a:solidFill>
                                      <a:srgbClr val="483832"/>
                                    </a:solidFill>
                                    <a:latin typeface="Cambria Math" panose="02040503050406030204" pitchFamily="18" charset="0"/>
                                    <a:cs typeface="Times New Roman" panose="02020603050405020304" pitchFamily="18" charset="0"/>
                                  </a:rPr>
                                  <m:t>𝑠</m:t>
                                </m:r>
                              </m:sub>
                            </m:sSub>
                          </m:oMath>
                        </m:oMathPara>
                      </a14:m>
                      <a:endParaRPr lang="en-US" altLang="zh-TW"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69" name="文字方塊 68">
                      <a:extLst>
                        <a:ext uri="{FF2B5EF4-FFF2-40B4-BE49-F238E27FC236}">
                          <a16:creationId xmlns:a16="http://schemas.microsoft.com/office/drawing/2014/main" id="{3A84961D-E81E-4A83-8703-F4AE3AA0992C}"/>
                        </a:ext>
                      </a:extLst>
                    </p:cNvPr>
                    <p:cNvSpPr txBox="1">
                      <a:spLocks noRot="1" noChangeAspect="1" noMove="1" noResize="1" noEditPoints="1" noAdjustHandles="1" noChangeArrowheads="1" noChangeShapeType="1" noTextEdit="1"/>
                    </p:cNvSpPr>
                    <p:nvPr/>
                  </p:nvSpPr>
                  <p:spPr>
                    <a:xfrm>
                      <a:off x="768852" y="2777681"/>
                      <a:ext cx="540000" cy="583385"/>
                    </a:xfrm>
                    <a:prstGeom prst="rect">
                      <a:avLst/>
                    </a:prstGeom>
                    <a:blipFill>
                      <a:blip r:embed="rId5"/>
                      <a:stretch>
                        <a:fillRect l="-103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0" name="文字方塊 69">
                      <a:extLst>
                        <a:ext uri="{FF2B5EF4-FFF2-40B4-BE49-F238E27FC236}">
                          <a16:creationId xmlns:a16="http://schemas.microsoft.com/office/drawing/2014/main" id="{1562826D-8EBD-4225-9857-93D028D93C95}"/>
                        </a:ext>
                      </a:extLst>
                    </p:cNvPr>
                    <p:cNvSpPr txBox="1"/>
                    <p:nvPr/>
                  </p:nvSpPr>
                  <p:spPr>
                    <a:xfrm>
                      <a:off x="768852" y="3157432"/>
                      <a:ext cx="540000" cy="617213"/>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rgbClr val="483832"/>
                                    </a:solidFill>
                                    <a:latin typeface="Cambria Math" panose="02040503050406030204" pitchFamily="18" charset="0"/>
                                    <a:cs typeface="Times New Roman" panose="02020603050405020304" pitchFamily="18" charset="0"/>
                                  </a:rPr>
                                </m:ctrlPr>
                              </m:sSubPr>
                              <m:e>
                                <m:r>
                                  <a:rPr lang="zh-TW" altLang="en-US" i="1">
                                    <a:solidFill>
                                      <a:srgbClr val="483832"/>
                                    </a:solidFill>
                                    <a:latin typeface="Cambria Math" panose="02040503050406030204" pitchFamily="18" charset="0"/>
                                    <a:cs typeface="Times New Roman" panose="02020603050405020304" pitchFamily="18" charset="0"/>
                                  </a:rPr>
                                  <m:t>𝜔</m:t>
                                </m:r>
                              </m:e>
                              <m:sub>
                                <m:r>
                                  <a:rPr lang="en-US" altLang="zh-TW" b="0" i="1" smtClean="0">
                                    <a:solidFill>
                                      <a:srgbClr val="483832"/>
                                    </a:solidFill>
                                    <a:latin typeface="Cambria Math" panose="02040503050406030204" pitchFamily="18" charset="0"/>
                                    <a:cs typeface="Times New Roman" panose="02020603050405020304" pitchFamily="18" charset="0"/>
                                  </a:rPr>
                                  <m:t>𝑝</m:t>
                                </m:r>
                              </m:sub>
                            </m:sSub>
                          </m:oMath>
                        </m:oMathPara>
                      </a14:m>
                      <a:endParaRPr lang="en-US" altLang="zh-TW"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70" name="文字方塊 69">
                      <a:extLst>
                        <a:ext uri="{FF2B5EF4-FFF2-40B4-BE49-F238E27FC236}">
                          <a16:creationId xmlns:a16="http://schemas.microsoft.com/office/drawing/2014/main" id="{1562826D-8EBD-4225-9857-93D028D93C95}"/>
                        </a:ext>
                      </a:extLst>
                    </p:cNvPr>
                    <p:cNvSpPr txBox="1">
                      <a:spLocks noRot="1" noChangeAspect="1" noMove="1" noResize="1" noEditPoints="1" noAdjustHandles="1" noChangeArrowheads="1" noChangeShapeType="1" noTextEdit="1"/>
                    </p:cNvSpPr>
                    <p:nvPr/>
                  </p:nvSpPr>
                  <p:spPr>
                    <a:xfrm>
                      <a:off x="768852" y="3157432"/>
                      <a:ext cx="540000" cy="617213"/>
                    </a:xfrm>
                    <a:prstGeom prst="rect">
                      <a:avLst/>
                    </a:prstGeom>
                    <a:blipFill>
                      <a:blip r:embed="rId6"/>
                      <a:stretch>
                        <a:fillRect l="-13793" b="-31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1" name="文字方塊 70">
                      <a:extLst>
                        <a:ext uri="{FF2B5EF4-FFF2-40B4-BE49-F238E27FC236}">
                          <a16:creationId xmlns:a16="http://schemas.microsoft.com/office/drawing/2014/main" id="{72183CBA-2AF3-4F52-8A1D-B7C9E258806F}"/>
                        </a:ext>
                      </a:extLst>
                    </p:cNvPr>
                    <p:cNvSpPr txBox="1"/>
                    <p:nvPr/>
                  </p:nvSpPr>
                  <p:spPr>
                    <a:xfrm>
                      <a:off x="5776342" y="3435707"/>
                      <a:ext cx="540000" cy="583385"/>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rgbClr val="483832"/>
                                    </a:solidFill>
                                    <a:latin typeface="Cambria Math" panose="02040503050406030204" pitchFamily="18" charset="0"/>
                                    <a:cs typeface="Times New Roman" panose="02020603050405020304" pitchFamily="18" charset="0"/>
                                  </a:rPr>
                                </m:ctrlPr>
                              </m:sSubPr>
                              <m:e>
                                <m:r>
                                  <a:rPr lang="zh-TW" altLang="en-US" i="1">
                                    <a:solidFill>
                                      <a:srgbClr val="483832"/>
                                    </a:solidFill>
                                    <a:latin typeface="Cambria Math" panose="02040503050406030204" pitchFamily="18" charset="0"/>
                                    <a:cs typeface="Times New Roman" panose="02020603050405020304" pitchFamily="18" charset="0"/>
                                  </a:rPr>
                                  <m:t>𝜔</m:t>
                                </m:r>
                              </m:e>
                              <m:sub>
                                <m:r>
                                  <a:rPr lang="en-US" altLang="zh-TW" b="0" i="1" smtClean="0">
                                    <a:solidFill>
                                      <a:srgbClr val="483832"/>
                                    </a:solidFill>
                                    <a:latin typeface="Cambria Math" panose="02040503050406030204" pitchFamily="18" charset="0"/>
                                    <a:cs typeface="Times New Roman" panose="02020603050405020304" pitchFamily="18" charset="0"/>
                                  </a:rPr>
                                  <m:t>𝑖</m:t>
                                </m:r>
                              </m:sub>
                            </m:sSub>
                          </m:oMath>
                        </m:oMathPara>
                      </a14:m>
                      <a:endParaRPr lang="en-US" altLang="zh-TW"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71" name="文字方塊 70">
                      <a:extLst>
                        <a:ext uri="{FF2B5EF4-FFF2-40B4-BE49-F238E27FC236}">
                          <a16:creationId xmlns:a16="http://schemas.microsoft.com/office/drawing/2014/main" id="{72183CBA-2AF3-4F52-8A1D-B7C9E258806F}"/>
                        </a:ext>
                      </a:extLst>
                    </p:cNvPr>
                    <p:cNvSpPr txBox="1">
                      <a:spLocks noRot="1" noChangeAspect="1" noMove="1" noResize="1" noEditPoints="1" noAdjustHandles="1" noChangeArrowheads="1" noChangeShapeType="1" noTextEdit="1"/>
                    </p:cNvSpPr>
                    <p:nvPr/>
                  </p:nvSpPr>
                  <p:spPr>
                    <a:xfrm>
                      <a:off x="5776342" y="3435707"/>
                      <a:ext cx="540000" cy="583385"/>
                    </a:xfrm>
                    <a:prstGeom prst="rect">
                      <a:avLst/>
                    </a:prstGeom>
                    <a:blipFill>
                      <a:blip r:embed="rId7"/>
                      <a:stretch>
                        <a:fillRect l="-10526" b="-3279"/>
                      </a:stretch>
                    </a:blipFill>
                  </p:spPr>
                  <p:txBody>
                    <a:bodyPr/>
                    <a:lstStyle/>
                    <a:p>
                      <a:r>
                        <a:rPr lang="zh-TW" altLang="en-US">
                          <a:noFill/>
                        </a:rPr>
                        <a:t> </a:t>
                      </a:r>
                    </a:p>
                  </p:txBody>
                </p:sp>
              </mc:Fallback>
            </mc:AlternateContent>
            <p:cxnSp>
              <p:nvCxnSpPr>
                <p:cNvPr id="72" name="直線單箭頭接點 71">
                  <a:extLst>
                    <a:ext uri="{FF2B5EF4-FFF2-40B4-BE49-F238E27FC236}">
                      <a16:creationId xmlns:a16="http://schemas.microsoft.com/office/drawing/2014/main" id="{ADC90D34-7B3F-46FE-8537-80D1BDA42609}"/>
                    </a:ext>
                  </a:extLst>
                </p:cNvPr>
                <p:cNvCxnSpPr>
                  <a:cxnSpLocks/>
                </p:cNvCxnSpPr>
                <p:nvPr/>
              </p:nvCxnSpPr>
              <p:spPr>
                <a:xfrm>
                  <a:off x="5084051" y="3090909"/>
                  <a:ext cx="707531" cy="0"/>
                </a:xfrm>
                <a:prstGeom prst="straightConnector1">
                  <a:avLst/>
                </a:prstGeom>
                <a:ln w="12700">
                  <a:solidFill>
                    <a:srgbClr val="0000FA"/>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a:extLst>
                    <a:ext uri="{FF2B5EF4-FFF2-40B4-BE49-F238E27FC236}">
                      <a16:creationId xmlns:a16="http://schemas.microsoft.com/office/drawing/2014/main" id="{993D6110-8B9A-412E-8B79-FA946A6A7EB1}"/>
                    </a:ext>
                  </a:extLst>
                </p:cNvPr>
                <p:cNvCxnSpPr>
                  <a:cxnSpLocks/>
                </p:cNvCxnSpPr>
                <p:nvPr/>
              </p:nvCxnSpPr>
              <p:spPr>
                <a:xfrm>
                  <a:off x="5084051" y="2956581"/>
                  <a:ext cx="707531" cy="0"/>
                </a:xfrm>
                <a:prstGeom prst="straightConnector1">
                  <a:avLst/>
                </a:prstGeom>
                <a:ln w="12700">
                  <a:solidFill>
                    <a:srgbClr val="0000FA"/>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文字方塊 73">
                      <a:extLst>
                        <a:ext uri="{FF2B5EF4-FFF2-40B4-BE49-F238E27FC236}">
                          <a16:creationId xmlns:a16="http://schemas.microsoft.com/office/drawing/2014/main" id="{461741CB-34A8-46E1-BE00-CBFDD19D3261}"/>
                        </a:ext>
                      </a:extLst>
                    </p:cNvPr>
                    <p:cNvSpPr txBox="1"/>
                    <p:nvPr/>
                  </p:nvSpPr>
                  <p:spPr>
                    <a:xfrm>
                      <a:off x="5785283" y="2844164"/>
                      <a:ext cx="540000" cy="583386"/>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rgbClr val="483832"/>
                                    </a:solidFill>
                                    <a:latin typeface="Cambria Math" panose="02040503050406030204" pitchFamily="18" charset="0"/>
                                    <a:cs typeface="Times New Roman" panose="02020603050405020304" pitchFamily="18" charset="0"/>
                                  </a:rPr>
                                </m:ctrlPr>
                              </m:sSubPr>
                              <m:e>
                                <m:r>
                                  <a:rPr lang="zh-TW" altLang="en-US" i="1">
                                    <a:solidFill>
                                      <a:srgbClr val="483832"/>
                                    </a:solidFill>
                                    <a:latin typeface="Cambria Math" panose="02040503050406030204" pitchFamily="18" charset="0"/>
                                    <a:cs typeface="Times New Roman" panose="02020603050405020304" pitchFamily="18" charset="0"/>
                                  </a:rPr>
                                  <m:t>𝜔</m:t>
                                </m:r>
                              </m:e>
                              <m:sub>
                                <m:r>
                                  <a:rPr lang="en-US" altLang="zh-TW" b="0" i="1" smtClean="0">
                                    <a:solidFill>
                                      <a:srgbClr val="483832"/>
                                    </a:solidFill>
                                    <a:latin typeface="Cambria Math" panose="02040503050406030204" pitchFamily="18" charset="0"/>
                                    <a:cs typeface="Times New Roman" panose="02020603050405020304" pitchFamily="18" charset="0"/>
                                  </a:rPr>
                                  <m:t>𝑠</m:t>
                                </m:r>
                              </m:sub>
                            </m:sSub>
                          </m:oMath>
                        </m:oMathPara>
                      </a14:m>
                      <a:endParaRPr lang="en-US" altLang="zh-TW"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74" name="文字方塊 73">
                      <a:extLst>
                        <a:ext uri="{FF2B5EF4-FFF2-40B4-BE49-F238E27FC236}">
                          <a16:creationId xmlns:a16="http://schemas.microsoft.com/office/drawing/2014/main" id="{461741CB-34A8-46E1-BE00-CBFDD19D3261}"/>
                        </a:ext>
                      </a:extLst>
                    </p:cNvPr>
                    <p:cNvSpPr txBox="1">
                      <a:spLocks noRot="1" noChangeAspect="1" noMove="1" noResize="1" noEditPoints="1" noAdjustHandles="1" noChangeArrowheads="1" noChangeShapeType="1" noTextEdit="1"/>
                    </p:cNvSpPr>
                    <p:nvPr/>
                  </p:nvSpPr>
                  <p:spPr>
                    <a:xfrm>
                      <a:off x="5785283" y="2844164"/>
                      <a:ext cx="540000" cy="583386"/>
                    </a:xfrm>
                    <a:prstGeom prst="rect">
                      <a:avLst/>
                    </a:prstGeom>
                    <a:blipFill>
                      <a:blip r:embed="rId8"/>
                      <a:stretch>
                        <a:fillRect l="-103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文字方塊 74">
                      <a:extLst>
                        <a:ext uri="{FF2B5EF4-FFF2-40B4-BE49-F238E27FC236}">
                          <a16:creationId xmlns:a16="http://schemas.microsoft.com/office/drawing/2014/main" id="{9695CDE6-3D36-4FFE-B2DC-C786F1DBD4E2}"/>
                        </a:ext>
                      </a:extLst>
                    </p:cNvPr>
                    <p:cNvSpPr txBox="1"/>
                    <p:nvPr/>
                  </p:nvSpPr>
                  <p:spPr>
                    <a:xfrm>
                      <a:off x="5776342" y="2536961"/>
                      <a:ext cx="540000" cy="583386"/>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rgbClr val="483832"/>
                                    </a:solidFill>
                                    <a:latin typeface="Cambria Math" panose="02040503050406030204" pitchFamily="18" charset="0"/>
                                    <a:cs typeface="Times New Roman" panose="02020603050405020304" pitchFamily="18" charset="0"/>
                                  </a:rPr>
                                </m:ctrlPr>
                              </m:sSubPr>
                              <m:e>
                                <m:r>
                                  <a:rPr lang="zh-TW" altLang="en-US" i="1">
                                    <a:solidFill>
                                      <a:srgbClr val="483832"/>
                                    </a:solidFill>
                                    <a:latin typeface="Cambria Math" panose="02040503050406030204" pitchFamily="18" charset="0"/>
                                    <a:cs typeface="Times New Roman" panose="02020603050405020304" pitchFamily="18" charset="0"/>
                                  </a:rPr>
                                  <m:t>𝜔</m:t>
                                </m:r>
                              </m:e>
                              <m:sub>
                                <m:r>
                                  <a:rPr lang="en-US" altLang="zh-TW" b="0" i="1" smtClean="0">
                                    <a:solidFill>
                                      <a:srgbClr val="483832"/>
                                    </a:solidFill>
                                    <a:latin typeface="Cambria Math" panose="02040503050406030204" pitchFamily="18" charset="0"/>
                                    <a:cs typeface="Times New Roman" panose="02020603050405020304" pitchFamily="18" charset="0"/>
                                  </a:rPr>
                                  <m:t>𝑠</m:t>
                                </m:r>
                              </m:sub>
                            </m:sSub>
                          </m:oMath>
                        </m:oMathPara>
                      </a14:m>
                      <a:endParaRPr lang="en-US" altLang="zh-TW"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75" name="文字方塊 74">
                      <a:extLst>
                        <a:ext uri="{FF2B5EF4-FFF2-40B4-BE49-F238E27FC236}">
                          <a16:creationId xmlns:a16="http://schemas.microsoft.com/office/drawing/2014/main" id="{9695CDE6-3D36-4FFE-B2DC-C786F1DBD4E2}"/>
                        </a:ext>
                      </a:extLst>
                    </p:cNvPr>
                    <p:cNvSpPr txBox="1">
                      <a:spLocks noRot="1" noChangeAspect="1" noMove="1" noResize="1" noEditPoints="1" noAdjustHandles="1" noChangeArrowheads="1" noChangeShapeType="1" noTextEdit="1"/>
                    </p:cNvSpPr>
                    <p:nvPr/>
                  </p:nvSpPr>
                  <p:spPr>
                    <a:xfrm>
                      <a:off x="5776342" y="2536961"/>
                      <a:ext cx="540000" cy="583386"/>
                    </a:xfrm>
                    <a:prstGeom prst="rect">
                      <a:avLst/>
                    </a:prstGeom>
                    <a:blipFill>
                      <a:blip r:embed="rId9"/>
                      <a:stretch>
                        <a:fillRect l="-12281"/>
                      </a:stretch>
                    </a:blipFill>
                  </p:spPr>
                  <p:txBody>
                    <a:bodyPr/>
                    <a:lstStyle/>
                    <a:p>
                      <a:r>
                        <a:rPr lang="zh-TW" altLang="en-US">
                          <a:noFill/>
                        </a:rPr>
                        <a:t> </a:t>
                      </a:r>
                    </a:p>
                  </p:txBody>
                </p:sp>
              </mc:Fallback>
            </mc:AlternateContent>
          </p:grpSp>
        </p:grpSp>
      </p:grpSp>
      <p:grpSp>
        <p:nvGrpSpPr>
          <p:cNvPr id="22" name="群組 21">
            <a:extLst>
              <a:ext uri="{FF2B5EF4-FFF2-40B4-BE49-F238E27FC236}">
                <a16:creationId xmlns:a16="http://schemas.microsoft.com/office/drawing/2014/main" id="{062D5EDF-603B-49AA-B05C-3317BA86E5E6}"/>
              </a:ext>
            </a:extLst>
          </p:cNvPr>
          <p:cNvGrpSpPr/>
          <p:nvPr/>
        </p:nvGrpSpPr>
        <p:grpSpPr>
          <a:xfrm>
            <a:off x="788523" y="1517515"/>
            <a:ext cx="3710584" cy="3244487"/>
            <a:chOff x="788523" y="3061835"/>
            <a:chExt cx="3710584" cy="3244487"/>
          </a:xfrm>
        </p:grpSpPr>
        <p:sp>
          <p:nvSpPr>
            <p:cNvPr id="21" name="矩形: 圓角 20">
              <a:extLst>
                <a:ext uri="{FF2B5EF4-FFF2-40B4-BE49-F238E27FC236}">
                  <a16:creationId xmlns:a16="http://schemas.microsoft.com/office/drawing/2014/main" id="{1C6828DD-9B5D-46B8-A293-0BE5A5450CEA}"/>
                </a:ext>
              </a:extLst>
            </p:cNvPr>
            <p:cNvSpPr/>
            <p:nvPr/>
          </p:nvSpPr>
          <p:spPr>
            <a:xfrm>
              <a:off x="788523" y="3061835"/>
              <a:ext cx="3710584" cy="3244487"/>
            </a:xfrm>
            <a:prstGeom prst="roundRect">
              <a:avLst>
                <a:gd name="adj" fmla="val 20202"/>
              </a:avLst>
            </a:prstGeom>
            <a:solidFill>
              <a:srgbClr val="F7F6E9"/>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7" name="圖片 6">
              <a:extLst>
                <a:ext uri="{FF2B5EF4-FFF2-40B4-BE49-F238E27FC236}">
                  <a16:creationId xmlns:a16="http://schemas.microsoft.com/office/drawing/2014/main" id="{82D7DCAC-390E-42F8-8124-F7890CB744F0}"/>
                </a:ext>
              </a:extLst>
            </p:cNvPr>
            <p:cNvPicPr/>
            <p:nvPr/>
          </p:nvPicPr>
          <p:blipFill>
            <a:blip r:embed="rId18">
              <a:extLst>
                <a:ext uri="{28A0092B-C50C-407E-A947-70E740481C1C}">
                  <a14:useLocalDpi xmlns:a14="http://schemas.microsoft.com/office/drawing/2010/main" val="0"/>
                </a:ext>
              </a:extLst>
            </a:blip>
            <a:srcRect/>
            <a:stretch>
              <a:fillRect/>
            </a:stretch>
          </p:blipFill>
          <p:spPr bwMode="auto">
            <a:xfrm>
              <a:off x="1725923" y="3334522"/>
              <a:ext cx="1835785" cy="1388745"/>
            </a:xfrm>
            <a:prstGeom prst="rect">
              <a:avLst/>
            </a:prstGeom>
            <a:noFill/>
          </p:spPr>
        </p:pic>
        <p:grpSp>
          <p:nvGrpSpPr>
            <p:cNvPr id="95" name="群組 94">
              <a:extLst>
                <a:ext uri="{FF2B5EF4-FFF2-40B4-BE49-F238E27FC236}">
                  <a16:creationId xmlns:a16="http://schemas.microsoft.com/office/drawing/2014/main" id="{8DB30708-80EF-4725-9DA6-77E0828D1202}"/>
                </a:ext>
              </a:extLst>
            </p:cNvPr>
            <p:cNvGrpSpPr/>
            <p:nvPr/>
          </p:nvGrpSpPr>
          <p:grpSpPr>
            <a:xfrm>
              <a:off x="843815" y="5044830"/>
              <a:ext cx="3600000" cy="1225367"/>
              <a:chOff x="808251" y="3683390"/>
              <a:chExt cx="3600000" cy="1225367"/>
            </a:xfrm>
          </p:grpSpPr>
          <p:sp>
            <p:nvSpPr>
              <p:cNvPr id="16" name="文字方塊 15">
                <a:extLst>
                  <a:ext uri="{FF2B5EF4-FFF2-40B4-BE49-F238E27FC236}">
                    <a16:creationId xmlns:a16="http://schemas.microsoft.com/office/drawing/2014/main" id="{23EBAC90-2CA3-43C8-8ECD-8A6D056D661C}"/>
                  </a:ext>
                </a:extLst>
              </p:cNvPr>
              <p:cNvSpPr txBox="1"/>
              <p:nvPr/>
            </p:nvSpPr>
            <p:spPr>
              <a:xfrm>
                <a:off x="1829064" y="4539425"/>
                <a:ext cx="1558375" cy="369332"/>
              </a:xfrm>
              <a:prstGeom prst="rect">
                <a:avLst/>
              </a:prstGeom>
              <a:noFill/>
            </p:spPr>
            <p:txBody>
              <a:bodyPr wrap="none" rtlCol="0">
                <a:spAutoFit/>
              </a:bodyPr>
              <a:lstStyle/>
              <a:p>
                <a:r>
                  <a:rPr lang="en-US" altLang="zh-TW" dirty="0">
                    <a:solidFill>
                      <a:srgbClr val="483832"/>
                    </a:solidFill>
                    <a:latin typeface="Times New Roman" panose="02020603050405020304" pitchFamily="18" charset="0"/>
                    <a:cs typeface="Times New Roman" panose="02020603050405020304" pitchFamily="18" charset="0"/>
                  </a:rPr>
                  <a:t>Up-conversion</a:t>
                </a:r>
                <a:endParaRPr lang="zh-TW" altLang="en-US" dirty="0">
                  <a:solidFill>
                    <a:srgbClr val="483832"/>
                  </a:solidFill>
                  <a:latin typeface="Times New Roman" panose="02020603050405020304" pitchFamily="18" charset="0"/>
                  <a:cs typeface="Times New Roman" panose="02020603050405020304" pitchFamily="18" charset="0"/>
                </a:endParaRPr>
              </a:p>
            </p:txBody>
          </p:sp>
          <p:grpSp>
            <p:nvGrpSpPr>
              <p:cNvPr id="78" name="群組 77">
                <a:extLst>
                  <a:ext uri="{FF2B5EF4-FFF2-40B4-BE49-F238E27FC236}">
                    <a16:creationId xmlns:a16="http://schemas.microsoft.com/office/drawing/2014/main" id="{4DAF8AD2-E2E0-488A-B92A-AF2A25FEC0FA}"/>
                  </a:ext>
                </a:extLst>
              </p:cNvPr>
              <p:cNvGrpSpPr/>
              <p:nvPr/>
            </p:nvGrpSpPr>
            <p:grpSpPr>
              <a:xfrm>
                <a:off x="808251" y="3683390"/>
                <a:ext cx="3600000" cy="802800"/>
                <a:chOff x="897267" y="4633849"/>
                <a:chExt cx="5530783" cy="1194318"/>
              </a:xfrm>
            </p:grpSpPr>
            <p:grpSp>
              <p:nvGrpSpPr>
                <p:cNvPr id="79" name="群組 78">
                  <a:extLst>
                    <a:ext uri="{FF2B5EF4-FFF2-40B4-BE49-F238E27FC236}">
                      <a16:creationId xmlns:a16="http://schemas.microsoft.com/office/drawing/2014/main" id="{EC85E525-E17D-418F-9497-C2D6F0E5EDF2}"/>
                    </a:ext>
                  </a:extLst>
                </p:cNvPr>
                <p:cNvGrpSpPr/>
                <p:nvPr/>
              </p:nvGrpSpPr>
              <p:grpSpPr>
                <a:xfrm>
                  <a:off x="2257425" y="4633849"/>
                  <a:ext cx="2817844" cy="1194318"/>
                  <a:chOff x="7535363" y="4004110"/>
                  <a:chExt cx="2817844" cy="1194318"/>
                </a:xfrm>
              </p:grpSpPr>
              <p:sp>
                <p:nvSpPr>
                  <p:cNvPr id="90" name="矩形 89">
                    <a:extLst>
                      <a:ext uri="{FF2B5EF4-FFF2-40B4-BE49-F238E27FC236}">
                        <a16:creationId xmlns:a16="http://schemas.microsoft.com/office/drawing/2014/main" id="{7700BC04-5335-44DF-9074-A5FF3582AD11}"/>
                      </a:ext>
                    </a:extLst>
                  </p:cNvPr>
                  <p:cNvSpPr/>
                  <p:nvPr/>
                </p:nvSpPr>
                <p:spPr>
                  <a:xfrm>
                    <a:off x="7535363" y="4004110"/>
                    <a:ext cx="2817844" cy="119431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483832"/>
                      </a:solidFill>
                    </a:endParaRPr>
                  </a:p>
                </p:txBody>
              </p:sp>
              <mc:AlternateContent xmlns:mc="http://schemas.openxmlformats.org/markup-compatibility/2006" xmlns:a14="http://schemas.microsoft.com/office/drawing/2010/main">
                <mc:Choice Requires="a14">
                  <p:sp>
                    <p:nvSpPr>
                      <p:cNvPr id="91" name="文字方塊 90">
                        <a:extLst>
                          <a:ext uri="{FF2B5EF4-FFF2-40B4-BE49-F238E27FC236}">
                            <a16:creationId xmlns:a16="http://schemas.microsoft.com/office/drawing/2014/main" id="{D5FFBA29-0101-406E-862D-C104F19999E9}"/>
                          </a:ext>
                        </a:extLst>
                      </p:cNvPr>
                      <p:cNvSpPr txBox="1"/>
                      <p:nvPr/>
                    </p:nvSpPr>
                    <p:spPr>
                      <a:xfrm>
                        <a:off x="8722110" y="4461785"/>
                        <a:ext cx="699912" cy="4397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i="1" smtClean="0">
                                      <a:solidFill>
                                        <a:srgbClr val="483832"/>
                                      </a:solidFill>
                                      <a:latin typeface="Cambria Math" panose="02040503050406030204" pitchFamily="18" charset="0"/>
                                    </a:rPr>
                                  </m:ctrlPr>
                                </m:sSupPr>
                                <m:e>
                                  <m:r>
                                    <a:rPr lang="zh-TW" altLang="en-US" i="1" smtClean="0">
                                      <a:solidFill>
                                        <a:srgbClr val="483832"/>
                                      </a:solidFill>
                                      <a:latin typeface="Cambria Math" panose="02040503050406030204" pitchFamily="18" charset="0"/>
                                    </a:rPr>
                                    <m:t>𝜒</m:t>
                                  </m:r>
                                </m:e>
                                <m:sup>
                                  <m:d>
                                    <m:dPr>
                                      <m:ctrlPr>
                                        <a:rPr lang="en-US" altLang="zh-TW" i="1" smtClean="0">
                                          <a:solidFill>
                                            <a:srgbClr val="483832"/>
                                          </a:solidFill>
                                          <a:latin typeface="Cambria Math" panose="02040503050406030204" pitchFamily="18" charset="0"/>
                                        </a:rPr>
                                      </m:ctrlPr>
                                    </m:dPr>
                                    <m:e>
                                      <m:r>
                                        <a:rPr lang="en-US" altLang="zh-TW" b="0" i="1" smtClean="0">
                                          <a:solidFill>
                                            <a:srgbClr val="483832"/>
                                          </a:solidFill>
                                          <a:latin typeface="Cambria Math" panose="02040503050406030204" pitchFamily="18" charset="0"/>
                                        </a:rPr>
                                        <m:t>2</m:t>
                                      </m:r>
                                    </m:e>
                                  </m:d>
                                </m:sup>
                              </m:sSup>
                            </m:oMath>
                          </m:oMathPara>
                        </a14:m>
                        <a:endParaRPr lang="zh-TW" altLang="en-US" dirty="0">
                          <a:solidFill>
                            <a:srgbClr val="483832"/>
                          </a:solidFill>
                        </a:endParaRPr>
                      </a:p>
                    </p:txBody>
                  </p:sp>
                </mc:Choice>
                <mc:Fallback xmlns="">
                  <p:sp>
                    <p:nvSpPr>
                      <p:cNvPr id="91" name="文字方塊 90">
                        <a:extLst>
                          <a:ext uri="{FF2B5EF4-FFF2-40B4-BE49-F238E27FC236}">
                            <a16:creationId xmlns:a16="http://schemas.microsoft.com/office/drawing/2014/main" id="{D5FFBA29-0101-406E-862D-C104F19999E9}"/>
                          </a:ext>
                        </a:extLst>
                      </p:cNvPr>
                      <p:cNvSpPr txBox="1">
                        <a:spLocks noRot="1" noChangeAspect="1" noMove="1" noResize="1" noEditPoints="1" noAdjustHandles="1" noChangeArrowheads="1" noChangeShapeType="1" noTextEdit="1"/>
                      </p:cNvSpPr>
                      <p:nvPr/>
                    </p:nvSpPr>
                    <p:spPr>
                      <a:xfrm>
                        <a:off x="8722110" y="4461785"/>
                        <a:ext cx="699912" cy="439752"/>
                      </a:xfrm>
                      <a:prstGeom prst="rect">
                        <a:avLst/>
                      </a:prstGeom>
                      <a:blipFill>
                        <a:blip r:embed="rId19"/>
                        <a:stretch>
                          <a:fillRect l="-10667" b="-22917"/>
                        </a:stretch>
                      </a:blipFill>
                    </p:spPr>
                    <p:txBody>
                      <a:bodyPr/>
                      <a:lstStyle/>
                      <a:p>
                        <a:r>
                          <a:rPr lang="zh-TW" altLang="en-US">
                            <a:noFill/>
                          </a:rPr>
                          <a:t> </a:t>
                        </a:r>
                      </a:p>
                    </p:txBody>
                  </p:sp>
                </mc:Fallback>
              </mc:AlternateContent>
            </p:grpSp>
            <p:grpSp>
              <p:nvGrpSpPr>
                <p:cNvPr id="80" name="群組 79">
                  <a:extLst>
                    <a:ext uri="{FF2B5EF4-FFF2-40B4-BE49-F238E27FC236}">
                      <a16:creationId xmlns:a16="http://schemas.microsoft.com/office/drawing/2014/main" id="{3D440893-5057-4E4E-9345-0AE0E8C72FC7}"/>
                    </a:ext>
                  </a:extLst>
                </p:cNvPr>
                <p:cNvGrpSpPr/>
                <p:nvPr/>
              </p:nvGrpSpPr>
              <p:grpSpPr>
                <a:xfrm>
                  <a:off x="5187895" y="4940352"/>
                  <a:ext cx="1240155" cy="581312"/>
                  <a:chOff x="2377173" y="5082426"/>
                  <a:chExt cx="1240155" cy="581312"/>
                </a:xfrm>
              </p:grpSpPr>
              <p:cxnSp>
                <p:nvCxnSpPr>
                  <p:cNvPr id="88" name="直線單箭頭接點 87">
                    <a:extLst>
                      <a:ext uri="{FF2B5EF4-FFF2-40B4-BE49-F238E27FC236}">
                        <a16:creationId xmlns:a16="http://schemas.microsoft.com/office/drawing/2014/main" id="{292027F0-61B5-45FA-82BC-166B8425D74A}"/>
                      </a:ext>
                    </a:extLst>
                  </p:cNvPr>
                  <p:cNvCxnSpPr>
                    <a:cxnSpLocks/>
                  </p:cNvCxnSpPr>
                  <p:nvPr/>
                </p:nvCxnSpPr>
                <p:spPr>
                  <a:xfrm>
                    <a:off x="2377173" y="5370712"/>
                    <a:ext cx="707531" cy="0"/>
                  </a:xfrm>
                  <a:prstGeom prst="straightConnector1">
                    <a:avLst/>
                  </a:prstGeom>
                  <a:ln w="12700">
                    <a:solidFill>
                      <a:srgbClr val="F8403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文字方塊 88">
                        <a:extLst>
                          <a:ext uri="{FF2B5EF4-FFF2-40B4-BE49-F238E27FC236}">
                            <a16:creationId xmlns:a16="http://schemas.microsoft.com/office/drawing/2014/main" id="{15538E0C-6A64-4521-AF40-3A6C2CEE5ACE}"/>
                          </a:ext>
                        </a:extLst>
                      </p:cNvPr>
                      <p:cNvSpPr txBox="1"/>
                      <p:nvPr/>
                    </p:nvSpPr>
                    <p:spPr>
                      <a:xfrm>
                        <a:off x="3077329" y="5082426"/>
                        <a:ext cx="539999" cy="581312"/>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rgbClr val="483832"/>
                                      </a:solidFill>
                                      <a:latin typeface="Cambria Math" panose="02040503050406030204" pitchFamily="18" charset="0"/>
                                      <a:cs typeface="Times New Roman" panose="02020603050405020304" pitchFamily="18" charset="0"/>
                                    </a:rPr>
                                  </m:ctrlPr>
                                </m:sSubPr>
                                <m:e>
                                  <m:r>
                                    <a:rPr lang="zh-TW" altLang="en-US" i="1">
                                      <a:solidFill>
                                        <a:srgbClr val="483832"/>
                                      </a:solidFill>
                                      <a:latin typeface="Cambria Math" panose="02040503050406030204" pitchFamily="18" charset="0"/>
                                      <a:cs typeface="Times New Roman" panose="02020603050405020304" pitchFamily="18" charset="0"/>
                                    </a:rPr>
                                    <m:t>𝜔</m:t>
                                  </m:r>
                                </m:e>
                                <m:sub>
                                  <m:r>
                                    <a:rPr lang="en-US" altLang="zh-TW" b="0" i="1" smtClean="0">
                                      <a:solidFill>
                                        <a:srgbClr val="483832"/>
                                      </a:solidFill>
                                      <a:latin typeface="Cambria Math" panose="02040503050406030204" pitchFamily="18" charset="0"/>
                                      <a:cs typeface="Times New Roman" panose="02020603050405020304" pitchFamily="18" charset="0"/>
                                    </a:rPr>
                                    <m:t>𝑝</m:t>
                                  </m:r>
                                </m:sub>
                              </m:sSub>
                            </m:oMath>
                          </m:oMathPara>
                        </a14:m>
                        <a:endParaRPr lang="en-US" altLang="zh-TW"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89" name="文字方塊 88">
                        <a:extLst>
                          <a:ext uri="{FF2B5EF4-FFF2-40B4-BE49-F238E27FC236}">
                            <a16:creationId xmlns:a16="http://schemas.microsoft.com/office/drawing/2014/main" id="{15538E0C-6A64-4521-AF40-3A6C2CEE5ACE}"/>
                          </a:ext>
                        </a:extLst>
                      </p:cNvPr>
                      <p:cNvSpPr txBox="1">
                        <a:spLocks noRot="1" noChangeAspect="1" noMove="1" noResize="1" noEditPoints="1" noAdjustHandles="1" noChangeArrowheads="1" noChangeShapeType="1" noTextEdit="1"/>
                      </p:cNvSpPr>
                      <p:nvPr/>
                    </p:nvSpPr>
                    <p:spPr>
                      <a:xfrm>
                        <a:off x="3077329" y="5082426"/>
                        <a:ext cx="539999" cy="581312"/>
                      </a:xfrm>
                      <a:prstGeom prst="rect">
                        <a:avLst/>
                      </a:prstGeom>
                      <a:blipFill>
                        <a:blip r:embed="rId20"/>
                        <a:stretch>
                          <a:fillRect l="-13793" b="-4688"/>
                        </a:stretch>
                      </a:blipFill>
                    </p:spPr>
                    <p:txBody>
                      <a:bodyPr/>
                      <a:lstStyle/>
                      <a:p>
                        <a:r>
                          <a:rPr lang="zh-TW" altLang="en-US">
                            <a:noFill/>
                          </a:rPr>
                          <a:t> </a:t>
                        </a:r>
                      </a:p>
                    </p:txBody>
                  </p:sp>
                </mc:Fallback>
              </mc:AlternateContent>
            </p:grpSp>
            <p:grpSp>
              <p:nvGrpSpPr>
                <p:cNvPr id="81" name="群組 80">
                  <a:extLst>
                    <a:ext uri="{FF2B5EF4-FFF2-40B4-BE49-F238E27FC236}">
                      <a16:creationId xmlns:a16="http://schemas.microsoft.com/office/drawing/2014/main" id="{97085157-0FA0-4759-A66F-9C055DF79810}"/>
                    </a:ext>
                  </a:extLst>
                </p:cNvPr>
                <p:cNvGrpSpPr/>
                <p:nvPr/>
              </p:nvGrpSpPr>
              <p:grpSpPr>
                <a:xfrm>
                  <a:off x="897267" y="4755738"/>
                  <a:ext cx="1247531" cy="950542"/>
                  <a:chOff x="2004813" y="5020213"/>
                  <a:chExt cx="1247531" cy="950542"/>
                </a:xfrm>
              </p:grpSpPr>
              <p:grpSp>
                <p:nvGrpSpPr>
                  <p:cNvPr id="82" name="群組 81">
                    <a:extLst>
                      <a:ext uri="{FF2B5EF4-FFF2-40B4-BE49-F238E27FC236}">
                        <a16:creationId xmlns:a16="http://schemas.microsoft.com/office/drawing/2014/main" id="{75F05DF8-AC8E-4316-8BCA-94A7D135D8A1}"/>
                      </a:ext>
                    </a:extLst>
                  </p:cNvPr>
                  <p:cNvGrpSpPr/>
                  <p:nvPr/>
                </p:nvGrpSpPr>
                <p:grpSpPr>
                  <a:xfrm>
                    <a:off x="2004813" y="5020213"/>
                    <a:ext cx="1247531" cy="549451"/>
                    <a:chOff x="1837173" y="4701692"/>
                    <a:chExt cx="1247531" cy="549451"/>
                  </a:xfrm>
                </p:grpSpPr>
                <p:cxnSp>
                  <p:nvCxnSpPr>
                    <p:cNvPr id="86" name="直線單箭頭接點 85">
                      <a:extLst>
                        <a:ext uri="{FF2B5EF4-FFF2-40B4-BE49-F238E27FC236}">
                          <a16:creationId xmlns:a16="http://schemas.microsoft.com/office/drawing/2014/main" id="{9B77AB6F-E767-465C-908D-9F92128408E0}"/>
                        </a:ext>
                      </a:extLst>
                    </p:cNvPr>
                    <p:cNvCxnSpPr>
                      <a:cxnSpLocks/>
                    </p:cNvCxnSpPr>
                    <p:nvPr/>
                  </p:nvCxnSpPr>
                  <p:spPr>
                    <a:xfrm>
                      <a:off x="2377173" y="4975120"/>
                      <a:ext cx="707531" cy="0"/>
                    </a:xfrm>
                    <a:prstGeom prst="straightConnector1">
                      <a:avLst/>
                    </a:prstGeom>
                    <a:ln w="12700">
                      <a:solidFill>
                        <a:srgbClr val="0000FA"/>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文字方塊 86">
                          <a:extLst>
                            <a:ext uri="{FF2B5EF4-FFF2-40B4-BE49-F238E27FC236}">
                              <a16:creationId xmlns:a16="http://schemas.microsoft.com/office/drawing/2014/main" id="{BA585C27-38DF-4A72-8950-1CC63276EB96}"/>
                            </a:ext>
                          </a:extLst>
                        </p:cNvPr>
                        <p:cNvSpPr txBox="1"/>
                        <p:nvPr/>
                      </p:nvSpPr>
                      <p:spPr>
                        <a:xfrm>
                          <a:off x="1837173" y="4701692"/>
                          <a:ext cx="539999" cy="549451"/>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rgbClr val="483832"/>
                                        </a:solidFill>
                                        <a:latin typeface="Cambria Math" panose="02040503050406030204" pitchFamily="18" charset="0"/>
                                        <a:cs typeface="Times New Roman" panose="02020603050405020304" pitchFamily="18" charset="0"/>
                                      </a:rPr>
                                    </m:ctrlPr>
                                  </m:sSubPr>
                                  <m:e>
                                    <m:r>
                                      <a:rPr lang="zh-TW" altLang="en-US" i="1">
                                        <a:solidFill>
                                          <a:srgbClr val="483832"/>
                                        </a:solidFill>
                                        <a:latin typeface="Cambria Math" panose="02040503050406030204" pitchFamily="18" charset="0"/>
                                        <a:cs typeface="Times New Roman" panose="02020603050405020304" pitchFamily="18" charset="0"/>
                                      </a:rPr>
                                      <m:t>𝜔</m:t>
                                    </m:r>
                                  </m:e>
                                  <m:sub>
                                    <m:r>
                                      <a:rPr lang="en-US" altLang="zh-TW" b="0" i="1" smtClean="0">
                                        <a:solidFill>
                                          <a:srgbClr val="483832"/>
                                        </a:solidFill>
                                        <a:latin typeface="Cambria Math" panose="02040503050406030204" pitchFamily="18" charset="0"/>
                                        <a:cs typeface="Times New Roman" panose="02020603050405020304" pitchFamily="18" charset="0"/>
                                      </a:rPr>
                                      <m:t>𝑠</m:t>
                                    </m:r>
                                  </m:sub>
                                </m:sSub>
                              </m:oMath>
                            </m:oMathPara>
                          </a14:m>
                          <a:endParaRPr lang="en-US" altLang="zh-TW"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87" name="文字方塊 86">
                          <a:extLst>
                            <a:ext uri="{FF2B5EF4-FFF2-40B4-BE49-F238E27FC236}">
                              <a16:creationId xmlns:a16="http://schemas.microsoft.com/office/drawing/2014/main" id="{BA585C27-38DF-4A72-8950-1CC63276EB96}"/>
                            </a:ext>
                          </a:extLst>
                        </p:cNvPr>
                        <p:cNvSpPr txBox="1">
                          <a:spLocks noRot="1" noChangeAspect="1" noMove="1" noResize="1" noEditPoints="1" noAdjustHandles="1" noChangeArrowheads="1" noChangeShapeType="1" noTextEdit="1"/>
                        </p:cNvSpPr>
                        <p:nvPr/>
                      </p:nvSpPr>
                      <p:spPr>
                        <a:xfrm>
                          <a:off x="1837173" y="4701692"/>
                          <a:ext cx="539999" cy="549451"/>
                        </a:xfrm>
                        <a:prstGeom prst="rect">
                          <a:avLst/>
                        </a:prstGeom>
                        <a:blipFill>
                          <a:blip r:embed="rId21"/>
                          <a:stretch>
                            <a:fillRect l="-10345"/>
                          </a:stretch>
                        </a:blipFill>
                      </p:spPr>
                      <p:txBody>
                        <a:bodyPr/>
                        <a:lstStyle/>
                        <a:p>
                          <a:r>
                            <a:rPr lang="zh-TW" altLang="en-US">
                              <a:noFill/>
                            </a:rPr>
                            <a:t> </a:t>
                          </a:r>
                        </a:p>
                      </p:txBody>
                    </p:sp>
                  </mc:Fallback>
                </mc:AlternateContent>
              </p:grpSp>
              <p:grpSp>
                <p:nvGrpSpPr>
                  <p:cNvPr id="83" name="群組 82">
                    <a:extLst>
                      <a:ext uri="{FF2B5EF4-FFF2-40B4-BE49-F238E27FC236}">
                        <a16:creationId xmlns:a16="http://schemas.microsoft.com/office/drawing/2014/main" id="{DDEAA76C-CE14-4314-8DA0-0DB5D16C8C4B}"/>
                      </a:ext>
                    </a:extLst>
                  </p:cNvPr>
                  <p:cNvGrpSpPr/>
                  <p:nvPr/>
                </p:nvGrpSpPr>
                <p:grpSpPr>
                  <a:xfrm>
                    <a:off x="2004813" y="5421304"/>
                    <a:ext cx="1247531" cy="549451"/>
                    <a:chOff x="1837173" y="4701692"/>
                    <a:chExt cx="1247531" cy="549451"/>
                  </a:xfrm>
                </p:grpSpPr>
                <p:cxnSp>
                  <p:nvCxnSpPr>
                    <p:cNvPr id="84" name="直線單箭頭接點 83">
                      <a:extLst>
                        <a:ext uri="{FF2B5EF4-FFF2-40B4-BE49-F238E27FC236}">
                          <a16:creationId xmlns:a16="http://schemas.microsoft.com/office/drawing/2014/main" id="{B35DC847-9C05-42E1-9337-B50A721C5DA2}"/>
                        </a:ext>
                      </a:extLst>
                    </p:cNvPr>
                    <p:cNvCxnSpPr>
                      <a:cxnSpLocks/>
                    </p:cNvCxnSpPr>
                    <p:nvPr/>
                  </p:nvCxnSpPr>
                  <p:spPr>
                    <a:xfrm>
                      <a:off x="2377173" y="4975120"/>
                      <a:ext cx="707531" cy="0"/>
                    </a:xfrm>
                    <a:prstGeom prst="straightConnector1">
                      <a:avLst/>
                    </a:prstGeom>
                    <a:ln w="12700">
                      <a:solidFill>
                        <a:srgbClr val="0081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2841B95C-B66A-4A73-8037-13B901B5FA5A}"/>
                            </a:ext>
                          </a:extLst>
                        </p:cNvPr>
                        <p:cNvSpPr txBox="1"/>
                        <p:nvPr/>
                      </p:nvSpPr>
                      <p:spPr>
                        <a:xfrm>
                          <a:off x="1837173" y="4701692"/>
                          <a:ext cx="539999" cy="549451"/>
                        </a:xfrm>
                        <a:prstGeom prst="rect">
                          <a:avLst/>
                        </a:prstGeom>
                        <a:noFill/>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rgbClr val="483832"/>
                                        </a:solidFill>
                                        <a:latin typeface="Cambria Math" panose="02040503050406030204" pitchFamily="18" charset="0"/>
                                        <a:cs typeface="Times New Roman" panose="02020603050405020304" pitchFamily="18" charset="0"/>
                                      </a:rPr>
                                    </m:ctrlPr>
                                  </m:sSubPr>
                                  <m:e>
                                    <m:r>
                                      <a:rPr lang="zh-TW" altLang="en-US" i="1">
                                        <a:solidFill>
                                          <a:srgbClr val="483832"/>
                                        </a:solidFill>
                                        <a:latin typeface="Cambria Math" panose="02040503050406030204" pitchFamily="18" charset="0"/>
                                        <a:cs typeface="Times New Roman" panose="02020603050405020304" pitchFamily="18" charset="0"/>
                                      </a:rPr>
                                      <m:t>𝜔</m:t>
                                    </m:r>
                                  </m:e>
                                  <m:sub>
                                    <m:r>
                                      <a:rPr lang="en-US" altLang="zh-TW" b="0" i="1" smtClean="0">
                                        <a:solidFill>
                                          <a:srgbClr val="483832"/>
                                        </a:solidFill>
                                        <a:latin typeface="Cambria Math" panose="02040503050406030204" pitchFamily="18" charset="0"/>
                                        <a:cs typeface="Times New Roman" panose="02020603050405020304" pitchFamily="18" charset="0"/>
                                      </a:rPr>
                                      <m:t>𝑖</m:t>
                                    </m:r>
                                  </m:sub>
                                </m:sSub>
                              </m:oMath>
                            </m:oMathPara>
                          </a14:m>
                          <a:endParaRPr lang="en-US" altLang="zh-TW"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85" name="文字方塊 84">
                          <a:extLst>
                            <a:ext uri="{FF2B5EF4-FFF2-40B4-BE49-F238E27FC236}">
                              <a16:creationId xmlns:a16="http://schemas.microsoft.com/office/drawing/2014/main" id="{2841B95C-B66A-4A73-8037-13B901B5FA5A}"/>
                            </a:ext>
                          </a:extLst>
                        </p:cNvPr>
                        <p:cNvSpPr txBox="1">
                          <a:spLocks noRot="1" noChangeAspect="1" noMove="1" noResize="1" noEditPoints="1" noAdjustHandles="1" noChangeArrowheads="1" noChangeShapeType="1" noTextEdit="1"/>
                        </p:cNvSpPr>
                        <p:nvPr/>
                      </p:nvSpPr>
                      <p:spPr>
                        <a:xfrm>
                          <a:off x="1837173" y="4701692"/>
                          <a:ext cx="539999" cy="549451"/>
                        </a:xfrm>
                        <a:prstGeom prst="rect">
                          <a:avLst/>
                        </a:prstGeom>
                        <a:blipFill>
                          <a:blip r:embed="rId22"/>
                          <a:stretch>
                            <a:fillRect l="-8621" b="-3333"/>
                          </a:stretch>
                        </a:blipFill>
                      </p:spPr>
                      <p:txBody>
                        <a:bodyPr/>
                        <a:lstStyle/>
                        <a:p>
                          <a:r>
                            <a:rPr lang="zh-TW" altLang="en-US">
                              <a:noFill/>
                            </a:rPr>
                            <a:t> </a:t>
                          </a:r>
                        </a:p>
                      </p:txBody>
                    </p:sp>
                  </mc:Fallback>
                </mc:AlternateContent>
              </p:grpSp>
            </p:grpSp>
          </p:grpSp>
        </p:grpSp>
      </p:grpSp>
      <mc:AlternateContent xmlns:mc="http://schemas.openxmlformats.org/markup-compatibility/2006" xmlns:a14="http://schemas.microsoft.com/office/drawing/2010/main">
        <mc:Choice Requires="a14">
          <p:sp>
            <p:nvSpPr>
              <p:cNvPr id="3" name="矩形: 圓角 2">
                <a:extLst>
                  <a:ext uri="{FF2B5EF4-FFF2-40B4-BE49-F238E27FC236}">
                    <a16:creationId xmlns:a16="http://schemas.microsoft.com/office/drawing/2014/main" id="{B3D9794F-E0B8-4027-8299-D3465F6E97AE}"/>
                  </a:ext>
                </a:extLst>
              </p:cNvPr>
              <p:cNvSpPr/>
              <p:nvPr/>
            </p:nvSpPr>
            <p:spPr>
              <a:xfrm>
                <a:off x="5819816" y="4855107"/>
                <a:ext cx="5886601" cy="1520984"/>
              </a:xfrm>
              <a:prstGeom prst="roundRect">
                <a:avLst/>
              </a:prstGeom>
              <a:ln w="19050">
                <a:solidFill>
                  <a:schemeClr val="accent1">
                    <a:lumMod val="75000"/>
                  </a:schemeClr>
                </a:solidFill>
                <a:prstDash val="lgDash"/>
              </a:ln>
            </p:spPr>
            <p:txBody>
              <a:bodyPr wrap="square" anchor="ctr" anchorCtr="1">
                <a:spAutoFit/>
              </a:bodyPr>
              <a:lstStyle/>
              <a:p>
                <a:pPr algn="ctr">
                  <a:lnSpc>
                    <a:spcPts val="2000"/>
                  </a:lnSpc>
                </a:pPr>
                <a14:m>
                  <m:oMathPara xmlns:m="http://schemas.openxmlformats.org/officeDocument/2006/math">
                    <m:oMathParaPr>
                      <m:jc m:val="centerGroup"/>
                    </m:oMathParaPr>
                    <m:oMath xmlns:m="http://schemas.openxmlformats.org/officeDocument/2006/math">
                      <m:d>
                        <m:dPr>
                          <m:begChr m:val=""/>
                          <m:ctrlPr>
                            <a:rPr lang="zh-TW" altLang="en-US" i="1" smtClean="0">
                              <a:solidFill>
                                <a:srgbClr val="483832"/>
                              </a:solidFill>
                              <a:latin typeface="Cambria Math" panose="02040503050406030204" pitchFamily="18" charset="0"/>
                            </a:rPr>
                          </m:ctrlPr>
                        </m:dPr>
                        <m:e>
                          <m:sSub>
                            <m:sSubPr>
                              <m:ctrlPr>
                                <a:rPr lang="zh-TW" altLang="en-US" i="1">
                                  <a:solidFill>
                                    <a:srgbClr val="483832"/>
                                  </a:solidFill>
                                  <a:latin typeface="Cambria Math" panose="02040503050406030204" pitchFamily="18" charset="0"/>
                                </a:rPr>
                              </m:ctrlPr>
                            </m:sSubPr>
                            <m:e>
                              <m:acc>
                                <m:accPr>
                                  <m:chr m:val="̂"/>
                                  <m:ctrlPr>
                                    <a:rPr lang="zh-TW" altLang="en-US" i="1">
                                      <a:solidFill>
                                        <a:srgbClr val="483832"/>
                                      </a:solidFill>
                                      <a:latin typeface="Cambria Math" panose="02040503050406030204" pitchFamily="18" charset="0"/>
                                    </a:rPr>
                                  </m:ctrlPr>
                                </m:accPr>
                                <m:e>
                                  <m:r>
                                    <a:rPr lang="zh-TW" altLang="en-US" i="1">
                                      <a:solidFill>
                                        <a:srgbClr val="483832"/>
                                      </a:solidFill>
                                      <a:latin typeface="Cambria Math" panose="02040503050406030204" pitchFamily="18" charset="0"/>
                                    </a:rPr>
                                    <m:t>𝐻</m:t>
                                  </m:r>
                                </m:e>
                              </m:acc>
                            </m:e>
                            <m:sub>
                              <m:r>
                                <a:rPr lang="zh-TW" altLang="en-US" i="1">
                                  <a:solidFill>
                                    <a:srgbClr val="483832"/>
                                  </a:solidFill>
                                  <a:latin typeface="Cambria Math" panose="02040503050406030204" pitchFamily="18" charset="0"/>
                                </a:rPr>
                                <m:t>𝐼</m:t>
                              </m:r>
                            </m:sub>
                          </m:sSub>
                          <m:r>
                            <a:rPr lang="zh-TW" altLang="en-US" i="1">
                              <a:solidFill>
                                <a:srgbClr val="483832"/>
                              </a:solidFill>
                              <a:latin typeface="Cambria Math" panose="02040503050406030204" pitchFamily="18" charset="0"/>
                            </a:rPr>
                            <m:t>=</m:t>
                          </m:r>
                          <m:r>
                            <a:rPr lang="zh-TW" altLang="en-US" i="1">
                              <a:solidFill>
                                <a:srgbClr val="483832"/>
                              </a:solidFill>
                              <a:latin typeface="Cambria Math" panose="02040503050406030204" pitchFamily="18" charset="0"/>
                            </a:rPr>
                            <m:t>𝑖</m:t>
                          </m:r>
                          <m:r>
                            <a:rPr lang="zh-TW" altLang="en-US" i="1">
                              <a:solidFill>
                                <a:srgbClr val="483832"/>
                              </a:solidFill>
                              <a:latin typeface="Cambria Math" panose="02040503050406030204" pitchFamily="18" charset="0"/>
                            </a:rPr>
                            <m:t>ℏ (</m:t>
                          </m:r>
                          <m:sSup>
                            <m:sSupPr>
                              <m:ctrlPr>
                                <a:rPr lang="zh-TW" altLang="en-US" i="1">
                                  <a:solidFill>
                                    <a:srgbClr val="483832"/>
                                  </a:solidFill>
                                  <a:latin typeface="Cambria Math" panose="02040503050406030204" pitchFamily="18" charset="0"/>
                                </a:rPr>
                              </m:ctrlPr>
                            </m:sSupPr>
                            <m:e>
                              <m:sSup>
                                <m:sSupPr>
                                  <m:ctrlPr>
                                    <a:rPr lang="en-US" altLang="zh-TW" i="1">
                                      <a:solidFill>
                                        <a:srgbClr val="483832"/>
                                      </a:solidFill>
                                      <a:latin typeface="Cambria Math" panose="02040503050406030204" pitchFamily="18" charset="0"/>
                                      <a:ea typeface="Cambria Math" panose="02040503050406030204" pitchFamily="18" charset="0"/>
                                    </a:rPr>
                                  </m:ctrlPr>
                                </m:sSupPr>
                                <m:e>
                                  <m:r>
                                    <a:rPr lang="zh-TW" altLang="en-US" i="1">
                                      <a:solidFill>
                                        <a:srgbClr val="483832"/>
                                      </a:solidFill>
                                      <a:latin typeface="Cambria Math" panose="02040503050406030204" pitchFamily="18" charset="0"/>
                                    </a:rPr>
                                    <m:t>𝜂</m:t>
                                  </m:r>
                                </m:e>
                                <m:sup>
                                  <m:r>
                                    <a:rPr lang="en-US" altLang="zh-TW" i="1">
                                      <a:solidFill>
                                        <a:srgbClr val="483832"/>
                                      </a:solidFill>
                                      <a:latin typeface="Cambria Math" panose="02040503050406030204" pitchFamily="18" charset="0"/>
                                      <a:ea typeface="Cambria Math" panose="02040503050406030204" pitchFamily="18" charset="0"/>
                                    </a:rPr>
                                    <m:t>∗</m:t>
                                  </m:r>
                                </m:sup>
                              </m:sSup>
                              <m:acc>
                                <m:accPr>
                                  <m:chr m:val="̂"/>
                                  <m:ctrlPr>
                                    <a:rPr lang="zh-TW" altLang="en-US" i="1">
                                      <a:solidFill>
                                        <a:srgbClr val="483832"/>
                                      </a:solidFill>
                                      <a:latin typeface="Cambria Math" panose="02040503050406030204" pitchFamily="18" charset="0"/>
                                    </a:rPr>
                                  </m:ctrlPr>
                                </m:accPr>
                                <m:e>
                                  <m:r>
                                    <a:rPr lang="zh-TW" altLang="en-US" i="1">
                                      <a:solidFill>
                                        <a:srgbClr val="483832"/>
                                      </a:solidFill>
                                      <a:latin typeface="Cambria Math" panose="02040503050406030204" pitchFamily="18" charset="0"/>
                                    </a:rPr>
                                    <m:t>𝑎</m:t>
                                  </m:r>
                                </m:e>
                              </m:acc>
                            </m:e>
                            <m:sup>
                              <m:r>
                                <a:rPr lang="zh-TW" altLang="en-US" i="1">
                                  <a:solidFill>
                                    <a:srgbClr val="483832"/>
                                  </a:solidFill>
                                  <a:latin typeface="Cambria Math" panose="02040503050406030204" pitchFamily="18" charset="0"/>
                                </a:rPr>
                                <m:t>2</m:t>
                              </m:r>
                            </m:sup>
                          </m:sSup>
                          <m:r>
                            <a:rPr lang="zh-TW" altLang="en-US" i="1">
                              <a:solidFill>
                                <a:srgbClr val="483832"/>
                              </a:solidFill>
                              <a:latin typeface="Cambria Math" panose="02040503050406030204" pitchFamily="18" charset="0"/>
                            </a:rPr>
                            <m:t>−</m:t>
                          </m:r>
                          <m:r>
                            <a:rPr lang="zh-TW" altLang="en-US" i="1">
                              <a:solidFill>
                                <a:srgbClr val="483832"/>
                              </a:solidFill>
                              <a:latin typeface="Cambria Math" panose="02040503050406030204" pitchFamily="18" charset="0"/>
                            </a:rPr>
                            <m:t>𝜂</m:t>
                          </m:r>
                          <m:sSup>
                            <m:sSupPr>
                              <m:ctrlPr>
                                <a:rPr lang="zh-TW" altLang="en-US" i="1">
                                  <a:solidFill>
                                    <a:srgbClr val="483832"/>
                                  </a:solidFill>
                                  <a:latin typeface="Cambria Math" panose="02040503050406030204" pitchFamily="18" charset="0"/>
                                </a:rPr>
                              </m:ctrlPr>
                            </m:sSupPr>
                            <m:e>
                              <m:sSup>
                                <m:sSupPr>
                                  <m:ctrlPr>
                                    <a:rPr lang="zh-TW" altLang="en-US" i="1">
                                      <a:solidFill>
                                        <a:srgbClr val="483832"/>
                                      </a:solidFill>
                                      <a:latin typeface="Cambria Math" panose="02040503050406030204" pitchFamily="18" charset="0"/>
                                    </a:rPr>
                                  </m:ctrlPr>
                                </m:sSupPr>
                                <m:e>
                                  <m:acc>
                                    <m:accPr>
                                      <m:chr m:val="̂"/>
                                      <m:ctrlPr>
                                        <a:rPr lang="zh-TW" altLang="en-US" i="1">
                                          <a:solidFill>
                                            <a:srgbClr val="483832"/>
                                          </a:solidFill>
                                          <a:latin typeface="Cambria Math" panose="02040503050406030204" pitchFamily="18" charset="0"/>
                                        </a:rPr>
                                      </m:ctrlPr>
                                    </m:accPr>
                                    <m:e>
                                      <m:r>
                                        <a:rPr lang="zh-TW" altLang="en-US" i="1">
                                          <a:solidFill>
                                            <a:srgbClr val="483832"/>
                                          </a:solidFill>
                                          <a:latin typeface="Cambria Math" panose="02040503050406030204" pitchFamily="18" charset="0"/>
                                        </a:rPr>
                                        <m:t>𝑎</m:t>
                                      </m:r>
                                    </m:e>
                                  </m:acc>
                                </m:e>
                                <m:sup>
                                  <m:r>
                                    <a:rPr lang="zh-TW" altLang="en-US" i="1">
                                      <a:solidFill>
                                        <a:srgbClr val="483832"/>
                                      </a:solidFill>
                                      <a:latin typeface="Cambria Math" panose="02040503050406030204" pitchFamily="18" charset="0"/>
                                    </a:rPr>
                                    <m:t>†</m:t>
                                  </m:r>
                                </m:sup>
                              </m:sSup>
                            </m:e>
                            <m:sup>
                              <m:r>
                                <a:rPr lang="zh-TW" altLang="en-US" i="1">
                                  <a:solidFill>
                                    <a:srgbClr val="483832"/>
                                  </a:solidFill>
                                  <a:latin typeface="Cambria Math" panose="02040503050406030204" pitchFamily="18" charset="0"/>
                                </a:rPr>
                                <m:t>2</m:t>
                              </m:r>
                            </m:sup>
                          </m:sSup>
                        </m:e>
                      </m:d>
                    </m:oMath>
                  </m:oMathPara>
                </a14:m>
                <a:endParaRPr lang="en-US" altLang="zh-TW" i="1" dirty="0">
                  <a:solidFill>
                    <a:srgbClr val="483832"/>
                  </a:solidFill>
                  <a:latin typeface="Cambria Math" panose="02040503050406030204" pitchFamily="18" charset="0"/>
                  <a:ea typeface="Cambria Math" panose="02040503050406030204" pitchFamily="18" charset="0"/>
                  <a:cs typeface="Times New Roman" panose="02020603050405020304" pitchFamily="18" charset="0"/>
                </a:endParaRPr>
              </a:p>
              <a:p>
                <a:pPr algn="ctr">
                  <a:lnSpc>
                    <a:spcPts val="2000"/>
                  </a:lnSpc>
                </a:pPr>
                <a:endParaRPr lang="en-US" altLang="zh-TW" i="1" dirty="0">
                  <a:solidFill>
                    <a:srgbClr val="483832"/>
                  </a:solidFill>
                  <a:latin typeface="Cambria Math" panose="02040503050406030204" pitchFamily="18" charset="0"/>
                  <a:ea typeface="Cambria Math" panose="02040503050406030204" pitchFamily="18" charset="0"/>
                  <a:cs typeface="Times New Roman" panose="02020603050405020304" pitchFamily="18" charset="0"/>
                </a:endParaRPr>
              </a:p>
              <a:p>
                <a:pPr algn="ctr">
                  <a:lnSpc>
                    <a:spcPts val="2000"/>
                  </a:lnSpc>
                </a:pPr>
                <a14:m>
                  <m:oMathPara xmlns:m="http://schemas.openxmlformats.org/officeDocument/2006/math">
                    <m:oMathParaPr>
                      <m:jc m:val="centerGroup"/>
                    </m:oMathParaPr>
                    <m:oMath xmlns:m="http://schemas.openxmlformats.org/officeDocument/2006/math">
                      <m:sSub>
                        <m:sSubPr>
                          <m:ctrlPr>
                            <a:rPr lang="zh-TW" altLang="en-US" i="1">
                              <a:solidFill>
                                <a:srgbClr val="483832"/>
                              </a:solidFill>
                              <a:latin typeface="Cambria Math" panose="02040503050406030204" pitchFamily="18" charset="0"/>
                            </a:rPr>
                          </m:ctrlPr>
                        </m:sSubPr>
                        <m:e>
                          <m:acc>
                            <m:accPr>
                              <m:chr m:val="̂"/>
                              <m:ctrlPr>
                                <a:rPr lang="zh-TW" altLang="en-US" i="1">
                                  <a:solidFill>
                                    <a:srgbClr val="483832"/>
                                  </a:solidFill>
                                  <a:latin typeface="Cambria Math" panose="02040503050406030204" pitchFamily="18" charset="0"/>
                                </a:rPr>
                              </m:ctrlPr>
                            </m:accPr>
                            <m:e>
                              <m:r>
                                <a:rPr lang="en-US" altLang="zh-TW" i="1">
                                  <a:solidFill>
                                    <a:srgbClr val="483832"/>
                                  </a:solidFill>
                                  <a:latin typeface="Cambria Math" panose="02040503050406030204" pitchFamily="18" charset="0"/>
                                  <a:ea typeface="Cambria Math" panose="02040503050406030204" pitchFamily="18" charset="0"/>
                                </a:rPr>
                                <m:t>𝑈</m:t>
                              </m:r>
                            </m:e>
                          </m:acc>
                        </m:e>
                        <m:sub>
                          <m:r>
                            <a:rPr lang="zh-TW" altLang="en-US" i="1">
                              <a:solidFill>
                                <a:srgbClr val="483832"/>
                              </a:solidFill>
                              <a:latin typeface="Cambria Math" panose="02040503050406030204" pitchFamily="18" charset="0"/>
                            </a:rPr>
                            <m:t>𝐼</m:t>
                          </m:r>
                        </m:sub>
                      </m:sSub>
                      <m:r>
                        <a:rPr lang="en-US" altLang="zh-TW" i="1">
                          <a:solidFill>
                            <a:srgbClr val="483832"/>
                          </a:solidFill>
                          <a:latin typeface="Cambria Math" panose="02040503050406030204" pitchFamily="18" charset="0"/>
                          <a:ea typeface="Cambria Math" panose="02040503050406030204" pitchFamily="18" charset="0"/>
                        </a:rPr>
                        <m:t>(</m:t>
                      </m:r>
                      <m:r>
                        <m:rPr>
                          <m:sty m:val="p"/>
                        </m:rPr>
                        <a:rPr lang="en-US" altLang="zh-TW" i="1">
                          <a:solidFill>
                            <a:srgbClr val="483832"/>
                          </a:solidFill>
                          <a:latin typeface="Cambria Math" panose="02040503050406030204" pitchFamily="18" charset="0"/>
                          <a:ea typeface="Cambria Math" panose="02040503050406030204" pitchFamily="18" charset="0"/>
                        </a:rPr>
                        <m:t>t</m:t>
                      </m:r>
                      <m:r>
                        <a:rPr lang="en-US" altLang="zh-TW" i="1">
                          <a:solidFill>
                            <a:srgbClr val="483832"/>
                          </a:solidFill>
                          <a:latin typeface="Cambria Math" panose="02040503050406030204" pitchFamily="18" charset="0"/>
                          <a:ea typeface="Cambria Math" panose="02040503050406030204" pitchFamily="18" charset="0"/>
                        </a:rPr>
                        <m:t>,0)=</m:t>
                      </m:r>
                      <m:r>
                        <m:rPr>
                          <m:sty m:val="p"/>
                        </m:rPr>
                        <a:rPr lang="en-US" altLang="zh-TW" i="1">
                          <a:solidFill>
                            <a:srgbClr val="483832"/>
                          </a:solidFill>
                          <a:latin typeface="Cambria Math" panose="02040503050406030204" pitchFamily="18" charset="0"/>
                          <a:ea typeface="Cambria Math" panose="02040503050406030204" pitchFamily="18" charset="0"/>
                        </a:rPr>
                        <m:t>exp</m:t>
                      </m:r>
                      <m:d>
                        <m:dPr>
                          <m:ctrlPr>
                            <a:rPr lang="en-US" altLang="zh-TW" i="1">
                              <a:solidFill>
                                <a:srgbClr val="483832"/>
                              </a:solidFill>
                              <a:latin typeface="Cambria Math" panose="02040503050406030204" pitchFamily="18" charset="0"/>
                              <a:ea typeface="Cambria Math" panose="02040503050406030204" pitchFamily="18" charset="0"/>
                            </a:rPr>
                          </m:ctrlPr>
                        </m:dPr>
                        <m:e>
                          <m:f>
                            <m:fPr>
                              <m:type m:val="lin"/>
                              <m:ctrlPr>
                                <a:rPr lang="en-US" altLang="zh-TW" i="1">
                                  <a:solidFill>
                                    <a:srgbClr val="483832"/>
                                  </a:solidFill>
                                  <a:latin typeface="Cambria Math" panose="02040503050406030204" pitchFamily="18" charset="0"/>
                                  <a:ea typeface="Cambria Math" panose="02040503050406030204" pitchFamily="18" charset="0"/>
                                </a:rPr>
                              </m:ctrlPr>
                            </m:fPr>
                            <m:num>
                              <m:r>
                                <a:rPr lang="en-US" altLang="zh-TW" i="1">
                                  <a:solidFill>
                                    <a:srgbClr val="483832"/>
                                  </a:solidFill>
                                  <a:latin typeface="Cambria Math" panose="02040503050406030204" pitchFamily="18" charset="0"/>
                                  <a:ea typeface="Cambria Math" panose="02040503050406030204" pitchFamily="18" charset="0"/>
                                </a:rPr>
                                <m:t>−</m:t>
                              </m:r>
                              <m:r>
                                <a:rPr lang="en-US" altLang="zh-TW" i="1">
                                  <a:solidFill>
                                    <a:srgbClr val="483832"/>
                                  </a:solidFill>
                                  <a:latin typeface="Cambria Math" panose="02040503050406030204" pitchFamily="18" charset="0"/>
                                  <a:ea typeface="Cambria Math" panose="02040503050406030204" pitchFamily="18" charset="0"/>
                                </a:rPr>
                                <m:t>𝑖</m:t>
                              </m:r>
                              <m:sSub>
                                <m:sSubPr>
                                  <m:ctrlPr>
                                    <a:rPr lang="zh-TW" altLang="en-US" i="1">
                                      <a:solidFill>
                                        <a:srgbClr val="483832"/>
                                      </a:solidFill>
                                      <a:latin typeface="Cambria Math" panose="02040503050406030204" pitchFamily="18" charset="0"/>
                                    </a:rPr>
                                  </m:ctrlPr>
                                </m:sSubPr>
                                <m:e>
                                  <m:acc>
                                    <m:accPr>
                                      <m:chr m:val="̂"/>
                                      <m:ctrlPr>
                                        <a:rPr lang="zh-TW" altLang="en-US" i="1">
                                          <a:solidFill>
                                            <a:srgbClr val="483832"/>
                                          </a:solidFill>
                                          <a:latin typeface="Cambria Math" panose="02040503050406030204" pitchFamily="18" charset="0"/>
                                        </a:rPr>
                                      </m:ctrlPr>
                                    </m:accPr>
                                    <m:e>
                                      <m:r>
                                        <a:rPr lang="zh-TW" altLang="en-US" i="1">
                                          <a:solidFill>
                                            <a:srgbClr val="483832"/>
                                          </a:solidFill>
                                          <a:latin typeface="Cambria Math" panose="02040503050406030204" pitchFamily="18" charset="0"/>
                                        </a:rPr>
                                        <m:t>𝐻</m:t>
                                      </m:r>
                                    </m:e>
                                  </m:acc>
                                </m:e>
                                <m:sub>
                                  <m:r>
                                    <a:rPr lang="zh-TW" altLang="en-US" i="1">
                                      <a:solidFill>
                                        <a:srgbClr val="483832"/>
                                      </a:solidFill>
                                      <a:latin typeface="Cambria Math" panose="02040503050406030204" pitchFamily="18" charset="0"/>
                                    </a:rPr>
                                    <m:t>𝐼</m:t>
                                  </m:r>
                                </m:sub>
                              </m:sSub>
                            </m:num>
                            <m:den>
                              <m:r>
                                <a:rPr lang="en-US" altLang="zh-TW" i="1">
                                  <a:solidFill>
                                    <a:srgbClr val="483832"/>
                                  </a:solidFill>
                                  <a:latin typeface="Cambria Math" panose="02040503050406030204" pitchFamily="18" charset="0"/>
                                  <a:ea typeface="Cambria Math" panose="02040503050406030204" pitchFamily="18" charset="0"/>
                                </a:rPr>
                                <m:t>ℏ</m:t>
                              </m:r>
                            </m:den>
                          </m:f>
                        </m:e>
                      </m:d>
                      <m:r>
                        <a:rPr lang="en-US" altLang="zh-TW" i="1">
                          <a:solidFill>
                            <a:srgbClr val="483832"/>
                          </a:solidFill>
                          <a:latin typeface="Cambria Math" panose="02040503050406030204" pitchFamily="18" charset="0"/>
                          <a:ea typeface="Cambria Math" panose="02040503050406030204" pitchFamily="18" charset="0"/>
                        </a:rPr>
                        <m:t>=</m:t>
                      </m:r>
                      <m:r>
                        <m:rPr>
                          <m:sty m:val="p"/>
                        </m:rPr>
                        <a:rPr lang="en-US" altLang="zh-TW" i="1">
                          <a:solidFill>
                            <a:srgbClr val="483832"/>
                          </a:solidFill>
                          <a:latin typeface="Cambria Math" panose="02040503050406030204" pitchFamily="18" charset="0"/>
                          <a:ea typeface="Cambria Math" panose="02040503050406030204" pitchFamily="18" charset="0"/>
                        </a:rPr>
                        <m:t>exp</m:t>
                      </m:r>
                      <m:d>
                        <m:dPr>
                          <m:ctrlPr>
                            <a:rPr lang="en-US" altLang="zh-TW" i="1">
                              <a:solidFill>
                                <a:srgbClr val="483832"/>
                              </a:solidFill>
                              <a:latin typeface="Cambria Math" panose="02040503050406030204" pitchFamily="18" charset="0"/>
                              <a:ea typeface="Cambria Math" panose="02040503050406030204" pitchFamily="18" charset="0"/>
                            </a:rPr>
                          </m:ctrlPr>
                        </m:dPr>
                        <m:e>
                          <m:sSup>
                            <m:sSupPr>
                              <m:ctrlPr>
                                <a:rPr lang="zh-TW" altLang="en-US" i="1">
                                  <a:solidFill>
                                    <a:srgbClr val="483832"/>
                                  </a:solidFill>
                                  <a:latin typeface="Cambria Math" panose="02040503050406030204" pitchFamily="18" charset="0"/>
                                </a:rPr>
                              </m:ctrlPr>
                            </m:sSupPr>
                            <m:e>
                              <m:sSup>
                                <m:sSupPr>
                                  <m:ctrlPr>
                                    <a:rPr lang="en-US" altLang="zh-TW" i="1">
                                      <a:solidFill>
                                        <a:srgbClr val="483832"/>
                                      </a:solidFill>
                                      <a:latin typeface="Cambria Math" panose="02040503050406030204" pitchFamily="18" charset="0"/>
                                      <a:ea typeface="Cambria Math" panose="02040503050406030204" pitchFamily="18" charset="0"/>
                                    </a:rPr>
                                  </m:ctrlPr>
                                </m:sSupPr>
                                <m:e>
                                  <m:r>
                                    <a:rPr lang="zh-TW" altLang="en-US" i="1">
                                      <a:solidFill>
                                        <a:srgbClr val="483832"/>
                                      </a:solidFill>
                                      <a:latin typeface="Cambria Math" panose="02040503050406030204" pitchFamily="18" charset="0"/>
                                    </a:rPr>
                                    <m:t>𝜂</m:t>
                                  </m:r>
                                </m:e>
                                <m:sup>
                                  <m:r>
                                    <a:rPr lang="en-US" altLang="zh-TW" i="1">
                                      <a:solidFill>
                                        <a:srgbClr val="483832"/>
                                      </a:solidFill>
                                      <a:latin typeface="Cambria Math" panose="02040503050406030204" pitchFamily="18" charset="0"/>
                                      <a:ea typeface="Cambria Math" panose="02040503050406030204" pitchFamily="18" charset="0"/>
                                    </a:rPr>
                                    <m:t>∗</m:t>
                                  </m:r>
                                </m:sup>
                              </m:sSup>
                              <m:r>
                                <a:rPr lang="en-US" altLang="zh-TW" i="1">
                                  <a:solidFill>
                                    <a:srgbClr val="483832"/>
                                  </a:solidFill>
                                  <a:latin typeface="Cambria Math" panose="02040503050406030204" pitchFamily="18" charset="0"/>
                                  <a:ea typeface="Cambria Math" panose="02040503050406030204" pitchFamily="18" charset="0"/>
                                </a:rPr>
                                <m:t>𝑡</m:t>
                              </m:r>
                              <m:acc>
                                <m:accPr>
                                  <m:chr m:val="̂"/>
                                  <m:ctrlPr>
                                    <a:rPr lang="zh-TW" altLang="en-US" i="1">
                                      <a:solidFill>
                                        <a:srgbClr val="483832"/>
                                      </a:solidFill>
                                      <a:latin typeface="Cambria Math" panose="02040503050406030204" pitchFamily="18" charset="0"/>
                                    </a:rPr>
                                  </m:ctrlPr>
                                </m:accPr>
                                <m:e>
                                  <m:r>
                                    <a:rPr lang="zh-TW" altLang="en-US" i="1">
                                      <a:solidFill>
                                        <a:srgbClr val="483832"/>
                                      </a:solidFill>
                                      <a:latin typeface="Cambria Math" panose="02040503050406030204" pitchFamily="18" charset="0"/>
                                    </a:rPr>
                                    <m:t>𝑎</m:t>
                                  </m:r>
                                </m:e>
                              </m:acc>
                            </m:e>
                            <m:sup>
                              <m:r>
                                <a:rPr lang="zh-TW" altLang="en-US" i="1">
                                  <a:solidFill>
                                    <a:srgbClr val="483832"/>
                                  </a:solidFill>
                                  <a:latin typeface="Cambria Math" panose="02040503050406030204" pitchFamily="18" charset="0"/>
                                </a:rPr>
                                <m:t>2</m:t>
                              </m:r>
                            </m:sup>
                          </m:sSup>
                          <m:r>
                            <a:rPr lang="en-US" altLang="zh-TW" i="1">
                              <a:solidFill>
                                <a:srgbClr val="483832"/>
                              </a:solidFill>
                              <a:latin typeface="Cambria Math" panose="02040503050406030204" pitchFamily="18" charset="0"/>
                              <a:ea typeface="Cambria Math" panose="02040503050406030204" pitchFamily="18" charset="0"/>
                            </a:rPr>
                            <m:t>−</m:t>
                          </m:r>
                          <m:r>
                            <a:rPr lang="zh-TW" altLang="en-US" i="1">
                              <a:solidFill>
                                <a:srgbClr val="483832"/>
                              </a:solidFill>
                              <a:latin typeface="Cambria Math" panose="02040503050406030204" pitchFamily="18" charset="0"/>
                            </a:rPr>
                            <m:t>𝜂</m:t>
                          </m:r>
                          <m:r>
                            <a:rPr lang="en-US" altLang="zh-TW" i="1">
                              <a:solidFill>
                                <a:srgbClr val="483832"/>
                              </a:solidFill>
                              <a:latin typeface="Cambria Math" panose="02040503050406030204" pitchFamily="18" charset="0"/>
                              <a:ea typeface="Cambria Math" panose="02040503050406030204" pitchFamily="18" charset="0"/>
                            </a:rPr>
                            <m:t>𝑡</m:t>
                          </m:r>
                          <m:sSup>
                            <m:sSupPr>
                              <m:ctrlPr>
                                <a:rPr lang="zh-TW" altLang="en-US" i="1">
                                  <a:solidFill>
                                    <a:srgbClr val="483832"/>
                                  </a:solidFill>
                                  <a:latin typeface="Cambria Math" panose="02040503050406030204" pitchFamily="18" charset="0"/>
                                </a:rPr>
                              </m:ctrlPr>
                            </m:sSupPr>
                            <m:e>
                              <m:sSup>
                                <m:sSupPr>
                                  <m:ctrlPr>
                                    <a:rPr lang="zh-TW" altLang="en-US" i="1">
                                      <a:solidFill>
                                        <a:srgbClr val="483832"/>
                                      </a:solidFill>
                                      <a:latin typeface="Cambria Math" panose="02040503050406030204" pitchFamily="18" charset="0"/>
                                    </a:rPr>
                                  </m:ctrlPr>
                                </m:sSupPr>
                                <m:e>
                                  <m:acc>
                                    <m:accPr>
                                      <m:chr m:val="̂"/>
                                      <m:ctrlPr>
                                        <a:rPr lang="zh-TW" altLang="en-US" i="1">
                                          <a:solidFill>
                                            <a:srgbClr val="483832"/>
                                          </a:solidFill>
                                          <a:latin typeface="Cambria Math" panose="02040503050406030204" pitchFamily="18" charset="0"/>
                                        </a:rPr>
                                      </m:ctrlPr>
                                    </m:accPr>
                                    <m:e>
                                      <m:r>
                                        <a:rPr lang="zh-TW" altLang="en-US" i="1">
                                          <a:solidFill>
                                            <a:srgbClr val="483832"/>
                                          </a:solidFill>
                                          <a:latin typeface="Cambria Math" panose="02040503050406030204" pitchFamily="18" charset="0"/>
                                        </a:rPr>
                                        <m:t>𝑎</m:t>
                                      </m:r>
                                    </m:e>
                                  </m:acc>
                                </m:e>
                                <m:sup>
                                  <m:r>
                                    <a:rPr lang="zh-TW" altLang="en-US" i="1">
                                      <a:solidFill>
                                        <a:srgbClr val="483832"/>
                                      </a:solidFill>
                                      <a:latin typeface="Cambria Math" panose="02040503050406030204" pitchFamily="18" charset="0"/>
                                    </a:rPr>
                                    <m:t>†</m:t>
                                  </m:r>
                                </m:sup>
                              </m:sSup>
                            </m:e>
                            <m:sup>
                              <m:r>
                                <a:rPr lang="zh-TW" altLang="en-US" i="1">
                                  <a:solidFill>
                                    <a:srgbClr val="483832"/>
                                  </a:solidFill>
                                  <a:latin typeface="Cambria Math" panose="02040503050406030204" pitchFamily="18" charset="0"/>
                                </a:rPr>
                                <m:t>2</m:t>
                              </m:r>
                            </m:sup>
                          </m:sSup>
                        </m:e>
                      </m:d>
                    </m:oMath>
                  </m:oMathPara>
                </a14:m>
                <a:endParaRPr lang="en-US" altLang="zh-TW" i="1" dirty="0">
                  <a:solidFill>
                    <a:srgbClr val="483832"/>
                  </a:solidFill>
                  <a:latin typeface="Cambria Math" panose="02040503050406030204" pitchFamily="18" charset="0"/>
                  <a:ea typeface="Cambria Math" panose="02040503050406030204" pitchFamily="18" charset="0"/>
                  <a:cs typeface="Times New Roman" panose="02020603050405020304" pitchFamily="18" charset="0"/>
                </a:endParaRPr>
              </a:p>
              <a:p>
                <a:pPr algn="ctr">
                  <a:lnSpc>
                    <a:spcPts val="2000"/>
                  </a:lnSpc>
                </a:pPr>
                <a:endParaRPr lang="en-US" altLang="zh-TW" i="1" dirty="0">
                  <a:solidFill>
                    <a:srgbClr val="483832"/>
                  </a:solidFill>
                  <a:latin typeface="Cambria Math" panose="02040503050406030204" pitchFamily="18" charset="0"/>
                  <a:ea typeface="Cambria Math" panose="02040503050406030204" pitchFamily="18" charset="0"/>
                  <a:cs typeface="Times New Roman" panose="02020603050405020304" pitchFamily="18" charset="0"/>
                </a:endParaRPr>
              </a:p>
              <a:p>
                <a:pPr algn="ctr">
                  <a:lnSpc>
                    <a:spcPts val="2000"/>
                  </a:lnSpc>
                </a:pPr>
                <a:r>
                  <a:rPr lang="en-US" altLang="zh-TW" i="1" dirty="0">
                    <a:solidFill>
                      <a:srgbClr val="483832"/>
                    </a:solidFill>
                    <a:latin typeface="Cambria Math" panose="02040503050406030204" pitchFamily="18" charset="0"/>
                    <a:ea typeface="Cambria Math" panose="02040503050406030204" pitchFamily="18" charset="0"/>
                    <a:cs typeface="Times New Roman" panose="02020603050405020304" pitchFamily="18" charset="0"/>
                  </a:rPr>
                  <a:t>Correspond</a:t>
                </a:r>
                <a:r>
                  <a:rPr lang="zh-TW" altLang="en-US" i="1" dirty="0">
                    <a:solidFill>
                      <a:srgbClr val="483832"/>
                    </a:solidFill>
                    <a:latin typeface="Cambria Math" panose="02040503050406030204" pitchFamily="18" charset="0"/>
                    <a:cs typeface="Times New Roman" panose="02020603050405020304" pitchFamily="18" charset="0"/>
                  </a:rPr>
                  <a:t> </a:t>
                </a:r>
                <a:r>
                  <a:rPr lang="en-US" altLang="zh-TW" i="1" dirty="0">
                    <a:solidFill>
                      <a:srgbClr val="483832"/>
                    </a:solidFill>
                    <a:latin typeface="Cambria Math" panose="02040503050406030204" pitchFamily="18" charset="0"/>
                    <a:ea typeface="Cambria Math" panose="02040503050406030204" pitchFamily="18" charset="0"/>
                    <a:cs typeface="Times New Roman" panose="02020603050405020304" pitchFamily="18" charset="0"/>
                  </a:rPr>
                  <a:t>to squeezed operator </a:t>
                </a:r>
                <a14:m>
                  <m:oMath xmlns:m="http://schemas.openxmlformats.org/officeDocument/2006/math">
                    <m:acc>
                      <m:accPr>
                        <m:chr m:val="̂"/>
                        <m:ctrlPr>
                          <a:rPr lang="zh-TW" altLang="zh-TW" i="1">
                            <a:solidFill>
                              <a:srgbClr val="483832"/>
                            </a:solidFill>
                            <a:latin typeface="Cambria Math" panose="02040503050406030204" pitchFamily="18" charset="0"/>
                          </a:rPr>
                        </m:ctrlPr>
                      </m:accPr>
                      <m:e>
                        <m:r>
                          <a:rPr lang="en-US" altLang="zh-TW" i="1">
                            <a:solidFill>
                              <a:srgbClr val="483832"/>
                            </a:solidFill>
                            <a:latin typeface="Cambria Math" panose="02040503050406030204" pitchFamily="18" charset="0"/>
                            <a:ea typeface="Cambria Math" panose="02040503050406030204" pitchFamily="18" charset="0"/>
                          </a:rPr>
                          <m:t>𝑆</m:t>
                        </m:r>
                      </m:e>
                    </m:acc>
                    <m:d>
                      <m:dPr>
                        <m:ctrlPr>
                          <a:rPr lang="zh-TW" altLang="zh-TW" i="1">
                            <a:solidFill>
                              <a:srgbClr val="483832"/>
                            </a:solidFill>
                            <a:latin typeface="Cambria Math" panose="02040503050406030204" pitchFamily="18" charset="0"/>
                          </a:rPr>
                        </m:ctrlPr>
                      </m:dPr>
                      <m:e>
                        <m:r>
                          <a:rPr lang="en-US" altLang="zh-TW" i="1">
                            <a:solidFill>
                              <a:srgbClr val="483832"/>
                            </a:solidFill>
                            <a:latin typeface="Cambria Math" panose="02040503050406030204" pitchFamily="18" charset="0"/>
                            <a:ea typeface="Cambria Math" panose="02040503050406030204" pitchFamily="18" charset="0"/>
                          </a:rPr>
                          <m:t>𝜀</m:t>
                        </m:r>
                      </m:e>
                    </m:d>
                    <m:r>
                      <a:rPr lang="en-US" altLang="zh-TW" i="1">
                        <a:solidFill>
                          <a:srgbClr val="483832"/>
                        </a:solidFill>
                        <a:latin typeface="Cambria Math" panose="02040503050406030204" pitchFamily="18" charset="0"/>
                        <a:ea typeface="Cambria Math" panose="02040503050406030204" pitchFamily="18" charset="0"/>
                      </a:rPr>
                      <m:t>=</m:t>
                    </m:r>
                    <m:sSup>
                      <m:sSupPr>
                        <m:ctrlPr>
                          <a:rPr lang="zh-TW" altLang="zh-TW" i="1">
                            <a:solidFill>
                              <a:srgbClr val="483832"/>
                            </a:solidFill>
                            <a:latin typeface="Cambria Math" panose="02040503050406030204" pitchFamily="18" charset="0"/>
                          </a:rPr>
                        </m:ctrlPr>
                      </m:sSupPr>
                      <m:e>
                        <m:r>
                          <a:rPr lang="en-US" altLang="zh-TW" i="1">
                            <a:solidFill>
                              <a:srgbClr val="483832"/>
                            </a:solidFill>
                            <a:latin typeface="Cambria Math" panose="02040503050406030204" pitchFamily="18" charset="0"/>
                            <a:ea typeface="Cambria Math" panose="02040503050406030204" pitchFamily="18" charset="0"/>
                          </a:rPr>
                          <m:t>𝑒</m:t>
                        </m:r>
                      </m:e>
                      <m:sup>
                        <m:f>
                          <m:fPr>
                            <m:ctrlPr>
                              <a:rPr lang="zh-TW" altLang="zh-TW" i="1">
                                <a:solidFill>
                                  <a:srgbClr val="483832"/>
                                </a:solidFill>
                                <a:latin typeface="Cambria Math" panose="02040503050406030204" pitchFamily="18" charset="0"/>
                              </a:rPr>
                            </m:ctrlPr>
                          </m:fPr>
                          <m:num>
                            <m:r>
                              <a:rPr lang="en-US" altLang="zh-TW" i="1">
                                <a:solidFill>
                                  <a:srgbClr val="483832"/>
                                </a:solidFill>
                                <a:latin typeface="Cambria Math" panose="02040503050406030204" pitchFamily="18" charset="0"/>
                                <a:ea typeface="Cambria Math" panose="02040503050406030204" pitchFamily="18" charset="0"/>
                              </a:rPr>
                              <m:t>1</m:t>
                            </m:r>
                          </m:num>
                          <m:den>
                            <m:r>
                              <a:rPr lang="en-US" altLang="zh-TW" i="1">
                                <a:solidFill>
                                  <a:srgbClr val="483832"/>
                                </a:solidFill>
                                <a:latin typeface="Cambria Math" panose="02040503050406030204" pitchFamily="18" charset="0"/>
                                <a:ea typeface="Cambria Math" panose="02040503050406030204" pitchFamily="18" charset="0"/>
                              </a:rPr>
                              <m:t>2</m:t>
                            </m:r>
                          </m:den>
                        </m:f>
                        <m:sSup>
                          <m:sSupPr>
                            <m:ctrlPr>
                              <a:rPr lang="zh-TW" altLang="zh-TW" i="1">
                                <a:solidFill>
                                  <a:srgbClr val="483832"/>
                                </a:solidFill>
                                <a:latin typeface="Cambria Math" panose="02040503050406030204" pitchFamily="18" charset="0"/>
                              </a:rPr>
                            </m:ctrlPr>
                          </m:sSupPr>
                          <m:e>
                            <m:r>
                              <a:rPr lang="en-US" altLang="zh-TW" i="1">
                                <a:solidFill>
                                  <a:srgbClr val="483832"/>
                                </a:solidFill>
                                <a:latin typeface="Cambria Math" panose="02040503050406030204" pitchFamily="18" charset="0"/>
                                <a:ea typeface="Cambria Math" panose="02040503050406030204" pitchFamily="18" charset="0"/>
                              </a:rPr>
                              <m:t>𝜀</m:t>
                            </m:r>
                          </m:e>
                          <m:sup>
                            <m:r>
                              <a:rPr lang="zh-TW" altLang="en-US" i="1">
                                <a:solidFill>
                                  <a:srgbClr val="483832"/>
                                </a:solidFill>
                                <a:latin typeface="Cambria Math" panose="02040503050406030204" pitchFamily="18" charset="0"/>
                              </a:rPr>
                              <m:t>∗</m:t>
                            </m:r>
                          </m:sup>
                        </m:sSup>
                        <m:sSup>
                          <m:sSupPr>
                            <m:ctrlPr>
                              <a:rPr lang="zh-TW" altLang="zh-TW" i="1">
                                <a:solidFill>
                                  <a:srgbClr val="483832"/>
                                </a:solidFill>
                                <a:latin typeface="Cambria Math" panose="02040503050406030204" pitchFamily="18" charset="0"/>
                              </a:rPr>
                            </m:ctrlPr>
                          </m:sSupPr>
                          <m:e>
                            <m:acc>
                              <m:accPr>
                                <m:chr m:val="̂"/>
                                <m:ctrlPr>
                                  <a:rPr lang="zh-TW" altLang="zh-TW" i="1">
                                    <a:solidFill>
                                      <a:srgbClr val="483832"/>
                                    </a:solidFill>
                                    <a:latin typeface="Cambria Math" panose="02040503050406030204" pitchFamily="18" charset="0"/>
                                  </a:rPr>
                                </m:ctrlPr>
                              </m:accPr>
                              <m:e>
                                <m:r>
                                  <a:rPr lang="en-US" altLang="zh-TW" i="1">
                                    <a:solidFill>
                                      <a:srgbClr val="483832"/>
                                    </a:solidFill>
                                    <a:latin typeface="Cambria Math" panose="02040503050406030204" pitchFamily="18" charset="0"/>
                                    <a:ea typeface="Cambria Math" panose="02040503050406030204" pitchFamily="18" charset="0"/>
                                  </a:rPr>
                                  <m:t>𝑎</m:t>
                                </m:r>
                              </m:e>
                            </m:acc>
                          </m:e>
                          <m:sup>
                            <m:r>
                              <a:rPr lang="en-US" altLang="zh-TW" i="1">
                                <a:solidFill>
                                  <a:srgbClr val="483832"/>
                                </a:solidFill>
                                <a:latin typeface="Cambria Math" panose="02040503050406030204" pitchFamily="18" charset="0"/>
                                <a:ea typeface="Cambria Math" panose="02040503050406030204" pitchFamily="18" charset="0"/>
                              </a:rPr>
                              <m:t>2</m:t>
                            </m:r>
                          </m:sup>
                        </m:sSup>
                      </m:sup>
                    </m:sSup>
                    <m:sSup>
                      <m:sSupPr>
                        <m:ctrlPr>
                          <a:rPr lang="zh-TW" altLang="zh-TW" i="1">
                            <a:solidFill>
                              <a:srgbClr val="483832"/>
                            </a:solidFill>
                            <a:latin typeface="Cambria Math" panose="02040503050406030204" pitchFamily="18" charset="0"/>
                          </a:rPr>
                        </m:ctrlPr>
                      </m:sSupPr>
                      <m:e>
                        <m:r>
                          <a:rPr lang="en-US" altLang="zh-TW" i="1">
                            <a:solidFill>
                              <a:srgbClr val="483832"/>
                            </a:solidFill>
                            <a:latin typeface="Cambria Math" panose="02040503050406030204" pitchFamily="18" charset="0"/>
                            <a:ea typeface="Cambria Math" panose="02040503050406030204" pitchFamily="18" charset="0"/>
                          </a:rPr>
                          <m:t>𝑒</m:t>
                        </m:r>
                      </m:e>
                      <m:sup>
                        <m:r>
                          <a:rPr lang="en-US" altLang="zh-TW" i="1">
                            <a:solidFill>
                              <a:srgbClr val="483832"/>
                            </a:solidFill>
                            <a:latin typeface="Cambria Math" panose="02040503050406030204" pitchFamily="18" charset="0"/>
                            <a:ea typeface="Cambria Math" panose="02040503050406030204" pitchFamily="18" charset="0"/>
                          </a:rPr>
                          <m:t>−</m:t>
                        </m:r>
                        <m:f>
                          <m:fPr>
                            <m:ctrlPr>
                              <a:rPr lang="zh-TW" altLang="zh-TW" i="1">
                                <a:solidFill>
                                  <a:srgbClr val="483832"/>
                                </a:solidFill>
                                <a:latin typeface="Cambria Math" panose="02040503050406030204" pitchFamily="18" charset="0"/>
                              </a:rPr>
                            </m:ctrlPr>
                          </m:fPr>
                          <m:num>
                            <m:r>
                              <a:rPr lang="en-US" altLang="zh-TW" i="1">
                                <a:solidFill>
                                  <a:srgbClr val="483832"/>
                                </a:solidFill>
                                <a:latin typeface="Cambria Math" panose="02040503050406030204" pitchFamily="18" charset="0"/>
                                <a:ea typeface="Cambria Math" panose="02040503050406030204" pitchFamily="18" charset="0"/>
                              </a:rPr>
                              <m:t>1</m:t>
                            </m:r>
                          </m:num>
                          <m:den>
                            <m:r>
                              <a:rPr lang="en-US" altLang="zh-TW" i="1">
                                <a:solidFill>
                                  <a:srgbClr val="483832"/>
                                </a:solidFill>
                                <a:latin typeface="Cambria Math" panose="02040503050406030204" pitchFamily="18" charset="0"/>
                                <a:ea typeface="Cambria Math" panose="02040503050406030204" pitchFamily="18" charset="0"/>
                              </a:rPr>
                              <m:t>2</m:t>
                            </m:r>
                          </m:den>
                        </m:f>
                        <m:r>
                          <a:rPr lang="en-US" altLang="zh-TW" i="1">
                            <a:solidFill>
                              <a:srgbClr val="483832"/>
                            </a:solidFill>
                            <a:latin typeface="Cambria Math" panose="02040503050406030204" pitchFamily="18" charset="0"/>
                            <a:ea typeface="Cambria Math" panose="02040503050406030204" pitchFamily="18" charset="0"/>
                          </a:rPr>
                          <m:t>𝜀</m:t>
                        </m:r>
                        <m:sSup>
                          <m:sSupPr>
                            <m:ctrlPr>
                              <a:rPr lang="zh-TW" altLang="zh-TW" i="1">
                                <a:solidFill>
                                  <a:srgbClr val="483832"/>
                                </a:solidFill>
                                <a:latin typeface="Cambria Math" panose="02040503050406030204" pitchFamily="18" charset="0"/>
                              </a:rPr>
                            </m:ctrlPr>
                          </m:sSupPr>
                          <m:e>
                            <m:sSup>
                              <m:sSupPr>
                                <m:ctrlPr>
                                  <a:rPr lang="zh-TW" altLang="zh-TW" i="1">
                                    <a:solidFill>
                                      <a:srgbClr val="483832"/>
                                    </a:solidFill>
                                    <a:latin typeface="Cambria Math" panose="02040503050406030204" pitchFamily="18" charset="0"/>
                                  </a:rPr>
                                </m:ctrlPr>
                              </m:sSupPr>
                              <m:e>
                                <m:acc>
                                  <m:accPr>
                                    <m:chr m:val="̂"/>
                                    <m:ctrlPr>
                                      <a:rPr lang="zh-TW" altLang="zh-TW" i="1">
                                        <a:solidFill>
                                          <a:srgbClr val="483832"/>
                                        </a:solidFill>
                                        <a:latin typeface="Cambria Math" panose="02040503050406030204" pitchFamily="18" charset="0"/>
                                      </a:rPr>
                                    </m:ctrlPr>
                                  </m:accPr>
                                  <m:e>
                                    <m:r>
                                      <a:rPr lang="en-US" altLang="zh-TW" i="1">
                                        <a:solidFill>
                                          <a:srgbClr val="483832"/>
                                        </a:solidFill>
                                        <a:latin typeface="Cambria Math" panose="02040503050406030204" pitchFamily="18" charset="0"/>
                                        <a:ea typeface="Cambria Math" panose="02040503050406030204" pitchFamily="18" charset="0"/>
                                      </a:rPr>
                                      <m:t>𝑎</m:t>
                                    </m:r>
                                  </m:e>
                                </m:acc>
                              </m:e>
                              <m:sup>
                                <m:r>
                                  <a:rPr lang="en-US" altLang="zh-TW" i="1">
                                    <a:solidFill>
                                      <a:srgbClr val="483832"/>
                                    </a:solidFill>
                                    <a:latin typeface="Cambria Math" panose="02040503050406030204" pitchFamily="18" charset="0"/>
                                    <a:ea typeface="Cambria Math" panose="02040503050406030204" pitchFamily="18" charset="0"/>
                                  </a:rPr>
                                  <m:t>†</m:t>
                                </m:r>
                              </m:sup>
                            </m:sSup>
                          </m:e>
                          <m:sup>
                            <m:r>
                              <a:rPr lang="en-US" altLang="zh-TW" i="1">
                                <a:solidFill>
                                  <a:srgbClr val="483832"/>
                                </a:solidFill>
                                <a:latin typeface="Cambria Math" panose="02040503050406030204" pitchFamily="18" charset="0"/>
                                <a:ea typeface="Cambria Math" panose="02040503050406030204" pitchFamily="18" charset="0"/>
                              </a:rPr>
                              <m:t>2</m:t>
                            </m:r>
                          </m:sup>
                        </m:sSup>
                      </m:sup>
                    </m:sSup>
                  </m:oMath>
                </a14:m>
                <a:endParaRPr lang="en-US" altLang="zh-TW" i="1" dirty="0">
                  <a:solidFill>
                    <a:srgbClr val="483832"/>
                  </a:solidFill>
                  <a:latin typeface="Cambria Math" panose="02040503050406030204" pitchFamily="18" charset="0"/>
                  <a:cs typeface="Times New Roman" panose="02020603050405020304" pitchFamily="18" charset="0"/>
                </a:endParaRPr>
              </a:p>
            </p:txBody>
          </p:sp>
        </mc:Choice>
        <mc:Fallback xmlns="">
          <p:sp>
            <p:nvSpPr>
              <p:cNvPr id="3" name="矩形: 圓角 2">
                <a:extLst>
                  <a:ext uri="{FF2B5EF4-FFF2-40B4-BE49-F238E27FC236}">
                    <a16:creationId xmlns:a16="http://schemas.microsoft.com/office/drawing/2014/main" id="{B3D9794F-E0B8-4027-8299-D3465F6E97AE}"/>
                  </a:ext>
                </a:extLst>
              </p:cNvPr>
              <p:cNvSpPr>
                <a:spLocks noRot="1" noChangeAspect="1" noMove="1" noResize="1" noEditPoints="1" noAdjustHandles="1" noChangeArrowheads="1" noChangeShapeType="1" noTextEdit="1"/>
              </p:cNvSpPr>
              <p:nvPr/>
            </p:nvSpPr>
            <p:spPr>
              <a:xfrm>
                <a:off x="5819816" y="4855107"/>
                <a:ext cx="5886601" cy="1520984"/>
              </a:xfrm>
              <a:prstGeom prst="roundRect">
                <a:avLst/>
              </a:prstGeom>
              <a:blipFill>
                <a:blip r:embed="rId23"/>
                <a:stretch>
                  <a:fillRect t="-60474" b="-16996"/>
                </a:stretch>
              </a:blipFill>
              <a:ln w="19050">
                <a:solidFill>
                  <a:schemeClr val="accent1">
                    <a:lumMod val="75000"/>
                  </a:schemeClr>
                </a:solidFill>
                <a:prstDash val="lgDash"/>
              </a:ln>
            </p:spPr>
            <p:txBody>
              <a:bodyPr/>
              <a:lstStyle/>
              <a:p>
                <a:r>
                  <a:rPr lang="zh-TW" altLang="en-US">
                    <a:noFill/>
                  </a:rPr>
                  <a:t> </a:t>
                </a:r>
              </a:p>
            </p:txBody>
          </p:sp>
        </mc:Fallback>
      </mc:AlternateContent>
      <p:sp>
        <p:nvSpPr>
          <p:cNvPr id="4" name="矩形 3">
            <a:extLst>
              <a:ext uri="{FF2B5EF4-FFF2-40B4-BE49-F238E27FC236}">
                <a16:creationId xmlns:a16="http://schemas.microsoft.com/office/drawing/2014/main" id="{A36671A5-2F40-4D01-AF83-B96806BD3E09}"/>
              </a:ext>
            </a:extLst>
          </p:cNvPr>
          <p:cNvSpPr/>
          <p:nvPr/>
        </p:nvSpPr>
        <p:spPr>
          <a:xfrm>
            <a:off x="843815" y="6601801"/>
            <a:ext cx="6096000" cy="246221"/>
          </a:xfrm>
          <a:prstGeom prst="rect">
            <a:avLst/>
          </a:prstGeom>
        </p:spPr>
        <p:txBody>
          <a:bodyPr>
            <a:spAutoFit/>
          </a:bodyPr>
          <a:lstStyle/>
          <a:p>
            <a:r>
              <a:rPr lang="en-US" altLang="zh-TW" sz="1000" dirty="0">
                <a:latin typeface="Times New Roman" panose="02020603050405020304" pitchFamily="18" charset="0"/>
                <a:cs typeface="Times New Roman" panose="02020603050405020304" pitchFamily="18" charset="0"/>
              </a:rPr>
              <a:t>C. Gerry and P. Knight, </a:t>
            </a:r>
            <a:r>
              <a:rPr lang="en-US" altLang="zh-TW" sz="1000" i="1" dirty="0">
                <a:latin typeface="Times New Roman" panose="02020603050405020304" pitchFamily="18" charset="0"/>
                <a:cs typeface="Times New Roman" panose="02020603050405020304" pitchFamily="18" charset="0"/>
              </a:rPr>
              <a:t>Introductory Quantum Optics</a:t>
            </a:r>
            <a:r>
              <a:rPr lang="en-US" altLang="zh-TW" sz="1000" dirty="0">
                <a:latin typeface="Times New Roman" panose="02020603050405020304" pitchFamily="18" charset="0"/>
                <a:cs typeface="Times New Roman" panose="02020603050405020304" pitchFamily="18" charset="0"/>
              </a:rPr>
              <a:t>. Cambridge University Press(2004)</a:t>
            </a:r>
            <a:endParaRPr lang="zh-TW" altLang="en-US" sz="1000" dirty="0">
              <a:latin typeface="Times New Roman" panose="02020603050405020304" pitchFamily="18" charset="0"/>
              <a:cs typeface="Times New Roman" panose="02020603050405020304" pitchFamily="18" charset="0"/>
            </a:endParaRPr>
          </a:p>
        </p:txBody>
      </p:sp>
      <p:pic>
        <p:nvPicPr>
          <p:cNvPr id="92" name="圖片 91">
            <a:extLst>
              <a:ext uri="{FF2B5EF4-FFF2-40B4-BE49-F238E27FC236}">
                <a16:creationId xmlns:a16="http://schemas.microsoft.com/office/drawing/2014/main" id="{EE190DB6-B789-4A18-96DE-0B900D618ACB}"/>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896579" y="31476"/>
            <a:ext cx="2136139" cy="656144"/>
          </a:xfrm>
          <a:prstGeom prst="rect">
            <a:avLst/>
          </a:prstGeom>
        </p:spPr>
      </p:pic>
      <p:grpSp>
        <p:nvGrpSpPr>
          <p:cNvPr id="15" name="群組 14">
            <a:extLst>
              <a:ext uri="{FF2B5EF4-FFF2-40B4-BE49-F238E27FC236}">
                <a16:creationId xmlns:a16="http://schemas.microsoft.com/office/drawing/2014/main" id="{92ED6871-6F52-437B-9EEA-78417D083F2C}"/>
              </a:ext>
            </a:extLst>
          </p:cNvPr>
          <p:cNvGrpSpPr/>
          <p:nvPr/>
        </p:nvGrpSpPr>
        <p:grpSpPr>
          <a:xfrm>
            <a:off x="4582118" y="1197515"/>
            <a:ext cx="4641666" cy="2761190"/>
            <a:chOff x="4582118" y="1441355"/>
            <a:chExt cx="4641666" cy="2761190"/>
          </a:xfrm>
        </p:grpSpPr>
        <p:sp>
          <p:nvSpPr>
            <p:cNvPr id="14" name="文字方塊 13">
              <a:extLst>
                <a:ext uri="{FF2B5EF4-FFF2-40B4-BE49-F238E27FC236}">
                  <a16:creationId xmlns:a16="http://schemas.microsoft.com/office/drawing/2014/main" id="{B6BC5EC8-9E0A-4858-953E-51FF5C8E296C}"/>
                </a:ext>
              </a:extLst>
            </p:cNvPr>
            <p:cNvSpPr txBox="1"/>
            <p:nvPr/>
          </p:nvSpPr>
          <p:spPr>
            <a:xfrm>
              <a:off x="5124864" y="1441355"/>
              <a:ext cx="3599062" cy="369332"/>
            </a:xfrm>
            <a:prstGeom prst="rect">
              <a:avLst/>
            </a:prstGeom>
            <a:noFill/>
          </p:spPr>
          <p:txBody>
            <a:bodyPr wrap="none" rtlCol="0">
              <a:spAutoFit/>
            </a:bodyPr>
            <a:lstStyle/>
            <a:p>
              <a:r>
                <a:rPr lang="en-US" altLang="zh-TW" dirty="0">
                  <a:solidFill>
                    <a:srgbClr val="FF0000"/>
                  </a:solidFill>
                  <a:latin typeface="Times New Roman" panose="02020603050405020304" pitchFamily="18" charset="0"/>
                </a:rPr>
                <a:t>Change the signal</a:t>
              </a:r>
              <a:r>
                <a:rPr lang="zh-TW" altLang="en-US" dirty="0">
                  <a:solidFill>
                    <a:srgbClr val="FF0000"/>
                  </a:solidFill>
                  <a:latin typeface="Times New Roman" panose="02020603050405020304" pitchFamily="18" charset="0"/>
                </a:rPr>
                <a:t> </a:t>
              </a:r>
              <a:r>
                <a:rPr lang="en-US" altLang="zh-TW" dirty="0">
                  <a:solidFill>
                    <a:srgbClr val="FF0000"/>
                  </a:solidFill>
                  <a:latin typeface="Times New Roman" panose="02020603050405020304" pitchFamily="18" charset="0"/>
                </a:rPr>
                <a:t>photon to vacuum</a:t>
              </a:r>
              <a:endParaRPr lang="zh-TW" altLang="en-US" dirty="0">
                <a:solidFill>
                  <a:srgbClr val="FF0000"/>
                </a:solidFill>
                <a:latin typeface="Times New Roman" panose="02020603050405020304" pitchFamily="18" charset="0"/>
              </a:endParaRPr>
            </a:p>
          </p:txBody>
        </p:sp>
        <p:sp>
          <p:nvSpPr>
            <p:cNvPr id="11" name="橢圓 10">
              <a:extLst>
                <a:ext uri="{FF2B5EF4-FFF2-40B4-BE49-F238E27FC236}">
                  <a16:creationId xmlns:a16="http://schemas.microsoft.com/office/drawing/2014/main" id="{EC1E4F6C-048A-48F7-A78A-3D42115C3269}"/>
                </a:ext>
              </a:extLst>
            </p:cNvPr>
            <p:cNvSpPr/>
            <p:nvPr/>
          </p:nvSpPr>
          <p:spPr>
            <a:xfrm>
              <a:off x="4582118" y="3797686"/>
              <a:ext cx="917902" cy="404859"/>
            </a:xfrm>
            <a:prstGeom prst="ellipse">
              <a:avLst/>
            </a:prstGeom>
            <a:noFill/>
            <a:ln w="28575">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effectLst>
                  <a:outerShdw blurRad="38100" dist="38100" dir="2700000" algn="tl">
                    <a:srgbClr val="000000">
                      <a:alpha val="43137"/>
                    </a:srgbClr>
                  </a:outerShdw>
                </a:effectLst>
              </a:endParaRPr>
            </a:p>
          </p:txBody>
        </p:sp>
        <p:sp>
          <p:nvSpPr>
            <p:cNvPr id="18" name="橢圓 17">
              <a:extLst>
                <a:ext uri="{FF2B5EF4-FFF2-40B4-BE49-F238E27FC236}">
                  <a16:creationId xmlns:a16="http://schemas.microsoft.com/office/drawing/2014/main" id="{8970351A-A188-4DA6-925F-C50FEF771DEE}"/>
                </a:ext>
              </a:extLst>
            </p:cNvPr>
            <p:cNvSpPr/>
            <p:nvPr/>
          </p:nvSpPr>
          <p:spPr>
            <a:xfrm>
              <a:off x="8287810" y="3777143"/>
              <a:ext cx="935974" cy="425402"/>
            </a:xfrm>
            <a:prstGeom prst="ellipse">
              <a:avLst/>
            </a:prstGeom>
            <a:noFill/>
            <a:ln w="28575">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effectLst>
                  <a:outerShdw blurRad="38100" dist="38100" dir="2700000" algn="tl">
                    <a:srgbClr val="000000">
                      <a:alpha val="43137"/>
                    </a:srgbClr>
                  </a:outerShdw>
                </a:effectLst>
              </a:endParaRPr>
            </a:p>
          </p:txBody>
        </p:sp>
        <p:sp>
          <p:nvSpPr>
            <p:cNvPr id="19" name="箭號: 迴轉箭號 18">
              <a:extLst>
                <a:ext uri="{FF2B5EF4-FFF2-40B4-BE49-F238E27FC236}">
                  <a16:creationId xmlns:a16="http://schemas.microsoft.com/office/drawing/2014/main" id="{8FA678E2-D084-4C62-B1C0-3FDE7CA3E3FE}"/>
                </a:ext>
              </a:extLst>
            </p:cNvPr>
            <p:cNvSpPr/>
            <p:nvPr/>
          </p:nvSpPr>
          <p:spPr>
            <a:xfrm>
              <a:off x="4990750" y="1840083"/>
              <a:ext cx="3948570" cy="1933459"/>
            </a:xfrm>
            <a:prstGeom prst="uturnArrow">
              <a:avLst>
                <a:gd name="adj1" fmla="val 3796"/>
                <a:gd name="adj2" fmla="val 7495"/>
                <a:gd name="adj3" fmla="val 9453"/>
                <a:gd name="adj4" fmla="val 25994"/>
                <a:gd name="adj5" fmla="val 100000"/>
              </a:avLst>
            </a:prstGeom>
            <a:solidFill>
              <a:srgbClr val="FF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313480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250" fill="hold"/>
                                        <p:tgtEl>
                                          <p:spTgt spid="15"/>
                                        </p:tgtEl>
                                        <p:attrNameLst>
                                          <p:attrName>ppt_x</p:attrName>
                                        </p:attrNameLst>
                                      </p:cBhvr>
                                      <p:tavLst>
                                        <p:tav tm="0">
                                          <p:val>
                                            <p:strVal val="#ppt_x"/>
                                          </p:val>
                                        </p:tav>
                                        <p:tav tm="100000">
                                          <p:val>
                                            <p:strVal val="#ppt_x"/>
                                          </p:val>
                                        </p:tav>
                                      </p:tavLst>
                                    </p:anim>
                                    <p:anim calcmode="lin" valueType="num">
                                      <p:cBhvr additive="base">
                                        <p:cTn id="8" dur="25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additive="base">
                                        <p:cTn id="11" dur="250" fill="hold"/>
                                        <p:tgtEl>
                                          <p:spTgt spid="50"/>
                                        </p:tgtEl>
                                        <p:attrNameLst>
                                          <p:attrName>ppt_x</p:attrName>
                                        </p:attrNameLst>
                                      </p:cBhvr>
                                      <p:tavLst>
                                        <p:tav tm="0">
                                          <p:val>
                                            <p:strVal val="#ppt_x"/>
                                          </p:val>
                                        </p:tav>
                                        <p:tav tm="100000">
                                          <p:val>
                                            <p:strVal val="#ppt_x"/>
                                          </p:val>
                                        </p:tav>
                                      </p:tavLst>
                                    </p:anim>
                                    <p:anim calcmode="lin" valueType="num">
                                      <p:cBhvr additive="base">
                                        <p:cTn id="12" dur="25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250" fill="hold"/>
                                        <p:tgtEl>
                                          <p:spTgt spid="3"/>
                                        </p:tgtEl>
                                        <p:attrNameLst>
                                          <p:attrName>ppt_x</p:attrName>
                                        </p:attrNameLst>
                                      </p:cBhvr>
                                      <p:tavLst>
                                        <p:tav tm="0">
                                          <p:val>
                                            <p:strVal val="#ppt_x"/>
                                          </p:val>
                                        </p:tav>
                                        <p:tav tm="100000">
                                          <p:val>
                                            <p:strVal val="#ppt_x"/>
                                          </p:val>
                                        </p:tav>
                                      </p:tavLst>
                                    </p:anim>
                                    <p:anim calcmode="lin" valueType="num">
                                      <p:cBhvr additive="base">
                                        <p:cTn id="18" dur="2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F4C67195-9ADD-458F-B0DC-B7E660D31387}"/>
              </a:ext>
            </a:extLst>
          </p:cNvPr>
          <p:cNvSpPr>
            <a:spLocks noGrp="1"/>
          </p:cNvSpPr>
          <p:nvPr>
            <p:ph type="body" sz="half" idx="13"/>
          </p:nvPr>
        </p:nvSpPr>
        <p:spPr>
          <a:xfrm>
            <a:off x="3799841" y="16590"/>
            <a:ext cx="4592320" cy="660417"/>
          </a:xfrm>
        </p:spPr>
        <p:txBody>
          <a:bodyPr>
            <a:normAutofit/>
          </a:bodyPr>
          <a:lstStyle/>
          <a:p>
            <a:r>
              <a:rPr lang="en-US" altLang="zh-TW" dirty="0"/>
              <a:t>Quasi-phase matching(QPM)</a:t>
            </a:r>
          </a:p>
        </p:txBody>
      </p:sp>
      <p:sp>
        <p:nvSpPr>
          <p:cNvPr id="5" name="投影片編號版面配置區 4">
            <a:extLst>
              <a:ext uri="{FF2B5EF4-FFF2-40B4-BE49-F238E27FC236}">
                <a16:creationId xmlns:a16="http://schemas.microsoft.com/office/drawing/2014/main" id="{2C9BC066-1808-49EC-83D5-97B306227805}"/>
              </a:ext>
            </a:extLst>
          </p:cNvPr>
          <p:cNvSpPr>
            <a:spLocks noGrp="1"/>
          </p:cNvSpPr>
          <p:nvPr>
            <p:ph type="sldNum" sz="quarter" idx="12"/>
          </p:nvPr>
        </p:nvSpPr>
        <p:spPr/>
        <p:txBody>
          <a:bodyPr/>
          <a:lstStyle/>
          <a:p>
            <a:fld id="{9820161B-3DFF-4FF5-AA0E-35496F014571}" type="slidenum">
              <a:rPr lang="zh-TW" altLang="en-US" smtClean="0"/>
              <a:t>12</a:t>
            </a:fld>
            <a:endParaRPr lang="zh-TW" altLang="en-US"/>
          </a:p>
        </p:txBody>
      </p:sp>
      <p:sp>
        <p:nvSpPr>
          <p:cNvPr id="6" name="文字方塊 5">
            <a:extLst>
              <a:ext uri="{FF2B5EF4-FFF2-40B4-BE49-F238E27FC236}">
                <a16:creationId xmlns:a16="http://schemas.microsoft.com/office/drawing/2014/main" id="{0A02B3B4-9215-4F80-9984-556F81ADEE6A}"/>
              </a:ext>
            </a:extLst>
          </p:cNvPr>
          <p:cNvSpPr txBox="1"/>
          <p:nvPr/>
        </p:nvSpPr>
        <p:spPr>
          <a:xfrm>
            <a:off x="2157261" y="5571504"/>
            <a:ext cx="7877478" cy="707886"/>
          </a:xfrm>
          <a:prstGeom prst="rect">
            <a:avLst/>
          </a:prstGeom>
          <a:noFill/>
        </p:spPr>
        <p:txBody>
          <a:bodyPr wrap="none" rtlCol="0">
            <a:spAutoFit/>
          </a:bodyPr>
          <a:lstStyle/>
          <a:p>
            <a:pPr algn="ctr">
              <a:lnSpc>
                <a:spcPts val="2500"/>
              </a:lnSpc>
            </a:pPr>
            <a:r>
              <a:rPr lang="en-US" altLang="zh-TW" sz="2000" dirty="0">
                <a:solidFill>
                  <a:srgbClr val="483832"/>
                </a:solidFill>
                <a:latin typeface="Times New Roman" panose="02020603050405020304" pitchFamily="18" charset="0"/>
              </a:rPr>
              <a:t>Use electric poling technology produce periodic inversion domain grating. </a:t>
            </a:r>
          </a:p>
          <a:p>
            <a:pPr algn="ctr">
              <a:lnSpc>
                <a:spcPts val="2500"/>
              </a:lnSpc>
            </a:pPr>
            <a:r>
              <a:rPr lang="en-US" altLang="zh-TW" sz="2000" dirty="0">
                <a:solidFill>
                  <a:srgbClr val="483832"/>
                </a:solidFill>
                <a:latin typeface="Times New Roman" panose="02020603050405020304" pitchFamily="18" charset="0"/>
              </a:rPr>
              <a:t>Compensated the phase mismatch in waveguides.</a:t>
            </a:r>
            <a:endParaRPr lang="zh-TW" altLang="en-US" sz="2000" dirty="0">
              <a:solidFill>
                <a:srgbClr val="483832"/>
              </a:solidFill>
              <a:latin typeface="Times New Roman" panose="02020603050405020304" pitchFamily="18" charset="0"/>
            </a:endParaRPr>
          </a:p>
        </p:txBody>
      </p:sp>
      <p:sp>
        <p:nvSpPr>
          <p:cNvPr id="7" name="矩形 6">
            <a:extLst>
              <a:ext uri="{FF2B5EF4-FFF2-40B4-BE49-F238E27FC236}">
                <a16:creationId xmlns:a16="http://schemas.microsoft.com/office/drawing/2014/main" id="{6DEBA782-EB5A-46E6-A237-AD61A525B728}"/>
              </a:ext>
            </a:extLst>
          </p:cNvPr>
          <p:cNvSpPr/>
          <p:nvPr/>
        </p:nvSpPr>
        <p:spPr>
          <a:xfrm>
            <a:off x="762000" y="6457890"/>
            <a:ext cx="4473677" cy="400110"/>
          </a:xfrm>
          <a:prstGeom prst="rect">
            <a:avLst/>
          </a:prstGeom>
        </p:spPr>
        <p:txBody>
          <a:bodyPr wrap="square">
            <a:spAutoFit/>
          </a:bodyPr>
          <a:lstStyle/>
          <a:p>
            <a:r>
              <a:rPr lang="en-US" altLang="zh-TW" sz="1000" dirty="0">
                <a:latin typeface="Times New Roman" panose="02020603050405020304" pitchFamily="18" charset="0"/>
                <a:cs typeface="Times New Roman" panose="02020603050405020304" pitchFamily="18" charset="0"/>
              </a:rPr>
              <a:t>O. </a:t>
            </a:r>
            <a:r>
              <a:rPr lang="en-US" altLang="zh-TW" sz="1000" dirty="0" err="1">
                <a:latin typeface="Times New Roman" panose="02020603050405020304" pitchFamily="18" charset="0"/>
                <a:cs typeface="Times New Roman" panose="02020603050405020304" pitchFamily="18" charset="0"/>
              </a:rPr>
              <a:t>Alibart</a:t>
            </a:r>
            <a:r>
              <a:rPr lang="en-US" altLang="zh-TW" sz="1000" i="1" dirty="0">
                <a:latin typeface="Times New Roman" panose="02020603050405020304" pitchFamily="18" charset="0"/>
                <a:cs typeface="Times New Roman" panose="02020603050405020304" pitchFamily="18" charset="0"/>
              </a:rPr>
              <a:t> et al.</a:t>
            </a:r>
            <a:r>
              <a:rPr lang="en-US" altLang="zh-TW" sz="1000" dirty="0">
                <a:latin typeface="Times New Roman" panose="02020603050405020304" pitchFamily="18" charset="0"/>
                <a:cs typeface="Times New Roman" panose="02020603050405020304" pitchFamily="18" charset="0"/>
              </a:rPr>
              <a:t>, "Quantum photonics at telecom wavelengths based on lithium </a:t>
            </a:r>
            <a:r>
              <a:rPr lang="en-US" altLang="zh-TW" sz="1000" dirty="0" err="1">
                <a:latin typeface="Times New Roman" panose="02020603050405020304" pitchFamily="18" charset="0"/>
                <a:cs typeface="Times New Roman" panose="02020603050405020304" pitchFamily="18" charset="0"/>
              </a:rPr>
              <a:t>niobate</a:t>
            </a:r>
            <a:r>
              <a:rPr lang="en-US" altLang="zh-TW" sz="1000" dirty="0">
                <a:latin typeface="Times New Roman" panose="02020603050405020304" pitchFamily="18" charset="0"/>
                <a:cs typeface="Times New Roman" panose="02020603050405020304" pitchFamily="18" charset="0"/>
              </a:rPr>
              <a:t> waveguides," </a:t>
            </a:r>
            <a:r>
              <a:rPr lang="en-US" altLang="zh-TW" sz="1000" i="1" dirty="0">
                <a:latin typeface="Times New Roman" panose="02020603050405020304" pitchFamily="18" charset="0"/>
                <a:cs typeface="Times New Roman" panose="02020603050405020304" pitchFamily="18" charset="0"/>
              </a:rPr>
              <a:t>Journal of Optics (United Kingdom), </a:t>
            </a:r>
            <a:r>
              <a:rPr lang="en-US" altLang="zh-TW" sz="1000" dirty="0">
                <a:latin typeface="Times New Roman" panose="02020603050405020304" pitchFamily="18" charset="0"/>
                <a:cs typeface="Times New Roman" panose="02020603050405020304" pitchFamily="18" charset="0"/>
              </a:rPr>
              <a:t>vol. 18, no. 10(2016)</a:t>
            </a:r>
            <a:endParaRPr lang="zh-TW" altLang="en-US" sz="10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B8FF4DD5-A8A8-4883-8086-9C37ED0CF10C}"/>
              </a:ext>
            </a:extLst>
          </p:cNvPr>
          <p:cNvPicPr/>
          <p:nvPr/>
        </p:nvPicPr>
        <p:blipFill rotWithShape="1">
          <a:blip r:embed="rId3"/>
          <a:srcRect r="2874"/>
          <a:stretch/>
        </p:blipFill>
        <p:spPr>
          <a:xfrm>
            <a:off x="945968" y="2277102"/>
            <a:ext cx="5562336" cy="2997520"/>
          </a:xfrm>
          <a:prstGeom prst="rect">
            <a:avLst/>
          </a:prstGeom>
        </p:spPr>
      </p:pic>
      <p:pic>
        <p:nvPicPr>
          <p:cNvPr id="3" name="圖片 2">
            <a:extLst>
              <a:ext uri="{FF2B5EF4-FFF2-40B4-BE49-F238E27FC236}">
                <a16:creationId xmlns:a16="http://schemas.microsoft.com/office/drawing/2014/main" id="{091B539D-8049-4AB2-8C27-1B1FA0485FAA}"/>
              </a:ext>
            </a:extLst>
          </p:cNvPr>
          <p:cNvPicPr/>
          <p:nvPr/>
        </p:nvPicPr>
        <p:blipFill rotWithShape="1">
          <a:blip r:embed="rId4"/>
          <a:srcRect l="5602"/>
          <a:stretch/>
        </p:blipFill>
        <p:spPr>
          <a:xfrm>
            <a:off x="6676208" y="2277102"/>
            <a:ext cx="5150032" cy="2997520"/>
          </a:xfrm>
          <a:prstGeom prst="rect">
            <a:avLst/>
          </a:prstGeom>
        </p:spPr>
      </p:pic>
      <p:pic>
        <p:nvPicPr>
          <p:cNvPr id="11" name="圖片 10">
            <a:extLst>
              <a:ext uri="{FF2B5EF4-FFF2-40B4-BE49-F238E27FC236}">
                <a16:creationId xmlns:a16="http://schemas.microsoft.com/office/drawing/2014/main" id="{20858809-54B0-4F29-B5BF-C1F2DBC445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6579" y="31476"/>
            <a:ext cx="2136139" cy="656144"/>
          </a:xfrm>
          <a:prstGeom prst="rect">
            <a:avLst/>
          </a:prstGeom>
        </p:spPr>
      </p:pic>
      <p:grpSp>
        <p:nvGrpSpPr>
          <p:cNvPr id="9" name="群組 8">
            <a:extLst>
              <a:ext uri="{FF2B5EF4-FFF2-40B4-BE49-F238E27FC236}">
                <a16:creationId xmlns:a16="http://schemas.microsoft.com/office/drawing/2014/main" id="{AF16184C-F65A-4495-BD0E-2B4D1C699D09}"/>
              </a:ext>
            </a:extLst>
          </p:cNvPr>
          <p:cNvGrpSpPr/>
          <p:nvPr/>
        </p:nvGrpSpPr>
        <p:grpSpPr>
          <a:xfrm>
            <a:off x="2856049" y="885594"/>
            <a:ext cx="6178294" cy="1274331"/>
            <a:chOff x="2856049" y="885594"/>
            <a:chExt cx="6178294" cy="1274331"/>
          </a:xfrm>
        </p:grpSpPr>
        <p:pic>
          <p:nvPicPr>
            <p:cNvPr id="12" name="圖片 11">
              <a:extLst>
                <a:ext uri="{FF2B5EF4-FFF2-40B4-BE49-F238E27FC236}">
                  <a16:creationId xmlns:a16="http://schemas.microsoft.com/office/drawing/2014/main" id="{8C923500-B01B-40B3-A3BD-7668BDACEAF7}"/>
                </a:ext>
              </a:extLst>
            </p:cNvPr>
            <p:cNvPicPr>
              <a:picLocks noChangeAspect="1"/>
            </p:cNvPicPr>
            <p:nvPr/>
          </p:nvPicPr>
          <p:blipFill>
            <a:blip r:embed="rId6"/>
            <a:stretch>
              <a:fillRect/>
            </a:stretch>
          </p:blipFill>
          <p:spPr>
            <a:xfrm>
              <a:off x="4810096" y="1282803"/>
              <a:ext cx="2270200" cy="877122"/>
            </a:xfrm>
            <a:prstGeom prst="rect">
              <a:avLst/>
            </a:prstGeom>
          </p:spPr>
        </p:pic>
        <p:sp>
          <p:nvSpPr>
            <p:cNvPr id="13" name="矩形 12">
              <a:extLst>
                <a:ext uri="{FF2B5EF4-FFF2-40B4-BE49-F238E27FC236}">
                  <a16:creationId xmlns:a16="http://schemas.microsoft.com/office/drawing/2014/main" id="{F6DE6CE1-AD4E-4F11-B021-D8A02A489F88}"/>
                </a:ext>
              </a:extLst>
            </p:cNvPr>
            <p:cNvSpPr/>
            <p:nvPr/>
          </p:nvSpPr>
          <p:spPr>
            <a:xfrm>
              <a:off x="2856049" y="885594"/>
              <a:ext cx="6178294" cy="400110"/>
            </a:xfrm>
            <a:prstGeom prst="rect">
              <a:avLst/>
            </a:prstGeom>
          </p:spPr>
          <p:txBody>
            <a:bodyPr wrap="none">
              <a:spAutoFit/>
            </a:bodyPr>
            <a:lstStyle/>
            <a:p>
              <a:r>
                <a:rPr lang="en-US" altLang="zh-TW" sz="2000" dirty="0">
                  <a:solidFill>
                    <a:srgbClr val="483832"/>
                  </a:solidFill>
                  <a:latin typeface="Times New Roman" panose="02020603050405020304" pitchFamily="18" charset="0"/>
                </a:rPr>
                <a:t>Conservation of Momentum i.e. phase-matching condition</a:t>
              </a:r>
              <a:endParaRPr lang="zh-TW" altLang="en-US" sz="2000" dirty="0">
                <a:solidFill>
                  <a:srgbClr val="483832"/>
                </a:solidFill>
                <a:latin typeface="Times New Roman" panose="02020603050405020304" pitchFamily="18" charset="0"/>
              </a:endParaRPr>
            </a:p>
          </p:txBody>
        </p:sp>
      </p:grpSp>
    </p:spTree>
    <p:extLst>
      <p:ext uri="{BB962C8B-B14F-4D97-AF65-F5344CB8AC3E}">
        <p14:creationId xmlns:p14="http://schemas.microsoft.com/office/powerpoint/2010/main" val="393397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fill="hold"/>
                                        <p:tgtEl>
                                          <p:spTgt spid="3"/>
                                        </p:tgtEl>
                                        <p:attrNameLst>
                                          <p:attrName>ppt_x</p:attrName>
                                        </p:attrNameLst>
                                      </p:cBhvr>
                                      <p:tavLst>
                                        <p:tav tm="0">
                                          <p:val>
                                            <p:strVal val="#ppt_x"/>
                                          </p:val>
                                        </p:tav>
                                        <p:tav tm="100000">
                                          <p:val>
                                            <p:strVal val="#ppt_x"/>
                                          </p:val>
                                        </p:tav>
                                      </p:tavLst>
                                    </p:anim>
                                    <p:anim calcmode="lin" valueType="num">
                                      <p:cBhvr additive="base">
                                        <p:cTn id="8" dur="25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50" fill="hold"/>
                                        <p:tgtEl>
                                          <p:spTgt spid="6"/>
                                        </p:tgtEl>
                                        <p:attrNameLst>
                                          <p:attrName>ppt_x</p:attrName>
                                        </p:attrNameLst>
                                      </p:cBhvr>
                                      <p:tavLst>
                                        <p:tav tm="0">
                                          <p:val>
                                            <p:strVal val="#ppt_x"/>
                                          </p:val>
                                        </p:tav>
                                        <p:tav tm="100000">
                                          <p:val>
                                            <p:strVal val="#ppt_x"/>
                                          </p:val>
                                        </p:tav>
                                      </p:tavLst>
                                    </p:anim>
                                    <p:anim calcmode="lin" valueType="num">
                                      <p:cBhvr additive="base">
                                        <p:cTn id="12" dur="2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DB3F2899-9976-4555-81D9-0F99E2A4ACB3}"/>
              </a:ext>
            </a:extLst>
          </p:cNvPr>
          <p:cNvSpPr>
            <a:spLocks noGrp="1"/>
          </p:cNvSpPr>
          <p:nvPr>
            <p:ph type="body" sz="half" idx="13"/>
          </p:nvPr>
        </p:nvSpPr>
        <p:spPr>
          <a:xfrm>
            <a:off x="3231238" y="16590"/>
            <a:ext cx="5729526" cy="660417"/>
          </a:xfrm>
        </p:spPr>
        <p:txBody>
          <a:bodyPr>
            <a:normAutofit/>
          </a:bodyPr>
          <a:lstStyle/>
          <a:p>
            <a:r>
              <a:rPr lang="en-US" altLang="zh-TW" dirty="0"/>
              <a:t>Phase-Matching condition</a:t>
            </a:r>
            <a:endParaRPr lang="zh-TW" altLang="en-US" dirty="0"/>
          </a:p>
        </p:txBody>
      </p:sp>
      <p:pic>
        <p:nvPicPr>
          <p:cNvPr id="3" name="圖片 2">
            <a:extLst>
              <a:ext uri="{FF2B5EF4-FFF2-40B4-BE49-F238E27FC236}">
                <a16:creationId xmlns:a16="http://schemas.microsoft.com/office/drawing/2014/main" id="{416CED32-8308-4210-8234-10DA4420D55C}"/>
              </a:ext>
            </a:extLst>
          </p:cNvPr>
          <p:cNvPicPr/>
          <p:nvPr/>
        </p:nvPicPr>
        <p:blipFill>
          <a:blip r:embed="rId3"/>
          <a:stretch>
            <a:fillRect/>
          </a:stretch>
        </p:blipFill>
        <p:spPr>
          <a:xfrm>
            <a:off x="1127702" y="1732714"/>
            <a:ext cx="4937818" cy="3392572"/>
          </a:xfrm>
          <a:prstGeom prst="rect">
            <a:avLst/>
          </a:prstGeom>
        </p:spPr>
      </p:pic>
      <mc:AlternateContent xmlns:mc="http://schemas.openxmlformats.org/markup-compatibility/2006" xmlns:a14="http://schemas.microsoft.com/office/drawing/2010/main">
        <mc:Choice Requires="a14">
          <p:sp>
            <p:nvSpPr>
              <p:cNvPr id="5" name="矩形: 圓角 4">
                <a:extLst>
                  <a:ext uri="{FF2B5EF4-FFF2-40B4-BE49-F238E27FC236}">
                    <a16:creationId xmlns:a16="http://schemas.microsoft.com/office/drawing/2014/main" id="{B421F499-2CB2-406F-BBB5-A890CFBBFAB1}"/>
                  </a:ext>
                </a:extLst>
              </p:cNvPr>
              <p:cNvSpPr/>
              <p:nvPr/>
            </p:nvSpPr>
            <p:spPr>
              <a:xfrm>
                <a:off x="6360490" y="1618788"/>
                <a:ext cx="5247052" cy="3620424"/>
              </a:xfrm>
              <a:prstGeom prst="roundRect">
                <a:avLst/>
              </a:prstGeom>
              <a:noFill/>
              <a:ln w="19050">
                <a:solidFill>
                  <a:schemeClr val="accent1">
                    <a:lumMod val="75000"/>
                  </a:schemeClr>
                </a:solidFill>
                <a:prstDash val="lgDash"/>
              </a:ln>
            </p:spPr>
            <p:txBody>
              <a:bodyPr wrap="none" anchor="ctr" anchorCtr="0">
                <a:spAutoFit/>
              </a:bodyPr>
              <a:lstStyle/>
              <a:p>
                <a:pPr>
                  <a:lnSpc>
                    <a:spcPts val="2500"/>
                  </a:lnSpc>
                </a:pPr>
                <a:endParaRPr lang="en-US" altLang="zh-TW" dirty="0">
                  <a:solidFill>
                    <a:srgbClr val="483832"/>
                  </a:solidFill>
                  <a:latin typeface="Cambria Math" panose="02040503050406030204" pitchFamily="18" charset="0"/>
                </a:endParaRPr>
              </a:p>
              <a:p>
                <a:pPr>
                  <a:lnSpc>
                    <a:spcPts val="2500"/>
                  </a:lnSpc>
                </a:pPr>
                <a14:m>
                  <m:oMathPara xmlns:m="http://schemas.openxmlformats.org/officeDocument/2006/math">
                    <m:oMathParaPr>
                      <m:jc m:val="centerGroup"/>
                    </m:oMathParaPr>
                    <m:oMath xmlns:m="http://schemas.openxmlformats.org/officeDocument/2006/math">
                      <m:sSub>
                        <m:sSubPr>
                          <m:ctrlPr>
                            <a:rPr lang="zh-TW" altLang="en-US" i="1">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𝐼</m:t>
                          </m:r>
                        </m:e>
                        <m:sub>
                          <m:r>
                            <a:rPr lang="zh-TW" altLang="en-US">
                              <a:solidFill>
                                <a:srgbClr val="483832"/>
                              </a:solidFill>
                              <a:latin typeface="Cambria Math" panose="02040503050406030204" pitchFamily="18" charset="0"/>
                            </a:rPr>
                            <m:t>3</m:t>
                          </m:r>
                        </m:sub>
                      </m:sSub>
                      <m:r>
                        <a:rPr lang="zh-TW" altLang="en-US">
                          <a:solidFill>
                            <a:srgbClr val="483832"/>
                          </a:solidFill>
                          <a:latin typeface="Cambria Math" panose="02040503050406030204" pitchFamily="18" charset="0"/>
                        </a:rPr>
                        <m:t>=</m:t>
                      </m:r>
                      <m:sSup>
                        <m:sSupPr>
                          <m:ctrlPr>
                            <a:rPr lang="zh-TW" altLang="en-US" i="1">
                              <a:solidFill>
                                <a:srgbClr val="483832"/>
                              </a:solidFill>
                              <a:latin typeface="Cambria Math" panose="02040503050406030204" pitchFamily="18" charset="0"/>
                            </a:rPr>
                          </m:ctrlPr>
                        </m:sSupPr>
                        <m:e>
                          <m:f>
                            <m:fPr>
                              <m:ctrlPr>
                                <a:rPr lang="zh-TW" altLang="en-US" i="1">
                                  <a:solidFill>
                                    <a:srgbClr val="483832"/>
                                  </a:solidFill>
                                  <a:latin typeface="Cambria Math" panose="02040503050406030204" pitchFamily="18" charset="0"/>
                                </a:rPr>
                              </m:ctrlPr>
                            </m:fPr>
                            <m:num>
                              <m:r>
                                <a:rPr lang="zh-TW" altLang="en-US">
                                  <a:solidFill>
                                    <a:srgbClr val="483832"/>
                                  </a:solidFill>
                                  <a:latin typeface="Cambria Math" panose="02040503050406030204" pitchFamily="18" charset="0"/>
                                </a:rPr>
                                <m:t>8</m:t>
                              </m:r>
                              <m:sSub>
                                <m:sSubPr>
                                  <m:ctrlPr>
                                    <a:rPr lang="zh-TW" altLang="en-US" i="1">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𝜖</m:t>
                                  </m:r>
                                </m:e>
                                <m:sub>
                                  <m:r>
                                    <a:rPr lang="zh-TW" altLang="en-US">
                                      <a:solidFill>
                                        <a:srgbClr val="483832"/>
                                      </a:solidFill>
                                      <a:latin typeface="Cambria Math" panose="02040503050406030204" pitchFamily="18" charset="0"/>
                                    </a:rPr>
                                    <m:t>0</m:t>
                                  </m:r>
                                </m:sub>
                              </m:sSub>
                              <m:sSubSup>
                                <m:sSubSupPr>
                                  <m:ctrlPr>
                                    <a:rPr lang="zh-TW" altLang="en-US" i="1">
                                      <a:solidFill>
                                        <a:srgbClr val="483832"/>
                                      </a:solidFill>
                                      <a:latin typeface="Cambria Math" panose="02040503050406030204" pitchFamily="18" charset="0"/>
                                    </a:rPr>
                                  </m:ctrlPr>
                                </m:sSubSupPr>
                                <m:e>
                                  <m:r>
                                    <a:rPr lang="zh-TW" altLang="en-US" i="1">
                                      <a:solidFill>
                                        <a:srgbClr val="483832"/>
                                      </a:solidFill>
                                      <a:latin typeface="Cambria Math" panose="02040503050406030204" pitchFamily="18" charset="0"/>
                                    </a:rPr>
                                    <m:t>𝑑</m:t>
                                  </m:r>
                                </m:e>
                                <m:sub>
                                  <m:r>
                                    <a:rPr lang="zh-TW" altLang="en-US" i="1">
                                      <a:solidFill>
                                        <a:srgbClr val="483832"/>
                                      </a:solidFill>
                                      <a:latin typeface="Cambria Math" panose="02040503050406030204" pitchFamily="18" charset="0"/>
                                    </a:rPr>
                                    <m:t>𝑒𝑓𝑓</m:t>
                                  </m:r>
                                </m:sub>
                                <m:sup>
                                  <m:r>
                                    <a:rPr lang="zh-TW" altLang="en-US">
                                      <a:solidFill>
                                        <a:srgbClr val="483832"/>
                                      </a:solidFill>
                                      <a:latin typeface="Cambria Math" panose="02040503050406030204" pitchFamily="18" charset="0"/>
                                    </a:rPr>
                                    <m:t>2</m:t>
                                  </m:r>
                                </m:sup>
                              </m:sSubSup>
                              <m:sSubSup>
                                <m:sSubSupPr>
                                  <m:ctrlPr>
                                    <a:rPr lang="zh-TW" altLang="en-US" i="1">
                                      <a:solidFill>
                                        <a:srgbClr val="483832"/>
                                      </a:solidFill>
                                      <a:latin typeface="Cambria Math" panose="02040503050406030204" pitchFamily="18" charset="0"/>
                                    </a:rPr>
                                  </m:ctrlPr>
                                </m:sSubSupPr>
                                <m:e>
                                  <m:r>
                                    <a:rPr lang="zh-TW" altLang="en-US" i="1">
                                      <a:solidFill>
                                        <a:srgbClr val="483832"/>
                                      </a:solidFill>
                                      <a:latin typeface="Cambria Math" panose="02040503050406030204" pitchFamily="18" charset="0"/>
                                    </a:rPr>
                                    <m:t>𝜔</m:t>
                                  </m:r>
                                </m:e>
                                <m:sub>
                                  <m:r>
                                    <a:rPr lang="zh-TW" altLang="en-US">
                                      <a:solidFill>
                                        <a:srgbClr val="483832"/>
                                      </a:solidFill>
                                      <a:latin typeface="Cambria Math" panose="02040503050406030204" pitchFamily="18" charset="0"/>
                                    </a:rPr>
                                    <m:t>3</m:t>
                                  </m:r>
                                </m:sub>
                                <m:sup>
                                  <m:r>
                                    <a:rPr lang="zh-TW" altLang="en-US">
                                      <a:solidFill>
                                        <a:srgbClr val="483832"/>
                                      </a:solidFill>
                                      <a:latin typeface="Cambria Math" panose="02040503050406030204" pitchFamily="18" charset="0"/>
                                    </a:rPr>
                                    <m:t>2</m:t>
                                  </m:r>
                                </m:sup>
                              </m:sSubSup>
                              <m:sSup>
                                <m:sSupPr>
                                  <m:ctrlPr>
                                    <a:rPr lang="zh-TW" altLang="en-US" i="1">
                                      <a:solidFill>
                                        <a:srgbClr val="483832"/>
                                      </a:solidFill>
                                      <a:latin typeface="Cambria Math" panose="02040503050406030204" pitchFamily="18" charset="0"/>
                                    </a:rPr>
                                  </m:ctrlPr>
                                </m:sSupPr>
                                <m:e>
                                  <m:d>
                                    <m:dPr>
                                      <m:begChr m:val="|"/>
                                      <m:endChr m:val="|"/>
                                      <m:ctrlPr>
                                        <a:rPr lang="zh-TW" altLang="en-US" i="1">
                                          <a:solidFill>
                                            <a:srgbClr val="483832"/>
                                          </a:solidFill>
                                          <a:latin typeface="Cambria Math" panose="02040503050406030204" pitchFamily="18" charset="0"/>
                                        </a:rPr>
                                      </m:ctrlPr>
                                    </m:dPr>
                                    <m:e>
                                      <m:sSub>
                                        <m:sSubPr>
                                          <m:ctrlPr>
                                            <a:rPr lang="zh-TW" altLang="en-US" i="1">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𝐴</m:t>
                                          </m:r>
                                        </m:e>
                                        <m:sub>
                                          <m:r>
                                            <a:rPr lang="zh-TW" altLang="en-US">
                                              <a:solidFill>
                                                <a:srgbClr val="483832"/>
                                              </a:solidFill>
                                              <a:latin typeface="Cambria Math" panose="02040503050406030204" pitchFamily="18" charset="0"/>
                                            </a:rPr>
                                            <m:t>1</m:t>
                                          </m:r>
                                        </m:sub>
                                      </m:sSub>
                                    </m:e>
                                  </m:d>
                                </m:e>
                                <m:sup>
                                  <m:r>
                                    <a:rPr lang="zh-TW" altLang="en-US">
                                      <a:solidFill>
                                        <a:srgbClr val="483832"/>
                                      </a:solidFill>
                                      <a:latin typeface="Cambria Math" panose="02040503050406030204" pitchFamily="18" charset="0"/>
                                    </a:rPr>
                                    <m:t>2</m:t>
                                  </m:r>
                                </m:sup>
                              </m:sSup>
                              <m:sSup>
                                <m:sSupPr>
                                  <m:ctrlPr>
                                    <a:rPr lang="zh-TW" altLang="en-US" i="1">
                                      <a:solidFill>
                                        <a:srgbClr val="483832"/>
                                      </a:solidFill>
                                      <a:latin typeface="Cambria Math" panose="02040503050406030204" pitchFamily="18" charset="0"/>
                                    </a:rPr>
                                  </m:ctrlPr>
                                </m:sSupPr>
                                <m:e>
                                  <m:d>
                                    <m:dPr>
                                      <m:begChr m:val="|"/>
                                      <m:endChr m:val="|"/>
                                      <m:ctrlPr>
                                        <a:rPr lang="zh-TW" altLang="en-US" i="1">
                                          <a:solidFill>
                                            <a:srgbClr val="483832"/>
                                          </a:solidFill>
                                          <a:latin typeface="Cambria Math" panose="02040503050406030204" pitchFamily="18" charset="0"/>
                                        </a:rPr>
                                      </m:ctrlPr>
                                    </m:dPr>
                                    <m:e>
                                      <m:sSub>
                                        <m:sSubPr>
                                          <m:ctrlPr>
                                            <a:rPr lang="zh-TW" altLang="en-US" i="1">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𝐴</m:t>
                                          </m:r>
                                        </m:e>
                                        <m:sub>
                                          <m:r>
                                            <a:rPr lang="zh-TW" altLang="en-US">
                                              <a:solidFill>
                                                <a:srgbClr val="483832"/>
                                              </a:solidFill>
                                              <a:latin typeface="Cambria Math" panose="02040503050406030204" pitchFamily="18" charset="0"/>
                                            </a:rPr>
                                            <m:t>2</m:t>
                                          </m:r>
                                        </m:sub>
                                      </m:sSub>
                                    </m:e>
                                  </m:d>
                                </m:e>
                                <m:sup>
                                  <m:r>
                                    <a:rPr lang="zh-TW" altLang="en-US">
                                      <a:solidFill>
                                        <a:srgbClr val="483832"/>
                                      </a:solidFill>
                                      <a:latin typeface="Cambria Math" panose="02040503050406030204" pitchFamily="18" charset="0"/>
                                    </a:rPr>
                                    <m:t>2</m:t>
                                  </m:r>
                                </m:sup>
                              </m:sSup>
                            </m:num>
                            <m:den>
                              <m:sSub>
                                <m:sSubPr>
                                  <m:ctrlPr>
                                    <a:rPr lang="zh-TW" altLang="en-US" i="1">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𝑛</m:t>
                                  </m:r>
                                </m:e>
                                <m:sub>
                                  <m:r>
                                    <a:rPr lang="zh-TW" altLang="en-US">
                                      <a:solidFill>
                                        <a:srgbClr val="483832"/>
                                      </a:solidFill>
                                      <a:latin typeface="Cambria Math" panose="02040503050406030204" pitchFamily="18" charset="0"/>
                                    </a:rPr>
                                    <m:t>3</m:t>
                                  </m:r>
                                </m:sub>
                              </m:sSub>
                              <m:r>
                                <a:rPr lang="zh-TW" altLang="en-US" i="1">
                                  <a:solidFill>
                                    <a:srgbClr val="483832"/>
                                  </a:solidFill>
                                  <a:latin typeface="Cambria Math" panose="02040503050406030204" pitchFamily="18" charset="0"/>
                                </a:rPr>
                                <m:t>𝑐</m:t>
                              </m:r>
                            </m:den>
                          </m:f>
                          <m:r>
                            <a:rPr lang="zh-TW" altLang="en-US" i="1">
                              <a:solidFill>
                                <a:srgbClr val="483832"/>
                              </a:solidFill>
                              <a:latin typeface="Cambria Math" panose="02040503050406030204" pitchFamily="18" charset="0"/>
                            </a:rPr>
                            <m:t>𝐿</m:t>
                          </m:r>
                        </m:e>
                        <m:sup>
                          <m:r>
                            <a:rPr lang="zh-TW" altLang="en-US">
                              <a:solidFill>
                                <a:srgbClr val="483832"/>
                              </a:solidFill>
                              <a:latin typeface="Cambria Math" panose="02040503050406030204" pitchFamily="18" charset="0"/>
                            </a:rPr>
                            <m:t>2</m:t>
                          </m:r>
                        </m:sup>
                      </m:sSup>
                      <m:func>
                        <m:funcPr>
                          <m:ctrlPr>
                            <a:rPr lang="zh-TW" altLang="en-US" i="1">
                              <a:solidFill>
                                <a:srgbClr val="483832"/>
                              </a:solidFill>
                              <a:latin typeface="Cambria Math" panose="02040503050406030204" pitchFamily="18" charset="0"/>
                            </a:rPr>
                          </m:ctrlPr>
                        </m:funcPr>
                        <m:fName>
                          <m:sSup>
                            <m:sSupPr>
                              <m:ctrlPr>
                                <a:rPr lang="zh-TW" altLang="en-US" i="1">
                                  <a:solidFill>
                                    <a:srgbClr val="483832"/>
                                  </a:solidFill>
                                  <a:latin typeface="Cambria Math" panose="02040503050406030204" pitchFamily="18" charset="0"/>
                                </a:rPr>
                              </m:ctrlPr>
                            </m:sSupPr>
                            <m:e>
                              <m:r>
                                <m:rPr>
                                  <m:sty m:val="p"/>
                                </m:rPr>
                                <a:rPr lang="zh-TW" altLang="en-US">
                                  <a:solidFill>
                                    <a:srgbClr val="483832"/>
                                  </a:solidFill>
                                  <a:latin typeface="Cambria Math" panose="02040503050406030204" pitchFamily="18" charset="0"/>
                                </a:rPr>
                                <m:t>sinc</m:t>
                              </m:r>
                            </m:e>
                            <m:sup>
                              <m:r>
                                <a:rPr lang="zh-TW" altLang="en-US">
                                  <a:solidFill>
                                    <a:srgbClr val="483832"/>
                                  </a:solidFill>
                                  <a:latin typeface="Cambria Math" panose="02040503050406030204" pitchFamily="18" charset="0"/>
                                </a:rPr>
                                <m:t>2</m:t>
                              </m:r>
                            </m:sup>
                          </m:sSup>
                        </m:fName>
                        <m:e>
                          <m:d>
                            <m:dPr>
                              <m:ctrlPr>
                                <a:rPr lang="zh-TW" altLang="en-US" i="1">
                                  <a:solidFill>
                                    <a:srgbClr val="483832"/>
                                  </a:solidFill>
                                  <a:latin typeface="Cambria Math" panose="02040503050406030204" pitchFamily="18" charset="0"/>
                                </a:rPr>
                              </m:ctrlPr>
                            </m:dPr>
                            <m:e>
                              <m:f>
                                <m:fPr>
                                  <m:type m:val="lin"/>
                                  <m:ctrlPr>
                                    <a:rPr lang="zh-TW" altLang="en-US" i="1">
                                      <a:solidFill>
                                        <a:srgbClr val="483832"/>
                                      </a:solidFill>
                                      <a:latin typeface="Cambria Math" panose="02040503050406030204" pitchFamily="18" charset="0"/>
                                    </a:rPr>
                                  </m:ctrlPr>
                                </m:fPr>
                                <m:num>
                                  <m:r>
                                    <a:rPr lang="zh-TW" altLang="en-US">
                                      <a:solidFill>
                                        <a:srgbClr val="483832"/>
                                      </a:solidFill>
                                      <a:latin typeface="Cambria Math" panose="02040503050406030204" pitchFamily="18" charset="0"/>
                                    </a:rPr>
                                    <m:t>∆</m:t>
                                  </m:r>
                                  <m:r>
                                    <a:rPr lang="zh-TW" altLang="en-US" i="1">
                                      <a:solidFill>
                                        <a:srgbClr val="483832"/>
                                      </a:solidFill>
                                      <a:latin typeface="Cambria Math" panose="02040503050406030204" pitchFamily="18" charset="0"/>
                                    </a:rPr>
                                    <m:t>𝑘𝐿</m:t>
                                  </m:r>
                                </m:num>
                                <m:den>
                                  <m:r>
                                    <a:rPr lang="zh-TW" altLang="en-US">
                                      <a:solidFill>
                                        <a:srgbClr val="483832"/>
                                      </a:solidFill>
                                      <a:latin typeface="Cambria Math" panose="02040503050406030204" pitchFamily="18" charset="0"/>
                                    </a:rPr>
                                    <m:t>2</m:t>
                                  </m:r>
                                </m:den>
                              </m:f>
                            </m:e>
                          </m:d>
                        </m:e>
                      </m:func>
                    </m:oMath>
                  </m:oMathPara>
                </a14:m>
                <a:endParaRPr lang="en-US" altLang="zh-TW" dirty="0">
                  <a:solidFill>
                    <a:srgbClr val="483832"/>
                  </a:solidFill>
                  <a:latin typeface="Cambria Math" panose="02040503050406030204" pitchFamily="18" charset="0"/>
                </a:endParaRPr>
              </a:p>
              <a:p>
                <a:pPr>
                  <a:lnSpc>
                    <a:spcPts val="2500"/>
                  </a:lnSpc>
                </a:pPr>
                <a:endParaRPr lang="en-US" altLang="zh-TW" dirty="0">
                  <a:solidFill>
                    <a:srgbClr val="483832"/>
                  </a:solidFill>
                  <a:latin typeface="Cambria Math" panose="02040503050406030204" pitchFamily="18" charset="0"/>
                </a:endParaRPr>
              </a:p>
              <a:p>
                <a:pPr>
                  <a:lnSpc>
                    <a:spcPts val="2500"/>
                  </a:lnSpc>
                </a:pPr>
                <a:r>
                  <a:rPr lang="en-US" altLang="zh-TW" dirty="0">
                    <a:solidFill>
                      <a:srgbClr val="483832"/>
                    </a:solidFill>
                    <a:latin typeface="Cambria Math" panose="02040503050406030204" pitchFamily="18" charset="0"/>
                  </a:rPr>
                  <a:t>Key parameter</a:t>
                </a:r>
              </a:p>
              <a:p>
                <a:pPr>
                  <a:lnSpc>
                    <a:spcPts val="2500"/>
                  </a:lnSpc>
                </a:pPr>
                <a14:m>
                  <m:oMath xmlns:m="http://schemas.openxmlformats.org/officeDocument/2006/math">
                    <m:r>
                      <a:rPr lang="zh-TW" altLang="en-US">
                        <a:solidFill>
                          <a:srgbClr val="483832"/>
                        </a:solidFill>
                        <a:latin typeface="Cambria Math" panose="02040503050406030204" pitchFamily="18" charset="0"/>
                      </a:rPr>
                      <m:t>∆</m:t>
                    </m:r>
                    <m:r>
                      <a:rPr lang="zh-TW" altLang="en-US" i="1">
                        <a:solidFill>
                          <a:srgbClr val="483832"/>
                        </a:solidFill>
                        <a:latin typeface="Cambria Math" panose="02040503050406030204" pitchFamily="18" charset="0"/>
                      </a:rPr>
                      <m:t>𝑘</m:t>
                    </m:r>
                  </m:oMath>
                </a14:m>
                <a:r>
                  <a:rPr lang="en-US" altLang="zh-TW" dirty="0">
                    <a:solidFill>
                      <a:srgbClr val="483832"/>
                    </a:solidFill>
                    <a:latin typeface="Cambria Math" panose="02040503050406030204" pitchFamily="18" charset="0"/>
                  </a:rPr>
                  <a:t>: phase difference</a:t>
                </a:r>
              </a:p>
              <a:p>
                <a:pPr>
                  <a:lnSpc>
                    <a:spcPts val="2500"/>
                  </a:lnSpc>
                </a:pPr>
                <a:endParaRPr lang="en-US" altLang="zh-TW" dirty="0">
                  <a:solidFill>
                    <a:srgbClr val="483832"/>
                  </a:solidFill>
                  <a:latin typeface="Cambria Math" panose="02040503050406030204" pitchFamily="18" charset="0"/>
                </a:endParaRPr>
              </a:p>
              <a:p>
                <a:pPr>
                  <a:lnSpc>
                    <a:spcPts val="2500"/>
                  </a:lnSpc>
                </a:pPr>
                <a:r>
                  <a:rPr lang="en-US" altLang="zh-TW" dirty="0">
                    <a:solidFill>
                      <a:srgbClr val="483832"/>
                    </a:solidFill>
                    <a:latin typeface="Cambria Math" panose="02040503050406030204" pitchFamily="18" charset="0"/>
                  </a:rPr>
                  <a:t>More nonlinear conversion efficiency parameter</a:t>
                </a:r>
              </a:p>
              <a:p>
                <a:pPr>
                  <a:lnSpc>
                    <a:spcPts val="2500"/>
                  </a:lnSpc>
                </a:pPr>
                <a14:m>
                  <m:oMath xmlns:m="http://schemas.openxmlformats.org/officeDocument/2006/math">
                    <m:sSup>
                      <m:sSupPr>
                        <m:ctrlPr>
                          <a:rPr lang="zh-TW" altLang="en-US" i="1">
                            <a:solidFill>
                              <a:srgbClr val="483832"/>
                            </a:solidFill>
                            <a:latin typeface="Cambria Math" panose="02040503050406030204" pitchFamily="18" charset="0"/>
                          </a:rPr>
                        </m:ctrlPr>
                      </m:sSupPr>
                      <m:e>
                        <m:d>
                          <m:dPr>
                            <m:begChr m:val="|"/>
                            <m:endChr m:val="|"/>
                            <m:ctrlPr>
                              <a:rPr lang="zh-TW" altLang="en-US" i="1">
                                <a:solidFill>
                                  <a:srgbClr val="483832"/>
                                </a:solidFill>
                                <a:latin typeface="Cambria Math" panose="02040503050406030204" pitchFamily="18" charset="0"/>
                              </a:rPr>
                            </m:ctrlPr>
                          </m:dPr>
                          <m:e>
                            <m:sSub>
                              <m:sSubPr>
                                <m:ctrlPr>
                                  <a:rPr lang="zh-TW" altLang="en-US" i="1">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𝐴</m:t>
                                </m:r>
                              </m:e>
                              <m:sub>
                                <m:r>
                                  <a:rPr lang="zh-TW" altLang="en-US">
                                    <a:solidFill>
                                      <a:srgbClr val="483832"/>
                                    </a:solidFill>
                                    <a:latin typeface="Cambria Math" panose="02040503050406030204" pitchFamily="18" charset="0"/>
                                  </a:rPr>
                                  <m:t>1</m:t>
                                </m:r>
                              </m:sub>
                            </m:sSub>
                          </m:e>
                        </m:d>
                      </m:e>
                      <m:sup>
                        <m:r>
                          <a:rPr lang="zh-TW" altLang="en-US">
                            <a:solidFill>
                              <a:srgbClr val="483832"/>
                            </a:solidFill>
                            <a:latin typeface="Cambria Math" panose="02040503050406030204" pitchFamily="18" charset="0"/>
                          </a:rPr>
                          <m:t>2</m:t>
                        </m:r>
                      </m:sup>
                    </m:sSup>
                    <m:sSup>
                      <m:sSupPr>
                        <m:ctrlPr>
                          <a:rPr lang="zh-TW" altLang="en-US" i="1">
                            <a:solidFill>
                              <a:srgbClr val="483832"/>
                            </a:solidFill>
                            <a:latin typeface="Cambria Math" panose="02040503050406030204" pitchFamily="18" charset="0"/>
                          </a:rPr>
                        </m:ctrlPr>
                      </m:sSupPr>
                      <m:e>
                        <m:d>
                          <m:dPr>
                            <m:begChr m:val="|"/>
                            <m:endChr m:val="|"/>
                            <m:ctrlPr>
                              <a:rPr lang="zh-TW" altLang="en-US" i="1">
                                <a:solidFill>
                                  <a:srgbClr val="483832"/>
                                </a:solidFill>
                                <a:latin typeface="Cambria Math" panose="02040503050406030204" pitchFamily="18" charset="0"/>
                              </a:rPr>
                            </m:ctrlPr>
                          </m:dPr>
                          <m:e>
                            <m:sSub>
                              <m:sSubPr>
                                <m:ctrlPr>
                                  <a:rPr lang="zh-TW" altLang="en-US" i="1">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𝐴</m:t>
                                </m:r>
                              </m:e>
                              <m:sub>
                                <m:r>
                                  <a:rPr lang="zh-TW" altLang="en-US">
                                    <a:solidFill>
                                      <a:srgbClr val="483832"/>
                                    </a:solidFill>
                                    <a:latin typeface="Cambria Math" panose="02040503050406030204" pitchFamily="18" charset="0"/>
                                  </a:rPr>
                                  <m:t>2</m:t>
                                </m:r>
                              </m:sub>
                            </m:sSub>
                          </m:e>
                        </m:d>
                      </m:e>
                      <m:sup>
                        <m:r>
                          <a:rPr lang="zh-TW" altLang="en-US">
                            <a:solidFill>
                              <a:srgbClr val="483832"/>
                            </a:solidFill>
                            <a:latin typeface="Cambria Math" panose="02040503050406030204" pitchFamily="18" charset="0"/>
                          </a:rPr>
                          <m:t>2</m:t>
                        </m:r>
                      </m:sup>
                    </m:sSup>
                  </m:oMath>
                </a14:m>
                <a:r>
                  <a:rPr lang="en-US" altLang="zh-TW" dirty="0">
                    <a:solidFill>
                      <a:srgbClr val="483832"/>
                    </a:solidFill>
                    <a:latin typeface="Cambria Math" panose="02040503050406030204" pitchFamily="18" charset="0"/>
                  </a:rPr>
                  <a:t>:</a:t>
                </a:r>
                <a:r>
                  <a:rPr lang="zh-TW" altLang="en-US" dirty="0">
                    <a:solidFill>
                      <a:srgbClr val="483832"/>
                    </a:solidFill>
                    <a:latin typeface="Cambria Math" panose="02040503050406030204" pitchFamily="18" charset="0"/>
                  </a:rPr>
                  <a:t> </a:t>
                </a:r>
                <a:r>
                  <a:rPr lang="en-US" altLang="zh-TW" dirty="0">
                    <a:solidFill>
                      <a:srgbClr val="483832"/>
                    </a:solidFill>
                    <a:latin typeface="Cambria Math" panose="02040503050406030204" pitchFamily="18" charset="0"/>
                  </a:rPr>
                  <a:t>pump power</a:t>
                </a:r>
              </a:p>
              <a:p>
                <a:pPr>
                  <a:lnSpc>
                    <a:spcPts val="2500"/>
                  </a:lnSpc>
                </a:pPr>
                <a14:m>
                  <m:oMath xmlns:m="http://schemas.openxmlformats.org/officeDocument/2006/math">
                    <m:sSub>
                      <m:sSubPr>
                        <m:ctrlPr>
                          <a:rPr lang="en-US" altLang="zh-TW" i="1" smtClean="0">
                            <a:solidFill>
                              <a:srgbClr val="483832"/>
                            </a:solidFill>
                            <a:latin typeface="Cambria Math" panose="02040503050406030204" pitchFamily="18" charset="0"/>
                          </a:rPr>
                        </m:ctrlPr>
                      </m:sSubPr>
                      <m:e>
                        <m:r>
                          <a:rPr lang="zh-TW" altLang="en-US" i="1">
                            <a:solidFill>
                              <a:srgbClr val="483832"/>
                            </a:solidFill>
                            <a:latin typeface="Cambria Math" panose="02040503050406030204" pitchFamily="18" charset="0"/>
                          </a:rPr>
                          <m:t>𝑑</m:t>
                        </m:r>
                      </m:e>
                      <m:sub>
                        <m:r>
                          <a:rPr lang="zh-TW" altLang="en-US" i="1">
                            <a:solidFill>
                              <a:srgbClr val="483832"/>
                            </a:solidFill>
                            <a:latin typeface="Cambria Math" panose="02040503050406030204" pitchFamily="18" charset="0"/>
                          </a:rPr>
                          <m:t>𝑒𝑓𝑓</m:t>
                        </m:r>
                      </m:sub>
                    </m:sSub>
                  </m:oMath>
                </a14:m>
                <a:r>
                  <a:rPr lang="en-US" altLang="zh-TW" dirty="0">
                    <a:solidFill>
                      <a:srgbClr val="483832"/>
                    </a:solidFill>
                    <a:latin typeface="Times New Roman" panose="02020603050405020304" pitchFamily="18" charset="0"/>
                  </a:rPr>
                  <a:t>: effective nonlinear coefficient</a:t>
                </a:r>
              </a:p>
              <a:p>
                <a:pPr>
                  <a:lnSpc>
                    <a:spcPts val="2500"/>
                  </a:lnSpc>
                </a:pPr>
                <a14:m>
                  <m:oMath xmlns:m="http://schemas.openxmlformats.org/officeDocument/2006/math">
                    <m:r>
                      <a:rPr lang="zh-TW" altLang="en-US" i="1">
                        <a:solidFill>
                          <a:srgbClr val="483832"/>
                        </a:solidFill>
                        <a:latin typeface="Cambria Math" panose="02040503050406030204" pitchFamily="18" charset="0"/>
                      </a:rPr>
                      <m:t>𝐿</m:t>
                    </m:r>
                  </m:oMath>
                </a14:m>
                <a:r>
                  <a:rPr lang="en-US" altLang="zh-TW" dirty="0">
                    <a:solidFill>
                      <a:srgbClr val="483832"/>
                    </a:solidFill>
                    <a:latin typeface="Times New Roman" panose="02020603050405020304" pitchFamily="18" charset="0"/>
                  </a:rPr>
                  <a:t>: crystal length</a:t>
                </a:r>
              </a:p>
            </p:txBody>
          </p:sp>
        </mc:Choice>
        <mc:Fallback xmlns="">
          <p:sp>
            <p:nvSpPr>
              <p:cNvPr id="5" name="矩形: 圓角 4">
                <a:extLst>
                  <a:ext uri="{FF2B5EF4-FFF2-40B4-BE49-F238E27FC236}">
                    <a16:creationId xmlns:a16="http://schemas.microsoft.com/office/drawing/2014/main" id="{B421F499-2CB2-406F-BBB5-A890CFBBFAB1}"/>
                  </a:ext>
                </a:extLst>
              </p:cNvPr>
              <p:cNvSpPr>
                <a:spLocks noRot="1" noChangeAspect="1" noMove="1" noResize="1" noEditPoints="1" noAdjustHandles="1" noChangeArrowheads="1" noChangeShapeType="1" noTextEdit="1"/>
              </p:cNvSpPr>
              <p:nvPr/>
            </p:nvSpPr>
            <p:spPr>
              <a:xfrm>
                <a:off x="6360490" y="1618788"/>
                <a:ext cx="5247052" cy="3620424"/>
              </a:xfrm>
              <a:prstGeom prst="roundRect">
                <a:avLst/>
              </a:prstGeom>
              <a:blipFill>
                <a:blip r:embed="rId4"/>
                <a:stretch>
                  <a:fillRect/>
                </a:stretch>
              </a:blipFill>
              <a:ln w="19050">
                <a:solidFill>
                  <a:schemeClr val="accent1">
                    <a:lumMod val="75000"/>
                  </a:schemeClr>
                </a:solidFill>
                <a:prstDash val="lgDash"/>
              </a:ln>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AC086A80-9CE8-4ACC-823B-819EB9688D6B}"/>
              </a:ext>
            </a:extLst>
          </p:cNvPr>
          <p:cNvSpPr>
            <a:spLocks noGrp="1"/>
          </p:cNvSpPr>
          <p:nvPr>
            <p:ph type="sldNum" sz="quarter" idx="12"/>
          </p:nvPr>
        </p:nvSpPr>
        <p:spPr/>
        <p:txBody>
          <a:bodyPr/>
          <a:lstStyle/>
          <a:p>
            <a:fld id="{9820161B-3DFF-4FF5-AA0E-35496F014571}" type="slidenum">
              <a:rPr lang="zh-TW" altLang="en-US" smtClean="0"/>
              <a:t>13</a:t>
            </a:fld>
            <a:endParaRPr lang="zh-TW" altLang="en-US"/>
          </a:p>
        </p:txBody>
      </p:sp>
      <p:sp>
        <p:nvSpPr>
          <p:cNvPr id="7" name="矩形 6">
            <a:extLst>
              <a:ext uri="{FF2B5EF4-FFF2-40B4-BE49-F238E27FC236}">
                <a16:creationId xmlns:a16="http://schemas.microsoft.com/office/drawing/2014/main" id="{EC76148D-90B5-4445-A9EB-1762269B97E3}"/>
              </a:ext>
            </a:extLst>
          </p:cNvPr>
          <p:cNvSpPr/>
          <p:nvPr/>
        </p:nvSpPr>
        <p:spPr>
          <a:xfrm>
            <a:off x="762000" y="6598364"/>
            <a:ext cx="6096000" cy="246221"/>
          </a:xfrm>
          <a:prstGeom prst="rect">
            <a:avLst/>
          </a:prstGeom>
        </p:spPr>
        <p:txBody>
          <a:bodyPr>
            <a:spAutoFit/>
          </a:bodyPr>
          <a:lstStyle/>
          <a:p>
            <a:r>
              <a:rPr lang="en-US" altLang="zh-TW" sz="1000" dirty="0">
                <a:latin typeface="Times New Roman" panose="02020603050405020304" pitchFamily="18" charset="0"/>
                <a:cs typeface="Times New Roman" panose="02020603050405020304" pitchFamily="18" charset="0"/>
              </a:rPr>
              <a:t>R. W. Boyd, </a:t>
            </a:r>
            <a:r>
              <a:rPr lang="en-US" altLang="zh-TW" sz="1000" i="1" dirty="0">
                <a:latin typeface="Times New Roman" panose="02020603050405020304" pitchFamily="18" charset="0"/>
                <a:cs typeface="Times New Roman" panose="02020603050405020304" pitchFamily="18" charset="0"/>
              </a:rPr>
              <a:t>Nonlinear Optics</a:t>
            </a:r>
            <a:r>
              <a:rPr lang="en-US" altLang="zh-TW" sz="1000" dirty="0">
                <a:latin typeface="Times New Roman" panose="02020603050405020304" pitchFamily="18" charset="0"/>
                <a:cs typeface="Times New Roman" panose="02020603050405020304" pitchFamily="18" charset="0"/>
              </a:rPr>
              <a:t>, 4th Edition ed. Academic Press(2020)</a:t>
            </a:r>
            <a:endParaRPr lang="zh-TW" altLang="en-US" sz="10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5E07BBB2-46FD-4C14-81F5-45A43E5189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6579" y="31476"/>
            <a:ext cx="2136139" cy="656144"/>
          </a:xfrm>
          <a:prstGeom prst="rect">
            <a:avLst/>
          </a:prstGeom>
        </p:spPr>
      </p:pic>
    </p:spTree>
    <p:extLst>
      <p:ext uri="{BB962C8B-B14F-4D97-AF65-F5344CB8AC3E}">
        <p14:creationId xmlns:p14="http://schemas.microsoft.com/office/powerpoint/2010/main" val="1565862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群組 15">
            <a:extLst>
              <a:ext uri="{FF2B5EF4-FFF2-40B4-BE49-F238E27FC236}">
                <a16:creationId xmlns:a16="http://schemas.microsoft.com/office/drawing/2014/main" id="{5152EF05-4FFF-452A-AD91-1AD2C0063875}"/>
              </a:ext>
            </a:extLst>
          </p:cNvPr>
          <p:cNvGrpSpPr/>
          <p:nvPr/>
        </p:nvGrpSpPr>
        <p:grpSpPr>
          <a:xfrm>
            <a:off x="6244720" y="3415396"/>
            <a:ext cx="3553200" cy="2797342"/>
            <a:chOff x="6302210" y="3428128"/>
            <a:chExt cx="3553200" cy="2797342"/>
          </a:xfrm>
        </p:grpSpPr>
        <p:pic>
          <p:nvPicPr>
            <p:cNvPr id="8" name="圖片 7">
              <a:extLst>
                <a:ext uri="{FF2B5EF4-FFF2-40B4-BE49-F238E27FC236}">
                  <a16:creationId xmlns:a16="http://schemas.microsoft.com/office/drawing/2014/main" id="{77F6DF7D-1338-4088-B6DF-AFD205C4F731}"/>
                </a:ext>
              </a:extLst>
            </p:cNvPr>
            <p:cNvPicPr/>
            <p:nvPr/>
          </p:nvPicPr>
          <p:blipFill>
            <a:blip r:embed="rId3"/>
            <a:stretch>
              <a:fillRect/>
            </a:stretch>
          </p:blipFill>
          <p:spPr>
            <a:xfrm>
              <a:off x="6302210" y="3755870"/>
              <a:ext cx="3553200" cy="2469600"/>
            </a:xfrm>
            <a:prstGeom prst="rect">
              <a:avLst/>
            </a:prstGeom>
          </p:spPr>
        </p:pic>
        <p:sp>
          <p:nvSpPr>
            <p:cNvPr id="12" name="文字方塊 11">
              <a:extLst>
                <a:ext uri="{FF2B5EF4-FFF2-40B4-BE49-F238E27FC236}">
                  <a16:creationId xmlns:a16="http://schemas.microsoft.com/office/drawing/2014/main" id="{595280CF-0AEE-48A5-BEB8-FBC70374379A}"/>
                </a:ext>
              </a:extLst>
            </p:cNvPr>
            <p:cNvSpPr txBox="1"/>
            <p:nvPr/>
          </p:nvSpPr>
          <p:spPr>
            <a:xfrm>
              <a:off x="6815177" y="3428128"/>
              <a:ext cx="2649187" cy="369332"/>
            </a:xfrm>
            <a:prstGeom prst="rect">
              <a:avLst/>
            </a:prstGeom>
            <a:noFill/>
          </p:spPr>
          <p:txBody>
            <a:bodyPr wrap="none" rtlCol="0">
              <a:spAutoFit/>
            </a:bodyPr>
            <a:lstStyle/>
            <a:p>
              <a:r>
                <a:rPr lang="en-US" altLang="zh-TW" dirty="0">
                  <a:solidFill>
                    <a:srgbClr val="483832"/>
                  </a:solidFill>
                  <a:latin typeface="Times New Roman" panose="02020603050405020304" pitchFamily="18" charset="0"/>
                  <a:cs typeface="Times New Roman" panose="02020603050405020304" pitchFamily="18" charset="0"/>
                </a:rPr>
                <a:t>Counter-intuitive ordering</a:t>
              </a:r>
              <a:endParaRPr lang="zh-TW" altLang="en-US" dirty="0">
                <a:solidFill>
                  <a:srgbClr val="483832"/>
                </a:solidFill>
                <a:latin typeface="Times New Roman" panose="02020603050405020304" pitchFamily="18" charset="0"/>
                <a:cs typeface="Times New Roman" panose="02020603050405020304" pitchFamily="18" charset="0"/>
              </a:endParaRPr>
            </a:p>
          </p:txBody>
        </p:sp>
      </p:grpSp>
      <p:pic>
        <p:nvPicPr>
          <p:cNvPr id="17" name="圖片 16">
            <a:extLst>
              <a:ext uri="{FF2B5EF4-FFF2-40B4-BE49-F238E27FC236}">
                <a16:creationId xmlns:a16="http://schemas.microsoft.com/office/drawing/2014/main" id="{805777AB-082A-4C96-8C6B-DA790D73EB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0288" y="6077398"/>
            <a:ext cx="2134800" cy="628100"/>
          </a:xfrm>
          <a:prstGeom prst="rect">
            <a:avLst/>
          </a:prstGeom>
        </p:spPr>
      </p:pic>
      <p:sp>
        <p:nvSpPr>
          <p:cNvPr id="3" name="文字版面配置區 2">
            <a:extLst>
              <a:ext uri="{FF2B5EF4-FFF2-40B4-BE49-F238E27FC236}">
                <a16:creationId xmlns:a16="http://schemas.microsoft.com/office/drawing/2014/main" id="{0F981B94-4811-44A5-8A3E-EBCC927ECB97}"/>
              </a:ext>
            </a:extLst>
          </p:cNvPr>
          <p:cNvSpPr>
            <a:spLocks noGrp="1"/>
          </p:cNvSpPr>
          <p:nvPr>
            <p:ph type="body" sz="half" idx="13"/>
          </p:nvPr>
        </p:nvSpPr>
        <p:spPr>
          <a:xfrm>
            <a:off x="1625601" y="16590"/>
            <a:ext cx="8940800" cy="660417"/>
          </a:xfrm>
        </p:spPr>
        <p:txBody>
          <a:bodyPr>
            <a:normAutofit/>
          </a:bodyPr>
          <a:lstStyle/>
          <a:p>
            <a:r>
              <a:rPr lang="en-US" altLang="zh-TW" dirty="0"/>
              <a:t>Stimulated Raman adiabatic passage (STIRAP)</a:t>
            </a:r>
          </a:p>
        </p:txBody>
      </p:sp>
      <p:sp>
        <p:nvSpPr>
          <p:cNvPr id="6" name="投影片編號版面配置區 5">
            <a:extLst>
              <a:ext uri="{FF2B5EF4-FFF2-40B4-BE49-F238E27FC236}">
                <a16:creationId xmlns:a16="http://schemas.microsoft.com/office/drawing/2014/main" id="{06E92FFB-B347-4867-B6E3-40FFBD6171C8}"/>
              </a:ext>
            </a:extLst>
          </p:cNvPr>
          <p:cNvSpPr>
            <a:spLocks noGrp="1"/>
          </p:cNvSpPr>
          <p:nvPr>
            <p:ph type="sldNum" sz="quarter" idx="12"/>
          </p:nvPr>
        </p:nvSpPr>
        <p:spPr/>
        <p:txBody>
          <a:bodyPr/>
          <a:lstStyle/>
          <a:p>
            <a:fld id="{9820161B-3DFF-4FF5-AA0E-35496F014571}" type="slidenum">
              <a:rPr lang="zh-TW" altLang="en-US" smtClean="0"/>
              <a:t>14</a:t>
            </a:fld>
            <a:endParaRPr lang="zh-TW" altLang="en-US"/>
          </a:p>
        </p:txBody>
      </p:sp>
      <p:pic>
        <p:nvPicPr>
          <p:cNvPr id="9" name="圖片 8">
            <a:extLst>
              <a:ext uri="{FF2B5EF4-FFF2-40B4-BE49-F238E27FC236}">
                <a16:creationId xmlns:a16="http://schemas.microsoft.com/office/drawing/2014/main" id="{FB82C7E3-E80A-4826-9688-EE425CFBBFE1}"/>
              </a:ext>
            </a:extLst>
          </p:cNvPr>
          <p:cNvPicPr/>
          <p:nvPr/>
        </p:nvPicPr>
        <p:blipFill>
          <a:blip r:embed="rId5">
            <a:extLst>
              <a:ext uri="{BEBA8EAE-BF5A-486C-A8C5-ECC9F3942E4B}">
                <a14:imgProps xmlns:a14="http://schemas.microsoft.com/office/drawing/2010/main">
                  <a14:imgLayer r:embed="rId6">
                    <a14:imgEffect>
                      <a14:backgroundRemoval t="6780" b="98117" l="4427" r="93763">
                        <a14:foregroundMark x1="40845" y1="20527" x2="60966" y2="64030"/>
                        <a14:foregroundMark x1="60966" y1="64030" x2="77062" y2="77778"/>
                        <a14:foregroundMark x1="77062" y1="77778" x2="85111" y2="80603"/>
                        <a14:foregroundMark x1="76861" y1="18267" x2="30152" y2="63247"/>
                        <a14:foregroundMark x1="11113" y1="84127" x2="10463" y2="85311"/>
                        <a14:foregroundMark x1="78471" y1="55179" x2="74044" y2="98493"/>
                        <a14:foregroundMark x1="76459" y1="47834" x2="82897" y2="92844"/>
                        <a14:foregroundMark x1="93763" y1="67985" x2="90543" y2="90207"/>
                        <a14:foregroundMark x1="54527" y1="80791" x2="70624" y2="79096"/>
                        <a14:foregroundMark x1="50302" y1="66102" x2="49296" y2="93974"/>
                        <a14:foregroundMark x1="62374" y1="82486" x2="62777" y2="94727"/>
                        <a14:foregroundMark x1="34608" y1="77213" x2="44064" y2="97175"/>
                        <a14:foregroundMark x1="44064" y1="97175" x2="51509" y2="97740"/>
                        <a14:foregroundMark x1="27364" y1="81544" x2="27364" y2="95292"/>
                        <a14:foregroundMark x1="15091" y1="95669" x2="30181" y2="97175"/>
                        <a14:foregroundMark x1="9385" y1="92539" x2="34608" y2="96987"/>
                        <a14:foregroundMark x1="37425" y1="95480" x2="34205" y2="63842"/>
                        <a14:foregroundMark x1="34205" y1="62900" x2="30584" y2="88136"/>
                        <a14:foregroundMark x1="30584" y1="63417" x2="30584" y2="61582"/>
                        <a14:foregroundMark x1="30584" y1="87006" x2="30584" y2="65209"/>
                        <a14:foregroundMark x1="52918" y1="14124" x2="63984" y2="10546"/>
                        <a14:foregroundMark x1="47485" y1="10546" x2="68410" y2="9228"/>
                        <a14:foregroundMark x1="31187" y1="9228" x2="83099" y2="12429"/>
                        <a14:foregroundMark x1="69416" y1="7345" x2="71026" y2="21092"/>
                        <a14:foregroundMark x1="35815" y1="6780" x2="35815" y2="29002"/>
                        <a14:foregroundMark x1="25553" y1="16573" x2="42455" y2="32957"/>
                        <a14:foregroundMark x1="28974" y1="10546" x2="28974" y2="23352"/>
                        <a14:foregroundMark x1="25755" y1="16384" x2="33602" y2="22787"/>
                        <a14:foregroundMark x1="24547" y1="18079" x2="38229" y2="23352"/>
                        <a14:foregroundMark x1="37827" y1="25047" x2="37425" y2="37665"/>
                        <a14:foregroundMark x1="36016" y1="28437" x2="35614" y2="33522"/>
                        <a14:foregroundMark x1="26761" y1="56874" x2="26157" y2="55367"/>
                        <a14:foregroundMark x1="24346" y1="54237" x2="36217" y2="63277"/>
                        <a14:foregroundMark x1="23944" y1="55367" x2="40644" y2="55179"/>
                        <a14:foregroundMark x1="20523" y1="53296" x2="41449" y2="62335"/>
                        <a14:foregroundMark x1="41449" y1="62335" x2="42857" y2="62335"/>
                        <a14:foregroundMark x1="24547" y1="53672" x2="31187" y2="54802"/>
                        <a14:foregroundMark x1="22535" y1="53861" x2="44266" y2="53672"/>
                        <a14:foregroundMark x1="44266" y1="53672" x2="50101" y2="53672"/>
                        <a14:foregroundMark x1="23541" y1="52919" x2="38833" y2="52354"/>
                        <a14:foregroundMark x1="22736" y1="56309" x2="42656" y2="60264"/>
                        <a14:foregroundMark x1="20121" y1="54991" x2="35211" y2="59510"/>
                        <a14:foregroundMark x1="8652" y1="87947" x2="10262" y2="91902"/>
                        <a14:foregroundMark x1="7846" y1="91003" x2="14487" y2="91714"/>
                        <a14:foregroundMark x1="4427" y1="87759" x2="13078" y2="88889"/>
                        <a14:foregroundMark x1="8652" y1="90584" x2="8652" y2="90584"/>
                        <a14:foregroundMark x1="8451" y1="88512" x2="13481" y2="91149"/>
                        <a14:foregroundMark x1="9326" y1="92480" x2="18913" y2="96610"/>
                        <a14:foregroundMark x1="30181" y1="94915" x2="44064" y2="95480"/>
                        <a14:foregroundMark x1="35412" y1="7910" x2="61167" y2="7910"/>
                        <a14:foregroundMark x1="41650" y1="34275" x2="37626" y2="61582"/>
                        <a14:foregroundMark x1="41046" y1="37288" x2="37022" y2="53107"/>
                        <a14:foregroundMark x1="23541" y1="57439" x2="23742" y2="58757"/>
                        <a14:foregroundMark x1="23139" y1="57250" x2="22736" y2="58004"/>
                        <a14:foregroundMark x1="25352" y1="53296" x2="25553" y2="51789"/>
                        <a14:foregroundMark x1="13078" y1="96798" x2="18511" y2="96610"/>
                        <a14:foregroundMark x1="13481" y1="96610" x2="18913" y2="97552"/>
                        <a14:foregroundMark x1="8048" y1="89831" x2="9054" y2="91902"/>
                        <a14:foregroundMark x1="56539" y1="17514" x2="56539" y2="17514"/>
                        <a14:foregroundMark x1="64386" y1="16573" x2="28974" y2="16761"/>
                        <a14:foregroundMark x1="65191" y1="17514" x2="38431" y2="16384"/>
                        <a14:foregroundMark x1="41247" y1="38983" x2="37425" y2="52731"/>
                        <a14:foregroundMark x1="38833" y1="37476" x2="38833" y2="53107"/>
                        <a14:backgroundMark x1="18511" y1="31073" x2="13280" y2="46516"/>
                        <a14:backgroundMark x1="17505" y1="35405" x2="20724" y2="40113"/>
                        <a14:backgroundMark x1="18712" y1="38418" x2="28169" y2="40490"/>
                        <a14:backgroundMark x1="17103" y1="31262" x2="31187" y2="36347"/>
                        <a14:backgroundMark x1="20121" y1="22034" x2="28974" y2="41243"/>
                        <a14:backgroundMark x1="20724" y1="20716" x2="32394" y2="36535"/>
                        <a14:backgroundMark x1="31388" y1="36911" x2="31992" y2="47834"/>
                        <a14:backgroundMark x1="9054" y1="59134" x2="27364" y2="62147"/>
                        <a14:backgroundMark x1="27364" y1="62147" x2="19517" y2="78531"/>
                        <a14:backgroundMark x1="19517" y1="78531" x2="2213" y2="82298"/>
                        <a14:backgroundMark x1="2213" y1="82298" x2="1207" y2="82298"/>
                        <a14:backgroundMark x1="1408" y1="90395" x2="10463" y2="99435"/>
                      </a14:backgroundRemoval>
                    </a14:imgEffect>
                  </a14:imgLayer>
                </a14:imgProps>
              </a:ext>
            </a:extLst>
          </a:blip>
          <a:stretch>
            <a:fillRect/>
          </a:stretch>
        </p:blipFill>
        <p:spPr>
          <a:xfrm>
            <a:off x="2516189" y="3510367"/>
            <a:ext cx="2834682" cy="2981771"/>
          </a:xfrm>
          <a:prstGeom prst="rect">
            <a:avLst/>
          </a:prstGeom>
        </p:spPr>
      </p:pic>
      <p:grpSp>
        <p:nvGrpSpPr>
          <p:cNvPr id="13" name="群組 12">
            <a:extLst>
              <a:ext uri="{FF2B5EF4-FFF2-40B4-BE49-F238E27FC236}">
                <a16:creationId xmlns:a16="http://schemas.microsoft.com/office/drawing/2014/main" id="{49838608-76E7-47A5-8C93-5A489E8AC43D}"/>
              </a:ext>
            </a:extLst>
          </p:cNvPr>
          <p:cNvGrpSpPr/>
          <p:nvPr/>
        </p:nvGrpSpPr>
        <p:grpSpPr>
          <a:xfrm>
            <a:off x="2156690" y="770221"/>
            <a:ext cx="3553680" cy="2808917"/>
            <a:chOff x="2243522" y="3731513"/>
            <a:chExt cx="3553680" cy="2808917"/>
          </a:xfrm>
        </p:grpSpPr>
        <p:pic>
          <p:nvPicPr>
            <p:cNvPr id="5" name="圖片 4">
              <a:extLst>
                <a:ext uri="{FF2B5EF4-FFF2-40B4-BE49-F238E27FC236}">
                  <a16:creationId xmlns:a16="http://schemas.microsoft.com/office/drawing/2014/main" id="{CC92A94A-CAEA-4EA4-A5A6-70F0868C94BE}"/>
                </a:ext>
              </a:extLst>
            </p:cNvPr>
            <p:cNvPicPr/>
            <p:nvPr/>
          </p:nvPicPr>
          <p:blipFill rotWithShape="1">
            <a:blip r:embed="rId7"/>
            <a:srcRect t="8090"/>
            <a:stretch/>
          </p:blipFill>
          <p:spPr>
            <a:xfrm>
              <a:off x="2243522" y="4071550"/>
              <a:ext cx="3553680" cy="2468880"/>
            </a:xfrm>
            <a:prstGeom prst="rect">
              <a:avLst/>
            </a:prstGeom>
          </p:spPr>
        </p:pic>
        <p:sp>
          <p:nvSpPr>
            <p:cNvPr id="11" name="文字方塊 10">
              <a:extLst>
                <a:ext uri="{FF2B5EF4-FFF2-40B4-BE49-F238E27FC236}">
                  <a16:creationId xmlns:a16="http://schemas.microsoft.com/office/drawing/2014/main" id="{A00412E3-FF51-4727-AA2E-F495DD0A6D43}"/>
                </a:ext>
              </a:extLst>
            </p:cNvPr>
            <p:cNvSpPr txBox="1"/>
            <p:nvPr/>
          </p:nvSpPr>
          <p:spPr>
            <a:xfrm>
              <a:off x="3120949" y="3731513"/>
              <a:ext cx="1798826" cy="369332"/>
            </a:xfrm>
            <a:prstGeom prst="rect">
              <a:avLst/>
            </a:prstGeom>
            <a:noFill/>
          </p:spPr>
          <p:txBody>
            <a:bodyPr wrap="none" rtlCol="0">
              <a:spAutoFit/>
            </a:bodyPr>
            <a:lstStyle/>
            <a:p>
              <a:r>
                <a:rPr lang="en-US" altLang="zh-TW" dirty="0">
                  <a:solidFill>
                    <a:srgbClr val="483832"/>
                  </a:solidFill>
                  <a:latin typeface="Times New Roman" panose="02020603050405020304" pitchFamily="18" charset="0"/>
                  <a:cs typeface="Times New Roman" panose="02020603050405020304" pitchFamily="18" charset="0"/>
                </a:rPr>
                <a:t>Intuitive ordering</a:t>
              </a:r>
              <a:endParaRPr lang="zh-TW" altLang="en-US" dirty="0">
                <a:solidFill>
                  <a:srgbClr val="483832"/>
                </a:solidFill>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91526D06-45CA-495B-B28A-347A4ED7C5E9}"/>
                  </a:ext>
                </a:extLst>
              </p:cNvPr>
              <p:cNvSpPr txBox="1"/>
              <p:nvPr/>
            </p:nvSpPr>
            <p:spPr>
              <a:xfrm>
                <a:off x="6129250" y="1049621"/>
                <a:ext cx="3906061" cy="2208194"/>
              </a:xfrm>
              <a:prstGeom prst="roundRect">
                <a:avLst/>
              </a:prstGeom>
              <a:noFill/>
              <a:ln w="19050">
                <a:solidFill>
                  <a:schemeClr val="accent1">
                    <a:lumMod val="75000"/>
                  </a:schemeClr>
                </a:solidFill>
                <a:prstDash val="lgDash"/>
              </a:ln>
            </p:spPr>
            <p:txBody>
              <a:bodyPr wrap="none" rtlCol="0">
                <a:spAutoFit/>
              </a:bodyPr>
              <a:lstStyle/>
              <a:p>
                <a:pPr>
                  <a:lnSpc>
                    <a:spcPts val="2500"/>
                  </a:lnSpc>
                </a:pPr>
                <a:r>
                  <a:rPr lang="en-US" altLang="zh-TW" sz="2000" dirty="0">
                    <a:solidFill>
                      <a:srgbClr val="483832"/>
                    </a:solidFill>
                    <a:latin typeface="Times New Roman" panose="02020603050405020304" pitchFamily="18" charset="0"/>
                    <a:cs typeface="Times New Roman" panose="02020603050405020304" pitchFamily="18" charset="0"/>
                  </a:rPr>
                  <a:t>In resonance condition(</a:t>
                </a:r>
                <a14:m>
                  <m:oMath xmlns:m="http://schemas.openxmlformats.org/officeDocument/2006/math">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m:t>
                        </m:r>
                      </m:e>
                      <m:sub>
                        <m:r>
                          <a:rPr lang="en-US" altLang="zh-TW" sz="2000" i="1">
                            <a:solidFill>
                              <a:srgbClr val="483832"/>
                            </a:solidFill>
                            <a:latin typeface="Cambria Math" panose="02040503050406030204" pitchFamily="18" charset="0"/>
                          </a:rPr>
                          <m:t>𝑝</m:t>
                        </m:r>
                      </m:sub>
                    </m:sSub>
                    <m:r>
                      <a:rPr lang="en-US" altLang="zh-TW" sz="2000" i="1">
                        <a:solidFill>
                          <a:srgbClr val="483832"/>
                        </a:solidFill>
                        <a:latin typeface="Cambria Math" panose="02040503050406030204" pitchFamily="18" charset="0"/>
                      </a:rPr>
                      <m:t>=</m:t>
                    </m:r>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m:t>
                        </m:r>
                      </m:e>
                      <m:sub>
                        <m:r>
                          <a:rPr lang="en-US" altLang="zh-TW" sz="2000" i="1">
                            <a:solidFill>
                              <a:srgbClr val="483832"/>
                            </a:solidFill>
                            <a:latin typeface="Cambria Math" panose="02040503050406030204" pitchFamily="18" charset="0"/>
                          </a:rPr>
                          <m:t>𝑠</m:t>
                        </m:r>
                      </m:sub>
                    </m:sSub>
                  </m:oMath>
                </a14:m>
                <a:r>
                  <a:rPr lang="en-US" altLang="zh-TW" sz="2000" dirty="0">
                    <a:solidFill>
                      <a:srgbClr val="483832"/>
                    </a:solidFill>
                    <a:latin typeface="Times New Roman" panose="02020603050405020304" pitchFamily="18" charset="0"/>
                    <a:cs typeface="Times New Roman" panose="02020603050405020304" pitchFamily="18" charset="0"/>
                  </a:rPr>
                  <a:t>), </a:t>
                </a:r>
              </a:p>
              <a:p>
                <a:pPr>
                  <a:lnSpc>
                    <a:spcPts val="2500"/>
                  </a:lnSpc>
                </a:pPr>
                <a:r>
                  <a:rPr lang="en-US" altLang="zh-TW" sz="2000" dirty="0">
                    <a:solidFill>
                      <a:srgbClr val="483832"/>
                    </a:solidFill>
                    <a:latin typeface="Times New Roman" panose="02020603050405020304" pitchFamily="18" charset="0"/>
                    <a:cs typeface="Times New Roman" panose="02020603050405020304" pitchFamily="18" charset="0"/>
                  </a:rPr>
                  <a:t>Hamiltonian:</a:t>
                </a:r>
              </a:p>
              <a:p>
                <a:pPr>
                  <a:lnSpc>
                    <a:spcPts val="2500"/>
                  </a:lnSpc>
                </a:pPr>
                <a:endParaRPr lang="en-US" altLang="zh-TW" sz="2000" dirty="0">
                  <a:solidFill>
                    <a:srgbClr val="483832"/>
                  </a:solidFill>
                  <a:latin typeface="Times New Roman" panose="02020603050405020304" pitchFamily="18" charset="0"/>
                  <a:cs typeface="Times New Roman" panose="02020603050405020304" pitchFamily="18" charset="0"/>
                </a:endParaRPr>
              </a:p>
              <a:p>
                <a:pPr>
                  <a:lnSpc>
                    <a:spcPts val="2500"/>
                  </a:lnSpc>
                </a:pPr>
                <a:endParaRPr lang="en-US" altLang="zh-TW" sz="2000" dirty="0">
                  <a:solidFill>
                    <a:srgbClr val="483832"/>
                  </a:solidFill>
                  <a:latin typeface="Times New Roman" panose="02020603050405020304" pitchFamily="18" charset="0"/>
                  <a:cs typeface="Times New Roman" panose="02020603050405020304" pitchFamily="18" charset="0"/>
                </a:endParaRPr>
              </a:p>
              <a:p>
                <a:pPr>
                  <a:lnSpc>
                    <a:spcPts val="2500"/>
                  </a:lnSpc>
                </a:pPr>
                <a14:m>
                  <m:oMathPara xmlns:m="http://schemas.openxmlformats.org/officeDocument/2006/math">
                    <m:oMathParaPr>
                      <m:jc m:val="centerGroup"/>
                    </m:oMathParaPr>
                    <m:oMath xmlns:m="http://schemas.openxmlformats.org/officeDocument/2006/math">
                      <m:acc>
                        <m:accPr>
                          <m:chr m:val="̂"/>
                          <m:ctrlPr>
                            <a:rPr lang="zh-TW" altLang="en-US" sz="2000" i="1">
                              <a:solidFill>
                                <a:srgbClr val="483832"/>
                              </a:solidFill>
                              <a:latin typeface="Cambria Math" panose="02040503050406030204" pitchFamily="18" charset="0"/>
                            </a:rPr>
                          </m:ctrlPr>
                        </m:accPr>
                        <m:e>
                          <m:r>
                            <a:rPr lang="zh-TW" altLang="en-US" sz="2000" i="1">
                              <a:solidFill>
                                <a:srgbClr val="483832"/>
                              </a:solidFill>
                              <a:latin typeface="Cambria Math" panose="02040503050406030204" pitchFamily="18" charset="0"/>
                            </a:rPr>
                            <m:t>𝐻</m:t>
                          </m:r>
                        </m:e>
                      </m:acc>
                      <m:d>
                        <m:dPr>
                          <m:ctrlPr>
                            <a:rPr lang="zh-TW" altLang="en-US" sz="2000" i="1">
                              <a:solidFill>
                                <a:srgbClr val="483832"/>
                              </a:solidFill>
                              <a:latin typeface="Cambria Math" panose="02040503050406030204" pitchFamily="18" charset="0"/>
                            </a:rPr>
                          </m:ctrlPr>
                        </m:dPr>
                        <m:e>
                          <m:r>
                            <a:rPr lang="zh-TW" altLang="en-US" sz="2000" i="1">
                              <a:solidFill>
                                <a:srgbClr val="483832"/>
                              </a:solidFill>
                              <a:latin typeface="Cambria Math" panose="02040503050406030204" pitchFamily="18" charset="0"/>
                            </a:rPr>
                            <m:t>𝑡</m:t>
                          </m:r>
                        </m:e>
                      </m:d>
                      <m:r>
                        <a:rPr lang="zh-TW" altLang="en-US" sz="2000">
                          <a:solidFill>
                            <a:srgbClr val="483832"/>
                          </a:solidFill>
                          <a:latin typeface="Cambria Math" panose="02040503050406030204" pitchFamily="18" charset="0"/>
                        </a:rPr>
                        <m:t>=</m:t>
                      </m:r>
                      <m:d>
                        <m:dPr>
                          <m:begChr m:val="["/>
                          <m:endChr m:val="]"/>
                          <m:ctrlPr>
                            <a:rPr lang="zh-TW" altLang="en-US" sz="2000" i="1">
                              <a:solidFill>
                                <a:srgbClr val="483832"/>
                              </a:solidFill>
                              <a:latin typeface="Cambria Math" panose="02040503050406030204" pitchFamily="18" charset="0"/>
                            </a:rPr>
                          </m:ctrlPr>
                        </m:dPr>
                        <m:e>
                          <m:m>
                            <m:mPr>
                              <m:plcHide m:val="on"/>
                              <m:mcs>
                                <m:mc>
                                  <m:mcPr>
                                    <m:count m:val="3"/>
                                    <m:mcJc m:val="center"/>
                                  </m:mcPr>
                                </m:mc>
                              </m:mcs>
                              <m:ctrlPr>
                                <a:rPr lang="zh-TW" altLang="en-US" sz="2000" i="1">
                                  <a:solidFill>
                                    <a:srgbClr val="483832"/>
                                  </a:solidFill>
                                  <a:latin typeface="Cambria Math" panose="02040503050406030204" pitchFamily="18" charset="0"/>
                                </a:rPr>
                              </m:ctrlPr>
                            </m:mPr>
                            <m:mr>
                              <m:e>
                                <m:r>
                                  <a:rPr lang="zh-TW" altLang="en-US" sz="2000">
                                    <a:solidFill>
                                      <a:srgbClr val="483832"/>
                                    </a:solidFill>
                                    <a:latin typeface="Cambria Math" panose="02040503050406030204" pitchFamily="18" charset="0"/>
                                  </a:rPr>
                                  <m:t>0</m:t>
                                </m:r>
                              </m:e>
                              <m:e>
                                <m:sSub>
                                  <m:sSubPr>
                                    <m:ctrlPr>
                                      <a:rPr lang="zh-TW" altLang="en-US" sz="2000" i="1">
                                        <a:solidFill>
                                          <a:srgbClr val="483832"/>
                                        </a:solidFill>
                                        <a:latin typeface="Cambria Math" panose="02040503050406030204" pitchFamily="18" charset="0"/>
                                      </a:rPr>
                                    </m:ctrlPr>
                                  </m:sSubPr>
                                  <m:e>
                                    <m:r>
                                      <m:rPr>
                                        <m:sty m:val="p"/>
                                      </m:rPr>
                                      <a:rPr lang="zh-TW" altLang="en-US" sz="2000">
                                        <a:solidFill>
                                          <a:srgbClr val="483832"/>
                                        </a:solidFill>
                                        <a:latin typeface="Cambria Math" panose="02040503050406030204" pitchFamily="18" charset="0"/>
                                      </a:rPr>
                                      <m:t>Ω</m:t>
                                    </m:r>
                                  </m:e>
                                  <m:sub>
                                    <m:r>
                                      <a:rPr lang="zh-TW" altLang="en-US" sz="2000" i="1">
                                        <a:solidFill>
                                          <a:srgbClr val="483832"/>
                                        </a:solidFill>
                                        <a:latin typeface="Cambria Math" panose="02040503050406030204" pitchFamily="18" charset="0"/>
                                      </a:rPr>
                                      <m:t>𝑝</m:t>
                                    </m:r>
                                  </m:sub>
                                </m:sSub>
                                <m:d>
                                  <m:dPr>
                                    <m:ctrlPr>
                                      <a:rPr lang="zh-TW" altLang="en-US" sz="2000" i="1">
                                        <a:solidFill>
                                          <a:srgbClr val="483832"/>
                                        </a:solidFill>
                                        <a:latin typeface="Cambria Math" panose="02040503050406030204" pitchFamily="18" charset="0"/>
                                      </a:rPr>
                                    </m:ctrlPr>
                                  </m:dPr>
                                  <m:e>
                                    <m:r>
                                      <a:rPr lang="zh-TW" altLang="en-US" sz="2000" i="1">
                                        <a:solidFill>
                                          <a:srgbClr val="483832"/>
                                        </a:solidFill>
                                        <a:latin typeface="Cambria Math" panose="02040503050406030204" pitchFamily="18" charset="0"/>
                                      </a:rPr>
                                      <m:t>𝑡</m:t>
                                    </m:r>
                                  </m:e>
                                </m:d>
                              </m:e>
                              <m:e>
                                <m:r>
                                  <a:rPr lang="zh-TW" altLang="en-US" sz="2000">
                                    <a:solidFill>
                                      <a:srgbClr val="483832"/>
                                    </a:solidFill>
                                    <a:latin typeface="Cambria Math" panose="02040503050406030204" pitchFamily="18" charset="0"/>
                                  </a:rPr>
                                  <m:t>0</m:t>
                                </m:r>
                              </m:e>
                            </m:mr>
                            <m:mr>
                              <m:e>
                                <m:sSub>
                                  <m:sSubPr>
                                    <m:ctrlPr>
                                      <a:rPr lang="zh-TW" altLang="en-US" sz="2000" i="1">
                                        <a:solidFill>
                                          <a:srgbClr val="483832"/>
                                        </a:solidFill>
                                        <a:latin typeface="Cambria Math" panose="02040503050406030204" pitchFamily="18" charset="0"/>
                                      </a:rPr>
                                    </m:ctrlPr>
                                  </m:sSubPr>
                                  <m:e>
                                    <m:r>
                                      <m:rPr>
                                        <m:sty m:val="p"/>
                                      </m:rPr>
                                      <a:rPr lang="zh-TW" altLang="en-US" sz="2000">
                                        <a:solidFill>
                                          <a:srgbClr val="483832"/>
                                        </a:solidFill>
                                        <a:latin typeface="Cambria Math" panose="02040503050406030204" pitchFamily="18" charset="0"/>
                                      </a:rPr>
                                      <m:t>Ω</m:t>
                                    </m:r>
                                  </m:e>
                                  <m:sub>
                                    <m:r>
                                      <a:rPr lang="zh-TW" altLang="en-US" sz="2000" i="1">
                                        <a:solidFill>
                                          <a:srgbClr val="483832"/>
                                        </a:solidFill>
                                        <a:latin typeface="Cambria Math" panose="02040503050406030204" pitchFamily="18" charset="0"/>
                                      </a:rPr>
                                      <m:t>𝑝</m:t>
                                    </m:r>
                                  </m:sub>
                                </m:sSub>
                                <m:d>
                                  <m:dPr>
                                    <m:ctrlPr>
                                      <a:rPr lang="zh-TW" altLang="en-US" sz="2000" i="1">
                                        <a:solidFill>
                                          <a:srgbClr val="483832"/>
                                        </a:solidFill>
                                        <a:latin typeface="Cambria Math" panose="02040503050406030204" pitchFamily="18" charset="0"/>
                                      </a:rPr>
                                    </m:ctrlPr>
                                  </m:dPr>
                                  <m:e>
                                    <m:r>
                                      <a:rPr lang="zh-TW" altLang="en-US" sz="2000" i="1">
                                        <a:solidFill>
                                          <a:srgbClr val="483832"/>
                                        </a:solidFill>
                                        <a:latin typeface="Cambria Math" panose="02040503050406030204" pitchFamily="18" charset="0"/>
                                      </a:rPr>
                                      <m:t>𝑡</m:t>
                                    </m:r>
                                  </m:e>
                                </m:d>
                              </m:e>
                              <m:e>
                                <m:r>
                                  <a:rPr lang="en-US" altLang="zh-TW" sz="2000" i="1">
                                    <a:solidFill>
                                      <a:srgbClr val="483832"/>
                                    </a:solidFill>
                                    <a:latin typeface="Cambria Math" panose="02040503050406030204" pitchFamily="18" charset="0"/>
                                  </a:rPr>
                                  <m:t>0</m:t>
                                </m:r>
                              </m:e>
                              <m:e>
                                <m:sSub>
                                  <m:sSubPr>
                                    <m:ctrlPr>
                                      <a:rPr lang="zh-TW" altLang="en-US" sz="2000" i="1">
                                        <a:solidFill>
                                          <a:srgbClr val="483832"/>
                                        </a:solidFill>
                                        <a:latin typeface="Cambria Math" panose="02040503050406030204" pitchFamily="18" charset="0"/>
                                      </a:rPr>
                                    </m:ctrlPr>
                                  </m:sSubPr>
                                  <m:e>
                                    <m:r>
                                      <m:rPr>
                                        <m:sty m:val="p"/>
                                      </m:rPr>
                                      <a:rPr lang="zh-TW" altLang="en-US" sz="2000">
                                        <a:solidFill>
                                          <a:srgbClr val="483832"/>
                                        </a:solidFill>
                                        <a:latin typeface="Cambria Math" panose="02040503050406030204" pitchFamily="18" charset="0"/>
                                      </a:rPr>
                                      <m:t>Ω</m:t>
                                    </m:r>
                                  </m:e>
                                  <m:sub>
                                    <m:r>
                                      <a:rPr lang="zh-TW" altLang="en-US" sz="2000" i="1">
                                        <a:solidFill>
                                          <a:srgbClr val="483832"/>
                                        </a:solidFill>
                                        <a:latin typeface="Cambria Math" panose="02040503050406030204" pitchFamily="18" charset="0"/>
                                      </a:rPr>
                                      <m:t>𝑠</m:t>
                                    </m:r>
                                  </m:sub>
                                </m:sSub>
                                <m:d>
                                  <m:dPr>
                                    <m:ctrlPr>
                                      <a:rPr lang="zh-TW" altLang="en-US" sz="2000" i="1">
                                        <a:solidFill>
                                          <a:srgbClr val="483832"/>
                                        </a:solidFill>
                                        <a:latin typeface="Cambria Math" panose="02040503050406030204" pitchFamily="18" charset="0"/>
                                      </a:rPr>
                                    </m:ctrlPr>
                                  </m:dPr>
                                  <m:e>
                                    <m:r>
                                      <a:rPr lang="zh-TW" altLang="en-US" sz="2000" i="1">
                                        <a:solidFill>
                                          <a:srgbClr val="483832"/>
                                        </a:solidFill>
                                        <a:latin typeface="Cambria Math" panose="02040503050406030204" pitchFamily="18" charset="0"/>
                                      </a:rPr>
                                      <m:t>𝑡</m:t>
                                    </m:r>
                                  </m:e>
                                </m:d>
                              </m:e>
                            </m:mr>
                            <m:mr>
                              <m:e>
                                <m:r>
                                  <a:rPr lang="zh-TW" altLang="en-US" sz="2000">
                                    <a:solidFill>
                                      <a:srgbClr val="483832"/>
                                    </a:solidFill>
                                    <a:latin typeface="Cambria Math" panose="02040503050406030204" pitchFamily="18" charset="0"/>
                                  </a:rPr>
                                  <m:t>0</m:t>
                                </m:r>
                              </m:e>
                              <m:e>
                                <m:sSub>
                                  <m:sSubPr>
                                    <m:ctrlPr>
                                      <a:rPr lang="zh-TW" altLang="en-US" sz="2000" i="1">
                                        <a:solidFill>
                                          <a:srgbClr val="483832"/>
                                        </a:solidFill>
                                        <a:latin typeface="Cambria Math" panose="02040503050406030204" pitchFamily="18" charset="0"/>
                                      </a:rPr>
                                    </m:ctrlPr>
                                  </m:sSubPr>
                                  <m:e>
                                    <m:r>
                                      <m:rPr>
                                        <m:sty m:val="p"/>
                                      </m:rPr>
                                      <a:rPr lang="zh-TW" altLang="en-US" sz="2000">
                                        <a:solidFill>
                                          <a:srgbClr val="483832"/>
                                        </a:solidFill>
                                        <a:latin typeface="Cambria Math" panose="02040503050406030204" pitchFamily="18" charset="0"/>
                                      </a:rPr>
                                      <m:t>Ω</m:t>
                                    </m:r>
                                  </m:e>
                                  <m:sub>
                                    <m:r>
                                      <a:rPr lang="zh-TW" altLang="en-US" sz="2000" i="1">
                                        <a:solidFill>
                                          <a:srgbClr val="483832"/>
                                        </a:solidFill>
                                        <a:latin typeface="Cambria Math" panose="02040503050406030204" pitchFamily="18" charset="0"/>
                                      </a:rPr>
                                      <m:t>𝑠</m:t>
                                    </m:r>
                                  </m:sub>
                                </m:sSub>
                                <m:d>
                                  <m:dPr>
                                    <m:ctrlPr>
                                      <a:rPr lang="zh-TW" altLang="en-US" sz="2000" i="1">
                                        <a:solidFill>
                                          <a:srgbClr val="483832"/>
                                        </a:solidFill>
                                        <a:latin typeface="Cambria Math" panose="02040503050406030204" pitchFamily="18" charset="0"/>
                                      </a:rPr>
                                    </m:ctrlPr>
                                  </m:dPr>
                                  <m:e>
                                    <m:r>
                                      <a:rPr lang="zh-TW" altLang="en-US" sz="2000" i="1">
                                        <a:solidFill>
                                          <a:srgbClr val="483832"/>
                                        </a:solidFill>
                                        <a:latin typeface="Cambria Math" panose="02040503050406030204" pitchFamily="18" charset="0"/>
                                      </a:rPr>
                                      <m:t>𝑡</m:t>
                                    </m:r>
                                  </m:e>
                                </m:d>
                              </m:e>
                              <m:e>
                                <m:r>
                                  <a:rPr lang="en-US" altLang="zh-TW" sz="2000" i="1">
                                    <a:solidFill>
                                      <a:srgbClr val="483832"/>
                                    </a:solidFill>
                                    <a:latin typeface="Cambria Math" panose="02040503050406030204" pitchFamily="18" charset="0"/>
                                  </a:rPr>
                                  <m:t>0</m:t>
                                </m:r>
                              </m:e>
                            </m:mr>
                          </m:m>
                        </m:e>
                      </m:d>
                    </m:oMath>
                  </m:oMathPara>
                </a14:m>
                <a:endParaRPr lang="en-US" altLang="zh-TW" sz="2000" dirty="0">
                  <a:solidFill>
                    <a:srgbClr val="483832"/>
                  </a:solidFill>
                  <a:latin typeface="Times New Roman" panose="02020603050405020304" pitchFamily="18" charset="0"/>
                  <a:cs typeface="Times New Roman" panose="02020603050405020304" pitchFamily="18" charset="0"/>
                </a:endParaRPr>
              </a:p>
              <a:p>
                <a:pPr>
                  <a:lnSpc>
                    <a:spcPts val="2500"/>
                  </a:lnSpc>
                </a:pPr>
                <a:endParaRPr lang="zh-TW" altLang="en-US" sz="2000"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91526D06-45CA-495B-B28A-347A4ED7C5E9}"/>
                  </a:ext>
                </a:extLst>
              </p:cNvPr>
              <p:cNvSpPr txBox="1">
                <a:spLocks noRot="1" noChangeAspect="1" noMove="1" noResize="1" noEditPoints="1" noAdjustHandles="1" noChangeArrowheads="1" noChangeShapeType="1" noTextEdit="1"/>
              </p:cNvSpPr>
              <p:nvPr/>
            </p:nvSpPr>
            <p:spPr>
              <a:xfrm>
                <a:off x="6129250" y="1049621"/>
                <a:ext cx="3906061" cy="2208194"/>
              </a:xfrm>
              <a:prstGeom prst="roundRect">
                <a:avLst/>
              </a:prstGeom>
              <a:blipFill>
                <a:blip r:embed="rId8"/>
                <a:stretch>
                  <a:fillRect/>
                </a:stretch>
              </a:blipFill>
              <a:ln w="19050">
                <a:solidFill>
                  <a:schemeClr val="accent1">
                    <a:lumMod val="75000"/>
                  </a:schemeClr>
                </a:solidFill>
                <a:prstDash val="lgDash"/>
              </a:ln>
            </p:spPr>
            <p:txBody>
              <a:bodyPr/>
              <a:lstStyle/>
              <a:p>
                <a:r>
                  <a:rPr lang="zh-TW" altLang="en-US">
                    <a:noFill/>
                  </a:rPr>
                  <a:t> </a:t>
                </a:r>
              </a:p>
            </p:txBody>
          </p:sp>
        </mc:Fallback>
      </mc:AlternateContent>
      <p:sp>
        <p:nvSpPr>
          <p:cNvPr id="2" name="矩形 1">
            <a:extLst>
              <a:ext uri="{FF2B5EF4-FFF2-40B4-BE49-F238E27FC236}">
                <a16:creationId xmlns:a16="http://schemas.microsoft.com/office/drawing/2014/main" id="{F83F1A33-91E2-49AC-914F-14D8C5E30BDC}"/>
              </a:ext>
            </a:extLst>
          </p:cNvPr>
          <p:cNvSpPr/>
          <p:nvPr/>
        </p:nvSpPr>
        <p:spPr>
          <a:xfrm>
            <a:off x="762001" y="6466634"/>
            <a:ext cx="8442960" cy="400110"/>
          </a:xfrm>
          <a:prstGeom prst="rect">
            <a:avLst/>
          </a:prstGeom>
        </p:spPr>
        <p:txBody>
          <a:bodyPr wrap="square">
            <a:spAutoFit/>
          </a:bodyPr>
          <a:lstStyle/>
          <a:p>
            <a:r>
              <a:rPr lang="en-US" altLang="zh-TW" sz="1000" dirty="0">
                <a:latin typeface="Times New Roman" panose="02020603050405020304" pitchFamily="18" charset="0"/>
                <a:cs typeface="Times New Roman" panose="02020603050405020304" pitchFamily="18" charset="0"/>
              </a:rPr>
              <a:t>T. H. Nikolay et al, "Laser-induced population transfer by adiabatic passage techniques," </a:t>
            </a:r>
            <a:r>
              <a:rPr lang="en-US" altLang="zh-TW" sz="1000" i="1" dirty="0">
                <a:latin typeface="Times New Roman" panose="02020603050405020304" pitchFamily="18" charset="0"/>
                <a:cs typeface="Times New Roman" panose="02020603050405020304" pitchFamily="18" charset="0"/>
              </a:rPr>
              <a:t>Annual Review of Physical Chemistry, </a:t>
            </a:r>
            <a:r>
              <a:rPr lang="en-US" altLang="zh-TW" sz="1000" dirty="0">
                <a:latin typeface="Times New Roman" panose="02020603050405020304" pitchFamily="18" charset="0"/>
                <a:cs typeface="Times New Roman" panose="02020603050405020304" pitchFamily="18" charset="0"/>
              </a:rPr>
              <a:t>vol. 52, no. 1, pp. 763-809(2001)</a:t>
            </a:r>
          </a:p>
          <a:p>
            <a:r>
              <a:rPr lang="en-US" altLang="zh-TW" sz="1000" dirty="0">
                <a:latin typeface="Times New Roman" panose="02020603050405020304" pitchFamily="18" charset="0"/>
                <a:cs typeface="Times New Roman" panose="02020603050405020304" pitchFamily="18" charset="0"/>
              </a:rPr>
              <a:t>B. W. Shore, "Picturing stimulated Raman adiabatic passage: a STIRAP tutorial," </a:t>
            </a:r>
            <a:r>
              <a:rPr lang="en-US" altLang="zh-TW" sz="1000" i="1" dirty="0">
                <a:latin typeface="Times New Roman" panose="02020603050405020304" pitchFamily="18" charset="0"/>
                <a:cs typeface="Times New Roman" panose="02020603050405020304" pitchFamily="18" charset="0"/>
              </a:rPr>
              <a:t>Advances in Optics and Photonics, </a:t>
            </a:r>
            <a:r>
              <a:rPr lang="en-US" altLang="zh-TW" sz="1000" dirty="0">
                <a:latin typeface="Times New Roman" panose="02020603050405020304" pitchFamily="18" charset="0"/>
                <a:cs typeface="Times New Roman" panose="02020603050405020304" pitchFamily="18" charset="0"/>
              </a:rPr>
              <a:t>vol. 9, no. 3(2017)</a:t>
            </a:r>
            <a:endParaRPr lang="zh-TW" alt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759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50" fill="hold"/>
                                        <p:tgtEl>
                                          <p:spTgt spid="4"/>
                                        </p:tgtEl>
                                        <p:attrNameLst>
                                          <p:attrName>ppt_x</p:attrName>
                                        </p:attrNameLst>
                                      </p:cBhvr>
                                      <p:tavLst>
                                        <p:tav tm="0">
                                          <p:val>
                                            <p:strVal val="#ppt_x"/>
                                          </p:val>
                                        </p:tav>
                                        <p:tav tm="100000">
                                          <p:val>
                                            <p:strVal val="#ppt_x"/>
                                          </p:val>
                                        </p:tav>
                                      </p:tavLst>
                                    </p:anim>
                                    <p:anim calcmode="lin" valueType="num">
                                      <p:cBhvr additive="base">
                                        <p:cTn id="8" dur="25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250" fill="hold"/>
                                        <p:tgtEl>
                                          <p:spTgt spid="16"/>
                                        </p:tgtEl>
                                        <p:attrNameLst>
                                          <p:attrName>ppt_x</p:attrName>
                                        </p:attrNameLst>
                                      </p:cBhvr>
                                      <p:tavLst>
                                        <p:tav tm="0">
                                          <p:val>
                                            <p:strVal val="#ppt_x"/>
                                          </p:val>
                                        </p:tav>
                                        <p:tav tm="100000">
                                          <p:val>
                                            <p:strVal val="#ppt_x"/>
                                          </p:val>
                                        </p:tav>
                                      </p:tavLst>
                                    </p:anim>
                                    <p:anim calcmode="lin" valueType="num">
                                      <p:cBhvr additive="base">
                                        <p:cTn id="12" dur="25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258607A1-020A-4D57-98EC-C934612B6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0288" y="6077398"/>
            <a:ext cx="2134800" cy="628100"/>
          </a:xfrm>
          <a:prstGeom prst="rect">
            <a:avLst/>
          </a:prstGeom>
        </p:spPr>
      </p:pic>
      <p:sp>
        <p:nvSpPr>
          <p:cNvPr id="2" name="文字版面配置區 1">
            <a:extLst>
              <a:ext uri="{FF2B5EF4-FFF2-40B4-BE49-F238E27FC236}">
                <a16:creationId xmlns:a16="http://schemas.microsoft.com/office/drawing/2014/main" id="{1F831E72-D04C-48B8-B0DC-7F96A0E1F4C6}"/>
              </a:ext>
            </a:extLst>
          </p:cNvPr>
          <p:cNvSpPr>
            <a:spLocks noGrp="1"/>
          </p:cNvSpPr>
          <p:nvPr>
            <p:ph type="body" sz="half" idx="13"/>
          </p:nvPr>
        </p:nvSpPr>
        <p:spPr>
          <a:xfrm>
            <a:off x="2245361" y="16590"/>
            <a:ext cx="7701280" cy="660417"/>
          </a:xfrm>
        </p:spPr>
        <p:txBody>
          <a:bodyPr>
            <a:normAutofit/>
          </a:bodyPr>
          <a:lstStyle/>
          <a:p>
            <a:r>
              <a:rPr lang="en-US" altLang="zh-TW" dirty="0"/>
              <a:t>Stimulated Raman adiabatic passage (STIRAP)</a:t>
            </a:r>
          </a:p>
        </p:txBody>
      </p:sp>
      <p:sp>
        <p:nvSpPr>
          <p:cNvPr id="4" name="投影片編號版面配置區 3">
            <a:extLst>
              <a:ext uri="{FF2B5EF4-FFF2-40B4-BE49-F238E27FC236}">
                <a16:creationId xmlns:a16="http://schemas.microsoft.com/office/drawing/2014/main" id="{E2F8C9E3-8C96-49E7-B140-ACA631128AB1}"/>
              </a:ext>
            </a:extLst>
          </p:cNvPr>
          <p:cNvSpPr>
            <a:spLocks noGrp="1"/>
          </p:cNvSpPr>
          <p:nvPr>
            <p:ph type="sldNum" sz="quarter" idx="12"/>
          </p:nvPr>
        </p:nvSpPr>
        <p:spPr/>
        <p:txBody>
          <a:bodyPr/>
          <a:lstStyle/>
          <a:p>
            <a:fld id="{9820161B-3DFF-4FF5-AA0E-35496F014571}" type="slidenum">
              <a:rPr lang="zh-TW" altLang="en-US" smtClean="0"/>
              <a:t>15</a:t>
            </a:fld>
            <a:endParaRPr lang="zh-TW" altLang="en-US" dirty="0"/>
          </a:p>
        </p:txBody>
      </p:sp>
      <p:grpSp>
        <p:nvGrpSpPr>
          <p:cNvPr id="8" name="群組 7">
            <a:extLst>
              <a:ext uri="{FF2B5EF4-FFF2-40B4-BE49-F238E27FC236}">
                <a16:creationId xmlns:a16="http://schemas.microsoft.com/office/drawing/2014/main" id="{8E3C4B68-5735-41AD-B78A-A18D4BF815F4}"/>
              </a:ext>
            </a:extLst>
          </p:cNvPr>
          <p:cNvGrpSpPr/>
          <p:nvPr/>
        </p:nvGrpSpPr>
        <p:grpSpPr>
          <a:xfrm>
            <a:off x="879420" y="863480"/>
            <a:ext cx="4190035" cy="5118264"/>
            <a:chOff x="914400" y="923036"/>
            <a:chExt cx="4190035" cy="5118264"/>
          </a:xfrm>
        </p:grpSpPr>
        <p:pic>
          <p:nvPicPr>
            <p:cNvPr id="5" name="圖片 4">
              <a:extLst>
                <a:ext uri="{FF2B5EF4-FFF2-40B4-BE49-F238E27FC236}">
                  <a16:creationId xmlns:a16="http://schemas.microsoft.com/office/drawing/2014/main" id="{308F2D87-AADD-4A29-9483-DEA1C506D940}"/>
                </a:ext>
              </a:extLst>
            </p:cNvPr>
            <p:cNvPicPr/>
            <p:nvPr/>
          </p:nvPicPr>
          <p:blipFill rotWithShape="1">
            <a:blip r:embed="rId4">
              <a:extLst>
                <a:ext uri="{28A0092B-C50C-407E-A947-70E740481C1C}">
                  <a14:useLocalDpi xmlns:a14="http://schemas.microsoft.com/office/drawing/2010/main" val="0"/>
                </a:ext>
              </a:extLst>
            </a:blip>
            <a:srcRect l="3712" r="3417"/>
            <a:stretch/>
          </p:blipFill>
          <p:spPr bwMode="auto">
            <a:xfrm>
              <a:off x="914400" y="923036"/>
              <a:ext cx="4190035" cy="3599815"/>
            </a:xfrm>
            <a:prstGeom prst="rect">
              <a:avLst/>
            </a:prstGeom>
            <a:noFill/>
            <a:ln>
              <a:noFill/>
            </a:ln>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072C832-B530-4225-AF26-D42773D5798E}"/>
                    </a:ext>
                  </a:extLst>
                </p:cNvPr>
                <p:cNvSpPr/>
                <p:nvPr/>
              </p:nvSpPr>
              <p:spPr>
                <a:xfrm>
                  <a:off x="1663696" y="4692597"/>
                  <a:ext cx="2690480" cy="1348703"/>
                </a:xfrm>
                <a:prstGeom prst="rect">
                  <a:avLst/>
                </a:prstGeom>
              </p:spPr>
              <p:txBody>
                <a:bodyPr wrap="none">
                  <a:spAutoFit/>
                </a:bodyPr>
                <a:lstStyle/>
                <a:p>
                  <a:pPr>
                    <a:lnSpc>
                      <a:spcPts val="2500"/>
                    </a:lnSpc>
                  </a:pPr>
                  <a14:m>
                    <m:oMath xmlns:m="http://schemas.openxmlformats.org/officeDocument/2006/math">
                      <m:r>
                        <a:rPr lang="zh-TW" altLang="en-US" dirty="0" smtClean="0">
                          <a:solidFill>
                            <a:srgbClr val="483832"/>
                          </a:solidFill>
                          <a:latin typeface="Cambria Math" panose="02040503050406030204" pitchFamily="18" charset="0"/>
                        </a:rPr>
                        <m:t>𝜅</m:t>
                      </m:r>
                      <m:r>
                        <a:rPr lang="en-US" altLang="zh-TW" dirty="0">
                          <a:solidFill>
                            <a:srgbClr val="483832"/>
                          </a:solidFill>
                          <a:latin typeface="Cambria Math" panose="02040503050406030204" pitchFamily="18" charset="0"/>
                        </a:rPr>
                        <m:t>:</m:t>
                      </m:r>
                    </m:oMath>
                  </a14:m>
                  <a:r>
                    <a:rPr lang="en-US" altLang="zh-TW" dirty="0">
                      <a:solidFill>
                        <a:srgbClr val="483832"/>
                      </a:solidFill>
                      <a:latin typeface="Times New Roman" panose="02020603050405020304" pitchFamily="18" charset="0"/>
                    </a:rPr>
                    <a:t> coupling constant</a:t>
                  </a:r>
                </a:p>
                <a:p>
                  <a:pPr>
                    <a:lnSpc>
                      <a:spcPts val="2500"/>
                    </a:lnSpc>
                  </a:pPr>
                  <a14:m>
                    <m:oMath xmlns:m="http://schemas.openxmlformats.org/officeDocument/2006/math">
                      <m:r>
                        <a:rPr lang="en-US" altLang="zh-TW" i="1">
                          <a:solidFill>
                            <a:srgbClr val="483832"/>
                          </a:solidFill>
                          <a:latin typeface="Cambria Math" panose="02040503050406030204" pitchFamily="18" charset="0"/>
                        </a:rPr>
                        <m:t>𝐿</m:t>
                      </m:r>
                    </m:oMath>
                  </a14:m>
                  <a:r>
                    <a:rPr lang="en-US" altLang="zh-TW" dirty="0">
                      <a:solidFill>
                        <a:srgbClr val="483832"/>
                      </a:solidFill>
                      <a:latin typeface="Times New Roman" panose="02020603050405020304" pitchFamily="18" charset="0"/>
                    </a:rPr>
                    <a:t>:</a:t>
                  </a:r>
                  <a:r>
                    <a:rPr lang="zh-TW" altLang="en-US" dirty="0">
                      <a:solidFill>
                        <a:srgbClr val="483832"/>
                      </a:solidFill>
                      <a:latin typeface="Times New Roman" panose="02020603050405020304" pitchFamily="18" charset="0"/>
                    </a:rPr>
                    <a:t>  </a:t>
                  </a:r>
                  <a:r>
                    <a:rPr lang="en-US" altLang="zh-TW" dirty="0">
                      <a:solidFill>
                        <a:srgbClr val="483832"/>
                      </a:solidFill>
                      <a:latin typeface="Times New Roman" panose="02020603050405020304" pitchFamily="18" charset="0"/>
                    </a:rPr>
                    <a:t>coupling length</a:t>
                  </a:r>
                </a:p>
                <a:p>
                  <a:pPr>
                    <a:lnSpc>
                      <a:spcPts val="2500"/>
                    </a:lnSpc>
                  </a:pPr>
                  <a14:m>
                    <m:oMath xmlns:m="http://schemas.openxmlformats.org/officeDocument/2006/math">
                      <m:r>
                        <m:rPr>
                          <m:sty m:val="p"/>
                        </m:rPr>
                        <a:rPr lang="en-US" altLang="zh-TW" i="0">
                          <a:solidFill>
                            <a:srgbClr val="483832"/>
                          </a:solidFill>
                          <a:latin typeface="Cambria Math" panose="02040503050406030204" pitchFamily="18" charset="0"/>
                        </a:rPr>
                        <m:t>α</m:t>
                      </m:r>
                      <m:r>
                        <a:rPr lang="en-US" altLang="zh-TW" i="1">
                          <a:solidFill>
                            <a:srgbClr val="483832"/>
                          </a:solidFill>
                          <a:latin typeface="Cambria Math" panose="02040503050406030204" pitchFamily="18" charset="0"/>
                        </a:rPr>
                        <m:t> </m:t>
                      </m:r>
                    </m:oMath>
                  </a14:m>
                  <a:r>
                    <a:rPr lang="en-US" altLang="zh-TW" dirty="0">
                      <a:solidFill>
                        <a:srgbClr val="483832"/>
                      </a:solidFill>
                      <a:latin typeface="Times New Roman" panose="02020603050405020304" pitchFamily="18" charset="0"/>
                    </a:rPr>
                    <a:t>:</a:t>
                  </a:r>
                  <a:r>
                    <a:rPr lang="zh-TW" altLang="en-US" dirty="0">
                      <a:solidFill>
                        <a:srgbClr val="483832"/>
                      </a:solidFill>
                      <a:latin typeface="Times New Roman" panose="02020603050405020304" pitchFamily="18" charset="0"/>
                    </a:rPr>
                    <a:t> </a:t>
                  </a:r>
                  <a:r>
                    <a:rPr lang="en-US" altLang="zh-TW" dirty="0">
                      <a:solidFill>
                        <a:srgbClr val="483832"/>
                      </a:solidFill>
                      <a:latin typeface="Times New Roman" panose="02020603050405020304" pitchFamily="18" charset="0"/>
                    </a:rPr>
                    <a:t>adiabatic parameters</a:t>
                  </a:r>
                </a:p>
                <a:p>
                  <a:pPr>
                    <a:lnSpc>
                      <a:spcPts val="2500"/>
                    </a:lnSpc>
                  </a:pPr>
                  <a:r>
                    <a:rPr lang="en-US" altLang="zh-TW" dirty="0">
                      <a:solidFill>
                        <a:srgbClr val="483832"/>
                      </a:solidFill>
                      <a:latin typeface="Times New Roman" panose="02020603050405020304" pitchFamily="18" charset="0"/>
                    </a:rPr>
                    <a:t>r,</a:t>
                  </a:r>
                  <a:r>
                    <a:rPr lang="zh-TW" altLang="zh-TW" dirty="0">
                      <a:solidFill>
                        <a:srgbClr val="483832"/>
                      </a:solidFill>
                      <a:latin typeface="Times New Roman" panose="02020603050405020304" pitchFamily="18" charset="0"/>
                    </a:rPr>
                    <a:t> </a:t>
                  </a:r>
                  <a14:m>
                    <m:oMath xmlns:m="http://schemas.openxmlformats.org/officeDocument/2006/math">
                      <m:sSub>
                        <m:sSubPr>
                          <m:ctrlPr>
                            <a:rPr lang="zh-TW" altLang="zh-TW" i="1">
                              <a:solidFill>
                                <a:srgbClr val="483832"/>
                              </a:solidFill>
                              <a:latin typeface="Cambria Math" panose="02040503050406030204" pitchFamily="18" charset="0"/>
                            </a:rPr>
                          </m:ctrlPr>
                        </m:sSubPr>
                        <m:e>
                          <m:r>
                            <a:rPr lang="en-US" altLang="zh-TW" i="1">
                              <a:solidFill>
                                <a:srgbClr val="483832"/>
                              </a:solidFill>
                              <a:latin typeface="Cambria Math" panose="02040503050406030204" pitchFamily="18" charset="0"/>
                            </a:rPr>
                            <m:t>𝑙</m:t>
                          </m:r>
                        </m:e>
                        <m:sub>
                          <m:r>
                            <a:rPr lang="en-US" altLang="zh-TW" i="1">
                              <a:solidFill>
                                <a:srgbClr val="483832"/>
                              </a:solidFill>
                              <a:latin typeface="Cambria Math" panose="02040503050406030204" pitchFamily="18" charset="0"/>
                            </a:rPr>
                            <m:t>𝑐</m:t>
                          </m:r>
                          <m:r>
                            <a:rPr lang="en-US" altLang="zh-TW" i="1">
                              <a:solidFill>
                                <a:srgbClr val="483832"/>
                              </a:solidFill>
                              <a:latin typeface="Cambria Math" panose="02040503050406030204" pitchFamily="18" charset="0"/>
                            </a:rPr>
                            <m:t>0</m:t>
                          </m:r>
                        </m:sub>
                      </m:sSub>
                      <m:r>
                        <a:rPr lang="en-US" altLang="zh-TW" i="1">
                          <a:solidFill>
                            <a:srgbClr val="483832"/>
                          </a:solidFill>
                          <a:latin typeface="Cambria Math" panose="02040503050406030204" pitchFamily="18" charset="0"/>
                        </a:rPr>
                        <m:t> </m:t>
                      </m:r>
                    </m:oMath>
                  </a14:m>
                  <a:r>
                    <a:rPr lang="en-US" altLang="zh-TW" dirty="0">
                      <a:solidFill>
                        <a:srgbClr val="483832"/>
                      </a:solidFill>
                      <a:latin typeface="Times New Roman" panose="02020603050405020304" pitchFamily="18" charset="0"/>
                    </a:rPr>
                    <a:t>: </a:t>
                  </a:r>
                  <a:r>
                    <a:rPr lang="zh-TW" altLang="en-US" dirty="0">
                      <a:solidFill>
                        <a:srgbClr val="483832"/>
                      </a:solidFill>
                      <a:latin typeface="Times New Roman" panose="02020603050405020304" pitchFamily="18" charset="0"/>
                    </a:rPr>
                    <a:t> </a:t>
                  </a:r>
                  <a:r>
                    <a:rPr lang="en-US" altLang="zh-TW" dirty="0">
                      <a:solidFill>
                        <a:srgbClr val="483832"/>
                      </a:solidFill>
                      <a:latin typeface="Times New Roman" panose="02020603050405020304" pitchFamily="18" charset="0"/>
                    </a:rPr>
                    <a:t>fabrication constant</a:t>
                  </a:r>
                </a:p>
              </p:txBody>
            </p:sp>
          </mc:Choice>
          <mc:Fallback xmlns="">
            <p:sp>
              <p:nvSpPr>
                <p:cNvPr id="7" name="矩形 6">
                  <a:extLst>
                    <a:ext uri="{FF2B5EF4-FFF2-40B4-BE49-F238E27FC236}">
                      <a16:creationId xmlns:a16="http://schemas.microsoft.com/office/drawing/2014/main" id="{E072C832-B530-4225-AF26-D42773D5798E}"/>
                    </a:ext>
                  </a:extLst>
                </p:cNvPr>
                <p:cNvSpPr>
                  <a:spLocks noRot="1" noChangeAspect="1" noMove="1" noResize="1" noEditPoints="1" noAdjustHandles="1" noChangeArrowheads="1" noChangeShapeType="1" noTextEdit="1"/>
                </p:cNvSpPr>
                <p:nvPr/>
              </p:nvSpPr>
              <p:spPr>
                <a:xfrm>
                  <a:off x="1663696" y="4692597"/>
                  <a:ext cx="2690480" cy="1348703"/>
                </a:xfrm>
                <a:prstGeom prst="rect">
                  <a:avLst/>
                </a:prstGeom>
                <a:blipFill>
                  <a:blip r:embed="rId5"/>
                  <a:stretch>
                    <a:fillRect l="-1810" t="-905" r="-1131" b="-6335"/>
                  </a:stretch>
                </a:blipFill>
              </p:spPr>
              <p:txBody>
                <a:bodyPr/>
                <a:lstStyle/>
                <a:p>
                  <a:r>
                    <a:rPr lang="zh-TW" altLang="en-US">
                      <a:noFill/>
                    </a:rPr>
                    <a:t> </a:t>
                  </a:r>
                </a:p>
              </p:txBody>
            </p:sp>
          </mc:Fallback>
        </mc:AlternateContent>
      </p:grpSp>
      <p:sp>
        <p:nvSpPr>
          <p:cNvPr id="3" name="矩形 2">
            <a:extLst>
              <a:ext uri="{FF2B5EF4-FFF2-40B4-BE49-F238E27FC236}">
                <a16:creationId xmlns:a16="http://schemas.microsoft.com/office/drawing/2014/main" id="{9242ED63-3FBE-403E-995B-1C79B1DFC979}"/>
              </a:ext>
            </a:extLst>
          </p:cNvPr>
          <p:cNvSpPr/>
          <p:nvPr/>
        </p:nvSpPr>
        <p:spPr>
          <a:xfrm>
            <a:off x="762000" y="6598364"/>
            <a:ext cx="7523356" cy="246221"/>
          </a:xfrm>
          <a:prstGeom prst="rect">
            <a:avLst/>
          </a:prstGeom>
        </p:spPr>
        <p:txBody>
          <a:bodyPr wrap="square">
            <a:spAutoFit/>
          </a:bodyPr>
          <a:lstStyle/>
          <a:p>
            <a:r>
              <a:rPr lang="en-US" altLang="zh-TW" sz="1000" dirty="0">
                <a:latin typeface="Times New Roman" panose="02020603050405020304" pitchFamily="18" charset="0"/>
                <a:cs typeface="Times New Roman" panose="02020603050405020304" pitchFamily="18" charset="0"/>
              </a:rPr>
              <a:t>H. </a:t>
            </a:r>
            <a:r>
              <a:rPr lang="en-US" altLang="zh-TW" sz="1000" dirty="0" err="1">
                <a:latin typeface="Times New Roman" panose="02020603050405020304" pitchFamily="18" charset="0"/>
                <a:cs typeface="Times New Roman" panose="02020603050405020304" pitchFamily="18" charset="0"/>
              </a:rPr>
              <a:t>P.Chung</a:t>
            </a:r>
            <a:r>
              <a:rPr lang="en-US" altLang="zh-TW" sz="1000" i="1" dirty="0">
                <a:latin typeface="Times New Roman" panose="02020603050405020304" pitchFamily="18" charset="0"/>
                <a:cs typeface="Times New Roman" panose="02020603050405020304" pitchFamily="18" charset="0"/>
              </a:rPr>
              <a:t> et al.</a:t>
            </a:r>
            <a:r>
              <a:rPr lang="en-US" altLang="zh-TW" sz="1000" dirty="0">
                <a:latin typeface="Times New Roman" panose="02020603050405020304" pitchFamily="18" charset="0"/>
                <a:cs typeface="Times New Roman" panose="02020603050405020304" pitchFamily="18" charset="0"/>
              </a:rPr>
              <a:t>, "Adiabatic light transfer in titanium diffused lithium </a:t>
            </a:r>
            <a:r>
              <a:rPr lang="en-US" altLang="zh-TW" sz="1000" dirty="0" err="1">
                <a:latin typeface="Times New Roman" panose="02020603050405020304" pitchFamily="18" charset="0"/>
                <a:cs typeface="Times New Roman" panose="02020603050405020304" pitchFamily="18" charset="0"/>
              </a:rPr>
              <a:t>niobate</a:t>
            </a:r>
            <a:r>
              <a:rPr lang="en-US" altLang="zh-TW" sz="1000" dirty="0">
                <a:latin typeface="Times New Roman" panose="02020603050405020304" pitchFamily="18" charset="0"/>
                <a:cs typeface="Times New Roman" panose="02020603050405020304" pitchFamily="18" charset="0"/>
              </a:rPr>
              <a:t> waveguides," </a:t>
            </a:r>
            <a:r>
              <a:rPr lang="en-US" altLang="zh-TW" sz="1000" i="1" dirty="0">
                <a:latin typeface="Times New Roman" panose="02020603050405020304" pitchFamily="18" charset="0"/>
                <a:cs typeface="Times New Roman" panose="02020603050405020304" pitchFamily="18" charset="0"/>
              </a:rPr>
              <a:t>Optics Express, </a:t>
            </a:r>
            <a:r>
              <a:rPr lang="en-US" altLang="zh-TW" sz="1000" dirty="0">
                <a:latin typeface="Times New Roman" panose="02020603050405020304" pitchFamily="18" charset="0"/>
                <a:cs typeface="Times New Roman" panose="02020603050405020304" pitchFamily="18" charset="0"/>
              </a:rPr>
              <a:t>vol. 23, no. 24, p. 30641(2015)</a:t>
            </a:r>
            <a:endParaRPr lang="zh-TW" altLang="en-US" sz="1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圓角 5">
                <a:extLst>
                  <a:ext uri="{FF2B5EF4-FFF2-40B4-BE49-F238E27FC236}">
                    <a16:creationId xmlns:a16="http://schemas.microsoft.com/office/drawing/2014/main" id="{09AAB557-40B4-434D-B725-B720220CC8FD}"/>
                  </a:ext>
                </a:extLst>
              </p:cNvPr>
              <p:cNvSpPr/>
              <p:nvPr/>
            </p:nvSpPr>
            <p:spPr>
              <a:xfrm>
                <a:off x="5276043" y="1009955"/>
                <a:ext cx="6423431" cy="4825315"/>
              </a:xfrm>
              <a:prstGeom prst="roundRect">
                <a:avLst>
                  <a:gd name="adj" fmla="val 10030"/>
                </a:avLst>
              </a:prstGeom>
              <a:ln w="19050">
                <a:solidFill>
                  <a:schemeClr val="accent1">
                    <a:lumMod val="75000"/>
                  </a:schemeClr>
                </a:solidFill>
                <a:prstDash val="lgDash"/>
              </a:ln>
            </p:spPr>
            <p:txBody>
              <a:bodyPr wrap="square">
                <a:spAutoFit/>
              </a:bodyPr>
              <a:lstStyle/>
              <a:p>
                <a:pPr lvl="0" defTabSz="914400">
                  <a:lnSpc>
                    <a:spcPts val="2500"/>
                  </a:lnSpc>
                </a:pPr>
                <a:r>
                  <a:rPr lang="en-US" altLang="zh-TW" sz="2000" dirty="0">
                    <a:solidFill>
                      <a:srgbClr val="483832"/>
                    </a:solidFill>
                    <a:latin typeface="Times New Roman" panose="02020603050405020304" pitchFamily="18" charset="0"/>
                  </a:rPr>
                  <a:t>Adiabatic condition</a:t>
                </a:r>
                <a:r>
                  <a:rPr lang="zh-TW" altLang="en-US" sz="2000" dirty="0">
                    <a:solidFill>
                      <a:srgbClr val="483832"/>
                    </a:solidFill>
                    <a:latin typeface="Times New Roman" panose="02020603050405020304" pitchFamily="18" charset="0"/>
                  </a:rPr>
                  <a:t>： </a:t>
                </a:r>
                <a14:m>
                  <m:oMath xmlns:m="http://schemas.openxmlformats.org/officeDocument/2006/math">
                    <m:r>
                      <m:rPr>
                        <m:sty m:val="p"/>
                      </m:rPr>
                      <a:rPr lang="en-US" altLang="zh-TW" sz="2000">
                        <a:solidFill>
                          <a:srgbClr val="483832"/>
                        </a:solidFill>
                        <a:latin typeface="Cambria Math" panose="02040503050406030204" pitchFamily="18" charset="0"/>
                      </a:rPr>
                      <m:t>γ</m:t>
                    </m:r>
                    <m:r>
                      <a:rPr lang="en-US" altLang="zh-TW" sz="2000">
                        <a:solidFill>
                          <a:srgbClr val="483832"/>
                        </a:solidFill>
                        <a:latin typeface="Cambria Math" panose="02040503050406030204" pitchFamily="18" charset="0"/>
                      </a:rPr>
                      <m:t>=</m:t>
                    </m:r>
                    <m:f>
                      <m:fPr>
                        <m:ctrlPr>
                          <a:rPr lang="zh-TW" altLang="zh-TW" sz="2000" i="1">
                            <a:solidFill>
                              <a:srgbClr val="483832"/>
                            </a:solidFill>
                            <a:latin typeface="Cambria Math" panose="02040503050406030204" pitchFamily="18" charset="0"/>
                          </a:rPr>
                        </m:ctrlPr>
                      </m:fPr>
                      <m:num>
                        <m:r>
                          <a:rPr lang="en-US" altLang="zh-TW" sz="2000" i="1">
                            <a:solidFill>
                              <a:srgbClr val="483832"/>
                            </a:solidFill>
                            <a:latin typeface="Cambria Math" panose="02040503050406030204" pitchFamily="18" charset="0"/>
                          </a:rPr>
                          <m:t>𝛼</m:t>
                        </m:r>
                      </m:num>
                      <m:den>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𝜅</m:t>
                            </m:r>
                          </m:e>
                          <m:sub>
                            <m:r>
                              <a:rPr lang="en-US" altLang="zh-TW" sz="2000" i="1">
                                <a:solidFill>
                                  <a:srgbClr val="483832"/>
                                </a:solidFill>
                                <a:latin typeface="Cambria Math" panose="02040503050406030204" pitchFamily="18" charset="0"/>
                              </a:rPr>
                              <m:t>0</m:t>
                            </m:r>
                          </m:sub>
                        </m:sSub>
                      </m:den>
                    </m:f>
                    <m:r>
                      <a:rPr lang="en-US" altLang="zh-TW" sz="2000">
                        <a:solidFill>
                          <a:srgbClr val="483832"/>
                        </a:solidFill>
                        <a:latin typeface="Cambria Math" panose="02040503050406030204" pitchFamily="18" charset="0"/>
                      </a:rPr>
                      <m:t>≪1</m:t>
                    </m:r>
                  </m:oMath>
                </a14:m>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14:m>
                  <m:oMathPara xmlns:m="http://schemas.openxmlformats.org/officeDocument/2006/math">
                    <m:oMathParaPr>
                      <m:jc m:val="centerGroup"/>
                    </m:oMathParaPr>
                    <m:oMath xmlns:m="http://schemas.openxmlformats.org/officeDocument/2006/math">
                      <m:r>
                        <a:rPr lang="en-US" altLang="zh-TW" sz="2000" i="1">
                          <a:solidFill>
                            <a:srgbClr val="483832"/>
                          </a:solidFill>
                          <a:latin typeface="Cambria Math" panose="02040503050406030204" pitchFamily="18" charset="0"/>
                        </a:rPr>
                        <m:t>𝛼</m:t>
                      </m:r>
                      <m:r>
                        <a:rPr lang="en-US" altLang="zh-TW" sz="2000" i="1">
                          <a:solidFill>
                            <a:srgbClr val="483832"/>
                          </a:solidFill>
                          <a:latin typeface="Cambria Math" panose="02040503050406030204" pitchFamily="18" charset="0"/>
                        </a:rPr>
                        <m:t>=</m:t>
                      </m:r>
                      <m:f>
                        <m:fPr>
                          <m:ctrlPr>
                            <a:rPr lang="zh-TW" altLang="zh-TW" sz="2000" i="1">
                              <a:solidFill>
                                <a:srgbClr val="483832"/>
                              </a:solidFill>
                              <a:latin typeface="Cambria Math" panose="02040503050406030204" pitchFamily="18" charset="0"/>
                            </a:rPr>
                          </m:ctrlPr>
                        </m:fPr>
                        <m:num>
                          <m:r>
                            <a:rPr lang="en-US" altLang="zh-TW" sz="2000" i="1">
                              <a:solidFill>
                                <a:srgbClr val="483832"/>
                              </a:solidFill>
                              <a:latin typeface="Cambria Math" panose="02040503050406030204" pitchFamily="18" charset="0"/>
                            </a:rPr>
                            <m:t>∆</m:t>
                          </m:r>
                          <m:r>
                            <a:rPr lang="en-US" altLang="zh-TW" sz="2000" i="1">
                              <a:solidFill>
                                <a:srgbClr val="483832"/>
                              </a:solidFill>
                              <a:latin typeface="Cambria Math" panose="02040503050406030204" pitchFamily="18" charset="0"/>
                            </a:rPr>
                            <m:t>𝑆</m:t>
                          </m:r>
                        </m:num>
                        <m:den>
                          <m:r>
                            <a:rPr lang="en-US" altLang="zh-TW" sz="2000" i="1">
                              <a:solidFill>
                                <a:srgbClr val="483832"/>
                              </a:solidFill>
                              <a:latin typeface="Cambria Math" panose="02040503050406030204" pitchFamily="18" charset="0"/>
                            </a:rPr>
                            <m:t>𝑟𝐿</m:t>
                          </m:r>
                        </m:den>
                      </m:f>
                    </m:oMath>
                  </m:oMathPara>
                </a14:m>
                <a:endParaRPr lang="en-US" altLang="zh-TW" sz="2000" i="1" dirty="0">
                  <a:solidFill>
                    <a:srgbClr val="483832"/>
                  </a:solidFill>
                  <a:latin typeface="Times New Roman" panose="02020603050405020304" pitchFamily="18" charset="0"/>
                </a:endParaRPr>
              </a:p>
              <a:p>
                <a:pPr lvl="0" defTabSz="914400">
                  <a:lnSpc>
                    <a:spcPts val="2500"/>
                  </a:lnSpc>
                </a:pPr>
                <a:endParaRPr lang="en-US" altLang="zh-TW" sz="2000" i="1" dirty="0">
                  <a:solidFill>
                    <a:srgbClr val="483832"/>
                  </a:solidFill>
                  <a:latin typeface="Times New Roman" panose="02020603050405020304" pitchFamily="18" charset="0"/>
                </a:endParaRPr>
              </a:p>
              <a:p>
                <a:pPr lvl="0" defTabSz="914400">
                  <a:lnSpc>
                    <a:spcPts val="2500"/>
                  </a:lnSpc>
                </a:pPr>
                <a14:m>
                  <m:oMathPara xmlns:m="http://schemas.openxmlformats.org/officeDocument/2006/math">
                    <m:oMathParaPr>
                      <m:jc m:val="centerGroup"/>
                    </m:oMathParaPr>
                    <m:oMath xmlns:m="http://schemas.openxmlformats.org/officeDocument/2006/math">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𝜅</m:t>
                          </m:r>
                        </m:e>
                        <m:sub>
                          <m:r>
                            <a:rPr lang="en-US" altLang="zh-TW" sz="2000" i="1">
                              <a:solidFill>
                                <a:srgbClr val="483832"/>
                              </a:solidFill>
                              <a:latin typeface="Cambria Math" panose="02040503050406030204" pitchFamily="18" charset="0"/>
                            </a:rPr>
                            <m:t>0</m:t>
                          </m:r>
                        </m:sub>
                      </m:sSub>
                      <m:r>
                        <a:rPr lang="en-US" altLang="zh-TW" sz="2000">
                          <a:solidFill>
                            <a:srgbClr val="483832"/>
                          </a:solidFill>
                          <a:latin typeface="Cambria Math" panose="02040503050406030204" pitchFamily="18" charset="0"/>
                        </a:rPr>
                        <m:t>=</m:t>
                      </m:r>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𝜅</m:t>
                          </m:r>
                        </m:e>
                        <m:sub>
                          <m:r>
                            <a:rPr lang="en-US" altLang="zh-TW" sz="2000" i="1">
                              <a:solidFill>
                                <a:srgbClr val="483832"/>
                              </a:solidFill>
                              <a:latin typeface="Cambria Math" panose="02040503050406030204" pitchFamily="18" charset="0"/>
                            </a:rPr>
                            <m:t>12</m:t>
                          </m:r>
                        </m:sub>
                      </m:sSub>
                      <m:d>
                        <m:dPr>
                          <m:ctrlPr>
                            <a:rPr lang="zh-TW" altLang="zh-TW" sz="2000" i="1">
                              <a:solidFill>
                                <a:srgbClr val="483832"/>
                              </a:solidFill>
                              <a:latin typeface="Cambria Math" panose="02040503050406030204" pitchFamily="18" charset="0"/>
                            </a:rPr>
                          </m:ctrlPr>
                        </m:dPr>
                        <m:e>
                          <m:f>
                            <m:fPr>
                              <m:type m:val="lin"/>
                              <m:ctrlPr>
                                <a:rPr lang="zh-TW" altLang="zh-TW" sz="2000" i="1">
                                  <a:solidFill>
                                    <a:srgbClr val="483832"/>
                                  </a:solidFill>
                                  <a:latin typeface="Cambria Math" panose="02040503050406030204" pitchFamily="18" charset="0"/>
                                </a:rPr>
                              </m:ctrlPr>
                            </m:fPr>
                            <m:num>
                              <m:r>
                                <a:rPr lang="en-US" altLang="zh-TW" sz="2000" i="1">
                                  <a:solidFill>
                                    <a:srgbClr val="483832"/>
                                  </a:solidFill>
                                  <a:latin typeface="Cambria Math" panose="02040503050406030204" pitchFamily="18" charset="0"/>
                                </a:rPr>
                                <m:t>𝐿</m:t>
                              </m:r>
                            </m:num>
                            <m:den>
                              <m:r>
                                <a:rPr lang="en-US" altLang="zh-TW" sz="2000" i="1">
                                  <a:solidFill>
                                    <a:srgbClr val="483832"/>
                                  </a:solidFill>
                                  <a:latin typeface="Cambria Math" panose="02040503050406030204" pitchFamily="18" charset="0"/>
                                </a:rPr>
                                <m:t>2</m:t>
                              </m:r>
                            </m:den>
                          </m:f>
                        </m:e>
                      </m:d>
                      <m:r>
                        <a:rPr lang="en-US" altLang="zh-TW" sz="2000" i="1">
                          <a:solidFill>
                            <a:srgbClr val="483832"/>
                          </a:solidFill>
                          <a:latin typeface="Cambria Math" panose="02040503050406030204" pitchFamily="18" charset="0"/>
                        </a:rPr>
                        <m:t>=</m:t>
                      </m:r>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𝜅</m:t>
                          </m:r>
                        </m:e>
                        <m:sub>
                          <m:r>
                            <a:rPr lang="en-US" altLang="zh-TW" sz="2000" i="1">
                              <a:solidFill>
                                <a:srgbClr val="483832"/>
                              </a:solidFill>
                              <a:latin typeface="Cambria Math" panose="02040503050406030204" pitchFamily="18" charset="0"/>
                            </a:rPr>
                            <m:t>23</m:t>
                          </m:r>
                        </m:sub>
                      </m:sSub>
                      <m:d>
                        <m:dPr>
                          <m:ctrlPr>
                            <a:rPr lang="zh-TW" altLang="zh-TW" sz="2000" i="1">
                              <a:solidFill>
                                <a:srgbClr val="483832"/>
                              </a:solidFill>
                              <a:latin typeface="Cambria Math" panose="02040503050406030204" pitchFamily="18" charset="0"/>
                            </a:rPr>
                          </m:ctrlPr>
                        </m:dPr>
                        <m:e>
                          <m:f>
                            <m:fPr>
                              <m:type m:val="lin"/>
                              <m:ctrlPr>
                                <a:rPr lang="zh-TW" altLang="zh-TW" sz="2000" i="1">
                                  <a:solidFill>
                                    <a:srgbClr val="483832"/>
                                  </a:solidFill>
                                  <a:latin typeface="Cambria Math" panose="02040503050406030204" pitchFamily="18" charset="0"/>
                                </a:rPr>
                              </m:ctrlPr>
                            </m:fPr>
                            <m:num>
                              <m:r>
                                <a:rPr lang="en-US" altLang="zh-TW" sz="2000" i="1">
                                  <a:solidFill>
                                    <a:srgbClr val="483832"/>
                                  </a:solidFill>
                                  <a:latin typeface="Cambria Math" panose="02040503050406030204" pitchFamily="18" charset="0"/>
                                </a:rPr>
                                <m:t>𝐿</m:t>
                              </m:r>
                            </m:num>
                            <m:den>
                              <m:r>
                                <a:rPr lang="en-US" altLang="zh-TW" sz="2000" i="1">
                                  <a:solidFill>
                                    <a:srgbClr val="483832"/>
                                  </a:solidFill>
                                  <a:latin typeface="Cambria Math" panose="02040503050406030204" pitchFamily="18" charset="0"/>
                                </a:rPr>
                                <m:t>2</m:t>
                              </m:r>
                            </m:den>
                          </m:f>
                        </m:e>
                      </m:d>
                      <m:r>
                        <a:rPr lang="en-US" altLang="zh-TW" sz="2000" i="1">
                          <a:solidFill>
                            <a:srgbClr val="483832"/>
                          </a:solidFill>
                          <a:latin typeface="Cambria Math" panose="02040503050406030204" pitchFamily="18" charset="0"/>
                        </a:rPr>
                        <m:t>=</m:t>
                      </m:r>
                      <m:f>
                        <m:fPr>
                          <m:ctrlPr>
                            <a:rPr lang="zh-TW" altLang="zh-TW" sz="2000" i="1">
                              <a:solidFill>
                                <a:srgbClr val="483832"/>
                              </a:solidFill>
                              <a:latin typeface="Cambria Math" panose="02040503050406030204" pitchFamily="18" charset="0"/>
                            </a:rPr>
                          </m:ctrlPr>
                        </m:fPr>
                        <m:num>
                          <m:r>
                            <a:rPr lang="en-US" altLang="zh-TW" sz="2000" i="1">
                              <a:solidFill>
                                <a:srgbClr val="483832"/>
                              </a:solidFill>
                              <a:latin typeface="Cambria Math" panose="02040503050406030204" pitchFamily="18" charset="0"/>
                            </a:rPr>
                            <m:t>𝜋</m:t>
                          </m:r>
                        </m:num>
                        <m:den>
                          <m:r>
                            <a:rPr lang="en-US" altLang="zh-TW" sz="2000">
                              <a:solidFill>
                                <a:srgbClr val="483832"/>
                              </a:solidFill>
                              <a:latin typeface="Cambria Math" panose="02040503050406030204" pitchFamily="18" charset="0"/>
                            </a:rPr>
                            <m:t>2</m:t>
                          </m:r>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𝑙</m:t>
                              </m:r>
                            </m:e>
                            <m:sub>
                              <m:r>
                                <a:rPr lang="en-US" altLang="zh-TW" sz="2000" i="1">
                                  <a:solidFill>
                                    <a:srgbClr val="483832"/>
                                  </a:solidFill>
                                  <a:latin typeface="Cambria Math" panose="02040503050406030204" pitchFamily="18" charset="0"/>
                                </a:rPr>
                                <m:t>𝑐</m:t>
                              </m:r>
                              <m:r>
                                <a:rPr lang="en-US" altLang="zh-TW" sz="2000">
                                  <a:solidFill>
                                    <a:srgbClr val="483832"/>
                                  </a:solidFill>
                                  <a:latin typeface="Cambria Math" panose="02040503050406030204" pitchFamily="18" charset="0"/>
                                </a:rPr>
                                <m:t>0</m:t>
                              </m:r>
                            </m:sub>
                          </m:sSub>
                          <m:sSup>
                            <m:sSupPr>
                              <m:ctrlPr>
                                <a:rPr lang="zh-TW" altLang="zh-TW" sz="2000" i="1">
                                  <a:solidFill>
                                    <a:srgbClr val="483832"/>
                                  </a:solidFill>
                                  <a:latin typeface="Cambria Math" panose="02040503050406030204" pitchFamily="18" charset="0"/>
                                </a:rPr>
                              </m:ctrlPr>
                            </m:sSupPr>
                            <m:e>
                              <m:r>
                                <a:rPr lang="en-US" altLang="zh-TW" sz="2000" i="1">
                                  <a:solidFill>
                                    <a:srgbClr val="483832"/>
                                  </a:solidFill>
                                  <a:latin typeface="Cambria Math" panose="02040503050406030204" pitchFamily="18" charset="0"/>
                                </a:rPr>
                                <m:t>𝑒</m:t>
                              </m:r>
                            </m:e>
                            <m:sup>
                              <m:f>
                                <m:fPr>
                                  <m:type m:val="lin"/>
                                  <m:ctrlPr>
                                    <a:rPr lang="zh-TW" altLang="zh-TW" sz="2000" i="1">
                                      <a:solidFill>
                                        <a:srgbClr val="483832"/>
                                      </a:solidFill>
                                      <a:latin typeface="Cambria Math" panose="02040503050406030204" pitchFamily="18" charset="0"/>
                                    </a:rPr>
                                  </m:ctrlPr>
                                </m:fPr>
                                <m:num>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𝑆</m:t>
                                      </m:r>
                                    </m:e>
                                    <m:sub>
                                      <m:r>
                                        <a:rPr lang="en-US" altLang="zh-TW" sz="2000" i="1">
                                          <a:solidFill>
                                            <a:srgbClr val="483832"/>
                                          </a:solidFill>
                                          <a:latin typeface="Cambria Math" panose="02040503050406030204" pitchFamily="18" charset="0"/>
                                        </a:rPr>
                                        <m:t>0</m:t>
                                      </m:r>
                                    </m:sub>
                                  </m:sSub>
                                </m:num>
                                <m:den>
                                  <m:r>
                                    <a:rPr lang="en-US" altLang="zh-TW" sz="2000" i="1">
                                      <a:solidFill>
                                        <a:srgbClr val="483832"/>
                                      </a:solidFill>
                                      <a:latin typeface="Cambria Math" panose="02040503050406030204" pitchFamily="18" charset="0"/>
                                    </a:rPr>
                                    <m:t>𝑟</m:t>
                                  </m:r>
                                </m:den>
                              </m:f>
                            </m:sup>
                          </m:sSup>
                        </m:den>
                      </m:f>
                    </m:oMath>
                  </m:oMathPara>
                </a14:m>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14:m>
                  <m:oMathPara xmlns:m="http://schemas.openxmlformats.org/officeDocument/2006/math">
                    <m:oMathParaPr>
                      <m:jc m:val="centerGroup"/>
                    </m:oMathParaPr>
                    <m:oMath xmlns:m="http://schemas.openxmlformats.org/officeDocument/2006/math">
                      <m:r>
                        <a:rPr lang="en-US" altLang="zh-TW" sz="2000" i="1">
                          <a:solidFill>
                            <a:srgbClr val="483832"/>
                          </a:solidFill>
                          <a:latin typeface="Cambria Math" panose="02040503050406030204" pitchFamily="18" charset="0"/>
                        </a:rPr>
                        <m:t>∆</m:t>
                      </m:r>
                      <m:r>
                        <a:rPr lang="en-US" altLang="zh-TW" sz="2000" i="1">
                          <a:solidFill>
                            <a:srgbClr val="483832"/>
                          </a:solidFill>
                          <a:latin typeface="Cambria Math" panose="02040503050406030204" pitchFamily="18" charset="0"/>
                        </a:rPr>
                        <m:t>𝑆</m:t>
                      </m:r>
                      <m:r>
                        <a:rPr lang="en-US" altLang="zh-TW" sz="2000">
                          <a:solidFill>
                            <a:srgbClr val="483832"/>
                          </a:solidFill>
                          <a:latin typeface="Cambria Math" panose="02040503050406030204" pitchFamily="18" charset="0"/>
                        </a:rPr>
                        <m:t>=</m:t>
                      </m:r>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𝑆</m:t>
                          </m:r>
                        </m:e>
                        <m:sub>
                          <m:r>
                            <a:rPr lang="en-US" altLang="zh-TW" sz="2000" i="1">
                              <a:solidFill>
                                <a:srgbClr val="483832"/>
                              </a:solidFill>
                              <a:latin typeface="Cambria Math" panose="02040503050406030204" pitchFamily="18" charset="0"/>
                            </a:rPr>
                            <m:t>12</m:t>
                          </m:r>
                        </m:sub>
                      </m:sSub>
                      <m:d>
                        <m:dPr>
                          <m:ctrlPr>
                            <a:rPr lang="zh-TW" altLang="zh-TW" sz="2000" i="1">
                              <a:solidFill>
                                <a:srgbClr val="483832"/>
                              </a:solidFill>
                              <a:latin typeface="Cambria Math" panose="02040503050406030204" pitchFamily="18" charset="0"/>
                            </a:rPr>
                          </m:ctrlPr>
                        </m:dPr>
                        <m:e>
                          <m:r>
                            <a:rPr lang="en-US" altLang="zh-TW" sz="2000" i="1">
                              <a:solidFill>
                                <a:srgbClr val="483832"/>
                              </a:solidFill>
                              <a:latin typeface="Cambria Math" panose="02040503050406030204" pitchFamily="18" charset="0"/>
                            </a:rPr>
                            <m:t>0</m:t>
                          </m:r>
                        </m:e>
                      </m:d>
                      <m:r>
                        <a:rPr lang="en-US" altLang="zh-TW" sz="2000" i="1">
                          <a:solidFill>
                            <a:srgbClr val="483832"/>
                          </a:solidFill>
                          <a:latin typeface="Cambria Math" panose="02040503050406030204" pitchFamily="18" charset="0"/>
                        </a:rPr>
                        <m:t>−</m:t>
                      </m:r>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𝑆</m:t>
                          </m:r>
                        </m:e>
                        <m:sub>
                          <m:r>
                            <a:rPr lang="en-US" altLang="zh-TW" sz="2000" i="1">
                              <a:solidFill>
                                <a:srgbClr val="483832"/>
                              </a:solidFill>
                              <a:latin typeface="Cambria Math" panose="02040503050406030204" pitchFamily="18" charset="0"/>
                            </a:rPr>
                            <m:t>23</m:t>
                          </m:r>
                        </m:sub>
                      </m:sSub>
                      <m:d>
                        <m:dPr>
                          <m:ctrlPr>
                            <a:rPr lang="zh-TW" altLang="zh-TW" sz="2000" i="1">
                              <a:solidFill>
                                <a:srgbClr val="483832"/>
                              </a:solidFill>
                              <a:latin typeface="Cambria Math" panose="02040503050406030204" pitchFamily="18" charset="0"/>
                            </a:rPr>
                          </m:ctrlPr>
                        </m:dPr>
                        <m:e>
                          <m:r>
                            <a:rPr lang="en-US" altLang="zh-TW" sz="2000" i="1">
                              <a:solidFill>
                                <a:srgbClr val="483832"/>
                              </a:solidFill>
                              <a:latin typeface="Cambria Math" panose="02040503050406030204" pitchFamily="18" charset="0"/>
                            </a:rPr>
                            <m:t>0</m:t>
                          </m:r>
                        </m:e>
                      </m:d>
                      <m:r>
                        <a:rPr lang="en-US" altLang="zh-TW" sz="2000">
                          <a:solidFill>
                            <a:srgbClr val="483832"/>
                          </a:solidFill>
                          <a:latin typeface="Cambria Math" panose="02040503050406030204" pitchFamily="18" charset="0"/>
                        </a:rPr>
                        <m:t>=</m:t>
                      </m:r>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𝑆</m:t>
                          </m:r>
                        </m:e>
                        <m:sub>
                          <m:r>
                            <a:rPr lang="en-US" altLang="zh-TW" sz="2000" i="1">
                              <a:solidFill>
                                <a:srgbClr val="483832"/>
                              </a:solidFill>
                              <a:latin typeface="Cambria Math" panose="02040503050406030204" pitchFamily="18" charset="0"/>
                            </a:rPr>
                            <m:t>23</m:t>
                          </m:r>
                        </m:sub>
                      </m:sSub>
                      <m:d>
                        <m:dPr>
                          <m:ctrlPr>
                            <a:rPr lang="zh-TW" altLang="zh-TW" sz="2000" i="1">
                              <a:solidFill>
                                <a:srgbClr val="483832"/>
                              </a:solidFill>
                              <a:latin typeface="Cambria Math" panose="02040503050406030204" pitchFamily="18" charset="0"/>
                            </a:rPr>
                          </m:ctrlPr>
                        </m:dPr>
                        <m:e>
                          <m:r>
                            <a:rPr lang="en-US" altLang="zh-TW" sz="2000" i="1">
                              <a:solidFill>
                                <a:srgbClr val="483832"/>
                              </a:solidFill>
                              <a:latin typeface="Cambria Math" panose="02040503050406030204" pitchFamily="18" charset="0"/>
                            </a:rPr>
                            <m:t>𝐿</m:t>
                          </m:r>
                        </m:e>
                      </m:d>
                      <m:r>
                        <a:rPr lang="en-US" altLang="zh-TW" sz="2000" i="1">
                          <a:solidFill>
                            <a:srgbClr val="483832"/>
                          </a:solidFill>
                          <a:latin typeface="Cambria Math" panose="02040503050406030204" pitchFamily="18" charset="0"/>
                        </a:rPr>
                        <m:t>−</m:t>
                      </m:r>
                      <m:sSub>
                        <m:sSubPr>
                          <m:ctrlPr>
                            <a:rPr lang="zh-TW" altLang="zh-TW" sz="2000" i="1">
                              <a:solidFill>
                                <a:srgbClr val="483832"/>
                              </a:solidFill>
                              <a:latin typeface="Cambria Math" panose="02040503050406030204" pitchFamily="18" charset="0"/>
                            </a:rPr>
                          </m:ctrlPr>
                        </m:sSubPr>
                        <m:e>
                          <m:r>
                            <a:rPr lang="en-US" altLang="zh-TW" sz="2000" i="1">
                              <a:solidFill>
                                <a:srgbClr val="483832"/>
                              </a:solidFill>
                              <a:latin typeface="Cambria Math" panose="02040503050406030204" pitchFamily="18" charset="0"/>
                            </a:rPr>
                            <m:t>𝑆</m:t>
                          </m:r>
                        </m:e>
                        <m:sub>
                          <m:r>
                            <a:rPr lang="en-US" altLang="zh-TW" sz="2000" i="1">
                              <a:solidFill>
                                <a:srgbClr val="483832"/>
                              </a:solidFill>
                              <a:latin typeface="Cambria Math" panose="02040503050406030204" pitchFamily="18" charset="0"/>
                            </a:rPr>
                            <m:t>12</m:t>
                          </m:r>
                        </m:sub>
                      </m:sSub>
                      <m:d>
                        <m:dPr>
                          <m:ctrlPr>
                            <a:rPr lang="zh-TW" altLang="zh-TW" sz="2000" i="1">
                              <a:solidFill>
                                <a:srgbClr val="483832"/>
                              </a:solidFill>
                              <a:latin typeface="Cambria Math" panose="02040503050406030204" pitchFamily="18" charset="0"/>
                            </a:rPr>
                          </m:ctrlPr>
                        </m:dPr>
                        <m:e>
                          <m:r>
                            <a:rPr lang="en-US" altLang="zh-TW" sz="2000" i="1">
                              <a:solidFill>
                                <a:srgbClr val="483832"/>
                              </a:solidFill>
                              <a:latin typeface="Cambria Math" panose="02040503050406030204" pitchFamily="18" charset="0"/>
                            </a:rPr>
                            <m:t>𝐿</m:t>
                          </m:r>
                        </m:e>
                      </m:d>
                    </m:oMath>
                  </m:oMathPara>
                </a14:m>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p:txBody>
          </p:sp>
        </mc:Choice>
        <mc:Fallback xmlns="">
          <p:sp>
            <p:nvSpPr>
              <p:cNvPr id="6" name="矩形: 圓角 5">
                <a:extLst>
                  <a:ext uri="{FF2B5EF4-FFF2-40B4-BE49-F238E27FC236}">
                    <a16:creationId xmlns:a16="http://schemas.microsoft.com/office/drawing/2014/main" id="{09AAB557-40B4-434D-B725-B720220CC8FD}"/>
                  </a:ext>
                </a:extLst>
              </p:cNvPr>
              <p:cNvSpPr>
                <a:spLocks noRot="1" noChangeAspect="1" noMove="1" noResize="1" noEditPoints="1" noAdjustHandles="1" noChangeArrowheads="1" noChangeShapeType="1" noTextEdit="1"/>
              </p:cNvSpPr>
              <p:nvPr/>
            </p:nvSpPr>
            <p:spPr>
              <a:xfrm>
                <a:off x="5276043" y="1009955"/>
                <a:ext cx="6423431" cy="4825315"/>
              </a:xfrm>
              <a:prstGeom prst="roundRect">
                <a:avLst>
                  <a:gd name="adj" fmla="val 10030"/>
                </a:avLst>
              </a:prstGeom>
              <a:blipFill>
                <a:blip r:embed="rId6"/>
                <a:stretch>
                  <a:fillRect/>
                </a:stretch>
              </a:blipFill>
              <a:ln w="19050">
                <a:solidFill>
                  <a:schemeClr val="accent1">
                    <a:lumMod val="75000"/>
                  </a:schemeClr>
                </a:solidFill>
                <a:prstDash val="lgDash"/>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8AAD5171-7D23-4AC9-9A52-089BC9C8F71B}"/>
                  </a:ext>
                </a:extLst>
              </p:cNvPr>
              <p:cNvSpPr/>
              <p:nvPr/>
            </p:nvSpPr>
            <p:spPr>
              <a:xfrm>
                <a:off x="5429598" y="4463439"/>
                <a:ext cx="6096000" cy="1028102"/>
              </a:xfrm>
              <a:prstGeom prst="rect">
                <a:avLst/>
              </a:prstGeom>
            </p:spPr>
            <p:txBody>
              <a:bodyPr>
                <a:spAutoFit/>
              </a:bodyPr>
              <a:lstStyle/>
              <a:p>
                <a:pPr lvl="0" defTabSz="914400">
                  <a:lnSpc>
                    <a:spcPts val="2500"/>
                  </a:lnSpc>
                </a:pPr>
                <a:r>
                  <a:rPr lang="en-US" altLang="zh-TW" sz="2000" dirty="0">
                    <a:solidFill>
                      <a:srgbClr val="483832"/>
                    </a:solidFill>
                    <a:latin typeface="Times New Roman" panose="02020603050405020304" pitchFamily="18" charset="0"/>
                  </a:rPr>
                  <a:t>Finally,</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adiabatic condition</a:t>
                </a:r>
                <a:r>
                  <a:rPr lang="zh-TW" altLang="en-US" sz="2000" dirty="0">
                    <a:solidFill>
                      <a:srgbClr val="483832"/>
                    </a:solidFill>
                    <a:latin typeface="Times New Roman" panose="02020603050405020304" pitchFamily="18" charset="0"/>
                  </a:rPr>
                  <a:t>： </a:t>
                </a:r>
                <a14:m>
                  <m:oMath xmlns:m="http://schemas.openxmlformats.org/officeDocument/2006/math">
                    <m:r>
                      <m:rPr>
                        <m:sty m:val="p"/>
                      </m:rPr>
                      <a:rPr lang="en-US" altLang="zh-TW" sz="2000">
                        <a:solidFill>
                          <a:srgbClr val="483832"/>
                        </a:solidFill>
                        <a:latin typeface="Cambria Math" panose="02040503050406030204" pitchFamily="18" charset="0"/>
                      </a:rPr>
                      <m:t>γ</m:t>
                    </m:r>
                    <m:r>
                      <a:rPr lang="en-US" altLang="zh-TW" sz="2000">
                        <a:solidFill>
                          <a:srgbClr val="483832"/>
                        </a:solidFill>
                        <a:latin typeface="Cambria Math" panose="02040503050406030204" pitchFamily="18" charset="0"/>
                      </a:rPr>
                      <m:t>=</m:t>
                    </m:r>
                    <m:f>
                      <m:fPr>
                        <m:ctrlPr>
                          <a:rPr lang="zh-TW" altLang="zh-TW" sz="2000" i="1">
                            <a:solidFill>
                              <a:srgbClr val="483832"/>
                            </a:solidFill>
                            <a:latin typeface="Cambria Math" panose="02040503050406030204" pitchFamily="18" charset="0"/>
                          </a:rPr>
                        </m:ctrlPr>
                      </m:fPr>
                      <m:num>
                        <m:r>
                          <a:rPr lang="en-US" altLang="zh-TW" sz="2000">
                            <a:solidFill>
                              <a:srgbClr val="483832"/>
                            </a:solidFill>
                            <a:latin typeface="Cambria Math" panose="02040503050406030204" pitchFamily="18" charset="0"/>
                          </a:rPr>
                          <m:t>∆</m:t>
                        </m:r>
                        <m:r>
                          <a:rPr lang="en-US" altLang="zh-TW" sz="2000">
                            <a:solidFill>
                              <a:srgbClr val="483832"/>
                            </a:solidFill>
                            <a:latin typeface="Cambria Math" panose="02040503050406030204" pitchFamily="18" charset="0"/>
                          </a:rPr>
                          <m:t>𝑆</m:t>
                        </m:r>
                      </m:num>
                      <m:den>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𝜅</m:t>
                            </m:r>
                          </m:e>
                          <m:sub>
                            <m:r>
                              <a:rPr lang="en-US" altLang="zh-TW" sz="2000">
                                <a:solidFill>
                                  <a:srgbClr val="483832"/>
                                </a:solidFill>
                                <a:latin typeface="Cambria Math" panose="02040503050406030204" pitchFamily="18" charset="0"/>
                              </a:rPr>
                              <m:t>0</m:t>
                            </m:r>
                          </m:sub>
                        </m:sSub>
                        <m:r>
                          <a:rPr lang="en-US" altLang="zh-TW" sz="2000">
                            <a:solidFill>
                              <a:srgbClr val="483832"/>
                            </a:solidFill>
                            <a:latin typeface="Cambria Math" panose="02040503050406030204" pitchFamily="18" charset="0"/>
                          </a:rPr>
                          <m:t>𝑟𝐿</m:t>
                        </m:r>
                      </m:den>
                    </m:f>
                    <m:r>
                      <a:rPr lang="en-US" altLang="zh-TW" sz="2000">
                        <a:solidFill>
                          <a:srgbClr val="483832"/>
                        </a:solidFill>
                        <a:latin typeface="Cambria Math" panose="02040503050406030204" pitchFamily="18" charset="0"/>
                      </a:rPr>
                      <m:t>≪1</m:t>
                    </m:r>
                  </m:oMath>
                </a14:m>
                <a:endParaRPr lang="en-US" altLang="zh-TW" sz="2000" dirty="0">
                  <a:solidFill>
                    <a:srgbClr val="483832"/>
                  </a:solidFill>
                  <a:latin typeface="Times New Roman" panose="02020603050405020304" pitchFamily="18" charset="0"/>
                </a:endParaRPr>
              </a:p>
              <a:p>
                <a:pPr lvl="0" defTabSz="914400">
                  <a:lnSpc>
                    <a:spcPts val="2500"/>
                  </a:lnSpc>
                </a:pPr>
                <a:endParaRPr lang="en-US" altLang="zh-TW" sz="2000" dirty="0">
                  <a:solidFill>
                    <a:srgbClr val="483832"/>
                  </a:solidFill>
                  <a:latin typeface="Times New Roman" panose="02020603050405020304" pitchFamily="18" charset="0"/>
                </a:endParaRPr>
              </a:p>
              <a:p>
                <a:pPr lvl="0" defTabSz="914400">
                  <a:lnSpc>
                    <a:spcPts val="2500"/>
                  </a:lnSpc>
                </a:pPr>
                <a:r>
                  <a:rPr lang="en-US" altLang="zh-TW" sz="2000" dirty="0">
                    <a:solidFill>
                      <a:srgbClr val="483832"/>
                    </a:solidFill>
                    <a:latin typeface="Times New Roman" panose="02020603050405020304" pitchFamily="18" charset="0"/>
                  </a:rPr>
                  <a:t>Therefore, we design</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adiabatic beam splitter via </a:t>
                </a:r>
                <a14:m>
                  <m:oMath xmlns:m="http://schemas.openxmlformats.org/officeDocument/2006/math">
                    <m:r>
                      <a:rPr lang="en-US" altLang="zh-TW" sz="2000" b="1" i="1">
                        <a:solidFill>
                          <a:srgbClr val="483832"/>
                        </a:solidFill>
                        <a:latin typeface="Cambria Math" panose="02040503050406030204" pitchFamily="18" charset="0"/>
                      </a:rPr>
                      <m:t>𝑳</m:t>
                    </m:r>
                  </m:oMath>
                </a14:m>
                <a:r>
                  <a:rPr lang="en-US" altLang="zh-TW" sz="2000" b="1" dirty="0">
                    <a:solidFill>
                      <a:srgbClr val="483832"/>
                    </a:solidFill>
                    <a:latin typeface="Times New Roman" panose="02020603050405020304" pitchFamily="18" charset="0"/>
                  </a:rPr>
                  <a:t>, </a:t>
                </a:r>
                <a14:m>
                  <m:oMath xmlns:m="http://schemas.openxmlformats.org/officeDocument/2006/math">
                    <m:sSub>
                      <m:sSubPr>
                        <m:ctrlPr>
                          <a:rPr lang="zh-TW" altLang="zh-TW" sz="2000" b="1" i="1">
                            <a:solidFill>
                              <a:srgbClr val="483832"/>
                            </a:solidFill>
                            <a:latin typeface="Cambria Math" panose="02040503050406030204" pitchFamily="18" charset="0"/>
                          </a:rPr>
                        </m:ctrlPr>
                      </m:sSubPr>
                      <m:e>
                        <m:r>
                          <a:rPr lang="en-US" altLang="zh-TW" sz="2000" b="1" i="1">
                            <a:solidFill>
                              <a:srgbClr val="483832"/>
                            </a:solidFill>
                            <a:latin typeface="Cambria Math" panose="02040503050406030204" pitchFamily="18" charset="0"/>
                          </a:rPr>
                          <m:t>𝑺</m:t>
                        </m:r>
                      </m:e>
                      <m:sub>
                        <m:r>
                          <a:rPr lang="en-US" altLang="zh-TW" sz="2000" b="1" i="1">
                            <a:solidFill>
                              <a:srgbClr val="483832"/>
                            </a:solidFill>
                            <a:latin typeface="Cambria Math" panose="02040503050406030204" pitchFamily="18" charset="0"/>
                          </a:rPr>
                          <m:t>𝟎</m:t>
                        </m:r>
                      </m:sub>
                    </m:sSub>
                  </m:oMath>
                </a14:m>
                <a:r>
                  <a:rPr lang="en-US" altLang="zh-TW" sz="2000" b="1" dirty="0">
                    <a:solidFill>
                      <a:srgbClr val="483832"/>
                    </a:solidFill>
                    <a:latin typeface="Times New Roman" panose="02020603050405020304" pitchFamily="18" charset="0"/>
                  </a:rPr>
                  <a:t>, </a:t>
                </a:r>
                <a14:m>
                  <m:oMath xmlns:m="http://schemas.openxmlformats.org/officeDocument/2006/math">
                    <m:r>
                      <a:rPr lang="en-US" altLang="zh-TW" sz="2000" b="1" i="1">
                        <a:solidFill>
                          <a:srgbClr val="483832"/>
                        </a:solidFill>
                        <a:latin typeface="Cambria Math" panose="02040503050406030204" pitchFamily="18" charset="0"/>
                      </a:rPr>
                      <m:t>∆</m:t>
                    </m:r>
                    <m:r>
                      <a:rPr lang="en-US" altLang="zh-TW" sz="2000" b="1" i="1">
                        <a:solidFill>
                          <a:srgbClr val="483832"/>
                        </a:solidFill>
                        <a:latin typeface="Cambria Math" panose="02040503050406030204" pitchFamily="18" charset="0"/>
                      </a:rPr>
                      <m:t>𝑺</m:t>
                    </m:r>
                  </m:oMath>
                </a14:m>
                <a:endParaRPr lang="en-US" altLang="zh-TW" sz="2000" b="1" dirty="0">
                  <a:solidFill>
                    <a:srgbClr val="483832"/>
                  </a:solidFill>
                  <a:latin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8AAD5171-7D23-4AC9-9A52-089BC9C8F71B}"/>
                  </a:ext>
                </a:extLst>
              </p:cNvPr>
              <p:cNvSpPr>
                <a:spLocks noRot="1" noChangeAspect="1" noMove="1" noResize="1" noEditPoints="1" noAdjustHandles="1" noChangeArrowheads="1" noChangeShapeType="1" noTextEdit="1"/>
              </p:cNvSpPr>
              <p:nvPr/>
            </p:nvSpPr>
            <p:spPr>
              <a:xfrm>
                <a:off x="5429598" y="4463439"/>
                <a:ext cx="6096000" cy="1028102"/>
              </a:xfrm>
              <a:prstGeom prst="rect">
                <a:avLst/>
              </a:prstGeom>
              <a:blipFill>
                <a:blip r:embed="rId7"/>
                <a:stretch>
                  <a:fillRect l="-1100" t="-8284" b="-100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5007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 fill="hold"/>
                                        <p:tgtEl>
                                          <p:spTgt spid="9"/>
                                        </p:tgtEl>
                                        <p:attrNameLst>
                                          <p:attrName>ppt_x</p:attrName>
                                        </p:attrNameLst>
                                      </p:cBhvr>
                                      <p:tavLst>
                                        <p:tav tm="0">
                                          <p:val>
                                            <p:strVal val="#ppt_x"/>
                                          </p:val>
                                        </p:tav>
                                        <p:tav tm="100000">
                                          <p:val>
                                            <p:strVal val="#ppt_x"/>
                                          </p:val>
                                        </p:tav>
                                      </p:tavLst>
                                    </p:anim>
                                    <p:anim calcmode="lin" valueType="num">
                                      <p:cBhvr additive="base">
                                        <p:cTn id="8" dur="2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B7D6CB7-BE41-4407-8484-5095438BF9F1}"/>
              </a:ext>
            </a:extLst>
          </p:cNvPr>
          <p:cNvSpPr>
            <a:spLocks noGrp="1"/>
          </p:cNvSpPr>
          <p:nvPr>
            <p:ph type="sldNum" sz="quarter" idx="12"/>
          </p:nvPr>
        </p:nvSpPr>
        <p:spPr/>
        <p:txBody>
          <a:bodyPr/>
          <a:lstStyle/>
          <a:p>
            <a:fld id="{9820161B-3DFF-4FF5-AA0E-35496F014571}" type="slidenum">
              <a:rPr lang="zh-TW" altLang="en-US" smtClean="0"/>
              <a:t>16</a:t>
            </a:fld>
            <a:endParaRPr lang="zh-TW" altLang="en-US"/>
          </a:p>
        </p:txBody>
      </p:sp>
      <p:sp>
        <p:nvSpPr>
          <p:cNvPr id="4" name="矩形 3">
            <a:extLst>
              <a:ext uri="{FF2B5EF4-FFF2-40B4-BE49-F238E27FC236}">
                <a16:creationId xmlns:a16="http://schemas.microsoft.com/office/drawing/2014/main" id="{3C3211BC-2DC1-4A10-994C-3A29AA657BDE}"/>
              </a:ext>
            </a:extLst>
          </p:cNvPr>
          <p:cNvSpPr/>
          <p:nvPr/>
        </p:nvSpPr>
        <p:spPr>
          <a:xfrm>
            <a:off x="691200" y="756716"/>
            <a:ext cx="6456137" cy="6201679"/>
          </a:xfrm>
          <a:prstGeom prst="rect">
            <a:avLst/>
          </a:prstGeom>
        </p:spPr>
        <p:txBody>
          <a:bodyPr wrap="square">
            <a:spAutoFit/>
          </a:bodyPr>
          <a:lstStyle/>
          <a:p>
            <a:pPr marL="514350" indent="-514350">
              <a:lnSpc>
                <a:spcPts val="2900"/>
              </a:lnSpc>
              <a:buAutoNum type="romanUcPeriod"/>
            </a:pPr>
            <a:r>
              <a:rPr lang="en-US" altLang="zh-TW" sz="2000" b="1" dirty="0">
                <a:solidFill>
                  <a:srgbClr val="483832"/>
                </a:solidFill>
                <a:latin typeface="Times New Roman" panose="02020603050405020304" pitchFamily="18" charset="0"/>
              </a:rPr>
              <a:t>Introduction</a:t>
            </a:r>
          </a:p>
          <a:p>
            <a:pPr marL="514350" indent="-514350">
              <a:lnSpc>
                <a:spcPts val="2900"/>
              </a:lnSpc>
              <a:buFontTx/>
              <a:buAutoNum type="romanUcPeriod"/>
            </a:pPr>
            <a:r>
              <a:rPr lang="en-US" altLang="zh-TW" sz="2000" b="1" dirty="0">
                <a:solidFill>
                  <a:srgbClr val="483832"/>
                </a:solidFill>
                <a:latin typeface="Times New Roman" panose="02020603050405020304" pitchFamily="18" charset="0"/>
              </a:rPr>
              <a:t>Theory</a:t>
            </a:r>
          </a:p>
          <a:p>
            <a:pPr marL="514350" indent="-514350">
              <a:lnSpc>
                <a:spcPts val="2900"/>
              </a:lnSpc>
              <a:buFontTx/>
              <a:buAutoNum type="romanUcPeriod"/>
            </a:pPr>
            <a:r>
              <a:rPr lang="en-US" altLang="zh-TW" sz="2400" b="1" dirty="0">
                <a:solidFill>
                  <a:srgbClr val="FF0000"/>
                </a:solidFill>
                <a:latin typeface="Times New Roman" panose="02020603050405020304" pitchFamily="18" charset="0"/>
              </a:rPr>
              <a:t>Simulation</a:t>
            </a:r>
          </a:p>
          <a:p>
            <a:pPr marL="742950" lvl="1" indent="-285750">
              <a:lnSpc>
                <a:spcPts val="2900"/>
              </a:lnSpc>
              <a:buFont typeface="Arial" panose="020B0604020202020204" pitchFamily="34" charset="0"/>
              <a:buChar char="•"/>
            </a:pPr>
            <a:r>
              <a:rPr lang="en-US" altLang="zh-TW" sz="1600"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Adiabatic beam splitter design</a:t>
            </a:r>
          </a:p>
          <a:p>
            <a:pPr marL="742950" lvl="1" indent="-285750">
              <a:lnSpc>
                <a:spcPts val="2900"/>
              </a:lnSpc>
              <a:buFont typeface="Arial" panose="020B0604020202020204" pitchFamily="34" charset="0"/>
              <a:buChar char="•"/>
            </a:pPr>
            <a:r>
              <a:rPr lang="en-US" altLang="zh-TW" sz="1600"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High-pass filter simulation</a:t>
            </a:r>
            <a:endParaRPr lang="en-US" altLang="zh-TW" sz="1600" b="1"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endParaRPr>
          </a:p>
          <a:p>
            <a:pPr marL="514350" indent="-514350">
              <a:lnSpc>
                <a:spcPts val="29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Fabrication process</a:t>
            </a:r>
          </a:p>
          <a:p>
            <a:pPr marL="742950" lvl="1" indent="-285750">
              <a:lnSpc>
                <a:spcPts val="2900"/>
              </a:lnSpc>
              <a:buFont typeface="Arial" panose="020B0604020202020204" pitchFamily="34" charset="0"/>
              <a:buChar char="•"/>
            </a:pPr>
            <a:r>
              <a:rPr lang="en-US" altLang="zh-TW" sz="1500" kern="100" dirty="0" err="1">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Ti-indiffused</a:t>
            </a: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waveguide</a:t>
            </a:r>
          </a:p>
          <a:p>
            <a:pPr marL="742950" lvl="1" indent="-285750">
              <a:lnSpc>
                <a:spcPts val="29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Electric field poling</a:t>
            </a:r>
          </a:p>
          <a:p>
            <a:pPr marL="742950" lvl="1" indent="-285750">
              <a:lnSpc>
                <a:spcPts val="29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End face polish</a:t>
            </a:r>
            <a:endParaRPr lang="en-US" altLang="zh-TW" sz="15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a:p>
            <a:pPr marL="514350" indent="-514350">
              <a:lnSpc>
                <a:spcPts val="2900"/>
              </a:lnSpc>
              <a:buFontTx/>
              <a:buAutoNum type="romanUcPeriod"/>
            </a:pPr>
            <a:r>
              <a:rPr lang="en-US" altLang="zh-TW" sz="2000" b="1" dirty="0">
                <a:solidFill>
                  <a:srgbClr val="483832"/>
                </a:solidFill>
                <a:latin typeface="Times New Roman" panose="02020603050405020304" pitchFamily="18" charset="0"/>
              </a:rPr>
              <a:t>Experimental Results and Analysis</a:t>
            </a:r>
          </a:p>
          <a:p>
            <a:pPr marL="742950" lvl="1" indent="-285750">
              <a:lnSpc>
                <a:spcPts val="2900"/>
              </a:lnSpc>
              <a:buFont typeface="Arial" panose="020B0604020202020204" pitchFamily="34" charset="0"/>
              <a:buChar char="•"/>
            </a:pPr>
            <a:r>
              <a:rPr lang="en-US" altLang="zh-TW" sz="1500" dirty="0">
                <a:solidFill>
                  <a:srgbClr val="483832"/>
                </a:solidFill>
                <a:latin typeface="Times New Roman" panose="02020603050405020304" pitchFamily="18" charset="0"/>
              </a:rPr>
              <a:t>Propagation loss</a:t>
            </a:r>
          </a:p>
          <a:p>
            <a:pPr marL="742950" lvl="1" indent="-285750">
              <a:lnSpc>
                <a:spcPts val="2900"/>
              </a:lnSpc>
              <a:buFont typeface="Arial" panose="020B0604020202020204" pitchFamily="34" charset="0"/>
              <a:buChar char="•"/>
            </a:pPr>
            <a:r>
              <a:rPr lang="en-US" altLang="zh-TW" sz="1500" dirty="0">
                <a:solidFill>
                  <a:srgbClr val="483832"/>
                </a:solidFill>
                <a:latin typeface="Times New Roman" panose="02020603050405020304" pitchFamily="18" charset="0"/>
              </a:rPr>
              <a:t>ER spectrum</a:t>
            </a:r>
          </a:p>
          <a:p>
            <a:pPr marL="742950" lvl="1" indent="-285750">
              <a:lnSpc>
                <a:spcPts val="2900"/>
              </a:lnSpc>
              <a:buFont typeface="Arial" panose="020B0604020202020204" pitchFamily="34" charset="0"/>
              <a:buChar char="•"/>
            </a:pPr>
            <a:r>
              <a:rPr lang="en-US" altLang="zh-TW" sz="1500" dirty="0">
                <a:solidFill>
                  <a:srgbClr val="483832"/>
                </a:solidFill>
                <a:latin typeface="Times New Roman" panose="02020603050405020304" pitchFamily="18" charset="0"/>
              </a:rPr>
              <a:t>SHG characteristic</a:t>
            </a:r>
          </a:p>
          <a:p>
            <a:pPr marL="742950" lvl="1" indent="-285750">
              <a:lnSpc>
                <a:spcPts val="29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Squeezing light optical setup</a:t>
            </a:r>
            <a:endParaRPr lang="en-US" altLang="zh-TW" sz="1500" b="1" dirty="0">
              <a:solidFill>
                <a:srgbClr val="483832"/>
              </a:solidFill>
              <a:latin typeface="Times New Roman" panose="02020603050405020304" pitchFamily="18" charset="0"/>
            </a:endParaRPr>
          </a:p>
          <a:p>
            <a:pPr marL="514350" indent="-514350">
              <a:lnSpc>
                <a:spcPts val="29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Conclusion and future work</a:t>
            </a:r>
            <a:endParaRPr lang="en-US" altLang="zh-TW" sz="2000" b="1" dirty="0">
              <a:solidFill>
                <a:srgbClr val="483832"/>
              </a:solidFill>
              <a:latin typeface="Times New Roman" panose="02020603050405020304" pitchFamily="18" charset="0"/>
            </a:endParaRPr>
          </a:p>
        </p:txBody>
      </p:sp>
    </p:spTree>
    <p:extLst>
      <p:ext uri="{BB962C8B-B14F-4D97-AF65-F5344CB8AC3E}">
        <p14:creationId xmlns:p14="http://schemas.microsoft.com/office/powerpoint/2010/main" val="217742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群組 40">
            <a:extLst>
              <a:ext uri="{FF2B5EF4-FFF2-40B4-BE49-F238E27FC236}">
                <a16:creationId xmlns:a16="http://schemas.microsoft.com/office/drawing/2014/main" id="{CFF03627-F910-476D-998C-F9127C12B5F3}"/>
              </a:ext>
            </a:extLst>
          </p:cNvPr>
          <p:cNvGrpSpPr/>
          <p:nvPr/>
        </p:nvGrpSpPr>
        <p:grpSpPr>
          <a:xfrm>
            <a:off x="8410230" y="2978311"/>
            <a:ext cx="3335577" cy="3843435"/>
            <a:chOff x="8410230" y="2978311"/>
            <a:chExt cx="3335577" cy="3843435"/>
          </a:xfrm>
        </p:grpSpPr>
        <p:pic>
          <p:nvPicPr>
            <p:cNvPr id="3" name="圖片 2">
              <a:extLst>
                <a:ext uri="{FF2B5EF4-FFF2-40B4-BE49-F238E27FC236}">
                  <a16:creationId xmlns:a16="http://schemas.microsoft.com/office/drawing/2014/main" id="{8D5F2C01-FBA4-4CB6-8B2A-15FB2812F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0230" y="2978311"/>
              <a:ext cx="2340225" cy="3843435"/>
            </a:xfrm>
            <a:prstGeom prst="rect">
              <a:avLst/>
            </a:prstGeom>
          </p:spPr>
        </p:pic>
        <p:sp>
          <p:nvSpPr>
            <p:cNvPr id="10" name="矩形 9">
              <a:extLst>
                <a:ext uri="{FF2B5EF4-FFF2-40B4-BE49-F238E27FC236}">
                  <a16:creationId xmlns:a16="http://schemas.microsoft.com/office/drawing/2014/main" id="{896341CD-57B2-41F2-9278-409B94A79195}"/>
                </a:ext>
              </a:extLst>
            </p:cNvPr>
            <p:cNvSpPr/>
            <p:nvPr/>
          </p:nvSpPr>
          <p:spPr>
            <a:xfrm>
              <a:off x="10144086" y="3390134"/>
              <a:ext cx="1601721" cy="369332"/>
            </a:xfrm>
            <a:prstGeom prst="rect">
              <a:avLst/>
            </a:prstGeom>
          </p:spPr>
          <p:txBody>
            <a:bodyPr wrap="none">
              <a:spAutoFit/>
            </a:bodyPr>
            <a:lstStyle/>
            <a:p>
              <a:r>
                <a:rPr lang="en-US" altLang="zh-TW" dirty="0">
                  <a:solidFill>
                    <a:srgbClr val="483832"/>
                  </a:solidFill>
                  <a:latin typeface="Times New Roman" panose="02020603050405020304" pitchFamily="18" charset="0"/>
                </a:rPr>
                <a:t>Second version</a:t>
              </a:r>
              <a:endParaRPr lang="zh-TW" altLang="en-US" dirty="0">
                <a:solidFill>
                  <a:srgbClr val="483832"/>
                </a:solidFill>
              </a:endParaRPr>
            </a:p>
          </p:txBody>
        </p:sp>
      </p:grpSp>
      <p:sp>
        <p:nvSpPr>
          <p:cNvPr id="2" name="文字版面配置區 1">
            <a:extLst>
              <a:ext uri="{FF2B5EF4-FFF2-40B4-BE49-F238E27FC236}">
                <a16:creationId xmlns:a16="http://schemas.microsoft.com/office/drawing/2014/main" id="{00889902-B83B-413B-AF13-88EC531A03C6}"/>
              </a:ext>
            </a:extLst>
          </p:cNvPr>
          <p:cNvSpPr>
            <a:spLocks noGrp="1"/>
          </p:cNvSpPr>
          <p:nvPr>
            <p:ph type="body" sz="half" idx="13"/>
          </p:nvPr>
        </p:nvSpPr>
        <p:spPr>
          <a:xfrm>
            <a:off x="3576322" y="16590"/>
            <a:ext cx="5039358" cy="660417"/>
          </a:xfrm>
        </p:spPr>
        <p:txBody>
          <a:bodyPr>
            <a:normAutofit/>
          </a:bodyPr>
          <a:lstStyle/>
          <a:p>
            <a:r>
              <a:rPr lang="en-US" altLang="zh-TW" dirty="0"/>
              <a:t>Adiabatic beam splitter design</a:t>
            </a:r>
          </a:p>
        </p:txBody>
      </p:sp>
      <p:sp>
        <p:nvSpPr>
          <p:cNvPr id="4" name="文字方塊 3">
            <a:extLst>
              <a:ext uri="{FF2B5EF4-FFF2-40B4-BE49-F238E27FC236}">
                <a16:creationId xmlns:a16="http://schemas.microsoft.com/office/drawing/2014/main" id="{ECF0E871-3BA4-493D-8122-483B7A28641C}"/>
              </a:ext>
            </a:extLst>
          </p:cNvPr>
          <p:cNvSpPr txBox="1"/>
          <p:nvPr/>
        </p:nvSpPr>
        <p:spPr>
          <a:xfrm>
            <a:off x="1013982" y="726346"/>
            <a:ext cx="10594437" cy="2316468"/>
          </a:xfrm>
          <a:prstGeom prst="rect">
            <a:avLst/>
          </a:prstGeom>
          <a:noFill/>
        </p:spPr>
        <p:txBody>
          <a:bodyPr wrap="square" rtlCol="0">
            <a:spAutoFit/>
          </a:bodyPr>
          <a:lstStyle/>
          <a:p>
            <a:pPr>
              <a:lnSpc>
                <a:spcPts val="2500"/>
              </a:lnSpc>
            </a:pPr>
            <a:r>
              <a:rPr lang="en-US" altLang="zh-TW" sz="2000" dirty="0">
                <a:solidFill>
                  <a:srgbClr val="483832"/>
                </a:solidFill>
                <a:latin typeface="Times New Roman" panose="02020603050405020304" pitchFamily="18" charset="0"/>
              </a:rPr>
              <a:t>Problems:</a:t>
            </a:r>
          </a:p>
          <a:p>
            <a:pPr marL="342900" indent="-342900">
              <a:lnSpc>
                <a:spcPts val="2500"/>
              </a:lnSpc>
              <a:buFont typeface="+mj-lt"/>
              <a:buAutoNum type="arabicPeriod"/>
            </a:pPr>
            <a:r>
              <a:rPr lang="en-US" altLang="zh-TW" sz="2000" dirty="0">
                <a:solidFill>
                  <a:srgbClr val="483832"/>
                </a:solidFill>
                <a:latin typeface="Times New Roman" panose="02020603050405020304" pitchFamily="18" charset="0"/>
              </a:rPr>
              <a:t>First version: use 785nm</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laser diode observe</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high-order mode at signal output.</a:t>
            </a:r>
          </a:p>
          <a:p>
            <a:pPr marL="342900" indent="-342900">
              <a:lnSpc>
                <a:spcPts val="2500"/>
              </a:lnSpc>
              <a:buFont typeface="+mj-lt"/>
              <a:buAutoNum type="arabicPeriod"/>
            </a:pPr>
            <a:r>
              <a:rPr lang="en-US" altLang="zh-TW" sz="2000" dirty="0">
                <a:solidFill>
                  <a:srgbClr val="483832"/>
                </a:solidFill>
                <a:latin typeface="Times New Roman" panose="02020603050405020304" pitchFamily="18" charset="0"/>
              </a:rPr>
              <a:t>Second version: design another adiabatic coupler to </a:t>
            </a:r>
            <a:r>
              <a:rPr lang="en-US" altLang="zh-TW" sz="2000" dirty="0">
                <a:solidFill>
                  <a:srgbClr val="483832"/>
                </a:solidFill>
                <a:highlight>
                  <a:srgbClr val="FFAFB1"/>
                </a:highlight>
                <a:latin typeface="Times New Roman" panose="02020603050405020304" pitchFamily="18" charset="0"/>
              </a:rPr>
              <a:t>eliminate pump high-order mode</a:t>
            </a:r>
            <a:r>
              <a:rPr lang="en-US" altLang="zh-TW" sz="2000" dirty="0">
                <a:solidFill>
                  <a:srgbClr val="483832"/>
                </a:solidFill>
                <a:latin typeface="Times New Roman" panose="02020603050405020304" pitchFamily="18" charset="0"/>
              </a:rPr>
              <a:t> at signal output. Due to fabrication limit, need to shorter coupling length cause adiabatically reduced.</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1550nm has</a:t>
            </a:r>
            <a:r>
              <a:rPr lang="zh-TW" altLang="en-US" sz="2000" dirty="0">
                <a:solidFill>
                  <a:srgbClr val="483832"/>
                </a:solidFill>
                <a:latin typeface="Times New Roman" panose="02020603050405020304" pitchFamily="18" charset="0"/>
              </a:rPr>
              <a:t> </a:t>
            </a:r>
            <a:r>
              <a:rPr lang="en-US" altLang="zh-TW" sz="2000" dirty="0">
                <a:solidFill>
                  <a:srgbClr val="483832"/>
                </a:solidFill>
                <a:highlight>
                  <a:srgbClr val="FFAFB1"/>
                </a:highlight>
                <a:latin typeface="Times New Roman" panose="02020603050405020304" pitchFamily="18" charset="0"/>
              </a:rPr>
              <a:t>5dB</a:t>
            </a:r>
            <a:r>
              <a:rPr lang="zh-TW" altLang="en-US" sz="2000" dirty="0">
                <a:solidFill>
                  <a:srgbClr val="483832"/>
                </a:solidFill>
                <a:highlight>
                  <a:srgbClr val="FFAFB1"/>
                </a:highlight>
                <a:latin typeface="Times New Roman" panose="02020603050405020304" pitchFamily="18" charset="0"/>
              </a:rPr>
              <a:t> </a:t>
            </a:r>
            <a:r>
              <a:rPr lang="en-US" altLang="zh-TW" sz="2000" dirty="0">
                <a:solidFill>
                  <a:srgbClr val="483832"/>
                </a:solidFill>
                <a:highlight>
                  <a:srgbClr val="FFAFB1"/>
                </a:highlight>
                <a:latin typeface="Times New Roman" panose="02020603050405020304" pitchFamily="18" charset="0"/>
              </a:rPr>
              <a:t>coupling efficiency as well as 76% power loss</a:t>
            </a:r>
            <a:r>
              <a:rPr lang="en-US" altLang="zh-TW" sz="2000" dirty="0">
                <a:solidFill>
                  <a:srgbClr val="483832"/>
                </a:solidFill>
                <a:latin typeface="Times New Roman" panose="02020603050405020304" pitchFamily="18" charset="0"/>
              </a:rPr>
              <a:t>.</a:t>
            </a:r>
          </a:p>
          <a:p>
            <a:pPr>
              <a:lnSpc>
                <a:spcPts val="2500"/>
              </a:lnSpc>
            </a:pPr>
            <a:r>
              <a:rPr lang="en-US" altLang="zh-TW" sz="2000" dirty="0">
                <a:solidFill>
                  <a:srgbClr val="483832"/>
                </a:solidFill>
                <a:latin typeface="Times New Roman" panose="02020603050405020304" pitchFamily="18" charset="0"/>
              </a:rPr>
              <a:t>Finally, adopt </a:t>
            </a:r>
            <a:r>
              <a:rPr lang="en-US" altLang="zh-TW" sz="2000" dirty="0">
                <a:solidFill>
                  <a:srgbClr val="483832"/>
                </a:solidFill>
                <a:highlight>
                  <a:srgbClr val="FFAFB1"/>
                </a:highlight>
                <a:latin typeface="Times New Roman" panose="02020603050405020304" pitchFamily="18" charset="0"/>
              </a:rPr>
              <a:t>five waveguides array</a:t>
            </a:r>
            <a:r>
              <a:rPr lang="en-US" altLang="zh-TW" sz="2000" dirty="0">
                <a:solidFill>
                  <a:srgbClr val="483832"/>
                </a:solidFill>
                <a:latin typeface="Times New Roman" panose="02020603050405020304" pitchFamily="18" charset="0"/>
              </a:rPr>
              <a:t> to enhance the effective refractive index too close between pump and signal wavelength.</a:t>
            </a:r>
            <a:endParaRPr lang="zh-TW" altLang="en-US" sz="2000" dirty="0">
              <a:solidFill>
                <a:srgbClr val="483832"/>
              </a:solidFill>
              <a:latin typeface="Times New Roman" panose="02020603050405020304" pitchFamily="18" charset="0"/>
            </a:endParaRPr>
          </a:p>
        </p:txBody>
      </p:sp>
      <p:sp>
        <p:nvSpPr>
          <p:cNvPr id="8" name="箭號: 向右 7">
            <a:extLst>
              <a:ext uri="{FF2B5EF4-FFF2-40B4-BE49-F238E27FC236}">
                <a16:creationId xmlns:a16="http://schemas.microsoft.com/office/drawing/2014/main" id="{F798AA38-2299-4201-B50A-4ADF8331FD4C}"/>
              </a:ext>
            </a:extLst>
          </p:cNvPr>
          <p:cNvSpPr/>
          <p:nvPr/>
        </p:nvSpPr>
        <p:spPr>
          <a:xfrm>
            <a:off x="7306841" y="4404728"/>
            <a:ext cx="1076960" cy="767080"/>
          </a:xfrm>
          <a:prstGeom prst="rightArrow">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ndParaRPr>
          </a:p>
        </p:txBody>
      </p:sp>
      <p:sp>
        <p:nvSpPr>
          <p:cNvPr id="9" name="投影片編號版面配置區 8">
            <a:extLst>
              <a:ext uri="{FF2B5EF4-FFF2-40B4-BE49-F238E27FC236}">
                <a16:creationId xmlns:a16="http://schemas.microsoft.com/office/drawing/2014/main" id="{D04618D8-157A-4F85-87EE-696131711142}"/>
              </a:ext>
            </a:extLst>
          </p:cNvPr>
          <p:cNvSpPr>
            <a:spLocks noGrp="1"/>
          </p:cNvSpPr>
          <p:nvPr>
            <p:ph type="sldNum" sz="quarter" idx="12"/>
          </p:nvPr>
        </p:nvSpPr>
        <p:spPr/>
        <p:txBody>
          <a:bodyPr/>
          <a:lstStyle/>
          <a:p>
            <a:fld id="{9820161B-3DFF-4FF5-AA0E-35496F014571}" type="slidenum">
              <a:rPr lang="zh-TW" altLang="en-US" smtClean="0"/>
              <a:t>17</a:t>
            </a:fld>
            <a:endParaRPr lang="zh-TW" altLang="en-US"/>
          </a:p>
        </p:txBody>
      </p:sp>
      <p:grpSp>
        <p:nvGrpSpPr>
          <p:cNvPr id="42" name="群組 41">
            <a:extLst>
              <a:ext uri="{FF2B5EF4-FFF2-40B4-BE49-F238E27FC236}">
                <a16:creationId xmlns:a16="http://schemas.microsoft.com/office/drawing/2014/main" id="{45CA735C-3407-46B9-ABF5-4068A8015046}"/>
              </a:ext>
            </a:extLst>
          </p:cNvPr>
          <p:cNvGrpSpPr/>
          <p:nvPr/>
        </p:nvGrpSpPr>
        <p:grpSpPr>
          <a:xfrm>
            <a:off x="4702796" y="2978311"/>
            <a:ext cx="2977711" cy="3843435"/>
            <a:chOff x="4702796" y="2978311"/>
            <a:chExt cx="2977711" cy="3843435"/>
          </a:xfrm>
        </p:grpSpPr>
        <p:pic>
          <p:nvPicPr>
            <p:cNvPr id="7" name="圖片 6">
              <a:extLst>
                <a:ext uri="{FF2B5EF4-FFF2-40B4-BE49-F238E27FC236}">
                  <a16:creationId xmlns:a16="http://schemas.microsoft.com/office/drawing/2014/main" id="{8B1D8AD8-72CB-491D-963D-4329FBFBE88D}"/>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4702796" y="2978311"/>
              <a:ext cx="1656947" cy="3843435"/>
            </a:xfrm>
            <a:prstGeom prst="rect">
              <a:avLst/>
            </a:prstGeom>
            <a:noFill/>
            <a:ln>
              <a:noFill/>
            </a:ln>
          </p:spPr>
        </p:pic>
        <p:sp>
          <p:nvSpPr>
            <p:cNvPr id="5" name="矩形 4">
              <a:extLst>
                <a:ext uri="{FF2B5EF4-FFF2-40B4-BE49-F238E27FC236}">
                  <a16:creationId xmlns:a16="http://schemas.microsoft.com/office/drawing/2014/main" id="{B2B260DD-F7CF-4089-81FE-0CCB312F1664}"/>
                </a:ext>
              </a:extLst>
            </p:cNvPr>
            <p:cNvSpPr/>
            <p:nvPr/>
          </p:nvSpPr>
          <p:spPr>
            <a:xfrm>
              <a:off x="6335267" y="3390134"/>
              <a:ext cx="1345240" cy="369332"/>
            </a:xfrm>
            <a:prstGeom prst="rect">
              <a:avLst/>
            </a:prstGeom>
          </p:spPr>
          <p:txBody>
            <a:bodyPr wrap="none">
              <a:spAutoFit/>
            </a:bodyPr>
            <a:lstStyle/>
            <a:p>
              <a:r>
                <a:rPr lang="en-US" altLang="zh-TW" dirty="0">
                  <a:solidFill>
                    <a:srgbClr val="483832"/>
                  </a:solidFill>
                  <a:latin typeface="Times New Roman" panose="02020603050405020304" pitchFamily="18" charset="0"/>
                </a:rPr>
                <a:t>First version</a:t>
              </a:r>
              <a:endParaRPr lang="zh-TW" altLang="en-US" dirty="0">
                <a:solidFill>
                  <a:srgbClr val="483832"/>
                </a:solidFill>
              </a:endParaRPr>
            </a:p>
          </p:txBody>
        </p:sp>
      </p:grpSp>
      <p:grpSp>
        <p:nvGrpSpPr>
          <p:cNvPr id="27" name="群組 26">
            <a:extLst>
              <a:ext uri="{FF2B5EF4-FFF2-40B4-BE49-F238E27FC236}">
                <a16:creationId xmlns:a16="http://schemas.microsoft.com/office/drawing/2014/main" id="{B6F2A17B-FF35-4248-911D-20C510CFD000}"/>
              </a:ext>
            </a:extLst>
          </p:cNvPr>
          <p:cNvGrpSpPr/>
          <p:nvPr/>
        </p:nvGrpSpPr>
        <p:grpSpPr>
          <a:xfrm>
            <a:off x="990916" y="4232109"/>
            <a:ext cx="2961894" cy="2316468"/>
            <a:chOff x="363317" y="3042814"/>
            <a:chExt cx="3038036" cy="2376018"/>
          </a:xfrm>
        </p:grpSpPr>
        <p:sp>
          <p:nvSpPr>
            <p:cNvPr id="24" name="圖說文字: 折線加上強調線 23">
              <a:extLst>
                <a:ext uri="{FF2B5EF4-FFF2-40B4-BE49-F238E27FC236}">
                  <a16:creationId xmlns:a16="http://schemas.microsoft.com/office/drawing/2014/main" id="{F3C5402D-9809-4708-9786-3630207AFDFD}"/>
                </a:ext>
              </a:extLst>
            </p:cNvPr>
            <p:cNvSpPr/>
            <p:nvPr/>
          </p:nvSpPr>
          <p:spPr>
            <a:xfrm flipH="1">
              <a:off x="1509419" y="3356303"/>
              <a:ext cx="1849472" cy="1749040"/>
            </a:xfrm>
            <a:prstGeom prst="accentCallout2">
              <a:avLst>
                <a:gd name="adj1" fmla="val 18750"/>
                <a:gd name="adj2" fmla="val -8333"/>
                <a:gd name="adj3" fmla="val -45372"/>
                <a:gd name="adj4" fmla="val -50020"/>
                <a:gd name="adj5" fmla="val -65922"/>
                <a:gd name="adj6" fmla="val -63778"/>
              </a:avLst>
            </a:prstGeom>
            <a:ln w="28575">
              <a:solidFill>
                <a:srgbClr val="B95B2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6" name="群組 25">
              <a:extLst>
                <a:ext uri="{FF2B5EF4-FFF2-40B4-BE49-F238E27FC236}">
                  <a16:creationId xmlns:a16="http://schemas.microsoft.com/office/drawing/2014/main" id="{A4D5BC17-5D62-4CD1-B56C-26C4B4FF3509}"/>
                </a:ext>
              </a:extLst>
            </p:cNvPr>
            <p:cNvGrpSpPr/>
            <p:nvPr/>
          </p:nvGrpSpPr>
          <p:grpSpPr>
            <a:xfrm>
              <a:off x="363317" y="3042814"/>
              <a:ext cx="3038036" cy="2376018"/>
              <a:chOff x="411284" y="3145942"/>
              <a:chExt cx="3038036" cy="2376018"/>
            </a:xfrm>
          </p:grpSpPr>
          <p:sp>
            <p:nvSpPr>
              <p:cNvPr id="25" name="矩形: 摺角紙張 24">
                <a:extLst>
                  <a:ext uri="{FF2B5EF4-FFF2-40B4-BE49-F238E27FC236}">
                    <a16:creationId xmlns:a16="http://schemas.microsoft.com/office/drawing/2014/main" id="{C677431C-BFCA-4339-89B6-FEE09B59E875}"/>
                  </a:ext>
                </a:extLst>
              </p:cNvPr>
              <p:cNvSpPr/>
              <p:nvPr/>
            </p:nvSpPr>
            <p:spPr>
              <a:xfrm>
                <a:off x="411284" y="3145942"/>
                <a:ext cx="3038036" cy="2376018"/>
              </a:xfrm>
              <a:prstGeom prst="foldedCorner">
                <a:avLst>
                  <a:gd name="adj" fmla="val 12819"/>
                </a:avLst>
              </a:prstGeom>
              <a:solidFill>
                <a:schemeClr val="accent2">
                  <a:lumMod val="40000"/>
                  <a:lumOff val="60000"/>
                </a:schemeClr>
              </a:solidFill>
              <a:ln>
                <a:solidFill>
                  <a:srgbClr val="B95B2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5" name="群組 14">
                <a:extLst>
                  <a:ext uri="{FF2B5EF4-FFF2-40B4-BE49-F238E27FC236}">
                    <a16:creationId xmlns:a16="http://schemas.microsoft.com/office/drawing/2014/main" id="{C3C2924C-B1C5-484B-8A3A-EEE2B6AF3235}"/>
                  </a:ext>
                </a:extLst>
              </p:cNvPr>
              <p:cNvGrpSpPr/>
              <p:nvPr/>
            </p:nvGrpSpPr>
            <p:grpSpPr>
              <a:xfrm>
                <a:off x="529321" y="3248040"/>
                <a:ext cx="2736747" cy="2005415"/>
                <a:chOff x="8886065" y="3730103"/>
                <a:chExt cx="2733994" cy="2003397"/>
              </a:xfrm>
            </p:grpSpPr>
            <p:pic>
              <p:nvPicPr>
                <p:cNvPr id="6" name="圖片 5">
                  <a:extLst>
                    <a:ext uri="{FF2B5EF4-FFF2-40B4-BE49-F238E27FC236}">
                      <a16:creationId xmlns:a16="http://schemas.microsoft.com/office/drawing/2014/main" id="{225C8DCC-57C5-4E7C-8B5D-D118C30C8E34}"/>
                    </a:ext>
                  </a:extLst>
                </p:cNvPr>
                <p:cNvPicPr>
                  <a:picLocks noChangeAspect="1"/>
                </p:cNvPicPr>
                <p:nvPr/>
              </p:nvPicPr>
              <p:blipFill rotWithShape="1">
                <a:blip r:embed="rId5"/>
                <a:srcRect l="3150" t="61050" r="4865" b="8907"/>
                <a:stretch/>
              </p:blipFill>
              <p:spPr>
                <a:xfrm>
                  <a:off x="8886065" y="3730103"/>
                  <a:ext cx="2733994" cy="2003397"/>
                </a:xfrm>
                <a:prstGeom prst="rect">
                  <a:avLst/>
                </a:prstGeom>
                <a:effectLst/>
              </p:spPr>
            </p:pic>
            <p:sp>
              <p:nvSpPr>
                <p:cNvPr id="13" name="文字方塊 12">
                  <a:extLst>
                    <a:ext uri="{FF2B5EF4-FFF2-40B4-BE49-F238E27FC236}">
                      <a16:creationId xmlns:a16="http://schemas.microsoft.com/office/drawing/2014/main" id="{07B565AA-07FA-44A9-87E7-DB4EC9251194}"/>
                    </a:ext>
                  </a:extLst>
                </p:cNvPr>
                <p:cNvSpPr txBox="1"/>
                <p:nvPr/>
              </p:nvSpPr>
              <p:spPr>
                <a:xfrm>
                  <a:off x="9089243" y="5274492"/>
                  <a:ext cx="781434" cy="260181"/>
                </a:xfrm>
                <a:prstGeom prst="rect">
                  <a:avLst/>
                </a:prstGeom>
                <a:solidFill>
                  <a:srgbClr val="28003C"/>
                </a:solidFill>
              </p:spPr>
              <p:txBody>
                <a:bodyPr wrap="square" rtlCol="0">
                  <a:spAutoFit/>
                </a:bodyPr>
                <a:lstStyle/>
                <a:p>
                  <a:r>
                    <a:rPr lang="en-US" altLang="zh-TW" sz="1050" dirty="0">
                      <a:solidFill>
                        <a:schemeClr val="bg1"/>
                      </a:solidFill>
                      <a:latin typeface="Times New Roman" panose="02020603050405020304" pitchFamily="18" charset="0"/>
                      <a:cs typeface="Times New Roman" panose="02020603050405020304" pitchFamily="18" charset="0"/>
                    </a:rPr>
                    <a:t>pump port</a:t>
                  </a:r>
                  <a:endParaRPr lang="zh-TW" altLang="en-US" sz="1050" dirty="0">
                    <a:solidFill>
                      <a:schemeClr val="bg1"/>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E40F63F5-82C5-4C0D-A26D-89F6BD3D28DF}"/>
                    </a:ext>
                  </a:extLst>
                </p:cNvPr>
                <p:cNvSpPr txBox="1"/>
                <p:nvPr/>
              </p:nvSpPr>
              <p:spPr>
                <a:xfrm>
                  <a:off x="10093064" y="5274492"/>
                  <a:ext cx="802880" cy="253916"/>
                </a:xfrm>
                <a:prstGeom prst="rect">
                  <a:avLst/>
                </a:prstGeom>
                <a:solidFill>
                  <a:srgbClr val="28003C"/>
                </a:solidFill>
              </p:spPr>
              <p:txBody>
                <a:bodyPr wrap="square" rtlCol="0">
                  <a:spAutoFit/>
                </a:bodyPr>
                <a:lstStyle/>
                <a:p>
                  <a:r>
                    <a:rPr lang="en-US" altLang="zh-TW" sz="1050" dirty="0">
                      <a:solidFill>
                        <a:schemeClr val="bg1"/>
                      </a:solidFill>
                      <a:latin typeface="Times New Roman" panose="02020603050405020304" pitchFamily="18" charset="0"/>
                      <a:cs typeface="Times New Roman" panose="02020603050405020304" pitchFamily="18" charset="0"/>
                    </a:rPr>
                    <a:t>signal port</a:t>
                  </a:r>
                  <a:endParaRPr lang="zh-TW" altLang="en-US" sz="1050" dirty="0">
                    <a:solidFill>
                      <a:schemeClr val="bg1"/>
                    </a:solidFill>
                    <a:latin typeface="Times New Roman" panose="02020603050405020304" pitchFamily="18" charset="0"/>
                    <a:cs typeface="Times New Roman" panose="02020603050405020304" pitchFamily="18" charset="0"/>
                  </a:endParaRPr>
                </a:p>
              </p:txBody>
            </p:sp>
          </p:grpSp>
        </p:grpSp>
      </p:grpSp>
    </p:spTree>
    <p:extLst>
      <p:ext uri="{BB962C8B-B14F-4D97-AF65-F5344CB8AC3E}">
        <p14:creationId xmlns:p14="http://schemas.microsoft.com/office/powerpoint/2010/main" val="882306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72">
                                          <p:stCondLst>
                                            <p:cond delay="0"/>
                                          </p:stCondLst>
                                        </p:cTn>
                                        <p:tgtEl>
                                          <p:spTgt spid="8"/>
                                        </p:tgtEl>
                                      </p:cBhvr>
                                    </p:animEffect>
                                    <p:anim calcmode="lin" valueType="num">
                                      <p:cBhvr>
                                        <p:cTn id="8" dur="228"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83"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83" tmFilter="0, 0; 0.125,0.2665; 0.25,0.4; 0.375,0.465; 0.5,0.5;  0.625,0.535; 0.75,0.6; 0.875,0.7335; 1,1">
                                          <p:stCondLst>
                                            <p:cond delay="83"/>
                                          </p:stCondLst>
                                        </p:cTn>
                                        <p:tgtEl>
                                          <p:spTgt spid="8"/>
                                        </p:tgtEl>
                                        <p:attrNameLst>
                                          <p:attrName>ppt_y</p:attrName>
                                        </p:attrNameLst>
                                      </p:cBhvr>
                                      <p:tavLst>
                                        <p:tav tm="0" fmla="#ppt_y-sin(pi*$)/9">
                                          <p:val>
                                            <p:fltVal val="0"/>
                                          </p:val>
                                        </p:tav>
                                        <p:tav tm="100000">
                                          <p:val>
                                            <p:fltVal val="1"/>
                                          </p:val>
                                        </p:tav>
                                      </p:tavLst>
                                    </p:anim>
                                    <p:anim calcmode="lin" valueType="num">
                                      <p:cBhvr>
                                        <p:cTn id="11" dur="41" tmFilter="0, 0; 0.125,0.2665; 0.25,0.4; 0.375,0.465; 0.5,0.5;  0.625,0.535; 0.75,0.6; 0.875,0.7335; 1,1">
                                          <p:stCondLst>
                                            <p:cond delay="166"/>
                                          </p:stCondLst>
                                        </p:cTn>
                                        <p:tgtEl>
                                          <p:spTgt spid="8"/>
                                        </p:tgtEl>
                                        <p:attrNameLst>
                                          <p:attrName>ppt_y</p:attrName>
                                        </p:attrNameLst>
                                      </p:cBhvr>
                                      <p:tavLst>
                                        <p:tav tm="0" fmla="#ppt_y-sin(pi*$)/27">
                                          <p:val>
                                            <p:fltVal val="0"/>
                                          </p:val>
                                        </p:tav>
                                        <p:tav tm="100000">
                                          <p:val>
                                            <p:fltVal val="1"/>
                                          </p:val>
                                        </p:tav>
                                      </p:tavLst>
                                    </p:anim>
                                    <p:anim calcmode="lin" valueType="num">
                                      <p:cBhvr>
                                        <p:cTn id="12" dur="21" tmFilter="0, 0; 0.125,0.2665; 0.25,0.4; 0.375,0.465; 0.5,0.5;  0.625,0.535; 0.75,0.6; 0.875,0.7335; 1,1">
                                          <p:stCondLst>
                                            <p:cond delay="207"/>
                                          </p:stCondLst>
                                        </p:cTn>
                                        <p:tgtEl>
                                          <p:spTgt spid="8"/>
                                        </p:tgtEl>
                                        <p:attrNameLst>
                                          <p:attrName>ppt_y</p:attrName>
                                        </p:attrNameLst>
                                      </p:cBhvr>
                                      <p:tavLst>
                                        <p:tav tm="0" fmla="#ppt_y-sin(pi*$)/81">
                                          <p:val>
                                            <p:fltVal val="0"/>
                                          </p:val>
                                        </p:tav>
                                        <p:tav tm="100000">
                                          <p:val>
                                            <p:fltVal val="1"/>
                                          </p:val>
                                        </p:tav>
                                      </p:tavLst>
                                    </p:anim>
                                    <p:animScale>
                                      <p:cBhvr>
                                        <p:cTn id="13" dur="3">
                                          <p:stCondLst>
                                            <p:cond delay="81"/>
                                          </p:stCondLst>
                                        </p:cTn>
                                        <p:tgtEl>
                                          <p:spTgt spid="8"/>
                                        </p:tgtEl>
                                      </p:cBhvr>
                                      <p:to x="100000" y="60000"/>
                                    </p:animScale>
                                    <p:animScale>
                                      <p:cBhvr>
                                        <p:cTn id="14" dur="21" decel="50000">
                                          <p:stCondLst>
                                            <p:cond delay="85"/>
                                          </p:stCondLst>
                                        </p:cTn>
                                        <p:tgtEl>
                                          <p:spTgt spid="8"/>
                                        </p:tgtEl>
                                      </p:cBhvr>
                                      <p:to x="100000" y="100000"/>
                                    </p:animScale>
                                    <p:animScale>
                                      <p:cBhvr>
                                        <p:cTn id="15" dur="3">
                                          <p:stCondLst>
                                            <p:cond delay="164"/>
                                          </p:stCondLst>
                                        </p:cTn>
                                        <p:tgtEl>
                                          <p:spTgt spid="8"/>
                                        </p:tgtEl>
                                      </p:cBhvr>
                                      <p:to x="100000" y="80000"/>
                                    </p:animScale>
                                    <p:animScale>
                                      <p:cBhvr>
                                        <p:cTn id="16" dur="21" decel="50000">
                                          <p:stCondLst>
                                            <p:cond delay="167"/>
                                          </p:stCondLst>
                                        </p:cTn>
                                        <p:tgtEl>
                                          <p:spTgt spid="8"/>
                                        </p:tgtEl>
                                      </p:cBhvr>
                                      <p:to x="100000" y="100000"/>
                                    </p:animScale>
                                    <p:animScale>
                                      <p:cBhvr>
                                        <p:cTn id="17" dur="3">
                                          <p:stCondLst>
                                            <p:cond delay="205"/>
                                          </p:stCondLst>
                                        </p:cTn>
                                        <p:tgtEl>
                                          <p:spTgt spid="8"/>
                                        </p:tgtEl>
                                      </p:cBhvr>
                                      <p:to x="100000" y="90000"/>
                                    </p:animScale>
                                    <p:animScale>
                                      <p:cBhvr>
                                        <p:cTn id="18" dur="21" decel="50000">
                                          <p:stCondLst>
                                            <p:cond delay="208"/>
                                          </p:stCondLst>
                                        </p:cTn>
                                        <p:tgtEl>
                                          <p:spTgt spid="8"/>
                                        </p:tgtEl>
                                      </p:cBhvr>
                                      <p:to x="100000" y="100000"/>
                                    </p:animScale>
                                    <p:animScale>
                                      <p:cBhvr>
                                        <p:cTn id="19" dur="3">
                                          <p:stCondLst>
                                            <p:cond delay="226"/>
                                          </p:stCondLst>
                                        </p:cTn>
                                        <p:tgtEl>
                                          <p:spTgt spid="8"/>
                                        </p:tgtEl>
                                      </p:cBhvr>
                                      <p:to x="100000" y="95000"/>
                                    </p:animScale>
                                    <p:animScale>
                                      <p:cBhvr>
                                        <p:cTn id="20" dur="21" decel="50000">
                                          <p:stCondLst>
                                            <p:cond delay="229"/>
                                          </p:stCondLst>
                                        </p:cTn>
                                        <p:tgtEl>
                                          <p:spTgt spid="8"/>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down)">
                                      <p:cBhvr>
                                        <p:cTn id="23" dur="145">
                                          <p:stCondLst>
                                            <p:cond delay="0"/>
                                          </p:stCondLst>
                                        </p:cTn>
                                        <p:tgtEl>
                                          <p:spTgt spid="41"/>
                                        </p:tgtEl>
                                      </p:cBhvr>
                                    </p:animEffect>
                                    <p:anim calcmode="lin" valueType="num">
                                      <p:cBhvr>
                                        <p:cTn id="24" dur="456" tmFilter="0,0; 0.14,0.36; 0.43,0.73; 0.71,0.91; 1.0,1.0">
                                          <p:stCondLst>
                                            <p:cond delay="0"/>
                                          </p:stCondLst>
                                        </p:cTn>
                                        <p:tgtEl>
                                          <p:spTgt spid="41"/>
                                        </p:tgtEl>
                                        <p:attrNameLst>
                                          <p:attrName>ppt_x</p:attrName>
                                        </p:attrNameLst>
                                      </p:cBhvr>
                                      <p:tavLst>
                                        <p:tav tm="0">
                                          <p:val>
                                            <p:strVal val="#ppt_x-0.25"/>
                                          </p:val>
                                        </p:tav>
                                        <p:tav tm="100000">
                                          <p:val>
                                            <p:strVal val="#ppt_x"/>
                                          </p:val>
                                        </p:tav>
                                      </p:tavLst>
                                    </p:anim>
                                    <p:anim calcmode="lin" valueType="num">
                                      <p:cBhvr>
                                        <p:cTn id="25" dur="166" tmFilter="0.0,0.0; 0.25,0.07; 0.50,0.2; 0.75,0.467; 1.0,1.0">
                                          <p:stCondLst>
                                            <p:cond delay="0"/>
                                          </p:stCondLst>
                                        </p:cTn>
                                        <p:tgtEl>
                                          <p:spTgt spid="41"/>
                                        </p:tgtEl>
                                        <p:attrNameLst>
                                          <p:attrName>ppt_y</p:attrName>
                                        </p:attrNameLst>
                                      </p:cBhvr>
                                      <p:tavLst>
                                        <p:tav tm="0" fmla="#ppt_y-sin(pi*$)/3">
                                          <p:val>
                                            <p:fltVal val="0.5"/>
                                          </p:val>
                                        </p:tav>
                                        <p:tav tm="100000">
                                          <p:val>
                                            <p:fltVal val="1"/>
                                          </p:val>
                                        </p:tav>
                                      </p:tavLst>
                                    </p:anim>
                                    <p:anim calcmode="lin" valueType="num">
                                      <p:cBhvr>
                                        <p:cTn id="26" dur="166" tmFilter="0, 0; 0.125,0.2665; 0.25,0.4; 0.375,0.465; 0.5,0.5;  0.625,0.535; 0.75,0.6; 0.875,0.7335; 1,1">
                                          <p:stCondLst>
                                            <p:cond delay="166"/>
                                          </p:stCondLst>
                                        </p:cTn>
                                        <p:tgtEl>
                                          <p:spTgt spid="41"/>
                                        </p:tgtEl>
                                        <p:attrNameLst>
                                          <p:attrName>ppt_y</p:attrName>
                                        </p:attrNameLst>
                                      </p:cBhvr>
                                      <p:tavLst>
                                        <p:tav tm="0" fmla="#ppt_y-sin(pi*$)/9">
                                          <p:val>
                                            <p:fltVal val="0"/>
                                          </p:val>
                                        </p:tav>
                                        <p:tav tm="100000">
                                          <p:val>
                                            <p:fltVal val="1"/>
                                          </p:val>
                                        </p:tav>
                                      </p:tavLst>
                                    </p:anim>
                                    <p:anim calcmode="lin" valueType="num">
                                      <p:cBhvr>
                                        <p:cTn id="27" dur="83" tmFilter="0, 0; 0.125,0.2665; 0.25,0.4; 0.375,0.465; 0.5,0.5;  0.625,0.535; 0.75,0.6; 0.875,0.7335; 1,1">
                                          <p:stCondLst>
                                            <p:cond delay="331"/>
                                          </p:stCondLst>
                                        </p:cTn>
                                        <p:tgtEl>
                                          <p:spTgt spid="41"/>
                                        </p:tgtEl>
                                        <p:attrNameLst>
                                          <p:attrName>ppt_y</p:attrName>
                                        </p:attrNameLst>
                                      </p:cBhvr>
                                      <p:tavLst>
                                        <p:tav tm="0" fmla="#ppt_y-sin(pi*$)/27">
                                          <p:val>
                                            <p:fltVal val="0"/>
                                          </p:val>
                                        </p:tav>
                                        <p:tav tm="100000">
                                          <p:val>
                                            <p:fltVal val="1"/>
                                          </p:val>
                                        </p:tav>
                                      </p:tavLst>
                                    </p:anim>
                                    <p:anim calcmode="lin" valueType="num">
                                      <p:cBhvr>
                                        <p:cTn id="28" dur="41" tmFilter="0, 0; 0.125,0.2665; 0.25,0.4; 0.375,0.465; 0.5,0.5;  0.625,0.535; 0.75,0.6; 0.875,0.7335; 1,1">
                                          <p:stCondLst>
                                            <p:cond delay="414"/>
                                          </p:stCondLst>
                                        </p:cTn>
                                        <p:tgtEl>
                                          <p:spTgt spid="41"/>
                                        </p:tgtEl>
                                        <p:attrNameLst>
                                          <p:attrName>ppt_y</p:attrName>
                                        </p:attrNameLst>
                                      </p:cBhvr>
                                      <p:tavLst>
                                        <p:tav tm="0" fmla="#ppt_y-sin(pi*$)/81">
                                          <p:val>
                                            <p:fltVal val="0"/>
                                          </p:val>
                                        </p:tav>
                                        <p:tav tm="100000">
                                          <p:val>
                                            <p:fltVal val="1"/>
                                          </p:val>
                                        </p:tav>
                                      </p:tavLst>
                                    </p:anim>
                                    <p:animScale>
                                      <p:cBhvr>
                                        <p:cTn id="29" dur="7">
                                          <p:stCondLst>
                                            <p:cond delay="162"/>
                                          </p:stCondLst>
                                        </p:cTn>
                                        <p:tgtEl>
                                          <p:spTgt spid="41"/>
                                        </p:tgtEl>
                                      </p:cBhvr>
                                      <p:to x="100000" y="60000"/>
                                    </p:animScale>
                                    <p:animScale>
                                      <p:cBhvr>
                                        <p:cTn id="30" dur="41" decel="50000">
                                          <p:stCondLst>
                                            <p:cond delay="169"/>
                                          </p:stCondLst>
                                        </p:cTn>
                                        <p:tgtEl>
                                          <p:spTgt spid="41"/>
                                        </p:tgtEl>
                                      </p:cBhvr>
                                      <p:to x="100000" y="100000"/>
                                    </p:animScale>
                                    <p:animScale>
                                      <p:cBhvr>
                                        <p:cTn id="31" dur="7">
                                          <p:stCondLst>
                                            <p:cond delay="328"/>
                                          </p:stCondLst>
                                        </p:cTn>
                                        <p:tgtEl>
                                          <p:spTgt spid="41"/>
                                        </p:tgtEl>
                                      </p:cBhvr>
                                      <p:to x="100000" y="80000"/>
                                    </p:animScale>
                                    <p:animScale>
                                      <p:cBhvr>
                                        <p:cTn id="32" dur="41" decel="50000">
                                          <p:stCondLst>
                                            <p:cond delay="335"/>
                                          </p:stCondLst>
                                        </p:cTn>
                                        <p:tgtEl>
                                          <p:spTgt spid="41"/>
                                        </p:tgtEl>
                                      </p:cBhvr>
                                      <p:to x="100000" y="100000"/>
                                    </p:animScale>
                                    <p:animScale>
                                      <p:cBhvr>
                                        <p:cTn id="33" dur="7">
                                          <p:stCondLst>
                                            <p:cond delay="410"/>
                                          </p:stCondLst>
                                        </p:cTn>
                                        <p:tgtEl>
                                          <p:spTgt spid="41"/>
                                        </p:tgtEl>
                                      </p:cBhvr>
                                      <p:to x="100000" y="90000"/>
                                    </p:animScale>
                                    <p:animScale>
                                      <p:cBhvr>
                                        <p:cTn id="34" dur="41" decel="50000">
                                          <p:stCondLst>
                                            <p:cond delay="417"/>
                                          </p:stCondLst>
                                        </p:cTn>
                                        <p:tgtEl>
                                          <p:spTgt spid="41"/>
                                        </p:tgtEl>
                                      </p:cBhvr>
                                      <p:to x="100000" y="100000"/>
                                    </p:animScale>
                                    <p:animScale>
                                      <p:cBhvr>
                                        <p:cTn id="35" dur="7">
                                          <p:stCondLst>
                                            <p:cond delay="452"/>
                                          </p:stCondLst>
                                        </p:cTn>
                                        <p:tgtEl>
                                          <p:spTgt spid="41"/>
                                        </p:tgtEl>
                                      </p:cBhvr>
                                      <p:to x="100000" y="95000"/>
                                    </p:animScale>
                                    <p:animScale>
                                      <p:cBhvr>
                                        <p:cTn id="36" dur="41" decel="50000">
                                          <p:stCondLst>
                                            <p:cond delay="459"/>
                                          </p:stCondLst>
                                        </p:cTn>
                                        <p:tgtEl>
                                          <p:spTgt spid="4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D2D62C11-FCFA-476D-B6DD-F280E9F8C834}"/>
              </a:ext>
            </a:extLst>
          </p:cNvPr>
          <p:cNvSpPr>
            <a:spLocks noGrp="1"/>
          </p:cNvSpPr>
          <p:nvPr>
            <p:ph type="body" sz="half" idx="13"/>
          </p:nvPr>
        </p:nvSpPr>
        <p:spPr>
          <a:xfrm>
            <a:off x="2875281" y="16590"/>
            <a:ext cx="6441440" cy="660417"/>
          </a:xfrm>
        </p:spPr>
        <p:txBody>
          <a:bodyPr>
            <a:normAutofit/>
          </a:bodyPr>
          <a:lstStyle/>
          <a:p>
            <a:r>
              <a:rPr lang="en-US" altLang="zh-TW" kern="100" dirty="0">
                <a:ea typeface="DFKai-SB" panose="03000509000000000000" pitchFamily="65" charset="-120"/>
              </a:rPr>
              <a:t>Adiabatic beam splitter</a:t>
            </a:r>
            <a:r>
              <a:rPr lang="en-US" altLang="zh-TW" dirty="0"/>
              <a:t> design</a:t>
            </a:r>
            <a:endParaRPr lang="zh-TW" altLang="en-US" dirty="0"/>
          </a:p>
        </p:txBody>
      </p:sp>
      <p:pic>
        <p:nvPicPr>
          <p:cNvPr id="4" name="圖片 3">
            <a:extLst>
              <a:ext uri="{FF2B5EF4-FFF2-40B4-BE49-F238E27FC236}">
                <a16:creationId xmlns:a16="http://schemas.microsoft.com/office/drawing/2014/main" id="{8A1D7E58-5C69-4D36-9776-3A70915C86E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5456" y="895872"/>
            <a:ext cx="3169504" cy="5784963"/>
          </a:xfrm>
          <a:prstGeom prst="rect">
            <a:avLst/>
          </a:prstGeom>
          <a:noFill/>
          <a:ln>
            <a:noFill/>
          </a:ln>
        </p:spPr>
      </p:pic>
      <p:sp>
        <p:nvSpPr>
          <p:cNvPr id="5" name="投影片編號版面配置區 4">
            <a:extLst>
              <a:ext uri="{FF2B5EF4-FFF2-40B4-BE49-F238E27FC236}">
                <a16:creationId xmlns:a16="http://schemas.microsoft.com/office/drawing/2014/main" id="{7872AFC0-6887-4BF0-9C3B-9F78B5548302}"/>
              </a:ext>
            </a:extLst>
          </p:cNvPr>
          <p:cNvSpPr>
            <a:spLocks noGrp="1"/>
          </p:cNvSpPr>
          <p:nvPr>
            <p:ph type="sldNum" sz="quarter" idx="12"/>
          </p:nvPr>
        </p:nvSpPr>
        <p:spPr/>
        <p:txBody>
          <a:bodyPr/>
          <a:lstStyle/>
          <a:p>
            <a:fld id="{9820161B-3DFF-4FF5-AA0E-35496F014571}" type="slidenum">
              <a:rPr lang="zh-TW" altLang="en-US" smtClean="0"/>
              <a:t>18</a:t>
            </a:fld>
            <a:endParaRPr lang="zh-TW" altLang="en-US"/>
          </a:p>
        </p:txBody>
      </p:sp>
      <p:pic>
        <p:nvPicPr>
          <p:cNvPr id="3" name="圖片 2">
            <a:extLst>
              <a:ext uri="{FF2B5EF4-FFF2-40B4-BE49-F238E27FC236}">
                <a16:creationId xmlns:a16="http://schemas.microsoft.com/office/drawing/2014/main" id="{358E0575-57C7-40FF-A7BE-17E5C093B7AC}"/>
              </a:ext>
            </a:extLst>
          </p:cNvPr>
          <p:cNvPicPr>
            <a:picLocks noChangeAspect="1"/>
          </p:cNvPicPr>
          <p:nvPr/>
        </p:nvPicPr>
        <p:blipFill rotWithShape="1">
          <a:blip r:embed="rId3"/>
          <a:srcRect b="8866"/>
          <a:stretch/>
        </p:blipFill>
        <p:spPr>
          <a:xfrm>
            <a:off x="5717397" y="3061541"/>
            <a:ext cx="4410650" cy="3005686"/>
          </a:xfrm>
          <a:prstGeom prst="rect">
            <a:avLst/>
          </a:prstGeom>
        </p:spPr>
      </p:pic>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083AA9E3-A0A6-4DC0-8582-65D2F3794900}"/>
                  </a:ext>
                </a:extLst>
              </p:cNvPr>
              <p:cNvSpPr/>
              <p:nvPr/>
            </p:nvSpPr>
            <p:spPr>
              <a:xfrm>
                <a:off x="5994374" y="6067227"/>
                <a:ext cx="3856697" cy="575414"/>
              </a:xfrm>
              <a:prstGeom prst="rect">
                <a:avLst/>
              </a:prstGeom>
            </p:spPr>
            <p:txBody>
              <a:bodyPr wrap="none">
                <a:spAutoFit/>
              </a:bodyPr>
              <a:lstStyle/>
              <a:p>
                <a:pPr lvl="0" defTabSz="914400"/>
                <a:r>
                  <a:rPr lang="en-US" altLang="zh-TW" sz="2000" dirty="0">
                    <a:solidFill>
                      <a:srgbClr val="483832"/>
                    </a:solidFill>
                    <a:latin typeface="Times New Roman" panose="02020603050405020304" pitchFamily="18" charset="0"/>
                  </a:rPr>
                  <a:t>adiabatic condition</a:t>
                </a:r>
                <a:r>
                  <a:rPr lang="zh-TW" altLang="en-US" sz="2000" dirty="0">
                    <a:solidFill>
                      <a:srgbClr val="483832"/>
                    </a:solidFill>
                    <a:latin typeface="Times New Roman" panose="02020603050405020304" pitchFamily="18" charset="0"/>
                  </a:rPr>
                  <a:t>： </a:t>
                </a:r>
                <a14:m>
                  <m:oMath xmlns:m="http://schemas.openxmlformats.org/officeDocument/2006/math">
                    <m:r>
                      <m:rPr>
                        <m:sty m:val="p"/>
                      </m:rPr>
                      <a:rPr lang="en-US" altLang="zh-TW" sz="2000">
                        <a:solidFill>
                          <a:srgbClr val="483832"/>
                        </a:solidFill>
                        <a:latin typeface="Cambria Math" panose="02040503050406030204" pitchFamily="18" charset="0"/>
                      </a:rPr>
                      <m:t>γ</m:t>
                    </m:r>
                    <m:r>
                      <a:rPr lang="en-US" altLang="zh-TW" sz="2000">
                        <a:solidFill>
                          <a:srgbClr val="483832"/>
                        </a:solidFill>
                        <a:latin typeface="Cambria Math" panose="02040503050406030204" pitchFamily="18" charset="0"/>
                      </a:rPr>
                      <m:t>=</m:t>
                    </m:r>
                    <m:f>
                      <m:fPr>
                        <m:ctrlPr>
                          <a:rPr lang="zh-TW" altLang="zh-TW" sz="2000" i="1">
                            <a:solidFill>
                              <a:srgbClr val="483832"/>
                            </a:solidFill>
                            <a:latin typeface="Cambria Math" panose="02040503050406030204" pitchFamily="18" charset="0"/>
                          </a:rPr>
                        </m:ctrlPr>
                      </m:fPr>
                      <m:num>
                        <m:r>
                          <a:rPr lang="en-US" altLang="zh-TW" sz="2000">
                            <a:solidFill>
                              <a:srgbClr val="483832"/>
                            </a:solidFill>
                            <a:latin typeface="Cambria Math" panose="02040503050406030204" pitchFamily="18" charset="0"/>
                          </a:rPr>
                          <m:t>∆</m:t>
                        </m:r>
                        <m:r>
                          <a:rPr lang="en-US" altLang="zh-TW" sz="2000">
                            <a:solidFill>
                              <a:srgbClr val="483832"/>
                            </a:solidFill>
                            <a:latin typeface="Cambria Math" panose="02040503050406030204" pitchFamily="18" charset="0"/>
                          </a:rPr>
                          <m:t>𝑆</m:t>
                        </m:r>
                      </m:num>
                      <m:den>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𝜅</m:t>
                            </m:r>
                          </m:e>
                          <m:sub>
                            <m:r>
                              <a:rPr lang="en-US" altLang="zh-TW" sz="2000">
                                <a:solidFill>
                                  <a:srgbClr val="483832"/>
                                </a:solidFill>
                                <a:latin typeface="Cambria Math" panose="02040503050406030204" pitchFamily="18" charset="0"/>
                              </a:rPr>
                              <m:t>0</m:t>
                            </m:r>
                          </m:sub>
                        </m:sSub>
                        <m:r>
                          <a:rPr lang="en-US" altLang="zh-TW" sz="2000">
                            <a:solidFill>
                              <a:srgbClr val="483832"/>
                            </a:solidFill>
                            <a:latin typeface="Cambria Math" panose="02040503050406030204" pitchFamily="18" charset="0"/>
                          </a:rPr>
                          <m:t>𝑟𝐿</m:t>
                        </m:r>
                      </m:den>
                    </m:f>
                    <m:r>
                      <a:rPr lang="en-US" altLang="zh-TW" sz="2000">
                        <a:solidFill>
                          <a:srgbClr val="483832"/>
                        </a:solidFill>
                        <a:latin typeface="Cambria Math" panose="02040503050406030204" pitchFamily="18" charset="0"/>
                      </a:rPr>
                      <m:t>≪1</m:t>
                    </m:r>
                  </m:oMath>
                </a14:m>
                <a:endParaRPr lang="en-US" altLang="zh-TW" sz="2000" dirty="0">
                  <a:solidFill>
                    <a:srgbClr val="483832"/>
                  </a:solidFill>
                  <a:latin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083AA9E3-A0A6-4DC0-8582-65D2F3794900}"/>
                  </a:ext>
                </a:extLst>
              </p:cNvPr>
              <p:cNvSpPr>
                <a:spLocks noRot="1" noChangeAspect="1" noMove="1" noResize="1" noEditPoints="1" noAdjustHandles="1" noChangeArrowheads="1" noChangeShapeType="1" noTextEdit="1"/>
              </p:cNvSpPr>
              <p:nvPr/>
            </p:nvSpPr>
            <p:spPr>
              <a:xfrm>
                <a:off x="5994374" y="6067227"/>
                <a:ext cx="3856697" cy="575414"/>
              </a:xfrm>
              <a:prstGeom prst="rect">
                <a:avLst/>
              </a:prstGeom>
              <a:blipFill>
                <a:blip r:embed="rId4"/>
                <a:stretch>
                  <a:fillRect l="-15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圓角 7">
                <a:extLst>
                  <a:ext uri="{FF2B5EF4-FFF2-40B4-BE49-F238E27FC236}">
                    <a16:creationId xmlns:a16="http://schemas.microsoft.com/office/drawing/2014/main" id="{5CF7DC3A-71D1-41D0-819F-C2943AC2FBE2}"/>
                  </a:ext>
                </a:extLst>
              </p:cNvPr>
              <p:cNvSpPr/>
              <p:nvPr/>
            </p:nvSpPr>
            <p:spPr>
              <a:xfrm>
                <a:off x="4338320" y="934065"/>
                <a:ext cx="7168805" cy="1941274"/>
              </a:xfrm>
              <a:prstGeom prst="roundRect">
                <a:avLst>
                  <a:gd name="adj" fmla="val 21894"/>
                </a:avLst>
              </a:prstGeom>
              <a:ln w="19050">
                <a:solidFill>
                  <a:schemeClr val="accent1">
                    <a:lumMod val="75000"/>
                  </a:schemeClr>
                </a:solidFill>
                <a:prstDash val="lgDash"/>
              </a:ln>
            </p:spPr>
            <p:txBody>
              <a:bodyPr wrap="square">
                <a:spAutoFit/>
              </a:bodyPr>
              <a:lstStyle/>
              <a:p>
                <a:pPr defTabSz="914400">
                  <a:lnSpc>
                    <a:spcPts val="2500"/>
                  </a:lnSpc>
                </a:pPr>
                <a:endParaRPr lang="en-US" altLang="zh-TW" sz="2000" dirty="0">
                  <a:solidFill>
                    <a:srgbClr val="483832"/>
                  </a:solidFill>
                </a:endParaRPr>
              </a:p>
              <a:p>
                <a:pPr defTabSz="914400">
                  <a:lnSpc>
                    <a:spcPts val="2500"/>
                  </a:lnSpc>
                </a:pPr>
                <a14:m>
                  <m:oMathPara xmlns:m="http://schemas.openxmlformats.org/officeDocument/2006/math">
                    <m:oMathParaPr>
                      <m:jc m:val="centerGroup"/>
                    </m:oMathParaPr>
                    <m:oMath xmlns:m="http://schemas.openxmlformats.org/officeDocument/2006/math">
                      <m:r>
                        <m:rPr>
                          <m:sty m:val="p"/>
                        </m:rPr>
                        <a:rPr lang="zh-TW" altLang="en-US" sz="2000">
                          <a:solidFill>
                            <a:srgbClr val="483832"/>
                          </a:solidFill>
                          <a:latin typeface="Cambria Math" panose="02040503050406030204" pitchFamily="18" charset="0"/>
                        </a:rPr>
                        <m:t>ER</m:t>
                      </m:r>
                      <m:d>
                        <m:dPr>
                          <m:ctrlPr>
                            <a:rPr lang="zh-TW" altLang="en-US" sz="2000" i="1">
                              <a:solidFill>
                                <a:srgbClr val="483832"/>
                              </a:solidFill>
                              <a:latin typeface="Cambria Math" panose="02040503050406030204" pitchFamily="18" charset="0"/>
                            </a:rPr>
                          </m:ctrlPr>
                        </m:dPr>
                        <m:e>
                          <m:r>
                            <a:rPr lang="zh-TW" altLang="en-US" sz="2000">
                              <a:solidFill>
                                <a:srgbClr val="483832"/>
                              </a:solidFill>
                              <a:latin typeface="Cambria Math" panose="02040503050406030204" pitchFamily="18" charset="0"/>
                            </a:rPr>
                            <m:t>𝑝𝑢𝑚𝑝</m:t>
                          </m:r>
                        </m:e>
                      </m:d>
                      <m:r>
                        <a:rPr lang="zh-TW" altLang="en-US" sz="2000">
                          <a:solidFill>
                            <a:srgbClr val="483832"/>
                          </a:solidFill>
                          <a:latin typeface="Cambria Math" panose="02040503050406030204" pitchFamily="18" charset="0"/>
                        </a:rPr>
                        <m:t>=10</m:t>
                      </m:r>
                      <m:func>
                        <m:funcPr>
                          <m:ctrlPr>
                            <a:rPr lang="zh-TW" altLang="en-US" sz="2000" i="1">
                              <a:solidFill>
                                <a:srgbClr val="483832"/>
                              </a:solidFill>
                              <a:latin typeface="Cambria Math" panose="02040503050406030204" pitchFamily="18" charset="0"/>
                            </a:rPr>
                          </m:ctrlPr>
                        </m:funcPr>
                        <m:fName>
                          <m:sSub>
                            <m:sSubPr>
                              <m:ctrlPr>
                                <a:rPr lang="zh-TW" altLang="en-US" sz="2000" i="1">
                                  <a:solidFill>
                                    <a:srgbClr val="483832"/>
                                  </a:solidFill>
                                  <a:latin typeface="Cambria Math" panose="02040503050406030204" pitchFamily="18" charset="0"/>
                                </a:rPr>
                              </m:ctrlPr>
                            </m:sSubPr>
                            <m:e>
                              <m:r>
                                <m:rPr>
                                  <m:sty m:val="p"/>
                                </m:rPr>
                                <a:rPr lang="zh-TW" altLang="en-US" sz="2000">
                                  <a:solidFill>
                                    <a:srgbClr val="483832"/>
                                  </a:solidFill>
                                  <a:latin typeface="Cambria Math" panose="02040503050406030204" pitchFamily="18" charset="0"/>
                                </a:rPr>
                                <m:t>log</m:t>
                              </m:r>
                            </m:e>
                            <m:sub>
                              <m:r>
                                <a:rPr lang="zh-TW" altLang="en-US" sz="2000">
                                  <a:solidFill>
                                    <a:srgbClr val="483832"/>
                                  </a:solidFill>
                                  <a:latin typeface="Cambria Math" panose="02040503050406030204" pitchFamily="18" charset="0"/>
                                </a:rPr>
                                <m:t>10</m:t>
                              </m:r>
                            </m:sub>
                          </m:sSub>
                        </m:fName>
                        <m:e>
                          <m:d>
                            <m:dPr>
                              <m:ctrlPr>
                                <a:rPr lang="zh-TW" altLang="en-US" sz="2000" i="1">
                                  <a:solidFill>
                                    <a:srgbClr val="483832"/>
                                  </a:solidFill>
                                  <a:latin typeface="Cambria Math" panose="02040503050406030204" pitchFamily="18" charset="0"/>
                                </a:rPr>
                              </m:ctrlPr>
                            </m:dPr>
                            <m:e>
                              <m:f>
                                <m:fPr>
                                  <m:ctrlPr>
                                    <a:rPr lang="zh-TW" altLang="en-US" sz="2000" i="1">
                                      <a:solidFill>
                                        <a:srgbClr val="483832"/>
                                      </a:solidFill>
                                      <a:latin typeface="Cambria Math" panose="02040503050406030204" pitchFamily="18" charset="0"/>
                                    </a:rPr>
                                  </m:ctrlPr>
                                </m:fPr>
                                <m:num>
                                  <m:sSub>
                                    <m:sSubPr>
                                      <m:ctrlPr>
                                        <a:rPr lang="zh-TW" altLang="en-US" sz="2000" i="1">
                                          <a:solidFill>
                                            <a:srgbClr val="483832"/>
                                          </a:solidFill>
                                          <a:latin typeface="Cambria Math" panose="02040503050406030204" pitchFamily="18" charset="0"/>
                                        </a:rPr>
                                      </m:ctrlPr>
                                    </m:sSubPr>
                                    <m:e>
                                      <m:r>
                                        <a:rPr lang="zh-TW" altLang="en-US" sz="2000">
                                          <a:solidFill>
                                            <a:srgbClr val="483832"/>
                                          </a:solidFill>
                                          <a:latin typeface="Cambria Math" panose="02040503050406030204" pitchFamily="18" charset="0"/>
                                        </a:rPr>
                                        <m:t>𝑝𝑢𝑚𝑝</m:t>
                                      </m:r>
                                      <m:r>
                                        <a:rPr lang="zh-TW" altLang="en-US" sz="2000">
                                          <a:solidFill>
                                            <a:srgbClr val="483832"/>
                                          </a:solidFill>
                                          <a:latin typeface="Cambria Math" panose="02040503050406030204" pitchFamily="18" charset="0"/>
                                        </a:rPr>
                                        <m:t> </m:t>
                                      </m:r>
                                      <m:r>
                                        <a:rPr lang="zh-TW" altLang="en-US" sz="2000">
                                          <a:solidFill>
                                            <a:srgbClr val="483832"/>
                                          </a:solidFill>
                                          <a:latin typeface="Cambria Math" panose="02040503050406030204" pitchFamily="18" charset="0"/>
                                        </a:rPr>
                                        <m:t>𝑝𝑜𝑤𝑒𝑟</m:t>
                                      </m:r>
                                    </m:e>
                                    <m:sub>
                                      <m:r>
                                        <a:rPr lang="zh-TW" altLang="en-US" sz="2000">
                                          <a:solidFill>
                                            <a:srgbClr val="483832"/>
                                          </a:solidFill>
                                          <a:latin typeface="Cambria Math" panose="02040503050406030204" pitchFamily="18" charset="0"/>
                                        </a:rPr>
                                        <m:t>𝑝𝑢𝑚𝑝</m:t>
                                      </m:r>
                                      <m:r>
                                        <a:rPr lang="en-US" altLang="zh-TW" sz="2000">
                                          <a:solidFill>
                                            <a:srgbClr val="483832"/>
                                          </a:solidFill>
                                          <a:latin typeface="Cambria Math" panose="02040503050406030204" pitchFamily="18" charset="0"/>
                                        </a:rPr>
                                        <m:t> </m:t>
                                      </m:r>
                                      <m:r>
                                        <a:rPr lang="en-US" altLang="zh-TW" sz="2000">
                                          <a:solidFill>
                                            <a:srgbClr val="483832"/>
                                          </a:solidFill>
                                          <a:latin typeface="Cambria Math" panose="02040503050406030204" pitchFamily="18" charset="0"/>
                                        </a:rPr>
                                        <m:t>𝑝𝑜𝑟𝑡</m:t>
                                      </m:r>
                                    </m:sub>
                                  </m:sSub>
                                </m:num>
                                <m:den>
                                  <m:sSub>
                                    <m:sSubPr>
                                      <m:ctrlPr>
                                        <a:rPr lang="zh-TW" altLang="en-US" sz="2000" i="1">
                                          <a:solidFill>
                                            <a:srgbClr val="483832"/>
                                          </a:solidFill>
                                          <a:latin typeface="Cambria Math" panose="02040503050406030204" pitchFamily="18" charset="0"/>
                                        </a:rPr>
                                      </m:ctrlPr>
                                    </m:sSubPr>
                                    <m:e>
                                      <m:r>
                                        <a:rPr lang="zh-TW" altLang="en-US" sz="2000">
                                          <a:solidFill>
                                            <a:srgbClr val="483832"/>
                                          </a:solidFill>
                                          <a:latin typeface="Cambria Math" panose="02040503050406030204" pitchFamily="18" charset="0"/>
                                        </a:rPr>
                                        <m:t>𝑝𝑢𝑚𝑝</m:t>
                                      </m:r>
                                      <m:r>
                                        <a:rPr lang="zh-TW" altLang="en-US" sz="2000">
                                          <a:solidFill>
                                            <a:srgbClr val="483832"/>
                                          </a:solidFill>
                                          <a:latin typeface="Cambria Math" panose="02040503050406030204" pitchFamily="18" charset="0"/>
                                        </a:rPr>
                                        <m:t> </m:t>
                                      </m:r>
                                      <m:r>
                                        <a:rPr lang="zh-TW" altLang="en-US" sz="2000">
                                          <a:solidFill>
                                            <a:srgbClr val="483832"/>
                                          </a:solidFill>
                                          <a:latin typeface="Cambria Math" panose="02040503050406030204" pitchFamily="18" charset="0"/>
                                        </a:rPr>
                                        <m:t>𝑝𝑜𝑤𝑒𝑟</m:t>
                                      </m:r>
                                    </m:e>
                                    <m:sub>
                                      <m:r>
                                        <a:rPr lang="zh-TW" altLang="en-US" sz="2000">
                                          <a:solidFill>
                                            <a:srgbClr val="483832"/>
                                          </a:solidFill>
                                          <a:latin typeface="Cambria Math" panose="02040503050406030204" pitchFamily="18" charset="0"/>
                                        </a:rPr>
                                        <m:t>𝑠𝑖𝑔𝑛𝑎𝑙</m:t>
                                      </m:r>
                                      <m:r>
                                        <a:rPr lang="en-US" altLang="zh-TW" sz="2000">
                                          <a:solidFill>
                                            <a:srgbClr val="483832"/>
                                          </a:solidFill>
                                          <a:latin typeface="Cambria Math" panose="02040503050406030204" pitchFamily="18" charset="0"/>
                                        </a:rPr>
                                        <m:t> </m:t>
                                      </m:r>
                                      <m:r>
                                        <a:rPr lang="en-US" altLang="zh-TW" sz="2000">
                                          <a:solidFill>
                                            <a:srgbClr val="483832"/>
                                          </a:solidFill>
                                          <a:latin typeface="Cambria Math" panose="02040503050406030204" pitchFamily="18" charset="0"/>
                                        </a:rPr>
                                        <m:t>𝑝𝑜𝑟𝑡</m:t>
                                      </m:r>
                                    </m:sub>
                                  </m:sSub>
                                </m:den>
                              </m:f>
                            </m:e>
                          </m:d>
                        </m:e>
                      </m:func>
                    </m:oMath>
                  </m:oMathPara>
                </a14:m>
                <a:endParaRPr lang="en-US" altLang="zh-TW" sz="2000" dirty="0">
                  <a:solidFill>
                    <a:srgbClr val="483832"/>
                  </a:solidFill>
                  <a:latin typeface="Times New Roman" panose="02020603050405020304" pitchFamily="18" charset="0"/>
                </a:endParaRPr>
              </a:p>
              <a:p>
                <a:pPr defTabSz="914400">
                  <a:lnSpc>
                    <a:spcPts val="2500"/>
                  </a:lnSpc>
                </a:pPr>
                <a:endParaRPr lang="en-US" altLang="zh-TW" sz="2000" dirty="0">
                  <a:solidFill>
                    <a:srgbClr val="483832"/>
                  </a:solidFill>
                  <a:latin typeface="Times New Roman" panose="02020603050405020304" pitchFamily="18" charset="0"/>
                </a:endParaRPr>
              </a:p>
              <a:p>
                <a:pPr defTabSz="914400">
                  <a:lnSpc>
                    <a:spcPts val="2500"/>
                  </a:lnSpc>
                </a:pPr>
                <a:endParaRPr lang="en-US" altLang="zh-TW" sz="2000" dirty="0">
                  <a:solidFill>
                    <a:srgbClr val="483832"/>
                  </a:solidFill>
                  <a:latin typeface="Cambria Math" panose="02040503050406030204" pitchFamily="18" charset="0"/>
                </a:endParaRPr>
              </a:p>
              <a:p>
                <a:pPr defTabSz="914400">
                  <a:lnSpc>
                    <a:spcPts val="2500"/>
                  </a:lnSpc>
                </a:pPr>
                <a14:m>
                  <m:oMathPara xmlns:m="http://schemas.openxmlformats.org/officeDocument/2006/math">
                    <m:oMathParaPr>
                      <m:jc m:val="centerGroup"/>
                    </m:oMathParaPr>
                    <m:oMath xmlns:m="http://schemas.openxmlformats.org/officeDocument/2006/math">
                      <m:r>
                        <m:rPr>
                          <m:sty m:val="p"/>
                        </m:rPr>
                        <a:rPr lang="zh-TW" altLang="en-US" sz="2000">
                          <a:solidFill>
                            <a:srgbClr val="483832"/>
                          </a:solidFill>
                          <a:latin typeface="Cambria Math" panose="02040503050406030204" pitchFamily="18" charset="0"/>
                        </a:rPr>
                        <m:t>ER</m:t>
                      </m:r>
                      <m:d>
                        <m:dPr>
                          <m:ctrlPr>
                            <a:rPr lang="zh-TW" altLang="en-US" sz="2000" i="1">
                              <a:solidFill>
                                <a:srgbClr val="483832"/>
                              </a:solidFill>
                              <a:latin typeface="Cambria Math" panose="02040503050406030204" pitchFamily="18" charset="0"/>
                            </a:rPr>
                          </m:ctrlPr>
                        </m:dPr>
                        <m:e>
                          <m:f>
                            <m:fPr>
                              <m:type m:val="lin"/>
                              <m:ctrlPr>
                                <a:rPr lang="zh-TW" altLang="en-US" sz="2000" i="1">
                                  <a:solidFill>
                                    <a:srgbClr val="483832"/>
                                  </a:solidFill>
                                  <a:latin typeface="Cambria Math" panose="02040503050406030204" pitchFamily="18" charset="0"/>
                                </a:rPr>
                              </m:ctrlPr>
                            </m:fPr>
                            <m:num>
                              <m:r>
                                <a:rPr lang="zh-TW" altLang="en-US" sz="2000">
                                  <a:solidFill>
                                    <a:srgbClr val="483832"/>
                                  </a:solidFill>
                                  <a:latin typeface="Cambria Math" panose="02040503050406030204" pitchFamily="18" charset="0"/>
                                </a:rPr>
                                <m:t>𝑠𝑖𝑔𝑛𝑎𝑙</m:t>
                              </m:r>
                            </m:num>
                            <m:den>
                              <m:r>
                                <a:rPr lang="zh-TW" altLang="en-US" sz="2000">
                                  <a:solidFill>
                                    <a:srgbClr val="483832"/>
                                  </a:solidFill>
                                  <a:latin typeface="Cambria Math" panose="02040503050406030204" pitchFamily="18" charset="0"/>
                                </a:rPr>
                                <m:t>𝑖𝑑𝑙𝑒</m:t>
                              </m:r>
                              <m:r>
                                <a:rPr lang="en-US" altLang="zh-TW" sz="2000" smtClean="0">
                                  <a:solidFill>
                                    <a:srgbClr val="483832"/>
                                  </a:solidFill>
                                  <a:latin typeface="Cambria Math" panose="02040503050406030204" pitchFamily="18" charset="0"/>
                                </a:rPr>
                                <m:t>𝑟</m:t>
                              </m:r>
                            </m:den>
                          </m:f>
                        </m:e>
                      </m:d>
                      <m:r>
                        <a:rPr lang="zh-TW" altLang="en-US" sz="2000">
                          <a:solidFill>
                            <a:srgbClr val="483832"/>
                          </a:solidFill>
                          <a:latin typeface="Cambria Math" panose="02040503050406030204" pitchFamily="18" charset="0"/>
                        </a:rPr>
                        <m:t>=10</m:t>
                      </m:r>
                      <m:func>
                        <m:funcPr>
                          <m:ctrlPr>
                            <a:rPr lang="zh-TW" altLang="en-US" sz="2000" i="1">
                              <a:solidFill>
                                <a:srgbClr val="483832"/>
                              </a:solidFill>
                              <a:latin typeface="Cambria Math" panose="02040503050406030204" pitchFamily="18" charset="0"/>
                            </a:rPr>
                          </m:ctrlPr>
                        </m:funcPr>
                        <m:fName>
                          <m:sSub>
                            <m:sSubPr>
                              <m:ctrlPr>
                                <a:rPr lang="zh-TW" altLang="en-US" sz="2000" i="1">
                                  <a:solidFill>
                                    <a:srgbClr val="483832"/>
                                  </a:solidFill>
                                  <a:latin typeface="Cambria Math" panose="02040503050406030204" pitchFamily="18" charset="0"/>
                                </a:rPr>
                              </m:ctrlPr>
                            </m:sSubPr>
                            <m:e>
                              <m:r>
                                <m:rPr>
                                  <m:sty m:val="p"/>
                                </m:rPr>
                                <a:rPr lang="zh-TW" altLang="en-US" sz="2000">
                                  <a:solidFill>
                                    <a:srgbClr val="483832"/>
                                  </a:solidFill>
                                  <a:latin typeface="Cambria Math" panose="02040503050406030204" pitchFamily="18" charset="0"/>
                                </a:rPr>
                                <m:t>log</m:t>
                              </m:r>
                            </m:e>
                            <m:sub>
                              <m:r>
                                <a:rPr lang="zh-TW" altLang="en-US" sz="2000">
                                  <a:solidFill>
                                    <a:srgbClr val="483832"/>
                                  </a:solidFill>
                                  <a:latin typeface="Cambria Math" panose="02040503050406030204" pitchFamily="18" charset="0"/>
                                </a:rPr>
                                <m:t>10</m:t>
                              </m:r>
                            </m:sub>
                          </m:sSub>
                        </m:fName>
                        <m:e>
                          <m:d>
                            <m:dPr>
                              <m:ctrlPr>
                                <a:rPr lang="zh-TW" altLang="en-US" sz="2000" i="1">
                                  <a:solidFill>
                                    <a:srgbClr val="483832"/>
                                  </a:solidFill>
                                  <a:latin typeface="Cambria Math" panose="02040503050406030204" pitchFamily="18" charset="0"/>
                                </a:rPr>
                              </m:ctrlPr>
                            </m:dPr>
                            <m:e>
                              <m:f>
                                <m:fPr>
                                  <m:ctrlPr>
                                    <a:rPr lang="zh-TW" altLang="en-US" sz="2000" i="1">
                                      <a:solidFill>
                                        <a:srgbClr val="483832"/>
                                      </a:solidFill>
                                      <a:latin typeface="Cambria Math" panose="02040503050406030204" pitchFamily="18" charset="0"/>
                                    </a:rPr>
                                  </m:ctrlPr>
                                </m:fPr>
                                <m:num>
                                  <m:sSub>
                                    <m:sSubPr>
                                      <m:ctrlPr>
                                        <a:rPr lang="zh-TW" altLang="en-US" sz="2000" i="1">
                                          <a:solidFill>
                                            <a:srgbClr val="483832"/>
                                          </a:solidFill>
                                          <a:latin typeface="Cambria Math" panose="02040503050406030204" pitchFamily="18" charset="0"/>
                                        </a:rPr>
                                      </m:ctrlPr>
                                    </m:sSubPr>
                                    <m:e>
                                      <m:f>
                                        <m:fPr>
                                          <m:type m:val="lin"/>
                                          <m:ctrlPr>
                                            <a:rPr lang="zh-TW" altLang="en-US" sz="2000" i="1">
                                              <a:solidFill>
                                                <a:srgbClr val="483832"/>
                                              </a:solidFill>
                                              <a:latin typeface="Cambria Math" panose="02040503050406030204" pitchFamily="18" charset="0"/>
                                            </a:rPr>
                                          </m:ctrlPr>
                                        </m:fPr>
                                        <m:num>
                                          <m:r>
                                            <a:rPr lang="zh-TW" altLang="en-US" sz="2000">
                                              <a:solidFill>
                                                <a:srgbClr val="483832"/>
                                              </a:solidFill>
                                              <a:latin typeface="Cambria Math" panose="02040503050406030204" pitchFamily="18" charset="0"/>
                                            </a:rPr>
                                            <m:t>𝑠𝑖𝑔𝑛𝑎𝑙</m:t>
                                          </m:r>
                                        </m:num>
                                        <m:den>
                                          <m:r>
                                            <a:rPr lang="zh-TW" altLang="en-US" sz="2000">
                                              <a:solidFill>
                                                <a:srgbClr val="483832"/>
                                              </a:solidFill>
                                              <a:latin typeface="Cambria Math" panose="02040503050406030204" pitchFamily="18" charset="0"/>
                                            </a:rPr>
                                            <m:t>𝑖𝑑𝑙𝑒𝑟</m:t>
                                          </m:r>
                                        </m:den>
                                      </m:f>
                                      <m:r>
                                        <a:rPr lang="zh-TW" altLang="en-US" sz="2000">
                                          <a:solidFill>
                                            <a:srgbClr val="483832"/>
                                          </a:solidFill>
                                          <a:latin typeface="Cambria Math" panose="02040503050406030204" pitchFamily="18" charset="0"/>
                                        </a:rPr>
                                        <m:t>𝑝𝑜𝑤𝑒𝑟</m:t>
                                      </m:r>
                                    </m:e>
                                    <m:sub>
                                      <m:r>
                                        <a:rPr lang="zh-TW" altLang="en-US" sz="2000">
                                          <a:solidFill>
                                            <a:srgbClr val="483832"/>
                                          </a:solidFill>
                                          <a:latin typeface="Cambria Math" panose="02040503050406030204" pitchFamily="18" charset="0"/>
                                        </a:rPr>
                                        <m:t>𝑠𝑖𝑔𝑛𝑎𝑙</m:t>
                                      </m:r>
                                      <m:r>
                                        <a:rPr lang="en-US" altLang="zh-TW" sz="2000" smtClean="0">
                                          <a:solidFill>
                                            <a:srgbClr val="483832"/>
                                          </a:solidFill>
                                          <a:latin typeface="Cambria Math" panose="02040503050406030204" pitchFamily="18" charset="0"/>
                                        </a:rPr>
                                        <m:t> </m:t>
                                      </m:r>
                                      <m:r>
                                        <a:rPr lang="en-US" altLang="zh-TW" sz="2000" smtClean="0">
                                          <a:solidFill>
                                            <a:srgbClr val="483832"/>
                                          </a:solidFill>
                                          <a:latin typeface="Cambria Math" panose="02040503050406030204" pitchFamily="18" charset="0"/>
                                        </a:rPr>
                                        <m:t>𝑝𝑜𝑟𝑡</m:t>
                                      </m:r>
                                    </m:sub>
                                  </m:sSub>
                                </m:num>
                                <m:den>
                                  <m:sSub>
                                    <m:sSubPr>
                                      <m:ctrlPr>
                                        <a:rPr lang="zh-TW" altLang="en-US" sz="2000" i="1">
                                          <a:solidFill>
                                            <a:srgbClr val="483832"/>
                                          </a:solidFill>
                                          <a:latin typeface="Cambria Math" panose="02040503050406030204" pitchFamily="18" charset="0"/>
                                        </a:rPr>
                                      </m:ctrlPr>
                                    </m:sSubPr>
                                    <m:e>
                                      <m:f>
                                        <m:fPr>
                                          <m:type m:val="lin"/>
                                          <m:ctrlPr>
                                            <a:rPr lang="zh-TW" altLang="en-US" sz="2000" i="1">
                                              <a:solidFill>
                                                <a:srgbClr val="483832"/>
                                              </a:solidFill>
                                              <a:latin typeface="Cambria Math" panose="02040503050406030204" pitchFamily="18" charset="0"/>
                                            </a:rPr>
                                          </m:ctrlPr>
                                        </m:fPr>
                                        <m:num>
                                          <m:r>
                                            <a:rPr lang="zh-TW" altLang="en-US" sz="2000">
                                              <a:solidFill>
                                                <a:srgbClr val="483832"/>
                                              </a:solidFill>
                                              <a:latin typeface="Cambria Math" panose="02040503050406030204" pitchFamily="18" charset="0"/>
                                            </a:rPr>
                                            <m:t>𝑠𝑖𝑔𝑛𝑎𝑙</m:t>
                                          </m:r>
                                        </m:num>
                                        <m:den>
                                          <m:r>
                                            <a:rPr lang="zh-TW" altLang="en-US" sz="2000">
                                              <a:solidFill>
                                                <a:srgbClr val="483832"/>
                                              </a:solidFill>
                                              <a:latin typeface="Cambria Math" panose="02040503050406030204" pitchFamily="18" charset="0"/>
                                            </a:rPr>
                                            <m:t>𝑖𝑑𝑙𝑒𝑟</m:t>
                                          </m:r>
                                        </m:den>
                                      </m:f>
                                      <m:r>
                                        <a:rPr lang="zh-TW" altLang="en-US" sz="2000">
                                          <a:solidFill>
                                            <a:srgbClr val="483832"/>
                                          </a:solidFill>
                                          <a:latin typeface="Cambria Math" panose="02040503050406030204" pitchFamily="18" charset="0"/>
                                        </a:rPr>
                                        <m:t>𝑝𝑜𝑤𝑒𝑟</m:t>
                                      </m:r>
                                    </m:e>
                                    <m:sub>
                                      <m:r>
                                        <a:rPr lang="zh-TW" altLang="en-US" sz="2000">
                                          <a:solidFill>
                                            <a:srgbClr val="483832"/>
                                          </a:solidFill>
                                          <a:latin typeface="Cambria Math" panose="02040503050406030204" pitchFamily="18" charset="0"/>
                                        </a:rPr>
                                        <m:t>𝑝𝑢𝑚𝑝</m:t>
                                      </m:r>
                                      <m:r>
                                        <a:rPr lang="en-US" altLang="zh-TW" sz="2000" smtClean="0">
                                          <a:solidFill>
                                            <a:srgbClr val="483832"/>
                                          </a:solidFill>
                                          <a:latin typeface="Cambria Math" panose="02040503050406030204" pitchFamily="18" charset="0"/>
                                        </a:rPr>
                                        <m:t> </m:t>
                                      </m:r>
                                      <m:r>
                                        <a:rPr lang="en-US" altLang="zh-TW" sz="2000" smtClean="0">
                                          <a:solidFill>
                                            <a:srgbClr val="483832"/>
                                          </a:solidFill>
                                          <a:latin typeface="Cambria Math" panose="02040503050406030204" pitchFamily="18" charset="0"/>
                                        </a:rPr>
                                        <m:t>𝑝𝑜𝑟𝑡</m:t>
                                      </m:r>
                                    </m:sub>
                                  </m:sSub>
                                </m:den>
                              </m:f>
                            </m:e>
                          </m:d>
                        </m:e>
                      </m:func>
                    </m:oMath>
                  </m:oMathPara>
                </a14:m>
                <a:endParaRPr lang="en-US" altLang="zh-TW" sz="2000" dirty="0">
                  <a:solidFill>
                    <a:srgbClr val="483832"/>
                  </a:solidFill>
                  <a:latin typeface="Times New Roman" panose="02020603050405020304" pitchFamily="18" charset="0"/>
                </a:endParaRPr>
              </a:p>
            </p:txBody>
          </p:sp>
        </mc:Choice>
        <mc:Fallback xmlns="">
          <p:sp>
            <p:nvSpPr>
              <p:cNvPr id="8" name="矩形: 圓角 7">
                <a:extLst>
                  <a:ext uri="{FF2B5EF4-FFF2-40B4-BE49-F238E27FC236}">
                    <a16:creationId xmlns:a16="http://schemas.microsoft.com/office/drawing/2014/main" id="{5CF7DC3A-71D1-41D0-819F-C2943AC2FBE2}"/>
                  </a:ext>
                </a:extLst>
              </p:cNvPr>
              <p:cNvSpPr>
                <a:spLocks noRot="1" noChangeAspect="1" noMove="1" noResize="1" noEditPoints="1" noAdjustHandles="1" noChangeArrowheads="1" noChangeShapeType="1" noTextEdit="1"/>
              </p:cNvSpPr>
              <p:nvPr/>
            </p:nvSpPr>
            <p:spPr>
              <a:xfrm>
                <a:off x="4338320" y="934065"/>
                <a:ext cx="7168805" cy="1941274"/>
              </a:xfrm>
              <a:prstGeom prst="roundRect">
                <a:avLst>
                  <a:gd name="adj" fmla="val 21894"/>
                </a:avLst>
              </a:prstGeom>
              <a:blipFill>
                <a:blip r:embed="rId5"/>
                <a:stretch>
                  <a:fillRect b="-32919"/>
                </a:stretch>
              </a:blipFill>
              <a:ln w="19050">
                <a:solidFill>
                  <a:schemeClr val="accent1">
                    <a:lumMod val="75000"/>
                  </a:schemeClr>
                </a:solidFill>
                <a:prstDash val="lgDash"/>
              </a:ln>
            </p:spPr>
            <p:txBody>
              <a:bodyPr/>
              <a:lstStyle/>
              <a:p>
                <a:r>
                  <a:rPr lang="zh-TW" altLang="en-US">
                    <a:noFill/>
                  </a:rPr>
                  <a:t> </a:t>
                </a:r>
              </a:p>
            </p:txBody>
          </p:sp>
        </mc:Fallback>
      </mc:AlternateContent>
    </p:spTree>
    <p:extLst>
      <p:ext uri="{BB962C8B-B14F-4D97-AF65-F5344CB8AC3E}">
        <p14:creationId xmlns:p14="http://schemas.microsoft.com/office/powerpoint/2010/main" val="2505371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32CD18B-D830-471F-83F7-0C1F135F744D}"/>
              </a:ext>
            </a:extLst>
          </p:cNvPr>
          <p:cNvSpPr>
            <a:spLocks noGrp="1"/>
          </p:cNvSpPr>
          <p:nvPr>
            <p:ph type="sldNum" sz="quarter" idx="12"/>
          </p:nvPr>
        </p:nvSpPr>
        <p:spPr/>
        <p:txBody>
          <a:bodyPr/>
          <a:lstStyle/>
          <a:p>
            <a:fld id="{455EAC32-2A49-4ED3-ADC7-B6121E233147}" type="slidenum">
              <a:rPr lang="zh-TW" altLang="en-US" smtClean="0"/>
              <a:t>19</a:t>
            </a:fld>
            <a:endParaRPr lang="zh-TW" altLang="en-US"/>
          </a:p>
        </p:txBody>
      </p:sp>
      <p:sp>
        <p:nvSpPr>
          <p:cNvPr id="5" name="文字版面配置區 4">
            <a:extLst>
              <a:ext uri="{FF2B5EF4-FFF2-40B4-BE49-F238E27FC236}">
                <a16:creationId xmlns:a16="http://schemas.microsoft.com/office/drawing/2014/main" id="{E3F4AE42-CE2F-4911-8268-AA939BA268DD}"/>
              </a:ext>
            </a:extLst>
          </p:cNvPr>
          <p:cNvSpPr>
            <a:spLocks noGrp="1"/>
          </p:cNvSpPr>
          <p:nvPr>
            <p:ph type="body" sz="half" idx="13"/>
          </p:nvPr>
        </p:nvSpPr>
        <p:spPr>
          <a:xfrm>
            <a:off x="3271521" y="16590"/>
            <a:ext cx="5648960" cy="660417"/>
          </a:xfrm>
        </p:spPr>
        <p:txBody>
          <a:bodyPr>
            <a:normAutofit/>
          </a:bodyPr>
          <a:lstStyle/>
          <a:p>
            <a:r>
              <a:rPr lang="en-US" altLang="zh-TW" dirty="0"/>
              <a:t>High-pass filter simulation</a:t>
            </a:r>
            <a:endParaRPr lang="zh-TW" altLang="en-US" dirty="0"/>
          </a:p>
        </p:txBody>
      </p:sp>
      <p:grpSp>
        <p:nvGrpSpPr>
          <p:cNvPr id="6" name="群組 5">
            <a:extLst>
              <a:ext uri="{FF2B5EF4-FFF2-40B4-BE49-F238E27FC236}">
                <a16:creationId xmlns:a16="http://schemas.microsoft.com/office/drawing/2014/main" id="{BF2BE71A-AE2D-464E-A552-D7D7827C960C}"/>
              </a:ext>
            </a:extLst>
          </p:cNvPr>
          <p:cNvGrpSpPr/>
          <p:nvPr/>
        </p:nvGrpSpPr>
        <p:grpSpPr>
          <a:xfrm>
            <a:off x="812800" y="1428750"/>
            <a:ext cx="11205760" cy="4320000"/>
            <a:chOff x="934720" y="1428750"/>
            <a:chExt cx="11205760" cy="4320000"/>
          </a:xfrm>
        </p:grpSpPr>
        <p:pic>
          <p:nvPicPr>
            <p:cNvPr id="3" name="圖片 2">
              <a:extLst>
                <a:ext uri="{FF2B5EF4-FFF2-40B4-BE49-F238E27FC236}">
                  <a16:creationId xmlns:a16="http://schemas.microsoft.com/office/drawing/2014/main" id="{1407B920-1B32-4645-A0FA-29AB8FD08CB1}"/>
                </a:ext>
              </a:extLst>
            </p:cNvPr>
            <p:cNvPicPr>
              <a:picLocks noChangeAspect="1"/>
            </p:cNvPicPr>
            <p:nvPr/>
          </p:nvPicPr>
          <p:blipFill>
            <a:blip r:embed="rId3"/>
            <a:stretch>
              <a:fillRect/>
            </a:stretch>
          </p:blipFill>
          <p:spPr>
            <a:xfrm>
              <a:off x="934720" y="1428750"/>
              <a:ext cx="5760000" cy="4320000"/>
            </a:xfrm>
            <a:prstGeom prst="rect">
              <a:avLst/>
            </a:prstGeom>
          </p:spPr>
        </p:pic>
        <p:pic>
          <p:nvPicPr>
            <p:cNvPr id="4" name="圖片 3">
              <a:extLst>
                <a:ext uri="{FF2B5EF4-FFF2-40B4-BE49-F238E27FC236}">
                  <a16:creationId xmlns:a16="http://schemas.microsoft.com/office/drawing/2014/main" id="{EB5153AA-0C17-4FF8-BA5E-F951924174A3}"/>
                </a:ext>
              </a:extLst>
            </p:cNvPr>
            <p:cNvPicPr>
              <a:picLocks noChangeAspect="1"/>
            </p:cNvPicPr>
            <p:nvPr/>
          </p:nvPicPr>
          <p:blipFill>
            <a:blip r:embed="rId4"/>
            <a:stretch>
              <a:fillRect/>
            </a:stretch>
          </p:blipFill>
          <p:spPr>
            <a:xfrm>
              <a:off x="6380480" y="1428750"/>
              <a:ext cx="5760000" cy="4320000"/>
            </a:xfrm>
            <a:prstGeom prst="rect">
              <a:avLst/>
            </a:prstGeom>
          </p:spPr>
        </p:pic>
      </p:grpSp>
    </p:spTree>
    <p:extLst>
      <p:ext uri="{BB962C8B-B14F-4D97-AF65-F5344CB8AC3E}">
        <p14:creationId xmlns:p14="http://schemas.microsoft.com/office/powerpoint/2010/main" val="1745108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群組 8">
            <a:extLst>
              <a:ext uri="{FF2B5EF4-FFF2-40B4-BE49-F238E27FC236}">
                <a16:creationId xmlns:a16="http://schemas.microsoft.com/office/drawing/2014/main" id="{4F7D5302-C03B-497B-B682-86D638EC14F5}"/>
              </a:ext>
            </a:extLst>
          </p:cNvPr>
          <p:cNvGrpSpPr/>
          <p:nvPr/>
        </p:nvGrpSpPr>
        <p:grpSpPr>
          <a:xfrm>
            <a:off x="907625" y="1805815"/>
            <a:ext cx="10971314" cy="3449569"/>
            <a:chOff x="907625" y="2169160"/>
            <a:chExt cx="10971314" cy="3449569"/>
          </a:xfrm>
        </p:grpSpPr>
        <p:grpSp>
          <p:nvGrpSpPr>
            <p:cNvPr id="4" name="群組 3">
              <a:extLst>
                <a:ext uri="{FF2B5EF4-FFF2-40B4-BE49-F238E27FC236}">
                  <a16:creationId xmlns:a16="http://schemas.microsoft.com/office/drawing/2014/main" id="{B2F095EF-9686-4F2A-93A4-38433A56B415}"/>
                </a:ext>
              </a:extLst>
            </p:cNvPr>
            <p:cNvGrpSpPr/>
            <p:nvPr/>
          </p:nvGrpSpPr>
          <p:grpSpPr>
            <a:xfrm>
              <a:off x="907625" y="2169160"/>
              <a:ext cx="10971314" cy="2519680"/>
              <a:chOff x="1807364" y="2439352"/>
              <a:chExt cx="8618339" cy="1979295"/>
            </a:xfrm>
          </p:grpSpPr>
          <p:pic>
            <p:nvPicPr>
              <p:cNvPr id="5" name="圖片 4">
                <a:extLst>
                  <a:ext uri="{FF2B5EF4-FFF2-40B4-BE49-F238E27FC236}">
                    <a16:creationId xmlns:a16="http://schemas.microsoft.com/office/drawing/2014/main" id="{46FA1802-012B-45D3-B5E2-C148BA18318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807364" y="2439352"/>
                <a:ext cx="2630805" cy="1979295"/>
              </a:xfrm>
              <a:prstGeom prst="rect">
                <a:avLst/>
              </a:prstGeom>
              <a:noFill/>
              <a:ln>
                <a:noFill/>
              </a:ln>
            </p:spPr>
          </p:pic>
          <p:pic>
            <p:nvPicPr>
              <p:cNvPr id="6" name="圖片 5">
                <a:extLst>
                  <a:ext uri="{FF2B5EF4-FFF2-40B4-BE49-F238E27FC236}">
                    <a16:creationId xmlns:a16="http://schemas.microsoft.com/office/drawing/2014/main" id="{34C5E5DB-8C20-46A3-B3E6-639075C15204}"/>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4790018" y="2439352"/>
                <a:ext cx="2653030" cy="1979295"/>
              </a:xfrm>
              <a:prstGeom prst="rect">
                <a:avLst/>
              </a:prstGeom>
            </p:spPr>
          </p:pic>
          <p:pic>
            <p:nvPicPr>
              <p:cNvPr id="7" name="圖片 6">
                <a:extLst>
                  <a:ext uri="{FF2B5EF4-FFF2-40B4-BE49-F238E27FC236}">
                    <a16:creationId xmlns:a16="http://schemas.microsoft.com/office/drawing/2014/main" id="{03F2DC6A-B5DC-41DA-B1E2-498628F36898}"/>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7794898" y="2439352"/>
                <a:ext cx="2630805" cy="1979295"/>
              </a:xfrm>
              <a:prstGeom prst="rect">
                <a:avLst/>
              </a:prstGeom>
              <a:noFill/>
              <a:ln>
                <a:noFill/>
              </a:ln>
            </p:spPr>
          </p:pic>
        </p:grpSp>
        <p:sp>
          <p:nvSpPr>
            <p:cNvPr id="8" name="矩形 7">
              <a:extLst>
                <a:ext uri="{FF2B5EF4-FFF2-40B4-BE49-F238E27FC236}">
                  <a16:creationId xmlns:a16="http://schemas.microsoft.com/office/drawing/2014/main" id="{E4BEFD06-4F51-47F3-AA31-247C0F742ED7}"/>
                </a:ext>
              </a:extLst>
            </p:cNvPr>
            <p:cNvSpPr/>
            <p:nvPr/>
          </p:nvSpPr>
          <p:spPr>
            <a:xfrm>
              <a:off x="4054416" y="5218619"/>
              <a:ext cx="4083169" cy="400110"/>
            </a:xfrm>
            <a:prstGeom prst="rect">
              <a:avLst/>
            </a:prstGeom>
          </p:spPr>
          <p:txBody>
            <a:bodyPr wrap="none">
              <a:spAutoFit/>
            </a:bodyPr>
            <a:lstStyle/>
            <a:p>
              <a:r>
                <a:rPr lang="en-US" altLang="zh-TW" sz="2000" dirty="0">
                  <a:solidFill>
                    <a:srgbClr val="483832"/>
                  </a:solidFill>
                  <a:latin typeface="Times New Roman" panose="02020603050405020304" pitchFamily="18" charset="0"/>
                  <a:ea typeface="DFKai-SB" panose="03000509000000000000" pitchFamily="65" charset="-120"/>
                </a:rPr>
                <a:t>(a)1500nm</a:t>
              </a:r>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en-US" altLang="zh-TW" sz="2000" dirty="0">
                  <a:solidFill>
                    <a:srgbClr val="483832"/>
                  </a:solidFill>
                  <a:latin typeface="Times New Roman" panose="02020603050405020304" pitchFamily="18" charset="0"/>
                  <a:ea typeface="DFKai-SB" panose="03000509000000000000" pitchFamily="65" charset="-120"/>
                </a:rPr>
                <a:t>(b)1550nm</a:t>
              </a:r>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en-US" altLang="zh-TW" sz="2000" dirty="0">
                  <a:solidFill>
                    <a:srgbClr val="483832"/>
                  </a:solidFill>
                  <a:latin typeface="Times New Roman" panose="02020603050405020304" pitchFamily="18" charset="0"/>
                  <a:ea typeface="DFKai-SB" panose="03000509000000000000" pitchFamily="65" charset="-120"/>
                </a:rPr>
                <a:t>(c)1600nm</a:t>
              </a:r>
              <a:endParaRPr lang="zh-TW" altLang="en-US" sz="2000" dirty="0">
                <a:solidFill>
                  <a:srgbClr val="483832"/>
                </a:solidFill>
                <a:latin typeface="Times New Roman" panose="02020603050405020304" pitchFamily="18" charset="0"/>
              </a:endParaRPr>
            </a:p>
          </p:txBody>
        </p:sp>
      </p:grpSp>
      <p:sp>
        <p:nvSpPr>
          <p:cNvPr id="2" name="文字版面配置區 1">
            <a:extLst>
              <a:ext uri="{FF2B5EF4-FFF2-40B4-BE49-F238E27FC236}">
                <a16:creationId xmlns:a16="http://schemas.microsoft.com/office/drawing/2014/main" id="{7A5DCEF8-9EDF-41D4-8B98-61933A447968}"/>
              </a:ext>
            </a:extLst>
          </p:cNvPr>
          <p:cNvSpPr>
            <a:spLocks noGrp="1"/>
          </p:cNvSpPr>
          <p:nvPr>
            <p:ph type="body" sz="half" idx="13"/>
          </p:nvPr>
        </p:nvSpPr>
        <p:spPr>
          <a:xfrm>
            <a:off x="2214882" y="16590"/>
            <a:ext cx="7762238" cy="660417"/>
          </a:xfrm>
        </p:spPr>
        <p:txBody>
          <a:bodyPr>
            <a:normAutofit/>
          </a:bodyPr>
          <a:lstStyle/>
          <a:p>
            <a:r>
              <a:rPr lang="en-US" altLang="zh-TW" dirty="0"/>
              <a:t>High-pass filter simulation BPM(signal)</a:t>
            </a:r>
            <a:endParaRPr lang="zh-TW" altLang="en-US" dirty="0"/>
          </a:p>
        </p:txBody>
      </p:sp>
      <p:sp>
        <p:nvSpPr>
          <p:cNvPr id="3" name="投影片編號版面配置區 2">
            <a:extLst>
              <a:ext uri="{FF2B5EF4-FFF2-40B4-BE49-F238E27FC236}">
                <a16:creationId xmlns:a16="http://schemas.microsoft.com/office/drawing/2014/main" id="{F8876D04-DF3C-4EED-B271-7B4E19D2556A}"/>
              </a:ext>
            </a:extLst>
          </p:cNvPr>
          <p:cNvSpPr>
            <a:spLocks noGrp="1"/>
          </p:cNvSpPr>
          <p:nvPr>
            <p:ph type="sldNum" sz="quarter" idx="12"/>
          </p:nvPr>
        </p:nvSpPr>
        <p:spPr/>
        <p:txBody>
          <a:bodyPr/>
          <a:lstStyle/>
          <a:p>
            <a:fld id="{9820161B-3DFF-4FF5-AA0E-35496F014571}" type="slidenum">
              <a:rPr lang="zh-TW" altLang="en-US" smtClean="0"/>
              <a:t>20</a:t>
            </a:fld>
            <a:endParaRPr lang="zh-TW" altLang="en-US"/>
          </a:p>
        </p:txBody>
      </p:sp>
    </p:spTree>
    <p:extLst>
      <p:ext uri="{BB962C8B-B14F-4D97-AF65-F5344CB8AC3E}">
        <p14:creationId xmlns:p14="http://schemas.microsoft.com/office/powerpoint/2010/main" val="1585277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9059D95D-3EC6-4E08-A0A7-9A77D3CD6A69}"/>
              </a:ext>
            </a:extLst>
          </p:cNvPr>
          <p:cNvSpPr>
            <a:spLocks noGrp="1"/>
          </p:cNvSpPr>
          <p:nvPr>
            <p:ph type="body" sz="half" idx="13"/>
          </p:nvPr>
        </p:nvSpPr>
        <p:spPr>
          <a:xfrm>
            <a:off x="3515361" y="16590"/>
            <a:ext cx="5161280" cy="660417"/>
          </a:xfrm>
        </p:spPr>
        <p:txBody>
          <a:bodyPr>
            <a:normAutofit/>
          </a:bodyPr>
          <a:lstStyle/>
          <a:p>
            <a:r>
              <a:rPr lang="en-US" altLang="zh-TW" dirty="0"/>
              <a:t>High-pass filter simulation</a:t>
            </a:r>
            <a:endParaRPr lang="zh-TW" altLang="en-US" dirty="0"/>
          </a:p>
        </p:txBody>
      </p:sp>
      <p:grpSp>
        <p:nvGrpSpPr>
          <p:cNvPr id="6" name="群組 5">
            <a:extLst>
              <a:ext uri="{FF2B5EF4-FFF2-40B4-BE49-F238E27FC236}">
                <a16:creationId xmlns:a16="http://schemas.microsoft.com/office/drawing/2014/main" id="{BA9DE261-91A4-478A-967F-5E56E69D5FCD}"/>
              </a:ext>
            </a:extLst>
          </p:cNvPr>
          <p:cNvGrpSpPr/>
          <p:nvPr/>
        </p:nvGrpSpPr>
        <p:grpSpPr>
          <a:xfrm>
            <a:off x="813600" y="1428750"/>
            <a:ext cx="11205760" cy="4320000"/>
            <a:chOff x="650240" y="1428750"/>
            <a:chExt cx="11205760" cy="4320000"/>
          </a:xfrm>
        </p:grpSpPr>
        <p:pic>
          <p:nvPicPr>
            <p:cNvPr id="3" name="圖片 2">
              <a:extLst>
                <a:ext uri="{FF2B5EF4-FFF2-40B4-BE49-F238E27FC236}">
                  <a16:creationId xmlns:a16="http://schemas.microsoft.com/office/drawing/2014/main" id="{B7A6186E-EB39-4A00-8B4B-991DC69C1091}"/>
                </a:ext>
              </a:extLst>
            </p:cNvPr>
            <p:cNvPicPr>
              <a:picLocks noChangeAspect="1"/>
            </p:cNvPicPr>
            <p:nvPr/>
          </p:nvPicPr>
          <p:blipFill>
            <a:blip r:embed="rId3"/>
            <a:stretch>
              <a:fillRect/>
            </a:stretch>
          </p:blipFill>
          <p:spPr>
            <a:xfrm>
              <a:off x="650240" y="1428750"/>
              <a:ext cx="5760000" cy="4320000"/>
            </a:xfrm>
            <a:prstGeom prst="rect">
              <a:avLst/>
            </a:prstGeom>
          </p:spPr>
        </p:pic>
        <p:pic>
          <p:nvPicPr>
            <p:cNvPr id="4" name="圖片 3">
              <a:extLst>
                <a:ext uri="{FF2B5EF4-FFF2-40B4-BE49-F238E27FC236}">
                  <a16:creationId xmlns:a16="http://schemas.microsoft.com/office/drawing/2014/main" id="{08642335-937E-43F6-8761-0858D29BC2EC}"/>
                </a:ext>
              </a:extLst>
            </p:cNvPr>
            <p:cNvPicPr>
              <a:picLocks noChangeAspect="1"/>
            </p:cNvPicPr>
            <p:nvPr/>
          </p:nvPicPr>
          <p:blipFill>
            <a:blip r:embed="rId4"/>
            <a:stretch>
              <a:fillRect/>
            </a:stretch>
          </p:blipFill>
          <p:spPr>
            <a:xfrm>
              <a:off x="6096000" y="1428750"/>
              <a:ext cx="5760000" cy="4320000"/>
            </a:xfrm>
            <a:prstGeom prst="rect">
              <a:avLst/>
            </a:prstGeom>
          </p:spPr>
        </p:pic>
      </p:grpSp>
      <p:sp>
        <p:nvSpPr>
          <p:cNvPr id="5" name="投影片編號版面配置區 4">
            <a:extLst>
              <a:ext uri="{FF2B5EF4-FFF2-40B4-BE49-F238E27FC236}">
                <a16:creationId xmlns:a16="http://schemas.microsoft.com/office/drawing/2014/main" id="{CCD1FD23-6348-4C21-A5F9-A66DAFFE1AE9}"/>
              </a:ext>
            </a:extLst>
          </p:cNvPr>
          <p:cNvSpPr>
            <a:spLocks noGrp="1"/>
          </p:cNvSpPr>
          <p:nvPr>
            <p:ph type="sldNum" sz="quarter" idx="12"/>
          </p:nvPr>
        </p:nvSpPr>
        <p:spPr/>
        <p:txBody>
          <a:bodyPr/>
          <a:lstStyle/>
          <a:p>
            <a:fld id="{9820161B-3DFF-4FF5-AA0E-35496F014571}" type="slidenum">
              <a:rPr lang="zh-TW" altLang="en-US" smtClean="0"/>
              <a:t>21</a:t>
            </a:fld>
            <a:endParaRPr lang="zh-TW" altLang="en-US"/>
          </a:p>
        </p:txBody>
      </p:sp>
    </p:spTree>
    <p:extLst>
      <p:ext uri="{BB962C8B-B14F-4D97-AF65-F5344CB8AC3E}">
        <p14:creationId xmlns:p14="http://schemas.microsoft.com/office/powerpoint/2010/main" val="2847524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64790405-471B-4675-A7A3-41C66FAFCA73}"/>
              </a:ext>
            </a:extLst>
          </p:cNvPr>
          <p:cNvSpPr>
            <a:spLocks noGrp="1"/>
          </p:cNvSpPr>
          <p:nvPr>
            <p:ph type="body" sz="half" idx="13"/>
          </p:nvPr>
        </p:nvSpPr>
        <p:spPr>
          <a:xfrm>
            <a:off x="2814321" y="16590"/>
            <a:ext cx="6563360" cy="660417"/>
          </a:xfrm>
        </p:spPr>
        <p:txBody>
          <a:bodyPr>
            <a:normAutofit/>
          </a:bodyPr>
          <a:lstStyle/>
          <a:p>
            <a:r>
              <a:rPr lang="en-US" altLang="zh-TW" dirty="0"/>
              <a:t>High-pass filter simulation BPM(pump)</a:t>
            </a:r>
            <a:endParaRPr lang="zh-TW" altLang="en-US" dirty="0"/>
          </a:p>
        </p:txBody>
      </p:sp>
      <p:sp>
        <p:nvSpPr>
          <p:cNvPr id="8" name="投影片編號版面配置區 7">
            <a:extLst>
              <a:ext uri="{FF2B5EF4-FFF2-40B4-BE49-F238E27FC236}">
                <a16:creationId xmlns:a16="http://schemas.microsoft.com/office/drawing/2014/main" id="{06611254-D46D-466B-974C-CF7C56137E20}"/>
              </a:ext>
            </a:extLst>
          </p:cNvPr>
          <p:cNvSpPr>
            <a:spLocks noGrp="1"/>
          </p:cNvSpPr>
          <p:nvPr>
            <p:ph type="sldNum" sz="quarter" idx="12"/>
          </p:nvPr>
        </p:nvSpPr>
        <p:spPr/>
        <p:txBody>
          <a:bodyPr/>
          <a:lstStyle/>
          <a:p>
            <a:fld id="{9820161B-3DFF-4FF5-AA0E-35496F014571}" type="slidenum">
              <a:rPr lang="zh-TW" altLang="en-US" smtClean="0"/>
              <a:t>22</a:t>
            </a:fld>
            <a:endParaRPr lang="zh-TW" altLang="en-US"/>
          </a:p>
        </p:txBody>
      </p:sp>
      <p:grpSp>
        <p:nvGrpSpPr>
          <p:cNvPr id="21" name="群組 20">
            <a:extLst>
              <a:ext uri="{FF2B5EF4-FFF2-40B4-BE49-F238E27FC236}">
                <a16:creationId xmlns:a16="http://schemas.microsoft.com/office/drawing/2014/main" id="{F6E4265D-9C07-4C27-8422-A04D9B87901B}"/>
              </a:ext>
            </a:extLst>
          </p:cNvPr>
          <p:cNvGrpSpPr/>
          <p:nvPr/>
        </p:nvGrpSpPr>
        <p:grpSpPr>
          <a:xfrm>
            <a:off x="837228" y="1840166"/>
            <a:ext cx="11041711" cy="3412303"/>
            <a:chOff x="837228" y="1840166"/>
            <a:chExt cx="11041711" cy="3412303"/>
          </a:xfrm>
        </p:grpSpPr>
        <p:sp>
          <p:nvSpPr>
            <p:cNvPr id="7" name="矩形 6">
              <a:extLst>
                <a:ext uri="{FF2B5EF4-FFF2-40B4-BE49-F238E27FC236}">
                  <a16:creationId xmlns:a16="http://schemas.microsoft.com/office/drawing/2014/main" id="{50639E2F-7DC9-4DEE-83BB-36849D9B6FAA}"/>
                </a:ext>
              </a:extLst>
            </p:cNvPr>
            <p:cNvSpPr/>
            <p:nvPr/>
          </p:nvSpPr>
          <p:spPr>
            <a:xfrm>
              <a:off x="4246776" y="4852359"/>
              <a:ext cx="3698448" cy="400110"/>
            </a:xfrm>
            <a:prstGeom prst="rect">
              <a:avLst/>
            </a:prstGeom>
          </p:spPr>
          <p:txBody>
            <a:bodyPr wrap="none">
              <a:spAutoFit/>
            </a:bodyPr>
            <a:lstStyle/>
            <a:p>
              <a:r>
                <a:rPr lang="en-US" altLang="zh-TW" sz="2000" dirty="0">
                  <a:solidFill>
                    <a:srgbClr val="483832"/>
                  </a:solidFill>
                  <a:latin typeface="Times New Roman" panose="02020603050405020304" pitchFamily="18" charset="0"/>
                  <a:ea typeface="DFKai-SB" panose="03000509000000000000" pitchFamily="65" charset="-120"/>
                </a:rPr>
                <a:t>(a)725nm</a:t>
              </a:r>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en-US" altLang="zh-TW" sz="2000" dirty="0">
                  <a:solidFill>
                    <a:srgbClr val="483832"/>
                  </a:solidFill>
                  <a:latin typeface="Times New Roman" panose="02020603050405020304" pitchFamily="18" charset="0"/>
                  <a:ea typeface="DFKai-SB" panose="03000509000000000000" pitchFamily="65" charset="-120"/>
                </a:rPr>
                <a:t>(b)775nm</a:t>
              </a:r>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en-US" altLang="zh-TW" sz="2000" dirty="0">
                  <a:solidFill>
                    <a:srgbClr val="483832"/>
                  </a:solidFill>
                  <a:latin typeface="Times New Roman" panose="02020603050405020304" pitchFamily="18" charset="0"/>
                  <a:ea typeface="DFKai-SB" panose="03000509000000000000" pitchFamily="65" charset="-120"/>
                </a:rPr>
                <a:t>(c)825nm</a:t>
              </a:r>
              <a:endParaRPr lang="zh-TW" altLang="en-US" sz="2000" dirty="0">
                <a:solidFill>
                  <a:srgbClr val="483832"/>
                </a:solidFill>
                <a:latin typeface="Times New Roman" panose="02020603050405020304" pitchFamily="18" charset="0"/>
              </a:endParaRPr>
            </a:p>
          </p:txBody>
        </p:sp>
        <p:grpSp>
          <p:nvGrpSpPr>
            <p:cNvPr id="3" name="群組 2">
              <a:extLst>
                <a:ext uri="{FF2B5EF4-FFF2-40B4-BE49-F238E27FC236}">
                  <a16:creationId xmlns:a16="http://schemas.microsoft.com/office/drawing/2014/main" id="{86248DB3-1336-4AE8-B8C4-B2185567C154}"/>
                </a:ext>
              </a:extLst>
            </p:cNvPr>
            <p:cNvGrpSpPr/>
            <p:nvPr/>
          </p:nvGrpSpPr>
          <p:grpSpPr>
            <a:xfrm>
              <a:off x="837228" y="1840166"/>
              <a:ext cx="11041711" cy="2520000"/>
              <a:chOff x="1942199" y="2424113"/>
              <a:chExt cx="8781611" cy="1994534"/>
            </a:xfrm>
          </p:grpSpPr>
          <p:pic>
            <p:nvPicPr>
              <p:cNvPr id="4" name="圖片 3">
                <a:extLst>
                  <a:ext uri="{FF2B5EF4-FFF2-40B4-BE49-F238E27FC236}">
                    <a16:creationId xmlns:a16="http://schemas.microsoft.com/office/drawing/2014/main" id="{0A66833D-49D6-4978-96B6-F862C448CE8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42199" y="2424113"/>
                <a:ext cx="2685611" cy="1994534"/>
              </a:xfrm>
              <a:prstGeom prst="rect">
                <a:avLst/>
              </a:prstGeom>
              <a:noFill/>
              <a:ln>
                <a:noFill/>
              </a:ln>
            </p:spPr>
          </p:pic>
          <p:pic>
            <p:nvPicPr>
              <p:cNvPr id="5" name="圖片 4">
                <a:extLst>
                  <a:ext uri="{FF2B5EF4-FFF2-40B4-BE49-F238E27FC236}">
                    <a16:creationId xmlns:a16="http://schemas.microsoft.com/office/drawing/2014/main" id="{9F8F86D1-8BF4-418F-975E-50F1BFD54C8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990198" y="2424113"/>
                <a:ext cx="2685611" cy="1994534"/>
              </a:xfrm>
              <a:prstGeom prst="rect">
                <a:avLst/>
              </a:prstGeom>
              <a:noFill/>
              <a:ln>
                <a:noFill/>
              </a:ln>
            </p:spPr>
          </p:pic>
          <p:pic>
            <p:nvPicPr>
              <p:cNvPr id="6" name="圖片 5">
                <a:extLst>
                  <a:ext uri="{FF2B5EF4-FFF2-40B4-BE49-F238E27FC236}">
                    <a16:creationId xmlns:a16="http://schemas.microsoft.com/office/drawing/2014/main" id="{EFF90218-8C79-4A91-B075-7721A486765D}"/>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8038199" y="2424113"/>
                <a:ext cx="2685611" cy="1994534"/>
              </a:xfrm>
              <a:prstGeom prst="rect">
                <a:avLst/>
              </a:prstGeom>
              <a:noFill/>
              <a:ln>
                <a:noFill/>
              </a:ln>
            </p:spPr>
          </p:pic>
        </p:grpSp>
      </p:grpSp>
    </p:spTree>
    <p:extLst>
      <p:ext uri="{BB962C8B-B14F-4D97-AF65-F5344CB8AC3E}">
        <p14:creationId xmlns:p14="http://schemas.microsoft.com/office/powerpoint/2010/main" val="3520509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B7D6CB7-BE41-4407-8484-5095438BF9F1}"/>
              </a:ext>
            </a:extLst>
          </p:cNvPr>
          <p:cNvSpPr>
            <a:spLocks noGrp="1"/>
          </p:cNvSpPr>
          <p:nvPr>
            <p:ph type="sldNum" sz="quarter" idx="12"/>
          </p:nvPr>
        </p:nvSpPr>
        <p:spPr/>
        <p:txBody>
          <a:bodyPr/>
          <a:lstStyle/>
          <a:p>
            <a:fld id="{9820161B-3DFF-4FF5-AA0E-35496F014571}" type="slidenum">
              <a:rPr lang="zh-TW" altLang="en-US" smtClean="0"/>
              <a:t>23</a:t>
            </a:fld>
            <a:endParaRPr lang="zh-TW" altLang="en-US"/>
          </a:p>
        </p:txBody>
      </p:sp>
      <p:sp>
        <p:nvSpPr>
          <p:cNvPr id="4" name="矩形 3">
            <a:extLst>
              <a:ext uri="{FF2B5EF4-FFF2-40B4-BE49-F238E27FC236}">
                <a16:creationId xmlns:a16="http://schemas.microsoft.com/office/drawing/2014/main" id="{C856A051-585E-4122-A997-647D81A16D69}"/>
              </a:ext>
            </a:extLst>
          </p:cNvPr>
          <p:cNvSpPr/>
          <p:nvPr/>
        </p:nvSpPr>
        <p:spPr>
          <a:xfrm>
            <a:off x="691200" y="876362"/>
            <a:ext cx="6456137" cy="5392310"/>
          </a:xfrm>
          <a:prstGeom prst="rect">
            <a:avLst/>
          </a:prstGeom>
        </p:spPr>
        <p:txBody>
          <a:bodyPr wrap="square">
            <a:spAutoFit/>
          </a:bodyPr>
          <a:lstStyle/>
          <a:p>
            <a:pPr marL="514350" indent="-514350">
              <a:lnSpc>
                <a:spcPct val="150000"/>
              </a:lnSpc>
              <a:buAutoNum type="romanUcPeriod"/>
            </a:pPr>
            <a:r>
              <a:rPr lang="en-US" altLang="zh-TW" sz="2000" b="1" dirty="0">
                <a:solidFill>
                  <a:srgbClr val="483832"/>
                </a:solidFill>
                <a:latin typeface="Times New Roman" panose="02020603050405020304" pitchFamily="18" charset="0"/>
              </a:rPr>
              <a:t>Introduction</a:t>
            </a:r>
          </a:p>
          <a:p>
            <a:pPr marL="514350" indent="-514350">
              <a:lnSpc>
                <a:spcPct val="150000"/>
              </a:lnSpc>
              <a:buFontTx/>
              <a:buAutoNum type="romanUcPeriod"/>
            </a:pPr>
            <a:r>
              <a:rPr lang="en-US" altLang="zh-TW" sz="2000" b="1" dirty="0">
                <a:solidFill>
                  <a:srgbClr val="483832"/>
                </a:solidFill>
                <a:latin typeface="Times New Roman" panose="02020603050405020304" pitchFamily="18" charset="0"/>
              </a:rPr>
              <a:t>Theory</a:t>
            </a:r>
          </a:p>
          <a:p>
            <a:pPr marL="514350" indent="-514350">
              <a:lnSpc>
                <a:spcPct val="150000"/>
              </a:lnSpc>
              <a:buFontTx/>
              <a:buAutoNum type="romanUcPeriod"/>
            </a:pPr>
            <a:r>
              <a:rPr lang="en-US" altLang="zh-TW" sz="2000" b="1" dirty="0">
                <a:solidFill>
                  <a:srgbClr val="483832"/>
                </a:solidFill>
                <a:latin typeface="Times New Roman" panose="02020603050405020304" pitchFamily="18" charset="0"/>
              </a:rPr>
              <a:t>Simulation</a:t>
            </a:r>
          </a:p>
          <a:p>
            <a:pPr marL="514350" indent="-514350">
              <a:lnSpc>
                <a:spcPct val="150000"/>
              </a:lnSpc>
              <a:buFontTx/>
              <a:buAutoNum type="romanUcPeriod"/>
            </a:pPr>
            <a:r>
              <a:rPr lang="en-US" altLang="zh-TW" sz="2400" b="1"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Fabrication process</a:t>
            </a:r>
          </a:p>
          <a:p>
            <a:pPr marL="742950" lvl="1" indent="-285750">
              <a:lnSpc>
                <a:spcPct val="150000"/>
              </a:lnSpc>
              <a:buFont typeface="Arial" panose="020B0604020202020204" pitchFamily="34" charset="0"/>
              <a:buChar char="•"/>
            </a:pPr>
            <a:r>
              <a:rPr lang="en-US" altLang="zh-TW" sz="1600" kern="100" dirty="0" err="1">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Ti-indiffused</a:t>
            </a:r>
            <a:r>
              <a:rPr lang="en-US" altLang="zh-TW" sz="1600"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 waveguide</a:t>
            </a:r>
          </a:p>
          <a:p>
            <a:pPr marL="742950" lvl="1" indent="-285750">
              <a:lnSpc>
                <a:spcPct val="150000"/>
              </a:lnSpc>
              <a:buFont typeface="Arial" panose="020B0604020202020204" pitchFamily="34" charset="0"/>
              <a:buChar char="•"/>
            </a:pPr>
            <a:r>
              <a:rPr lang="en-US" altLang="zh-TW" sz="1600"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Electric field poling</a:t>
            </a:r>
          </a:p>
          <a:p>
            <a:pPr marL="742950" lvl="1" indent="-285750">
              <a:lnSpc>
                <a:spcPct val="150000"/>
              </a:lnSpc>
              <a:buFont typeface="Arial" panose="020B0604020202020204" pitchFamily="34" charset="0"/>
              <a:buChar char="•"/>
            </a:pPr>
            <a:r>
              <a:rPr lang="en-US" altLang="zh-TW" sz="1600"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End face polish</a:t>
            </a:r>
            <a:endParaRPr lang="en-US" altLang="zh-TW" sz="1600" b="1"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endParaRPr>
          </a:p>
          <a:p>
            <a:pPr marL="514350" indent="-514350">
              <a:lnSpc>
                <a:spcPct val="150000"/>
              </a:lnSpc>
              <a:buFontTx/>
              <a:buAutoNum type="romanUcPeriod"/>
            </a:pPr>
            <a:r>
              <a:rPr lang="en-US" altLang="zh-TW" sz="2000" b="1" dirty="0">
                <a:solidFill>
                  <a:srgbClr val="483832"/>
                </a:solidFill>
                <a:latin typeface="Times New Roman" panose="02020603050405020304" pitchFamily="18" charset="0"/>
              </a:rPr>
              <a:t>Experimental Results and Analysis</a:t>
            </a:r>
          </a:p>
          <a:p>
            <a:pPr marL="742950" lvl="1" indent="-285750">
              <a:lnSpc>
                <a:spcPct val="150000"/>
              </a:lnSpc>
              <a:buFont typeface="Arial" panose="020B0604020202020204" pitchFamily="34" charset="0"/>
              <a:buChar char="•"/>
            </a:pPr>
            <a:r>
              <a:rPr lang="en-US" altLang="zh-TW" sz="1500" dirty="0">
                <a:solidFill>
                  <a:srgbClr val="483832"/>
                </a:solidFill>
                <a:latin typeface="Times New Roman" panose="02020603050405020304" pitchFamily="18" charset="0"/>
              </a:rPr>
              <a:t>Propagation loss</a:t>
            </a:r>
          </a:p>
          <a:p>
            <a:pPr marL="742950" lvl="1" indent="-285750">
              <a:lnSpc>
                <a:spcPct val="150000"/>
              </a:lnSpc>
              <a:buFont typeface="Arial" panose="020B0604020202020204" pitchFamily="34" charset="0"/>
              <a:buChar char="•"/>
            </a:pPr>
            <a:r>
              <a:rPr lang="en-US" altLang="zh-TW" sz="1500" dirty="0">
                <a:solidFill>
                  <a:srgbClr val="483832"/>
                </a:solidFill>
                <a:latin typeface="Times New Roman" panose="02020603050405020304" pitchFamily="18" charset="0"/>
              </a:rPr>
              <a:t>ER spectrum</a:t>
            </a:r>
          </a:p>
          <a:p>
            <a:pPr marL="742950" lvl="1" indent="-285750">
              <a:lnSpc>
                <a:spcPct val="150000"/>
              </a:lnSpc>
              <a:buFont typeface="Arial" panose="020B0604020202020204" pitchFamily="34" charset="0"/>
              <a:buChar char="•"/>
            </a:pPr>
            <a:r>
              <a:rPr lang="en-US" altLang="zh-TW" sz="1500" dirty="0">
                <a:solidFill>
                  <a:srgbClr val="483832"/>
                </a:solidFill>
                <a:latin typeface="Times New Roman" panose="02020603050405020304" pitchFamily="18" charset="0"/>
              </a:rPr>
              <a:t>SHG characteristic</a:t>
            </a:r>
          </a:p>
          <a:p>
            <a:pPr marL="742950" lvl="1" indent="-285750">
              <a:lnSpc>
                <a:spcPct val="150000"/>
              </a:lnSpc>
              <a:buFont typeface="Arial" panose="020B0604020202020204" pitchFamily="34" charset="0"/>
              <a:buChar char="•"/>
            </a:pPr>
            <a:r>
              <a:rPr lang="en-US" altLang="zh-TW" sz="15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Squeezing light optical setup</a:t>
            </a:r>
            <a:endParaRPr lang="en-US" altLang="zh-TW" sz="1500" b="1" dirty="0">
              <a:solidFill>
                <a:srgbClr val="483832"/>
              </a:solidFill>
              <a:latin typeface="Times New Roman" panose="02020603050405020304" pitchFamily="18" charset="0"/>
            </a:endParaRPr>
          </a:p>
          <a:p>
            <a:pPr marL="514350" indent="-514350">
              <a:lnSpc>
                <a:spcPct val="1500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Conclusion and future work</a:t>
            </a:r>
            <a:endParaRPr lang="en-US" altLang="zh-TW" sz="2000" b="1" dirty="0">
              <a:solidFill>
                <a:srgbClr val="483832"/>
              </a:solidFill>
              <a:latin typeface="Times New Roman" panose="02020603050405020304" pitchFamily="18" charset="0"/>
            </a:endParaRPr>
          </a:p>
        </p:txBody>
      </p:sp>
    </p:spTree>
    <p:extLst>
      <p:ext uri="{BB962C8B-B14F-4D97-AF65-F5344CB8AC3E}">
        <p14:creationId xmlns:p14="http://schemas.microsoft.com/office/powerpoint/2010/main" val="177949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754829BE-6ACE-4A27-82BE-BDA124D1492F}"/>
              </a:ext>
            </a:extLst>
          </p:cNvPr>
          <p:cNvSpPr>
            <a:spLocks noGrp="1"/>
          </p:cNvSpPr>
          <p:nvPr>
            <p:ph type="body" sz="half" idx="13"/>
          </p:nvPr>
        </p:nvSpPr>
        <p:spPr>
          <a:xfrm>
            <a:off x="2895601" y="16590"/>
            <a:ext cx="6400800" cy="660417"/>
          </a:xfrm>
        </p:spPr>
        <p:txBody>
          <a:bodyPr>
            <a:normAutofit/>
          </a:bodyPr>
          <a:lstStyle/>
          <a:p>
            <a:r>
              <a:rPr lang="en-US" altLang="zh-TW" kern="100" dirty="0" err="1">
                <a:ea typeface="DFKai-SB" panose="03000509000000000000" pitchFamily="65" charset="-120"/>
              </a:rPr>
              <a:t>Ti-indiffused</a:t>
            </a:r>
            <a:r>
              <a:rPr lang="en-US" altLang="zh-TW" kern="100" dirty="0">
                <a:ea typeface="DFKai-SB" panose="03000509000000000000" pitchFamily="65" charset="-120"/>
              </a:rPr>
              <a:t> waveguide-lithography</a:t>
            </a:r>
            <a:endParaRPr lang="zh-TW" altLang="en-US" kern="100" dirty="0">
              <a:ea typeface="DFKai-SB" panose="03000509000000000000" pitchFamily="65" charset="-120"/>
            </a:endParaRPr>
          </a:p>
        </p:txBody>
      </p:sp>
      <p:pic>
        <p:nvPicPr>
          <p:cNvPr id="3" name="圖片 2">
            <a:extLst>
              <a:ext uri="{FF2B5EF4-FFF2-40B4-BE49-F238E27FC236}">
                <a16:creationId xmlns:a16="http://schemas.microsoft.com/office/drawing/2014/main" id="{51C17126-2401-4529-B456-FADAA3EC9BFD}"/>
              </a:ext>
            </a:extLst>
          </p:cNvPr>
          <p:cNvPicPr/>
          <p:nvPr/>
        </p:nvPicPr>
        <p:blipFill>
          <a:blip r:embed="rId2"/>
          <a:stretch>
            <a:fillRect/>
          </a:stretch>
        </p:blipFill>
        <p:spPr>
          <a:xfrm>
            <a:off x="4673600" y="1975409"/>
            <a:ext cx="7028021" cy="3802475"/>
          </a:xfrm>
          <a:prstGeom prst="rect">
            <a:avLst/>
          </a:prstGeom>
        </p:spPr>
      </p:pic>
      <p:sp>
        <p:nvSpPr>
          <p:cNvPr id="6" name="投影片編號版面配置區 5">
            <a:extLst>
              <a:ext uri="{FF2B5EF4-FFF2-40B4-BE49-F238E27FC236}">
                <a16:creationId xmlns:a16="http://schemas.microsoft.com/office/drawing/2014/main" id="{8E9A5BFE-9D69-46AE-9CBF-647A7F1A7AA5}"/>
              </a:ext>
            </a:extLst>
          </p:cNvPr>
          <p:cNvSpPr>
            <a:spLocks noGrp="1"/>
          </p:cNvSpPr>
          <p:nvPr>
            <p:ph type="sldNum" sz="quarter" idx="12"/>
          </p:nvPr>
        </p:nvSpPr>
        <p:spPr/>
        <p:txBody>
          <a:bodyPr/>
          <a:lstStyle/>
          <a:p>
            <a:fld id="{9820161B-3DFF-4FF5-AA0E-35496F014571}" type="slidenum">
              <a:rPr lang="zh-TW" altLang="en-US" smtClean="0"/>
              <a:t>24</a:t>
            </a:fld>
            <a:endParaRPr lang="zh-TW" altLang="en-US"/>
          </a:p>
        </p:txBody>
      </p:sp>
      <p:grpSp>
        <p:nvGrpSpPr>
          <p:cNvPr id="8" name="群組 7">
            <a:extLst>
              <a:ext uri="{FF2B5EF4-FFF2-40B4-BE49-F238E27FC236}">
                <a16:creationId xmlns:a16="http://schemas.microsoft.com/office/drawing/2014/main" id="{094F9F34-9421-4DBD-B37B-75077B5FEAF9}"/>
              </a:ext>
            </a:extLst>
          </p:cNvPr>
          <p:cNvGrpSpPr/>
          <p:nvPr/>
        </p:nvGrpSpPr>
        <p:grpSpPr>
          <a:xfrm>
            <a:off x="736601" y="1115113"/>
            <a:ext cx="4112344" cy="5523066"/>
            <a:chOff x="7604369" y="1165913"/>
            <a:chExt cx="4112344" cy="5523066"/>
          </a:xfrm>
        </p:grpSpPr>
        <p:pic>
          <p:nvPicPr>
            <p:cNvPr id="4" name="圖片 3">
              <a:extLst>
                <a:ext uri="{FF2B5EF4-FFF2-40B4-BE49-F238E27FC236}">
                  <a16:creationId xmlns:a16="http://schemas.microsoft.com/office/drawing/2014/main" id="{CC1402B9-80C0-45D1-ACD7-88ABD0FEBB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3546" y="4308925"/>
              <a:ext cx="3173990" cy="2380054"/>
            </a:xfrm>
            <a:prstGeom prst="rect">
              <a:avLst/>
            </a:prstGeom>
          </p:spPr>
        </p:pic>
        <p:pic>
          <p:nvPicPr>
            <p:cNvPr id="5" name="圖片 4">
              <a:extLst>
                <a:ext uri="{FF2B5EF4-FFF2-40B4-BE49-F238E27FC236}">
                  <a16:creationId xmlns:a16="http://schemas.microsoft.com/office/drawing/2014/main" id="{6E3625C5-6276-4A97-901A-E1260743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73546" y="1679543"/>
              <a:ext cx="3173990" cy="2380054"/>
            </a:xfrm>
            <a:prstGeom prst="rect">
              <a:avLst/>
            </a:prstGeom>
          </p:spPr>
        </p:pic>
        <p:sp>
          <p:nvSpPr>
            <p:cNvPr id="7" name="文字方塊 6">
              <a:extLst>
                <a:ext uri="{FF2B5EF4-FFF2-40B4-BE49-F238E27FC236}">
                  <a16:creationId xmlns:a16="http://schemas.microsoft.com/office/drawing/2014/main" id="{D50A4694-0218-430A-B2F9-9DB6512F0174}"/>
                </a:ext>
              </a:extLst>
            </p:cNvPr>
            <p:cNvSpPr txBox="1"/>
            <p:nvPr/>
          </p:nvSpPr>
          <p:spPr>
            <a:xfrm>
              <a:off x="7604369" y="1165913"/>
              <a:ext cx="4112344" cy="400110"/>
            </a:xfrm>
            <a:prstGeom prst="rect">
              <a:avLst/>
            </a:prstGeom>
            <a:noFill/>
          </p:spPr>
          <p:txBody>
            <a:bodyPr wrap="none" rtlCol="0">
              <a:spAutoFit/>
            </a:bodyPr>
            <a:lstStyle/>
            <a:p>
              <a:pPr algn="ctr"/>
              <a:r>
                <a:rPr lang="en-US" altLang="zh-TW" sz="2000" dirty="0">
                  <a:solidFill>
                    <a:srgbClr val="483832"/>
                  </a:solidFill>
                  <a:latin typeface="Times New Roman" panose="02020603050405020304" pitchFamily="18" charset="0"/>
                </a:rPr>
                <a:t>Waveguides develop figures x10/x100</a:t>
              </a:r>
              <a:endParaRPr lang="zh-TW" altLang="en-US" sz="2000" dirty="0">
                <a:solidFill>
                  <a:srgbClr val="483832"/>
                </a:solidFill>
                <a:latin typeface="Times New Roman" panose="02020603050405020304" pitchFamily="18" charset="0"/>
              </a:endParaRPr>
            </a:p>
          </p:txBody>
        </p:sp>
      </p:grpSp>
    </p:spTree>
    <p:extLst>
      <p:ext uri="{BB962C8B-B14F-4D97-AF65-F5344CB8AC3E}">
        <p14:creationId xmlns:p14="http://schemas.microsoft.com/office/powerpoint/2010/main" val="785665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50"/>
                                        <p:tgtEl>
                                          <p:spTgt spid="8"/>
                                        </p:tgtEl>
                                        <p:attrNameLst>
                                          <p:attrName>ppt_y</p:attrName>
                                        </p:attrNameLst>
                                      </p:cBhvr>
                                      <p:tavLst>
                                        <p:tav tm="0">
                                          <p:val>
                                            <p:strVal val="#ppt_y+#ppt_h*1.125000"/>
                                          </p:val>
                                        </p:tav>
                                        <p:tav tm="100000">
                                          <p:val>
                                            <p:strVal val="#ppt_y"/>
                                          </p:val>
                                        </p:tav>
                                      </p:tavLst>
                                    </p:anim>
                                    <p:animEffect transition="in" filter="wipe(up)">
                                      <p:cBhvr>
                                        <p:cTn id="8"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E1AACD2D-0D5B-424B-9ADB-8C2627694A31}"/>
              </a:ext>
            </a:extLst>
          </p:cNvPr>
          <p:cNvSpPr>
            <a:spLocks noGrp="1"/>
          </p:cNvSpPr>
          <p:nvPr>
            <p:ph type="body" sz="half" idx="13"/>
          </p:nvPr>
        </p:nvSpPr>
        <p:spPr>
          <a:xfrm>
            <a:off x="3190241" y="16590"/>
            <a:ext cx="5811520" cy="660417"/>
          </a:xfrm>
        </p:spPr>
        <p:txBody>
          <a:bodyPr>
            <a:normAutofit/>
          </a:bodyPr>
          <a:lstStyle/>
          <a:p>
            <a:r>
              <a:rPr lang="en-US" altLang="zh-TW" kern="100" dirty="0" err="1">
                <a:ea typeface="DFKai-SB" panose="03000509000000000000" pitchFamily="65" charset="-120"/>
              </a:rPr>
              <a:t>Ti-indiffused</a:t>
            </a:r>
            <a:r>
              <a:rPr lang="en-US" altLang="zh-TW" kern="100" dirty="0">
                <a:ea typeface="DFKai-SB" panose="03000509000000000000" pitchFamily="65" charset="-120"/>
              </a:rPr>
              <a:t> waveguide-diffusion</a:t>
            </a:r>
            <a:endParaRPr lang="zh-TW" altLang="en-US" dirty="0"/>
          </a:p>
        </p:txBody>
      </p:sp>
      <p:pic>
        <p:nvPicPr>
          <p:cNvPr id="3" name="圖片 2">
            <a:extLst>
              <a:ext uri="{FF2B5EF4-FFF2-40B4-BE49-F238E27FC236}">
                <a16:creationId xmlns:a16="http://schemas.microsoft.com/office/drawing/2014/main" id="{A8CEF07E-911A-4858-95CD-067FB53E911C}"/>
              </a:ext>
            </a:extLst>
          </p:cNvPr>
          <p:cNvPicPr/>
          <p:nvPr/>
        </p:nvPicPr>
        <p:blipFill>
          <a:blip r:embed="rId3"/>
          <a:stretch>
            <a:fillRect/>
          </a:stretch>
        </p:blipFill>
        <p:spPr>
          <a:xfrm>
            <a:off x="4600992" y="1954387"/>
            <a:ext cx="7199082" cy="3845627"/>
          </a:xfrm>
          <a:prstGeom prst="rect">
            <a:avLst/>
          </a:prstGeom>
        </p:spPr>
      </p:pic>
      <p:sp>
        <p:nvSpPr>
          <p:cNvPr id="6" name="投影片編號版面配置區 5">
            <a:extLst>
              <a:ext uri="{FF2B5EF4-FFF2-40B4-BE49-F238E27FC236}">
                <a16:creationId xmlns:a16="http://schemas.microsoft.com/office/drawing/2014/main" id="{3DC42BFD-0DC1-480A-B0F0-A88DFF7E6D9E}"/>
              </a:ext>
            </a:extLst>
          </p:cNvPr>
          <p:cNvSpPr>
            <a:spLocks noGrp="1"/>
          </p:cNvSpPr>
          <p:nvPr>
            <p:ph type="sldNum" sz="quarter" idx="12"/>
          </p:nvPr>
        </p:nvSpPr>
        <p:spPr/>
        <p:txBody>
          <a:bodyPr/>
          <a:lstStyle/>
          <a:p>
            <a:fld id="{9820161B-3DFF-4FF5-AA0E-35496F014571}" type="slidenum">
              <a:rPr lang="zh-TW" altLang="en-US" smtClean="0"/>
              <a:t>25</a:t>
            </a:fld>
            <a:endParaRPr lang="zh-TW" altLang="en-US"/>
          </a:p>
        </p:txBody>
      </p:sp>
      <p:grpSp>
        <p:nvGrpSpPr>
          <p:cNvPr id="8" name="群組 7">
            <a:extLst>
              <a:ext uri="{FF2B5EF4-FFF2-40B4-BE49-F238E27FC236}">
                <a16:creationId xmlns:a16="http://schemas.microsoft.com/office/drawing/2014/main" id="{3CECB0F6-563E-42E5-993A-D7191F10896F}"/>
              </a:ext>
            </a:extLst>
          </p:cNvPr>
          <p:cNvGrpSpPr/>
          <p:nvPr/>
        </p:nvGrpSpPr>
        <p:grpSpPr>
          <a:xfrm>
            <a:off x="738000" y="1116000"/>
            <a:ext cx="4617189" cy="5522400"/>
            <a:chOff x="738000" y="1116000"/>
            <a:chExt cx="4617189" cy="5522400"/>
          </a:xfrm>
        </p:grpSpPr>
        <p:pic>
          <p:nvPicPr>
            <p:cNvPr id="4" name="圖片 3">
              <a:extLst>
                <a:ext uri="{FF2B5EF4-FFF2-40B4-BE49-F238E27FC236}">
                  <a16:creationId xmlns:a16="http://schemas.microsoft.com/office/drawing/2014/main" id="{C7E9503C-C15F-4839-AB28-AB434D9676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06000" y="1627200"/>
              <a:ext cx="3173680" cy="2379600"/>
            </a:xfrm>
            <a:prstGeom prst="rect">
              <a:avLst/>
            </a:prstGeom>
          </p:spPr>
        </p:pic>
        <p:pic>
          <p:nvPicPr>
            <p:cNvPr id="5" name="圖片 4">
              <a:extLst>
                <a:ext uri="{FF2B5EF4-FFF2-40B4-BE49-F238E27FC236}">
                  <a16:creationId xmlns:a16="http://schemas.microsoft.com/office/drawing/2014/main" id="{DD320303-A146-4031-AEA8-65B2C5A0EB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6000" y="4258800"/>
              <a:ext cx="3172812" cy="2379600"/>
            </a:xfrm>
            <a:prstGeom prst="rect">
              <a:avLst/>
            </a:prstGeom>
          </p:spPr>
        </p:pic>
        <p:sp>
          <p:nvSpPr>
            <p:cNvPr id="7" name="文字方塊 6">
              <a:extLst>
                <a:ext uri="{FF2B5EF4-FFF2-40B4-BE49-F238E27FC236}">
                  <a16:creationId xmlns:a16="http://schemas.microsoft.com/office/drawing/2014/main" id="{28D3202F-4C56-4E38-8286-9935792C0747}"/>
                </a:ext>
              </a:extLst>
            </p:cNvPr>
            <p:cNvSpPr txBox="1"/>
            <p:nvPr/>
          </p:nvSpPr>
          <p:spPr>
            <a:xfrm>
              <a:off x="738000" y="1116000"/>
              <a:ext cx="4617189" cy="400110"/>
            </a:xfrm>
            <a:prstGeom prst="rect">
              <a:avLst/>
            </a:prstGeom>
            <a:noFill/>
          </p:spPr>
          <p:txBody>
            <a:bodyPr wrap="square" rtlCol="0">
              <a:spAutoFit/>
            </a:bodyPr>
            <a:lstStyle/>
            <a:p>
              <a:pPr algn="ctr"/>
              <a:r>
                <a:rPr lang="en-US" altLang="zh-TW" sz="2000" dirty="0">
                  <a:solidFill>
                    <a:srgbClr val="483832"/>
                  </a:solidFill>
                  <a:latin typeface="Times New Roman" panose="02020603050405020304" pitchFamily="18" charset="0"/>
                </a:rPr>
                <a:t>x100 waveguides lift-off/</a:t>
              </a:r>
              <a:r>
                <a:rPr lang="en-US" altLang="zh-TW" sz="2000" dirty="0" err="1">
                  <a:solidFill>
                    <a:srgbClr val="483832"/>
                  </a:solidFill>
                  <a:latin typeface="Times New Roman" panose="02020603050405020304" pitchFamily="18" charset="0"/>
                </a:rPr>
                <a:t>indiffused</a:t>
              </a:r>
              <a:r>
                <a:rPr lang="en-US" altLang="zh-TW" sz="2000" dirty="0">
                  <a:solidFill>
                    <a:srgbClr val="483832"/>
                  </a:solidFill>
                  <a:latin typeface="Times New Roman" panose="02020603050405020304" pitchFamily="18" charset="0"/>
                </a:rPr>
                <a:t> figures </a:t>
              </a:r>
              <a:endParaRPr lang="zh-TW" altLang="en-US" sz="2000" dirty="0">
                <a:solidFill>
                  <a:srgbClr val="483832"/>
                </a:solidFill>
                <a:latin typeface="Times New Roman" panose="02020603050405020304" pitchFamily="18" charset="0"/>
              </a:endParaRPr>
            </a:p>
          </p:txBody>
        </p:sp>
      </p:grpSp>
    </p:spTree>
    <p:extLst>
      <p:ext uri="{BB962C8B-B14F-4D97-AF65-F5344CB8AC3E}">
        <p14:creationId xmlns:p14="http://schemas.microsoft.com/office/powerpoint/2010/main" val="147223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50"/>
                                        <p:tgtEl>
                                          <p:spTgt spid="8"/>
                                        </p:tgtEl>
                                        <p:attrNameLst>
                                          <p:attrName>ppt_y</p:attrName>
                                        </p:attrNameLst>
                                      </p:cBhvr>
                                      <p:tavLst>
                                        <p:tav tm="0">
                                          <p:val>
                                            <p:strVal val="#ppt_y+#ppt_h*1.125000"/>
                                          </p:val>
                                        </p:tav>
                                        <p:tav tm="100000">
                                          <p:val>
                                            <p:strVal val="#ppt_y"/>
                                          </p:val>
                                        </p:tav>
                                      </p:tavLst>
                                    </p:anim>
                                    <p:animEffect transition="in" filter="wipe(up)">
                                      <p:cBhvr>
                                        <p:cTn id="8"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C5F02F10-E1F8-44A3-96C2-F407568530B8}"/>
              </a:ext>
            </a:extLst>
          </p:cNvPr>
          <p:cNvSpPr>
            <a:spLocks noGrp="1"/>
          </p:cNvSpPr>
          <p:nvPr>
            <p:ph type="sldNum" sz="quarter" idx="12"/>
          </p:nvPr>
        </p:nvSpPr>
        <p:spPr/>
        <p:txBody>
          <a:bodyPr/>
          <a:lstStyle/>
          <a:p>
            <a:fld id="{455EAC32-2A49-4ED3-ADC7-B6121E233147}" type="slidenum">
              <a:rPr lang="zh-TW" altLang="en-US" smtClean="0"/>
              <a:t>26</a:t>
            </a:fld>
            <a:endParaRPr lang="zh-TW" altLang="en-US"/>
          </a:p>
        </p:txBody>
      </p:sp>
      <p:sp>
        <p:nvSpPr>
          <p:cNvPr id="6" name="文字版面配置區 5">
            <a:extLst>
              <a:ext uri="{FF2B5EF4-FFF2-40B4-BE49-F238E27FC236}">
                <a16:creationId xmlns:a16="http://schemas.microsoft.com/office/drawing/2014/main" id="{D17B53AB-D2AD-4657-A22E-20638F6843FC}"/>
              </a:ext>
            </a:extLst>
          </p:cNvPr>
          <p:cNvSpPr>
            <a:spLocks noGrp="1"/>
          </p:cNvSpPr>
          <p:nvPr>
            <p:ph type="body" sz="half" idx="13"/>
          </p:nvPr>
        </p:nvSpPr>
        <p:spPr>
          <a:xfrm>
            <a:off x="2946401" y="16590"/>
            <a:ext cx="6299200" cy="660417"/>
          </a:xfrm>
        </p:spPr>
        <p:txBody>
          <a:bodyPr>
            <a:normAutofit/>
          </a:bodyPr>
          <a:lstStyle/>
          <a:p>
            <a:r>
              <a:rPr lang="en-US" altLang="zh-TW" kern="100" dirty="0">
                <a:ea typeface="DFKai-SB" panose="03000509000000000000" pitchFamily="65" charset="-120"/>
              </a:rPr>
              <a:t>Electric field poling-lithography</a:t>
            </a:r>
            <a:endParaRPr lang="zh-TW" altLang="en-US" kern="100" dirty="0">
              <a:ea typeface="DFKai-SB" panose="03000509000000000000" pitchFamily="65" charset="-120"/>
            </a:endParaRPr>
          </a:p>
        </p:txBody>
      </p:sp>
      <p:pic>
        <p:nvPicPr>
          <p:cNvPr id="3" name="圖片 2">
            <a:extLst>
              <a:ext uri="{FF2B5EF4-FFF2-40B4-BE49-F238E27FC236}">
                <a16:creationId xmlns:a16="http://schemas.microsoft.com/office/drawing/2014/main" id="{921C5C92-36DF-40D5-8077-1C657CA9E6EC}"/>
              </a:ext>
            </a:extLst>
          </p:cNvPr>
          <p:cNvPicPr/>
          <p:nvPr/>
        </p:nvPicPr>
        <p:blipFill>
          <a:blip r:embed="rId2">
            <a:extLst>
              <a:ext uri="{28A0092B-C50C-407E-A947-70E740481C1C}">
                <a14:useLocalDpi xmlns:a14="http://schemas.microsoft.com/office/drawing/2010/main" val="0"/>
              </a:ext>
            </a:extLst>
          </a:blip>
          <a:stretch>
            <a:fillRect/>
          </a:stretch>
        </p:blipFill>
        <p:spPr>
          <a:xfrm>
            <a:off x="5171440" y="1579777"/>
            <a:ext cx="6522622" cy="3698447"/>
          </a:xfrm>
          <a:prstGeom prst="rect">
            <a:avLst/>
          </a:prstGeom>
        </p:spPr>
      </p:pic>
      <p:grpSp>
        <p:nvGrpSpPr>
          <p:cNvPr id="7" name="群組 6">
            <a:extLst>
              <a:ext uri="{FF2B5EF4-FFF2-40B4-BE49-F238E27FC236}">
                <a16:creationId xmlns:a16="http://schemas.microsoft.com/office/drawing/2014/main" id="{E70B480F-7630-4FC7-8B34-47139B2948A6}"/>
              </a:ext>
            </a:extLst>
          </p:cNvPr>
          <p:cNvGrpSpPr/>
          <p:nvPr/>
        </p:nvGrpSpPr>
        <p:grpSpPr>
          <a:xfrm>
            <a:off x="1170984" y="1866987"/>
            <a:ext cx="3733714" cy="3124026"/>
            <a:chOff x="7992066" y="1964330"/>
            <a:chExt cx="3733714" cy="3124026"/>
          </a:xfrm>
        </p:grpSpPr>
        <p:pic>
          <p:nvPicPr>
            <p:cNvPr id="4" name="圖片 3">
              <a:extLst>
                <a:ext uri="{FF2B5EF4-FFF2-40B4-BE49-F238E27FC236}">
                  <a16:creationId xmlns:a16="http://schemas.microsoft.com/office/drawing/2014/main" id="{142BCE9B-A7C7-4463-8907-652BE636A7A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043980" y="2493110"/>
              <a:ext cx="3629886" cy="2595246"/>
            </a:xfrm>
            <a:prstGeom prst="rect">
              <a:avLst/>
            </a:prstGeom>
            <a:noFill/>
            <a:ln>
              <a:noFill/>
            </a:ln>
          </p:spPr>
        </p:pic>
        <p:sp>
          <p:nvSpPr>
            <p:cNvPr id="5" name="矩形 4">
              <a:extLst>
                <a:ext uri="{FF2B5EF4-FFF2-40B4-BE49-F238E27FC236}">
                  <a16:creationId xmlns:a16="http://schemas.microsoft.com/office/drawing/2014/main" id="{147A49C8-4145-4C08-9E91-76808ED0C667}"/>
                </a:ext>
              </a:extLst>
            </p:cNvPr>
            <p:cNvSpPr/>
            <p:nvPr/>
          </p:nvSpPr>
          <p:spPr>
            <a:xfrm>
              <a:off x="7992066" y="1964330"/>
              <a:ext cx="3733714" cy="400110"/>
            </a:xfrm>
            <a:prstGeom prst="rect">
              <a:avLst/>
            </a:prstGeom>
          </p:spPr>
          <p:txBody>
            <a:bodyPr wrap="none">
              <a:spAutoFit/>
            </a:bodyPr>
            <a:lstStyle/>
            <a:p>
              <a:r>
                <a:rPr lang="en-US" altLang="zh-TW" sz="2000" dirty="0">
                  <a:solidFill>
                    <a:srgbClr val="483832"/>
                  </a:solidFill>
                  <a:latin typeface="Times New Roman" panose="02020603050405020304" pitchFamily="18" charset="0"/>
                </a:rPr>
                <a:t>Poling period develop figures x10 </a:t>
              </a:r>
              <a:endParaRPr lang="zh-TW" altLang="en-US" sz="2000" dirty="0">
                <a:solidFill>
                  <a:srgbClr val="483832"/>
                </a:solidFill>
                <a:latin typeface="Times New Roman" panose="02020603050405020304" pitchFamily="18" charset="0"/>
              </a:endParaRPr>
            </a:p>
          </p:txBody>
        </p:sp>
      </p:grpSp>
    </p:spTree>
    <p:extLst>
      <p:ext uri="{BB962C8B-B14F-4D97-AF65-F5344CB8AC3E}">
        <p14:creationId xmlns:p14="http://schemas.microsoft.com/office/powerpoint/2010/main" val="197581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p:tgtEl>
                                          <p:spTgt spid="7"/>
                                        </p:tgtEl>
                                        <p:attrNameLst>
                                          <p:attrName>ppt_y</p:attrName>
                                        </p:attrNameLst>
                                      </p:cBhvr>
                                      <p:tavLst>
                                        <p:tav tm="0">
                                          <p:val>
                                            <p:strVal val="#ppt_y+#ppt_h*1.125000"/>
                                          </p:val>
                                        </p:tav>
                                        <p:tav tm="100000">
                                          <p:val>
                                            <p:strVal val="#ppt_y"/>
                                          </p:val>
                                        </p:tav>
                                      </p:tavLst>
                                    </p:anim>
                                    <p:animEffect transition="in" filter="wipe(up)">
                                      <p:cBhvr>
                                        <p:cTn id="8"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38751A0-1F0F-4714-84F1-7756F58E1491}"/>
              </a:ext>
            </a:extLst>
          </p:cNvPr>
          <p:cNvSpPr>
            <a:spLocks noGrp="1"/>
          </p:cNvSpPr>
          <p:nvPr>
            <p:ph type="sldNum" sz="quarter" idx="12"/>
          </p:nvPr>
        </p:nvSpPr>
        <p:spPr/>
        <p:txBody>
          <a:bodyPr/>
          <a:lstStyle/>
          <a:p>
            <a:fld id="{455EAC32-2A49-4ED3-ADC7-B6121E233147}" type="slidenum">
              <a:rPr lang="zh-TW" altLang="en-US" smtClean="0"/>
              <a:t>27</a:t>
            </a:fld>
            <a:endParaRPr lang="zh-TW" altLang="en-US"/>
          </a:p>
        </p:txBody>
      </p:sp>
      <p:sp>
        <p:nvSpPr>
          <p:cNvPr id="4" name="文字版面配置區 3">
            <a:extLst>
              <a:ext uri="{FF2B5EF4-FFF2-40B4-BE49-F238E27FC236}">
                <a16:creationId xmlns:a16="http://schemas.microsoft.com/office/drawing/2014/main" id="{E308DC29-DBE4-4A9E-A534-0A4FFBBD8A48}"/>
              </a:ext>
            </a:extLst>
          </p:cNvPr>
          <p:cNvSpPr>
            <a:spLocks noGrp="1"/>
          </p:cNvSpPr>
          <p:nvPr>
            <p:ph type="body" sz="half" idx="13"/>
          </p:nvPr>
        </p:nvSpPr>
        <p:spPr>
          <a:xfrm>
            <a:off x="3241041" y="16590"/>
            <a:ext cx="5709920" cy="660417"/>
          </a:xfrm>
        </p:spPr>
        <p:txBody>
          <a:bodyPr>
            <a:normAutofit/>
          </a:bodyPr>
          <a:lstStyle/>
          <a:p>
            <a:r>
              <a:rPr lang="en-US" altLang="zh-TW" kern="100" dirty="0">
                <a:ea typeface="DFKai-SB" panose="03000509000000000000" pitchFamily="65" charset="-120"/>
              </a:rPr>
              <a:t>Electric field poling-poled</a:t>
            </a:r>
            <a:endParaRPr lang="zh-TW" altLang="en-US" kern="100" dirty="0">
              <a:ea typeface="DFKai-SB" panose="03000509000000000000" pitchFamily="65" charset="-120"/>
            </a:endParaRPr>
          </a:p>
        </p:txBody>
      </p:sp>
      <p:pic>
        <p:nvPicPr>
          <p:cNvPr id="3" name="圖片 2">
            <a:extLst>
              <a:ext uri="{FF2B5EF4-FFF2-40B4-BE49-F238E27FC236}">
                <a16:creationId xmlns:a16="http://schemas.microsoft.com/office/drawing/2014/main" id="{0CDD32A0-BC78-4E6C-B942-27337954675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940002" y="963612"/>
            <a:ext cx="10454237" cy="2560393"/>
          </a:xfrm>
          <a:prstGeom prst="rect">
            <a:avLst/>
          </a:prstGeom>
        </p:spPr>
      </p:pic>
      <p:grpSp>
        <p:nvGrpSpPr>
          <p:cNvPr id="5" name="群組 4">
            <a:extLst>
              <a:ext uri="{FF2B5EF4-FFF2-40B4-BE49-F238E27FC236}">
                <a16:creationId xmlns:a16="http://schemas.microsoft.com/office/drawing/2014/main" id="{50B207ED-479A-4670-BE70-DB9233CE43C4}"/>
              </a:ext>
            </a:extLst>
          </p:cNvPr>
          <p:cNvGrpSpPr/>
          <p:nvPr/>
        </p:nvGrpSpPr>
        <p:grpSpPr>
          <a:xfrm>
            <a:off x="2498567" y="3815285"/>
            <a:ext cx="7337106" cy="3003084"/>
            <a:chOff x="2427447" y="3815285"/>
            <a:chExt cx="7337106" cy="3003084"/>
          </a:xfrm>
        </p:grpSpPr>
        <p:pic>
          <p:nvPicPr>
            <p:cNvPr id="9" name="圖片 8">
              <a:extLst>
                <a:ext uri="{FF2B5EF4-FFF2-40B4-BE49-F238E27FC236}">
                  <a16:creationId xmlns:a16="http://schemas.microsoft.com/office/drawing/2014/main" id="{4EBC76B9-2A2D-4F0E-A75C-C3CA20742E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447" y="3815285"/>
              <a:ext cx="3413956" cy="2560394"/>
            </a:xfrm>
            <a:prstGeom prst="rect">
              <a:avLst/>
            </a:prstGeom>
            <a:noFill/>
            <a:ln>
              <a:noFill/>
            </a:ln>
          </p:spPr>
        </p:pic>
        <p:pic>
          <p:nvPicPr>
            <p:cNvPr id="10" name="圖片 9">
              <a:extLst>
                <a:ext uri="{FF2B5EF4-FFF2-40B4-BE49-F238E27FC236}">
                  <a16:creationId xmlns:a16="http://schemas.microsoft.com/office/drawing/2014/main" id="{73E6F140-7E6E-4C26-AC6C-385C0693124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50597" y="3815285"/>
              <a:ext cx="3413956" cy="2560394"/>
            </a:xfrm>
            <a:prstGeom prst="rect">
              <a:avLst/>
            </a:prstGeom>
            <a:noFill/>
            <a:ln>
              <a:noFill/>
            </a:ln>
          </p:spPr>
        </p:pic>
        <p:sp>
          <p:nvSpPr>
            <p:cNvPr id="7" name="矩形 6">
              <a:extLst>
                <a:ext uri="{FF2B5EF4-FFF2-40B4-BE49-F238E27FC236}">
                  <a16:creationId xmlns:a16="http://schemas.microsoft.com/office/drawing/2014/main" id="{63078B80-DE31-4629-B1E8-79324C725556}"/>
                </a:ext>
              </a:extLst>
            </p:cNvPr>
            <p:cNvSpPr/>
            <p:nvPr/>
          </p:nvSpPr>
          <p:spPr>
            <a:xfrm>
              <a:off x="4129756" y="6418259"/>
              <a:ext cx="3932487" cy="400110"/>
            </a:xfrm>
            <a:prstGeom prst="rect">
              <a:avLst/>
            </a:prstGeom>
          </p:spPr>
          <p:txBody>
            <a:bodyPr wrap="none">
              <a:spAutoFit/>
            </a:bodyPr>
            <a:lstStyle/>
            <a:p>
              <a:r>
                <a:rPr lang="en-US" altLang="zh-TW" sz="2000" dirty="0">
                  <a:solidFill>
                    <a:srgbClr val="483832"/>
                  </a:solidFill>
                  <a:latin typeface="Times New Roman" panose="02020603050405020304" pitchFamily="18" charset="0"/>
                </a:rPr>
                <a:t>Poling period etch figures x10/x100 </a:t>
              </a:r>
              <a:endParaRPr lang="zh-TW" altLang="en-US" sz="2000" dirty="0">
                <a:solidFill>
                  <a:srgbClr val="483832"/>
                </a:solidFill>
                <a:latin typeface="Times New Roman" panose="02020603050405020304" pitchFamily="18" charset="0"/>
              </a:endParaRPr>
            </a:p>
          </p:txBody>
        </p:sp>
      </p:grpSp>
    </p:spTree>
    <p:extLst>
      <p:ext uri="{BB962C8B-B14F-4D97-AF65-F5344CB8AC3E}">
        <p14:creationId xmlns:p14="http://schemas.microsoft.com/office/powerpoint/2010/main" val="289033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p:tgtEl>
                                          <p:spTgt spid="5"/>
                                        </p:tgtEl>
                                        <p:attrNameLst>
                                          <p:attrName>ppt_y</p:attrName>
                                        </p:attrNameLst>
                                      </p:cBhvr>
                                      <p:tavLst>
                                        <p:tav tm="0">
                                          <p:val>
                                            <p:strVal val="#ppt_y+#ppt_h*1.125000"/>
                                          </p:val>
                                        </p:tav>
                                        <p:tav tm="100000">
                                          <p:val>
                                            <p:strVal val="#ppt_y"/>
                                          </p:val>
                                        </p:tav>
                                      </p:tavLst>
                                    </p:anim>
                                    <p:animEffect transition="in" filter="wipe(up)">
                                      <p:cBhvr>
                                        <p:cTn id="8"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AFA5FB1-2E1A-4054-B568-56BDA81881D9}"/>
              </a:ext>
            </a:extLst>
          </p:cNvPr>
          <p:cNvSpPr>
            <a:spLocks noGrp="1"/>
          </p:cNvSpPr>
          <p:nvPr>
            <p:ph type="body" sz="half" idx="13"/>
          </p:nvPr>
        </p:nvSpPr>
        <p:spPr>
          <a:xfrm>
            <a:off x="2164081" y="16590"/>
            <a:ext cx="7863840" cy="660417"/>
          </a:xfrm>
        </p:spPr>
        <p:txBody>
          <a:bodyPr>
            <a:normAutofit/>
          </a:bodyPr>
          <a:lstStyle/>
          <a:p>
            <a:r>
              <a:rPr lang="en-US" altLang="zh-TW" kern="100" dirty="0">
                <a:ea typeface="DFKai-SB" panose="03000509000000000000" pitchFamily="65" charset="-120"/>
              </a:rPr>
              <a:t>End face polish-chemical-mechanical polishing</a:t>
            </a:r>
            <a:endParaRPr lang="zh-TW" altLang="en-US" kern="100" dirty="0">
              <a:ea typeface="DFKai-SB" panose="03000509000000000000" pitchFamily="65" charset="-120"/>
            </a:endParaRPr>
          </a:p>
        </p:txBody>
      </p:sp>
      <p:sp>
        <p:nvSpPr>
          <p:cNvPr id="12" name="投影片編號版面配置區 11">
            <a:extLst>
              <a:ext uri="{FF2B5EF4-FFF2-40B4-BE49-F238E27FC236}">
                <a16:creationId xmlns:a16="http://schemas.microsoft.com/office/drawing/2014/main" id="{A3C877AE-FCBD-457F-8D6C-816F209FC467}"/>
              </a:ext>
            </a:extLst>
          </p:cNvPr>
          <p:cNvSpPr>
            <a:spLocks noGrp="1"/>
          </p:cNvSpPr>
          <p:nvPr>
            <p:ph type="sldNum" sz="quarter" idx="12"/>
          </p:nvPr>
        </p:nvSpPr>
        <p:spPr/>
        <p:txBody>
          <a:bodyPr/>
          <a:lstStyle/>
          <a:p>
            <a:fld id="{9820161B-3DFF-4FF5-AA0E-35496F014571}" type="slidenum">
              <a:rPr lang="zh-TW" altLang="en-US" smtClean="0"/>
              <a:t>28</a:t>
            </a:fld>
            <a:endParaRPr lang="zh-TW" altLang="en-US"/>
          </a:p>
        </p:txBody>
      </p:sp>
      <p:sp>
        <p:nvSpPr>
          <p:cNvPr id="13" name="文字方塊 12">
            <a:extLst>
              <a:ext uri="{FF2B5EF4-FFF2-40B4-BE49-F238E27FC236}">
                <a16:creationId xmlns:a16="http://schemas.microsoft.com/office/drawing/2014/main" id="{D783BEBC-0C64-444D-84A8-72B57677C181}"/>
              </a:ext>
            </a:extLst>
          </p:cNvPr>
          <p:cNvSpPr txBox="1"/>
          <p:nvPr/>
        </p:nvSpPr>
        <p:spPr>
          <a:xfrm>
            <a:off x="4624806" y="905547"/>
            <a:ext cx="2942388" cy="392864"/>
          </a:xfrm>
          <a:prstGeom prst="rect">
            <a:avLst/>
          </a:prstGeom>
          <a:noFill/>
        </p:spPr>
        <p:txBody>
          <a:bodyPr wrap="square" rtlCol="0">
            <a:spAutoFit/>
          </a:bodyPr>
          <a:lstStyle/>
          <a:p>
            <a:pPr>
              <a:lnSpc>
                <a:spcPts val="2500"/>
              </a:lnSpc>
            </a:pPr>
            <a:r>
              <a:rPr lang="en-US" altLang="zh-TW" sz="2000" dirty="0">
                <a:solidFill>
                  <a:srgbClr val="483832"/>
                </a:solidFill>
                <a:latin typeface="Times New Roman" panose="02020603050405020304" pitchFamily="18" charset="0"/>
              </a:rPr>
              <a:t>Side view Chip both edges</a:t>
            </a:r>
            <a:endParaRPr lang="zh-TW" altLang="en-US" sz="2000" dirty="0">
              <a:solidFill>
                <a:srgbClr val="483832"/>
              </a:solidFill>
              <a:latin typeface="Times New Roman" panose="02020603050405020304" pitchFamily="18" charset="0"/>
            </a:endParaRPr>
          </a:p>
        </p:txBody>
      </p:sp>
      <p:grpSp>
        <p:nvGrpSpPr>
          <p:cNvPr id="18" name="群組 17">
            <a:extLst>
              <a:ext uri="{FF2B5EF4-FFF2-40B4-BE49-F238E27FC236}">
                <a16:creationId xmlns:a16="http://schemas.microsoft.com/office/drawing/2014/main" id="{D324AD90-6653-4B6A-9AE8-9BEC03C0122A}"/>
              </a:ext>
            </a:extLst>
          </p:cNvPr>
          <p:cNvGrpSpPr/>
          <p:nvPr/>
        </p:nvGrpSpPr>
        <p:grpSpPr>
          <a:xfrm>
            <a:off x="2733039" y="1402079"/>
            <a:ext cx="1768590" cy="3197805"/>
            <a:chOff x="2733039" y="1676399"/>
            <a:chExt cx="1768590" cy="3197805"/>
          </a:xfrm>
        </p:grpSpPr>
        <p:pic>
          <p:nvPicPr>
            <p:cNvPr id="6" name="圖片 5">
              <a:extLst>
                <a:ext uri="{FF2B5EF4-FFF2-40B4-BE49-F238E27FC236}">
                  <a16:creationId xmlns:a16="http://schemas.microsoft.com/office/drawing/2014/main" id="{801A6BFB-1637-4293-BDE6-CFD22E21D819}"/>
                </a:ext>
              </a:extLst>
            </p:cNvPr>
            <p:cNvPicPr>
              <a:picLocks noChangeAspect="1"/>
            </p:cNvPicPr>
            <p:nvPr/>
          </p:nvPicPr>
          <p:blipFill rotWithShape="1">
            <a:blip r:embed="rId2">
              <a:extLst>
                <a:ext uri="{28A0092B-C50C-407E-A947-70E740481C1C}">
                  <a14:useLocalDpi xmlns:a14="http://schemas.microsoft.com/office/drawing/2010/main" val="0"/>
                </a:ext>
              </a:extLst>
            </a:blip>
            <a:srcRect l="25160" t="33402" r="67366" b="52426"/>
            <a:stretch/>
          </p:blipFill>
          <p:spPr bwMode="auto">
            <a:xfrm>
              <a:off x="2733039" y="1676399"/>
              <a:ext cx="1768590" cy="2990116"/>
            </a:xfrm>
            <a:prstGeom prst="roundRect">
              <a:avLst>
                <a:gd name="adj" fmla="val 8050"/>
              </a:avLst>
            </a:prstGeom>
            <a:ln>
              <a:noFill/>
            </a:ln>
            <a:extLst>
              <a:ext uri="{53640926-AAD7-44D8-BBD7-CCE9431645EC}">
                <a14:shadowObscured xmlns:a14="http://schemas.microsoft.com/office/drawing/2010/main"/>
              </a:ext>
            </a:extLst>
          </p:spPr>
        </p:pic>
        <p:sp>
          <p:nvSpPr>
            <p:cNvPr id="7" name="文字方塊 2">
              <a:extLst>
                <a:ext uri="{FF2B5EF4-FFF2-40B4-BE49-F238E27FC236}">
                  <a16:creationId xmlns:a16="http://schemas.microsoft.com/office/drawing/2014/main" id="{97B5919A-12E9-41E2-9C3B-2BDE312FF8F2}"/>
                </a:ext>
              </a:extLst>
            </p:cNvPr>
            <p:cNvSpPr txBox="1">
              <a:spLocks noChangeArrowheads="1"/>
            </p:cNvSpPr>
            <p:nvPr/>
          </p:nvSpPr>
          <p:spPr bwMode="auto">
            <a:xfrm>
              <a:off x="3398003" y="4538086"/>
              <a:ext cx="438662" cy="336118"/>
            </a:xfrm>
            <a:prstGeom prst="rect">
              <a:avLst/>
            </a:prstGeom>
            <a:noFill/>
            <a:ln w="9525">
              <a:noFill/>
              <a:miter lim="800000"/>
              <a:headEnd/>
              <a:tailEnd/>
            </a:ln>
          </p:spPr>
          <p:txBody>
            <a:bodyPr rot="0" vert="horz" wrap="square" lIns="91440" tIns="45720" rIns="91440" bIns="45720" anchor="t" anchorCtr="0">
              <a:spAutoFit/>
            </a:bodyPr>
            <a:lstStyle/>
            <a:p>
              <a:pPr algn="ctr" hangingPunct="0">
                <a:lnSpc>
                  <a:spcPct val="150000"/>
                </a:lnSpc>
                <a:spcAft>
                  <a:spcPts val="0"/>
                </a:spcAft>
              </a:pPr>
              <a:r>
                <a:rPr lang="en-US" sz="1200" kern="100" dirty="0">
                  <a:effectLst/>
                  <a:latin typeface="Times New Roman" panose="02020603050405020304" pitchFamily="18" charset="0"/>
                  <a:ea typeface="DFKai-SB" panose="03000509000000000000" pitchFamily="65" charset="-120"/>
                  <a:cs typeface="Times New Roman" panose="02020603050405020304" pitchFamily="18" charset="0"/>
                </a:rPr>
                <a:t>(a)</a:t>
              </a:r>
              <a:endParaRPr lang="zh-TW" sz="1200" kern="100" dirty="0">
                <a:effectLst/>
                <a:latin typeface="Times New Roman" panose="02020603050405020304" pitchFamily="18" charset="0"/>
                <a:ea typeface="DFKai-SB" panose="03000509000000000000" pitchFamily="65" charset="-120"/>
                <a:cs typeface="Times New Roman" panose="02020603050405020304" pitchFamily="18" charset="0"/>
              </a:endParaRPr>
            </a:p>
          </p:txBody>
        </p:sp>
      </p:grpSp>
      <p:grpSp>
        <p:nvGrpSpPr>
          <p:cNvPr id="19" name="群組 18">
            <a:extLst>
              <a:ext uri="{FF2B5EF4-FFF2-40B4-BE49-F238E27FC236}">
                <a16:creationId xmlns:a16="http://schemas.microsoft.com/office/drawing/2014/main" id="{4C843A42-98D2-44B6-9B94-003A50A6B68E}"/>
              </a:ext>
            </a:extLst>
          </p:cNvPr>
          <p:cNvGrpSpPr/>
          <p:nvPr/>
        </p:nvGrpSpPr>
        <p:grpSpPr>
          <a:xfrm>
            <a:off x="5089203" y="1402078"/>
            <a:ext cx="1809668" cy="3198113"/>
            <a:chOff x="5093736" y="1676398"/>
            <a:chExt cx="1809668" cy="3198113"/>
          </a:xfrm>
        </p:grpSpPr>
        <p:pic>
          <p:nvPicPr>
            <p:cNvPr id="5" name="圖片 4">
              <a:extLst>
                <a:ext uri="{FF2B5EF4-FFF2-40B4-BE49-F238E27FC236}">
                  <a16:creationId xmlns:a16="http://schemas.microsoft.com/office/drawing/2014/main" id="{215F59A0-6784-421C-AD95-EC7111FA96D1}"/>
                </a:ext>
              </a:extLst>
            </p:cNvPr>
            <p:cNvPicPr>
              <a:picLocks noChangeAspect="1"/>
            </p:cNvPicPr>
            <p:nvPr/>
          </p:nvPicPr>
          <p:blipFill rotWithShape="1">
            <a:blip r:embed="rId3">
              <a:extLst>
                <a:ext uri="{28A0092B-C50C-407E-A947-70E740481C1C}">
                  <a14:useLocalDpi xmlns:a14="http://schemas.microsoft.com/office/drawing/2010/main" val="0"/>
                </a:ext>
              </a:extLst>
            </a:blip>
            <a:srcRect l="30724" t="42257" r="59497" b="45852"/>
            <a:stretch/>
          </p:blipFill>
          <p:spPr bwMode="auto">
            <a:xfrm>
              <a:off x="5093736" y="1676398"/>
              <a:ext cx="1809668" cy="2981980"/>
            </a:xfrm>
            <a:prstGeom prst="roundRect">
              <a:avLst>
                <a:gd name="adj" fmla="val 7123"/>
              </a:avLst>
            </a:prstGeom>
            <a:ln>
              <a:noFill/>
            </a:ln>
            <a:extLst>
              <a:ext uri="{53640926-AAD7-44D8-BBD7-CCE9431645EC}">
                <a14:shadowObscured xmlns:a14="http://schemas.microsoft.com/office/drawing/2010/main"/>
              </a:ext>
            </a:extLst>
          </p:spPr>
        </p:pic>
        <p:sp>
          <p:nvSpPr>
            <p:cNvPr id="8" name="文字方塊 2">
              <a:extLst>
                <a:ext uri="{FF2B5EF4-FFF2-40B4-BE49-F238E27FC236}">
                  <a16:creationId xmlns:a16="http://schemas.microsoft.com/office/drawing/2014/main" id="{90B9948A-8353-489D-ABA6-AD721C7989E5}"/>
                </a:ext>
              </a:extLst>
            </p:cNvPr>
            <p:cNvSpPr txBox="1">
              <a:spLocks noChangeArrowheads="1"/>
            </p:cNvSpPr>
            <p:nvPr/>
          </p:nvSpPr>
          <p:spPr bwMode="auto">
            <a:xfrm>
              <a:off x="5779239" y="4538393"/>
              <a:ext cx="438662" cy="336118"/>
            </a:xfrm>
            <a:prstGeom prst="rect">
              <a:avLst/>
            </a:prstGeom>
            <a:noFill/>
            <a:ln w="9525">
              <a:noFill/>
              <a:miter lim="800000"/>
              <a:headEnd/>
              <a:tailEnd/>
            </a:ln>
          </p:spPr>
          <p:txBody>
            <a:bodyPr rot="0" vert="horz" wrap="square" lIns="91440" tIns="45720" rIns="91440" bIns="45720" anchor="t" anchorCtr="0">
              <a:spAutoFit/>
            </a:bodyPr>
            <a:lstStyle/>
            <a:p>
              <a:pPr algn="ctr" hangingPunct="0">
                <a:lnSpc>
                  <a:spcPct val="150000"/>
                </a:lnSpc>
                <a:spcAft>
                  <a:spcPts val="0"/>
                </a:spcAft>
              </a:pPr>
              <a:r>
                <a:rPr lang="en-US" sz="1200" kern="100" dirty="0">
                  <a:effectLst/>
                  <a:latin typeface="Times New Roman" panose="02020603050405020304" pitchFamily="18" charset="0"/>
                  <a:ea typeface="DFKai-SB" panose="03000509000000000000" pitchFamily="65" charset="-120"/>
                  <a:cs typeface="Times New Roman" panose="02020603050405020304" pitchFamily="18" charset="0"/>
                </a:rPr>
                <a:t>(b)</a:t>
              </a:r>
              <a:endParaRPr lang="zh-TW" sz="1200" kern="100" dirty="0">
                <a:effectLst/>
                <a:latin typeface="Times New Roman" panose="02020603050405020304" pitchFamily="18" charset="0"/>
                <a:ea typeface="DFKai-SB" panose="03000509000000000000" pitchFamily="65" charset="-120"/>
                <a:cs typeface="Times New Roman" panose="02020603050405020304" pitchFamily="18" charset="0"/>
              </a:endParaRPr>
            </a:p>
          </p:txBody>
        </p:sp>
      </p:grpSp>
      <p:grpSp>
        <p:nvGrpSpPr>
          <p:cNvPr id="20" name="群組 19">
            <a:extLst>
              <a:ext uri="{FF2B5EF4-FFF2-40B4-BE49-F238E27FC236}">
                <a16:creationId xmlns:a16="http://schemas.microsoft.com/office/drawing/2014/main" id="{1C2DA347-2EC7-4225-A8BA-6EA07FD727ED}"/>
              </a:ext>
            </a:extLst>
          </p:cNvPr>
          <p:cNvGrpSpPr/>
          <p:nvPr/>
        </p:nvGrpSpPr>
        <p:grpSpPr>
          <a:xfrm>
            <a:off x="7486444" y="1402078"/>
            <a:ext cx="1809669" cy="3198060"/>
            <a:chOff x="7486444" y="1676398"/>
            <a:chExt cx="1809669" cy="3198060"/>
          </a:xfrm>
        </p:grpSpPr>
        <p:pic>
          <p:nvPicPr>
            <p:cNvPr id="4" name="圖片 3">
              <a:extLst>
                <a:ext uri="{FF2B5EF4-FFF2-40B4-BE49-F238E27FC236}">
                  <a16:creationId xmlns:a16="http://schemas.microsoft.com/office/drawing/2014/main" id="{1128F58E-F046-440D-9DAC-950231C1DF7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2940" t="9618" r="48251" b="25064"/>
            <a:stretch/>
          </p:blipFill>
          <p:spPr bwMode="auto">
            <a:xfrm>
              <a:off x="7486444" y="1676398"/>
              <a:ext cx="1809669" cy="2990117"/>
            </a:xfrm>
            <a:prstGeom prst="roundRect">
              <a:avLst>
                <a:gd name="adj" fmla="val 8246"/>
              </a:avLst>
            </a:prstGeom>
            <a:ln>
              <a:noFill/>
            </a:ln>
            <a:extLst>
              <a:ext uri="{53640926-AAD7-44D8-BBD7-CCE9431645EC}">
                <a14:shadowObscured xmlns:a14="http://schemas.microsoft.com/office/drawing/2010/main"/>
              </a:ext>
            </a:extLst>
          </p:spPr>
        </p:pic>
        <p:sp>
          <p:nvSpPr>
            <p:cNvPr id="9" name="文字方塊 2">
              <a:extLst>
                <a:ext uri="{FF2B5EF4-FFF2-40B4-BE49-F238E27FC236}">
                  <a16:creationId xmlns:a16="http://schemas.microsoft.com/office/drawing/2014/main" id="{1AFD117B-F024-4036-869A-6354C977B723}"/>
                </a:ext>
              </a:extLst>
            </p:cNvPr>
            <p:cNvSpPr txBox="1">
              <a:spLocks noChangeArrowheads="1"/>
            </p:cNvSpPr>
            <p:nvPr/>
          </p:nvSpPr>
          <p:spPr bwMode="auto">
            <a:xfrm>
              <a:off x="8171947" y="4538340"/>
              <a:ext cx="438662" cy="336118"/>
            </a:xfrm>
            <a:prstGeom prst="rect">
              <a:avLst/>
            </a:prstGeom>
            <a:noFill/>
            <a:ln w="9525">
              <a:noFill/>
              <a:miter lim="800000"/>
              <a:headEnd/>
              <a:tailEnd/>
            </a:ln>
          </p:spPr>
          <p:txBody>
            <a:bodyPr rot="0" vert="horz" wrap="square" lIns="91440" tIns="45720" rIns="91440" bIns="45720" anchor="t" anchorCtr="0">
              <a:spAutoFit/>
            </a:bodyPr>
            <a:lstStyle/>
            <a:p>
              <a:pPr algn="ctr" hangingPunct="0">
                <a:lnSpc>
                  <a:spcPct val="150000"/>
                </a:lnSpc>
                <a:spcAft>
                  <a:spcPts val="0"/>
                </a:spcAft>
              </a:pPr>
              <a:r>
                <a:rPr lang="en-US" sz="1200" kern="100">
                  <a:effectLst/>
                  <a:latin typeface="Times New Roman" panose="02020603050405020304" pitchFamily="18" charset="0"/>
                  <a:ea typeface="DFKai-SB" panose="03000509000000000000" pitchFamily="65" charset="-120"/>
                  <a:cs typeface="Times New Roman" panose="02020603050405020304" pitchFamily="18" charset="0"/>
                </a:rPr>
                <a:t>(c)</a:t>
              </a:r>
              <a:endParaRPr lang="zh-TW" sz="1200" kern="100">
                <a:effectLst/>
                <a:latin typeface="Times New Roman" panose="02020603050405020304" pitchFamily="18" charset="0"/>
                <a:ea typeface="DFKai-SB" panose="03000509000000000000" pitchFamily="65" charset="-120"/>
                <a:cs typeface="Times New Roman" panose="02020603050405020304" pitchFamily="18" charset="0"/>
              </a:endParaRPr>
            </a:p>
          </p:txBody>
        </p:sp>
      </p:grpSp>
      <p:grpSp>
        <p:nvGrpSpPr>
          <p:cNvPr id="25" name="群組 24">
            <a:extLst>
              <a:ext uri="{FF2B5EF4-FFF2-40B4-BE49-F238E27FC236}">
                <a16:creationId xmlns:a16="http://schemas.microsoft.com/office/drawing/2014/main" id="{8AA21278-5B6B-48B0-8A0A-88F06811EBBB}"/>
              </a:ext>
            </a:extLst>
          </p:cNvPr>
          <p:cNvGrpSpPr/>
          <p:nvPr/>
        </p:nvGrpSpPr>
        <p:grpSpPr>
          <a:xfrm>
            <a:off x="3743675" y="4495862"/>
            <a:ext cx="2080874" cy="2035903"/>
            <a:chOff x="3743675" y="4495862"/>
            <a:chExt cx="2080874" cy="2035903"/>
          </a:xfrm>
        </p:grpSpPr>
        <p:pic>
          <p:nvPicPr>
            <p:cNvPr id="11" name="圖片 10">
              <a:extLst>
                <a:ext uri="{FF2B5EF4-FFF2-40B4-BE49-F238E27FC236}">
                  <a16:creationId xmlns:a16="http://schemas.microsoft.com/office/drawing/2014/main" id="{3C84263B-916D-47A2-AF6D-599118EF10D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4048"/>
            <a:stretch/>
          </p:blipFill>
          <p:spPr>
            <a:xfrm>
              <a:off x="3743675" y="4927295"/>
              <a:ext cx="2080874" cy="1604470"/>
            </a:xfrm>
            <a:prstGeom prst="roundRect">
              <a:avLst>
                <a:gd name="adj" fmla="val 15347"/>
              </a:avLst>
            </a:prstGeom>
            <a:effectLst>
              <a:softEdge rad="31750"/>
            </a:effectLst>
          </p:spPr>
        </p:pic>
        <p:sp>
          <p:nvSpPr>
            <p:cNvPr id="16" name="箭號: 迴轉箭號 15">
              <a:extLst>
                <a:ext uri="{FF2B5EF4-FFF2-40B4-BE49-F238E27FC236}">
                  <a16:creationId xmlns:a16="http://schemas.microsoft.com/office/drawing/2014/main" id="{8950CDBB-B09B-4BEC-AEC7-C2FB8891980D}"/>
                </a:ext>
              </a:extLst>
            </p:cNvPr>
            <p:cNvSpPr/>
            <p:nvPr/>
          </p:nvSpPr>
          <p:spPr>
            <a:xfrm flipV="1">
              <a:off x="4083811" y="4495862"/>
              <a:ext cx="1436730" cy="392862"/>
            </a:xfrm>
            <a:prstGeom prst="uturnArrow">
              <a:avLst>
                <a:gd name="adj1" fmla="val 12171"/>
                <a:gd name="adj2" fmla="val 17660"/>
                <a:gd name="adj3" fmla="val 31686"/>
                <a:gd name="adj4" fmla="val 68314"/>
                <a:gd name="adj5" fmla="val 100000"/>
              </a:avLst>
            </a:prstGeom>
            <a:solidFill>
              <a:srgbClr val="FF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26" name="群組 25">
            <a:extLst>
              <a:ext uri="{FF2B5EF4-FFF2-40B4-BE49-F238E27FC236}">
                <a16:creationId xmlns:a16="http://schemas.microsoft.com/office/drawing/2014/main" id="{05C79A2F-C0A1-45DF-A864-E338BC76461B}"/>
              </a:ext>
            </a:extLst>
          </p:cNvPr>
          <p:cNvGrpSpPr/>
          <p:nvPr/>
        </p:nvGrpSpPr>
        <p:grpSpPr>
          <a:xfrm>
            <a:off x="6227879" y="4495862"/>
            <a:ext cx="1996638" cy="2035903"/>
            <a:chOff x="6227879" y="4495862"/>
            <a:chExt cx="1996638" cy="2035903"/>
          </a:xfrm>
        </p:grpSpPr>
        <p:pic>
          <p:nvPicPr>
            <p:cNvPr id="10" name="圖片 9">
              <a:extLst>
                <a:ext uri="{FF2B5EF4-FFF2-40B4-BE49-F238E27FC236}">
                  <a16:creationId xmlns:a16="http://schemas.microsoft.com/office/drawing/2014/main" id="{D2BA11A7-8388-4B19-9B66-088866E078A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27879" y="4927295"/>
              <a:ext cx="1996638" cy="1604470"/>
            </a:xfrm>
            <a:prstGeom prst="roundRect">
              <a:avLst>
                <a:gd name="adj" fmla="val 16351"/>
              </a:avLst>
            </a:prstGeom>
            <a:effectLst>
              <a:softEdge rad="31750"/>
            </a:effectLst>
          </p:spPr>
        </p:pic>
        <p:sp>
          <p:nvSpPr>
            <p:cNvPr id="17" name="箭號: 迴轉箭號 16">
              <a:extLst>
                <a:ext uri="{FF2B5EF4-FFF2-40B4-BE49-F238E27FC236}">
                  <a16:creationId xmlns:a16="http://schemas.microsoft.com/office/drawing/2014/main" id="{C65F2B93-D8BE-40A8-8D17-0AFFA783AA30}"/>
                </a:ext>
              </a:extLst>
            </p:cNvPr>
            <p:cNvSpPr/>
            <p:nvPr/>
          </p:nvSpPr>
          <p:spPr>
            <a:xfrm flipV="1">
              <a:off x="6467533" y="4495862"/>
              <a:ext cx="1518886" cy="392862"/>
            </a:xfrm>
            <a:prstGeom prst="uturnArrow">
              <a:avLst>
                <a:gd name="adj1" fmla="val 12171"/>
                <a:gd name="adj2" fmla="val 17660"/>
                <a:gd name="adj3" fmla="val 31686"/>
                <a:gd name="adj4" fmla="val 68314"/>
                <a:gd name="adj5" fmla="val 100000"/>
              </a:avLst>
            </a:prstGeom>
            <a:solidFill>
              <a:srgbClr val="FF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15" name="群組 14">
            <a:extLst>
              <a:ext uri="{FF2B5EF4-FFF2-40B4-BE49-F238E27FC236}">
                <a16:creationId xmlns:a16="http://schemas.microsoft.com/office/drawing/2014/main" id="{7493932C-B3DF-4234-BAED-3ABB38D23A51}"/>
              </a:ext>
            </a:extLst>
          </p:cNvPr>
          <p:cNvGrpSpPr/>
          <p:nvPr/>
        </p:nvGrpSpPr>
        <p:grpSpPr>
          <a:xfrm flipH="1">
            <a:off x="1597470" y="1442512"/>
            <a:ext cx="647889" cy="660417"/>
            <a:chOff x="9710611" y="1442512"/>
            <a:chExt cx="634620" cy="660417"/>
          </a:xfrm>
        </p:grpSpPr>
        <p:sp>
          <p:nvSpPr>
            <p:cNvPr id="14" name="圖說文字: 直線加上強調線 13">
              <a:extLst>
                <a:ext uri="{FF2B5EF4-FFF2-40B4-BE49-F238E27FC236}">
                  <a16:creationId xmlns:a16="http://schemas.microsoft.com/office/drawing/2014/main" id="{281F5AA1-DC73-4929-B35A-9648D56A9C04}"/>
                </a:ext>
              </a:extLst>
            </p:cNvPr>
            <p:cNvSpPr/>
            <p:nvPr/>
          </p:nvSpPr>
          <p:spPr>
            <a:xfrm>
              <a:off x="9710611" y="1442512"/>
              <a:ext cx="634620" cy="660417"/>
            </a:xfrm>
            <a:prstGeom prst="accentCallout1">
              <a:avLst>
                <a:gd name="adj1" fmla="val 18750"/>
                <a:gd name="adj2" fmla="val -8333"/>
                <a:gd name="adj3" fmla="val 29425"/>
                <a:gd name="adj4" fmla="val -118381"/>
              </a:avLst>
            </a:prstGeom>
            <a:solidFill>
              <a:schemeClr val="accent2">
                <a:lumMod val="40000"/>
                <a:lumOff val="6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accent2">
                      <a:lumMod val="60000"/>
                      <a:lumOff val="40000"/>
                    </a:schemeClr>
                  </a:solidFill>
                </a:ln>
                <a:noFill/>
              </a:endParaRPr>
            </a:p>
          </p:txBody>
        </p:sp>
        <p:sp>
          <p:nvSpPr>
            <p:cNvPr id="3" name="文字方塊 2">
              <a:extLst>
                <a:ext uri="{FF2B5EF4-FFF2-40B4-BE49-F238E27FC236}">
                  <a16:creationId xmlns:a16="http://schemas.microsoft.com/office/drawing/2014/main" id="{0C4F8164-FFC8-4743-9724-B769B34AB18C}"/>
                </a:ext>
              </a:extLst>
            </p:cNvPr>
            <p:cNvSpPr txBox="1"/>
            <p:nvPr/>
          </p:nvSpPr>
          <p:spPr>
            <a:xfrm>
              <a:off x="9736816" y="1588054"/>
              <a:ext cx="582211"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LN</a:t>
              </a:r>
              <a:endParaRPr lang="zh-TW" altLang="en-US" dirty="0">
                <a:latin typeface="Times New Roman" panose="02020603050405020304" pitchFamily="18" charset="0"/>
                <a:cs typeface="Times New Roman" panose="02020603050405020304" pitchFamily="18" charset="0"/>
              </a:endParaRPr>
            </a:p>
          </p:txBody>
        </p:sp>
      </p:grpSp>
      <p:grpSp>
        <p:nvGrpSpPr>
          <p:cNvPr id="27" name="群組 26">
            <a:extLst>
              <a:ext uri="{FF2B5EF4-FFF2-40B4-BE49-F238E27FC236}">
                <a16:creationId xmlns:a16="http://schemas.microsoft.com/office/drawing/2014/main" id="{10ABF34F-072A-423E-B3DA-63907EAED210}"/>
              </a:ext>
            </a:extLst>
          </p:cNvPr>
          <p:cNvGrpSpPr/>
          <p:nvPr/>
        </p:nvGrpSpPr>
        <p:grpSpPr>
          <a:xfrm flipH="1">
            <a:off x="1597470" y="3878470"/>
            <a:ext cx="647889" cy="660417"/>
            <a:chOff x="9710611" y="1442512"/>
            <a:chExt cx="634620" cy="660417"/>
          </a:xfrm>
        </p:grpSpPr>
        <p:sp>
          <p:nvSpPr>
            <p:cNvPr id="28" name="圖說文字: 直線加上強調線 27">
              <a:extLst>
                <a:ext uri="{FF2B5EF4-FFF2-40B4-BE49-F238E27FC236}">
                  <a16:creationId xmlns:a16="http://schemas.microsoft.com/office/drawing/2014/main" id="{24A350CD-892F-4E39-87A6-5A6F9DCD88D9}"/>
                </a:ext>
              </a:extLst>
            </p:cNvPr>
            <p:cNvSpPr/>
            <p:nvPr/>
          </p:nvSpPr>
          <p:spPr>
            <a:xfrm>
              <a:off x="9710611" y="1442512"/>
              <a:ext cx="634620" cy="660417"/>
            </a:xfrm>
            <a:prstGeom prst="accentCallout1">
              <a:avLst>
                <a:gd name="adj1" fmla="val 18750"/>
                <a:gd name="adj2" fmla="val -8333"/>
                <a:gd name="adj3" fmla="val 29425"/>
                <a:gd name="adj4" fmla="val -118381"/>
              </a:avLst>
            </a:prstGeom>
            <a:solidFill>
              <a:schemeClr val="accent2">
                <a:lumMod val="40000"/>
                <a:lumOff val="6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accent2">
                      <a:lumMod val="60000"/>
                      <a:lumOff val="40000"/>
                    </a:schemeClr>
                  </a:solidFill>
                </a:ln>
                <a:noFill/>
              </a:endParaRPr>
            </a:p>
          </p:txBody>
        </p:sp>
        <p:sp>
          <p:nvSpPr>
            <p:cNvPr id="29" name="文字方塊 28">
              <a:extLst>
                <a:ext uri="{FF2B5EF4-FFF2-40B4-BE49-F238E27FC236}">
                  <a16:creationId xmlns:a16="http://schemas.microsoft.com/office/drawing/2014/main" id="{29FB88BC-2153-4125-A9A2-DA86FFBF54B6}"/>
                </a:ext>
              </a:extLst>
            </p:cNvPr>
            <p:cNvSpPr txBox="1"/>
            <p:nvPr/>
          </p:nvSpPr>
          <p:spPr>
            <a:xfrm>
              <a:off x="9736816" y="1588054"/>
              <a:ext cx="582211"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LN</a:t>
              </a:r>
              <a:endParaRPr lang="zh-TW" altLang="en-US" dirty="0">
                <a:latin typeface="Times New Roman" panose="02020603050405020304" pitchFamily="18" charset="0"/>
                <a:cs typeface="Times New Roman" panose="02020603050405020304" pitchFamily="18" charset="0"/>
              </a:endParaRPr>
            </a:p>
          </p:txBody>
        </p:sp>
      </p:grpSp>
      <p:grpSp>
        <p:nvGrpSpPr>
          <p:cNvPr id="30" name="群組 29">
            <a:extLst>
              <a:ext uri="{FF2B5EF4-FFF2-40B4-BE49-F238E27FC236}">
                <a16:creationId xmlns:a16="http://schemas.microsoft.com/office/drawing/2014/main" id="{C0F3B411-DD79-4233-AF72-D61013948504}"/>
              </a:ext>
            </a:extLst>
          </p:cNvPr>
          <p:cNvGrpSpPr/>
          <p:nvPr/>
        </p:nvGrpSpPr>
        <p:grpSpPr>
          <a:xfrm flipH="1">
            <a:off x="1597470" y="2691116"/>
            <a:ext cx="647889" cy="660417"/>
            <a:chOff x="9710611" y="1442512"/>
            <a:chExt cx="634620" cy="660417"/>
          </a:xfrm>
          <a:solidFill>
            <a:schemeClr val="accent1">
              <a:lumMod val="60000"/>
              <a:lumOff val="40000"/>
            </a:schemeClr>
          </a:solidFill>
        </p:grpSpPr>
        <p:sp>
          <p:nvSpPr>
            <p:cNvPr id="31" name="圖說文字: 直線加上強調線 30">
              <a:extLst>
                <a:ext uri="{FF2B5EF4-FFF2-40B4-BE49-F238E27FC236}">
                  <a16:creationId xmlns:a16="http://schemas.microsoft.com/office/drawing/2014/main" id="{7D96C3BF-6A67-4959-9054-B671869EA65D}"/>
                </a:ext>
              </a:extLst>
            </p:cNvPr>
            <p:cNvSpPr/>
            <p:nvPr/>
          </p:nvSpPr>
          <p:spPr>
            <a:xfrm>
              <a:off x="9710611" y="1442512"/>
              <a:ext cx="634620" cy="660417"/>
            </a:xfrm>
            <a:prstGeom prst="accentCallout1">
              <a:avLst>
                <a:gd name="adj1" fmla="val 18750"/>
                <a:gd name="adj2" fmla="val -8333"/>
                <a:gd name="adj3" fmla="val 29425"/>
                <a:gd name="adj4" fmla="val -118381"/>
              </a:avLst>
            </a:prstGeom>
            <a:grp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accent2">
                      <a:lumMod val="60000"/>
                      <a:lumOff val="40000"/>
                    </a:schemeClr>
                  </a:solidFill>
                </a:ln>
                <a:noFill/>
              </a:endParaRPr>
            </a:p>
          </p:txBody>
        </p:sp>
        <p:sp>
          <p:nvSpPr>
            <p:cNvPr id="32" name="文字方塊 31">
              <a:extLst>
                <a:ext uri="{FF2B5EF4-FFF2-40B4-BE49-F238E27FC236}">
                  <a16:creationId xmlns:a16="http://schemas.microsoft.com/office/drawing/2014/main" id="{5D1E5355-87FD-4FEF-9F9D-EBC741211FF7}"/>
                </a:ext>
              </a:extLst>
            </p:cNvPr>
            <p:cNvSpPr txBox="1"/>
            <p:nvPr/>
          </p:nvSpPr>
          <p:spPr>
            <a:xfrm>
              <a:off x="9736816" y="1588054"/>
              <a:ext cx="582211" cy="369332"/>
            </a:xfrm>
            <a:prstGeom prst="rect">
              <a:avLst/>
            </a:prstGeom>
            <a:noFill/>
            <a:ln>
              <a:noFill/>
            </a:ln>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chip</a:t>
              </a:r>
              <a:endParaRPr lang="zh-TW"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90782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50"/>
                                        <p:tgtEl>
                                          <p:spTgt spid="25"/>
                                        </p:tgtEl>
                                        <p:attrNameLst>
                                          <p:attrName>ppt_y</p:attrName>
                                        </p:attrNameLst>
                                      </p:cBhvr>
                                      <p:tavLst>
                                        <p:tav tm="0">
                                          <p:val>
                                            <p:strVal val="#ppt_y+#ppt_h*1.125000"/>
                                          </p:val>
                                        </p:tav>
                                        <p:tav tm="100000">
                                          <p:val>
                                            <p:strVal val="#ppt_y"/>
                                          </p:val>
                                        </p:tav>
                                      </p:tavLst>
                                    </p:anim>
                                    <p:animEffect transition="in" filter="wipe(up)">
                                      <p:cBhvr>
                                        <p:cTn id="8" dur="250"/>
                                        <p:tgtEl>
                                          <p:spTgt spid="25"/>
                                        </p:tgtEl>
                                      </p:cBhvr>
                                    </p:animEffect>
                                  </p:childTnLst>
                                </p:cTn>
                              </p:par>
                              <p:par>
                                <p:cTn id="9" presetID="1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250"/>
                                        <p:tgtEl>
                                          <p:spTgt spid="19"/>
                                        </p:tgtEl>
                                        <p:attrNameLst>
                                          <p:attrName>ppt_y</p:attrName>
                                        </p:attrNameLst>
                                      </p:cBhvr>
                                      <p:tavLst>
                                        <p:tav tm="0">
                                          <p:val>
                                            <p:strVal val="#ppt_y+#ppt_h*1.125000"/>
                                          </p:val>
                                        </p:tav>
                                        <p:tav tm="100000">
                                          <p:val>
                                            <p:strVal val="#ppt_y"/>
                                          </p:val>
                                        </p:tav>
                                      </p:tavLst>
                                    </p:anim>
                                    <p:animEffect transition="in" filter="wipe(up)">
                                      <p:cBhvr>
                                        <p:cTn id="12" dur="25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250"/>
                                        <p:tgtEl>
                                          <p:spTgt spid="26"/>
                                        </p:tgtEl>
                                        <p:attrNameLst>
                                          <p:attrName>ppt_y</p:attrName>
                                        </p:attrNameLst>
                                      </p:cBhvr>
                                      <p:tavLst>
                                        <p:tav tm="0">
                                          <p:val>
                                            <p:strVal val="#ppt_y+#ppt_h*1.125000"/>
                                          </p:val>
                                        </p:tav>
                                        <p:tav tm="100000">
                                          <p:val>
                                            <p:strVal val="#ppt_y"/>
                                          </p:val>
                                        </p:tav>
                                      </p:tavLst>
                                    </p:anim>
                                    <p:animEffect transition="in" filter="wipe(up)">
                                      <p:cBhvr>
                                        <p:cTn id="18" dur="250"/>
                                        <p:tgtEl>
                                          <p:spTgt spid="26"/>
                                        </p:tgtEl>
                                      </p:cBhvr>
                                    </p:animEffect>
                                  </p:childTnLst>
                                </p:cTn>
                              </p:par>
                              <p:par>
                                <p:cTn id="19" presetID="12" presetClass="entr" presetSubtype="4"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250"/>
                                        <p:tgtEl>
                                          <p:spTgt spid="20"/>
                                        </p:tgtEl>
                                        <p:attrNameLst>
                                          <p:attrName>ppt_y</p:attrName>
                                        </p:attrNameLst>
                                      </p:cBhvr>
                                      <p:tavLst>
                                        <p:tav tm="0">
                                          <p:val>
                                            <p:strVal val="#ppt_y+#ppt_h*1.125000"/>
                                          </p:val>
                                        </p:tav>
                                        <p:tav tm="100000">
                                          <p:val>
                                            <p:strVal val="#ppt_y"/>
                                          </p:val>
                                        </p:tav>
                                      </p:tavLst>
                                    </p:anim>
                                    <p:animEffect transition="in" filter="wipe(up)">
                                      <p:cBhvr>
                                        <p:cTn id="22"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B7D6CB7-BE41-4407-8484-5095438BF9F1}"/>
              </a:ext>
            </a:extLst>
          </p:cNvPr>
          <p:cNvSpPr>
            <a:spLocks noGrp="1"/>
          </p:cNvSpPr>
          <p:nvPr>
            <p:ph type="sldNum" sz="quarter" idx="12"/>
          </p:nvPr>
        </p:nvSpPr>
        <p:spPr/>
        <p:txBody>
          <a:bodyPr/>
          <a:lstStyle/>
          <a:p>
            <a:fld id="{9820161B-3DFF-4FF5-AA0E-35496F014571}" type="slidenum">
              <a:rPr lang="zh-TW" altLang="en-US" smtClean="0"/>
              <a:t>29</a:t>
            </a:fld>
            <a:endParaRPr lang="zh-TW" altLang="en-US"/>
          </a:p>
        </p:txBody>
      </p:sp>
      <p:sp>
        <p:nvSpPr>
          <p:cNvPr id="4" name="矩形 3">
            <a:extLst>
              <a:ext uri="{FF2B5EF4-FFF2-40B4-BE49-F238E27FC236}">
                <a16:creationId xmlns:a16="http://schemas.microsoft.com/office/drawing/2014/main" id="{B2CB7B2D-B638-408C-BBDD-03274C678EE8}"/>
              </a:ext>
            </a:extLst>
          </p:cNvPr>
          <p:cNvSpPr/>
          <p:nvPr/>
        </p:nvSpPr>
        <p:spPr>
          <a:xfrm>
            <a:off x="691200" y="866616"/>
            <a:ext cx="6456137" cy="4376647"/>
          </a:xfrm>
          <a:prstGeom prst="rect">
            <a:avLst/>
          </a:prstGeom>
        </p:spPr>
        <p:txBody>
          <a:bodyPr wrap="square">
            <a:spAutoFit/>
          </a:bodyPr>
          <a:lstStyle/>
          <a:p>
            <a:pPr marL="514350" indent="-514350">
              <a:lnSpc>
                <a:spcPct val="150000"/>
              </a:lnSpc>
              <a:buAutoNum type="romanUcPeriod"/>
            </a:pPr>
            <a:r>
              <a:rPr lang="en-US" altLang="zh-TW" sz="2000" b="1" dirty="0">
                <a:solidFill>
                  <a:srgbClr val="483832"/>
                </a:solidFill>
                <a:latin typeface="Times New Roman" panose="02020603050405020304" pitchFamily="18" charset="0"/>
              </a:rPr>
              <a:t>Introduction</a:t>
            </a:r>
          </a:p>
          <a:p>
            <a:pPr marL="514350" indent="-514350">
              <a:lnSpc>
                <a:spcPct val="150000"/>
              </a:lnSpc>
              <a:buFontTx/>
              <a:buAutoNum type="romanUcPeriod"/>
            </a:pPr>
            <a:r>
              <a:rPr lang="en-US" altLang="zh-TW" sz="2000" b="1" dirty="0">
                <a:solidFill>
                  <a:srgbClr val="483832"/>
                </a:solidFill>
                <a:latin typeface="Times New Roman" panose="02020603050405020304" pitchFamily="18" charset="0"/>
              </a:rPr>
              <a:t>Theory</a:t>
            </a:r>
          </a:p>
          <a:p>
            <a:pPr marL="514350" indent="-514350">
              <a:lnSpc>
                <a:spcPct val="150000"/>
              </a:lnSpc>
              <a:buFontTx/>
              <a:buAutoNum type="romanUcPeriod"/>
            </a:pPr>
            <a:r>
              <a:rPr lang="en-US" altLang="zh-TW" sz="2000" b="1" dirty="0">
                <a:solidFill>
                  <a:srgbClr val="483832"/>
                </a:solidFill>
                <a:latin typeface="Times New Roman" panose="02020603050405020304" pitchFamily="18" charset="0"/>
              </a:rPr>
              <a:t>Simulation</a:t>
            </a:r>
          </a:p>
          <a:p>
            <a:pPr marL="514350" indent="-514350">
              <a:lnSpc>
                <a:spcPct val="1500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Fabrication process</a:t>
            </a:r>
          </a:p>
          <a:p>
            <a:pPr marL="514350" indent="-514350">
              <a:lnSpc>
                <a:spcPct val="150000"/>
              </a:lnSpc>
              <a:buFontTx/>
              <a:buAutoNum type="romanUcPeriod"/>
            </a:pPr>
            <a:r>
              <a:rPr lang="en-US" altLang="zh-TW" sz="2400" b="1" dirty="0">
                <a:solidFill>
                  <a:srgbClr val="FF0000"/>
                </a:solidFill>
                <a:latin typeface="Times New Roman" panose="02020603050405020304" pitchFamily="18" charset="0"/>
              </a:rPr>
              <a:t>Experimental Results and Analysis</a:t>
            </a:r>
          </a:p>
          <a:p>
            <a:pPr marL="742950" lvl="1" indent="-285750">
              <a:lnSpc>
                <a:spcPct val="150000"/>
              </a:lnSpc>
              <a:buFont typeface="Arial" panose="020B0604020202020204" pitchFamily="34" charset="0"/>
              <a:buChar char="•"/>
            </a:pPr>
            <a:r>
              <a:rPr lang="en-US" altLang="zh-TW" sz="1600" dirty="0">
                <a:solidFill>
                  <a:srgbClr val="FF0000"/>
                </a:solidFill>
                <a:latin typeface="Times New Roman" panose="02020603050405020304" pitchFamily="18" charset="0"/>
              </a:rPr>
              <a:t>Propagation loss</a:t>
            </a:r>
          </a:p>
          <a:p>
            <a:pPr marL="742950" lvl="1" indent="-285750">
              <a:lnSpc>
                <a:spcPct val="150000"/>
              </a:lnSpc>
              <a:buFont typeface="Arial" panose="020B0604020202020204" pitchFamily="34" charset="0"/>
              <a:buChar char="•"/>
            </a:pPr>
            <a:r>
              <a:rPr lang="en-US" altLang="zh-TW" sz="1600" dirty="0">
                <a:solidFill>
                  <a:srgbClr val="FF0000"/>
                </a:solidFill>
                <a:latin typeface="Times New Roman" panose="02020603050405020304" pitchFamily="18" charset="0"/>
              </a:rPr>
              <a:t>ER spectrum</a:t>
            </a:r>
          </a:p>
          <a:p>
            <a:pPr marL="742950" lvl="1" indent="-285750">
              <a:lnSpc>
                <a:spcPct val="150000"/>
              </a:lnSpc>
              <a:buFont typeface="Arial" panose="020B0604020202020204" pitchFamily="34" charset="0"/>
              <a:buChar char="•"/>
            </a:pPr>
            <a:r>
              <a:rPr lang="en-US" altLang="zh-TW" sz="1600" dirty="0">
                <a:solidFill>
                  <a:srgbClr val="FF0000"/>
                </a:solidFill>
                <a:latin typeface="Times New Roman" panose="02020603050405020304" pitchFamily="18" charset="0"/>
              </a:rPr>
              <a:t>SHG characteristic</a:t>
            </a:r>
          </a:p>
          <a:p>
            <a:pPr marL="742950" lvl="1" indent="-285750">
              <a:lnSpc>
                <a:spcPct val="150000"/>
              </a:lnSpc>
              <a:buFont typeface="Arial" panose="020B0604020202020204" pitchFamily="34" charset="0"/>
              <a:buChar char="•"/>
            </a:pPr>
            <a:r>
              <a:rPr lang="en-US" altLang="zh-TW" sz="1600"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Squeezing light optical setup</a:t>
            </a:r>
            <a:endParaRPr lang="en-US" altLang="zh-TW" sz="1600" b="1" dirty="0">
              <a:solidFill>
                <a:srgbClr val="FF0000"/>
              </a:solidFill>
              <a:latin typeface="Times New Roman" panose="02020603050405020304" pitchFamily="18" charset="0"/>
            </a:endParaRPr>
          </a:p>
          <a:p>
            <a:pPr marL="514350" indent="-514350">
              <a:lnSpc>
                <a:spcPct val="1500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Conclusion and future work</a:t>
            </a:r>
            <a:endParaRPr lang="en-US" altLang="zh-TW" sz="2000" b="1" dirty="0">
              <a:solidFill>
                <a:srgbClr val="483832"/>
              </a:solidFill>
              <a:latin typeface="Times New Roman" panose="02020603050405020304" pitchFamily="18" charset="0"/>
            </a:endParaRPr>
          </a:p>
        </p:txBody>
      </p:sp>
    </p:spTree>
    <p:extLst>
      <p:ext uri="{BB962C8B-B14F-4D97-AF65-F5344CB8AC3E}">
        <p14:creationId xmlns:p14="http://schemas.microsoft.com/office/powerpoint/2010/main" val="3525446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14E4C07D-C152-4552-982D-BE3B1529178F}"/>
              </a:ext>
            </a:extLst>
          </p:cNvPr>
          <p:cNvSpPr>
            <a:spLocks noGrp="1"/>
          </p:cNvSpPr>
          <p:nvPr>
            <p:ph type="body" sz="half" idx="13"/>
          </p:nvPr>
        </p:nvSpPr>
        <p:spPr>
          <a:xfrm>
            <a:off x="4124961" y="16590"/>
            <a:ext cx="3942080" cy="660417"/>
          </a:xfrm>
        </p:spPr>
        <p:txBody>
          <a:bodyPr>
            <a:normAutofit/>
          </a:bodyPr>
          <a:lstStyle/>
          <a:p>
            <a:r>
              <a:rPr lang="en-US" altLang="zh-TW" dirty="0"/>
              <a:t>Beam splitter scheme</a:t>
            </a:r>
            <a:endParaRPr lang="zh-TW" altLang="en-US" dirty="0"/>
          </a:p>
        </p:txBody>
      </p:sp>
      <p:pic>
        <p:nvPicPr>
          <p:cNvPr id="3" name="圖片 2">
            <a:extLst>
              <a:ext uri="{FF2B5EF4-FFF2-40B4-BE49-F238E27FC236}">
                <a16:creationId xmlns:a16="http://schemas.microsoft.com/office/drawing/2014/main" id="{4FECDFA9-F8F0-4A43-B6C4-B9B5CAA5984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5840" y="1325880"/>
            <a:ext cx="10816046" cy="4206240"/>
          </a:xfrm>
          <a:prstGeom prst="rect">
            <a:avLst/>
          </a:prstGeom>
          <a:noFill/>
          <a:ln>
            <a:noFill/>
          </a:ln>
        </p:spPr>
      </p:pic>
      <p:sp>
        <p:nvSpPr>
          <p:cNvPr id="6" name="投影片編號版面配置區 5">
            <a:extLst>
              <a:ext uri="{FF2B5EF4-FFF2-40B4-BE49-F238E27FC236}">
                <a16:creationId xmlns:a16="http://schemas.microsoft.com/office/drawing/2014/main" id="{09EA379F-B75D-4A87-855E-EF02C4E539A8}"/>
              </a:ext>
            </a:extLst>
          </p:cNvPr>
          <p:cNvSpPr>
            <a:spLocks noGrp="1"/>
          </p:cNvSpPr>
          <p:nvPr>
            <p:ph type="sldNum" sz="quarter" idx="12"/>
          </p:nvPr>
        </p:nvSpPr>
        <p:spPr/>
        <p:txBody>
          <a:bodyPr/>
          <a:lstStyle/>
          <a:p>
            <a:fld id="{9820161B-3DFF-4FF5-AA0E-35496F014571}" type="slidenum">
              <a:rPr lang="zh-TW" altLang="en-US" smtClean="0"/>
              <a:t>30</a:t>
            </a:fld>
            <a:endParaRPr lang="zh-TW" altLang="en-US"/>
          </a:p>
        </p:txBody>
      </p:sp>
    </p:spTree>
    <p:extLst>
      <p:ext uri="{BB962C8B-B14F-4D97-AF65-F5344CB8AC3E}">
        <p14:creationId xmlns:p14="http://schemas.microsoft.com/office/powerpoint/2010/main" val="1207578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A65EAA10-DA59-452C-9974-A8B20AFD541B}"/>
              </a:ext>
            </a:extLst>
          </p:cNvPr>
          <p:cNvSpPr>
            <a:spLocks noGrp="1"/>
          </p:cNvSpPr>
          <p:nvPr>
            <p:ph type="body" sz="half" idx="13"/>
          </p:nvPr>
        </p:nvSpPr>
        <p:spPr>
          <a:xfrm>
            <a:off x="3342641" y="16590"/>
            <a:ext cx="5506720" cy="660417"/>
          </a:xfrm>
        </p:spPr>
        <p:txBody>
          <a:bodyPr>
            <a:normAutofit/>
          </a:bodyPr>
          <a:lstStyle/>
          <a:p>
            <a:r>
              <a:rPr lang="en-US" altLang="zh-TW" dirty="0"/>
              <a:t>Waveguide</a:t>
            </a:r>
            <a:r>
              <a:rPr lang="zh-TW" altLang="en-US" dirty="0"/>
              <a:t> </a:t>
            </a:r>
            <a:r>
              <a:rPr lang="en-US" altLang="zh-TW" dirty="0"/>
              <a:t>TM mode profile</a:t>
            </a:r>
            <a:endParaRPr lang="zh-TW" altLang="en-US" dirty="0"/>
          </a:p>
        </p:txBody>
      </p:sp>
      <p:pic>
        <p:nvPicPr>
          <p:cNvPr id="3" name="圖片 2">
            <a:extLst>
              <a:ext uri="{FF2B5EF4-FFF2-40B4-BE49-F238E27FC236}">
                <a16:creationId xmlns:a16="http://schemas.microsoft.com/office/drawing/2014/main" id="{CB3F5D6D-5964-4A5C-9A05-21190A717AAA}"/>
              </a:ext>
            </a:extLst>
          </p:cNvPr>
          <p:cNvPicPr>
            <a:picLocks noChangeAspect="1"/>
          </p:cNvPicPr>
          <p:nvPr/>
        </p:nvPicPr>
        <p:blipFill rotWithShape="1">
          <a:blip r:embed="rId2"/>
          <a:srcRect b="13827"/>
          <a:stretch/>
        </p:blipFill>
        <p:spPr>
          <a:xfrm>
            <a:off x="1097280" y="1075478"/>
            <a:ext cx="5718776" cy="4585122"/>
          </a:xfrm>
          <a:prstGeom prst="rect">
            <a:avLst/>
          </a:prstGeom>
        </p:spPr>
      </p:pic>
      <p:sp>
        <p:nvSpPr>
          <p:cNvPr id="5" name="文字方塊 4">
            <a:extLst>
              <a:ext uri="{FF2B5EF4-FFF2-40B4-BE49-F238E27FC236}">
                <a16:creationId xmlns:a16="http://schemas.microsoft.com/office/drawing/2014/main" id="{CD77BCA0-DF73-4A23-BA02-A4E3ED006031}"/>
              </a:ext>
            </a:extLst>
          </p:cNvPr>
          <p:cNvSpPr txBox="1"/>
          <p:nvPr/>
        </p:nvSpPr>
        <p:spPr>
          <a:xfrm>
            <a:off x="3477210" y="5662217"/>
            <a:ext cx="958917" cy="369332"/>
          </a:xfrm>
          <a:prstGeom prst="rect">
            <a:avLst/>
          </a:prstGeom>
          <a:noFill/>
        </p:spPr>
        <p:txBody>
          <a:bodyPr wrap="none" rtlCol="0">
            <a:spAutoFit/>
          </a:bodyPr>
          <a:lstStyle/>
          <a:p>
            <a:r>
              <a:rPr lang="en-US" altLang="zh-TW" dirty="0">
                <a:solidFill>
                  <a:srgbClr val="483832"/>
                </a:solidFill>
                <a:latin typeface="Times New Roman" panose="02020603050405020304" pitchFamily="18" charset="0"/>
              </a:rPr>
              <a:t>1550nm</a:t>
            </a:r>
            <a:endParaRPr lang="zh-TW" altLang="en-US" dirty="0">
              <a:solidFill>
                <a:srgbClr val="483832"/>
              </a:solidFill>
              <a:latin typeface="Times New Roman" panose="02020603050405020304" pitchFamily="18" charset="0"/>
            </a:endParaRPr>
          </a:p>
        </p:txBody>
      </p:sp>
      <p:pic>
        <p:nvPicPr>
          <p:cNvPr id="4" name="圖片 3">
            <a:extLst>
              <a:ext uri="{FF2B5EF4-FFF2-40B4-BE49-F238E27FC236}">
                <a16:creationId xmlns:a16="http://schemas.microsoft.com/office/drawing/2014/main" id="{31EB4332-2CFC-4301-941B-85B7B7253B45}"/>
              </a:ext>
            </a:extLst>
          </p:cNvPr>
          <p:cNvPicPr/>
          <p:nvPr/>
        </p:nvPicPr>
        <p:blipFill rotWithShape="1">
          <a:blip r:embed="rId3" cstate="print">
            <a:extLst>
              <a:ext uri="{28A0092B-C50C-407E-A947-70E740481C1C}">
                <a14:useLocalDpi xmlns:a14="http://schemas.microsoft.com/office/drawing/2010/main" val="0"/>
              </a:ext>
            </a:extLst>
          </a:blip>
          <a:srcRect l="40276" t="6749" r="6008" b="-1"/>
          <a:stretch/>
        </p:blipFill>
        <p:spPr bwMode="auto">
          <a:xfrm>
            <a:off x="7305039" y="1659572"/>
            <a:ext cx="4165601" cy="3393440"/>
          </a:xfrm>
          <a:prstGeom prst="rect">
            <a:avLst/>
          </a:prstGeom>
          <a:noFill/>
          <a:ln>
            <a:noFill/>
          </a:ln>
          <a:extLst>
            <a:ext uri="{53640926-AAD7-44D8-BBD7-CCE9431645EC}">
              <a14:shadowObscured xmlns:a14="http://schemas.microsoft.com/office/drawing/2010/main"/>
            </a:ext>
          </a:extLst>
        </p:spPr>
      </p:pic>
      <p:sp>
        <p:nvSpPr>
          <p:cNvPr id="6" name="文字方塊 5">
            <a:extLst>
              <a:ext uri="{FF2B5EF4-FFF2-40B4-BE49-F238E27FC236}">
                <a16:creationId xmlns:a16="http://schemas.microsoft.com/office/drawing/2014/main" id="{F4C2BA3A-E845-442B-80C6-CB64C1035D7A}"/>
              </a:ext>
            </a:extLst>
          </p:cNvPr>
          <p:cNvSpPr txBox="1"/>
          <p:nvPr/>
        </p:nvSpPr>
        <p:spPr>
          <a:xfrm>
            <a:off x="8966891" y="5662217"/>
            <a:ext cx="841897" cy="369332"/>
          </a:xfrm>
          <a:prstGeom prst="rect">
            <a:avLst/>
          </a:prstGeom>
          <a:noFill/>
        </p:spPr>
        <p:txBody>
          <a:bodyPr wrap="square" rtlCol="0">
            <a:spAutoFit/>
          </a:bodyPr>
          <a:lstStyle/>
          <a:p>
            <a:r>
              <a:rPr lang="en-US" altLang="zh-TW" dirty="0">
                <a:solidFill>
                  <a:srgbClr val="483832"/>
                </a:solidFill>
                <a:latin typeface="Times New Roman" panose="02020603050405020304" pitchFamily="18" charset="0"/>
              </a:rPr>
              <a:t>775nm</a:t>
            </a:r>
            <a:endParaRPr lang="zh-TW" altLang="en-US" dirty="0">
              <a:solidFill>
                <a:srgbClr val="483832"/>
              </a:solidFill>
              <a:latin typeface="Times New Roman" panose="02020603050405020304" pitchFamily="18" charset="0"/>
            </a:endParaRPr>
          </a:p>
        </p:txBody>
      </p:sp>
      <p:sp>
        <p:nvSpPr>
          <p:cNvPr id="7" name="投影片編號版面配置區 6">
            <a:extLst>
              <a:ext uri="{FF2B5EF4-FFF2-40B4-BE49-F238E27FC236}">
                <a16:creationId xmlns:a16="http://schemas.microsoft.com/office/drawing/2014/main" id="{CB00E895-C7AF-4F97-9EF9-B459D497E205}"/>
              </a:ext>
            </a:extLst>
          </p:cNvPr>
          <p:cNvSpPr>
            <a:spLocks noGrp="1"/>
          </p:cNvSpPr>
          <p:nvPr>
            <p:ph type="sldNum" sz="quarter" idx="12"/>
          </p:nvPr>
        </p:nvSpPr>
        <p:spPr/>
        <p:txBody>
          <a:bodyPr/>
          <a:lstStyle/>
          <a:p>
            <a:fld id="{9820161B-3DFF-4FF5-AA0E-35496F014571}" type="slidenum">
              <a:rPr lang="zh-TW" altLang="en-US" smtClean="0"/>
              <a:t>31</a:t>
            </a:fld>
            <a:endParaRPr lang="zh-TW" altLang="en-US"/>
          </a:p>
        </p:txBody>
      </p:sp>
      <p:cxnSp>
        <p:nvCxnSpPr>
          <p:cNvPr id="9" name="直線接點 8">
            <a:extLst>
              <a:ext uri="{FF2B5EF4-FFF2-40B4-BE49-F238E27FC236}">
                <a16:creationId xmlns:a16="http://schemas.microsoft.com/office/drawing/2014/main" id="{F550E1F5-3C05-49E0-B81E-0902B8F678D9}"/>
              </a:ext>
            </a:extLst>
          </p:cNvPr>
          <p:cNvCxnSpPr/>
          <p:nvPr/>
        </p:nvCxnSpPr>
        <p:spPr>
          <a:xfrm>
            <a:off x="7060548" y="1107440"/>
            <a:ext cx="0" cy="5476240"/>
          </a:xfrm>
          <a:prstGeom prst="line">
            <a:avLst/>
          </a:prstGeom>
          <a:ln w="38100">
            <a:solidFill>
              <a:schemeClr val="accent5"/>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6742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A65EAA10-DA59-452C-9974-A8B20AFD541B}"/>
              </a:ext>
            </a:extLst>
          </p:cNvPr>
          <p:cNvSpPr>
            <a:spLocks noGrp="1"/>
          </p:cNvSpPr>
          <p:nvPr>
            <p:ph type="body" sz="half" idx="13"/>
          </p:nvPr>
        </p:nvSpPr>
        <p:spPr>
          <a:xfrm>
            <a:off x="3342641" y="16590"/>
            <a:ext cx="5506720" cy="660417"/>
          </a:xfrm>
        </p:spPr>
        <p:txBody>
          <a:bodyPr>
            <a:normAutofit/>
          </a:bodyPr>
          <a:lstStyle/>
          <a:p>
            <a:r>
              <a:rPr lang="en-US" altLang="zh-TW" dirty="0"/>
              <a:t>Waveguide</a:t>
            </a:r>
            <a:r>
              <a:rPr lang="zh-TW" altLang="en-US" dirty="0"/>
              <a:t> </a:t>
            </a:r>
            <a:r>
              <a:rPr lang="en-US" altLang="zh-TW" dirty="0"/>
              <a:t>TM mode profile</a:t>
            </a:r>
            <a:endParaRPr lang="zh-TW" altLang="en-US" dirty="0"/>
          </a:p>
        </p:txBody>
      </p:sp>
      <p:sp>
        <p:nvSpPr>
          <p:cNvPr id="7" name="投影片編號版面配置區 6">
            <a:extLst>
              <a:ext uri="{FF2B5EF4-FFF2-40B4-BE49-F238E27FC236}">
                <a16:creationId xmlns:a16="http://schemas.microsoft.com/office/drawing/2014/main" id="{CB00E895-C7AF-4F97-9EF9-B459D497E205}"/>
              </a:ext>
            </a:extLst>
          </p:cNvPr>
          <p:cNvSpPr>
            <a:spLocks noGrp="1"/>
          </p:cNvSpPr>
          <p:nvPr>
            <p:ph type="sldNum" sz="quarter" idx="12"/>
          </p:nvPr>
        </p:nvSpPr>
        <p:spPr/>
        <p:txBody>
          <a:bodyPr/>
          <a:lstStyle/>
          <a:p>
            <a:fld id="{9820161B-3DFF-4FF5-AA0E-35496F014571}" type="slidenum">
              <a:rPr lang="zh-TW" altLang="en-US" smtClean="0"/>
              <a:t>32</a:t>
            </a:fld>
            <a:endParaRPr lang="zh-TW" altLang="en-US"/>
          </a:p>
        </p:txBody>
      </p:sp>
      <p:sp>
        <p:nvSpPr>
          <p:cNvPr id="5" name="文字方塊 4">
            <a:extLst>
              <a:ext uri="{FF2B5EF4-FFF2-40B4-BE49-F238E27FC236}">
                <a16:creationId xmlns:a16="http://schemas.microsoft.com/office/drawing/2014/main" id="{CD77BCA0-DF73-4A23-BA02-A4E3ED006031}"/>
              </a:ext>
            </a:extLst>
          </p:cNvPr>
          <p:cNvSpPr txBox="1"/>
          <p:nvPr/>
        </p:nvSpPr>
        <p:spPr>
          <a:xfrm>
            <a:off x="3486027" y="5045989"/>
            <a:ext cx="941283" cy="369332"/>
          </a:xfrm>
          <a:prstGeom prst="rect">
            <a:avLst/>
          </a:prstGeom>
          <a:noFill/>
        </p:spPr>
        <p:txBody>
          <a:bodyPr wrap="none" rtlCol="0">
            <a:spAutoFit/>
          </a:bodyPr>
          <a:lstStyle/>
          <a:p>
            <a:r>
              <a:rPr lang="en-US" altLang="zh-TW" dirty="0">
                <a:solidFill>
                  <a:srgbClr val="483832"/>
                </a:solidFill>
                <a:latin typeface="Times New Roman" panose="02020603050405020304" pitchFamily="18" charset="0"/>
              </a:rPr>
              <a:t>1540nm</a:t>
            </a:r>
            <a:endParaRPr lang="zh-TW" altLang="en-US" dirty="0">
              <a:solidFill>
                <a:srgbClr val="483832"/>
              </a:solidFill>
              <a:latin typeface="Times New Roman" panose="02020603050405020304" pitchFamily="18" charset="0"/>
            </a:endParaRPr>
          </a:p>
        </p:txBody>
      </p:sp>
      <p:sp>
        <p:nvSpPr>
          <p:cNvPr id="6" name="文字方塊 5">
            <a:extLst>
              <a:ext uri="{FF2B5EF4-FFF2-40B4-BE49-F238E27FC236}">
                <a16:creationId xmlns:a16="http://schemas.microsoft.com/office/drawing/2014/main" id="{F4C2BA3A-E845-442B-80C6-CB64C1035D7A}"/>
              </a:ext>
            </a:extLst>
          </p:cNvPr>
          <p:cNvSpPr txBox="1"/>
          <p:nvPr/>
        </p:nvSpPr>
        <p:spPr>
          <a:xfrm>
            <a:off x="8415600" y="5045989"/>
            <a:ext cx="1102582" cy="369332"/>
          </a:xfrm>
          <a:prstGeom prst="rect">
            <a:avLst/>
          </a:prstGeom>
          <a:noFill/>
        </p:spPr>
        <p:txBody>
          <a:bodyPr wrap="square" rtlCol="0">
            <a:spAutoFit/>
          </a:bodyPr>
          <a:lstStyle/>
          <a:p>
            <a:r>
              <a:rPr lang="en-US" altLang="zh-TW" dirty="0">
                <a:solidFill>
                  <a:srgbClr val="483832"/>
                </a:solidFill>
                <a:latin typeface="Times New Roman" panose="02020603050405020304" pitchFamily="18" charset="0"/>
              </a:rPr>
              <a:t>1550nm</a:t>
            </a:r>
            <a:endParaRPr lang="zh-TW" altLang="en-US" dirty="0">
              <a:solidFill>
                <a:srgbClr val="483832"/>
              </a:solidFill>
              <a:latin typeface="Times New Roman" panose="02020603050405020304" pitchFamily="18" charset="0"/>
            </a:endParaRPr>
          </a:p>
        </p:txBody>
      </p:sp>
      <p:pic>
        <p:nvPicPr>
          <p:cNvPr id="10" name="圖片 9">
            <a:extLst>
              <a:ext uri="{FF2B5EF4-FFF2-40B4-BE49-F238E27FC236}">
                <a16:creationId xmlns:a16="http://schemas.microsoft.com/office/drawing/2014/main" id="{8C6662D6-6B87-4378-86F3-B4F62DF4B0DB}"/>
              </a:ext>
            </a:extLst>
          </p:cNvPr>
          <p:cNvPicPr>
            <a:picLocks noChangeAspect="1"/>
          </p:cNvPicPr>
          <p:nvPr/>
        </p:nvPicPr>
        <p:blipFill rotWithShape="1">
          <a:blip r:embed="rId2">
            <a:extLst>
              <a:ext uri="{28A0092B-C50C-407E-A947-70E740481C1C}">
                <a14:useLocalDpi xmlns:a14="http://schemas.microsoft.com/office/drawing/2010/main" val="0"/>
              </a:ext>
            </a:extLst>
          </a:blip>
          <a:srcRect l="38234" t="22161" r="10163" b="8981"/>
          <a:stretch/>
        </p:blipFill>
        <p:spPr>
          <a:xfrm>
            <a:off x="6810787" y="1711907"/>
            <a:ext cx="4312208" cy="3235096"/>
          </a:xfrm>
          <a:prstGeom prst="rect">
            <a:avLst/>
          </a:prstGeom>
        </p:spPr>
      </p:pic>
      <p:pic>
        <p:nvPicPr>
          <p:cNvPr id="12" name="圖片 11">
            <a:extLst>
              <a:ext uri="{FF2B5EF4-FFF2-40B4-BE49-F238E27FC236}">
                <a16:creationId xmlns:a16="http://schemas.microsoft.com/office/drawing/2014/main" id="{80CEB858-37C2-496E-AEA9-6ECCB572CFFA}"/>
              </a:ext>
            </a:extLst>
          </p:cNvPr>
          <p:cNvPicPr>
            <a:picLocks noChangeAspect="1"/>
          </p:cNvPicPr>
          <p:nvPr/>
        </p:nvPicPr>
        <p:blipFill rotWithShape="1">
          <a:blip r:embed="rId3">
            <a:extLst>
              <a:ext uri="{28A0092B-C50C-407E-A947-70E740481C1C}">
                <a14:useLocalDpi xmlns:a14="http://schemas.microsoft.com/office/drawing/2010/main" val="0"/>
              </a:ext>
            </a:extLst>
          </a:blip>
          <a:srcRect l="37581" t="22161" r="9592" b="8979"/>
          <a:stretch/>
        </p:blipFill>
        <p:spPr>
          <a:xfrm>
            <a:off x="1749471" y="1711907"/>
            <a:ext cx="4414394" cy="3235212"/>
          </a:xfrm>
          <a:prstGeom prst="rect">
            <a:avLst/>
          </a:prstGeom>
        </p:spPr>
      </p:pic>
      <p:sp>
        <p:nvSpPr>
          <p:cNvPr id="13" name="矩形 12">
            <a:extLst>
              <a:ext uri="{FF2B5EF4-FFF2-40B4-BE49-F238E27FC236}">
                <a16:creationId xmlns:a16="http://schemas.microsoft.com/office/drawing/2014/main" id="{A0435DA2-D756-4ABB-A7E1-658141F74A43}"/>
              </a:ext>
            </a:extLst>
          </p:cNvPr>
          <p:cNvSpPr/>
          <p:nvPr/>
        </p:nvSpPr>
        <p:spPr>
          <a:xfrm>
            <a:off x="3069767" y="6011587"/>
            <a:ext cx="6732933" cy="400110"/>
          </a:xfrm>
          <a:prstGeom prst="rect">
            <a:avLst/>
          </a:prstGeom>
        </p:spPr>
        <p:txBody>
          <a:bodyPr wrap="none">
            <a:spAutoFit/>
          </a:bodyPr>
          <a:lstStyle/>
          <a:p>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Extend the propagation distance</a:t>
            </a: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for eliminate background noise</a:t>
            </a:r>
            <a:endParaRPr lang="zh-TW" altLang="en-US" sz="2000" dirty="0">
              <a:solidFill>
                <a:srgbClr val="483832"/>
              </a:solidFill>
              <a:latin typeface="Times New Roman" panose="02020603050405020304" pitchFamily="18" charset="0"/>
            </a:endParaRPr>
          </a:p>
        </p:txBody>
      </p:sp>
    </p:spTree>
    <p:extLst>
      <p:ext uri="{BB962C8B-B14F-4D97-AF65-F5344CB8AC3E}">
        <p14:creationId xmlns:p14="http://schemas.microsoft.com/office/powerpoint/2010/main" val="2744355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6279D24B-2CCB-49D8-9826-7187D6CFF659}"/>
              </a:ext>
            </a:extLst>
          </p:cNvPr>
          <p:cNvSpPr>
            <a:spLocks noGrp="1"/>
          </p:cNvSpPr>
          <p:nvPr>
            <p:ph type="body" sz="half" idx="13"/>
          </p:nvPr>
        </p:nvSpPr>
        <p:spPr/>
        <p:txBody>
          <a:bodyPr/>
          <a:lstStyle/>
          <a:p>
            <a:r>
              <a:rPr lang="en-US" altLang="zh-TW" dirty="0"/>
              <a:t>ER</a:t>
            </a:r>
            <a:r>
              <a:rPr lang="zh-TW" altLang="en-US" dirty="0"/>
              <a:t> </a:t>
            </a:r>
            <a:r>
              <a:rPr lang="en-US" altLang="zh-TW" dirty="0"/>
              <a:t>spectrum</a:t>
            </a:r>
            <a:endParaRPr lang="zh-TW" altLang="en-US" dirty="0"/>
          </a:p>
        </p:txBody>
      </p:sp>
      <p:sp>
        <p:nvSpPr>
          <p:cNvPr id="7" name="投影片編號版面配置區 6">
            <a:extLst>
              <a:ext uri="{FF2B5EF4-FFF2-40B4-BE49-F238E27FC236}">
                <a16:creationId xmlns:a16="http://schemas.microsoft.com/office/drawing/2014/main" id="{1D3F66D2-2734-4A97-82B1-D06AED7CF76C}"/>
              </a:ext>
            </a:extLst>
          </p:cNvPr>
          <p:cNvSpPr>
            <a:spLocks noGrp="1"/>
          </p:cNvSpPr>
          <p:nvPr>
            <p:ph type="sldNum" sz="quarter" idx="12"/>
          </p:nvPr>
        </p:nvSpPr>
        <p:spPr/>
        <p:txBody>
          <a:bodyPr/>
          <a:lstStyle/>
          <a:p>
            <a:fld id="{9820161B-3DFF-4FF5-AA0E-35496F014571}" type="slidenum">
              <a:rPr lang="zh-TW" altLang="en-US" smtClean="0"/>
              <a:t>33</a:t>
            </a:fld>
            <a:endParaRPr lang="zh-TW" altLang="en-US"/>
          </a:p>
        </p:txBody>
      </p:sp>
      <p:pic>
        <p:nvPicPr>
          <p:cNvPr id="9" name="圖片 8">
            <a:extLst>
              <a:ext uri="{FF2B5EF4-FFF2-40B4-BE49-F238E27FC236}">
                <a16:creationId xmlns:a16="http://schemas.microsoft.com/office/drawing/2014/main" id="{0242472F-15CB-45A2-A1B2-ECE4DAB0C9BA}"/>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815393" y="1326516"/>
            <a:ext cx="5753424" cy="4320000"/>
          </a:xfrm>
          <a:prstGeom prst="rect">
            <a:avLst/>
          </a:prstGeom>
          <a:noFill/>
          <a:ln>
            <a:noFill/>
          </a:ln>
        </p:spPr>
      </p:pic>
      <p:pic>
        <p:nvPicPr>
          <p:cNvPr id="10" name="圖片 9">
            <a:extLst>
              <a:ext uri="{FF2B5EF4-FFF2-40B4-BE49-F238E27FC236}">
                <a16:creationId xmlns:a16="http://schemas.microsoft.com/office/drawing/2014/main" id="{E673035F-99A5-46B9-8BBB-51B253006997}"/>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6271312" y="1326516"/>
            <a:ext cx="5753424" cy="4320000"/>
          </a:xfrm>
          <a:prstGeom prst="rect">
            <a:avLst/>
          </a:prstGeom>
          <a:noFill/>
          <a:ln>
            <a:noFill/>
          </a:ln>
        </p:spPr>
      </p:pic>
    </p:spTree>
    <p:extLst>
      <p:ext uri="{BB962C8B-B14F-4D97-AF65-F5344CB8AC3E}">
        <p14:creationId xmlns:p14="http://schemas.microsoft.com/office/powerpoint/2010/main" val="2304589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73C60975-ADBD-4CA7-B200-05D092C8A6A3}"/>
              </a:ext>
            </a:extLst>
          </p:cNvPr>
          <p:cNvSpPr>
            <a:spLocks noGrp="1"/>
          </p:cNvSpPr>
          <p:nvPr>
            <p:ph type="body" sz="half" idx="13"/>
          </p:nvPr>
        </p:nvSpPr>
        <p:spPr/>
        <p:txBody>
          <a:bodyPr/>
          <a:lstStyle/>
          <a:p>
            <a:r>
              <a:rPr lang="en-US" altLang="zh-TW" dirty="0"/>
              <a:t>SHG</a:t>
            </a:r>
            <a:r>
              <a:rPr lang="zh-TW" altLang="en-US" dirty="0"/>
              <a:t> </a:t>
            </a:r>
            <a:r>
              <a:rPr lang="en-US" altLang="zh-TW" dirty="0"/>
              <a:t>scheme</a:t>
            </a:r>
          </a:p>
        </p:txBody>
      </p:sp>
      <p:pic>
        <p:nvPicPr>
          <p:cNvPr id="3" name="圖片 2">
            <a:extLst>
              <a:ext uri="{FF2B5EF4-FFF2-40B4-BE49-F238E27FC236}">
                <a16:creationId xmlns:a16="http://schemas.microsoft.com/office/drawing/2014/main" id="{9A3FCB91-B345-417C-BEE3-6EC83BA5384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8021" y="995680"/>
            <a:ext cx="10886198" cy="4866640"/>
          </a:xfrm>
          <a:prstGeom prst="rect">
            <a:avLst/>
          </a:prstGeom>
          <a:noFill/>
          <a:ln>
            <a:noFill/>
          </a:ln>
        </p:spPr>
      </p:pic>
      <p:sp>
        <p:nvSpPr>
          <p:cNvPr id="4" name="投影片編號版面配置區 3">
            <a:extLst>
              <a:ext uri="{FF2B5EF4-FFF2-40B4-BE49-F238E27FC236}">
                <a16:creationId xmlns:a16="http://schemas.microsoft.com/office/drawing/2014/main" id="{162CDBEE-1C34-486B-96EA-3C36C7532BF2}"/>
              </a:ext>
            </a:extLst>
          </p:cNvPr>
          <p:cNvSpPr>
            <a:spLocks noGrp="1"/>
          </p:cNvSpPr>
          <p:nvPr>
            <p:ph type="sldNum" sz="quarter" idx="12"/>
          </p:nvPr>
        </p:nvSpPr>
        <p:spPr/>
        <p:txBody>
          <a:bodyPr/>
          <a:lstStyle/>
          <a:p>
            <a:fld id="{9820161B-3DFF-4FF5-AA0E-35496F014571}" type="slidenum">
              <a:rPr lang="zh-TW" altLang="en-US" smtClean="0"/>
              <a:t>34</a:t>
            </a:fld>
            <a:endParaRPr lang="zh-TW" altLang="en-US"/>
          </a:p>
        </p:txBody>
      </p:sp>
    </p:spTree>
    <p:extLst>
      <p:ext uri="{BB962C8B-B14F-4D97-AF65-F5344CB8AC3E}">
        <p14:creationId xmlns:p14="http://schemas.microsoft.com/office/powerpoint/2010/main" val="4048285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C9789E5-A2CF-4F67-9463-245C8511AF43}"/>
              </a:ext>
            </a:extLst>
          </p:cNvPr>
          <p:cNvSpPr>
            <a:spLocks noGrp="1"/>
          </p:cNvSpPr>
          <p:nvPr>
            <p:ph type="body" sz="half" idx="13"/>
          </p:nvPr>
        </p:nvSpPr>
        <p:spPr/>
        <p:txBody>
          <a:bodyPr/>
          <a:lstStyle/>
          <a:p>
            <a:r>
              <a:rPr lang="en-US" altLang="zh-TW" dirty="0"/>
              <a:t>SHG spectrum</a:t>
            </a:r>
          </a:p>
        </p:txBody>
      </p:sp>
      <p:sp>
        <p:nvSpPr>
          <p:cNvPr id="6" name="投影片編號版面配置區 5">
            <a:extLst>
              <a:ext uri="{FF2B5EF4-FFF2-40B4-BE49-F238E27FC236}">
                <a16:creationId xmlns:a16="http://schemas.microsoft.com/office/drawing/2014/main" id="{83CBBB44-C30E-4FC6-9ECB-1AFBF64B73EE}"/>
              </a:ext>
            </a:extLst>
          </p:cNvPr>
          <p:cNvSpPr>
            <a:spLocks noGrp="1"/>
          </p:cNvSpPr>
          <p:nvPr>
            <p:ph type="sldNum" sz="quarter" idx="12"/>
          </p:nvPr>
        </p:nvSpPr>
        <p:spPr/>
        <p:txBody>
          <a:bodyPr/>
          <a:lstStyle/>
          <a:p>
            <a:fld id="{9820161B-3DFF-4FF5-AA0E-35496F014571}" type="slidenum">
              <a:rPr lang="zh-TW" altLang="en-US" smtClean="0"/>
              <a:t>35</a:t>
            </a:fld>
            <a:endParaRPr lang="zh-TW" altLang="en-US"/>
          </a:p>
        </p:txBody>
      </p:sp>
      <p:grpSp>
        <p:nvGrpSpPr>
          <p:cNvPr id="9" name="群組 8">
            <a:extLst>
              <a:ext uri="{FF2B5EF4-FFF2-40B4-BE49-F238E27FC236}">
                <a16:creationId xmlns:a16="http://schemas.microsoft.com/office/drawing/2014/main" id="{A28B9019-A566-47F8-938D-0762EA5E34CF}"/>
              </a:ext>
            </a:extLst>
          </p:cNvPr>
          <p:cNvGrpSpPr/>
          <p:nvPr/>
        </p:nvGrpSpPr>
        <p:grpSpPr>
          <a:xfrm>
            <a:off x="799115" y="966134"/>
            <a:ext cx="11320061" cy="5027333"/>
            <a:chOff x="799115" y="904240"/>
            <a:chExt cx="11320061" cy="5027333"/>
          </a:xfrm>
        </p:grpSpPr>
        <p:pic>
          <p:nvPicPr>
            <p:cNvPr id="3" name="圖片 2">
              <a:extLst>
                <a:ext uri="{FF2B5EF4-FFF2-40B4-BE49-F238E27FC236}">
                  <a16:creationId xmlns:a16="http://schemas.microsoft.com/office/drawing/2014/main" id="{7C007FBB-7AF3-4A47-9417-A715C58E21A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99115" y="904240"/>
              <a:ext cx="5658160" cy="4488853"/>
            </a:xfrm>
            <a:prstGeom prst="rect">
              <a:avLst/>
            </a:prstGeom>
            <a:noFill/>
            <a:ln>
              <a:noFill/>
            </a:ln>
          </p:spPr>
        </p:pic>
        <p:pic>
          <p:nvPicPr>
            <p:cNvPr id="4" name="圖片 3">
              <a:extLst>
                <a:ext uri="{FF2B5EF4-FFF2-40B4-BE49-F238E27FC236}">
                  <a16:creationId xmlns:a16="http://schemas.microsoft.com/office/drawing/2014/main" id="{C7BB11E2-61CB-4884-8976-2C04F108561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57275" y="904240"/>
              <a:ext cx="5661901" cy="4488853"/>
            </a:xfrm>
            <a:prstGeom prst="rect">
              <a:avLst/>
            </a:prstGeom>
            <a:noFill/>
            <a:ln>
              <a:noFill/>
            </a:ln>
          </p:spPr>
        </p:pic>
        <p:sp>
          <p:nvSpPr>
            <p:cNvPr id="5" name="矩形 4">
              <a:extLst>
                <a:ext uri="{FF2B5EF4-FFF2-40B4-BE49-F238E27FC236}">
                  <a16:creationId xmlns:a16="http://schemas.microsoft.com/office/drawing/2014/main" id="{D8814B1F-02EF-47A0-B53C-A85839B818C8}"/>
                </a:ext>
              </a:extLst>
            </p:cNvPr>
            <p:cNvSpPr/>
            <p:nvPr/>
          </p:nvSpPr>
          <p:spPr>
            <a:xfrm>
              <a:off x="1993773" y="5537747"/>
              <a:ext cx="3268844" cy="393826"/>
            </a:xfrm>
            <a:prstGeom prst="rect">
              <a:avLst/>
            </a:prstGeom>
          </p:spPr>
          <p:txBody>
            <a:bodyPr wrap="none">
              <a:spAutoFit/>
            </a:bodyPr>
            <a:lstStyle/>
            <a:p>
              <a:pPr>
                <a:lnSpc>
                  <a:spcPts val="2500"/>
                </a:lnSpc>
              </a:pP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在</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40℃</a:t>
              </a: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下，不同週期的倍頻</a:t>
              </a:r>
            </a:p>
          </p:txBody>
        </p:sp>
        <p:sp>
          <p:nvSpPr>
            <p:cNvPr id="8" name="矩形 7">
              <a:extLst>
                <a:ext uri="{FF2B5EF4-FFF2-40B4-BE49-F238E27FC236}">
                  <a16:creationId xmlns:a16="http://schemas.microsoft.com/office/drawing/2014/main" id="{1B43DC31-8C4D-4FB1-BAC3-928C9043F466}"/>
                </a:ext>
              </a:extLst>
            </p:cNvPr>
            <p:cNvSpPr/>
            <p:nvPr/>
          </p:nvSpPr>
          <p:spPr>
            <a:xfrm>
              <a:off x="6815433" y="5537747"/>
              <a:ext cx="4945585" cy="393826"/>
            </a:xfrm>
            <a:prstGeom prst="rect">
              <a:avLst/>
            </a:prstGeom>
          </p:spPr>
          <p:txBody>
            <a:bodyPr wrap="none">
              <a:spAutoFit/>
            </a:bodyPr>
            <a:lstStyle/>
            <a:p>
              <a:pPr>
                <a:lnSpc>
                  <a:spcPts val="2500"/>
                </a:lnSpc>
              </a:pP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在同週期</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17.21μm</a:t>
              </a: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下，不同溫度的倍頻結果</a:t>
              </a:r>
            </a:p>
          </p:txBody>
        </p:sp>
      </p:grpSp>
    </p:spTree>
    <p:extLst>
      <p:ext uri="{BB962C8B-B14F-4D97-AF65-F5344CB8AC3E}">
        <p14:creationId xmlns:p14="http://schemas.microsoft.com/office/powerpoint/2010/main" val="1767403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BF13AAC8-D491-4589-A70D-DB4B861A9F47}"/>
              </a:ext>
            </a:extLst>
          </p:cNvPr>
          <p:cNvSpPr>
            <a:spLocks noGrp="1"/>
          </p:cNvSpPr>
          <p:nvPr>
            <p:ph type="body" sz="half" idx="13"/>
          </p:nvPr>
        </p:nvSpPr>
        <p:spPr/>
        <p:txBody>
          <a:bodyPr/>
          <a:lstStyle/>
          <a:p>
            <a:r>
              <a:rPr lang="en-US" altLang="zh-TW" dirty="0"/>
              <a:t>Tuning</a:t>
            </a:r>
            <a:r>
              <a:rPr lang="zh-TW" altLang="en-US" dirty="0"/>
              <a:t> </a:t>
            </a:r>
            <a:r>
              <a:rPr lang="en-US" altLang="zh-TW" dirty="0"/>
              <a:t>rate</a:t>
            </a:r>
          </a:p>
        </p:txBody>
      </p:sp>
      <p:grpSp>
        <p:nvGrpSpPr>
          <p:cNvPr id="6" name="群組 5">
            <a:extLst>
              <a:ext uri="{FF2B5EF4-FFF2-40B4-BE49-F238E27FC236}">
                <a16:creationId xmlns:a16="http://schemas.microsoft.com/office/drawing/2014/main" id="{3113237B-D4D6-4415-9B5D-340EAE5BE20D}"/>
              </a:ext>
            </a:extLst>
          </p:cNvPr>
          <p:cNvGrpSpPr/>
          <p:nvPr/>
        </p:nvGrpSpPr>
        <p:grpSpPr>
          <a:xfrm>
            <a:off x="2484345" y="812063"/>
            <a:ext cx="7223310" cy="5599634"/>
            <a:chOff x="2484345" y="740943"/>
            <a:chExt cx="7223310" cy="5599634"/>
          </a:xfrm>
        </p:grpSpPr>
        <p:pic>
          <p:nvPicPr>
            <p:cNvPr id="3" name="圖片 2">
              <a:extLst>
                <a:ext uri="{FF2B5EF4-FFF2-40B4-BE49-F238E27FC236}">
                  <a16:creationId xmlns:a16="http://schemas.microsoft.com/office/drawing/2014/main" id="{0A850F53-9504-41C1-994D-719BF2F4B8E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484345" y="740943"/>
              <a:ext cx="7223310" cy="5121377"/>
            </a:xfrm>
            <a:prstGeom prst="rect">
              <a:avLst/>
            </a:prstGeom>
            <a:noFill/>
            <a:ln>
              <a:noFill/>
            </a:ln>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FCB19B19-D4B3-40F3-B8CD-F5D27E032B75}"/>
                    </a:ext>
                  </a:extLst>
                </p:cNvPr>
                <p:cNvSpPr/>
                <p:nvPr/>
              </p:nvSpPr>
              <p:spPr>
                <a:xfrm>
                  <a:off x="4117734" y="5940467"/>
                  <a:ext cx="3892412" cy="400110"/>
                </a:xfrm>
                <a:prstGeom prst="rect">
                  <a:avLst/>
                </a:prstGeom>
              </p:spPr>
              <p:txBody>
                <a:bodyPr wrap="none">
                  <a:spAutoFit/>
                </a:bodyPr>
                <a:lstStyle/>
                <a:p>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Estimate the tuning rate </a:t>
                  </a:r>
                  <a:r>
                    <a:rPr lang="en-US" altLang="zh-TW" sz="2000" dirty="0">
                      <a:solidFill>
                        <a:srgbClr val="483832"/>
                      </a:solidFill>
                      <a:latin typeface="Times New Roman" panose="02020603050405020304" pitchFamily="18" charset="0"/>
                      <a:ea typeface="DFKai-SB" panose="03000509000000000000" pitchFamily="65" charset="-120"/>
                    </a:rPr>
                    <a:t>0.134nm/</a:t>
                  </a:r>
                  <a14:m>
                    <m:oMath xmlns:m="http://schemas.openxmlformats.org/officeDocument/2006/math">
                      <m: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m:t>
                      </m:r>
                    </m:oMath>
                  </a14:m>
                  <a:endParaRPr lang="zh-TW" altLang="en-US" sz="2000" dirty="0">
                    <a:solidFill>
                      <a:srgbClr val="483832"/>
                    </a:solidFill>
                    <a:latin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FCB19B19-D4B3-40F3-B8CD-F5D27E032B75}"/>
                    </a:ext>
                  </a:extLst>
                </p:cNvPr>
                <p:cNvSpPr>
                  <a:spLocks noRot="1" noChangeAspect="1" noMove="1" noResize="1" noEditPoints="1" noAdjustHandles="1" noChangeArrowheads="1" noChangeShapeType="1" noTextEdit="1"/>
                </p:cNvSpPr>
                <p:nvPr/>
              </p:nvSpPr>
              <p:spPr>
                <a:xfrm>
                  <a:off x="4117734" y="5940467"/>
                  <a:ext cx="3892412" cy="400110"/>
                </a:xfrm>
                <a:prstGeom prst="rect">
                  <a:avLst/>
                </a:prstGeom>
                <a:blipFill>
                  <a:blip r:embed="rId3"/>
                  <a:stretch>
                    <a:fillRect l="-1565" t="-7576" b="-25758"/>
                  </a:stretch>
                </a:blipFill>
              </p:spPr>
              <p:txBody>
                <a:bodyPr/>
                <a:lstStyle/>
                <a:p>
                  <a:r>
                    <a:rPr lang="zh-TW" altLang="en-US">
                      <a:noFill/>
                    </a:rPr>
                    <a:t> </a:t>
                  </a:r>
                </a:p>
              </p:txBody>
            </p:sp>
          </mc:Fallback>
        </mc:AlternateContent>
      </p:grpSp>
      <p:sp>
        <p:nvSpPr>
          <p:cNvPr id="5" name="投影片編號版面配置區 4">
            <a:extLst>
              <a:ext uri="{FF2B5EF4-FFF2-40B4-BE49-F238E27FC236}">
                <a16:creationId xmlns:a16="http://schemas.microsoft.com/office/drawing/2014/main" id="{ABC3FF6A-E57B-411A-BF76-388F5F71CDEE}"/>
              </a:ext>
            </a:extLst>
          </p:cNvPr>
          <p:cNvSpPr>
            <a:spLocks noGrp="1"/>
          </p:cNvSpPr>
          <p:nvPr>
            <p:ph type="sldNum" sz="quarter" idx="12"/>
          </p:nvPr>
        </p:nvSpPr>
        <p:spPr/>
        <p:txBody>
          <a:bodyPr/>
          <a:lstStyle/>
          <a:p>
            <a:fld id="{9820161B-3DFF-4FF5-AA0E-35496F014571}" type="slidenum">
              <a:rPr lang="zh-TW" altLang="en-US" smtClean="0"/>
              <a:t>36</a:t>
            </a:fld>
            <a:endParaRPr lang="zh-TW" altLang="en-US"/>
          </a:p>
        </p:txBody>
      </p:sp>
    </p:spTree>
    <p:extLst>
      <p:ext uri="{BB962C8B-B14F-4D97-AF65-F5344CB8AC3E}">
        <p14:creationId xmlns:p14="http://schemas.microsoft.com/office/powerpoint/2010/main" val="2426668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群組 8">
            <a:extLst>
              <a:ext uri="{FF2B5EF4-FFF2-40B4-BE49-F238E27FC236}">
                <a16:creationId xmlns:a16="http://schemas.microsoft.com/office/drawing/2014/main" id="{9D078F93-57EE-4BF2-B1B1-4BB5A13A89F5}"/>
              </a:ext>
            </a:extLst>
          </p:cNvPr>
          <p:cNvGrpSpPr/>
          <p:nvPr/>
        </p:nvGrpSpPr>
        <p:grpSpPr>
          <a:xfrm>
            <a:off x="972810" y="1406327"/>
            <a:ext cx="10463009" cy="5509548"/>
            <a:chOff x="1056641" y="668348"/>
            <a:chExt cx="9644296" cy="5078435"/>
          </a:xfrm>
        </p:grpSpPr>
        <p:pic>
          <p:nvPicPr>
            <p:cNvPr id="3" name="圖片 2">
              <a:extLst>
                <a:ext uri="{FF2B5EF4-FFF2-40B4-BE49-F238E27FC236}">
                  <a16:creationId xmlns:a16="http://schemas.microsoft.com/office/drawing/2014/main" id="{660FA098-7059-41FC-9A7F-8D69FFDA4C2C}"/>
                </a:ext>
              </a:extLst>
            </p:cNvPr>
            <p:cNvPicPr/>
            <p:nvPr/>
          </p:nvPicPr>
          <p:blipFill rotWithShape="1">
            <a:blip r:embed="rId2" cstate="print">
              <a:extLst>
                <a:ext uri="{28A0092B-C50C-407E-A947-70E740481C1C}">
                  <a14:useLocalDpi xmlns:a14="http://schemas.microsoft.com/office/drawing/2010/main" val="0"/>
                </a:ext>
              </a:extLst>
            </a:blip>
            <a:srcRect r="4310" b="18385"/>
            <a:stretch/>
          </p:blipFill>
          <p:spPr bwMode="auto">
            <a:xfrm>
              <a:off x="1056641" y="668348"/>
              <a:ext cx="9644296" cy="5078435"/>
            </a:xfrm>
            <a:prstGeom prst="rect">
              <a:avLst/>
            </a:prstGeom>
            <a:noFill/>
            <a:ln>
              <a:noFill/>
            </a:ln>
          </p:spPr>
        </p:pic>
        <p:sp>
          <p:nvSpPr>
            <p:cNvPr id="8" name="矩形 7">
              <a:extLst>
                <a:ext uri="{FF2B5EF4-FFF2-40B4-BE49-F238E27FC236}">
                  <a16:creationId xmlns:a16="http://schemas.microsoft.com/office/drawing/2014/main" id="{C4889DAC-C2B8-4407-BD07-94820D0345C6}"/>
                </a:ext>
              </a:extLst>
            </p:cNvPr>
            <p:cNvSpPr/>
            <p:nvPr/>
          </p:nvSpPr>
          <p:spPr>
            <a:xfrm>
              <a:off x="8554478" y="5193930"/>
              <a:ext cx="2146459" cy="5528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 name="文字版面配置區 1">
            <a:extLst>
              <a:ext uri="{FF2B5EF4-FFF2-40B4-BE49-F238E27FC236}">
                <a16:creationId xmlns:a16="http://schemas.microsoft.com/office/drawing/2014/main" id="{03DD704B-9D17-43C0-B4FD-7D1020FB6A1D}"/>
              </a:ext>
            </a:extLst>
          </p:cNvPr>
          <p:cNvSpPr>
            <a:spLocks noGrp="1"/>
          </p:cNvSpPr>
          <p:nvPr>
            <p:ph type="body" sz="half" idx="13"/>
          </p:nvPr>
        </p:nvSpPr>
        <p:spPr>
          <a:xfrm>
            <a:off x="3312161" y="16590"/>
            <a:ext cx="5567680" cy="660417"/>
          </a:xfrm>
        </p:spPr>
        <p:txBody>
          <a:bodyPr>
            <a:normAutofit/>
          </a:bodyPr>
          <a:lstStyle/>
          <a:p>
            <a:r>
              <a:rPr lang="en-US" altLang="zh-TW" kern="100" dirty="0">
                <a:ea typeface="DFKai-SB" panose="03000509000000000000" pitchFamily="65" charset="-120"/>
              </a:rPr>
              <a:t>Squeezing light scheme</a:t>
            </a:r>
          </a:p>
        </p:txBody>
      </p:sp>
      <p:grpSp>
        <p:nvGrpSpPr>
          <p:cNvPr id="10" name="群組 9">
            <a:extLst>
              <a:ext uri="{FF2B5EF4-FFF2-40B4-BE49-F238E27FC236}">
                <a16:creationId xmlns:a16="http://schemas.microsoft.com/office/drawing/2014/main" id="{E243E4B2-9170-4FA3-ABFE-519C7106378B}"/>
              </a:ext>
            </a:extLst>
          </p:cNvPr>
          <p:cNvGrpSpPr/>
          <p:nvPr/>
        </p:nvGrpSpPr>
        <p:grpSpPr>
          <a:xfrm>
            <a:off x="972810" y="723307"/>
            <a:ext cx="3833718" cy="675374"/>
            <a:chOff x="5776166" y="850551"/>
            <a:chExt cx="4215990" cy="771598"/>
          </a:xfrm>
        </p:grpSpPr>
        <p:pic>
          <p:nvPicPr>
            <p:cNvPr id="4" name="圖片 3">
              <a:extLst>
                <a:ext uri="{FF2B5EF4-FFF2-40B4-BE49-F238E27FC236}">
                  <a16:creationId xmlns:a16="http://schemas.microsoft.com/office/drawing/2014/main" id="{4B63A2AE-BCAF-47A0-A346-315D7F1E75CA}"/>
                </a:ext>
              </a:extLst>
            </p:cNvPr>
            <p:cNvPicPr>
              <a:picLocks noChangeAspect="1"/>
            </p:cNvPicPr>
            <p:nvPr/>
          </p:nvPicPr>
          <p:blipFill rotWithShape="1">
            <a:blip r:embed="rId3"/>
            <a:srcRect l="19303" b="25128"/>
            <a:stretch/>
          </p:blipFill>
          <p:spPr>
            <a:xfrm>
              <a:off x="5776166" y="850551"/>
              <a:ext cx="807869" cy="771598"/>
            </a:xfrm>
            <a:prstGeom prst="rect">
              <a:avLst/>
            </a:prstGeom>
          </p:spPr>
        </p:pic>
        <p:pic>
          <p:nvPicPr>
            <p:cNvPr id="5" name="圖片 4">
              <a:extLst>
                <a:ext uri="{FF2B5EF4-FFF2-40B4-BE49-F238E27FC236}">
                  <a16:creationId xmlns:a16="http://schemas.microsoft.com/office/drawing/2014/main" id="{ED54FD47-E634-40F1-9B50-71C5CE1777DB}"/>
                </a:ext>
              </a:extLst>
            </p:cNvPr>
            <p:cNvPicPr>
              <a:picLocks noChangeAspect="1"/>
            </p:cNvPicPr>
            <p:nvPr/>
          </p:nvPicPr>
          <p:blipFill>
            <a:blip r:embed="rId4"/>
            <a:stretch>
              <a:fillRect/>
            </a:stretch>
          </p:blipFill>
          <p:spPr>
            <a:xfrm>
              <a:off x="6644640" y="912183"/>
              <a:ext cx="3347516" cy="709966"/>
            </a:xfrm>
            <a:prstGeom prst="rect">
              <a:avLst/>
            </a:prstGeom>
          </p:spPr>
        </p:pic>
      </p:grpSp>
      <p:sp>
        <p:nvSpPr>
          <p:cNvPr id="6" name="投影片編號版面配置區 5">
            <a:extLst>
              <a:ext uri="{FF2B5EF4-FFF2-40B4-BE49-F238E27FC236}">
                <a16:creationId xmlns:a16="http://schemas.microsoft.com/office/drawing/2014/main" id="{E7281BB1-8793-4990-AD59-7816041E80F9}"/>
              </a:ext>
            </a:extLst>
          </p:cNvPr>
          <p:cNvSpPr>
            <a:spLocks noGrp="1"/>
          </p:cNvSpPr>
          <p:nvPr>
            <p:ph type="sldNum" sz="quarter" idx="12"/>
          </p:nvPr>
        </p:nvSpPr>
        <p:spPr/>
        <p:txBody>
          <a:bodyPr/>
          <a:lstStyle/>
          <a:p>
            <a:fld id="{9820161B-3DFF-4FF5-AA0E-35496F014571}" type="slidenum">
              <a:rPr lang="zh-TW" altLang="en-US" smtClean="0"/>
              <a:t>37</a:t>
            </a:fld>
            <a:endParaRPr lang="zh-TW" altLang="en-US"/>
          </a:p>
        </p:txBody>
      </p:sp>
      <p:pic>
        <p:nvPicPr>
          <p:cNvPr id="7" name="圖片 6">
            <a:extLst>
              <a:ext uri="{FF2B5EF4-FFF2-40B4-BE49-F238E27FC236}">
                <a16:creationId xmlns:a16="http://schemas.microsoft.com/office/drawing/2014/main" id="{400702A7-02C7-4546-881B-8A58622CCBDD}"/>
              </a:ext>
            </a:extLst>
          </p:cNvPr>
          <p:cNvPicPr/>
          <p:nvPr/>
        </p:nvPicPr>
        <p:blipFill rotWithShape="1">
          <a:blip r:embed="rId2" cstate="print">
            <a:extLst>
              <a:ext uri="{28A0092B-C50C-407E-A947-70E740481C1C}">
                <a14:useLocalDpi xmlns:a14="http://schemas.microsoft.com/office/drawing/2010/main" val="0"/>
              </a:ext>
            </a:extLst>
          </a:blip>
          <a:srcRect l="74441" t="73261" r="1444" b="1337"/>
          <a:stretch/>
        </p:blipFill>
        <p:spPr bwMode="auto">
          <a:xfrm>
            <a:off x="9615528" y="1714790"/>
            <a:ext cx="2259065" cy="1451610"/>
          </a:xfrm>
          <a:prstGeom prst="rect">
            <a:avLst/>
          </a:prstGeom>
          <a:noFill/>
          <a:ln>
            <a:noFill/>
          </a:ln>
        </p:spPr>
      </p:pic>
    </p:spTree>
    <p:extLst>
      <p:ext uri="{BB962C8B-B14F-4D97-AF65-F5344CB8AC3E}">
        <p14:creationId xmlns:p14="http://schemas.microsoft.com/office/powerpoint/2010/main" val="14493925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BE01EBF1-82BF-4B37-802D-11319336F3F1}"/>
              </a:ext>
            </a:extLst>
          </p:cNvPr>
          <p:cNvSpPr>
            <a:spLocks noGrp="1"/>
          </p:cNvSpPr>
          <p:nvPr>
            <p:ph type="body" sz="half" idx="13"/>
          </p:nvPr>
        </p:nvSpPr>
        <p:spPr/>
        <p:txBody>
          <a:bodyPr/>
          <a:lstStyle/>
          <a:p>
            <a:r>
              <a:rPr lang="en-US" altLang="zh-TW" dirty="0"/>
              <a:t>Real optical setup</a:t>
            </a:r>
            <a:endParaRPr lang="zh-TW" altLang="en-US" dirty="0"/>
          </a:p>
        </p:txBody>
      </p:sp>
      <p:sp>
        <p:nvSpPr>
          <p:cNvPr id="4" name="投影片編號版面配置區 3">
            <a:extLst>
              <a:ext uri="{FF2B5EF4-FFF2-40B4-BE49-F238E27FC236}">
                <a16:creationId xmlns:a16="http://schemas.microsoft.com/office/drawing/2014/main" id="{1861C737-77F7-47D7-A9C8-3E80660A2E3F}"/>
              </a:ext>
            </a:extLst>
          </p:cNvPr>
          <p:cNvSpPr>
            <a:spLocks noGrp="1"/>
          </p:cNvSpPr>
          <p:nvPr>
            <p:ph type="sldNum" sz="quarter" idx="12"/>
          </p:nvPr>
        </p:nvSpPr>
        <p:spPr>
          <a:xfrm>
            <a:off x="8610601" y="6375679"/>
            <a:ext cx="2819399" cy="345796"/>
          </a:xfrm>
        </p:spPr>
        <p:txBody>
          <a:bodyPr/>
          <a:lstStyle/>
          <a:p>
            <a:fld id="{9820161B-3DFF-4FF5-AA0E-35496F014571}" type="slidenum">
              <a:rPr lang="zh-TW" altLang="en-US" smtClean="0"/>
              <a:t>38</a:t>
            </a:fld>
            <a:endParaRPr lang="zh-TW" altLang="en-US"/>
          </a:p>
        </p:txBody>
      </p:sp>
      <p:pic>
        <p:nvPicPr>
          <p:cNvPr id="6" name="圖片 5">
            <a:extLst>
              <a:ext uri="{FF2B5EF4-FFF2-40B4-BE49-F238E27FC236}">
                <a16:creationId xmlns:a16="http://schemas.microsoft.com/office/drawing/2014/main" id="{30529681-F844-4193-AC57-39D1673BF544}"/>
              </a:ext>
            </a:extLst>
          </p:cNvPr>
          <p:cNvPicPr>
            <a:picLocks noChangeAspect="1"/>
          </p:cNvPicPr>
          <p:nvPr/>
        </p:nvPicPr>
        <p:blipFill rotWithShape="1">
          <a:blip r:embed="rId2">
            <a:extLst>
              <a:ext uri="{28A0092B-C50C-407E-A947-70E740481C1C}">
                <a14:useLocalDpi xmlns:a14="http://schemas.microsoft.com/office/drawing/2010/main" val="0"/>
              </a:ext>
            </a:extLst>
          </a:blip>
          <a:srcRect t="4689" r="941" b="15458"/>
          <a:stretch/>
        </p:blipFill>
        <p:spPr>
          <a:xfrm>
            <a:off x="1250166" y="938874"/>
            <a:ext cx="9760634" cy="5902536"/>
          </a:xfrm>
          <a:prstGeom prst="rect">
            <a:avLst/>
          </a:prstGeom>
        </p:spPr>
      </p:pic>
      <p:sp>
        <p:nvSpPr>
          <p:cNvPr id="10" name="矩形 9">
            <a:extLst>
              <a:ext uri="{FF2B5EF4-FFF2-40B4-BE49-F238E27FC236}">
                <a16:creationId xmlns:a16="http://schemas.microsoft.com/office/drawing/2014/main" id="{48D69544-B489-4FC1-B4A0-D7B051992B19}"/>
              </a:ext>
            </a:extLst>
          </p:cNvPr>
          <p:cNvSpPr/>
          <p:nvPr/>
        </p:nvSpPr>
        <p:spPr>
          <a:xfrm>
            <a:off x="6128984" y="4350133"/>
            <a:ext cx="2328674" cy="5997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1" name="群組 20">
            <a:extLst>
              <a:ext uri="{FF2B5EF4-FFF2-40B4-BE49-F238E27FC236}">
                <a16:creationId xmlns:a16="http://schemas.microsoft.com/office/drawing/2014/main" id="{4E50650D-016D-4266-88A4-C1128A027BDB}"/>
              </a:ext>
            </a:extLst>
          </p:cNvPr>
          <p:cNvGrpSpPr/>
          <p:nvPr/>
        </p:nvGrpSpPr>
        <p:grpSpPr>
          <a:xfrm>
            <a:off x="4154420" y="3721655"/>
            <a:ext cx="4303236" cy="2975054"/>
            <a:chOff x="4443787" y="3601720"/>
            <a:chExt cx="4303236" cy="2975054"/>
          </a:xfrm>
        </p:grpSpPr>
        <p:sp>
          <p:nvSpPr>
            <p:cNvPr id="7" name="矩形: 圓角 6">
              <a:extLst>
                <a:ext uri="{FF2B5EF4-FFF2-40B4-BE49-F238E27FC236}">
                  <a16:creationId xmlns:a16="http://schemas.microsoft.com/office/drawing/2014/main" id="{B4B5596E-40D4-49E7-B317-1CC9EF7F9C9B}"/>
                </a:ext>
              </a:extLst>
            </p:cNvPr>
            <p:cNvSpPr/>
            <p:nvPr/>
          </p:nvSpPr>
          <p:spPr>
            <a:xfrm>
              <a:off x="6217920" y="3601720"/>
              <a:ext cx="2529103" cy="2697480"/>
            </a:xfrm>
            <a:prstGeom prst="roundRect">
              <a:avLst>
                <a:gd name="adj" fmla="val 9680"/>
              </a:avLst>
            </a:prstGeom>
            <a:noFill/>
            <a:ln w="57150">
              <a:solidFill>
                <a:srgbClr val="9964FD"/>
              </a:solidFill>
            </a:ln>
            <a:effectLst>
              <a:glow rad="50800">
                <a:srgbClr val="D9C3FE"/>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9964FD"/>
                </a:solidFill>
              </a:endParaRPr>
            </a:p>
          </p:txBody>
        </p:sp>
        <p:sp>
          <p:nvSpPr>
            <p:cNvPr id="14" name="矩形 13">
              <a:extLst>
                <a:ext uri="{FF2B5EF4-FFF2-40B4-BE49-F238E27FC236}">
                  <a16:creationId xmlns:a16="http://schemas.microsoft.com/office/drawing/2014/main" id="{5FBD52F2-BB5A-417A-A1B2-499FF1E3BC42}"/>
                </a:ext>
              </a:extLst>
            </p:cNvPr>
            <p:cNvSpPr/>
            <p:nvPr/>
          </p:nvSpPr>
          <p:spPr>
            <a:xfrm>
              <a:off x="4443787" y="6207442"/>
              <a:ext cx="2916331" cy="369332"/>
            </a:xfrm>
            <a:prstGeom prst="rect">
              <a:avLst/>
            </a:prstGeom>
          </p:spPr>
          <p:txBody>
            <a:bodyPr wrap="square">
              <a:spAutoFit/>
            </a:bodyPr>
            <a:lstStyle/>
            <a:p>
              <a:r>
                <a:rPr lang="en-US" altLang="zh-TW" b="1" dirty="0">
                  <a:solidFill>
                    <a:srgbClr val="640FF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Squeezed</a:t>
              </a:r>
              <a:r>
                <a:rPr lang="zh-TW" altLang="en-US" b="1" dirty="0">
                  <a:solidFill>
                    <a:srgbClr val="640FF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TW" b="1" dirty="0">
                  <a:solidFill>
                    <a:srgbClr val="640FF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waveguide couple</a:t>
              </a:r>
              <a:endParaRPr lang="zh-TW" altLang="en-US" b="1" dirty="0">
                <a:solidFill>
                  <a:srgbClr val="640FF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9" name="群組 18">
            <a:extLst>
              <a:ext uri="{FF2B5EF4-FFF2-40B4-BE49-F238E27FC236}">
                <a16:creationId xmlns:a16="http://schemas.microsoft.com/office/drawing/2014/main" id="{4D92ED9D-F943-4DC0-9C87-1557EBE04D4A}"/>
              </a:ext>
            </a:extLst>
          </p:cNvPr>
          <p:cNvGrpSpPr/>
          <p:nvPr/>
        </p:nvGrpSpPr>
        <p:grpSpPr>
          <a:xfrm>
            <a:off x="3878582" y="1276558"/>
            <a:ext cx="2313454" cy="1678017"/>
            <a:chOff x="4174045" y="1369983"/>
            <a:chExt cx="2313454" cy="1678017"/>
          </a:xfrm>
        </p:grpSpPr>
        <p:sp>
          <p:nvSpPr>
            <p:cNvPr id="12" name="矩形: 圓角 11">
              <a:extLst>
                <a:ext uri="{FF2B5EF4-FFF2-40B4-BE49-F238E27FC236}">
                  <a16:creationId xmlns:a16="http://schemas.microsoft.com/office/drawing/2014/main" id="{39457313-3F13-4C8C-B859-A6F510B6B25B}"/>
                </a:ext>
              </a:extLst>
            </p:cNvPr>
            <p:cNvSpPr/>
            <p:nvPr/>
          </p:nvSpPr>
          <p:spPr>
            <a:xfrm>
              <a:off x="4557744" y="1873460"/>
              <a:ext cx="1546057" cy="1174540"/>
            </a:xfrm>
            <a:prstGeom prst="roundRect">
              <a:avLst>
                <a:gd name="adj" fmla="val 9680"/>
              </a:avLst>
            </a:prstGeom>
            <a:noFill/>
            <a:ln w="57150">
              <a:solidFill>
                <a:srgbClr val="528035"/>
              </a:solidFill>
            </a:ln>
            <a:effectLst>
              <a:glow rad="50800">
                <a:srgbClr val="C4ECA6"/>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78386440-5017-40D6-BD48-AE714B29CAEC}"/>
                </a:ext>
              </a:extLst>
            </p:cNvPr>
            <p:cNvSpPr/>
            <p:nvPr/>
          </p:nvSpPr>
          <p:spPr>
            <a:xfrm>
              <a:off x="4174045" y="1369983"/>
              <a:ext cx="2313454" cy="369332"/>
            </a:xfrm>
            <a:prstGeom prst="rect">
              <a:avLst/>
            </a:prstGeom>
          </p:spPr>
          <p:txBody>
            <a:bodyPr wrap="none">
              <a:spAutoFit/>
            </a:bodyPr>
            <a:lstStyle/>
            <a:p>
              <a:r>
                <a:rPr lang="en-US" altLang="zh-TW" b="1" dirty="0">
                  <a:solidFill>
                    <a:srgbClr val="8AB56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a:t>
              </a:r>
              <a:r>
                <a:rPr lang="zh-TW" altLang="en-US" b="1" dirty="0">
                  <a:solidFill>
                    <a:srgbClr val="8AB56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TW" b="1" dirty="0">
                  <a:solidFill>
                    <a:srgbClr val="8AB56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waveguide couple</a:t>
              </a:r>
              <a:endParaRPr lang="zh-TW" altLang="en-US" b="1" dirty="0">
                <a:solidFill>
                  <a:srgbClr val="8AB56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20" name="群組 19">
            <a:extLst>
              <a:ext uri="{FF2B5EF4-FFF2-40B4-BE49-F238E27FC236}">
                <a16:creationId xmlns:a16="http://schemas.microsoft.com/office/drawing/2014/main" id="{B36864B7-10BA-4DD7-966A-28F85034E591}"/>
              </a:ext>
            </a:extLst>
          </p:cNvPr>
          <p:cNvGrpSpPr/>
          <p:nvPr/>
        </p:nvGrpSpPr>
        <p:grpSpPr>
          <a:xfrm>
            <a:off x="7379390" y="625711"/>
            <a:ext cx="3647856" cy="1354774"/>
            <a:chOff x="7668757" y="505776"/>
            <a:chExt cx="3647856" cy="1354774"/>
          </a:xfrm>
        </p:grpSpPr>
        <p:sp>
          <p:nvSpPr>
            <p:cNvPr id="13" name="橢圓 12">
              <a:extLst>
                <a:ext uri="{FF2B5EF4-FFF2-40B4-BE49-F238E27FC236}">
                  <a16:creationId xmlns:a16="http://schemas.microsoft.com/office/drawing/2014/main" id="{CB3D3D22-F6C2-4A69-A43E-4836AA34BD1C}"/>
                </a:ext>
              </a:extLst>
            </p:cNvPr>
            <p:cNvSpPr/>
            <p:nvPr/>
          </p:nvSpPr>
          <p:spPr>
            <a:xfrm>
              <a:off x="7668757" y="840024"/>
              <a:ext cx="2328674" cy="1020526"/>
            </a:xfrm>
            <a:prstGeom prst="ellipse">
              <a:avLst/>
            </a:prstGeom>
            <a:noFill/>
            <a:ln w="57150">
              <a:solidFill>
                <a:srgbClr val="FF0000"/>
              </a:solidFill>
            </a:ln>
            <a:effectLst>
              <a:glow rad="50800">
                <a:srgbClr val="FF5B5B"/>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07C528DF-E207-49CA-AE29-2F894F7801BE}"/>
                </a:ext>
              </a:extLst>
            </p:cNvPr>
            <p:cNvSpPr/>
            <p:nvPr/>
          </p:nvSpPr>
          <p:spPr>
            <a:xfrm>
              <a:off x="9011495" y="505776"/>
              <a:ext cx="2305118" cy="369332"/>
            </a:xfrm>
            <a:prstGeom prst="rect">
              <a:avLst/>
            </a:prstGeom>
          </p:spPr>
          <p:txBody>
            <a:bodyPr wrap="none">
              <a:spAutoFit/>
            </a:bodyPr>
            <a:lstStyle/>
            <a:p>
              <a:r>
                <a:rPr lang="en-US" altLang="zh-TW"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Coherent light source</a:t>
              </a:r>
              <a:endParaRPr lang="zh-TW"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8" name="群組 17">
            <a:extLst>
              <a:ext uri="{FF2B5EF4-FFF2-40B4-BE49-F238E27FC236}">
                <a16:creationId xmlns:a16="http://schemas.microsoft.com/office/drawing/2014/main" id="{CFC84AAA-2B9A-4F4C-BF5C-1964FB1A0B42}"/>
              </a:ext>
            </a:extLst>
          </p:cNvPr>
          <p:cNvGrpSpPr/>
          <p:nvPr/>
        </p:nvGrpSpPr>
        <p:grpSpPr>
          <a:xfrm>
            <a:off x="1113006" y="2276201"/>
            <a:ext cx="3005951" cy="2151574"/>
            <a:chOff x="1539533" y="2212146"/>
            <a:chExt cx="3005951" cy="2151574"/>
          </a:xfrm>
        </p:grpSpPr>
        <p:sp>
          <p:nvSpPr>
            <p:cNvPr id="11" name="矩形: 圓角 10">
              <a:extLst>
                <a:ext uri="{FF2B5EF4-FFF2-40B4-BE49-F238E27FC236}">
                  <a16:creationId xmlns:a16="http://schemas.microsoft.com/office/drawing/2014/main" id="{6A930F78-65C1-478D-8F09-7D0F1566D7CE}"/>
                </a:ext>
              </a:extLst>
            </p:cNvPr>
            <p:cNvSpPr/>
            <p:nvPr/>
          </p:nvSpPr>
          <p:spPr>
            <a:xfrm>
              <a:off x="1759955" y="2646680"/>
              <a:ext cx="2565107" cy="1717040"/>
            </a:xfrm>
            <a:prstGeom prst="roundRect">
              <a:avLst>
                <a:gd name="adj" fmla="val 9680"/>
              </a:avLst>
            </a:prstGeom>
            <a:noFill/>
            <a:ln w="57150">
              <a:solidFill>
                <a:srgbClr val="FD6799"/>
              </a:solidFill>
            </a:ln>
            <a:effectLst>
              <a:glow rad="50800">
                <a:srgbClr val="FCC7D9"/>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C50FDBD4-06BB-4EA8-B9D8-056E18CB7440}"/>
                </a:ext>
              </a:extLst>
            </p:cNvPr>
            <p:cNvSpPr/>
            <p:nvPr/>
          </p:nvSpPr>
          <p:spPr>
            <a:xfrm>
              <a:off x="1539533" y="2212146"/>
              <a:ext cx="3005951" cy="369332"/>
            </a:xfrm>
            <a:prstGeom prst="rect">
              <a:avLst/>
            </a:prstGeom>
          </p:spPr>
          <p:txBody>
            <a:bodyPr wrap="none">
              <a:spAutoFit/>
            </a:bodyPr>
            <a:lstStyle/>
            <a:p>
              <a:r>
                <a:rPr lang="en-US" altLang="zh-TW" b="1" dirty="0">
                  <a:solidFill>
                    <a:srgbClr val="FD679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Balance homodyne detection</a:t>
              </a:r>
              <a:endParaRPr lang="zh-TW" altLang="en-US" b="1" dirty="0">
                <a:solidFill>
                  <a:srgbClr val="FD679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239057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78AB6330-D47D-4C63-9A51-BF71BC9A0202}"/>
              </a:ext>
            </a:extLst>
          </p:cNvPr>
          <p:cNvSpPr>
            <a:spLocks noGrp="1"/>
          </p:cNvSpPr>
          <p:nvPr>
            <p:ph type="body" sz="half" idx="13"/>
          </p:nvPr>
        </p:nvSpPr>
        <p:spPr/>
        <p:txBody>
          <a:bodyPr/>
          <a:lstStyle/>
          <a:p>
            <a:r>
              <a:rPr lang="en-US" altLang="zh-TW" dirty="0"/>
              <a:t>Detail setup</a:t>
            </a:r>
            <a:endParaRPr lang="zh-TW" altLang="en-US" dirty="0"/>
          </a:p>
        </p:txBody>
      </p:sp>
      <p:pic>
        <p:nvPicPr>
          <p:cNvPr id="3" name="圖片 2">
            <a:extLst>
              <a:ext uri="{FF2B5EF4-FFF2-40B4-BE49-F238E27FC236}">
                <a16:creationId xmlns:a16="http://schemas.microsoft.com/office/drawing/2014/main" id="{681D5242-DBE6-4E08-9DBF-BDF7DBDA92FE}"/>
              </a:ext>
            </a:extLst>
          </p:cNvPr>
          <p:cNvPicPr>
            <a:picLocks noChangeAspect="1"/>
          </p:cNvPicPr>
          <p:nvPr/>
        </p:nvPicPr>
        <p:blipFill>
          <a:blip r:embed="rId2"/>
          <a:stretch>
            <a:fillRect/>
          </a:stretch>
        </p:blipFill>
        <p:spPr>
          <a:xfrm>
            <a:off x="1194486" y="1513840"/>
            <a:ext cx="10401090" cy="4064000"/>
          </a:xfrm>
          <a:prstGeom prst="rect">
            <a:avLst/>
          </a:prstGeom>
        </p:spPr>
      </p:pic>
      <p:sp>
        <p:nvSpPr>
          <p:cNvPr id="4" name="矩形 3">
            <a:extLst>
              <a:ext uri="{FF2B5EF4-FFF2-40B4-BE49-F238E27FC236}">
                <a16:creationId xmlns:a16="http://schemas.microsoft.com/office/drawing/2014/main" id="{E06E7C2E-CEDE-46C2-8DEB-49067829C87A}"/>
              </a:ext>
            </a:extLst>
          </p:cNvPr>
          <p:cNvSpPr/>
          <p:nvPr/>
        </p:nvSpPr>
        <p:spPr>
          <a:xfrm>
            <a:off x="1553627" y="5208508"/>
            <a:ext cx="2480750" cy="369332"/>
          </a:xfrm>
          <a:prstGeom prst="rect">
            <a:avLst/>
          </a:prstGeom>
        </p:spPr>
        <p:txBody>
          <a:bodyPr wrap="square">
            <a:spAutoFit/>
          </a:bodyPr>
          <a:lstStyle/>
          <a:p>
            <a:pPr algn="ctr"/>
            <a:r>
              <a:rPr lang="en-US" altLang="zh-TW"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LO waveguide coupling</a:t>
            </a:r>
            <a:endParaRPr lang="zh-TW" altLang="en-US" dirty="0">
              <a:solidFill>
                <a:srgbClr val="483832"/>
              </a:solidFill>
              <a:latin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0474599B-8163-4223-B7A3-A9038FDA07F5}"/>
              </a:ext>
            </a:extLst>
          </p:cNvPr>
          <p:cNvSpPr>
            <a:spLocks noGrp="1"/>
          </p:cNvSpPr>
          <p:nvPr>
            <p:ph type="sldNum" sz="quarter" idx="12"/>
          </p:nvPr>
        </p:nvSpPr>
        <p:spPr/>
        <p:txBody>
          <a:bodyPr/>
          <a:lstStyle/>
          <a:p>
            <a:fld id="{9820161B-3DFF-4FF5-AA0E-35496F014571}" type="slidenum">
              <a:rPr lang="zh-TW" altLang="en-US" smtClean="0"/>
              <a:t>39</a:t>
            </a:fld>
            <a:endParaRPr lang="zh-TW" altLang="en-US"/>
          </a:p>
        </p:txBody>
      </p:sp>
      <p:sp>
        <p:nvSpPr>
          <p:cNvPr id="6" name="矩形 5">
            <a:extLst>
              <a:ext uri="{FF2B5EF4-FFF2-40B4-BE49-F238E27FC236}">
                <a16:creationId xmlns:a16="http://schemas.microsoft.com/office/drawing/2014/main" id="{226F08CA-FBC8-463C-9638-D6F02DEBD597}"/>
              </a:ext>
            </a:extLst>
          </p:cNvPr>
          <p:cNvSpPr/>
          <p:nvPr/>
        </p:nvSpPr>
        <p:spPr>
          <a:xfrm>
            <a:off x="4298537" y="5208508"/>
            <a:ext cx="3019232" cy="369332"/>
          </a:xfrm>
          <a:prstGeom prst="rect">
            <a:avLst/>
          </a:prstGeom>
        </p:spPr>
        <p:txBody>
          <a:bodyPr wrap="square">
            <a:spAutoFit/>
          </a:bodyPr>
          <a:lstStyle/>
          <a:p>
            <a:pPr algn="ctr"/>
            <a:r>
              <a:rPr lang="en-US" altLang="zh-TW"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squeezed waveguide coupling</a:t>
            </a:r>
            <a:endParaRPr lang="zh-TW" altLang="en-US" dirty="0">
              <a:solidFill>
                <a:srgbClr val="483832"/>
              </a:solidFill>
              <a:latin typeface="Times New Roman" panose="02020603050405020304" pitchFamily="18" charset="0"/>
            </a:endParaRPr>
          </a:p>
        </p:txBody>
      </p:sp>
      <p:sp>
        <p:nvSpPr>
          <p:cNvPr id="7" name="矩形 6">
            <a:extLst>
              <a:ext uri="{FF2B5EF4-FFF2-40B4-BE49-F238E27FC236}">
                <a16:creationId xmlns:a16="http://schemas.microsoft.com/office/drawing/2014/main" id="{4FF71A7D-6E4B-445E-9D01-77762E734396}"/>
              </a:ext>
            </a:extLst>
          </p:cNvPr>
          <p:cNvSpPr/>
          <p:nvPr/>
        </p:nvSpPr>
        <p:spPr>
          <a:xfrm>
            <a:off x="9092346" y="5208508"/>
            <a:ext cx="702750" cy="369332"/>
          </a:xfrm>
          <a:prstGeom prst="rect">
            <a:avLst/>
          </a:prstGeom>
        </p:spPr>
        <p:txBody>
          <a:bodyPr wrap="square">
            <a:spAutoFit/>
          </a:bodyPr>
          <a:lstStyle/>
          <a:p>
            <a:pPr algn="ctr"/>
            <a:r>
              <a:rPr lang="en-US" altLang="zh-TW"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BHD</a:t>
            </a:r>
            <a:endParaRPr lang="zh-TW" altLang="en-US" dirty="0">
              <a:solidFill>
                <a:srgbClr val="483832"/>
              </a:solidFill>
              <a:latin typeface="Times New Roman" panose="02020603050405020304" pitchFamily="18" charset="0"/>
            </a:endParaRPr>
          </a:p>
        </p:txBody>
      </p:sp>
    </p:spTree>
    <p:extLst>
      <p:ext uri="{BB962C8B-B14F-4D97-AF65-F5344CB8AC3E}">
        <p14:creationId xmlns:p14="http://schemas.microsoft.com/office/powerpoint/2010/main" val="28704988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1D8BEF08-5EAD-462D-8AA5-082175DE5229}"/>
              </a:ext>
            </a:extLst>
          </p:cNvPr>
          <p:cNvSpPr>
            <a:spLocks noGrp="1"/>
          </p:cNvSpPr>
          <p:nvPr>
            <p:ph type="body" sz="half" idx="13"/>
          </p:nvPr>
        </p:nvSpPr>
        <p:spPr/>
        <p:txBody>
          <a:bodyPr/>
          <a:lstStyle/>
          <a:p>
            <a:r>
              <a:rPr lang="en-US" altLang="zh-TW" dirty="0"/>
              <a:t>Improve visibility</a:t>
            </a:r>
            <a:endParaRPr lang="zh-TW" altLang="en-US" dirty="0"/>
          </a:p>
        </p:txBody>
      </p:sp>
      <p:pic>
        <p:nvPicPr>
          <p:cNvPr id="3" name="圖片 2">
            <a:extLst>
              <a:ext uri="{FF2B5EF4-FFF2-40B4-BE49-F238E27FC236}">
                <a16:creationId xmlns:a16="http://schemas.microsoft.com/office/drawing/2014/main" id="{4D781D9B-C78B-4AC6-B27D-45FF2CDCCF22}"/>
              </a:ext>
            </a:extLst>
          </p:cNvPr>
          <p:cNvPicPr>
            <a:picLocks noChangeAspect="1"/>
          </p:cNvPicPr>
          <p:nvPr/>
        </p:nvPicPr>
        <p:blipFill rotWithShape="1">
          <a:blip r:embed="rId2"/>
          <a:srcRect b="9636"/>
          <a:stretch/>
        </p:blipFill>
        <p:spPr>
          <a:xfrm>
            <a:off x="1637230" y="973848"/>
            <a:ext cx="8917540" cy="3992245"/>
          </a:xfrm>
          <a:prstGeom prst="rect">
            <a:avLst/>
          </a:prstGeom>
        </p:spPr>
      </p:pic>
      <p:sp>
        <p:nvSpPr>
          <p:cNvPr id="4" name="投影片編號版面配置區 3">
            <a:extLst>
              <a:ext uri="{FF2B5EF4-FFF2-40B4-BE49-F238E27FC236}">
                <a16:creationId xmlns:a16="http://schemas.microsoft.com/office/drawing/2014/main" id="{5D635804-8818-4CE0-B5AE-984279E95998}"/>
              </a:ext>
            </a:extLst>
          </p:cNvPr>
          <p:cNvSpPr>
            <a:spLocks noGrp="1"/>
          </p:cNvSpPr>
          <p:nvPr>
            <p:ph type="sldNum" sz="quarter" idx="12"/>
          </p:nvPr>
        </p:nvSpPr>
        <p:spPr/>
        <p:txBody>
          <a:bodyPr/>
          <a:lstStyle/>
          <a:p>
            <a:fld id="{9820161B-3DFF-4FF5-AA0E-35496F014571}" type="slidenum">
              <a:rPr lang="zh-TW" altLang="en-US" smtClean="0"/>
              <a:t>40</a:t>
            </a:fld>
            <a:endParaRPr lang="zh-TW" altLang="en-US" dirty="0"/>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C3EF974-0C38-4E9F-9AEA-608F4D044875}"/>
                  </a:ext>
                </a:extLst>
              </p:cNvPr>
              <p:cNvSpPr/>
              <p:nvPr/>
            </p:nvSpPr>
            <p:spPr>
              <a:xfrm>
                <a:off x="1996440" y="5078220"/>
                <a:ext cx="8199120" cy="1034066"/>
              </a:xfrm>
              <a:prstGeom prst="rect">
                <a:avLst/>
              </a:prstGeom>
            </p:spPr>
            <p:txBody>
              <a:bodyPr wrap="square">
                <a:spAutoFit/>
              </a:bodyPr>
              <a:lstStyle/>
              <a:p>
                <a:pPr algn="ctr">
                  <a:lnSpc>
                    <a:spcPts val="2500"/>
                  </a:lnSpc>
                </a:pP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1550nm Waveguide mode profile(a)squeezed arm</a:t>
                </a:r>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(b)LO arm</a:t>
                </a:r>
              </a:p>
              <a:p>
                <a:pPr algn="ctr">
                  <a:lnSpc>
                    <a:spcPts val="2500"/>
                  </a:lnSpc>
                </a:pP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Optimize mode match efficiency</a:t>
                </a: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a:t>
                </a:r>
                <a:r>
                  <a:rPr lang="en-US" altLang="zh-TW" sz="2000" dirty="0">
                    <a:solidFill>
                      <a:srgbClr val="483832"/>
                    </a:solidFill>
                    <a:highlight>
                      <a:srgbClr val="FFAFB1"/>
                    </a:highlight>
                    <a:latin typeface="Times New Roman" panose="02020603050405020304" pitchFamily="18" charset="0"/>
                  </a:rPr>
                  <a:t>1.65 times</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as well as observe squeezing level </a:t>
                </a:r>
              </a:p>
              <a:p>
                <a:pPr algn="ctr">
                  <a:lnSpc>
                    <a:spcPts val="2500"/>
                  </a:lnSpc>
                </a:pP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fiber(</a:t>
                </a:r>
                <a14:m>
                  <m:oMath xmlns:m="http://schemas.openxmlformats.org/officeDocument/2006/math">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𝜂</m:t>
                        </m:r>
                      </m:e>
                      <m:sub>
                        <m:r>
                          <a:rPr lang="en-US" altLang="zh-TW" sz="2000">
                            <a:solidFill>
                              <a:srgbClr val="483832"/>
                            </a:solidFill>
                            <a:latin typeface="Cambria Math" panose="02040503050406030204" pitchFamily="18" charset="0"/>
                          </a:rPr>
                          <m:t>𝑣𝑖𝑠</m:t>
                        </m:r>
                      </m:sub>
                    </m:sSub>
                    <m:r>
                      <m:rPr>
                        <m:nor/>
                      </m:rP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m:t>~0.7</m:t>
                    </m:r>
                  </m:oMath>
                </a14:m>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/waveguide mode(</a:t>
                </a:r>
                <a14:m>
                  <m:oMath xmlns:m="http://schemas.openxmlformats.org/officeDocument/2006/math">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𝜂</m:t>
                        </m:r>
                      </m:e>
                      <m:sub>
                        <m:r>
                          <a:rPr lang="en-US" altLang="zh-TW" sz="2000">
                            <a:solidFill>
                              <a:srgbClr val="483832"/>
                            </a:solidFill>
                            <a:latin typeface="Cambria Math" panose="02040503050406030204" pitchFamily="18" charset="0"/>
                          </a:rPr>
                          <m:t>𝑣𝑖𝑠</m:t>
                        </m:r>
                      </m:sub>
                    </m:sSub>
                    <m:r>
                      <m:rPr>
                        <m:nor/>
                      </m:rP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m:t>~0.9</m:t>
                    </m:r>
                  </m:oMath>
                </a14:m>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endPar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0C3EF974-0C38-4E9F-9AEA-608F4D044875}"/>
                  </a:ext>
                </a:extLst>
              </p:cNvPr>
              <p:cNvSpPr>
                <a:spLocks noRot="1" noChangeAspect="1" noMove="1" noResize="1" noEditPoints="1" noAdjustHandles="1" noChangeArrowheads="1" noChangeShapeType="1" noTextEdit="1"/>
              </p:cNvSpPr>
              <p:nvPr/>
            </p:nvSpPr>
            <p:spPr>
              <a:xfrm>
                <a:off x="1996440" y="5078220"/>
                <a:ext cx="8199120" cy="1034066"/>
              </a:xfrm>
              <a:prstGeom prst="rect">
                <a:avLst/>
              </a:prstGeom>
              <a:blipFill>
                <a:blip r:embed="rId3"/>
                <a:stretch>
                  <a:fillRect l="-595" t="-3529" r="-1264" b="-9412"/>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4A6D81E7-EC08-4C9E-8AAF-2FCFBFD2EF38}"/>
              </a:ext>
            </a:extLst>
          </p:cNvPr>
          <p:cNvPicPr/>
          <p:nvPr/>
        </p:nvPicPr>
        <p:blipFill rotWithShape="1">
          <a:blip r:embed="rId4" cstate="print">
            <a:extLst>
              <a:ext uri="{28A0092B-C50C-407E-A947-70E740481C1C}">
                <a14:useLocalDpi xmlns:a14="http://schemas.microsoft.com/office/drawing/2010/main" val="0"/>
              </a:ext>
            </a:extLst>
          </a:blip>
          <a:srcRect l="5425" t="23951" r="14268" b="40163"/>
          <a:stretch/>
        </p:blipFill>
        <p:spPr bwMode="auto">
          <a:xfrm>
            <a:off x="3797031" y="3124200"/>
            <a:ext cx="4597938" cy="11071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53640926-AAD7-44D8-BBD7-CCE9431645EC}">
              <a14:shadowObscured xmlns:a14="http://schemas.microsoft.com/office/drawing/2010/main"/>
            </a:ext>
          </a:extLst>
        </p:spPr>
      </p:pic>
    </p:spTree>
    <p:extLst>
      <p:ext uri="{BB962C8B-B14F-4D97-AF65-F5344CB8AC3E}">
        <p14:creationId xmlns:p14="http://schemas.microsoft.com/office/powerpoint/2010/main" val="46922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6" presetClass="emph" presetSubtype="0" fill="hold" nodeType="afterEffect">
                                  <p:stCondLst>
                                    <p:cond delay="0"/>
                                  </p:stCondLst>
                                  <p:childTnLst>
                                    <p:animScale>
                                      <p:cBhvr>
                                        <p:cTn id="9" dur="25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51349042-6776-4770-AFC5-6F1EE7D7BC42}"/>
              </a:ext>
            </a:extLst>
          </p:cNvPr>
          <p:cNvSpPr>
            <a:spLocks noGrp="1"/>
          </p:cNvSpPr>
          <p:nvPr>
            <p:ph type="body" sz="half" idx="13"/>
          </p:nvPr>
        </p:nvSpPr>
        <p:spPr>
          <a:xfrm>
            <a:off x="3881121" y="16590"/>
            <a:ext cx="4429760" cy="660417"/>
          </a:xfrm>
        </p:spPr>
        <p:txBody>
          <a:bodyPr/>
          <a:lstStyle/>
          <a:p>
            <a:r>
              <a:rPr lang="en-US" altLang="zh-TW" dirty="0"/>
              <a:t>Spectrum analyzer</a:t>
            </a:r>
          </a:p>
        </p:txBody>
      </p:sp>
      <p:pic>
        <p:nvPicPr>
          <p:cNvPr id="3" name="圖片 2">
            <a:extLst>
              <a:ext uri="{FF2B5EF4-FFF2-40B4-BE49-F238E27FC236}">
                <a16:creationId xmlns:a16="http://schemas.microsoft.com/office/drawing/2014/main" id="{34EA140D-E322-4B18-BD87-3C27148E562B}"/>
              </a:ext>
            </a:extLst>
          </p:cNvPr>
          <p:cNvPicPr>
            <a:picLocks noChangeAspect="1"/>
          </p:cNvPicPr>
          <p:nvPr/>
        </p:nvPicPr>
        <p:blipFill rotWithShape="1">
          <a:blip r:embed="rId2"/>
          <a:srcRect b="9972"/>
          <a:stretch/>
        </p:blipFill>
        <p:spPr>
          <a:xfrm>
            <a:off x="1067624" y="989532"/>
            <a:ext cx="10606647" cy="4903268"/>
          </a:xfrm>
          <a:prstGeom prst="rect">
            <a:avLst/>
          </a:prstGeom>
        </p:spPr>
      </p:pic>
      <p:sp>
        <p:nvSpPr>
          <p:cNvPr id="4" name="矩形 3">
            <a:extLst>
              <a:ext uri="{FF2B5EF4-FFF2-40B4-BE49-F238E27FC236}">
                <a16:creationId xmlns:a16="http://schemas.microsoft.com/office/drawing/2014/main" id="{DDFF5D8D-7FBF-4211-9D2F-30D1B44C7F8E}"/>
              </a:ext>
            </a:extLst>
          </p:cNvPr>
          <p:cNvSpPr/>
          <p:nvPr/>
        </p:nvSpPr>
        <p:spPr>
          <a:xfrm>
            <a:off x="3970194" y="5886564"/>
            <a:ext cx="4801507" cy="400110"/>
          </a:xfrm>
          <a:prstGeom prst="rect">
            <a:avLst/>
          </a:prstGeom>
        </p:spPr>
        <p:txBody>
          <a:bodyPr wrap="square">
            <a:spAutoFit/>
          </a:bodyPr>
          <a:lstStyle/>
          <a:p>
            <a:r>
              <a:rPr lang="en-US" altLang="zh-TW" sz="2000" dirty="0">
                <a:solidFill>
                  <a:srgbClr val="483832"/>
                </a:solidFill>
                <a:latin typeface="Times New Roman" panose="02020603050405020304" pitchFamily="18" charset="0"/>
                <a:ea typeface="DFKai-SB" panose="03000509000000000000" pitchFamily="65" charset="-120"/>
              </a:rPr>
              <a:t>Different LO power</a:t>
            </a: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correspond to shot noise</a:t>
            </a:r>
            <a:endParaRPr lang="zh-TW" altLang="en-US" sz="2000" dirty="0">
              <a:solidFill>
                <a:srgbClr val="483832"/>
              </a:solidFill>
              <a:latin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187071A9-F63D-4AB3-B7BE-E8E238C84807}"/>
              </a:ext>
            </a:extLst>
          </p:cNvPr>
          <p:cNvSpPr>
            <a:spLocks noGrp="1"/>
          </p:cNvSpPr>
          <p:nvPr>
            <p:ph type="sldNum" sz="quarter" idx="12"/>
          </p:nvPr>
        </p:nvSpPr>
        <p:spPr/>
        <p:txBody>
          <a:bodyPr/>
          <a:lstStyle/>
          <a:p>
            <a:fld id="{9820161B-3DFF-4FF5-AA0E-35496F014571}" type="slidenum">
              <a:rPr lang="zh-TW" altLang="en-US" smtClean="0"/>
              <a:t>41</a:t>
            </a:fld>
            <a:endParaRPr lang="zh-TW" altLang="en-US"/>
          </a:p>
        </p:txBody>
      </p:sp>
    </p:spTree>
    <p:extLst>
      <p:ext uri="{BB962C8B-B14F-4D97-AF65-F5344CB8AC3E}">
        <p14:creationId xmlns:p14="http://schemas.microsoft.com/office/powerpoint/2010/main" val="2621045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BE3E6AD-42B9-4B01-B19D-86CEDF7AB4E6}"/>
              </a:ext>
            </a:extLst>
          </p:cNvPr>
          <p:cNvSpPr/>
          <p:nvPr/>
        </p:nvSpPr>
        <p:spPr>
          <a:xfrm>
            <a:off x="1849188" y="5108256"/>
            <a:ext cx="8981304" cy="1354666"/>
          </a:xfrm>
          <a:prstGeom prst="rect">
            <a:avLst/>
          </a:prstGeom>
        </p:spPr>
        <p:txBody>
          <a:bodyPr wrap="square">
            <a:spAutoFit/>
          </a:bodyPr>
          <a:lstStyle/>
          <a:p>
            <a:pPr algn="ctr">
              <a:lnSpc>
                <a:spcPts val="2500"/>
              </a:lnSpc>
            </a:pPr>
            <a:r>
              <a:rPr lang="en-US" altLang="zh-TW" sz="2000" dirty="0">
                <a:solidFill>
                  <a:srgbClr val="483832"/>
                </a:solidFill>
                <a:latin typeface="Times New Roman" panose="02020603050405020304" pitchFamily="18" charset="0"/>
              </a:rPr>
              <a:t>775nm waveguide mode profile. Adjust the objective lens focal position to waveguide.</a:t>
            </a:r>
          </a:p>
          <a:p>
            <a:pPr algn="ctr">
              <a:lnSpc>
                <a:spcPts val="2500"/>
              </a:lnSpc>
            </a:pPr>
            <a:r>
              <a:rPr lang="en-US" altLang="zh-TW" sz="2000" dirty="0">
                <a:solidFill>
                  <a:srgbClr val="483832"/>
                </a:solidFill>
                <a:latin typeface="Times New Roman" panose="02020603050405020304" pitchFamily="18" charset="0"/>
              </a:rPr>
              <a:t>If (a) at </a:t>
            </a:r>
            <a:r>
              <a:rPr lang="en-US" altLang="zh-TW" sz="2000" dirty="0" err="1">
                <a:solidFill>
                  <a:srgbClr val="483832"/>
                </a:solidFill>
                <a:latin typeface="Times New Roman" panose="02020603050405020304" pitchFamily="18" charset="0"/>
              </a:rPr>
              <a:t>Xmm</a:t>
            </a:r>
            <a:r>
              <a:rPr lang="zh-TW" altLang="zh-TW" sz="2000" dirty="0">
                <a:solidFill>
                  <a:srgbClr val="483832"/>
                </a:solidFill>
                <a:latin typeface="Times New Roman" panose="02020603050405020304" pitchFamily="18" charset="0"/>
              </a:rPr>
              <a:t>、</a:t>
            </a:r>
            <a:r>
              <a:rPr lang="en-US" altLang="zh-TW" sz="2000" dirty="0">
                <a:solidFill>
                  <a:srgbClr val="483832"/>
                </a:solidFill>
                <a:latin typeface="Times New Roman" panose="02020603050405020304" pitchFamily="18" charset="0"/>
              </a:rPr>
              <a:t>(b)at X+0.25mm</a:t>
            </a:r>
          </a:p>
          <a:p>
            <a:pPr algn="ctr">
              <a:lnSpc>
                <a:spcPts val="2500"/>
              </a:lnSpc>
            </a:pPr>
            <a:r>
              <a:rPr lang="en-US" altLang="zh-TW" sz="2000" dirty="0">
                <a:solidFill>
                  <a:srgbClr val="483832"/>
                </a:solidFill>
                <a:latin typeface="Times New Roman" panose="02020603050405020304" pitchFamily="18" charset="0"/>
              </a:rPr>
              <a:t>That is, </a:t>
            </a:r>
            <a:r>
              <a:rPr lang="en-US" altLang="zh-TW" sz="2000" dirty="0">
                <a:solidFill>
                  <a:srgbClr val="483832"/>
                </a:solidFill>
                <a:highlight>
                  <a:srgbClr val="FFAFB1"/>
                </a:highlight>
                <a:latin typeface="Times New Roman" panose="02020603050405020304" pitchFamily="18" charset="0"/>
              </a:rPr>
              <a:t>0.25mm</a:t>
            </a:r>
            <a:r>
              <a:rPr lang="en-US" altLang="zh-TW" sz="2000" dirty="0">
                <a:solidFill>
                  <a:srgbClr val="483832"/>
                </a:solidFill>
                <a:latin typeface="Times New Roman" panose="02020603050405020304" pitchFamily="18" charset="0"/>
              </a:rPr>
              <a:t> range can’t deduce which position is the optimized.</a:t>
            </a:r>
          </a:p>
          <a:p>
            <a:pPr algn="ctr">
              <a:lnSpc>
                <a:spcPts val="2500"/>
              </a:lnSpc>
            </a:pPr>
            <a:r>
              <a:rPr lang="en-US" altLang="zh-TW" sz="2000" dirty="0">
                <a:solidFill>
                  <a:srgbClr val="483832"/>
                </a:solidFill>
                <a:latin typeface="Times New Roman" panose="02020603050405020304" pitchFamily="18" charset="0"/>
              </a:rPr>
              <a:t>Free space coupling efficiency~8.4dB</a:t>
            </a:r>
          </a:p>
        </p:txBody>
      </p:sp>
      <p:pic>
        <p:nvPicPr>
          <p:cNvPr id="5" name="圖片 4">
            <a:extLst>
              <a:ext uri="{FF2B5EF4-FFF2-40B4-BE49-F238E27FC236}">
                <a16:creationId xmlns:a16="http://schemas.microsoft.com/office/drawing/2014/main" id="{C218D4E9-4C86-443B-A0F5-2E48A348361A}"/>
              </a:ext>
            </a:extLst>
          </p:cNvPr>
          <p:cNvPicPr>
            <a:picLocks noChangeAspect="1"/>
          </p:cNvPicPr>
          <p:nvPr/>
        </p:nvPicPr>
        <p:blipFill>
          <a:blip r:embed="rId2"/>
          <a:stretch>
            <a:fillRect/>
          </a:stretch>
        </p:blipFill>
        <p:spPr>
          <a:xfrm>
            <a:off x="1351280" y="1035242"/>
            <a:ext cx="10041465" cy="3765549"/>
          </a:xfrm>
          <a:prstGeom prst="rect">
            <a:avLst/>
          </a:prstGeom>
        </p:spPr>
      </p:pic>
      <p:sp>
        <p:nvSpPr>
          <p:cNvPr id="2" name="文字版面配置區 1">
            <a:extLst>
              <a:ext uri="{FF2B5EF4-FFF2-40B4-BE49-F238E27FC236}">
                <a16:creationId xmlns:a16="http://schemas.microsoft.com/office/drawing/2014/main" id="{5C8E6F03-9B18-4B61-9031-22DF237C5CCC}"/>
              </a:ext>
            </a:extLst>
          </p:cNvPr>
          <p:cNvSpPr>
            <a:spLocks noGrp="1"/>
          </p:cNvSpPr>
          <p:nvPr>
            <p:ph type="body" sz="half" idx="13"/>
          </p:nvPr>
        </p:nvSpPr>
        <p:spPr>
          <a:xfrm>
            <a:off x="3393441" y="16590"/>
            <a:ext cx="5405120" cy="660417"/>
          </a:xfrm>
        </p:spPr>
        <p:txBody>
          <a:bodyPr>
            <a:normAutofit/>
          </a:bodyPr>
          <a:lstStyle/>
          <a:p>
            <a:r>
              <a:rPr lang="en-US" altLang="zh-TW" dirty="0"/>
              <a:t>Improve 775nm</a:t>
            </a:r>
            <a:r>
              <a:rPr lang="zh-TW" altLang="en-US" dirty="0"/>
              <a:t> </a:t>
            </a:r>
            <a:r>
              <a:rPr lang="en-US" altLang="zh-TW" dirty="0"/>
              <a:t>coupling loss</a:t>
            </a:r>
          </a:p>
        </p:txBody>
      </p:sp>
      <p:sp>
        <p:nvSpPr>
          <p:cNvPr id="6" name="投影片編號版面配置區 5">
            <a:extLst>
              <a:ext uri="{FF2B5EF4-FFF2-40B4-BE49-F238E27FC236}">
                <a16:creationId xmlns:a16="http://schemas.microsoft.com/office/drawing/2014/main" id="{93C704D5-D498-4267-B6E4-B2C7AFA48C85}"/>
              </a:ext>
            </a:extLst>
          </p:cNvPr>
          <p:cNvSpPr>
            <a:spLocks noGrp="1"/>
          </p:cNvSpPr>
          <p:nvPr>
            <p:ph type="sldNum" sz="quarter" idx="12"/>
          </p:nvPr>
        </p:nvSpPr>
        <p:spPr/>
        <p:txBody>
          <a:bodyPr/>
          <a:lstStyle/>
          <a:p>
            <a:fld id="{9820161B-3DFF-4FF5-AA0E-35496F014571}" type="slidenum">
              <a:rPr lang="zh-TW" altLang="en-US" smtClean="0"/>
              <a:t>42</a:t>
            </a:fld>
            <a:endParaRPr lang="zh-TW" altLang="en-US"/>
          </a:p>
        </p:txBody>
      </p:sp>
    </p:spTree>
    <p:extLst>
      <p:ext uri="{BB962C8B-B14F-4D97-AF65-F5344CB8AC3E}">
        <p14:creationId xmlns:p14="http://schemas.microsoft.com/office/powerpoint/2010/main" val="33510065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7292CFA-1456-4F16-8C83-3D1137D21E47}"/>
              </a:ext>
            </a:extLst>
          </p:cNvPr>
          <p:cNvSpPr>
            <a:spLocks noGrp="1"/>
          </p:cNvSpPr>
          <p:nvPr>
            <p:ph type="sldNum" sz="quarter" idx="12"/>
          </p:nvPr>
        </p:nvSpPr>
        <p:spPr/>
        <p:txBody>
          <a:bodyPr/>
          <a:lstStyle/>
          <a:p>
            <a:fld id="{9820161B-3DFF-4FF5-AA0E-35496F014571}" type="slidenum">
              <a:rPr lang="zh-TW" altLang="en-US" smtClean="0"/>
              <a:t>43</a:t>
            </a:fld>
            <a:endParaRPr lang="zh-TW" altLang="en-US"/>
          </a:p>
        </p:txBody>
      </p:sp>
      <p:sp>
        <p:nvSpPr>
          <p:cNvPr id="3" name="文字版面配置區 2">
            <a:extLst>
              <a:ext uri="{FF2B5EF4-FFF2-40B4-BE49-F238E27FC236}">
                <a16:creationId xmlns:a16="http://schemas.microsoft.com/office/drawing/2014/main" id="{01503043-01B8-4B64-AE4C-2E2E156FC8D6}"/>
              </a:ext>
            </a:extLst>
          </p:cNvPr>
          <p:cNvSpPr>
            <a:spLocks noGrp="1"/>
          </p:cNvSpPr>
          <p:nvPr>
            <p:ph type="body" sz="half" idx="13"/>
          </p:nvPr>
        </p:nvSpPr>
        <p:spPr>
          <a:xfrm>
            <a:off x="3406816" y="16590"/>
            <a:ext cx="5378370" cy="660417"/>
          </a:xfrm>
        </p:spPr>
        <p:txBody>
          <a:bodyPr>
            <a:normAutofit/>
          </a:bodyPr>
          <a:lstStyle/>
          <a:p>
            <a:r>
              <a:rPr lang="en-US" altLang="zh-TW" dirty="0"/>
              <a:t>Improve 775nm</a:t>
            </a:r>
            <a:r>
              <a:rPr lang="zh-TW" altLang="en-US" dirty="0"/>
              <a:t> </a:t>
            </a:r>
            <a:r>
              <a:rPr lang="en-US" altLang="zh-TW" dirty="0"/>
              <a:t>coupling loss</a:t>
            </a:r>
          </a:p>
        </p:txBody>
      </p:sp>
      <p:pic>
        <p:nvPicPr>
          <p:cNvPr id="5" name="圖片 4">
            <a:extLst>
              <a:ext uri="{FF2B5EF4-FFF2-40B4-BE49-F238E27FC236}">
                <a16:creationId xmlns:a16="http://schemas.microsoft.com/office/drawing/2014/main" id="{706BD6C6-45A1-43A1-9B22-17CF1E32A8B5}"/>
              </a:ext>
            </a:extLst>
          </p:cNvPr>
          <p:cNvPicPr>
            <a:picLocks noChangeAspect="1"/>
          </p:cNvPicPr>
          <p:nvPr/>
        </p:nvPicPr>
        <p:blipFill rotWithShape="1">
          <a:blip r:embed="rId2">
            <a:extLst>
              <a:ext uri="{28A0092B-C50C-407E-A947-70E740481C1C}">
                <a14:useLocalDpi xmlns:a14="http://schemas.microsoft.com/office/drawing/2010/main" val="0"/>
              </a:ext>
            </a:extLst>
          </a:blip>
          <a:srcRect l="39779" t="4702"/>
          <a:stretch/>
        </p:blipFill>
        <p:spPr>
          <a:xfrm>
            <a:off x="7373579" y="1659229"/>
            <a:ext cx="4151454" cy="3101390"/>
          </a:xfrm>
          <a:prstGeom prst="rect">
            <a:avLst/>
          </a:prstGeom>
        </p:spPr>
      </p:pic>
      <p:pic>
        <p:nvPicPr>
          <p:cNvPr id="8" name="圖片 7">
            <a:extLst>
              <a:ext uri="{FF2B5EF4-FFF2-40B4-BE49-F238E27FC236}">
                <a16:creationId xmlns:a16="http://schemas.microsoft.com/office/drawing/2014/main" id="{0E1D3E42-CBDD-4C3E-B0C4-B16D06A60A4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219417" y="1410016"/>
            <a:ext cx="5768340" cy="3599815"/>
          </a:xfrm>
          <a:prstGeom prst="rect">
            <a:avLst/>
          </a:prstGeom>
          <a:noFill/>
        </p:spPr>
      </p:pic>
      <p:sp>
        <p:nvSpPr>
          <p:cNvPr id="9" name="矩形 8">
            <a:extLst>
              <a:ext uri="{FF2B5EF4-FFF2-40B4-BE49-F238E27FC236}">
                <a16:creationId xmlns:a16="http://schemas.microsoft.com/office/drawing/2014/main" id="{FB989679-A209-4EE9-9DE2-7C3D9A0FBF17}"/>
              </a:ext>
            </a:extLst>
          </p:cNvPr>
          <p:cNvSpPr/>
          <p:nvPr/>
        </p:nvSpPr>
        <p:spPr>
          <a:xfrm>
            <a:off x="1849188" y="5374476"/>
            <a:ext cx="8981304" cy="713465"/>
          </a:xfrm>
          <a:prstGeom prst="rect">
            <a:avLst/>
          </a:prstGeom>
        </p:spPr>
        <p:txBody>
          <a:bodyPr wrap="square">
            <a:spAutoFit/>
          </a:bodyPr>
          <a:lstStyle/>
          <a:p>
            <a:pPr algn="ctr">
              <a:lnSpc>
                <a:spcPts val="2500"/>
              </a:lnSpc>
            </a:pPr>
            <a:r>
              <a:rPr lang="en-US" altLang="zh-TW" sz="2000" dirty="0">
                <a:solidFill>
                  <a:srgbClr val="483832"/>
                </a:solidFill>
                <a:latin typeface="Times New Roman" panose="02020603050405020304" pitchFamily="18" charset="0"/>
              </a:rPr>
              <a:t>Fiber coupling efficiency~4.8dB</a:t>
            </a:r>
          </a:p>
          <a:p>
            <a:pPr algn="ctr">
              <a:lnSpc>
                <a:spcPts val="2500"/>
              </a:lnSpc>
            </a:pPr>
            <a:r>
              <a:rPr lang="en-US" altLang="zh-TW" sz="2000" dirty="0">
                <a:solidFill>
                  <a:srgbClr val="483832"/>
                </a:solidFill>
                <a:latin typeface="Times New Roman" panose="02020603050405020304" pitchFamily="18" charset="0"/>
              </a:rPr>
              <a:t>Optimize pump coupling efficiency </a:t>
            </a:r>
            <a:r>
              <a:rPr lang="en-US" altLang="zh-TW" sz="2000" dirty="0">
                <a:solidFill>
                  <a:srgbClr val="483832"/>
                </a:solidFill>
                <a:highlight>
                  <a:srgbClr val="FFAFB1"/>
                </a:highlight>
                <a:latin typeface="Times New Roman" panose="02020603050405020304" pitchFamily="18" charset="0"/>
              </a:rPr>
              <a:t>2.29 times</a:t>
            </a:r>
            <a:r>
              <a:rPr lang="en-US" altLang="zh-TW" sz="2000" dirty="0">
                <a:solidFill>
                  <a:srgbClr val="483832"/>
                </a:solidFill>
                <a:latin typeface="Times New Roman" panose="02020603050405020304" pitchFamily="18" charset="0"/>
              </a:rPr>
              <a:t> in waveguide</a:t>
            </a:r>
          </a:p>
        </p:txBody>
      </p:sp>
    </p:spTree>
    <p:extLst>
      <p:ext uri="{BB962C8B-B14F-4D97-AF65-F5344CB8AC3E}">
        <p14:creationId xmlns:p14="http://schemas.microsoft.com/office/powerpoint/2010/main" val="305271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18462193-2B54-4DFC-8478-F3DF6616946A}"/>
              </a:ext>
            </a:extLst>
          </p:cNvPr>
          <p:cNvSpPr>
            <a:spLocks noGrp="1"/>
          </p:cNvSpPr>
          <p:nvPr>
            <p:ph type="sldNum" sz="quarter" idx="12"/>
          </p:nvPr>
        </p:nvSpPr>
        <p:spPr/>
        <p:txBody>
          <a:bodyPr/>
          <a:lstStyle/>
          <a:p>
            <a:fld id="{9820161B-3DFF-4FF5-AA0E-35496F014571}" type="slidenum">
              <a:rPr lang="zh-TW" altLang="en-US" smtClean="0"/>
              <a:t>44</a:t>
            </a:fld>
            <a:endParaRPr lang="zh-TW" altLang="en-US" dirty="0"/>
          </a:p>
        </p:txBody>
      </p:sp>
      <p:sp>
        <p:nvSpPr>
          <p:cNvPr id="3" name="文字版面配置區 2">
            <a:extLst>
              <a:ext uri="{FF2B5EF4-FFF2-40B4-BE49-F238E27FC236}">
                <a16:creationId xmlns:a16="http://schemas.microsoft.com/office/drawing/2014/main" id="{E92B27A0-7833-43E0-BA78-04D3771AA409}"/>
              </a:ext>
            </a:extLst>
          </p:cNvPr>
          <p:cNvSpPr>
            <a:spLocks noGrp="1"/>
          </p:cNvSpPr>
          <p:nvPr>
            <p:ph type="body" sz="half" idx="13"/>
          </p:nvPr>
        </p:nvSpPr>
        <p:spPr>
          <a:xfrm>
            <a:off x="3216677" y="16590"/>
            <a:ext cx="5758648" cy="660417"/>
          </a:xfrm>
        </p:spPr>
        <p:txBody>
          <a:bodyPr>
            <a:normAutofit/>
          </a:bodyPr>
          <a:lstStyle/>
          <a:p>
            <a:r>
              <a:rPr lang="en-US" altLang="zh-TW" dirty="0"/>
              <a:t>Calculation squeezing level</a:t>
            </a:r>
            <a:endParaRPr lang="zh-TW" altLang="en-US" dirty="0"/>
          </a:p>
        </p:txBody>
      </p:sp>
      <p:sp>
        <p:nvSpPr>
          <p:cNvPr id="4" name="矩形 3">
            <a:extLst>
              <a:ext uri="{FF2B5EF4-FFF2-40B4-BE49-F238E27FC236}">
                <a16:creationId xmlns:a16="http://schemas.microsoft.com/office/drawing/2014/main" id="{3EA674B3-C3C9-41C5-9CD3-BF1CF3AC118B}"/>
              </a:ext>
            </a:extLst>
          </p:cNvPr>
          <p:cNvSpPr/>
          <p:nvPr/>
        </p:nvSpPr>
        <p:spPr>
          <a:xfrm>
            <a:off x="762000" y="6457890"/>
            <a:ext cx="9815744" cy="400110"/>
          </a:xfrm>
          <a:prstGeom prst="rect">
            <a:avLst/>
          </a:prstGeom>
        </p:spPr>
        <p:txBody>
          <a:bodyPr wrap="square">
            <a:spAutoFit/>
          </a:bodyPr>
          <a:lstStyle/>
          <a:p>
            <a:r>
              <a:rPr lang="en-US" altLang="zh-TW" sz="1000" dirty="0">
                <a:latin typeface="Times New Roman" panose="02020603050405020304" pitchFamily="18" charset="0"/>
                <a:cs typeface="Times New Roman" panose="02020603050405020304" pitchFamily="18" charset="0"/>
              </a:rPr>
              <a:t>Zhang, Mi, "Study of Spatial Structure of Squeezed Vacuum Field“, Dissertations(2016)</a:t>
            </a:r>
          </a:p>
          <a:p>
            <a:r>
              <a:rPr lang="en-US" altLang="zh-TW" sz="1000" dirty="0">
                <a:latin typeface="Times New Roman" panose="02020603050405020304" pitchFamily="18" charset="0"/>
                <a:cs typeface="Times New Roman" panose="02020603050405020304" pitchFamily="18" charset="0"/>
              </a:rPr>
              <a:t>T. </a:t>
            </a:r>
            <a:r>
              <a:rPr lang="en-US" altLang="zh-TW" sz="1000" dirty="0" err="1">
                <a:latin typeface="Times New Roman" panose="02020603050405020304" pitchFamily="18" charset="0"/>
                <a:cs typeface="Times New Roman" panose="02020603050405020304" pitchFamily="18" charset="0"/>
              </a:rPr>
              <a:t>Kashiwazaki</a:t>
            </a:r>
            <a:r>
              <a:rPr lang="en-US" altLang="zh-TW" sz="1000" i="1" dirty="0">
                <a:latin typeface="Times New Roman" panose="02020603050405020304" pitchFamily="18" charset="0"/>
                <a:cs typeface="Times New Roman" panose="02020603050405020304" pitchFamily="18" charset="0"/>
              </a:rPr>
              <a:t> et al.</a:t>
            </a:r>
            <a:r>
              <a:rPr lang="en-US" altLang="zh-TW" sz="1000" dirty="0">
                <a:latin typeface="Times New Roman" panose="02020603050405020304" pitchFamily="18" charset="0"/>
                <a:cs typeface="Times New Roman" panose="02020603050405020304" pitchFamily="18" charset="0"/>
              </a:rPr>
              <a:t>, "Continuous-wave 6-dB-squeezed light with 2.5-THz-bandwidth from single-mode PPLN waveguide," </a:t>
            </a:r>
            <a:r>
              <a:rPr lang="en-US" altLang="zh-TW" sz="1000" i="1" dirty="0">
                <a:latin typeface="Times New Roman" panose="02020603050405020304" pitchFamily="18" charset="0"/>
                <a:cs typeface="Times New Roman" panose="02020603050405020304" pitchFamily="18" charset="0"/>
              </a:rPr>
              <a:t>APL Photonics, </a:t>
            </a:r>
            <a:r>
              <a:rPr lang="en-US" altLang="zh-TW" sz="1000" dirty="0">
                <a:latin typeface="Times New Roman" panose="02020603050405020304" pitchFamily="18" charset="0"/>
                <a:cs typeface="Times New Roman" panose="02020603050405020304" pitchFamily="18" charset="0"/>
              </a:rPr>
              <a:t>vol. 5, no. 3, 2020</a:t>
            </a:r>
            <a:endParaRPr lang="zh-TW" altLang="en-US" sz="1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矩形: 圓角 11">
                <a:extLst>
                  <a:ext uri="{FF2B5EF4-FFF2-40B4-BE49-F238E27FC236}">
                    <a16:creationId xmlns:a16="http://schemas.microsoft.com/office/drawing/2014/main" id="{4BB4DF92-D285-4C38-993A-5E39774E0FFC}"/>
                  </a:ext>
                </a:extLst>
              </p:cNvPr>
              <p:cNvSpPr/>
              <p:nvPr/>
            </p:nvSpPr>
            <p:spPr>
              <a:xfrm>
                <a:off x="6356161" y="1074357"/>
                <a:ext cx="4756530" cy="5181171"/>
              </a:xfrm>
              <a:prstGeom prst="roundRect">
                <a:avLst>
                  <a:gd name="adj" fmla="val 9258"/>
                </a:avLst>
              </a:prstGeom>
              <a:ln w="19050">
                <a:solidFill>
                  <a:schemeClr val="accent1">
                    <a:lumMod val="75000"/>
                  </a:schemeClr>
                </a:solidFill>
                <a:prstDash val="lgDash"/>
              </a:ln>
            </p:spPr>
            <p:txBody>
              <a:bodyPr wrap="square">
                <a:spAutoFit/>
              </a:bodyPr>
              <a:lstStyle/>
              <a:p>
                <a:pPr>
                  <a:lnSpc>
                    <a:spcPts val="2500"/>
                  </a:lnSpc>
                </a:pPr>
                <a14:m>
                  <m:oMathPara xmlns:m="http://schemas.openxmlformats.org/officeDocument/2006/math">
                    <m:oMathParaPr>
                      <m:jc m:val="centerGroup"/>
                    </m:oMathParaPr>
                    <m:oMath xmlns:m="http://schemas.openxmlformats.org/officeDocument/2006/math">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𝑅</m:t>
                          </m:r>
                        </m:e>
                        <m:sub>
                          <m:r>
                            <a:rPr lang="en-US" altLang="zh-TW" sz="2000">
                              <a:solidFill>
                                <a:srgbClr val="483832"/>
                              </a:solidFill>
                              <a:latin typeface="Cambria Math" panose="02040503050406030204" pitchFamily="18" charset="0"/>
                            </a:rPr>
                            <m:t>±</m:t>
                          </m:r>
                        </m:sub>
                      </m:sSub>
                      <m:r>
                        <a:rPr lang="en-US" altLang="zh-TW" sz="2000">
                          <a:solidFill>
                            <a:srgbClr val="483832"/>
                          </a:solidFill>
                          <a:latin typeface="Cambria Math" panose="02040503050406030204" pitchFamily="18" charset="0"/>
                        </a:rPr>
                        <m:t>=1</m:t>
                      </m:r>
                      <m:r>
                        <a:rPr lang="zh-TW" altLang="en-US" sz="2000">
                          <a:solidFill>
                            <a:srgbClr val="483832"/>
                          </a:solidFill>
                          <a:latin typeface="Cambria Math" panose="02040503050406030204" pitchFamily="18" charset="0"/>
                        </a:rPr>
                        <m:t>−</m:t>
                      </m:r>
                      <m:r>
                        <a:rPr lang="en-US" altLang="zh-TW" sz="2000">
                          <a:solidFill>
                            <a:srgbClr val="483832"/>
                          </a:solidFill>
                          <a:latin typeface="Cambria Math" panose="02040503050406030204" pitchFamily="18" charset="0"/>
                        </a:rPr>
                        <m:t>𝜂</m:t>
                      </m:r>
                      <m:r>
                        <a:rPr lang="en-US" altLang="zh-TW" sz="2000">
                          <a:solidFill>
                            <a:srgbClr val="483832"/>
                          </a:solidFill>
                          <a:latin typeface="Cambria Math" panose="02040503050406030204" pitchFamily="18" charset="0"/>
                        </a:rPr>
                        <m:t>+</m:t>
                      </m:r>
                      <m:r>
                        <a:rPr lang="en-US" altLang="zh-TW" sz="2000">
                          <a:solidFill>
                            <a:srgbClr val="483832"/>
                          </a:solidFill>
                          <a:latin typeface="Cambria Math" panose="02040503050406030204" pitchFamily="18" charset="0"/>
                        </a:rPr>
                        <m:t>𝜂</m:t>
                      </m:r>
                      <m:r>
                        <a:rPr lang="en-US" altLang="zh-TW" sz="2000">
                          <a:solidFill>
                            <a:srgbClr val="483832"/>
                          </a:solidFill>
                          <a:latin typeface="Cambria Math" panose="02040503050406030204" pitchFamily="18" charset="0"/>
                        </a:rPr>
                        <m:t>×</m:t>
                      </m:r>
                      <m:r>
                        <a:rPr lang="en-US" altLang="zh-TW" sz="2000">
                          <a:solidFill>
                            <a:srgbClr val="483832"/>
                          </a:solidFill>
                          <a:latin typeface="Cambria Math" panose="02040503050406030204" pitchFamily="18" charset="0"/>
                        </a:rPr>
                        <m:t>𝑒𝑥𝑝</m:t>
                      </m:r>
                      <m:d>
                        <m:dPr>
                          <m:ctrlPr>
                            <a:rPr lang="zh-TW" altLang="zh-TW" sz="2000" i="1">
                              <a:solidFill>
                                <a:srgbClr val="483832"/>
                              </a:solidFill>
                              <a:latin typeface="Cambria Math" panose="02040503050406030204" pitchFamily="18" charset="0"/>
                            </a:rPr>
                          </m:ctrlPr>
                        </m:dPr>
                        <m:e>
                          <m:r>
                            <a:rPr lang="en-US" altLang="zh-TW" sz="2000">
                              <a:solidFill>
                                <a:srgbClr val="483832"/>
                              </a:solidFill>
                              <a:latin typeface="Cambria Math" panose="02040503050406030204" pitchFamily="18" charset="0"/>
                            </a:rPr>
                            <m:t>±2</m:t>
                          </m:r>
                          <m:rad>
                            <m:radPr>
                              <m:degHide m:val="on"/>
                              <m:ctrlPr>
                                <a:rPr lang="zh-TW" altLang="zh-TW" sz="2000" i="1">
                                  <a:solidFill>
                                    <a:srgbClr val="483832"/>
                                  </a:solidFill>
                                  <a:latin typeface="Cambria Math" panose="02040503050406030204" pitchFamily="18" charset="0"/>
                                </a:rPr>
                              </m:ctrlPr>
                            </m:radPr>
                            <m:deg/>
                            <m:e>
                              <m:r>
                                <a:rPr lang="en-US" altLang="zh-TW" sz="2000">
                                  <a:solidFill>
                                    <a:srgbClr val="483832"/>
                                  </a:solidFill>
                                  <a:latin typeface="Cambria Math" panose="02040503050406030204" pitchFamily="18" charset="0"/>
                                </a:rPr>
                                <m:t>𝑎𝑃</m:t>
                              </m:r>
                            </m:e>
                          </m:rad>
                        </m:e>
                      </m:d>
                    </m:oMath>
                  </m:oMathPara>
                </a14:m>
                <a:endParaRPr lang="en-US" altLang="zh-TW" sz="2000" dirty="0">
                  <a:solidFill>
                    <a:srgbClr val="483832"/>
                  </a:solidFill>
                  <a:latin typeface="Times New Roman" panose="02020603050405020304" pitchFamily="18" charset="0"/>
                </a:endParaRPr>
              </a:p>
              <a:p>
                <a:pPr>
                  <a:lnSpc>
                    <a:spcPts val="2500"/>
                  </a:lnSpc>
                </a:pPr>
                <a:endParaRPr lang="en-US" altLang="zh-TW" sz="2000" dirty="0">
                  <a:solidFill>
                    <a:srgbClr val="483832"/>
                  </a:solidFill>
                  <a:latin typeface="Times New Roman" panose="02020603050405020304" pitchFamily="18" charset="0"/>
                </a:endParaRPr>
              </a:p>
              <a:p>
                <a:pPr>
                  <a:lnSpc>
                    <a:spcPts val="2500"/>
                  </a:lnSpc>
                </a:pPr>
                <a14:m>
                  <m:oMathPara xmlns:m="http://schemas.openxmlformats.org/officeDocument/2006/math">
                    <m:oMathParaPr>
                      <m:jc m:val="centerGroup"/>
                    </m:oMathParaPr>
                    <m:oMath xmlns:m="http://schemas.openxmlformats.org/officeDocument/2006/math">
                      <m:r>
                        <a:rPr lang="en-US" altLang="zh-TW" sz="2000" dirty="0">
                          <a:solidFill>
                            <a:srgbClr val="483832"/>
                          </a:solidFill>
                          <a:latin typeface="Cambria Math" panose="02040503050406030204" pitchFamily="18" charset="0"/>
                        </a:rPr>
                        <m:t>=</m:t>
                      </m:r>
                      <m:r>
                        <a:rPr lang="en-US" altLang="zh-TW" sz="2000">
                          <a:solidFill>
                            <a:srgbClr val="483832"/>
                          </a:solidFill>
                          <a:latin typeface="Cambria Math" panose="02040503050406030204" pitchFamily="18" charset="0"/>
                        </a:rPr>
                        <m:t>1−</m:t>
                      </m:r>
                      <m:r>
                        <a:rPr lang="en-US" altLang="zh-TW" sz="2000">
                          <a:solidFill>
                            <a:srgbClr val="483832"/>
                          </a:solidFill>
                          <a:latin typeface="Cambria Math" panose="02040503050406030204" pitchFamily="18" charset="0"/>
                        </a:rPr>
                        <m:t>𝜂</m:t>
                      </m:r>
                      <m:r>
                        <a:rPr lang="en-US" altLang="zh-TW" sz="2000">
                          <a:solidFill>
                            <a:srgbClr val="483832"/>
                          </a:solidFill>
                          <a:latin typeface="Cambria Math" panose="02040503050406030204" pitchFamily="18" charset="0"/>
                        </a:rPr>
                        <m:t>+</m:t>
                      </m:r>
                      <m:r>
                        <a:rPr lang="en-US" altLang="zh-TW" sz="2000">
                          <a:solidFill>
                            <a:srgbClr val="483832"/>
                          </a:solidFill>
                          <a:latin typeface="Cambria Math" panose="02040503050406030204" pitchFamily="18" charset="0"/>
                        </a:rPr>
                        <m:t>𝜂</m:t>
                      </m:r>
                      <m:r>
                        <a:rPr lang="en-US" altLang="zh-TW" sz="2000">
                          <a:solidFill>
                            <a:srgbClr val="483832"/>
                          </a:solidFill>
                          <a:latin typeface="Cambria Math" panose="02040503050406030204" pitchFamily="18" charset="0"/>
                        </a:rPr>
                        <m:t>×</m:t>
                      </m:r>
                      <m:r>
                        <a:rPr lang="en-US" altLang="zh-TW" sz="2000">
                          <a:solidFill>
                            <a:srgbClr val="483832"/>
                          </a:solidFill>
                          <a:latin typeface="Cambria Math" panose="02040503050406030204" pitchFamily="18" charset="0"/>
                        </a:rPr>
                        <m:t>𝑒𝑥𝑝</m:t>
                      </m:r>
                      <m:d>
                        <m:dPr>
                          <m:ctrlPr>
                            <a:rPr lang="zh-TW" altLang="zh-TW" sz="2000" i="1">
                              <a:solidFill>
                                <a:srgbClr val="483832"/>
                              </a:solidFill>
                              <a:latin typeface="Cambria Math" panose="02040503050406030204" pitchFamily="18" charset="0"/>
                            </a:rPr>
                          </m:ctrlPr>
                        </m:dPr>
                        <m:e>
                          <m:r>
                            <a:rPr lang="en-US" altLang="zh-TW" sz="2000">
                              <a:solidFill>
                                <a:srgbClr val="483832"/>
                              </a:solidFill>
                              <a:latin typeface="Cambria Math" panose="02040503050406030204" pitchFamily="18" charset="0"/>
                            </a:rPr>
                            <m:t>±2</m:t>
                          </m:r>
                          <m:r>
                            <a:rPr lang="en-US" altLang="zh-TW" sz="2000">
                              <a:solidFill>
                                <a:srgbClr val="483832"/>
                              </a:solidFill>
                              <a:latin typeface="Cambria Math" panose="02040503050406030204" pitchFamily="18" charset="0"/>
                            </a:rPr>
                            <m:t>𝜇</m:t>
                          </m:r>
                          <m:rad>
                            <m:radPr>
                              <m:degHide m:val="on"/>
                              <m:ctrlPr>
                                <a:rPr lang="zh-TW" altLang="zh-TW" sz="2000" i="1">
                                  <a:solidFill>
                                    <a:srgbClr val="483832"/>
                                  </a:solidFill>
                                  <a:latin typeface="Cambria Math" panose="02040503050406030204" pitchFamily="18" charset="0"/>
                                </a:rPr>
                              </m:ctrlPr>
                            </m:radPr>
                            <m:deg/>
                            <m:e>
                              <m:r>
                                <a:rPr lang="en-US" altLang="zh-TW" sz="2000">
                                  <a:solidFill>
                                    <a:srgbClr val="483832"/>
                                  </a:solidFill>
                                  <a:latin typeface="Cambria Math" panose="02040503050406030204" pitchFamily="18" charset="0"/>
                                </a:rPr>
                                <m:t>𝑃</m:t>
                              </m:r>
                            </m:e>
                          </m:rad>
                        </m:e>
                      </m:d>
                    </m:oMath>
                  </m:oMathPara>
                </a14:m>
                <a:endParaRPr lang="en-US" altLang="zh-TW" sz="2000" dirty="0">
                  <a:solidFill>
                    <a:srgbClr val="483832"/>
                  </a:solidFill>
                  <a:latin typeface="Times New Roman" panose="02020603050405020304" pitchFamily="18" charset="0"/>
                </a:endParaRPr>
              </a:p>
              <a:p>
                <a:pPr>
                  <a:lnSpc>
                    <a:spcPts val="2500"/>
                  </a:lnSpc>
                </a:pPr>
                <a:endParaRPr lang="en-US" altLang="zh-TW" sz="2000" dirty="0">
                  <a:solidFill>
                    <a:srgbClr val="483832"/>
                  </a:solidFill>
                  <a:latin typeface="Times New Roman" panose="02020603050405020304" pitchFamily="18" charset="0"/>
                </a:endParaRPr>
              </a:p>
              <a:p>
                <a:pPr>
                  <a:lnSpc>
                    <a:spcPts val="2500"/>
                  </a:lnSpc>
                </a:pPr>
                <a14:m>
                  <m:oMath xmlns:m="http://schemas.openxmlformats.org/officeDocument/2006/math">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𝑅</m:t>
                        </m:r>
                      </m:e>
                      <m:sub>
                        <m:r>
                          <a:rPr lang="en-US" altLang="zh-TW" sz="2000">
                            <a:solidFill>
                              <a:srgbClr val="483832"/>
                            </a:solidFill>
                            <a:latin typeface="Cambria Math" panose="02040503050406030204" pitchFamily="18" charset="0"/>
                          </a:rPr>
                          <m:t>+</m:t>
                        </m:r>
                      </m:sub>
                    </m:sSub>
                  </m:oMath>
                </a14:m>
                <a:r>
                  <a:rPr lang="en-US" altLang="zh-TW" sz="2000" dirty="0">
                    <a:solidFill>
                      <a:srgbClr val="483832"/>
                    </a:solidFill>
                    <a:latin typeface="Times New Roman" panose="02020603050405020304" pitchFamily="18" charset="0"/>
                  </a:rPr>
                  <a:t> : Anti-squeezing level</a:t>
                </a:r>
              </a:p>
              <a:p>
                <a:pPr>
                  <a:lnSpc>
                    <a:spcPts val="2500"/>
                  </a:lnSpc>
                </a:pPr>
                <a14:m>
                  <m:oMath xmlns:m="http://schemas.openxmlformats.org/officeDocument/2006/math">
                    <m:sSub>
                      <m:sSubPr>
                        <m:ctrlPr>
                          <a:rPr lang="zh-TW" altLang="zh-TW" sz="2000" i="1">
                            <a:solidFill>
                              <a:srgbClr val="483832"/>
                            </a:solidFill>
                            <a:latin typeface="Cambria Math" panose="02040503050406030204" pitchFamily="18" charset="0"/>
                          </a:rPr>
                        </m:ctrlPr>
                      </m:sSubPr>
                      <m:e>
                        <m:r>
                          <a:rPr lang="en-US" altLang="zh-TW" sz="2000">
                            <a:solidFill>
                              <a:srgbClr val="483832"/>
                            </a:solidFill>
                            <a:latin typeface="Cambria Math" panose="02040503050406030204" pitchFamily="18" charset="0"/>
                          </a:rPr>
                          <m:t>𝑅</m:t>
                        </m:r>
                      </m:e>
                      <m:sub>
                        <m:r>
                          <a:rPr lang="en-US" altLang="zh-TW" sz="2000">
                            <a:solidFill>
                              <a:srgbClr val="483832"/>
                            </a:solidFill>
                            <a:latin typeface="Cambria Math" panose="02040503050406030204" pitchFamily="18" charset="0"/>
                          </a:rPr>
                          <m:t>−</m:t>
                        </m:r>
                      </m:sub>
                    </m:sSub>
                  </m:oMath>
                </a14:m>
                <a:r>
                  <a:rPr lang="en-US" altLang="zh-TW" sz="2000" dirty="0">
                    <a:solidFill>
                      <a:srgbClr val="483832"/>
                    </a:solidFill>
                    <a:latin typeface="Times New Roman" panose="02020603050405020304" pitchFamily="18" charset="0"/>
                  </a:rPr>
                  <a:t> : Squeezing level</a:t>
                </a:r>
              </a:p>
              <a:p>
                <a:pPr>
                  <a:lnSpc>
                    <a:spcPts val="2500"/>
                  </a:lnSpc>
                </a:pPr>
                <a14:m>
                  <m:oMath xmlns:m="http://schemas.openxmlformats.org/officeDocument/2006/math">
                    <m:r>
                      <a:rPr lang="en-US" altLang="zh-TW" sz="2000" dirty="0">
                        <a:solidFill>
                          <a:srgbClr val="483832"/>
                        </a:solidFill>
                        <a:latin typeface="Cambria Math" panose="02040503050406030204" pitchFamily="18" charset="0"/>
                      </a:rPr>
                      <m:t>𝑎</m:t>
                    </m:r>
                    <m:r>
                      <a:rPr lang="en-US" altLang="zh-TW" sz="2000" dirty="0">
                        <a:solidFill>
                          <a:srgbClr val="483832"/>
                        </a:solidFill>
                        <a:latin typeface="Cambria Math" panose="02040503050406030204" pitchFamily="18" charset="0"/>
                      </a:rPr>
                      <m:t> </m:t>
                    </m:r>
                  </m:oMath>
                </a14:m>
                <a:r>
                  <a:rPr lang="en-US" altLang="zh-TW" sz="2000" dirty="0">
                    <a:solidFill>
                      <a:srgbClr val="483832"/>
                    </a:solidFill>
                    <a:latin typeface="Times New Roman" panose="02020603050405020304" pitchFamily="18" charset="0"/>
                  </a:rPr>
                  <a:t>: SH conversion efficiency</a:t>
                </a:r>
                <a14:m>
                  <m:oMath xmlns:m="http://schemas.openxmlformats.org/officeDocument/2006/math">
                    <m:d>
                      <m:dPr>
                        <m:ctrlPr>
                          <a:rPr lang="en-US" altLang="zh-TW" sz="2000" i="1" dirty="0">
                            <a:solidFill>
                              <a:srgbClr val="483832"/>
                            </a:solidFill>
                            <a:latin typeface="Cambria Math" panose="02040503050406030204" pitchFamily="18" charset="0"/>
                          </a:rPr>
                        </m:ctrlPr>
                      </m:dPr>
                      <m:e>
                        <m:f>
                          <m:fPr>
                            <m:type m:val="lin"/>
                            <m:ctrlPr>
                              <a:rPr lang="en-US" altLang="zh-TW" sz="2000" i="1" dirty="0">
                                <a:solidFill>
                                  <a:srgbClr val="483832"/>
                                </a:solidFill>
                                <a:latin typeface="Cambria Math" panose="02040503050406030204" pitchFamily="18" charset="0"/>
                              </a:rPr>
                            </m:ctrlPr>
                          </m:fPr>
                          <m:num>
                            <m:r>
                              <a:rPr lang="en-US" altLang="zh-TW" sz="2000" dirty="0">
                                <a:solidFill>
                                  <a:srgbClr val="483832"/>
                                </a:solidFill>
                                <a:latin typeface="Cambria Math" panose="02040503050406030204" pitchFamily="18" charset="0"/>
                              </a:rPr>
                              <m:t>%</m:t>
                            </m:r>
                          </m:num>
                          <m:den>
                            <m:sSup>
                              <m:sSupPr>
                                <m:ctrlPr>
                                  <a:rPr lang="en-US" altLang="zh-TW" sz="2000" i="1" dirty="0">
                                    <a:solidFill>
                                      <a:srgbClr val="483832"/>
                                    </a:solidFill>
                                    <a:latin typeface="Cambria Math" panose="02040503050406030204" pitchFamily="18" charset="0"/>
                                  </a:rPr>
                                </m:ctrlPr>
                              </m:sSupPr>
                              <m:e>
                                <m:r>
                                  <a:rPr lang="en-US" altLang="zh-TW" sz="2000" dirty="0">
                                    <a:solidFill>
                                      <a:srgbClr val="483832"/>
                                    </a:solidFill>
                                    <a:latin typeface="Cambria Math" panose="02040503050406030204" pitchFamily="18" charset="0"/>
                                  </a:rPr>
                                  <m:t>𝑊</m:t>
                                </m:r>
                              </m:e>
                              <m:sup>
                                <m:r>
                                  <a:rPr lang="en-US" altLang="zh-TW" sz="2000" dirty="0">
                                    <a:solidFill>
                                      <a:srgbClr val="483832"/>
                                    </a:solidFill>
                                    <a:latin typeface="Cambria Math" panose="02040503050406030204" pitchFamily="18" charset="0"/>
                                  </a:rPr>
                                  <m:t>−1</m:t>
                                </m:r>
                              </m:sup>
                            </m:sSup>
                          </m:den>
                        </m:f>
                      </m:e>
                    </m:d>
                  </m:oMath>
                </a14:m>
                <a:endParaRPr lang="en-US" altLang="zh-TW" sz="2000" dirty="0">
                  <a:solidFill>
                    <a:srgbClr val="483832"/>
                  </a:solidFill>
                  <a:latin typeface="Times New Roman" panose="02020603050405020304" pitchFamily="18" charset="0"/>
                </a:endParaRPr>
              </a:p>
              <a:p>
                <a:pPr>
                  <a:lnSpc>
                    <a:spcPts val="2500"/>
                  </a:lnSpc>
                </a:pPr>
                <a14:m>
                  <m:oMath xmlns:m="http://schemas.openxmlformats.org/officeDocument/2006/math">
                    <m:r>
                      <a:rPr lang="zh-TW" altLang="en-US" sz="2000">
                        <a:solidFill>
                          <a:srgbClr val="483832"/>
                        </a:solidFill>
                        <a:latin typeface="Cambria Math" panose="02040503050406030204" pitchFamily="18" charset="0"/>
                      </a:rPr>
                      <m:t>𝜇</m:t>
                    </m:r>
                  </m:oMath>
                </a14:m>
                <a:r>
                  <a:rPr lang="en-US" altLang="zh-TW" sz="2000" dirty="0">
                    <a:solidFill>
                      <a:srgbClr val="483832"/>
                    </a:solidFill>
                    <a:latin typeface="Times New Roman" panose="02020603050405020304" pitchFamily="18" charset="0"/>
                  </a:rPr>
                  <a:t> : SH conversion efficiency root</a:t>
                </a:r>
                <a14:m>
                  <m:oMath xmlns:m="http://schemas.openxmlformats.org/officeDocument/2006/math">
                    <m:r>
                      <m:rPr>
                        <m:nor/>
                      </m:rPr>
                      <a:rPr lang="en-US" altLang="zh-TW" sz="2000" smtClean="0">
                        <a:solidFill>
                          <a:srgbClr val="483832"/>
                        </a:solidFill>
                        <a:latin typeface="Times New Roman" panose="02020603050405020304" pitchFamily="18" charset="0"/>
                      </a:rPr>
                      <m:t>(</m:t>
                    </m:r>
                    <m:sSup>
                      <m:sSupPr>
                        <m:ctrlPr>
                          <a:rPr lang="en-US" altLang="zh-TW" sz="2000" i="1" smtClean="0">
                            <a:solidFill>
                              <a:srgbClr val="483832"/>
                            </a:solidFill>
                            <a:latin typeface="Cambria Math" panose="02040503050406030204" pitchFamily="18" charset="0"/>
                          </a:rPr>
                        </m:ctrlPr>
                      </m:sSupPr>
                      <m:e>
                        <m:r>
                          <a:rPr lang="en-US" altLang="zh-TW" sz="2000" smtClean="0">
                            <a:solidFill>
                              <a:srgbClr val="483832"/>
                            </a:solidFill>
                            <a:latin typeface="Cambria Math" panose="02040503050406030204" pitchFamily="18" charset="0"/>
                          </a:rPr>
                          <m:t>𝑚𝑊</m:t>
                        </m:r>
                      </m:e>
                      <m:sup>
                        <m:f>
                          <m:fPr>
                            <m:type m:val="lin"/>
                            <m:ctrlPr>
                              <a:rPr lang="en-US" altLang="zh-TW" sz="2000" i="1" smtClean="0">
                                <a:solidFill>
                                  <a:srgbClr val="483832"/>
                                </a:solidFill>
                                <a:latin typeface="Cambria Math" panose="02040503050406030204" pitchFamily="18" charset="0"/>
                              </a:rPr>
                            </m:ctrlPr>
                          </m:fPr>
                          <m:num>
                            <m:r>
                              <a:rPr lang="en-US" altLang="zh-TW" sz="2000" smtClean="0">
                                <a:solidFill>
                                  <a:srgbClr val="483832"/>
                                </a:solidFill>
                                <a:latin typeface="Cambria Math" panose="02040503050406030204" pitchFamily="18" charset="0"/>
                              </a:rPr>
                              <m:t>−1</m:t>
                            </m:r>
                          </m:num>
                          <m:den>
                            <m:r>
                              <a:rPr lang="en-US" altLang="zh-TW" sz="2000" smtClean="0">
                                <a:solidFill>
                                  <a:srgbClr val="483832"/>
                                </a:solidFill>
                                <a:latin typeface="Cambria Math" panose="02040503050406030204" pitchFamily="18" charset="0"/>
                              </a:rPr>
                              <m:t>2</m:t>
                            </m:r>
                          </m:den>
                        </m:f>
                      </m:sup>
                    </m:sSup>
                    <m:r>
                      <a:rPr lang="en-US" altLang="zh-TW" sz="2000" smtClean="0">
                        <a:solidFill>
                          <a:srgbClr val="483832"/>
                        </a:solidFill>
                        <a:latin typeface="Cambria Math" panose="02040503050406030204" pitchFamily="18" charset="0"/>
                      </a:rPr>
                      <m:t>)</m:t>
                    </m:r>
                  </m:oMath>
                </a14:m>
                <a:endParaRPr lang="en-US" altLang="zh-TW" sz="2000" dirty="0">
                  <a:solidFill>
                    <a:srgbClr val="483832"/>
                  </a:solidFill>
                  <a:latin typeface="Times New Roman" panose="02020603050405020304" pitchFamily="18" charset="0"/>
                </a:endParaRPr>
              </a:p>
              <a:p>
                <a:pPr>
                  <a:lnSpc>
                    <a:spcPts val="2500"/>
                  </a:lnSpc>
                </a:pPr>
                <a14:m>
                  <m:oMath xmlns:m="http://schemas.openxmlformats.org/officeDocument/2006/math">
                    <m:r>
                      <a:rPr lang="zh-TW" altLang="en-US" sz="2000">
                        <a:solidFill>
                          <a:srgbClr val="483832"/>
                        </a:solidFill>
                        <a:latin typeface="Cambria Math" panose="02040503050406030204" pitchFamily="18" charset="0"/>
                      </a:rPr>
                      <m:t>𝜂</m:t>
                    </m:r>
                  </m:oMath>
                </a14:m>
                <a:r>
                  <a:rPr lang="en-US" altLang="zh-TW" sz="2000" dirty="0">
                    <a:solidFill>
                      <a:srgbClr val="483832"/>
                    </a:solidFill>
                    <a:latin typeface="Times New Roman" panose="02020603050405020304" pitchFamily="18" charset="0"/>
                  </a:rPr>
                  <a:t> : Total effective detection efficiency</a:t>
                </a:r>
              </a:p>
              <a:p>
                <a:pPr>
                  <a:lnSpc>
                    <a:spcPts val="2500"/>
                  </a:lnSpc>
                </a:pPr>
                <a:endParaRPr lang="en-US" altLang="zh-TW" sz="2000" dirty="0">
                  <a:solidFill>
                    <a:srgbClr val="483832"/>
                  </a:solidFill>
                  <a:latin typeface="Times New Roman" panose="02020603050405020304" pitchFamily="18" charset="0"/>
                </a:endParaRPr>
              </a:p>
              <a:p>
                <a:pPr>
                  <a:lnSpc>
                    <a:spcPts val="2500"/>
                  </a:lnSpc>
                </a:pPr>
                <a:endParaRPr lang="en-US" altLang="zh-TW" sz="2000" dirty="0">
                  <a:solidFill>
                    <a:srgbClr val="483832"/>
                  </a:solidFill>
                  <a:latin typeface="Times New Roman" panose="02020603050405020304" pitchFamily="18" charset="0"/>
                </a:endParaRPr>
              </a:p>
              <a:p>
                <a:pPr>
                  <a:lnSpc>
                    <a:spcPts val="2500"/>
                  </a:lnSpc>
                </a:pPr>
                <a:r>
                  <a:rPr lang="en-US" altLang="zh-TW" sz="2000" dirty="0">
                    <a:solidFill>
                      <a:srgbClr val="483832"/>
                    </a:solidFill>
                    <a:latin typeface="Times New Roman" panose="02020603050405020304" pitchFamily="18" charset="0"/>
                  </a:rPr>
                  <a:t>r=</a:t>
                </a:r>
                <a14:m>
                  <m:oMath xmlns:m="http://schemas.openxmlformats.org/officeDocument/2006/math">
                    <m:r>
                      <a:rPr lang="zh-TW" altLang="en-US" sz="2000">
                        <a:solidFill>
                          <a:srgbClr val="483832"/>
                        </a:solidFill>
                        <a:latin typeface="Cambria Math" panose="02040503050406030204" pitchFamily="18" charset="0"/>
                      </a:rPr>
                      <m:t>𝜇</m:t>
                    </m:r>
                  </m:oMath>
                </a14:m>
                <a:r>
                  <a:rPr lang="en-US" altLang="zh-TW" sz="2000" dirty="0">
                    <a:solidFill>
                      <a:srgbClr val="483832"/>
                    </a:solidFill>
                    <a:latin typeface="Times New Roman" panose="02020603050405020304" pitchFamily="18" charset="0"/>
                  </a:rPr>
                  <a:t>*</a:t>
                </a:r>
                <a14:m>
                  <m:oMath xmlns:m="http://schemas.openxmlformats.org/officeDocument/2006/math">
                    <m:rad>
                      <m:radPr>
                        <m:degHide m:val="on"/>
                        <m:ctrlPr>
                          <a:rPr lang="en-US" altLang="zh-TW" sz="2000" i="1" dirty="0" smtClean="0">
                            <a:solidFill>
                              <a:srgbClr val="483832"/>
                            </a:solidFill>
                            <a:latin typeface="Cambria Math" panose="02040503050406030204" pitchFamily="18" charset="0"/>
                          </a:rPr>
                        </m:ctrlPr>
                      </m:radPr>
                      <m:deg/>
                      <m:e>
                        <m:r>
                          <a:rPr lang="en-US" altLang="zh-TW" sz="2000" dirty="0" smtClean="0">
                            <a:solidFill>
                              <a:srgbClr val="483832"/>
                            </a:solidFill>
                            <a:latin typeface="Cambria Math" panose="02040503050406030204" pitchFamily="18" charset="0"/>
                          </a:rPr>
                          <m:t>𝑃</m:t>
                        </m:r>
                      </m:e>
                    </m:rad>
                  </m:oMath>
                </a14:m>
                <a:r>
                  <a:rPr lang="en-US" altLang="zh-TW" sz="2000" dirty="0">
                    <a:solidFill>
                      <a:srgbClr val="483832"/>
                    </a:solidFill>
                    <a:latin typeface="Times New Roman" panose="02020603050405020304" pitchFamily="18" charset="0"/>
                  </a:rPr>
                  <a:t>=</a:t>
                </a:r>
                <a14:m>
                  <m:oMath xmlns:m="http://schemas.openxmlformats.org/officeDocument/2006/math">
                    <m:rad>
                      <m:radPr>
                        <m:degHide m:val="on"/>
                        <m:ctrlPr>
                          <a:rPr lang="en-US" altLang="zh-TW" sz="2000" i="1" dirty="0" smtClean="0">
                            <a:solidFill>
                              <a:srgbClr val="483832"/>
                            </a:solidFill>
                            <a:latin typeface="Cambria Math" panose="02040503050406030204" pitchFamily="18" charset="0"/>
                          </a:rPr>
                        </m:ctrlPr>
                      </m:radPr>
                      <m:deg/>
                      <m:e>
                        <m:r>
                          <a:rPr lang="en-US" altLang="zh-TW" sz="2000" dirty="0" smtClean="0">
                            <a:solidFill>
                              <a:srgbClr val="483832"/>
                            </a:solidFill>
                            <a:latin typeface="Cambria Math" panose="02040503050406030204" pitchFamily="18" charset="0"/>
                          </a:rPr>
                          <m:t>𝑎𝑃</m:t>
                        </m:r>
                      </m:e>
                    </m:rad>
                  </m:oMath>
                </a14:m>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 </a:t>
                </a:r>
                <a14:m>
                  <m:oMath xmlns:m="http://schemas.openxmlformats.org/officeDocument/2006/math">
                    <m:r>
                      <a:rPr lang="zh-TW" altLang="en-US" sz="2000">
                        <a:solidFill>
                          <a:srgbClr val="483832"/>
                        </a:solidFill>
                        <a:latin typeface="Cambria Math" panose="02040503050406030204" pitchFamily="18" charset="0"/>
                      </a:rPr>
                      <m:t>𝜇</m:t>
                    </m:r>
                  </m:oMath>
                </a14:m>
                <a:r>
                  <a:rPr lang="el-GR" altLang="zh-TW" sz="2000" dirty="0">
                    <a:solidFill>
                      <a:srgbClr val="483832"/>
                    </a:solidFill>
                    <a:latin typeface="Times New Roman" panose="02020603050405020304" pitchFamily="18" charset="0"/>
                  </a:rPr>
                  <a:t>= </a:t>
                </a:r>
                <a14:m>
                  <m:oMath xmlns:m="http://schemas.openxmlformats.org/officeDocument/2006/math">
                    <m:rad>
                      <m:radPr>
                        <m:degHide m:val="on"/>
                        <m:ctrlPr>
                          <a:rPr lang="en-US" altLang="zh-TW" sz="2000" i="1" dirty="0">
                            <a:solidFill>
                              <a:srgbClr val="483832"/>
                            </a:solidFill>
                            <a:latin typeface="Cambria Math" panose="02040503050406030204" pitchFamily="18" charset="0"/>
                          </a:rPr>
                        </m:ctrlPr>
                      </m:radPr>
                      <m:deg/>
                      <m:e>
                        <m:f>
                          <m:fPr>
                            <m:ctrlPr>
                              <a:rPr lang="en-US" altLang="zh-TW" sz="2000" i="1" dirty="0">
                                <a:solidFill>
                                  <a:srgbClr val="483832"/>
                                </a:solidFill>
                                <a:latin typeface="Cambria Math" panose="02040503050406030204" pitchFamily="18" charset="0"/>
                              </a:rPr>
                            </m:ctrlPr>
                          </m:fPr>
                          <m:num>
                            <m:sSub>
                              <m:sSubPr>
                                <m:ctrlPr>
                                  <a:rPr lang="en-US" altLang="zh-TW" sz="2000" i="1" dirty="0">
                                    <a:solidFill>
                                      <a:srgbClr val="483832"/>
                                    </a:solidFill>
                                    <a:latin typeface="Cambria Math" panose="02040503050406030204" pitchFamily="18" charset="0"/>
                                  </a:rPr>
                                </m:ctrlPr>
                              </m:sSubPr>
                              <m:e>
                                <m:r>
                                  <a:rPr lang="en-US" altLang="zh-TW" sz="2000" dirty="0">
                                    <a:solidFill>
                                      <a:srgbClr val="483832"/>
                                    </a:solidFill>
                                    <a:latin typeface="Cambria Math" panose="02040503050406030204" pitchFamily="18" charset="0"/>
                                  </a:rPr>
                                  <m:t>𝑃</m:t>
                                </m:r>
                              </m:e>
                              <m:sub>
                                <m:r>
                                  <a:rPr lang="en-US" altLang="zh-TW" sz="2000" dirty="0">
                                    <a:solidFill>
                                      <a:srgbClr val="483832"/>
                                    </a:solidFill>
                                    <a:latin typeface="Cambria Math" panose="02040503050406030204" pitchFamily="18" charset="0"/>
                                  </a:rPr>
                                  <m:t>2</m:t>
                                </m:r>
                                <m:r>
                                  <a:rPr lang="zh-TW" altLang="en-US" sz="2000" dirty="0">
                                    <a:solidFill>
                                      <a:srgbClr val="483832"/>
                                    </a:solidFill>
                                    <a:latin typeface="Cambria Math" panose="02040503050406030204" pitchFamily="18" charset="0"/>
                                  </a:rPr>
                                  <m:t>𝜔</m:t>
                                </m:r>
                              </m:sub>
                            </m:sSub>
                          </m:num>
                          <m:den>
                            <m:sSubSup>
                              <m:sSubSupPr>
                                <m:ctrlPr>
                                  <a:rPr lang="en-US" altLang="zh-TW" sz="2000" i="1" dirty="0">
                                    <a:solidFill>
                                      <a:srgbClr val="483832"/>
                                    </a:solidFill>
                                    <a:latin typeface="Cambria Math" panose="02040503050406030204" pitchFamily="18" charset="0"/>
                                  </a:rPr>
                                </m:ctrlPr>
                              </m:sSubSupPr>
                              <m:e>
                                <m:r>
                                  <a:rPr lang="en-US" altLang="zh-TW" sz="2000" dirty="0">
                                    <a:solidFill>
                                      <a:srgbClr val="483832"/>
                                    </a:solidFill>
                                    <a:latin typeface="Cambria Math" panose="02040503050406030204" pitchFamily="18" charset="0"/>
                                  </a:rPr>
                                  <m:t>𝑃</m:t>
                                </m:r>
                              </m:e>
                              <m:sub>
                                <m:r>
                                  <a:rPr lang="zh-TW" altLang="en-US" sz="2000" dirty="0">
                                    <a:solidFill>
                                      <a:srgbClr val="483832"/>
                                    </a:solidFill>
                                    <a:latin typeface="Cambria Math" panose="02040503050406030204" pitchFamily="18" charset="0"/>
                                  </a:rPr>
                                  <m:t>𝜔</m:t>
                                </m:r>
                              </m:sub>
                              <m:sup>
                                <m:r>
                                  <a:rPr lang="en-US" altLang="zh-TW" sz="2000" dirty="0">
                                    <a:solidFill>
                                      <a:srgbClr val="483832"/>
                                    </a:solidFill>
                                    <a:latin typeface="Cambria Math" panose="02040503050406030204" pitchFamily="18" charset="0"/>
                                  </a:rPr>
                                  <m:t>2</m:t>
                                </m:r>
                              </m:sup>
                            </m:sSubSup>
                          </m:den>
                        </m:f>
                      </m:e>
                    </m:rad>
                  </m:oMath>
                </a14:m>
                <a:endParaRPr lang="en-US" altLang="zh-TW" sz="2000" dirty="0">
                  <a:solidFill>
                    <a:srgbClr val="483832"/>
                  </a:solidFill>
                  <a:latin typeface="Times New Roman" panose="02020603050405020304" pitchFamily="18" charset="0"/>
                </a:endParaRPr>
              </a:p>
              <a:p>
                <a:pPr>
                  <a:lnSpc>
                    <a:spcPts val="2500"/>
                  </a:lnSpc>
                </a:pPr>
                <a:endParaRPr lang="en-US" altLang="zh-TW" sz="2000" dirty="0">
                  <a:solidFill>
                    <a:srgbClr val="483832"/>
                  </a:solidFill>
                  <a:latin typeface="Times New Roman" panose="02020603050405020304" pitchFamily="18" charset="0"/>
                </a:endParaRPr>
              </a:p>
              <a:p>
                <a:pPr>
                  <a:lnSpc>
                    <a:spcPts val="2500"/>
                  </a:lnSpc>
                </a:pPr>
                <a14:m>
                  <m:oMath xmlns:m="http://schemas.openxmlformats.org/officeDocument/2006/math">
                    <m:r>
                      <a:rPr lang="en-US" altLang="zh-TW" sz="2000">
                        <a:solidFill>
                          <a:srgbClr val="483832"/>
                        </a:solidFill>
                        <a:latin typeface="Cambria Math" panose="02040503050406030204" pitchFamily="18" charset="0"/>
                      </a:rPr>
                      <m:t>𝑎</m:t>
                    </m:r>
                  </m:oMath>
                </a14:m>
                <a:r>
                  <a:rPr lang="el-GR" altLang="zh-TW" sz="2000" dirty="0">
                    <a:solidFill>
                      <a:srgbClr val="483832"/>
                    </a:solidFill>
                    <a:latin typeface="Times New Roman" panose="02020603050405020304" pitchFamily="18" charset="0"/>
                  </a:rPr>
                  <a:t>= </a:t>
                </a:r>
                <a14:m>
                  <m:oMath xmlns:m="http://schemas.openxmlformats.org/officeDocument/2006/math">
                    <m:f>
                      <m:fPr>
                        <m:ctrlPr>
                          <a:rPr lang="en-US" altLang="zh-TW" sz="2000" i="1" dirty="0">
                            <a:solidFill>
                              <a:srgbClr val="483832"/>
                            </a:solidFill>
                            <a:latin typeface="Cambria Math" panose="02040503050406030204" pitchFamily="18" charset="0"/>
                          </a:rPr>
                        </m:ctrlPr>
                      </m:fPr>
                      <m:num>
                        <m:sSub>
                          <m:sSubPr>
                            <m:ctrlPr>
                              <a:rPr lang="en-US" altLang="zh-TW" sz="2000" i="1" dirty="0">
                                <a:solidFill>
                                  <a:srgbClr val="483832"/>
                                </a:solidFill>
                                <a:latin typeface="Cambria Math" panose="02040503050406030204" pitchFamily="18" charset="0"/>
                              </a:rPr>
                            </m:ctrlPr>
                          </m:sSubPr>
                          <m:e>
                            <m:r>
                              <a:rPr lang="en-US" altLang="zh-TW" sz="2000" dirty="0">
                                <a:solidFill>
                                  <a:srgbClr val="483832"/>
                                </a:solidFill>
                                <a:latin typeface="Cambria Math" panose="02040503050406030204" pitchFamily="18" charset="0"/>
                              </a:rPr>
                              <m:t>𝑃</m:t>
                            </m:r>
                          </m:e>
                          <m:sub>
                            <m:r>
                              <a:rPr lang="en-US" altLang="zh-TW" sz="2000" dirty="0">
                                <a:solidFill>
                                  <a:srgbClr val="483832"/>
                                </a:solidFill>
                                <a:latin typeface="Cambria Math" panose="02040503050406030204" pitchFamily="18" charset="0"/>
                              </a:rPr>
                              <m:t>2</m:t>
                            </m:r>
                            <m:r>
                              <a:rPr lang="zh-TW" altLang="en-US" sz="2000" dirty="0">
                                <a:solidFill>
                                  <a:srgbClr val="483832"/>
                                </a:solidFill>
                                <a:latin typeface="Cambria Math" panose="02040503050406030204" pitchFamily="18" charset="0"/>
                              </a:rPr>
                              <m:t>𝜔</m:t>
                            </m:r>
                          </m:sub>
                        </m:sSub>
                      </m:num>
                      <m:den>
                        <m:sSubSup>
                          <m:sSubSupPr>
                            <m:ctrlPr>
                              <a:rPr lang="en-US" altLang="zh-TW" sz="2000" i="1" dirty="0">
                                <a:solidFill>
                                  <a:srgbClr val="483832"/>
                                </a:solidFill>
                                <a:latin typeface="Cambria Math" panose="02040503050406030204" pitchFamily="18" charset="0"/>
                              </a:rPr>
                            </m:ctrlPr>
                          </m:sSubSupPr>
                          <m:e>
                            <m:r>
                              <a:rPr lang="en-US" altLang="zh-TW" sz="2000" dirty="0">
                                <a:solidFill>
                                  <a:srgbClr val="483832"/>
                                </a:solidFill>
                                <a:latin typeface="Cambria Math" panose="02040503050406030204" pitchFamily="18" charset="0"/>
                              </a:rPr>
                              <m:t>𝑃</m:t>
                            </m:r>
                          </m:e>
                          <m:sub>
                            <m:r>
                              <a:rPr lang="zh-TW" altLang="en-US" sz="2000" dirty="0">
                                <a:solidFill>
                                  <a:srgbClr val="483832"/>
                                </a:solidFill>
                                <a:latin typeface="Cambria Math" panose="02040503050406030204" pitchFamily="18" charset="0"/>
                              </a:rPr>
                              <m:t>𝜔</m:t>
                            </m:r>
                          </m:sub>
                          <m:sup>
                            <m:r>
                              <a:rPr lang="en-US" altLang="zh-TW" sz="2000" dirty="0">
                                <a:solidFill>
                                  <a:srgbClr val="483832"/>
                                </a:solidFill>
                                <a:latin typeface="Cambria Math" panose="02040503050406030204" pitchFamily="18" charset="0"/>
                              </a:rPr>
                              <m:t>2</m:t>
                            </m:r>
                          </m:sup>
                        </m:sSubSup>
                      </m:den>
                    </m:f>
                    <m:r>
                      <a:rPr lang="zh-TW" altLang="en-US" sz="2000" dirty="0">
                        <a:solidFill>
                          <a:srgbClr val="483832"/>
                        </a:solidFill>
                        <a:latin typeface="Cambria Math" panose="02040503050406030204" pitchFamily="18" charset="0"/>
                      </a:rPr>
                      <m:t>∗</m:t>
                    </m:r>
                  </m:oMath>
                </a14:m>
                <a:r>
                  <a:rPr lang="en-US" altLang="zh-TW" sz="2000" dirty="0">
                    <a:solidFill>
                      <a:srgbClr val="483832"/>
                    </a:solidFill>
                    <a:latin typeface="Times New Roman" panose="02020603050405020304" pitchFamily="18" charset="0"/>
                  </a:rPr>
                  <a:t>100</a:t>
                </a:r>
                <a:r>
                  <a:rPr lang="zh-TW" altLang="en-US" sz="2000" dirty="0">
                    <a:solidFill>
                      <a:srgbClr val="483832"/>
                    </a:solidFill>
                    <a:latin typeface="Times New Roman" panose="02020603050405020304" pitchFamily="18" charset="0"/>
                  </a:rPr>
                  <a:t>              </a:t>
                </a:r>
                <a14:m>
                  <m:oMath xmlns:m="http://schemas.openxmlformats.org/officeDocument/2006/math">
                    <m:sSub>
                      <m:sSubPr>
                        <m:ctrlPr>
                          <a:rPr lang="en-US" altLang="zh-TW" sz="2000" i="1" dirty="0">
                            <a:solidFill>
                              <a:srgbClr val="483832"/>
                            </a:solidFill>
                            <a:latin typeface="Cambria Math" panose="02040503050406030204" pitchFamily="18" charset="0"/>
                          </a:rPr>
                        </m:ctrlPr>
                      </m:sSubPr>
                      <m:e>
                        <m:r>
                          <a:rPr lang="en-US" altLang="zh-TW" sz="2000" dirty="0">
                            <a:solidFill>
                              <a:srgbClr val="483832"/>
                            </a:solidFill>
                            <a:latin typeface="Cambria Math" panose="02040503050406030204" pitchFamily="18" charset="0"/>
                          </a:rPr>
                          <m:t>𝑎</m:t>
                        </m:r>
                      </m:e>
                      <m:sub>
                        <m:r>
                          <a:rPr lang="en-US" altLang="zh-TW" sz="2000" dirty="0">
                            <a:solidFill>
                              <a:srgbClr val="483832"/>
                            </a:solidFill>
                            <a:latin typeface="Cambria Math" panose="02040503050406030204" pitchFamily="18" charset="0"/>
                          </a:rPr>
                          <m:t>𝑛𝑜𝑟𝑚</m:t>
                        </m:r>
                      </m:sub>
                    </m:sSub>
                    <m:r>
                      <a:rPr lang="en-US" altLang="zh-TW" sz="2000" dirty="0">
                        <a:solidFill>
                          <a:srgbClr val="483832"/>
                        </a:solidFill>
                        <a:latin typeface="Cambria Math" panose="02040503050406030204" pitchFamily="18" charset="0"/>
                      </a:rPr>
                      <m:t> </m:t>
                    </m:r>
                  </m:oMath>
                </a14:m>
                <a:r>
                  <a:rPr lang="el-GR" altLang="zh-TW" sz="2000" dirty="0">
                    <a:solidFill>
                      <a:srgbClr val="483832"/>
                    </a:solidFill>
                    <a:latin typeface="Times New Roman" panose="02020603050405020304" pitchFamily="18" charset="0"/>
                  </a:rPr>
                  <a:t>= </a:t>
                </a:r>
                <a14:m>
                  <m:oMath xmlns:m="http://schemas.openxmlformats.org/officeDocument/2006/math">
                    <m:f>
                      <m:fPr>
                        <m:ctrlPr>
                          <a:rPr lang="en-US" altLang="zh-TW" sz="2000" i="1" dirty="0">
                            <a:solidFill>
                              <a:srgbClr val="483832"/>
                            </a:solidFill>
                            <a:latin typeface="Cambria Math" panose="02040503050406030204" pitchFamily="18" charset="0"/>
                          </a:rPr>
                        </m:ctrlPr>
                      </m:fPr>
                      <m:num>
                        <m:sSub>
                          <m:sSubPr>
                            <m:ctrlPr>
                              <a:rPr lang="en-US" altLang="zh-TW" sz="2000" i="1" dirty="0">
                                <a:solidFill>
                                  <a:srgbClr val="483832"/>
                                </a:solidFill>
                                <a:latin typeface="Cambria Math" panose="02040503050406030204" pitchFamily="18" charset="0"/>
                              </a:rPr>
                            </m:ctrlPr>
                          </m:sSubPr>
                          <m:e>
                            <m:r>
                              <a:rPr lang="en-US" altLang="zh-TW" sz="2000" dirty="0">
                                <a:solidFill>
                                  <a:srgbClr val="483832"/>
                                </a:solidFill>
                                <a:latin typeface="Cambria Math" panose="02040503050406030204" pitchFamily="18" charset="0"/>
                              </a:rPr>
                              <m:t>𝑃</m:t>
                            </m:r>
                          </m:e>
                          <m:sub>
                            <m:r>
                              <a:rPr lang="en-US" altLang="zh-TW" sz="2000" dirty="0">
                                <a:solidFill>
                                  <a:srgbClr val="483832"/>
                                </a:solidFill>
                                <a:latin typeface="Cambria Math" panose="02040503050406030204" pitchFamily="18" charset="0"/>
                              </a:rPr>
                              <m:t>2</m:t>
                            </m:r>
                            <m:r>
                              <a:rPr lang="zh-TW" altLang="en-US" sz="2000" dirty="0">
                                <a:solidFill>
                                  <a:srgbClr val="483832"/>
                                </a:solidFill>
                                <a:latin typeface="Cambria Math" panose="02040503050406030204" pitchFamily="18" charset="0"/>
                              </a:rPr>
                              <m:t>𝜔</m:t>
                            </m:r>
                          </m:sub>
                        </m:sSub>
                      </m:num>
                      <m:den>
                        <m:sSubSup>
                          <m:sSubSupPr>
                            <m:ctrlPr>
                              <a:rPr lang="en-US" altLang="zh-TW" sz="2000" i="1" dirty="0">
                                <a:solidFill>
                                  <a:srgbClr val="483832"/>
                                </a:solidFill>
                                <a:latin typeface="Cambria Math" panose="02040503050406030204" pitchFamily="18" charset="0"/>
                              </a:rPr>
                            </m:ctrlPr>
                          </m:sSubSupPr>
                          <m:e>
                            <m:r>
                              <a:rPr lang="en-US" altLang="zh-TW" sz="2000" dirty="0">
                                <a:solidFill>
                                  <a:srgbClr val="483832"/>
                                </a:solidFill>
                                <a:latin typeface="Cambria Math" panose="02040503050406030204" pitchFamily="18" charset="0"/>
                              </a:rPr>
                              <m:t>𝑃</m:t>
                            </m:r>
                          </m:e>
                          <m:sub>
                            <m:r>
                              <a:rPr lang="zh-TW" altLang="en-US" sz="2000" dirty="0">
                                <a:solidFill>
                                  <a:srgbClr val="483832"/>
                                </a:solidFill>
                                <a:latin typeface="Cambria Math" panose="02040503050406030204" pitchFamily="18" charset="0"/>
                              </a:rPr>
                              <m:t>𝜔</m:t>
                            </m:r>
                          </m:sub>
                          <m:sup>
                            <m:r>
                              <a:rPr lang="en-US" altLang="zh-TW" sz="2000" dirty="0">
                                <a:solidFill>
                                  <a:srgbClr val="483832"/>
                                </a:solidFill>
                                <a:latin typeface="Cambria Math" panose="02040503050406030204" pitchFamily="18" charset="0"/>
                              </a:rPr>
                              <m:t>2</m:t>
                            </m:r>
                          </m:sup>
                        </m:sSubSup>
                        <m:sSup>
                          <m:sSupPr>
                            <m:ctrlPr>
                              <a:rPr lang="en-US" altLang="zh-TW" sz="2000" i="1" dirty="0">
                                <a:solidFill>
                                  <a:srgbClr val="483832"/>
                                </a:solidFill>
                                <a:latin typeface="Cambria Math" panose="02040503050406030204" pitchFamily="18" charset="0"/>
                              </a:rPr>
                            </m:ctrlPr>
                          </m:sSupPr>
                          <m:e>
                            <m:r>
                              <a:rPr lang="en-US" altLang="zh-TW" sz="2000" dirty="0">
                                <a:solidFill>
                                  <a:srgbClr val="483832"/>
                                </a:solidFill>
                                <a:latin typeface="Cambria Math" panose="02040503050406030204" pitchFamily="18" charset="0"/>
                              </a:rPr>
                              <m:t>𝐿</m:t>
                            </m:r>
                          </m:e>
                          <m:sup>
                            <m:r>
                              <a:rPr lang="en-US" altLang="zh-TW" sz="2000" dirty="0">
                                <a:solidFill>
                                  <a:srgbClr val="483832"/>
                                </a:solidFill>
                                <a:latin typeface="Cambria Math" panose="02040503050406030204" pitchFamily="18" charset="0"/>
                              </a:rPr>
                              <m:t>2</m:t>
                            </m:r>
                          </m:sup>
                        </m:sSup>
                      </m:den>
                    </m:f>
                    <m:r>
                      <a:rPr lang="zh-TW" altLang="en-US" sz="2000" dirty="0">
                        <a:solidFill>
                          <a:srgbClr val="483832"/>
                        </a:solidFill>
                        <a:latin typeface="Cambria Math" panose="02040503050406030204" pitchFamily="18" charset="0"/>
                      </a:rPr>
                      <m:t>∗</m:t>
                    </m:r>
                  </m:oMath>
                </a14:m>
                <a:r>
                  <a:rPr lang="en-US" altLang="zh-TW" sz="2000" dirty="0">
                    <a:solidFill>
                      <a:srgbClr val="483832"/>
                    </a:solidFill>
                    <a:latin typeface="Times New Roman" panose="02020603050405020304" pitchFamily="18" charset="0"/>
                  </a:rPr>
                  <a:t>100</a:t>
                </a:r>
              </a:p>
            </p:txBody>
          </p:sp>
        </mc:Choice>
        <mc:Fallback xmlns="">
          <p:sp>
            <p:nvSpPr>
              <p:cNvPr id="12" name="矩形: 圓角 11">
                <a:extLst>
                  <a:ext uri="{FF2B5EF4-FFF2-40B4-BE49-F238E27FC236}">
                    <a16:creationId xmlns:a16="http://schemas.microsoft.com/office/drawing/2014/main" id="{4BB4DF92-D285-4C38-993A-5E39774E0FFC}"/>
                  </a:ext>
                </a:extLst>
              </p:cNvPr>
              <p:cNvSpPr>
                <a:spLocks noRot="1" noChangeAspect="1" noMove="1" noResize="1" noEditPoints="1" noAdjustHandles="1" noChangeArrowheads="1" noChangeShapeType="1" noTextEdit="1"/>
              </p:cNvSpPr>
              <p:nvPr/>
            </p:nvSpPr>
            <p:spPr>
              <a:xfrm>
                <a:off x="6356161" y="1074357"/>
                <a:ext cx="4756530" cy="5181171"/>
              </a:xfrm>
              <a:prstGeom prst="roundRect">
                <a:avLst>
                  <a:gd name="adj" fmla="val 9258"/>
                </a:avLst>
              </a:prstGeom>
              <a:blipFill>
                <a:blip r:embed="rId2"/>
                <a:stretch>
                  <a:fillRect/>
                </a:stretch>
              </a:blipFill>
              <a:ln w="19050">
                <a:solidFill>
                  <a:schemeClr val="accent1">
                    <a:lumMod val="75000"/>
                  </a:schemeClr>
                </a:solidFill>
                <a:prstDash val="lgDash"/>
              </a:ln>
            </p:spPr>
            <p:txBody>
              <a:bodyPr/>
              <a:lstStyle/>
              <a:p>
                <a:r>
                  <a:rPr lang="zh-TW" altLang="en-US">
                    <a:noFill/>
                  </a:rPr>
                  <a:t> </a:t>
                </a:r>
              </a:p>
            </p:txBody>
          </p:sp>
        </mc:Fallback>
      </mc:AlternateContent>
      <p:grpSp>
        <p:nvGrpSpPr>
          <p:cNvPr id="18" name="群組 17">
            <a:extLst>
              <a:ext uri="{FF2B5EF4-FFF2-40B4-BE49-F238E27FC236}">
                <a16:creationId xmlns:a16="http://schemas.microsoft.com/office/drawing/2014/main" id="{A5CBDD0D-09AA-4430-8E09-A12F8F4C485E}"/>
              </a:ext>
            </a:extLst>
          </p:cNvPr>
          <p:cNvGrpSpPr/>
          <p:nvPr/>
        </p:nvGrpSpPr>
        <p:grpSpPr>
          <a:xfrm>
            <a:off x="1104967" y="1470937"/>
            <a:ext cx="4752974" cy="4388010"/>
            <a:chOff x="981142" y="1311665"/>
            <a:chExt cx="4752974" cy="4388010"/>
          </a:xfrm>
        </p:grpSpPr>
        <p:pic>
          <p:nvPicPr>
            <p:cNvPr id="10" name="圖片 9">
              <a:extLst>
                <a:ext uri="{FF2B5EF4-FFF2-40B4-BE49-F238E27FC236}">
                  <a16:creationId xmlns:a16="http://schemas.microsoft.com/office/drawing/2014/main" id="{30C5F7DE-8259-43E0-9F97-6921A1AC0C28}"/>
                </a:ext>
              </a:extLst>
            </p:cNvPr>
            <p:cNvPicPr>
              <a:picLocks noChangeAspect="1"/>
            </p:cNvPicPr>
            <p:nvPr/>
          </p:nvPicPr>
          <p:blipFill rotWithShape="1">
            <a:blip r:embed="rId3"/>
            <a:srcRect l="67165" t="836" r="4397" b="68374"/>
            <a:stretch/>
          </p:blipFill>
          <p:spPr>
            <a:xfrm>
              <a:off x="2536444" y="1311665"/>
              <a:ext cx="1642370" cy="816745"/>
            </a:xfrm>
            <a:prstGeom prst="rect">
              <a:avLst/>
            </a:prstGeom>
          </p:spPr>
        </p:pic>
        <p:sp>
          <p:nvSpPr>
            <p:cNvPr id="11" name="文字方塊 10">
              <a:extLst>
                <a:ext uri="{FF2B5EF4-FFF2-40B4-BE49-F238E27FC236}">
                  <a16:creationId xmlns:a16="http://schemas.microsoft.com/office/drawing/2014/main" id="{9DBFE5FA-75DA-4441-92AB-03208FFC4274}"/>
                </a:ext>
              </a:extLst>
            </p:cNvPr>
            <p:cNvSpPr txBox="1"/>
            <p:nvPr/>
          </p:nvSpPr>
          <p:spPr>
            <a:xfrm>
              <a:off x="1896043" y="5330343"/>
              <a:ext cx="2858475" cy="369332"/>
            </a:xfrm>
            <a:prstGeom prst="rect">
              <a:avLst/>
            </a:prstGeom>
            <a:noFill/>
          </p:spPr>
          <p:txBody>
            <a:bodyPr wrap="none" rtlCol="0">
              <a:spAutoFit/>
            </a:bodyPr>
            <a:lstStyle/>
            <a:p>
              <a:r>
                <a:rPr lang="en-US" altLang="zh-TW" dirty="0">
                  <a:solidFill>
                    <a:srgbClr val="483832"/>
                  </a:solidFill>
                  <a:latin typeface="Times New Roman" panose="02020603050405020304" pitchFamily="18" charset="0"/>
                  <a:cs typeface="Times New Roman" panose="02020603050405020304" pitchFamily="18" charset="0"/>
                </a:rPr>
                <a:t>Use shot noise as a reference</a:t>
              </a:r>
              <a:endParaRPr lang="zh-TW" altLang="en-US" dirty="0">
                <a:solidFill>
                  <a:srgbClr val="483832"/>
                </a:solidFill>
                <a:latin typeface="Times New Roman" panose="02020603050405020304" pitchFamily="18" charset="0"/>
                <a:cs typeface="Times New Roman" panose="02020603050405020304" pitchFamily="18" charset="0"/>
              </a:endParaRPr>
            </a:p>
          </p:txBody>
        </p:sp>
        <p:grpSp>
          <p:nvGrpSpPr>
            <p:cNvPr id="17" name="群組 16">
              <a:extLst>
                <a:ext uri="{FF2B5EF4-FFF2-40B4-BE49-F238E27FC236}">
                  <a16:creationId xmlns:a16="http://schemas.microsoft.com/office/drawing/2014/main" id="{36352AB9-B37D-4A3D-97F2-2A6B0B8BB0EB}"/>
                </a:ext>
              </a:extLst>
            </p:cNvPr>
            <p:cNvGrpSpPr/>
            <p:nvPr/>
          </p:nvGrpSpPr>
          <p:grpSpPr>
            <a:xfrm>
              <a:off x="981142" y="2138186"/>
              <a:ext cx="4752974" cy="3172606"/>
              <a:chOff x="981142" y="2138186"/>
              <a:chExt cx="4752974" cy="3172606"/>
            </a:xfrm>
          </p:grpSpPr>
          <p:pic>
            <p:nvPicPr>
              <p:cNvPr id="9" name="圖片 8">
                <a:extLst>
                  <a:ext uri="{FF2B5EF4-FFF2-40B4-BE49-F238E27FC236}">
                    <a16:creationId xmlns:a16="http://schemas.microsoft.com/office/drawing/2014/main" id="{200A74D0-6AA4-4FC5-8BA5-8A791E4CF76C}"/>
                  </a:ext>
                </a:extLst>
              </p:cNvPr>
              <p:cNvPicPr>
                <a:picLocks noChangeAspect="1"/>
              </p:cNvPicPr>
              <p:nvPr/>
            </p:nvPicPr>
            <p:blipFill rotWithShape="1">
              <a:blip r:embed="rId3"/>
              <a:srcRect r="31190"/>
              <a:stretch/>
            </p:blipFill>
            <p:spPr>
              <a:xfrm>
                <a:off x="981142" y="2138186"/>
                <a:ext cx="4752974" cy="3172606"/>
              </a:xfrm>
              <a:prstGeom prst="rect">
                <a:avLst/>
              </a:prstGeom>
            </p:spPr>
          </p:pic>
          <p:sp>
            <p:nvSpPr>
              <p:cNvPr id="16" name="矩形 15">
                <a:extLst>
                  <a:ext uri="{FF2B5EF4-FFF2-40B4-BE49-F238E27FC236}">
                    <a16:creationId xmlns:a16="http://schemas.microsoft.com/office/drawing/2014/main" id="{15F336C8-93C0-4E50-8548-AA00850FFA94}"/>
                  </a:ext>
                </a:extLst>
              </p:cNvPr>
              <p:cNvSpPr/>
              <p:nvPr/>
            </p:nvSpPr>
            <p:spPr>
              <a:xfrm>
                <a:off x="5611751" y="2240280"/>
                <a:ext cx="122365" cy="876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Tree>
    <p:extLst>
      <p:ext uri="{BB962C8B-B14F-4D97-AF65-F5344CB8AC3E}">
        <p14:creationId xmlns:p14="http://schemas.microsoft.com/office/powerpoint/2010/main" val="3793231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53DDD4E-3AA2-4400-8BB0-39D77D6A5282}"/>
              </a:ext>
            </a:extLst>
          </p:cNvPr>
          <p:cNvSpPr>
            <a:spLocks noGrp="1"/>
          </p:cNvSpPr>
          <p:nvPr>
            <p:ph type="sldNum" sz="quarter" idx="12"/>
          </p:nvPr>
        </p:nvSpPr>
        <p:spPr/>
        <p:txBody>
          <a:bodyPr/>
          <a:lstStyle/>
          <a:p>
            <a:fld id="{0E2FB9F8-B016-4C35-8BC6-7C987AB431D6}" type="slidenum">
              <a:rPr lang="zh-TW" altLang="en-US" smtClean="0"/>
              <a:t>45</a:t>
            </a:fld>
            <a:endParaRPr lang="zh-TW" altLang="en-US" dirty="0"/>
          </a:p>
        </p:txBody>
      </p:sp>
      <p:sp>
        <p:nvSpPr>
          <p:cNvPr id="4" name="文字版面配置區 3">
            <a:extLst>
              <a:ext uri="{FF2B5EF4-FFF2-40B4-BE49-F238E27FC236}">
                <a16:creationId xmlns:a16="http://schemas.microsoft.com/office/drawing/2014/main" id="{0885FD80-5D44-4549-9569-8973486D096D}"/>
              </a:ext>
            </a:extLst>
          </p:cNvPr>
          <p:cNvSpPr>
            <a:spLocks noGrp="1"/>
          </p:cNvSpPr>
          <p:nvPr>
            <p:ph type="body" sz="half" idx="13"/>
          </p:nvPr>
        </p:nvSpPr>
        <p:spPr>
          <a:xfrm>
            <a:off x="2962276" y="16590"/>
            <a:ext cx="6267450" cy="660417"/>
          </a:xfrm>
        </p:spPr>
        <p:txBody>
          <a:bodyPr>
            <a:normAutofit/>
          </a:bodyPr>
          <a:lstStyle/>
          <a:p>
            <a:r>
              <a:rPr lang="en-US" altLang="zh-TW" dirty="0"/>
              <a:t>Calculation squeezing level</a:t>
            </a:r>
            <a:endParaRPr lang="zh-TW" altLang="en-US" dirty="0"/>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F2E7650B-8158-465C-8185-E4F3A49B5FFD}"/>
                  </a:ext>
                </a:extLst>
              </p:cNvPr>
              <p:cNvGraphicFramePr>
                <a:graphicFrameLocks noGrp="1"/>
              </p:cNvGraphicFramePr>
              <p:nvPr>
                <p:extLst>
                  <p:ext uri="{D42A27DB-BD31-4B8C-83A1-F6EECF244321}">
                    <p14:modId xmlns:p14="http://schemas.microsoft.com/office/powerpoint/2010/main" val="3754008697"/>
                  </p:ext>
                </p:extLst>
              </p:nvPr>
            </p:nvGraphicFramePr>
            <p:xfrm>
              <a:off x="1117904" y="973254"/>
              <a:ext cx="10499422" cy="3608254"/>
            </p:xfrm>
            <a:graphic>
              <a:graphicData uri="http://schemas.openxmlformats.org/drawingml/2006/table">
                <a:tbl>
                  <a:tblPr firstRow="1" bandRow="1">
                    <a:tableStyleId>{9D7B26C5-4107-4FEC-AEDC-1716B250A1EF}</a:tableStyleId>
                  </a:tblPr>
                  <a:tblGrid>
                    <a:gridCol w="1991056">
                      <a:extLst>
                        <a:ext uri="{9D8B030D-6E8A-4147-A177-3AD203B41FA5}">
                          <a16:colId xmlns:a16="http://schemas.microsoft.com/office/drawing/2014/main" val="2694499517"/>
                        </a:ext>
                      </a:extLst>
                    </a:gridCol>
                    <a:gridCol w="1418061">
                      <a:extLst>
                        <a:ext uri="{9D8B030D-6E8A-4147-A177-3AD203B41FA5}">
                          <a16:colId xmlns:a16="http://schemas.microsoft.com/office/drawing/2014/main" val="2084595212"/>
                        </a:ext>
                      </a:extLst>
                    </a:gridCol>
                    <a:gridCol w="1418061">
                      <a:extLst>
                        <a:ext uri="{9D8B030D-6E8A-4147-A177-3AD203B41FA5}">
                          <a16:colId xmlns:a16="http://schemas.microsoft.com/office/drawing/2014/main" val="1576706074"/>
                        </a:ext>
                      </a:extLst>
                    </a:gridCol>
                    <a:gridCol w="1418061">
                      <a:extLst>
                        <a:ext uri="{9D8B030D-6E8A-4147-A177-3AD203B41FA5}">
                          <a16:colId xmlns:a16="http://schemas.microsoft.com/office/drawing/2014/main" val="2632187136"/>
                        </a:ext>
                      </a:extLst>
                    </a:gridCol>
                    <a:gridCol w="1418061">
                      <a:extLst>
                        <a:ext uri="{9D8B030D-6E8A-4147-A177-3AD203B41FA5}">
                          <a16:colId xmlns:a16="http://schemas.microsoft.com/office/drawing/2014/main" val="4223532321"/>
                        </a:ext>
                      </a:extLst>
                    </a:gridCol>
                    <a:gridCol w="1418061">
                      <a:extLst>
                        <a:ext uri="{9D8B030D-6E8A-4147-A177-3AD203B41FA5}">
                          <a16:colId xmlns:a16="http://schemas.microsoft.com/office/drawing/2014/main" val="1804700865"/>
                        </a:ext>
                      </a:extLst>
                    </a:gridCol>
                    <a:gridCol w="1418061">
                      <a:extLst>
                        <a:ext uri="{9D8B030D-6E8A-4147-A177-3AD203B41FA5}">
                          <a16:colId xmlns:a16="http://schemas.microsoft.com/office/drawing/2014/main" val="1397282032"/>
                        </a:ext>
                      </a:extLst>
                    </a:gridCol>
                  </a:tblGrid>
                  <a:tr h="533894">
                    <a:tc>
                      <a:txBody>
                        <a:bodyPr/>
                        <a:lstStyle/>
                        <a:p>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2020[11]</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2020[53]</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2019[1]</a:t>
                          </a:r>
                        </a:p>
                        <a:p>
                          <a:pPr algn="ctr"/>
                          <a:r>
                            <a:rPr lang="en-US" altLang="zh-TW" sz="1400" dirty="0">
                              <a:latin typeface="Times New Roman" panose="02020603050405020304" pitchFamily="18" charset="0"/>
                              <a:cs typeface="Times New Roman" panose="02020603050405020304" pitchFamily="18" charset="0"/>
                            </a:rPr>
                            <a:t>(PPLN+DC)</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2018[4]</a:t>
                          </a:r>
                        </a:p>
                        <a:p>
                          <a:pPr algn="ctr"/>
                          <a:r>
                            <a:rPr lang="en-US" altLang="zh-TW" sz="1400" dirty="0">
                              <a:latin typeface="Times New Roman" panose="02020603050405020304" pitchFamily="18" charset="0"/>
                              <a:cs typeface="Times New Roman" panose="02020603050405020304" pitchFamily="18" charset="0"/>
                            </a:rPr>
                            <a:t>(PPLN+3*DC)</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2016[12]</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Our estimate</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96039604"/>
                      </a:ext>
                    </a:extLst>
                  </a:tr>
                  <a:tr h="384295">
                    <a:tc>
                      <a:txBody>
                        <a:bodyPr/>
                        <a:lstStyle/>
                        <a:p>
                          <a:r>
                            <a:rPr lang="en-US" altLang="zh-TW" sz="1400" dirty="0">
                              <a:latin typeface="Times New Roman" panose="02020603050405020304" pitchFamily="18" charset="0"/>
                              <a:cs typeface="Times New Roman" panose="02020603050405020304" pitchFamily="18" charset="0"/>
                            </a:rPr>
                            <a:t>Squeezing Level(dB)</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-6.3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-1.38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-1.83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solidFill>
                                <a:srgbClr val="FF0000"/>
                              </a:solidFill>
                              <a:latin typeface="Times New Roman" panose="02020603050405020304" pitchFamily="18" charset="0"/>
                              <a:cs typeface="Times New Roman" panose="02020603050405020304" pitchFamily="18" charset="0"/>
                            </a:rPr>
                            <a:t>-0.67</a:t>
                          </a:r>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8266409"/>
                      </a:ext>
                    </a:extLst>
                  </a:tr>
                  <a:tr h="384295">
                    <a:tc>
                      <a:txBody>
                        <a:bodyPr/>
                        <a:lstStyle/>
                        <a:p>
                          <a:r>
                            <a:rPr lang="en-US" altLang="zh-TW" sz="1400" dirty="0">
                              <a:latin typeface="Times New Roman" panose="02020603050405020304" pitchFamily="18" charset="0"/>
                              <a:cs typeface="Times New Roman" panose="02020603050405020304" pitchFamily="18" charset="0"/>
                            </a:rPr>
                            <a:t>Waveguide type</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a</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b</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a:effectLst/>
                              <a:latin typeface="Times New Roman" panose="02020603050405020304" pitchFamily="18" charset="0"/>
                              <a:ea typeface="PMingLiU" panose="02020500000000000000" pitchFamily="18" charset="-120"/>
                              <a:cs typeface="Times New Roman" panose="02020603050405020304" pitchFamily="18" charset="0"/>
                            </a:rPr>
                            <a:t>SPE</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a:effectLst/>
                              <a:latin typeface="Times New Roman" panose="02020603050405020304" pitchFamily="18" charset="0"/>
                              <a:ea typeface="PMingLiU" panose="02020500000000000000" pitchFamily="18" charset="-120"/>
                              <a:cs typeface="Times New Roman" panose="02020603050405020304" pitchFamily="18" charset="0"/>
                            </a:rPr>
                            <a:t>RPE</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c</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Ti</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835600951"/>
                      </a:ext>
                    </a:extLst>
                  </a:tr>
                  <a:tr h="384295">
                    <a:tc>
                      <a:txBody>
                        <a:bodyPr/>
                        <a:lstStyle/>
                        <a:p>
                          <a:r>
                            <a:rPr lang="en-US" altLang="zh-TW" sz="1400" dirty="0">
                              <a:latin typeface="Times New Roman" panose="02020603050405020304" pitchFamily="18" charset="0"/>
                              <a:cs typeface="Times New Roman" panose="02020603050405020304" pitchFamily="18" charset="0"/>
                            </a:rPr>
                            <a:t>QPM</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ea typeface="楷体" panose="02010609060101010101" pitchFamily="49" charset="-122"/>
                              <a:cs typeface="Times New Roman" panose="02020603050405020304" pitchFamily="18" charset="0"/>
                            </a:rPr>
                            <a:t>length</a:t>
                          </a:r>
                          <a:r>
                            <a:rPr lang="en-US" altLang="zh-TW" sz="1400" dirty="0">
                              <a:latin typeface="Times New Roman" panose="02020603050405020304" pitchFamily="18" charset="0"/>
                              <a:cs typeface="Times New Roman" panose="02020603050405020304" pitchFamily="18" charset="0"/>
                            </a:rPr>
                            <a:t>(mm)</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483832"/>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30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4787891"/>
                      </a:ext>
                    </a:extLst>
                  </a:tr>
                  <a:tr h="384295">
                    <a:tc>
                      <a:txBody>
                        <a:bodyPr/>
                        <a:lstStyle/>
                        <a:p>
                          <a14:m>
                            <m:oMath xmlns:m="http://schemas.openxmlformats.org/officeDocument/2006/math">
                              <m:r>
                                <a:rPr lang="en-US" altLang="zh-TW" sz="1400" dirty="0" smtClean="0">
                                  <a:latin typeface="Cambria Math" panose="02040503050406030204" pitchFamily="18" charset="0"/>
                                </a:rPr>
                                <m:t>𝑎</m:t>
                              </m:r>
                            </m:oMath>
                          </a14:m>
                          <a:r>
                            <a:rPr lang="en-US" altLang="zh-TW" sz="1400" baseline="-25000" dirty="0">
                              <a:latin typeface="Times New Roman" panose="02020603050405020304" pitchFamily="18" charset="0"/>
                              <a:cs typeface="Times New Roman" panose="02020603050405020304" pitchFamily="18" charset="0"/>
                            </a:rPr>
                            <a:t>norm</a:t>
                          </a:r>
                          <a:r>
                            <a:rPr lang="en-US" altLang="zh-TW" sz="1400" dirty="0">
                              <a:latin typeface="Times New Roman" panose="02020603050405020304" pitchFamily="18" charset="0"/>
                              <a:cs typeface="Times New Roman" panose="02020603050405020304" pitchFamily="18" charset="0"/>
                            </a:rPr>
                            <a:t>(%/W/cm</a:t>
                          </a:r>
                          <a:r>
                            <a:rPr lang="en-US" altLang="zh-TW" sz="1400" baseline="30000" dirty="0">
                              <a:latin typeface="Times New Roman" panose="02020603050405020304" pitchFamily="18" charset="0"/>
                              <a:cs typeface="Times New Roman" panose="02020603050405020304" pitchFamily="18" charset="0"/>
                            </a:rPr>
                            <a:t>2</a:t>
                          </a:r>
                          <a:r>
                            <a:rPr lang="en-US" altLang="zh-TW" sz="1400" baseline="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57.28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endParaRPr lang="zh-TW"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92.5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125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15.8</a:t>
                          </a: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600626543"/>
                      </a:ext>
                    </a:extLst>
                  </a:tr>
                  <a:tr h="384295">
                    <a:tc>
                      <a:txBody>
                        <a:bodyPr/>
                        <a:lstStyle/>
                        <a:p>
                          <a14:m>
                            <m:oMath xmlns:m="http://schemas.openxmlformats.org/officeDocument/2006/math">
                              <m:r>
                                <a:rPr lang="zh-TW" altLang="en-US" sz="1400" smtClean="0">
                                  <a:latin typeface="Cambria Math" panose="02040503050406030204" pitchFamily="18" charset="0"/>
                                </a:rPr>
                                <m:t>𝜇</m:t>
                              </m:r>
                              <m:r>
                                <a:rPr lang="en-US" altLang="zh-TW" sz="1400" smtClean="0">
                                  <a:latin typeface="Cambria Math" panose="02040503050406030204" pitchFamily="18" charset="0"/>
                                </a:rPr>
                                <m:t>(</m:t>
                              </m:r>
                              <m:sSup>
                                <m:sSupPr>
                                  <m:ctrlPr>
                                    <a:rPr lang="en-US" altLang="zh-TW" sz="1400" i="1" smtClean="0">
                                      <a:latin typeface="Cambria Math" panose="02040503050406030204" pitchFamily="18" charset="0"/>
                                    </a:rPr>
                                  </m:ctrlPr>
                                </m:sSupPr>
                                <m:e>
                                  <m:r>
                                    <m:rPr>
                                      <m:sty m:val="p"/>
                                    </m:rPr>
                                    <a:rPr lang="en-US" altLang="zh-TW" sz="1400" smtClean="0">
                                      <a:latin typeface="Cambria Math" panose="02040503050406030204" pitchFamily="18" charset="0"/>
                                    </a:rPr>
                                    <m:t>mW</m:t>
                                  </m:r>
                                </m:e>
                                <m:sup>
                                  <m:f>
                                    <m:fPr>
                                      <m:type m:val="lin"/>
                                      <m:ctrlPr>
                                        <a:rPr lang="en-US" altLang="zh-TW" sz="1400" i="1" smtClean="0">
                                          <a:latin typeface="Cambria Math" panose="02040503050406030204" pitchFamily="18" charset="0"/>
                                        </a:rPr>
                                      </m:ctrlPr>
                                    </m:fPr>
                                    <m:num>
                                      <m:r>
                                        <a:rPr lang="en-US" altLang="zh-TW" sz="1400" smtClean="0">
                                          <a:latin typeface="Cambria Math" panose="02040503050406030204" pitchFamily="18" charset="0"/>
                                        </a:rPr>
                                        <m:t>−1</m:t>
                                      </m:r>
                                    </m:num>
                                    <m:den>
                                      <m:r>
                                        <a:rPr lang="en-US" altLang="zh-TW" sz="1400" smtClean="0">
                                          <a:latin typeface="Cambria Math" panose="02040503050406030204" pitchFamily="18" charset="0"/>
                                        </a:rPr>
                                        <m:t>2</m:t>
                                      </m:r>
                                    </m:den>
                                  </m:f>
                                </m:sup>
                              </m:sSup>
                            </m:oMath>
                          </a14:m>
                          <a:r>
                            <a:rPr lang="en-US" altLang="zh-TW" sz="140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algn="ctr" defTabSz="914400" rtl="0" eaLnBrk="1" latinLnBrk="0" hangingPunct="1"/>
                          <a:endParaRPr lang="zh-TW"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0.061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0.141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0.019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079966"/>
                      </a:ext>
                    </a:extLst>
                  </a:tr>
                  <a:tr h="384295">
                    <a:tc>
                      <a:txBody>
                        <a:bodyPr/>
                        <a:lstStyle/>
                        <a:p>
                          <a14:m>
                            <m:oMath xmlns:m="http://schemas.openxmlformats.org/officeDocument/2006/math">
                              <m:r>
                                <a:rPr lang="zh-TW" altLang="en-US" sz="1400" smtClean="0">
                                  <a:solidFill>
                                    <a:srgbClr val="FF0000"/>
                                  </a:solidFill>
                                  <a:latin typeface="Cambria Math" panose="02040503050406030204" pitchFamily="18" charset="0"/>
                                </a:rPr>
                                <m:t>𝜇</m:t>
                              </m:r>
                            </m:oMath>
                          </a14:m>
                          <a:r>
                            <a:rPr lang="zh-TW" altLang="en-US" sz="1400" dirty="0">
                              <a:solidFill>
                                <a:srgbClr val="FF0000"/>
                              </a:solidFill>
                              <a:latin typeface="Times New Roman" panose="02020603050405020304" pitchFamily="18" charset="0"/>
                              <a:cs typeface="Times New Roman" panose="02020603050405020304" pitchFamily="18" charset="0"/>
                            </a:rPr>
                            <a:t> </a:t>
                          </a:r>
                          <a:r>
                            <a:rPr lang="en-US" altLang="zh-TW" sz="1400" dirty="0">
                              <a:solidFill>
                                <a:srgbClr val="FF0000"/>
                              </a:solidFill>
                              <a:latin typeface="Times New Roman" panose="02020603050405020304" pitchFamily="18" charset="0"/>
                              <a:cs typeface="Times New Roman" panose="02020603050405020304" pitchFamily="18" charset="0"/>
                            </a:rPr>
                            <a:t>fitting(</a:t>
                          </a:r>
                          <a14:m>
                            <m:oMath xmlns:m="http://schemas.openxmlformats.org/officeDocument/2006/math">
                              <m:sSup>
                                <m:sSupPr>
                                  <m:ctrlPr>
                                    <a:rPr lang="en-US" altLang="zh-TW" sz="1400" i="1" smtClean="0">
                                      <a:solidFill>
                                        <a:srgbClr val="FF0000"/>
                                      </a:solidFill>
                                      <a:latin typeface="Cambria Math" panose="02040503050406030204" pitchFamily="18" charset="0"/>
                                    </a:rPr>
                                  </m:ctrlPr>
                                </m:sSupPr>
                                <m:e>
                                  <m:r>
                                    <m:rPr>
                                      <m:sty m:val="p"/>
                                    </m:rPr>
                                    <a:rPr lang="en-US" altLang="zh-TW" sz="1400" smtClean="0">
                                      <a:solidFill>
                                        <a:srgbClr val="FF0000"/>
                                      </a:solidFill>
                                      <a:latin typeface="Cambria Math" panose="02040503050406030204" pitchFamily="18" charset="0"/>
                                    </a:rPr>
                                    <m:t>mW</m:t>
                                  </m:r>
                                </m:e>
                                <m:sup>
                                  <m:f>
                                    <m:fPr>
                                      <m:type m:val="lin"/>
                                      <m:ctrlPr>
                                        <a:rPr lang="en-US" altLang="zh-TW" sz="1400" i="1" smtClean="0">
                                          <a:solidFill>
                                            <a:srgbClr val="FF0000"/>
                                          </a:solidFill>
                                          <a:latin typeface="Cambria Math" panose="02040503050406030204" pitchFamily="18" charset="0"/>
                                        </a:rPr>
                                      </m:ctrlPr>
                                    </m:fPr>
                                    <m:num>
                                      <m:r>
                                        <a:rPr lang="en-US" altLang="zh-TW" sz="1400" smtClean="0">
                                          <a:solidFill>
                                            <a:srgbClr val="FF0000"/>
                                          </a:solidFill>
                                          <a:latin typeface="Cambria Math" panose="02040503050406030204" pitchFamily="18" charset="0"/>
                                        </a:rPr>
                                        <m:t>−1</m:t>
                                      </m:r>
                                    </m:num>
                                    <m:den>
                                      <m:r>
                                        <a:rPr lang="en-US" altLang="zh-TW" sz="1400" smtClean="0">
                                          <a:solidFill>
                                            <a:srgbClr val="FF0000"/>
                                          </a:solidFill>
                                          <a:latin typeface="Cambria Math" panose="02040503050406030204" pitchFamily="18" charset="0"/>
                                        </a:rPr>
                                        <m:t>2</m:t>
                                      </m:r>
                                    </m:den>
                                  </m:f>
                                </m:sup>
                              </m:sSup>
                            </m:oMath>
                          </a14:m>
                          <a:r>
                            <a:rPr lang="en-US" altLang="zh-TW" sz="1400" dirty="0">
                              <a:solidFill>
                                <a:srgbClr val="FF0000"/>
                              </a:solidFill>
                              <a:latin typeface="Times New Roman" panose="02020603050405020304" pitchFamily="18" charset="0"/>
                              <a:cs typeface="Times New Roman" panose="02020603050405020304" pitchFamily="18" charset="0"/>
                            </a:rPr>
                            <a:t>)</a:t>
                          </a:r>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48527448"/>
                      </a:ext>
                    </a:extLst>
                  </a:tr>
                  <a:tr h="384295">
                    <a:tc>
                      <a:txBody>
                        <a:bodyPr/>
                        <a:lstStyle/>
                        <a:p>
                          <a14:m>
                            <m:oMath xmlns:m="http://schemas.openxmlformats.org/officeDocument/2006/math">
                              <m:r>
                                <a:rPr lang="zh-TW" altLang="en-US" sz="1400" smtClean="0">
                                  <a:latin typeface="Cambria Math" panose="02040503050406030204" pitchFamily="18" charset="0"/>
                                </a:rPr>
                                <m:t>𝜂</m:t>
                              </m:r>
                            </m:oMath>
                          </a14:m>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estimate</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0.62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0.71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0.67</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19020172"/>
                      </a:ext>
                    </a:extLst>
                  </a:tr>
                  <a:tr h="384295">
                    <a:tc>
                      <a:txBody>
                        <a:bodyPr/>
                        <a:lstStyle/>
                        <a:p>
                          <a14:m>
                            <m:oMath xmlns:m="http://schemas.openxmlformats.org/officeDocument/2006/math">
                              <m:r>
                                <a:rPr lang="zh-TW" altLang="en-US" sz="1400" smtClean="0">
                                  <a:solidFill>
                                    <a:srgbClr val="FF0000"/>
                                  </a:solidFill>
                                  <a:latin typeface="Cambria Math" panose="02040503050406030204" pitchFamily="18" charset="0"/>
                                </a:rPr>
                                <m:t>𝜂</m:t>
                              </m:r>
                            </m:oMath>
                          </a14:m>
                          <a:r>
                            <a:rPr lang="en-US" altLang="zh-TW" sz="1400" dirty="0">
                              <a:solidFill>
                                <a:srgbClr val="FF0000"/>
                              </a:solidFill>
                              <a:latin typeface="Times New Roman" panose="02020603050405020304" pitchFamily="18" charset="0"/>
                              <a:cs typeface="Times New Roman" panose="02020603050405020304" pitchFamily="18" charset="0"/>
                            </a:rPr>
                            <a:t> fitting</a:t>
                          </a:r>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0.79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0.52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0.54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6073523"/>
                      </a:ext>
                    </a:extLst>
                  </a:tr>
                </a:tbl>
              </a:graphicData>
            </a:graphic>
          </p:graphicFrame>
        </mc:Choice>
        <mc:Fallback xmlns="">
          <p:graphicFrame>
            <p:nvGraphicFramePr>
              <p:cNvPr id="6" name="表格 5">
                <a:extLst>
                  <a:ext uri="{FF2B5EF4-FFF2-40B4-BE49-F238E27FC236}">
                    <a16:creationId xmlns:a16="http://schemas.microsoft.com/office/drawing/2014/main" id="{F2E7650B-8158-465C-8185-E4F3A49B5FFD}"/>
                  </a:ext>
                </a:extLst>
              </p:cNvPr>
              <p:cNvGraphicFramePr>
                <a:graphicFrameLocks noGrp="1"/>
              </p:cNvGraphicFramePr>
              <p:nvPr>
                <p:extLst>
                  <p:ext uri="{D42A27DB-BD31-4B8C-83A1-F6EECF244321}">
                    <p14:modId xmlns:p14="http://schemas.microsoft.com/office/powerpoint/2010/main" val="3754008697"/>
                  </p:ext>
                </p:extLst>
              </p:nvPr>
            </p:nvGraphicFramePr>
            <p:xfrm>
              <a:off x="1117904" y="973254"/>
              <a:ext cx="10499422" cy="3608254"/>
            </p:xfrm>
            <a:graphic>
              <a:graphicData uri="http://schemas.openxmlformats.org/drawingml/2006/table">
                <a:tbl>
                  <a:tblPr firstRow="1" bandRow="1">
                    <a:tableStyleId>{9D7B26C5-4107-4FEC-AEDC-1716B250A1EF}</a:tableStyleId>
                  </a:tblPr>
                  <a:tblGrid>
                    <a:gridCol w="1991056">
                      <a:extLst>
                        <a:ext uri="{9D8B030D-6E8A-4147-A177-3AD203B41FA5}">
                          <a16:colId xmlns:a16="http://schemas.microsoft.com/office/drawing/2014/main" val="2694499517"/>
                        </a:ext>
                      </a:extLst>
                    </a:gridCol>
                    <a:gridCol w="1418061">
                      <a:extLst>
                        <a:ext uri="{9D8B030D-6E8A-4147-A177-3AD203B41FA5}">
                          <a16:colId xmlns:a16="http://schemas.microsoft.com/office/drawing/2014/main" val="2084595212"/>
                        </a:ext>
                      </a:extLst>
                    </a:gridCol>
                    <a:gridCol w="1418061">
                      <a:extLst>
                        <a:ext uri="{9D8B030D-6E8A-4147-A177-3AD203B41FA5}">
                          <a16:colId xmlns:a16="http://schemas.microsoft.com/office/drawing/2014/main" val="1576706074"/>
                        </a:ext>
                      </a:extLst>
                    </a:gridCol>
                    <a:gridCol w="1418061">
                      <a:extLst>
                        <a:ext uri="{9D8B030D-6E8A-4147-A177-3AD203B41FA5}">
                          <a16:colId xmlns:a16="http://schemas.microsoft.com/office/drawing/2014/main" val="2632187136"/>
                        </a:ext>
                      </a:extLst>
                    </a:gridCol>
                    <a:gridCol w="1418061">
                      <a:extLst>
                        <a:ext uri="{9D8B030D-6E8A-4147-A177-3AD203B41FA5}">
                          <a16:colId xmlns:a16="http://schemas.microsoft.com/office/drawing/2014/main" val="4223532321"/>
                        </a:ext>
                      </a:extLst>
                    </a:gridCol>
                    <a:gridCol w="1418061">
                      <a:extLst>
                        <a:ext uri="{9D8B030D-6E8A-4147-A177-3AD203B41FA5}">
                          <a16:colId xmlns:a16="http://schemas.microsoft.com/office/drawing/2014/main" val="1804700865"/>
                        </a:ext>
                      </a:extLst>
                    </a:gridCol>
                    <a:gridCol w="1418061">
                      <a:extLst>
                        <a:ext uri="{9D8B030D-6E8A-4147-A177-3AD203B41FA5}">
                          <a16:colId xmlns:a16="http://schemas.microsoft.com/office/drawing/2014/main" val="1397282032"/>
                        </a:ext>
                      </a:extLst>
                    </a:gridCol>
                  </a:tblGrid>
                  <a:tr h="533894">
                    <a:tc>
                      <a:txBody>
                        <a:bodyPr/>
                        <a:lstStyle/>
                        <a:p>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2020[11]</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2020[53]</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2019[1]</a:t>
                          </a:r>
                        </a:p>
                        <a:p>
                          <a:pPr algn="ctr"/>
                          <a:r>
                            <a:rPr lang="en-US" altLang="zh-TW" sz="1400" dirty="0">
                              <a:latin typeface="Times New Roman" panose="02020603050405020304" pitchFamily="18" charset="0"/>
                              <a:cs typeface="Times New Roman" panose="02020603050405020304" pitchFamily="18" charset="0"/>
                            </a:rPr>
                            <a:t>(PPLN+DC)</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2018[4]</a:t>
                          </a:r>
                        </a:p>
                        <a:p>
                          <a:pPr algn="ctr"/>
                          <a:r>
                            <a:rPr lang="en-US" altLang="zh-TW" sz="1400" dirty="0">
                              <a:latin typeface="Times New Roman" panose="02020603050405020304" pitchFamily="18" charset="0"/>
                              <a:cs typeface="Times New Roman" panose="02020603050405020304" pitchFamily="18" charset="0"/>
                            </a:rPr>
                            <a:t>(PPLN+3*DC)</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2016[12]</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Our estimate</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96039604"/>
                      </a:ext>
                    </a:extLst>
                  </a:tr>
                  <a:tr h="384295">
                    <a:tc>
                      <a:txBody>
                        <a:bodyPr/>
                        <a:lstStyle/>
                        <a:p>
                          <a:r>
                            <a:rPr lang="en-US" altLang="zh-TW" sz="1400" dirty="0">
                              <a:latin typeface="Times New Roman" panose="02020603050405020304" pitchFamily="18" charset="0"/>
                              <a:cs typeface="Times New Roman" panose="02020603050405020304" pitchFamily="18" charset="0"/>
                            </a:rPr>
                            <a:t>Squeezing Level(dB)</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-6.3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-1.38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-1.83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solidFill>
                                <a:srgbClr val="FF0000"/>
                              </a:solidFill>
                              <a:latin typeface="Times New Roman" panose="02020603050405020304" pitchFamily="18" charset="0"/>
                              <a:cs typeface="Times New Roman" panose="02020603050405020304" pitchFamily="18" charset="0"/>
                            </a:rPr>
                            <a:t>-0.67</a:t>
                          </a:r>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8266409"/>
                      </a:ext>
                    </a:extLst>
                  </a:tr>
                  <a:tr h="384295">
                    <a:tc>
                      <a:txBody>
                        <a:bodyPr/>
                        <a:lstStyle/>
                        <a:p>
                          <a:r>
                            <a:rPr lang="en-US" altLang="zh-TW" sz="1400" dirty="0">
                              <a:latin typeface="Times New Roman" panose="02020603050405020304" pitchFamily="18" charset="0"/>
                              <a:cs typeface="Times New Roman" panose="02020603050405020304" pitchFamily="18" charset="0"/>
                            </a:rPr>
                            <a:t>Waveguide type</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a</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b</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a:effectLst/>
                              <a:latin typeface="Times New Roman" panose="02020603050405020304" pitchFamily="18" charset="0"/>
                              <a:ea typeface="PMingLiU" panose="02020500000000000000" pitchFamily="18" charset="-120"/>
                              <a:cs typeface="Times New Roman" panose="02020603050405020304" pitchFamily="18" charset="0"/>
                            </a:rPr>
                            <a:t>SPE</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a:effectLst/>
                              <a:latin typeface="Times New Roman" panose="02020603050405020304" pitchFamily="18" charset="0"/>
                              <a:ea typeface="PMingLiU" panose="02020500000000000000" pitchFamily="18" charset="-120"/>
                              <a:cs typeface="Times New Roman" panose="02020603050405020304" pitchFamily="18" charset="0"/>
                            </a:rPr>
                            <a:t>RPE</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c</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Ti</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835600951"/>
                      </a:ext>
                    </a:extLst>
                  </a:tr>
                  <a:tr h="384295">
                    <a:tc>
                      <a:txBody>
                        <a:bodyPr/>
                        <a:lstStyle/>
                        <a:p>
                          <a:r>
                            <a:rPr lang="en-US" altLang="zh-TW" sz="1400" dirty="0">
                              <a:latin typeface="Times New Roman" panose="02020603050405020304" pitchFamily="18" charset="0"/>
                              <a:cs typeface="Times New Roman" panose="02020603050405020304" pitchFamily="18" charset="0"/>
                            </a:rPr>
                            <a:t>QPM</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ea typeface="楷体" panose="02010609060101010101" pitchFamily="49" charset="-122"/>
                              <a:cs typeface="Times New Roman" panose="02020603050405020304" pitchFamily="18" charset="0"/>
                            </a:rPr>
                            <a:t>length</a:t>
                          </a:r>
                          <a:r>
                            <a:rPr lang="en-US" altLang="zh-TW" sz="1400" dirty="0">
                              <a:latin typeface="Times New Roman" panose="02020603050405020304" pitchFamily="18" charset="0"/>
                              <a:cs typeface="Times New Roman" panose="02020603050405020304" pitchFamily="18" charset="0"/>
                            </a:rPr>
                            <a:t>(mm)</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483832"/>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30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4787891"/>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3"/>
                          <a:stretch>
                            <a:fillRect l="-306" t="-441270" r="-427523" b="-407937"/>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57.28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endParaRPr lang="zh-TW"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92.5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125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15.8</a:t>
                          </a: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600626543"/>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blipFill>
                          <a:blip r:embed="rId3"/>
                          <a:stretch>
                            <a:fillRect l="-306" t="-532813" r="-427523" b="-301563"/>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0.108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algn="ctr" defTabSz="914400" rtl="0" eaLnBrk="1" latinLnBrk="0" hangingPunct="1"/>
                          <a:endParaRPr lang="zh-TW"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0.061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0.141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0.019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079966"/>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blipFill>
                          <a:blip r:embed="rId3"/>
                          <a:stretch>
                            <a:fillRect l="-306" t="-642857" r="-427523" b="-206349"/>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0.11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48527448"/>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blipFill>
                          <a:blip r:embed="rId3"/>
                          <a:stretch>
                            <a:fillRect l="-306" t="-742857" r="-427523" b="-10634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0.62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0.71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0.67</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19020172"/>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blipFill>
                          <a:blip r:embed="rId3"/>
                          <a:stretch>
                            <a:fillRect l="-306" t="-842857" r="-427523" b="-6349"/>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0.79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0.52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0.54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6073523"/>
                      </a:ext>
                    </a:extLst>
                  </a:tr>
                </a:tbl>
              </a:graphicData>
            </a:graphic>
          </p:graphicFrame>
        </mc:Fallback>
      </mc:AlternateContent>
      <p:grpSp>
        <p:nvGrpSpPr>
          <p:cNvPr id="10" name="群組 9">
            <a:extLst>
              <a:ext uri="{FF2B5EF4-FFF2-40B4-BE49-F238E27FC236}">
                <a16:creationId xmlns:a16="http://schemas.microsoft.com/office/drawing/2014/main" id="{935BE28A-9286-4AA7-826A-253465A2E030}"/>
              </a:ext>
            </a:extLst>
          </p:cNvPr>
          <p:cNvGrpSpPr/>
          <p:nvPr/>
        </p:nvGrpSpPr>
        <p:grpSpPr>
          <a:xfrm>
            <a:off x="1695409" y="4740559"/>
            <a:ext cx="9344412" cy="1010020"/>
            <a:chOff x="1423794" y="4505138"/>
            <a:chExt cx="9344412" cy="1010020"/>
          </a:xfrm>
        </p:grpSpPr>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8E80E4E4-C039-45E6-84C0-A8167585AA28}"/>
                    </a:ext>
                  </a:extLst>
                </p:cNvPr>
                <p:cNvSpPr/>
                <p:nvPr/>
              </p:nvSpPr>
              <p:spPr>
                <a:xfrm>
                  <a:off x="7841379" y="4505138"/>
                  <a:ext cx="2926827" cy="1010020"/>
                </a:xfrm>
                <a:prstGeom prst="rect">
                  <a:avLst/>
                </a:prstGeom>
              </p:spPr>
              <p:txBody>
                <a:bodyPr wrap="none" anchor="ctr" anchorCtr="1">
                  <a:spAutoFit/>
                </a:bodyPr>
                <a:lstStyle/>
                <a:p>
                  <a:pPr>
                    <a:lnSpc>
                      <a:spcPts val="2500"/>
                    </a:lnSpc>
                  </a:pPr>
                  <a14:m>
                    <m:oMath xmlns:m="http://schemas.openxmlformats.org/officeDocument/2006/math">
                      <m:r>
                        <a:rPr lang="en-US" altLang="zh-TW" sz="1200" i="1" dirty="0">
                          <a:solidFill>
                            <a:srgbClr val="483832"/>
                          </a:solidFill>
                          <a:latin typeface="Cambria Math" panose="02040503050406030204" pitchFamily="18" charset="0"/>
                        </a:rPr>
                        <m:t>𝑎</m:t>
                      </m:r>
                      <m:r>
                        <a:rPr lang="en-US" altLang="zh-TW" sz="1200" i="1" dirty="0">
                          <a:solidFill>
                            <a:srgbClr val="483832"/>
                          </a:solidFill>
                          <a:latin typeface="Cambria Math" panose="02040503050406030204" pitchFamily="18" charset="0"/>
                        </a:rPr>
                        <m:t> </m:t>
                      </m:r>
                    </m:oMath>
                  </a14:m>
                  <a:r>
                    <a:rPr lang="en-US" altLang="zh-TW" sz="1200" dirty="0">
                      <a:solidFill>
                        <a:srgbClr val="483832"/>
                      </a:solidFill>
                      <a:latin typeface="Times New Roman" panose="02020603050405020304" pitchFamily="18" charset="0"/>
                      <a:cs typeface="Times New Roman" panose="02020603050405020304" pitchFamily="18" charset="0"/>
                    </a:rPr>
                    <a:t>: SH conversion efficiency</a:t>
                  </a:r>
                  <a14:m>
                    <m:oMath xmlns:m="http://schemas.openxmlformats.org/officeDocument/2006/math">
                      <m:d>
                        <m:dPr>
                          <m:ctrlPr>
                            <a:rPr lang="en-US" altLang="zh-TW" sz="1200" i="1" dirty="0">
                              <a:solidFill>
                                <a:srgbClr val="483832"/>
                              </a:solidFill>
                              <a:latin typeface="Cambria Math" panose="02040503050406030204" pitchFamily="18" charset="0"/>
                            </a:rPr>
                          </m:ctrlPr>
                        </m:dPr>
                        <m:e>
                          <m:f>
                            <m:fPr>
                              <m:type m:val="lin"/>
                              <m:ctrlPr>
                                <a:rPr lang="en-US" altLang="zh-TW" sz="1200" i="1" dirty="0">
                                  <a:solidFill>
                                    <a:srgbClr val="483832"/>
                                  </a:solidFill>
                                  <a:latin typeface="Cambria Math" panose="02040503050406030204" pitchFamily="18" charset="0"/>
                                </a:rPr>
                              </m:ctrlPr>
                            </m:fPr>
                            <m:num>
                              <m:r>
                                <a:rPr lang="en-US" altLang="zh-TW" sz="1200" i="1" dirty="0">
                                  <a:solidFill>
                                    <a:srgbClr val="483832"/>
                                  </a:solidFill>
                                  <a:latin typeface="Cambria Math" panose="02040503050406030204" pitchFamily="18" charset="0"/>
                                </a:rPr>
                                <m:t>%</m:t>
                              </m:r>
                            </m:num>
                            <m:den>
                              <m:sSup>
                                <m:sSupPr>
                                  <m:ctrlPr>
                                    <a:rPr lang="en-US" altLang="zh-TW" sz="1200" i="1" dirty="0">
                                      <a:solidFill>
                                        <a:srgbClr val="483832"/>
                                      </a:solidFill>
                                      <a:latin typeface="Cambria Math" panose="02040503050406030204" pitchFamily="18" charset="0"/>
                                    </a:rPr>
                                  </m:ctrlPr>
                                </m:sSupPr>
                                <m:e>
                                  <m:r>
                                    <a:rPr lang="en-US" altLang="zh-TW" sz="1200" i="1" dirty="0">
                                      <a:solidFill>
                                        <a:srgbClr val="483832"/>
                                      </a:solidFill>
                                      <a:latin typeface="Cambria Math" panose="02040503050406030204" pitchFamily="18" charset="0"/>
                                    </a:rPr>
                                    <m:t>𝑊</m:t>
                                  </m:r>
                                </m:e>
                                <m:sup>
                                  <m:r>
                                    <a:rPr lang="en-US" altLang="zh-TW" sz="1200" i="1" dirty="0">
                                      <a:solidFill>
                                        <a:srgbClr val="483832"/>
                                      </a:solidFill>
                                      <a:latin typeface="Cambria Math" panose="02040503050406030204" pitchFamily="18" charset="0"/>
                                    </a:rPr>
                                    <m:t>−1</m:t>
                                  </m:r>
                                </m:sup>
                              </m:sSup>
                            </m:den>
                          </m:f>
                        </m:e>
                      </m:d>
                    </m:oMath>
                  </a14:m>
                  <a:endParaRPr lang="en-US" altLang="zh-TW" sz="1200" dirty="0">
                    <a:solidFill>
                      <a:srgbClr val="483832"/>
                    </a:solidFill>
                    <a:latin typeface="Times New Roman" panose="02020603050405020304" pitchFamily="18" charset="0"/>
                    <a:cs typeface="Times New Roman" panose="02020603050405020304" pitchFamily="18" charset="0"/>
                  </a:endParaRPr>
                </a:p>
                <a:p>
                  <a:pPr>
                    <a:lnSpc>
                      <a:spcPts val="2500"/>
                    </a:lnSpc>
                  </a:pPr>
                  <a14:m>
                    <m:oMath xmlns:m="http://schemas.openxmlformats.org/officeDocument/2006/math">
                      <m:r>
                        <a:rPr lang="zh-TW" altLang="en-US" sz="1200" i="1">
                          <a:solidFill>
                            <a:srgbClr val="483832"/>
                          </a:solidFill>
                          <a:latin typeface="Cambria Math" panose="02040503050406030204" pitchFamily="18" charset="0"/>
                        </a:rPr>
                        <m:t>𝜇</m:t>
                      </m:r>
                    </m:oMath>
                  </a14:m>
                  <a:r>
                    <a:rPr lang="en-US" altLang="zh-TW" sz="1200" dirty="0">
                      <a:solidFill>
                        <a:srgbClr val="483832"/>
                      </a:solidFill>
                      <a:latin typeface="Times New Roman" panose="02020603050405020304" pitchFamily="18" charset="0"/>
                      <a:cs typeface="Times New Roman" panose="02020603050405020304" pitchFamily="18" charset="0"/>
                    </a:rPr>
                    <a:t> : SH conversion efficiency root</a:t>
                  </a:r>
                  <a14:m>
                    <m:oMath xmlns:m="http://schemas.openxmlformats.org/officeDocument/2006/math">
                      <m:r>
                        <m:rPr>
                          <m:nor/>
                        </m:rPr>
                        <a:rPr lang="en-US" altLang="zh-TW" sz="1200">
                          <a:solidFill>
                            <a:srgbClr val="483832"/>
                          </a:solidFill>
                          <a:latin typeface="Times New Roman" panose="02020603050405020304" pitchFamily="18" charset="0"/>
                          <a:cs typeface="Times New Roman" panose="02020603050405020304" pitchFamily="18" charset="0"/>
                        </a:rPr>
                        <m:t>(</m:t>
                      </m:r>
                      <m:sSup>
                        <m:sSupPr>
                          <m:ctrlPr>
                            <a:rPr lang="en-US" altLang="zh-TW" sz="1200" i="1">
                              <a:solidFill>
                                <a:srgbClr val="483832"/>
                              </a:solidFill>
                              <a:latin typeface="Cambria Math" panose="02040503050406030204" pitchFamily="18" charset="0"/>
                            </a:rPr>
                          </m:ctrlPr>
                        </m:sSupPr>
                        <m:e>
                          <m:r>
                            <a:rPr lang="en-US" altLang="zh-TW" sz="1200" i="1">
                              <a:solidFill>
                                <a:srgbClr val="483832"/>
                              </a:solidFill>
                              <a:latin typeface="Cambria Math" panose="02040503050406030204" pitchFamily="18" charset="0"/>
                            </a:rPr>
                            <m:t>𝑚𝑊</m:t>
                          </m:r>
                        </m:e>
                        <m:sup>
                          <m:f>
                            <m:fPr>
                              <m:type m:val="lin"/>
                              <m:ctrlPr>
                                <a:rPr lang="en-US" altLang="zh-TW" sz="1200" i="1">
                                  <a:solidFill>
                                    <a:srgbClr val="483832"/>
                                  </a:solidFill>
                                  <a:latin typeface="Cambria Math" panose="02040503050406030204" pitchFamily="18" charset="0"/>
                                </a:rPr>
                              </m:ctrlPr>
                            </m:fPr>
                            <m:num>
                              <m:r>
                                <a:rPr lang="en-US" altLang="zh-TW" sz="1200" i="1">
                                  <a:solidFill>
                                    <a:srgbClr val="483832"/>
                                  </a:solidFill>
                                  <a:latin typeface="Cambria Math" panose="02040503050406030204" pitchFamily="18" charset="0"/>
                                </a:rPr>
                                <m:t>−1</m:t>
                              </m:r>
                            </m:num>
                            <m:den>
                              <m:r>
                                <a:rPr lang="en-US" altLang="zh-TW" sz="1200" i="1">
                                  <a:solidFill>
                                    <a:srgbClr val="483832"/>
                                  </a:solidFill>
                                  <a:latin typeface="Cambria Math" panose="02040503050406030204" pitchFamily="18" charset="0"/>
                                </a:rPr>
                                <m:t>2</m:t>
                              </m:r>
                            </m:den>
                          </m:f>
                        </m:sup>
                      </m:sSup>
                      <m:r>
                        <a:rPr lang="en-US" altLang="zh-TW" sz="1200" i="1">
                          <a:solidFill>
                            <a:srgbClr val="483832"/>
                          </a:solidFill>
                          <a:latin typeface="Cambria Math" panose="02040503050406030204" pitchFamily="18" charset="0"/>
                        </a:rPr>
                        <m:t>)</m:t>
                      </m:r>
                    </m:oMath>
                  </a14:m>
                  <a:endParaRPr lang="en-US" altLang="zh-TW" sz="1200" dirty="0">
                    <a:solidFill>
                      <a:srgbClr val="483832"/>
                    </a:solidFill>
                    <a:latin typeface="Times New Roman" panose="02020603050405020304" pitchFamily="18" charset="0"/>
                    <a:cs typeface="Times New Roman" panose="02020603050405020304" pitchFamily="18" charset="0"/>
                  </a:endParaRPr>
                </a:p>
                <a:p>
                  <a:pPr>
                    <a:lnSpc>
                      <a:spcPts val="2500"/>
                    </a:lnSpc>
                  </a:pPr>
                  <a14:m>
                    <m:oMath xmlns:m="http://schemas.openxmlformats.org/officeDocument/2006/math">
                      <m:r>
                        <a:rPr lang="zh-TW" altLang="en-US" sz="1200" i="1">
                          <a:solidFill>
                            <a:srgbClr val="483832"/>
                          </a:solidFill>
                          <a:latin typeface="Cambria Math" panose="02040503050406030204" pitchFamily="18" charset="0"/>
                        </a:rPr>
                        <m:t>𝜂</m:t>
                      </m:r>
                    </m:oMath>
                  </a14:m>
                  <a:r>
                    <a:rPr lang="en-US" altLang="zh-TW" sz="1200" dirty="0">
                      <a:solidFill>
                        <a:srgbClr val="483832"/>
                      </a:solidFill>
                      <a:latin typeface="Times New Roman" panose="02020603050405020304" pitchFamily="18" charset="0"/>
                      <a:cs typeface="Times New Roman" panose="02020603050405020304" pitchFamily="18" charset="0"/>
                    </a:rPr>
                    <a:t> : Total effective detection efficiency</a:t>
                  </a:r>
                  <a:endParaRPr lang="zh-TW" altLang="en-US" sz="1200" dirty="0">
                    <a:solidFill>
                      <a:srgbClr val="483832"/>
                    </a:solidFill>
                    <a:latin typeface="Times New Roman" panose="02020603050405020304" pitchFamily="18" charset="0"/>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8E80E4E4-C039-45E6-84C0-A8167585AA28}"/>
                    </a:ext>
                  </a:extLst>
                </p:cNvPr>
                <p:cNvSpPr>
                  <a:spLocks noRot="1" noChangeAspect="1" noMove="1" noResize="1" noEditPoints="1" noAdjustHandles="1" noChangeArrowheads="1" noChangeShapeType="1" noTextEdit="1"/>
                </p:cNvSpPr>
                <p:nvPr/>
              </p:nvSpPr>
              <p:spPr>
                <a:xfrm>
                  <a:off x="7841379" y="4505138"/>
                  <a:ext cx="2926827" cy="1010020"/>
                </a:xfrm>
                <a:prstGeom prst="rect">
                  <a:avLst/>
                </a:prstGeom>
                <a:blipFill>
                  <a:blip r:embed="rId4"/>
                  <a:stretch>
                    <a:fillRect t="-16364" r="-5000" b="-4242"/>
                  </a:stretch>
                </a:blipFill>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69529969-1D49-410C-967A-03720C1604B3}"/>
                </a:ext>
              </a:extLst>
            </p:cNvPr>
            <p:cNvSpPr/>
            <p:nvPr/>
          </p:nvSpPr>
          <p:spPr>
            <a:xfrm>
              <a:off x="1423794" y="4665182"/>
              <a:ext cx="5262576" cy="689932"/>
            </a:xfrm>
            <a:prstGeom prst="rect">
              <a:avLst/>
            </a:prstGeom>
          </p:spPr>
          <p:txBody>
            <a:bodyPr wrap="square" anchor="ctr" anchorCtr="1">
              <a:spAutoFit/>
            </a:bodyPr>
            <a:lstStyle/>
            <a:p>
              <a:pPr algn="just" hangingPunct="0">
                <a:lnSpc>
                  <a:spcPts val="2500"/>
                </a:lnSpc>
                <a:spcAft>
                  <a:spcPts val="0"/>
                </a:spcAft>
              </a:pPr>
              <a:r>
                <a:rPr lang="en-US" altLang="zh-TW" sz="1200" baseline="300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a</a:t>
              </a:r>
              <a:r>
                <a:rPr lang="en-US" altLang="zh-TW" sz="12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ZnO:LN</a:t>
              </a:r>
              <a:r>
                <a:rPr lang="en-US" altLang="zh-TW" sz="12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 bonded onto LiTaO</a:t>
              </a:r>
              <a:r>
                <a:rPr lang="en-US" altLang="zh-TW" sz="1200" baseline="-250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3	</a:t>
              </a:r>
              <a:r>
                <a:rPr lang="en-US" altLang="zh-TW" sz="1200" baseline="300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b</a:t>
              </a:r>
              <a:r>
                <a:rPr lang="en-US" altLang="zh-TW" sz="12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LN</a:t>
              </a:r>
              <a:r>
                <a:rPr lang="en-US" altLang="zh-TW" sz="12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 bonded onto LiTaO</a:t>
              </a:r>
              <a:r>
                <a:rPr lang="en-US" altLang="zh-TW" sz="1200" baseline="-250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3	</a:t>
              </a:r>
              <a:r>
                <a:rPr lang="en-US" altLang="zh-TW" sz="1200" baseline="300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c</a:t>
              </a:r>
              <a:r>
                <a:rPr lang="en-US" altLang="zh-TW" sz="12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LN</a:t>
              </a:r>
              <a:r>
                <a:rPr lang="en-US" altLang="zh-TW" sz="12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etching	</a:t>
              </a:r>
            </a:p>
            <a:p>
              <a:pPr algn="just" hangingPunct="0">
                <a:lnSpc>
                  <a:spcPts val="2500"/>
                </a:lnSpc>
                <a:spcAft>
                  <a:spcPts val="0"/>
                </a:spcAft>
              </a:pPr>
              <a:r>
                <a:rPr lang="en-US" altLang="zh-TW" sz="12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SPE=soft-proton exchange	</a:t>
              </a:r>
              <a:r>
                <a:rPr lang="en-US" altLang="zh-TW" sz="1200" dirty="0">
                  <a:solidFill>
                    <a:srgbClr val="483832"/>
                  </a:solidFill>
                  <a:latin typeface="Times New Roman" panose="02020603050405020304" pitchFamily="18" charset="0"/>
                  <a:ea typeface="PMingLiU" panose="02020500000000000000" pitchFamily="18" charset="-120"/>
                </a:rPr>
                <a:t>RPE=reverse proton exchange</a:t>
              </a:r>
              <a:endParaRPr lang="zh-TW" altLang="en-US" sz="1200" dirty="0">
                <a:solidFill>
                  <a:srgbClr val="483832"/>
                </a:solidFill>
              </a:endParaRPr>
            </a:p>
          </p:txBody>
        </p:sp>
      </p:grpSp>
      <p:sp>
        <p:nvSpPr>
          <p:cNvPr id="8" name="文字方塊 7">
            <a:extLst>
              <a:ext uri="{FF2B5EF4-FFF2-40B4-BE49-F238E27FC236}">
                <a16:creationId xmlns:a16="http://schemas.microsoft.com/office/drawing/2014/main" id="{0A7C5A7B-D9E9-4E53-B4E4-89E50122ECB0}"/>
              </a:ext>
            </a:extLst>
          </p:cNvPr>
          <p:cNvSpPr txBox="1"/>
          <p:nvPr/>
        </p:nvSpPr>
        <p:spPr>
          <a:xfrm>
            <a:off x="1573929" y="5909630"/>
            <a:ext cx="9044143" cy="707501"/>
          </a:xfrm>
          <a:prstGeom prst="rect">
            <a:avLst/>
          </a:prstGeom>
          <a:noFill/>
        </p:spPr>
        <p:txBody>
          <a:bodyPr wrap="none" rtlCol="0">
            <a:spAutoFit/>
          </a:bodyPr>
          <a:lstStyle/>
          <a:p>
            <a:pPr algn="ctr">
              <a:lnSpc>
                <a:spcPts val="2500"/>
              </a:lnSpc>
            </a:pPr>
            <a:r>
              <a:rPr lang="en-US" altLang="zh-TW" dirty="0">
                <a:solidFill>
                  <a:srgbClr val="483832"/>
                </a:solidFill>
                <a:latin typeface="Times New Roman" panose="02020603050405020304" pitchFamily="18" charset="0"/>
                <a:cs typeface="Times New Roman" panose="02020603050405020304" pitchFamily="18" charset="0"/>
              </a:rPr>
              <a:t>Different </a:t>
            </a:r>
            <a:r>
              <a:rPr lang="en-US" altLang="zh-TW" dirty="0">
                <a:solidFill>
                  <a:srgbClr val="483832"/>
                </a:solidFill>
                <a:highlight>
                  <a:srgbClr val="FFAFB1"/>
                </a:highlight>
                <a:latin typeface="Times New Roman" panose="02020603050405020304" pitchFamily="18" charset="0"/>
              </a:rPr>
              <a:t>waveguide type</a:t>
            </a:r>
            <a:r>
              <a:rPr lang="en-US" altLang="zh-TW" dirty="0">
                <a:solidFill>
                  <a:srgbClr val="483832"/>
                </a:solidFill>
                <a:latin typeface="Times New Roman" panose="02020603050405020304" pitchFamily="18" charset="0"/>
                <a:cs typeface="Times New Roman" panose="02020603050405020304" pitchFamily="18" charset="0"/>
              </a:rPr>
              <a:t> and longer </a:t>
            </a:r>
            <a:r>
              <a:rPr lang="en-US" altLang="zh-TW" dirty="0">
                <a:solidFill>
                  <a:srgbClr val="483832"/>
                </a:solidFill>
                <a:highlight>
                  <a:srgbClr val="FFAFB1"/>
                </a:highlight>
                <a:latin typeface="Times New Roman" panose="02020603050405020304" pitchFamily="18" charset="0"/>
              </a:rPr>
              <a:t>QPM length</a:t>
            </a:r>
            <a:r>
              <a:rPr lang="zh-TW" altLang="en-US" dirty="0">
                <a:solidFill>
                  <a:srgbClr val="483832"/>
                </a:solidFill>
                <a:latin typeface="Times New Roman" panose="02020603050405020304" pitchFamily="18" charset="0"/>
                <a:cs typeface="Times New Roman" panose="02020603050405020304" pitchFamily="18" charset="0"/>
              </a:rPr>
              <a:t> </a:t>
            </a:r>
            <a:r>
              <a:rPr lang="en-US" altLang="zh-TW" dirty="0">
                <a:solidFill>
                  <a:srgbClr val="483832"/>
                </a:solidFill>
                <a:latin typeface="Times New Roman" panose="02020603050405020304" pitchFamily="18" charset="0"/>
                <a:cs typeface="Times New Roman" panose="02020603050405020304" pitchFamily="18" charset="0"/>
              </a:rPr>
              <a:t>provide more nonlinear conversion efficiency</a:t>
            </a:r>
          </a:p>
          <a:p>
            <a:pPr algn="ctr">
              <a:lnSpc>
                <a:spcPts val="2500"/>
              </a:lnSpc>
            </a:pPr>
            <a:r>
              <a:rPr lang="en-US" altLang="zh-TW" dirty="0" err="1">
                <a:solidFill>
                  <a:srgbClr val="483832"/>
                </a:solidFill>
                <a:latin typeface="Times New Roman" panose="02020603050405020304" pitchFamily="18" charset="0"/>
                <a:cs typeface="Times New Roman" panose="02020603050405020304" pitchFamily="18" charset="0"/>
              </a:rPr>
              <a:t>Ti-indiffused</a:t>
            </a:r>
            <a:r>
              <a:rPr lang="en-US" altLang="zh-TW" dirty="0">
                <a:solidFill>
                  <a:srgbClr val="483832"/>
                </a:solidFill>
                <a:latin typeface="Times New Roman" panose="02020603050405020304" pitchFamily="18" charset="0"/>
                <a:cs typeface="Times New Roman" panose="02020603050405020304" pitchFamily="18" charset="0"/>
              </a:rPr>
              <a:t> waveguide efficiency almost RPE</a:t>
            </a:r>
            <a:r>
              <a:rPr lang="zh-TW" altLang="en-US" dirty="0">
                <a:solidFill>
                  <a:srgbClr val="483832"/>
                </a:solidFill>
                <a:latin typeface="Times New Roman" panose="02020603050405020304" pitchFamily="18" charset="0"/>
                <a:cs typeface="Times New Roman" panose="02020603050405020304" pitchFamily="18" charset="0"/>
              </a:rPr>
              <a:t> </a:t>
            </a:r>
            <a:r>
              <a:rPr lang="en-US" altLang="zh-TW" dirty="0">
                <a:solidFill>
                  <a:srgbClr val="483832"/>
                </a:solidFill>
                <a:latin typeface="Times New Roman" panose="02020603050405020304" pitchFamily="18" charset="0"/>
                <a:cs typeface="Times New Roman" panose="02020603050405020304" pitchFamily="18" charset="0"/>
              </a:rPr>
              <a:t>waveguide</a:t>
            </a:r>
            <a:r>
              <a:rPr lang="zh-TW" altLang="en-US" dirty="0">
                <a:solidFill>
                  <a:srgbClr val="483832"/>
                </a:solidFill>
                <a:latin typeface="Times New Roman" panose="02020603050405020304" pitchFamily="18" charset="0"/>
                <a:cs typeface="Times New Roman" panose="02020603050405020304" pitchFamily="18" charset="0"/>
              </a:rPr>
              <a:t> </a:t>
            </a:r>
            <a:r>
              <a:rPr lang="en-US" altLang="zh-TW" dirty="0">
                <a:solidFill>
                  <a:srgbClr val="483832"/>
                </a:solidFill>
                <a:highlight>
                  <a:srgbClr val="FFAFB1"/>
                </a:highlight>
                <a:latin typeface="Times New Roman" panose="02020603050405020304" pitchFamily="18" charset="0"/>
              </a:rPr>
              <a:t>0.17 times</a:t>
            </a:r>
            <a:endParaRPr lang="zh-TW" altLang="en-US" dirty="0">
              <a:solidFill>
                <a:srgbClr val="483832"/>
              </a:solidFill>
              <a:highlight>
                <a:srgbClr val="FFAFB1"/>
              </a:highlight>
              <a:latin typeface="Times New Roman" panose="02020603050405020304" pitchFamily="18" charset="0"/>
            </a:endParaRPr>
          </a:p>
        </p:txBody>
      </p:sp>
      <p:sp>
        <p:nvSpPr>
          <p:cNvPr id="11" name="矩形 10">
            <a:extLst>
              <a:ext uri="{FF2B5EF4-FFF2-40B4-BE49-F238E27FC236}">
                <a16:creationId xmlns:a16="http://schemas.microsoft.com/office/drawing/2014/main" id="{ADBE1CA6-0DED-4685-979C-D315B436C3B8}"/>
              </a:ext>
            </a:extLst>
          </p:cNvPr>
          <p:cNvSpPr/>
          <p:nvPr/>
        </p:nvSpPr>
        <p:spPr>
          <a:xfrm>
            <a:off x="3116276" y="2005128"/>
            <a:ext cx="8488984" cy="64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DF2E907B-6154-430E-B159-266792466EC5}"/>
              </a:ext>
            </a:extLst>
          </p:cNvPr>
          <p:cNvSpPr/>
          <p:nvPr/>
        </p:nvSpPr>
        <p:spPr>
          <a:xfrm>
            <a:off x="3116276" y="2777381"/>
            <a:ext cx="8488984" cy="1741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7406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250"/>
                                        <p:tgtEl>
                                          <p:spTgt spid="11"/>
                                        </p:tgtEl>
                                      </p:cBhvr>
                                    </p:animEffect>
                                    <p:set>
                                      <p:cBhvr>
                                        <p:cTn id="7" dur="1" fill="hold">
                                          <p:stCondLst>
                                            <p:cond delay="24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50"/>
                                        <p:tgtEl>
                                          <p:spTgt spid="15"/>
                                        </p:tgtEl>
                                      </p:cBhvr>
                                    </p:animEffect>
                                    <p:set>
                                      <p:cBhvr>
                                        <p:cTn id="12" dur="1" fill="hold">
                                          <p:stCondLst>
                                            <p:cond delay="24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圓角 5">
                <a:extLst>
                  <a:ext uri="{FF2B5EF4-FFF2-40B4-BE49-F238E27FC236}">
                    <a16:creationId xmlns:a16="http://schemas.microsoft.com/office/drawing/2014/main" id="{1807DDC1-661D-46CE-B60F-ED533D046AD7}"/>
                  </a:ext>
                </a:extLst>
              </p:cNvPr>
              <p:cNvSpPr/>
              <p:nvPr/>
            </p:nvSpPr>
            <p:spPr>
              <a:xfrm>
                <a:off x="6089333" y="1758788"/>
                <a:ext cx="5728336" cy="3500203"/>
              </a:xfrm>
              <a:prstGeom prst="roundRect">
                <a:avLst>
                  <a:gd name="adj" fmla="val 11185"/>
                </a:avLst>
              </a:prstGeom>
              <a:ln w="19050">
                <a:solidFill>
                  <a:schemeClr val="accent1">
                    <a:lumMod val="75000"/>
                  </a:schemeClr>
                </a:solidFill>
                <a:prstDash val="lgDash"/>
              </a:ln>
            </p:spPr>
            <p:txBody>
              <a:bodyPr wrap="square">
                <a:spAutoFit/>
              </a:bodyPr>
              <a:lstStyle/>
              <a:p>
                <a:pPr lvl="0">
                  <a:lnSpc>
                    <a:spcPts val="2500"/>
                  </a:lnSpc>
                </a:pPr>
                <a:r>
                  <a:rPr lang="en-US" altLang="zh-TW" sz="2000" dirty="0">
                    <a:solidFill>
                      <a:srgbClr val="483832"/>
                    </a:solidFill>
                    <a:latin typeface="Times New Roman" panose="02020603050405020304" pitchFamily="18" charset="0"/>
                  </a:rPr>
                  <a:t>Our measurement:</a:t>
                </a:r>
              </a:p>
              <a:p>
                <a:pPr lvl="0">
                  <a:lnSpc>
                    <a:spcPts val="2500"/>
                  </a:lnSpc>
                </a:pPr>
                <a:r>
                  <a:rPr lang="en-US" altLang="zh-TW" sz="2000" dirty="0">
                    <a:solidFill>
                      <a:srgbClr val="483832"/>
                    </a:solidFill>
                    <a:latin typeface="Times New Roman" panose="02020603050405020304" pitchFamily="18" charset="0"/>
                  </a:rPr>
                  <a:t>SH conversion efficiency 0.019</a:t>
                </a:r>
                <a14:m>
                  <m:oMath xmlns:m="http://schemas.openxmlformats.org/officeDocument/2006/math">
                    <m:sSup>
                      <m:sSupPr>
                        <m:ctrlPr>
                          <a:rPr lang="en-US" altLang="zh-TW" sz="2000" i="1">
                            <a:solidFill>
                              <a:srgbClr val="483832"/>
                            </a:solidFill>
                            <a:latin typeface="Cambria Math" panose="02040503050406030204" pitchFamily="18" charset="0"/>
                          </a:rPr>
                        </m:ctrlPr>
                      </m:sSupPr>
                      <m:e>
                        <m:r>
                          <a:rPr lang="en-US" altLang="zh-TW" sz="2000" i="1">
                            <a:solidFill>
                              <a:srgbClr val="483832"/>
                            </a:solidFill>
                            <a:latin typeface="Cambria Math" panose="02040503050406030204" pitchFamily="18" charset="0"/>
                          </a:rPr>
                          <m:t>(</m:t>
                        </m:r>
                        <m:r>
                          <m:rPr>
                            <m:sty m:val="p"/>
                          </m:rPr>
                          <a:rPr lang="en-US" altLang="zh-TW" sz="2000">
                            <a:solidFill>
                              <a:srgbClr val="483832"/>
                            </a:solidFill>
                            <a:latin typeface="Cambria Math" panose="02040503050406030204" pitchFamily="18" charset="0"/>
                          </a:rPr>
                          <m:t>mW</m:t>
                        </m:r>
                      </m:e>
                      <m:sup>
                        <m:f>
                          <m:fPr>
                            <m:type m:val="lin"/>
                            <m:ctrlPr>
                              <a:rPr lang="en-US" altLang="zh-TW" sz="2000" i="1">
                                <a:solidFill>
                                  <a:srgbClr val="483832"/>
                                </a:solidFill>
                                <a:latin typeface="Cambria Math" panose="02040503050406030204" pitchFamily="18" charset="0"/>
                              </a:rPr>
                            </m:ctrlPr>
                          </m:fPr>
                          <m:num>
                            <m:r>
                              <a:rPr lang="en-US" altLang="zh-TW" sz="2000">
                                <a:solidFill>
                                  <a:srgbClr val="483832"/>
                                </a:solidFill>
                                <a:latin typeface="Cambria Math" panose="02040503050406030204" pitchFamily="18" charset="0"/>
                              </a:rPr>
                              <m:t>−1</m:t>
                            </m:r>
                          </m:num>
                          <m:den>
                            <m:r>
                              <a:rPr lang="en-US" altLang="zh-TW" sz="2000">
                                <a:solidFill>
                                  <a:srgbClr val="483832"/>
                                </a:solidFill>
                                <a:latin typeface="Cambria Math" panose="02040503050406030204" pitchFamily="18" charset="0"/>
                              </a:rPr>
                              <m:t>2</m:t>
                            </m:r>
                          </m:den>
                        </m:f>
                      </m:sup>
                    </m:sSup>
                  </m:oMath>
                </a14:m>
                <a:r>
                  <a:rPr lang="en-US" altLang="zh-TW" sz="2000" dirty="0">
                    <a:solidFill>
                      <a:srgbClr val="483832"/>
                    </a:solidFill>
                    <a:latin typeface="Times New Roman" panose="02020603050405020304" pitchFamily="18" charset="0"/>
                  </a:rPr>
                  <a:t>)</a:t>
                </a:r>
                <a:endParaRPr lang="zh-TW" altLang="en-US" sz="2000" dirty="0">
                  <a:solidFill>
                    <a:srgbClr val="483832"/>
                  </a:solidFill>
                  <a:latin typeface="Times New Roman" panose="02020603050405020304" pitchFamily="18" charset="0"/>
                </a:endParaRPr>
              </a:p>
              <a:p>
                <a:pPr lvl="0">
                  <a:lnSpc>
                    <a:spcPts val="2500"/>
                  </a:lnSpc>
                </a:pPr>
                <a:r>
                  <a:rPr lang="el-GR" altLang="zh-TW" sz="2000" dirty="0">
                    <a:solidFill>
                      <a:srgbClr val="483832"/>
                    </a:solidFill>
                    <a:latin typeface="Times New Roman" panose="02020603050405020304" pitchFamily="18" charset="0"/>
                  </a:rPr>
                  <a:t>η</a:t>
                </a:r>
                <a:r>
                  <a:rPr lang="en-US" altLang="zh-TW" sz="2000" dirty="0">
                    <a:solidFill>
                      <a:srgbClr val="483832"/>
                    </a:solidFill>
                    <a:latin typeface="Times New Roman" panose="02020603050405020304" pitchFamily="18" charset="0"/>
                  </a:rPr>
                  <a:t> = 0.67</a:t>
                </a:r>
              </a:p>
              <a:p>
                <a:pPr lvl="0">
                  <a:lnSpc>
                    <a:spcPts val="2500"/>
                  </a:lnSpc>
                </a:pPr>
                <a:r>
                  <a:rPr lang="en-US" altLang="zh-TW" sz="2000" dirty="0">
                    <a:solidFill>
                      <a:srgbClr val="483832"/>
                    </a:solidFill>
                    <a:latin typeface="Times New Roman" panose="02020603050405020304" pitchFamily="18" charset="0"/>
                  </a:rPr>
                  <a:t>Estimate squeezing level</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at</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pump power = 40mW</a:t>
                </a:r>
              </a:p>
              <a:p>
                <a:pPr lvl="0">
                  <a:lnSpc>
                    <a:spcPts val="2500"/>
                  </a:lnSpc>
                </a:pPr>
                <a:endParaRPr lang="en-US" altLang="zh-TW" sz="2000" dirty="0">
                  <a:solidFill>
                    <a:srgbClr val="483832"/>
                  </a:solidFill>
                  <a:latin typeface="Times New Roman" panose="02020603050405020304" pitchFamily="18" charset="0"/>
                </a:endParaRPr>
              </a:p>
              <a:p>
                <a:pPr lvl="0">
                  <a:lnSpc>
                    <a:spcPts val="2500"/>
                  </a:lnSpc>
                </a:pPr>
                <a:r>
                  <a:rPr lang="en-US" altLang="zh-TW" sz="2000" dirty="0">
                    <a:solidFill>
                      <a:srgbClr val="483832"/>
                    </a:solidFill>
                    <a:latin typeface="Times New Roman" panose="02020603050405020304" pitchFamily="18" charset="0"/>
                  </a:rPr>
                  <a:t>Longer QPM length get more squeezing level</a:t>
                </a:r>
              </a:p>
              <a:p>
                <a:pPr lvl="0">
                  <a:lnSpc>
                    <a:spcPts val="2500"/>
                  </a:lnSpc>
                </a:pPr>
                <a:endParaRPr lang="en-US" altLang="zh-TW" sz="2000" dirty="0">
                  <a:solidFill>
                    <a:srgbClr val="483832"/>
                  </a:solidFill>
                  <a:latin typeface="Times New Roman" panose="02020603050405020304" pitchFamily="18" charset="0"/>
                </a:endParaRPr>
              </a:p>
              <a:p>
                <a:pPr lvl="0">
                  <a:lnSpc>
                    <a:spcPts val="2500"/>
                  </a:lnSpc>
                </a:pPr>
                <a:endParaRPr lang="en-US" altLang="zh-TW" sz="2000" dirty="0">
                  <a:solidFill>
                    <a:srgbClr val="483832"/>
                  </a:solidFill>
                  <a:latin typeface="Times New Roman" panose="02020603050405020304" pitchFamily="18" charset="0"/>
                </a:endParaRPr>
              </a:p>
              <a:p>
                <a:pPr lvl="0">
                  <a:lnSpc>
                    <a:spcPts val="2500"/>
                  </a:lnSpc>
                </a:pPr>
                <a:endParaRPr lang="en-US" altLang="zh-TW" sz="2000" dirty="0">
                  <a:solidFill>
                    <a:srgbClr val="483832"/>
                  </a:solidFill>
                  <a:latin typeface="Times New Roman" panose="02020603050405020304" pitchFamily="18" charset="0"/>
                </a:endParaRPr>
              </a:p>
              <a:p>
                <a:pPr lvl="0">
                  <a:lnSpc>
                    <a:spcPts val="2500"/>
                  </a:lnSpc>
                </a:pPr>
                <a:endParaRPr lang="en-US" altLang="zh-TW" sz="2000" dirty="0">
                  <a:solidFill>
                    <a:srgbClr val="483832"/>
                  </a:solidFill>
                  <a:latin typeface="Times New Roman" panose="02020603050405020304" pitchFamily="18" charset="0"/>
                </a:endParaRPr>
              </a:p>
            </p:txBody>
          </p:sp>
        </mc:Choice>
        <mc:Fallback xmlns="">
          <p:sp>
            <p:nvSpPr>
              <p:cNvPr id="6" name="矩形: 圓角 5">
                <a:extLst>
                  <a:ext uri="{FF2B5EF4-FFF2-40B4-BE49-F238E27FC236}">
                    <a16:creationId xmlns:a16="http://schemas.microsoft.com/office/drawing/2014/main" id="{1807DDC1-661D-46CE-B60F-ED533D046AD7}"/>
                  </a:ext>
                </a:extLst>
              </p:cNvPr>
              <p:cNvSpPr>
                <a:spLocks noRot="1" noChangeAspect="1" noMove="1" noResize="1" noEditPoints="1" noAdjustHandles="1" noChangeArrowheads="1" noChangeShapeType="1" noTextEdit="1"/>
              </p:cNvSpPr>
              <p:nvPr/>
            </p:nvSpPr>
            <p:spPr>
              <a:xfrm>
                <a:off x="6089333" y="1758788"/>
                <a:ext cx="5728336" cy="3500203"/>
              </a:xfrm>
              <a:prstGeom prst="roundRect">
                <a:avLst>
                  <a:gd name="adj" fmla="val 11185"/>
                </a:avLst>
              </a:prstGeom>
              <a:blipFill>
                <a:blip r:embed="rId3"/>
                <a:stretch>
                  <a:fillRect/>
                </a:stretch>
              </a:blipFill>
              <a:ln w="19050">
                <a:solidFill>
                  <a:schemeClr val="accent1">
                    <a:lumMod val="75000"/>
                  </a:schemeClr>
                </a:solidFill>
                <a:prstDash val="lgDash"/>
              </a:ln>
            </p:spPr>
            <p:txBody>
              <a:bodyPr/>
              <a:lstStyle/>
              <a:p>
                <a:r>
                  <a:rPr lang="zh-TW" altLang="en-US">
                    <a:noFill/>
                  </a:rPr>
                  <a:t> </a:t>
                </a:r>
              </a:p>
            </p:txBody>
          </p:sp>
        </mc:Fallback>
      </mc:AlternateContent>
      <p:graphicFrame>
        <p:nvGraphicFramePr>
          <p:cNvPr id="8" name="表格 7">
            <a:extLst>
              <a:ext uri="{FF2B5EF4-FFF2-40B4-BE49-F238E27FC236}">
                <a16:creationId xmlns:a16="http://schemas.microsoft.com/office/drawing/2014/main" id="{6F912A6E-F555-4D4E-ABD0-ACC78711FC58}"/>
              </a:ext>
            </a:extLst>
          </p:cNvPr>
          <p:cNvGraphicFramePr>
            <a:graphicFrameLocks noGrp="1"/>
          </p:cNvGraphicFramePr>
          <p:nvPr>
            <p:extLst>
              <p:ext uri="{D42A27DB-BD31-4B8C-83A1-F6EECF244321}">
                <p14:modId xmlns:p14="http://schemas.microsoft.com/office/powerpoint/2010/main" val="2600139184"/>
              </p:ext>
            </p:extLst>
          </p:nvPr>
        </p:nvGraphicFramePr>
        <p:xfrm>
          <a:off x="6292533" y="4076806"/>
          <a:ext cx="5291455" cy="843726"/>
        </p:xfrm>
        <a:graphic>
          <a:graphicData uri="http://schemas.openxmlformats.org/drawingml/2006/table">
            <a:tbl>
              <a:tblPr firstRow="1" bandRow="1">
                <a:tableStyleId>{9D7B26C5-4107-4FEC-AEDC-1716B250A1EF}</a:tableStyleId>
              </a:tblPr>
              <a:tblGrid>
                <a:gridCol w="2333245">
                  <a:extLst>
                    <a:ext uri="{9D8B030D-6E8A-4147-A177-3AD203B41FA5}">
                      <a16:colId xmlns:a16="http://schemas.microsoft.com/office/drawing/2014/main" val="3358187777"/>
                    </a:ext>
                  </a:extLst>
                </a:gridCol>
                <a:gridCol w="724502">
                  <a:extLst>
                    <a:ext uri="{9D8B030D-6E8A-4147-A177-3AD203B41FA5}">
                      <a16:colId xmlns:a16="http://schemas.microsoft.com/office/drawing/2014/main" val="2417690318"/>
                    </a:ext>
                  </a:extLst>
                </a:gridCol>
                <a:gridCol w="724502">
                  <a:extLst>
                    <a:ext uri="{9D8B030D-6E8A-4147-A177-3AD203B41FA5}">
                      <a16:colId xmlns:a16="http://schemas.microsoft.com/office/drawing/2014/main" val="2348668983"/>
                    </a:ext>
                  </a:extLst>
                </a:gridCol>
                <a:gridCol w="724502">
                  <a:extLst>
                    <a:ext uri="{9D8B030D-6E8A-4147-A177-3AD203B41FA5}">
                      <a16:colId xmlns:a16="http://schemas.microsoft.com/office/drawing/2014/main" val="2089169830"/>
                    </a:ext>
                  </a:extLst>
                </a:gridCol>
                <a:gridCol w="784704">
                  <a:extLst>
                    <a:ext uri="{9D8B030D-6E8A-4147-A177-3AD203B41FA5}">
                      <a16:colId xmlns:a16="http://schemas.microsoft.com/office/drawing/2014/main" val="4121961822"/>
                    </a:ext>
                  </a:extLst>
                </a:gridCol>
              </a:tblGrid>
              <a:tr h="4218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900" dirty="0">
                          <a:latin typeface="Times New Roman" panose="02020603050405020304" pitchFamily="18" charset="0"/>
                          <a:cs typeface="Times New Roman" panose="02020603050405020304" pitchFamily="18" charset="0"/>
                        </a:rPr>
                        <a:t>QPM</a:t>
                      </a:r>
                      <a:r>
                        <a:rPr lang="zh-TW" altLang="en-US" sz="1900" dirty="0">
                          <a:latin typeface="楷体" panose="02010609060101010101" pitchFamily="49" charset="-122"/>
                          <a:ea typeface="楷体" panose="02010609060101010101" pitchFamily="49" charset="-122"/>
                          <a:cs typeface="Times New Roman" panose="02020603050405020304" pitchFamily="18" charset="0"/>
                        </a:rPr>
                        <a:t> </a:t>
                      </a:r>
                      <a:r>
                        <a:rPr lang="en-US" altLang="zh-TW" sz="1900" dirty="0">
                          <a:latin typeface="Times New Roman" panose="02020603050405020304" pitchFamily="18" charset="0"/>
                          <a:ea typeface="楷体" panose="02010609060101010101" pitchFamily="49" charset="-122"/>
                          <a:cs typeface="Times New Roman" panose="02020603050405020304" pitchFamily="18" charset="0"/>
                        </a:rPr>
                        <a:t>length</a:t>
                      </a:r>
                      <a:r>
                        <a:rPr lang="en-US" altLang="zh-TW" sz="1900" dirty="0">
                          <a:latin typeface="Times New Roman" panose="02020603050405020304" pitchFamily="18" charset="0"/>
                          <a:cs typeface="Times New Roman" panose="02020603050405020304" pitchFamily="18" charset="0"/>
                        </a:rPr>
                        <a:t>(mm)</a:t>
                      </a:r>
                      <a:endParaRPr lang="zh-TW" altLang="en-US" sz="1900" b="0" dirty="0">
                        <a:latin typeface="Times New Roman" panose="02020603050405020304" pitchFamily="18" charset="0"/>
                        <a:cs typeface="Times New Roman" panose="02020603050405020304" pitchFamily="18" charset="0"/>
                      </a:endParaRPr>
                    </a:p>
                  </a:txBody>
                  <a:tcPr marL="95665" marR="95665" marT="47832" marB="47832" anchor="ctr">
                    <a:lnL w="12700" cap="flat" cmpd="sng" algn="ctr">
                      <a:no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altLang="zh-TW" sz="1900" dirty="0">
                          <a:solidFill>
                            <a:srgbClr val="FF0000"/>
                          </a:solidFill>
                          <a:latin typeface="Times New Roman" panose="02020603050405020304" pitchFamily="18" charset="0"/>
                          <a:cs typeface="Times New Roman" panose="02020603050405020304" pitchFamily="18" charset="0"/>
                        </a:rPr>
                        <a:t>15</a:t>
                      </a:r>
                      <a:endParaRPr lang="zh-TW" altLang="en-US" sz="1900" dirty="0">
                        <a:solidFill>
                          <a:srgbClr val="FF0000"/>
                        </a:solidFill>
                        <a:latin typeface="Times New Roman" panose="02020603050405020304" pitchFamily="18" charset="0"/>
                        <a:cs typeface="Times New Roman" panose="02020603050405020304" pitchFamily="18" charset="0"/>
                      </a:endParaRPr>
                    </a:p>
                  </a:txBody>
                  <a:tcPr marL="95665" marR="95665" marT="47832" marB="47832"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altLang="zh-TW" sz="1900" dirty="0">
                          <a:latin typeface="Times New Roman" panose="02020603050405020304" pitchFamily="18" charset="0"/>
                          <a:cs typeface="Times New Roman" panose="02020603050405020304" pitchFamily="18" charset="0"/>
                        </a:rPr>
                        <a:t>30</a:t>
                      </a:r>
                      <a:endParaRPr lang="zh-TW" altLang="en-US" sz="1900" dirty="0">
                        <a:latin typeface="Times New Roman" panose="02020603050405020304" pitchFamily="18" charset="0"/>
                        <a:cs typeface="Times New Roman" panose="02020603050405020304" pitchFamily="18" charset="0"/>
                      </a:endParaRPr>
                    </a:p>
                  </a:txBody>
                  <a:tcPr marL="95665" marR="95665" marT="47832" marB="478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altLang="zh-TW" sz="1900" dirty="0">
                          <a:latin typeface="Times New Roman" panose="02020603050405020304" pitchFamily="18" charset="0"/>
                          <a:cs typeface="Times New Roman" panose="02020603050405020304" pitchFamily="18" charset="0"/>
                        </a:rPr>
                        <a:t>38</a:t>
                      </a:r>
                      <a:endParaRPr lang="zh-TW" altLang="en-US" sz="1900" dirty="0">
                        <a:latin typeface="Times New Roman" panose="02020603050405020304" pitchFamily="18" charset="0"/>
                        <a:cs typeface="Times New Roman" panose="02020603050405020304" pitchFamily="18" charset="0"/>
                      </a:endParaRPr>
                    </a:p>
                  </a:txBody>
                  <a:tcPr marL="95665" marR="95665" marT="47832" marB="478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altLang="zh-TW" sz="1900" dirty="0">
                          <a:latin typeface="Times New Roman" panose="02020603050405020304" pitchFamily="18" charset="0"/>
                          <a:cs typeface="Times New Roman" panose="02020603050405020304" pitchFamily="18" charset="0"/>
                        </a:rPr>
                        <a:t>45</a:t>
                      </a:r>
                      <a:endParaRPr lang="zh-TW" altLang="en-US" sz="1900" dirty="0">
                        <a:latin typeface="Times New Roman" panose="02020603050405020304" pitchFamily="18" charset="0"/>
                        <a:cs typeface="Times New Roman" panose="02020603050405020304" pitchFamily="18" charset="0"/>
                      </a:endParaRPr>
                    </a:p>
                  </a:txBody>
                  <a:tcPr marL="95665" marR="95665" marT="47832" marB="47832"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679771913"/>
                  </a:ext>
                </a:extLst>
              </a:tr>
              <a:tr h="421863">
                <a:tc>
                  <a:txBody>
                    <a:bodyPr/>
                    <a:lstStyle/>
                    <a:p>
                      <a:r>
                        <a:rPr lang="en-US" altLang="zh-TW" sz="1900" dirty="0">
                          <a:latin typeface="Times New Roman" panose="02020603050405020304" pitchFamily="18" charset="0"/>
                          <a:cs typeface="Times New Roman" panose="02020603050405020304" pitchFamily="18" charset="0"/>
                        </a:rPr>
                        <a:t>Squeezing Level (dB)</a:t>
                      </a:r>
                      <a:endParaRPr lang="zh-TW" altLang="en-US" sz="1900" dirty="0">
                        <a:latin typeface="Times New Roman" panose="02020603050405020304" pitchFamily="18" charset="0"/>
                        <a:cs typeface="Times New Roman" panose="02020603050405020304" pitchFamily="18" charset="0"/>
                      </a:endParaRPr>
                    </a:p>
                  </a:txBody>
                  <a:tcPr marL="95665" marR="95665" marT="47832" marB="47832" anchor="ctr">
                    <a:lnL w="12700" cap="flat" cmpd="sng" algn="ctr">
                      <a:no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sz="1900" dirty="0">
                          <a:solidFill>
                            <a:srgbClr val="FF0000"/>
                          </a:solidFill>
                          <a:latin typeface="Times New Roman" panose="02020603050405020304" pitchFamily="18" charset="0"/>
                          <a:cs typeface="Times New Roman" panose="02020603050405020304" pitchFamily="18" charset="0"/>
                        </a:rPr>
                        <a:t>-0.67</a:t>
                      </a:r>
                      <a:endParaRPr lang="zh-TW" altLang="en-US" sz="1900" dirty="0">
                        <a:solidFill>
                          <a:srgbClr val="FF0000"/>
                        </a:solidFill>
                        <a:latin typeface="Times New Roman" panose="02020603050405020304" pitchFamily="18" charset="0"/>
                        <a:cs typeface="Times New Roman" panose="02020603050405020304" pitchFamily="18" charset="0"/>
                      </a:endParaRPr>
                    </a:p>
                  </a:txBody>
                  <a:tcPr marL="95665" marR="95665" marT="47832" marB="47832"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sz="1900" dirty="0">
                          <a:latin typeface="Times New Roman" panose="02020603050405020304" pitchFamily="18" charset="0"/>
                          <a:cs typeface="Times New Roman" panose="02020603050405020304" pitchFamily="18" charset="0"/>
                        </a:rPr>
                        <a:t>-1.28</a:t>
                      </a:r>
                      <a:endParaRPr lang="zh-TW" altLang="en-US" sz="1900" dirty="0">
                        <a:latin typeface="Times New Roman" panose="02020603050405020304" pitchFamily="18" charset="0"/>
                        <a:cs typeface="Times New Roman" panose="02020603050405020304" pitchFamily="18" charset="0"/>
                      </a:endParaRPr>
                    </a:p>
                  </a:txBody>
                  <a:tcPr marL="95665" marR="95665" marT="47832" marB="478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sz="1900" dirty="0">
                          <a:latin typeface="Times New Roman" panose="02020603050405020304" pitchFamily="18" charset="0"/>
                          <a:cs typeface="Times New Roman" panose="02020603050405020304" pitchFamily="18" charset="0"/>
                        </a:rPr>
                        <a:t>-1.58</a:t>
                      </a:r>
                      <a:endParaRPr lang="zh-TW" altLang="en-US" sz="1900" dirty="0">
                        <a:latin typeface="Times New Roman" panose="02020603050405020304" pitchFamily="18" charset="0"/>
                        <a:cs typeface="Times New Roman" panose="02020603050405020304" pitchFamily="18" charset="0"/>
                      </a:endParaRPr>
                    </a:p>
                  </a:txBody>
                  <a:tcPr marL="95665" marR="95665" marT="47832" marB="478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sz="1900" dirty="0">
                          <a:latin typeface="Times New Roman" panose="02020603050405020304" pitchFamily="18" charset="0"/>
                          <a:cs typeface="Times New Roman" panose="02020603050405020304" pitchFamily="18" charset="0"/>
                        </a:rPr>
                        <a:t>-1.83</a:t>
                      </a:r>
                      <a:endParaRPr lang="zh-TW" altLang="en-US" sz="1900" dirty="0">
                        <a:latin typeface="Times New Roman" panose="02020603050405020304" pitchFamily="18" charset="0"/>
                        <a:cs typeface="Times New Roman" panose="02020603050405020304" pitchFamily="18" charset="0"/>
                      </a:endParaRPr>
                    </a:p>
                  </a:txBody>
                  <a:tcPr marL="95665" marR="95665" marT="47832" marB="47832"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2389988"/>
                  </a:ext>
                </a:extLst>
              </a:tr>
            </a:tbl>
          </a:graphicData>
        </a:graphic>
      </p:graphicFrame>
      <p:sp>
        <p:nvSpPr>
          <p:cNvPr id="2" name="投影片編號版面配置區 1">
            <a:extLst>
              <a:ext uri="{FF2B5EF4-FFF2-40B4-BE49-F238E27FC236}">
                <a16:creationId xmlns:a16="http://schemas.microsoft.com/office/drawing/2014/main" id="{E53968B4-257F-46F6-9348-6E6590901596}"/>
              </a:ext>
            </a:extLst>
          </p:cNvPr>
          <p:cNvSpPr>
            <a:spLocks noGrp="1"/>
          </p:cNvSpPr>
          <p:nvPr>
            <p:ph type="sldNum" sz="quarter" idx="12"/>
          </p:nvPr>
        </p:nvSpPr>
        <p:spPr/>
        <p:txBody>
          <a:bodyPr/>
          <a:lstStyle/>
          <a:p>
            <a:fld id="{9820161B-3DFF-4FF5-AA0E-35496F014571}" type="slidenum">
              <a:rPr lang="zh-TW" altLang="en-US" smtClean="0"/>
              <a:t>46</a:t>
            </a:fld>
            <a:endParaRPr lang="zh-TW" altLang="en-US"/>
          </a:p>
        </p:txBody>
      </p:sp>
      <p:sp>
        <p:nvSpPr>
          <p:cNvPr id="3" name="文字版面配置區 2">
            <a:extLst>
              <a:ext uri="{FF2B5EF4-FFF2-40B4-BE49-F238E27FC236}">
                <a16:creationId xmlns:a16="http://schemas.microsoft.com/office/drawing/2014/main" id="{E080F11D-F920-4971-98C7-F5E27CCD1366}"/>
              </a:ext>
            </a:extLst>
          </p:cNvPr>
          <p:cNvSpPr>
            <a:spLocks noGrp="1"/>
          </p:cNvSpPr>
          <p:nvPr>
            <p:ph type="body" sz="half" idx="13"/>
          </p:nvPr>
        </p:nvSpPr>
        <p:spPr>
          <a:xfrm>
            <a:off x="3238501" y="16590"/>
            <a:ext cx="5715000" cy="660417"/>
          </a:xfrm>
        </p:spPr>
        <p:txBody>
          <a:bodyPr>
            <a:normAutofit/>
          </a:bodyPr>
          <a:lstStyle/>
          <a:p>
            <a:r>
              <a:rPr lang="en-US" altLang="zh-TW" dirty="0"/>
              <a:t>Calculation squeezing level</a:t>
            </a:r>
            <a:endParaRPr lang="zh-TW" altLang="en-US" dirty="0"/>
          </a:p>
        </p:txBody>
      </p:sp>
      <p:graphicFrame>
        <p:nvGraphicFramePr>
          <p:cNvPr id="17" name="表格 16">
            <a:extLst>
              <a:ext uri="{FF2B5EF4-FFF2-40B4-BE49-F238E27FC236}">
                <a16:creationId xmlns:a16="http://schemas.microsoft.com/office/drawing/2014/main" id="{3A68289D-57D8-410E-BC8B-5571F3714EC5}"/>
              </a:ext>
            </a:extLst>
          </p:cNvPr>
          <p:cNvGraphicFramePr>
            <a:graphicFrameLocks noGrp="1"/>
          </p:cNvGraphicFramePr>
          <p:nvPr>
            <p:extLst>
              <p:ext uri="{D42A27DB-BD31-4B8C-83A1-F6EECF244321}">
                <p14:modId xmlns:p14="http://schemas.microsoft.com/office/powerpoint/2010/main" val="3137742813"/>
              </p:ext>
            </p:extLst>
          </p:nvPr>
        </p:nvGraphicFramePr>
        <p:xfrm>
          <a:off x="1049973" y="2522053"/>
          <a:ext cx="4888308" cy="2609865"/>
        </p:xfrm>
        <a:graphic>
          <a:graphicData uri="http://schemas.openxmlformats.org/drawingml/2006/table">
            <a:tbl>
              <a:tblPr firstRow="1" bandRow="1">
                <a:tableStyleId>{9D7B26C5-4107-4FEC-AEDC-1716B250A1EF}</a:tableStyleId>
              </a:tblPr>
              <a:tblGrid>
                <a:gridCol w="2583893">
                  <a:extLst>
                    <a:ext uri="{9D8B030D-6E8A-4147-A177-3AD203B41FA5}">
                      <a16:colId xmlns:a16="http://schemas.microsoft.com/office/drawing/2014/main" val="649778626"/>
                    </a:ext>
                  </a:extLst>
                </a:gridCol>
                <a:gridCol w="1341120">
                  <a:extLst>
                    <a:ext uri="{9D8B030D-6E8A-4147-A177-3AD203B41FA5}">
                      <a16:colId xmlns:a16="http://schemas.microsoft.com/office/drawing/2014/main" val="4286271085"/>
                    </a:ext>
                  </a:extLst>
                </a:gridCol>
                <a:gridCol w="963295">
                  <a:extLst>
                    <a:ext uri="{9D8B030D-6E8A-4147-A177-3AD203B41FA5}">
                      <a16:colId xmlns:a16="http://schemas.microsoft.com/office/drawing/2014/main" val="486620561"/>
                    </a:ext>
                  </a:extLst>
                </a:gridCol>
              </a:tblGrid>
              <a:tr h="370840">
                <a:tc>
                  <a:txBody>
                    <a:bodyPr/>
                    <a:lstStyle/>
                    <a:p>
                      <a:r>
                        <a:rPr lang="en-US" altLang="zh-TW" dirty="0">
                          <a:latin typeface="Times New Roman" panose="02020603050405020304" pitchFamily="18" charset="0"/>
                        </a:rPr>
                        <a:t>Efficiency</a:t>
                      </a:r>
                      <a:r>
                        <a:rPr lang="zh-TW" altLang="en-US" dirty="0">
                          <a:latin typeface="Times New Roman" panose="02020603050405020304" pitchFamily="18" charset="0"/>
                        </a:rPr>
                        <a:t> </a:t>
                      </a:r>
                      <a:r>
                        <a:rPr lang="en-US" altLang="zh-TW" dirty="0">
                          <a:latin typeface="Times New Roman" panose="02020603050405020304" pitchFamily="18" charset="0"/>
                        </a:rPr>
                        <a:t>factor</a:t>
                      </a:r>
                      <a:endParaRPr lang="zh-TW" altLang="en-US" dirty="0">
                        <a:latin typeface="Times New Roman" panose="02020603050405020304" pitchFamily="18" charset="0"/>
                        <a:cs typeface="Times New Roman" panose="02020603050405020304" pitchFamily="18" charset="0"/>
                      </a:endParaRPr>
                    </a:p>
                  </a:txBody>
                  <a:tcPr anchor="ctr">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parameter</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value</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335694887"/>
                  </a:ext>
                </a:extLst>
              </a:tr>
              <a:tr h="384825">
                <a:tc>
                  <a:txBody>
                    <a:bodyPr/>
                    <a:lstStyle/>
                    <a:p>
                      <a:r>
                        <a:rPr lang="en-US" altLang="zh-TW" dirty="0">
                          <a:latin typeface="Times New Roman" panose="02020603050405020304" pitchFamily="18" charset="0"/>
                          <a:cs typeface="Times New Roman" panose="02020603050405020304" pitchFamily="18" charset="0"/>
                        </a:rPr>
                        <a:t>LN-air interface</a:t>
                      </a:r>
                      <a:endParaRPr lang="zh-TW" altLang="en-US" dirty="0">
                        <a:latin typeface="Times New Roman" panose="02020603050405020304" pitchFamily="18" charset="0"/>
                        <a:cs typeface="Times New Roman" panose="02020603050405020304" pitchFamily="18" charset="0"/>
                      </a:endParaRPr>
                    </a:p>
                  </a:txBody>
                  <a:tcPr anchor="ctr">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tcPr>
                </a:tc>
                <a:tc>
                  <a:txBody>
                    <a:bodyPr/>
                    <a:lstStyle/>
                    <a:p>
                      <a:pPr algn="ctr"/>
                      <a:r>
                        <a:rPr lang="el-GR" altLang="zh-TW" dirty="0">
                          <a:latin typeface="Times New Roman" panose="02020603050405020304" pitchFamily="18" charset="0"/>
                          <a:cs typeface="Times New Roman" panose="02020603050405020304" pitchFamily="18" charset="0"/>
                        </a:rPr>
                        <a:t>η</a:t>
                      </a:r>
                      <a:r>
                        <a:rPr lang="en-US" altLang="zh-TW" dirty="0">
                          <a:latin typeface="Times New Roman" panose="02020603050405020304" pitchFamily="18" charset="0"/>
                          <a:cs typeface="Times New Roman" panose="02020603050405020304" pitchFamily="18" charset="0"/>
                        </a:rPr>
                        <a:t>F</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0.86</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T w="12700" cap="flat" cmpd="sng" algn="ctr">
                      <a:solidFill>
                        <a:srgbClr val="483832"/>
                      </a:solidFill>
                      <a:prstDash val="solid"/>
                      <a:round/>
                      <a:headEnd type="none" w="med" len="med"/>
                      <a:tailEnd type="none" w="med" len="med"/>
                    </a:lnT>
                  </a:tcPr>
                </a:tc>
                <a:extLst>
                  <a:ext uri="{0D108BD9-81ED-4DB2-BD59-A6C34878D82A}">
                    <a16:rowId xmlns:a16="http://schemas.microsoft.com/office/drawing/2014/main" val="3648290695"/>
                  </a:ext>
                </a:extLst>
              </a:tr>
              <a:tr h="370840">
                <a:tc>
                  <a:txBody>
                    <a:bodyPr/>
                    <a:lstStyle/>
                    <a:p>
                      <a:r>
                        <a:rPr lang="en-US" altLang="zh-TW" dirty="0">
                          <a:latin typeface="Times New Roman" panose="02020603050405020304" pitchFamily="18" charset="0"/>
                          <a:cs typeface="Times New Roman" panose="02020603050405020304" pitchFamily="18" charset="0"/>
                        </a:rPr>
                        <a:t>Free space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transmission</a:t>
                      </a:r>
                      <a:endParaRPr lang="zh-TW" altLang="en-US" dirty="0">
                        <a:latin typeface="Times New Roman" panose="02020603050405020304" pitchFamily="18" charset="0"/>
                        <a:cs typeface="Times New Roman" panose="02020603050405020304" pitchFamily="18" charset="0"/>
                      </a:endParaRPr>
                    </a:p>
                  </a:txBody>
                  <a:tcPr anchor="ctr">
                    <a:lnR w="12700" cap="flat" cmpd="sng" algn="ctr">
                      <a:solidFill>
                        <a:srgbClr val="483832"/>
                      </a:solidFill>
                      <a:prstDash val="solid"/>
                      <a:round/>
                      <a:headEnd type="none" w="med" len="med"/>
                      <a:tailEnd type="none" w="med" len="med"/>
                    </a:lnR>
                  </a:tcPr>
                </a:tc>
                <a:tc>
                  <a:txBody>
                    <a:bodyPr/>
                    <a:lstStyle/>
                    <a:p>
                      <a:pPr algn="ctr"/>
                      <a:r>
                        <a:rPr lang="el-GR" altLang="zh-TW" dirty="0">
                          <a:latin typeface="Times New Roman" panose="02020603050405020304" pitchFamily="18" charset="0"/>
                          <a:cs typeface="Times New Roman" panose="02020603050405020304" pitchFamily="18" charset="0"/>
                        </a:rPr>
                        <a:t>η</a:t>
                      </a:r>
                      <a:r>
                        <a:rPr lang="en-US" altLang="zh-TW" dirty="0">
                          <a:latin typeface="Times New Roman" panose="02020603050405020304" pitchFamily="18" charset="0"/>
                          <a:cs typeface="Times New Roman" panose="02020603050405020304" pitchFamily="18" charset="0"/>
                        </a:rPr>
                        <a:t>f</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800" kern="1200" dirty="0">
                          <a:latin typeface="Times New Roman" panose="02020603050405020304" pitchFamily="18" charset="0"/>
                          <a:cs typeface="Times New Roman" panose="02020603050405020304" pitchFamily="18" charset="0"/>
                        </a:rPr>
                        <a:t>0.985</a:t>
                      </a:r>
                      <a:endParaRPr lang="zh-TW"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177298584"/>
                  </a:ext>
                </a:extLst>
              </a:tr>
              <a:tr h="370840">
                <a:tc>
                  <a:txBody>
                    <a:bodyPr/>
                    <a:lstStyle/>
                    <a:p>
                      <a:r>
                        <a:rPr lang="en-US" altLang="zh-TW" dirty="0">
                          <a:latin typeface="Times New Roman" panose="02020603050405020304" pitchFamily="18" charset="0"/>
                          <a:cs typeface="Times New Roman" panose="02020603050405020304" pitchFamily="18" charset="0"/>
                        </a:rPr>
                        <a:t>PD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quantum</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efficiency</a:t>
                      </a:r>
                      <a:endParaRPr lang="zh-TW"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lnR w="12700" cap="flat" cmpd="sng" algn="ctr">
                      <a:solidFill>
                        <a:srgbClr val="483832"/>
                      </a:solidFill>
                      <a:prstDash val="solid"/>
                      <a:round/>
                      <a:headEnd type="none" w="med" len="med"/>
                      <a:tailEnd type="none" w="med" len="med"/>
                    </a:lnR>
                  </a:tcPr>
                </a:tc>
                <a:tc>
                  <a:txBody>
                    <a:bodyPr/>
                    <a:lstStyle/>
                    <a:p>
                      <a:pPr algn="ctr"/>
                      <a:r>
                        <a:rPr lang="el-GR" altLang="zh-TW" sz="1800" kern="1200" dirty="0">
                          <a:latin typeface="Times New Roman" panose="02020603050405020304" pitchFamily="18" charset="0"/>
                          <a:cs typeface="Times New Roman" panose="02020603050405020304" pitchFamily="18" charset="0"/>
                        </a:rPr>
                        <a:t>η</a:t>
                      </a:r>
                      <a:r>
                        <a:rPr lang="en-US" altLang="zh-TW" sz="1800" kern="1200" dirty="0">
                          <a:latin typeface="Times New Roman" panose="02020603050405020304" pitchFamily="18" charset="0"/>
                          <a:cs typeface="Times New Roman" panose="02020603050405020304" pitchFamily="18" charset="0"/>
                        </a:rPr>
                        <a:t>PD </a:t>
                      </a:r>
                      <a:endParaRPr lang="zh-TW"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800" kern="1200" dirty="0">
                          <a:latin typeface="Times New Roman" panose="02020603050405020304" pitchFamily="18" charset="0"/>
                          <a:cs typeface="Times New Roman" panose="02020603050405020304" pitchFamily="18" charset="0"/>
                        </a:rPr>
                        <a:t>0.995</a:t>
                      </a:r>
                      <a:endParaRPr lang="zh-TW"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18732953"/>
                  </a:ext>
                </a:extLst>
              </a:tr>
              <a:tr h="370840">
                <a:tc>
                  <a:txBody>
                    <a:bodyPr/>
                    <a:lstStyle/>
                    <a:p>
                      <a:r>
                        <a:rPr lang="en-US" altLang="zh-TW" dirty="0">
                          <a:latin typeface="Times New Roman" panose="02020603050405020304" pitchFamily="18" charset="0"/>
                          <a:cs typeface="Times New Roman" panose="02020603050405020304" pitchFamily="18" charset="0"/>
                        </a:rPr>
                        <a:t>PD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electronic noise</a:t>
                      </a:r>
                      <a:endParaRPr lang="zh-TW" altLang="en-US" dirty="0">
                        <a:latin typeface="Times New Roman" panose="02020603050405020304" pitchFamily="18" charset="0"/>
                        <a:cs typeface="Times New Roman" panose="02020603050405020304" pitchFamily="18" charset="0"/>
                      </a:endParaRPr>
                    </a:p>
                  </a:txBody>
                  <a:tcPr anchor="ctr">
                    <a:lnR w="12700" cap="flat" cmpd="sng" algn="ctr">
                      <a:solidFill>
                        <a:srgbClr val="483832"/>
                      </a:solidFill>
                      <a:prstDash val="solid"/>
                      <a:round/>
                      <a:headEnd type="none" w="med" len="med"/>
                      <a:tailEnd type="none" w="med" len="med"/>
                    </a:lnR>
                  </a:tcPr>
                </a:tc>
                <a:tc>
                  <a:txBody>
                    <a:bodyPr/>
                    <a:lstStyle/>
                    <a:p>
                      <a:pPr algn="ctr"/>
                      <a:r>
                        <a:rPr lang="el-GR" altLang="zh-TW" dirty="0">
                          <a:latin typeface="Times New Roman" panose="02020603050405020304" pitchFamily="18" charset="0"/>
                          <a:cs typeface="Times New Roman" panose="02020603050405020304" pitchFamily="18" charset="0"/>
                        </a:rPr>
                        <a:t>η</a:t>
                      </a:r>
                      <a:r>
                        <a:rPr lang="en-US" altLang="zh-TW" dirty="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800" kern="1200" dirty="0">
                          <a:latin typeface="Times New Roman" panose="02020603050405020304" pitchFamily="18" charset="0"/>
                          <a:cs typeface="Times New Roman" panose="02020603050405020304" pitchFamily="18" charset="0"/>
                        </a:rPr>
                        <a:t>0.98</a:t>
                      </a:r>
                      <a:endParaRPr lang="zh-TW"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515199105"/>
                  </a:ext>
                </a:extLst>
              </a:tr>
              <a:tr h="370840">
                <a:tc>
                  <a:txBody>
                    <a:bodyPr/>
                    <a:lstStyle/>
                    <a:p>
                      <a:r>
                        <a:rPr lang="en-US" altLang="zh-TW" dirty="0">
                          <a:latin typeface="Times New Roman" panose="02020603050405020304" pitchFamily="18" charset="0"/>
                          <a:cs typeface="Times New Roman" panose="02020603050405020304" pitchFamily="18" charset="0"/>
                        </a:rPr>
                        <a:t>Mode match(visibility)</a:t>
                      </a:r>
                      <a:endParaRPr lang="zh-TW" altLang="en-US" dirty="0">
                        <a:latin typeface="Times New Roman" panose="02020603050405020304" pitchFamily="18" charset="0"/>
                        <a:cs typeface="Times New Roman" panose="02020603050405020304" pitchFamily="18" charset="0"/>
                      </a:endParaRPr>
                    </a:p>
                  </a:txBody>
                  <a:tcPr anchor="ctr">
                    <a:lnR w="12700" cap="flat" cmpd="sng" algn="ctr">
                      <a:solidFill>
                        <a:srgbClr val="483832"/>
                      </a:solidFill>
                      <a:prstDash val="solid"/>
                      <a:round/>
                      <a:headEnd type="none" w="med" len="med"/>
                      <a:tailEnd type="none" w="med" len="med"/>
                    </a:lnR>
                  </a:tcPr>
                </a:tc>
                <a:tc>
                  <a:txBody>
                    <a:bodyPr/>
                    <a:lstStyle/>
                    <a:p>
                      <a:pPr algn="ctr"/>
                      <a:r>
                        <a:rPr lang="el-GR" altLang="zh-TW" dirty="0">
                          <a:latin typeface="Times New Roman" panose="02020603050405020304" pitchFamily="18" charset="0"/>
                          <a:cs typeface="Times New Roman" panose="02020603050405020304" pitchFamily="18" charset="0"/>
                        </a:rPr>
                        <a:t>η</a:t>
                      </a:r>
                      <a:r>
                        <a:rPr lang="en-US" altLang="zh-TW" dirty="0">
                          <a:latin typeface="Times New Roman" panose="02020603050405020304" pitchFamily="18" charset="0"/>
                          <a:cs typeface="Times New Roman" panose="02020603050405020304" pitchFamily="18" charset="0"/>
                        </a:rPr>
                        <a:t>vis </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800" kern="1200" dirty="0">
                          <a:latin typeface="Times New Roman" panose="02020603050405020304" pitchFamily="18" charset="0"/>
                          <a:cs typeface="Times New Roman" panose="02020603050405020304" pitchFamily="18" charset="0"/>
                        </a:rPr>
                        <a:t>0.9</a:t>
                      </a:r>
                      <a:endParaRPr lang="zh-TW"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8547654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Times New Roman" panose="02020603050405020304" pitchFamily="18" charset="0"/>
                        </a:rPr>
                        <a:t>Total detection efficiency</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lnR w="12700" cap="flat" cmpd="sng" algn="ctr">
                      <a:solidFill>
                        <a:srgbClr val="483832"/>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altLang="zh-TW" dirty="0">
                          <a:solidFill>
                            <a:srgbClr val="FF0000"/>
                          </a:solidFill>
                          <a:latin typeface="Times New Roman" panose="02020603050405020304" pitchFamily="18" charset="0"/>
                        </a:rPr>
                        <a:t>η</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800" kern="1200" dirty="0">
                          <a:solidFill>
                            <a:srgbClr val="FF0000"/>
                          </a:solidFill>
                          <a:latin typeface="Times New Roman" panose="02020603050405020304" pitchFamily="18" charset="0"/>
                          <a:ea typeface="+mn-ea"/>
                          <a:cs typeface="Times New Roman" panose="02020603050405020304" pitchFamily="18" charset="0"/>
                        </a:rPr>
                        <a:t>0.67</a:t>
                      </a:r>
                      <a:endParaRPr lang="zh-TW" altLang="en-US" sz="1800" kern="1200" dirty="0">
                        <a:solidFill>
                          <a:srgbClr val="FF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B w="12700" cap="flat" cmpd="sng" algn="ctr">
                      <a:solidFill>
                        <a:srgbClr val="483832"/>
                      </a:solidFill>
                      <a:prstDash val="solid"/>
                      <a:round/>
                      <a:headEnd type="none" w="med" len="med"/>
                      <a:tailEnd type="none" w="med" len="med"/>
                    </a:lnB>
                  </a:tcPr>
                </a:tc>
                <a:extLst>
                  <a:ext uri="{0D108BD9-81ED-4DB2-BD59-A6C34878D82A}">
                    <a16:rowId xmlns:a16="http://schemas.microsoft.com/office/drawing/2014/main" val="1859163801"/>
                  </a:ext>
                </a:extLst>
              </a:tr>
            </a:tbl>
          </a:graphicData>
        </a:graphic>
      </p:graphicFrame>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6D3F655A-6D69-4789-93F6-DE71802EC292}"/>
                  </a:ext>
                </a:extLst>
              </p:cNvPr>
              <p:cNvSpPr/>
              <p:nvPr/>
            </p:nvSpPr>
            <p:spPr>
              <a:xfrm>
                <a:off x="2072264" y="2011766"/>
                <a:ext cx="2843727" cy="369332"/>
              </a:xfrm>
              <a:prstGeom prst="rect">
                <a:avLst/>
              </a:prstGeom>
            </p:spPr>
            <p:txBody>
              <a:bodyPr wrap="none">
                <a:spAutoFit/>
              </a:bodyPr>
              <a:lstStyle/>
              <a:p>
                <a:r>
                  <a:rPr lang="el-GR" altLang="zh-TW" i="1" dirty="0">
                    <a:solidFill>
                      <a:srgbClr val="483832"/>
                    </a:solidFill>
                    <a:latin typeface="Cambria Math" panose="02040503050406030204" pitchFamily="18" charset="0"/>
                  </a:rPr>
                  <a:t>η = η</a:t>
                </a:r>
                <a:r>
                  <a:rPr lang="en-US" altLang="zh-TW" i="1" dirty="0">
                    <a:solidFill>
                      <a:srgbClr val="483832"/>
                    </a:solidFill>
                    <a:latin typeface="Cambria Math" panose="02040503050406030204" pitchFamily="18" charset="0"/>
                  </a:rPr>
                  <a:t>F · </a:t>
                </a:r>
                <a:r>
                  <a:rPr lang="el-GR" altLang="zh-TW" i="1" dirty="0">
                    <a:solidFill>
                      <a:srgbClr val="483832"/>
                    </a:solidFill>
                    <a:latin typeface="Cambria Math" panose="02040503050406030204" pitchFamily="18" charset="0"/>
                  </a:rPr>
                  <a:t>η</a:t>
                </a:r>
                <a:r>
                  <a:rPr lang="en-US" altLang="zh-TW" i="1" dirty="0">
                    <a:solidFill>
                      <a:srgbClr val="483832"/>
                    </a:solidFill>
                    <a:latin typeface="Cambria Math" panose="02040503050406030204" pitchFamily="18" charset="0"/>
                  </a:rPr>
                  <a:t>f · </a:t>
                </a:r>
                <a:r>
                  <a:rPr lang="el-GR" altLang="zh-TW" i="1" dirty="0">
                    <a:solidFill>
                      <a:srgbClr val="483832"/>
                    </a:solidFill>
                    <a:latin typeface="Cambria Math" panose="02040503050406030204" pitchFamily="18" charset="0"/>
                  </a:rPr>
                  <a:t>η</a:t>
                </a:r>
                <a:r>
                  <a:rPr lang="en-US" altLang="zh-TW" i="1" dirty="0">
                    <a:solidFill>
                      <a:srgbClr val="483832"/>
                    </a:solidFill>
                    <a:latin typeface="Cambria Math" panose="02040503050406030204" pitchFamily="18" charset="0"/>
                  </a:rPr>
                  <a:t>PD ·</a:t>
                </a:r>
                <a:r>
                  <a:rPr lang="el-GR" altLang="zh-TW" i="1" dirty="0">
                    <a:solidFill>
                      <a:srgbClr val="483832"/>
                    </a:solidFill>
                    <a:latin typeface="Cambria Math" panose="02040503050406030204" pitchFamily="18" charset="0"/>
                  </a:rPr>
                  <a:t>η</a:t>
                </a:r>
                <a:r>
                  <a:rPr lang="en-US" altLang="zh-TW" i="1" dirty="0">
                    <a:solidFill>
                      <a:srgbClr val="483832"/>
                    </a:solidFill>
                    <a:latin typeface="Cambria Math" panose="02040503050406030204" pitchFamily="18" charset="0"/>
                  </a:rPr>
                  <a:t>e ·</a:t>
                </a:r>
                <a:r>
                  <a:rPr lang="el-GR" altLang="zh-TW" i="1" dirty="0">
                    <a:solidFill>
                      <a:srgbClr val="483832"/>
                    </a:solidFill>
                    <a:latin typeface="Cambria Math" panose="02040503050406030204" pitchFamily="18" charset="0"/>
                  </a:rPr>
                  <a:t> </a:t>
                </a:r>
                <a14:m>
                  <m:oMath xmlns:m="http://schemas.openxmlformats.org/officeDocument/2006/math">
                    <m:sSup>
                      <m:sSupPr>
                        <m:ctrlPr>
                          <a:rPr lang="el-GR" altLang="zh-TW" i="1" dirty="0">
                            <a:solidFill>
                              <a:srgbClr val="483832"/>
                            </a:solidFill>
                            <a:latin typeface="Cambria Math" panose="02040503050406030204" pitchFamily="18" charset="0"/>
                          </a:rPr>
                        </m:ctrlPr>
                      </m:sSupPr>
                      <m:e>
                        <m:r>
                          <a:rPr lang="el-GR" altLang="zh-TW" i="1" dirty="0">
                            <a:solidFill>
                              <a:srgbClr val="483832"/>
                            </a:solidFill>
                            <a:latin typeface="Cambria Math" panose="02040503050406030204" pitchFamily="18" charset="0"/>
                          </a:rPr>
                          <m:t>𝜂</m:t>
                        </m:r>
                        <m:r>
                          <a:rPr lang="en-US" altLang="zh-TW" i="1" dirty="0">
                            <a:solidFill>
                              <a:srgbClr val="483832"/>
                            </a:solidFill>
                            <a:latin typeface="Cambria Math" panose="02040503050406030204" pitchFamily="18" charset="0"/>
                          </a:rPr>
                          <m:t>𝑣𝑖𝑠</m:t>
                        </m:r>
                      </m:e>
                      <m:sup>
                        <m:r>
                          <a:rPr lang="en-US" altLang="zh-TW" i="1" dirty="0">
                            <a:solidFill>
                              <a:srgbClr val="483832"/>
                            </a:solidFill>
                            <a:latin typeface="Cambria Math" panose="02040503050406030204" pitchFamily="18" charset="0"/>
                          </a:rPr>
                          <m:t>2</m:t>
                        </m:r>
                      </m:sup>
                    </m:sSup>
                  </m:oMath>
                </a14:m>
                <a:endParaRPr lang="zh-TW" altLang="en-US" dirty="0"/>
              </a:p>
            </p:txBody>
          </p:sp>
        </mc:Choice>
        <mc:Fallback xmlns="">
          <p:sp>
            <p:nvSpPr>
              <p:cNvPr id="11" name="矩形 10">
                <a:extLst>
                  <a:ext uri="{FF2B5EF4-FFF2-40B4-BE49-F238E27FC236}">
                    <a16:creationId xmlns:a16="http://schemas.microsoft.com/office/drawing/2014/main" id="{6D3F655A-6D69-4789-93F6-DE71802EC292}"/>
                  </a:ext>
                </a:extLst>
              </p:cNvPr>
              <p:cNvSpPr>
                <a:spLocks noRot="1" noChangeAspect="1" noMove="1" noResize="1" noEditPoints="1" noAdjustHandles="1" noChangeArrowheads="1" noChangeShapeType="1" noTextEdit="1"/>
              </p:cNvSpPr>
              <p:nvPr/>
            </p:nvSpPr>
            <p:spPr>
              <a:xfrm>
                <a:off x="2072264" y="2011766"/>
                <a:ext cx="2843727" cy="369332"/>
              </a:xfrm>
              <a:prstGeom prst="rect">
                <a:avLst/>
              </a:prstGeom>
              <a:blipFill>
                <a:blip r:embed="rId4"/>
                <a:stretch>
                  <a:fillRect l="-1931" t="-9836" b="-229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3913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25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B7D6CB7-BE41-4407-8484-5095438BF9F1}"/>
              </a:ext>
            </a:extLst>
          </p:cNvPr>
          <p:cNvSpPr>
            <a:spLocks noGrp="1"/>
          </p:cNvSpPr>
          <p:nvPr>
            <p:ph type="sldNum" sz="quarter" idx="12"/>
          </p:nvPr>
        </p:nvSpPr>
        <p:spPr/>
        <p:txBody>
          <a:bodyPr/>
          <a:lstStyle/>
          <a:p>
            <a:fld id="{9820161B-3DFF-4FF5-AA0E-35496F014571}" type="slidenum">
              <a:rPr lang="zh-TW" altLang="en-US" smtClean="0"/>
              <a:t>47</a:t>
            </a:fld>
            <a:endParaRPr lang="zh-TW" altLang="en-US"/>
          </a:p>
        </p:txBody>
      </p:sp>
      <p:sp>
        <p:nvSpPr>
          <p:cNvPr id="4" name="矩形 3">
            <a:extLst>
              <a:ext uri="{FF2B5EF4-FFF2-40B4-BE49-F238E27FC236}">
                <a16:creationId xmlns:a16="http://schemas.microsoft.com/office/drawing/2014/main" id="{120E6323-46C8-462B-A50E-810BF0BD03DF}"/>
              </a:ext>
            </a:extLst>
          </p:cNvPr>
          <p:cNvSpPr/>
          <p:nvPr/>
        </p:nvSpPr>
        <p:spPr>
          <a:xfrm>
            <a:off x="691200" y="866616"/>
            <a:ext cx="6456137" cy="2969531"/>
          </a:xfrm>
          <a:prstGeom prst="rect">
            <a:avLst/>
          </a:prstGeom>
        </p:spPr>
        <p:txBody>
          <a:bodyPr wrap="square">
            <a:spAutoFit/>
          </a:bodyPr>
          <a:lstStyle/>
          <a:p>
            <a:pPr marL="514350" indent="-514350">
              <a:lnSpc>
                <a:spcPct val="150000"/>
              </a:lnSpc>
              <a:buAutoNum type="romanUcPeriod"/>
            </a:pPr>
            <a:r>
              <a:rPr lang="en-US" altLang="zh-TW" sz="2000" b="1" dirty="0">
                <a:solidFill>
                  <a:srgbClr val="483832"/>
                </a:solidFill>
                <a:latin typeface="Times New Roman" panose="02020603050405020304" pitchFamily="18" charset="0"/>
              </a:rPr>
              <a:t>Introduction</a:t>
            </a:r>
          </a:p>
          <a:p>
            <a:pPr marL="514350" indent="-514350">
              <a:lnSpc>
                <a:spcPct val="150000"/>
              </a:lnSpc>
              <a:buFontTx/>
              <a:buAutoNum type="romanUcPeriod"/>
            </a:pPr>
            <a:r>
              <a:rPr lang="en-US" altLang="zh-TW" sz="2000" b="1" dirty="0">
                <a:solidFill>
                  <a:srgbClr val="483832"/>
                </a:solidFill>
                <a:latin typeface="Times New Roman" panose="02020603050405020304" pitchFamily="18" charset="0"/>
              </a:rPr>
              <a:t>Theory</a:t>
            </a:r>
          </a:p>
          <a:p>
            <a:pPr marL="514350" indent="-514350">
              <a:lnSpc>
                <a:spcPct val="150000"/>
              </a:lnSpc>
              <a:buFontTx/>
              <a:buAutoNum type="romanUcPeriod"/>
            </a:pPr>
            <a:r>
              <a:rPr lang="en-US" altLang="zh-TW" sz="2000" b="1" dirty="0">
                <a:solidFill>
                  <a:srgbClr val="483832"/>
                </a:solidFill>
                <a:latin typeface="Times New Roman" panose="02020603050405020304" pitchFamily="18" charset="0"/>
              </a:rPr>
              <a:t>Simulation</a:t>
            </a:r>
          </a:p>
          <a:p>
            <a:pPr marL="514350" indent="-514350">
              <a:lnSpc>
                <a:spcPct val="150000"/>
              </a:lnSpc>
              <a:buFontTx/>
              <a:buAutoNum type="romanUcPeriod"/>
            </a:pPr>
            <a:r>
              <a:rPr lang="en-US" altLang="zh-TW" sz="2000" b="1"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Fabrication process</a:t>
            </a:r>
          </a:p>
          <a:p>
            <a:pPr marL="514350" indent="-514350">
              <a:lnSpc>
                <a:spcPct val="150000"/>
              </a:lnSpc>
              <a:buFontTx/>
              <a:buAutoNum type="romanUcPeriod"/>
            </a:pPr>
            <a:r>
              <a:rPr lang="en-US" altLang="zh-TW" sz="2000" b="1" dirty="0">
                <a:solidFill>
                  <a:srgbClr val="483832"/>
                </a:solidFill>
                <a:latin typeface="Times New Roman" panose="02020603050405020304" pitchFamily="18" charset="0"/>
              </a:rPr>
              <a:t>Experimental Results and Analysis</a:t>
            </a:r>
          </a:p>
          <a:p>
            <a:pPr marL="514350" indent="-514350">
              <a:lnSpc>
                <a:spcPct val="150000"/>
              </a:lnSpc>
              <a:buFontTx/>
              <a:buAutoNum type="romanUcPeriod"/>
            </a:pPr>
            <a:r>
              <a:rPr lang="en-US" altLang="zh-TW" sz="2400" b="1" kern="100" dirty="0">
                <a:solidFill>
                  <a:srgbClr val="FF0000"/>
                </a:solidFill>
                <a:latin typeface="Times New Roman" panose="02020603050405020304" pitchFamily="18" charset="0"/>
                <a:ea typeface="DFKai-SB" panose="03000509000000000000" pitchFamily="65" charset="-120"/>
                <a:cs typeface="Times New Roman" panose="02020603050405020304" pitchFamily="18" charset="0"/>
              </a:rPr>
              <a:t>Conclusion and future work</a:t>
            </a:r>
            <a:endParaRPr lang="en-US" altLang="zh-TW" sz="2400" b="1"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17092071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227B4577-E0C4-4D70-897A-67BBFC92B70A}"/>
                  </a:ext>
                </a:extLst>
              </p:cNvPr>
              <p:cNvSpPr txBox="1"/>
              <p:nvPr/>
            </p:nvSpPr>
            <p:spPr>
              <a:xfrm>
                <a:off x="1017510" y="929600"/>
                <a:ext cx="10400820" cy="5628720"/>
              </a:xfrm>
              <a:prstGeom prst="rect">
                <a:avLst/>
              </a:prstGeom>
              <a:noFill/>
            </p:spPr>
            <p:txBody>
              <a:bodyPr wrap="square" rtlCol="0">
                <a:spAutoFit/>
              </a:bodyPr>
              <a:lstStyle/>
              <a:p>
                <a:pPr>
                  <a:lnSpc>
                    <a:spcPct val="150000"/>
                  </a:lnSpc>
                </a:pPr>
                <a:r>
                  <a:rPr lang="en-US" altLang="zh-TW" sz="2400" dirty="0">
                    <a:solidFill>
                      <a:srgbClr val="483832"/>
                    </a:solidFill>
                    <a:latin typeface="Times New Roman" panose="02020603050405020304" pitchFamily="18" charset="0"/>
                  </a:rPr>
                  <a:t>We demonstrated :</a:t>
                </a:r>
                <a:endParaRPr lang="en-US" altLang="zh-TW" sz="2000" dirty="0">
                  <a:solidFill>
                    <a:srgbClr val="FFA3A5"/>
                  </a:solidFill>
                  <a:latin typeface="Times New Roman" panose="02020603050405020304" pitchFamily="18" charset="0"/>
                </a:endParaRP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Successfully fabricated the periodically poled lithium niobite(PPLN) cascaded adiabatic beam splitter</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on chip.</a:t>
                </a: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PPLN normalize second harmonic generation efficiency </a:t>
                </a:r>
                <a:r>
                  <a:rPr lang="en-US" altLang="zh-TW" sz="2000" dirty="0">
                    <a:solidFill>
                      <a:srgbClr val="483832"/>
                    </a:solidFill>
                    <a:highlight>
                      <a:srgbClr val="FFAFB1"/>
                    </a:highlight>
                    <a:latin typeface="Times New Roman" panose="02020603050405020304" pitchFamily="18" charset="0"/>
                  </a:rPr>
                  <a:t>15.8%/W/cm</a:t>
                </a:r>
                <a:r>
                  <a:rPr lang="en-US" altLang="zh-TW" sz="2000" baseline="30000" dirty="0">
                    <a:solidFill>
                      <a:srgbClr val="483832"/>
                    </a:solidFill>
                    <a:highlight>
                      <a:srgbClr val="FFAFB1"/>
                    </a:highlight>
                    <a:latin typeface="Times New Roman" panose="02020603050405020304" pitchFamily="18" charset="0"/>
                  </a:rPr>
                  <a:t>2</a:t>
                </a:r>
                <a:r>
                  <a:rPr lang="en-US" altLang="zh-TW" sz="2000" dirty="0">
                    <a:solidFill>
                      <a:srgbClr val="483832"/>
                    </a:solidFill>
                    <a:latin typeface="Times New Roman" panose="02020603050405020304" pitchFamily="18" charset="0"/>
                  </a:rPr>
                  <a:t> with 15mm QPM length.</a:t>
                </a: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Adiabatic coupler as beam splitter which the characteristic </a:t>
                </a:r>
                <a:r>
                  <a:rPr lang="en-US" altLang="zh-TW" sz="2000" dirty="0">
                    <a:solidFill>
                      <a:srgbClr val="483832"/>
                    </a:solidFill>
                    <a:highlight>
                      <a:srgbClr val="FFAFB1"/>
                    </a:highlight>
                    <a:latin typeface="Times New Roman" panose="02020603050405020304" pitchFamily="18" charset="0"/>
                  </a:rPr>
                  <a:t>ER&gt;10dB with 68nm bandwidth,</a:t>
                </a:r>
                <a:r>
                  <a:rPr lang="en-US" altLang="zh-TW" sz="2000" dirty="0">
                    <a:solidFill>
                      <a:srgbClr val="483832"/>
                    </a:solidFill>
                    <a:latin typeface="Times New Roman" panose="02020603050405020304" pitchFamily="18" charset="0"/>
                  </a:rPr>
                  <a:t> </a:t>
                </a:r>
                <a:r>
                  <a:rPr lang="en-US" altLang="zh-TW" sz="2000" dirty="0">
                    <a:solidFill>
                      <a:srgbClr val="483832"/>
                    </a:solidFill>
                    <a:highlight>
                      <a:srgbClr val="FFAFB1"/>
                    </a:highlight>
                    <a:latin typeface="Times New Roman" panose="02020603050405020304" pitchFamily="18" charset="0"/>
                  </a:rPr>
                  <a:t>ER&gt;20dB with 18nm bandwidth</a:t>
                </a:r>
                <a:r>
                  <a:rPr lang="en-US" altLang="zh-TW" sz="2000" dirty="0">
                    <a:solidFill>
                      <a:srgbClr val="483832"/>
                    </a:solidFill>
                    <a:latin typeface="Times New Roman" panose="02020603050405020304" pitchFamily="18" charset="0"/>
                  </a:rPr>
                  <a:t> and </a:t>
                </a:r>
                <a:r>
                  <a:rPr lang="en-US" altLang="zh-TW" sz="2000" dirty="0">
                    <a:solidFill>
                      <a:srgbClr val="483832"/>
                    </a:solidFill>
                    <a:highlight>
                      <a:srgbClr val="FFAFB1"/>
                    </a:highlight>
                    <a:latin typeface="Times New Roman" panose="02020603050405020304" pitchFamily="18" charset="0"/>
                  </a:rPr>
                  <a:t>coupling ratio up to 99.5% at 1550nm</a:t>
                </a:r>
                <a:r>
                  <a:rPr lang="en-US" altLang="zh-TW" sz="2000" dirty="0">
                    <a:solidFill>
                      <a:srgbClr val="483832"/>
                    </a:solidFill>
                    <a:latin typeface="Times New Roman" panose="02020603050405020304" pitchFamily="18" charset="0"/>
                  </a:rPr>
                  <a:t>.</a:t>
                </a:r>
              </a:p>
              <a:p>
                <a:pPr marL="457200" indent="-457200">
                  <a:lnSpc>
                    <a:spcPct val="150000"/>
                  </a:lnSpc>
                  <a:buFont typeface="+mj-lt"/>
                  <a:buAutoNum type="arabicPeriod"/>
                </a:pPr>
                <a:r>
                  <a:rPr lang="en-US" altLang="zh-TW" sz="2000" dirty="0">
                    <a:solidFill>
                      <a:srgbClr val="483832"/>
                    </a:solidFill>
                    <a:highlight>
                      <a:srgbClr val="FFAFB1"/>
                    </a:highlight>
                    <a:latin typeface="Times New Roman" panose="02020603050405020304" pitchFamily="18" charset="0"/>
                  </a:rPr>
                  <a:t>Optimized on-chip squeezer measurement setup</a:t>
                </a:r>
                <a:r>
                  <a:rPr lang="en-US" altLang="zh-TW" sz="2000" dirty="0">
                    <a:solidFill>
                      <a:srgbClr val="483832"/>
                    </a:solidFill>
                    <a:latin typeface="Times New Roman" panose="02020603050405020304" pitchFamily="18" charset="0"/>
                  </a:rPr>
                  <a:t>, including 775nm pump wavelength coupling efficiency in waveguide, mode matching.</a:t>
                </a: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775nm coupling efficiency improved by fiber coupling, from </a:t>
                </a:r>
                <a:r>
                  <a:rPr lang="en-US" altLang="zh-TW" sz="2000" dirty="0">
                    <a:solidFill>
                      <a:srgbClr val="483832"/>
                    </a:solidFill>
                    <a:highlight>
                      <a:srgbClr val="FFAFB1"/>
                    </a:highlight>
                    <a:latin typeface="Times New Roman" panose="02020603050405020304" pitchFamily="18" charset="0"/>
                  </a:rPr>
                  <a:t>-8.5dB to-4.8dB</a:t>
                </a:r>
                <a:r>
                  <a:rPr lang="en-US" altLang="zh-TW" sz="2000" dirty="0">
                    <a:solidFill>
                      <a:srgbClr val="483832"/>
                    </a:solidFill>
                    <a:latin typeface="Times New Roman" panose="02020603050405020304" pitchFamily="18" charset="0"/>
                  </a:rPr>
                  <a:t>.</a:t>
                </a:r>
                <a:endParaRPr lang="en-US" altLang="zh-TW" sz="2000" dirty="0">
                  <a:solidFill>
                    <a:srgbClr val="483832"/>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cs typeface="Times New Roman" panose="02020603050405020304" pitchFamily="18" charset="0"/>
                  </a:rPr>
                  <a:t>Mode matching via fiber mode(</a:t>
                </a:r>
                <a14:m>
                  <m:oMath xmlns:m="http://schemas.openxmlformats.org/officeDocument/2006/math">
                    <m:sSub>
                      <m:sSubPr>
                        <m:ctrlPr>
                          <a:rPr lang="zh-TW" altLang="zh-TW" sz="2000" i="1">
                            <a:solidFill>
                              <a:srgbClr val="483832"/>
                            </a:solidFill>
                            <a:highlight>
                              <a:srgbClr val="FFAFB1"/>
                            </a:highlight>
                            <a:latin typeface="Cambria Math" panose="02040503050406030204" pitchFamily="18" charset="0"/>
                          </a:rPr>
                        </m:ctrlPr>
                      </m:sSubPr>
                      <m:e>
                        <m:r>
                          <a:rPr lang="en-US" altLang="zh-TW" sz="2000">
                            <a:solidFill>
                              <a:srgbClr val="483832"/>
                            </a:solidFill>
                            <a:highlight>
                              <a:srgbClr val="FFAFB1"/>
                            </a:highlight>
                            <a:latin typeface="Cambria Math" panose="02040503050406030204" pitchFamily="18" charset="0"/>
                          </a:rPr>
                          <m:t>𝜂</m:t>
                        </m:r>
                      </m:e>
                      <m:sub>
                        <m:r>
                          <a:rPr lang="en-US" altLang="zh-TW" sz="2000">
                            <a:solidFill>
                              <a:srgbClr val="483832"/>
                            </a:solidFill>
                            <a:highlight>
                              <a:srgbClr val="FFAFB1"/>
                            </a:highlight>
                            <a:latin typeface="Cambria Math" panose="02040503050406030204" pitchFamily="18" charset="0"/>
                          </a:rPr>
                          <m:t>𝑣𝑖𝑠</m:t>
                        </m:r>
                      </m:sub>
                    </m:sSub>
                    <m:r>
                      <m:rPr>
                        <m:nor/>
                      </m:rPr>
                      <a:rPr lang="en-US" altLang="zh-TW" dirty="0">
                        <a:solidFill>
                          <a:srgbClr val="483832"/>
                        </a:solidFill>
                        <a:highlight>
                          <a:srgbClr val="FFAFB1"/>
                        </a:highlight>
                        <a:latin typeface="Times New Roman" panose="02020603050405020304" pitchFamily="18" charset="0"/>
                      </a:rPr>
                      <m:t>~0.7</m:t>
                    </m:r>
                  </m:oMath>
                </a14:m>
                <a:r>
                  <a:rPr lang="en-US" altLang="zh-TW" dirty="0">
                    <a:latin typeface="Times New Roman" panose="02020603050405020304" pitchFamily="18" charset="0"/>
                    <a:cs typeface="Times New Roman" panose="02020603050405020304" pitchFamily="18" charset="0"/>
                  </a:rPr>
                  <a:t>)</a:t>
                </a:r>
                <a:r>
                  <a:rPr lang="en-US" altLang="zh-TW" sz="2000" dirty="0">
                    <a:solidFill>
                      <a:srgbClr val="483832"/>
                    </a:solidFill>
                    <a:latin typeface="Times New Roman" panose="02020603050405020304" pitchFamily="18" charset="0"/>
                    <a:cs typeface="Times New Roman" panose="02020603050405020304" pitchFamily="18" charset="0"/>
                  </a:rPr>
                  <a:t> replaced by waveguide mode(</a:t>
                </a:r>
                <a14:m>
                  <m:oMath xmlns:m="http://schemas.openxmlformats.org/officeDocument/2006/math">
                    <m:sSub>
                      <m:sSubPr>
                        <m:ctrlPr>
                          <a:rPr lang="zh-TW" altLang="zh-TW" sz="2000" i="1">
                            <a:solidFill>
                              <a:srgbClr val="483832"/>
                            </a:solidFill>
                            <a:highlight>
                              <a:srgbClr val="FFAFB1"/>
                            </a:highlight>
                            <a:latin typeface="Cambria Math" panose="02040503050406030204" pitchFamily="18" charset="0"/>
                          </a:rPr>
                        </m:ctrlPr>
                      </m:sSubPr>
                      <m:e>
                        <m:r>
                          <a:rPr lang="en-US" altLang="zh-TW" sz="2000">
                            <a:solidFill>
                              <a:srgbClr val="483832"/>
                            </a:solidFill>
                            <a:highlight>
                              <a:srgbClr val="FFAFB1"/>
                            </a:highlight>
                            <a:latin typeface="Cambria Math" panose="02040503050406030204" pitchFamily="18" charset="0"/>
                          </a:rPr>
                          <m:t>𝜂</m:t>
                        </m:r>
                      </m:e>
                      <m:sub>
                        <m:r>
                          <a:rPr lang="en-US" altLang="zh-TW" sz="2000">
                            <a:solidFill>
                              <a:srgbClr val="483832"/>
                            </a:solidFill>
                            <a:highlight>
                              <a:srgbClr val="FFAFB1"/>
                            </a:highlight>
                            <a:latin typeface="Cambria Math" panose="02040503050406030204" pitchFamily="18" charset="0"/>
                          </a:rPr>
                          <m:t>𝑣𝑖𝑠</m:t>
                        </m:r>
                      </m:sub>
                    </m:sSub>
                    <m:r>
                      <m:rPr>
                        <m:nor/>
                      </m:rPr>
                      <a:rPr lang="en-US" altLang="zh-TW" dirty="0">
                        <a:solidFill>
                          <a:srgbClr val="483832"/>
                        </a:solidFill>
                        <a:highlight>
                          <a:srgbClr val="FFAFB1"/>
                        </a:highlight>
                        <a:latin typeface="Times New Roman" panose="02020603050405020304" pitchFamily="18" charset="0"/>
                      </a:rPr>
                      <m:t>=0.8~0.9</m:t>
                    </m:r>
                  </m:oMath>
                </a14:m>
                <a:r>
                  <a:rPr lang="en-US" altLang="zh-TW" dirty="0">
                    <a:latin typeface="Times New Roman" panose="02020603050405020304" pitchFamily="18" charset="0"/>
                    <a:cs typeface="Times New Roman" panose="02020603050405020304" pitchFamily="18" charset="0"/>
                  </a:rPr>
                  <a:t>)</a:t>
                </a:r>
                <a:r>
                  <a:rPr lang="en-US" altLang="zh-TW" sz="2000" dirty="0">
                    <a:solidFill>
                      <a:srgbClr val="483832"/>
                    </a:solidFill>
                    <a:latin typeface="Times New Roman" panose="02020603050405020304" pitchFamily="18" charset="0"/>
                    <a:cs typeface="Times New Roman" panose="02020603050405020304" pitchFamily="18" charset="0"/>
                  </a:rPr>
                  <a:t>.</a:t>
                </a:r>
              </a:p>
              <a:p>
                <a:pPr marL="457200" indent="-457200">
                  <a:lnSpc>
                    <a:spcPct val="150000"/>
                  </a:lnSpc>
                  <a:buFont typeface="+mj-lt"/>
                  <a:buAutoNum type="arabicPeriod"/>
                </a:pPr>
                <a:endParaRPr lang="en-US" altLang="zh-TW" sz="2000" dirty="0">
                  <a:solidFill>
                    <a:srgbClr val="483832"/>
                  </a:solidFill>
                  <a:latin typeface="Times New Roman" panose="02020603050405020304" pitchFamily="18" charset="0"/>
                </a:endParaRPr>
              </a:p>
              <a:p>
                <a:pPr>
                  <a:lnSpc>
                    <a:spcPct val="150000"/>
                  </a:lnSpc>
                </a:pPr>
                <a:endParaRPr lang="en-US" altLang="zh-TW" dirty="0">
                  <a:solidFill>
                    <a:srgbClr val="483832"/>
                  </a:solidFill>
                  <a:latin typeface="Times New Roman" panose="02020603050405020304" pitchFamily="18" charset="0"/>
                </a:endParaRPr>
              </a:p>
            </p:txBody>
          </p:sp>
        </mc:Choice>
        <mc:Fallback xmlns="">
          <p:sp>
            <p:nvSpPr>
              <p:cNvPr id="2" name="文字方塊 1">
                <a:extLst>
                  <a:ext uri="{FF2B5EF4-FFF2-40B4-BE49-F238E27FC236}">
                    <a16:creationId xmlns:a16="http://schemas.microsoft.com/office/drawing/2014/main" id="{227B4577-E0C4-4D70-897A-67BBFC92B70A}"/>
                  </a:ext>
                </a:extLst>
              </p:cNvPr>
              <p:cNvSpPr txBox="1">
                <a:spLocks noRot="1" noChangeAspect="1" noMove="1" noResize="1" noEditPoints="1" noAdjustHandles="1" noChangeArrowheads="1" noChangeShapeType="1" noTextEdit="1"/>
              </p:cNvSpPr>
              <p:nvPr/>
            </p:nvSpPr>
            <p:spPr>
              <a:xfrm>
                <a:off x="1017510" y="929600"/>
                <a:ext cx="10400820" cy="5628720"/>
              </a:xfrm>
              <a:prstGeom prst="rect">
                <a:avLst/>
              </a:prstGeom>
              <a:blipFill>
                <a:blip r:embed="rId3"/>
                <a:stretch>
                  <a:fillRect l="-938" r="-821"/>
                </a:stretch>
              </a:blipFill>
            </p:spPr>
            <p:txBody>
              <a:bodyPr/>
              <a:lstStyle/>
              <a:p>
                <a:r>
                  <a:rPr lang="zh-TW" altLang="en-US">
                    <a:noFill/>
                  </a:rPr>
                  <a:t> </a:t>
                </a:r>
              </a:p>
            </p:txBody>
          </p:sp>
        </mc:Fallback>
      </mc:AlternateContent>
      <p:sp>
        <p:nvSpPr>
          <p:cNvPr id="3" name="投影片編號版面配置區 2">
            <a:extLst>
              <a:ext uri="{FF2B5EF4-FFF2-40B4-BE49-F238E27FC236}">
                <a16:creationId xmlns:a16="http://schemas.microsoft.com/office/drawing/2014/main" id="{D7011274-B5B8-4ABE-B1EA-A565196697A7}"/>
              </a:ext>
            </a:extLst>
          </p:cNvPr>
          <p:cNvSpPr>
            <a:spLocks noGrp="1"/>
          </p:cNvSpPr>
          <p:nvPr>
            <p:ph type="sldNum" sz="quarter" idx="12"/>
          </p:nvPr>
        </p:nvSpPr>
        <p:spPr/>
        <p:txBody>
          <a:bodyPr/>
          <a:lstStyle/>
          <a:p>
            <a:fld id="{9820161B-3DFF-4FF5-AA0E-35496F014571}" type="slidenum">
              <a:rPr lang="zh-TW" altLang="en-US" smtClean="0"/>
              <a:t>48</a:t>
            </a:fld>
            <a:endParaRPr lang="zh-TW" altLang="en-US"/>
          </a:p>
        </p:txBody>
      </p:sp>
      <p:sp>
        <p:nvSpPr>
          <p:cNvPr id="4" name="文字版面配置區 3">
            <a:extLst>
              <a:ext uri="{FF2B5EF4-FFF2-40B4-BE49-F238E27FC236}">
                <a16:creationId xmlns:a16="http://schemas.microsoft.com/office/drawing/2014/main" id="{6E0A9B44-FA6E-4C68-AC50-9030E4F88600}"/>
              </a:ext>
            </a:extLst>
          </p:cNvPr>
          <p:cNvSpPr>
            <a:spLocks noGrp="1"/>
          </p:cNvSpPr>
          <p:nvPr>
            <p:ph type="body" sz="half" idx="13"/>
          </p:nvPr>
        </p:nvSpPr>
        <p:spPr>
          <a:xfrm>
            <a:off x="3454401" y="16590"/>
            <a:ext cx="5283200" cy="660417"/>
          </a:xfrm>
        </p:spPr>
        <p:txBody>
          <a:bodyPr>
            <a:normAutofit/>
          </a:bodyPr>
          <a:lstStyle/>
          <a:p>
            <a:r>
              <a:rPr lang="en-US" altLang="zh-TW" kern="100" dirty="0">
                <a:ea typeface="DFKai-SB" panose="03000509000000000000" pitchFamily="65" charset="-120"/>
              </a:rPr>
              <a:t>Conclusion</a:t>
            </a:r>
          </a:p>
        </p:txBody>
      </p:sp>
    </p:spTree>
    <p:extLst>
      <p:ext uri="{BB962C8B-B14F-4D97-AF65-F5344CB8AC3E}">
        <p14:creationId xmlns:p14="http://schemas.microsoft.com/office/powerpoint/2010/main" val="3663433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B2753F26-4631-40AA-AC58-FE5E143FFBD3}"/>
              </a:ext>
            </a:extLst>
          </p:cNvPr>
          <p:cNvSpPr>
            <a:spLocks noGrp="1"/>
          </p:cNvSpPr>
          <p:nvPr>
            <p:ph type="body" sz="half" idx="13"/>
          </p:nvPr>
        </p:nvSpPr>
        <p:spPr/>
        <p:txBody>
          <a:bodyPr/>
          <a:lstStyle/>
          <a:p>
            <a:r>
              <a:rPr lang="en-US" altLang="zh-TW" kern="100" dirty="0">
                <a:ea typeface="DFKai-SB" panose="03000509000000000000" pitchFamily="65" charset="-120"/>
              </a:rPr>
              <a:t>Future work</a:t>
            </a:r>
            <a:endParaRPr lang="zh-TW" altLang="en-US" dirty="0"/>
          </a:p>
        </p:txBody>
      </p:sp>
      <p:sp>
        <p:nvSpPr>
          <p:cNvPr id="3" name="投影片編號版面配置區 2">
            <a:extLst>
              <a:ext uri="{FF2B5EF4-FFF2-40B4-BE49-F238E27FC236}">
                <a16:creationId xmlns:a16="http://schemas.microsoft.com/office/drawing/2014/main" id="{2B11F8A9-0AD3-4417-9D88-529681E8DCB5}"/>
              </a:ext>
            </a:extLst>
          </p:cNvPr>
          <p:cNvSpPr>
            <a:spLocks noGrp="1"/>
          </p:cNvSpPr>
          <p:nvPr>
            <p:ph type="sldNum" sz="quarter" idx="12"/>
          </p:nvPr>
        </p:nvSpPr>
        <p:spPr/>
        <p:txBody>
          <a:bodyPr/>
          <a:lstStyle/>
          <a:p>
            <a:fld id="{9820161B-3DFF-4FF5-AA0E-35496F014571}" type="slidenum">
              <a:rPr lang="zh-TW" altLang="en-US" smtClean="0"/>
              <a:t>49</a:t>
            </a:fld>
            <a:endParaRPr lang="zh-TW" altLang="en-US"/>
          </a:p>
        </p:txBody>
      </p:sp>
      <p:sp>
        <p:nvSpPr>
          <p:cNvPr id="4" name="矩形 3">
            <a:extLst>
              <a:ext uri="{FF2B5EF4-FFF2-40B4-BE49-F238E27FC236}">
                <a16:creationId xmlns:a16="http://schemas.microsoft.com/office/drawing/2014/main" id="{87AECA6C-1DEB-446E-9A47-371E609462FB}"/>
              </a:ext>
            </a:extLst>
          </p:cNvPr>
          <p:cNvSpPr/>
          <p:nvPr/>
        </p:nvSpPr>
        <p:spPr>
          <a:xfrm>
            <a:off x="1363980" y="1240677"/>
            <a:ext cx="9667240" cy="4376647"/>
          </a:xfrm>
          <a:prstGeom prst="rect">
            <a:avLst/>
          </a:prstGeom>
        </p:spPr>
        <p:txBody>
          <a:bodyPr wrap="square">
            <a:spAutoFit/>
          </a:bodyPr>
          <a:lstStyle/>
          <a:p>
            <a:pPr marL="342900" indent="-342900">
              <a:lnSpc>
                <a:spcPct val="150000"/>
              </a:lnSpc>
              <a:buFont typeface="Wingdings" panose="05000000000000000000" pitchFamily="2" charset="2"/>
              <a:buChar char="l"/>
            </a:pPr>
            <a:r>
              <a:rPr lang="en-US" altLang="zh-TW" sz="2400" dirty="0">
                <a:solidFill>
                  <a:srgbClr val="0070C0"/>
                </a:solidFill>
                <a:latin typeface="Times New Roman" panose="02020603050405020304" pitchFamily="18" charset="0"/>
              </a:rPr>
              <a:t>On-chip squeezer enhance:</a:t>
            </a: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The adiabatic beam splitter component</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require longer coupling length. That is,  reducing nonlinear conversion efficiency so that limit the squeezing level.</a:t>
            </a: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Longer QPM length.</a:t>
            </a: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Change waveguide type.</a:t>
            </a:r>
          </a:p>
          <a:p>
            <a:pPr marL="457200" indent="-457200">
              <a:lnSpc>
                <a:spcPct val="150000"/>
              </a:lnSpc>
              <a:buFont typeface="+mj-lt"/>
              <a:buAutoNum type="arabicPeriod"/>
            </a:pPr>
            <a:endParaRPr lang="en-US" altLang="zh-TW" sz="2000" dirty="0">
              <a:solidFill>
                <a:srgbClr val="775F55"/>
              </a:solidFill>
              <a:latin typeface="Times New Roman" panose="02020603050405020304" pitchFamily="18" charset="0"/>
            </a:endParaRPr>
          </a:p>
          <a:p>
            <a:pPr marL="342900" indent="-342900">
              <a:lnSpc>
                <a:spcPct val="150000"/>
              </a:lnSpc>
              <a:buFont typeface="Wingdings" panose="05000000000000000000" pitchFamily="2" charset="2"/>
              <a:buChar char="l"/>
            </a:pPr>
            <a:r>
              <a:rPr lang="en-US" altLang="zh-TW" sz="2400" dirty="0">
                <a:solidFill>
                  <a:srgbClr val="0070C0"/>
                </a:solidFill>
                <a:latin typeface="Times New Roman" panose="02020603050405020304" pitchFamily="18" charset="0"/>
              </a:rPr>
              <a:t>Squeezing setup stabilize:</a:t>
            </a: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Achromatic</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objective lens</a:t>
            </a:r>
          </a:p>
          <a:p>
            <a:pPr marL="457200" indent="-457200">
              <a:lnSpc>
                <a:spcPct val="150000"/>
              </a:lnSpc>
              <a:buFont typeface="+mj-lt"/>
              <a:buAutoNum type="arabicPeriod"/>
            </a:pPr>
            <a:r>
              <a:rPr lang="en-US" altLang="zh-TW" sz="2000" dirty="0">
                <a:solidFill>
                  <a:srgbClr val="483832"/>
                </a:solidFill>
                <a:latin typeface="Times New Roman" panose="02020603050405020304" pitchFamily="18" charset="0"/>
              </a:rPr>
              <a:t>Chip oven temperature</a:t>
            </a:r>
            <a:r>
              <a:rPr lang="zh-TW" altLang="en-US" sz="2000" dirty="0">
                <a:solidFill>
                  <a:srgbClr val="483832"/>
                </a:solidFill>
                <a:latin typeface="Times New Roman" panose="02020603050405020304" pitchFamily="18" charset="0"/>
              </a:rPr>
              <a:t> </a:t>
            </a:r>
            <a:r>
              <a:rPr lang="en-US" altLang="zh-TW" sz="2000" dirty="0">
                <a:solidFill>
                  <a:srgbClr val="483832"/>
                </a:solidFill>
                <a:latin typeface="Times New Roman" panose="02020603050405020304" pitchFamily="18" charset="0"/>
              </a:rPr>
              <a:t>control system</a:t>
            </a:r>
          </a:p>
        </p:txBody>
      </p:sp>
    </p:spTree>
    <p:extLst>
      <p:ext uri="{BB962C8B-B14F-4D97-AF65-F5344CB8AC3E}">
        <p14:creationId xmlns:p14="http://schemas.microsoft.com/office/powerpoint/2010/main" val="12247915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D1E6D7-A6CE-476B-B605-AFF7A98AEEEA}"/>
              </a:ext>
            </a:extLst>
          </p:cNvPr>
          <p:cNvSpPr>
            <a:spLocks noGrp="1"/>
          </p:cNvSpPr>
          <p:nvPr>
            <p:ph type="ctrTitle"/>
          </p:nvPr>
        </p:nvSpPr>
        <p:spPr/>
        <p:txBody>
          <a:bodyPr/>
          <a:lstStyle/>
          <a:p>
            <a:r>
              <a:rPr lang="en-US" altLang="zh-TW" sz="6000" dirty="0">
                <a:latin typeface="Times New Roman" panose="02020603050405020304" pitchFamily="18" charset="0"/>
              </a:rPr>
              <a:t>Thank you for listening !</a:t>
            </a:r>
            <a:endParaRPr lang="zh-TW" altLang="en-US" sz="6000" dirty="0"/>
          </a:p>
        </p:txBody>
      </p:sp>
      <p:sp>
        <p:nvSpPr>
          <p:cNvPr id="4" name="投影片編號版面配置區 3">
            <a:extLst>
              <a:ext uri="{FF2B5EF4-FFF2-40B4-BE49-F238E27FC236}">
                <a16:creationId xmlns:a16="http://schemas.microsoft.com/office/drawing/2014/main" id="{45870806-DB6D-4FE7-A5A1-D48B3B964C34}"/>
              </a:ext>
            </a:extLst>
          </p:cNvPr>
          <p:cNvSpPr>
            <a:spLocks noGrp="1"/>
          </p:cNvSpPr>
          <p:nvPr>
            <p:ph type="sldNum" sz="quarter" idx="12"/>
          </p:nvPr>
        </p:nvSpPr>
        <p:spPr/>
        <p:txBody>
          <a:bodyPr/>
          <a:lstStyle/>
          <a:p>
            <a:fld id="{9820161B-3DFF-4FF5-AA0E-35496F014571}" type="slidenum">
              <a:rPr lang="zh-TW" altLang="en-US" smtClean="0"/>
              <a:t>50</a:t>
            </a:fld>
            <a:endParaRPr lang="zh-TW" altLang="en-US"/>
          </a:p>
        </p:txBody>
      </p:sp>
    </p:spTree>
    <p:extLst>
      <p:ext uri="{BB962C8B-B14F-4D97-AF65-F5344CB8AC3E}">
        <p14:creationId xmlns:p14="http://schemas.microsoft.com/office/powerpoint/2010/main" val="31404621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DC8B40B-AD63-4258-9C53-3E65C29A01A5}"/>
              </a:ext>
            </a:extLst>
          </p:cNvPr>
          <p:cNvSpPr>
            <a:spLocks noGrp="1"/>
          </p:cNvSpPr>
          <p:nvPr>
            <p:ph type="sldNum" sz="quarter" idx="12"/>
          </p:nvPr>
        </p:nvSpPr>
        <p:spPr/>
        <p:txBody>
          <a:bodyPr/>
          <a:lstStyle/>
          <a:p>
            <a:fld id="{9820161B-3DFF-4FF5-AA0E-35496F014571}" type="slidenum">
              <a:rPr lang="zh-TW" altLang="en-US" smtClean="0"/>
              <a:t>51</a:t>
            </a:fld>
            <a:endParaRPr lang="zh-TW" altLang="en-US"/>
          </a:p>
        </p:txBody>
      </p:sp>
      <p:sp>
        <p:nvSpPr>
          <p:cNvPr id="3" name="文字版面配置區 2">
            <a:extLst>
              <a:ext uri="{FF2B5EF4-FFF2-40B4-BE49-F238E27FC236}">
                <a16:creationId xmlns:a16="http://schemas.microsoft.com/office/drawing/2014/main" id="{049636B7-8834-47C4-B028-F59C0BE31F0D}"/>
              </a:ext>
            </a:extLst>
          </p:cNvPr>
          <p:cNvSpPr>
            <a:spLocks noGrp="1"/>
          </p:cNvSpPr>
          <p:nvPr>
            <p:ph type="body" sz="half" idx="13"/>
          </p:nvPr>
        </p:nvSpPr>
        <p:spPr/>
        <p:txBody>
          <a:bodyPr/>
          <a:lstStyle/>
          <a:p>
            <a:endParaRPr lang="zh-TW" altLang="en-US"/>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686A9A7-941E-43C6-BF30-06C66090B828}"/>
                  </a:ext>
                </a:extLst>
              </p:cNvPr>
              <p:cNvSpPr/>
              <p:nvPr/>
            </p:nvSpPr>
            <p:spPr>
              <a:xfrm>
                <a:off x="9658350" y="4738649"/>
                <a:ext cx="997709" cy="646331"/>
              </a:xfrm>
              <a:prstGeom prst="rect">
                <a:avLst/>
              </a:prstGeom>
            </p:spPr>
            <p:txBody>
              <a:bodyPr wrap="none">
                <a:spAutoFit/>
              </a:bodyPr>
              <a:lstStyle/>
              <a:p>
                <a14:m>
                  <m:oMath xmlns:m="http://schemas.openxmlformats.org/officeDocument/2006/math">
                    <m:r>
                      <a:rPr lang="zh-TW" altLang="en-US" i="1">
                        <a:latin typeface="Cambria Math" panose="02040503050406030204" pitchFamily="18" charset="0"/>
                      </a:rPr>
                      <m:t>𝜇</m:t>
                    </m:r>
                  </m:oMath>
                </a14:m>
                <a:r>
                  <a:rPr lang="zh-TW" altLang="en-US" dirty="0">
                    <a:latin typeface="Times New Roman" panose="02020603050405020304" pitchFamily="18" charset="0"/>
                  </a:rPr>
                  <a:t>正比</a:t>
                </a:r>
                <a:r>
                  <a:rPr lang="en-US" altLang="zh-TW" dirty="0">
                    <a:latin typeface="Times New Roman" panose="02020603050405020304" pitchFamily="18" charset="0"/>
                  </a:rPr>
                  <a:t>L</a:t>
                </a:r>
              </a:p>
              <a:p>
                <a14:m>
                  <m:oMath xmlns:m="http://schemas.openxmlformats.org/officeDocument/2006/math">
                    <m:r>
                      <a:rPr lang="en-US" altLang="zh-TW" i="1">
                        <a:latin typeface="Cambria Math" panose="02040503050406030204" pitchFamily="18" charset="0"/>
                      </a:rPr>
                      <m:t>𝑎</m:t>
                    </m:r>
                  </m:oMath>
                </a14:m>
                <a:r>
                  <a:rPr lang="zh-TW" altLang="en-US" dirty="0">
                    <a:latin typeface="Times New Roman" panose="02020603050405020304" pitchFamily="18" charset="0"/>
                  </a:rPr>
                  <a:t>正比</a:t>
                </a:r>
                <a14:m>
                  <m:oMath xmlns:m="http://schemas.openxmlformats.org/officeDocument/2006/math">
                    <m:sSup>
                      <m:sSupPr>
                        <m:ctrlPr>
                          <a:rPr lang="en-US" altLang="zh-TW" i="1" dirty="0">
                            <a:latin typeface="Cambria Math" panose="02040503050406030204" pitchFamily="18" charset="0"/>
                          </a:rPr>
                        </m:ctrlPr>
                      </m:sSupPr>
                      <m:e>
                        <m:r>
                          <a:rPr lang="en-US" altLang="zh-TW" i="1" dirty="0">
                            <a:latin typeface="Cambria Math" panose="02040503050406030204" pitchFamily="18" charset="0"/>
                          </a:rPr>
                          <m:t>𝐿</m:t>
                        </m:r>
                      </m:e>
                      <m:sup>
                        <m:r>
                          <a:rPr lang="en-US" altLang="zh-TW" i="1" dirty="0">
                            <a:latin typeface="Cambria Math" panose="02040503050406030204" pitchFamily="18" charset="0"/>
                          </a:rPr>
                          <m:t>2</m:t>
                        </m:r>
                      </m:sup>
                    </m:sSup>
                  </m:oMath>
                </a14:m>
                <a:endParaRPr lang="zh-TW" altLang="en-US" dirty="0">
                  <a:latin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2686A9A7-941E-43C6-BF30-06C66090B828}"/>
                  </a:ext>
                </a:extLst>
              </p:cNvPr>
              <p:cNvSpPr>
                <a:spLocks noRot="1" noChangeAspect="1" noMove="1" noResize="1" noEditPoints="1" noAdjustHandles="1" noChangeArrowheads="1" noChangeShapeType="1" noTextEdit="1"/>
              </p:cNvSpPr>
              <p:nvPr/>
            </p:nvSpPr>
            <p:spPr>
              <a:xfrm>
                <a:off x="9658350" y="4738649"/>
                <a:ext cx="997709" cy="646331"/>
              </a:xfrm>
              <a:prstGeom prst="rect">
                <a:avLst/>
              </a:prstGeom>
              <a:blipFill>
                <a:blip r:embed="rId2"/>
                <a:stretch>
                  <a:fillRect t="-4717" b="-14151"/>
                </a:stretch>
              </a:blipFill>
            </p:spPr>
            <p:txBody>
              <a:bodyPr/>
              <a:lstStyle/>
              <a:p>
                <a:r>
                  <a:rPr lang="zh-TW" altLang="en-US">
                    <a:noFill/>
                  </a:rPr>
                  <a:t> </a:t>
                </a:r>
              </a:p>
            </p:txBody>
          </p:sp>
        </mc:Fallback>
      </mc:AlternateContent>
      <p:sp>
        <p:nvSpPr>
          <p:cNvPr id="5" name="矩形 4">
            <a:extLst>
              <a:ext uri="{FF2B5EF4-FFF2-40B4-BE49-F238E27FC236}">
                <a16:creationId xmlns:a16="http://schemas.microsoft.com/office/drawing/2014/main" id="{171DF669-F93F-4AC2-9DE4-60F3FCF5D77C}"/>
              </a:ext>
            </a:extLst>
          </p:cNvPr>
          <p:cNvSpPr/>
          <p:nvPr/>
        </p:nvSpPr>
        <p:spPr>
          <a:xfrm>
            <a:off x="5701748" y="1042386"/>
            <a:ext cx="6096000" cy="3477875"/>
          </a:xfrm>
          <a:prstGeom prst="rect">
            <a:avLst/>
          </a:prstGeom>
        </p:spPr>
        <p:txBody>
          <a:bodyPr>
            <a:spAutoFit/>
          </a:bodyPr>
          <a:lstStyle/>
          <a:p>
            <a:r>
              <a:rPr lang="en-US" altLang="zh-TW" sz="2000" kern="100" dirty="0">
                <a:latin typeface="Times New Roman" panose="02020603050405020304" pitchFamily="18" charset="0"/>
                <a:ea typeface="DFKai-SB" panose="03000509000000000000" pitchFamily="65" charset="-120"/>
                <a:cs typeface="Times New Roman" panose="02020603050405020304" pitchFamily="18" charset="0"/>
              </a:rPr>
              <a:t>Photorefractive effect</a:t>
            </a:r>
          </a:p>
          <a:p>
            <a:endParaRPr lang="en-US" altLang="zh-TW" sz="2000" kern="100" dirty="0">
              <a:latin typeface="Times New Roman" panose="02020603050405020304" pitchFamily="18" charset="0"/>
              <a:ea typeface="DFKai-SB" panose="03000509000000000000" pitchFamily="65" charset="-120"/>
              <a:cs typeface="Times New Roman" panose="02020603050405020304" pitchFamily="18" charset="0"/>
            </a:endParaRPr>
          </a:p>
          <a:p>
            <a:r>
              <a:rPr lang="zh-TW" altLang="zh-TW" sz="2000" kern="100" dirty="0">
                <a:latin typeface="Times New Roman" panose="02020603050405020304" pitchFamily="18" charset="0"/>
                <a:ea typeface="DFKai-SB" panose="03000509000000000000" pitchFamily="65" charset="-120"/>
                <a:cs typeface="Times New Roman" panose="02020603050405020304" pitchFamily="18" charset="0"/>
              </a:rPr>
              <a:t>本論文選擇此溫度為操作溫度的原因是為了消除光折變效應</a:t>
            </a:r>
            <a:r>
              <a:rPr lang="en-US" altLang="zh-TW" sz="2000" kern="100" dirty="0">
                <a:latin typeface="Times New Roman" panose="02020603050405020304" pitchFamily="18" charset="0"/>
                <a:ea typeface="DFKai-SB" panose="03000509000000000000" pitchFamily="65" charset="-120"/>
                <a:cs typeface="Times New Roman" panose="02020603050405020304" pitchFamily="18" charset="0"/>
              </a:rPr>
              <a:t>(photorefractive effect)</a:t>
            </a:r>
            <a:r>
              <a:rPr lang="zh-TW" altLang="zh-TW" sz="2000" kern="100" dirty="0">
                <a:latin typeface="Times New Roman" panose="02020603050405020304" pitchFamily="18" charset="0"/>
                <a:ea typeface="DFKai-SB" panose="03000509000000000000" pitchFamily="65" charset="-120"/>
                <a:cs typeface="Times New Roman" panose="02020603050405020304" pitchFamily="18" charset="0"/>
              </a:rPr>
              <a:t>，其原理為當一強光集中於特定區域，像是本論文中的波導結構時，會激發出晶體中的電子，但此電子會被侷限住形成不均勻的電場，此電場會因為晶體本身是鐵電性晶體的關係而造成折射率的改變，影響到原本計算出來的非週期性晶疇極化反轉結構，降低非線性轉換的效率，當溫度越高時，電子變越不容易被侷限在特定區域，如此便可以減低光折變效應所帶來的影響</a:t>
            </a:r>
            <a:r>
              <a:rPr lang="zh-TW" altLang="en-US" sz="2000" kern="100" dirty="0">
                <a:latin typeface="Times New Roman" panose="02020603050405020304" pitchFamily="18" charset="0"/>
                <a:ea typeface="DFKai-SB" panose="03000509000000000000" pitchFamily="65" charset="-120"/>
                <a:cs typeface="Times New Roman" panose="02020603050405020304" pitchFamily="18" charset="0"/>
              </a:rPr>
              <a:t>。</a:t>
            </a:r>
          </a:p>
        </p:txBody>
      </p:sp>
      <p:sp>
        <p:nvSpPr>
          <p:cNvPr id="6" name="矩形 5">
            <a:extLst>
              <a:ext uri="{FF2B5EF4-FFF2-40B4-BE49-F238E27FC236}">
                <a16:creationId xmlns:a16="http://schemas.microsoft.com/office/drawing/2014/main" id="{CDFDCFD7-3950-4F4D-AD15-301DC0146EF3}"/>
              </a:ext>
            </a:extLst>
          </p:cNvPr>
          <p:cNvSpPr/>
          <p:nvPr/>
        </p:nvSpPr>
        <p:spPr>
          <a:xfrm>
            <a:off x="987287" y="1315805"/>
            <a:ext cx="4731026" cy="1938992"/>
          </a:xfrm>
          <a:prstGeom prst="rect">
            <a:avLst/>
          </a:prstGeom>
        </p:spPr>
        <p:txBody>
          <a:bodyPr wrap="square">
            <a:spAutoFit/>
          </a:bodyPr>
          <a:lstStyle/>
          <a:p>
            <a:r>
              <a:rPr lang="en-US" altLang="zh-TW" sz="2000" kern="100" dirty="0">
                <a:latin typeface="Times New Roman" panose="02020603050405020304" pitchFamily="18" charset="0"/>
                <a:ea typeface="DFKai-SB" panose="03000509000000000000" pitchFamily="65" charset="-120"/>
                <a:cs typeface="Times New Roman" panose="02020603050405020304" pitchFamily="18" charset="0"/>
              </a:rPr>
              <a:t>Gain-induced diffraction</a:t>
            </a:r>
          </a:p>
          <a:p>
            <a:endParaRPr lang="en-US" altLang="zh-TW" sz="2000" kern="100" dirty="0">
              <a:latin typeface="Times New Roman" panose="02020603050405020304" pitchFamily="18" charset="0"/>
              <a:ea typeface="DFKai-SB" panose="03000509000000000000" pitchFamily="65" charset="-120"/>
              <a:cs typeface="Times New Roman" panose="02020603050405020304" pitchFamily="18" charset="0"/>
            </a:endParaRPr>
          </a:p>
          <a:p>
            <a:r>
              <a:rPr lang="zh-TW" altLang="en-US" sz="2000" kern="100" dirty="0">
                <a:latin typeface="Times New Roman" panose="02020603050405020304" pitchFamily="18" charset="0"/>
                <a:ea typeface="DFKai-SB" panose="03000509000000000000" pitchFamily="65" charset="-120"/>
                <a:cs typeface="Times New Roman" panose="02020603050405020304" pitchFamily="18" charset="0"/>
              </a:rPr>
              <a:t>在high gain狀況下，signal容易被pump影響，會讓squeezed beam產生相位的破壞，且空間上不會合LO beam match，所以LO無法準確的偵測squeezed quadrature</a:t>
            </a:r>
          </a:p>
        </p:txBody>
      </p:sp>
    </p:spTree>
    <p:extLst>
      <p:ext uri="{BB962C8B-B14F-4D97-AF65-F5344CB8AC3E}">
        <p14:creationId xmlns:p14="http://schemas.microsoft.com/office/powerpoint/2010/main" val="11083733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644DC462-9797-4F58-890A-37DD74B73CBA}"/>
              </a:ext>
            </a:extLst>
          </p:cNvPr>
          <p:cNvSpPr>
            <a:spLocks noGrp="1"/>
          </p:cNvSpPr>
          <p:nvPr>
            <p:ph type="body" sz="half" idx="13"/>
          </p:nvPr>
        </p:nvSpPr>
        <p:spPr>
          <a:xfrm>
            <a:off x="3474721" y="16590"/>
            <a:ext cx="5242560" cy="660417"/>
          </a:xfrm>
        </p:spPr>
        <p:txBody>
          <a:bodyPr>
            <a:normAutofit/>
          </a:bodyPr>
          <a:lstStyle/>
          <a:p>
            <a:r>
              <a:rPr lang="en-US" altLang="zh-TW" dirty="0"/>
              <a:t>High-pass filter simulation</a:t>
            </a:r>
            <a:endParaRPr lang="zh-TW" altLang="en-US" dirty="0"/>
          </a:p>
        </p:txBody>
      </p:sp>
      <p:grpSp>
        <p:nvGrpSpPr>
          <p:cNvPr id="7" name="群組 6">
            <a:extLst>
              <a:ext uri="{FF2B5EF4-FFF2-40B4-BE49-F238E27FC236}">
                <a16:creationId xmlns:a16="http://schemas.microsoft.com/office/drawing/2014/main" id="{4F3BE49A-65A7-4393-9CF6-41E0015B4A31}"/>
              </a:ext>
            </a:extLst>
          </p:cNvPr>
          <p:cNvGrpSpPr/>
          <p:nvPr/>
        </p:nvGrpSpPr>
        <p:grpSpPr>
          <a:xfrm>
            <a:off x="813600" y="1428750"/>
            <a:ext cx="11205760" cy="4320000"/>
            <a:chOff x="650240" y="1428750"/>
            <a:chExt cx="11205760" cy="4320000"/>
          </a:xfrm>
        </p:grpSpPr>
        <p:pic>
          <p:nvPicPr>
            <p:cNvPr id="3" name="圖片 2">
              <a:extLst>
                <a:ext uri="{FF2B5EF4-FFF2-40B4-BE49-F238E27FC236}">
                  <a16:creationId xmlns:a16="http://schemas.microsoft.com/office/drawing/2014/main" id="{8E83FF72-DF73-45C3-9FFC-FD02AAC6BF0C}"/>
                </a:ext>
              </a:extLst>
            </p:cNvPr>
            <p:cNvPicPr>
              <a:picLocks noChangeAspect="1"/>
            </p:cNvPicPr>
            <p:nvPr/>
          </p:nvPicPr>
          <p:blipFill>
            <a:blip r:embed="rId2"/>
            <a:stretch>
              <a:fillRect/>
            </a:stretch>
          </p:blipFill>
          <p:spPr>
            <a:xfrm>
              <a:off x="6096000" y="1428750"/>
              <a:ext cx="5760000" cy="4320000"/>
            </a:xfrm>
            <a:prstGeom prst="rect">
              <a:avLst/>
            </a:prstGeom>
          </p:spPr>
        </p:pic>
        <p:pic>
          <p:nvPicPr>
            <p:cNvPr id="4" name="圖片 3">
              <a:extLst>
                <a:ext uri="{FF2B5EF4-FFF2-40B4-BE49-F238E27FC236}">
                  <a16:creationId xmlns:a16="http://schemas.microsoft.com/office/drawing/2014/main" id="{24ECDE5C-C6D0-4C3F-8812-205FAC5B7BFE}"/>
                </a:ext>
              </a:extLst>
            </p:cNvPr>
            <p:cNvPicPr>
              <a:picLocks noChangeAspect="1"/>
            </p:cNvPicPr>
            <p:nvPr/>
          </p:nvPicPr>
          <p:blipFill>
            <a:blip r:embed="rId3"/>
            <a:stretch>
              <a:fillRect/>
            </a:stretch>
          </p:blipFill>
          <p:spPr>
            <a:xfrm>
              <a:off x="650240" y="1428750"/>
              <a:ext cx="5760000" cy="4320000"/>
            </a:xfrm>
            <a:prstGeom prst="rect">
              <a:avLst/>
            </a:prstGeom>
          </p:spPr>
        </p:pic>
      </p:grpSp>
      <p:sp>
        <p:nvSpPr>
          <p:cNvPr id="5" name="投影片編號版面配置區 4">
            <a:extLst>
              <a:ext uri="{FF2B5EF4-FFF2-40B4-BE49-F238E27FC236}">
                <a16:creationId xmlns:a16="http://schemas.microsoft.com/office/drawing/2014/main" id="{D1A30C8D-FF74-49CE-AA07-8C3EE64EBA73}"/>
              </a:ext>
            </a:extLst>
          </p:cNvPr>
          <p:cNvSpPr>
            <a:spLocks noGrp="1"/>
          </p:cNvSpPr>
          <p:nvPr>
            <p:ph type="sldNum" sz="quarter" idx="12"/>
          </p:nvPr>
        </p:nvSpPr>
        <p:spPr/>
        <p:txBody>
          <a:bodyPr/>
          <a:lstStyle/>
          <a:p>
            <a:fld id="{9820161B-3DFF-4FF5-AA0E-35496F014571}" type="slidenum">
              <a:rPr lang="zh-TW" altLang="en-US" smtClean="0"/>
              <a:t>52</a:t>
            </a:fld>
            <a:endParaRPr lang="zh-TW" altLang="en-US"/>
          </a:p>
        </p:txBody>
      </p:sp>
    </p:spTree>
    <p:extLst>
      <p:ext uri="{BB962C8B-B14F-4D97-AF65-F5344CB8AC3E}">
        <p14:creationId xmlns:p14="http://schemas.microsoft.com/office/powerpoint/2010/main" val="8476276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6723081-C528-4811-82A0-88108C3DDC71}"/>
              </a:ext>
            </a:extLst>
          </p:cNvPr>
          <p:cNvSpPr>
            <a:spLocks noGrp="1"/>
          </p:cNvSpPr>
          <p:nvPr>
            <p:ph type="body" sz="half" idx="13"/>
          </p:nvPr>
        </p:nvSpPr>
        <p:spPr>
          <a:xfrm>
            <a:off x="3332481" y="16590"/>
            <a:ext cx="5527040" cy="660417"/>
          </a:xfrm>
        </p:spPr>
        <p:txBody>
          <a:bodyPr>
            <a:normAutofit/>
          </a:bodyPr>
          <a:lstStyle/>
          <a:p>
            <a:r>
              <a:rPr lang="en-US" altLang="zh-TW" dirty="0"/>
              <a:t>High-pass filter simulation</a:t>
            </a:r>
            <a:endParaRPr lang="zh-TW" altLang="en-US" dirty="0"/>
          </a:p>
        </p:txBody>
      </p:sp>
      <p:grpSp>
        <p:nvGrpSpPr>
          <p:cNvPr id="6" name="群組 5">
            <a:extLst>
              <a:ext uri="{FF2B5EF4-FFF2-40B4-BE49-F238E27FC236}">
                <a16:creationId xmlns:a16="http://schemas.microsoft.com/office/drawing/2014/main" id="{71A54CE3-7996-4A6B-B8C3-EBEF92F01C60}"/>
              </a:ext>
            </a:extLst>
          </p:cNvPr>
          <p:cNvGrpSpPr/>
          <p:nvPr/>
        </p:nvGrpSpPr>
        <p:grpSpPr>
          <a:xfrm>
            <a:off x="813600" y="1428750"/>
            <a:ext cx="11205760" cy="4320000"/>
            <a:chOff x="650240" y="1428750"/>
            <a:chExt cx="11205760" cy="4320000"/>
          </a:xfrm>
        </p:grpSpPr>
        <p:pic>
          <p:nvPicPr>
            <p:cNvPr id="3" name="圖片 2">
              <a:extLst>
                <a:ext uri="{FF2B5EF4-FFF2-40B4-BE49-F238E27FC236}">
                  <a16:creationId xmlns:a16="http://schemas.microsoft.com/office/drawing/2014/main" id="{A5368B83-D15E-4659-98E4-5BFD59DB6720}"/>
                </a:ext>
              </a:extLst>
            </p:cNvPr>
            <p:cNvPicPr>
              <a:picLocks noChangeAspect="1"/>
            </p:cNvPicPr>
            <p:nvPr/>
          </p:nvPicPr>
          <p:blipFill>
            <a:blip r:embed="rId2"/>
            <a:stretch>
              <a:fillRect/>
            </a:stretch>
          </p:blipFill>
          <p:spPr>
            <a:xfrm>
              <a:off x="650240" y="1428750"/>
              <a:ext cx="5760000" cy="4320000"/>
            </a:xfrm>
            <a:prstGeom prst="rect">
              <a:avLst/>
            </a:prstGeom>
          </p:spPr>
        </p:pic>
        <p:pic>
          <p:nvPicPr>
            <p:cNvPr id="4" name="圖片 3">
              <a:extLst>
                <a:ext uri="{FF2B5EF4-FFF2-40B4-BE49-F238E27FC236}">
                  <a16:creationId xmlns:a16="http://schemas.microsoft.com/office/drawing/2014/main" id="{19CAA5A2-2BE2-4B5D-8441-5CD281E41B34}"/>
                </a:ext>
              </a:extLst>
            </p:cNvPr>
            <p:cNvPicPr>
              <a:picLocks noChangeAspect="1"/>
            </p:cNvPicPr>
            <p:nvPr/>
          </p:nvPicPr>
          <p:blipFill>
            <a:blip r:embed="rId3"/>
            <a:stretch>
              <a:fillRect/>
            </a:stretch>
          </p:blipFill>
          <p:spPr>
            <a:xfrm>
              <a:off x="6096000" y="1428750"/>
              <a:ext cx="5760000" cy="4320000"/>
            </a:xfrm>
            <a:prstGeom prst="rect">
              <a:avLst/>
            </a:prstGeom>
          </p:spPr>
        </p:pic>
      </p:grpSp>
      <p:sp>
        <p:nvSpPr>
          <p:cNvPr id="5" name="投影片編號版面配置區 4">
            <a:extLst>
              <a:ext uri="{FF2B5EF4-FFF2-40B4-BE49-F238E27FC236}">
                <a16:creationId xmlns:a16="http://schemas.microsoft.com/office/drawing/2014/main" id="{42C5C6A7-9E5E-4FBC-A17B-1C94E6875DC5}"/>
              </a:ext>
            </a:extLst>
          </p:cNvPr>
          <p:cNvSpPr>
            <a:spLocks noGrp="1"/>
          </p:cNvSpPr>
          <p:nvPr>
            <p:ph type="sldNum" sz="quarter" idx="12"/>
          </p:nvPr>
        </p:nvSpPr>
        <p:spPr/>
        <p:txBody>
          <a:bodyPr/>
          <a:lstStyle/>
          <a:p>
            <a:fld id="{9820161B-3DFF-4FF5-AA0E-35496F014571}" type="slidenum">
              <a:rPr lang="zh-TW" altLang="en-US" smtClean="0"/>
              <a:t>53</a:t>
            </a:fld>
            <a:endParaRPr lang="zh-TW" altLang="en-US"/>
          </a:p>
        </p:txBody>
      </p:sp>
    </p:spTree>
    <p:extLst>
      <p:ext uri="{BB962C8B-B14F-4D97-AF65-F5344CB8AC3E}">
        <p14:creationId xmlns:p14="http://schemas.microsoft.com/office/powerpoint/2010/main" val="15633542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D50C37A-9B55-419D-9200-D151AE22EE4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4560" y="1122680"/>
            <a:ext cx="10964298" cy="4612640"/>
          </a:xfrm>
          <a:prstGeom prst="rect">
            <a:avLst/>
          </a:prstGeom>
          <a:noFill/>
          <a:ln>
            <a:noFill/>
          </a:ln>
        </p:spPr>
      </p:pic>
      <p:sp>
        <p:nvSpPr>
          <p:cNvPr id="4" name="文字版面配置區 3">
            <a:extLst>
              <a:ext uri="{FF2B5EF4-FFF2-40B4-BE49-F238E27FC236}">
                <a16:creationId xmlns:a16="http://schemas.microsoft.com/office/drawing/2014/main" id="{61D4A414-55C5-495E-9282-E47D3EDFFC72}"/>
              </a:ext>
            </a:extLst>
          </p:cNvPr>
          <p:cNvSpPr>
            <a:spLocks noGrp="1"/>
          </p:cNvSpPr>
          <p:nvPr>
            <p:ph type="body" sz="half" idx="13"/>
          </p:nvPr>
        </p:nvSpPr>
        <p:spPr>
          <a:xfrm>
            <a:off x="3352801" y="16590"/>
            <a:ext cx="5486400" cy="660417"/>
          </a:xfrm>
        </p:spPr>
        <p:txBody>
          <a:bodyPr>
            <a:normAutofit/>
          </a:bodyPr>
          <a:lstStyle/>
          <a:p>
            <a:r>
              <a:rPr lang="en-US" altLang="zh-TW" dirty="0"/>
              <a:t>Propagation loss scheme</a:t>
            </a:r>
          </a:p>
        </p:txBody>
      </p:sp>
      <p:sp>
        <p:nvSpPr>
          <p:cNvPr id="5" name="投影片編號版面配置區 4">
            <a:extLst>
              <a:ext uri="{FF2B5EF4-FFF2-40B4-BE49-F238E27FC236}">
                <a16:creationId xmlns:a16="http://schemas.microsoft.com/office/drawing/2014/main" id="{61F8E09D-2C64-4FF9-836A-1F88C28137A3}"/>
              </a:ext>
            </a:extLst>
          </p:cNvPr>
          <p:cNvSpPr>
            <a:spLocks noGrp="1"/>
          </p:cNvSpPr>
          <p:nvPr>
            <p:ph type="sldNum" sz="quarter" idx="12"/>
          </p:nvPr>
        </p:nvSpPr>
        <p:spPr/>
        <p:txBody>
          <a:bodyPr/>
          <a:lstStyle/>
          <a:p>
            <a:fld id="{9820161B-3DFF-4FF5-AA0E-35496F014571}" type="slidenum">
              <a:rPr lang="zh-TW" altLang="en-US" smtClean="0"/>
              <a:t>54</a:t>
            </a:fld>
            <a:endParaRPr lang="zh-TW" altLang="en-US"/>
          </a:p>
        </p:txBody>
      </p:sp>
    </p:spTree>
    <p:extLst>
      <p:ext uri="{BB962C8B-B14F-4D97-AF65-F5344CB8AC3E}">
        <p14:creationId xmlns:p14="http://schemas.microsoft.com/office/powerpoint/2010/main" val="37126256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3542D164-094F-455C-B94C-81215FF12764}"/>
              </a:ext>
            </a:extLst>
          </p:cNvPr>
          <p:cNvSpPr>
            <a:spLocks noGrp="1"/>
          </p:cNvSpPr>
          <p:nvPr>
            <p:ph type="body" sz="half" idx="13"/>
          </p:nvPr>
        </p:nvSpPr>
        <p:spPr>
          <a:xfrm>
            <a:off x="3833362" y="16590"/>
            <a:ext cx="4525278" cy="660417"/>
          </a:xfrm>
        </p:spPr>
        <p:txBody>
          <a:bodyPr/>
          <a:lstStyle/>
          <a:p>
            <a:r>
              <a:rPr lang="en-US" altLang="zh-TW" dirty="0"/>
              <a:t>Propagation loss</a:t>
            </a:r>
            <a:endParaRPr lang="zh-TW" altLang="en-US" dirty="0"/>
          </a:p>
        </p:txBody>
      </p:sp>
      <p:pic>
        <p:nvPicPr>
          <p:cNvPr id="3" name="圖片 2">
            <a:extLst>
              <a:ext uri="{FF2B5EF4-FFF2-40B4-BE49-F238E27FC236}">
                <a16:creationId xmlns:a16="http://schemas.microsoft.com/office/drawing/2014/main" id="{1915BD59-CDFD-4C6C-88E8-2619EE4178FA}"/>
              </a:ext>
            </a:extLst>
          </p:cNvPr>
          <p:cNvPicPr/>
          <p:nvPr/>
        </p:nvPicPr>
        <p:blipFill>
          <a:blip r:embed="rId2"/>
          <a:stretch>
            <a:fillRect/>
          </a:stretch>
        </p:blipFill>
        <p:spPr>
          <a:xfrm>
            <a:off x="1248591" y="1310057"/>
            <a:ext cx="4985411" cy="3739058"/>
          </a:xfrm>
          <a:prstGeom prst="rect">
            <a:avLst/>
          </a:prstGeom>
        </p:spPr>
      </p:pic>
      <p:pic>
        <p:nvPicPr>
          <p:cNvPr id="4" name="圖片 3">
            <a:extLst>
              <a:ext uri="{FF2B5EF4-FFF2-40B4-BE49-F238E27FC236}">
                <a16:creationId xmlns:a16="http://schemas.microsoft.com/office/drawing/2014/main" id="{CC9E85E8-0D83-4B4D-8C7C-3CFB97927C3A}"/>
              </a:ext>
            </a:extLst>
          </p:cNvPr>
          <p:cNvPicPr/>
          <p:nvPr/>
        </p:nvPicPr>
        <p:blipFill>
          <a:blip r:embed="rId3">
            <a:extLst>
              <a:ext uri="{28A0092B-C50C-407E-A947-70E740481C1C}">
                <a14:useLocalDpi xmlns:a14="http://schemas.microsoft.com/office/drawing/2010/main" val="0"/>
              </a:ext>
            </a:extLst>
          </a:blip>
          <a:stretch>
            <a:fillRect/>
          </a:stretch>
        </p:blipFill>
        <p:spPr>
          <a:xfrm>
            <a:off x="6234002" y="1310057"/>
            <a:ext cx="4986000" cy="3739058"/>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8BCF5CF-30B8-4607-A59A-B5E96D199C25}"/>
                  </a:ext>
                </a:extLst>
              </p:cNvPr>
              <p:cNvSpPr/>
              <p:nvPr/>
            </p:nvSpPr>
            <p:spPr>
              <a:xfrm>
                <a:off x="3198412" y="5437028"/>
                <a:ext cx="6417141" cy="1015663"/>
              </a:xfrm>
              <a:prstGeom prst="rect">
                <a:avLst/>
              </a:prstGeom>
            </p:spPr>
            <p:txBody>
              <a:bodyPr wrap="none">
                <a:spAutoFit/>
              </a:bodyPr>
              <a:lstStyle/>
              <a:p>
                <a:pPr algn="ctr"/>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鈦擴散波導</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左</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en-US" altLang="zh-TW" sz="2000" dirty="0">
                    <a:solidFill>
                      <a:srgbClr val="483832"/>
                    </a:solidFill>
                    <a:latin typeface="Times New Roman" panose="02020603050405020304" pitchFamily="18" charset="0"/>
                    <a:ea typeface="DFKai-SB" panose="03000509000000000000" pitchFamily="65" charset="-120"/>
                  </a:rPr>
                  <a:t>TM</a:t>
                </a:r>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偏振傳播損耗</a:t>
                </a: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a:t>
                </a:r>
                <a:r>
                  <a:rPr lang="zh-TW" altLang="en-US"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右</a:t>
                </a:r>
                <a:r>
                  <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r>
                  <a:rPr lang="en-US" altLang="zh-TW" sz="2000" dirty="0">
                    <a:solidFill>
                      <a:srgbClr val="483832"/>
                    </a:solidFill>
                    <a:latin typeface="Times New Roman" panose="02020603050405020304" pitchFamily="18" charset="0"/>
                    <a:ea typeface="DFKai-SB" panose="03000509000000000000" pitchFamily="65" charset="-120"/>
                  </a:rPr>
                  <a:t>TE</a:t>
                </a:r>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偏振傳播損耗</a:t>
                </a:r>
                <a:endPar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a:p>
                <a:pPr algn="ctr"/>
                <a:endParaRPr lang="en-US"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endParaRPr>
              </a:p>
              <a:p>
                <a:pPr algn="ctr"/>
                <a14:m>
                  <m:oMath xmlns:m="http://schemas.openxmlformats.org/officeDocument/2006/math">
                    <m:sSub>
                      <m:sSubPr>
                        <m:ctrlPr>
                          <a:rPr lang="zh-TW" altLang="zh-TW" sz="2000" i="1">
                            <a:solidFill>
                              <a:srgbClr val="483832"/>
                            </a:solidFill>
                            <a:latin typeface="Cambria Math" panose="02040503050406030204" pitchFamily="18" charset="0"/>
                            <a:ea typeface="Cambria Math" panose="02040503050406030204" pitchFamily="18" charset="0"/>
                          </a:rPr>
                        </m:ctrlPr>
                      </m:sSubPr>
                      <m:e>
                        <m:r>
                          <m:rPr>
                            <m:sty m:val="p"/>
                          </m:rP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α</m:t>
                        </m:r>
                      </m:e>
                      <m:sub>
                        <m:r>
                          <a:rPr lang="en-US" altLang="zh-TW" sz="2000" i="1">
                            <a:solidFill>
                              <a:srgbClr val="483832"/>
                            </a:solidFill>
                            <a:latin typeface="Cambria Math" panose="02040503050406030204" pitchFamily="18" charset="0"/>
                            <a:ea typeface="DFKai-SB" panose="03000509000000000000" pitchFamily="65" charset="-120"/>
                            <a:cs typeface="Times New Roman" panose="02020603050405020304" pitchFamily="18" charset="0"/>
                          </a:rPr>
                          <m:t>𝑇𝑀</m:t>
                        </m:r>
                      </m:sub>
                    </m:sSub>
                    <m: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=0.2008</m:t>
                    </m:r>
                    <m:r>
                      <m:rPr>
                        <m:sty m:val="p"/>
                      </m:rP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dB</m:t>
                    </m:r>
                    <m: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m:t>
                    </m:r>
                    <m:r>
                      <m:rPr>
                        <m:sty m:val="p"/>
                      </m:rP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cm</m:t>
                    </m:r>
                  </m:oMath>
                </a14:m>
                <a:r>
                  <a:rPr lang="zh-TW" altLang="zh-TW" sz="20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a:t>
                </a:r>
                <a14:m>
                  <m:oMath xmlns:m="http://schemas.openxmlformats.org/officeDocument/2006/math">
                    <m:sSub>
                      <m:sSubPr>
                        <m:ctrlPr>
                          <a:rPr lang="zh-TW" altLang="zh-TW" sz="2000" i="1">
                            <a:solidFill>
                              <a:srgbClr val="483832"/>
                            </a:solidFill>
                            <a:latin typeface="Cambria Math" panose="02040503050406030204" pitchFamily="18" charset="0"/>
                            <a:ea typeface="Cambria Math" panose="02040503050406030204" pitchFamily="18" charset="0"/>
                          </a:rPr>
                        </m:ctrlPr>
                      </m:sSubPr>
                      <m:e>
                        <m:r>
                          <m:rPr>
                            <m:sty m:val="p"/>
                          </m:rP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α</m:t>
                        </m:r>
                      </m:e>
                      <m:sub>
                        <m:r>
                          <a:rPr lang="en-US" altLang="zh-TW" sz="2000" i="1">
                            <a:solidFill>
                              <a:srgbClr val="483832"/>
                            </a:solidFill>
                            <a:latin typeface="Cambria Math" panose="02040503050406030204" pitchFamily="18" charset="0"/>
                            <a:ea typeface="DFKai-SB" panose="03000509000000000000" pitchFamily="65" charset="-120"/>
                            <a:cs typeface="Times New Roman" panose="02020603050405020304" pitchFamily="18" charset="0"/>
                          </a:rPr>
                          <m:t>𝑇𝐸</m:t>
                        </m:r>
                      </m:sub>
                    </m:sSub>
                    <m: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=0.3503</m:t>
                    </m:r>
                    <m:r>
                      <m:rPr>
                        <m:sty m:val="p"/>
                      </m:rP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dB</m:t>
                    </m:r>
                    <m: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m:t>
                    </m:r>
                    <m:r>
                      <m:rPr>
                        <m:sty m:val="p"/>
                      </m:rPr>
                      <a:rPr lang="en-US" altLang="zh-TW" sz="2000">
                        <a:solidFill>
                          <a:srgbClr val="483832"/>
                        </a:solidFill>
                        <a:latin typeface="Cambria Math" panose="02040503050406030204" pitchFamily="18" charset="0"/>
                        <a:ea typeface="DFKai-SB" panose="03000509000000000000" pitchFamily="65" charset="-120"/>
                        <a:cs typeface="Times New Roman" panose="02020603050405020304" pitchFamily="18" charset="0"/>
                      </a:rPr>
                      <m:t>cm</m:t>
                    </m:r>
                  </m:oMath>
                </a14:m>
                <a:endParaRPr lang="zh-TW" altLang="en-US" sz="2000" dirty="0">
                  <a:solidFill>
                    <a:srgbClr val="483832"/>
                  </a:solidFill>
                  <a:latin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08BCF5CF-30B8-4607-A59A-B5E96D199C25}"/>
                  </a:ext>
                </a:extLst>
              </p:cNvPr>
              <p:cNvSpPr>
                <a:spLocks noRot="1" noChangeAspect="1" noMove="1" noResize="1" noEditPoints="1" noAdjustHandles="1" noChangeArrowheads="1" noChangeShapeType="1" noTextEdit="1"/>
              </p:cNvSpPr>
              <p:nvPr/>
            </p:nvSpPr>
            <p:spPr>
              <a:xfrm>
                <a:off x="3198412" y="5437028"/>
                <a:ext cx="6417141" cy="1015663"/>
              </a:xfrm>
              <a:prstGeom prst="rect">
                <a:avLst/>
              </a:prstGeom>
              <a:blipFill>
                <a:blip r:embed="rId4"/>
                <a:stretch>
                  <a:fillRect l="-665" t="-3593" r="-665" b="-9581"/>
                </a:stretch>
              </a:blipFill>
            </p:spPr>
            <p:txBody>
              <a:bodyPr/>
              <a:lstStyle/>
              <a:p>
                <a:r>
                  <a:rPr lang="zh-TW" altLang="en-US">
                    <a:noFill/>
                  </a:rPr>
                  <a:t> </a:t>
                </a:r>
              </a:p>
            </p:txBody>
          </p:sp>
        </mc:Fallback>
      </mc:AlternateContent>
      <p:sp>
        <p:nvSpPr>
          <p:cNvPr id="7" name="投影片編號版面配置區 6">
            <a:extLst>
              <a:ext uri="{FF2B5EF4-FFF2-40B4-BE49-F238E27FC236}">
                <a16:creationId xmlns:a16="http://schemas.microsoft.com/office/drawing/2014/main" id="{F09318E3-46A7-4C6B-9B41-B34A90DEA513}"/>
              </a:ext>
            </a:extLst>
          </p:cNvPr>
          <p:cNvSpPr>
            <a:spLocks noGrp="1"/>
          </p:cNvSpPr>
          <p:nvPr>
            <p:ph type="sldNum" sz="quarter" idx="12"/>
          </p:nvPr>
        </p:nvSpPr>
        <p:spPr/>
        <p:txBody>
          <a:bodyPr/>
          <a:lstStyle/>
          <a:p>
            <a:fld id="{9820161B-3DFF-4FF5-AA0E-35496F014571}" type="slidenum">
              <a:rPr lang="zh-TW" altLang="en-US" smtClean="0"/>
              <a:t>55</a:t>
            </a:fld>
            <a:endParaRPr lang="zh-TW" altLang="en-US"/>
          </a:p>
        </p:txBody>
      </p:sp>
    </p:spTree>
    <p:extLst>
      <p:ext uri="{BB962C8B-B14F-4D97-AF65-F5344CB8AC3E}">
        <p14:creationId xmlns:p14="http://schemas.microsoft.com/office/powerpoint/2010/main" val="32966120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6279D24B-2CCB-49D8-9826-7187D6CFF659}"/>
              </a:ext>
            </a:extLst>
          </p:cNvPr>
          <p:cNvSpPr>
            <a:spLocks noGrp="1"/>
          </p:cNvSpPr>
          <p:nvPr>
            <p:ph type="body" sz="half" idx="13"/>
          </p:nvPr>
        </p:nvSpPr>
        <p:spPr/>
        <p:txBody>
          <a:bodyPr/>
          <a:lstStyle/>
          <a:p>
            <a:r>
              <a:rPr lang="en-US" altLang="zh-TW" dirty="0"/>
              <a:t>ER</a:t>
            </a:r>
            <a:r>
              <a:rPr lang="zh-TW" altLang="en-US" dirty="0"/>
              <a:t> </a:t>
            </a:r>
            <a:r>
              <a:rPr lang="en-US" altLang="zh-TW" dirty="0"/>
              <a:t>spectrum</a:t>
            </a:r>
            <a:endParaRPr lang="zh-TW" altLang="en-US" dirty="0"/>
          </a:p>
        </p:txBody>
      </p:sp>
      <p:sp>
        <p:nvSpPr>
          <p:cNvPr id="7" name="投影片編號版面配置區 6">
            <a:extLst>
              <a:ext uri="{FF2B5EF4-FFF2-40B4-BE49-F238E27FC236}">
                <a16:creationId xmlns:a16="http://schemas.microsoft.com/office/drawing/2014/main" id="{1D3F66D2-2734-4A97-82B1-D06AED7CF76C}"/>
              </a:ext>
            </a:extLst>
          </p:cNvPr>
          <p:cNvSpPr>
            <a:spLocks noGrp="1"/>
          </p:cNvSpPr>
          <p:nvPr>
            <p:ph type="sldNum" sz="quarter" idx="12"/>
          </p:nvPr>
        </p:nvSpPr>
        <p:spPr/>
        <p:txBody>
          <a:bodyPr/>
          <a:lstStyle/>
          <a:p>
            <a:fld id="{9820161B-3DFF-4FF5-AA0E-35496F014571}" type="slidenum">
              <a:rPr lang="zh-TW" altLang="en-US" smtClean="0"/>
              <a:t>56</a:t>
            </a:fld>
            <a:endParaRPr lang="zh-TW" altLang="en-US"/>
          </a:p>
        </p:txBody>
      </p:sp>
      <p:grpSp>
        <p:nvGrpSpPr>
          <p:cNvPr id="11" name="群組 10">
            <a:extLst>
              <a:ext uri="{FF2B5EF4-FFF2-40B4-BE49-F238E27FC236}">
                <a16:creationId xmlns:a16="http://schemas.microsoft.com/office/drawing/2014/main" id="{49BF99AF-716F-433F-A12A-C351F93852C7}"/>
              </a:ext>
            </a:extLst>
          </p:cNvPr>
          <p:cNvGrpSpPr/>
          <p:nvPr/>
        </p:nvGrpSpPr>
        <p:grpSpPr>
          <a:xfrm>
            <a:off x="812105" y="1326516"/>
            <a:ext cx="11215919" cy="4320000"/>
            <a:chOff x="791785" y="996952"/>
            <a:chExt cx="11215919" cy="4320000"/>
          </a:xfrm>
        </p:grpSpPr>
        <p:pic>
          <p:nvPicPr>
            <p:cNvPr id="9" name="圖片 8">
              <a:extLst>
                <a:ext uri="{FF2B5EF4-FFF2-40B4-BE49-F238E27FC236}">
                  <a16:creationId xmlns:a16="http://schemas.microsoft.com/office/drawing/2014/main" id="{0242472F-15CB-45A2-A1B2-ECE4DAB0C9B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91785" y="996952"/>
              <a:ext cx="5760000" cy="4320000"/>
            </a:xfrm>
            <a:prstGeom prst="rect">
              <a:avLst/>
            </a:prstGeom>
            <a:noFill/>
            <a:ln>
              <a:noFill/>
            </a:ln>
          </p:spPr>
        </p:pic>
        <p:pic>
          <p:nvPicPr>
            <p:cNvPr id="10" name="圖片 9">
              <a:extLst>
                <a:ext uri="{FF2B5EF4-FFF2-40B4-BE49-F238E27FC236}">
                  <a16:creationId xmlns:a16="http://schemas.microsoft.com/office/drawing/2014/main" id="{E673035F-99A5-46B9-8BBB-51B25300699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247704" y="996952"/>
              <a:ext cx="5760000" cy="4320000"/>
            </a:xfrm>
            <a:prstGeom prst="rect">
              <a:avLst/>
            </a:prstGeom>
            <a:noFill/>
            <a:ln>
              <a:noFill/>
            </a:ln>
          </p:spPr>
        </p:pic>
      </p:grpSp>
    </p:spTree>
    <p:extLst>
      <p:ext uri="{BB962C8B-B14F-4D97-AF65-F5344CB8AC3E}">
        <p14:creationId xmlns:p14="http://schemas.microsoft.com/office/powerpoint/2010/main" val="24271140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53DDD4E-3AA2-4400-8BB0-39D77D6A5282}"/>
              </a:ext>
            </a:extLst>
          </p:cNvPr>
          <p:cNvSpPr>
            <a:spLocks noGrp="1"/>
          </p:cNvSpPr>
          <p:nvPr>
            <p:ph type="sldNum" sz="quarter" idx="12"/>
          </p:nvPr>
        </p:nvSpPr>
        <p:spPr/>
        <p:txBody>
          <a:bodyPr/>
          <a:lstStyle/>
          <a:p>
            <a:fld id="{0E2FB9F8-B016-4C35-8BC6-7C987AB431D6}" type="slidenum">
              <a:rPr lang="zh-TW" altLang="en-US" smtClean="0"/>
              <a:t>57</a:t>
            </a:fld>
            <a:endParaRPr lang="zh-TW" altLang="en-US" dirty="0"/>
          </a:p>
        </p:txBody>
      </p:sp>
      <p:sp>
        <p:nvSpPr>
          <p:cNvPr id="4" name="文字版面配置區 3">
            <a:extLst>
              <a:ext uri="{FF2B5EF4-FFF2-40B4-BE49-F238E27FC236}">
                <a16:creationId xmlns:a16="http://schemas.microsoft.com/office/drawing/2014/main" id="{0885FD80-5D44-4549-9569-8973486D096D}"/>
              </a:ext>
            </a:extLst>
          </p:cNvPr>
          <p:cNvSpPr>
            <a:spLocks noGrp="1"/>
          </p:cNvSpPr>
          <p:nvPr>
            <p:ph type="body" sz="half" idx="13"/>
          </p:nvPr>
        </p:nvSpPr>
        <p:spPr>
          <a:xfrm>
            <a:off x="2962276" y="16590"/>
            <a:ext cx="6267450" cy="660417"/>
          </a:xfrm>
        </p:spPr>
        <p:txBody>
          <a:bodyPr>
            <a:normAutofit/>
          </a:bodyPr>
          <a:lstStyle/>
          <a:p>
            <a:r>
              <a:rPr lang="en-US" altLang="zh-TW" dirty="0"/>
              <a:t>Calculation squeezing level</a:t>
            </a:r>
            <a:endParaRPr lang="zh-TW" altLang="en-US" dirty="0"/>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F2E7650B-8158-465C-8185-E4F3A49B5FFD}"/>
                  </a:ext>
                </a:extLst>
              </p:cNvPr>
              <p:cNvGraphicFramePr>
                <a:graphicFrameLocks noGrp="1"/>
              </p:cNvGraphicFramePr>
              <p:nvPr>
                <p:extLst/>
              </p:nvPr>
            </p:nvGraphicFramePr>
            <p:xfrm>
              <a:off x="1117904" y="973254"/>
              <a:ext cx="10499422" cy="4758184"/>
            </p:xfrm>
            <a:graphic>
              <a:graphicData uri="http://schemas.openxmlformats.org/drawingml/2006/table">
                <a:tbl>
                  <a:tblPr firstRow="1" bandRow="1">
                    <a:tableStyleId>{9D7B26C5-4107-4FEC-AEDC-1716B250A1EF}</a:tableStyleId>
                  </a:tblPr>
                  <a:tblGrid>
                    <a:gridCol w="1991056">
                      <a:extLst>
                        <a:ext uri="{9D8B030D-6E8A-4147-A177-3AD203B41FA5}">
                          <a16:colId xmlns:a16="http://schemas.microsoft.com/office/drawing/2014/main" val="2694499517"/>
                        </a:ext>
                      </a:extLst>
                    </a:gridCol>
                    <a:gridCol w="1418061">
                      <a:extLst>
                        <a:ext uri="{9D8B030D-6E8A-4147-A177-3AD203B41FA5}">
                          <a16:colId xmlns:a16="http://schemas.microsoft.com/office/drawing/2014/main" val="2084595212"/>
                        </a:ext>
                      </a:extLst>
                    </a:gridCol>
                    <a:gridCol w="1418061">
                      <a:extLst>
                        <a:ext uri="{9D8B030D-6E8A-4147-A177-3AD203B41FA5}">
                          <a16:colId xmlns:a16="http://schemas.microsoft.com/office/drawing/2014/main" val="1576706074"/>
                        </a:ext>
                      </a:extLst>
                    </a:gridCol>
                    <a:gridCol w="1418061">
                      <a:extLst>
                        <a:ext uri="{9D8B030D-6E8A-4147-A177-3AD203B41FA5}">
                          <a16:colId xmlns:a16="http://schemas.microsoft.com/office/drawing/2014/main" val="2632187136"/>
                        </a:ext>
                      </a:extLst>
                    </a:gridCol>
                    <a:gridCol w="1418061">
                      <a:extLst>
                        <a:ext uri="{9D8B030D-6E8A-4147-A177-3AD203B41FA5}">
                          <a16:colId xmlns:a16="http://schemas.microsoft.com/office/drawing/2014/main" val="4223532321"/>
                        </a:ext>
                      </a:extLst>
                    </a:gridCol>
                    <a:gridCol w="1418061">
                      <a:extLst>
                        <a:ext uri="{9D8B030D-6E8A-4147-A177-3AD203B41FA5}">
                          <a16:colId xmlns:a16="http://schemas.microsoft.com/office/drawing/2014/main" val="1804700865"/>
                        </a:ext>
                      </a:extLst>
                    </a:gridCol>
                    <a:gridCol w="1418061">
                      <a:extLst>
                        <a:ext uri="{9D8B030D-6E8A-4147-A177-3AD203B41FA5}">
                          <a16:colId xmlns:a16="http://schemas.microsoft.com/office/drawing/2014/main" val="1397282032"/>
                        </a:ext>
                      </a:extLst>
                    </a:gridCol>
                  </a:tblGrid>
                  <a:tr h="533894">
                    <a:tc>
                      <a:txBody>
                        <a:bodyPr/>
                        <a:lstStyle/>
                        <a:p>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2020[11]</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2020[53]</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2019[1]</a:t>
                          </a:r>
                        </a:p>
                        <a:p>
                          <a:pPr algn="ctr"/>
                          <a:r>
                            <a:rPr lang="en-US" altLang="zh-TW" sz="1400" dirty="0">
                              <a:latin typeface="Times New Roman" panose="02020603050405020304" pitchFamily="18" charset="0"/>
                              <a:cs typeface="Times New Roman" panose="02020603050405020304" pitchFamily="18" charset="0"/>
                            </a:rPr>
                            <a:t>(PPLN+DC)</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2018[4]</a:t>
                          </a:r>
                        </a:p>
                        <a:p>
                          <a:pPr algn="ctr"/>
                          <a:r>
                            <a:rPr lang="en-US" altLang="zh-TW" sz="1400" dirty="0">
                              <a:latin typeface="Times New Roman" panose="02020603050405020304" pitchFamily="18" charset="0"/>
                              <a:cs typeface="Times New Roman" panose="02020603050405020304" pitchFamily="18" charset="0"/>
                            </a:rPr>
                            <a:t>(PPLN+3*DC)</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2016[12]</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Our estimate</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96039604"/>
                      </a:ext>
                    </a:extLst>
                  </a:tr>
                  <a:tr h="384295">
                    <a:tc>
                      <a:txBody>
                        <a:bodyPr/>
                        <a:lstStyle/>
                        <a:p>
                          <a:r>
                            <a:rPr lang="en-US" altLang="zh-TW" sz="1400" dirty="0">
                              <a:latin typeface="Times New Roman" panose="02020603050405020304" pitchFamily="18" charset="0"/>
                              <a:cs typeface="Times New Roman" panose="02020603050405020304" pitchFamily="18" charset="0"/>
                            </a:rPr>
                            <a:t>Squeezing Level(dB)</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-6.3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-1.38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-1.83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solidFill>
                                <a:srgbClr val="FF0000"/>
                              </a:solidFill>
                              <a:latin typeface="Times New Roman" panose="02020603050405020304" pitchFamily="18" charset="0"/>
                              <a:cs typeface="Times New Roman" panose="02020603050405020304" pitchFamily="18" charset="0"/>
                            </a:rPr>
                            <a:t>-0.67</a:t>
                          </a:r>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8266409"/>
                      </a:ext>
                    </a:extLst>
                  </a:tr>
                  <a:tr h="384295">
                    <a:tc>
                      <a:txBody>
                        <a:bodyPr/>
                        <a:lstStyle/>
                        <a:p>
                          <a:r>
                            <a:rPr lang="en-US" altLang="zh-TW" sz="1400" dirty="0">
                              <a:latin typeface="Times New Roman" panose="02020603050405020304" pitchFamily="18" charset="0"/>
                              <a:cs typeface="Times New Roman" panose="02020603050405020304" pitchFamily="18" charset="0"/>
                            </a:rPr>
                            <a:t>Waveguide type</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a</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b</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a:effectLst/>
                              <a:latin typeface="Times New Roman" panose="02020603050405020304" pitchFamily="18" charset="0"/>
                              <a:ea typeface="PMingLiU" panose="02020500000000000000" pitchFamily="18" charset="-120"/>
                              <a:cs typeface="Times New Roman" panose="02020603050405020304" pitchFamily="18" charset="0"/>
                            </a:rPr>
                            <a:t>SPE</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a:effectLst/>
                              <a:latin typeface="Times New Roman" panose="02020603050405020304" pitchFamily="18" charset="0"/>
                              <a:ea typeface="PMingLiU" panose="02020500000000000000" pitchFamily="18" charset="-120"/>
                              <a:cs typeface="Times New Roman" panose="02020603050405020304" pitchFamily="18" charset="0"/>
                            </a:rPr>
                            <a:t>RPE</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c</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Ti</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835600951"/>
                      </a:ext>
                    </a:extLst>
                  </a:tr>
                  <a:tr h="384295">
                    <a:tc>
                      <a:txBody>
                        <a:bodyPr/>
                        <a:lstStyle/>
                        <a:p>
                          <a:r>
                            <a:rPr lang="en-US" altLang="zh-TW" sz="1400" dirty="0">
                              <a:latin typeface="Times New Roman" panose="02020603050405020304" pitchFamily="18" charset="0"/>
                              <a:cs typeface="Times New Roman" panose="02020603050405020304" pitchFamily="18" charset="0"/>
                            </a:rPr>
                            <a:t>QPM</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ea typeface="楷体" panose="02010609060101010101" pitchFamily="49" charset="-122"/>
                              <a:cs typeface="Times New Roman" panose="02020603050405020304" pitchFamily="18" charset="0"/>
                            </a:rPr>
                            <a:t>length</a:t>
                          </a:r>
                          <a:r>
                            <a:rPr lang="en-US" altLang="zh-TW" sz="1400" dirty="0">
                              <a:latin typeface="Times New Roman" panose="02020603050405020304" pitchFamily="18" charset="0"/>
                              <a:cs typeface="Times New Roman" panose="02020603050405020304" pitchFamily="18" charset="0"/>
                            </a:rPr>
                            <a:t>(mm)</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483832"/>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30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4787891"/>
                      </a:ext>
                    </a:extLst>
                  </a:tr>
                  <a:tr h="384295">
                    <a:tc>
                      <a:txBody>
                        <a:bodyPr/>
                        <a:lstStyle/>
                        <a:p>
                          <a14:m>
                            <m:oMath xmlns:m="http://schemas.openxmlformats.org/officeDocument/2006/math">
                              <m:r>
                                <a:rPr lang="en-US" altLang="zh-TW" sz="1400" dirty="0" smtClean="0">
                                  <a:latin typeface="Cambria Math" panose="02040503050406030204" pitchFamily="18" charset="0"/>
                                </a:rPr>
                                <m:t>𝑎</m:t>
                              </m:r>
                            </m:oMath>
                          </a14:m>
                          <a:r>
                            <a:rPr lang="en-US" altLang="zh-TW" sz="1400" baseline="-25000" dirty="0">
                              <a:latin typeface="Times New Roman" panose="02020603050405020304" pitchFamily="18" charset="0"/>
                              <a:cs typeface="Times New Roman" panose="02020603050405020304" pitchFamily="18" charset="0"/>
                            </a:rPr>
                            <a:t>norm</a:t>
                          </a:r>
                          <a:r>
                            <a:rPr lang="en-US" altLang="zh-TW" sz="1400" dirty="0">
                              <a:latin typeface="Times New Roman" panose="02020603050405020304" pitchFamily="18" charset="0"/>
                              <a:cs typeface="Times New Roman" panose="02020603050405020304" pitchFamily="18" charset="0"/>
                            </a:rPr>
                            <a:t>(%/W/cm</a:t>
                          </a:r>
                          <a:r>
                            <a:rPr lang="en-US" altLang="zh-TW" sz="1400" baseline="30000" dirty="0">
                              <a:latin typeface="Times New Roman" panose="02020603050405020304" pitchFamily="18" charset="0"/>
                              <a:cs typeface="Times New Roman" panose="02020603050405020304" pitchFamily="18" charset="0"/>
                            </a:rPr>
                            <a:t>2</a:t>
                          </a:r>
                          <a:r>
                            <a:rPr lang="en-US" altLang="zh-TW" sz="1400" baseline="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57.28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endParaRPr lang="zh-TW"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92.5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125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15.8</a:t>
                          </a: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600626543"/>
                      </a:ext>
                    </a:extLst>
                  </a:tr>
                  <a:tr h="384295">
                    <a:tc>
                      <a:txBody>
                        <a:bodyPr/>
                        <a:lstStyle/>
                        <a:p>
                          <a14:m>
                            <m:oMath xmlns:m="http://schemas.openxmlformats.org/officeDocument/2006/math">
                              <m:r>
                                <a:rPr lang="zh-TW" altLang="en-US" sz="1400" smtClean="0">
                                  <a:latin typeface="Cambria Math" panose="02040503050406030204" pitchFamily="18" charset="0"/>
                                </a:rPr>
                                <m:t>𝜇</m:t>
                              </m:r>
                              <m:r>
                                <a:rPr lang="en-US" altLang="zh-TW" sz="1400" smtClean="0">
                                  <a:latin typeface="Cambria Math" panose="02040503050406030204" pitchFamily="18" charset="0"/>
                                </a:rPr>
                                <m:t>(</m:t>
                              </m:r>
                              <m:sSup>
                                <m:sSupPr>
                                  <m:ctrlPr>
                                    <a:rPr lang="en-US" altLang="zh-TW" sz="1400" i="1" smtClean="0">
                                      <a:latin typeface="Cambria Math" panose="02040503050406030204" pitchFamily="18" charset="0"/>
                                    </a:rPr>
                                  </m:ctrlPr>
                                </m:sSupPr>
                                <m:e>
                                  <m:r>
                                    <m:rPr>
                                      <m:sty m:val="p"/>
                                    </m:rPr>
                                    <a:rPr lang="en-US" altLang="zh-TW" sz="1400" smtClean="0">
                                      <a:latin typeface="Cambria Math" panose="02040503050406030204" pitchFamily="18" charset="0"/>
                                    </a:rPr>
                                    <m:t>mW</m:t>
                                  </m:r>
                                </m:e>
                                <m:sup>
                                  <m:f>
                                    <m:fPr>
                                      <m:type m:val="lin"/>
                                      <m:ctrlPr>
                                        <a:rPr lang="en-US" altLang="zh-TW" sz="1400" i="1" smtClean="0">
                                          <a:latin typeface="Cambria Math" panose="02040503050406030204" pitchFamily="18" charset="0"/>
                                        </a:rPr>
                                      </m:ctrlPr>
                                    </m:fPr>
                                    <m:num>
                                      <m:r>
                                        <a:rPr lang="en-US" altLang="zh-TW" sz="1400" smtClean="0">
                                          <a:latin typeface="Cambria Math" panose="02040503050406030204" pitchFamily="18" charset="0"/>
                                        </a:rPr>
                                        <m:t>−1</m:t>
                                      </m:r>
                                    </m:num>
                                    <m:den>
                                      <m:r>
                                        <a:rPr lang="en-US" altLang="zh-TW" sz="1400" smtClean="0">
                                          <a:latin typeface="Cambria Math" panose="02040503050406030204" pitchFamily="18" charset="0"/>
                                        </a:rPr>
                                        <m:t>2</m:t>
                                      </m:r>
                                    </m:den>
                                  </m:f>
                                </m:sup>
                              </m:sSup>
                            </m:oMath>
                          </a14:m>
                          <a:r>
                            <a:rPr lang="en-US" altLang="zh-TW" sz="140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algn="ctr" defTabSz="914400" rtl="0" eaLnBrk="1" latinLnBrk="0" hangingPunct="1"/>
                          <a:endParaRPr lang="zh-TW"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0.061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0.141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0.019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079966"/>
                      </a:ext>
                    </a:extLst>
                  </a:tr>
                  <a:tr h="384295">
                    <a:tc>
                      <a:txBody>
                        <a:bodyPr/>
                        <a:lstStyle/>
                        <a:p>
                          <a14:m>
                            <m:oMath xmlns:m="http://schemas.openxmlformats.org/officeDocument/2006/math">
                              <m:r>
                                <a:rPr lang="zh-TW" altLang="en-US" sz="1400" smtClean="0">
                                  <a:solidFill>
                                    <a:srgbClr val="FF0000"/>
                                  </a:solidFill>
                                  <a:latin typeface="Cambria Math" panose="02040503050406030204" pitchFamily="18" charset="0"/>
                                </a:rPr>
                                <m:t>𝜇</m:t>
                              </m:r>
                            </m:oMath>
                          </a14:m>
                          <a:r>
                            <a:rPr lang="zh-TW" altLang="en-US" sz="1400" dirty="0">
                              <a:solidFill>
                                <a:srgbClr val="FF0000"/>
                              </a:solidFill>
                              <a:latin typeface="Times New Roman" panose="02020603050405020304" pitchFamily="18" charset="0"/>
                              <a:cs typeface="Times New Roman" panose="02020603050405020304" pitchFamily="18" charset="0"/>
                            </a:rPr>
                            <a:t> </a:t>
                          </a:r>
                          <a:r>
                            <a:rPr lang="en-US" altLang="zh-TW" sz="1400" dirty="0">
                              <a:solidFill>
                                <a:srgbClr val="FF0000"/>
                              </a:solidFill>
                              <a:latin typeface="Times New Roman" panose="02020603050405020304" pitchFamily="18" charset="0"/>
                              <a:cs typeface="Times New Roman" panose="02020603050405020304" pitchFamily="18" charset="0"/>
                            </a:rPr>
                            <a:t>fitting(</a:t>
                          </a:r>
                          <a14:m>
                            <m:oMath xmlns:m="http://schemas.openxmlformats.org/officeDocument/2006/math">
                              <m:sSup>
                                <m:sSupPr>
                                  <m:ctrlPr>
                                    <a:rPr lang="en-US" altLang="zh-TW" sz="1400" i="1" smtClean="0">
                                      <a:solidFill>
                                        <a:srgbClr val="FF0000"/>
                                      </a:solidFill>
                                      <a:latin typeface="Cambria Math" panose="02040503050406030204" pitchFamily="18" charset="0"/>
                                    </a:rPr>
                                  </m:ctrlPr>
                                </m:sSupPr>
                                <m:e>
                                  <m:r>
                                    <m:rPr>
                                      <m:sty m:val="p"/>
                                    </m:rPr>
                                    <a:rPr lang="en-US" altLang="zh-TW" sz="1400" smtClean="0">
                                      <a:solidFill>
                                        <a:srgbClr val="FF0000"/>
                                      </a:solidFill>
                                      <a:latin typeface="Cambria Math" panose="02040503050406030204" pitchFamily="18" charset="0"/>
                                    </a:rPr>
                                    <m:t>mW</m:t>
                                  </m:r>
                                </m:e>
                                <m:sup>
                                  <m:f>
                                    <m:fPr>
                                      <m:type m:val="lin"/>
                                      <m:ctrlPr>
                                        <a:rPr lang="en-US" altLang="zh-TW" sz="1400" i="1" smtClean="0">
                                          <a:solidFill>
                                            <a:srgbClr val="FF0000"/>
                                          </a:solidFill>
                                          <a:latin typeface="Cambria Math" panose="02040503050406030204" pitchFamily="18" charset="0"/>
                                        </a:rPr>
                                      </m:ctrlPr>
                                    </m:fPr>
                                    <m:num>
                                      <m:r>
                                        <a:rPr lang="en-US" altLang="zh-TW" sz="1400" smtClean="0">
                                          <a:solidFill>
                                            <a:srgbClr val="FF0000"/>
                                          </a:solidFill>
                                          <a:latin typeface="Cambria Math" panose="02040503050406030204" pitchFamily="18" charset="0"/>
                                        </a:rPr>
                                        <m:t>−1</m:t>
                                      </m:r>
                                    </m:num>
                                    <m:den>
                                      <m:r>
                                        <a:rPr lang="en-US" altLang="zh-TW" sz="1400" smtClean="0">
                                          <a:solidFill>
                                            <a:srgbClr val="FF0000"/>
                                          </a:solidFill>
                                          <a:latin typeface="Cambria Math" panose="02040503050406030204" pitchFamily="18" charset="0"/>
                                        </a:rPr>
                                        <m:t>2</m:t>
                                      </m:r>
                                    </m:den>
                                  </m:f>
                                </m:sup>
                              </m:sSup>
                            </m:oMath>
                          </a14:m>
                          <a:r>
                            <a:rPr lang="en-US" altLang="zh-TW" sz="1400" dirty="0">
                              <a:solidFill>
                                <a:srgbClr val="FF0000"/>
                              </a:solidFill>
                              <a:latin typeface="Times New Roman" panose="02020603050405020304" pitchFamily="18" charset="0"/>
                              <a:cs typeface="Times New Roman" panose="02020603050405020304" pitchFamily="18" charset="0"/>
                            </a:rPr>
                            <a:t>)</a:t>
                          </a:r>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48527448"/>
                      </a:ext>
                    </a:extLst>
                  </a:tr>
                  <a:tr h="384295">
                    <a:tc>
                      <a:txBody>
                        <a:bodyPr/>
                        <a:lstStyle/>
                        <a:p>
                          <a14:m>
                            <m:oMath xmlns:m="http://schemas.openxmlformats.org/officeDocument/2006/math">
                              <m:r>
                                <a:rPr lang="zh-TW" altLang="en-US" sz="1400" smtClean="0">
                                  <a:latin typeface="Cambria Math" panose="02040503050406030204" pitchFamily="18" charset="0"/>
                                </a:rPr>
                                <m:t>𝜂</m:t>
                              </m:r>
                            </m:oMath>
                          </a14:m>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estimate</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0.62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0.71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0.67</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19020172"/>
                      </a:ext>
                    </a:extLst>
                  </a:tr>
                  <a:tr h="384295">
                    <a:tc>
                      <a:txBody>
                        <a:bodyPr/>
                        <a:lstStyle/>
                        <a:p>
                          <a14:m>
                            <m:oMath xmlns:m="http://schemas.openxmlformats.org/officeDocument/2006/math">
                              <m:r>
                                <a:rPr lang="zh-TW" altLang="en-US" sz="1400" smtClean="0">
                                  <a:solidFill>
                                    <a:srgbClr val="FF0000"/>
                                  </a:solidFill>
                                  <a:latin typeface="Cambria Math" panose="02040503050406030204" pitchFamily="18" charset="0"/>
                                </a:rPr>
                                <m:t>𝜂</m:t>
                              </m:r>
                            </m:oMath>
                          </a14:m>
                          <a:r>
                            <a:rPr lang="en-US" altLang="zh-TW" sz="1400" dirty="0">
                              <a:solidFill>
                                <a:srgbClr val="FF0000"/>
                              </a:solidFill>
                              <a:latin typeface="Times New Roman" panose="02020603050405020304" pitchFamily="18" charset="0"/>
                              <a:cs typeface="Times New Roman" panose="02020603050405020304" pitchFamily="18" charset="0"/>
                            </a:rPr>
                            <a:t> fitting</a:t>
                          </a:r>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0.79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0.52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0.54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6073523"/>
                      </a:ext>
                    </a:extLst>
                  </a:tr>
                  <a:tr h="764730">
                    <a:tc>
                      <a:txBody>
                        <a:bodyPr/>
                        <a:lstStyle/>
                        <a:p>
                          <a:r>
                            <a:rPr lang="en-US" altLang="zh-TW" sz="1400" dirty="0">
                              <a:latin typeface="Times New Roman" panose="02020603050405020304" pitchFamily="18" charset="0"/>
                              <a:cs typeface="Times New Roman" panose="02020603050405020304" pitchFamily="18" charset="0"/>
                            </a:rPr>
                            <a:t>SPDC</a:t>
                          </a:r>
                        </a:p>
                        <a:p>
                          <a:r>
                            <a:rPr lang="en-US" altLang="zh-TW" sz="1400" dirty="0">
                              <a:latin typeface="Times New Roman" panose="02020603050405020304" pitchFamily="18" charset="0"/>
                              <a:cs typeface="Times New Roman" panose="02020603050405020304" pitchFamily="18" charset="0"/>
                            </a:rPr>
                            <a:t>conversion efficiencies (pairs/</a:t>
                          </a:r>
                          <a:r>
                            <a:rPr lang="en-US" altLang="zh-TW" sz="1400" dirty="0" err="1">
                              <a:latin typeface="Times New Roman" panose="02020603050405020304" pitchFamily="18" charset="0"/>
                              <a:cs typeface="Times New Roman" panose="02020603050405020304" pitchFamily="18" charset="0"/>
                            </a:rPr>
                            <a:t>mW</a:t>
                          </a:r>
                          <a:r>
                            <a:rPr lang="en-US" altLang="zh-TW" sz="1400" dirty="0">
                              <a:latin typeface="Times New Roman" panose="02020603050405020304" pitchFamily="18" charset="0"/>
                              <a:cs typeface="Times New Roman" panose="02020603050405020304" pitchFamily="18" charset="0"/>
                            </a:rPr>
                            <a:t>/GHz/s)</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~10</a:t>
                          </a:r>
                          <a:r>
                            <a:rPr lang="en-US" altLang="zh-TW" sz="1400" baseline="30000" dirty="0">
                              <a:latin typeface="Times New Roman" panose="02020603050405020304" pitchFamily="18" charset="0"/>
                              <a:cs typeface="Times New Roman" panose="02020603050405020304" pitchFamily="18" charset="0"/>
                            </a:rPr>
                            <a:t>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zh-TW" altLang="en-US" sz="1400" dirty="0">
                              <a:latin typeface="Times New Roman" panose="02020603050405020304" pitchFamily="18" charset="0"/>
                              <a:cs typeface="Times New Roman" panose="02020603050405020304" pitchFamily="18" charset="0"/>
                            </a:rPr>
                            <a:t>∼</a:t>
                          </a:r>
                          <a:r>
                            <a:rPr lang="en-US" altLang="zh-TW" sz="1400" dirty="0">
                              <a:latin typeface="Times New Roman" panose="02020603050405020304" pitchFamily="18" charset="0"/>
                              <a:cs typeface="Times New Roman" panose="02020603050405020304" pitchFamily="18" charset="0"/>
                            </a:rPr>
                            <a:t>1.2 · 10</a:t>
                          </a:r>
                          <a:r>
                            <a:rPr lang="en-US" altLang="zh-TW" sz="1400" baseline="30000" dirty="0">
                              <a:latin typeface="Times New Roman" panose="02020603050405020304" pitchFamily="18" charset="0"/>
                              <a:cs typeface="Times New Roman" panose="02020603050405020304" pitchFamily="18" charset="0"/>
                            </a:rPr>
                            <a:t>6</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55820043"/>
                      </a:ext>
                    </a:extLst>
                  </a:tr>
                  <a:tr h="385200">
                    <a:tc>
                      <a:txBody>
                        <a:bodyPr/>
                        <a:lstStyle/>
                        <a:p>
                          <a:r>
                            <a:rPr lang="en-US" altLang="zh-TW" sz="1400" dirty="0">
                              <a:latin typeface="Times New Roman" panose="02020603050405020304" pitchFamily="18" charset="0"/>
                              <a:cs typeface="Times New Roman" panose="02020603050405020304" pitchFamily="18" charset="0"/>
                            </a:rPr>
                            <a:t>Propagation loss(</a:t>
                          </a:r>
                          <a:r>
                            <a:rPr lang="en-US" altLang="zh-TW" sz="1400" dirty="0" err="1">
                              <a:latin typeface="Times New Roman" panose="02020603050405020304" pitchFamily="18" charset="0"/>
                              <a:cs typeface="Times New Roman" panose="02020603050405020304" pitchFamily="18" charset="0"/>
                            </a:rPr>
                            <a:t>dB∕cm</a:t>
                          </a:r>
                          <a:r>
                            <a:rPr lang="en-US" altLang="zh-TW" sz="140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0.04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0.14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0.4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0.2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5630306"/>
                      </a:ext>
                    </a:extLst>
                  </a:tr>
                </a:tbl>
              </a:graphicData>
            </a:graphic>
          </p:graphicFrame>
        </mc:Choice>
        <mc:Fallback xmlns="">
          <p:graphicFrame>
            <p:nvGraphicFramePr>
              <p:cNvPr id="6" name="表格 5">
                <a:extLst>
                  <a:ext uri="{FF2B5EF4-FFF2-40B4-BE49-F238E27FC236}">
                    <a16:creationId xmlns:a16="http://schemas.microsoft.com/office/drawing/2014/main" id="{F2E7650B-8158-465C-8185-E4F3A49B5FFD}"/>
                  </a:ext>
                </a:extLst>
              </p:cNvPr>
              <p:cNvGraphicFramePr>
                <a:graphicFrameLocks noGrp="1"/>
              </p:cNvGraphicFramePr>
              <p:nvPr>
                <p:extLst/>
              </p:nvPr>
            </p:nvGraphicFramePr>
            <p:xfrm>
              <a:off x="1117904" y="973254"/>
              <a:ext cx="10499422" cy="4758184"/>
            </p:xfrm>
            <a:graphic>
              <a:graphicData uri="http://schemas.openxmlformats.org/drawingml/2006/table">
                <a:tbl>
                  <a:tblPr firstRow="1" bandRow="1">
                    <a:tableStyleId>{9D7B26C5-4107-4FEC-AEDC-1716B250A1EF}</a:tableStyleId>
                  </a:tblPr>
                  <a:tblGrid>
                    <a:gridCol w="1991056">
                      <a:extLst>
                        <a:ext uri="{9D8B030D-6E8A-4147-A177-3AD203B41FA5}">
                          <a16:colId xmlns:a16="http://schemas.microsoft.com/office/drawing/2014/main" val="2694499517"/>
                        </a:ext>
                      </a:extLst>
                    </a:gridCol>
                    <a:gridCol w="1418061">
                      <a:extLst>
                        <a:ext uri="{9D8B030D-6E8A-4147-A177-3AD203B41FA5}">
                          <a16:colId xmlns:a16="http://schemas.microsoft.com/office/drawing/2014/main" val="2084595212"/>
                        </a:ext>
                      </a:extLst>
                    </a:gridCol>
                    <a:gridCol w="1418061">
                      <a:extLst>
                        <a:ext uri="{9D8B030D-6E8A-4147-A177-3AD203B41FA5}">
                          <a16:colId xmlns:a16="http://schemas.microsoft.com/office/drawing/2014/main" val="1576706074"/>
                        </a:ext>
                      </a:extLst>
                    </a:gridCol>
                    <a:gridCol w="1418061">
                      <a:extLst>
                        <a:ext uri="{9D8B030D-6E8A-4147-A177-3AD203B41FA5}">
                          <a16:colId xmlns:a16="http://schemas.microsoft.com/office/drawing/2014/main" val="2632187136"/>
                        </a:ext>
                      </a:extLst>
                    </a:gridCol>
                    <a:gridCol w="1418061">
                      <a:extLst>
                        <a:ext uri="{9D8B030D-6E8A-4147-A177-3AD203B41FA5}">
                          <a16:colId xmlns:a16="http://schemas.microsoft.com/office/drawing/2014/main" val="4223532321"/>
                        </a:ext>
                      </a:extLst>
                    </a:gridCol>
                    <a:gridCol w="1418061">
                      <a:extLst>
                        <a:ext uri="{9D8B030D-6E8A-4147-A177-3AD203B41FA5}">
                          <a16:colId xmlns:a16="http://schemas.microsoft.com/office/drawing/2014/main" val="1804700865"/>
                        </a:ext>
                      </a:extLst>
                    </a:gridCol>
                    <a:gridCol w="1418061">
                      <a:extLst>
                        <a:ext uri="{9D8B030D-6E8A-4147-A177-3AD203B41FA5}">
                          <a16:colId xmlns:a16="http://schemas.microsoft.com/office/drawing/2014/main" val="1397282032"/>
                        </a:ext>
                      </a:extLst>
                    </a:gridCol>
                  </a:tblGrid>
                  <a:tr h="533894">
                    <a:tc>
                      <a:txBody>
                        <a:bodyPr/>
                        <a:lstStyle/>
                        <a:p>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2020[11]</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2020[53]</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2019[1]</a:t>
                          </a:r>
                        </a:p>
                        <a:p>
                          <a:pPr algn="ctr"/>
                          <a:r>
                            <a:rPr lang="en-US" altLang="zh-TW" sz="1400" dirty="0">
                              <a:latin typeface="Times New Roman" panose="02020603050405020304" pitchFamily="18" charset="0"/>
                              <a:cs typeface="Times New Roman" panose="02020603050405020304" pitchFamily="18" charset="0"/>
                            </a:rPr>
                            <a:t>(PPLN+DC)</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2018[4]</a:t>
                          </a:r>
                        </a:p>
                        <a:p>
                          <a:pPr algn="ctr"/>
                          <a:r>
                            <a:rPr lang="en-US" altLang="zh-TW" sz="1400" dirty="0">
                              <a:latin typeface="Times New Roman" panose="02020603050405020304" pitchFamily="18" charset="0"/>
                              <a:cs typeface="Times New Roman" panose="02020603050405020304" pitchFamily="18" charset="0"/>
                            </a:rPr>
                            <a:t>(PPLN+3*DC)</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2016[12]</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solidFill>
                          <a:schemeClr val="accent1">
                            <a:lumMod val="40000"/>
                            <a:lumOff val="60000"/>
                          </a:schemeClr>
                        </a:solidFill>
                      </a:tcPr>
                    </a:tc>
                    <a:tc>
                      <a:txBody>
                        <a:bodyPr/>
                        <a:lstStyle/>
                        <a:p>
                          <a:pPr algn="ctr"/>
                          <a:r>
                            <a:rPr lang="en-US" altLang="zh-TW" sz="1400" dirty="0">
                              <a:latin typeface="Times New Roman" panose="02020603050405020304" pitchFamily="18" charset="0"/>
                              <a:cs typeface="Times New Roman" panose="02020603050405020304" pitchFamily="18" charset="0"/>
                            </a:rPr>
                            <a:t>Our estimate</a:t>
                          </a:r>
                        </a:p>
                        <a:p>
                          <a:pPr algn="ctr"/>
                          <a:r>
                            <a:rPr lang="en-US" altLang="zh-TW" sz="1400" dirty="0">
                              <a:latin typeface="Times New Roman" panose="02020603050405020304" pitchFamily="18" charset="0"/>
                              <a:cs typeface="Times New Roman" panose="02020603050405020304" pitchFamily="18" charset="0"/>
                            </a:rPr>
                            <a:t>(PPLN)</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96039604"/>
                      </a:ext>
                    </a:extLst>
                  </a:tr>
                  <a:tr h="384295">
                    <a:tc>
                      <a:txBody>
                        <a:bodyPr/>
                        <a:lstStyle/>
                        <a:p>
                          <a:r>
                            <a:rPr lang="en-US" altLang="zh-TW" sz="1400" dirty="0">
                              <a:latin typeface="Times New Roman" panose="02020603050405020304" pitchFamily="18" charset="0"/>
                              <a:cs typeface="Times New Roman" panose="02020603050405020304" pitchFamily="18" charset="0"/>
                            </a:rPr>
                            <a:t>Squeezing Level(dB)</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-6.3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-1.38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-1.83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400" dirty="0">
                              <a:solidFill>
                                <a:srgbClr val="FF0000"/>
                              </a:solidFill>
                              <a:latin typeface="Times New Roman" panose="02020603050405020304" pitchFamily="18" charset="0"/>
                              <a:cs typeface="Times New Roman" panose="02020603050405020304" pitchFamily="18" charset="0"/>
                            </a:rPr>
                            <a:t>-0.67</a:t>
                          </a:r>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rgbClr val="48383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8266409"/>
                      </a:ext>
                    </a:extLst>
                  </a:tr>
                  <a:tr h="384295">
                    <a:tc>
                      <a:txBody>
                        <a:bodyPr/>
                        <a:lstStyle/>
                        <a:p>
                          <a:r>
                            <a:rPr lang="en-US" altLang="zh-TW" sz="1400" dirty="0">
                              <a:latin typeface="Times New Roman" panose="02020603050405020304" pitchFamily="18" charset="0"/>
                              <a:cs typeface="Times New Roman" panose="02020603050405020304" pitchFamily="18" charset="0"/>
                            </a:rPr>
                            <a:t>Waveguide type</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a</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b</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a:effectLst/>
                              <a:latin typeface="Times New Roman" panose="02020603050405020304" pitchFamily="18" charset="0"/>
                              <a:ea typeface="PMingLiU" panose="02020500000000000000" pitchFamily="18" charset="-120"/>
                              <a:cs typeface="Times New Roman" panose="02020603050405020304" pitchFamily="18" charset="0"/>
                            </a:rPr>
                            <a:t>SPE</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a:effectLst/>
                              <a:latin typeface="Times New Roman" panose="02020603050405020304" pitchFamily="18" charset="0"/>
                              <a:ea typeface="PMingLiU" panose="02020500000000000000" pitchFamily="18" charset="-120"/>
                              <a:cs typeface="Times New Roman" panose="02020603050405020304" pitchFamily="18" charset="0"/>
                            </a:rPr>
                            <a:t>RPE</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Ridge</a:t>
                          </a:r>
                          <a:r>
                            <a:rPr lang="en-US" sz="1400" kern="1200" baseline="30000" dirty="0" err="1">
                              <a:effectLst/>
                              <a:latin typeface="Times New Roman" panose="02020603050405020304" pitchFamily="18" charset="0"/>
                              <a:ea typeface="PMingLiU" panose="02020500000000000000" pitchFamily="18" charset="-120"/>
                              <a:cs typeface="Times New Roman" panose="02020603050405020304" pitchFamily="18" charset="0"/>
                            </a:rPr>
                            <a:t>c</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hangingPunct="0">
                            <a:lnSpc>
                              <a:spcPct val="150000"/>
                            </a:lnSpc>
                            <a:spcAft>
                              <a:spcPts val="0"/>
                            </a:spcAft>
                          </a:pPr>
                          <a:r>
                            <a:rPr lang="en-US" sz="1400" kern="1200" dirty="0" err="1">
                              <a:effectLst/>
                              <a:latin typeface="Times New Roman" panose="02020603050405020304" pitchFamily="18" charset="0"/>
                              <a:ea typeface="PMingLiU" panose="02020500000000000000" pitchFamily="18" charset="-120"/>
                              <a:cs typeface="Times New Roman" panose="02020603050405020304" pitchFamily="18" charset="0"/>
                            </a:rPr>
                            <a:t>Ti</a:t>
                          </a:r>
                          <a:endParaRPr lang="zh-TW" sz="1400" kern="100" dirty="0">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835600951"/>
                      </a:ext>
                    </a:extLst>
                  </a:tr>
                  <a:tr h="384295">
                    <a:tc>
                      <a:txBody>
                        <a:bodyPr/>
                        <a:lstStyle/>
                        <a:p>
                          <a:r>
                            <a:rPr lang="en-US" altLang="zh-TW" sz="1400" dirty="0">
                              <a:latin typeface="Times New Roman" panose="02020603050405020304" pitchFamily="18" charset="0"/>
                              <a:cs typeface="Times New Roman" panose="02020603050405020304" pitchFamily="18" charset="0"/>
                            </a:rPr>
                            <a:t>QPM</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ea typeface="楷体" panose="02010609060101010101" pitchFamily="49" charset="-122"/>
                              <a:cs typeface="Times New Roman" panose="02020603050405020304" pitchFamily="18" charset="0"/>
                            </a:rPr>
                            <a:t>length</a:t>
                          </a:r>
                          <a:r>
                            <a:rPr lang="en-US" altLang="zh-TW" sz="1400" dirty="0">
                              <a:latin typeface="Times New Roman" panose="02020603050405020304" pitchFamily="18" charset="0"/>
                              <a:cs typeface="Times New Roman" panose="02020603050405020304" pitchFamily="18" charset="0"/>
                            </a:rPr>
                            <a:t>(mm)</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483832"/>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30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40</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15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4787891"/>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3"/>
                          <a:stretch>
                            <a:fillRect l="-306" t="-441270" r="-427523" b="-706349"/>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57.28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endParaRPr lang="zh-TW"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92.5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125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400" dirty="0">
                              <a:latin typeface="Times New Roman" panose="02020603050405020304" pitchFamily="18" charset="0"/>
                              <a:cs typeface="Times New Roman" panose="02020603050405020304" pitchFamily="18" charset="0"/>
                            </a:rPr>
                            <a:t>15.8</a:t>
                          </a: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600626543"/>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blipFill>
                          <a:blip r:embed="rId3"/>
                          <a:stretch>
                            <a:fillRect l="-306" t="-532813" r="-427523" b="-595313"/>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0.108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algn="ctr" defTabSz="914400" rtl="0" eaLnBrk="1" latinLnBrk="0" hangingPunct="1"/>
                          <a:endParaRPr lang="zh-TW"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0.061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0.141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0.019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079966"/>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blipFill>
                          <a:blip r:embed="rId3"/>
                          <a:stretch>
                            <a:fillRect l="-306" t="-642857" r="-427523" b="-504762"/>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0.11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0.03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0.101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48527448"/>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blipFill>
                          <a:blip r:embed="rId3"/>
                          <a:stretch>
                            <a:fillRect l="-306" t="-742857" r="-427523" b="-40476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0.62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0.71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0.67</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19020172"/>
                      </a:ext>
                    </a:extLst>
                  </a:tr>
                  <a:tr h="384295">
                    <a:tc>
                      <a:txBody>
                        <a:bodyPr/>
                        <a:lstStyle/>
                        <a:p>
                          <a:endParaRPr lang="zh-TW"/>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blipFill>
                          <a:blip r:embed="rId3"/>
                          <a:stretch>
                            <a:fillRect l="-306" t="-842857" r="-427523" b="-304762"/>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0.79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0.61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0.52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0.54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6073523"/>
                      </a:ext>
                    </a:extLst>
                  </a:tr>
                  <a:tr h="764730">
                    <a:tc>
                      <a:txBody>
                        <a:bodyPr/>
                        <a:lstStyle/>
                        <a:p>
                          <a:r>
                            <a:rPr lang="en-US" altLang="zh-TW" sz="1400" dirty="0">
                              <a:latin typeface="Times New Roman" panose="02020603050405020304" pitchFamily="18" charset="0"/>
                              <a:cs typeface="Times New Roman" panose="02020603050405020304" pitchFamily="18" charset="0"/>
                            </a:rPr>
                            <a:t>SPDC</a:t>
                          </a:r>
                        </a:p>
                        <a:p>
                          <a:r>
                            <a:rPr lang="en-US" altLang="zh-TW" sz="1400" dirty="0">
                              <a:latin typeface="Times New Roman" panose="02020603050405020304" pitchFamily="18" charset="0"/>
                              <a:cs typeface="Times New Roman" panose="02020603050405020304" pitchFamily="18" charset="0"/>
                            </a:rPr>
                            <a:t>conversion efficiencies (pairs/</a:t>
                          </a:r>
                          <a:r>
                            <a:rPr lang="en-US" altLang="zh-TW" sz="1400" dirty="0" err="1">
                              <a:latin typeface="Times New Roman" panose="02020603050405020304" pitchFamily="18" charset="0"/>
                              <a:cs typeface="Times New Roman" panose="02020603050405020304" pitchFamily="18" charset="0"/>
                            </a:rPr>
                            <a:t>mW</a:t>
                          </a:r>
                          <a:r>
                            <a:rPr lang="en-US" altLang="zh-TW" sz="1400" dirty="0">
                              <a:latin typeface="Times New Roman" panose="02020603050405020304" pitchFamily="18" charset="0"/>
                              <a:cs typeface="Times New Roman" panose="02020603050405020304" pitchFamily="18" charset="0"/>
                            </a:rPr>
                            <a:t>/GHz/s)</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altLang="zh-TW" sz="1400" dirty="0">
                              <a:latin typeface="Times New Roman" panose="02020603050405020304" pitchFamily="18" charset="0"/>
                              <a:cs typeface="Times New Roman" panose="02020603050405020304" pitchFamily="18" charset="0"/>
                            </a:rPr>
                            <a:t>~10</a:t>
                          </a:r>
                          <a:r>
                            <a:rPr lang="en-US" altLang="zh-TW" sz="1400" baseline="30000" dirty="0">
                              <a:latin typeface="Times New Roman" panose="02020603050405020304" pitchFamily="18" charset="0"/>
                              <a:cs typeface="Times New Roman" panose="02020603050405020304" pitchFamily="18" charset="0"/>
                            </a:rPr>
                            <a:t>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zh-TW" altLang="en-US" sz="1400" dirty="0">
                              <a:latin typeface="Times New Roman" panose="02020603050405020304" pitchFamily="18" charset="0"/>
                              <a:cs typeface="Times New Roman" panose="02020603050405020304" pitchFamily="18" charset="0"/>
                            </a:rPr>
                            <a:t>∼</a:t>
                          </a:r>
                          <a:r>
                            <a:rPr lang="en-US" altLang="zh-TW" sz="1400" dirty="0">
                              <a:latin typeface="Times New Roman" panose="02020603050405020304" pitchFamily="18" charset="0"/>
                              <a:cs typeface="Times New Roman" panose="02020603050405020304" pitchFamily="18" charset="0"/>
                            </a:rPr>
                            <a:t>1.2 · 10</a:t>
                          </a:r>
                          <a:r>
                            <a:rPr lang="en-US" altLang="zh-TW" sz="1400" baseline="30000" dirty="0">
                              <a:latin typeface="Times New Roman" panose="02020603050405020304" pitchFamily="18" charset="0"/>
                              <a:cs typeface="Times New Roman" panose="02020603050405020304" pitchFamily="18" charset="0"/>
                            </a:rPr>
                            <a:t>6</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55820043"/>
                      </a:ext>
                    </a:extLst>
                  </a:tr>
                  <a:tr h="385200">
                    <a:tc>
                      <a:txBody>
                        <a:bodyPr/>
                        <a:lstStyle/>
                        <a:p>
                          <a:r>
                            <a:rPr lang="en-US" altLang="zh-TW" sz="1400" dirty="0">
                              <a:latin typeface="Times New Roman" panose="02020603050405020304" pitchFamily="18" charset="0"/>
                              <a:cs typeface="Times New Roman" panose="02020603050405020304" pitchFamily="18" charset="0"/>
                            </a:rPr>
                            <a:t>Propagation loss(</a:t>
                          </a:r>
                          <a:r>
                            <a:rPr lang="en-US" altLang="zh-TW" sz="1400" dirty="0" err="1">
                              <a:latin typeface="Times New Roman" panose="02020603050405020304" pitchFamily="18" charset="0"/>
                              <a:cs typeface="Times New Roman" panose="02020603050405020304" pitchFamily="18" charset="0"/>
                            </a:rPr>
                            <a:t>dB∕cm</a:t>
                          </a:r>
                          <a:r>
                            <a:rPr lang="en-US" altLang="zh-TW" sz="140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rgbClr val="483832"/>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rgbClr val="483832"/>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0.04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0.14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0.4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rgbClr val="483832"/>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0.2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rgbClr val="483832"/>
                          </a:solidFill>
                          <a:prstDash val="solid"/>
                          <a:round/>
                          <a:headEnd type="none" w="med" len="med"/>
                          <a:tailEnd type="none" w="med" len="med"/>
                        </a:lnR>
                        <a:lnT>
                          <a:noFill/>
                        </a:lnT>
                        <a:lnB w="12700" cap="flat" cmpd="sng" algn="ctr">
                          <a:solidFill>
                            <a:srgbClr val="48383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5630306"/>
                      </a:ext>
                    </a:extLst>
                  </a:tr>
                </a:tbl>
              </a:graphicData>
            </a:graphic>
          </p:graphicFrame>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8E80E4E4-C039-45E6-84C0-A8167585AA28}"/>
                  </a:ext>
                </a:extLst>
              </p:cNvPr>
              <p:cNvSpPr/>
              <p:nvPr/>
            </p:nvSpPr>
            <p:spPr>
              <a:xfrm>
                <a:off x="7003819" y="5731438"/>
                <a:ext cx="4685642" cy="1010020"/>
              </a:xfrm>
              <a:prstGeom prst="rect">
                <a:avLst/>
              </a:prstGeom>
            </p:spPr>
            <p:txBody>
              <a:bodyPr wrap="none">
                <a:spAutoFit/>
              </a:bodyPr>
              <a:lstStyle/>
              <a:p>
                <a:pPr>
                  <a:lnSpc>
                    <a:spcPts val="2500"/>
                  </a:lnSpc>
                </a:pPr>
                <a:r>
                  <a:rPr lang="en-US" altLang="zh-TW" sz="1200" dirty="0">
                    <a:solidFill>
                      <a:srgbClr val="483832"/>
                    </a:solidFill>
                    <a:latin typeface="Times New Roman" panose="02020603050405020304" pitchFamily="18" charset="0"/>
                  </a:rPr>
                  <a:t>SH conversion efficiency :</a:t>
                </a:r>
                <a14:m>
                  <m:oMath xmlns:m="http://schemas.openxmlformats.org/officeDocument/2006/math">
                    <m:r>
                      <a:rPr lang="en-US" altLang="zh-TW" sz="1200" b="0" i="0" dirty="0" smtClean="0">
                        <a:solidFill>
                          <a:srgbClr val="483832"/>
                        </a:solidFill>
                        <a:latin typeface="Cambria Math" panose="02040503050406030204" pitchFamily="18" charset="0"/>
                      </a:rPr>
                      <m:t> </m:t>
                    </m:r>
                    <m:r>
                      <a:rPr lang="en-US" altLang="zh-TW" sz="1200" i="1" dirty="0">
                        <a:solidFill>
                          <a:srgbClr val="483832"/>
                        </a:solidFill>
                        <a:latin typeface="Cambria Math" panose="02040503050406030204" pitchFamily="18" charset="0"/>
                      </a:rPr>
                      <m:t>𝑎</m:t>
                    </m:r>
                  </m:oMath>
                </a14:m>
                <a:r>
                  <a:rPr lang="en-US" altLang="zh-TW" sz="1200" dirty="0">
                    <a:solidFill>
                      <a:srgbClr val="483832"/>
                    </a:solidFill>
                    <a:latin typeface="Times New Roman" panose="02020603050405020304" pitchFamily="18" charset="0"/>
                  </a:rPr>
                  <a:t>(%/</a:t>
                </a:r>
                <a14:m>
                  <m:oMath xmlns:m="http://schemas.openxmlformats.org/officeDocument/2006/math">
                    <m:sSup>
                      <m:sSupPr>
                        <m:ctrlPr>
                          <a:rPr lang="en-US" altLang="zh-TW" sz="1200" i="1">
                            <a:solidFill>
                              <a:srgbClr val="483832"/>
                            </a:solidFill>
                            <a:latin typeface="Cambria Math" panose="02040503050406030204" pitchFamily="18" charset="0"/>
                          </a:rPr>
                        </m:ctrlPr>
                      </m:sSupPr>
                      <m:e>
                        <m:r>
                          <a:rPr lang="en-US" altLang="zh-TW" sz="1200" i="1">
                            <a:solidFill>
                              <a:srgbClr val="483832"/>
                            </a:solidFill>
                            <a:latin typeface="Cambria Math" panose="02040503050406030204" pitchFamily="18" charset="0"/>
                          </a:rPr>
                          <m:t>𝑊</m:t>
                        </m:r>
                      </m:e>
                      <m:sup>
                        <m:r>
                          <a:rPr lang="en-US" altLang="zh-TW" sz="1200" b="0" i="1" smtClean="0">
                            <a:solidFill>
                              <a:srgbClr val="483832"/>
                            </a:solidFill>
                            <a:latin typeface="Cambria Math" panose="02040503050406030204" pitchFamily="18" charset="0"/>
                          </a:rPr>
                          <m:t>−1</m:t>
                        </m:r>
                      </m:sup>
                    </m:sSup>
                  </m:oMath>
                </a14:m>
                <a:r>
                  <a:rPr lang="en-US" altLang="zh-TW" sz="1200" dirty="0">
                    <a:solidFill>
                      <a:srgbClr val="483832"/>
                    </a:solidFill>
                    <a:latin typeface="Times New Roman" panose="02020603050405020304" pitchFamily="18" charset="0"/>
                  </a:rPr>
                  <a:t>), Normalize</a:t>
                </a:r>
                <a:r>
                  <a:rPr lang="zh-TW" altLang="en-US" sz="1200" dirty="0">
                    <a:solidFill>
                      <a:srgbClr val="483832"/>
                    </a:solidFill>
                    <a:latin typeface="Times New Roman" panose="02020603050405020304" pitchFamily="18" charset="0"/>
                  </a:rPr>
                  <a:t> </a:t>
                </a:r>
                <a14:m>
                  <m:oMath xmlns:m="http://schemas.openxmlformats.org/officeDocument/2006/math">
                    <m:sSub>
                      <m:sSubPr>
                        <m:ctrlPr>
                          <a:rPr lang="en-US" altLang="zh-TW" sz="1200" i="1" dirty="0">
                            <a:solidFill>
                              <a:srgbClr val="483832"/>
                            </a:solidFill>
                            <a:latin typeface="Cambria Math" panose="02040503050406030204" pitchFamily="18" charset="0"/>
                          </a:rPr>
                        </m:ctrlPr>
                      </m:sSubPr>
                      <m:e>
                        <m:r>
                          <a:rPr lang="en-US" altLang="zh-TW" sz="1200" i="1" dirty="0">
                            <a:solidFill>
                              <a:srgbClr val="483832"/>
                            </a:solidFill>
                            <a:latin typeface="Cambria Math" panose="02040503050406030204" pitchFamily="18" charset="0"/>
                          </a:rPr>
                          <m:t>𝑎</m:t>
                        </m:r>
                      </m:e>
                      <m:sub>
                        <m:r>
                          <a:rPr lang="en-US" altLang="zh-TW" sz="1200" i="1" dirty="0">
                            <a:solidFill>
                              <a:srgbClr val="483832"/>
                            </a:solidFill>
                            <a:latin typeface="Cambria Math" panose="02040503050406030204" pitchFamily="18" charset="0"/>
                          </a:rPr>
                          <m:t>𝑛𝑜𝑟𝑚</m:t>
                        </m:r>
                      </m:sub>
                    </m:sSub>
                  </m:oMath>
                </a14:m>
                <a:r>
                  <a:rPr lang="en-US" altLang="zh-TW" sz="1200" dirty="0">
                    <a:solidFill>
                      <a:srgbClr val="483832"/>
                    </a:solidFill>
                    <a:latin typeface="Times New Roman" panose="02020603050405020304" pitchFamily="18" charset="0"/>
                  </a:rPr>
                  <a:t> (%/</a:t>
                </a:r>
                <a14:m>
                  <m:oMath xmlns:m="http://schemas.openxmlformats.org/officeDocument/2006/math">
                    <m:sSup>
                      <m:sSupPr>
                        <m:ctrlPr>
                          <a:rPr lang="en-US" altLang="zh-TW" sz="1200" i="1">
                            <a:solidFill>
                              <a:srgbClr val="483832"/>
                            </a:solidFill>
                            <a:latin typeface="Cambria Math" panose="02040503050406030204" pitchFamily="18" charset="0"/>
                          </a:rPr>
                        </m:ctrlPr>
                      </m:sSupPr>
                      <m:e>
                        <m:r>
                          <a:rPr lang="en-US" altLang="zh-TW" sz="1200" i="1">
                            <a:solidFill>
                              <a:srgbClr val="483832"/>
                            </a:solidFill>
                            <a:latin typeface="Cambria Math" panose="02040503050406030204" pitchFamily="18" charset="0"/>
                          </a:rPr>
                          <m:t>𝑊</m:t>
                        </m:r>
                      </m:e>
                      <m:sup>
                        <m:r>
                          <a:rPr lang="en-US" altLang="zh-TW" sz="1200" i="1">
                            <a:solidFill>
                              <a:srgbClr val="483832"/>
                            </a:solidFill>
                            <a:latin typeface="Cambria Math" panose="02040503050406030204" pitchFamily="18" charset="0"/>
                          </a:rPr>
                          <m:t>−1</m:t>
                        </m:r>
                      </m:sup>
                    </m:sSup>
                  </m:oMath>
                </a14:m>
                <a:r>
                  <a:rPr lang="en-US" altLang="zh-TW" sz="1200" dirty="0">
                    <a:solidFill>
                      <a:srgbClr val="483832"/>
                    </a:solidFill>
                    <a:latin typeface="Times New Roman" panose="02020603050405020304" pitchFamily="18" charset="0"/>
                  </a:rPr>
                  <a:t>/ cm</a:t>
                </a:r>
                <a:r>
                  <a:rPr lang="en-US" altLang="zh-TW" sz="1200" baseline="30000" dirty="0">
                    <a:solidFill>
                      <a:srgbClr val="483832"/>
                    </a:solidFill>
                    <a:latin typeface="Times New Roman" panose="02020603050405020304" pitchFamily="18" charset="0"/>
                  </a:rPr>
                  <a:t>2</a:t>
                </a:r>
                <a:r>
                  <a:rPr lang="en-US" altLang="zh-TW" sz="1200" dirty="0">
                    <a:solidFill>
                      <a:srgbClr val="483832"/>
                    </a:solidFill>
                    <a:latin typeface="Times New Roman" panose="02020603050405020304" pitchFamily="18" charset="0"/>
                  </a:rPr>
                  <a:t>)</a:t>
                </a:r>
                <a:r>
                  <a:rPr lang="zh-TW" altLang="en-US" sz="1200" dirty="0">
                    <a:solidFill>
                      <a:srgbClr val="483832"/>
                    </a:solidFill>
                    <a:latin typeface="Times New Roman" panose="02020603050405020304" pitchFamily="18" charset="0"/>
                  </a:rPr>
                  <a:t> </a:t>
                </a:r>
                <a:endParaRPr lang="en-US" altLang="zh-TW" sz="1200" dirty="0">
                  <a:solidFill>
                    <a:srgbClr val="483832"/>
                  </a:solidFill>
                  <a:latin typeface="Times New Roman" panose="02020603050405020304" pitchFamily="18" charset="0"/>
                </a:endParaRPr>
              </a:p>
              <a:p>
                <a:pPr>
                  <a:lnSpc>
                    <a:spcPts val="2500"/>
                  </a:lnSpc>
                </a:pPr>
                <a:r>
                  <a:rPr lang="en-US" altLang="zh-TW" sz="1200" dirty="0">
                    <a:solidFill>
                      <a:srgbClr val="483832"/>
                    </a:solidFill>
                    <a:latin typeface="Times New Roman" panose="02020603050405020304" pitchFamily="18" charset="0"/>
                  </a:rPr>
                  <a:t>SH conversion efficiency root : </a:t>
                </a:r>
                <a14:m>
                  <m:oMath xmlns:m="http://schemas.openxmlformats.org/officeDocument/2006/math">
                    <m:r>
                      <a:rPr lang="zh-TW" altLang="en-US" sz="1200" i="1" smtClean="0">
                        <a:solidFill>
                          <a:srgbClr val="483832"/>
                        </a:solidFill>
                        <a:latin typeface="Cambria Math" panose="02040503050406030204" pitchFamily="18" charset="0"/>
                      </a:rPr>
                      <m:t>𝜇</m:t>
                    </m:r>
                    <m:r>
                      <m:rPr>
                        <m:nor/>
                      </m:rPr>
                      <a:rPr lang="en-US" altLang="zh-TW" sz="1200" b="0" i="0" smtClean="0">
                        <a:solidFill>
                          <a:srgbClr val="483832"/>
                        </a:solidFill>
                        <a:latin typeface="Cambria Math" panose="02040503050406030204" pitchFamily="18" charset="0"/>
                      </a:rPr>
                      <m:t>(</m:t>
                    </m:r>
                    <m:sSup>
                      <m:sSupPr>
                        <m:ctrlPr>
                          <a:rPr lang="en-US" altLang="zh-TW" sz="1200" b="0" i="1" smtClean="0">
                            <a:solidFill>
                              <a:srgbClr val="483832"/>
                            </a:solidFill>
                            <a:latin typeface="Cambria Math" panose="02040503050406030204" pitchFamily="18" charset="0"/>
                          </a:rPr>
                        </m:ctrlPr>
                      </m:sSupPr>
                      <m:e>
                        <m:r>
                          <a:rPr lang="en-US" altLang="zh-TW" sz="1200" b="0" i="1" smtClean="0">
                            <a:solidFill>
                              <a:srgbClr val="483832"/>
                            </a:solidFill>
                            <a:latin typeface="Cambria Math" panose="02040503050406030204" pitchFamily="18" charset="0"/>
                          </a:rPr>
                          <m:t>𝑚𝑊</m:t>
                        </m:r>
                      </m:e>
                      <m:sup>
                        <m:f>
                          <m:fPr>
                            <m:type m:val="lin"/>
                            <m:ctrlPr>
                              <a:rPr lang="en-US" altLang="zh-TW" sz="1200" b="0" i="1" smtClean="0">
                                <a:solidFill>
                                  <a:srgbClr val="483832"/>
                                </a:solidFill>
                                <a:latin typeface="Cambria Math" panose="02040503050406030204" pitchFamily="18" charset="0"/>
                              </a:rPr>
                            </m:ctrlPr>
                          </m:fPr>
                          <m:num>
                            <m:r>
                              <a:rPr lang="en-US" altLang="zh-TW" sz="1200" b="0" i="1" smtClean="0">
                                <a:solidFill>
                                  <a:srgbClr val="483832"/>
                                </a:solidFill>
                                <a:latin typeface="Cambria Math" panose="02040503050406030204" pitchFamily="18" charset="0"/>
                              </a:rPr>
                              <m:t>−1</m:t>
                            </m:r>
                          </m:num>
                          <m:den>
                            <m:r>
                              <a:rPr lang="en-US" altLang="zh-TW" sz="1200" b="0" i="1" smtClean="0">
                                <a:solidFill>
                                  <a:srgbClr val="483832"/>
                                </a:solidFill>
                                <a:latin typeface="Cambria Math" panose="02040503050406030204" pitchFamily="18" charset="0"/>
                              </a:rPr>
                              <m:t>2</m:t>
                            </m:r>
                          </m:den>
                        </m:f>
                      </m:sup>
                    </m:sSup>
                    <m:r>
                      <a:rPr lang="en-US" altLang="zh-TW" sz="1200" b="0" i="1" smtClean="0">
                        <a:solidFill>
                          <a:srgbClr val="483832"/>
                        </a:solidFill>
                        <a:latin typeface="Cambria Math" panose="02040503050406030204" pitchFamily="18" charset="0"/>
                      </a:rPr>
                      <m:t>)</m:t>
                    </m:r>
                  </m:oMath>
                </a14:m>
                <a:endParaRPr lang="en-US" altLang="zh-TW" sz="1200" dirty="0">
                  <a:solidFill>
                    <a:srgbClr val="483832"/>
                  </a:solidFill>
                  <a:latin typeface="Times New Roman" panose="02020603050405020304" pitchFamily="18" charset="0"/>
                </a:endParaRPr>
              </a:p>
              <a:p>
                <a:pPr>
                  <a:lnSpc>
                    <a:spcPts val="2500"/>
                  </a:lnSpc>
                </a:pPr>
                <a:r>
                  <a:rPr lang="en-US" altLang="zh-TW" sz="1200" dirty="0">
                    <a:solidFill>
                      <a:srgbClr val="483832"/>
                    </a:solidFill>
                    <a:latin typeface="Times New Roman" panose="02020603050405020304" pitchFamily="18" charset="0"/>
                  </a:rPr>
                  <a:t>Total effective detection efficiency : </a:t>
                </a:r>
                <a14:m>
                  <m:oMath xmlns:m="http://schemas.openxmlformats.org/officeDocument/2006/math">
                    <m:r>
                      <a:rPr lang="zh-TW" altLang="en-US" sz="1200" i="1" smtClean="0">
                        <a:solidFill>
                          <a:srgbClr val="483832"/>
                        </a:solidFill>
                        <a:latin typeface="Cambria Math" panose="02040503050406030204" pitchFamily="18" charset="0"/>
                      </a:rPr>
                      <m:t>𝜂</m:t>
                    </m:r>
                  </m:oMath>
                </a14:m>
                <a:endParaRPr lang="zh-TW" altLang="en-US" sz="1200" dirty="0">
                  <a:solidFill>
                    <a:srgbClr val="483832"/>
                  </a:solidFill>
                  <a:latin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8E80E4E4-C039-45E6-84C0-A8167585AA28}"/>
                  </a:ext>
                </a:extLst>
              </p:cNvPr>
              <p:cNvSpPr>
                <a:spLocks noRot="1" noChangeAspect="1" noMove="1" noResize="1" noEditPoints="1" noAdjustHandles="1" noChangeArrowheads="1" noChangeShapeType="1" noTextEdit="1"/>
              </p:cNvSpPr>
              <p:nvPr/>
            </p:nvSpPr>
            <p:spPr>
              <a:xfrm>
                <a:off x="7003819" y="5731438"/>
                <a:ext cx="4685642" cy="1010020"/>
              </a:xfrm>
              <a:prstGeom prst="rect">
                <a:avLst/>
              </a:prstGeom>
              <a:blipFill>
                <a:blip r:embed="rId4"/>
                <a:stretch>
                  <a:fillRect l="-130" b="-3614"/>
                </a:stretch>
              </a:blipFill>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69529969-1D49-410C-967A-03720C1604B3}"/>
              </a:ext>
            </a:extLst>
          </p:cNvPr>
          <p:cNvSpPr/>
          <p:nvPr/>
        </p:nvSpPr>
        <p:spPr>
          <a:xfrm>
            <a:off x="1117904" y="5891482"/>
            <a:ext cx="5262576" cy="689932"/>
          </a:xfrm>
          <a:prstGeom prst="rect">
            <a:avLst/>
          </a:prstGeom>
        </p:spPr>
        <p:txBody>
          <a:bodyPr wrap="square">
            <a:spAutoFit/>
          </a:bodyPr>
          <a:lstStyle/>
          <a:p>
            <a:pPr algn="just" hangingPunct="0">
              <a:lnSpc>
                <a:spcPts val="2500"/>
              </a:lnSpc>
              <a:spcAft>
                <a:spcPts val="0"/>
              </a:spcAft>
            </a:pPr>
            <a:r>
              <a:rPr lang="en-US" altLang="zh-TW" sz="1200" baseline="300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a</a:t>
            </a:r>
            <a:r>
              <a:rPr lang="en-US" altLang="zh-TW" sz="12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ZnO:LN</a:t>
            </a:r>
            <a:r>
              <a:rPr lang="en-US" altLang="zh-TW" sz="12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 bonded onto LiTaO</a:t>
            </a:r>
            <a:r>
              <a:rPr lang="en-US" altLang="zh-TW" sz="1200" baseline="-250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3	</a:t>
            </a:r>
            <a:r>
              <a:rPr lang="en-US" altLang="zh-TW" sz="1200" baseline="300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b</a:t>
            </a:r>
            <a:r>
              <a:rPr lang="en-US" altLang="zh-TW" sz="12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LN</a:t>
            </a:r>
            <a:r>
              <a:rPr lang="en-US" altLang="zh-TW" sz="12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 bonded onto LiTaO</a:t>
            </a:r>
            <a:r>
              <a:rPr lang="en-US" altLang="zh-TW" sz="1200" baseline="-250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3	</a:t>
            </a:r>
            <a:r>
              <a:rPr lang="en-US" altLang="zh-TW" sz="1200" baseline="300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c</a:t>
            </a:r>
            <a:r>
              <a:rPr lang="en-US" altLang="zh-TW" sz="1200" dirty="0" err="1">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LN</a:t>
            </a:r>
            <a:r>
              <a:rPr lang="en-US" altLang="zh-TW" sz="1200" kern="100" dirty="0">
                <a:solidFill>
                  <a:srgbClr val="483832"/>
                </a:solidFill>
                <a:latin typeface="Times New Roman" panose="02020603050405020304" pitchFamily="18" charset="0"/>
                <a:ea typeface="DFKai-SB" panose="03000509000000000000" pitchFamily="65" charset="-120"/>
                <a:cs typeface="Times New Roman" panose="02020603050405020304" pitchFamily="18" charset="0"/>
              </a:rPr>
              <a:t> etching	</a:t>
            </a:r>
          </a:p>
          <a:p>
            <a:pPr algn="just" hangingPunct="0">
              <a:lnSpc>
                <a:spcPts val="2500"/>
              </a:lnSpc>
              <a:spcAft>
                <a:spcPts val="0"/>
              </a:spcAft>
            </a:pPr>
            <a:r>
              <a:rPr lang="en-US" altLang="zh-TW" sz="1200" dirty="0">
                <a:solidFill>
                  <a:srgbClr val="483832"/>
                </a:solidFill>
                <a:latin typeface="Times New Roman" panose="02020603050405020304" pitchFamily="18" charset="0"/>
                <a:ea typeface="PMingLiU" panose="02020500000000000000" pitchFamily="18" charset="-120"/>
                <a:cs typeface="Times New Roman" panose="02020603050405020304" pitchFamily="18" charset="0"/>
              </a:rPr>
              <a:t>SPE=soft-proton exchange	</a:t>
            </a:r>
            <a:r>
              <a:rPr lang="en-US" altLang="zh-TW" sz="1200" dirty="0">
                <a:solidFill>
                  <a:srgbClr val="483832"/>
                </a:solidFill>
                <a:latin typeface="Times New Roman" panose="02020603050405020304" pitchFamily="18" charset="0"/>
                <a:ea typeface="PMingLiU" panose="02020500000000000000" pitchFamily="18" charset="-120"/>
              </a:rPr>
              <a:t>RPE=reverse proton exchange</a:t>
            </a:r>
            <a:endParaRPr lang="zh-TW" altLang="en-US" sz="1200" dirty="0">
              <a:solidFill>
                <a:srgbClr val="483832"/>
              </a:solidFill>
            </a:endParaRPr>
          </a:p>
        </p:txBody>
      </p:sp>
    </p:spTree>
    <p:extLst>
      <p:ext uri="{BB962C8B-B14F-4D97-AF65-F5344CB8AC3E}">
        <p14:creationId xmlns:p14="http://schemas.microsoft.com/office/powerpoint/2010/main" val="2968843732"/>
      </p:ext>
    </p:extLst>
  </p:cSld>
  <p:clrMapOvr>
    <a:masterClrMapping/>
  </p:clrMapOvr>
</p:sld>
</file>

<file path=ppt/theme/theme1.xml><?xml version="1.0" encoding="utf-8"?>
<a:theme xmlns:a="http://schemas.openxmlformats.org/drawingml/2006/main" name="徽章">
  <a:themeElements>
    <a:clrScheme name="中庸">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徽章">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徽章">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TM10001106[[fn=徽章]]</Template>
  <TotalTime>5907</TotalTime>
  <Words>3788</Words>
  <Application>Microsoft Office PowerPoint</Application>
  <PresentationFormat>寬螢幕</PresentationFormat>
  <Paragraphs>706</Paragraphs>
  <Slides>57</Slides>
  <Notes>31</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57</vt:i4>
      </vt:variant>
    </vt:vector>
  </HeadingPairs>
  <TitlesOfParts>
    <vt:vector size="69" baseType="lpstr">
      <vt:lpstr>DFKai-SB</vt:lpstr>
      <vt:lpstr>微軟正黑體</vt:lpstr>
      <vt:lpstr>新細明體</vt:lpstr>
      <vt:lpstr>新細明體</vt:lpstr>
      <vt:lpstr>楷体</vt:lpstr>
      <vt:lpstr>Arial</vt:lpstr>
      <vt:lpstr>Cambria Math</vt:lpstr>
      <vt:lpstr>Gill Sans MT</vt:lpstr>
      <vt:lpstr>Impact</vt:lpstr>
      <vt:lpstr>Times New Roman</vt:lpstr>
      <vt:lpstr>Wingdings</vt:lpstr>
      <vt:lpstr>徽章</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Thank you for listening !</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高梃澄</dc:creator>
  <cp:lastModifiedBy>高梃澄</cp:lastModifiedBy>
  <cp:revision>451</cp:revision>
  <dcterms:created xsi:type="dcterms:W3CDTF">2022-09-23T11:08:46Z</dcterms:created>
  <dcterms:modified xsi:type="dcterms:W3CDTF">2022-10-28T00:17:41Z</dcterms:modified>
</cp:coreProperties>
</file>