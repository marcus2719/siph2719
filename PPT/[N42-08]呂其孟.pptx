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media/image107.jpg" ContentType="image/png"/>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8" r:id="rId3"/>
    <p:sldId id="262" r:id="rId4"/>
    <p:sldId id="305" r:id="rId5"/>
    <p:sldId id="260" r:id="rId6"/>
    <p:sldId id="264" r:id="rId7"/>
    <p:sldId id="263" r:id="rId8"/>
    <p:sldId id="265" r:id="rId9"/>
    <p:sldId id="261" r:id="rId10"/>
    <p:sldId id="266" r:id="rId11"/>
    <p:sldId id="307" r:id="rId12"/>
    <p:sldId id="267" r:id="rId13"/>
    <p:sldId id="268" r:id="rId14"/>
    <p:sldId id="269" r:id="rId15"/>
    <p:sldId id="270" r:id="rId16"/>
    <p:sldId id="271" r:id="rId17"/>
    <p:sldId id="272" r:id="rId18"/>
    <p:sldId id="274" r:id="rId19"/>
    <p:sldId id="276" r:id="rId20"/>
    <p:sldId id="300" r:id="rId21"/>
    <p:sldId id="278" r:id="rId22"/>
    <p:sldId id="279" r:id="rId23"/>
    <p:sldId id="280" r:id="rId24"/>
    <p:sldId id="282" r:id="rId25"/>
    <p:sldId id="283" r:id="rId26"/>
    <p:sldId id="284" r:id="rId27"/>
    <p:sldId id="287" r:id="rId28"/>
    <p:sldId id="286" r:id="rId29"/>
    <p:sldId id="288" r:id="rId30"/>
    <p:sldId id="301" r:id="rId31"/>
    <p:sldId id="304" r:id="rId32"/>
    <p:sldId id="290" r:id="rId33"/>
    <p:sldId id="291" r:id="rId34"/>
    <p:sldId id="293" r:id="rId35"/>
    <p:sldId id="298" r:id="rId36"/>
    <p:sldId id="294" r:id="rId37"/>
    <p:sldId id="295" r:id="rId38"/>
    <p:sldId id="297" r:id="rId39"/>
    <p:sldId id="299" r:id="rId40"/>
    <p:sldId id="316" r:id="rId41"/>
    <p:sldId id="318" r:id="rId42"/>
    <p:sldId id="317" r:id="rId4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E0E3"/>
    <a:srgbClr val="FF5050"/>
    <a:srgbClr val="0000FF"/>
    <a:srgbClr val="FF9933"/>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3895" autoAdjust="0"/>
  </p:normalViewPr>
  <p:slideViewPr>
    <p:cSldViewPr snapToGrid="0">
      <p:cViewPr varScale="1">
        <p:scale>
          <a:sx n="61" d="100"/>
          <a:sy n="61" d="100"/>
        </p:scale>
        <p:origin x="87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848B1C-B135-40A0-9EBB-88D7B5CA5092}" type="datetimeFigureOut">
              <a:rPr lang="zh-TW" altLang="en-US" smtClean="0"/>
              <a:t>2019/12/4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F2D9ED-1A2B-4F64-8629-84797EF45832}" type="slidenum">
              <a:rPr lang="zh-TW" altLang="en-US" smtClean="0"/>
              <a:t>‹#›</a:t>
            </a:fld>
            <a:endParaRPr lang="zh-TW" altLang="en-US"/>
          </a:p>
        </p:txBody>
      </p:sp>
    </p:spTree>
    <p:extLst>
      <p:ext uri="{BB962C8B-B14F-4D97-AF65-F5344CB8AC3E}">
        <p14:creationId xmlns:p14="http://schemas.microsoft.com/office/powerpoint/2010/main" val="1893234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2</a:t>
            </a:fld>
            <a:endParaRPr lang="zh-TW" altLang="en-US"/>
          </a:p>
        </p:txBody>
      </p:sp>
    </p:spTree>
    <p:extLst>
      <p:ext uri="{BB962C8B-B14F-4D97-AF65-F5344CB8AC3E}">
        <p14:creationId xmlns:p14="http://schemas.microsoft.com/office/powerpoint/2010/main" val="676878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本實驗可用於雷達技術，雷達技術可被用於測量大氣中的氣態汙染物、氣象參數或化學物種</a:t>
            </a:r>
            <a:r>
              <a:rPr lang="en-US" altLang="zh-TW" dirty="0"/>
              <a:t>…</a:t>
            </a:r>
            <a:r>
              <a:rPr lang="zh-TW" altLang="en-US" dirty="0"/>
              <a:t>等等，而本實驗可被作為一個可分別選擇雙波長或不同單一波長的雷達接收器或發射器。</a:t>
            </a:r>
            <a:endParaRPr lang="en-US" altLang="zh-TW" dirty="0"/>
          </a:p>
          <a:p>
            <a:r>
              <a:rPr lang="en-US" altLang="zh-TW" dirty="0"/>
              <a:t>2.</a:t>
            </a:r>
            <a:r>
              <a:rPr lang="zh-TW" altLang="zh-TW" sz="1200" kern="1200" dirty="0">
                <a:solidFill>
                  <a:schemeClr val="tx1"/>
                </a:solidFill>
                <a:effectLst/>
                <a:latin typeface="+mn-lt"/>
                <a:ea typeface="+mn-ea"/>
                <a:cs typeface="+mn-cs"/>
              </a:rPr>
              <a:t>橘黃光雷射在生醫、天文觀測、軍事…等受到廣泛的應用，以生醫為例，血紅素對於橘黃光的波段光源有著高度的吸收，可利於外科手術的應用</a:t>
            </a:r>
            <a:r>
              <a:rPr lang="zh-TW" altLang="en-US" sz="1200" kern="1200" dirty="0">
                <a:solidFill>
                  <a:schemeClr val="tx1"/>
                </a:solidFill>
                <a:effectLst/>
                <a:latin typeface="+mn-lt"/>
                <a:ea typeface="+mn-ea"/>
                <a:cs typeface="+mn-cs"/>
              </a:rPr>
              <a:t>。</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4</a:t>
            </a:fld>
            <a:endParaRPr lang="zh-TW" altLang="en-US"/>
          </a:p>
        </p:txBody>
      </p:sp>
    </p:spTree>
    <p:extLst>
      <p:ext uri="{BB962C8B-B14F-4D97-AF65-F5344CB8AC3E}">
        <p14:creationId xmlns:p14="http://schemas.microsoft.com/office/powerpoint/2010/main" val="2331440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摻鉺光纖通過單光纖布拉格光柵（</a:t>
            </a:r>
            <a:r>
              <a:rPr lang="en-US" altLang="zh-TW" dirty="0"/>
              <a:t>FBG</a:t>
            </a:r>
            <a:r>
              <a:rPr lang="zh-TW" altLang="en-US" dirty="0"/>
              <a:t>），並用單光纖布拉格光柵（</a:t>
            </a:r>
            <a:r>
              <a:rPr lang="en-US" altLang="zh-TW" dirty="0"/>
              <a:t>FBG</a:t>
            </a:r>
            <a:r>
              <a:rPr lang="zh-TW" altLang="en-US" dirty="0"/>
              <a:t>）進行橫向應變引起兩個波長之間的間隔，並通過調整偏振控制器（</a:t>
            </a:r>
            <a:r>
              <a:rPr lang="en-US" altLang="zh-TW" dirty="0"/>
              <a:t>PC</a:t>
            </a:r>
            <a:r>
              <a:rPr lang="zh-TW" altLang="en-US" dirty="0"/>
              <a:t>）讓雷射可以在兩個波長之間切換</a:t>
            </a:r>
            <a:endParaRPr lang="en-US" altLang="zh-TW" dirty="0"/>
          </a:p>
          <a:p>
            <a:r>
              <a:rPr lang="en-US" altLang="zh-TW" dirty="0"/>
              <a:t>2.</a:t>
            </a:r>
            <a:r>
              <a:rPr lang="zh-TW" altLang="en-US" dirty="0"/>
              <a:t>摻鉺光纖通過三個不同的</a:t>
            </a:r>
            <a:r>
              <a:rPr lang="en-US" altLang="zh-TW" dirty="0"/>
              <a:t>FBG</a:t>
            </a:r>
            <a:r>
              <a:rPr lang="zh-TW" altLang="en-US" dirty="0"/>
              <a:t>得到三個波段的光源，通過高雙折射光纖環鏡並搭配兩個偏振控制器來實現三波長隨機組合切換</a:t>
            </a:r>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5</a:t>
            </a:fld>
            <a:endParaRPr lang="zh-TW" altLang="en-US"/>
          </a:p>
        </p:txBody>
      </p:sp>
    </p:spTree>
    <p:extLst>
      <p:ext uri="{BB962C8B-B14F-4D97-AF65-F5344CB8AC3E}">
        <p14:creationId xmlns:p14="http://schemas.microsoft.com/office/powerpoint/2010/main" val="2962208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1.Arie</a:t>
            </a:r>
            <a:r>
              <a:rPr lang="zh-TW" altLang="en-US" dirty="0"/>
              <a:t>等人輸入一</a:t>
            </a:r>
            <a:r>
              <a:rPr lang="en-US" altLang="zh-TW" dirty="0"/>
              <a:t>broadband </a:t>
            </a:r>
            <a:r>
              <a:rPr lang="en-US" altLang="zh-TW" dirty="0" err="1"/>
              <a:t>spectrume</a:t>
            </a:r>
            <a:r>
              <a:rPr lang="zh-TW" altLang="en-US" dirty="0"/>
              <a:t>光源，我們知道布拉格角度對波長有著很強的依賴性，所以利用不同的角度入射得到不同波長光，入射至電光布拉格繞射元件，並用繞射來達到選頻的作用。</a:t>
            </a:r>
            <a:endParaRPr lang="en-US" altLang="zh-TW" dirty="0"/>
          </a:p>
          <a:p>
            <a:r>
              <a:rPr lang="zh-TW" altLang="en-US" dirty="0"/>
              <a:t>波長與波長的切換時間過長，可能造成系統的不必要的損耗</a:t>
            </a:r>
            <a:r>
              <a:rPr lang="en-US" altLang="zh-TW" dirty="0"/>
              <a:t>………….</a:t>
            </a:r>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6</a:t>
            </a:fld>
            <a:endParaRPr lang="zh-TW" altLang="en-US"/>
          </a:p>
        </p:txBody>
      </p:sp>
    </p:spTree>
    <p:extLst>
      <p:ext uri="{BB962C8B-B14F-4D97-AF65-F5344CB8AC3E}">
        <p14:creationId xmlns:p14="http://schemas.microsoft.com/office/powerpoint/2010/main" val="3858260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陳彥宏博士等人首次成功的用一塊操作波長為</a:t>
            </a:r>
            <a:r>
              <a:rPr lang="en-US" altLang="zh-TW" dirty="0"/>
              <a:t>1064nm</a:t>
            </a:r>
            <a:r>
              <a:rPr lang="zh-TW" altLang="en-US" dirty="0"/>
              <a:t>週期性極化反轉鈮酸鋰晶體並利用電光偏振調制在特定的電場之間快速的切換來達到</a:t>
            </a:r>
            <a:r>
              <a:rPr lang="en-US" altLang="zh-TW" dirty="0"/>
              <a:t>1064nm</a:t>
            </a:r>
            <a:r>
              <a:rPr lang="zh-TW" altLang="en-US" dirty="0"/>
              <a:t>的脈衝雷射輸出。</a:t>
            </a:r>
            <a:endParaRPr lang="en-US" altLang="zh-TW" dirty="0"/>
          </a:p>
          <a:p>
            <a:r>
              <a:rPr lang="en-US" altLang="zh-TW" dirty="0"/>
              <a:t>2.</a:t>
            </a:r>
            <a:r>
              <a:rPr lang="zh-TW" altLang="en-US" dirty="0"/>
              <a:t>延續著陳彥宏博士努力的研究，這群研究者用一塊操作波長在</a:t>
            </a:r>
            <a:r>
              <a:rPr lang="en-US" altLang="zh-TW" dirty="0"/>
              <a:t>1064nm&amp;1342nm</a:t>
            </a:r>
            <a:r>
              <a:rPr lang="zh-TW" altLang="en-US" dirty="0"/>
              <a:t>的非週期性鈮酸鋰晶體並利用電光偏振調制在特定的電場之間快速的切換來達到雙波長同時輸出的脈衝雷射光輸出。</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7</a:t>
            </a:fld>
            <a:endParaRPr lang="zh-TW" altLang="en-US"/>
          </a:p>
        </p:txBody>
      </p:sp>
    </p:spTree>
    <p:extLst>
      <p:ext uri="{BB962C8B-B14F-4D97-AF65-F5344CB8AC3E}">
        <p14:creationId xmlns:p14="http://schemas.microsoft.com/office/powerpoint/2010/main" val="2511911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本實驗室的張煒堃學長用一塊操作波長分別為</a:t>
            </a:r>
            <a:r>
              <a:rPr lang="en-US" altLang="zh-TW" dirty="0"/>
              <a:t>1064</a:t>
            </a:r>
            <a:r>
              <a:rPr lang="zh-TW" altLang="en-US" dirty="0"/>
              <a:t>與</a:t>
            </a:r>
            <a:r>
              <a:rPr lang="en-US" altLang="zh-TW" dirty="0"/>
              <a:t>1342</a:t>
            </a:r>
            <a:r>
              <a:rPr lang="zh-TW" altLang="en-US" dirty="0"/>
              <a:t>的串級式</a:t>
            </a:r>
            <a:r>
              <a:rPr lang="en-US" altLang="zh-TW" dirty="0"/>
              <a:t>PPLN</a:t>
            </a:r>
            <a:r>
              <a:rPr lang="zh-TW" altLang="en-US" dirty="0"/>
              <a:t>並利用兩段電光偏振調制，來達到分別</a:t>
            </a:r>
            <a:r>
              <a:rPr lang="en-US" altLang="zh-TW" dirty="0"/>
              <a:t>Q</a:t>
            </a:r>
            <a:r>
              <a:rPr lang="zh-TW" altLang="en-US" dirty="0"/>
              <a:t>調制</a:t>
            </a:r>
            <a:r>
              <a:rPr lang="en-US" altLang="zh-TW" dirty="0"/>
              <a:t>1064</a:t>
            </a:r>
            <a:r>
              <a:rPr lang="zh-TW" altLang="en-US" dirty="0"/>
              <a:t>與</a:t>
            </a:r>
            <a:r>
              <a:rPr lang="en-US" altLang="zh-TW" dirty="0"/>
              <a:t>1342</a:t>
            </a:r>
            <a:r>
              <a:rPr lang="zh-TW" altLang="en-US" dirty="0"/>
              <a:t>，最終分別輸出單一</a:t>
            </a:r>
            <a:r>
              <a:rPr lang="en-US" altLang="zh-TW" dirty="0"/>
              <a:t>1064</a:t>
            </a:r>
            <a:r>
              <a:rPr lang="zh-TW" altLang="en-US" dirty="0"/>
              <a:t>脈衝雷射與單一</a:t>
            </a:r>
            <a:r>
              <a:rPr lang="en-US" altLang="zh-TW" dirty="0"/>
              <a:t>1342</a:t>
            </a:r>
            <a:r>
              <a:rPr lang="zh-TW" altLang="en-US" dirty="0"/>
              <a:t>脈衝雷射光，並且在兩波長同時</a:t>
            </a:r>
            <a:r>
              <a:rPr lang="en-US" altLang="zh-TW" dirty="0"/>
              <a:t>Q</a:t>
            </a:r>
            <a:r>
              <a:rPr lang="zh-TW" altLang="en-US" dirty="0"/>
              <a:t>調制清況下利用鈮酸鋰晶體的和頻機制得到了操作波長為</a:t>
            </a:r>
            <a:r>
              <a:rPr lang="en-US" altLang="zh-TW" dirty="0"/>
              <a:t>593</a:t>
            </a:r>
            <a:r>
              <a:rPr lang="zh-TW" altLang="en-US" dirty="0"/>
              <a:t>的橘黃光脈衝光</a:t>
            </a:r>
            <a:endParaRPr lang="en-US" altLang="zh-TW"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8</a:t>
            </a:fld>
            <a:endParaRPr lang="zh-TW" altLang="en-US"/>
          </a:p>
        </p:txBody>
      </p:sp>
    </p:spTree>
    <p:extLst>
      <p:ext uri="{BB962C8B-B14F-4D97-AF65-F5344CB8AC3E}">
        <p14:creationId xmlns:p14="http://schemas.microsoft.com/office/powerpoint/2010/main" val="612566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光子密度</a:t>
            </a:r>
            <a:endParaRPr lang="en-US" altLang="zh-TW" dirty="0"/>
          </a:p>
          <a:p>
            <a:r>
              <a:rPr lang="en-US" altLang="zh-TW" dirty="0"/>
              <a:t>1064nm</a:t>
            </a:r>
            <a:r>
              <a:rPr lang="zh-TW" altLang="en-US" dirty="0"/>
              <a:t>會搶到上能階大部分的粒子而增益輸出</a:t>
            </a:r>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11</a:t>
            </a:fld>
            <a:endParaRPr lang="zh-TW" altLang="en-US"/>
          </a:p>
        </p:txBody>
      </p:sp>
    </p:spTree>
    <p:extLst>
      <p:ext uri="{BB962C8B-B14F-4D97-AF65-F5344CB8AC3E}">
        <p14:creationId xmlns:p14="http://schemas.microsoft.com/office/powerpoint/2010/main" val="3622182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鈮酸鋰為電光晶體，本實驗利用施加</a:t>
            </a:r>
            <a:r>
              <a:rPr lang="en-US" altLang="zh-TW" dirty="0"/>
              <a:t>Y</a:t>
            </a:r>
            <a:r>
              <a:rPr lang="zh-TW" altLang="en-US" dirty="0"/>
              <a:t>方向電場的電光效應，鈮酸鋰晶體正晶疇</a:t>
            </a:r>
            <a:r>
              <a:rPr lang="en-US" altLang="zh-TW" dirty="0"/>
              <a:t>r51</a:t>
            </a:r>
            <a:r>
              <a:rPr lang="zh-TW" altLang="en-US" dirty="0"/>
              <a:t>為正，光軸旋轉角為負</a:t>
            </a:r>
            <a:r>
              <a:rPr lang="en-US" altLang="zh-TW" dirty="0"/>
              <a:t>theta</a:t>
            </a:r>
            <a:r>
              <a:rPr lang="zh-TW" altLang="en-US" dirty="0"/>
              <a:t>，鈮酸鋰晶體負晶疇</a:t>
            </a:r>
            <a:r>
              <a:rPr lang="en-US" altLang="zh-TW" dirty="0"/>
              <a:t>r51</a:t>
            </a:r>
            <a:r>
              <a:rPr lang="zh-TW" altLang="en-US" dirty="0"/>
              <a:t>為負，光軸選旋轉角為負</a:t>
            </a:r>
            <a:r>
              <a:rPr lang="en-US" altLang="zh-TW" dirty="0"/>
              <a:t>theta</a:t>
            </a:r>
          </a:p>
          <a:p>
            <a:r>
              <a:rPr lang="en-US" altLang="zh-TW" dirty="0"/>
              <a:t>1.</a:t>
            </a:r>
            <a:r>
              <a:rPr lang="zh-TW" altLang="en-US" dirty="0"/>
              <a:t>負單軸晶體不加電場的反介電張量</a:t>
            </a:r>
            <a:endParaRPr lang="en-US" altLang="zh-TW" dirty="0"/>
          </a:p>
          <a:p>
            <a:r>
              <a:rPr lang="en-US" altLang="zh-TW" dirty="0"/>
              <a:t>2.</a:t>
            </a:r>
            <a:r>
              <a:rPr lang="zh-TW" altLang="en-US" dirty="0"/>
              <a:t>鈮酸鋰晶體電光係數</a:t>
            </a:r>
            <a:endParaRPr lang="en-US" altLang="zh-TW" dirty="0"/>
          </a:p>
          <a:p>
            <a:r>
              <a:rPr lang="en-US" altLang="zh-TW" dirty="0"/>
              <a:t>3.</a:t>
            </a:r>
            <a:r>
              <a:rPr lang="zh-TW" altLang="en-US" dirty="0"/>
              <a:t>施加電場的反介電張量的變化量</a:t>
            </a:r>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12</a:t>
            </a:fld>
            <a:endParaRPr lang="zh-TW" altLang="en-US"/>
          </a:p>
        </p:txBody>
      </p:sp>
    </p:spTree>
    <p:extLst>
      <p:ext uri="{BB962C8B-B14F-4D97-AF65-F5344CB8AC3E}">
        <p14:creationId xmlns:p14="http://schemas.microsoft.com/office/powerpoint/2010/main" val="522725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索爾克濾波器為兩種不同半波版交疊排列所組成，一種為</a:t>
            </a:r>
            <a:r>
              <a:rPr lang="en-US" altLang="zh-TW" dirty="0"/>
              <a:t>…</a:t>
            </a:r>
            <a:r>
              <a:rPr lang="zh-TW" altLang="en-US" dirty="0"/>
              <a:t>，一種為</a:t>
            </a:r>
            <a:r>
              <a:rPr lang="en-US" altLang="zh-TW" dirty="0"/>
              <a:t>…</a:t>
            </a:r>
            <a:r>
              <a:rPr lang="zh-TW" altLang="en-US" dirty="0"/>
              <a:t>，而工作原理為</a:t>
            </a:r>
            <a:r>
              <a:rPr lang="en-US" altLang="zh-TW" dirty="0"/>
              <a:t>…….</a:t>
            </a:r>
            <a:r>
              <a:rPr lang="zh-TW" altLang="en-US" dirty="0"/>
              <a:t>與原偏振差</a:t>
            </a:r>
            <a:r>
              <a:rPr lang="en-US" altLang="zh-TW" dirty="0"/>
              <a:t>4theta</a:t>
            </a:r>
            <a:r>
              <a:rPr lang="zh-TW" altLang="en-US" dirty="0"/>
              <a:t>以此排列下去，最終可將偏振旋轉成水平偏振，所而克濾波器好比於鈮酸李正副晶疇週期排列。</a:t>
            </a:r>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13</a:t>
            </a:fld>
            <a:endParaRPr lang="zh-TW" altLang="en-US"/>
          </a:p>
        </p:txBody>
      </p:sp>
    </p:spTree>
    <p:extLst>
      <p:ext uri="{BB962C8B-B14F-4D97-AF65-F5344CB8AC3E}">
        <p14:creationId xmlns:p14="http://schemas.microsoft.com/office/powerpoint/2010/main" val="1823105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14</a:t>
            </a:fld>
            <a:endParaRPr lang="zh-TW" altLang="en-US"/>
          </a:p>
        </p:txBody>
      </p:sp>
    </p:spTree>
    <p:extLst>
      <p:ext uri="{BB962C8B-B14F-4D97-AF65-F5344CB8AC3E}">
        <p14:creationId xmlns:p14="http://schemas.microsoft.com/office/powerpoint/2010/main" val="3009090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TM</a:t>
            </a:r>
            <a:r>
              <a:rPr lang="zh-TW" altLang="en-US" dirty="0"/>
              <a:t>偏振穿透率對電場進行</a:t>
            </a:r>
            <a:r>
              <a:rPr lang="en-US" altLang="zh-TW" dirty="0"/>
              <a:t>SIN</a:t>
            </a:r>
            <a:r>
              <a:rPr lang="zh-TW" altLang="en-US" dirty="0"/>
              <a:t>波振盪</a:t>
            </a:r>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18</a:t>
            </a:fld>
            <a:endParaRPr lang="zh-TW" altLang="en-US"/>
          </a:p>
        </p:txBody>
      </p:sp>
    </p:spTree>
    <p:extLst>
      <p:ext uri="{BB962C8B-B14F-4D97-AF65-F5344CB8AC3E}">
        <p14:creationId xmlns:p14="http://schemas.microsoft.com/office/powerpoint/2010/main" val="1853112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23</a:t>
            </a:fld>
            <a:endParaRPr lang="zh-TW" altLang="en-US"/>
          </a:p>
        </p:txBody>
      </p:sp>
    </p:spTree>
    <p:extLst>
      <p:ext uri="{BB962C8B-B14F-4D97-AF65-F5344CB8AC3E}">
        <p14:creationId xmlns:p14="http://schemas.microsoft.com/office/powerpoint/2010/main" val="40660043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正行方波電壓脈衝訊號，正端為上升後的電壓，也就是</a:t>
            </a:r>
            <a:r>
              <a:rPr lang="en-US" altLang="zh-TW" dirty="0"/>
              <a:t>HIGH-Q</a:t>
            </a:r>
            <a:r>
              <a:rPr lang="zh-TW" altLang="en-US" dirty="0"/>
              <a:t>電壓另一台接負端作為偏壓電源，提申至特定的直流準位，</a:t>
            </a:r>
            <a:r>
              <a:rPr lang="en-US" altLang="zh-TW" dirty="0"/>
              <a:t>GROUND</a:t>
            </a:r>
            <a:r>
              <a:rPr lang="zh-TW" altLang="en-US" dirty="0"/>
              <a:t>提升至</a:t>
            </a:r>
            <a:r>
              <a:rPr lang="en-US" altLang="zh-TW" dirty="0"/>
              <a:t>LOWQ</a:t>
            </a:r>
            <a:r>
              <a:rPr lang="zh-TW" altLang="en-US" dirty="0"/>
              <a:t>電壓。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負方波電壓脈衝訊號，負端坐為下降後的電壓，也就是</a:t>
            </a:r>
            <a:r>
              <a:rPr lang="en-US" altLang="zh-TW" dirty="0"/>
              <a:t>HIGH-Q</a:t>
            </a:r>
            <a:r>
              <a:rPr lang="zh-TW" altLang="en-US" dirty="0"/>
              <a:t>電壓另一台接正端作為偏壓電源，，提申至特定的直流準位，</a:t>
            </a:r>
            <a:r>
              <a:rPr lang="en-US" altLang="zh-TW" dirty="0"/>
              <a:t>GROUND</a:t>
            </a:r>
            <a:r>
              <a:rPr lang="zh-TW" altLang="en-US" dirty="0"/>
              <a:t>提升至</a:t>
            </a:r>
            <a:r>
              <a:rPr lang="en-US" altLang="zh-TW" dirty="0"/>
              <a:t>LOWQ</a:t>
            </a:r>
            <a:r>
              <a:rPr lang="zh-TW" altLang="en-US" dirty="0"/>
              <a:t>電壓。</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32</a:t>
            </a:fld>
            <a:endParaRPr lang="zh-TW" altLang="en-US"/>
          </a:p>
        </p:txBody>
      </p:sp>
    </p:spTree>
    <p:extLst>
      <p:ext uri="{BB962C8B-B14F-4D97-AF65-F5344CB8AC3E}">
        <p14:creationId xmlns:p14="http://schemas.microsoft.com/office/powerpoint/2010/main" val="26777215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33</a:t>
            </a:fld>
            <a:endParaRPr lang="zh-TW" altLang="en-US"/>
          </a:p>
        </p:txBody>
      </p:sp>
    </p:spTree>
    <p:extLst>
      <p:ext uri="{BB962C8B-B14F-4D97-AF65-F5344CB8AC3E}">
        <p14:creationId xmlns:p14="http://schemas.microsoft.com/office/powerpoint/2010/main" val="2386151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34</a:t>
            </a:fld>
            <a:endParaRPr lang="zh-TW" altLang="en-US"/>
          </a:p>
        </p:txBody>
      </p:sp>
    </p:spTree>
    <p:extLst>
      <p:ext uri="{BB962C8B-B14F-4D97-AF65-F5344CB8AC3E}">
        <p14:creationId xmlns:p14="http://schemas.microsoft.com/office/powerpoint/2010/main" val="32224525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AF2D9ED-1A2B-4F64-8629-84797EF45832}" type="slidenum">
              <a:rPr lang="zh-TW" altLang="en-US" smtClean="0"/>
              <a:t>35</a:t>
            </a:fld>
            <a:endParaRPr lang="zh-TW" altLang="en-US"/>
          </a:p>
        </p:txBody>
      </p:sp>
    </p:spTree>
    <p:extLst>
      <p:ext uri="{BB962C8B-B14F-4D97-AF65-F5344CB8AC3E}">
        <p14:creationId xmlns:p14="http://schemas.microsoft.com/office/powerpoint/2010/main" val="3776429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264641-0B5F-430A-B702-0CF44EF0671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0B1DD02-0841-46EE-90BA-41B59F4F4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7406220-FFFE-4E5B-98E7-3AE523BA67EA}"/>
              </a:ext>
            </a:extLst>
          </p:cNvPr>
          <p:cNvSpPr>
            <a:spLocks noGrp="1"/>
          </p:cNvSpPr>
          <p:nvPr>
            <p:ph type="dt" sz="half" idx="10"/>
          </p:nvPr>
        </p:nvSpPr>
        <p:spPr/>
        <p:txBody>
          <a:bodyPr/>
          <a:lstStyle/>
          <a:p>
            <a:fld id="{1BCBA901-B05B-418A-8B1F-3B631BB37426}" type="datetime1">
              <a:rPr lang="zh-TW" altLang="en-US" smtClean="0"/>
              <a:t>2019/12/4</a:t>
            </a:fld>
            <a:endParaRPr lang="zh-TW" altLang="en-US"/>
          </a:p>
        </p:txBody>
      </p:sp>
      <p:sp>
        <p:nvSpPr>
          <p:cNvPr id="5" name="頁尾版面配置區 4">
            <a:extLst>
              <a:ext uri="{FF2B5EF4-FFF2-40B4-BE49-F238E27FC236}">
                <a16:creationId xmlns:a16="http://schemas.microsoft.com/office/drawing/2014/main" id="{E8E3D300-77DE-4396-97F2-D8CA25B7A69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B8EB591-B3CB-455D-95F9-64FE4B0A605D}"/>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3420390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EE1102-8446-47DE-A4D8-8B6B9036831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A7E93E1-99FB-421C-BC48-4B14C4C90140}"/>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C05BC31-E2CC-47E1-979C-453854AA5182}"/>
              </a:ext>
            </a:extLst>
          </p:cNvPr>
          <p:cNvSpPr>
            <a:spLocks noGrp="1"/>
          </p:cNvSpPr>
          <p:nvPr>
            <p:ph type="dt" sz="half" idx="10"/>
          </p:nvPr>
        </p:nvSpPr>
        <p:spPr/>
        <p:txBody>
          <a:bodyPr/>
          <a:lstStyle/>
          <a:p>
            <a:fld id="{C0417776-433E-4628-84C4-37ED83A2F7BC}" type="datetime1">
              <a:rPr lang="zh-TW" altLang="en-US" smtClean="0"/>
              <a:t>2019/12/4</a:t>
            </a:fld>
            <a:endParaRPr lang="zh-TW" altLang="en-US"/>
          </a:p>
        </p:txBody>
      </p:sp>
      <p:sp>
        <p:nvSpPr>
          <p:cNvPr id="5" name="頁尾版面配置區 4">
            <a:extLst>
              <a:ext uri="{FF2B5EF4-FFF2-40B4-BE49-F238E27FC236}">
                <a16:creationId xmlns:a16="http://schemas.microsoft.com/office/drawing/2014/main" id="{9A6B4299-74D7-4E38-8A7D-B1873910CAC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DE5876F-F97C-4B39-AC14-7CD70DB34232}"/>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4199122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2ABF46-BFB6-4CE9-9C24-8039A502947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6690D7F8-67EB-49F1-84F6-5D92341219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0F8C7C19-706A-494F-A9B1-584362742F6E}"/>
              </a:ext>
            </a:extLst>
          </p:cNvPr>
          <p:cNvSpPr>
            <a:spLocks noGrp="1"/>
          </p:cNvSpPr>
          <p:nvPr>
            <p:ph type="dt" sz="half" idx="10"/>
          </p:nvPr>
        </p:nvSpPr>
        <p:spPr/>
        <p:txBody>
          <a:bodyPr/>
          <a:lstStyle/>
          <a:p>
            <a:fld id="{3892CB96-967B-4684-B9CF-4BDC978E4227}" type="datetime1">
              <a:rPr lang="zh-TW" altLang="en-US" smtClean="0"/>
              <a:t>2019/12/4</a:t>
            </a:fld>
            <a:endParaRPr lang="zh-TW" altLang="en-US"/>
          </a:p>
        </p:txBody>
      </p:sp>
      <p:sp>
        <p:nvSpPr>
          <p:cNvPr id="5" name="頁尾版面配置區 4">
            <a:extLst>
              <a:ext uri="{FF2B5EF4-FFF2-40B4-BE49-F238E27FC236}">
                <a16:creationId xmlns:a16="http://schemas.microsoft.com/office/drawing/2014/main" id="{3B56C452-3E75-474B-B91C-39BC1EA182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B9B6558-34A5-42A7-BE39-7765886C4486}"/>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1411316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919AD5-178B-4355-BF5B-3A6868E97BC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7563D17-639C-4573-9485-21CD00C90321}"/>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A20CCF5-A418-4D6D-A67B-5A4BDAFD00E5}"/>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D3C3FF9-B022-43C6-8583-EAF83C582DE9}"/>
              </a:ext>
            </a:extLst>
          </p:cNvPr>
          <p:cNvSpPr>
            <a:spLocks noGrp="1"/>
          </p:cNvSpPr>
          <p:nvPr>
            <p:ph type="dt" sz="half" idx="10"/>
          </p:nvPr>
        </p:nvSpPr>
        <p:spPr/>
        <p:txBody>
          <a:bodyPr/>
          <a:lstStyle/>
          <a:p>
            <a:fld id="{48A7F753-90F5-4DBD-85C7-8F2A48939A3C}" type="datetime1">
              <a:rPr lang="zh-TW" altLang="en-US" smtClean="0"/>
              <a:t>2019/12/4</a:t>
            </a:fld>
            <a:endParaRPr lang="zh-TW" altLang="en-US"/>
          </a:p>
        </p:txBody>
      </p:sp>
      <p:sp>
        <p:nvSpPr>
          <p:cNvPr id="6" name="頁尾版面配置區 5">
            <a:extLst>
              <a:ext uri="{FF2B5EF4-FFF2-40B4-BE49-F238E27FC236}">
                <a16:creationId xmlns:a16="http://schemas.microsoft.com/office/drawing/2014/main" id="{BB289927-555B-42BB-8C33-0AFBE956A40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D988614-27D4-4AE0-AD4C-521D5A83AAB3}"/>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328677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2B1BFA-22CB-4491-ACE8-358DCD18429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9D58C2F-AB72-4763-8A5B-53394189EA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0691EA4F-82FC-4EC6-B985-C6479179A47C}"/>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4FF08EE-9279-41B8-90BB-8A5025087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EC263375-5D39-49E1-ACC9-CCB19F7AC27D}"/>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4C7F739-08D5-47BA-AF24-DB7954643F70}"/>
              </a:ext>
            </a:extLst>
          </p:cNvPr>
          <p:cNvSpPr>
            <a:spLocks noGrp="1"/>
          </p:cNvSpPr>
          <p:nvPr>
            <p:ph type="dt" sz="half" idx="10"/>
          </p:nvPr>
        </p:nvSpPr>
        <p:spPr/>
        <p:txBody>
          <a:bodyPr/>
          <a:lstStyle/>
          <a:p>
            <a:fld id="{6EAF6914-B0A9-4B5C-BA7D-8E7991B917E8}" type="datetime1">
              <a:rPr lang="zh-TW" altLang="en-US" smtClean="0"/>
              <a:t>2019/12/4</a:t>
            </a:fld>
            <a:endParaRPr lang="zh-TW" altLang="en-US"/>
          </a:p>
        </p:txBody>
      </p:sp>
      <p:sp>
        <p:nvSpPr>
          <p:cNvPr id="8" name="頁尾版面配置區 7">
            <a:extLst>
              <a:ext uri="{FF2B5EF4-FFF2-40B4-BE49-F238E27FC236}">
                <a16:creationId xmlns:a16="http://schemas.microsoft.com/office/drawing/2014/main" id="{8910ACA7-007B-449D-B424-8D508CA72E94}"/>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029B69A-F69E-4C3A-831B-418DF9571530}"/>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1670731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10EE7E-BBB9-4D93-9F8C-F93478991548}"/>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08577C1E-4ED5-4E28-BB29-9018A123EE6A}"/>
              </a:ext>
            </a:extLst>
          </p:cNvPr>
          <p:cNvSpPr>
            <a:spLocks noGrp="1"/>
          </p:cNvSpPr>
          <p:nvPr>
            <p:ph type="dt" sz="half" idx="10"/>
          </p:nvPr>
        </p:nvSpPr>
        <p:spPr/>
        <p:txBody>
          <a:bodyPr/>
          <a:lstStyle/>
          <a:p>
            <a:fld id="{D530874C-1142-435F-9B64-5A54CBE3DEAD}" type="datetime1">
              <a:rPr lang="zh-TW" altLang="en-US" smtClean="0"/>
              <a:t>2019/12/4</a:t>
            </a:fld>
            <a:endParaRPr lang="zh-TW" altLang="en-US"/>
          </a:p>
        </p:txBody>
      </p:sp>
      <p:sp>
        <p:nvSpPr>
          <p:cNvPr id="4" name="頁尾版面配置區 3">
            <a:extLst>
              <a:ext uri="{FF2B5EF4-FFF2-40B4-BE49-F238E27FC236}">
                <a16:creationId xmlns:a16="http://schemas.microsoft.com/office/drawing/2014/main" id="{A7170080-8FA9-4911-9B11-2636A1A3C1F0}"/>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2BF3966C-0E97-47E8-A0C9-95D50B073298}"/>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1257066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432D547-7B08-46C3-91F7-A17769C398D5}"/>
              </a:ext>
            </a:extLst>
          </p:cNvPr>
          <p:cNvSpPr>
            <a:spLocks noGrp="1"/>
          </p:cNvSpPr>
          <p:nvPr>
            <p:ph type="dt" sz="half" idx="10"/>
          </p:nvPr>
        </p:nvSpPr>
        <p:spPr/>
        <p:txBody>
          <a:bodyPr/>
          <a:lstStyle/>
          <a:p>
            <a:fld id="{9E99F023-EBE5-4F5B-81D2-CE0091842D81}" type="datetime1">
              <a:rPr lang="zh-TW" altLang="en-US" smtClean="0"/>
              <a:t>2019/12/4</a:t>
            </a:fld>
            <a:endParaRPr lang="zh-TW" altLang="en-US"/>
          </a:p>
        </p:txBody>
      </p:sp>
      <p:sp>
        <p:nvSpPr>
          <p:cNvPr id="3" name="頁尾版面配置區 2">
            <a:extLst>
              <a:ext uri="{FF2B5EF4-FFF2-40B4-BE49-F238E27FC236}">
                <a16:creationId xmlns:a16="http://schemas.microsoft.com/office/drawing/2014/main" id="{46E7F0DC-B194-4D59-AB3D-C5D2BD9D39A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68107F82-13EF-4952-AFA5-BDBCC13E825C}"/>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106881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DF1C6D-0182-4479-8543-5F7A5A85BDE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F2B12CC7-F0CB-41FC-8E57-99122B0540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CB07693F-6A0B-41B4-9554-47BC449DDD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A6038C0-3A8B-43FD-9262-5B2AE21D200D}"/>
              </a:ext>
            </a:extLst>
          </p:cNvPr>
          <p:cNvSpPr>
            <a:spLocks noGrp="1"/>
          </p:cNvSpPr>
          <p:nvPr>
            <p:ph type="dt" sz="half" idx="10"/>
          </p:nvPr>
        </p:nvSpPr>
        <p:spPr/>
        <p:txBody>
          <a:bodyPr/>
          <a:lstStyle/>
          <a:p>
            <a:fld id="{EE8E0127-360A-4B84-9242-1405E4BD5860}" type="datetime1">
              <a:rPr lang="zh-TW" altLang="en-US" smtClean="0"/>
              <a:t>2019/12/4</a:t>
            </a:fld>
            <a:endParaRPr lang="zh-TW" altLang="en-US"/>
          </a:p>
        </p:txBody>
      </p:sp>
      <p:sp>
        <p:nvSpPr>
          <p:cNvPr id="6" name="頁尾版面配置區 5">
            <a:extLst>
              <a:ext uri="{FF2B5EF4-FFF2-40B4-BE49-F238E27FC236}">
                <a16:creationId xmlns:a16="http://schemas.microsoft.com/office/drawing/2014/main" id="{12EC8E61-8DF4-4067-A7FA-53853A46790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4F5E691-3299-4EB6-B393-FA775A7AB5EC}"/>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1162490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5D5F00-30DC-4CF1-855B-6BE3F24BC24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AC0ACDA-AC8A-42F8-996B-7952E989D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1E3BBCD-0FFC-4288-B6DF-CA075DD852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FDCB3928-2079-4466-ABAD-15E3BE268A65}"/>
              </a:ext>
            </a:extLst>
          </p:cNvPr>
          <p:cNvSpPr>
            <a:spLocks noGrp="1"/>
          </p:cNvSpPr>
          <p:nvPr>
            <p:ph type="dt" sz="half" idx="10"/>
          </p:nvPr>
        </p:nvSpPr>
        <p:spPr/>
        <p:txBody>
          <a:bodyPr/>
          <a:lstStyle/>
          <a:p>
            <a:fld id="{379BAF25-FA88-487E-A9A9-A3C99565C0B6}" type="datetime1">
              <a:rPr lang="zh-TW" altLang="en-US" smtClean="0"/>
              <a:t>2019/12/4</a:t>
            </a:fld>
            <a:endParaRPr lang="zh-TW" altLang="en-US"/>
          </a:p>
        </p:txBody>
      </p:sp>
      <p:sp>
        <p:nvSpPr>
          <p:cNvPr id="6" name="頁尾版面配置區 5">
            <a:extLst>
              <a:ext uri="{FF2B5EF4-FFF2-40B4-BE49-F238E27FC236}">
                <a16:creationId xmlns:a16="http://schemas.microsoft.com/office/drawing/2014/main" id="{B743E021-ABAA-4BF3-B8A4-2CCF4F2C766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A3EE9F7-DF6A-4EC1-A6D8-CCA7C7DF002D}"/>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3525182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BD858A-6D6A-44E9-B198-00566627143D}"/>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55BA2C6-6EFA-4EDF-A5A4-FB779E03C938}"/>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F7DE1BB-877F-48EA-AD66-56B17D1A98D7}"/>
              </a:ext>
            </a:extLst>
          </p:cNvPr>
          <p:cNvSpPr>
            <a:spLocks noGrp="1"/>
          </p:cNvSpPr>
          <p:nvPr>
            <p:ph type="dt" sz="half" idx="10"/>
          </p:nvPr>
        </p:nvSpPr>
        <p:spPr/>
        <p:txBody>
          <a:bodyPr/>
          <a:lstStyle/>
          <a:p>
            <a:fld id="{26D5D946-91B4-4F9B-A1EB-1E9F9B52943C}" type="datetime1">
              <a:rPr lang="zh-TW" altLang="en-US" smtClean="0"/>
              <a:t>2019/12/4</a:t>
            </a:fld>
            <a:endParaRPr lang="zh-TW" altLang="en-US"/>
          </a:p>
        </p:txBody>
      </p:sp>
      <p:sp>
        <p:nvSpPr>
          <p:cNvPr id="5" name="頁尾版面配置區 4">
            <a:extLst>
              <a:ext uri="{FF2B5EF4-FFF2-40B4-BE49-F238E27FC236}">
                <a16:creationId xmlns:a16="http://schemas.microsoft.com/office/drawing/2014/main" id="{D908AA06-870E-4AAC-A54D-0E28686EB0D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AD0DE6-7107-47BD-A9E7-A12FC8718ACA}"/>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4272919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16BAF6C-842B-4BD3-A2BE-4A87EF97E1C5}"/>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E7B5DD8-1DED-4A7B-9034-A633039BB78A}"/>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1B1BE8C-AE88-4F5B-BB5A-66F7E7B9F636}"/>
              </a:ext>
            </a:extLst>
          </p:cNvPr>
          <p:cNvSpPr>
            <a:spLocks noGrp="1"/>
          </p:cNvSpPr>
          <p:nvPr>
            <p:ph type="dt" sz="half" idx="10"/>
          </p:nvPr>
        </p:nvSpPr>
        <p:spPr/>
        <p:txBody>
          <a:bodyPr/>
          <a:lstStyle/>
          <a:p>
            <a:fld id="{E2A64822-B5FE-418C-94D6-EC55F0531DDC}" type="datetime1">
              <a:rPr lang="zh-TW" altLang="en-US" smtClean="0"/>
              <a:t>2019/12/4</a:t>
            </a:fld>
            <a:endParaRPr lang="zh-TW" altLang="en-US"/>
          </a:p>
        </p:txBody>
      </p:sp>
      <p:sp>
        <p:nvSpPr>
          <p:cNvPr id="5" name="頁尾版面配置區 4">
            <a:extLst>
              <a:ext uri="{FF2B5EF4-FFF2-40B4-BE49-F238E27FC236}">
                <a16:creationId xmlns:a16="http://schemas.microsoft.com/office/drawing/2014/main" id="{E5A226D6-D9F4-4947-8865-6F92D88F1DC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29DEFB-A1C1-4063-BAEB-0EAF1B72053F}"/>
              </a:ext>
            </a:extLst>
          </p:cNvPr>
          <p:cNvSpPr>
            <a:spLocks noGrp="1"/>
          </p:cNvSpPr>
          <p:nvPr>
            <p:ph type="sldNum" sz="quarter" idx="12"/>
          </p:nvPr>
        </p:nvSpPr>
        <p:spPr/>
        <p:txBody>
          <a:body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209082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BC4F383C-6C53-41A7-8678-4CE537AED7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5F43216-6274-4857-90AD-16B66180DD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89FB329-3850-4AE9-B93A-E028823DC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0AD9C0-C803-4510-AB76-07199E0302E3}" type="datetime1">
              <a:rPr lang="zh-TW" altLang="en-US" smtClean="0"/>
              <a:t>2019/12/4</a:t>
            </a:fld>
            <a:endParaRPr lang="zh-TW" altLang="en-US"/>
          </a:p>
        </p:txBody>
      </p:sp>
      <p:sp>
        <p:nvSpPr>
          <p:cNvPr id="5" name="頁尾版面配置區 4">
            <a:extLst>
              <a:ext uri="{FF2B5EF4-FFF2-40B4-BE49-F238E27FC236}">
                <a16:creationId xmlns:a16="http://schemas.microsoft.com/office/drawing/2014/main" id="{9CEED28A-47A5-4FF6-A8EA-54D0BBDF1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CE2D51D-F303-4315-911E-EB84846CF4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44CBB6-E20C-4076-82F9-F8F95241C54D}" type="slidenum">
              <a:rPr lang="zh-TW" altLang="en-US" smtClean="0"/>
              <a:t>‹#›</a:t>
            </a:fld>
            <a:endParaRPr lang="zh-TW" altLang="en-US"/>
          </a:p>
        </p:txBody>
      </p:sp>
    </p:spTree>
    <p:extLst>
      <p:ext uri="{BB962C8B-B14F-4D97-AF65-F5344CB8AC3E}">
        <p14:creationId xmlns:p14="http://schemas.microsoft.com/office/powerpoint/2010/main" val="2027996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36.png"/><Relationship Id="rId7" Type="http://schemas.openxmlformats.org/officeDocument/2006/relationships/image" Target="../media/image1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117.pn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1.PNG"/></Relationships>
</file>

<file path=ppt/slides/_rels/slide12.xml.rels><?xml version="1.0" encoding="UTF-8" standalone="yes"?>
<Relationships xmlns="http://schemas.openxmlformats.org/package/2006/relationships"><Relationship Id="rId8" Type="http://schemas.openxmlformats.org/officeDocument/2006/relationships/image" Target="../media/image260.png"/><Relationship Id="rId13" Type="http://schemas.openxmlformats.org/officeDocument/2006/relationships/image" Target="../media/image42.png"/><Relationship Id="rId3" Type="http://schemas.openxmlformats.org/officeDocument/2006/relationships/image" Target="../media/image210.png"/><Relationship Id="rId7" Type="http://schemas.openxmlformats.org/officeDocument/2006/relationships/image" Target="../media/image250.PNG"/><Relationship Id="rId12"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0.PNG"/><Relationship Id="rId11" Type="http://schemas.openxmlformats.org/officeDocument/2006/relationships/image" Target="../media/image40.png"/><Relationship Id="rId5" Type="http://schemas.openxmlformats.org/officeDocument/2006/relationships/image" Target="../media/image230.png"/><Relationship Id="rId15" Type="http://schemas.openxmlformats.org/officeDocument/2006/relationships/image" Target="../media/image44.png"/><Relationship Id="rId10" Type="http://schemas.openxmlformats.org/officeDocument/2006/relationships/image" Target="../media/image38.png"/><Relationship Id="rId4" Type="http://schemas.openxmlformats.org/officeDocument/2006/relationships/image" Target="../media/image220.png"/><Relationship Id="rId9" Type="http://schemas.openxmlformats.org/officeDocument/2006/relationships/image" Target="../media/image270.png"/><Relationship Id="rId14" Type="http://schemas.openxmlformats.org/officeDocument/2006/relationships/image" Target="../media/image43.png"/></Relationships>
</file>

<file path=ppt/slides/_rels/slide13.xml.rels><?xml version="1.0" encoding="UTF-8" standalone="yes"?>
<Relationships xmlns="http://schemas.openxmlformats.org/package/2006/relationships"><Relationship Id="rId8" Type="http://schemas.openxmlformats.org/officeDocument/2006/relationships/image" Target="../media/image431.png"/><Relationship Id="rId13" Type="http://schemas.openxmlformats.org/officeDocument/2006/relationships/image" Target="../media/image440.png"/><Relationship Id="rId18" Type="http://schemas.openxmlformats.org/officeDocument/2006/relationships/image" Target="../media/image49.png"/><Relationship Id="rId3" Type="http://schemas.openxmlformats.org/officeDocument/2006/relationships/image" Target="../media/image45.png"/><Relationship Id="rId21" Type="http://schemas.openxmlformats.org/officeDocument/2006/relationships/image" Target="../media/image52.png"/><Relationship Id="rId7" Type="http://schemas.openxmlformats.org/officeDocument/2006/relationships/image" Target="../media/image380.png"/><Relationship Id="rId12" Type="http://schemas.openxmlformats.org/officeDocument/2006/relationships/image" Target="../media/image430.png"/><Relationship Id="rId17" Type="http://schemas.openxmlformats.org/officeDocument/2006/relationships/image" Target="../media/image48.png"/><Relationship Id="rId2" Type="http://schemas.openxmlformats.org/officeDocument/2006/relationships/notesSlide" Target="../notesSlides/notesSlide9.xml"/><Relationship Id="rId16" Type="http://schemas.openxmlformats.org/officeDocument/2006/relationships/image" Target="../media/image470.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420.png"/><Relationship Id="rId5" Type="http://schemas.openxmlformats.org/officeDocument/2006/relationships/image" Target="../media/image47.png"/><Relationship Id="rId15" Type="http://schemas.openxmlformats.org/officeDocument/2006/relationships/image" Target="../media/image460.png"/><Relationship Id="rId10" Type="http://schemas.openxmlformats.org/officeDocument/2006/relationships/image" Target="../media/image410.png"/><Relationship Id="rId19" Type="http://schemas.openxmlformats.org/officeDocument/2006/relationships/image" Target="../media/image50.png"/><Relationship Id="rId4" Type="http://schemas.openxmlformats.org/officeDocument/2006/relationships/image" Target="../media/image46.png"/><Relationship Id="rId9" Type="http://schemas.openxmlformats.org/officeDocument/2006/relationships/image" Target="../media/image400.png"/><Relationship Id="rId14" Type="http://schemas.openxmlformats.org/officeDocument/2006/relationships/image" Target="../media/image450.png"/></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40.PNG"/></Relationships>
</file>

<file path=ppt/slides/_rels/slide1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60.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6.png"/><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2.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image" Target="../media/image61.png"/><Relationship Id="rId16"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9.png"/><Relationship Id="rId5" Type="http://schemas.openxmlformats.org/officeDocument/2006/relationships/image" Target="../media/image64.png"/><Relationship Id="rId15" Type="http://schemas.openxmlformats.org/officeDocument/2006/relationships/image" Target="../media/image73.png"/><Relationship Id="rId10" Type="http://schemas.openxmlformats.org/officeDocument/2006/relationships/image" Target="../media/image68.png"/><Relationship Id="rId9" Type="http://schemas.openxmlformats.org/officeDocument/2006/relationships/image" Target="../media/image67.png"/><Relationship Id="rId14" Type="http://schemas.openxmlformats.org/officeDocument/2006/relationships/image" Target="../media/image72.png"/></Relationships>
</file>

<file path=ppt/slides/_rels/slide18.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image" Target="../media/image76.png"/><Relationship Id="rId7" Type="http://schemas.openxmlformats.org/officeDocument/2006/relationships/image" Target="../media/image79.png"/><Relationship Id="rId12" Type="http://schemas.openxmlformats.org/officeDocument/2006/relationships/image" Target="../media/image8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60.png"/><Relationship Id="rId11" Type="http://schemas.openxmlformats.org/officeDocument/2006/relationships/image" Target="../media/image84.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s>
</file>

<file path=ppt/slides/_rels/slide19.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94.pn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0.png"/></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23.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1.png"/><Relationship Id="rId7" Type="http://schemas.openxmlformats.org/officeDocument/2006/relationships/image" Target="../media/image87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24.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image" Target="../media/image106.png"/><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5.jpg"/></Relationships>
</file>

<file path=ppt/slides/_rels/slide26.xml.rels><?xml version="1.0" encoding="UTF-8" standalone="yes"?>
<Relationships xmlns="http://schemas.openxmlformats.org/package/2006/relationships"><Relationship Id="rId8" Type="http://schemas.openxmlformats.org/officeDocument/2006/relationships/image" Target="../media/image1031.png"/><Relationship Id="rId13" Type="http://schemas.openxmlformats.org/officeDocument/2006/relationships/image" Target="../media/image112.png"/><Relationship Id="rId3" Type="http://schemas.openxmlformats.org/officeDocument/2006/relationships/image" Target="../media/image980.png"/><Relationship Id="rId7" Type="http://schemas.openxmlformats.org/officeDocument/2006/relationships/image" Target="../media/image1021.png"/><Relationship Id="rId12" Type="http://schemas.openxmlformats.org/officeDocument/2006/relationships/image" Target="../media/image111.png"/><Relationship Id="rId2" Type="http://schemas.openxmlformats.org/officeDocument/2006/relationships/image" Target="../media/image109.jpeg"/><Relationship Id="rId1" Type="http://schemas.openxmlformats.org/officeDocument/2006/relationships/slideLayout" Target="../slideLayouts/slideLayout2.xml"/><Relationship Id="rId6" Type="http://schemas.openxmlformats.org/officeDocument/2006/relationships/image" Target="../media/image1010.png"/><Relationship Id="rId11" Type="http://schemas.openxmlformats.org/officeDocument/2006/relationships/image" Target="../media/image110.png"/><Relationship Id="rId5" Type="http://schemas.openxmlformats.org/officeDocument/2006/relationships/image" Target="../media/image1000.png"/><Relationship Id="rId15" Type="http://schemas.openxmlformats.org/officeDocument/2006/relationships/image" Target="../media/image1071.png"/><Relationship Id="rId10" Type="http://schemas.openxmlformats.org/officeDocument/2006/relationships/image" Target="../media/image1050.png"/><Relationship Id="rId4" Type="http://schemas.openxmlformats.org/officeDocument/2006/relationships/image" Target="../media/image990.png"/><Relationship Id="rId9" Type="http://schemas.openxmlformats.org/officeDocument/2006/relationships/image" Target="../media/image1041.png"/><Relationship Id="rId1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4" Type="http://schemas.openxmlformats.org/officeDocument/2006/relationships/image" Target="../media/image1161.png"/></Relationships>
</file>

<file path=ppt/slides/_rels/slide28.xml.rels><?xml version="1.0" encoding="UTF-8" standalone="yes"?>
<Relationships xmlns="http://schemas.openxmlformats.org/package/2006/relationships"><Relationship Id="rId13" Type="http://schemas.openxmlformats.org/officeDocument/2006/relationships/image" Target="../media/image1110.png"/><Relationship Id="rId18" Type="http://schemas.openxmlformats.org/officeDocument/2006/relationships/image" Target="../media/image1160.png"/><Relationship Id="rId26" Type="http://schemas.openxmlformats.org/officeDocument/2006/relationships/image" Target="../media/image1240.png"/><Relationship Id="rId39" Type="http://schemas.openxmlformats.org/officeDocument/2006/relationships/image" Target="../media/image137.png"/><Relationship Id="rId21" Type="http://schemas.openxmlformats.org/officeDocument/2006/relationships/image" Target="../media/image1190.png"/><Relationship Id="rId34" Type="http://schemas.openxmlformats.org/officeDocument/2006/relationships/image" Target="../media/image132.png"/><Relationship Id="rId42" Type="http://schemas.openxmlformats.org/officeDocument/2006/relationships/image" Target="../media/image140.png"/><Relationship Id="rId47" Type="http://schemas.openxmlformats.org/officeDocument/2006/relationships/image" Target="../media/image145.png"/><Relationship Id="rId7" Type="http://schemas.openxmlformats.org/officeDocument/2006/relationships/image" Target="../media/image116.png"/><Relationship Id="rId2" Type="http://schemas.openxmlformats.org/officeDocument/2006/relationships/image" Target="../media/image109.jpeg"/><Relationship Id="rId16" Type="http://schemas.openxmlformats.org/officeDocument/2006/relationships/image" Target="../media/image1140.png"/><Relationship Id="rId29"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040.png"/><Relationship Id="rId11" Type="http://schemas.openxmlformats.org/officeDocument/2006/relationships/image" Target="../media/image1090.png"/><Relationship Id="rId24" Type="http://schemas.openxmlformats.org/officeDocument/2006/relationships/image" Target="../media/image1220.png"/><Relationship Id="rId32" Type="http://schemas.openxmlformats.org/officeDocument/2006/relationships/image" Target="../media/image130.png"/><Relationship Id="rId37" Type="http://schemas.openxmlformats.org/officeDocument/2006/relationships/image" Target="../media/image135.png"/><Relationship Id="rId40" Type="http://schemas.openxmlformats.org/officeDocument/2006/relationships/image" Target="../media/image138.png"/><Relationship Id="rId45" Type="http://schemas.openxmlformats.org/officeDocument/2006/relationships/image" Target="../media/image143.png"/><Relationship Id="rId5" Type="http://schemas.openxmlformats.org/officeDocument/2006/relationships/image" Target="../media/image1030.png"/><Relationship Id="rId15" Type="http://schemas.openxmlformats.org/officeDocument/2006/relationships/image" Target="../media/image1130.png"/><Relationship Id="rId23" Type="http://schemas.openxmlformats.org/officeDocument/2006/relationships/image" Target="../media/image1210.png"/><Relationship Id="rId28" Type="http://schemas.openxmlformats.org/officeDocument/2006/relationships/image" Target="../media/image126.png"/><Relationship Id="rId36" Type="http://schemas.openxmlformats.org/officeDocument/2006/relationships/image" Target="../media/image134.png"/><Relationship Id="rId10" Type="http://schemas.openxmlformats.org/officeDocument/2006/relationships/image" Target="../media/image1080.png"/><Relationship Id="rId19" Type="http://schemas.openxmlformats.org/officeDocument/2006/relationships/image" Target="../media/image1170.png"/><Relationship Id="rId31" Type="http://schemas.openxmlformats.org/officeDocument/2006/relationships/image" Target="../media/image129.png"/><Relationship Id="rId44" Type="http://schemas.openxmlformats.org/officeDocument/2006/relationships/image" Target="../media/image142.png"/><Relationship Id="rId4" Type="http://schemas.openxmlformats.org/officeDocument/2006/relationships/image" Target="../media/image1020.png"/><Relationship Id="rId9" Type="http://schemas.openxmlformats.org/officeDocument/2006/relationships/image" Target="../media/image1070.png"/><Relationship Id="rId14" Type="http://schemas.openxmlformats.org/officeDocument/2006/relationships/image" Target="../media/image1120.png"/><Relationship Id="rId22" Type="http://schemas.openxmlformats.org/officeDocument/2006/relationships/image" Target="../media/image1200.png"/><Relationship Id="rId27" Type="http://schemas.openxmlformats.org/officeDocument/2006/relationships/image" Target="../media/image125.png"/><Relationship Id="rId30" Type="http://schemas.openxmlformats.org/officeDocument/2006/relationships/image" Target="../media/image128.png"/><Relationship Id="rId35" Type="http://schemas.openxmlformats.org/officeDocument/2006/relationships/image" Target="../media/image133.png"/><Relationship Id="rId43" Type="http://schemas.openxmlformats.org/officeDocument/2006/relationships/image" Target="../media/image141.png"/><Relationship Id="rId48" Type="http://schemas.openxmlformats.org/officeDocument/2006/relationships/image" Target="../media/image146.png"/><Relationship Id="rId8" Type="http://schemas.openxmlformats.org/officeDocument/2006/relationships/image" Target="../media/image1060.png"/><Relationship Id="rId3" Type="http://schemas.openxmlformats.org/officeDocument/2006/relationships/image" Target="../media/image115.png"/><Relationship Id="rId12" Type="http://schemas.openxmlformats.org/officeDocument/2006/relationships/image" Target="../media/image1100.png"/><Relationship Id="rId17" Type="http://schemas.openxmlformats.org/officeDocument/2006/relationships/image" Target="../media/image1150.png"/><Relationship Id="rId25" Type="http://schemas.openxmlformats.org/officeDocument/2006/relationships/image" Target="../media/image1230.png"/><Relationship Id="rId33" Type="http://schemas.openxmlformats.org/officeDocument/2006/relationships/image" Target="../media/image131.png"/><Relationship Id="rId38" Type="http://schemas.openxmlformats.org/officeDocument/2006/relationships/image" Target="../media/image136.png"/><Relationship Id="rId46" Type="http://schemas.openxmlformats.org/officeDocument/2006/relationships/image" Target="../media/image144.png"/><Relationship Id="rId20" Type="http://schemas.openxmlformats.org/officeDocument/2006/relationships/image" Target="../media/image1180.PNG"/><Relationship Id="rId41" Type="http://schemas.openxmlformats.org/officeDocument/2006/relationships/image" Target="../media/image139.png"/></Relationships>
</file>

<file path=ppt/slides/_rels/slide2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8.png"/><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image" Target="../media/image122.png"/></Relationships>
</file>

<file path=ppt/slides/_rels/slide30.xml.rels><?xml version="1.0" encoding="UTF-8" standalone="yes"?>
<Relationships xmlns="http://schemas.openxmlformats.org/package/2006/relationships"><Relationship Id="rId3" Type="http://schemas.openxmlformats.org/officeDocument/2006/relationships/image" Target="../media/image147.png"/><Relationship Id="rId7" Type="http://schemas.openxmlformats.org/officeDocument/2006/relationships/image" Target="../media/image151.png"/><Relationship Id="rId2" Type="http://schemas.openxmlformats.org/officeDocument/2006/relationships/image" Target="../media/image124.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1.xml.rels><?xml version="1.0" encoding="UTF-8" standalone="yes"?>
<Relationships xmlns="http://schemas.openxmlformats.org/package/2006/relationships"><Relationship Id="rId3" Type="http://schemas.openxmlformats.org/officeDocument/2006/relationships/image" Target="../media/image153.png"/><Relationship Id="rId7" Type="http://schemas.openxmlformats.org/officeDocument/2006/relationships/image" Target="../media/image151.png"/><Relationship Id="rId2"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32.xml.rels><?xml version="1.0" encoding="UTF-8" standalone="yes"?>
<Relationships xmlns="http://schemas.openxmlformats.org/package/2006/relationships"><Relationship Id="rId8" Type="http://schemas.openxmlformats.org/officeDocument/2006/relationships/image" Target="../media/image157.jpeg"/><Relationship Id="rId3" Type="http://schemas.openxmlformats.org/officeDocument/2006/relationships/image" Target="../media/image109.jpeg"/><Relationship Id="rId7" Type="http://schemas.openxmlformats.org/officeDocument/2006/relationships/image" Target="../media/image11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NULL"/><Relationship Id="rId4" Type="http://schemas.openxmlformats.org/officeDocument/2006/relationships/image" Target="../media/image146.png"/></Relationships>
</file>

<file path=ppt/slides/_rels/slide33.xml.rels><?xml version="1.0" encoding="UTF-8" standalone="yes"?>
<Relationships xmlns="http://schemas.openxmlformats.org/package/2006/relationships"><Relationship Id="rId8" Type="http://schemas.openxmlformats.org/officeDocument/2006/relationships/image" Target="../media/image109.jpeg"/><Relationship Id="rId3" Type="http://schemas.openxmlformats.org/officeDocument/2006/relationships/image" Target="../media/image158.png"/><Relationship Id="rId7" Type="http://schemas.openxmlformats.org/officeDocument/2006/relationships/image" Target="../media/image15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 Id="rId9" Type="http://schemas.openxmlformats.org/officeDocument/2006/relationships/image" Target="../media/image162.png"/></Relationships>
</file>

<file path=ppt/slides/_rels/slide34.xml.rels><?xml version="1.0" encoding="UTF-8" standalone="yes"?>
<Relationships xmlns="http://schemas.openxmlformats.org/package/2006/relationships"><Relationship Id="rId8" Type="http://schemas.openxmlformats.org/officeDocument/2006/relationships/image" Target="../media/image109.jpeg"/><Relationship Id="rId3" Type="http://schemas.openxmlformats.org/officeDocument/2006/relationships/image" Target="../media/image163.png"/><Relationship Id="rId7" Type="http://schemas.openxmlformats.org/officeDocument/2006/relationships/image" Target="../media/image15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 Id="rId9" Type="http://schemas.openxmlformats.org/officeDocument/2006/relationships/image" Target="../media/image167.png"/></Relationships>
</file>

<file path=ppt/slides/_rels/slide3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09.jpeg"/><Relationship Id="rId5" Type="http://schemas.openxmlformats.org/officeDocument/2006/relationships/image" Target="../media/image169.png"/><Relationship Id="rId4" Type="http://schemas.openxmlformats.org/officeDocument/2006/relationships/image" Target="../media/image168.png"/></Relationships>
</file>

<file path=ppt/slides/_rels/slide3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1.png"/><Relationship Id="rId7" Type="http://schemas.openxmlformats.org/officeDocument/2006/relationships/image" Target="../media/image176.png"/><Relationship Id="rId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3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jpg"/><Relationship Id="rId1" Type="http://schemas.openxmlformats.org/officeDocument/2006/relationships/slideLayout" Target="../slideLayouts/slideLayout2.xml"/><Relationship Id="rId4" Type="http://schemas.microsoft.com/office/2007/relationships/hdphoto" Target="../media/hdphoto2.wdp"/></Relationships>
</file>

<file path=ppt/slides/_rels/slide4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slideLayout" Target="../slideLayouts/slideLayout2.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s>
</file>

<file path=ppt/slides/_rels/slide41.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40.png"/><Relationship Id="rId2" Type="http://schemas.openxmlformats.org/officeDocument/2006/relationships/image" Target="../media/image18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noGrp="1"/>
          </p:cNvSpPr>
          <p:nvPr>
            <p:ph type="ctrTitle"/>
          </p:nvPr>
        </p:nvSpPr>
        <p:spPr>
          <a:xfrm>
            <a:off x="791609" y="2274838"/>
            <a:ext cx="10468864" cy="2308324"/>
          </a:xfrm>
          <a:prstGeom prst="rect">
            <a:avLst/>
          </a:prstGeom>
          <a:noFill/>
        </p:spPr>
        <p:txBody>
          <a:bodyPr wrap="square" rtlCol="0">
            <a:spAutoFit/>
          </a:bodyPr>
          <a:lstStyle/>
          <a:p>
            <a:r>
              <a:rPr lang="zh-TW" altLang="en-US" sz="3600" dirty="0">
                <a:solidFill>
                  <a:schemeClr val="tx1"/>
                </a:solidFill>
                <a:latin typeface="Cambria Math" panose="02040503050406030204" pitchFamily="18" charset="0"/>
                <a:ea typeface="標楷體" panose="03000509000000000000" pitchFamily="65" charset="-120"/>
                <a:cs typeface="Times New Roman" panose="02020603050405020304" pitchFamily="18" charset="0"/>
              </a:rPr>
              <a:t>以非週期性晶疇極化反轉鈮酸鋰達成連續式或主動式</a:t>
            </a:r>
            <a:r>
              <a:rPr lang="en-US" altLang="zh-TW" sz="3600" dirty="0">
                <a:solidFill>
                  <a:schemeClr val="tx1"/>
                </a:solidFill>
                <a:latin typeface="Cambria Math" panose="02040503050406030204" pitchFamily="18" charset="0"/>
                <a:ea typeface="標楷體" panose="03000509000000000000" pitchFamily="65" charset="-120"/>
                <a:cs typeface="Times New Roman" panose="02020603050405020304" pitchFamily="18" charset="0"/>
              </a:rPr>
              <a:t>Q-</a:t>
            </a:r>
            <a:r>
              <a:rPr lang="zh-TW" altLang="en-US" sz="3600" dirty="0">
                <a:solidFill>
                  <a:schemeClr val="tx1"/>
                </a:solidFill>
                <a:latin typeface="Cambria Math" panose="02040503050406030204" pitchFamily="18" charset="0"/>
                <a:ea typeface="標楷體" panose="03000509000000000000" pitchFamily="65" charset="-120"/>
                <a:cs typeface="Times New Roman" panose="02020603050405020304" pitchFamily="18" charset="0"/>
              </a:rPr>
              <a:t>調制雙波長</a:t>
            </a:r>
            <a:r>
              <a:rPr lang="en-US" altLang="zh-TW" sz="3600" dirty="0">
                <a:latin typeface="Times New Roman" panose="02020603050405020304" pitchFamily="18" charset="0"/>
                <a:ea typeface="標楷體" panose="03000509000000000000" pitchFamily="65" charset="-120"/>
                <a:cs typeface="Times New Roman" panose="02020603050405020304" pitchFamily="18" charset="0"/>
              </a:rPr>
              <a:t>Nd:YVO</a:t>
            </a:r>
            <a:r>
              <a:rPr lang="en-US" altLang="zh-TW" sz="3600" baseline="-25000" dirty="0">
                <a:latin typeface="Times New Roman" panose="02020603050405020304" pitchFamily="18" charset="0"/>
                <a:ea typeface="標楷體" panose="03000509000000000000" pitchFamily="65" charset="-120"/>
                <a:cs typeface="Times New Roman" panose="02020603050405020304" pitchFamily="18" charset="0"/>
              </a:rPr>
              <a:t>4</a:t>
            </a:r>
            <a:r>
              <a:rPr lang="zh-TW" altLang="en-US" sz="3600" dirty="0">
                <a:solidFill>
                  <a:schemeClr val="tx1"/>
                </a:solidFill>
                <a:latin typeface="Cambria Math" panose="02040503050406030204" pitchFamily="18" charset="0"/>
                <a:ea typeface="標楷體" panose="03000509000000000000" pitchFamily="65" charset="-120"/>
                <a:cs typeface="Times New Roman" panose="02020603050405020304" pitchFamily="18" charset="0"/>
              </a:rPr>
              <a:t>雷射電光選頻之研究</a:t>
            </a:r>
            <a:br>
              <a:rPr lang="en-US" altLang="zh-TW" sz="3600" dirty="0">
                <a:solidFill>
                  <a:schemeClr val="tx1"/>
                </a:solidFill>
                <a:latin typeface="Cambria Math" panose="02040503050406030204" pitchFamily="18" charset="0"/>
                <a:ea typeface="標楷體" panose="03000509000000000000" pitchFamily="65" charset="-120"/>
                <a:cs typeface="Times New Roman" panose="02020603050405020304" pitchFamily="18" charset="0"/>
              </a:rPr>
            </a:br>
            <a:br>
              <a:rPr lang="en-US" altLang="zh-TW" sz="4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br>
            <a:r>
              <a:rPr lang="en-US" altLang="zh-TW" sz="2400" dirty="0">
                <a:solidFill>
                  <a:schemeClr val="tx1"/>
                </a:solidFill>
                <a:latin typeface="Times New Roman" panose="02020603050405020304" pitchFamily="18" charset="0"/>
                <a:cs typeface="Times New Roman" panose="02020603050405020304" pitchFamily="18" charset="0"/>
              </a:rPr>
              <a:t>Electro-optically laser line switchable in a dual-wavelength </a:t>
            </a:r>
            <a:r>
              <a:rPr lang="en-US" altLang="zh-TW" sz="2400" dirty="0" err="1">
                <a:solidFill>
                  <a:schemeClr val="tx1"/>
                </a:solidFill>
                <a:latin typeface="Times New Roman" panose="02020603050405020304" pitchFamily="18" charset="0"/>
                <a:cs typeface="Times New Roman" panose="02020603050405020304" pitchFamily="18" charset="0"/>
              </a:rPr>
              <a:t>cw</a:t>
            </a:r>
            <a:r>
              <a:rPr lang="en-US" altLang="zh-TW" sz="2400" dirty="0">
                <a:solidFill>
                  <a:schemeClr val="tx1"/>
                </a:solidFill>
                <a:latin typeface="Times New Roman" panose="02020603050405020304" pitchFamily="18" charset="0"/>
                <a:cs typeface="Times New Roman" panose="02020603050405020304" pitchFamily="18" charset="0"/>
              </a:rPr>
              <a:t>/Q-switched Nd:</a:t>
            </a:r>
            <a:r>
              <a:rPr lang="en-US" altLang="zh-TW" sz="2400" dirty="0">
                <a:latin typeface="Times New Roman" panose="02020603050405020304" pitchFamily="18" charset="0"/>
                <a:cs typeface="Times New Roman" panose="02020603050405020304" pitchFamily="18" charset="0"/>
              </a:rPr>
              <a:t>YVO</a:t>
            </a:r>
            <a:r>
              <a:rPr lang="en-US" altLang="zh-TW" sz="2400" baseline="-25000" dirty="0">
                <a:latin typeface="Times New Roman" panose="02020603050405020304" pitchFamily="18" charset="0"/>
                <a:cs typeface="Times New Roman" panose="02020603050405020304" pitchFamily="18" charset="0"/>
              </a:rPr>
              <a:t>4</a:t>
            </a:r>
            <a:r>
              <a:rPr lang="en-US" altLang="zh-TW" sz="2400" dirty="0">
                <a:solidFill>
                  <a:schemeClr val="tx1"/>
                </a:solidFill>
                <a:latin typeface="Times New Roman" panose="02020603050405020304" pitchFamily="18" charset="0"/>
                <a:cs typeface="Times New Roman" panose="02020603050405020304" pitchFamily="18" charset="0"/>
              </a:rPr>
              <a:t> laser based on </a:t>
            </a:r>
            <a:r>
              <a:rPr lang="en-US" altLang="zh-TW" sz="2400" dirty="0" err="1">
                <a:solidFill>
                  <a:schemeClr val="tx1"/>
                </a:solidFill>
                <a:latin typeface="Times New Roman" panose="02020603050405020304" pitchFamily="18" charset="0"/>
                <a:cs typeface="Times New Roman" panose="02020603050405020304" pitchFamily="18" charset="0"/>
              </a:rPr>
              <a:t>aperiodically</a:t>
            </a:r>
            <a:r>
              <a:rPr lang="en-US" altLang="zh-TW" sz="2400" dirty="0">
                <a:solidFill>
                  <a:schemeClr val="tx1"/>
                </a:solidFill>
                <a:latin typeface="Times New Roman" panose="02020603050405020304" pitchFamily="18" charset="0"/>
                <a:cs typeface="Times New Roman" panose="02020603050405020304" pitchFamily="18" charset="0"/>
              </a:rPr>
              <a:t> poled lithium </a:t>
            </a:r>
            <a:r>
              <a:rPr lang="en-US" altLang="zh-TW" sz="2400" dirty="0" err="1">
                <a:solidFill>
                  <a:schemeClr val="tx1"/>
                </a:solidFill>
                <a:latin typeface="Times New Roman" panose="02020603050405020304" pitchFamily="18" charset="0"/>
                <a:cs typeface="Times New Roman" panose="02020603050405020304" pitchFamily="18" charset="0"/>
              </a:rPr>
              <a:t>niobate</a:t>
            </a:r>
            <a:endParaRPr lang="en-US" altLang="zh-TW" sz="4000" dirty="0">
              <a:solidFill>
                <a:schemeClr val="tx1"/>
              </a:solidFill>
              <a:latin typeface="Times New Roman" panose="02020603050405020304" pitchFamily="18" charset="0"/>
              <a:cs typeface="Times New Roman" panose="02020603050405020304" pitchFamily="18"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3535" y="744980"/>
            <a:ext cx="3744464" cy="651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2978041" y="5996226"/>
            <a:ext cx="6096000" cy="861774"/>
          </a:xfrm>
          <a:prstGeom prst="rect">
            <a:avLst/>
          </a:prstGeom>
        </p:spPr>
        <p:txBody>
          <a:bodyPr>
            <a:spAutoFit/>
          </a:bodyPr>
          <a:lstStyle/>
          <a:p>
            <a:pPr algn="ctr"/>
            <a:r>
              <a:rPr lang="en-US" altLang="zh-TW" sz="1600" i="1" dirty="0">
                <a:latin typeface="Times New Roman" panose="02020603050405020304" pitchFamily="18" charset="0"/>
                <a:cs typeface="Times New Roman" panose="02020603050405020304" pitchFamily="18" charset="0"/>
              </a:rPr>
              <a:t>Nonlinear Integrated Laser Photonics (NILP</a:t>
            </a:r>
            <a:r>
              <a:rPr lang="en-US" altLang="zh-TW" sz="1600" dirty="0"/>
              <a:t>),</a:t>
            </a:r>
          </a:p>
          <a:p>
            <a:pPr algn="ctr"/>
            <a:r>
              <a:rPr lang="en-US" altLang="zh-TW" sz="1600" i="1" dirty="0">
                <a:latin typeface="Times New Roman" panose="02020603050405020304" pitchFamily="18" charset="0"/>
                <a:cs typeface="Times New Roman" panose="02020603050405020304" pitchFamily="18" charset="0"/>
              </a:rPr>
              <a:t>Department of Optics and Photonics,</a:t>
            </a:r>
          </a:p>
          <a:p>
            <a:pPr algn="ctr"/>
            <a:r>
              <a:rPr lang="en-US" altLang="zh-TW" sz="1600" i="1" dirty="0">
                <a:latin typeface="Times New Roman" panose="02020603050405020304" pitchFamily="18" charset="0"/>
                <a:cs typeface="Times New Roman" panose="02020603050405020304" pitchFamily="18" charset="0"/>
              </a:rPr>
              <a:t>National Central University,</a:t>
            </a:r>
            <a:r>
              <a:rPr lang="zh-TW" altLang="en-US" sz="1600" i="1" dirty="0">
                <a:latin typeface="Times New Roman" panose="02020603050405020304" pitchFamily="18" charset="0"/>
                <a:cs typeface="Times New Roman" panose="02020603050405020304" pitchFamily="18" charset="0"/>
              </a:rPr>
              <a:t> </a:t>
            </a:r>
            <a:r>
              <a:rPr lang="en-US" altLang="zh-TW" sz="1600" i="1" dirty="0" err="1">
                <a:latin typeface="Times New Roman" panose="02020603050405020304" pitchFamily="18" charset="0"/>
                <a:cs typeface="Times New Roman" panose="02020603050405020304" pitchFamily="18" charset="0"/>
              </a:rPr>
              <a:t>Jhongli</a:t>
            </a:r>
            <a:r>
              <a:rPr lang="zh-TW" altLang="en-US" sz="1600" i="1" dirty="0">
                <a:latin typeface="Times New Roman" panose="02020603050405020304" pitchFamily="18" charset="0"/>
                <a:cs typeface="Times New Roman" panose="02020603050405020304" pitchFamily="18" charset="0"/>
              </a:rPr>
              <a:t> </a:t>
            </a:r>
            <a:r>
              <a:rPr lang="en-US" altLang="zh-TW" sz="1600" i="1" dirty="0">
                <a:latin typeface="Times New Roman" panose="02020603050405020304" pitchFamily="18" charset="0"/>
                <a:cs typeface="Times New Roman" panose="02020603050405020304" pitchFamily="18" charset="0"/>
              </a:rPr>
              <a:t>320, Taiwan</a:t>
            </a:r>
          </a:p>
        </p:txBody>
      </p:sp>
      <p:grpSp>
        <p:nvGrpSpPr>
          <p:cNvPr id="13" name="群組 12">
            <a:extLst>
              <a:ext uri="{FF2B5EF4-FFF2-40B4-BE49-F238E27FC236}">
                <a16:creationId xmlns:a16="http://schemas.microsoft.com/office/drawing/2014/main" id="{77D13F49-C10A-4E97-AAC2-5E1E5AC6D343}"/>
              </a:ext>
            </a:extLst>
          </p:cNvPr>
          <p:cNvGrpSpPr/>
          <p:nvPr/>
        </p:nvGrpSpPr>
        <p:grpSpPr>
          <a:xfrm>
            <a:off x="539908" y="91243"/>
            <a:ext cx="1775790" cy="1816507"/>
            <a:chOff x="668831" y="150597"/>
            <a:chExt cx="1775790" cy="1816507"/>
          </a:xfrm>
        </p:grpSpPr>
        <p:pic>
          <p:nvPicPr>
            <p:cNvPr id="7" name="Picture 2" descr="「國立中央大學」的圖片搜尋結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831" y="150597"/>
              <a:ext cx="1775790" cy="615539"/>
            </a:xfrm>
            <a:prstGeom prst="rect">
              <a:avLst/>
            </a:prstGeom>
            <a:noFill/>
            <a:extLst>
              <a:ext uri="{909E8E84-426E-40DD-AFC4-6F175D3DCCD1}">
                <a14:hiddenFill xmlns:a14="http://schemas.microsoft.com/office/drawing/2010/main">
                  <a:solidFill>
                    <a:srgbClr val="FFFFFF"/>
                  </a:solidFill>
                </a14:hiddenFill>
              </a:ext>
            </a:extLst>
          </p:spPr>
        </p:pic>
        <p:pic>
          <p:nvPicPr>
            <p:cNvPr id="9" name="圖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8831" y="766136"/>
              <a:ext cx="1775790" cy="1200968"/>
            </a:xfrm>
            <a:prstGeom prst="rect">
              <a:avLst/>
            </a:prstGeom>
          </p:spPr>
        </p:pic>
      </p:grpSp>
      <p:sp>
        <p:nvSpPr>
          <p:cNvPr id="6" name="文字方塊 5">
            <a:extLst>
              <a:ext uri="{FF2B5EF4-FFF2-40B4-BE49-F238E27FC236}">
                <a16:creationId xmlns:a16="http://schemas.microsoft.com/office/drawing/2014/main" id="{EDE0E893-A8A0-41E0-9F07-920ABC375935}"/>
              </a:ext>
            </a:extLst>
          </p:cNvPr>
          <p:cNvSpPr txBox="1"/>
          <p:nvPr/>
        </p:nvSpPr>
        <p:spPr>
          <a:xfrm>
            <a:off x="4689204" y="4854132"/>
            <a:ext cx="2813591" cy="1015663"/>
          </a:xfrm>
          <a:prstGeom prst="rect">
            <a:avLst/>
          </a:prstGeom>
          <a:noFill/>
        </p:spPr>
        <p:txBody>
          <a:bodyPr wrap="none" rtlCol="0">
            <a:spAutoFit/>
          </a:bodyPr>
          <a:lstStyle/>
          <a:p>
            <a:pPr algn="ct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呂其孟</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Chi Meng Lu</a:t>
            </a:r>
          </a:p>
          <a:p>
            <a:pPr algn="ct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指導教授：陳彥宏 博士</a:t>
            </a:r>
          </a:p>
        </p:txBody>
      </p:sp>
      <p:cxnSp>
        <p:nvCxnSpPr>
          <p:cNvPr id="12" name="直線接點 11">
            <a:extLst>
              <a:ext uri="{FF2B5EF4-FFF2-40B4-BE49-F238E27FC236}">
                <a16:creationId xmlns:a16="http://schemas.microsoft.com/office/drawing/2014/main" id="{90C3A795-4CEC-42BC-9861-0E3AD37F2505}"/>
              </a:ext>
            </a:extLst>
          </p:cNvPr>
          <p:cNvCxnSpPr/>
          <p:nvPr/>
        </p:nvCxnSpPr>
        <p:spPr>
          <a:xfrm>
            <a:off x="-1" y="1986615"/>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58480531"/>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DFAD7452-8D87-47CF-8B7E-1FD18FB874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3058" y="3466489"/>
            <a:ext cx="2226351" cy="2226351"/>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D044739-1A8F-4926-B870-A0694FF19902}"/>
                  </a:ext>
                </a:extLst>
              </p:cNvPr>
              <p:cNvSpPr/>
              <p:nvPr/>
            </p:nvSpPr>
            <p:spPr>
              <a:xfrm>
                <a:off x="337373" y="655702"/>
                <a:ext cx="11333454" cy="5832366"/>
              </a:xfrm>
              <a:prstGeom prst="rect">
                <a:avLst/>
              </a:prstGeom>
            </p:spPr>
            <p:txBody>
              <a:bodyPr wrap="square">
                <a:spAutoFit/>
              </a:bodyPr>
              <a:lstStyle/>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Introduction</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Motivation</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Objective</a:t>
                </a:r>
              </a:p>
              <a:p>
                <a:pPr marL="800100" lvl="1" indent="-342900">
                  <a:buFont typeface="+mj-lt"/>
                  <a:buAutoNum type="arabicPeriod"/>
                </a:pPr>
                <a:endParaRPr lang="zh-TW" altLang="zh-TW" sz="900" kern="100" dirty="0">
                  <a:solidFill>
                    <a:schemeClr val="tx1"/>
                  </a:solidFill>
                  <a:latin typeface="Calibri" panose="020F0502020204030204" pitchFamily="34" charset="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Working principles</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Gain medium</a:t>
                </a:r>
                <a:r>
                  <a:rPr lang="zh-TW" altLang="en-US" sz="1600" b="1" i="1" kern="100" dirty="0">
                    <a:solidFill>
                      <a:schemeClr val="tx1"/>
                    </a:solidFill>
                    <a:latin typeface="標楷體" panose="03000509000000000000" pitchFamily="65" charset="-120"/>
                    <a:ea typeface="標楷體" panose="03000509000000000000" pitchFamily="65" charset="-120"/>
                    <a:cs typeface="Times New Roman" panose="02020603050405020304" pitchFamily="18" charset="0"/>
                  </a:rPr>
                  <a:t>：</a:t>
                </a:r>
                <a14:m>
                  <m:oMath xmlns:m="http://schemas.openxmlformats.org/officeDocument/2006/math">
                    <m:sSub>
                      <m:sSubPr>
                        <m:ctrlPr>
                          <a:rPr lang="en-US" altLang="zh-TW" sz="1600" b="1" i="1" kern="10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600" b="1" i="1" kern="10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𝑵𝒅</m:t>
                        </m:r>
                        <m:r>
                          <a:rPr lang="en-US" altLang="zh-TW" sz="1600" b="1" i="1" kern="10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𝒀𝑽𝑶</m:t>
                        </m:r>
                      </m:e>
                      <m:sub>
                        <m:r>
                          <a:rPr lang="en-US" altLang="zh-TW" sz="1600" b="1" i="1" kern="10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𝟒</m:t>
                        </m:r>
                      </m:sub>
                    </m:sSub>
                  </m:oMath>
                </a14:m>
                <a:endPar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Electro-Optic Effect</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Q-switching</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SFG</a:t>
                </a:r>
              </a:p>
              <a:p>
                <a:pPr marL="800100" lvl="1" indent="-342900">
                  <a:buFont typeface="+mj-lt"/>
                  <a:buAutoNum type="arabicPeriod"/>
                </a:pPr>
                <a:endParaRPr lang="zh-TW" altLang="zh-TW" sz="9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Device Design and Simulation Results</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Simulated Annealing Method</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Dual-wavelength Electro-Optic polarization rotation</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Simulation Results</a:t>
                </a:r>
              </a:p>
              <a:p>
                <a:pPr marL="800100" lvl="1" indent="-342900">
                  <a:buFont typeface="+mj-lt"/>
                  <a:buAutoNum type="arabicPeriod"/>
                </a:pPr>
                <a:endParaRPr lang="zh-TW" altLang="zh-TW" sz="900" kern="100" dirty="0">
                  <a:solidFill>
                    <a:schemeClr val="tx1"/>
                  </a:solidFill>
                  <a:latin typeface="Calibri" panose="020F0502020204030204" pitchFamily="34" charset="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Device Fabrication</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Fabrication process of EO APPLN</a:t>
                </a:r>
                <a:endParaRPr lang="zh-TW" altLang="zh-TW" sz="1200" kern="100" dirty="0">
                  <a:solidFill>
                    <a:schemeClr val="tx1"/>
                  </a:solidFill>
                  <a:latin typeface="Calibri" panose="020F0502020204030204" pitchFamily="34" charset="0"/>
                  <a:cs typeface="Times New Roman" panose="02020603050405020304" pitchFamily="18" charset="0"/>
                </a:endParaRPr>
              </a:p>
              <a:p>
                <a:pPr lvl="1"/>
                <a:endParaRPr lang="zh-TW" altLang="zh-TW" sz="900" strike="sngStrike" kern="100" dirty="0">
                  <a:solidFill>
                    <a:schemeClr val="tx1"/>
                  </a:solidFill>
                  <a:latin typeface="Calibri" panose="020F0502020204030204" pitchFamily="34" charset="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Experimental Setup and Results Analysis</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Single pass measurement </a:t>
                </a: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CW operation</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Q-switched operation</a:t>
                </a:r>
              </a:p>
              <a:p>
                <a:pPr marL="800100" lvl="1" indent="-342900">
                  <a:buFont typeface="+mj-lt"/>
                  <a:buAutoNum type="arabicPeriod"/>
                </a:pPr>
                <a:endParaRPr lang="zh-TW" altLang="zh-TW" sz="900" kern="100" dirty="0">
                  <a:solidFill>
                    <a:schemeClr val="tx1"/>
                  </a:solidFill>
                  <a:latin typeface="Calibri" panose="020F0502020204030204" pitchFamily="34" charset="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Conclusions and Future work</a:t>
                </a:r>
                <a:endParaRPr lang="zh-TW" altLang="zh-TW" sz="1100" kern="100" dirty="0">
                  <a:solidFill>
                    <a:schemeClr val="tx1"/>
                  </a:solidFill>
                  <a:latin typeface="Calibri" panose="020F0502020204030204" pitchFamily="34"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4D044739-1A8F-4926-B870-A0694FF19902}"/>
                  </a:ext>
                </a:extLst>
              </p:cNvPr>
              <p:cNvSpPr>
                <a:spLocks noRot="1" noChangeAspect="1" noMove="1" noResize="1" noEditPoints="1" noAdjustHandles="1" noChangeArrowheads="1" noChangeShapeType="1" noTextEdit="1"/>
              </p:cNvSpPr>
              <p:nvPr/>
            </p:nvSpPr>
            <p:spPr>
              <a:xfrm>
                <a:off x="337373" y="655702"/>
                <a:ext cx="11333454" cy="5832366"/>
              </a:xfrm>
              <a:prstGeom prst="rect">
                <a:avLst/>
              </a:prstGeom>
              <a:blipFill>
                <a:blip r:embed="rId4"/>
                <a:stretch>
                  <a:fillRect l="-430" t="-732" b="-941"/>
                </a:stretch>
              </a:blipFill>
            </p:spPr>
            <p:txBody>
              <a:bodyPr/>
              <a:lstStyle/>
              <a:p>
                <a:r>
                  <a:rPr lang="zh-TW" altLang="en-US">
                    <a:noFill/>
                  </a:rPr>
                  <a:t> </a:t>
                </a:r>
              </a:p>
            </p:txBody>
          </p:sp>
        </mc:Fallback>
      </mc:AlternateContent>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1620957"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Outline</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B35BAF15-748F-4B0E-BFC8-C404EEF49683}"/>
              </a:ext>
            </a:extLst>
          </p:cNvPr>
          <p:cNvSpPr>
            <a:spLocks noGrp="1"/>
          </p:cNvSpPr>
          <p:nvPr>
            <p:ph type="sldNum" sz="quarter" idx="12"/>
          </p:nvPr>
        </p:nvSpPr>
        <p:spPr/>
        <p:txBody>
          <a:bodyPr/>
          <a:lstStyle/>
          <a:p>
            <a:fld id="{9044CBB6-E20C-4076-82F9-F8F95241C54D}" type="slidenum">
              <a:rPr lang="zh-TW" altLang="en-US" smtClean="0">
                <a:solidFill>
                  <a:schemeClr val="tx1"/>
                </a:solidFill>
              </a:rPr>
              <a:t>2</a:t>
            </a:fld>
            <a:endParaRPr lang="zh-TW" altLang="en-US" dirty="0">
              <a:solidFill>
                <a:schemeClr val="tx1"/>
              </a:solidFill>
            </a:endParaRPr>
          </a:p>
        </p:txBody>
      </p:sp>
      <p:pic>
        <p:nvPicPr>
          <p:cNvPr id="6" name="圖片 5">
            <a:extLst>
              <a:ext uri="{FF2B5EF4-FFF2-40B4-BE49-F238E27FC236}">
                <a16:creationId xmlns:a16="http://schemas.microsoft.com/office/drawing/2014/main" id="{E1AF891A-659F-4BF8-B128-1EF6B08A5B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88041" y="3335486"/>
            <a:ext cx="3317812" cy="2488359"/>
          </a:xfrm>
          <a:prstGeom prst="rect">
            <a:avLst/>
          </a:prstGeom>
        </p:spPr>
      </p:pic>
      <p:pic>
        <p:nvPicPr>
          <p:cNvPr id="7" name="圖片 6">
            <a:extLst>
              <a:ext uri="{FF2B5EF4-FFF2-40B4-BE49-F238E27FC236}">
                <a16:creationId xmlns:a16="http://schemas.microsoft.com/office/drawing/2014/main" id="{A3FFEB29-68C4-4596-BE13-8A5DC7530D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8099" y="824742"/>
            <a:ext cx="3528753" cy="2389617"/>
          </a:xfrm>
          <a:prstGeom prst="rect">
            <a:avLst/>
          </a:prstGeom>
        </p:spPr>
      </p:pic>
      <p:pic>
        <p:nvPicPr>
          <p:cNvPr id="10" name="Picture 2" descr="https://scontent.xx.fbcdn.net/v/t35.0-12/18926362_10213084281410610_597485951_o.jpg?oh=32a4942d443050c0d576527d420552b7&amp;oe=5937BF7E">
            <a:extLst>
              <a:ext uri="{FF2B5EF4-FFF2-40B4-BE49-F238E27FC236}">
                <a16:creationId xmlns:a16="http://schemas.microsoft.com/office/drawing/2014/main" id="{F8A76314-C417-4701-B575-5B1199A8A8EA}"/>
              </a:ext>
            </a:extLst>
          </p:cNvPr>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8867787" y="786554"/>
            <a:ext cx="3071672" cy="2488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090998"/>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1620957"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Outline</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63995C1-5AF1-4891-A15C-C0FCCC11B659}"/>
              </a:ext>
            </a:extLst>
          </p:cNvPr>
          <p:cNvSpPr>
            <a:spLocks noGrp="1"/>
          </p:cNvSpPr>
          <p:nvPr>
            <p:ph type="sldNum" sz="quarter" idx="12"/>
          </p:nvPr>
        </p:nvSpPr>
        <p:spPr/>
        <p:txBody>
          <a:bodyPr/>
          <a:lstStyle/>
          <a:p>
            <a:fld id="{9044CBB6-E20C-4076-82F9-F8F95241C54D}" type="slidenum">
              <a:rPr lang="zh-TW" altLang="en-US" smtClean="0">
                <a:solidFill>
                  <a:schemeClr val="tx1"/>
                </a:solidFill>
              </a:rPr>
              <a:t>3</a:t>
            </a:fld>
            <a:endParaRPr lang="zh-TW" altLang="en-US">
              <a:solidFill>
                <a:schemeClr val="tx1"/>
              </a:solidFill>
            </a:endParaRPr>
          </a:p>
        </p:txBody>
      </p:sp>
      <p:sp>
        <p:nvSpPr>
          <p:cNvPr id="9" name="矩形 8">
            <a:extLst>
              <a:ext uri="{FF2B5EF4-FFF2-40B4-BE49-F238E27FC236}">
                <a16:creationId xmlns:a16="http://schemas.microsoft.com/office/drawing/2014/main" id="{C73E051F-8722-4C36-9A20-F6BFA0E303E9}"/>
              </a:ext>
            </a:extLst>
          </p:cNvPr>
          <p:cNvSpPr/>
          <p:nvPr/>
        </p:nvSpPr>
        <p:spPr>
          <a:xfrm>
            <a:off x="339809" y="726726"/>
            <a:ext cx="6096000" cy="892552"/>
          </a:xfrm>
          <a:prstGeom prst="rect">
            <a:avLst/>
          </a:prstGeom>
        </p:spPr>
        <p:txBody>
          <a:bodyPr>
            <a:spAutoFit/>
          </a:bodyPr>
          <a:lstStyle/>
          <a:p>
            <a:pPr marL="342900" lvl="0" indent="-342900">
              <a:spcAft>
                <a:spcPts val="0"/>
              </a:spcAft>
              <a:buFont typeface="+mj-lt"/>
              <a:buAutoNum type="romanLcPeriod"/>
            </a:pPr>
            <a:r>
              <a:rPr lang="en-US" altLang="zh-TW" sz="2000" b="1" kern="100" dirty="0">
                <a:latin typeface="Times New Roman" panose="02020603050405020304" pitchFamily="18" charset="0"/>
                <a:ea typeface="標楷體" panose="03000509000000000000" pitchFamily="65" charset="-120"/>
                <a:cs typeface="Times New Roman" panose="02020603050405020304" pitchFamily="18" charset="0"/>
              </a:rPr>
              <a:t>Introduction</a:t>
            </a:r>
            <a:endParaRPr lang="zh-TW" altLang="zh-TW" sz="1100" kern="100" dirty="0">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Motivation</a:t>
            </a:r>
            <a:endParaRPr lang="zh-TW" altLang="zh-TW" sz="1200" kern="100" dirty="0">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Objective</a:t>
            </a:r>
          </a:p>
        </p:txBody>
      </p:sp>
      <p:pic>
        <p:nvPicPr>
          <p:cNvPr id="7" name="Picture 2" descr="https://scontent.xx.fbcdn.net/v/t35.0-12/18926362_10213084281410610_597485951_o.jpg?oh=32a4942d443050c0d576527d420552b7&amp;oe=5937BF7E">
            <a:extLst>
              <a:ext uri="{FF2B5EF4-FFF2-40B4-BE49-F238E27FC236}">
                <a16:creationId xmlns:a16="http://schemas.microsoft.com/office/drawing/2014/main" id="{FAB5158D-AA7A-4A24-8847-D71A8B04D108}"/>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8867787" y="786554"/>
            <a:ext cx="3071672" cy="2488368"/>
          </a:xfrm>
          <a:prstGeom prst="rect">
            <a:avLst/>
          </a:prstGeom>
          <a:noFill/>
          <a:extLst>
            <a:ext uri="{909E8E84-426E-40DD-AFC4-6F175D3DCCD1}">
              <a14:hiddenFill xmlns:a14="http://schemas.microsoft.com/office/drawing/2010/main">
                <a:solidFill>
                  <a:srgbClr val="FFFFFF"/>
                </a:solidFill>
              </a14:hiddenFill>
            </a:ext>
          </a:extLst>
        </p:spPr>
      </p:pic>
      <p:pic>
        <p:nvPicPr>
          <p:cNvPr id="8" name="圖片 7">
            <a:extLst>
              <a:ext uri="{FF2B5EF4-FFF2-40B4-BE49-F238E27FC236}">
                <a16:creationId xmlns:a16="http://schemas.microsoft.com/office/drawing/2014/main" id="{69AB5516-4823-4750-BCDE-A7AC912DEA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8099" y="824742"/>
            <a:ext cx="3528753" cy="2389617"/>
          </a:xfrm>
          <a:prstGeom prst="rect">
            <a:avLst/>
          </a:prstGeom>
        </p:spPr>
      </p:pic>
      <p:pic>
        <p:nvPicPr>
          <p:cNvPr id="10" name="圖片 9">
            <a:extLst>
              <a:ext uri="{FF2B5EF4-FFF2-40B4-BE49-F238E27FC236}">
                <a16:creationId xmlns:a16="http://schemas.microsoft.com/office/drawing/2014/main" id="{13AC932C-2819-4F58-9E0F-4BE8ED09C9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3058" y="3466489"/>
            <a:ext cx="2226351" cy="2226351"/>
          </a:xfrm>
          <a:prstGeom prst="rect">
            <a:avLst/>
          </a:prstGeom>
        </p:spPr>
      </p:pic>
      <p:pic>
        <p:nvPicPr>
          <p:cNvPr id="11" name="圖片 10">
            <a:extLst>
              <a:ext uri="{FF2B5EF4-FFF2-40B4-BE49-F238E27FC236}">
                <a16:creationId xmlns:a16="http://schemas.microsoft.com/office/drawing/2014/main" id="{41988B5E-2454-4D3A-A3D9-9DEC02A021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88041" y="3335486"/>
            <a:ext cx="3317812" cy="2488359"/>
          </a:xfrm>
          <a:prstGeom prst="rect">
            <a:avLst/>
          </a:prstGeom>
        </p:spPr>
      </p:pic>
    </p:spTree>
    <p:extLst>
      <p:ext uri="{BB962C8B-B14F-4D97-AF65-F5344CB8AC3E}">
        <p14:creationId xmlns:p14="http://schemas.microsoft.com/office/powerpoint/2010/main" val="22129554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2262158"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Motivation</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文字方塊 6">
            <a:extLst>
              <a:ext uri="{FF2B5EF4-FFF2-40B4-BE49-F238E27FC236}">
                <a16:creationId xmlns:a16="http://schemas.microsoft.com/office/drawing/2014/main" id="{FB76ECAC-F228-4DC1-B8A9-EA31A05DD3FB}"/>
              </a:ext>
            </a:extLst>
          </p:cNvPr>
          <p:cNvSpPr txBox="1"/>
          <p:nvPr/>
        </p:nvSpPr>
        <p:spPr>
          <a:xfrm>
            <a:off x="727969" y="725990"/>
            <a:ext cx="1665841" cy="369332"/>
          </a:xfrm>
          <a:prstGeom prst="rect">
            <a:avLst/>
          </a:prstGeom>
          <a:noFill/>
        </p:spPr>
        <p:txBody>
          <a:bodyPr wrap="none" rtlCol="0">
            <a:spAutoFit/>
          </a:bodyPr>
          <a:lstStyle/>
          <a:p>
            <a:pPr marL="285750" indent="-285750">
              <a:buFont typeface="Arial" panose="020B0604020202020204" pitchFamily="34" charset="0"/>
              <a:buChar char="•"/>
            </a:pPr>
            <a:r>
              <a:rPr lang="en-US" altLang="zh-TW" b="1" i="1" dirty="0">
                <a:latin typeface="Times New Roman" panose="02020603050405020304" pitchFamily="18" charset="0"/>
                <a:ea typeface="標楷體" panose="03000509000000000000" pitchFamily="65" charset="-120"/>
                <a:cs typeface="Times New Roman" panose="02020603050405020304" pitchFamily="18" charset="0"/>
              </a:rPr>
              <a:t>Applications</a:t>
            </a:r>
            <a:endParaRPr lang="zh-TW" altLang="en-US" b="1" i="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510A12-1C4D-4C40-A0EF-BC07B3A81FC8}"/>
              </a:ext>
            </a:extLst>
          </p:cNvPr>
          <p:cNvSpPr>
            <a:spLocks noGrp="1"/>
          </p:cNvSpPr>
          <p:nvPr>
            <p:ph type="sldNum" sz="quarter" idx="12"/>
          </p:nvPr>
        </p:nvSpPr>
        <p:spPr/>
        <p:txBody>
          <a:bodyPr/>
          <a:lstStyle/>
          <a:p>
            <a:fld id="{9044CBB6-E20C-4076-82F9-F8F95241C54D}" type="slidenum">
              <a:rPr lang="zh-TW" altLang="en-US" smtClean="0">
                <a:solidFill>
                  <a:schemeClr val="tx1"/>
                </a:solidFill>
              </a:rPr>
              <a:t>4</a:t>
            </a:fld>
            <a:endParaRPr lang="zh-TW" altLang="en-US">
              <a:solidFill>
                <a:schemeClr val="tx1"/>
              </a:solidFill>
            </a:endParaRPr>
          </a:p>
        </p:txBody>
      </p:sp>
      <p:pic>
        <p:nvPicPr>
          <p:cNvPr id="9" name="圖片 8">
            <a:extLst>
              <a:ext uri="{FF2B5EF4-FFF2-40B4-BE49-F238E27FC236}">
                <a16:creationId xmlns:a16="http://schemas.microsoft.com/office/drawing/2014/main" id="{66C0CA3A-D830-47D3-8E8B-B98E5F200E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488" y="1481825"/>
            <a:ext cx="2338319" cy="1805902"/>
          </a:xfrm>
          <a:prstGeom prst="rect">
            <a:avLst/>
          </a:prstGeom>
        </p:spPr>
      </p:pic>
      <p:pic>
        <p:nvPicPr>
          <p:cNvPr id="11" name="圖片 10">
            <a:extLst>
              <a:ext uri="{FF2B5EF4-FFF2-40B4-BE49-F238E27FC236}">
                <a16:creationId xmlns:a16="http://schemas.microsoft.com/office/drawing/2014/main" id="{178DE5A5-AC2B-408F-A4D5-E427CFA9F6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0128" y="1497827"/>
            <a:ext cx="2338319" cy="1773897"/>
          </a:xfrm>
          <a:prstGeom prst="rect">
            <a:avLst/>
          </a:prstGeom>
        </p:spPr>
      </p:pic>
      <p:sp>
        <p:nvSpPr>
          <p:cNvPr id="14" name="矩形 13">
            <a:extLst>
              <a:ext uri="{FF2B5EF4-FFF2-40B4-BE49-F238E27FC236}">
                <a16:creationId xmlns:a16="http://schemas.microsoft.com/office/drawing/2014/main" id="{DC383F42-806F-46B3-902C-152D7266E924}"/>
              </a:ext>
            </a:extLst>
          </p:cNvPr>
          <p:cNvSpPr/>
          <p:nvPr/>
        </p:nvSpPr>
        <p:spPr>
          <a:xfrm>
            <a:off x="818712" y="3474788"/>
            <a:ext cx="4342831" cy="584775"/>
          </a:xfrm>
          <a:prstGeom prst="rect">
            <a:avLst/>
          </a:prstGeom>
          <a:ln>
            <a:solidFill>
              <a:schemeClr val="tx1"/>
            </a:solidFill>
          </a:ln>
        </p:spPr>
        <p:txBody>
          <a:bodyPr wrap="square">
            <a:spAutoFit/>
          </a:bodyPr>
          <a:lstStyle/>
          <a:p>
            <a:pPr algn="ct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Tunable alternate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Dual</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-wavelength for differential absorption lidar (DIAL) systems</a:t>
            </a:r>
          </a:p>
        </p:txBody>
      </p:sp>
      <p:sp>
        <p:nvSpPr>
          <p:cNvPr id="16" name="矩形 15">
            <a:extLst>
              <a:ext uri="{FF2B5EF4-FFF2-40B4-BE49-F238E27FC236}">
                <a16:creationId xmlns:a16="http://schemas.microsoft.com/office/drawing/2014/main" id="{445FFB2A-9E45-470E-AB2F-2955074210EA}"/>
              </a:ext>
            </a:extLst>
          </p:cNvPr>
          <p:cNvSpPr/>
          <p:nvPr/>
        </p:nvSpPr>
        <p:spPr>
          <a:xfrm>
            <a:off x="1658674" y="1125794"/>
            <a:ext cx="2662908" cy="338554"/>
          </a:xfrm>
          <a:prstGeom prst="rect">
            <a:avLst/>
          </a:prstGeom>
          <a:ln>
            <a:solidFill>
              <a:schemeClr val="tx1"/>
            </a:solidFill>
          </a:ln>
        </p:spPr>
        <p:txBody>
          <a:bodyPr wrap="none">
            <a:spAutoFit/>
          </a:bodyPr>
          <a:lstStyle/>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Dual-wavelength Raman lidar</a:t>
            </a:r>
          </a:p>
        </p:txBody>
      </p:sp>
      <p:pic>
        <p:nvPicPr>
          <p:cNvPr id="22" name="圖片 21">
            <a:extLst>
              <a:ext uri="{FF2B5EF4-FFF2-40B4-BE49-F238E27FC236}">
                <a16:creationId xmlns:a16="http://schemas.microsoft.com/office/drawing/2014/main" id="{2A6B659E-389A-4F35-88FB-2FB57E5202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1859" y="4132543"/>
            <a:ext cx="2836536" cy="1824001"/>
          </a:xfrm>
          <a:prstGeom prst="rect">
            <a:avLst/>
          </a:prstGeom>
        </p:spPr>
      </p:pic>
      <p:sp>
        <p:nvSpPr>
          <p:cNvPr id="28" name="矩形 27">
            <a:extLst>
              <a:ext uri="{FF2B5EF4-FFF2-40B4-BE49-F238E27FC236}">
                <a16:creationId xmlns:a16="http://schemas.microsoft.com/office/drawing/2014/main" id="{28625D31-BCD5-4F50-99F7-B49AA2297651}"/>
              </a:ext>
            </a:extLst>
          </p:cNvPr>
          <p:cNvSpPr/>
          <p:nvPr/>
        </p:nvSpPr>
        <p:spPr>
          <a:xfrm>
            <a:off x="524609" y="5956544"/>
            <a:ext cx="4931036" cy="307777"/>
          </a:xfrm>
          <a:prstGeom prst="rect">
            <a:avLst/>
          </a:prstGeom>
        </p:spPr>
        <p:txBody>
          <a:bodyPr wrap="square">
            <a:spAutoFit/>
          </a:bodyPr>
          <a:lstStyle/>
          <a:p>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Mattis, Ina, et al. Geophysical Research Letters 29.9</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P.20-1</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(2002)</a:t>
            </a:r>
          </a:p>
        </p:txBody>
      </p:sp>
      <p:sp>
        <p:nvSpPr>
          <p:cNvPr id="32" name="矩形 31">
            <a:extLst>
              <a:ext uri="{FF2B5EF4-FFF2-40B4-BE49-F238E27FC236}">
                <a16:creationId xmlns:a16="http://schemas.microsoft.com/office/drawing/2014/main" id="{7CC08A1D-9EC6-4982-A737-A0E1362030CB}"/>
              </a:ext>
            </a:extLst>
          </p:cNvPr>
          <p:cNvSpPr/>
          <p:nvPr/>
        </p:nvSpPr>
        <p:spPr>
          <a:xfrm>
            <a:off x="-1" y="6264321"/>
            <a:ext cx="5920740" cy="307777"/>
          </a:xfrm>
          <a:prstGeom prst="rect">
            <a:avLst/>
          </a:prstGeom>
        </p:spPr>
        <p:txBody>
          <a:bodyPr wrap="square">
            <a:spAutoFit/>
          </a:bodyPr>
          <a:lstStyle/>
          <a:p>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Dai Hung, Nguyen, and P. Brechignac. Applied optics 27.10</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P.1906-1908</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(1988)</a:t>
            </a:r>
          </a:p>
        </p:txBody>
      </p:sp>
      <p:sp>
        <p:nvSpPr>
          <p:cNvPr id="34" name="矩形 33">
            <a:extLst>
              <a:ext uri="{FF2B5EF4-FFF2-40B4-BE49-F238E27FC236}">
                <a16:creationId xmlns:a16="http://schemas.microsoft.com/office/drawing/2014/main" id="{5E41C1A5-B8F6-4943-A7E4-6298E034D352}"/>
              </a:ext>
            </a:extLst>
          </p:cNvPr>
          <p:cNvSpPr/>
          <p:nvPr/>
        </p:nvSpPr>
        <p:spPr>
          <a:xfrm>
            <a:off x="7523565" y="5503803"/>
            <a:ext cx="2398413" cy="307777"/>
          </a:xfrm>
          <a:prstGeom prst="rect">
            <a:avLst/>
          </a:prstGeom>
        </p:spPr>
        <p:txBody>
          <a:bodyPr wrap="none">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http://picosure.line88.tw/2018/</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36" name="圖片 35">
            <a:extLst>
              <a:ext uri="{FF2B5EF4-FFF2-40B4-BE49-F238E27FC236}">
                <a16:creationId xmlns:a16="http://schemas.microsoft.com/office/drawing/2014/main" id="{C425DC5F-EF33-430C-8B6D-4C73475D409F}"/>
              </a:ext>
            </a:extLst>
          </p:cNvPr>
          <p:cNvPicPr>
            <a:picLocks noChangeAspect="1"/>
          </p:cNvPicPr>
          <p:nvPr/>
        </p:nvPicPr>
        <p:blipFill rotWithShape="1">
          <a:blip r:embed="rId6">
            <a:extLst>
              <a:ext uri="{28A0092B-C50C-407E-A947-70E740481C1C}">
                <a14:useLocalDpi xmlns:a14="http://schemas.microsoft.com/office/drawing/2010/main" val="0"/>
              </a:ext>
            </a:extLst>
          </a:blip>
          <a:srcRect t="4127" b="6679"/>
          <a:stretch/>
        </p:blipFill>
        <p:spPr>
          <a:xfrm>
            <a:off x="9019998" y="2393954"/>
            <a:ext cx="1924404" cy="2202403"/>
          </a:xfrm>
          <a:prstGeom prst="rect">
            <a:avLst/>
          </a:prstGeom>
        </p:spPr>
      </p:pic>
      <p:pic>
        <p:nvPicPr>
          <p:cNvPr id="37" name="Picture 4">
            <a:extLst>
              <a:ext uri="{FF2B5EF4-FFF2-40B4-BE49-F238E27FC236}">
                <a16:creationId xmlns:a16="http://schemas.microsoft.com/office/drawing/2014/main" id="{90806131-CE4C-4079-9ACB-3BC6E0D7904C}"/>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6175771" y="2735921"/>
            <a:ext cx="2657574" cy="1610499"/>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pic>
      <p:sp>
        <p:nvSpPr>
          <p:cNvPr id="38" name="矩形 37">
            <a:extLst>
              <a:ext uri="{FF2B5EF4-FFF2-40B4-BE49-F238E27FC236}">
                <a16:creationId xmlns:a16="http://schemas.microsoft.com/office/drawing/2014/main" id="{F74965FD-A271-47C4-A371-D8D143E66FE5}"/>
              </a:ext>
            </a:extLst>
          </p:cNvPr>
          <p:cNvSpPr/>
          <p:nvPr/>
        </p:nvSpPr>
        <p:spPr>
          <a:xfrm>
            <a:off x="7474096" y="5811580"/>
            <a:ext cx="2497350" cy="307777"/>
          </a:xfrm>
          <a:prstGeom prst="rect">
            <a:avLst/>
          </a:prstGeom>
        </p:spPr>
        <p:txBody>
          <a:bodyPr wrap="none">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http://www.belovedorange.com/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9" name="矩形 38">
            <a:extLst>
              <a:ext uri="{FF2B5EF4-FFF2-40B4-BE49-F238E27FC236}">
                <a16:creationId xmlns:a16="http://schemas.microsoft.com/office/drawing/2014/main" id="{40171277-6F69-4553-AB14-5949F2AD1940}"/>
              </a:ext>
            </a:extLst>
          </p:cNvPr>
          <p:cNvSpPr/>
          <p:nvPr/>
        </p:nvSpPr>
        <p:spPr>
          <a:xfrm>
            <a:off x="6062659" y="1690115"/>
            <a:ext cx="5301067" cy="338554"/>
          </a:xfrm>
          <a:prstGeom prst="rect">
            <a:avLst/>
          </a:prstGeom>
          <a:ln>
            <a:solidFill>
              <a:schemeClr val="tx1"/>
            </a:solidFill>
          </a:ln>
        </p:spPr>
        <p:txBody>
          <a:bodyPr wrap="none">
            <a:spAutoFit/>
          </a:bodyPr>
          <a:lstStyle/>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Biomedical Technology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using</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coherent yellow/orange sources</a:t>
            </a:r>
          </a:p>
        </p:txBody>
      </p:sp>
    </p:spTree>
    <p:extLst>
      <p:ext uri="{BB962C8B-B14F-4D97-AF65-F5344CB8AC3E}">
        <p14:creationId xmlns:p14="http://schemas.microsoft.com/office/powerpoint/2010/main" val="915745551"/>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2262158"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Motivation</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文字方塊 6">
            <a:extLst>
              <a:ext uri="{FF2B5EF4-FFF2-40B4-BE49-F238E27FC236}">
                <a16:creationId xmlns:a16="http://schemas.microsoft.com/office/drawing/2014/main" id="{FB76ECAC-F228-4DC1-B8A9-EA31A05DD3FB}"/>
              </a:ext>
            </a:extLst>
          </p:cNvPr>
          <p:cNvSpPr txBox="1"/>
          <p:nvPr/>
        </p:nvSpPr>
        <p:spPr>
          <a:xfrm>
            <a:off x="727969" y="725990"/>
            <a:ext cx="1514197" cy="369332"/>
          </a:xfrm>
          <a:prstGeom prst="rect">
            <a:avLst/>
          </a:prstGeom>
          <a:noFill/>
        </p:spPr>
        <p:txBody>
          <a:bodyPr wrap="none" rtlCol="0">
            <a:spAutoFit/>
          </a:bodyPr>
          <a:lstStyle/>
          <a:p>
            <a:pPr marL="285750" indent="-285750">
              <a:buFont typeface="Arial" panose="020B0604020202020204" pitchFamily="34" charset="0"/>
              <a:buChar char="•"/>
            </a:pPr>
            <a:r>
              <a:rPr lang="en-US" altLang="zh-TW" b="1" i="1" dirty="0">
                <a:latin typeface="Times New Roman" panose="02020603050405020304" pitchFamily="18" charset="0"/>
                <a:ea typeface="標楷體" panose="03000509000000000000" pitchFamily="65" charset="-120"/>
                <a:cs typeface="Times New Roman" panose="02020603050405020304" pitchFamily="18" charset="0"/>
              </a:rPr>
              <a:t>CW Lasers</a:t>
            </a:r>
            <a:endParaRPr lang="zh-TW" altLang="en-US" b="1" i="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510A12-1C4D-4C40-A0EF-BC07B3A81FC8}"/>
              </a:ext>
            </a:extLst>
          </p:cNvPr>
          <p:cNvSpPr>
            <a:spLocks noGrp="1"/>
          </p:cNvSpPr>
          <p:nvPr>
            <p:ph type="sldNum" sz="quarter" idx="12"/>
          </p:nvPr>
        </p:nvSpPr>
        <p:spPr/>
        <p:txBody>
          <a:bodyPr/>
          <a:lstStyle/>
          <a:p>
            <a:fld id="{9044CBB6-E20C-4076-82F9-F8F95241C54D}" type="slidenum">
              <a:rPr lang="zh-TW" altLang="en-US" smtClean="0">
                <a:solidFill>
                  <a:schemeClr val="tx1"/>
                </a:solidFill>
              </a:rPr>
              <a:t>5</a:t>
            </a:fld>
            <a:endParaRPr lang="zh-TW" altLang="en-US">
              <a:solidFill>
                <a:schemeClr val="tx1"/>
              </a:solidFill>
            </a:endParaRPr>
          </a:p>
        </p:txBody>
      </p:sp>
      <p:pic>
        <p:nvPicPr>
          <p:cNvPr id="5" name="圖片 4">
            <a:extLst>
              <a:ext uri="{FF2B5EF4-FFF2-40B4-BE49-F238E27FC236}">
                <a16:creationId xmlns:a16="http://schemas.microsoft.com/office/drawing/2014/main" id="{8B1A8C90-628E-4E57-A678-AE4FE9AC3C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980341"/>
            <a:ext cx="3079345" cy="1767989"/>
          </a:xfrm>
          <a:prstGeom prst="rect">
            <a:avLst/>
          </a:prstGeom>
        </p:spPr>
      </p:pic>
      <p:pic>
        <p:nvPicPr>
          <p:cNvPr id="15" name="圖片 14">
            <a:extLst>
              <a:ext uri="{FF2B5EF4-FFF2-40B4-BE49-F238E27FC236}">
                <a16:creationId xmlns:a16="http://schemas.microsoft.com/office/drawing/2014/main" id="{5B309E05-8CA4-4A79-8228-9F3027AFFE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8048" y="2026154"/>
            <a:ext cx="2831660" cy="1626291"/>
          </a:xfrm>
          <a:prstGeom prst="rect">
            <a:avLst/>
          </a:prstGeom>
        </p:spPr>
      </p:pic>
      <p:pic>
        <p:nvPicPr>
          <p:cNvPr id="17" name="圖片 16">
            <a:extLst>
              <a:ext uri="{FF2B5EF4-FFF2-40B4-BE49-F238E27FC236}">
                <a16:creationId xmlns:a16="http://schemas.microsoft.com/office/drawing/2014/main" id="{36BC8E1A-C058-4CA2-A6D1-7092CB108E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9233" y="3748330"/>
            <a:ext cx="3114124" cy="1627200"/>
          </a:xfrm>
          <a:prstGeom prst="rect">
            <a:avLst/>
          </a:prstGeom>
        </p:spPr>
      </p:pic>
      <p:pic>
        <p:nvPicPr>
          <p:cNvPr id="19" name="圖片 18">
            <a:extLst>
              <a:ext uri="{FF2B5EF4-FFF2-40B4-BE49-F238E27FC236}">
                <a16:creationId xmlns:a16="http://schemas.microsoft.com/office/drawing/2014/main" id="{F807FD8C-DA4E-46F2-AAF5-562F184C12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08048" y="3793748"/>
            <a:ext cx="2897210" cy="1627200"/>
          </a:xfrm>
          <a:prstGeom prst="rect">
            <a:avLst/>
          </a:prstGeom>
        </p:spPr>
      </p:pic>
      <p:sp>
        <p:nvSpPr>
          <p:cNvPr id="20" name="矩形 19">
            <a:extLst>
              <a:ext uri="{FF2B5EF4-FFF2-40B4-BE49-F238E27FC236}">
                <a16:creationId xmlns:a16="http://schemas.microsoft.com/office/drawing/2014/main" id="{BA490913-8C88-46AD-B4F7-414F6DDB039A}"/>
              </a:ext>
            </a:extLst>
          </p:cNvPr>
          <p:cNvSpPr/>
          <p:nvPr/>
        </p:nvSpPr>
        <p:spPr>
          <a:xfrm>
            <a:off x="6792414" y="1356916"/>
            <a:ext cx="4631267" cy="523220"/>
          </a:xfrm>
          <a:prstGeom prst="rect">
            <a:avLst/>
          </a:prstGeom>
        </p:spPr>
        <p:txBody>
          <a:bodyPr wrap="square">
            <a:spAutoFit/>
          </a:bodyPr>
          <a:lstStyle/>
          <a:p>
            <a:pPr algn="ct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Switchable Multiwavelength Erbium-Doped Fiber Ring Laser With a Multisection High-Birefringence Fiber Loop Mirror</a:t>
            </a:r>
          </a:p>
        </p:txBody>
      </p:sp>
      <p:sp>
        <p:nvSpPr>
          <p:cNvPr id="21" name="矩形 20">
            <a:extLst>
              <a:ext uri="{FF2B5EF4-FFF2-40B4-BE49-F238E27FC236}">
                <a16:creationId xmlns:a16="http://schemas.microsoft.com/office/drawing/2014/main" id="{84F338F4-AC87-4B21-AA53-662681188C27}"/>
              </a:ext>
            </a:extLst>
          </p:cNvPr>
          <p:cNvSpPr/>
          <p:nvPr/>
        </p:nvSpPr>
        <p:spPr>
          <a:xfrm>
            <a:off x="6359057" y="5562251"/>
            <a:ext cx="5497980" cy="307777"/>
          </a:xfrm>
          <a:prstGeom prst="rect">
            <a:avLst/>
          </a:prstGeom>
        </p:spPr>
        <p:txBody>
          <a:bodyPr wrap="none">
            <a:spAutoFit/>
          </a:bodyPr>
          <a:lstStyle/>
          <a:p>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Hu, S., et al.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IEEE photonics technology letters 17.7</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P.1387-1389,</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(2005)</a:t>
            </a:r>
          </a:p>
        </p:txBody>
      </p:sp>
      <p:pic>
        <p:nvPicPr>
          <p:cNvPr id="23" name="圖片 22">
            <a:extLst>
              <a:ext uri="{FF2B5EF4-FFF2-40B4-BE49-F238E27FC236}">
                <a16:creationId xmlns:a16="http://schemas.microsoft.com/office/drawing/2014/main" id="{30A5F9E5-D738-4C56-814B-5B6562D49DA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2292" y="2026154"/>
            <a:ext cx="3833814" cy="1396389"/>
          </a:xfrm>
          <a:prstGeom prst="rect">
            <a:avLst/>
          </a:prstGeom>
        </p:spPr>
      </p:pic>
      <p:pic>
        <p:nvPicPr>
          <p:cNvPr id="27" name="圖片 26">
            <a:extLst>
              <a:ext uri="{FF2B5EF4-FFF2-40B4-BE49-F238E27FC236}">
                <a16:creationId xmlns:a16="http://schemas.microsoft.com/office/drawing/2014/main" id="{32A40996-4DB1-490E-BD86-41CF98D494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2292" y="3602713"/>
            <a:ext cx="2543367" cy="1991948"/>
          </a:xfrm>
          <a:prstGeom prst="rect">
            <a:avLst/>
          </a:prstGeom>
        </p:spPr>
      </p:pic>
      <p:pic>
        <p:nvPicPr>
          <p:cNvPr id="29" name="圖片 28">
            <a:extLst>
              <a:ext uri="{FF2B5EF4-FFF2-40B4-BE49-F238E27FC236}">
                <a16:creationId xmlns:a16="http://schemas.microsoft.com/office/drawing/2014/main" id="{93DC97B9-06B7-47B3-863E-EEADB237EE1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95658" y="3602712"/>
            <a:ext cx="2473939" cy="1991947"/>
          </a:xfrm>
          <a:prstGeom prst="rect">
            <a:avLst/>
          </a:prstGeom>
        </p:spPr>
      </p:pic>
      <p:pic>
        <p:nvPicPr>
          <p:cNvPr id="25" name="圖片 24">
            <a:extLst>
              <a:ext uri="{FF2B5EF4-FFF2-40B4-BE49-F238E27FC236}">
                <a16:creationId xmlns:a16="http://schemas.microsoft.com/office/drawing/2014/main" id="{BB0D9D6D-BA82-4594-8569-5D68058D572C}"/>
              </a:ext>
            </a:extLst>
          </p:cNvPr>
          <p:cNvPicPr>
            <a:picLocks noChangeAspect="1"/>
          </p:cNvPicPr>
          <p:nvPr/>
        </p:nvPicPr>
        <p:blipFill rotWithShape="1">
          <a:blip r:embed="rId10">
            <a:extLst>
              <a:ext uri="{28A0092B-C50C-407E-A947-70E740481C1C}">
                <a14:useLocalDpi xmlns:a14="http://schemas.microsoft.com/office/drawing/2010/main" val="0"/>
              </a:ext>
            </a:extLst>
          </a:blip>
          <a:srcRect l="18409" r="14558"/>
          <a:stretch/>
        </p:blipFill>
        <p:spPr>
          <a:xfrm>
            <a:off x="3735331" y="2053850"/>
            <a:ext cx="1472976" cy="1368694"/>
          </a:xfrm>
          <a:prstGeom prst="rect">
            <a:avLst/>
          </a:prstGeom>
        </p:spPr>
      </p:pic>
      <p:sp>
        <p:nvSpPr>
          <p:cNvPr id="30" name="矩形 29">
            <a:extLst>
              <a:ext uri="{FF2B5EF4-FFF2-40B4-BE49-F238E27FC236}">
                <a16:creationId xmlns:a16="http://schemas.microsoft.com/office/drawing/2014/main" id="{00007DAA-6676-4BBA-8305-40F0132C648B}"/>
              </a:ext>
            </a:extLst>
          </p:cNvPr>
          <p:cNvSpPr/>
          <p:nvPr/>
        </p:nvSpPr>
        <p:spPr>
          <a:xfrm>
            <a:off x="894211" y="1409592"/>
            <a:ext cx="3802893" cy="523220"/>
          </a:xfrm>
          <a:prstGeom prst="rect">
            <a:avLst/>
          </a:prstGeom>
        </p:spPr>
        <p:txBody>
          <a:bodyPr wrap="square">
            <a:spAutoFit/>
          </a:bodyPr>
          <a:lstStyle/>
          <a:p>
            <a:pPr algn="ct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Switchable and tunable dual-wavelength erbium-doped fiber laser based on one fiber Bragg grating</a:t>
            </a:r>
          </a:p>
        </p:txBody>
      </p:sp>
      <p:sp>
        <p:nvSpPr>
          <p:cNvPr id="31" name="矩形 30">
            <a:extLst>
              <a:ext uri="{FF2B5EF4-FFF2-40B4-BE49-F238E27FC236}">
                <a16:creationId xmlns:a16="http://schemas.microsoft.com/office/drawing/2014/main" id="{163C82FB-2875-4FB4-A670-41DBA781856B}"/>
              </a:ext>
            </a:extLst>
          </p:cNvPr>
          <p:cNvSpPr/>
          <p:nvPr/>
        </p:nvSpPr>
        <p:spPr>
          <a:xfrm>
            <a:off x="131530" y="5562251"/>
            <a:ext cx="5328253" cy="307777"/>
          </a:xfrm>
          <a:prstGeom prst="rect">
            <a:avLst/>
          </a:prstGeom>
        </p:spPr>
        <p:txBody>
          <a:bodyPr wrap="none">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Feng,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Xinhuan</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et al.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Optical Fiber Technology 10.3</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P.275-282</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(2004)</a:t>
            </a:r>
          </a:p>
        </p:txBody>
      </p:sp>
    </p:spTree>
    <p:extLst>
      <p:ext uri="{BB962C8B-B14F-4D97-AF65-F5344CB8AC3E}">
        <p14:creationId xmlns:p14="http://schemas.microsoft.com/office/powerpoint/2010/main" val="3572533206"/>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2262158"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Motivation</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文字方塊 6">
            <a:extLst>
              <a:ext uri="{FF2B5EF4-FFF2-40B4-BE49-F238E27FC236}">
                <a16:creationId xmlns:a16="http://schemas.microsoft.com/office/drawing/2014/main" id="{FB76ECAC-F228-4DC1-B8A9-EA31A05DD3FB}"/>
              </a:ext>
            </a:extLst>
          </p:cNvPr>
          <p:cNvSpPr txBox="1"/>
          <p:nvPr/>
        </p:nvSpPr>
        <p:spPr>
          <a:xfrm>
            <a:off x="727969" y="725990"/>
            <a:ext cx="1514197" cy="369332"/>
          </a:xfrm>
          <a:prstGeom prst="rect">
            <a:avLst/>
          </a:prstGeom>
          <a:noFill/>
        </p:spPr>
        <p:txBody>
          <a:bodyPr wrap="none" rtlCol="0">
            <a:spAutoFit/>
          </a:bodyPr>
          <a:lstStyle/>
          <a:p>
            <a:pPr marL="285750" indent="-285750">
              <a:buFont typeface="Arial" panose="020B0604020202020204" pitchFamily="34" charset="0"/>
              <a:buChar char="•"/>
            </a:pPr>
            <a:r>
              <a:rPr lang="en-US" altLang="zh-TW" b="1" i="1" dirty="0">
                <a:latin typeface="Times New Roman" panose="02020603050405020304" pitchFamily="18" charset="0"/>
                <a:ea typeface="標楷體" panose="03000509000000000000" pitchFamily="65" charset="-120"/>
                <a:cs typeface="Times New Roman" panose="02020603050405020304" pitchFamily="18" charset="0"/>
              </a:rPr>
              <a:t>CW Lasers</a:t>
            </a:r>
            <a:endParaRPr lang="zh-TW" altLang="en-US" b="1" i="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投影片編號版面配置區 7">
            <a:extLst>
              <a:ext uri="{FF2B5EF4-FFF2-40B4-BE49-F238E27FC236}">
                <a16:creationId xmlns:a16="http://schemas.microsoft.com/office/drawing/2014/main" id="{21B175E4-83C8-4EB2-9AB5-1409365CACF7}"/>
              </a:ext>
            </a:extLst>
          </p:cNvPr>
          <p:cNvSpPr>
            <a:spLocks noGrp="1"/>
          </p:cNvSpPr>
          <p:nvPr>
            <p:ph type="sldNum" sz="quarter" idx="12"/>
          </p:nvPr>
        </p:nvSpPr>
        <p:spPr/>
        <p:txBody>
          <a:bodyPr/>
          <a:lstStyle/>
          <a:p>
            <a:fld id="{9044CBB6-E20C-4076-82F9-F8F95241C54D}" type="slidenum">
              <a:rPr lang="zh-TW" altLang="en-US" smtClean="0">
                <a:solidFill>
                  <a:schemeClr val="tx1"/>
                </a:solidFill>
              </a:rPr>
              <a:t>6</a:t>
            </a:fld>
            <a:endParaRPr lang="zh-TW" altLang="en-US">
              <a:solidFill>
                <a:schemeClr val="tx1"/>
              </a:solidFill>
            </a:endParaRPr>
          </a:p>
        </p:txBody>
      </p:sp>
      <p:sp>
        <p:nvSpPr>
          <p:cNvPr id="10" name="文字方塊 9">
            <a:extLst>
              <a:ext uri="{FF2B5EF4-FFF2-40B4-BE49-F238E27FC236}">
                <a16:creationId xmlns:a16="http://schemas.microsoft.com/office/drawing/2014/main" id="{4F603D3F-A80F-4E7D-BAB5-DE333284C050}"/>
              </a:ext>
            </a:extLst>
          </p:cNvPr>
          <p:cNvSpPr txBox="1"/>
          <p:nvPr/>
        </p:nvSpPr>
        <p:spPr>
          <a:xfrm>
            <a:off x="3822459" y="1372321"/>
            <a:ext cx="4250763" cy="523220"/>
          </a:xfrm>
          <a:prstGeom prst="rect">
            <a:avLst/>
          </a:prstGeom>
          <a:noFill/>
        </p:spPr>
        <p:txBody>
          <a:bodyPr wrap="square" rtlCol="0">
            <a:spAutoFit/>
          </a:bodyPr>
          <a:lstStyle/>
          <a:p>
            <a:pPr algn="ct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Electro-optic Bragg device and a wavelength selection method utilizing the same</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矩形 10">
            <a:extLst>
              <a:ext uri="{FF2B5EF4-FFF2-40B4-BE49-F238E27FC236}">
                <a16:creationId xmlns:a16="http://schemas.microsoft.com/office/drawing/2014/main" id="{ECB51919-51F1-4904-9047-6DB1EAD66F53}"/>
              </a:ext>
            </a:extLst>
          </p:cNvPr>
          <p:cNvSpPr/>
          <p:nvPr/>
        </p:nvSpPr>
        <p:spPr>
          <a:xfrm>
            <a:off x="3416099" y="5514660"/>
            <a:ext cx="5359801" cy="307777"/>
          </a:xfrm>
          <a:prstGeom prst="rect">
            <a:avLst/>
          </a:prstGeom>
        </p:spPr>
        <p:txBody>
          <a:bodyPr wrap="none">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Arie,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Ady</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and Amir Burstein, U.S. Patent No. 6,584,260. 24 Jun, (2003)</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2" name="圖片 11">
            <a:extLst>
              <a:ext uri="{FF2B5EF4-FFF2-40B4-BE49-F238E27FC236}">
                <a16:creationId xmlns:a16="http://schemas.microsoft.com/office/drawing/2014/main" id="{537FC573-171C-44DC-BEEF-C80C6218572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705528" y="1829872"/>
            <a:ext cx="2487295" cy="1727835"/>
          </a:xfrm>
          <a:prstGeom prst="rect">
            <a:avLst/>
          </a:prstGeom>
        </p:spPr>
      </p:pic>
      <p:pic>
        <p:nvPicPr>
          <p:cNvPr id="14" name="圖片 13">
            <a:extLst>
              <a:ext uri="{FF2B5EF4-FFF2-40B4-BE49-F238E27FC236}">
                <a16:creationId xmlns:a16="http://schemas.microsoft.com/office/drawing/2014/main" id="{5EA36B48-1D49-4953-8A84-AEE21B3440E6}"/>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6096000" y="1931416"/>
            <a:ext cx="2141220" cy="1727835"/>
          </a:xfrm>
          <a:prstGeom prst="rect">
            <a:avLst/>
          </a:prstGeom>
        </p:spPr>
      </p:pic>
      <p:pic>
        <p:nvPicPr>
          <p:cNvPr id="15" name="圖片 14">
            <a:extLst>
              <a:ext uri="{FF2B5EF4-FFF2-40B4-BE49-F238E27FC236}">
                <a16:creationId xmlns:a16="http://schemas.microsoft.com/office/drawing/2014/main" id="{300A16AD-D9E8-4D6C-84D4-03DB3252A786}"/>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3756420" y="3600147"/>
            <a:ext cx="2207260" cy="1727835"/>
          </a:xfrm>
          <a:prstGeom prst="rect">
            <a:avLst/>
          </a:prstGeom>
        </p:spPr>
      </p:pic>
      <p:pic>
        <p:nvPicPr>
          <p:cNvPr id="16" name="圖片 15">
            <a:extLst>
              <a:ext uri="{FF2B5EF4-FFF2-40B4-BE49-F238E27FC236}">
                <a16:creationId xmlns:a16="http://schemas.microsoft.com/office/drawing/2014/main" id="{BEDB559E-9F77-4F01-B536-203E0DD2AE1F}"/>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5963680" y="3651845"/>
            <a:ext cx="2597150" cy="1619885"/>
          </a:xfrm>
          <a:prstGeom prst="rect">
            <a:avLst/>
          </a:prstGeom>
        </p:spPr>
      </p:pic>
    </p:spTree>
    <p:extLst>
      <p:ext uri="{BB962C8B-B14F-4D97-AF65-F5344CB8AC3E}">
        <p14:creationId xmlns:p14="http://schemas.microsoft.com/office/powerpoint/2010/main" val="787841730"/>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2262158"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Motivation</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文字方塊 6">
            <a:extLst>
              <a:ext uri="{FF2B5EF4-FFF2-40B4-BE49-F238E27FC236}">
                <a16:creationId xmlns:a16="http://schemas.microsoft.com/office/drawing/2014/main" id="{FB76ECAC-F228-4DC1-B8A9-EA31A05DD3FB}"/>
              </a:ext>
            </a:extLst>
          </p:cNvPr>
          <p:cNvSpPr txBox="1"/>
          <p:nvPr/>
        </p:nvSpPr>
        <p:spPr>
          <a:xfrm>
            <a:off x="727969" y="725990"/>
            <a:ext cx="2005677" cy="369332"/>
          </a:xfrm>
          <a:prstGeom prst="rect">
            <a:avLst/>
          </a:prstGeom>
          <a:noFill/>
        </p:spPr>
        <p:txBody>
          <a:bodyPr wrap="none" rtlCol="0">
            <a:spAutoFit/>
          </a:bodyPr>
          <a:lstStyle/>
          <a:p>
            <a:pPr marL="285750" indent="-285750">
              <a:buFont typeface="Arial" panose="020B0604020202020204" pitchFamily="34" charset="0"/>
              <a:buChar char="•"/>
            </a:pPr>
            <a:r>
              <a:rPr lang="en-US" altLang="zh-TW" b="1" i="1" dirty="0">
                <a:latin typeface="Times New Roman" panose="02020603050405020304" pitchFamily="18" charset="0"/>
                <a:ea typeface="標楷體" panose="03000509000000000000" pitchFamily="65" charset="-120"/>
                <a:cs typeface="Times New Roman" panose="02020603050405020304" pitchFamily="18" charset="0"/>
              </a:rPr>
              <a:t>Q-switch Lasers</a:t>
            </a:r>
            <a:endParaRPr lang="zh-TW" altLang="en-US" b="1" i="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 name="矩形 1">
            <a:extLst>
              <a:ext uri="{FF2B5EF4-FFF2-40B4-BE49-F238E27FC236}">
                <a16:creationId xmlns:a16="http://schemas.microsoft.com/office/drawing/2014/main" id="{C979BF91-76FA-4DEF-80C8-B26A2BF21714}"/>
              </a:ext>
            </a:extLst>
          </p:cNvPr>
          <p:cNvSpPr/>
          <p:nvPr/>
        </p:nvSpPr>
        <p:spPr>
          <a:xfrm>
            <a:off x="408373" y="1372321"/>
            <a:ext cx="5024761" cy="523220"/>
          </a:xfrm>
          <a:prstGeom prst="rect">
            <a:avLst/>
          </a:prstGeom>
        </p:spPr>
        <p:txBody>
          <a:bodyPr wrap="square">
            <a:spAutoFit/>
          </a:bodyPr>
          <a:lstStyle/>
          <a:p>
            <a:pPr algn="ctr"/>
            <a:r>
              <a:rPr lang="en-US" altLang="zh-TW" sz="1400" dirty="0">
                <a:latin typeface="Times New Roman" panose="02020603050405020304" pitchFamily="18" charset="0"/>
                <a:ea typeface="標楷體" panose="03000509000000000000" pitchFamily="65" charset="-120"/>
              </a:rPr>
              <a:t>Actively Q-switched Nd:YVO</a:t>
            </a:r>
            <a:r>
              <a:rPr lang="en-US" altLang="zh-TW" sz="1400" baseline="-25000" dirty="0">
                <a:latin typeface="Times New Roman" panose="02020603050405020304" pitchFamily="18" charset="0"/>
                <a:ea typeface="標楷體" panose="03000509000000000000" pitchFamily="65" charset="-120"/>
              </a:rPr>
              <a:t>4</a:t>
            </a:r>
            <a:r>
              <a:rPr lang="en-US" altLang="zh-TW" sz="1400" dirty="0">
                <a:latin typeface="Times New Roman" panose="02020603050405020304" pitchFamily="18" charset="0"/>
                <a:ea typeface="標楷體" panose="03000509000000000000" pitchFamily="65" charset="-120"/>
              </a:rPr>
              <a:t> laser using an electro-optic periodically poled lithium </a:t>
            </a:r>
            <a:r>
              <a:rPr lang="en-US" altLang="zh-TW" sz="1400" dirty="0" err="1">
                <a:latin typeface="Times New Roman" panose="02020603050405020304" pitchFamily="18" charset="0"/>
                <a:ea typeface="標楷體" panose="03000509000000000000" pitchFamily="65" charset="-120"/>
              </a:rPr>
              <a:t>niobate</a:t>
            </a:r>
            <a:r>
              <a:rPr lang="en-US" altLang="zh-TW" sz="1400" dirty="0">
                <a:latin typeface="Times New Roman" panose="02020603050405020304" pitchFamily="18" charset="0"/>
                <a:ea typeface="標楷體" panose="03000509000000000000" pitchFamily="65" charset="-120"/>
              </a:rPr>
              <a:t> crystal as a laser Q-switch</a:t>
            </a:r>
            <a:endParaRPr lang="zh-TW" altLang="en-US" sz="1400" dirty="0"/>
          </a:p>
        </p:txBody>
      </p:sp>
      <p:pic>
        <p:nvPicPr>
          <p:cNvPr id="8" name="圖片 7">
            <a:extLst>
              <a:ext uri="{FF2B5EF4-FFF2-40B4-BE49-F238E27FC236}">
                <a16:creationId xmlns:a16="http://schemas.microsoft.com/office/drawing/2014/main" id="{2ABCF9B5-B908-43A4-BEA1-9A52028BB29C}"/>
              </a:ext>
            </a:extLst>
          </p:cNvPr>
          <p:cNvPicPr/>
          <p:nvPr/>
        </p:nvPicPr>
        <p:blipFill>
          <a:blip r:embed="rId3">
            <a:extLst>
              <a:ext uri="{28A0092B-C50C-407E-A947-70E740481C1C}">
                <a14:useLocalDpi xmlns:a14="http://schemas.microsoft.com/office/drawing/2010/main" val="0"/>
              </a:ext>
            </a:extLst>
          </a:blip>
          <a:stretch>
            <a:fillRect/>
          </a:stretch>
        </p:blipFill>
        <p:spPr>
          <a:xfrm>
            <a:off x="514879" y="1923684"/>
            <a:ext cx="2475248" cy="1807792"/>
          </a:xfrm>
          <a:prstGeom prst="rect">
            <a:avLst/>
          </a:prstGeom>
        </p:spPr>
      </p:pic>
      <p:pic>
        <p:nvPicPr>
          <p:cNvPr id="9" name="圖片 8">
            <a:extLst>
              <a:ext uri="{FF2B5EF4-FFF2-40B4-BE49-F238E27FC236}">
                <a16:creationId xmlns:a16="http://schemas.microsoft.com/office/drawing/2014/main" id="{90ED3E30-8220-4331-A383-9864E6612563}"/>
              </a:ext>
            </a:extLst>
          </p:cNvPr>
          <p:cNvPicPr/>
          <p:nvPr/>
        </p:nvPicPr>
        <p:blipFill>
          <a:blip r:embed="rId4">
            <a:extLst>
              <a:ext uri="{28A0092B-C50C-407E-A947-70E740481C1C}">
                <a14:useLocalDpi xmlns:a14="http://schemas.microsoft.com/office/drawing/2010/main" val="0"/>
              </a:ext>
            </a:extLst>
          </a:blip>
          <a:stretch>
            <a:fillRect/>
          </a:stretch>
        </p:blipFill>
        <p:spPr>
          <a:xfrm>
            <a:off x="2990127" y="1923684"/>
            <a:ext cx="2772692" cy="1807792"/>
          </a:xfrm>
          <a:prstGeom prst="rect">
            <a:avLst/>
          </a:prstGeom>
        </p:spPr>
      </p:pic>
      <p:pic>
        <p:nvPicPr>
          <p:cNvPr id="10" name="圖片 9">
            <a:extLst>
              <a:ext uri="{FF2B5EF4-FFF2-40B4-BE49-F238E27FC236}">
                <a16:creationId xmlns:a16="http://schemas.microsoft.com/office/drawing/2014/main" id="{4F3474B5-E2F5-4B6C-80D1-47F35251DE68}"/>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479949" y="3731476"/>
            <a:ext cx="3020356" cy="2042705"/>
          </a:xfrm>
          <a:prstGeom prst="rect">
            <a:avLst/>
          </a:prstGeom>
        </p:spPr>
      </p:pic>
      <p:sp>
        <p:nvSpPr>
          <p:cNvPr id="3" name="矩形 2">
            <a:extLst>
              <a:ext uri="{FF2B5EF4-FFF2-40B4-BE49-F238E27FC236}">
                <a16:creationId xmlns:a16="http://schemas.microsoft.com/office/drawing/2014/main" id="{1AA8D40B-C16E-4E8F-AC85-073EBC4B6718}"/>
              </a:ext>
            </a:extLst>
          </p:cNvPr>
          <p:cNvSpPr/>
          <p:nvPr/>
        </p:nvSpPr>
        <p:spPr>
          <a:xfrm>
            <a:off x="585281" y="5620292"/>
            <a:ext cx="5398914" cy="307777"/>
          </a:xfrm>
          <a:prstGeom prst="rect">
            <a:avLst/>
          </a:prstGeom>
        </p:spPr>
        <p:txBody>
          <a:bodyPr wrap="none">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Chen, Y. H., and Y. C. Huang, Optics letters 28.16, p. 1460-1462, (2003)</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a:extLst>
              <a:ext uri="{FF2B5EF4-FFF2-40B4-BE49-F238E27FC236}">
                <a16:creationId xmlns:a16="http://schemas.microsoft.com/office/drawing/2014/main" id="{81ABE27A-1289-4D15-842F-460E28D77D05}"/>
              </a:ext>
            </a:extLst>
          </p:cNvPr>
          <p:cNvSpPr/>
          <p:nvPr/>
        </p:nvSpPr>
        <p:spPr>
          <a:xfrm>
            <a:off x="6758868" y="1372321"/>
            <a:ext cx="4675246" cy="523220"/>
          </a:xfrm>
          <a:prstGeom prst="rect">
            <a:avLst/>
          </a:prstGeom>
        </p:spPr>
        <p:txBody>
          <a:bodyPr wrap="square">
            <a:spAutoFit/>
          </a:bodyPr>
          <a:lstStyle/>
          <a:p>
            <a:pPr algn="ct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Theoretical study of the electro-optic effect of aperiodically poled lithium niobate in a Q-switched dual-wavelength laser</a:t>
            </a:r>
          </a:p>
        </p:txBody>
      </p:sp>
      <p:pic>
        <p:nvPicPr>
          <p:cNvPr id="11" name="圖片 10">
            <a:extLst>
              <a:ext uri="{FF2B5EF4-FFF2-40B4-BE49-F238E27FC236}">
                <a16:creationId xmlns:a16="http://schemas.microsoft.com/office/drawing/2014/main" id="{02DA578D-C3A8-4EEE-B6B7-ECB8F2FCA5E8}"/>
              </a:ext>
            </a:extLst>
          </p:cNvPr>
          <p:cNvPicPr/>
          <p:nvPr/>
        </p:nvPicPr>
        <p:blipFill>
          <a:blip r:embed="rId6">
            <a:extLst>
              <a:ext uri="{28A0092B-C50C-407E-A947-70E740481C1C}">
                <a14:useLocalDpi xmlns:a14="http://schemas.microsoft.com/office/drawing/2010/main" val="0"/>
              </a:ext>
            </a:extLst>
          </a:blip>
          <a:stretch>
            <a:fillRect/>
          </a:stretch>
        </p:blipFill>
        <p:spPr>
          <a:xfrm>
            <a:off x="7523596" y="1822098"/>
            <a:ext cx="3145790" cy="1439545"/>
          </a:xfrm>
          <a:prstGeom prst="rect">
            <a:avLst/>
          </a:prstGeom>
        </p:spPr>
      </p:pic>
      <p:pic>
        <p:nvPicPr>
          <p:cNvPr id="12" name="圖片 11">
            <a:extLst>
              <a:ext uri="{FF2B5EF4-FFF2-40B4-BE49-F238E27FC236}">
                <a16:creationId xmlns:a16="http://schemas.microsoft.com/office/drawing/2014/main" id="{934B37DB-26B3-47BE-8724-F3F59B7AD067}"/>
              </a:ext>
            </a:extLst>
          </p:cNvPr>
          <p:cNvPicPr/>
          <p:nvPr/>
        </p:nvPicPr>
        <p:blipFill>
          <a:blip r:embed="rId7">
            <a:extLst>
              <a:ext uri="{28A0092B-C50C-407E-A947-70E740481C1C}">
                <a14:useLocalDpi xmlns:a14="http://schemas.microsoft.com/office/drawing/2010/main" val="0"/>
              </a:ext>
            </a:extLst>
          </a:blip>
          <a:stretch>
            <a:fillRect/>
          </a:stretch>
        </p:blipFill>
        <p:spPr>
          <a:xfrm>
            <a:off x="7788127" y="3261643"/>
            <a:ext cx="2616727" cy="2174532"/>
          </a:xfrm>
          <a:prstGeom prst="rect">
            <a:avLst/>
          </a:prstGeom>
        </p:spPr>
      </p:pic>
      <p:sp>
        <p:nvSpPr>
          <p:cNvPr id="13" name="矩形 12">
            <a:extLst>
              <a:ext uri="{FF2B5EF4-FFF2-40B4-BE49-F238E27FC236}">
                <a16:creationId xmlns:a16="http://schemas.microsoft.com/office/drawing/2014/main" id="{661C192E-2CFC-4EA5-AE81-7EADFEFA0A2A}"/>
              </a:ext>
            </a:extLst>
          </p:cNvPr>
          <p:cNvSpPr/>
          <p:nvPr/>
        </p:nvSpPr>
        <p:spPr>
          <a:xfrm>
            <a:off x="6782963" y="5620292"/>
            <a:ext cx="4823756" cy="307777"/>
          </a:xfrm>
          <a:prstGeom prst="rect">
            <a:avLst/>
          </a:prstGeom>
        </p:spPr>
        <p:txBody>
          <a:bodyPr wrap="none">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Ji, Feng, et al, Optics communications 262.2, p. 234-237, (2006)</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投影片編號版面配置區 14">
            <a:extLst>
              <a:ext uri="{FF2B5EF4-FFF2-40B4-BE49-F238E27FC236}">
                <a16:creationId xmlns:a16="http://schemas.microsoft.com/office/drawing/2014/main" id="{E1FF5F78-2967-4F08-9A65-C7DEB164D650}"/>
              </a:ext>
            </a:extLst>
          </p:cNvPr>
          <p:cNvSpPr>
            <a:spLocks noGrp="1"/>
          </p:cNvSpPr>
          <p:nvPr>
            <p:ph type="sldNum" sz="quarter" idx="12"/>
          </p:nvPr>
        </p:nvSpPr>
        <p:spPr/>
        <p:txBody>
          <a:bodyPr/>
          <a:lstStyle/>
          <a:p>
            <a:fld id="{9044CBB6-E20C-4076-82F9-F8F95241C54D}" type="slidenum">
              <a:rPr lang="zh-TW" altLang="en-US" smtClean="0">
                <a:solidFill>
                  <a:schemeClr val="tx1"/>
                </a:solidFill>
              </a:rPr>
              <a:t>7</a:t>
            </a:fld>
            <a:endParaRPr lang="zh-TW" altLang="en-US">
              <a:solidFill>
                <a:schemeClr val="tx1"/>
              </a:solidFill>
            </a:endParaRPr>
          </a:p>
        </p:txBody>
      </p:sp>
    </p:spTree>
    <p:extLst>
      <p:ext uri="{BB962C8B-B14F-4D97-AF65-F5344CB8AC3E}">
        <p14:creationId xmlns:p14="http://schemas.microsoft.com/office/powerpoint/2010/main" val="4284946461"/>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2262158"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Motivation</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文字方塊 6">
            <a:extLst>
              <a:ext uri="{FF2B5EF4-FFF2-40B4-BE49-F238E27FC236}">
                <a16:creationId xmlns:a16="http://schemas.microsoft.com/office/drawing/2014/main" id="{FB76ECAC-F228-4DC1-B8A9-EA31A05DD3FB}"/>
              </a:ext>
            </a:extLst>
          </p:cNvPr>
          <p:cNvSpPr txBox="1"/>
          <p:nvPr/>
        </p:nvSpPr>
        <p:spPr>
          <a:xfrm>
            <a:off x="727969" y="725990"/>
            <a:ext cx="2005677" cy="369332"/>
          </a:xfrm>
          <a:prstGeom prst="rect">
            <a:avLst/>
          </a:prstGeom>
          <a:noFill/>
        </p:spPr>
        <p:txBody>
          <a:bodyPr wrap="none" rtlCol="0">
            <a:spAutoFit/>
          </a:bodyPr>
          <a:lstStyle/>
          <a:p>
            <a:pPr marL="285750" indent="-285750">
              <a:buFont typeface="Arial" panose="020B0604020202020204" pitchFamily="34" charset="0"/>
              <a:buChar char="•"/>
            </a:pPr>
            <a:r>
              <a:rPr lang="en-US" altLang="zh-TW" b="1" i="1" dirty="0">
                <a:latin typeface="Times New Roman" panose="02020603050405020304" pitchFamily="18" charset="0"/>
                <a:ea typeface="標楷體" panose="03000509000000000000" pitchFamily="65" charset="-120"/>
                <a:cs typeface="Times New Roman" panose="02020603050405020304" pitchFamily="18" charset="0"/>
              </a:rPr>
              <a:t>Q-switch Lasers</a:t>
            </a:r>
            <a:endParaRPr lang="zh-TW" altLang="en-US" b="1" i="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 name="矩形 1">
            <a:extLst>
              <a:ext uri="{FF2B5EF4-FFF2-40B4-BE49-F238E27FC236}">
                <a16:creationId xmlns:a16="http://schemas.microsoft.com/office/drawing/2014/main" id="{C421FDBC-EA78-44CA-BE0E-3E898EC21827}"/>
              </a:ext>
            </a:extLst>
          </p:cNvPr>
          <p:cNvSpPr/>
          <p:nvPr/>
        </p:nvSpPr>
        <p:spPr>
          <a:xfrm>
            <a:off x="3583521" y="1253945"/>
            <a:ext cx="5024958" cy="523220"/>
          </a:xfrm>
          <a:prstGeom prst="rect">
            <a:avLst/>
          </a:prstGeom>
        </p:spPr>
        <p:txBody>
          <a:bodyPr wrap="square">
            <a:spAutoFit/>
          </a:bodyPr>
          <a:lstStyle/>
          <a:p>
            <a:pPr algn="ct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Pulsed orange generation optimized in a diode-pumped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Nd: YVO</a:t>
            </a:r>
            <a:r>
              <a:rPr lang="en-US" altLang="zh-TW" sz="1400" baseline="-25000" dirty="0">
                <a:latin typeface="Times New Roman" panose="02020603050405020304" pitchFamily="18" charset="0"/>
                <a:ea typeface="標楷體" panose="03000509000000000000" pitchFamily="65" charset="-120"/>
                <a:cs typeface="Times New Roman" panose="02020603050405020304" pitchFamily="18" charset="0"/>
              </a:rPr>
              <a:t>4</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laser using monolithic dual PPLN electro-optic Q switches</a:t>
            </a:r>
          </a:p>
        </p:txBody>
      </p:sp>
      <p:pic>
        <p:nvPicPr>
          <p:cNvPr id="8" name="圖片 7">
            <a:extLst>
              <a:ext uri="{FF2B5EF4-FFF2-40B4-BE49-F238E27FC236}">
                <a16:creationId xmlns:a16="http://schemas.microsoft.com/office/drawing/2014/main" id="{A9F60BFF-6760-4078-BBE1-C0AAD2B4BD1B}"/>
              </a:ext>
            </a:extLst>
          </p:cNvPr>
          <p:cNvPicPr/>
          <p:nvPr/>
        </p:nvPicPr>
        <p:blipFill>
          <a:blip r:embed="rId3">
            <a:extLst>
              <a:ext uri="{28A0092B-C50C-407E-A947-70E740481C1C}">
                <a14:useLocalDpi xmlns:a14="http://schemas.microsoft.com/office/drawing/2010/main" val="0"/>
              </a:ext>
            </a:extLst>
          </a:blip>
          <a:stretch>
            <a:fillRect/>
          </a:stretch>
        </p:blipFill>
        <p:spPr>
          <a:xfrm>
            <a:off x="3000282" y="2297070"/>
            <a:ext cx="3903007" cy="1283577"/>
          </a:xfrm>
          <a:prstGeom prst="rect">
            <a:avLst/>
          </a:prstGeom>
        </p:spPr>
      </p:pic>
      <p:pic>
        <p:nvPicPr>
          <p:cNvPr id="9" name="圖片 8">
            <a:extLst>
              <a:ext uri="{FF2B5EF4-FFF2-40B4-BE49-F238E27FC236}">
                <a16:creationId xmlns:a16="http://schemas.microsoft.com/office/drawing/2014/main" id="{B3A8A4D1-76A3-4966-A592-D2D03692C3B1}"/>
              </a:ext>
            </a:extLst>
          </p:cNvPr>
          <p:cNvPicPr/>
          <p:nvPr/>
        </p:nvPicPr>
        <p:blipFill>
          <a:blip r:embed="rId4" cstate="hqprint">
            <a:extLst>
              <a:ext uri="{28A0092B-C50C-407E-A947-70E740481C1C}">
                <a14:useLocalDpi xmlns:a14="http://schemas.microsoft.com/office/drawing/2010/main" val="0"/>
              </a:ext>
            </a:extLst>
          </a:blip>
          <a:stretch>
            <a:fillRect/>
          </a:stretch>
        </p:blipFill>
        <p:spPr>
          <a:xfrm>
            <a:off x="6903289" y="1777165"/>
            <a:ext cx="1637030" cy="2519680"/>
          </a:xfrm>
          <a:prstGeom prst="rect">
            <a:avLst/>
          </a:prstGeom>
        </p:spPr>
      </p:pic>
      <p:pic>
        <p:nvPicPr>
          <p:cNvPr id="10" name="圖片 9">
            <a:extLst>
              <a:ext uri="{FF2B5EF4-FFF2-40B4-BE49-F238E27FC236}">
                <a16:creationId xmlns:a16="http://schemas.microsoft.com/office/drawing/2014/main" id="{EFAA9D40-07FF-480F-BC55-80ACF82C1410}"/>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3531765" y="4108881"/>
            <a:ext cx="2840040" cy="2085689"/>
          </a:xfrm>
          <a:prstGeom prst="rect">
            <a:avLst/>
          </a:prstGeom>
        </p:spPr>
      </p:pic>
      <p:pic>
        <p:nvPicPr>
          <p:cNvPr id="11" name="圖片 10">
            <a:extLst>
              <a:ext uri="{FF2B5EF4-FFF2-40B4-BE49-F238E27FC236}">
                <a16:creationId xmlns:a16="http://schemas.microsoft.com/office/drawing/2014/main" id="{AE826F04-09F9-4FF1-8299-A25B00C7B39D}"/>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6371805" y="4111556"/>
            <a:ext cx="2664848" cy="2020453"/>
          </a:xfrm>
          <a:prstGeom prst="rect">
            <a:avLst/>
          </a:prstGeom>
        </p:spPr>
      </p:pic>
      <p:sp>
        <p:nvSpPr>
          <p:cNvPr id="3" name="矩形 2">
            <a:extLst>
              <a:ext uri="{FF2B5EF4-FFF2-40B4-BE49-F238E27FC236}">
                <a16:creationId xmlns:a16="http://schemas.microsoft.com/office/drawing/2014/main" id="{0710F064-DAAA-40E0-9011-8AF5406640BE}"/>
              </a:ext>
            </a:extLst>
          </p:cNvPr>
          <p:cNvSpPr/>
          <p:nvPr/>
        </p:nvSpPr>
        <p:spPr>
          <a:xfrm>
            <a:off x="2891629" y="6132009"/>
            <a:ext cx="6408742" cy="307777"/>
          </a:xfrm>
          <a:prstGeom prst="rect">
            <a:avLst/>
          </a:prstGeom>
        </p:spPr>
        <p:txBody>
          <a:bodyPr wrap="none">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Chang, W. K., Y. H. Chen, and J. W. Chang, Optics letters 35.16, p. 2687-2689, (2010)</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投影片編號版面配置區 11">
            <a:extLst>
              <a:ext uri="{FF2B5EF4-FFF2-40B4-BE49-F238E27FC236}">
                <a16:creationId xmlns:a16="http://schemas.microsoft.com/office/drawing/2014/main" id="{A3050292-473D-467E-9A2D-CB5722F80BB4}"/>
              </a:ext>
            </a:extLst>
          </p:cNvPr>
          <p:cNvSpPr>
            <a:spLocks noGrp="1"/>
          </p:cNvSpPr>
          <p:nvPr>
            <p:ph type="sldNum" sz="quarter" idx="12"/>
          </p:nvPr>
        </p:nvSpPr>
        <p:spPr/>
        <p:txBody>
          <a:bodyPr/>
          <a:lstStyle/>
          <a:p>
            <a:fld id="{9044CBB6-E20C-4076-82F9-F8F95241C54D}" type="slidenum">
              <a:rPr lang="zh-TW" altLang="en-US" smtClean="0">
                <a:solidFill>
                  <a:schemeClr val="tx1"/>
                </a:solidFill>
              </a:rPr>
              <a:t>8</a:t>
            </a:fld>
            <a:endParaRPr lang="zh-TW" altLang="en-US">
              <a:solidFill>
                <a:schemeClr val="tx1"/>
              </a:solidFill>
            </a:endParaRPr>
          </a:p>
        </p:txBody>
      </p:sp>
    </p:spTree>
    <p:extLst>
      <p:ext uri="{BB962C8B-B14F-4D97-AF65-F5344CB8AC3E}">
        <p14:creationId xmlns:p14="http://schemas.microsoft.com/office/powerpoint/2010/main" val="118661913"/>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3044423"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Research ideas</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矩形 15">
            <a:extLst>
              <a:ext uri="{FF2B5EF4-FFF2-40B4-BE49-F238E27FC236}">
                <a16:creationId xmlns:a16="http://schemas.microsoft.com/office/drawing/2014/main" id="{C0C49DAA-A830-45FF-9231-608661BB7110}"/>
              </a:ext>
            </a:extLst>
          </p:cNvPr>
          <p:cNvSpPr/>
          <p:nvPr/>
        </p:nvSpPr>
        <p:spPr>
          <a:xfrm>
            <a:off x="3494167" y="3191788"/>
            <a:ext cx="2916183"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A</a:t>
            </a:r>
            <a:r>
              <a:rPr lang="zh-TW" altLang="en-US" dirty="0">
                <a:latin typeface="Times New Roman" panose="02020603050405020304" pitchFamily="18" charset="0"/>
                <a:cs typeface="Times New Roman" panose="02020603050405020304" pitchFamily="18" charset="0"/>
              </a:rPr>
              <a:t>periodic optical superlattice</a:t>
            </a:r>
            <a:endParaRPr lang="zh-TW" altLang="en-US" dirty="0"/>
          </a:p>
        </p:txBody>
      </p:sp>
      <p:sp>
        <p:nvSpPr>
          <p:cNvPr id="17" name="箭號: 向右 16">
            <a:extLst>
              <a:ext uri="{FF2B5EF4-FFF2-40B4-BE49-F238E27FC236}">
                <a16:creationId xmlns:a16="http://schemas.microsoft.com/office/drawing/2014/main" id="{BD99F53A-2540-47A5-AE1B-11D9A425BB8C}"/>
              </a:ext>
            </a:extLst>
          </p:cNvPr>
          <p:cNvSpPr/>
          <p:nvPr/>
        </p:nvSpPr>
        <p:spPr>
          <a:xfrm>
            <a:off x="155656" y="3550903"/>
            <a:ext cx="1714344" cy="609598"/>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右 17">
            <a:extLst>
              <a:ext uri="{FF2B5EF4-FFF2-40B4-BE49-F238E27FC236}">
                <a16:creationId xmlns:a16="http://schemas.microsoft.com/office/drawing/2014/main" id="{E6D18A7B-1921-4E48-A829-817C51949D89}"/>
              </a:ext>
            </a:extLst>
          </p:cNvPr>
          <p:cNvSpPr/>
          <p:nvPr/>
        </p:nvSpPr>
        <p:spPr>
          <a:xfrm>
            <a:off x="8236973" y="2861995"/>
            <a:ext cx="1666240" cy="15234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ADEE026B-2189-49FD-B589-D1C9D59C4515}"/>
              </a:ext>
            </a:extLst>
          </p:cNvPr>
          <p:cNvSpPr/>
          <p:nvPr/>
        </p:nvSpPr>
        <p:spPr>
          <a:xfrm>
            <a:off x="8236973" y="3407132"/>
            <a:ext cx="1666240" cy="15234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箭號: 向右 19">
            <a:extLst>
              <a:ext uri="{FF2B5EF4-FFF2-40B4-BE49-F238E27FC236}">
                <a16:creationId xmlns:a16="http://schemas.microsoft.com/office/drawing/2014/main" id="{2D7E1657-F96F-4FCC-92FA-3F0531D84AD1}"/>
              </a:ext>
            </a:extLst>
          </p:cNvPr>
          <p:cNvSpPr/>
          <p:nvPr/>
        </p:nvSpPr>
        <p:spPr>
          <a:xfrm>
            <a:off x="8236973" y="3952269"/>
            <a:ext cx="1666240" cy="152341"/>
          </a:xfrm>
          <a:prstGeom prst="right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
        <p:nvSpPr>
          <p:cNvPr id="21" name="箭號: 向右 20">
            <a:extLst>
              <a:ext uri="{FF2B5EF4-FFF2-40B4-BE49-F238E27FC236}">
                <a16:creationId xmlns:a16="http://schemas.microsoft.com/office/drawing/2014/main" id="{B3B3E2F6-789B-4514-BAE5-10658E1685D3}"/>
              </a:ext>
            </a:extLst>
          </p:cNvPr>
          <p:cNvSpPr/>
          <p:nvPr/>
        </p:nvSpPr>
        <p:spPr>
          <a:xfrm>
            <a:off x="8236973" y="4498005"/>
            <a:ext cx="1666240" cy="15234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箭號: 向右 21">
            <a:extLst>
              <a:ext uri="{FF2B5EF4-FFF2-40B4-BE49-F238E27FC236}">
                <a16:creationId xmlns:a16="http://schemas.microsoft.com/office/drawing/2014/main" id="{75CC3FDB-9964-458B-A754-A5225650115E}"/>
              </a:ext>
            </a:extLst>
          </p:cNvPr>
          <p:cNvSpPr/>
          <p:nvPr/>
        </p:nvSpPr>
        <p:spPr>
          <a:xfrm>
            <a:off x="8236973" y="2321385"/>
            <a:ext cx="1666240" cy="152341"/>
          </a:xfrm>
          <a:prstGeom prst="right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id="{F831FA23-F317-4D37-A64B-6E1436D7321C}"/>
              </a:ext>
            </a:extLst>
          </p:cNvPr>
          <p:cNvSpPr txBox="1"/>
          <p:nvPr/>
        </p:nvSpPr>
        <p:spPr>
          <a:xfrm>
            <a:off x="0" y="3253343"/>
            <a:ext cx="2138727" cy="307777"/>
          </a:xfrm>
          <a:prstGeom prst="rect">
            <a:avLst/>
          </a:prstGeom>
          <a:noFill/>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Signal：1064nm&amp;1342nm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箭號: 向右 23">
            <a:extLst>
              <a:ext uri="{FF2B5EF4-FFF2-40B4-BE49-F238E27FC236}">
                <a16:creationId xmlns:a16="http://schemas.microsoft.com/office/drawing/2014/main" id="{7721DAC0-4E28-4139-828D-41414512372C}"/>
              </a:ext>
            </a:extLst>
          </p:cNvPr>
          <p:cNvSpPr/>
          <p:nvPr/>
        </p:nvSpPr>
        <p:spPr>
          <a:xfrm>
            <a:off x="8236973" y="5043741"/>
            <a:ext cx="1666240" cy="15234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文字方塊 24">
            <a:extLst>
              <a:ext uri="{FF2B5EF4-FFF2-40B4-BE49-F238E27FC236}">
                <a16:creationId xmlns:a16="http://schemas.microsoft.com/office/drawing/2014/main" id="{5EDF1FAC-ED05-408F-A868-6E59AFB1AF6C}"/>
              </a:ext>
            </a:extLst>
          </p:cNvPr>
          <p:cNvSpPr txBox="1"/>
          <p:nvPr/>
        </p:nvSpPr>
        <p:spPr>
          <a:xfrm>
            <a:off x="9903213" y="2212889"/>
            <a:ext cx="1374138" cy="369332"/>
          </a:xfrm>
          <a:prstGeom prst="rect">
            <a:avLst/>
          </a:prstGeom>
          <a:noFill/>
        </p:spPr>
        <p:txBody>
          <a:bodyPr wrap="squar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CW 1064nm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文字方塊 26">
            <a:extLst>
              <a:ext uri="{FF2B5EF4-FFF2-40B4-BE49-F238E27FC236}">
                <a16:creationId xmlns:a16="http://schemas.microsoft.com/office/drawing/2014/main" id="{B31179F8-57AB-486B-AD1E-83F4ED233C43}"/>
              </a:ext>
            </a:extLst>
          </p:cNvPr>
          <p:cNvSpPr txBox="1"/>
          <p:nvPr/>
        </p:nvSpPr>
        <p:spPr>
          <a:xfrm>
            <a:off x="9903213" y="2753499"/>
            <a:ext cx="1374138" cy="369332"/>
          </a:xfrm>
          <a:prstGeom prst="rect">
            <a:avLst/>
          </a:prstGeom>
          <a:noFill/>
        </p:spPr>
        <p:txBody>
          <a:bodyPr wrap="squar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CW 1342nm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文字方塊 27">
            <a:extLst>
              <a:ext uri="{FF2B5EF4-FFF2-40B4-BE49-F238E27FC236}">
                <a16:creationId xmlns:a16="http://schemas.microsoft.com/office/drawing/2014/main" id="{FBD112CA-14D3-4205-888D-7BF1B9F33A4B}"/>
              </a:ext>
            </a:extLst>
          </p:cNvPr>
          <p:cNvSpPr txBox="1"/>
          <p:nvPr/>
        </p:nvSpPr>
        <p:spPr>
          <a:xfrm>
            <a:off x="9877984" y="3294109"/>
            <a:ext cx="2296568" cy="369332"/>
          </a:xfrm>
          <a:prstGeom prst="rect">
            <a:avLst/>
          </a:prstGeom>
          <a:noFill/>
        </p:spPr>
        <p:txBody>
          <a:bodyPr wrap="squar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CW 1064nm&amp;1342nm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文字方塊 29">
            <a:extLst>
              <a:ext uri="{FF2B5EF4-FFF2-40B4-BE49-F238E27FC236}">
                <a16:creationId xmlns:a16="http://schemas.microsoft.com/office/drawing/2014/main" id="{DB22DD19-CDA1-4328-AA3E-D98C7B339011}"/>
              </a:ext>
            </a:extLst>
          </p:cNvPr>
          <p:cNvSpPr txBox="1"/>
          <p:nvPr/>
        </p:nvSpPr>
        <p:spPr>
          <a:xfrm>
            <a:off x="9877984" y="3843773"/>
            <a:ext cx="1600959" cy="369332"/>
          </a:xfrm>
          <a:prstGeom prst="rect">
            <a:avLst/>
          </a:prstGeom>
          <a:noFill/>
        </p:spPr>
        <p:txBody>
          <a:bodyPr wrap="squar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Pulse 1064nm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文字方塊 30">
            <a:extLst>
              <a:ext uri="{FF2B5EF4-FFF2-40B4-BE49-F238E27FC236}">
                <a16:creationId xmlns:a16="http://schemas.microsoft.com/office/drawing/2014/main" id="{76504AF1-F2FC-4C88-B026-D71C77EAF0A1}"/>
              </a:ext>
            </a:extLst>
          </p:cNvPr>
          <p:cNvSpPr txBox="1"/>
          <p:nvPr/>
        </p:nvSpPr>
        <p:spPr>
          <a:xfrm>
            <a:off x="9877984" y="4389509"/>
            <a:ext cx="1600959" cy="369332"/>
          </a:xfrm>
          <a:prstGeom prst="rect">
            <a:avLst/>
          </a:prstGeom>
          <a:noFill/>
        </p:spPr>
        <p:txBody>
          <a:bodyPr wrap="squar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Pulse 1342nm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文字方塊 31">
            <a:extLst>
              <a:ext uri="{FF2B5EF4-FFF2-40B4-BE49-F238E27FC236}">
                <a16:creationId xmlns:a16="http://schemas.microsoft.com/office/drawing/2014/main" id="{687EE6F3-4CBD-439E-968D-3C4A6AF603A4}"/>
              </a:ext>
            </a:extLst>
          </p:cNvPr>
          <p:cNvSpPr txBox="1"/>
          <p:nvPr/>
        </p:nvSpPr>
        <p:spPr>
          <a:xfrm>
            <a:off x="9877984" y="4935245"/>
            <a:ext cx="1600959" cy="369332"/>
          </a:xfrm>
          <a:prstGeom prst="rect">
            <a:avLst/>
          </a:prstGeom>
          <a:noFill/>
        </p:spPr>
        <p:txBody>
          <a:bodyPr wrap="squar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Pulse   593nm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C4B3338E-A6F5-4187-B970-028D57029E1A}"/>
              </a:ext>
            </a:extLst>
          </p:cNvPr>
          <p:cNvSpPr>
            <a:spLocks noGrp="1"/>
          </p:cNvSpPr>
          <p:nvPr>
            <p:ph type="sldNum" sz="quarter" idx="12"/>
          </p:nvPr>
        </p:nvSpPr>
        <p:spPr/>
        <p:txBody>
          <a:bodyPr/>
          <a:lstStyle/>
          <a:p>
            <a:fld id="{9044CBB6-E20C-4076-82F9-F8F95241C54D}" type="slidenum">
              <a:rPr lang="zh-TW" altLang="en-US" smtClean="0">
                <a:solidFill>
                  <a:schemeClr val="tx1"/>
                </a:solidFill>
              </a:rPr>
              <a:t>9</a:t>
            </a:fld>
            <a:endParaRPr lang="zh-TW" altLang="en-US">
              <a:solidFill>
                <a:schemeClr val="tx1"/>
              </a:solidFill>
            </a:endParaRPr>
          </a:p>
        </p:txBody>
      </p:sp>
      <p:grpSp>
        <p:nvGrpSpPr>
          <p:cNvPr id="29" name="群組 28">
            <a:extLst>
              <a:ext uri="{FF2B5EF4-FFF2-40B4-BE49-F238E27FC236}">
                <a16:creationId xmlns:a16="http://schemas.microsoft.com/office/drawing/2014/main" id="{819CDD28-F1BB-48EE-8A23-C1581F932E7D}"/>
              </a:ext>
            </a:extLst>
          </p:cNvPr>
          <p:cNvGrpSpPr/>
          <p:nvPr/>
        </p:nvGrpSpPr>
        <p:grpSpPr>
          <a:xfrm>
            <a:off x="1870000" y="3599824"/>
            <a:ext cx="6259302" cy="527051"/>
            <a:chOff x="4475729" y="2632446"/>
            <a:chExt cx="5483275" cy="461708"/>
          </a:xfrm>
        </p:grpSpPr>
        <p:sp>
          <p:nvSpPr>
            <p:cNvPr id="33" name="立方體 32">
              <a:extLst>
                <a:ext uri="{FF2B5EF4-FFF2-40B4-BE49-F238E27FC236}">
                  <a16:creationId xmlns:a16="http://schemas.microsoft.com/office/drawing/2014/main" id="{40ACF78E-5927-4682-830F-90A9B7A62F7F}"/>
                </a:ext>
              </a:extLst>
            </p:cNvPr>
            <p:cNvSpPr/>
            <p:nvPr/>
          </p:nvSpPr>
          <p:spPr>
            <a:xfrm>
              <a:off x="4475729" y="2633575"/>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箭號: 向上 33">
              <a:extLst>
                <a:ext uri="{FF2B5EF4-FFF2-40B4-BE49-F238E27FC236}">
                  <a16:creationId xmlns:a16="http://schemas.microsoft.com/office/drawing/2014/main" id="{F906AECB-2EDD-42E8-85DA-9DEBD1887EEC}"/>
                </a:ext>
              </a:extLst>
            </p:cNvPr>
            <p:cNvSpPr/>
            <p:nvPr/>
          </p:nvSpPr>
          <p:spPr>
            <a:xfrm>
              <a:off x="4563113" y="2896796"/>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立方體 34">
              <a:extLst>
                <a:ext uri="{FF2B5EF4-FFF2-40B4-BE49-F238E27FC236}">
                  <a16:creationId xmlns:a16="http://schemas.microsoft.com/office/drawing/2014/main" id="{A8EF126F-27C3-4597-8642-76227364DBFA}"/>
                </a:ext>
              </a:extLst>
            </p:cNvPr>
            <p:cNvSpPr/>
            <p:nvPr/>
          </p:nvSpPr>
          <p:spPr>
            <a:xfrm>
              <a:off x="4737015" y="2633575"/>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立方體 35">
              <a:extLst>
                <a:ext uri="{FF2B5EF4-FFF2-40B4-BE49-F238E27FC236}">
                  <a16:creationId xmlns:a16="http://schemas.microsoft.com/office/drawing/2014/main" id="{1CC62BDC-AC52-4E30-B9AF-C17B1D713938}"/>
                </a:ext>
              </a:extLst>
            </p:cNvPr>
            <p:cNvSpPr/>
            <p:nvPr/>
          </p:nvSpPr>
          <p:spPr>
            <a:xfrm>
              <a:off x="4998301" y="2632449"/>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立方體 36">
              <a:extLst>
                <a:ext uri="{FF2B5EF4-FFF2-40B4-BE49-F238E27FC236}">
                  <a16:creationId xmlns:a16="http://schemas.microsoft.com/office/drawing/2014/main" id="{DA49CC9D-1627-4F84-B918-57342C111CE6}"/>
                </a:ext>
              </a:extLst>
            </p:cNvPr>
            <p:cNvSpPr/>
            <p:nvPr/>
          </p:nvSpPr>
          <p:spPr>
            <a:xfrm>
              <a:off x="5260165" y="2632449"/>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立方體 37">
              <a:extLst>
                <a:ext uri="{FF2B5EF4-FFF2-40B4-BE49-F238E27FC236}">
                  <a16:creationId xmlns:a16="http://schemas.microsoft.com/office/drawing/2014/main" id="{C7EA3C35-DD05-44A7-80C0-ECA0574D1556}"/>
                </a:ext>
              </a:extLst>
            </p:cNvPr>
            <p:cNvSpPr/>
            <p:nvPr/>
          </p:nvSpPr>
          <p:spPr>
            <a:xfrm>
              <a:off x="5520873" y="2632449"/>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箭號: 向上 38">
              <a:extLst>
                <a:ext uri="{FF2B5EF4-FFF2-40B4-BE49-F238E27FC236}">
                  <a16:creationId xmlns:a16="http://schemas.microsoft.com/office/drawing/2014/main" id="{F99BFAAB-7CEA-4BD6-A1A7-CA11B9DF64C8}"/>
                </a:ext>
              </a:extLst>
            </p:cNvPr>
            <p:cNvSpPr/>
            <p:nvPr/>
          </p:nvSpPr>
          <p:spPr>
            <a:xfrm>
              <a:off x="4811600" y="2896796"/>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箭號: 向上 39">
              <a:extLst>
                <a:ext uri="{FF2B5EF4-FFF2-40B4-BE49-F238E27FC236}">
                  <a16:creationId xmlns:a16="http://schemas.microsoft.com/office/drawing/2014/main" id="{8410CB14-5171-4795-99EB-76D99DEC4612}"/>
                </a:ext>
              </a:extLst>
            </p:cNvPr>
            <p:cNvSpPr/>
            <p:nvPr/>
          </p:nvSpPr>
          <p:spPr>
            <a:xfrm>
              <a:off x="5075237" y="2896796"/>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箭號: 向上 40">
              <a:extLst>
                <a:ext uri="{FF2B5EF4-FFF2-40B4-BE49-F238E27FC236}">
                  <a16:creationId xmlns:a16="http://schemas.microsoft.com/office/drawing/2014/main" id="{0A88C422-34AC-4A16-9481-5057F010DC8A}"/>
                </a:ext>
              </a:extLst>
            </p:cNvPr>
            <p:cNvSpPr/>
            <p:nvPr/>
          </p:nvSpPr>
          <p:spPr>
            <a:xfrm>
              <a:off x="5339552" y="2896796"/>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箭號: 向上 41">
              <a:extLst>
                <a:ext uri="{FF2B5EF4-FFF2-40B4-BE49-F238E27FC236}">
                  <a16:creationId xmlns:a16="http://schemas.microsoft.com/office/drawing/2014/main" id="{5B8981AB-FC77-446F-B51D-A1C1D72D9422}"/>
                </a:ext>
              </a:extLst>
            </p:cNvPr>
            <p:cNvSpPr/>
            <p:nvPr/>
          </p:nvSpPr>
          <p:spPr>
            <a:xfrm rot="10800000">
              <a:off x="5601416" y="2896796"/>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立方體 42">
              <a:extLst>
                <a:ext uri="{FF2B5EF4-FFF2-40B4-BE49-F238E27FC236}">
                  <a16:creationId xmlns:a16="http://schemas.microsoft.com/office/drawing/2014/main" id="{C8F4960A-9D83-4E0B-8AE8-7BAC64E341E3}"/>
                </a:ext>
              </a:extLst>
            </p:cNvPr>
            <p:cNvSpPr/>
            <p:nvPr/>
          </p:nvSpPr>
          <p:spPr>
            <a:xfrm>
              <a:off x="5782737" y="2632448"/>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箭號: 向上 43">
              <a:extLst>
                <a:ext uri="{FF2B5EF4-FFF2-40B4-BE49-F238E27FC236}">
                  <a16:creationId xmlns:a16="http://schemas.microsoft.com/office/drawing/2014/main" id="{538F9FFE-1B1F-4FD2-BA1B-55F6C6D43916}"/>
                </a:ext>
              </a:extLst>
            </p:cNvPr>
            <p:cNvSpPr/>
            <p:nvPr/>
          </p:nvSpPr>
          <p:spPr>
            <a:xfrm>
              <a:off x="5859672" y="2896795"/>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立方體 44">
              <a:extLst>
                <a:ext uri="{FF2B5EF4-FFF2-40B4-BE49-F238E27FC236}">
                  <a16:creationId xmlns:a16="http://schemas.microsoft.com/office/drawing/2014/main" id="{2FA91488-A8B1-4368-8B6D-04E95C716069}"/>
                </a:ext>
              </a:extLst>
            </p:cNvPr>
            <p:cNvSpPr/>
            <p:nvPr/>
          </p:nvSpPr>
          <p:spPr>
            <a:xfrm>
              <a:off x="6044600" y="2632447"/>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箭號: 向上 45">
              <a:extLst>
                <a:ext uri="{FF2B5EF4-FFF2-40B4-BE49-F238E27FC236}">
                  <a16:creationId xmlns:a16="http://schemas.microsoft.com/office/drawing/2014/main" id="{D83F35DE-8A3A-4962-B84B-D1EEE0E11F6C}"/>
                </a:ext>
              </a:extLst>
            </p:cNvPr>
            <p:cNvSpPr/>
            <p:nvPr/>
          </p:nvSpPr>
          <p:spPr>
            <a:xfrm>
              <a:off x="6121536" y="2896794"/>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立方體 46">
              <a:extLst>
                <a:ext uri="{FF2B5EF4-FFF2-40B4-BE49-F238E27FC236}">
                  <a16:creationId xmlns:a16="http://schemas.microsoft.com/office/drawing/2014/main" id="{1BB165BC-1149-43CE-AB28-E7126271D6BF}"/>
                </a:ext>
              </a:extLst>
            </p:cNvPr>
            <p:cNvSpPr/>
            <p:nvPr/>
          </p:nvSpPr>
          <p:spPr>
            <a:xfrm>
              <a:off x="6305309" y="2632448"/>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箭號: 向上 47">
              <a:extLst>
                <a:ext uri="{FF2B5EF4-FFF2-40B4-BE49-F238E27FC236}">
                  <a16:creationId xmlns:a16="http://schemas.microsoft.com/office/drawing/2014/main" id="{EC90C9AC-84D6-4BC0-8BBD-DED7F7AEDB67}"/>
                </a:ext>
              </a:extLst>
            </p:cNvPr>
            <p:cNvSpPr/>
            <p:nvPr/>
          </p:nvSpPr>
          <p:spPr>
            <a:xfrm rot="10800000">
              <a:off x="6385851" y="2896795"/>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立方體 48">
              <a:extLst>
                <a:ext uri="{FF2B5EF4-FFF2-40B4-BE49-F238E27FC236}">
                  <a16:creationId xmlns:a16="http://schemas.microsoft.com/office/drawing/2014/main" id="{9E647847-33B1-4EB6-96E1-AF0BF60E88FA}"/>
                </a:ext>
              </a:extLst>
            </p:cNvPr>
            <p:cNvSpPr/>
            <p:nvPr/>
          </p:nvSpPr>
          <p:spPr>
            <a:xfrm>
              <a:off x="6566595" y="2632447"/>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箭號: 向上 49">
              <a:extLst>
                <a:ext uri="{FF2B5EF4-FFF2-40B4-BE49-F238E27FC236}">
                  <a16:creationId xmlns:a16="http://schemas.microsoft.com/office/drawing/2014/main" id="{F53AE5B2-1055-4293-8713-7FD8728AFC5F}"/>
                </a:ext>
              </a:extLst>
            </p:cNvPr>
            <p:cNvSpPr/>
            <p:nvPr/>
          </p:nvSpPr>
          <p:spPr>
            <a:xfrm rot="10800000">
              <a:off x="6647137"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立方體 50">
              <a:extLst>
                <a:ext uri="{FF2B5EF4-FFF2-40B4-BE49-F238E27FC236}">
                  <a16:creationId xmlns:a16="http://schemas.microsoft.com/office/drawing/2014/main" id="{55E6D4BD-C192-4555-B321-4A705D94F0B1}"/>
                </a:ext>
              </a:extLst>
            </p:cNvPr>
            <p:cNvSpPr/>
            <p:nvPr/>
          </p:nvSpPr>
          <p:spPr>
            <a:xfrm>
              <a:off x="6829702" y="2632446"/>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箭號: 向上 51">
              <a:extLst>
                <a:ext uri="{FF2B5EF4-FFF2-40B4-BE49-F238E27FC236}">
                  <a16:creationId xmlns:a16="http://schemas.microsoft.com/office/drawing/2014/main" id="{CA83AE9C-FCA7-48F2-AAA5-7E4735F47A46}"/>
                </a:ext>
              </a:extLst>
            </p:cNvPr>
            <p:cNvSpPr/>
            <p:nvPr/>
          </p:nvSpPr>
          <p:spPr>
            <a:xfrm rot="10800000">
              <a:off x="6910245"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立方體 52">
              <a:extLst>
                <a:ext uri="{FF2B5EF4-FFF2-40B4-BE49-F238E27FC236}">
                  <a16:creationId xmlns:a16="http://schemas.microsoft.com/office/drawing/2014/main" id="{A0973247-7288-4B83-B7F0-7CF6358E1CA5}"/>
                </a:ext>
              </a:extLst>
            </p:cNvPr>
            <p:cNvSpPr/>
            <p:nvPr/>
          </p:nvSpPr>
          <p:spPr>
            <a:xfrm>
              <a:off x="7092809" y="2632446"/>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箭號: 向上 53">
              <a:extLst>
                <a:ext uri="{FF2B5EF4-FFF2-40B4-BE49-F238E27FC236}">
                  <a16:creationId xmlns:a16="http://schemas.microsoft.com/office/drawing/2014/main" id="{4E3DD87F-2D03-4A9A-A54E-4BF658647C43}"/>
                </a:ext>
              </a:extLst>
            </p:cNvPr>
            <p:cNvSpPr/>
            <p:nvPr/>
          </p:nvSpPr>
          <p:spPr>
            <a:xfrm rot="10800000">
              <a:off x="7173352"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立方體 54">
              <a:extLst>
                <a:ext uri="{FF2B5EF4-FFF2-40B4-BE49-F238E27FC236}">
                  <a16:creationId xmlns:a16="http://schemas.microsoft.com/office/drawing/2014/main" id="{2330F7DB-7711-4072-B346-A65809CB35E3}"/>
                </a:ext>
              </a:extLst>
            </p:cNvPr>
            <p:cNvSpPr/>
            <p:nvPr/>
          </p:nvSpPr>
          <p:spPr>
            <a:xfrm>
              <a:off x="7355917" y="2632446"/>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箭號: 向上 55">
              <a:extLst>
                <a:ext uri="{FF2B5EF4-FFF2-40B4-BE49-F238E27FC236}">
                  <a16:creationId xmlns:a16="http://schemas.microsoft.com/office/drawing/2014/main" id="{E2243F73-A451-4E75-BE7A-65340EDDF662}"/>
                </a:ext>
              </a:extLst>
            </p:cNvPr>
            <p:cNvSpPr/>
            <p:nvPr/>
          </p:nvSpPr>
          <p:spPr>
            <a:xfrm rot="10800000">
              <a:off x="7436459"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立方體 56">
              <a:extLst>
                <a:ext uri="{FF2B5EF4-FFF2-40B4-BE49-F238E27FC236}">
                  <a16:creationId xmlns:a16="http://schemas.microsoft.com/office/drawing/2014/main" id="{AE9DD8FA-AB44-4DDF-844E-6CFB771BCDF8}"/>
                </a:ext>
              </a:extLst>
            </p:cNvPr>
            <p:cNvSpPr/>
            <p:nvPr/>
          </p:nvSpPr>
          <p:spPr>
            <a:xfrm>
              <a:off x="7613560" y="2634009"/>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箭號: 向上 57">
              <a:extLst>
                <a:ext uri="{FF2B5EF4-FFF2-40B4-BE49-F238E27FC236}">
                  <a16:creationId xmlns:a16="http://schemas.microsoft.com/office/drawing/2014/main" id="{933A758D-E4DC-4ACD-8C0B-EFCD42734EBE}"/>
                </a:ext>
              </a:extLst>
            </p:cNvPr>
            <p:cNvSpPr/>
            <p:nvPr/>
          </p:nvSpPr>
          <p:spPr>
            <a:xfrm>
              <a:off x="7700944" y="2896794"/>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立方體 58">
              <a:extLst>
                <a:ext uri="{FF2B5EF4-FFF2-40B4-BE49-F238E27FC236}">
                  <a16:creationId xmlns:a16="http://schemas.microsoft.com/office/drawing/2014/main" id="{C92D5E47-C338-4EBB-A11D-9E269C7D556B}"/>
                </a:ext>
              </a:extLst>
            </p:cNvPr>
            <p:cNvSpPr/>
            <p:nvPr/>
          </p:nvSpPr>
          <p:spPr>
            <a:xfrm>
              <a:off x="8662445" y="2632446"/>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箭號: 向上 59">
              <a:extLst>
                <a:ext uri="{FF2B5EF4-FFF2-40B4-BE49-F238E27FC236}">
                  <a16:creationId xmlns:a16="http://schemas.microsoft.com/office/drawing/2014/main" id="{CD667AD1-84F1-4DA3-8421-7B579D85FACB}"/>
                </a:ext>
              </a:extLst>
            </p:cNvPr>
            <p:cNvSpPr/>
            <p:nvPr/>
          </p:nvSpPr>
          <p:spPr>
            <a:xfrm>
              <a:off x="8739380" y="2896794"/>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立方體 60">
              <a:extLst>
                <a:ext uri="{FF2B5EF4-FFF2-40B4-BE49-F238E27FC236}">
                  <a16:creationId xmlns:a16="http://schemas.microsoft.com/office/drawing/2014/main" id="{538B5A96-21C2-4B17-8586-C2229715335F}"/>
                </a:ext>
              </a:extLst>
            </p:cNvPr>
            <p:cNvSpPr/>
            <p:nvPr/>
          </p:nvSpPr>
          <p:spPr>
            <a:xfrm>
              <a:off x="8927374" y="2633010"/>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箭號: 向上 61">
              <a:extLst>
                <a:ext uri="{FF2B5EF4-FFF2-40B4-BE49-F238E27FC236}">
                  <a16:creationId xmlns:a16="http://schemas.microsoft.com/office/drawing/2014/main" id="{89ACAA22-A58C-4700-9A90-125F5D079FEB}"/>
                </a:ext>
              </a:extLst>
            </p:cNvPr>
            <p:cNvSpPr/>
            <p:nvPr/>
          </p:nvSpPr>
          <p:spPr>
            <a:xfrm rot="10800000">
              <a:off x="9007916" y="2897357"/>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立方體 62">
              <a:extLst>
                <a:ext uri="{FF2B5EF4-FFF2-40B4-BE49-F238E27FC236}">
                  <a16:creationId xmlns:a16="http://schemas.microsoft.com/office/drawing/2014/main" id="{8D58388E-29C0-4644-891E-64F24D9685F5}"/>
                </a:ext>
              </a:extLst>
            </p:cNvPr>
            <p:cNvSpPr/>
            <p:nvPr/>
          </p:nvSpPr>
          <p:spPr>
            <a:xfrm>
              <a:off x="9192302" y="2632446"/>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箭號: 向上 63">
              <a:extLst>
                <a:ext uri="{FF2B5EF4-FFF2-40B4-BE49-F238E27FC236}">
                  <a16:creationId xmlns:a16="http://schemas.microsoft.com/office/drawing/2014/main" id="{E26B3F10-4E2E-4FAE-9575-D58DFB2CBD13}"/>
                </a:ext>
              </a:extLst>
            </p:cNvPr>
            <p:cNvSpPr/>
            <p:nvPr/>
          </p:nvSpPr>
          <p:spPr>
            <a:xfrm rot="10800000">
              <a:off x="9272845"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立方體 64">
              <a:extLst>
                <a:ext uri="{FF2B5EF4-FFF2-40B4-BE49-F238E27FC236}">
                  <a16:creationId xmlns:a16="http://schemas.microsoft.com/office/drawing/2014/main" id="{67708209-2A73-44DC-B381-AA0C8D21849D}"/>
                </a:ext>
              </a:extLst>
            </p:cNvPr>
            <p:cNvSpPr/>
            <p:nvPr/>
          </p:nvSpPr>
          <p:spPr>
            <a:xfrm>
              <a:off x="9457328" y="2632728"/>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箭號: 向上 65">
              <a:extLst>
                <a:ext uri="{FF2B5EF4-FFF2-40B4-BE49-F238E27FC236}">
                  <a16:creationId xmlns:a16="http://schemas.microsoft.com/office/drawing/2014/main" id="{D2461C01-2A12-41AA-A030-E2F443CF55DA}"/>
                </a:ext>
              </a:extLst>
            </p:cNvPr>
            <p:cNvSpPr/>
            <p:nvPr/>
          </p:nvSpPr>
          <p:spPr>
            <a:xfrm>
              <a:off x="9544712" y="2895950"/>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橢圓 66">
              <a:extLst>
                <a:ext uri="{FF2B5EF4-FFF2-40B4-BE49-F238E27FC236}">
                  <a16:creationId xmlns:a16="http://schemas.microsoft.com/office/drawing/2014/main" id="{D1ACC52A-F2FA-48E7-A2C7-F5CD7D8342E5}"/>
                </a:ext>
              </a:extLst>
            </p:cNvPr>
            <p:cNvSpPr/>
            <p:nvPr/>
          </p:nvSpPr>
          <p:spPr>
            <a:xfrm>
              <a:off x="8134311" y="2846070"/>
              <a:ext cx="68309" cy="68309"/>
            </a:xfrm>
            <a:prstGeom prst="ellipse">
              <a:avLst/>
            </a:prstGeom>
            <a:solidFill>
              <a:schemeClr val="tx1"/>
            </a:solidFill>
            <a:ln>
              <a:noFill/>
            </a:ln>
            <a:scene3d>
              <a:camera prst="orthographicFront"/>
              <a:lightRig rig="threePt" dir="t"/>
            </a:scene3d>
            <a:sp3d>
              <a:bevelT w="34290" h="34290"/>
              <a:bevelB w="34290" h="3429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橢圓 67">
              <a:extLst>
                <a:ext uri="{FF2B5EF4-FFF2-40B4-BE49-F238E27FC236}">
                  <a16:creationId xmlns:a16="http://schemas.microsoft.com/office/drawing/2014/main" id="{290B7623-A107-4683-8DC2-2ABB230BC847}"/>
                </a:ext>
              </a:extLst>
            </p:cNvPr>
            <p:cNvSpPr/>
            <p:nvPr/>
          </p:nvSpPr>
          <p:spPr>
            <a:xfrm>
              <a:off x="8289933" y="2846069"/>
              <a:ext cx="68309" cy="68309"/>
            </a:xfrm>
            <a:prstGeom prst="ellipse">
              <a:avLst/>
            </a:prstGeom>
            <a:solidFill>
              <a:schemeClr val="tx1"/>
            </a:solidFill>
            <a:ln>
              <a:noFill/>
            </a:ln>
            <a:scene3d>
              <a:camera prst="orthographicFront"/>
              <a:lightRig rig="threePt" dir="t"/>
            </a:scene3d>
            <a:sp3d>
              <a:bevelT w="34290" h="34290"/>
              <a:bevelB w="34290" h="342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9" name="橢圓 68">
              <a:extLst>
                <a:ext uri="{FF2B5EF4-FFF2-40B4-BE49-F238E27FC236}">
                  <a16:creationId xmlns:a16="http://schemas.microsoft.com/office/drawing/2014/main" id="{DC81C7FB-EE64-4F1B-947B-F503C620ED09}"/>
                </a:ext>
              </a:extLst>
            </p:cNvPr>
            <p:cNvSpPr/>
            <p:nvPr/>
          </p:nvSpPr>
          <p:spPr>
            <a:xfrm>
              <a:off x="8460329" y="2846069"/>
              <a:ext cx="68309" cy="68309"/>
            </a:xfrm>
            <a:prstGeom prst="ellipse">
              <a:avLst/>
            </a:prstGeom>
            <a:solidFill>
              <a:schemeClr val="tx1"/>
            </a:solidFill>
            <a:ln>
              <a:noFill/>
            </a:ln>
            <a:scene3d>
              <a:camera prst="orthographicFront"/>
              <a:lightRig rig="threePt" dir="t"/>
            </a:scene3d>
            <a:sp3d>
              <a:bevelT w="34290" h="34290"/>
              <a:bevelB w="34290" h="342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grpSp>
    </p:spTree>
    <p:extLst>
      <p:ext uri="{BB962C8B-B14F-4D97-AF65-F5344CB8AC3E}">
        <p14:creationId xmlns:p14="http://schemas.microsoft.com/office/powerpoint/2010/main" val="276124284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arn(inVertical)">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barn(inVertical)">
                                      <p:cBhvr>
                                        <p:cTn id="18" dur="500"/>
                                        <p:tgtEl>
                                          <p:spTgt spid="19"/>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barn(inVertical)">
                                      <p:cBhvr>
                                        <p:cTn id="21" dur="500"/>
                                        <p:tgtEl>
                                          <p:spTgt spid="22"/>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barn(inVertical)">
                                      <p:cBhvr>
                                        <p:cTn id="24" dur="500"/>
                                        <p:tgtEl>
                                          <p:spTgt spid="2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barn(inVertical)">
                                      <p:cBhvr>
                                        <p:cTn id="27" dur="500"/>
                                        <p:tgtEl>
                                          <p:spTgt spid="27"/>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barn(inVertical)">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barn(inVertical)">
                                      <p:cBhvr>
                                        <p:cTn id="35" dur="500"/>
                                        <p:tgtEl>
                                          <p:spTgt spid="20"/>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arn(inVertical)">
                                      <p:cBhvr>
                                        <p:cTn id="38" dur="500"/>
                                        <p:tgtEl>
                                          <p:spTgt spid="21"/>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barn(inVertical)">
                                      <p:cBhvr>
                                        <p:cTn id="41" dur="500"/>
                                        <p:tgtEl>
                                          <p:spTgt spid="24"/>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barn(inVertical)">
                                      <p:cBhvr>
                                        <p:cTn id="44" dur="500"/>
                                        <p:tgtEl>
                                          <p:spTgt spid="30"/>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barn(inVertical)">
                                      <p:cBhvr>
                                        <p:cTn id="47" dur="500"/>
                                        <p:tgtEl>
                                          <p:spTgt spid="31"/>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barn(inVertical)">
                                      <p:cBhvr>
                                        <p:cTn id="5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p:bldP spid="24" grpId="0" animBg="1"/>
      <p:bldP spid="25" grpId="0"/>
      <p:bldP spid="27" grpId="0"/>
      <p:bldP spid="28" grpId="0"/>
      <p:bldP spid="30" grpId="0"/>
      <p:bldP spid="31" grpId="0"/>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1620957"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Outline</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5F36B0E-3DF1-45ED-A8FE-601E69A7E521}"/>
              </a:ext>
            </a:extLst>
          </p:cNvPr>
          <p:cNvSpPr>
            <a:spLocks noGrp="1"/>
          </p:cNvSpPr>
          <p:nvPr>
            <p:ph type="sldNum" sz="quarter" idx="12"/>
          </p:nvPr>
        </p:nvSpPr>
        <p:spPr/>
        <p:txBody>
          <a:bodyPr/>
          <a:lstStyle/>
          <a:p>
            <a:fld id="{9044CBB6-E20C-4076-82F9-F8F95241C54D}" type="slidenum">
              <a:rPr lang="zh-TW" altLang="en-US" smtClean="0">
                <a:solidFill>
                  <a:schemeClr val="tx1"/>
                </a:solidFill>
              </a:rPr>
              <a:t>10</a:t>
            </a:fld>
            <a:endParaRPr lang="zh-TW" altLang="en-US">
              <a:solidFill>
                <a:schemeClr val="tx1"/>
              </a:solidFill>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1C1FEC1-7B4B-4FCB-A1AF-E13466B695D8}"/>
                  </a:ext>
                </a:extLst>
              </p:cNvPr>
              <p:cNvSpPr/>
              <p:nvPr/>
            </p:nvSpPr>
            <p:spPr>
              <a:xfrm>
                <a:off x="337373" y="1653391"/>
                <a:ext cx="6096000" cy="1384995"/>
              </a:xfrm>
              <a:prstGeom prst="rect">
                <a:avLst/>
              </a:prstGeom>
            </p:spPr>
            <p:txBody>
              <a:bodyPr>
                <a:spAutoFit/>
              </a:bodyPr>
              <a:lstStyle/>
              <a:p>
                <a:pPr lvl="0">
                  <a:spcAft>
                    <a:spcPts val="0"/>
                  </a:spcAft>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ii. Working principles</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Gain medium</a:t>
                </a:r>
                <a:r>
                  <a:rPr lang="zh-TW" altLang="en-US" sz="1600" b="1" i="1" kern="100" dirty="0">
                    <a:solidFill>
                      <a:schemeClr val="tx1"/>
                    </a:solidFill>
                    <a:latin typeface="標楷體" panose="03000509000000000000" pitchFamily="65" charset="-120"/>
                    <a:ea typeface="標楷體" panose="03000509000000000000" pitchFamily="65" charset="-120"/>
                    <a:cs typeface="Times New Roman" panose="02020603050405020304" pitchFamily="18" charset="0"/>
                  </a:rPr>
                  <a:t>：</a:t>
                </a:r>
                <a14:m>
                  <m:oMath xmlns:m="http://schemas.openxmlformats.org/officeDocument/2006/math">
                    <m:sSub>
                      <m:sSubPr>
                        <m:ctrlPr>
                          <a:rPr lang="en-US" altLang="zh-TW" sz="1600" b="1" i="1" kern="10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600" b="1" i="1" kern="10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𝑵𝒅</m:t>
                        </m:r>
                        <m:r>
                          <a:rPr lang="en-US" altLang="zh-TW" sz="1600" b="1" i="1" kern="10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𝒀𝑽𝑶</m:t>
                        </m:r>
                      </m:e>
                      <m:sub>
                        <m:r>
                          <a:rPr lang="en-US" altLang="zh-TW" sz="1600" b="1" i="1" kern="10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𝟒</m:t>
                        </m:r>
                      </m:sub>
                    </m:sSub>
                  </m:oMath>
                </a14:m>
                <a:endPar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Electro-Optic Effect</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Q-switching</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SFG</a:t>
                </a:r>
              </a:p>
            </p:txBody>
          </p:sp>
        </mc:Choice>
        <mc:Fallback xmlns="">
          <p:sp>
            <p:nvSpPr>
              <p:cNvPr id="8" name="矩形 7">
                <a:extLst>
                  <a:ext uri="{FF2B5EF4-FFF2-40B4-BE49-F238E27FC236}">
                    <a16:creationId xmlns:a16="http://schemas.microsoft.com/office/drawing/2014/main" id="{B1C1FEC1-7B4B-4FCB-A1AF-E13466B695D8}"/>
                  </a:ext>
                </a:extLst>
              </p:cNvPr>
              <p:cNvSpPr>
                <a:spLocks noRot="1" noChangeAspect="1" noMove="1" noResize="1" noEditPoints="1" noAdjustHandles="1" noChangeArrowheads="1" noChangeShapeType="1" noTextEdit="1"/>
              </p:cNvSpPr>
              <p:nvPr/>
            </p:nvSpPr>
            <p:spPr>
              <a:xfrm>
                <a:off x="337373" y="1653391"/>
                <a:ext cx="6096000" cy="1384995"/>
              </a:xfrm>
              <a:prstGeom prst="rect">
                <a:avLst/>
              </a:prstGeom>
              <a:blipFill>
                <a:blip r:embed="rId2"/>
                <a:stretch>
                  <a:fillRect l="-1000" t="-2643" b="-4846"/>
                </a:stretch>
              </a:blipFill>
            </p:spPr>
            <p:txBody>
              <a:bodyPr/>
              <a:lstStyle/>
              <a:p>
                <a:r>
                  <a:rPr lang="zh-TW" altLang="en-US">
                    <a:noFill/>
                  </a:rPr>
                  <a:t> </a:t>
                </a:r>
              </a:p>
            </p:txBody>
          </p:sp>
        </mc:Fallback>
      </mc:AlternateContent>
      <p:pic>
        <p:nvPicPr>
          <p:cNvPr id="9" name="Picture 2" descr="https://scontent.xx.fbcdn.net/v/t35.0-12/18926362_10213084281410610_597485951_o.jpg?oh=32a4942d443050c0d576527d420552b7&amp;oe=5937BF7E">
            <a:extLst>
              <a:ext uri="{FF2B5EF4-FFF2-40B4-BE49-F238E27FC236}">
                <a16:creationId xmlns:a16="http://schemas.microsoft.com/office/drawing/2014/main" id="{733AAD7D-F4CE-4F41-9B69-1D4934DA368C}"/>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867787" y="786554"/>
            <a:ext cx="3071672" cy="2488368"/>
          </a:xfrm>
          <a:prstGeom prst="rect">
            <a:avLst/>
          </a:prstGeom>
          <a:noFill/>
          <a:extLst>
            <a:ext uri="{909E8E84-426E-40DD-AFC4-6F175D3DCCD1}">
              <a14:hiddenFill xmlns:a14="http://schemas.microsoft.com/office/drawing/2010/main">
                <a:solidFill>
                  <a:srgbClr val="FFFFFF"/>
                </a:solidFill>
              </a14:hiddenFill>
            </a:ext>
          </a:extLst>
        </p:spPr>
      </p:pic>
      <p:pic>
        <p:nvPicPr>
          <p:cNvPr id="10" name="圖片 9">
            <a:extLst>
              <a:ext uri="{FF2B5EF4-FFF2-40B4-BE49-F238E27FC236}">
                <a16:creationId xmlns:a16="http://schemas.microsoft.com/office/drawing/2014/main" id="{CC03AD44-9748-49D2-A93A-9C8BC536C8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8099" y="824742"/>
            <a:ext cx="3528753" cy="2389617"/>
          </a:xfrm>
          <a:prstGeom prst="rect">
            <a:avLst/>
          </a:prstGeom>
        </p:spPr>
      </p:pic>
      <p:pic>
        <p:nvPicPr>
          <p:cNvPr id="11" name="圖片 10">
            <a:extLst>
              <a:ext uri="{FF2B5EF4-FFF2-40B4-BE49-F238E27FC236}">
                <a16:creationId xmlns:a16="http://schemas.microsoft.com/office/drawing/2014/main" id="{05478998-4987-49FB-8AC7-440F504274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3058" y="3466489"/>
            <a:ext cx="2226351" cy="2226351"/>
          </a:xfrm>
          <a:prstGeom prst="rect">
            <a:avLst/>
          </a:prstGeom>
        </p:spPr>
      </p:pic>
      <p:pic>
        <p:nvPicPr>
          <p:cNvPr id="12" name="圖片 11">
            <a:extLst>
              <a:ext uri="{FF2B5EF4-FFF2-40B4-BE49-F238E27FC236}">
                <a16:creationId xmlns:a16="http://schemas.microsoft.com/office/drawing/2014/main" id="{D35BA556-5C08-434B-992C-4ABEA435E1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88041" y="3335486"/>
            <a:ext cx="3317812" cy="2488359"/>
          </a:xfrm>
          <a:prstGeom prst="rect">
            <a:avLst/>
          </a:prstGeom>
        </p:spPr>
      </p:pic>
    </p:spTree>
    <p:extLst>
      <p:ext uri="{BB962C8B-B14F-4D97-AF65-F5344CB8AC3E}">
        <p14:creationId xmlns:p14="http://schemas.microsoft.com/office/powerpoint/2010/main" val="298661787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向右箭號 8">
            <a:extLst>
              <a:ext uri="{FF2B5EF4-FFF2-40B4-BE49-F238E27FC236}">
                <a16:creationId xmlns:a16="http://schemas.microsoft.com/office/drawing/2014/main" id="{82B1A163-A5C6-4C13-B15D-40F537636877}"/>
              </a:ext>
            </a:extLst>
          </p:cNvPr>
          <p:cNvSpPr/>
          <p:nvPr/>
        </p:nvSpPr>
        <p:spPr>
          <a:xfrm>
            <a:off x="8036329" y="5404406"/>
            <a:ext cx="2287970" cy="264885"/>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B2319CFA-D116-4795-8CE2-9EC724FE2A43}"/>
                  </a:ext>
                </a:extLst>
              </p:cNvPr>
              <p:cNvSpPr txBox="1"/>
              <p:nvPr/>
            </p:nvSpPr>
            <p:spPr>
              <a:xfrm>
                <a:off x="727969" y="132584"/>
                <a:ext cx="4688015" cy="584775"/>
              </a:xfrm>
              <a:prstGeom prst="rect">
                <a:avLst/>
              </a:prstGeom>
              <a:noFill/>
            </p:spPr>
            <p:txBody>
              <a:bodyPr wrap="none" rtlCol="0">
                <a:spAutoFit/>
              </a:bodyPr>
              <a:lstStyle/>
              <a:p>
                <a:r>
                  <a:rPr lang="en-US" altLang="zh-TW" sz="3200" b="1" i="1" kern="100" dirty="0">
                    <a:latin typeface="Times New Roman" panose="02020603050405020304" pitchFamily="18" charset="0"/>
                    <a:ea typeface="標楷體" panose="03000509000000000000" pitchFamily="65" charset="-120"/>
                    <a:cs typeface="Times New Roman" panose="02020603050405020304" pitchFamily="18" charset="0"/>
                  </a:rPr>
                  <a:t>Gain medium：</a:t>
                </a:r>
                <a14:m>
                  <m:oMath xmlns:m="http://schemas.openxmlformats.org/officeDocument/2006/math">
                    <m:sSub>
                      <m:sSubPr>
                        <m:ctrlPr>
                          <a:rPr lang="en-US" altLang="zh-TW" sz="3200" b="1" i="1" kern="100"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3200" b="1" i="1" kern="100" smtClean="0">
                            <a:latin typeface="Cambria Math" panose="02040503050406030204" pitchFamily="18" charset="0"/>
                            <a:ea typeface="標楷體" panose="03000509000000000000" pitchFamily="65" charset="-120"/>
                            <a:cs typeface="Times New Roman" panose="02020603050405020304" pitchFamily="18" charset="0"/>
                          </a:rPr>
                          <m:t>𝑵𝒅</m:t>
                        </m:r>
                        <m:r>
                          <a:rPr lang="en-US" altLang="zh-TW" sz="3200" b="1" i="1" kern="10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sz="3200" b="1" i="1" kern="100" smtClean="0">
                            <a:latin typeface="Cambria Math" panose="02040503050406030204" pitchFamily="18" charset="0"/>
                            <a:ea typeface="標楷體" panose="03000509000000000000" pitchFamily="65" charset="-120"/>
                            <a:cs typeface="Times New Roman" panose="02020603050405020304" pitchFamily="18" charset="0"/>
                          </a:rPr>
                          <m:t>𝒀𝑽𝑶</m:t>
                        </m:r>
                      </m:e>
                      <m:sub>
                        <m:r>
                          <a:rPr lang="en-US" altLang="zh-TW" sz="3200" b="1" i="1" kern="100" smtClean="0">
                            <a:latin typeface="Cambria Math" panose="02040503050406030204" pitchFamily="18" charset="0"/>
                            <a:ea typeface="標楷體" panose="03000509000000000000" pitchFamily="65" charset="-120"/>
                            <a:cs typeface="Times New Roman" panose="02020603050405020304" pitchFamily="18" charset="0"/>
                          </a:rPr>
                          <m:t>𝟒</m:t>
                        </m:r>
                      </m:sub>
                    </m:sSub>
                  </m:oMath>
                </a14:m>
                <a:endParaRPr lang="zh-TW" altLang="zh-TW" sz="3200" kern="100" dirty="0">
                  <a:latin typeface="Calibri" panose="020F0502020204030204" pitchFamily="34"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B2319CFA-D116-4795-8CE2-9EC724FE2A43}"/>
                  </a:ext>
                </a:extLst>
              </p:cNvPr>
              <p:cNvSpPr txBox="1">
                <a:spLocks noRot="1" noChangeAspect="1" noMove="1" noResize="1" noEditPoints="1" noAdjustHandles="1" noChangeArrowheads="1" noChangeShapeType="1" noTextEdit="1"/>
              </p:cNvSpPr>
              <p:nvPr/>
            </p:nvSpPr>
            <p:spPr>
              <a:xfrm>
                <a:off x="727969" y="132584"/>
                <a:ext cx="4688015" cy="584775"/>
              </a:xfrm>
              <a:prstGeom prst="rect">
                <a:avLst/>
              </a:prstGeom>
              <a:blipFill>
                <a:blip r:embed="rId3"/>
                <a:stretch>
                  <a:fillRect l="-3251" t="-15625" b="-32292"/>
                </a:stretch>
              </a:blipFill>
            </p:spPr>
            <p:txBody>
              <a:bodyPr/>
              <a:lstStyle/>
              <a:p>
                <a:r>
                  <a:rPr lang="zh-TW" altLang="en-US">
                    <a:noFill/>
                  </a:rPr>
                  <a:t> </a:t>
                </a:r>
              </a:p>
            </p:txBody>
          </p:sp>
        </mc:Fallback>
      </mc:AlternateContent>
      <p:pic>
        <p:nvPicPr>
          <p:cNvPr id="25" name="圖片 24">
            <a:extLst>
              <a:ext uri="{FF2B5EF4-FFF2-40B4-BE49-F238E27FC236}">
                <a16:creationId xmlns:a16="http://schemas.microsoft.com/office/drawing/2014/main" id="{77EB0E61-FA57-4E79-8CFF-8704F5CF4CB2}"/>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l="4931" t="4903" r="5330" b="14466"/>
          <a:stretch/>
        </p:blipFill>
        <p:spPr>
          <a:xfrm>
            <a:off x="4594733" y="5233508"/>
            <a:ext cx="1294703" cy="712578"/>
          </a:xfrm>
          <a:prstGeom prst="rect">
            <a:avLst/>
          </a:prstGeom>
        </p:spPr>
      </p:pic>
      <p:sp>
        <p:nvSpPr>
          <p:cNvPr id="7" name="矩形 6">
            <a:extLst>
              <a:ext uri="{FF2B5EF4-FFF2-40B4-BE49-F238E27FC236}">
                <a16:creationId xmlns:a16="http://schemas.microsoft.com/office/drawing/2014/main" id="{9EE8CC68-3131-4A06-97F5-4A139B100E53}"/>
              </a:ext>
            </a:extLst>
          </p:cNvPr>
          <p:cNvSpPr/>
          <p:nvPr/>
        </p:nvSpPr>
        <p:spPr>
          <a:xfrm>
            <a:off x="4619144" y="5168552"/>
            <a:ext cx="1253993" cy="73347"/>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2D54B373-B3E1-4438-B95B-31F75BD75888}"/>
              </a:ext>
            </a:extLst>
          </p:cNvPr>
          <p:cNvSpPr/>
          <p:nvPr/>
        </p:nvSpPr>
        <p:spPr>
          <a:xfrm>
            <a:off x="4606957" y="5882592"/>
            <a:ext cx="1266181" cy="73347"/>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ACBD511E-F7F4-4EDF-A768-8EE0D21C8CB0}"/>
              </a:ext>
            </a:extLst>
          </p:cNvPr>
          <p:cNvSpPr/>
          <p:nvPr/>
        </p:nvSpPr>
        <p:spPr>
          <a:xfrm>
            <a:off x="2027603" y="4566450"/>
            <a:ext cx="677281" cy="1884674"/>
          </a:xfrm>
          <a:prstGeom prst="rect">
            <a:avLst/>
          </a:prstGeom>
          <a:solidFill>
            <a:schemeClr val="tx1">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1" name="橢圓 10">
            <a:extLst>
              <a:ext uri="{FF2B5EF4-FFF2-40B4-BE49-F238E27FC236}">
                <a16:creationId xmlns:a16="http://schemas.microsoft.com/office/drawing/2014/main" id="{453CDA17-12DB-4BE8-A828-BB7F36DC5CF2}"/>
              </a:ext>
            </a:extLst>
          </p:cNvPr>
          <p:cNvSpPr/>
          <p:nvPr/>
        </p:nvSpPr>
        <p:spPr>
          <a:xfrm>
            <a:off x="2308238" y="4570894"/>
            <a:ext cx="781192" cy="1915802"/>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2" name="橢圓 11">
            <a:extLst>
              <a:ext uri="{FF2B5EF4-FFF2-40B4-BE49-F238E27FC236}">
                <a16:creationId xmlns:a16="http://schemas.microsoft.com/office/drawing/2014/main" id="{1B4F586A-E130-4DD8-9FA2-E71249CE4C17}"/>
              </a:ext>
            </a:extLst>
          </p:cNvPr>
          <p:cNvSpPr/>
          <p:nvPr/>
        </p:nvSpPr>
        <p:spPr>
          <a:xfrm>
            <a:off x="2354172" y="4566450"/>
            <a:ext cx="781192" cy="1953618"/>
          </a:xfrm>
          <a:prstGeom prst="ellipse">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B624D029-D597-4457-85C7-7FDC8A9890A8}"/>
                  </a:ext>
                </a:extLst>
              </p:cNvPr>
              <p:cNvSpPr txBox="1"/>
              <p:nvPr/>
            </p:nvSpPr>
            <p:spPr>
              <a:xfrm>
                <a:off x="2911499" y="6152871"/>
                <a:ext cx="1156022" cy="369331"/>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r>
                        <m:rPr>
                          <m:sty m:val="p"/>
                        </m:rPr>
                        <a:rPr lang="en-US" altLang="zh-TW" smtClean="0">
                          <a:latin typeface="Cambria Math" panose="02040503050406030204" pitchFamily="18" charset="0"/>
                          <a:ea typeface="Cambria Math" panose="02040503050406030204" pitchFamily="18" charset="0"/>
                        </a:rPr>
                        <m:t>N</m:t>
                      </m:r>
                      <m:r>
                        <m:rPr>
                          <m:sty m:val="p"/>
                        </m:rPr>
                        <a:rPr lang="en-US" altLang="zh-TW" b="0" i="0" smtClean="0">
                          <a:latin typeface="Cambria Math" panose="02040503050406030204" pitchFamily="18" charset="0"/>
                          <a:ea typeface="Cambria Math" panose="02040503050406030204" pitchFamily="18" charset="0"/>
                        </a:rPr>
                        <m:t>d</m:t>
                      </m:r>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YV</m:t>
                      </m:r>
                      <m:sSub>
                        <m:sSubPr>
                          <m:ctrlPr>
                            <a:rPr lang="en-US" altLang="zh-TW" i="1" smtClean="0">
                              <a:latin typeface="Cambria Math" panose="02040503050406030204" pitchFamily="18" charset="0"/>
                              <a:ea typeface="Cambria Math" panose="02040503050406030204" pitchFamily="18" charset="0"/>
                            </a:rPr>
                          </m:ctrlPr>
                        </m:sSubPr>
                        <m:e>
                          <m:r>
                            <m:rPr>
                              <m:sty m:val="p"/>
                            </m:rPr>
                            <a:rPr lang="en-US" altLang="zh-TW" b="0" i="0" smtClean="0">
                              <a:latin typeface="Cambria Math" panose="02040503050406030204" pitchFamily="18" charset="0"/>
                              <a:ea typeface="Cambria Math" panose="02040503050406030204" pitchFamily="18" charset="0"/>
                            </a:rPr>
                            <m:t>O</m:t>
                          </m:r>
                        </m:e>
                        <m:sub>
                          <m:r>
                            <a:rPr lang="en-US" altLang="zh-TW" b="0" i="0" smtClean="0">
                              <a:latin typeface="Cambria Math" panose="02040503050406030204" pitchFamily="18" charset="0"/>
                              <a:ea typeface="Cambria Math" panose="02040503050406030204" pitchFamily="18" charset="0"/>
                            </a:rPr>
                            <m:t>4</m:t>
                          </m:r>
                        </m:sub>
                      </m:sSub>
                    </m:oMath>
                  </m:oMathPara>
                </a14:m>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5" name="文字方塊 14">
                <a:extLst>
                  <a:ext uri="{FF2B5EF4-FFF2-40B4-BE49-F238E27FC236}">
                    <a16:creationId xmlns:a16="http://schemas.microsoft.com/office/drawing/2014/main" id="{B624D029-D597-4457-85C7-7FDC8A9890A8}"/>
                  </a:ext>
                </a:extLst>
              </p:cNvPr>
              <p:cNvSpPr txBox="1">
                <a:spLocks noRot="1" noChangeAspect="1" noMove="1" noResize="1" noEditPoints="1" noAdjustHandles="1" noChangeArrowheads="1" noChangeShapeType="1" noTextEdit="1"/>
              </p:cNvSpPr>
              <p:nvPr/>
            </p:nvSpPr>
            <p:spPr>
              <a:xfrm>
                <a:off x="2911499" y="6152871"/>
                <a:ext cx="1156022" cy="369331"/>
              </a:xfrm>
              <a:prstGeom prst="rect">
                <a:avLst/>
              </a:prstGeom>
              <a:blipFill>
                <a:blip r:embed="rId5"/>
                <a:stretch>
                  <a:fillRect/>
                </a:stretch>
              </a:blipFill>
            </p:spPr>
            <p:txBody>
              <a:bodyPr/>
              <a:lstStyle/>
              <a:p>
                <a:r>
                  <a:rPr lang="zh-TW" altLang="en-US">
                    <a:noFill/>
                  </a:rPr>
                  <a:t> </a:t>
                </a:r>
              </a:p>
            </p:txBody>
          </p:sp>
        </mc:Fallback>
      </mc:AlternateContent>
      <p:sp>
        <p:nvSpPr>
          <p:cNvPr id="17" name="箭號: 左-右雙向 16">
            <a:extLst>
              <a:ext uri="{FF2B5EF4-FFF2-40B4-BE49-F238E27FC236}">
                <a16:creationId xmlns:a16="http://schemas.microsoft.com/office/drawing/2014/main" id="{77CFE288-7C3E-46D5-9E76-16EAB140AC20}"/>
              </a:ext>
            </a:extLst>
          </p:cNvPr>
          <p:cNvSpPr/>
          <p:nvPr/>
        </p:nvSpPr>
        <p:spPr>
          <a:xfrm>
            <a:off x="2754411" y="4214686"/>
            <a:ext cx="3482861" cy="158910"/>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箭號: 左-右雙向 18">
            <a:extLst>
              <a:ext uri="{FF2B5EF4-FFF2-40B4-BE49-F238E27FC236}">
                <a16:creationId xmlns:a16="http://schemas.microsoft.com/office/drawing/2014/main" id="{09C32765-890F-45F1-A960-1A0D8C082065}"/>
              </a:ext>
            </a:extLst>
          </p:cNvPr>
          <p:cNvSpPr/>
          <p:nvPr/>
        </p:nvSpPr>
        <p:spPr>
          <a:xfrm>
            <a:off x="2754410" y="3890339"/>
            <a:ext cx="5191097" cy="158910"/>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8A9AEA3B-0779-484B-999F-86C98F707097}"/>
              </a:ext>
            </a:extLst>
          </p:cNvPr>
          <p:cNvSpPr txBox="1"/>
          <p:nvPr/>
        </p:nvSpPr>
        <p:spPr>
          <a:xfrm>
            <a:off x="5913210" y="6518395"/>
            <a:ext cx="888385" cy="338555"/>
          </a:xfrm>
          <a:prstGeom prst="rect">
            <a:avLst/>
          </a:prstGeom>
          <a:noFill/>
        </p:spPr>
        <p:txBody>
          <a:bodyPr wrap="none" rtlCol="0">
            <a:spAutoFit/>
          </a:bodyPr>
          <a:lstStyle/>
          <a:p>
            <a:pPr algn="ct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Mirror 2</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矩形 23">
            <a:extLst>
              <a:ext uri="{FF2B5EF4-FFF2-40B4-BE49-F238E27FC236}">
                <a16:creationId xmlns:a16="http://schemas.microsoft.com/office/drawing/2014/main" id="{51AF8779-4193-4155-852D-42FA600A1079}"/>
              </a:ext>
            </a:extLst>
          </p:cNvPr>
          <p:cNvSpPr/>
          <p:nvPr/>
        </p:nvSpPr>
        <p:spPr>
          <a:xfrm>
            <a:off x="4410967" y="5975207"/>
            <a:ext cx="1760483" cy="369331"/>
          </a:xfrm>
          <a:prstGeom prst="rect">
            <a:avLst/>
          </a:prstGeom>
        </p:spPr>
        <p:txBody>
          <a:bodyPr wrap="none">
            <a:spAutoFit/>
          </a:bodyPr>
          <a:lstStyle/>
          <a:p>
            <a:pPr algn="ctr"/>
            <a:r>
              <a:rPr lang="pt-BR" altLang="zh-TW" dirty="0">
                <a:latin typeface="Times New Roman" panose="02020603050405020304" pitchFamily="18" charset="0"/>
                <a:ea typeface="Cambria Math" panose="02040503050406030204" pitchFamily="18" charset="0"/>
                <a:cs typeface="Times New Roman" panose="02020603050405020304" pitchFamily="18" charset="0"/>
              </a:rPr>
              <a:t>EO APPLN</a:t>
            </a:r>
            <a:r>
              <a:rPr lang="pt-BR" altLang="zh-TW" sz="1600" dirty="0">
                <a:latin typeface="Times New Roman" panose="02020603050405020304" pitchFamily="18" charset="0"/>
                <a:ea typeface="Cambria Math" panose="02040503050406030204" pitchFamily="18" charset="0"/>
                <a:cs typeface="Times New Roman" panose="02020603050405020304" pitchFamily="18" charset="0"/>
              </a:rPr>
              <a:t>(2cm)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文字方塊 27">
            <a:extLst>
              <a:ext uri="{FF2B5EF4-FFF2-40B4-BE49-F238E27FC236}">
                <a16:creationId xmlns:a16="http://schemas.microsoft.com/office/drawing/2014/main" id="{B738F29E-45EF-448D-B02D-5B18C75EE0C7}"/>
              </a:ext>
            </a:extLst>
          </p:cNvPr>
          <p:cNvSpPr txBox="1"/>
          <p:nvPr/>
        </p:nvSpPr>
        <p:spPr>
          <a:xfrm>
            <a:off x="5921299" y="6519446"/>
            <a:ext cx="888385" cy="338554"/>
          </a:xfrm>
          <a:prstGeom prst="rect">
            <a:avLst/>
          </a:prstGeom>
          <a:noFill/>
        </p:spPr>
        <p:txBody>
          <a:bodyPr wrap="none" rtlCol="0">
            <a:spAutoFit/>
          </a:bodyPr>
          <a:lstStyle>
            <a:defPPr>
              <a:defRPr lang="zh-TW"/>
            </a:defPPr>
            <a:lvl1pPr algn="ctr">
              <a:defRPr sz="1600">
                <a:latin typeface="Times New Roman" panose="02020603050405020304" pitchFamily="18" charset="0"/>
                <a:ea typeface="標楷體" panose="03000509000000000000" pitchFamily="65" charset="-120"/>
                <a:cs typeface="Times New Roman" panose="02020603050405020304" pitchFamily="18" charset="0"/>
              </a:defRPr>
            </a:lvl1pPr>
          </a:lstStyle>
          <a:p>
            <a:r>
              <a:rPr lang="en-US" altLang="zh-TW" dirty="0"/>
              <a:t>Mirror 3</a:t>
            </a:r>
            <a:endParaRPr lang="zh-TW" altLang="en-US" dirty="0"/>
          </a:p>
        </p:txBody>
      </p:sp>
      <p:grpSp>
        <p:nvGrpSpPr>
          <p:cNvPr id="42" name="群組 41">
            <a:extLst>
              <a:ext uri="{FF2B5EF4-FFF2-40B4-BE49-F238E27FC236}">
                <a16:creationId xmlns:a16="http://schemas.microsoft.com/office/drawing/2014/main" id="{15FA24CE-10BF-436B-B245-73FEC3D04946}"/>
              </a:ext>
            </a:extLst>
          </p:cNvPr>
          <p:cNvGrpSpPr/>
          <p:nvPr/>
        </p:nvGrpSpPr>
        <p:grpSpPr>
          <a:xfrm>
            <a:off x="-131801" y="1293770"/>
            <a:ext cx="3353251" cy="2053296"/>
            <a:chOff x="872297" y="1423083"/>
            <a:chExt cx="2504831" cy="1533783"/>
          </a:xfrm>
        </p:grpSpPr>
        <p:cxnSp>
          <p:nvCxnSpPr>
            <p:cNvPr id="30" name="直線單箭頭接點 29">
              <a:extLst>
                <a:ext uri="{FF2B5EF4-FFF2-40B4-BE49-F238E27FC236}">
                  <a16:creationId xmlns:a16="http://schemas.microsoft.com/office/drawing/2014/main" id="{C72C04E9-AA1E-4692-AC63-A47C0181BF63}"/>
                </a:ext>
              </a:extLst>
            </p:cNvPr>
            <p:cNvCxnSpPr>
              <a:cxnSpLocks/>
            </p:cNvCxnSpPr>
            <p:nvPr/>
          </p:nvCxnSpPr>
          <p:spPr>
            <a:xfrm>
              <a:off x="2124927" y="2057284"/>
              <a:ext cx="681432" cy="0"/>
            </a:xfrm>
            <a:prstGeom prst="straightConnector1">
              <a:avLst/>
            </a:prstGeom>
            <a:ln w="15875">
              <a:solidFill>
                <a:schemeClr val="tx1"/>
              </a:solidFill>
              <a:prstDash val="dash"/>
              <a:tailEnd type="triangle"/>
            </a:ln>
            <a:scene3d>
              <a:camera prst="orthographicFront">
                <a:rot lat="0" lon="0" rev="27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FBBBC762-DED3-43B8-AE11-7790A5A9EC03}"/>
                </a:ext>
              </a:extLst>
            </p:cNvPr>
            <p:cNvCxnSpPr/>
            <p:nvPr/>
          </p:nvCxnSpPr>
          <p:spPr>
            <a:xfrm flipV="1">
              <a:off x="2225893" y="1635477"/>
              <a:ext cx="0" cy="681432"/>
            </a:xfrm>
            <a:prstGeom prst="straightConnector1">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2FAB6FEB-78CF-4D45-869F-8AA515663FE0}"/>
                </a:ext>
              </a:extLst>
            </p:cNvPr>
            <p:cNvCxnSpPr>
              <a:cxnSpLocks/>
            </p:cNvCxnSpPr>
            <p:nvPr/>
          </p:nvCxnSpPr>
          <p:spPr>
            <a:xfrm>
              <a:off x="2225893" y="2316909"/>
              <a:ext cx="681432" cy="0"/>
            </a:xfrm>
            <a:prstGeom prst="straightConnector1">
              <a:avLst/>
            </a:prstGeom>
            <a:ln w="158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 name="立方體 32">
              <a:extLst>
                <a:ext uri="{FF2B5EF4-FFF2-40B4-BE49-F238E27FC236}">
                  <a16:creationId xmlns:a16="http://schemas.microsoft.com/office/drawing/2014/main" id="{BF21D9F2-AB30-470F-A250-4366407A5419}"/>
                </a:ext>
              </a:extLst>
            </p:cNvPr>
            <p:cNvSpPr/>
            <p:nvPr/>
          </p:nvSpPr>
          <p:spPr>
            <a:xfrm>
              <a:off x="1893494" y="1951963"/>
              <a:ext cx="921355" cy="732035"/>
            </a:xfrm>
            <a:prstGeom prst="cube">
              <a:avLst/>
            </a:prstGeom>
            <a:no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34" name="文字方塊 33">
              <a:extLst>
                <a:ext uri="{FF2B5EF4-FFF2-40B4-BE49-F238E27FC236}">
                  <a16:creationId xmlns:a16="http://schemas.microsoft.com/office/drawing/2014/main" id="{2D3FABC4-F36B-4423-AF78-D85935CF6098}"/>
                </a:ext>
              </a:extLst>
            </p:cNvPr>
            <p:cNvSpPr txBox="1"/>
            <p:nvPr/>
          </p:nvSpPr>
          <p:spPr>
            <a:xfrm>
              <a:off x="1979700" y="1423083"/>
              <a:ext cx="521489" cy="276999"/>
            </a:xfrm>
            <a:prstGeom prst="rect">
              <a:avLst/>
            </a:prstGeom>
            <a:noFill/>
          </p:spPr>
          <p:txBody>
            <a:bodyPr wrap="none" rtlCol="0">
              <a:spAutoFit/>
            </a:bodyPr>
            <a:lstStyle/>
            <a:p>
              <a:pPr algn="ctr"/>
              <a:r>
                <a:rPr lang="en-US" altLang="zh-TW" sz="1200" dirty="0"/>
                <a:t>c axis</a:t>
              </a:r>
              <a:endParaRPr lang="zh-TW" altLang="en-US" sz="1200" dirty="0"/>
            </a:p>
          </p:txBody>
        </p:sp>
        <p:sp>
          <p:nvSpPr>
            <p:cNvPr id="35" name="文字方塊 34">
              <a:extLst>
                <a:ext uri="{FF2B5EF4-FFF2-40B4-BE49-F238E27FC236}">
                  <a16:creationId xmlns:a16="http://schemas.microsoft.com/office/drawing/2014/main" id="{0696E80E-5AEB-4C41-ABDA-145A07D55349}"/>
                </a:ext>
              </a:extLst>
            </p:cNvPr>
            <p:cNvSpPr txBox="1"/>
            <p:nvPr/>
          </p:nvSpPr>
          <p:spPr>
            <a:xfrm>
              <a:off x="2556124" y="1612759"/>
              <a:ext cx="535916" cy="276999"/>
            </a:xfrm>
            <a:prstGeom prst="rect">
              <a:avLst/>
            </a:prstGeom>
            <a:noFill/>
          </p:spPr>
          <p:txBody>
            <a:bodyPr wrap="none" rtlCol="0">
              <a:spAutoFit/>
            </a:bodyPr>
            <a:lstStyle/>
            <a:p>
              <a:pPr algn="ctr"/>
              <a:r>
                <a:rPr lang="en-US" altLang="zh-TW" sz="1200" dirty="0"/>
                <a:t>b axis</a:t>
              </a:r>
              <a:endParaRPr lang="zh-TW" altLang="en-US" sz="1200" dirty="0"/>
            </a:p>
          </p:txBody>
        </p:sp>
        <p:sp>
          <p:nvSpPr>
            <p:cNvPr id="36" name="文字方塊 35">
              <a:extLst>
                <a:ext uri="{FF2B5EF4-FFF2-40B4-BE49-F238E27FC236}">
                  <a16:creationId xmlns:a16="http://schemas.microsoft.com/office/drawing/2014/main" id="{C40F9F26-C6F0-4E09-87AE-19AE741063FC}"/>
                </a:ext>
              </a:extLst>
            </p:cNvPr>
            <p:cNvSpPr txBox="1"/>
            <p:nvPr/>
          </p:nvSpPr>
          <p:spPr>
            <a:xfrm>
              <a:off x="2847624" y="2175813"/>
              <a:ext cx="529504" cy="276999"/>
            </a:xfrm>
            <a:prstGeom prst="rect">
              <a:avLst/>
            </a:prstGeom>
            <a:noFill/>
          </p:spPr>
          <p:txBody>
            <a:bodyPr wrap="none" rtlCol="0">
              <a:spAutoFit/>
            </a:bodyPr>
            <a:lstStyle/>
            <a:p>
              <a:pPr algn="ctr"/>
              <a:r>
                <a:rPr lang="en-US" altLang="zh-TW" sz="1200" dirty="0"/>
                <a:t>a axis</a:t>
              </a:r>
              <a:endParaRPr lang="zh-TW" altLang="en-US" sz="1200" dirty="0"/>
            </a:p>
          </p:txBody>
        </p:sp>
        <p:cxnSp>
          <p:nvCxnSpPr>
            <p:cNvPr id="37" name="直線單箭頭接點 36">
              <a:extLst>
                <a:ext uri="{FF2B5EF4-FFF2-40B4-BE49-F238E27FC236}">
                  <a16:creationId xmlns:a16="http://schemas.microsoft.com/office/drawing/2014/main" id="{91B69093-A040-4451-88E1-06864592D687}"/>
                </a:ext>
              </a:extLst>
            </p:cNvPr>
            <p:cNvCxnSpPr/>
            <p:nvPr/>
          </p:nvCxnSpPr>
          <p:spPr>
            <a:xfrm>
              <a:off x="1193125" y="2445272"/>
              <a:ext cx="408905" cy="0"/>
            </a:xfrm>
            <a:prstGeom prst="straightConnector1">
              <a:avLst/>
            </a:prstGeom>
            <a:ln w="254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38" name="文字方塊 37">
              <a:extLst>
                <a:ext uri="{FF2B5EF4-FFF2-40B4-BE49-F238E27FC236}">
                  <a16:creationId xmlns:a16="http://schemas.microsoft.com/office/drawing/2014/main" id="{DED0ECA1-7B63-49B5-BDC5-7E22C4A75BA8}"/>
                </a:ext>
              </a:extLst>
            </p:cNvPr>
            <p:cNvSpPr txBox="1"/>
            <p:nvPr/>
          </p:nvSpPr>
          <p:spPr>
            <a:xfrm>
              <a:off x="872297" y="2160908"/>
              <a:ext cx="1013419"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Incident light</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9" name="矩形 38">
              <a:extLst>
                <a:ext uri="{FF2B5EF4-FFF2-40B4-BE49-F238E27FC236}">
                  <a16:creationId xmlns:a16="http://schemas.microsoft.com/office/drawing/2014/main" id="{BE98EF1E-C7F7-4129-9EC6-8C057E502F26}"/>
                </a:ext>
              </a:extLst>
            </p:cNvPr>
            <p:cNvSpPr/>
            <p:nvPr/>
          </p:nvSpPr>
          <p:spPr>
            <a:xfrm>
              <a:off x="1678786" y="2679867"/>
              <a:ext cx="1223412" cy="276999"/>
            </a:xfrm>
            <a:prstGeom prst="rect">
              <a:avLst/>
            </a:prstGeom>
          </p:spPr>
          <p:txBody>
            <a:bodyPr wrap="none">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Nd:YVO</a:t>
              </a:r>
              <a:r>
                <a:rPr lang="en-US" altLang="zh-TW" sz="1200" baseline="-25000" dirty="0">
                  <a:latin typeface="Times New Roman" panose="02020603050405020304" pitchFamily="18" charset="0"/>
                  <a:ea typeface="標楷體" panose="03000509000000000000" pitchFamily="65" charset="-120"/>
                  <a:cs typeface="Times New Roman" panose="02020603050405020304" pitchFamily="18" charset="0"/>
                </a:rPr>
                <a:t>4 </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(a cut)</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40" name="箭號: 向右 39">
            <a:extLst>
              <a:ext uri="{FF2B5EF4-FFF2-40B4-BE49-F238E27FC236}">
                <a16:creationId xmlns:a16="http://schemas.microsoft.com/office/drawing/2014/main" id="{430E25DD-59DA-43E8-9F90-751F20562795}"/>
              </a:ext>
            </a:extLst>
          </p:cNvPr>
          <p:cNvSpPr/>
          <p:nvPr/>
        </p:nvSpPr>
        <p:spPr>
          <a:xfrm>
            <a:off x="432932" y="5096143"/>
            <a:ext cx="1452650" cy="966375"/>
          </a:xfrm>
          <a:prstGeom prst="rightArrow">
            <a:avLst/>
          </a:prstGeom>
          <a:solidFill>
            <a:srgbClr val="FF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808nm pump</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1" name="圖片 40">
            <a:extLst>
              <a:ext uri="{FF2B5EF4-FFF2-40B4-BE49-F238E27FC236}">
                <a16:creationId xmlns:a16="http://schemas.microsoft.com/office/drawing/2014/main" id="{5A18C298-9AB6-49EC-93A5-2B4B166C14B3}"/>
              </a:ext>
            </a:extLst>
          </p:cNvPr>
          <p:cNvPicPr/>
          <p:nvPr/>
        </p:nvPicPr>
        <p:blipFill>
          <a:blip r:embed="rId6">
            <a:extLst>
              <a:ext uri="{28A0092B-C50C-407E-A947-70E740481C1C}">
                <a14:useLocalDpi xmlns:a14="http://schemas.microsoft.com/office/drawing/2010/main" val="0"/>
              </a:ext>
            </a:extLst>
          </a:blip>
          <a:stretch>
            <a:fillRect/>
          </a:stretch>
        </p:blipFill>
        <p:spPr>
          <a:xfrm>
            <a:off x="8937528" y="1175448"/>
            <a:ext cx="2871297" cy="2554727"/>
          </a:xfrm>
          <a:prstGeom prst="rect">
            <a:avLst/>
          </a:prstGeom>
        </p:spPr>
      </p:pic>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76BB8D3A-6C52-429E-B4C7-A3C4FC4F82B3}"/>
                  </a:ext>
                </a:extLst>
              </p:cNvPr>
              <p:cNvSpPr txBox="1"/>
              <p:nvPr/>
            </p:nvSpPr>
            <p:spPr>
              <a:xfrm>
                <a:off x="745079" y="1125421"/>
                <a:ext cx="1211229" cy="307777"/>
              </a:xfrm>
              <a:prstGeom prst="rect">
                <a:avLst/>
              </a:prstGeom>
              <a:noFill/>
            </p:spPr>
            <p:txBody>
              <a:bodyPr wrap="none" rtlCol="0">
                <a:spAutoFit/>
              </a:bodyPr>
              <a:lstStyle/>
              <a:p>
                <a14:m>
                  <m:oMath xmlns:m="http://schemas.openxmlformats.org/officeDocument/2006/math">
                    <m:r>
                      <a:rPr lang="zh-TW" altLang="en-US" sz="1400" i="1" smtClean="0">
                        <a:latin typeface="Cambria Math" panose="02040503050406030204" pitchFamily="18" charset="0"/>
                      </a:rPr>
                      <m:t>𝜋</m:t>
                    </m:r>
                  </m:oMath>
                </a14:m>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-polarization</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43" name="文字方塊 42">
                <a:extLst>
                  <a:ext uri="{FF2B5EF4-FFF2-40B4-BE49-F238E27FC236}">
                    <a16:creationId xmlns:a16="http://schemas.microsoft.com/office/drawing/2014/main" id="{76BB8D3A-6C52-429E-B4C7-A3C4FC4F82B3}"/>
                  </a:ext>
                </a:extLst>
              </p:cNvPr>
              <p:cNvSpPr txBox="1">
                <a:spLocks noRot="1" noChangeAspect="1" noMove="1" noResize="1" noEditPoints="1" noAdjustHandles="1" noChangeArrowheads="1" noChangeShapeType="1" noTextEdit="1"/>
              </p:cNvSpPr>
              <p:nvPr/>
            </p:nvSpPr>
            <p:spPr>
              <a:xfrm>
                <a:off x="745079" y="1125421"/>
                <a:ext cx="1211229" cy="307777"/>
              </a:xfrm>
              <a:prstGeom prst="rect">
                <a:avLst/>
              </a:prstGeom>
              <a:blipFill>
                <a:blip r:embed="rId7"/>
                <a:stretch>
                  <a:fillRect t="-4000"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DA22EB89-2E12-4207-9FDF-4458D90EF6D3}"/>
                  </a:ext>
                </a:extLst>
              </p:cNvPr>
              <p:cNvSpPr txBox="1"/>
              <p:nvPr/>
            </p:nvSpPr>
            <p:spPr>
              <a:xfrm>
                <a:off x="2392176" y="1348481"/>
                <a:ext cx="1211742" cy="307777"/>
              </a:xfrm>
              <a:prstGeom prst="rect">
                <a:avLst/>
              </a:prstGeom>
              <a:noFill/>
            </p:spPr>
            <p:txBody>
              <a:bodyPr wrap="none" rtlCol="0">
                <a:spAutoFit/>
              </a:bodyPr>
              <a:lstStyle/>
              <a:p>
                <a14:m>
                  <m:oMath xmlns:m="http://schemas.openxmlformats.org/officeDocument/2006/math">
                    <m:r>
                      <a:rPr lang="zh-TW" altLang="en-US" sz="1400" i="1" smtClean="0">
                        <a:latin typeface="Cambria Math" panose="02040503050406030204" pitchFamily="18" charset="0"/>
                        <a:ea typeface="標楷體" panose="03000509000000000000" pitchFamily="65" charset="-120"/>
                        <a:cs typeface="Times New Roman" panose="02020603050405020304" pitchFamily="18" charset="0"/>
                      </a:rPr>
                      <m:t>𝜎</m:t>
                    </m:r>
                  </m:oMath>
                </a14:m>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-polarization</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44" name="文字方塊 43">
                <a:extLst>
                  <a:ext uri="{FF2B5EF4-FFF2-40B4-BE49-F238E27FC236}">
                    <a16:creationId xmlns:a16="http://schemas.microsoft.com/office/drawing/2014/main" id="{DA22EB89-2E12-4207-9FDF-4458D90EF6D3}"/>
                  </a:ext>
                </a:extLst>
              </p:cNvPr>
              <p:cNvSpPr txBox="1">
                <a:spLocks noRot="1" noChangeAspect="1" noMove="1" noResize="1" noEditPoints="1" noAdjustHandles="1" noChangeArrowheads="1" noChangeShapeType="1" noTextEdit="1"/>
              </p:cNvSpPr>
              <p:nvPr/>
            </p:nvSpPr>
            <p:spPr>
              <a:xfrm>
                <a:off x="2392176" y="1348481"/>
                <a:ext cx="1211742" cy="307777"/>
              </a:xfrm>
              <a:prstGeom prst="rect">
                <a:avLst/>
              </a:prstGeom>
              <a:blipFill>
                <a:blip r:embed="rId8"/>
                <a:stretch>
                  <a:fillRect t="-3922" b="-196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BE3A77FA-665A-4B5C-AFC7-6A840331CC9F}"/>
                  </a:ext>
                </a:extLst>
              </p:cNvPr>
              <p:cNvSpPr/>
              <p:nvPr/>
            </p:nvSpPr>
            <p:spPr>
              <a:xfrm>
                <a:off x="4472101" y="1091526"/>
                <a:ext cx="3581936" cy="852093"/>
              </a:xfrm>
              <a:prstGeom prst="rect">
                <a:avLst/>
              </a:prstGeom>
            </p:spPr>
            <p:txBody>
              <a:bodyPr wrap="square">
                <a:spAutoFit/>
              </a:bodyPr>
              <a:lstStyle/>
              <a:p>
                <a:pPr algn="ct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The absorption coe</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ffi</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cients of the crystal</a:t>
                </a:r>
                <a:r>
                  <a:rPr lang="zh-TW" altLang="en-US" sz="1600" dirty="0">
                    <a:latin typeface="標楷體" panose="03000509000000000000" pitchFamily="65" charset="-120"/>
                    <a:ea typeface="標楷體" panose="03000509000000000000" pitchFamily="65" charset="-120"/>
                    <a:cs typeface="Times New Roman" panose="02020603050405020304" pitchFamily="18" charset="0"/>
                  </a:rPr>
                  <a:t>：</a:t>
                </a:r>
                <a:endParaRPr lang="en-US" altLang="zh-TW" sz="1600" dirty="0">
                  <a:latin typeface="標楷體" panose="03000509000000000000" pitchFamily="65" charset="-120"/>
                  <a:ea typeface="標楷體" panose="03000509000000000000" pitchFamily="65" charset="-120"/>
                  <a:cs typeface="Times New Roman" panose="02020603050405020304" pitchFamily="18" charset="0"/>
                </a:endParaRPr>
              </a:p>
              <a:p>
                <a:pPr algn="ctr"/>
                <a14:m>
                  <m:oMath xmlns:m="http://schemas.openxmlformats.org/officeDocument/2006/math">
                    <m:r>
                      <a:rPr lang="zh-TW" altLang="en-US" sz="1600" i="1">
                        <a:latin typeface="Cambria Math" panose="02040503050406030204" pitchFamily="18" charset="0"/>
                      </a:rPr>
                      <m:t>𝜋</m:t>
                    </m:r>
                  </m:oMath>
                </a14:m>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-polarization</a:t>
                </a:r>
                <a:r>
                  <a:rPr lang="zh-TW" altLang="en-US" sz="1600" dirty="0">
                    <a:latin typeface="標楷體" panose="03000509000000000000" pitchFamily="65" charset="-120"/>
                    <a:ea typeface="標楷體" panose="03000509000000000000" pitchFamily="65" charset="-120"/>
                    <a:cs typeface="Times New Roman" panose="02020603050405020304" pitchFamily="18" charset="0"/>
                  </a:rPr>
                  <a:t>：</a:t>
                </a:r>
                <a14:m>
                  <m:oMath xmlns:m="http://schemas.openxmlformats.org/officeDocument/2006/math">
                    <m:r>
                      <a:rPr lang="en-US" altLang="zh-TW" sz="1600" b="0" i="1" smtClean="0">
                        <a:latin typeface="Cambria Math" panose="02040503050406030204" pitchFamily="18" charset="0"/>
                        <a:ea typeface="標楷體" panose="03000509000000000000" pitchFamily="65" charset="-120"/>
                        <a:cs typeface="Times New Roman" panose="02020603050405020304" pitchFamily="18" charset="0"/>
                      </a:rPr>
                      <m:t>30.6</m:t>
                    </m:r>
                    <m:sSup>
                      <m:sSupPr>
                        <m:ctrlPr>
                          <a:rPr lang="en-US" altLang="zh-TW" sz="1600" b="0"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sz="1600" b="0" i="1" smtClean="0">
                            <a:latin typeface="Cambria Math" panose="02040503050406030204" pitchFamily="18" charset="0"/>
                            <a:ea typeface="標楷體" panose="03000509000000000000" pitchFamily="65" charset="-120"/>
                            <a:cs typeface="Times New Roman" panose="02020603050405020304" pitchFamily="18" charset="0"/>
                          </a:rPr>
                          <m:t>𝑐𝑚</m:t>
                        </m:r>
                      </m:e>
                      <m:sup>
                        <m:r>
                          <a:rPr lang="en-US" altLang="zh-TW" sz="1600" b="0" i="1" smtClean="0">
                            <a:latin typeface="Cambria Math" panose="02040503050406030204" pitchFamily="18" charset="0"/>
                            <a:ea typeface="標楷體" panose="03000509000000000000" pitchFamily="65" charset="-120"/>
                            <a:cs typeface="Times New Roman" panose="02020603050405020304" pitchFamily="18" charset="0"/>
                          </a:rPr>
                          <m:t>−1</m:t>
                        </m:r>
                      </m:sup>
                    </m:sSup>
                  </m:oMath>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a:p>
                <a:pPr algn="ctr"/>
                <a14:m>
                  <m:oMath xmlns:m="http://schemas.openxmlformats.org/officeDocument/2006/math">
                    <m:r>
                      <a:rPr lang="zh-TW" altLang="en-US" sz="1600" i="1">
                        <a:latin typeface="Cambria Math" panose="02040503050406030204" pitchFamily="18" charset="0"/>
                        <a:ea typeface="標楷體" panose="03000509000000000000" pitchFamily="65" charset="-120"/>
                        <a:cs typeface="Times New Roman" panose="02020603050405020304" pitchFamily="18" charset="0"/>
                      </a:rPr>
                      <m:t>𝜎</m:t>
                    </m:r>
                  </m:oMath>
                </a14:m>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-polarization</a:t>
                </a:r>
                <a:r>
                  <a:rPr lang="zh-TW" altLang="en-US" sz="1600" dirty="0">
                    <a:latin typeface="標楷體" panose="03000509000000000000" pitchFamily="65" charset="-120"/>
                    <a:ea typeface="標楷體" panose="03000509000000000000" pitchFamily="65" charset="-120"/>
                    <a:cs typeface="Times New Roman" panose="02020603050405020304" pitchFamily="18" charset="0"/>
                  </a:rPr>
                  <a:t>：</a:t>
                </a:r>
                <a:r>
                  <a:rPr lang="en-US" altLang="zh-TW" sz="1600" dirty="0">
                    <a:ea typeface="標楷體" panose="03000509000000000000" pitchFamily="65" charset="-120"/>
                    <a:cs typeface="Times New Roman" panose="02020603050405020304" pitchFamily="18" charset="0"/>
                  </a:rPr>
                  <a:t> </a:t>
                </a:r>
                <a14:m>
                  <m:oMath xmlns:m="http://schemas.openxmlformats.org/officeDocument/2006/math">
                    <m:r>
                      <a:rPr lang="en-US" altLang="zh-TW" sz="1600" i="1" dirty="0">
                        <a:latin typeface="Cambria Math" panose="02040503050406030204" pitchFamily="18" charset="0"/>
                        <a:ea typeface="標楷體" panose="03000509000000000000" pitchFamily="65" charset="-120"/>
                        <a:cs typeface="Times New Roman" panose="02020603050405020304" pitchFamily="18" charset="0"/>
                      </a:rPr>
                      <m:t>1</m:t>
                    </m:r>
                    <m:r>
                      <a:rPr lang="en-US" altLang="zh-TW" sz="1600" b="0" i="1" dirty="0" smtClean="0">
                        <a:latin typeface="Cambria Math" panose="02040503050406030204" pitchFamily="18" charset="0"/>
                        <a:ea typeface="標楷體" panose="03000509000000000000" pitchFamily="65" charset="-120"/>
                        <a:cs typeface="Times New Roman" panose="02020603050405020304" pitchFamily="18" charset="0"/>
                      </a:rPr>
                      <m:t>1.4</m:t>
                    </m:r>
                    <m:sSup>
                      <m:sSupPr>
                        <m:ctrlPr>
                          <a:rPr lang="en-US" altLang="zh-TW" sz="1600"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𝑐𝑚</m:t>
                        </m:r>
                      </m:e>
                      <m:sup>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p>
                    </m:sSup>
                  </m:oMath>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45" name="矩形 44">
                <a:extLst>
                  <a:ext uri="{FF2B5EF4-FFF2-40B4-BE49-F238E27FC236}">
                    <a16:creationId xmlns:a16="http://schemas.microsoft.com/office/drawing/2014/main" id="{BE3A77FA-665A-4B5C-AFC7-6A840331CC9F}"/>
                  </a:ext>
                </a:extLst>
              </p:cNvPr>
              <p:cNvSpPr>
                <a:spLocks noRot="1" noChangeAspect="1" noMove="1" noResize="1" noEditPoints="1" noAdjustHandles="1" noChangeArrowheads="1" noChangeShapeType="1" noTextEdit="1"/>
              </p:cNvSpPr>
              <p:nvPr/>
            </p:nvSpPr>
            <p:spPr>
              <a:xfrm>
                <a:off x="4472101" y="1091526"/>
                <a:ext cx="3581936" cy="852093"/>
              </a:xfrm>
              <a:prstGeom prst="rect">
                <a:avLst/>
              </a:prstGeom>
              <a:blipFill>
                <a:blip r:embed="rId9"/>
                <a:stretch>
                  <a:fillRect l="-3066" t="-2143" r="-3066" b="-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BF27BE91-AC70-4695-85F9-E95C2B21E5DD}"/>
                  </a:ext>
                </a:extLst>
              </p:cNvPr>
              <p:cNvSpPr txBox="1"/>
              <p:nvPr/>
            </p:nvSpPr>
            <p:spPr>
              <a:xfrm>
                <a:off x="4428847" y="2402143"/>
                <a:ext cx="3685624" cy="646331"/>
              </a:xfrm>
              <a:prstGeom prst="rect">
                <a:avLst/>
              </a:prstGeom>
              <a:noFill/>
            </p:spPr>
            <p:txBody>
              <a:bodyPr wrap="non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Stimulated-Emission Cross Section</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1064</m:t>
                      </m:r>
                      <m: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𝑛𝑚</m:t>
                      </m:r>
                      <m: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 &amp; 1342</m:t>
                      </m:r>
                      <m: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𝑛𝑚</m:t>
                      </m:r>
                      <m: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 = 3.3:1</m:t>
                      </m:r>
                    </m:oMath>
                  </m:oMathPara>
                </a14:m>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 name="文字方塊 1">
                <a:extLst>
                  <a:ext uri="{FF2B5EF4-FFF2-40B4-BE49-F238E27FC236}">
                    <a16:creationId xmlns:a16="http://schemas.microsoft.com/office/drawing/2014/main" id="{BF27BE91-AC70-4695-85F9-E95C2B21E5DD}"/>
                  </a:ext>
                </a:extLst>
              </p:cNvPr>
              <p:cNvSpPr txBox="1">
                <a:spLocks noRot="1" noChangeAspect="1" noMove="1" noResize="1" noEditPoints="1" noAdjustHandles="1" noChangeArrowheads="1" noChangeShapeType="1" noTextEdit="1"/>
              </p:cNvSpPr>
              <p:nvPr/>
            </p:nvSpPr>
            <p:spPr>
              <a:xfrm>
                <a:off x="4428847" y="2402143"/>
                <a:ext cx="3685624" cy="646331"/>
              </a:xfrm>
              <a:prstGeom prst="rect">
                <a:avLst/>
              </a:prstGeom>
              <a:blipFill>
                <a:blip r:embed="rId10"/>
                <a:stretch>
                  <a:fillRect l="-1159" t="-4717" r="-993"/>
                </a:stretch>
              </a:blipFill>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D6742844-3F82-479C-852D-29B7BC8F0590}"/>
              </a:ext>
            </a:extLst>
          </p:cNvPr>
          <p:cNvSpPr/>
          <p:nvPr/>
        </p:nvSpPr>
        <p:spPr>
          <a:xfrm>
            <a:off x="8348264" y="6461241"/>
            <a:ext cx="3889177" cy="369332"/>
          </a:xfrm>
          <a:prstGeom prst="rect">
            <a:avLst/>
          </a:prstGeom>
        </p:spPr>
        <p:txBody>
          <a:bodyPr wrap="square">
            <a:spAutoFit/>
          </a:bodyPr>
          <a:lstStyle/>
          <a:p>
            <a:pPr algn="ctr"/>
            <a:r>
              <a:rPr lang="zh-TW" altLang="zh-TW" sz="900" dirty="0">
                <a:latin typeface="Times New Roman" panose="02020603050405020304" pitchFamily="18" charset="0"/>
                <a:ea typeface="標楷體" panose="03000509000000000000" pitchFamily="65" charset="-120"/>
                <a:cs typeface="Times New Roman" panose="02020603050405020304" pitchFamily="18" charset="0"/>
              </a:rPr>
              <a:t>張專慶，陳永富，</a:t>
            </a:r>
            <a:r>
              <a:rPr lang="zh-TW" altLang="zh-TW" sz="900" i="1" dirty="0">
                <a:ea typeface="標楷體" panose="03000509000000000000" pitchFamily="65" charset="-120"/>
                <a:cs typeface="Times New Roman" panose="02020603050405020304" pitchFamily="18" charset="0"/>
              </a:rPr>
              <a:t>「</a:t>
            </a:r>
            <a:r>
              <a:rPr lang="zh-TW" altLang="zh-TW" sz="900" i="1" dirty="0">
                <a:latin typeface="Times New Roman" panose="02020603050405020304" pitchFamily="18" charset="0"/>
                <a:ea typeface="標楷體" panose="03000509000000000000" pitchFamily="65" charset="-120"/>
                <a:cs typeface="Times New Roman" panose="02020603050405020304" pitchFamily="18" charset="0"/>
              </a:rPr>
              <a:t>利用緊貼組合</a:t>
            </a:r>
            <a:r>
              <a:rPr lang="en-US" altLang="zh-TW" sz="900" i="1" dirty="0" err="1">
                <a:latin typeface="Times New Roman" panose="02020603050405020304" pitchFamily="18" charset="0"/>
                <a:ea typeface="標楷體" panose="03000509000000000000" pitchFamily="65" charset="-120"/>
              </a:rPr>
              <a:t>Nd:YAG</a:t>
            </a:r>
            <a:r>
              <a:rPr lang="en-US" altLang="zh-TW" sz="900" i="1" dirty="0">
                <a:latin typeface="Times New Roman" panose="02020603050405020304" pitchFamily="18" charset="0"/>
                <a:ea typeface="標楷體" panose="03000509000000000000" pitchFamily="65" charset="-120"/>
              </a:rPr>
              <a:t> </a:t>
            </a:r>
            <a:r>
              <a:rPr lang="zh-TW" altLang="zh-TW" sz="900" i="1" dirty="0">
                <a:latin typeface="Times New Roman" panose="02020603050405020304" pitchFamily="18" charset="0"/>
                <a:ea typeface="標楷體" panose="03000509000000000000" pitchFamily="65" charset="-120"/>
                <a:cs typeface="Times New Roman" panose="02020603050405020304" pitchFamily="18" charset="0"/>
              </a:rPr>
              <a:t>及</a:t>
            </a:r>
            <a:r>
              <a:rPr lang="en-US" altLang="zh-TW" sz="900" i="1" dirty="0">
                <a:latin typeface="Times New Roman" panose="02020603050405020304" pitchFamily="18" charset="0"/>
                <a:ea typeface="標楷體" panose="03000509000000000000" pitchFamily="65" charset="-120"/>
              </a:rPr>
              <a:t>Nd:YVO</a:t>
            </a:r>
            <a:r>
              <a:rPr lang="en-US" altLang="zh-TW" sz="900" i="1" baseline="-25000" dirty="0">
                <a:latin typeface="Times New Roman" panose="02020603050405020304" pitchFamily="18" charset="0"/>
                <a:ea typeface="標楷體" panose="03000509000000000000" pitchFamily="65" charset="-120"/>
              </a:rPr>
              <a:t>4</a:t>
            </a:r>
            <a:r>
              <a:rPr lang="en-US" altLang="zh-TW" sz="900" i="1" dirty="0">
                <a:latin typeface="Times New Roman" panose="02020603050405020304" pitchFamily="18" charset="0"/>
                <a:ea typeface="標楷體" panose="03000509000000000000" pitchFamily="65" charset="-120"/>
              </a:rPr>
              <a:t> </a:t>
            </a:r>
            <a:r>
              <a:rPr lang="zh-TW" altLang="zh-TW" sz="900" i="1" dirty="0">
                <a:latin typeface="Times New Roman" panose="02020603050405020304" pitchFamily="18" charset="0"/>
                <a:ea typeface="標楷體" panose="03000509000000000000" pitchFamily="65" charset="-120"/>
                <a:cs typeface="Times New Roman" panose="02020603050405020304" pitchFamily="18" charset="0"/>
              </a:rPr>
              <a:t>晶體</a:t>
            </a:r>
            <a:r>
              <a:rPr lang="zh-TW" altLang="zh-TW" sz="900" i="1" dirty="0">
                <a:ea typeface="Times New Roman" panose="02020603050405020304" pitchFamily="18" charset="0"/>
              </a:rPr>
              <a:t> </a:t>
            </a:r>
            <a:r>
              <a:rPr lang="zh-TW" altLang="zh-TW" sz="900" i="1" dirty="0">
                <a:latin typeface="Times New Roman" panose="02020603050405020304" pitchFamily="18" charset="0"/>
                <a:ea typeface="標楷體" panose="03000509000000000000" pitchFamily="65" charset="-120"/>
                <a:cs typeface="Times New Roman" panose="02020603050405020304" pitchFamily="18" charset="0"/>
              </a:rPr>
              <a:t>實現高效率雙波長</a:t>
            </a:r>
            <a:r>
              <a:rPr lang="en-US" altLang="zh-TW" sz="900" i="1" dirty="0">
                <a:latin typeface="Times New Roman" panose="02020603050405020304" pitchFamily="18" charset="0"/>
                <a:ea typeface="標楷體" panose="03000509000000000000" pitchFamily="65" charset="-120"/>
              </a:rPr>
              <a:t>946 nm </a:t>
            </a:r>
            <a:r>
              <a:rPr lang="zh-TW" altLang="zh-TW" sz="900" i="1" dirty="0">
                <a:latin typeface="Times New Roman" panose="02020603050405020304" pitchFamily="18" charset="0"/>
                <a:ea typeface="標楷體" panose="03000509000000000000" pitchFamily="65" charset="-120"/>
                <a:cs typeface="Times New Roman" panose="02020603050405020304" pitchFamily="18" charset="0"/>
              </a:rPr>
              <a:t>及</a:t>
            </a:r>
            <a:r>
              <a:rPr lang="en-US" altLang="zh-TW" sz="900" i="1" dirty="0">
                <a:latin typeface="Times New Roman" panose="02020603050405020304" pitchFamily="18" charset="0"/>
                <a:ea typeface="標楷體" panose="03000509000000000000" pitchFamily="65" charset="-120"/>
              </a:rPr>
              <a:t>1064 nm </a:t>
            </a:r>
            <a:r>
              <a:rPr lang="zh-TW" altLang="zh-TW" sz="900" i="1" dirty="0">
                <a:latin typeface="Times New Roman" panose="02020603050405020304" pitchFamily="18" charset="0"/>
                <a:ea typeface="標楷體" panose="03000509000000000000" pitchFamily="65" charset="-120"/>
                <a:cs typeface="Times New Roman" panose="02020603050405020304" pitchFamily="18" charset="0"/>
              </a:rPr>
              <a:t>雷射</a:t>
            </a:r>
            <a:r>
              <a:rPr lang="zh-TW" altLang="zh-TW" sz="900" i="1" dirty="0">
                <a:ea typeface="標楷體" panose="03000509000000000000" pitchFamily="65" charset="-120"/>
                <a:cs typeface="Times New Roman" panose="02020603050405020304" pitchFamily="18" charset="0"/>
              </a:rPr>
              <a:t>」</a:t>
            </a:r>
            <a:r>
              <a:rPr lang="zh-TW" altLang="zh-TW" sz="900" dirty="0">
                <a:latin typeface="Times New Roman" panose="02020603050405020304" pitchFamily="18" charset="0"/>
                <a:ea typeface="標楷體" panose="03000509000000000000" pitchFamily="65" charset="-120"/>
                <a:cs typeface="Times New Roman" panose="02020603050405020304" pitchFamily="18" charset="0"/>
              </a:rPr>
              <a:t>，國立交通大學，碩士論文，民國</a:t>
            </a:r>
            <a:r>
              <a:rPr lang="en-US" altLang="zh-TW" sz="900" dirty="0">
                <a:latin typeface="Times New Roman" panose="02020603050405020304" pitchFamily="18" charset="0"/>
                <a:ea typeface="標楷體" panose="03000509000000000000" pitchFamily="65" charset="-120"/>
              </a:rPr>
              <a:t>101</a:t>
            </a:r>
            <a:r>
              <a:rPr lang="zh-TW" altLang="zh-TW" sz="900" dirty="0">
                <a:latin typeface="Times New Roman" panose="02020603050405020304" pitchFamily="18" charset="0"/>
                <a:ea typeface="標楷體" panose="03000509000000000000" pitchFamily="65" charset="-120"/>
                <a:cs typeface="Times New Roman" panose="02020603050405020304" pitchFamily="18" charset="0"/>
              </a:rPr>
              <a:t>年。</a:t>
            </a:r>
            <a:endParaRPr lang="zh-TW" altLang="en-US" sz="900" dirty="0"/>
          </a:p>
        </p:txBody>
      </p:sp>
      <p:sp>
        <p:nvSpPr>
          <p:cNvPr id="58" name="矩形 57">
            <a:extLst>
              <a:ext uri="{FF2B5EF4-FFF2-40B4-BE49-F238E27FC236}">
                <a16:creationId xmlns:a16="http://schemas.microsoft.com/office/drawing/2014/main" id="{5F787FD6-2F8E-433E-8DC1-5C04A0570FE2}"/>
              </a:ext>
            </a:extLst>
          </p:cNvPr>
          <p:cNvSpPr/>
          <p:nvPr/>
        </p:nvSpPr>
        <p:spPr>
          <a:xfrm>
            <a:off x="271119" y="3189483"/>
            <a:ext cx="3251096" cy="461665"/>
          </a:xfrm>
          <a:prstGeom prst="rect">
            <a:avLst/>
          </a:prstGeom>
        </p:spPr>
        <p:txBody>
          <a:bodyPr wrap="square">
            <a:spAutoFit/>
          </a:bodyPr>
          <a:lstStyle/>
          <a:p>
            <a:pPr marL="171450" indent="-171450" algn="ctr">
              <a:buFont typeface="Wingdings" panose="05000000000000000000" pitchFamily="2" charset="2"/>
              <a:buChar char="Ø"/>
            </a:pPr>
            <a:r>
              <a:rPr lang="en-US" altLang="zh-TW" sz="1200" dirty="0">
                <a:latin typeface="Times New Roman" panose="02020603050405020304" pitchFamily="18" charset="0"/>
                <a:cs typeface="Times New Roman" panose="02020603050405020304" pitchFamily="18" charset="0"/>
              </a:rPr>
              <a:t>3 mm × 3 mm laser aperture and 7 mm length, a-cut, 0.5-at. % Nd</a:t>
            </a:r>
            <a:r>
              <a:rPr lang="en-US" altLang="zh-TW" sz="1200" baseline="30000" dirty="0">
                <a:latin typeface="Times New Roman" panose="02020603050405020304" pitchFamily="18" charset="0"/>
                <a:cs typeface="Times New Roman" panose="02020603050405020304" pitchFamily="18" charset="0"/>
              </a:rPr>
              <a:t>3+</a:t>
            </a:r>
            <a:r>
              <a:rPr lang="en-US" altLang="zh-TW" sz="1200" dirty="0">
                <a:latin typeface="Times New Roman" panose="02020603050405020304" pitchFamily="18" charset="0"/>
                <a:cs typeface="Times New Roman" panose="02020603050405020304" pitchFamily="18" charset="0"/>
              </a:rPr>
              <a:t> doping concentration.</a:t>
            </a:r>
            <a:endParaRPr lang="zh-TW" altLang="en-US" sz="1200" dirty="0"/>
          </a:p>
        </p:txBody>
      </p:sp>
      <p:sp>
        <p:nvSpPr>
          <p:cNvPr id="6" name="文字方塊 5">
            <a:extLst>
              <a:ext uri="{FF2B5EF4-FFF2-40B4-BE49-F238E27FC236}">
                <a16:creationId xmlns:a16="http://schemas.microsoft.com/office/drawing/2014/main" id="{E1FEA4EA-91A4-40B3-8E65-DB4480CA97C8}"/>
              </a:ext>
            </a:extLst>
          </p:cNvPr>
          <p:cNvSpPr txBox="1"/>
          <p:nvPr/>
        </p:nvSpPr>
        <p:spPr>
          <a:xfrm>
            <a:off x="741704" y="879201"/>
            <a:ext cx="1418017" cy="369332"/>
          </a:xfrm>
          <a:prstGeom prst="rect">
            <a:avLst/>
          </a:prstGeom>
          <a:noFill/>
        </p:spPr>
        <p:txBody>
          <a:bodyPr wrap="none" rtlCol="0">
            <a:spAutoFit/>
          </a:bodyPr>
          <a:lstStyle/>
          <a:p>
            <a:r>
              <a:rPr lang="en-US" altLang="zh-TW" b="1" dirty="0">
                <a:solidFill>
                  <a:srgbClr val="FF5050"/>
                </a:solidFill>
                <a:latin typeface="Times New Roman" panose="02020603050405020304" pitchFamily="18" charset="0"/>
                <a:ea typeface="標楷體" panose="03000509000000000000" pitchFamily="65" charset="-120"/>
                <a:cs typeface="Times New Roman" panose="02020603050405020304" pitchFamily="18" charset="0"/>
              </a:rPr>
              <a:t>Higher Gain</a:t>
            </a:r>
            <a:endParaRPr lang="zh-TW" altLang="en-US" b="1" dirty="0">
              <a:solidFill>
                <a:srgbClr val="FF505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6" name="文字方塊 45">
            <a:extLst>
              <a:ext uri="{FF2B5EF4-FFF2-40B4-BE49-F238E27FC236}">
                <a16:creationId xmlns:a16="http://schemas.microsoft.com/office/drawing/2014/main" id="{9E0881B4-2D8F-4ACF-A274-E53D343C18C9}"/>
              </a:ext>
            </a:extLst>
          </p:cNvPr>
          <p:cNvSpPr txBox="1"/>
          <p:nvPr/>
        </p:nvSpPr>
        <p:spPr>
          <a:xfrm>
            <a:off x="2417881" y="1101558"/>
            <a:ext cx="1366721" cy="369332"/>
          </a:xfrm>
          <a:prstGeom prst="rect">
            <a:avLst/>
          </a:prstGeom>
          <a:noFill/>
        </p:spPr>
        <p:txBody>
          <a:bodyPr wrap="none" rtlCol="0">
            <a:spAutoFit/>
          </a:bodyPr>
          <a:lstStyle/>
          <a:p>
            <a:r>
              <a:rPr lang="en-US" altLang="zh-TW" b="1" dirty="0">
                <a:solidFill>
                  <a:srgbClr val="FF5050"/>
                </a:solidFill>
                <a:latin typeface="Times New Roman" panose="02020603050405020304" pitchFamily="18" charset="0"/>
                <a:ea typeface="標楷體" panose="03000509000000000000" pitchFamily="65" charset="-120"/>
                <a:cs typeface="Times New Roman" panose="02020603050405020304" pitchFamily="18" charset="0"/>
              </a:rPr>
              <a:t>Lower Gain</a:t>
            </a:r>
            <a:endParaRPr lang="zh-TW" altLang="en-US" b="1" dirty="0">
              <a:solidFill>
                <a:srgbClr val="FF505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箭號: 上-下雙向 8">
            <a:extLst>
              <a:ext uri="{FF2B5EF4-FFF2-40B4-BE49-F238E27FC236}">
                <a16:creationId xmlns:a16="http://schemas.microsoft.com/office/drawing/2014/main" id="{15448997-40DA-46FA-BE91-311291DFE7CA}"/>
              </a:ext>
            </a:extLst>
          </p:cNvPr>
          <p:cNvSpPr/>
          <p:nvPr/>
        </p:nvSpPr>
        <p:spPr>
          <a:xfrm>
            <a:off x="76026" y="5106004"/>
            <a:ext cx="262310" cy="909043"/>
          </a:xfrm>
          <a:prstGeom prst="upDownArrow">
            <a:avLst/>
          </a:prstGeom>
          <a:solidFill>
            <a:srgbClr val="00B0F0"/>
          </a:solidFill>
          <a:ln w="12700">
            <a:solidFill>
              <a:schemeClr val="tx1"/>
            </a:solidFill>
          </a:ln>
          <a:scene3d>
            <a:camera prst="orthographicFront"/>
            <a:lightRig rig="threePt" dir="t"/>
          </a:scene3d>
          <a:sp3d>
            <a:bevelT h="127000"/>
            <a:bevelB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351DA0D5-38A5-46FF-B9D9-04C79CC6328D}"/>
              </a:ext>
            </a:extLst>
          </p:cNvPr>
          <p:cNvSpPr txBox="1"/>
          <p:nvPr/>
        </p:nvSpPr>
        <p:spPr>
          <a:xfrm>
            <a:off x="-56935" y="4736672"/>
            <a:ext cx="530915"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TM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 name="文字方塊 19">
            <a:extLst>
              <a:ext uri="{FF2B5EF4-FFF2-40B4-BE49-F238E27FC236}">
                <a16:creationId xmlns:a16="http://schemas.microsoft.com/office/drawing/2014/main" id="{1250E606-A4D9-4CAB-B3B3-A847A189DEE6}"/>
              </a:ext>
            </a:extLst>
          </p:cNvPr>
          <p:cNvSpPr txBox="1"/>
          <p:nvPr/>
        </p:nvSpPr>
        <p:spPr>
          <a:xfrm>
            <a:off x="8536981" y="4441505"/>
            <a:ext cx="3052631" cy="400110"/>
          </a:xfrm>
          <a:prstGeom prst="rect">
            <a:avLst/>
          </a:prstGeom>
          <a:noFill/>
          <a:ln>
            <a:solidFill>
              <a:schemeClr val="tx1"/>
            </a:solidFill>
          </a:ln>
        </p:spPr>
        <p:txBody>
          <a:bodyPr wrap="none" rtlCol="0">
            <a:spAutoFit/>
          </a:bodyPr>
          <a:lstStyle/>
          <a:p>
            <a:pPr algn="ctr"/>
            <a:r>
              <a:rPr lang="en-US" altLang="zh-TW" sz="2000" b="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Linear polarized &gt; 237：1</a:t>
            </a:r>
            <a:endParaRPr lang="zh-TW" altLang="en-US" sz="2000" b="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手繪多邊形: 圖案 28">
            <a:extLst>
              <a:ext uri="{FF2B5EF4-FFF2-40B4-BE49-F238E27FC236}">
                <a16:creationId xmlns:a16="http://schemas.microsoft.com/office/drawing/2014/main" id="{A07373A6-9D56-4EDC-9EA4-25D0E2109744}"/>
              </a:ext>
            </a:extLst>
          </p:cNvPr>
          <p:cNvSpPr/>
          <p:nvPr/>
        </p:nvSpPr>
        <p:spPr>
          <a:xfrm>
            <a:off x="2434848" y="4805713"/>
            <a:ext cx="5654040" cy="671011"/>
          </a:xfrm>
          <a:custGeom>
            <a:avLst/>
            <a:gdLst>
              <a:gd name="connsiteX0" fmla="*/ 0 w 5654040"/>
              <a:gd name="connsiteY0" fmla="*/ 0 h 671011"/>
              <a:gd name="connsiteX1" fmla="*/ 1031240 w 5654040"/>
              <a:gd name="connsiteY1" fmla="*/ 574040 h 671011"/>
              <a:gd name="connsiteX2" fmla="*/ 5654040 w 5654040"/>
              <a:gd name="connsiteY2" fmla="*/ 665480 h 671011"/>
            </a:gdLst>
            <a:ahLst/>
            <a:cxnLst>
              <a:cxn ang="0">
                <a:pos x="connsiteX0" y="connsiteY0"/>
              </a:cxn>
              <a:cxn ang="0">
                <a:pos x="connsiteX1" y="connsiteY1"/>
              </a:cxn>
              <a:cxn ang="0">
                <a:pos x="connsiteX2" y="connsiteY2"/>
              </a:cxn>
            </a:cxnLst>
            <a:rect l="l" t="t" r="r" b="b"/>
            <a:pathLst>
              <a:path w="5654040" h="671011">
                <a:moveTo>
                  <a:pt x="0" y="0"/>
                </a:moveTo>
                <a:cubicBezTo>
                  <a:pt x="44450" y="231563"/>
                  <a:pt x="88900" y="463127"/>
                  <a:pt x="1031240" y="574040"/>
                </a:cubicBezTo>
                <a:cubicBezTo>
                  <a:pt x="1973580" y="684953"/>
                  <a:pt x="3813810" y="675216"/>
                  <a:pt x="5654040" y="66548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48" name="手繪多邊形: 圖案 47">
            <a:extLst>
              <a:ext uri="{FF2B5EF4-FFF2-40B4-BE49-F238E27FC236}">
                <a16:creationId xmlns:a16="http://schemas.microsoft.com/office/drawing/2014/main" id="{10678B6F-BE05-4810-B787-101DEB80FA73}"/>
              </a:ext>
            </a:extLst>
          </p:cNvPr>
          <p:cNvSpPr/>
          <p:nvPr/>
        </p:nvSpPr>
        <p:spPr>
          <a:xfrm flipV="1">
            <a:off x="2457354" y="5599930"/>
            <a:ext cx="5654040" cy="671011"/>
          </a:xfrm>
          <a:custGeom>
            <a:avLst/>
            <a:gdLst>
              <a:gd name="connsiteX0" fmla="*/ 0 w 5654040"/>
              <a:gd name="connsiteY0" fmla="*/ 0 h 671011"/>
              <a:gd name="connsiteX1" fmla="*/ 1031240 w 5654040"/>
              <a:gd name="connsiteY1" fmla="*/ 574040 h 671011"/>
              <a:gd name="connsiteX2" fmla="*/ 5654040 w 5654040"/>
              <a:gd name="connsiteY2" fmla="*/ 665480 h 671011"/>
            </a:gdLst>
            <a:ahLst/>
            <a:cxnLst>
              <a:cxn ang="0">
                <a:pos x="connsiteX0" y="connsiteY0"/>
              </a:cxn>
              <a:cxn ang="0">
                <a:pos x="connsiteX1" y="connsiteY1"/>
              </a:cxn>
              <a:cxn ang="0">
                <a:pos x="connsiteX2" y="connsiteY2"/>
              </a:cxn>
            </a:cxnLst>
            <a:rect l="l" t="t" r="r" b="b"/>
            <a:pathLst>
              <a:path w="5654040" h="671011">
                <a:moveTo>
                  <a:pt x="0" y="0"/>
                </a:moveTo>
                <a:cubicBezTo>
                  <a:pt x="44450" y="231563"/>
                  <a:pt x="88900" y="463127"/>
                  <a:pt x="1031240" y="574040"/>
                </a:cubicBezTo>
                <a:cubicBezTo>
                  <a:pt x="1973580" y="684953"/>
                  <a:pt x="3813810" y="675216"/>
                  <a:pt x="5654040" y="665480"/>
                </a:cubicBezTo>
              </a:path>
            </a:pathLst>
          </a:custGeom>
          <a:noFill/>
          <a:ln>
            <a:solidFill>
              <a:srgbClr val="FF00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E3355CD0-729A-477E-8CDD-9A9E7FE56D67}"/>
              </a:ext>
            </a:extLst>
          </p:cNvPr>
          <p:cNvSpPr/>
          <p:nvPr/>
        </p:nvSpPr>
        <p:spPr>
          <a:xfrm>
            <a:off x="6237273" y="4639220"/>
            <a:ext cx="240258" cy="1880230"/>
          </a:xfrm>
          <a:prstGeom prst="rect">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立方體 22">
            <a:extLst>
              <a:ext uri="{FF2B5EF4-FFF2-40B4-BE49-F238E27FC236}">
                <a16:creationId xmlns:a16="http://schemas.microsoft.com/office/drawing/2014/main" id="{0C6D5528-95F9-4BD4-BA34-3E10AE8DBD47}"/>
              </a:ext>
            </a:extLst>
          </p:cNvPr>
          <p:cNvSpPr/>
          <p:nvPr/>
        </p:nvSpPr>
        <p:spPr>
          <a:xfrm>
            <a:off x="3009465" y="5058005"/>
            <a:ext cx="1134725" cy="901561"/>
          </a:xfrm>
          <a:prstGeom prst="cube">
            <a:avLst/>
          </a:prstGeom>
          <a:solidFill>
            <a:schemeClr val="bg1">
              <a:lumMod val="95000"/>
            </a:schemeClr>
          </a:solid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47" name="矩形 46">
            <a:extLst>
              <a:ext uri="{FF2B5EF4-FFF2-40B4-BE49-F238E27FC236}">
                <a16:creationId xmlns:a16="http://schemas.microsoft.com/office/drawing/2014/main" id="{1E018E33-9C6E-4C38-827D-C84C717DF044}"/>
              </a:ext>
            </a:extLst>
          </p:cNvPr>
          <p:cNvSpPr/>
          <p:nvPr/>
        </p:nvSpPr>
        <p:spPr>
          <a:xfrm>
            <a:off x="7996846" y="5492114"/>
            <a:ext cx="108530" cy="971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3846D1EA-C208-4E51-96E9-1C122096A703}"/>
              </a:ext>
            </a:extLst>
          </p:cNvPr>
          <p:cNvSpPr/>
          <p:nvPr/>
        </p:nvSpPr>
        <p:spPr>
          <a:xfrm>
            <a:off x="7990397" y="5485966"/>
            <a:ext cx="108530" cy="971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DFA84994-74BB-4F09-B310-3C6C1A8CAB01}"/>
              </a:ext>
            </a:extLst>
          </p:cNvPr>
          <p:cNvSpPr/>
          <p:nvPr/>
        </p:nvSpPr>
        <p:spPr>
          <a:xfrm>
            <a:off x="6240345" y="4639218"/>
            <a:ext cx="240258" cy="1880230"/>
          </a:xfrm>
          <a:prstGeom prst="rect">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49441283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1375 0 " pathEditMode="relative" ptsTypes="AA">
                                      <p:cBhvr>
                                        <p:cTn id="6" dur="2000" fill="hold"/>
                                        <p:tgtEl>
                                          <p:spTgt spid="16"/>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1375 0 " pathEditMode="relative" ptsTypes="AA">
                                      <p:cBhvr>
                                        <p:cTn id="8" dur="2000" fill="hold"/>
                                        <p:tgtEl>
                                          <p:spTgt spid="2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3908121"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Electro-optic Effect</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C917D7D-03D8-4574-9996-E5D988EC8375}"/>
                  </a:ext>
                </a:extLst>
              </p:cNvPr>
              <p:cNvSpPr/>
              <p:nvPr/>
            </p:nvSpPr>
            <p:spPr>
              <a:xfrm>
                <a:off x="214712" y="1099193"/>
                <a:ext cx="1972848" cy="15006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sz="1400" i="1" smtClean="0">
                              <a:latin typeface="Cambria Math" panose="02040503050406030204" pitchFamily="18" charset="0"/>
                            </a:rPr>
                          </m:ctrlPr>
                        </m:sSubPr>
                        <m:e>
                          <m:r>
                            <a:rPr lang="zh-TW" altLang="en-US" sz="1400" i="1">
                              <a:latin typeface="Cambria Math" panose="02040503050406030204" pitchFamily="18" charset="0"/>
                            </a:rPr>
                            <m:t>𝜂</m:t>
                          </m:r>
                        </m:e>
                        <m:sub>
                          <m:r>
                            <a:rPr lang="zh-TW" altLang="en-US" sz="1400" i="1">
                              <a:latin typeface="Cambria Math" panose="02040503050406030204" pitchFamily="18" charset="0"/>
                            </a:rPr>
                            <m:t>𝑖𝑗</m:t>
                          </m:r>
                        </m:sub>
                      </m:sSub>
                      <m:r>
                        <a:rPr lang="en-US" altLang="zh-TW" sz="1400" i="1" smtClean="0">
                          <a:latin typeface="Cambria Math" panose="02040503050406030204" pitchFamily="18" charset="0"/>
                        </a:rPr>
                        <m:t>(</m:t>
                      </m:r>
                      <m:r>
                        <a:rPr lang="en-US" altLang="zh-TW" sz="1400" i="1">
                          <a:latin typeface="Cambria Math" panose="02040503050406030204" pitchFamily="18" charset="0"/>
                        </a:rPr>
                        <m:t>0)</m:t>
                      </m:r>
                      <m:r>
                        <a:rPr lang="zh-TW" altLang="en-US" sz="1400" i="0">
                          <a:latin typeface="Cambria Math" panose="02040503050406030204" pitchFamily="18" charset="0"/>
                        </a:rPr>
                        <m:t>=</m:t>
                      </m:r>
                      <m:d>
                        <m:dPr>
                          <m:begChr m:val="["/>
                          <m:endChr m:val="]"/>
                          <m:ctrlPr>
                            <a:rPr lang="zh-TW" altLang="en-US" sz="1400" i="1">
                              <a:latin typeface="Cambria Math" panose="02040503050406030204" pitchFamily="18" charset="0"/>
                            </a:rPr>
                          </m:ctrlPr>
                        </m:dPr>
                        <m:e>
                          <m:m>
                            <m:mPr>
                              <m:plcHide m:val="on"/>
                              <m:mcs>
                                <m:mc>
                                  <m:mcPr>
                                    <m:count m:val="3"/>
                                    <m:mcJc m:val="center"/>
                                  </m:mcPr>
                                </m:mc>
                              </m:mcs>
                              <m:ctrlPr>
                                <a:rPr lang="zh-TW" altLang="en-US" sz="1400" i="1">
                                  <a:latin typeface="Cambria Math" panose="02040503050406030204" pitchFamily="18" charset="0"/>
                                </a:rPr>
                              </m:ctrlPr>
                            </m:mPr>
                            <m:mr>
                              <m:e>
                                <m:f>
                                  <m:fPr>
                                    <m:ctrlPr>
                                      <a:rPr lang="zh-TW" altLang="en-US" sz="1400" i="1">
                                        <a:latin typeface="Cambria Math" panose="02040503050406030204" pitchFamily="18" charset="0"/>
                                      </a:rPr>
                                    </m:ctrlPr>
                                  </m:fPr>
                                  <m:num>
                                    <m:r>
                                      <a:rPr lang="zh-TW" altLang="en-US" sz="1400" i="0">
                                        <a:latin typeface="Cambria Math" panose="02040503050406030204" pitchFamily="18" charset="0"/>
                                      </a:rPr>
                                      <m:t>1</m:t>
                                    </m:r>
                                  </m:num>
                                  <m:den>
                                    <m:sSubSup>
                                      <m:sSubSupPr>
                                        <m:ctrlPr>
                                          <a:rPr lang="zh-TW" altLang="en-US" sz="1400" i="1">
                                            <a:latin typeface="Cambria Math" panose="02040503050406030204" pitchFamily="18" charset="0"/>
                                          </a:rPr>
                                        </m:ctrlPr>
                                      </m:sSubSupPr>
                                      <m:e>
                                        <m:r>
                                          <a:rPr lang="zh-TW" altLang="en-US" sz="1400" i="1">
                                            <a:latin typeface="Cambria Math" panose="02040503050406030204" pitchFamily="18" charset="0"/>
                                          </a:rPr>
                                          <m:t>𝑛</m:t>
                                        </m:r>
                                      </m:e>
                                      <m:sub>
                                        <m:r>
                                          <a:rPr lang="zh-TW" altLang="en-US" sz="1400" i="1">
                                            <a:latin typeface="Cambria Math" panose="02040503050406030204" pitchFamily="18" charset="0"/>
                                          </a:rPr>
                                          <m:t>𝑜</m:t>
                                        </m:r>
                                      </m:sub>
                                      <m:sup>
                                        <m:r>
                                          <a:rPr lang="zh-TW" altLang="en-US" sz="1400" i="0">
                                            <a:latin typeface="Cambria Math" panose="02040503050406030204" pitchFamily="18" charset="0"/>
                                          </a:rPr>
                                          <m:t>2</m:t>
                                        </m:r>
                                      </m:sup>
                                    </m:sSubSup>
                                  </m:den>
                                </m:f>
                              </m:e>
                              <m:e>
                                <m:r>
                                  <a:rPr lang="zh-TW" altLang="en-US" sz="1400" i="0">
                                    <a:latin typeface="Cambria Math" panose="02040503050406030204" pitchFamily="18" charset="0"/>
                                  </a:rPr>
                                  <m:t>0</m:t>
                                </m:r>
                              </m:e>
                              <m:e>
                                <m:r>
                                  <a:rPr lang="zh-TW" altLang="en-US" sz="1400" i="0">
                                    <a:latin typeface="Cambria Math" panose="02040503050406030204" pitchFamily="18" charset="0"/>
                                  </a:rPr>
                                  <m:t>0</m:t>
                                </m:r>
                              </m:e>
                            </m:mr>
                            <m:mr>
                              <m:e>
                                <m:r>
                                  <a:rPr lang="zh-TW" altLang="en-US" sz="1400" i="0">
                                    <a:latin typeface="Cambria Math" panose="02040503050406030204" pitchFamily="18" charset="0"/>
                                  </a:rPr>
                                  <m:t>0</m:t>
                                </m:r>
                              </m:e>
                              <m:e>
                                <m:f>
                                  <m:fPr>
                                    <m:ctrlPr>
                                      <a:rPr lang="zh-TW" altLang="en-US" sz="1400" i="1">
                                        <a:latin typeface="Cambria Math" panose="02040503050406030204" pitchFamily="18" charset="0"/>
                                      </a:rPr>
                                    </m:ctrlPr>
                                  </m:fPr>
                                  <m:num>
                                    <m:r>
                                      <a:rPr lang="zh-TW" altLang="en-US" sz="1400" i="0">
                                        <a:latin typeface="Cambria Math" panose="02040503050406030204" pitchFamily="18" charset="0"/>
                                      </a:rPr>
                                      <m:t>1</m:t>
                                    </m:r>
                                  </m:num>
                                  <m:den>
                                    <m:sSubSup>
                                      <m:sSubSupPr>
                                        <m:ctrlPr>
                                          <a:rPr lang="zh-TW" altLang="en-US" sz="1400" i="1">
                                            <a:latin typeface="Cambria Math" panose="02040503050406030204" pitchFamily="18" charset="0"/>
                                          </a:rPr>
                                        </m:ctrlPr>
                                      </m:sSubSupPr>
                                      <m:e>
                                        <m:r>
                                          <a:rPr lang="zh-TW" altLang="en-US" sz="1400" i="1">
                                            <a:latin typeface="Cambria Math" panose="02040503050406030204" pitchFamily="18" charset="0"/>
                                          </a:rPr>
                                          <m:t>𝑛</m:t>
                                        </m:r>
                                      </m:e>
                                      <m:sub>
                                        <m:r>
                                          <a:rPr lang="zh-TW" altLang="en-US" sz="1400" i="1">
                                            <a:latin typeface="Cambria Math" panose="02040503050406030204" pitchFamily="18" charset="0"/>
                                          </a:rPr>
                                          <m:t>𝑜</m:t>
                                        </m:r>
                                      </m:sub>
                                      <m:sup>
                                        <m:r>
                                          <a:rPr lang="zh-TW" altLang="en-US" sz="1400" i="0">
                                            <a:latin typeface="Cambria Math" panose="02040503050406030204" pitchFamily="18" charset="0"/>
                                          </a:rPr>
                                          <m:t>2</m:t>
                                        </m:r>
                                      </m:sup>
                                    </m:sSubSup>
                                  </m:den>
                                </m:f>
                              </m:e>
                              <m:e>
                                <m:r>
                                  <a:rPr lang="zh-TW" altLang="en-US" sz="1400" i="0">
                                    <a:latin typeface="Cambria Math" panose="02040503050406030204" pitchFamily="18" charset="0"/>
                                  </a:rPr>
                                  <m:t>0</m:t>
                                </m:r>
                              </m:e>
                            </m:mr>
                            <m:mr>
                              <m:e>
                                <m:r>
                                  <a:rPr lang="zh-TW" altLang="en-US" sz="1400" i="0">
                                    <a:latin typeface="Cambria Math" panose="02040503050406030204" pitchFamily="18" charset="0"/>
                                  </a:rPr>
                                  <m:t>0</m:t>
                                </m:r>
                              </m:e>
                              <m:e>
                                <m:r>
                                  <a:rPr lang="zh-TW" altLang="en-US" sz="1400" i="0">
                                    <a:latin typeface="Cambria Math" panose="02040503050406030204" pitchFamily="18" charset="0"/>
                                  </a:rPr>
                                  <m:t>0</m:t>
                                </m:r>
                              </m:e>
                              <m:e>
                                <m:f>
                                  <m:fPr>
                                    <m:ctrlPr>
                                      <a:rPr lang="zh-TW" altLang="en-US" sz="1400" i="1">
                                        <a:latin typeface="Cambria Math" panose="02040503050406030204" pitchFamily="18" charset="0"/>
                                      </a:rPr>
                                    </m:ctrlPr>
                                  </m:fPr>
                                  <m:num>
                                    <m:r>
                                      <a:rPr lang="zh-TW" altLang="en-US" sz="1400" i="0">
                                        <a:latin typeface="Cambria Math" panose="02040503050406030204" pitchFamily="18" charset="0"/>
                                      </a:rPr>
                                      <m:t>1</m:t>
                                    </m:r>
                                  </m:num>
                                  <m:den>
                                    <m:sSubSup>
                                      <m:sSubSupPr>
                                        <m:ctrlPr>
                                          <a:rPr lang="zh-TW" altLang="en-US" sz="1400" i="1">
                                            <a:latin typeface="Cambria Math" panose="02040503050406030204" pitchFamily="18" charset="0"/>
                                          </a:rPr>
                                        </m:ctrlPr>
                                      </m:sSubSupPr>
                                      <m:e>
                                        <m:r>
                                          <a:rPr lang="zh-TW" altLang="en-US" sz="1400" i="1">
                                            <a:latin typeface="Cambria Math" panose="02040503050406030204" pitchFamily="18" charset="0"/>
                                          </a:rPr>
                                          <m:t>𝑛</m:t>
                                        </m:r>
                                      </m:e>
                                      <m:sub>
                                        <m:r>
                                          <a:rPr lang="zh-TW" altLang="en-US" sz="1400" i="1">
                                            <a:latin typeface="Cambria Math" panose="02040503050406030204" pitchFamily="18" charset="0"/>
                                          </a:rPr>
                                          <m:t>𝑒</m:t>
                                        </m:r>
                                      </m:sub>
                                      <m:sup>
                                        <m:r>
                                          <a:rPr lang="zh-TW" altLang="en-US" sz="1400" i="0">
                                            <a:latin typeface="Cambria Math" panose="02040503050406030204" pitchFamily="18" charset="0"/>
                                          </a:rPr>
                                          <m:t>2</m:t>
                                        </m:r>
                                      </m:sup>
                                    </m:sSubSup>
                                  </m:den>
                                </m:f>
                              </m:e>
                            </m:mr>
                          </m:m>
                        </m:e>
                      </m:d>
                    </m:oMath>
                  </m:oMathPara>
                </a14:m>
                <a:endParaRPr lang="zh-TW" altLang="en-US" sz="1400" dirty="0"/>
              </a:p>
            </p:txBody>
          </p:sp>
        </mc:Choice>
        <mc:Fallback xmlns="">
          <p:sp>
            <p:nvSpPr>
              <p:cNvPr id="2" name="矩形 1">
                <a:extLst>
                  <a:ext uri="{FF2B5EF4-FFF2-40B4-BE49-F238E27FC236}">
                    <a16:creationId xmlns:a16="http://schemas.microsoft.com/office/drawing/2014/main" id="{EC917D7D-03D8-4574-9996-E5D988EC8375}"/>
                  </a:ext>
                </a:extLst>
              </p:cNvPr>
              <p:cNvSpPr>
                <a:spLocks noRot="1" noChangeAspect="1" noMove="1" noResize="1" noEditPoints="1" noAdjustHandles="1" noChangeArrowheads="1" noChangeShapeType="1" noTextEdit="1"/>
              </p:cNvSpPr>
              <p:nvPr/>
            </p:nvSpPr>
            <p:spPr>
              <a:xfrm>
                <a:off x="214712" y="1099193"/>
                <a:ext cx="1972848" cy="150060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82E8214-855E-4795-A97F-4A33EC51F6FA}"/>
                  </a:ext>
                </a:extLst>
              </p:cNvPr>
              <p:cNvSpPr/>
              <p:nvPr/>
            </p:nvSpPr>
            <p:spPr>
              <a:xfrm>
                <a:off x="622872" y="3042098"/>
                <a:ext cx="3938899" cy="11184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TW" altLang="en-US" sz="1050" i="1" smtClean="0">
                              <a:latin typeface="Cambria Math" panose="02040503050406030204" pitchFamily="18" charset="0"/>
                            </a:rPr>
                          </m:ctrlPr>
                        </m:dPr>
                        <m:e>
                          <m:r>
                            <m:rPr>
                              <m:sty m:val="p"/>
                            </m:rPr>
                            <a:rPr lang="zh-TW" altLang="en-US" sz="1050">
                              <a:latin typeface="Cambria Math" panose="02040503050406030204" pitchFamily="18" charset="0"/>
                            </a:rPr>
                            <m:t>Δ</m:t>
                          </m:r>
                          <m:sSub>
                            <m:sSubPr>
                              <m:ctrlPr>
                                <a:rPr lang="zh-TW" altLang="en-US" sz="1050" i="1">
                                  <a:latin typeface="Cambria Math" panose="02040503050406030204" pitchFamily="18" charset="0"/>
                                </a:rPr>
                              </m:ctrlPr>
                            </m:sSubPr>
                            <m:e>
                              <m:r>
                                <a:rPr lang="zh-TW" altLang="en-US" sz="1050" i="1">
                                  <a:latin typeface="Cambria Math" panose="02040503050406030204" pitchFamily="18" charset="0"/>
                                </a:rPr>
                                <m:t>𝜂</m:t>
                              </m:r>
                            </m:e>
                            <m:sub>
                              <m:r>
                                <a:rPr lang="zh-TW" altLang="en-US" sz="1050" i="1">
                                  <a:latin typeface="Cambria Math" panose="02040503050406030204" pitchFamily="18" charset="0"/>
                                </a:rPr>
                                <m:t>𝑖𝑗</m:t>
                              </m:r>
                            </m:sub>
                          </m:sSub>
                          <m:d>
                            <m:dPr>
                              <m:ctrlPr>
                                <a:rPr lang="zh-TW" altLang="en-US" sz="1050" i="1">
                                  <a:latin typeface="Cambria Math" panose="02040503050406030204" pitchFamily="18" charset="0"/>
                                </a:rPr>
                              </m:ctrlPr>
                            </m:dPr>
                            <m:e>
                              <m:r>
                                <a:rPr lang="zh-TW" altLang="en-US" sz="1050" i="1">
                                  <a:latin typeface="Cambria Math" panose="02040503050406030204" pitchFamily="18" charset="0"/>
                                </a:rPr>
                                <m:t>𝐸</m:t>
                              </m:r>
                            </m:e>
                          </m:d>
                        </m:e>
                      </m:d>
                      <m:r>
                        <a:rPr lang="zh-TW" altLang="en-US" sz="1050" i="0">
                          <a:latin typeface="Cambria Math" panose="02040503050406030204" pitchFamily="18" charset="0"/>
                        </a:rPr>
                        <m:t>=</m:t>
                      </m:r>
                      <m:nary>
                        <m:naryPr>
                          <m:chr m:val="∑"/>
                          <m:limLoc m:val="subSup"/>
                          <m:supHide m:val="on"/>
                          <m:ctrlPr>
                            <a:rPr lang="zh-TW" altLang="en-US" sz="1050" i="1" smtClean="0">
                              <a:latin typeface="Cambria Math" panose="02040503050406030204" pitchFamily="18" charset="0"/>
                            </a:rPr>
                          </m:ctrlPr>
                        </m:naryPr>
                        <m:sub>
                          <m:r>
                            <m:rPr>
                              <m:brk m:alnAt="9"/>
                            </m:rPr>
                            <a:rPr lang="en-US" altLang="zh-TW" sz="1050" b="0" i="1" smtClean="0">
                              <a:latin typeface="Cambria Math" panose="02040503050406030204" pitchFamily="18" charset="0"/>
                            </a:rPr>
                            <m:t>𝑘</m:t>
                          </m:r>
                        </m:sub>
                        <m:sup/>
                        <m:e>
                          <m:sSub>
                            <m:sSubPr>
                              <m:ctrlPr>
                                <a:rPr lang="zh-TW" altLang="zh-TW" sz="1050" i="1">
                                  <a:latin typeface="Cambria Math" panose="02040503050406030204" pitchFamily="18" charset="0"/>
                                </a:rPr>
                              </m:ctrlPr>
                            </m:sSubPr>
                            <m:e>
                              <m:r>
                                <a:rPr lang="en-US" altLang="zh-TW" sz="1050" i="1">
                                  <a:latin typeface="Cambria Math" panose="02040503050406030204" pitchFamily="18" charset="0"/>
                                </a:rPr>
                                <m:t>𝑟</m:t>
                              </m:r>
                            </m:e>
                            <m:sub>
                              <m:r>
                                <a:rPr lang="en-US" altLang="zh-TW" sz="1050" i="1">
                                  <a:latin typeface="Cambria Math" panose="02040503050406030204" pitchFamily="18" charset="0"/>
                                </a:rPr>
                                <m:t>𝑖𝑗𝑘</m:t>
                              </m:r>
                            </m:sub>
                          </m:sSub>
                          <m:sSub>
                            <m:sSubPr>
                              <m:ctrlPr>
                                <a:rPr lang="zh-TW" altLang="zh-TW" sz="1050" i="1">
                                  <a:latin typeface="Cambria Math" panose="02040503050406030204" pitchFamily="18" charset="0"/>
                                </a:rPr>
                              </m:ctrlPr>
                            </m:sSubPr>
                            <m:e>
                              <m:r>
                                <a:rPr lang="en-US" altLang="zh-TW" sz="1050" i="1">
                                  <a:latin typeface="Cambria Math" panose="02040503050406030204" pitchFamily="18" charset="0"/>
                                </a:rPr>
                                <m:t>𝐸</m:t>
                              </m:r>
                            </m:e>
                            <m:sub>
                              <m:r>
                                <a:rPr lang="en-US" altLang="zh-TW" sz="1050" i="1">
                                  <a:latin typeface="Cambria Math" panose="02040503050406030204" pitchFamily="18" charset="0"/>
                                </a:rPr>
                                <m:t>𝑘</m:t>
                              </m:r>
                            </m:sub>
                          </m:sSub>
                        </m:e>
                      </m:nary>
                      <m:r>
                        <a:rPr lang="en-US" altLang="zh-TW" sz="1050" b="0" i="0" smtClean="0">
                          <a:latin typeface="Cambria Math" panose="02040503050406030204" pitchFamily="18" charset="0"/>
                        </a:rPr>
                        <m:t>=</m:t>
                      </m:r>
                      <m:d>
                        <m:dPr>
                          <m:begChr m:val="["/>
                          <m:endChr m:val="]"/>
                          <m:ctrlPr>
                            <a:rPr lang="zh-TW" altLang="en-US" sz="1050" i="1" smtClean="0">
                              <a:latin typeface="Cambria Math" panose="02040503050406030204" pitchFamily="18" charset="0"/>
                            </a:rPr>
                          </m:ctrlPr>
                        </m:dPr>
                        <m:e>
                          <m:eqArr>
                            <m:eqArrPr>
                              <m:ctrlPr>
                                <a:rPr lang="zh-TW" altLang="en-US" sz="1050" i="1">
                                  <a:latin typeface="Cambria Math" panose="02040503050406030204" pitchFamily="18" charset="0"/>
                                </a:rPr>
                              </m:ctrlPr>
                            </m:eqArrPr>
                            <m:e>
                              <m:r>
                                <a:rPr lang="zh-TW" altLang="en-US" sz="1050" i="0">
                                  <a:latin typeface="Cambria Math" panose="02040503050406030204" pitchFamily="18" charset="0"/>
                                </a:rPr>
                                <m:t>&amp;</m:t>
                              </m:r>
                              <m:m>
                                <m:mPr>
                                  <m:plcHide m:val="on"/>
                                  <m:mcs>
                                    <m:mc>
                                      <m:mcPr>
                                        <m:count m:val="1"/>
                                        <m:mcJc m:val="center"/>
                                      </m:mcPr>
                                    </m:mc>
                                  </m:mcs>
                                  <m:ctrlPr>
                                    <a:rPr lang="zh-TW" altLang="en-US" sz="1050" i="1">
                                      <a:latin typeface="Cambria Math" panose="02040503050406030204" pitchFamily="18" charset="0"/>
                                    </a:rPr>
                                  </m:ctrlPr>
                                </m:mPr>
                                <m:mr>
                                  <m:e>
                                    <m:r>
                                      <a:rPr lang="zh-TW" altLang="en-US" sz="1050" i="0">
                                        <a:latin typeface="Cambria Math" panose="02040503050406030204" pitchFamily="18" charset="0"/>
                                      </a:rPr>
                                      <m:t>∆</m:t>
                                    </m:r>
                                    <m:sSub>
                                      <m:sSubPr>
                                        <m:ctrlPr>
                                          <a:rPr lang="zh-TW" altLang="en-US" sz="1050" i="1">
                                            <a:latin typeface="Cambria Math" panose="02040503050406030204" pitchFamily="18" charset="0"/>
                                          </a:rPr>
                                        </m:ctrlPr>
                                      </m:sSubPr>
                                      <m:e>
                                        <m:r>
                                          <a:rPr lang="zh-TW" altLang="en-US" sz="1050" i="1">
                                            <a:latin typeface="Cambria Math" panose="02040503050406030204" pitchFamily="18" charset="0"/>
                                          </a:rPr>
                                          <m:t>𝜂</m:t>
                                        </m:r>
                                      </m:e>
                                      <m:sub>
                                        <m:r>
                                          <a:rPr lang="zh-TW" altLang="en-US" sz="1050" i="0">
                                            <a:latin typeface="Cambria Math" panose="02040503050406030204" pitchFamily="18" charset="0"/>
                                          </a:rPr>
                                          <m:t>1</m:t>
                                        </m:r>
                                      </m:sub>
                                    </m:sSub>
                                  </m:e>
                                </m:mr>
                                <m:mr>
                                  <m:e>
                                    <m:r>
                                      <a:rPr lang="zh-TW" altLang="en-US" sz="1050" i="0">
                                        <a:latin typeface="Cambria Math" panose="02040503050406030204" pitchFamily="18" charset="0"/>
                                      </a:rPr>
                                      <m:t>∆</m:t>
                                    </m:r>
                                    <m:sSub>
                                      <m:sSubPr>
                                        <m:ctrlPr>
                                          <a:rPr lang="zh-TW" altLang="en-US" sz="1050" i="1">
                                            <a:latin typeface="Cambria Math" panose="02040503050406030204" pitchFamily="18" charset="0"/>
                                          </a:rPr>
                                        </m:ctrlPr>
                                      </m:sSubPr>
                                      <m:e>
                                        <m:r>
                                          <a:rPr lang="zh-TW" altLang="en-US" sz="1050" i="1">
                                            <a:latin typeface="Cambria Math" panose="02040503050406030204" pitchFamily="18" charset="0"/>
                                          </a:rPr>
                                          <m:t>𝜂</m:t>
                                        </m:r>
                                      </m:e>
                                      <m:sub>
                                        <m:r>
                                          <a:rPr lang="zh-TW" altLang="en-US" sz="1050" i="0">
                                            <a:latin typeface="Cambria Math" panose="02040503050406030204" pitchFamily="18" charset="0"/>
                                          </a:rPr>
                                          <m:t>2</m:t>
                                        </m:r>
                                      </m:sub>
                                    </m:sSub>
                                  </m:e>
                                </m:mr>
                                <m:mr>
                                  <m:e>
                                    <m:r>
                                      <a:rPr lang="zh-TW" altLang="en-US" sz="1050" i="0">
                                        <a:latin typeface="Cambria Math" panose="02040503050406030204" pitchFamily="18" charset="0"/>
                                      </a:rPr>
                                      <m:t>∆</m:t>
                                    </m:r>
                                    <m:sSub>
                                      <m:sSubPr>
                                        <m:ctrlPr>
                                          <a:rPr lang="zh-TW" altLang="en-US" sz="1050" i="1">
                                            <a:latin typeface="Cambria Math" panose="02040503050406030204" pitchFamily="18" charset="0"/>
                                          </a:rPr>
                                        </m:ctrlPr>
                                      </m:sSubPr>
                                      <m:e>
                                        <m:r>
                                          <a:rPr lang="zh-TW" altLang="en-US" sz="1050" i="1">
                                            <a:latin typeface="Cambria Math" panose="02040503050406030204" pitchFamily="18" charset="0"/>
                                          </a:rPr>
                                          <m:t>𝜂</m:t>
                                        </m:r>
                                      </m:e>
                                      <m:sub>
                                        <m:r>
                                          <a:rPr lang="zh-TW" altLang="en-US" sz="1050" i="0">
                                            <a:latin typeface="Cambria Math" panose="02040503050406030204" pitchFamily="18" charset="0"/>
                                          </a:rPr>
                                          <m:t>3</m:t>
                                        </m:r>
                                      </m:sub>
                                    </m:sSub>
                                  </m:e>
                                </m:mr>
                              </m:m>
                            </m:e>
                            <m:e>
                              <m:r>
                                <a:rPr lang="zh-TW" altLang="en-US" sz="1050" i="0">
                                  <a:latin typeface="Cambria Math" panose="02040503050406030204" pitchFamily="18" charset="0"/>
                                </a:rPr>
                                <m:t>&amp;∆</m:t>
                              </m:r>
                              <m:sSub>
                                <m:sSubPr>
                                  <m:ctrlPr>
                                    <a:rPr lang="zh-TW" altLang="en-US" sz="1050" i="1">
                                      <a:latin typeface="Cambria Math" panose="02040503050406030204" pitchFamily="18" charset="0"/>
                                    </a:rPr>
                                  </m:ctrlPr>
                                </m:sSubPr>
                                <m:e>
                                  <m:r>
                                    <a:rPr lang="zh-TW" altLang="en-US" sz="1050" i="1">
                                      <a:latin typeface="Cambria Math" panose="02040503050406030204" pitchFamily="18" charset="0"/>
                                    </a:rPr>
                                    <m:t>𝜂</m:t>
                                  </m:r>
                                </m:e>
                                <m:sub>
                                  <m:r>
                                    <a:rPr lang="zh-TW" altLang="en-US" sz="1050" i="0">
                                      <a:latin typeface="Cambria Math" panose="02040503050406030204" pitchFamily="18" charset="0"/>
                                    </a:rPr>
                                    <m:t>4</m:t>
                                  </m:r>
                                </m:sub>
                              </m:sSub>
                            </m:e>
                            <m:e>
                              <m:r>
                                <a:rPr lang="zh-TW" altLang="en-US" sz="1050" i="0">
                                  <a:latin typeface="Cambria Math" panose="02040503050406030204" pitchFamily="18" charset="0"/>
                                </a:rPr>
                                <m:t>&amp;∆</m:t>
                              </m:r>
                              <m:sSub>
                                <m:sSubPr>
                                  <m:ctrlPr>
                                    <a:rPr lang="zh-TW" altLang="en-US" sz="1050" i="1">
                                      <a:latin typeface="Cambria Math" panose="02040503050406030204" pitchFamily="18" charset="0"/>
                                    </a:rPr>
                                  </m:ctrlPr>
                                </m:sSubPr>
                                <m:e>
                                  <m:r>
                                    <a:rPr lang="zh-TW" altLang="en-US" sz="1050" i="1">
                                      <a:latin typeface="Cambria Math" panose="02040503050406030204" pitchFamily="18" charset="0"/>
                                    </a:rPr>
                                    <m:t>𝜂</m:t>
                                  </m:r>
                                </m:e>
                                <m:sub>
                                  <m:r>
                                    <a:rPr lang="zh-TW" altLang="en-US" sz="1050" i="0">
                                      <a:latin typeface="Cambria Math" panose="02040503050406030204" pitchFamily="18" charset="0"/>
                                    </a:rPr>
                                    <m:t>5</m:t>
                                  </m:r>
                                </m:sub>
                              </m:sSub>
                            </m:e>
                            <m:e>
                              <m:r>
                                <a:rPr lang="zh-TW" altLang="en-US" sz="1050" i="0">
                                  <a:latin typeface="Cambria Math" panose="02040503050406030204" pitchFamily="18" charset="0"/>
                                </a:rPr>
                                <m:t>&amp;∆</m:t>
                              </m:r>
                              <m:sSub>
                                <m:sSubPr>
                                  <m:ctrlPr>
                                    <a:rPr lang="zh-TW" altLang="en-US" sz="1050" i="1">
                                      <a:latin typeface="Cambria Math" panose="02040503050406030204" pitchFamily="18" charset="0"/>
                                    </a:rPr>
                                  </m:ctrlPr>
                                </m:sSubPr>
                                <m:e>
                                  <m:r>
                                    <a:rPr lang="zh-TW" altLang="en-US" sz="1050" i="1">
                                      <a:latin typeface="Cambria Math" panose="02040503050406030204" pitchFamily="18" charset="0"/>
                                    </a:rPr>
                                    <m:t>𝜂</m:t>
                                  </m:r>
                                </m:e>
                                <m:sub>
                                  <m:r>
                                    <a:rPr lang="zh-TW" altLang="en-US" sz="1050" i="0">
                                      <a:latin typeface="Cambria Math" panose="02040503050406030204" pitchFamily="18" charset="0"/>
                                    </a:rPr>
                                    <m:t>6</m:t>
                                  </m:r>
                                </m:sub>
                              </m:sSub>
                            </m:e>
                          </m:eqArr>
                        </m:e>
                      </m:d>
                      <m:r>
                        <a:rPr lang="en-US" altLang="zh-TW" sz="1050" i="1" smtClean="0">
                          <a:latin typeface="Cambria Math" panose="02040503050406030204" pitchFamily="18" charset="0"/>
                        </a:rPr>
                        <m:t>=</m:t>
                      </m:r>
                      <m:d>
                        <m:dPr>
                          <m:begChr m:val="["/>
                          <m:endChr m:val="]"/>
                          <m:ctrlPr>
                            <a:rPr lang="zh-TW" altLang="zh-TW" sz="1400" i="1">
                              <a:latin typeface="Cambria Math" panose="02040503050406030204" pitchFamily="18" charset="0"/>
                            </a:rPr>
                          </m:ctrlPr>
                        </m:dPr>
                        <m:e>
                          <m:m>
                            <m:mPr>
                              <m:mcs>
                                <m:mc>
                                  <m:mcPr>
                                    <m:count m:val="3"/>
                                    <m:mcJc m:val="center"/>
                                  </m:mcPr>
                                </m:mc>
                              </m:mcs>
                              <m:ctrlPr>
                                <a:rPr lang="zh-TW" altLang="zh-TW" sz="1400" i="1">
                                  <a:latin typeface="Cambria Math" panose="02040503050406030204" pitchFamily="18" charset="0"/>
                                </a:rPr>
                              </m:ctrlPr>
                            </m:mPr>
                            <m:mr>
                              <m:e>
                                <m:m>
                                  <m:mPr>
                                    <m:mcs>
                                      <m:mc>
                                        <m:mcPr>
                                          <m:count m:val="1"/>
                                          <m:mcJc m:val="center"/>
                                        </m:mcPr>
                                      </m:mc>
                                    </m:mcs>
                                    <m:ctrlPr>
                                      <a:rPr lang="zh-TW" altLang="zh-TW" sz="1400" i="1">
                                        <a:latin typeface="Cambria Math" panose="02040503050406030204" pitchFamily="18" charset="0"/>
                                      </a:rPr>
                                    </m:ctrlPr>
                                  </m:mPr>
                                  <m:mr>
                                    <m:e>
                                      <m:r>
                                        <a:rPr lang="en-US" altLang="zh-TW" sz="1400" i="1">
                                          <a:latin typeface="Cambria Math" panose="02040503050406030204" pitchFamily="18" charset="0"/>
                                        </a:rPr>
                                        <m:t>0</m:t>
                                      </m:r>
                                    </m:e>
                                  </m:mr>
                                  <m:mr>
                                    <m:e>
                                      <m:r>
                                        <a:rPr lang="en-US" altLang="zh-TW" sz="1400" i="1">
                                          <a:latin typeface="Cambria Math" panose="02040503050406030204" pitchFamily="18" charset="0"/>
                                        </a:rPr>
                                        <m:t>0</m:t>
                                      </m:r>
                                    </m:e>
                                  </m:mr>
                                  <m:mr>
                                    <m:e>
                                      <m:m>
                                        <m:mPr>
                                          <m:mcs>
                                            <m:mc>
                                              <m:mcPr>
                                                <m:count m:val="1"/>
                                                <m:mcJc m:val="center"/>
                                              </m:mcPr>
                                            </m:mc>
                                          </m:mcs>
                                          <m:ctrlPr>
                                            <a:rPr lang="zh-TW" altLang="zh-TW" sz="1400" i="1">
                                              <a:latin typeface="Cambria Math" panose="02040503050406030204" pitchFamily="18" charset="0"/>
                                            </a:rPr>
                                          </m:ctrlPr>
                                        </m:mPr>
                                        <m:mr>
                                          <m:e>
                                            <m:r>
                                              <a:rPr lang="en-US" altLang="zh-TW" sz="1400" i="1">
                                                <a:latin typeface="Cambria Math" panose="02040503050406030204" pitchFamily="18" charset="0"/>
                                              </a:rPr>
                                              <m:t>0</m:t>
                                            </m:r>
                                          </m:e>
                                        </m:mr>
                                        <m:mr>
                                          <m:e>
                                            <m:r>
                                              <a:rPr lang="en-US" altLang="zh-TW" sz="1400" i="1">
                                                <a:latin typeface="Cambria Math" panose="02040503050406030204" pitchFamily="18" charset="0"/>
                                              </a:rPr>
                                              <m:t>0</m:t>
                                            </m:r>
                                          </m:e>
                                        </m:mr>
                                        <m:mr>
                                          <m:e>
                                            <m:m>
                                              <m:mPr>
                                                <m:mcs>
                                                  <m:mc>
                                                    <m:mcPr>
                                                      <m:count m:val="1"/>
                                                      <m:mcJc m:val="center"/>
                                                    </m:mcPr>
                                                  </m:mc>
                                                </m:mcs>
                                                <m:ctrlPr>
                                                  <a:rPr lang="zh-TW" altLang="zh-TW" sz="1400" i="1">
                                                    <a:latin typeface="Cambria Math" panose="02040503050406030204" pitchFamily="18" charset="0"/>
                                                  </a:rPr>
                                                </m:ctrlPr>
                                              </m:mP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51</m:t>
                                                      </m:r>
                                                    </m:sub>
                                                  </m:sSub>
                                                </m:e>
                                              </m:mr>
                                              <m:mr>
                                                <m:e>
                                                  <m:r>
                                                    <a:rPr lang="en-US" altLang="zh-TW" sz="1400" i="1">
                                                      <a:latin typeface="Cambria Math" panose="02040503050406030204" pitchFamily="18" charset="0"/>
                                                    </a:rPr>
                                                    <m:t>−</m:t>
                                                  </m:r>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22</m:t>
                                                      </m:r>
                                                    </m:sub>
                                                  </m:sSub>
                                                </m:e>
                                              </m:mr>
                                            </m:m>
                                          </m:e>
                                        </m:mr>
                                      </m:m>
                                    </m:e>
                                  </m:mr>
                                </m:m>
                              </m:e>
                              <m:e>
                                <m:m>
                                  <m:mPr>
                                    <m:mcs>
                                      <m:mc>
                                        <m:mcPr>
                                          <m:count m:val="1"/>
                                          <m:mcJc m:val="center"/>
                                        </m:mcPr>
                                      </m:mc>
                                    </m:mcs>
                                    <m:ctrlPr>
                                      <a:rPr lang="zh-TW" altLang="zh-TW" sz="1400" i="1">
                                        <a:latin typeface="Cambria Math" panose="02040503050406030204" pitchFamily="18" charset="0"/>
                                      </a:rPr>
                                    </m:ctrlPr>
                                  </m:mPr>
                                  <m:mr>
                                    <m:e>
                                      <m:r>
                                        <a:rPr lang="en-US" altLang="zh-TW" sz="1400" i="1">
                                          <a:latin typeface="Cambria Math" panose="02040503050406030204" pitchFamily="18" charset="0"/>
                                        </a:rPr>
                                        <m:t>−</m:t>
                                      </m:r>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22</m:t>
                                          </m:r>
                                        </m:sub>
                                      </m:sSub>
                                    </m:e>
                                  </m:m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22</m:t>
                                          </m:r>
                                        </m:sub>
                                      </m:sSub>
                                    </m:e>
                                  </m:mr>
                                  <m:mr>
                                    <m:e>
                                      <m:m>
                                        <m:mPr>
                                          <m:mcs>
                                            <m:mc>
                                              <m:mcPr>
                                                <m:count m:val="1"/>
                                                <m:mcJc m:val="center"/>
                                              </m:mcPr>
                                            </m:mc>
                                          </m:mcs>
                                          <m:ctrlPr>
                                            <a:rPr lang="zh-TW" altLang="zh-TW" sz="1400" i="1">
                                              <a:latin typeface="Cambria Math" panose="02040503050406030204" pitchFamily="18" charset="0"/>
                                            </a:rPr>
                                          </m:ctrlPr>
                                        </m:mPr>
                                        <m:mr>
                                          <m:e>
                                            <m:r>
                                              <a:rPr lang="en-US" altLang="zh-TW" sz="1400" i="1">
                                                <a:latin typeface="Cambria Math" panose="02040503050406030204" pitchFamily="18" charset="0"/>
                                              </a:rPr>
                                              <m:t>0</m:t>
                                            </m:r>
                                          </m:e>
                                        </m:m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51</m:t>
                                                </m:r>
                                              </m:sub>
                                            </m:sSub>
                                          </m:e>
                                        </m:mr>
                                        <m:mr>
                                          <m:e>
                                            <m:m>
                                              <m:mPr>
                                                <m:mcs>
                                                  <m:mc>
                                                    <m:mcPr>
                                                      <m:count m:val="1"/>
                                                      <m:mcJc m:val="center"/>
                                                    </m:mcPr>
                                                  </m:mc>
                                                </m:mcs>
                                                <m:ctrlPr>
                                                  <a:rPr lang="zh-TW" altLang="zh-TW" sz="1400" i="1">
                                                    <a:latin typeface="Cambria Math" panose="02040503050406030204" pitchFamily="18" charset="0"/>
                                                  </a:rPr>
                                                </m:ctrlPr>
                                              </m:mPr>
                                              <m:mr>
                                                <m:e>
                                                  <m:r>
                                                    <a:rPr lang="en-US" altLang="zh-TW" sz="1400" i="1">
                                                      <a:latin typeface="Cambria Math" panose="02040503050406030204" pitchFamily="18" charset="0"/>
                                                    </a:rPr>
                                                    <m:t>0</m:t>
                                                  </m:r>
                                                </m:e>
                                              </m:mr>
                                              <m:mr>
                                                <m:e>
                                                  <m:r>
                                                    <a:rPr lang="en-US" altLang="zh-TW" sz="1400" i="1">
                                                      <a:latin typeface="Cambria Math" panose="02040503050406030204" pitchFamily="18" charset="0"/>
                                                    </a:rPr>
                                                    <m:t>0</m:t>
                                                  </m:r>
                                                </m:e>
                                              </m:mr>
                                            </m:m>
                                          </m:e>
                                        </m:mr>
                                      </m:m>
                                    </m:e>
                                  </m:mr>
                                </m:m>
                              </m:e>
                              <m:e>
                                <m:m>
                                  <m:mPr>
                                    <m:mcs>
                                      <m:mc>
                                        <m:mcPr>
                                          <m:count m:val="1"/>
                                          <m:mcJc m:val="center"/>
                                        </m:mcPr>
                                      </m:mc>
                                    </m:mcs>
                                    <m:ctrlPr>
                                      <a:rPr lang="zh-TW" altLang="zh-TW" sz="1400" i="1">
                                        <a:latin typeface="Cambria Math" panose="02040503050406030204" pitchFamily="18" charset="0"/>
                                      </a:rPr>
                                    </m:ctrlPr>
                                  </m:mP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13</m:t>
                                          </m:r>
                                        </m:sub>
                                      </m:sSub>
                                    </m:e>
                                  </m:m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13</m:t>
                                          </m:r>
                                        </m:sub>
                                      </m:sSub>
                                    </m:e>
                                  </m:mr>
                                  <m:mr>
                                    <m:e>
                                      <m:m>
                                        <m:mPr>
                                          <m:mcs>
                                            <m:mc>
                                              <m:mcPr>
                                                <m:count m:val="1"/>
                                                <m:mcJc m:val="center"/>
                                              </m:mcPr>
                                            </m:mc>
                                          </m:mcs>
                                          <m:ctrlPr>
                                            <a:rPr lang="zh-TW" altLang="zh-TW" sz="1400" i="1">
                                              <a:latin typeface="Cambria Math" panose="02040503050406030204" pitchFamily="18" charset="0"/>
                                            </a:rPr>
                                          </m:ctrlPr>
                                        </m:mP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33</m:t>
                                                </m:r>
                                              </m:sub>
                                            </m:sSub>
                                          </m:e>
                                        </m:mr>
                                        <m:mr>
                                          <m:e>
                                            <m:r>
                                              <a:rPr lang="en-US" altLang="zh-TW" sz="1400" i="1">
                                                <a:latin typeface="Cambria Math" panose="02040503050406030204" pitchFamily="18" charset="0"/>
                                              </a:rPr>
                                              <m:t>0</m:t>
                                            </m:r>
                                          </m:e>
                                        </m:mr>
                                        <m:mr>
                                          <m:e>
                                            <m:m>
                                              <m:mPr>
                                                <m:mcs>
                                                  <m:mc>
                                                    <m:mcPr>
                                                      <m:count m:val="1"/>
                                                      <m:mcJc m:val="center"/>
                                                    </m:mcPr>
                                                  </m:mc>
                                                </m:mcs>
                                                <m:ctrlPr>
                                                  <a:rPr lang="zh-TW" altLang="zh-TW" sz="1400" i="1">
                                                    <a:latin typeface="Cambria Math" panose="02040503050406030204" pitchFamily="18" charset="0"/>
                                                  </a:rPr>
                                                </m:ctrlPr>
                                              </m:mPr>
                                              <m:mr>
                                                <m:e>
                                                  <m:r>
                                                    <a:rPr lang="en-US" altLang="zh-TW" sz="1400" i="1">
                                                      <a:latin typeface="Cambria Math" panose="02040503050406030204" pitchFamily="18" charset="0"/>
                                                    </a:rPr>
                                                    <m:t>0</m:t>
                                                  </m:r>
                                                </m:e>
                                              </m:mr>
                                              <m:mr>
                                                <m:e>
                                                  <m:r>
                                                    <a:rPr lang="en-US" altLang="zh-TW" sz="1400" i="1">
                                                      <a:latin typeface="Cambria Math" panose="02040503050406030204" pitchFamily="18" charset="0"/>
                                                    </a:rPr>
                                                    <m:t>0</m:t>
                                                  </m:r>
                                                </m:e>
                                              </m:mr>
                                            </m:m>
                                          </m:e>
                                        </m:mr>
                                      </m:m>
                                    </m:e>
                                  </m:mr>
                                </m:m>
                              </m:e>
                            </m:mr>
                          </m:m>
                        </m:e>
                      </m:d>
                      <m:d>
                        <m:dPr>
                          <m:begChr m:val="["/>
                          <m:endChr m:val="]"/>
                          <m:ctrlPr>
                            <a:rPr lang="zh-TW" altLang="zh-TW" sz="1400" i="1">
                              <a:latin typeface="Cambria Math" panose="02040503050406030204" pitchFamily="18" charset="0"/>
                            </a:rPr>
                          </m:ctrlPr>
                        </m:dPr>
                        <m:e>
                          <m:m>
                            <m:mPr>
                              <m:mcs>
                                <m:mc>
                                  <m:mcPr>
                                    <m:count m:val="1"/>
                                    <m:mcJc m:val="center"/>
                                  </m:mcPr>
                                </m:mc>
                              </m:mcs>
                              <m:ctrlPr>
                                <a:rPr lang="zh-TW" altLang="zh-TW" sz="1400" i="1">
                                  <a:latin typeface="Cambria Math" panose="02040503050406030204" pitchFamily="18" charset="0"/>
                                </a:rPr>
                              </m:ctrlPr>
                            </m:mP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𝐸</m:t>
                                    </m:r>
                                  </m:e>
                                  <m:sub>
                                    <m:r>
                                      <a:rPr lang="en-US" altLang="zh-TW" sz="1400" i="1">
                                        <a:latin typeface="Cambria Math" panose="02040503050406030204" pitchFamily="18" charset="0"/>
                                      </a:rPr>
                                      <m:t>1</m:t>
                                    </m:r>
                                  </m:sub>
                                </m:sSub>
                              </m:e>
                            </m:m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𝐸</m:t>
                                    </m:r>
                                  </m:e>
                                  <m:sub>
                                    <m:r>
                                      <a:rPr lang="en-US" altLang="zh-TW" sz="1400" i="1">
                                        <a:latin typeface="Cambria Math" panose="02040503050406030204" pitchFamily="18" charset="0"/>
                                      </a:rPr>
                                      <m:t>2</m:t>
                                    </m:r>
                                  </m:sub>
                                </m:sSub>
                              </m:e>
                            </m:m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𝐸</m:t>
                                    </m:r>
                                  </m:e>
                                  <m:sub>
                                    <m:r>
                                      <a:rPr lang="en-US" altLang="zh-TW" sz="1400" i="1">
                                        <a:latin typeface="Cambria Math" panose="02040503050406030204" pitchFamily="18" charset="0"/>
                                      </a:rPr>
                                      <m:t>3</m:t>
                                    </m:r>
                                  </m:sub>
                                </m:sSub>
                              </m:e>
                            </m:mr>
                          </m:m>
                        </m:e>
                      </m:d>
                    </m:oMath>
                  </m:oMathPara>
                </a14:m>
                <a:endParaRPr lang="en-US" altLang="zh-TW" sz="1200" i="1" dirty="0"/>
              </a:p>
            </p:txBody>
          </p:sp>
        </mc:Choice>
        <mc:Fallback xmlns="">
          <p:sp>
            <p:nvSpPr>
              <p:cNvPr id="3" name="矩形 2">
                <a:extLst>
                  <a:ext uri="{FF2B5EF4-FFF2-40B4-BE49-F238E27FC236}">
                    <a16:creationId xmlns:a16="http://schemas.microsoft.com/office/drawing/2014/main" id="{C82E8214-855E-4795-A97F-4A33EC51F6FA}"/>
                  </a:ext>
                </a:extLst>
              </p:cNvPr>
              <p:cNvSpPr>
                <a:spLocks noRot="1" noChangeAspect="1" noMove="1" noResize="1" noEditPoints="1" noAdjustHandles="1" noChangeArrowheads="1" noChangeShapeType="1" noTextEdit="1"/>
              </p:cNvSpPr>
              <p:nvPr/>
            </p:nvSpPr>
            <p:spPr>
              <a:xfrm>
                <a:off x="622872" y="3042098"/>
                <a:ext cx="3938899" cy="111844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75634D1D-D893-4E20-84EF-CAA415A210AF}"/>
                  </a:ext>
                </a:extLst>
              </p:cNvPr>
              <p:cNvSpPr/>
              <p:nvPr/>
            </p:nvSpPr>
            <p:spPr>
              <a:xfrm>
                <a:off x="214712" y="4602853"/>
                <a:ext cx="5176482" cy="8860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sz="1400" i="1" smtClean="0">
                              <a:latin typeface="Cambria Math" panose="02040503050406030204" pitchFamily="18" charset="0"/>
                            </a:rPr>
                          </m:ctrlPr>
                        </m:sSubPr>
                        <m:e>
                          <m:r>
                            <a:rPr lang="zh-TW" altLang="en-US" sz="1400" i="1">
                              <a:latin typeface="Cambria Math" panose="02040503050406030204" pitchFamily="18" charset="0"/>
                            </a:rPr>
                            <m:t>𝜂</m:t>
                          </m:r>
                        </m:e>
                        <m:sub>
                          <m:r>
                            <a:rPr lang="zh-TW" altLang="en-US" sz="1400" i="1">
                              <a:latin typeface="Cambria Math" panose="02040503050406030204" pitchFamily="18" charset="0"/>
                            </a:rPr>
                            <m:t>𝑖𝑗</m:t>
                          </m:r>
                        </m:sub>
                      </m:sSub>
                      <m:d>
                        <m:dPr>
                          <m:ctrlPr>
                            <a:rPr lang="zh-TW" altLang="en-US"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𝐸</m:t>
                              </m:r>
                            </m:e>
                            <m:sub>
                              <m:r>
                                <a:rPr lang="en-US" altLang="zh-TW" sz="1400" i="1">
                                  <a:latin typeface="Cambria Math" panose="02040503050406030204" pitchFamily="18" charset="0"/>
                                </a:rPr>
                                <m:t>𝑦</m:t>
                              </m:r>
                            </m:sub>
                          </m:sSub>
                        </m:e>
                      </m:d>
                      <m:r>
                        <a:rPr lang="zh-TW" altLang="en-US" sz="1400">
                          <a:latin typeface="Cambria Math" panose="02040503050406030204" pitchFamily="18" charset="0"/>
                        </a:rPr>
                        <m:t>=</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𝜂</m:t>
                          </m:r>
                        </m:e>
                        <m:sub>
                          <m:r>
                            <a:rPr lang="zh-TW" altLang="en-US" sz="1400" i="1">
                              <a:latin typeface="Cambria Math" panose="02040503050406030204" pitchFamily="18" charset="0"/>
                            </a:rPr>
                            <m:t>𝑖𝑗</m:t>
                          </m:r>
                        </m:sub>
                      </m:sSub>
                      <m:d>
                        <m:dPr>
                          <m:ctrlPr>
                            <a:rPr lang="zh-TW" altLang="en-US" sz="1400" i="1">
                              <a:latin typeface="Cambria Math" panose="02040503050406030204" pitchFamily="18" charset="0"/>
                            </a:rPr>
                          </m:ctrlPr>
                        </m:dPr>
                        <m:e>
                          <m:r>
                            <a:rPr lang="zh-TW" altLang="en-US" sz="1400">
                              <a:latin typeface="Cambria Math" panose="02040503050406030204" pitchFamily="18" charset="0"/>
                            </a:rPr>
                            <m:t>0</m:t>
                          </m:r>
                        </m:e>
                      </m:d>
                      <m:r>
                        <a:rPr lang="zh-TW" altLang="en-US" sz="1400">
                          <a:latin typeface="Cambria Math" panose="02040503050406030204" pitchFamily="18" charset="0"/>
                        </a:rPr>
                        <m:t>+∆</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𝜂</m:t>
                          </m:r>
                        </m:e>
                        <m:sub>
                          <m:r>
                            <a:rPr lang="zh-TW" altLang="en-US" sz="1400" i="1">
                              <a:latin typeface="Cambria Math" panose="02040503050406030204" pitchFamily="18" charset="0"/>
                            </a:rPr>
                            <m:t>𝑖𝑗</m:t>
                          </m:r>
                        </m:sub>
                      </m:sSub>
                      <m:r>
                        <a:rPr lang="zh-TW" altLang="en-US" sz="1400" i="1">
                          <a:latin typeface="Cambria Math" panose="02040503050406030204" pitchFamily="18" charset="0"/>
                        </a:rPr>
                        <m:t> </m:t>
                      </m:r>
                      <m:r>
                        <a:rPr lang="en-US" altLang="zh-TW" sz="1400" b="0" i="1" smtClean="0">
                          <a:latin typeface="Cambria Math" panose="02040503050406030204" pitchFamily="18" charset="0"/>
                        </a:rPr>
                        <m:t>(</m:t>
                      </m:r>
                      <m:sSub>
                        <m:sSubPr>
                          <m:ctrlPr>
                            <a:rPr lang="en-US" altLang="zh-TW" sz="1400" b="0" i="1" smtClean="0">
                              <a:latin typeface="Cambria Math" panose="02040503050406030204" pitchFamily="18" charset="0"/>
                            </a:rPr>
                          </m:ctrlPr>
                        </m:sSubPr>
                        <m:e>
                          <m:r>
                            <a:rPr lang="en-US" altLang="zh-TW" sz="1400" b="0" i="1" smtClean="0">
                              <a:latin typeface="Cambria Math" panose="02040503050406030204" pitchFamily="18" charset="0"/>
                            </a:rPr>
                            <m:t>𝐸</m:t>
                          </m:r>
                        </m:e>
                        <m:sub>
                          <m:r>
                            <a:rPr lang="en-US" altLang="zh-TW" sz="1400" b="0" i="1" smtClean="0">
                              <a:latin typeface="Cambria Math" panose="02040503050406030204" pitchFamily="18" charset="0"/>
                            </a:rPr>
                            <m:t>𝑦</m:t>
                          </m:r>
                        </m:sub>
                      </m:sSub>
                      <m:r>
                        <a:rPr lang="en-US" altLang="zh-TW" sz="1400" b="0" i="1" smtClean="0">
                          <a:latin typeface="Cambria Math" panose="02040503050406030204" pitchFamily="18" charset="0"/>
                        </a:rPr>
                        <m:t>)=</m:t>
                      </m:r>
                      <m:d>
                        <m:dPr>
                          <m:begChr m:val="["/>
                          <m:endChr m:val="]"/>
                          <m:ctrlPr>
                            <a:rPr lang="zh-TW" altLang="zh-TW" sz="1400" i="1">
                              <a:latin typeface="Cambria Math" panose="02040503050406030204" pitchFamily="18" charset="0"/>
                            </a:rPr>
                          </m:ctrlPr>
                        </m:dPr>
                        <m:e>
                          <m:m>
                            <m:mPr>
                              <m:mcs>
                                <m:mc>
                                  <m:mcPr>
                                    <m:count m:val="3"/>
                                    <m:mcJc m:val="center"/>
                                  </m:mcPr>
                                </m:mc>
                              </m:mcs>
                              <m:ctrlPr>
                                <a:rPr lang="zh-TW" altLang="zh-TW" sz="1400" i="1">
                                  <a:latin typeface="Cambria Math" panose="02040503050406030204" pitchFamily="18" charset="0"/>
                                </a:rPr>
                              </m:ctrlPr>
                            </m:mPr>
                            <m:mr>
                              <m:e>
                                <m:m>
                                  <m:mPr>
                                    <m:mcs>
                                      <m:mc>
                                        <m:mcPr>
                                          <m:count m:val="1"/>
                                          <m:mcJc m:val="center"/>
                                        </m:mcPr>
                                      </m:mc>
                                    </m:mcs>
                                    <m:ctrlPr>
                                      <a:rPr lang="zh-TW" altLang="zh-TW" sz="1400" i="1">
                                        <a:latin typeface="Cambria Math" panose="02040503050406030204" pitchFamily="18" charset="0"/>
                                      </a:rPr>
                                    </m:ctrlPr>
                                  </m:mPr>
                                  <m:mr>
                                    <m:e>
                                      <m:box>
                                        <m:boxPr>
                                          <m:ctrlPr>
                                            <a:rPr lang="zh-TW" altLang="zh-TW" sz="1400" i="1">
                                              <a:latin typeface="Cambria Math" panose="02040503050406030204" pitchFamily="18" charset="0"/>
                                            </a:rPr>
                                          </m:ctrlPr>
                                        </m:boxPr>
                                        <m:e>
                                          <m:argPr>
                                            <m:argSz m:val="-1"/>
                                          </m:argPr>
                                          <m:f>
                                            <m:fPr>
                                              <m:ctrlPr>
                                                <a:rPr lang="zh-TW" altLang="zh-TW" sz="1400" i="1">
                                                  <a:latin typeface="Cambria Math" panose="02040503050406030204" pitchFamily="18" charset="0"/>
                                                </a:rPr>
                                              </m:ctrlPr>
                                            </m:fPr>
                                            <m:num>
                                              <m:r>
                                                <a:rPr lang="en-US" altLang="zh-TW" sz="1400" i="1">
                                                  <a:latin typeface="Cambria Math" panose="02040503050406030204" pitchFamily="18" charset="0"/>
                                                </a:rPr>
                                                <m:t>1</m:t>
                                              </m:r>
                                            </m:num>
                                            <m:den>
                                              <m:sSubSup>
                                                <m:sSubSupPr>
                                                  <m:ctrlPr>
                                                    <a:rPr lang="zh-TW" altLang="zh-TW" sz="1400" i="1">
                                                      <a:latin typeface="Cambria Math" panose="02040503050406030204" pitchFamily="18" charset="0"/>
                                                    </a:rPr>
                                                  </m:ctrlPr>
                                                </m:sSubSupPr>
                                                <m:e>
                                                  <m:r>
                                                    <a:rPr lang="en-US" altLang="zh-TW" sz="1400" i="1">
                                                      <a:latin typeface="Cambria Math" panose="02040503050406030204" pitchFamily="18" charset="0"/>
                                                    </a:rPr>
                                                    <m:t>𝑛</m:t>
                                                  </m:r>
                                                </m:e>
                                                <m:sub>
                                                  <m:r>
                                                    <a:rPr lang="en-US" altLang="zh-TW" sz="1400" i="1">
                                                      <a:latin typeface="Cambria Math" panose="02040503050406030204" pitchFamily="18" charset="0"/>
                                                    </a:rPr>
                                                    <m:t>𝑜</m:t>
                                                  </m:r>
                                                </m:sub>
                                                <m:sup>
                                                  <m:r>
                                                    <a:rPr lang="en-US" altLang="zh-TW" sz="1400" i="1">
                                                      <a:latin typeface="Cambria Math" panose="02040503050406030204" pitchFamily="18" charset="0"/>
                                                    </a:rPr>
                                                    <m:t>2</m:t>
                                                  </m:r>
                                                </m:sup>
                                              </m:sSubSup>
                                            </m:den>
                                          </m:f>
                                        </m:e>
                                      </m:box>
                                      <m:r>
                                        <a:rPr lang="en-US" altLang="zh-TW" sz="1400" i="1">
                                          <a:latin typeface="Cambria Math" panose="02040503050406030204" pitchFamily="18" charset="0"/>
                                        </a:rPr>
                                        <m:t>−</m:t>
                                      </m:r>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22</m:t>
                                          </m:r>
                                        </m:sub>
                                      </m:sSub>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𝐸</m:t>
                                          </m:r>
                                        </m:e>
                                        <m:sub>
                                          <m:r>
                                            <a:rPr lang="en-US" altLang="zh-TW" sz="1400" i="1">
                                              <a:latin typeface="Cambria Math" panose="02040503050406030204" pitchFamily="18" charset="0"/>
                                            </a:rPr>
                                            <m:t>𝑦</m:t>
                                          </m:r>
                                        </m:sub>
                                      </m:sSub>
                                    </m:e>
                                  </m:mr>
                                  <m:mr>
                                    <m:e>
                                      <m:r>
                                        <a:rPr lang="en-US" altLang="zh-TW" sz="1400" i="1">
                                          <a:latin typeface="Cambria Math" panose="02040503050406030204" pitchFamily="18" charset="0"/>
                                        </a:rPr>
                                        <m:t>0</m:t>
                                      </m:r>
                                    </m:e>
                                  </m:mr>
                                  <m:mr>
                                    <m:e>
                                      <m:r>
                                        <a:rPr lang="en-US" altLang="zh-TW" sz="1400" i="1">
                                          <a:latin typeface="Cambria Math" panose="02040503050406030204" pitchFamily="18" charset="0"/>
                                        </a:rPr>
                                        <m:t>0</m:t>
                                      </m:r>
                                    </m:e>
                                  </m:mr>
                                </m:m>
                              </m:e>
                              <m:e>
                                <m:m>
                                  <m:mPr>
                                    <m:mcs>
                                      <m:mc>
                                        <m:mcPr>
                                          <m:count m:val="1"/>
                                          <m:mcJc m:val="center"/>
                                        </m:mcPr>
                                      </m:mc>
                                    </m:mcs>
                                    <m:ctrlPr>
                                      <a:rPr lang="zh-TW" altLang="zh-TW" sz="1400" i="1">
                                        <a:latin typeface="Cambria Math" panose="02040503050406030204" pitchFamily="18" charset="0"/>
                                      </a:rPr>
                                    </m:ctrlPr>
                                  </m:mPr>
                                  <m:mr>
                                    <m:e>
                                      <m:r>
                                        <a:rPr lang="en-US" altLang="zh-TW" sz="1400" i="1">
                                          <a:latin typeface="Cambria Math" panose="02040503050406030204" pitchFamily="18" charset="0"/>
                                        </a:rPr>
                                        <m:t>0</m:t>
                                      </m:r>
                                    </m:e>
                                  </m:mr>
                                  <m:mr>
                                    <m:e>
                                      <m:box>
                                        <m:boxPr>
                                          <m:ctrlPr>
                                            <a:rPr lang="zh-TW" altLang="zh-TW" sz="1400" i="1">
                                              <a:latin typeface="Cambria Math" panose="02040503050406030204" pitchFamily="18" charset="0"/>
                                            </a:rPr>
                                          </m:ctrlPr>
                                        </m:boxPr>
                                        <m:e>
                                          <m:argPr>
                                            <m:argSz m:val="-1"/>
                                          </m:argPr>
                                          <m:f>
                                            <m:fPr>
                                              <m:ctrlPr>
                                                <a:rPr lang="zh-TW" altLang="zh-TW" sz="1400" i="1">
                                                  <a:latin typeface="Cambria Math" panose="02040503050406030204" pitchFamily="18" charset="0"/>
                                                </a:rPr>
                                              </m:ctrlPr>
                                            </m:fPr>
                                            <m:num>
                                              <m:r>
                                                <a:rPr lang="en-US" altLang="zh-TW" sz="1400" i="1">
                                                  <a:latin typeface="Cambria Math" panose="02040503050406030204" pitchFamily="18" charset="0"/>
                                                </a:rPr>
                                                <m:t>1</m:t>
                                              </m:r>
                                            </m:num>
                                            <m:den>
                                              <m:sSubSup>
                                                <m:sSubSupPr>
                                                  <m:ctrlPr>
                                                    <a:rPr lang="zh-TW" altLang="zh-TW" sz="1400" i="1">
                                                      <a:latin typeface="Cambria Math" panose="02040503050406030204" pitchFamily="18" charset="0"/>
                                                    </a:rPr>
                                                  </m:ctrlPr>
                                                </m:sSubSupPr>
                                                <m:e>
                                                  <m:r>
                                                    <a:rPr lang="en-US" altLang="zh-TW" sz="1400" i="1">
                                                      <a:latin typeface="Cambria Math" panose="02040503050406030204" pitchFamily="18" charset="0"/>
                                                    </a:rPr>
                                                    <m:t>𝑛</m:t>
                                                  </m:r>
                                                </m:e>
                                                <m:sub>
                                                  <m:r>
                                                    <a:rPr lang="en-US" altLang="zh-TW" sz="1400" i="1">
                                                      <a:latin typeface="Cambria Math" panose="02040503050406030204" pitchFamily="18" charset="0"/>
                                                    </a:rPr>
                                                    <m:t>𝑜</m:t>
                                                  </m:r>
                                                </m:sub>
                                                <m:sup>
                                                  <m:r>
                                                    <a:rPr lang="en-US" altLang="zh-TW" sz="1400" i="1">
                                                      <a:latin typeface="Cambria Math" panose="02040503050406030204" pitchFamily="18" charset="0"/>
                                                    </a:rPr>
                                                    <m:t>2</m:t>
                                                  </m:r>
                                                </m:sup>
                                              </m:sSubSup>
                                            </m:den>
                                          </m:f>
                                        </m:e>
                                      </m:box>
                                      <m:r>
                                        <a:rPr lang="en-US" altLang="zh-TW" sz="1400" i="1">
                                          <a:latin typeface="Cambria Math" panose="02040503050406030204" pitchFamily="18" charset="0"/>
                                        </a:rPr>
                                        <m:t>+</m:t>
                                      </m:r>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22</m:t>
                                          </m:r>
                                        </m:sub>
                                      </m:sSub>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𝐸</m:t>
                                          </m:r>
                                        </m:e>
                                        <m:sub>
                                          <m:r>
                                            <a:rPr lang="en-US" altLang="zh-TW" sz="1400" i="1">
                                              <a:latin typeface="Cambria Math" panose="02040503050406030204" pitchFamily="18" charset="0"/>
                                            </a:rPr>
                                            <m:t>𝑦</m:t>
                                          </m:r>
                                        </m:sub>
                                      </m:sSub>
                                    </m:e>
                                  </m:m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51</m:t>
                                          </m:r>
                                        </m:sub>
                                      </m:sSub>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𝐸</m:t>
                                          </m:r>
                                        </m:e>
                                        <m:sub>
                                          <m:r>
                                            <a:rPr lang="en-US" altLang="zh-TW" sz="1400" i="1">
                                              <a:latin typeface="Cambria Math" panose="02040503050406030204" pitchFamily="18" charset="0"/>
                                            </a:rPr>
                                            <m:t>𝑦</m:t>
                                          </m:r>
                                        </m:sub>
                                      </m:sSub>
                                    </m:e>
                                  </m:mr>
                                </m:m>
                              </m:e>
                              <m:e>
                                <m:m>
                                  <m:mPr>
                                    <m:mcs>
                                      <m:mc>
                                        <m:mcPr>
                                          <m:count m:val="1"/>
                                          <m:mcJc m:val="center"/>
                                        </m:mcPr>
                                      </m:mc>
                                    </m:mcs>
                                    <m:ctrlPr>
                                      <a:rPr lang="zh-TW" altLang="zh-TW" sz="1400" i="1">
                                        <a:latin typeface="Cambria Math" panose="02040503050406030204" pitchFamily="18" charset="0"/>
                                      </a:rPr>
                                    </m:ctrlPr>
                                  </m:mPr>
                                  <m:mr>
                                    <m:e>
                                      <m:r>
                                        <a:rPr lang="en-US" altLang="zh-TW" sz="1400" i="1">
                                          <a:latin typeface="Cambria Math" panose="02040503050406030204" pitchFamily="18" charset="0"/>
                                        </a:rPr>
                                        <m:t>0</m:t>
                                      </m:r>
                                    </m:e>
                                  </m:mr>
                                  <m:m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𝑟</m:t>
                                          </m:r>
                                        </m:e>
                                        <m:sub>
                                          <m:r>
                                            <a:rPr lang="en-US" altLang="zh-TW" sz="1400" i="1">
                                              <a:latin typeface="Cambria Math" panose="02040503050406030204" pitchFamily="18" charset="0"/>
                                            </a:rPr>
                                            <m:t>51</m:t>
                                          </m:r>
                                        </m:sub>
                                      </m:sSub>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𝐸</m:t>
                                          </m:r>
                                        </m:e>
                                        <m:sub>
                                          <m:r>
                                            <a:rPr lang="en-US" altLang="zh-TW" sz="1400" i="1">
                                              <a:latin typeface="Cambria Math" panose="02040503050406030204" pitchFamily="18" charset="0"/>
                                            </a:rPr>
                                            <m:t>𝑦</m:t>
                                          </m:r>
                                        </m:sub>
                                      </m:sSub>
                                    </m:e>
                                  </m:mr>
                                  <m:mr>
                                    <m:e>
                                      <m:box>
                                        <m:boxPr>
                                          <m:ctrlPr>
                                            <a:rPr lang="zh-TW" altLang="zh-TW" sz="1400" i="1">
                                              <a:latin typeface="Cambria Math" panose="02040503050406030204" pitchFamily="18" charset="0"/>
                                            </a:rPr>
                                          </m:ctrlPr>
                                        </m:boxPr>
                                        <m:e>
                                          <m:argPr>
                                            <m:argSz m:val="-1"/>
                                          </m:argPr>
                                          <m:f>
                                            <m:fPr>
                                              <m:ctrlPr>
                                                <a:rPr lang="zh-TW" altLang="zh-TW" sz="1400" i="1">
                                                  <a:latin typeface="Cambria Math" panose="02040503050406030204" pitchFamily="18" charset="0"/>
                                                </a:rPr>
                                              </m:ctrlPr>
                                            </m:fPr>
                                            <m:num>
                                              <m:r>
                                                <a:rPr lang="en-US" altLang="zh-TW" sz="1400" i="1">
                                                  <a:latin typeface="Cambria Math" panose="02040503050406030204" pitchFamily="18" charset="0"/>
                                                </a:rPr>
                                                <m:t>1</m:t>
                                              </m:r>
                                            </m:num>
                                            <m:den>
                                              <m:sSubSup>
                                                <m:sSubSupPr>
                                                  <m:ctrlPr>
                                                    <a:rPr lang="zh-TW" altLang="zh-TW" sz="1400" i="1">
                                                      <a:latin typeface="Cambria Math" panose="02040503050406030204" pitchFamily="18" charset="0"/>
                                                    </a:rPr>
                                                  </m:ctrlPr>
                                                </m:sSubSupPr>
                                                <m:e>
                                                  <m:r>
                                                    <a:rPr lang="en-US" altLang="zh-TW" sz="1400" i="1">
                                                      <a:latin typeface="Cambria Math" panose="02040503050406030204" pitchFamily="18" charset="0"/>
                                                    </a:rPr>
                                                    <m:t>𝑛</m:t>
                                                  </m:r>
                                                </m:e>
                                                <m:sub>
                                                  <m:r>
                                                    <a:rPr lang="en-US" altLang="zh-TW" sz="1400" i="1">
                                                      <a:latin typeface="Cambria Math" panose="02040503050406030204" pitchFamily="18" charset="0"/>
                                                    </a:rPr>
                                                    <m:t>𝑒</m:t>
                                                  </m:r>
                                                </m:sub>
                                                <m:sup>
                                                  <m:r>
                                                    <a:rPr lang="en-US" altLang="zh-TW" sz="1400" i="1">
                                                      <a:latin typeface="Cambria Math" panose="02040503050406030204" pitchFamily="18" charset="0"/>
                                                    </a:rPr>
                                                    <m:t>2</m:t>
                                                  </m:r>
                                                </m:sup>
                                              </m:sSubSup>
                                            </m:den>
                                          </m:f>
                                        </m:e>
                                      </m:box>
                                    </m:e>
                                  </m:mr>
                                </m:m>
                              </m:e>
                            </m:mr>
                          </m:m>
                        </m:e>
                      </m:d>
                    </m:oMath>
                  </m:oMathPara>
                </a14:m>
                <a:endParaRPr lang="zh-TW" altLang="en-US" sz="1400" dirty="0"/>
              </a:p>
            </p:txBody>
          </p:sp>
        </mc:Choice>
        <mc:Fallback xmlns="">
          <p:sp>
            <p:nvSpPr>
              <p:cNvPr id="5" name="矩形 4">
                <a:extLst>
                  <a:ext uri="{FF2B5EF4-FFF2-40B4-BE49-F238E27FC236}">
                    <a16:creationId xmlns:a16="http://schemas.microsoft.com/office/drawing/2014/main" id="{75634D1D-D893-4E20-84EF-CAA415A210AF}"/>
                  </a:ext>
                </a:extLst>
              </p:cNvPr>
              <p:cNvSpPr>
                <a:spLocks noRot="1" noChangeAspect="1" noMove="1" noResize="1" noEditPoints="1" noAdjustHandles="1" noChangeArrowheads="1" noChangeShapeType="1" noTextEdit="1"/>
              </p:cNvSpPr>
              <p:nvPr/>
            </p:nvSpPr>
            <p:spPr>
              <a:xfrm>
                <a:off x="214712" y="4602853"/>
                <a:ext cx="5176482" cy="88601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FDB49B91-009F-4249-9A37-78772FB510D8}"/>
                  </a:ext>
                </a:extLst>
              </p:cNvPr>
              <p:cNvSpPr/>
              <p:nvPr/>
            </p:nvSpPr>
            <p:spPr>
              <a:xfrm>
                <a:off x="398064" y="5818550"/>
                <a:ext cx="4809778" cy="5763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TW" altLang="en-US" sz="1400" i="1">
                              <a:latin typeface="Cambria Math" panose="02040503050406030204" pitchFamily="18" charset="0"/>
                            </a:rPr>
                          </m:ctrlPr>
                        </m:dPr>
                        <m:e>
                          <m:f>
                            <m:fPr>
                              <m:ctrlPr>
                                <a:rPr lang="zh-TW" altLang="en-US" sz="1400" i="1">
                                  <a:latin typeface="Cambria Math" panose="02040503050406030204" pitchFamily="18" charset="0"/>
                                </a:rPr>
                              </m:ctrlPr>
                            </m:fPr>
                            <m:num>
                              <m:r>
                                <a:rPr lang="zh-TW" altLang="en-US" sz="1400">
                                  <a:latin typeface="Cambria Math" panose="02040503050406030204" pitchFamily="18" charset="0"/>
                                </a:rPr>
                                <m:t>1</m:t>
                              </m:r>
                            </m:num>
                            <m:den>
                              <m:sSubSup>
                                <m:sSubSupPr>
                                  <m:ctrlPr>
                                    <a:rPr lang="zh-TW" altLang="en-US" sz="1400" i="1">
                                      <a:latin typeface="Cambria Math" panose="02040503050406030204" pitchFamily="18" charset="0"/>
                                    </a:rPr>
                                  </m:ctrlPr>
                                </m:sSubSupPr>
                                <m:e>
                                  <m:r>
                                    <a:rPr lang="zh-TW" altLang="en-US" sz="1400" i="1">
                                      <a:latin typeface="Cambria Math" panose="02040503050406030204" pitchFamily="18" charset="0"/>
                                    </a:rPr>
                                    <m:t>𝑛</m:t>
                                  </m:r>
                                </m:e>
                                <m:sub>
                                  <m:r>
                                    <a:rPr lang="zh-TW" altLang="en-US" sz="1400" i="1">
                                      <a:latin typeface="Cambria Math" panose="02040503050406030204" pitchFamily="18" charset="0"/>
                                    </a:rPr>
                                    <m:t>𝑜</m:t>
                                  </m:r>
                                </m:sub>
                                <m:sup>
                                  <m:r>
                                    <a:rPr lang="zh-TW" altLang="en-US" sz="1400" i="0">
                                      <a:latin typeface="Cambria Math" panose="02040503050406030204" pitchFamily="18" charset="0"/>
                                    </a:rPr>
                                    <m:t>2</m:t>
                                  </m:r>
                                </m:sup>
                              </m:sSubSup>
                            </m:den>
                          </m:f>
                          <m:r>
                            <a:rPr lang="zh-TW" altLang="en-US" sz="1400" i="0">
                              <a:latin typeface="Cambria Math" panose="02040503050406030204" pitchFamily="18" charset="0"/>
                            </a:rPr>
                            <m:t>−</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22</m:t>
                              </m:r>
                            </m:sub>
                          </m:sSub>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𝐸</m:t>
                              </m:r>
                            </m:e>
                            <m:sub>
                              <m:r>
                                <a:rPr lang="zh-TW" altLang="en-US" sz="1400" i="1">
                                  <a:latin typeface="Cambria Math" panose="02040503050406030204" pitchFamily="18" charset="0"/>
                                </a:rPr>
                                <m:t>𝑦</m:t>
                              </m:r>
                            </m:sub>
                          </m:sSub>
                        </m:e>
                      </m:d>
                      <m:sSup>
                        <m:sSupPr>
                          <m:ctrlPr>
                            <a:rPr lang="zh-TW" altLang="en-US" sz="1400" i="1">
                              <a:latin typeface="Cambria Math" panose="02040503050406030204" pitchFamily="18" charset="0"/>
                            </a:rPr>
                          </m:ctrlPr>
                        </m:sSupPr>
                        <m:e>
                          <m:r>
                            <a:rPr lang="zh-TW" altLang="en-US" sz="1400" i="1">
                              <a:latin typeface="Cambria Math" panose="02040503050406030204" pitchFamily="18" charset="0"/>
                            </a:rPr>
                            <m:t>𝑥</m:t>
                          </m:r>
                        </m:e>
                        <m:sup>
                          <m:r>
                            <a:rPr lang="zh-TW" altLang="en-US" sz="1400" i="0">
                              <a:latin typeface="Cambria Math" panose="02040503050406030204" pitchFamily="18" charset="0"/>
                            </a:rPr>
                            <m:t>2</m:t>
                          </m:r>
                        </m:sup>
                      </m:sSup>
                      <m:r>
                        <a:rPr lang="zh-TW" altLang="en-US" sz="1400" i="0">
                          <a:latin typeface="Cambria Math" panose="02040503050406030204" pitchFamily="18" charset="0"/>
                        </a:rPr>
                        <m:t>+</m:t>
                      </m:r>
                      <m:d>
                        <m:dPr>
                          <m:ctrlPr>
                            <a:rPr lang="zh-TW" altLang="en-US" sz="1400" i="1">
                              <a:latin typeface="Cambria Math" panose="02040503050406030204" pitchFamily="18" charset="0"/>
                            </a:rPr>
                          </m:ctrlPr>
                        </m:dPr>
                        <m:e>
                          <m:f>
                            <m:fPr>
                              <m:ctrlPr>
                                <a:rPr lang="zh-TW" altLang="en-US" sz="1400" i="1">
                                  <a:latin typeface="Cambria Math" panose="02040503050406030204" pitchFamily="18" charset="0"/>
                                </a:rPr>
                              </m:ctrlPr>
                            </m:fPr>
                            <m:num>
                              <m:r>
                                <a:rPr lang="zh-TW" altLang="en-US" sz="1400" i="0">
                                  <a:latin typeface="Cambria Math" panose="02040503050406030204" pitchFamily="18" charset="0"/>
                                </a:rPr>
                                <m:t>1</m:t>
                              </m:r>
                            </m:num>
                            <m:den>
                              <m:sSubSup>
                                <m:sSubSupPr>
                                  <m:ctrlPr>
                                    <a:rPr lang="zh-TW" altLang="en-US" sz="1400" i="1">
                                      <a:latin typeface="Cambria Math" panose="02040503050406030204" pitchFamily="18" charset="0"/>
                                    </a:rPr>
                                  </m:ctrlPr>
                                </m:sSubSupPr>
                                <m:e>
                                  <m:r>
                                    <a:rPr lang="zh-TW" altLang="en-US" sz="1400" i="1">
                                      <a:latin typeface="Cambria Math" panose="02040503050406030204" pitchFamily="18" charset="0"/>
                                    </a:rPr>
                                    <m:t>𝑛</m:t>
                                  </m:r>
                                </m:e>
                                <m:sub>
                                  <m:r>
                                    <a:rPr lang="zh-TW" altLang="en-US" sz="1400" i="1">
                                      <a:latin typeface="Cambria Math" panose="02040503050406030204" pitchFamily="18" charset="0"/>
                                    </a:rPr>
                                    <m:t>𝑜</m:t>
                                  </m:r>
                                </m:sub>
                                <m:sup>
                                  <m:r>
                                    <a:rPr lang="zh-TW" altLang="en-US" sz="1400" i="0">
                                      <a:latin typeface="Cambria Math" panose="02040503050406030204" pitchFamily="18" charset="0"/>
                                    </a:rPr>
                                    <m:t>2</m:t>
                                  </m:r>
                                </m:sup>
                              </m:sSubSup>
                            </m:den>
                          </m:f>
                          <m:r>
                            <a:rPr lang="zh-TW" altLang="en-US" sz="1400" i="0">
                              <a:latin typeface="Cambria Math" panose="02040503050406030204" pitchFamily="18" charset="0"/>
                            </a:rPr>
                            <m:t>+</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22</m:t>
                              </m:r>
                            </m:sub>
                          </m:sSub>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𝐸</m:t>
                              </m:r>
                            </m:e>
                            <m:sub>
                              <m:r>
                                <a:rPr lang="zh-TW" altLang="en-US" sz="1400" i="1">
                                  <a:latin typeface="Cambria Math" panose="02040503050406030204" pitchFamily="18" charset="0"/>
                                </a:rPr>
                                <m:t>𝑦</m:t>
                              </m:r>
                            </m:sub>
                          </m:sSub>
                        </m:e>
                      </m:d>
                      <m:sSup>
                        <m:sSupPr>
                          <m:ctrlPr>
                            <a:rPr lang="zh-TW" altLang="en-US" sz="1400" i="1">
                              <a:latin typeface="Cambria Math" panose="02040503050406030204" pitchFamily="18" charset="0"/>
                            </a:rPr>
                          </m:ctrlPr>
                        </m:sSupPr>
                        <m:e>
                          <m:r>
                            <a:rPr lang="zh-TW" altLang="en-US" sz="1400" i="1">
                              <a:latin typeface="Cambria Math" panose="02040503050406030204" pitchFamily="18" charset="0"/>
                            </a:rPr>
                            <m:t>𝑦</m:t>
                          </m:r>
                        </m:e>
                        <m:sup>
                          <m:r>
                            <a:rPr lang="zh-TW" altLang="en-US" sz="1400" i="0">
                              <a:latin typeface="Cambria Math" panose="02040503050406030204" pitchFamily="18" charset="0"/>
                            </a:rPr>
                            <m:t>2</m:t>
                          </m:r>
                        </m:sup>
                      </m:sSup>
                      <m:r>
                        <a:rPr lang="zh-TW" altLang="en-US" sz="1400" i="0">
                          <a:latin typeface="Cambria Math" panose="02040503050406030204" pitchFamily="18" charset="0"/>
                        </a:rPr>
                        <m:t>+</m:t>
                      </m:r>
                      <m:f>
                        <m:fPr>
                          <m:ctrlPr>
                            <a:rPr lang="zh-TW" altLang="en-US" sz="1400" i="1">
                              <a:latin typeface="Cambria Math" panose="02040503050406030204" pitchFamily="18" charset="0"/>
                            </a:rPr>
                          </m:ctrlPr>
                        </m:fPr>
                        <m:num>
                          <m:r>
                            <a:rPr lang="zh-TW" altLang="en-US" sz="1400" i="0">
                              <a:latin typeface="Cambria Math" panose="02040503050406030204" pitchFamily="18" charset="0"/>
                            </a:rPr>
                            <m:t>1</m:t>
                          </m:r>
                        </m:num>
                        <m:den>
                          <m:sSubSup>
                            <m:sSubSupPr>
                              <m:ctrlPr>
                                <a:rPr lang="zh-TW" altLang="en-US" sz="1400" i="1">
                                  <a:latin typeface="Cambria Math" panose="02040503050406030204" pitchFamily="18" charset="0"/>
                                </a:rPr>
                              </m:ctrlPr>
                            </m:sSubSupPr>
                            <m:e>
                              <m:r>
                                <a:rPr lang="zh-TW" altLang="en-US" sz="1400" i="1">
                                  <a:latin typeface="Cambria Math" panose="02040503050406030204" pitchFamily="18" charset="0"/>
                                </a:rPr>
                                <m:t>𝑛</m:t>
                              </m:r>
                            </m:e>
                            <m:sub>
                              <m:r>
                                <a:rPr lang="zh-TW" altLang="en-US" sz="1400" i="1">
                                  <a:latin typeface="Cambria Math" panose="02040503050406030204" pitchFamily="18" charset="0"/>
                                </a:rPr>
                                <m:t>𝑒</m:t>
                              </m:r>
                            </m:sub>
                            <m:sup>
                              <m:r>
                                <a:rPr lang="zh-TW" altLang="en-US" sz="1400" i="0">
                                  <a:latin typeface="Cambria Math" panose="02040503050406030204" pitchFamily="18" charset="0"/>
                                </a:rPr>
                                <m:t>2</m:t>
                              </m:r>
                            </m:sup>
                          </m:sSubSup>
                        </m:den>
                      </m:f>
                      <m:sSup>
                        <m:sSupPr>
                          <m:ctrlPr>
                            <a:rPr lang="zh-TW" altLang="en-US" sz="1400" i="1">
                              <a:latin typeface="Cambria Math" panose="02040503050406030204" pitchFamily="18" charset="0"/>
                            </a:rPr>
                          </m:ctrlPr>
                        </m:sSupPr>
                        <m:e>
                          <m:r>
                            <a:rPr lang="zh-TW" altLang="en-US" sz="1400" i="1">
                              <a:latin typeface="Cambria Math" panose="02040503050406030204" pitchFamily="18" charset="0"/>
                            </a:rPr>
                            <m:t>𝑧</m:t>
                          </m:r>
                        </m:e>
                        <m:sup>
                          <m:r>
                            <a:rPr lang="zh-TW" altLang="en-US" sz="1400" i="0">
                              <a:latin typeface="Cambria Math" panose="02040503050406030204" pitchFamily="18" charset="0"/>
                            </a:rPr>
                            <m:t>2</m:t>
                          </m:r>
                        </m:sup>
                      </m:sSup>
                      <m:r>
                        <a:rPr lang="zh-TW" altLang="en-US" sz="1400" i="0">
                          <a:latin typeface="Cambria Math" panose="02040503050406030204" pitchFamily="18" charset="0"/>
                        </a:rPr>
                        <m:t>+2</m:t>
                      </m:r>
                      <m:r>
                        <a:rPr lang="zh-TW" altLang="en-US" sz="1400" i="1">
                          <a:latin typeface="Cambria Math" panose="02040503050406030204" pitchFamily="18" charset="0"/>
                        </a:rPr>
                        <m:t>𝑦𝑧</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51</m:t>
                          </m:r>
                        </m:sub>
                      </m:sSub>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𝐸</m:t>
                          </m:r>
                        </m:e>
                        <m:sub>
                          <m:r>
                            <a:rPr lang="zh-TW" altLang="en-US" sz="1400" i="1">
                              <a:latin typeface="Cambria Math" panose="02040503050406030204" pitchFamily="18" charset="0"/>
                            </a:rPr>
                            <m:t>𝑦</m:t>
                          </m:r>
                        </m:sub>
                      </m:sSub>
                      <m:r>
                        <a:rPr lang="zh-TW" altLang="en-US" sz="1400" i="0">
                          <a:latin typeface="Cambria Math" panose="02040503050406030204" pitchFamily="18" charset="0"/>
                        </a:rPr>
                        <m:t>=1</m:t>
                      </m:r>
                    </m:oMath>
                  </m:oMathPara>
                </a14:m>
                <a:endParaRPr lang="zh-TW" altLang="en-US" sz="1400" dirty="0"/>
              </a:p>
            </p:txBody>
          </p:sp>
        </mc:Choice>
        <mc:Fallback xmlns="">
          <p:sp>
            <p:nvSpPr>
              <p:cNvPr id="7" name="矩形 6">
                <a:extLst>
                  <a:ext uri="{FF2B5EF4-FFF2-40B4-BE49-F238E27FC236}">
                    <a16:creationId xmlns:a16="http://schemas.microsoft.com/office/drawing/2014/main" id="{FDB49B91-009F-4249-9A37-78772FB510D8}"/>
                  </a:ext>
                </a:extLst>
              </p:cNvPr>
              <p:cNvSpPr>
                <a:spLocks noRot="1" noChangeAspect="1" noMove="1" noResize="1" noEditPoints="1" noAdjustHandles="1" noChangeArrowheads="1" noChangeShapeType="1" noTextEdit="1"/>
              </p:cNvSpPr>
              <p:nvPr/>
            </p:nvSpPr>
            <p:spPr>
              <a:xfrm>
                <a:off x="398064" y="5818550"/>
                <a:ext cx="4809778" cy="576376"/>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100F42E-7500-4E8E-8BA2-5053F2184CC4}"/>
                  </a:ext>
                </a:extLst>
              </p:cNvPr>
              <p:cNvSpPr/>
              <p:nvPr/>
            </p:nvSpPr>
            <p:spPr>
              <a:xfrm>
                <a:off x="6284681" y="1413484"/>
                <a:ext cx="2011256" cy="425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TW" altLang="en-US" sz="1200" i="1">
                              <a:latin typeface="Cambria Math" panose="02040503050406030204" pitchFamily="18" charset="0"/>
                            </a:rPr>
                          </m:ctrlPr>
                        </m:dPr>
                        <m:e>
                          <m:eqArr>
                            <m:eqArrPr>
                              <m:ctrlPr>
                                <a:rPr lang="zh-TW" altLang="en-US" sz="1200" i="1">
                                  <a:latin typeface="Cambria Math" panose="02040503050406030204" pitchFamily="18" charset="0"/>
                                </a:rPr>
                              </m:ctrlPr>
                            </m:eqArrPr>
                            <m:e>
                              <m:r>
                                <a:rPr lang="zh-TW" altLang="en-US" sz="1200">
                                  <a:latin typeface="Cambria Math" panose="02040503050406030204" pitchFamily="18" charset="0"/>
                                </a:rPr>
                                <m:t>&amp;</m:t>
                              </m:r>
                              <m:r>
                                <a:rPr lang="zh-TW" altLang="en-US" sz="1200" i="1">
                                  <a:latin typeface="Cambria Math" panose="02040503050406030204" pitchFamily="18" charset="0"/>
                                </a:rPr>
                                <m:t>𝑦</m:t>
                              </m:r>
                            </m:e>
                            <m:e>
                              <m:r>
                                <a:rPr lang="zh-TW" altLang="en-US" sz="1200" i="0">
                                  <a:latin typeface="Cambria Math" panose="02040503050406030204" pitchFamily="18" charset="0"/>
                                </a:rPr>
                                <m:t>&amp;</m:t>
                              </m:r>
                              <m:r>
                                <a:rPr lang="zh-TW" altLang="en-US" sz="1200" i="1">
                                  <a:latin typeface="Cambria Math" panose="02040503050406030204" pitchFamily="18" charset="0"/>
                                </a:rPr>
                                <m:t>𝑧</m:t>
                              </m:r>
                            </m:e>
                          </m:eqArr>
                        </m:e>
                      </m:d>
                      <m:r>
                        <a:rPr lang="zh-TW" altLang="en-US" sz="1200" i="0">
                          <a:latin typeface="Cambria Math" panose="02040503050406030204" pitchFamily="18" charset="0"/>
                        </a:rPr>
                        <m:t>=</m:t>
                      </m:r>
                      <m:d>
                        <m:dPr>
                          <m:ctrlPr>
                            <a:rPr lang="zh-TW" altLang="en-US" sz="1200" i="1">
                              <a:latin typeface="Cambria Math" panose="02040503050406030204" pitchFamily="18" charset="0"/>
                            </a:rPr>
                          </m:ctrlPr>
                        </m:dPr>
                        <m:e>
                          <m:eqArr>
                            <m:eqArrPr>
                              <m:ctrlPr>
                                <a:rPr lang="zh-TW" altLang="en-US" sz="1200" i="1">
                                  <a:latin typeface="Cambria Math" panose="02040503050406030204" pitchFamily="18" charset="0"/>
                                </a:rPr>
                              </m:ctrlPr>
                            </m:eqArrPr>
                            <m:e>
                              <m:r>
                                <a:rPr lang="zh-TW" altLang="en-US" sz="1200" i="0">
                                  <a:latin typeface="Cambria Math" panose="02040503050406030204" pitchFamily="18" charset="0"/>
                                </a:rPr>
                                <m:t>&amp;</m:t>
                              </m:r>
                              <m:m>
                                <m:mPr>
                                  <m:plcHide m:val="on"/>
                                  <m:mcs>
                                    <m:mc>
                                      <m:mcPr>
                                        <m:count m:val="2"/>
                                        <m:mcJc m:val="center"/>
                                      </m:mcPr>
                                    </m:mc>
                                  </m:mcs>
                                  <m:ctrlPr>
                                    <a:rPr lang="zh-TW" altLang="en-US" sz="1200" i="1">
                                      <a:latin typeface="Cambria Math" panose="02040503050406030204" pitchFamily="18" charset="0"/>
                                    </a:rPr>
                                  </m:ctrlPr>
                                </m:mPr>
                                <m:mr>
                                  <m:e>
                                    <m:r>
                                      <a:rPr lang="zh-TW" altLang="en-US" sz="1200" i="1">
                                        <a:latin typeface="Cambria Math" panose="02040503050406030204" pitchFamily="18" charset="0"/>
                                      </a:rPr>
                                      <m:t>𝑐𝑜𝑠</m:t>
                                    </m:r>
                                    <m:r>
                                      <a:rPr lang="zh-TW" altLang="en-US" sz="1200" i="1">
                                        <a:latin typeface="Cambria Math" panose="02040503050406030204" pitchFamily="18" charset="0"/>
                                      </a:rPr>
                                      <m:t>𝜃</m:t>
                                    </m:r>
                                  </m:e>
                                  <m:e>
                                    <m:r>
                                      <a:rPr lang="zh-TW" altLang="en-US" sz="1200" i="0">
                                        <a:latin typeface="Cambria Math" panose="02040503050406030204" pitchFamily="18" charset="0"/>
                                      </a:rPr>
                                      <m:t>−</m:t>
                                    </m:r>
                                    <m:r>
                                      <a:rPr lang="zh-TW" altLang="en-US" sz="1200" i="1">
                                        <a:latin typeface="Cambria Math" panose="02040503050406030204" pitchFamily="18" charset="0"/>
                                      </a:rPr>
                                      <m:t>𝑠𝑖𝑛</m:t>
                                    </m:r>
                                    <m:r>
                                      <a:rPr lang="zh-TW" altLang="en-US" sz="1200" i="1">
                                        <a:latin typeface="Cambria Math" panose="02040503050406030204" pitchFamily="18" charset="0"/>
                                      </a:rPr>
                                      <m:t>𝜃</m:t>
                                    </m:r>
                                  </m:e>
                                </m:mr>
                              </m:m>
                            </m:e>
                            <m:e>
                              <m:r>
                                <a:rPr lang="zh-TW" altLang="en-US" sz="1200" i="0">
                                  <a:latin typeface="Cambria Math" panose="02040503050406030204" pitchFamily="18" charset="0"/>
                                </a:rPr>
                                <m:t>&amp;</m:t>
                              </m:r>
                              <m:m>
                                <m:mPr>
                                  <m:plcHide m:val="on"/>
                                  <m:mcs>
                                    <m:mc>
                                      <m:mcPr>
                                        <m:count m:val="2"/>
                                        <m:mcJc m:val="center"/>
                                      </m:mcPr>
                                    </m:mc>
                                  </m:mcs>
                                  <m:ctrlPr>
                                    <a:rPr lang="zh-TW" altLang="en-US" sz="1200" i="1">
                                      <a:latin typeface="Cambria Math" panose="02040503050406030204" pitchFamily="18" charset="0"/>
                                    </a:rPr>
                                  </m:ctrlPr>
                                </m:mPr>
                                <m:mr>
                                  <m:e>
                                    <m:r>
                                      <a:rPr lang="zh-TW" altLang="en-US" sz="1200" i="1">
                                        <a:latin typeface="Cambria Math" panose="02040503050406030204" pitchFamily="18" charset="0"/>
                                      </a:rPr>
                                      <m:t>𝑠𝑖𝑛</m:t>
                                    </m:r>
                                    <m:r>
                                      <a:rPr lang="zh-TW" altLang="en-US" sz="1200" i="1">
                                        <a:latin typeface="Cambria Math" panose="02040503050406030204" pitchFamily="18" charset="0"/>
                                      </a:rPr>
                                      <m:t>𝜃</m:t>
                                    </m:r>
                                  </m:e>
                                  <m:e>
                                    <m:r>
                                      <a:rPr lang="zh-TW" altLang="en-US" sz="1200" i="0">
                                        <a:latin typeface="Cambria Math" panose="02040503050406030204" pitchFamily="18" charset="0"/>
                                      </a:rPr>
                                      <m:t> </m:t>
                                    </m:r>
                                    <m:r>
                                      <a:rPr lang="zh-TW" altLang="en-US" sz="1200" i="1">
                                        <a:latin typeface="Cambria Math" panose="02040503050406030204" pitchFamily="18" charset="0"/>
                                      </a:rPr>
                                      <m:t>𝑐𝑜𝑠</m:t>
                                    </m:r>
                                    <m:r>
                                      <a:rPr lang="zh-TW" altLang="en-US" sz="1200" i="1">
                                        <a:latin typeface="Cambria Math" panose="02040503050406030204" pitchFamily="18" charset="0"/>
                                      </a:rPr>
                                      <m:t>𝜃</m:t>
                                    </m:r>
                                  </m:e>
                                </m:mr>
                              </m:m>
                            </m:e>
                          </m:eqArr>
                        </m:e>
                      </m:d>
                      <m:d>
                        <m:dPr>
                          <m:ctrlPr>
                            <a:rPr lang="zh-TW" altLang="en-US" sz="1200" i="1">
                              <a:latin typeface="Cambria Math" panose="02040503050406030204" pitchFamily="18" charset="0"/>
                            </a:rPr>
                          </m:ctrlPr>
                        </m:dPr>
                        <m:e>
                          <m:eqArr>
                            <m:eqArrPr>
                              <m:ctrlPr>
                                <a:rPr lang="zh-TW" altLang="en-US" sz="1200" i="1">
                                  <a:latin typeface="Cambria Math" panose="02040503050406030204" pitchFamily="18" charset="0"/>
                                </a:rPr>
                              </m:ctrlPr>
                            </m:eqArrPr>
                            <m:e>
                              <m:r>
                                <a:rPr lang="zh-TW" altLang="en-US" sz="1200" i="0">
                                  <a:latin typeface="Cambria Math" panose="02040503050406030204" pitchFamily="18" charset="0"/>
                                </a:rPr>
                                <m:t>&amp;</m:t>
                              </m:r>
                              <m:sSup>
                                <m:sSupPr>
                                  <m:ctrlPr>
                                    <a:rPr lang="zh-TW" altLang="en-US" sz="1200" i="1">
                                      <a:latin typeface="Cambria Math" panose="02040503050406030204" pitchFamily="18" charset="0"/>
                                    </a:rPr>
                                  </m:ctrlPr>
                                </m:sSupPr>
                                <m:e>
                                  <m:r>
                                    <a:rPr lang="zh-TW" altLang="en-US" sz="1200" i="1">
                                      <a:latin typeface="Cambria Math" panose="02040503050406030204" pitchFamily="18" charset="0"/>
                                    </a:rPr>
                                    <m:t>𝑦</m:t>
                                  </m:r>
                                </m:e>
                                <m:sup>
                                  <m:r>
                                    <a:rPr lang="zh-TW" altLang="en-US" sz="1200" i="0">
                                      <a:latin typeface="Cambria Math" panose="02040503050406030204" pitchFamily="18" charset="0"/>
                                    </a:rPr>
                                    <m:t>′</m:t>
                                  </m:r>
                                </m:sup>
                              </m:sSup>
                            </m:e>
                            <m:e>
                              <m:r>
                                <a:rPr lang="zh-TW" altLang="en-US" sz="1200" i="0">
                                  <a:latin typeface="Cambria Math" panose="02040503050406030204" pitchFamily="18" charset="0"/>
                                </a:rPr>
                                <m:t>&amp;</m:t>
                              </m:r>
                              <m:sSup>
                                <m:sSupPr>
                                  <m:ctrlPr>
                                    <a:rPr lang="zh-TW" altLang="en-US" sz="1200" i="1">
                                      <a:latin typeface="Cambria Math" panose="02040503050406030204" pitchFamily="18" charset="0"/>
                                    </a:rPr>
                                  </m:ctrlPr>
                                </m:sSupPr>
                                <m:e>
                                  <m:r>
                                    <a:rPr lang="zh-TW" altLang="en-US" sz="1200" i="1">
                                      <a:latin typeface="Cambria Math" panose="02040503050406030204" pitchFamily="18" charset="0"/>
                                    </a:rPr>
                                    <m:t>𝑧</m:t>
                                  </m:r>
                                </m:e>
                                <m:sup>
                                  <m:r>
                                    <a:rPr lang="zh-TW" altLang="en-US" sz="1200" i="0">
                                      <a:latin typeface="Cambria Math" panose="02040503050406030204" pitchFamily="18" charset="0"/>
                                    </a:rPr>
                                    <m:t>′</m:t>
                                  </m:r>
                                </m:sup>
                              </m:sSup>
                            </m:e>
                          </m:eqArr>
                        </m:e>
                      </m:d>
                    </m:oMath>
                  </m:oMathPara>
                </a14:m>
                <a:endParaRPr lang="zh-TW" altLang="en-US" sz="1200" dirty="0"/>
              </a:p>
            </p:txBody>
          </p:sp>
        </mc:Choice>
        <mc:Fallback xmlns="">
          <p:sp>
            <p:nvSpPr>
              <p:cNvPr id="8" name="矩形 7">
                <a:extLst>
                  <a:ext uri="{FF2B5EF4-FFF2-40B4-BE49-F238E27FC236}">
                    <a16:creationId xmlns:a16="http://schemas.microsoft.com/office/drawing/2014/main" id="{0100F42E-7500-4E8E-8BA2-5053F2184CC4}"/>
                  </a:ext>
                </a:extLst>
              </p:cNvPr>
              <p:cNvSpPr>
                <a:spLocks noRot="1" noChangeAspect="1" noMove="1" noResize="1" noEditPoints="1" noAdjustHandles="1" noChangeArrowheads="1" noChangeShapeType="1" noTextEdit="1"/>
              </p:cNvSpPr>
              <p:nvPr/>
            </p:nvSpPr>
            <p:spPr>
              <a:xfrm>
                <a:off x="6284681" y="1413484"/>
                <a:ext cx="2011256" cy="425886"/>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70B682A-DFBA-4FF0-A519-DA794AD383EA}"/>
                  </a:ext>
                </a:extLst>
              </p:cNvPr>
              <p:cNvSpPr/>
              <p:nvPr/>
            </p:nvSpPr>
            <p:spPr>
              <a:xfrm>
                <a:off x="8640870" y="1218385"/>
                <a:ext cx="1948419" cy="8164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1400" i="1">
                          <a:latin typeface="Cambria Math" panose="02040503050406030204" pitchFamily="18" charset="0"/>
                        </a:rPr>
                        <m:t>𝜃</m:t>
                      </m:r>
                      <m:r>
                        <a:rPr lang="zh-TW" altLang="en-US" sz="1400" i="0">
                          <a:latin typeface="Cambria Math" panose="02040503050406030204" pitchFamily="18" charset="0"/>
                        </a:rPr>
                        <m:t>≈</m:t>
                      </m:r>
                      <m:r>
                        <m:rPr>
                          <m:sty m:val="p"/>
                        </m:rPr>
                        <a:rPr lang="zh-TW" altLang="en-US" sz="1400" i="0">
                          <a:latin typeface="Cambria Math" panose="02040503050406030204" pitchFamily="18" charset="0"/>
                        </a:rPr>
                        <m:t>tan</m:t>
                      </m:r>
                      <m:r>
                        <a:rPr lang="zh-TW" altLang="en-US" sz="1400" i="1">
                          <a:latin typeface="Cambria Math" panose="02040503050406030204" pitchFamily="18" charset="0"/>
                        </a:rPr>
                        <m:t>𝜃</m:t>
                      </m:r>
                      <m:r>
                        <a:rPr lang="zh-TW" altLang="en-US" sz="1400" i="0">
                          <a:latin typeface="Cambria Math" panose="02040503050406030204" pitchFamily="18" charset="0"/>
                        </a:rPr>
                        <m:t>≈</m:t>
                      </m:r>
                      <m:f>
                        <m:fPr>
                          <m:ctrlPr>
                            <a:rPr lang="zh-TW" altLang="en-US" sz="1400" i="1">
                              <a:latin typeface="Cambria Math" panose="02040503050406030204" pitchFamily="18" charset="0"/>
                            </a:rPr>
                          </m:ctrlPr>
                        </m:fPr>
                        <m:num>
                          <m:r>
                            <a:rPr lang="zh-TW" altLang="en-US" sz="1400" i="0">
                              <a:latin typeface="Cambria Math" panose="02040503050406030204" pitchFamily="18" charset="0"/>
                            </a:rPr>
                            <m:t>2</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51</m:t>
                              </m:r>
                            </m:sub>
                          </m:sSub>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𝐸</m:t>
                              </m:r>
                            </m:e>
                            <m:sub>
                              <m:r>
                                <a:rPr lang="zh-TW" altLang="en-US" sz="1400" i="1">
                                  <a:latin typeface="Cambria Math" panose="02040503050406030204" pitchFamily="18" charset="0"/>
                                </a:rPr>
                                <m:t>𝑦</m:t>
                              </m:r>
                            </m:sub>
                          </m:sSub>
                        </m:num>
                        <m:den>
                          <m:d>
                            <m:dPr>
                              <m:ctrlPr>
                                <a:rPr lang="zh-TW" altLang="en-US" sz="1400" i="1">
                                  <a:latin typeface="Cambria Math" panose="02040503050406030204" pitchFamily="18" charset="0"/>
                                </a:rPr>
                              </m:ctrlPr>
                            </m:dPr>
                            <m:e>
                              <m:f>
                                <m:fPr>
                                  <m:ctrlPr>
                                    <a:rPr lang="zh-TW" altLang="en-US" sz="1400" i="1">
                                      <a:latin typeface="Cambria Math" panose="02040503050406030204" pitchFamily="18" charset="0"/>
                                    </a:rPr>
                                  </m:ctrlPr>
                                </m:fPr>
                                <m:num>
                                  <m:r>
                                    <a:rPr lang="zh-TW" altLang="en-US" sz="1400" i="0">
                                      <a:latin typeface="Cambria Math" panose="02040503050406030204" pitchFamily="18" charset="0"/>
                                    </a:rPr>
                                    <m:t>1</m:t>
                                  </m:r>
                                </m:num>
                                <m:den>
                                  <m:sSubSup>
                                    <m:sSubSupPr>
                                      <m:ctrlPr>
                                        <a:rPr lang="zh-TW" altLang="en-US" sz="1400" i="1">
                                          <a:latin typeface="Cambria Math" panose="02040503050406030204" pitchFamily="18" charset="0"/>
                                        </a:rPr>
                                      </m:ctrlPr>
                                    </m:sSubSupPr>
                                    <m:e>
                                      <m:r>
                                        <a:rPr lang="zh-TW" altLang="en-US" sz="1400" i="1">
                                          <a:latin typeface="Cambria Math" panose="02040503050406030204" pitchFamily="18" charset="0"/>
                                        </a:rPr>
                                        <m:t>𝑛</m:t>
                                      </m:r>
                                    </m:e>
                                    <m:sub>
                                      <m:r>
                                        <a:rPr lang="zh-TW" altLang="en-US" sz="1400" i="1">
                                          <a:latin typeface="Cambria Math" panose="02040503050406030204" pitchFamily="18" charset="0"/>
                                        </a:rPr>
                                        <m:t>𝑜</m:t>
                                      </m:r>
                                    </m:sub>
                                    <m:sup>
                                      <m:r>
                                        <a:rPr lang="zh-TW" altLang="en-US" sz="1400" i="0">
                                          <a:latin typeface="Cambria Math" panose="02040503050406030204" pitchFamily="18" charset="0"/>
                                        </a:rPr>
                                        <m:t>2</m:t>
                                      </m:r>
                                    </m:sup>
                                  </m:sSubSup>
                                </m:den>
                              </m:f>
                              <m:r>
                                <a:rPr lang="zh-TW" altLang="en-US" sz="1400" i="0">
                                  <a:latin typeface="Cambria Math" panose="02040503050406030204" pitchFamily="18" charset="0"/>
                                </a:rPr>
                                <m:t>−</m:t>
                              </m:r>
                              <m:f>
                                <m:fPr>
                                  <m:ctrlPr>
                                    <a:rPr lang="zh-TW" altLang="en-US" sz="1400" i="1">
                                      <a:latin typeface="Cambria Math" panose="02040503050406030204" pitchFamily="18" charset="0"/>
                                    </a:rPr>
                                  </m:ctrlPr>
                                </m:fPr>
                                <m:num>
                                  <m:r>
                                    <a:rPr lang="zh-TW" altLang="en-US" sz="1400" i="0">
                                      <a:latin typeface="Cambria Math" panose="02040503050406030204" pitchFamily="18" charset="0"/>
                                    </a:rPr>
                                    <m:t>1</m:t>
                                  </m:r>
                                </m:num>
                                <m:den>
                                  <m:sSubSup>
                                    <m:sSubSupPr>
                                      <m:ctrlPr>
                                        <a:rPr lang="zh-TW" altLang="en-US" sz="1400" i="1">
                                          <a:latin typeface="Cambria Math" panose="02040503050406030204" pitchFamily="18" charset="0"/>
                                        </a:rPr>
                                      </m:ctrlPr>
                                    </m:sSubSupPr>
                                    <m:e>
                                      <m:r>
                                        <a:rPr lang="zh-TW" altLang="en-US" sz="1400" i="1">
                                          <a:latin typeface="Cambria Math" panose="02040503050406030204" pitchFamily="18" charset="0"/>
                                        </a:rPr>
                                        <m:t>𝑛</m:t>
                                      </m:r>
                                    </m:e>
                                    <m:sub>
                                      <m:r>
                                        <a:rPr lang="zh-TW" altLang="en-US" sz="1400" i="1">
                                          <a:latin typeface="Cambria Math" panose="02040503050406030204" pitchFamily="18" charset="0"/>
                                        </a:rPr>
                                        <m:t>𝑒</m:t>
                                      </m:r>
                                    </m:sub>
                                    <m:sup>
                                      <m:r>
                                        <a:rPr lang="zh-TW" altLang="en-US" sz="1400" i="0">
                                          <a:latin typeface="Cambria Math" panose="02040503050406030204" pitchFamily="18" charset="0"/>
                                        </a:rPr>
                                        <m:t>2</m:t>
                                      </m:r>
                                    </m:sup>
                                  </m:sSubSup>
                                </m:den>
                              </m:f>
                            </m:e>
                          </m:d>
                        </m:den>
                      </m:f>
                    </m:oMath>
                  </m:oMathPara>
                </a14:m>
                <a:endParaRPr lang="zh-TW" altLang="en-US" sz="1400" dirty="0"/>
              </a:p>
            </p:txBody>
          </p:sp>
        </mc:Choice>
        <mc:Fallback xmlns="">
          <p:sp>
            <p:nvSpPr>
              <p:cNvPr id="9" name="矩形 8">
                <a:extLst>
                  <a:ext uri="{FF2B5EF4-FFF2-40B4-BE49-F238E27FC236}">
                    <a16:creationId xmlns:a16="http://schemas.microsoft.com/office/drawing/2014/main" id="{470B682A-DFBA-4FF0-A519-DA794AD383EA}"/>
                  </a:ext>
                </a:extLst>
              </p:cNvPr>
              <p:cNvSpPr>
                <a:spLocks noRot="1" noChangeAspect="1" noMove="1" noResize="1" noEditPoints="1" noAdjustHandles="1" noChangeArrowheads="1" noChangeShapeType="1" noTextEdit="1"/>
              </p:cNvSpPr>
              <p:nvPr/>
            </p:nvSpPr>
            <p:spPr>
              <a:xfrm>
                <a:off x="8640870" y="1218385"/>
                <a:ext cx="1948419" cy="816442"/>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7CEB5B0-2596-4B50-A5B3-9F9B9A8A2D70}"/>
                  </a:ext>
                </a:extLst>
              </p:cNvPr>
              <p:cNvSpPr/>
              <p:nvPr/>
            </p:nvSpPr>
            <p:spPr>
              <a:xfrm>
                <a:off x="2539831" y="1250025"/>
                <a:ext cx="2145652" cy="12680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sz="1400" i="1">
                              <a:latin typeface="Cambria Math" panose="02040503050406030204" pitchFamily="18" charset="0"/>
                            </a:rPr>
                          </m:ctrlPr>
                        </m:sSubPr>
                        <m:e>
                          <m:acc>
                            <m:accPr>
                              <m:chr m:val="⃡"/>
                              <m:ctrlPr>
                                <a:rPr lang="zh-TW" altLang="en-US" sz="1400" i="1">
                                  <a:latin typeface="Cambria Math" panose="02040503050406030204" pitchFamily="18" charset="0"/>
                                </a:rPr>
                              </m:ctrlPr>
                            </m:accPr>
                            <m:e>
                              <m:r>
                                <a:rPr lang="zh-TW" altLang="en-US" sz="1400" i="1">
                                  <a:latin typeface="Cambria Math" panose="02040503050406030204" pitchFamily="18" charset="0"/>
                                </a:rPr>
                                <m:t>𝑟</m:t>
                              </m:r>
                            </m:e>
                          </m:acc>
                        </m:e>
                        <m:sub>
                          <m:r>
                            <a:rPr lang="zh-TW" altLang="en-US" sz="1400" i="1">
                              <a:latin typeface="Cambria Math" panose="02040503050406030204" pitchFamily="18" charset="0"/>
                            </a:rPr>
                            <m:t>𝑖𝑗𝑘</m:t>
                          </m:r>
                        </m:sub>
                      </m:sSub>
                      <m:r>
                        <a:rPr lang="zh-TW" altLang="en-US" sz="1400">
                          <a:latin typeface="Cambria Math" panose="02040503050406030204" pitchFamily="18" charset="0"/>
                        </a:rPr>
                        <m:t>=</m:t>
                      </m:r>
                      <m:d>
                        <m:dPr>
                          <m:begChr m:val="["/>
                          <m:endChr m:val="]"/>
                          <m:ctrlPr>
                            <a:rPr lang="zh-TW" altLang="en-US" sz="1400" i="1">
                              <a:latin typeface="Cambria Math" panose="02040503050406030204" pitchFamily="18" charset="0"/>
                            </a:rPr>
                          </m:ctrlPr>
                        </m:dPr>
                        <m:e>
                          <m:m>
                            <m:mPr>
                              <m:plcHide m:val="on"/>
                              <m:mcs>
                                <m:mc>
                                  <m:mcPr>
                                    <m:count m:val="3"/>
                                    <m:mcJc m:val="center"/>
                                  </m:mcPr>
                                </m:mc>
                              </m:mcs>
                              <m:ctrlPr>
                                <a:rPr lang="zh-TW" altLang="en-US" sz="1400" i="1">
                                  <a:latin typeface="Cambria Math" panose="02040503050406030204" pitchFamily="18" charset="0"/>
                                </a:rPr>
                              </m:ctrlPr>
                            </m:mPr>
                            <m:mr>
                              <m:e>
                                <m:m>
                                  <m:mPr>
                                    <m:plcHide m:val="on"/>
                                    <m:mcs>
                                      <m:mc>
                                        <m:mcPr>
                                          <m:count m:val="1"/>
                                          <m:mcJc m:val="center"/>
                                        </m:mcPr>
                                      </m:mc>
                                    </m:mcs>
                                    <m:ctrlPr>
                                      <a:rPr lang="zh-TW" altLang="en-US" sz="1400" i="1">
                                        <a:latin typeface="Cambria Math" panose="02040503050406030204" pitchFamily="18" charset="0"/>
                                      </a:rPr>
                                    </m:ctrlPr>
                                  </m:mPr>
                                  <m:mr>
                                    <m:e>
                                      <m:r>
                                        <a:rPr lang="zh-TW" altLang="en-US" sz="1400">
                                          <a:latin typeface="Cambria Math" panose="02040503050406030204" pitchFamily="18" charset="0"/>
                                        </a:rPr>
                                        <m:t>0</m:t>
                                      </m:r>
                                    </m:e>
                                  </m:mr>
                                  <m:mr>
                                    <m:e>
                                      <m:r>
                                        <a:rPr lang="zh-TW" altLang="en-US" sz="1400" i="0">
                                          <a:latin typeface="Cambria Math" panose="02040503050406030204" pitchFamily="18" charset="0"/>
                                        </a:rPr>
                                        <m:t>0</m:t>
                                      </m:r>
                                    </m:e>
                                  </m:mr>
                                  <m:mr>
                                    <m:e>
                                      <m:m>
                                        <m:mPr>
                                          <m:plcHide m:val="on"/>
                                          <m:mcs>
                                            <m:mc>
                                              <m:mcPr>
                                                <m:count m:val="1"/>
                                                <m:mcJc m:val="center"/>
                                              </m:mcPr>
                                            </m:mc>
                                          </m:mcs>
                                          <m:ctrlPr>
                                            <a:rPr lang="zh-TW" altLang="en-US" sz="1400" i="1">
                                              <a:latin typeface="Cambria Math" panose="02040503050406030204" pitchFamily="18" charset="0"/>
                                            </a:rPr>
                                          </m:ctrlPr>
                                        </m:mPr>
                                        <m:mr>
                                          <m:e>
                                            <m:r>
                                              <a:rPr lang="zh-TW" altLang="en-US" sz="1400" i="0">
                                                <a:latin typeface="Cambria Math" panose="02040503050406030204" pitchFamily="18" charset="0"/>
                                              </a:rPr>
                                              <m:t>0</m:t>
                                            </m:r>
                                          </m:e>
                                        </m:mr>
                                        <m:mr>
                                          <m:e>
                                            <m:r>
                                              <a:rPr lang="zh-TW" altLang="en-US" sz="1400" i="0">
                                                <a:latin typeface="Cambria Math" panose="02040503050406030204" pitchFamily="18" charset="0"/>
                                              </a:rPr>
                                              <m:t>0</m:t>
                                            </m:r>
                                          </m:e>
                                        </m:mr>
                                        <m:mr>
                                          <m:e>
                                            <m:m>
                                              <m:mPr>
                                                <m:plcHide m:val="on"/>
                                                <m:mcs>
                                                  <m:mc>
                                                    <m:mcPr>
                                                      <m:count m:val="1"/>
                                                      <m:mcJc m:val="center"/>
                                                    </m:mcPr>
                                                  </m:mc>
                                                </m:mcs>
                                                <m:ctrlPr>
                                                  <a:rPr lang="zh-TW" altLang="en-US" sz="1400" i="1">
                                                    <a:latin typeface="Cambria Math" panose="02040503050406030204" pitchFamily="18" charset="0"/>
                                                  </a:rPr>
                                                </m:ctrlPr>
                                              </m:mPr>
                                              <m:mr>
                                                <m:e>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51</m:t>
                                                      </m:r>
                                                    </m:sub>
                                                  </m:sSub>
                                                </m:e>
                                              </m:mr>
                                              <m:mr>
                                                <m:e>
                                                  <m:r>
                                                    <a:rPr lang="zh-TW" altLang="en-US" sz="1400" i="0">
                                                      <a:latin typeface="Cambria Math" panose="02040503050406030204" pitchFamily="18" charset="0"/>
                                                    </a:rPr>
                                                    <m:t>−</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22</m:t>
                                                      </m:r>
                                                    </m:sub>
                                                  </m:sSub>
                                                </m:e>
                                              </m:mr>
                                            </m:m>
                                          </m:e>
                                        </m:mr>
                                      </m:m>
                                    </m:e>
                                  </m:mr>
                                </m:m>
                              </m:e>
                              <m:e>
                                <m:m>
                                  <m:mPr>
                                    <m:plcHide m:val="on"/>
                                    <m:mcs>
                                      <m:mc>
                                        <m:mcPr>
                                          <m:count m:val="1"/>
                                          <m:mcJc m:val="center"/>
                                        </m:mcPr>
                                      </m:mc>
                                    </m:mcs>
                                    <m:ctrlPr>
                                      <a:rPr lang="zh-TW" altLang="en-US" sz="1400" i="1">
                                        <a:latin typeface="Cambria Math" panose="02040503050406030204" pitchFamily="18" charset="0"/>
                                      </a:rPr>
                                    </m:ctrlPr>
                                  </m:mPr>
                                  <m:mr>
                                    <m:e>
                                      <m:r>
                                        <a:rPr lang="zh-TW" altLang="en-US" sz="1400" i="0">
                                          <a:latin typeface="Cambria Math" panose="02040503050406030204" pitchFamily="18" charset="0"/>
                                        </a:rPr>
                                        <m:t>−</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22</m:t>
                                          </m:r>
                                        </m:sub>
                                      </m:sSub>
                                    </m:e>
                                  </m:mr>
                                  <m:mr>
                                    <m:e>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22</m:t>
                                          </m:r>
                                        </m:sub>
                                      </m:sSub>
                                    </m:e>
                                  </m:mr>
                                  <m:mr>
                                    <m:e>
                                      <m:m>
                                        <m:mPr>
                                          <m:plcHide m:val="on"/>
                                          <m:mcs>
                                            <m:mc>
                                              <m:mcPr>
                                                <m:count m:val="1"/>
                                                <m:mcJc m:val="center"/>
                                              </m:mcPr>
                                            </m:mc>
                                          </m:mcs>
                                          <m:ctrlPr>
                                            <a:rPr lang="zh-TW" altLang="en-US" sz="1400" i="1">
                                              <a:latin typeface="Cambria Math" panose="02040503050406030204" pitchFamily="18" charset="0"/>
                                            </a:rPr>
                                          </m:ctrlPr>
                                        </m:mPr>
                                        <m:mr>
                                          <m:e>
                                            <m:r>
                                              <a:rPr lang="zh-TW" altLang="en-US" sz="1400" i="0">
                                                <a:latin typeface="Cambria Math" panose="02040503050406030204" pitchFamily="18" charset="0"/>
                                              </a:rPr>
                                              <m:t>0</m:t>
                                            </m:r>
                                          </m:e>
                                        </m:mr>
                                        <m:mr>
                                          <m:e>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51</m:t>
                                                </m:r>
                                              </m:sub>
                                            </m:sSub>
                                          </m:e>
                                        </m:mr>
                                        <m:mr>
                                          <m:e>
                                            <m:m>
                                              <m:mPr>
                                                <m:plcHide m:val="on"/>
                                                <m:mcs>
                                                  <m:mc>
                                                    <m:mcPr>
                                                      <m:count m:val="1"/>
                                                      <m:mcJc m:val="center"/>
                                                    </m:mcPr>
                                                  </m:mc>
                                                </m:mcs>
                                                <m:ctrlPr>
                                                  <a:rPr lang="zh-TW" altLang="en-US" sz="1400" i="1">
                                                    <a:latin typeface="Cambria Math" panose="02040503050406030204" pitchFamily="18" charset="0"/>
                                                  </a:rPr>
                                                </m:ctrlPr>
                                              </m:mPr>
                                              <m:mr>
                                                <m:e>
                                                  <m:r>
                                                    <a:rPr lang="zh-TW" altLang="en-US" sz="1400" i="0">
                                                      <a:latin typeface="Cambria Math" panose="02040503050406030204" pitchFamily="18" charset="0"/>
                                                    </a:rPr>
                                                    <m:t>0</m:t>
                                                  </m:r>
                                                </m:e>
                                              </m:mr>
                                              <m:mr>
                                                <m:e>
                                                  <m:r>
                                                    <a:rPr lang="zh-TW" altLang="en-US" sz="1400" i="0">
                                                      <a:latin typeface="Cambria Math" panose="02040503050406030204" pitchFamily="18" charset="0"/>
                                                    </a:rPr>
                                                    <m:t>0</m:t>
                                                  </m:r>
                                                </m:e>
                                              </m:mr>
                                            </m:m>
                                          </m:e>
                                        </m:mr>
                                      </m:m>
                                    </m:e>
                                  </m:mr>
                                </m:m>
                              </m:e>
                              <m:e>
                                <m:m>
                                  <m:mPr>
                                    <m:plcHide m:val="on"/>
                                    <m:mcs>
                                      <m:mc>
                                        <m:mcPr>
                                          <m:count m:val="1"/>
                                          <m:mcJc m:val="center"/>
                                        </m:mcPr>
                                      </m:mc>
                                    </m:mcs>
                                    <m:ctrlPr>
                                      <a:rPr lang="zh-TW" altLang="en-US" sz="1400" i="1">
                                        <a:latin typeface="Cambria Math" panose="02040503050406030204" pitchFamily="18" charset="0"/>
                                      </a:rPr>
                                    </m:ctrlPr>
                                  </m:mPr>
                                  <m:mr>
                                    <m:e>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13</m:t>
                                          </m:r>
                                        </m:sub>
                                      </m:sSub>
                                    </m:e>
                                  </m:mr>
                                  <m:mr>
                                    <m:e>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13</m:t>
                                          </m:r>
                                        </m:sub>
                                      </m:sSub>
                                    </m:e>
                                  </m:mr>
                                  <m:mr>
                                    <m:e>
                                      <m:m>
                                        <m:mPr>
                                          <m:plcHide m:val="on"/>
                                          <m:mcs>
                                            <m:mc>
                                              <m:mcPr>
                                                <m:count m:val="1"/>
                                                <m:mcJc m:val="center"/>
                                              </m:mcPr>
                                            </m:mc>
                                          </m:mcs>
                                          <m:ctrlPr>
                                            <a:rPr lang="zh-TW" altLang="en-US" sz="1400" i="1">
                                              <a:latin typeface="Cambria Math" panose="02040503050406030204" pitchFamily="18" charset="0"/>
                                            </a:rPr>
                                          </m:ctrlPr>
                                        </m:mPr>
                                        <m:mr>
                                          <m:e>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𝑟</m:t>
                                                </m:r>
                                              </m:e>
                                              <m:sub>
                                                <m:r>
                                                  <a:rPr lang="zh-TW" altLang="en-US" sz="1400" i="0">
                                                    <a:latin typeface="Cambria Math" panose="02040503050406030204" pitchFamily="18" charset="0"/>
                                                  </a:rPr>
                                                  <m:t>33</m:t>
                                                </m:r>
                                              </m:sub>
                                            </m:sSub>
                                          </m:e>
                                        </m:mr>
                                        <m:mr>
                                          <m:e>
                                            <m:r>
                                              <a:rPr lang="zh-TW" altLang="en-US" sz="1400" i="0">
                                                <a:latin typeface="Cambria Math" panose="02040503050406030204" pitchFamily="18" charset="0"/>
                                              </a:rPr>
                                              <m:t>0</m:t>
                                            </m:r>
                                          </m:e>
                                        </m:mr>
                                        <m:mr>
                                          <m:e>
                                            <m:m>
                                              <m:mPr>
                                                <m:plcHide m:val="on"/>
                                                <m:mcs>
                                                  <m:mc>
                                                    <m:mcPr>
                                                      <m:count m:val="1"/>
                                                      <m:mcJc m:val="center"/>
                                                    </m:mcPr>
                                                  </m:mc>
                                                </m:mcs>
                                                <m:ctrlPr>
                                                  <a:rPr lang="zh-TW" altLang="en-US" sz="1400" i="1">
                                                    <a:latin typeface="Cambria Math" panose="02040503050406030204" pitchFamily="18" charset="0"/>
                                                  </a:rPr>
                                                </m:ctrlPr>
                                              </m:mPr>
                                              <m:mr>
                                                <m:e>
                                                  <m:r>
                                                    <a:rPr lang="zh-TW" altLang="en-US" sz="1400" i="0">
                                                      <a:latin typeface="Cambria Math" panose="02040503050406030204" pitchFamily="18" charset="0"/>
                                                    </a:rPr>
                                                    <m:t>0</m:t>
                                                  </m:r>
                                                </m:e>
                                              </m:mr>
                                              <m:mr>
                                                <m:e>
                                                  <m:r>
                                                    <a:rPr lang="zh-TW" altLang="en-US" sz="1400" i="0">
                                                      <a:latin typeface="Cambria Math" panose="02040503050406030204" pitchFamily="18" charset="0"/>
                                                    </a:rPr>
                                                    <m:t>0</m:t>
                                                  </m:r>
                                                </m:e>
                                              </m:mr>
                                            </m:m>
                                          </m:e>
                                        </m:mr>
                                      </m:m>
                                    </m:e>
                                  </m:mr>
                                </m:m>
                              </m:e>
                            </m:mr>
                          </m:m>
                        </m:e>
                      </m:d>
                    </m:oMath>
                  </m:oMathPara>
                </a14:m>
                <a:endParaRPr lang="zh-TW" altLang="en-US" sz="1200" dirty="0"/>
              </a:p>
            </p:txBody>
          </p:sp>
        </mc:Choice>
        <mc:Fallback xmlns="">
          <p:sp>
            <p:nvSpPr>
              <p:cNvPr id="10" name="矩形 9">
                <a:extLst>
                  <a:ext uri="{FF2B5EF4-FFF2-40B4-BE49-F238E27FC236}">
                    <a16:creationId xmlns:a16="http://schemas.microsoft.com/office/drawing/2014/main" id="{87CEB5B0-2596-4B50-A5B3-9F9B9A8A2D70}"/>
                  </a:ext>
                </a:extLst>
              </p:cNvPr>
              <p:cNvSpPr>
                <a:spLocks noRot="1" noChangeAspect="1" noMove="1" noResize="1" noEditPoints="1" noAdjustHandles="1" noChangeArrowheads="1" noChangeShapeType="1" noTextEdit="1"/>
              </p:cNvSpPr>
              <p:nvPr/>
            </p:nvSpPr>
            <p:spPr>
              <a:xfrm>
                <a:off x="2539831" y="1250025"/>
                <a:ext cx="2145652" cy="1268039"/>
              </a:xfrm>
              <a:prstGeom prst="rect">
                <a:avLst/>
              </a:prstGeom>
              <a:blipFill>
                <a:blip r:embed="rId9"/>
                <a:stretch>
                  <a:fillRect/>
                </a:stretch>
              </a:blipFill>
            </p:spPr>
            <p:txBody>
              <a:bodyPr/>
              <a:lstStyle/>
              <a:p>
                <a:r>
                  <a:rPr lang="zh-TW" altLang="en-US">
                    <a:noFill/>
                  </a:rPr>
                  <a:t> </a:t>
                </a:r>
              </a:p>
            </p:txBody>
          </p:sp>
        </mc:Fallback>
      </mc:AlternateContent>
      <p:sp>
        <p:nvSpPr>
          <p:cNvPr id="86" name="矩形 85">
            <a:extLst>
              <a:ext uri="{FF2B5EF4-FFF2-40B4-BE49-F238E27FC236}">
                <a16:creationId xmlns:a16="http://schemas.microsoft.com/office/drawing/2014/main" id="{CE5DE6C0-B4D7-4607-B241-A444DA65307D}"/>
              </a:ext>
            </a:extLst>
          </p:cNvPr>
          <p:cNvSpPr/>
          <p:nvPr/>
        </p:nvSpPr>
        <p:spPr>
          <a:xfrm>
            <a:off x="367655" y="2518877"/>
            <a:ext cx="1972848" cy="523220"/>
          </a:xfrm>
          <a:prstGeom prst="rect">
            <a:avLst/>
          </a:prstGeom>
        </p:spPr>
        <p:txBody>
          <a:bodyPr wrap="square">
            <a:spAutoFit/>
          </a:bodyPr>
          <a:lstStyle/>
          <a:p>
            <a:pPr algn="ctr"/>
            <a:r>
              <a:rPr lang="en-US" altLang="zh-TW" sz="1400" dirty="0">
                <a:latin typeface="Times New Roman" panose="02020603050405020304" pitchFamily="18" charset="0"/>
                <a:cs typeface="Times New Roman" panose="02020603050405020304" pitchFamily="18" charset="0"/>
              </a:rPr>
              <a:t>Impermeability tensor of negative uniaxial crystal</a:t>
            </a:r>
            <a:endParaRPr lang="zh-TW" altLang="en-US" sz="1400" dirty="0">
              <a:latin typeface="Times New Roman" panose="02020603050405020304" pitchFamily="18" charset="0"/>
              <a:cs typeface="Times New Roman" panose="02020603050405020304" pitchFamily="18" charset="0"/>
            </a:endParaRPr>
          </a:p>
        </p:txBody>
      </p:sp>
      <p:sp>
        <p:nvSpPr>
          <p:cNvPr id="87" name="矩形 86">
            <a:extLst>
              <a:ext uri="{FF2B5EF4-FFF2-40B4-BE49-F238E27FC236}">
                <a16:creationId xmlns:a16="http://schemas.microsoft.com/office/drawing/2014/main" id="{BB6C2645-A4F9-4ADB-AC46-53D691958E1C}"/>
              </a:ext>
            </a:extLst>
          </p:cNvPr>
          <p:cNvSpPr/>
          <p:nvPr/>
        </p:nvSpPr>
        <p:spPr>
          <a:xfrm>
            <a:off x="2824881" y="2626192"/>
            <a:ext cx="2039276" cy="307777"/>
          </a:xfrm>
          <a:prstGeom prst="rect">
            <a:avLst/>
          </a:prstGeom>
        </p:spPr>
        <p:txBody>
          <a:bodyPr wrap="none">
            <a:spAutoFit/>
          </a:bodyPr>
          <a:lstStyle/>
          <a:p>
            <a:r>
              <a:rPr lang="en-US" altLang="zh-TW" sz="1400" dirty="0">
                <a:latin typeface="Times New Roman" panose="02020603050405020304" pitchFamily="18" charset="0"/>
                <a:cs typeface="Times New Roman" panose="02020603050405020304" pitchFamily="18" charset="0"/>
              </a:rPr>
              <a:t>EO coefficient of LiNbO</a:t>
            </a:r>
            <a:r>
              <a:rPr lang="en-US" altLang="zh-TW" sz="1400" baseline="-25000" dirty="0">
                <a:latin typeface="Times New Roman" panose="02020603050405020304" pitchFamily="18" charset="0"/>
                <a:cs typeface="Times New Roman" panose="02020603050405020304" pitchFamily="18" charset="0"/>
              </a:rPr>
              <a:t>3</a:t>
            </a:r>
            <a:endParaRPr lang="zh-TW" altLang="en-US" sz="1400" dirty="0">
              <a:latin typeface="Times New Roman" panose="02020603050405020304" pitchFamily="18" charset="0"/>
              <a:cs typeface="Times New Roman" panose="02020603050405020304" pitchFamily="18" charset="0"/>
            </a:endParaRPr>
          </a:p>
        </p:txBody>
      </p:sp>
      <p:sp>
        <p:nvSpPr>
          <p:cNvPr id="88" name="文字方塊 87">
            <a:extLst>
              <a:ext uri="{FF2B5EF4-FFF2-40B4-BE49-F238E27FC236}">
                <a16:creationId xmlns:a16="http://schemas.microsoft.com/office/drawing/2014/main" id="{CD79AABF-9A36-4EDD-8D59-A665D8B3B72A}"/>
              </a:ext>
            </a:extLst>
          </p:cNvPr>
          <p:cNvSpPr txBox="1"/>
          <p:nvPr/>
        </p:nvSpPr>
        <p:spPr>
          <a:xfrm>
            <a:off x="652212" y="4182454"/>
            <a:ext cx="3900363" cy="307777"/>
          </a:xfrm>
          <a:prstGeom prst="rect">
            <a:avLst/>
          </a:prstGeom>
          <a:noFill/>
        </p:spPr>
        <p:txBody>
          <a:bodyPr wrap="none" rtlCol="0">
            <a:spAutoFit/>
          </a:bodyPr>
          <a:lstStyle/>
          <a:p>
            <a:r>
              <a:rPr lang="en-US" altLang="zh-TW" sz="1400" dirty="0">
                <a:latin typeface="Times New Roman" panose="02020603050405020304" pitchFamily="18" charset="0"/>
                <a:cs typeface="Times New Roman" panose="02020603050405020304" pitchFamily="18" charset="0"/>
              </a:rPr>
              <a:t>Difference of impermeability by apply electric field</a:t>
            </a:r>
            <a:endParaRPr lang="zh-TW" altLang="en-US" sz="1400" dirty="0">
              <a:latin typeface="Times New Roman" panose="02020603050405020304" pitchFamily="18" charset="0"/>
              <a:cs typeface="Times New Roman" panose="02020603050405020304" pitchFamily="18" charset="0"/>
            </a:endParaRPr>
          </a:p>
        </p:txBody>
      </p:sp>
      <p:sp>
        <p:nvSpPr>
          <p:cNvPr id="89" name="文字方塊 88">
            <a:extLst>
              <a:ext uri="{FF2B5EF4-FFF2-40B4-BE49-F238E27FC236}">
                <a16:creationId xmlns:a16="http://schemas.microsoft.com/office/drawing/2014/main" id="{4FE5A3BB-4538-401E-8347-A60DC8F036E2}"/>
              </a:ext>
            </a:extLst>
          </p:cNvPr>
          <p:cNvSpPr txBox="1"/>
          <p:nvPr/>
        </p:nvSpPr>
        <p:spPr>
          <a:xfrm>
            <a:off x="1289043" y="6386057"/>
            <a:ext cx="3071675" cy="338554"/>
          </a:xfrm>
          <a:prstGeom prst="rect">
            <a:avLst/>
          </a:prstGeom>
          <a:noFill/>
        </p:spPr>
        <p:txBody>
          <a:bodyPr wrap="none" rtlCol="0">
            <a:spAutoFit/>
          </a:bodyPr>
          <a:lstStyle/>
          <a:p>
            <a:r>
              <a:rPr lang="en-US" altLang="zh-TW" sz="1600" dirty="0">
                <a:latin typeface="Times New Roman" panose="02020603050405020304" pitchFamily="18" charset="0"/>
                <a:cs typeface="Times New Roman" panose="02020603050405020304" pitchFamily="18" charset="0"/>
              </a:rPr>
              <a:t>Refractive index ellipsoid equation</a:t>
            </a:r>
            <a:endParaRPr lang="zh-TW" altLang="en-US" sz="1600" dirty="0">
              <a:latin typeface="Times New Roman" panose="02020603050405020304" pitchFamily="18" charset="0"/>
              <a:cs typeface="Times New Roman" panose="02020603050405020304" pitchFamily="18" charset="0"/>
            </a:endParaRPr>
          </a:p>
        </p:txBody>
      </p:sp>
      <p:sp>
        <p:nvSpPr>
          <p:cNvPr id="90" name="文字方塊 89">
            <a:extLst>
              <a:ext uri="{FF2B5EF4-FFF2-40B4-BE49-F238E27FC236}">
                <a16:creationId xmlns:a16="http://schemas.microsoft.com/office/drawing/2014/main" id="{A8266985-FC83-42CD-9FC5-CA10FC4F815A}"/>
              </a:ext>
            </a:extLst>
          </p:cNvPr>
          <p:cNvSpPr txBox="1"/>
          <p:nvPr/>
        </p:nvSpPr>
        <p:spPr>
          <a:xfrm>
            <a:off x="727969" y="725990"/>
            <a:ext cx="3412153" cy="369332"/>
          </a:xfrm>
          <a:prstGeom prst="rect">
            <a:avLst/>
          </a:prstGeom>
          <a:noFill/>
        </p:spPr>
        <p:txBody>
          <a:bodyPr wrap="none" rtlCol="0">
            <a:spAutoFit/>
          </a:bodyPr>
          <a:lstStyle/>
          <a:p>
            <a:pPr marL="285750" indent="-285750">
              <a:buFont typeface="Arial" panose="020B0604020202020204" pitchFamily="34" charset="0"/>
              <a:buChar char="•"/>
            </a:pPr>
            <a:r>
              <a:rPr lang="en-US" altLang="zh-TW" b="1" i="1" dirty="0">
                <a:latin typeface="Times New Roman" panose="02020603050405020304" pitchFamily="18" charset="0"/>
                <a:ea typeface="標楷體" panose="03000509000000000000" pitchFamily="65" charset="-120"/>
                <a:cs typeface="Times New Roman" panose="02020603050405020304" pitchFamily="18" charset="0"/>
              </a:rPr>
              <a:t>Electro-optic Effect in LiNbO</a:t>
            </a:r>
            <a:r>
              <a:rPr lang="en-US" altLang="zh-TW" b="1" i="1" baseline="-25000" dirty="0">
                <a:latin typeface="Times New Roman" panose="02020603050405020304" pitchFamily="18" charset="0"/>
                <a:cs typeface="Times New Roman" panose="02020603050405020304" pitchFamily="18" charset="0"/>
              </a:rPr>
              <a:t>3</a:t>
            </a:r>
            <a:endParaRPr lang="zh-TW" altLang="en-US" b="1" i="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投影片編號版面配置區 11">
            <a:extLst>
              <a:ext uri="{FF2B5EF4-FFF2-40B4-BE49-F238E27FC236}">
                <a16:creationId xmlns:a16="http://schemas.microsoft.com/office/drawing/2014/main" id="{5EAD2729-33A3-478C-B3AD-C058C1E1B29A}"/>
              </a:ext>
            </a:extLst>
          </p:cNvPr>
          <p:cNvSpPr>
            <a:spLocks noGrp="1"/>
          </p:cNvSpPr>
          <p:nvPr>
            <p:ph type="sldNum" sz="quarter" idx="12"/>
          </p:nvPr>
        </p:nvSpPr>
        <p:spPr/>
        <p:txBody>
          <a:bodyPr/>
          <a:lstStyle/>
          <a:p>
            <a:fld id="{9044CBB6-E20C-4076-82F9-F8F95241C54D}" type="slidenum">
              <a:rPr lang="zh-TW" altLang="en-US" smtClean="0">
                <a:solidFill>
                  <a:schemeClr val="tx1"/>
                </a:solidFill>
              </a:rPr>
              <a:t>12</a:t>
            </a:fld>
            <a:endParaRPr lang="zh-TW" altLang="en-US">
              <a:solidFill>
                <a:schemeClr val="tx1"/>
              </a:solidFill>
            </a:endParaRPr>
          </a:p>
        </p:txBody>
      </p:sp>
      <p:sp>
        <p:nvSpPr>
          <p:cNvPr id="49" name="文字方塊 48">
            <a:extLst>
              <a:ext uri="{FF2B5EF4-FFF2-40B4-BE49-F238E27FC236}">
                <a16:creationId xmlns:a16="http://schemas.microsoft.com/office/drawing/2014/main" id="{1A0780D8-DA06-4A47-BD7C-2B75E7300BC7}"/>
              </a:ext>
            </a:extLst>
          </p:cNvPr>
          <p:cNvSpPr txBox="1"/>
          <p:nvPr/>
        </p:nvSpPr>
        <p:spPr>
          <a:xfrm>
            <a:off x="6992252" y="6551345"/>
            <a:ext cx="5188227" cy="338554"/>
          </a:xfrm>
          <a:prstGeom prst="rect">
            <a:avLst/>
          </a:prstGeom>
          <a:noFill/>
        </p:spPr>
        <p:txBody>
          <a:bodyPr wrap="square" rtlCol="0">
            <a:spAutoFit/>
          </a:bodyPr>
          <a:lstStyle/>
          <a:p>
            <a:r>
              <a:rPr lang="en-US" altLang="zh-TW" sz="1600" dirty="0">
                <a:latin typeface="Times New Roman" panose="02020603050405020304" pitchFamily="18" charset="0"/>
                <a:cs typeface="Times New Roman" panose="02020603050405020304" pitchFamily="18" charset="0"/>
              </a:rPr>
              <a:t>Yariv &amp; Yeh “Optical waves in crystals” chap.7, P.463, (2003)</a:t>
            </a:r>
            <a:endParaRPr lang="zh-TW" altLang="zh-TW" sz="1600" dirty="0">
              <a:latin typeface="Times New Roman" panose="02020603050405020304" pitchFamily="18" charset="0"/>
              <a:cs typeface="Times New Roman" panose="02020603050405020304" pitchFamily="18" charset="0"/>
            </a:endParaRPr>
          </a:p>
        </p:txBody>
      </p:sp>
      <p:grpSp>
        <p:nvGrpSpPr>
          <p:cNvPr id="11" name="群組 10">
            <a:extLst>
              <a:ext uri="{FF2B5EF4-FFF2-40B4-BE49-F238E27FC236}">
                <a16:creationId xmlns:a16="http://schemas.microsoft.com/office/drawing/2014/main" id="{A4BA99DD-C494-4A65-9FDB-02F73355A439}"/>
              </a:ext>
            </a:extLst>
          </p:cNvPr>
          <p:cNvGrpSpPr/>
          <p:nvPr/>
        </p:nvGrpSpPr>
        <p:grpSpPr>
          <a:xfrm>
            <a:off x="5186407" y="1867293"/>
            <a:ext cx="6954297" cy="4067778"/>
            <a:chOff x="5186407" y="1867293"/>
            <a:chExt cx="6954297" cy="4067778"/>
          </a:xfrm>
        </p:grpSpPr>
        <p:cxnSp>
          <p:nvCxnSpPr>
            <p:cNvPr id="53" name="直線接點 52">
              <a:extLst>
                <a:ext uri="{FF2B5EF4-FFF2-40B4-BE49-F238E27FC236}">
                  <a16:creationId xmlns:a16="http://schemas.microsoft.com/office/drawing/2014/main" id="{B520B9BD-80D3-478E-B35A-5C2D2FDE7A7C}"/>
                </a:ext>
              </a:extLst>
            </p:cNvPr>
            <p:cNvCxnSpPr>
              <a:cxnSpLocks/>
            </p:cNvCxnSpPr>
            <p:nvPr/>
          </p:nvCxnSpPr>
          <p:spPr>
            <a:xfrm flipV="1">
              <a:off x="11147681" y="4008980"/>
              <a:ext cx="509014" cy="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D521D310-848B-4F7C-8CF5-6A29A8672ACF}"/>
                </a:ext>
              </a:extLst>
            </p:cNvPr>
            <p:cNvCxnSpPr>
              <a:cxnSpLocks/>
            </p:cNvCxnSpPr>
            <p:nvPr/>
          </p:nvCxnSpPr>
          <p:spPr>
            <a:xfrm flipV="1">
              <a:off x="7918706" y="4008980"/>
              <a:ext cx="509014" cy="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EA30CC95-5B1F-465E-8265-BB34959F2A61}"/>
                </a:ext>
              </a:extLst>
            </p:cNvPr>
            <p:cNvSpPr/>
            <p:nvPr/>
          </p:nvSpPr>
          <p:spPr>
            <a:xfrm>
              <a:off x="6647987" y="2313325"/>
              <a:ext cx="1171575" cy="2450407"/>
            </a:xfrm>
            <a:prstGeom prst="rect">
              <a:avLst/>
            </a:prstGeom>
            <a:solidFill>
              <a:schemeClr val="bg1">
                <a:lumMod val="75000"/>
              </a:schemeClr>
            </a:solidFill>
            <a:ln>
              <a:solidFill>
                <a:schemeClr val="bg1">
                  <a:lumMod val="75000"/>
                </a:schemeClr>
              </a:solidFill>
            </a:ln>
            <a:scene3d>
              <a:camera prst="orthographicFront">
                <a:rot lat="17668067" lon="17307700" rev="4304836"/>
              </a:camera>
              <a:lightRig rig="threePt" dir="t"/>
            </a:scene3d>
            <a:sp3d extrusionH="660400">
              <a:bevelT h="95250"/>
              <a:bevelB h="1079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CA25B2D4-3355-4636-8451-5A8B220895CD}"/>
                </a:ext>
              </a:extLst>
            </p:cNvPr>
            <p:cNvSpPr/>
            <p:nvPr/>
          </p:nvSpPr>
          <p:spPr>
            <a:xfrm>
              <a:off x="9851621" y="2364675"/>
              <a:ext cx="1171575" cy="2450407"/>
            </a:xfrm>
            <a:prstGeom prst="rect">
              <a:avLst/>
            </a:prstGeom>
            <a:solidFill>
              <a:schemeClr val="bg1">
                <a:lumMod val="75000"/>
              </a:schemeClr>
            </a:solidFill>
            <a:ln>
              <a:solidFill>
                <a:schemeClr val="bg1">
                  <a:lumMod val="75000"/>
                </a:schemeClr>
              </a:solidFill>
            </a:ln>
            <a:scene3d>
              <a:camera prst="orthographicFront">
                <a:rot lat="17668067" lon="17307700" rev="4304836"/>
              </a:camera>
              <a:lightRig rig="threePt" dir="t"/>
            </a:scene3d>
            <a:sp3d extrusionH="660400">
              <a:bevelT h="95250"/>
              <a:bevelB h="10795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25" name="直線接點 24">
              <a:extLst>
                <a:ext uri="{FF2B5EF4-FFF2-40B4-BE49-F238E27FC236}">
                  <a16:creationId xmlns:a16="http://schemas.microsoft.com/office/drawing/2014/main" id="{9BDF1261-5577-4DB0-B796-93A0C3BD983E}"/>
                </a:ext>
              </a:extLst>
            </p:cNvPr>
            <p:cNvCxnSpPr>
              <a:cxnSpLocks/>
            </p:cNvCxnSpPr>
            <p:nvPr/>
          </p:nvCxnSpPr>
          <p:spPr>
            <a:xfrm flipH="1">
              <a:off x="5921375" y="4008979"/>
              <a:ext cx="72661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1A8A1F3A-219B-457F-B025-5138E31287D7}"/>
                </a:ext>
              </a:extLst>
            </p:cNvPr>
            <p:cNvCxnSpPr>
              <a:cxnSpLocks/>
            </p:cNvCxnSpPr>
            <p:nvPr/>
          </p:nvCxnSpPr>
          <p:spPr>
            <a:xfrm flipV="1">
              <a:off x="5932805" y="2760676"/>
              <a:ext cx="0" cy="124830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5D85A17-7EE8-4126-8C6C-09E659E14F58}"/>
                </a:ext>
              </a:extLst>
            </p:cNvPr>
            <p:cNvCxnSpPr>
              <a:cxnSpLocks/>
              <a:stCxn id="23" idx="2"/>
            </p:cNvCxnSpPr>
            <p:nvPr/>
          </p:nvCxnSpPr>
          <p:spPr>
            <a:xfrm flipH="1">
              <a:off x="5921375" y="2760676"/>
              <a:ext cx="10523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C65CCBDC-0AC0-4DD9-925E-629F7064FBD8}"/>
                </a:ext>
              </a:extLst>
            </p:cNvPr>
            <p:cNvCxnSpPr>
              <a:cxnSpLocks/>
              <a:stCxn id="23" idx="6"/>
            </p:cNvCxnSpPr>
            <p:nvPr/>
          </p:nvCxnSpPr>
          <p:spPr>
            <a:xfrm>
              <a:off x="7513676" y="2760676"/>
              <a:ext cx="91404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D098A89B-D68B-438D-9BC7-BCACF98D4585}"/>
                </a:ext>
              </a:extLst>
            </p:cNvPr>
            <p:cNvCxnSpPr>
              <a:cxnSpLocks/>
            </p:cNvCxnSpPr>
            <p:nvPr/>
          </p:nvCxnSpPr>
          <p:spPr>
            <a:xfrm>
              <a:off x="8416458" y="2760676"/>
              <a:ext cx="0" cy="124830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橢圓 22">
              <a:extLst>
                <a:ext uri="{FF2B5EF4-FFF2-40B4-BE49-F238E27FC236}">
                  <a16:creationId xmlns:a16="http://schemas.microsoft.com/office/drawing/2014/main" id="{3E732CFC-F217-4AA7-9D28-7B8D8ABD487C}"/>
                </a:ext>
              </a:extLst>
            </p:cNvPr>
            <p:cNvSpPr/>
            <p:nvPr/>
          </p:nvSpPr>
          <p:spPr>
            <a:xfrm>
              <a:off x="6973676" y="2490676"/>
              <a:ext cx="540000" cy="540000"/>
            </a:xfrm>
            <a:prstGeom prst="ellipse">
              <a:avLst/>
            </a:prstGeom>
            <a:solidFill>
              <a:srgbClr val="FF0000"/>
            </a:solidFill>
            <a:ln>
              <a:solidFill>
                <a:srgbClr val="FF0000"/>
              </a:solidFill>
            </a:ln>
            <a:scene3d>
              <a:camera prst="orthographicFront"/>
              <a:lightRig rig="threePt" dir="t"/>
            </a:scene3d>
            <a:sp3d>
              <a:bevelT w="271780" h="271780"/>
              <a:bevelB w="271780" h="2717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V</a:t>
              </a:r>
              <a:endParaRPr lang="zh-TW" altLang="en-US" dirty="0"/>
            </a:p>
          </p:txBody>
        </p:sp>
        <p:cxnSp>
          <p:nvCxnSpPr>
            <p:cNvPr id="54" name="直線接點 53">
              <a:extLst>
                <a:ext uri="{FF2B5EF4-FFF2-40B4-BE49-F238E27FC236}">
                  <a16:creationId xmlns:a16="http://schemas.microsoft.com/office/drawing/2014/main" id="{01EDFEC0-3036-481C-9DC8-DA682DDBB17B}"/>
                </a:ext>
              </a:extLst>
            </p:cNvPr>
            <p:cNvCxnSpPr>
              <a:cxnSpLocks/>
            </p:cNvCxnSpPr>
            <p:nvPr/>
          </p:nvCxnSpPr>
          <p:spPr>
            <a:xfrm flipH="1">
              <a:off x="9150350" y="4008979"/>
              <a:ext cx="72661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直線接點 54">
              <a:extLst>
                <a:ext uri="{FF2B5EF4-FFF2-40B4-BE49-F238E27FC236}">
                  <a16:creationId xmlns:a16="http://schemas.microsoft.com/office/drawing/2014/main" id="{38EC8C7A-7A0B-4A21-B615-A4DD1E2AF406}"/>
                </a:ext>
              </a:extLst>
            </p:cNvPr>
            <p:cNvCxnSpPr>
              <a:cxnSpLocks/>
            </p:cNvCxnSpPr>
            <p:nvPr/>
          </p:nvCxnSpPr>
          <p:spPr>
            <a:xfrm flipV="1">
              <a:off x="9161780" y="2760676"/>
              <a:ext cx="0" cy="124830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直線接點 55">
              <a:extLst>
                <a:ext uri="{FF2B5EF4-FFF2-40B4-BE49-F238E27FC236}">
                  <a16:creationId xmlns:a16="http://schemas.microsoft.com/office/drawing/2014/main" id="{1D747F69-AB6D-4340-89E4-14BCFD6DAE52}"/>
                </a:ext>
              </a:extLst>
            </p:cNvPr>
            <p:cNvCxnSpPr>
              <a:cxnSpLocks/>
              <a:stCxn id="59" idx="2"/>
            </p:cNvCxnSpPr>
            <p:nvPr/>
          </p:nvCxnSpPr>
          <p:spPr>
            <a:xfrm flipH="1">
              <a:off x="9150350" y="2760676"/>
              <a:ext cx="1052301"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27AA3F9A-67C1-4D63-A25B-5049C558B064}"/>
                </a:ext>
              </a:extLst>
            </p:cNvPr>
            <p:cNvCxnSpPr>
              <a:cxnSpLocks/>
              <a:stCxn id="59" idx="6"/>
            </p:cNvCxnSpPr>
            <p:nvPr/>
          </p:nvCxnSpPr>
          <p:spPr>
            <a:xfrm>
              <a:off x="10742651" y="2760676"/>
              <a:ext cx="91404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C8551168-AA11-4C5E-8947-4104250FB64F}"/>
                </a:ext>
              </a:extLst>
            </p:cNvPr>
            <p:cNvCxnSpPr>
              <a:cxnSpLocks/>
            </p:cNvCxnSpPr>
            <p:nvPr/>
          </p:nvCxnSpPr>
          <p:spPr>
            <a:xfrm>
              <a:off x="11645433" y="2760676"/>
              <a:ext cx="0" cy="124830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59" name="橢圓 58">
              <a:extLst>
                <a:ext uri="{FF2B5EF4-FFF2-40B4-BE49-F238E27FC236}">
                  <a16:creationId xmlns:a16="http://schemas.microsoft.com/office/drawing/2014/main" id="{EB216480-BB09-406D-85D2-404D0F31131A}"/>
                </a:ext>
              </a:extLst>
            </p:cNvPr>
            <p:cNvSpPr/>
            <p:nvPr/>
          </p:nvSpPr>
          <p:spPr>
            <a:xfrm>
              <a:off x="10202651" y="2490676"/>
              <a:ext cx="540000" cy="540000"/>
            </a:xfrm>
            <a:prstGeom prst="ellipse">
              <a:avLst/>
            </a:prstGeom>
            <a:solidFill>
              <a:srgbClr val="FF0000"/>
            </a:solidFill>
            <a:ln>
              <a:solidFill>
                <a:srgbClr val="FF0000"/>
              </a:solidFill>
            </a:ln>
            <a:scene3d>
              <a:camera prst="orthographicFront"/>
              <a:lightRig rig="threePt" dir="t"/>
            </a:scene3d>
            <a:sp3d>
              <a:bevelT w="271780" h="271780"/>
              <a:bevelB w="271780" h="2717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V</a:t>
              </a:r>
              <a:endParaRPr lang="zh-TW" altLang="en-US" dirty="0"/>
            </a:p>
          </p:txBody>
        </p:sp>
        <p:sp>
          <p:nvSpPr>
            <p:cNvPr id="60" name="箭號: 向上 59">
              <a:extLst>
                <a:ext uri="{FF2B5EF4-FFF2-40B4-BE49-F238E27FC236}">
                  <a16:creationId xmlns:a16="http://schemas.microsoft.com/office/drawing/2014/main" id="{5A4BEF2C-73A1-473D-8709-2A72415A77EA}"/>
                </a:ext>
              </a:extLst>
            </p:cNvPr>
            <p:cNvSpPr/>
            <p:nvPr/>
          </p:nvSpPr>
          <p:spPr>
            <a:xfrm>
              <a:off x="7519356" y="3807376"/>
              <a:ext cx="396309" cy="666578"/>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箭號: 向上 60">
              <a:extLst>
                <a:ext uri="{FF2B5EF4-FFF2-40B4-BE49-F238E27FC236}">
                  <a16:creationId xmlns:a16="http://schemas.microsoft.com/office/drawing/2014/main" id="{1485CBE3-16CC-4E1D-818E-9AE895FDD41B}"/>
                </a:ext>
              </a:extLst>
            </p:cNvPr>
            <p:cNvSpPr/>
            <p:nvPr/>
          </p:nvSpPr>
          <p:spPr>
            <a:xfrm rot="10800000">
              <a:off x="10728187" y="3873965"/>
              <a:ext cx="396309" cy="666578"/>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0346A208-C1C2-4C00-BABD-C58CFF8C2107}"/>
                    </a:ext>
                  </a:extLst>
                </p:cNvPr>
                <p:cNvSpPr txBox="1"/>
                <p:nvPr/>
              </p:nvSpPr>
              <p:spPr>
                <a:xfrm>
                  <a:off x="7853256" y="4076690"/>
                  <a:ext cx="30610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𝑷</m:t>
                            </m:r>
                          </m:e>
                          <m:sub>
                            <m:r>
                              <a:rPr lang="en-US" altLang="zh-TW" b="1" i="1" smtClean="0">
                                <a:latin typeface="Cambria Math" panose="02040503050406030204" pitchFamily="18" charset="0"/>
                              </a:rPr>
                              <m:t>𝒔</m:t>
                            </m:r>
                          </m:sub>
                        </m:sSub>
                      </m:oMath>
                    </m:oMathPara>
                  </a14:m>
                  <a:endParaRPr lang="zh-TW" altLang="en-US" b="1" dirty="0"/>
                </a:p>
              </p:txBody>
            </p:sp>
          </mc:Choice>
          <mc:Fallback xmlns="">
            <p:sp>
              <p:nvSpPr>
                <p:cNvPr id="62" name="文字方塊 61">
                  <a:extLst>
                    <a:ext uri="{FF2B5EF4-FFF2-40B4-BE49-F238E27FC236}">
                      <a16:creationId xmlns:a16="http://schemas.microsoft.com/office/drawing/2014/main" id="{0346A208-C1C2-4C00-BABD-C58CFF8C2107}"/>
                    </a:ext>
                  </a:extLst>
                </p:cNvPr>
                <p:cNvSpPr txBox="1">
                  <a:spLocks noRot="1" noChangeAspect="1" noMove="1" noResize="1" noEditPoints="1" noAdjustHandles="1" noChangeArrowheads="1" noChangeShapeType="1" noTextEdit="1"/>
                </p:cNvSpPr>
                <p:nvPr/>
              </p:nvSpPr>
              <p:spPr>
                <a:xfrm>
                  <a:off x="7853256" y="4076690"/>
                  <a:ext cx="306109" cy="276999"/>
                </a:xfrm>
                <a:prstGeom prst="rect">
                  <a:avLst/>
                </a:prstGeom>
                <a:blipFill>
                  <a:blip r:embed="rId10"/>
                  <a:stretch>
                    <a:fillRect l="-18000" r="-4000" b="-1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8E7BD564-564C-4ECB-A6B2-BF6468F9FB37}"/>
                    </a:ext>
                  </a:extLst>
                </p:cNvPr>
                <p:cNvSpPr txBox="1"/>
                <p:nvPr/>
              </p:nvSpPr>
              <p:spPr>
                <a:xfrm>
                  <a:off x="11054561" y="3959685"/>
                  <a:ext cx="30610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𝑷</m:t>
                            </m:r>
                          </m:e>
                          <m:sub>
                            <m:r>
                              <a:rPr lang="en-US" altLang="zh-TW" b="1" i="1" smtClean="0">
                                <a:latin typeface="Cambria Math" panose="02040503050406030204" pitchFamily="18" charset="0"/>
                              </a:rPr>
                              <m:t>𝒔</m:t>
                            </m:r>
                          </m:sub>
                        </m:sSub>
                      </m:oMath>
                    </m:oMathPara>
                  </a14:m>
                  <a:endParaRPr lang="zh-TW" altLang="en-US" b="1" dirty="0"/>
                </a:p>
              </p:txBody>
            </p:sp>
          </mc:Choice>
          <mc:Fallback xmlns="">
            <p:sp>
              <p:nvSpPr>
                <p:cNvPr id="63" name="文字方塊 62">
                  <a:extLst>
                    <a:ext uri="{FF2B5EF4-FFF2-40B4-BE49-F238E27FC236}">
                      <a16:creationId xmlns:a16="http://schemas.microsoft.com/office/drawing/2014/main" id="{8E7BD564-564C-4ECB-A6B2-BF6468F9FB37}"/>
                    </a:ext>
                  </a:extLst>
                </p:cNvPr>
                <p:cNvSpPr txBox="1">
                  <a:spLocks noRot="1" noChangeAspect="1" noMove="1" noResize="1" noEditPoints="1" noAdjustHandles="1" noChangeArrowheads="1" noChangeShapeType="1" noTextEdit="1"/>
                </p:cNvSpPr>
                <p:nvPr/>
              </p:nvSpPr>
              <p:spPr>
                <a:xfrm>
                  <a:off x="11054561" y="3959685"/>
                  <a:ext cx="306109" cy="276999"/>
                </a:xfrm>
                <a:prstGeom prst="rect">
                  <a:avLst/>
                </a:prstGeom>
                <a:blipFill>
                  <a:blip r:embed="rId11"/>
                  <a:stretch>
                    <a:fillRect l="-17647" r="-1961" b="-11111"/>
                  </a:stretch>
                </a:blipFill>
              </p:spPr>
              <p:txBody>
                <a:bodyPr/>
                <a:lstStyle/>
                <a:p>
                  <a:r>
                    <a:rPr lang="zh-TW" altLang="en-US">
                      <a:noFill/>
                    </a:rPr>
                    <a:t> </a:t>
                  </a:r>
                </a:p>
              </p:txBody>
            </p:sp>
          </mc:Fallback>
        </mc:AlternateContent>
        <p:cxnSp>
          <p:nvCxnSpPr>
            <p:cNvPr id="65" name="直線接點 64">
              <a:extLst>
                <a:ext uri="{FF2B5EF4-FFF2-40B4-BE49-F238E27FC236}">
                  <a16:creationId xmlns:a16="http://schemas.microsoft.com/office/drawing/2014/main" id="{8614D2EE-A232-4197-B757-0B32046D6CDC}"/>
                </a:ext>
              </a:extLst>
            </p:cNvPr>
            <p:cNvCxnSpPr/>
            <p:nvPr/>
          </p:nvCxnSpPr>
          <p:spPr>
            <a:xfrm>
              <a:off x="6197600" y="4226524"/>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C49A3120-F6FC-4D3D-8245-D3998A12F4F3}"/>
                </a:ext>
              </a:extLst>
            </p:cNvPr>
            <p:cNvCxnSpPr/>
            <p:nvPr/>
          </p:nvCxnSpPr>
          <p:spPr>
            <a:xfrm>
              <a:off x="7152640" y="4540543"/>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線單箭頭接點 72">
              <a:extLst>
                <a:ext uri="{FF2B5EF4-FFF2-40B4-BE49-F238E27FC236}">
                  <a16:creationId xmlns:a16="http://schemas.microsoft.com/office/drawing/2014/main" id="{AF9E3AD3-D69B-47E4-851E-DD2D6CEBF68F}"/>
                </a:ext>
              </a:extLst>
            </p:cNvPr>
            <p:cNvCxnSpPr>
              <a:cxnSpLocks/>
            </p:cNvCxnSpPr>
            <p:nvPr/>
          </p:nvCxnSpPr>
          <p:spPr>
            <a:xfrm flipH="1" flipV="1">
              <a:off x="7152640" y="4815082"/>
              <a:ext cx="629938" cy="2626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71709C4B-E884-4707-9D50-3073AE426B3C}"/>
                </a:ext>
              </a:extLst>
            </p:cNvPr>
            <p:cNvCxnSpPr>
              <a:cxnSpLocks/>
            </p:cNvCxnSpPr>
            <p:nvPr/>
          </p:nvCxnSpPr>
          <p:spPr>
            <a:xfrm>
              <a:off x="5679440" y="4226523"/>
              <a:ext cx="518160" cy="2474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295277A7-BED4-4A35-ABBF-38D530118C77}"/>
                </a:ext>
              </a:extLst>
            </p:cNvPr>
            <p:cNvCxnSpPr/>
            <p:nvPr/>
          </p:nvCxnSpPr>
          <p:spPr>
            <a:xfrm>
              <a:off x="9406370" y="4275974"/>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AD70F8FA-7F3B-4EB5-9E1E-DBF10639FBBD}"/>
                </a:ext>
              </a:extLst>
            </p:cNvPr>
            <p:cNvCxnSpPr/>
            <p:nvPr/>
          </p:nvCxnSpPr>
          <p:spPr>
            <a:xfrm>
              <a:off x="10361410" y="4589993"/>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A621047D-19A4-4B9D-9D8E-23F7F7B1A428}"/>
                </a:ext>
              </a:extLst>
            </p:cNvPr>
            <p:cNvCxnSpPr>
              <a:cxnSpLocks/>
            </p:cNvCxnSpPr>
            <p:nvPr/>
          </p:nvCxnSpPr>
          <p:spPr>
            <a:xfrm flipH="1" flipV="1">
              <a:off x="10361410" y="4864532"/>
              <a:ext cx="629938" cy="2626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a:extLst>
                <a:ext uri="{FF2B5EF4-FFF2-40B4-BE49-F238E27FC236}">
                  <a16:creationId xmlns:a16="http://schemas.microsoft.com/office/drawing/2014/main" id="{64F9CBC0-13C1-40A8-8353-A738B87D7832}"/>
                </a:ext>
              </a:extLst>
            </p:cNvPr>
            <p:cNvCxnSpPr>
              <a:cxnSpLocks/>
            </p:cNvCxnSpPr>
            <p:nvPr/>
          </p:nvCxnSpPr>
          <p:spPr>
            <a:xfrm>
              <a:off x="8888210" y="4275973"/>
              <a:ext cx="518160" cy="2474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文字方塊 81">
                  <a:extLst>
                    <a:ext uri="{FF2B5EF4-FFF2-40B4-BE49-F238E27FC236}">
                      <a16:creationId xmlns:a16="http://schemas.microsoft.com/office/drawing/2014/main" id="{604FE1CF-2B9C-4A12-99E7-C7C3E481107B}"/>
                    </a:ext>
                  </a:extLst>
                </p:cNvPr>
                <p:cNvSpPr txBox="1"/>
                <p:nvPr/>
              </p:nvSpPr>
              <p:spPr>
                <a:xfrm>
                  <a:off x="6284681" y="4531004"/>
                  <a:ext cx="773417" cy="391133"/>
                </a:xfrm>
                <a:prstGeom prst="rect">
                  <a:avLst/>
                </a:prstGeom>
                <a:noFill/>
              </p:spPr>
              <p:txBody>
                <a:bodyPr wrap="none" lIns="0" tIns="0" rIns="0" bIns="0" rtlCol="0">
                  <a:spAutoFit/>
                </a:bodyPr>
                <a:lstStyle/>
                <a:p>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r>
                        <a:rPr lang="zh-TW" altLang="en-US" i="1" smtClean="0">
                          <a:latin typeface="Cambria Math" panose="02040503050406030204" pitchFamily="18" charset="0"/>
                        </a:rPr>
                        <m:t>𝜆</m:t>
                      </m:r>
                      <m:r>
                        <a:rPr lang="en-US" altLang="zh-TW" b="0" i="1" smtClean="0">
                          <a:latin typeface="Cambria Math" panose="02040503050406030204" pitchFamily="18" charset="0"/>
                        </a:rPr>
                        <m:t> </m:t>
                      </m:r>
                    </m:oMath>
                  </a14:m>
                  <a:r>
                    <a:rPr lang="en-US" altLang="zh-TW" dirty="0">
                      <a:latin typeface="Times New Roman" panose="02020603050405020304" pitchFamily="18" charset="0"/>
                      <a:ea typeface="標楷體" panose="03000509000000000000" pitchFamily="65" charset="-120"/>
                      <a:cs typeface="Times New Roman" panose="02020603050405020304" pitchFamily="18" charset="0"/>
                    </a:rPr>
                    <a:t>Plate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82" name="文字方塊 81">
                  <a:extLst>
                    <a:ext uri="{FF2B5EF4-FFF2-40B4-BE49-F238E27FC236}">
                      <a16:creationId xmlns:a16="http://schemas.microsoft.com/office/drawing/2014/main" id="{604FE1CF-2B9C-4A12-99E7-C7C3E481107B}"/>
                    </a:ext>
                  </a:extLst>
                </p:cNvPr>
                <p:cNvSpPr txBox="1">
                  <a:spLocks noRot="1" noChangeAspect="1" noMove="1" noResize="1" noEditPoints="1" noAdjustHandles="1" noChangeArrowheads="1" noChangeShapeType="1" noTextEdit="1"/>
                </p:cNvSpPr>
                <p:nvPr/>
              </p:nvSpPr>
              <p:spPr>
                <a:xfrm>
                  <a:off x="6284681" y="4531004"/>
                  <a:ext cx="773417" cy="391133"/>
                </a:xfrm>
                <a:prstGeom prst="rect">
                  <a:avLst/>
                </a:prstGeom>
                <a:blipFill>
                  <a:blip r:embed="rId12"/>
                  <a:stretch>
                    <a:fillRect l="-7874" t="-6250" r="-18898" b="-218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3" name="文字方塊 82">
                  <a:extLst>
                    <a:ext uri="{FF2B5EF4-FFF2-40B4-BE49-F238E27FC236}">
                      <a16:creationId xmlns:a16="http://schemas.microsoft.com/office/drawing/2014/main" id="{95874A02-E6DE-465C-B1BD-DF4094224CC3}"/>
                    </a:ext>
                  </a:extLst>
                </p:cNvPr>
                <p:cNvSpPr txBox="1"/>
                <p:nvPr/>
              </p:nvSpPr>
              <p:spPr>
                <a:xfrm>
                  <a:off x="9529451" y="4557445"/>
                  <a:ext cx="773417" cy="391133"/>
                </a:xfrm>
                <a:prstGeom prst="rect">
                  <a:avLst/>
                </a:prstGeom>
                <a:noFill/>
              </p:spPr>
              <p:txBody>
                <a:bodyPr wrap="none" lIns="0" tIns="0" rIns="0" bIns="0" rtlCol="0">
                  <a:spAutoFit/>
                </a:bodyPr>
                <a:lstStyle/>
                <a:p>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r>
                        <a:rPr lang="zh-TW" altLang="en-US" i="1" smtClean="0">
                          <a:latin typeface="Cambria Math" panose="02040503050406030204" pitchFamily="18" charset="0"/>
                        </a:rPr>
                        <m:t>𝜆</m:t>
                      </m:r>
                      <m:r>
                        <a:rPr lang="en-US" altLang="zh-TW" b="0" i="1" smtClean="0">
                          <a:latin typeface="Cambria Math" panose="02040503050406030204" pitchFamily="18" charset="0"/>
                        </a:rPr>
                        <m:t> </m:t>
                      </m:r>
                    </m:oMath>
                  </a14:m>
                  <a:r>
                    <a:rPr lang="en-US" altLang="zh-TW" dirty="0">
                      <a:latin typeface="Times New Roman" panose="02020603050405020304" pitchFamily="18" charset="0"/>
                      <a:ea typeface="標楷體" panose="03000509000000000000" pitchFamily="65" charset="-120"/>
                      <a:cs typeface="Times New Roman" panose="02020603050405020304" pitchFamily="18" charset="0"/>
                    </a:rPr>
                    <a:t>Plate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83" name="文字方塊 82">
                  <a:extLst>
                    <a:ext uri="{FF2B5EF4-FFF2-40B4-BE49-F238E27FC236}">
                      <a16:creationId xmlns:a16="http://schemas.microsoft.com/office/drawing/2014/main" id="{95874A02-E6DE-465C-B1BD-DF4094224CC3}"/>
                    </a:ext>
                  </a:extLst>
                </p:cNvPr>
                <p:cNvSpPr txBox="1">
                  <a:spLocks noRot="1" noChangeAspect="1" noMove="1" noResize="1" noEditPoints="1" noAdjustHandles="1" noChangeArrowheads="1" noChangeShapeType="1" noTextEdit="1"/>
                </p:cNvSpPr>
                <p:nvPr/>
              </p:nvSpPr>
              <p:spPr>
                <a:xfrm>
                  <a:off x="9529451" y="4557445"/>
                  <a:ext cx="773417" cy="391133"/>
                </a:xfrm>
                <a:prstGeom prst="rect">
                  <a:avLst/>
                </a:prstGeom>
                <a:blipFill>
                  <a:blip r:embed="rId13"/>
                  <a:stretch>
                    <a:fillRect l="-7087" t="-6250" r="-19685" b="-203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4" name="矩形 83">
                  <a:extLst>
                    <a:ext uri="{FF2B5EF4-FFF2-40B4-BE49-F238E27FC236}">
                      <a16:creationId xmlns:a16="http://schemas.microsoft.com/office/drawing/2014/main" id="{8C4281DC-CACC-4325-BD0E-C430B7C27BD3}"/>
                    </a:ext>
                  </a:extLst>
                </p:cNvPr>
                <p:cNvSpPr/>
                <p:nvPr/>
              </p:nvSpPr>
              <p:spPr>
                <a:xfrm>
                  <a:off x="6371906" y="5211083"/>
                  <a:ext cx="1536446" cy="713209"/>
                </a:xfrm>
                <a:prstGeom prst="rect">
                  <a:avLst/>
                </a:prstGeom>
                <a:solidFill>
                  <a:srgbClr val="FFFF00"/>
                </a:solidFill>
                <a:ln>
                  <a:no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1200" i="1" smtClean="0">
                                <a:latin typeface="Cambria Math" panose="02040503050406030204" pitchFamily="18" charset="0"/>
                              </a:rPr>
                            </m:ctrlPr>
                          </m:sSupPr>
                          <m:e>
                            <m:r>
                              <a:rPr lang="zh-TW" altLang="en-US" sz="1200" i="1" smtClean="0">
                                <a:latin typeface="Cambria Math" panose="02040503050406030204" pitchFamily="18" charset="0"/>
                              </a:rPr>
                              <m:t>𝜃</m:t>
                            </m:r>
                          </m:e>
                          <m:sup>
                            <m:r>
                              <a:rPr lang="en-US" altLang="zh-TW" sz="1200" b="0" i="1" smtClean="0">
                                <a:latin typeface="Cambria Math" panose="02040503050406030204" pitchFamily="18" charset="0"/>
                              </a:rPr>
                              <m:t>′</m:t>
                            </m:r>
                          </m:sup>
                        </m:sSup>
                        <m:r>
                          <a:rPr lang="zh-TW" altLang="en-US" sz="1200">
                            <a:latin typeface="Cambria Math" panose="02040503050406030204" pitchFamily="18" charset="0"/>
                          </a:rPr>
                          <m:t>≈</m:t>
                        </m:r>
                        <m:r>
                          <a:rPr lang="zh-TW" altLang="en-US" sz="1200" i="1">
                            <a:latin typeface="Cambria Math" panose="02040503050406030204" pitchFamily="18" charset="0"/>
                          </a:rPr>
                          <m:t>𝜃</m:t>
                        </m:r>
                        <m:r>
                          <a:rPr lang="zh-TW" altLang="en-US" sz="1200">
                            <a:latin typeface="Cambria Math" panose="02040503050406030204" pitchFamily="18" charset="0"/>
                          </a:rPr>
                          <m:t>≈</m:t>
                        </m:r>
                        <m:f>
                          <m:fPr>
                            <m:ctrlPr>
                              <a:rPr lang="zh-TW" altLang="en-US" sz="1200" i="1">
                                <a:latin typeface="Cambria Math" panose="02040503050406030204" pitchFamily="18" charset="0"/>
                              </a:rPr>
                            </m:ctrlPr>
                          </m:fPr>
                          <m:num>
                            <m:r>
                              <a:rPr lang="zh-TW" altLang="en-US" sz="1200">
                                <a:latin typeface="Cambria Math" panose="02040503050406030204" pitchFamily="18" charset="0"/>
                              </a:rPr>
                              <m:t>2</m:t>
                            </m:r>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𝑟</m:t>
                                </m:r>
                              </m:e>
                              <m:sub>
                                <m:r>
                                  <a:rPr lang="zh-TW" altLang="en-US" sz="1200">
                                    <a:latin typeface="Cambria Math" panose="02040503050406030204" pitchFamily="18" charset="0"/>
                                  </a:rPr>
                                  <m:t>51</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𝐸</m:t>
                                </m:r>
                              </m:e>
                              <m:sub>
                                <m:r>
                                  <a:rPr lang="zh-TW" altLang="en-US" sz="1200" i="1">
                                    <a:latin typeface="Cambria Math" panose="02040503050406030204" pitchFamily="18" charset="0"/>
                                  </a:rPr>
                                  <m:t>𝑦</m:t>
                                </m:r>
                              </m:sub>
                            </m:sSub>
                          </m:num>
                          <m:den>
                            <m:d>
                              <m:dPr>
                                <m:ctrlPr>
                                  <a:rPr lang="zh-TW" altLang="en-US" sz="1200" i="1">
                                    <a:latin typeface="Cambria Math" panose="02040503050406030204" pitchFamily="18" charset="0"/>
                                  </a:rPr>
                                </m:ctrlPr>
                              </m:dPr>
                              <m:e>
                                <m:f>
                                  <m:fPr>
                                    <m:ctrlPr>
                                      <a:rPr lang="zh-TW" altLang="en-US" sz="1200" i="1">
                                        <a:latin typeface="Cambria Math" panose="02040503050406030204" pitchFamily="18" charset="0"/>
                                      </a:rPr>
                                    </m:ctrlPr>
                                  </m:fPr>
                                  <m:num>
                                    <m:r>
                                      <a:rPr lang="zh-TW" altLang="en-US" sz="1200">
                                        <a:latin typeface="Cambria Math" panose="02040503050406030204" pitchFamily="18" charset="0"/>
                                      </a:rPr>
                                      <m:t>1</m:t>
                                    </m:r>
                                  </m:num>
                                  <m:den>
                                    <m:sSubSup>
                                      <m:sSubSupPr>
                                        <m:ctrlPr>
                                          <a:rPr lang="zh-TW" altLang="en-US" sz="1200" i="1">
                                            <a:latin typeface="Cambria Math" panose="02040503050406030204" pitchFamily="18" charset="0"/>
                                          </a:rPr>
                                        </m:ctrlPr>
                                      </m:sSubSupPr>
                                      <m:e>
                                        <m:r>
                                          <a:rPr lang="zh-TW" altLang="en-US" sz="1200" i="1">
                                            <a:latin typeface="Cambria Math" panose="02040503050406030204" pitchFamily="18" charset="0"/>
                                          </a:rPr>
                                          <m:t>𝑛</m:t>
                                        </m:r>
                                      </m:e>
                                      <m:sub>
                                        <m:r>
                                          <a:rPr lang="zh-TW" altLang="en-US" sz="1200" i="1">
                                            <a:latin typeface="Cambria Math" panose="02040503050406030204" pitchFamily="18" charset="0"/>
                                          </a:rPr>
                                          <m:t>𝑜</m:t>
                                        </m:r>
                                      </m:sub>
                                      <m:sup>
                                        <m:r>
                                          <a:rPr lang="zh-TW" altLang="en-US" sz="1200">
                                            <a:latin typeface="Cambria Math" panose="02040503050406030204" pitchFamily="18" charset="0"/>
                                          </a:rPr>
                                          <m:t>2</m:t>
                                        </m:r>
                                      </m:sup>
                                    </m:sSubSup>
                                  </m:den>
                                </m:f>
                                <m:r>
                                  <a:rPr lang="zh-TW" altLang="en-US" sz="1200">
                                    <a:latin typeface="Cambria Math" panose="02040503050406030204" pitchFamily="18" charset="0"/>
                                  </a:rPr>
                                  <m:t>−</m:t>
                                </m:r>
                                <m:f>
                                  <m:fPr>
                                    <m:ctrlPr>
                                      <a:rPr lang="zh-TW" altLang="en-US" sz="1200" i="1">
                                        <a:latin typeface="Cambria Math" panose="02040503050406030204" pitchFamily="18" charset="0"/>
                                      </a:rPr>
                                    </m:ctrlPr>
                                  </m:fPr>
                                  <m:num>
                                    <m:r>
                                      <a:rPr lang="zh-TW" altLang="en-US" sz="1200">
                                        <a:latin typeface="Cambria Math" panose="02040503050406030204" pitchFamily="18" charset="0"/>
                                      </a:rPr>
                                      <m:t>1</m:t>
                                    </m:r>
                                  </m:num>
                                  <m:den>
                                    <m:sSubSup>
                                      <m:sSubSupPr>
                                        <m:ctrlPr>
                                          <a:rPr lang="zh-TW" altLang="en-US" sz="1200" i="1">
                                            <a:latin typeface="Cambria Math" panose="02040503050406030204" pitchFamily="18" charset="0"/>
                                          </a:rPr>
                                        </m:ctrlPr>
                                      </m:sSubSupPr>
                                      <m:e>
                                        <m:r>
                                          <a:rPr lang="zh-TW" altLang="en-US" sz="1200" i="1">
                                            <a:latin typeface="Cambria Math" panose="02040503050406030204" pitchFamily="18" charset="0"/>
                                          </a:rPr>
                                          <m:t>𝑛</m:t>
                                        </m:r>
                                      </m:e>
                                      <m:sub>
                                        <m:r>
                                          <a:rPr lang="zh-TW" altLang="en-US" sz="1200" i="1">
                                            <a:latin typeface="Cambria Math" panose="02040503050406030204" pitchFamily="18" charset="0"/>
                                          </a:rPr>
                                          <m:t>𝑒</m:t>
                                        </m:r>
                                      </m:sub>
                                      <m:sup>
                                        <m:r>
                                          <a:rPr lang="zh-TW" altLang="en-US" sz="1200">
                                            <a:latin typeface="Cambria Math" panose="02040503050406030204" pitchFamily="18" charset="0"/>
                                          </a:rPr>
                                          <m:t>2</m:t>
                                        </m:r>
                                      </m:sup>
                                    </m:sSubSup>
                                  </m:den>
                                </m:f>
                              </m:e>
                            </m:d>
                          </m:den>
                        </m:f>
                      </m:oMath>
                    </m:oMathPara>
                  </a14:m>
                  <a:endParaRPr lang="zh-TW" altLang="en-US" sz="1200" dirty="0"/>
                </a:p>
              </p:txBody>
            </p:sp>
          </mc:Choice>
          <mc:Fallback xmlns="">
            <p:sp>
              <p:nvSpPr>
                <p:cNvPr id="84" name="矩形 83">
                  <a:extLst>
                    <a:ext uri="{FF2B5EF4-FFF2-40B4-BE49-F238E27FC236}">
                      <a16:creationId xmlns:a16="http://schemas.microsoft.com/office/drawing/2014/main" id="{8C4281DC-CACC-4325-BD0E-C430B7C27BD3}"/>
                    </a:ext>
                  </a:extLst>
                </p:cNvPr>
                <p:cNvSpPr>
                  <a:spLocks noRot="1" noChangeAspect="1" noMove="1" noResize="1" noEditPoints="1" noAdjustHandles="1" noChangeArrowheads="1" noChangeShapeType="1" noTextEdit="1"/>
                </p:cNvSpPr>
                <p:nvPr/>
              </p:nvSpPr>
              <p:spPr>
                <a:xfrm>
                  <a:off x="6371906" y="5211083"/>
                  <a:ext cx="1536446" cy="713209"/>
                </a:xfrm>
                <a:prstGeom prst="rect">
                  <a:avLst/>
                </a:prstGeom>
                <a:blipFill>
                  <a:blip r:embed="rId14"/>
                  <a:stretch>
                    <a:fillRect/>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5" name="矩形 84">
                  <a:extLst>
                    <a:ext uri="{FF2B5EF4-FFF2-40B4-BE49-F238E27FC236}">
                      <a16:creationId xmlns:a16="http://schemas.microsoft.com/office/drawing/2014/main" id="{18E013F2-C9E1-4447-8347-B0D98565AC99}"/>
                    </a:ext>
                  </a:extLst>
                </p:cNvPr>
                <p:cNvSpPr/>
                <p:nvPr/>
              </p:nvSpPr>
              <p:spPr>
                <a:xfrm>
                  <a:off x="9606669" y="5221862"/>
                  <a:ext cx="1651862" cy="713209"/>
                </a:xfrm>
                <a:prstGeom prst="rect">
                  <a:avLst/>
                </a:prstGeom>
                <a:solidFill>
                  <a:srgbClr val="FFFF00"/>
                </a:solidFill>
                <a:ln>
                  <a:no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1200" i="1" smtClean="0">
                                <a:latin typeface="Cambria Math" panose="02040503050406030204" pitchFamily="18" charset="0"/>
                              </a:rPr>
                            </m:ctrlPr>
                          </m:sSupPr>
                          <m:e>
                            <m:r>
                              <a:rPr lang="zh-TW" altLang="en-US" sz="1200" i="1" smtClean="0">
                                <a:latin typeface="Cambria Math" panose="02040503050406030204" pitchFamily="18" charset="0"/>
                              </a:rPr>
                              <m:t>𝜃</m:t>
                            </m:r>
                          </m:e>
                          <m:sup>
                            <m:r>
                              <a:rPr lang="en-US" altLang="zh-TW" sz="1200" b="0" i="1" smtClean="0">
                                <a:latin typeface="Cambria Math" panose="02040503050406030204" pitchFamily="18" charset="0"/>
                              </a:rPr>
                              <m:t>′</m:t>
                            </m:r>
                          </m:sup>
                        </m:sSup>
                        <m:r>
                          <a:rPr lang="zh-TW" altLang="en-US" sz="1200">
                            <a:latin typeface="Cambria Math" panose="02040503050406030204" pitchFamily="18" charset="0"/>
                          </a:rPr>
                          <m:t>≈</m:t>
                        </m:r>
                        <m:r>
                          <a:rPr lang="en-US" altLang="zh-TW" sz="1200" b="0" i="1" smtClean="0">
                            <a:latin typeface="Cambria Math" panose="02040503050406030204" pitchFamily="18" charset="0"/>
                          </a:rPr>
                          <m:t>−</m:t>
                        </m:r>
                        <m:r>
                          <a:rPr lang="zh-TW" altLang="en-US" sz="1200" i="1">
                            <a:latin typeface="Cambria Math" panose="02040503050406030204" pitchFamily="18" charset="0"/>
                          </a:rPr>
                          <m:t>𝜃</m:t>
                        </m:r>
                        <m:r>
                          <a:rPr lang="zh-TW" altLang="en-US" sz="1200">
                            <a:latin typeface="Cambria Math" panose="02040503050406030204" pitchFamily="18" charset="0"/>
                          </a:rPr>
                          <m:t>≈</m:t>
                        </m:r>
                        <m:f>
                          <m:fPr>
                            <m:ctrlPr>
                              <a:rPr lang="zh-TW" altLang="en-US" sz="1200" i="1">
                                <a:latin typeface="Cambria Math" panose="02040503050406030204" pitchFamily="18" charset="0"/>
                              </a:rPr>
                            </m:ctrlPr>
                          </m:fPr>
                          <m:num>
                            <m:r>
                              <a:rPr lang="zh-TW" altLang="en-US" sz="1200">
                                <a:latin typeface="Cambria Math" panose="02040503050406030204" pitchFamily="18" charset="0"/>
                              </a:rPr>
                              <m:t>2</m:t>
                            </m:r>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𝑟</m:t>
                                </m:r>
                              </m:e>
                              <m:sub>
                                <m:r>
                                  <a:rPr lang="zh-TW" altLang="en-US" sz="1200">
                                    <a:latin typeface="Cambria Math" panose="02040503050406030204" pitchFamily="18" charset="0"/>
                                  </a:rPr>
                                  <m:t>51</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𝐸</m:t>
                                </m:r>
                              </m:e>
                              <m:sub>
                                <m:r>
                                  <a:rPr lang="zh-TW" altLang="en-US" sz="1200" i="1">
                                    <a:latin typeface="Cambria Math" panose="02040503050406030204" pitchFamily="18" charset="0"/>
                                  </a:rPr>
                                  <m:t>𝑦</m:t>
                                </m:r>
                              </m:sub>
                            </m:sSub>
                          </m:num>
                          <m:den>
                            <m:d>
                              <m:dPr>
                                <m:ctrlPr>
                                  <a:rPr lang="zh-TW" altLang="en-US" sz="1200" i="1">
                                    <a:latin typeface="Cambria Math" panose="02040503050406030204" pitchFamily="18" charset="0"/>
                                  </a:rPr>
                                </m:ctrlPr>
                              </m:dPr>
                              <m:e>
                                <m:f>
                                  <m:fPr>
                                    <m:ctrlPr>
                                      <a:rPr lang="zh-TW" altLang="en-US" sz="1200" i="1">
                                        <a:latin typeface="Cambria Math" panose="02040503050406030204" pitchFamily="18" charset="0"/>
                                      </a:rPr>
                                    </m:ctrlPr>
                                  </m:fPr>
                                  <m:num>
                                    <m:r>
                                      <a:rPr lang="zh-TW" altLang="en-US" sz="1200">
                                        <a:latin typeface="Cambria Math" panose="02040503050406030204" pitchFamily="18" charset="0"/>
                                      </a:rPr>
                                      <m:t>1</m:t>
                                    </m:r>
                                  </m:num>
                                  <m:den>
                                    <m:sSubSup>
                                      <m:sSubSupPr>
                                        <m:ctrlPr>
                                          <a:rPr lang="zh-TW" altLang="en-US" sz="1200" i="1">
                                            <a:latin typeface="Cambria Math" panose="02040503050406030204" pitchFamily="18" charset="0"/>
                                          </a:rPr>
                                        </m:ctrlPr>
                                      </m:sSubSupPr>
                                      <m:e>
                                        <m:r>
                                          <a:rPr lang="zh-TW" altLang="en-US" sz="1200" i="1">
                                            <a:latin typeface="Cambria Math" panose="02040503050406030204" pitchFamily="18" charset="0"/>
                                          </a:rPr>
                                          <m:t>𝑛</m:t>
                                        </m:r>
                                      </m:e>
                                      <m:sub>
                                        <m:r>
                                          <a:rPr lang="zh-TW" altLang="en-US" sz="1200" i="1">
                                            <a:latin typeface="Cambria Math" panose="02040503050406030204" pitchFamily="18" charset="0"/>
                                          </a:rPr>
                                          <m:t>𝑜</m:t>
                                        </m:r>
                                      </m:sub>
                                      <m:sup>
                                        <m:r>
                                          <a:rPr lang="zh-TW" altLang="en-US" sz="1200">
                                            <a:latin typeface="Cambria Math" panose="02040503050406030204" pitchFamily="18" charset="0"/>
                                          </a:rPr>
                                          <m:t>2</m:t>
                                        </m:r>
                                      </m:sup>
                                    </m:sSubSup>
                                  </m:den>
                                </m:f>
                                <m:r>
                                  <a:rPr lang="zh-TW" altLang="en-US" sz="1200">
                                    <a:latin typeface="Cambria Math" panose="02040503050406030204" pitchFamily="18" charset="0"/>
                                  </a:rPr>
                                  <m:t>−</m:t>
                                </m:r>
                                <m:f>
                                  <m:fPr>
                                    <m:ctrlPr>
                                      <a:rPr lang="zh-TW" altLang="en-US" sz="1200" i="1">
                                        <a:latin typeface="Cambria Math" panose="02040503050406030204" pitchFamily="18" charset="0"/>
                                      </a:rPr>
                                    </m:ctrlPr>
                                  </m:fPr>
                                  <m:num>
                                    <m:r>
                                      <a:rPr lang="zh-TW" altLang="en-US" sz="1200">
                                        <a:latin typeface="Cambria Math" panose="02040503050406030204" pitchFamily="18" charset="0"/>
                                      </a:rPr>
                                      <m:t>1</m:t>
                                    </m:r>
                                  </m:num>
                                  <m:den>
                                    <m:sSubSup>
                                      <m:sSubSupPr>
                                        <m:ctrlPr>
                                          <a:rPr lang="zh-TW" altLang="en-US" sz="1200" i="1">
                                            <a:latin typeface="Cambria Math" panose="02040503050406030204" pitchFamily="18" charset="0"/>
                                          </a:rPr>
                                        </m:ctrlPr>
                                      </m:sSubSupPr>
                                      <m:e>
                                        <m:r>
                                          <a:rPr lang="zh-TW" altLang="en-US" sz="1200" i="1">
                                            <a:latin typeface="Cambria Math" panose="02040503050406030204" pitchFamily="18" charset="0"/>
                                          </a:rPr>
                                          <m:t>𝑛</m:t>
                                        </m:r>
                                      </m:e>
                                      <m:sub>
                                        <m:r>
                                          <a:rPr lang="zh-TW" altLang="en-US" sz="1200" i="1">
                                            <a:latin typeface="Cambria Math" panose="02040503050406030204" pitchFamily="18" charset="0"/>
                                          </a:rPr>
                                          <m:t>𝑒</m:t>
                                        </m:r>
                                      </m:sub>
                                      <m:sup>
                                        <m:r>
                                          <a:rPr lang="zh-TW" altLang="en-US" sz="1200">
                                            <a:latin typeface="Cambria Math" panose="02040503050406030204" pitchFamily="18" charset="0"/>
                                          </a:rPr>
                                          <m:t>2</m:t>
                                        </m:r>
                                      </m:sup>
                                    </m:sSubSup>
                                  </m:den>
                                </m:f>
                              </m:e>
                            </m:d>
                          </m:den>
                        </m:f>
                      </m:oMath>
                    </m:oMathPara>
                  </a14:m>
                  <a:endParaRPr lang="zh-TW" altLang="en-US" sz="1200" dirty="0"/>
                </a:p>
              </p:txBody>
            </p:sp>
          </mc:Choice>
          <mc:Fallback xmlns="">
            <p:sp>
              <p:nvSpPr>
                <p:cNvPr id="85" name="矩形 84">
                  <a:extLst>
                    <a:ext uri="{FF2B5EF4-FFF2-40B4-BE49-F238E27FC236}">
                      <a16:creationId xmlns:a16="http://schemas.microsoft.com/office/drawing/2014/main" id="{18E013F2-C9E1-4447-8347-B0D98565AC99}"/>
                    </a:ext>
                  </a:extLst>
                </p:cNvPr>
                <p:cNvSpPr>
                  <a:spLocks noRot="1" noChangeAspect="1" noMove="1" noResize="1" noEditPoints="1" noAdjustHandles="1" noChangeArrowheads="1" noChangeShapeType="1" noTextEdit="1"/>
                </p:cNvSpPr>
                <p:nvPr/>
              </p:nvSpPr>
              <p:spPr>
                <a:xfrm>
                  <a:off x="9606669" y="5221862"/>
                  <a:ext cx="1651862" cy="713209"/>
                </a:xfrm>
                <a:prstGeom prst="rect">
                  <a:avLst/>
                </a:prstGeom>
                <a:blipFill>
                  <a:blip r:embed="rId15"/>
                  <a:stretch>
                    <a:fillRect/>
                  </a:stretch>
                </a:blipFill>
                <a:ln>
                  <a:noFill/>
                </a:ln>
              </p:spPr>
              <p:txBody>
                <a:bodyPr/>
                <a:lstStyle/>
                <a:p>
                  <a:r>
                    <a:rPr lang="zh-TW" altLang="en-US">
                      <a:noFill/>
                    </a:rPr>
                    <a:t> </a:t>
                  </a:r>
                </a:p>
              </p:txBody>
            </p:sp>
          </mc:Fallback>
        </mc:AlternateContent>
        <p:cxnSp>
          <p:nvCxnSpPr>
            <p:cNvPr id="13" name="直線單箭頭接點 12">
              <a:extLst>
                <a:ext uri="{FF2B5EF4-FFF2-40B4-BE49-F238E27FC236}">
                  <a16:creationId xmlns:a16="http://schemas.microsoft.com/office/drawing/2014/main" id="{20B254EA-4DC4-4F8B-BFB4-DE306BF6EE03}"/>
                </a:ext>
              </a:extLst>
            </p:cNvPr>
            <p:cNvCxnSpPr>
              <a:cxnSpLocks/>
            </p:cNvCxnSpPr>
            <p:nvPr/>
          </p:nvCxnSpPr>
          <p:spPr>
            <a:xfrm flipV="1">
              <a:off x="5634264" y="2157575"/>
              <a:ext cx="0" cy="46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EF1281FB-9BD4-4F40-A888-8001A1857231}"/>
                </a:ext>
              </a:extLst>
            </p:cNvPr>
            <p:cNvCxnSpPr>
              <a:cxnSpLocks/>
            </p:cNvCxnSpPr>
            <p:nvPr/>
          </p:nvCxnSpPr>
          <p:spPr>
            <a:xfrm>
              <a:off x="5634264" y="2626192"/>
              <a:ext cx="468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FE5AC839-66BD-4E04-B372-8CB3684196BB}"/>
                </a:ext>
              </a:extLst>
            </p:cNvPr>
            <p:cNvCxnSpPr>
              <a:cxnSpLocks/>
            </p:cNvCxnSpPr>
            <p:nvPr/>
          </p:nvCxnSpPr>
          <p:spPr>
            <a:xfrm flipH="1" flipV="1">
              <a:off x="5346929" y="2319311"/>
              <a:ext cx="287338" cy="3062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4DC4F273-19F2-4F16-8D85-FB2C69AF2972}"/>
                </a:ext>
              </a:extLst>
            </p:cNvPr>
            <p:cNvSpPr txBox="1"/>
            <p:nvPr/>
          </p:nvSpPr>
          <p:spPr>
            <a:xfrm>
              <a:off x="5186407" y="2021195"/>
              <a:ext cx="287258" cy="338554"/>
            </a:xfrm>
            <a:prstGeom prst="rect">
              <a:avLst/>
            </a:prstGeom>
            <a:noFill/>
            <a:ln>
              <a:noFill/>
            </a:ln>
          </p:spPr>
          <p:txBody>
            <a:bodyPr wrap="squar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x</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9" name="文字方塊 68">
              <a:extLst>
                <a:ext uri="{FF2B5EF4-FFF2-40B4-BE49-F238E27FC236}">
                  <a16:creationId xmlns:a16="http://schemas.microsoft.com/office/drawing/2014/main" id="{6B2B8E34-3E20-49F0-880D-E7CCF4D28716}"/>
                </a:ext>
              </a:extLst>
            </p:cNvPr>
            <p:cNvSpPr txBox="1"/>
            <p:nvPr/>
          </p:nvSpPr>
          <p:spPr>
            <a:xfrm>
              <a:off x="5504620" y="1893688"/>
              <a:ext cx="276038" cy="338554"/>
            </a:xfrm>
            <a:prstGeom prst="rect">
              <a:avLst/>
            </a:prstGeom>
            <a:noFill/>
            <a:ln>
              <a:noFill/>
            </a:ln>
          </p:spPr>
          <p:txBody>
            <a:bodyPr wrap="squar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z</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0" name="文字方塊 69">
              <a:extLst>
                <a:ext uri="{FF2B5EF4-FFF2-40B4-BE49-F238E27FC236}">
                  <a16:creationId xmlns:a16="http://schemas.microsoft.com/office/drawing/2014/main" id="{B4D69F5E-51E3-4EA2-B880-9E7C9B5971ED}"/>
                </a:ext>
              </a:extLst>
            </p:cNvPr>
            <p:cNvSpPr txBox="1"/>
            <p:nvPr/>
          </p:nvSpPr>
          <p:spPr>
            <a:xfrm>
              <a:off x="5897365" y="2271803"/>
              <a:ext cx="287258" cy="338554"/>
            </a:xfrm>
            <a:prstGeom prst="rect">
              <a:avLst/>
            </a:prstGeom>
            <a:noFill/>
          </p:spPr>
          <p:txBody>
            <a:bodyPr wrap="squar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y</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74" name="直線單箭頭接點 73">
              <a:extLst>
                <a:ext uri="{FF2B5EF4-FFF2-40B4-BE49-F238E27FC236}">
                  <a16:creationId xmlns:a16="http://schemas.microsoft.com/office/drawing/2014/main" id="{46365611-FBAC-48E1-90D0-0043BB13B8B2}"/>
                </a:ext>
              </a:extLst>
            </p:cNvPr>
            <p:cNvCxnSpPr>
              <a:cxnSpLocks/>
            </p:cNvCxnSpPr>
            <p:nvPr/>
          </p:nvCxnSpPr>
          <p:spPr>
            <a:xfrm flipV="1">
              <a:off x="11590345" y="2131180"/>
              <a:ext cx="0" cy="46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a:extLst>
                <a:ext uri="{FF2B5EF4-FFF2-40B4-BE49-F238E27FC236}">
                  <a16:creationId xmlns:a16="http://schemas.microsoft.com/office/drawing/2014/main" id="{2FABA631-4397-42DC-875C-AEFB0EEF3D69}"/>
                </a:ext>
              </a:extLst>
            </p:cNvPr>
            <p:cNvCxnSpPr>
              <a:cxnSpLocks/>
            </p:cNvCxnSpPr>
            <p:nvPr/>
          </p:nvCxnSpPr>
          <p:spPr>
            <a:xfrm>
              <a:off x="11590345" y="2599797"/>
              <a:ext cx="468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32C8DE42-DB20-465C-B438-ABB80179F716}"/>
                </a:ext>
              </a:extLst>
            </p:cNvPr>
            <p:cNvCxnSpPr>
              <a:cxnSpLocks/>
            </p:cNvCxnSpPr>
            <p:nvPr/>
          </p:nvCxnSpPr>
          <p:spPr>
            <a:xfrm flipH="1" flipV="1">
              <a:off x="11303010" y="2292916"/>
              <a:ext cx="287338" cy="3062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文字方塊 90">
              <a:extLst>
                <a:ext uri="{FF2B5EF4-FFF2-40B4-BE49-F238E27FC236}">
                  <a16:creationId xmlns:a16="http://schemas.microsoft.com/office/drawing/2014/main" id="{B0BE60D2-3B61-40C2-ACA2-C5E855DD62FD}"/>
                </a:ext>
              </a:extLst>
            </p:cNvPr>
            <p:cNvSpPr txBox="1"/>
            <p:nvPr/>
          </p:nvSpPr>
          <p:spPr>
            <a:xfrm>
              <a:off x="11142488" y="1994800"/>
              <a:ext cx="287258" cy="338554"/>
            </a:xfrm>
            <a:prstGeom prst="rect">
              <a:avLst/>
            </a:prstGeom>
            <a:noFill/>
            <a:ln>
              <a:noFill/>
            </a:ln>
          </p:spPr>
          <p:txBody>
            <a:bodyPr wrap="non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x</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2" name="文字方塊 91">
              <a:extLst>
                <a:ext uri="{FF2B5EF4-FFF2-40B4-BE49-F238E27FC236}">
                  <a16:creationId xmlns:a16="http://schemas.microsoft.com/office/drawing/2014/main" id="{FA801C62-5389-4902-A80B-E79A0350F621}"/>
                </a:ext>
              </a:extLst>
            </p:cNvPr>
            <p:cNvSpPr txBox="1"/>
            <p:nvPr/>
          </p:nvSpPr>
          <p:spPr>
            <a:xfrm>
              <a:off x="11460701" y="1867293"/>
              <a:ext cx="276038" cy="338554"/>
            </a:xfrm>
            <a:prstGeom prst="rect">
              <a:avLst/>
            </a:prstGeom>
            <a:noFill/>
            <a:ln>
              <a:noFill/>
            </a:ln>
          </p:spPr>
          <p:txBody>
            <a:bodyPr wrap="non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z</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3" name="文字方塊 92">
              <a:extLst>
                <a:ext uri="{FF2B5EF4-FFF2-40B4-BE49-F238E27FC236}">
                  <a16:creationId xmlns:a16="http://schemas.microsoft.com/office/drawing/2014/main" id="{83C0E0F1-5BEB-46D0-A213-080956F7EEC6}"/>
                </a:ext>
              </a:extLst>
            </p:cNvPr>
            <p:cNvSpPr txBox="1"/>
            <p:nvPr/>
          </p:nvSpPr>
          <p:spPr>
            <a:xfrm>
              <a:off x="11853446" y="2245408"/>
              <a:ext cx="287258" cy="338554"/>
            </a:xfrm>
            <a:prstGeom prst="rect">
              <a:avLst/>
            </a:prstGeom>
            <a:noFill/>
          </p:spPr>
          <p:txBody>
            <a:bodyPr wrap="non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y</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440489095"/>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3908121"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Electro-optic Effect</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8" name="圖片 47">
            <a:extLst>
              <a:ext uri="{FF2B5EF4-FFF2-40B4-BE49-F238E27FC236}">
                <a16:creationId xmlns:a16="http://schemas.microsoft.com/office/drawing/2014/main" id="{5075AA2C-028A-4979-989C-A45870770159}"/>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50804" y="1669772"/>
            <a:ext cx="3495277" cy="2730501"/>
          </a:xfrm>
          <a:prstGeom prst="rect">
            <a:avLst/>
          </a:prstGeom>
        </p:spPr>
      </p:pic>
      <p:pic>
        <p:nvPicPr>
          <p:cNvPr id="49" name="圖片 48">
            <a:extLst>
              <a:ext uri="{FF2B5EF4-FFF2-40B4-BE49-F238E27FC236}">
                <a16:creationId xmlns:a16="http://schemas.microsoft.com/office/drawing/2014/main" id="{8FD920C9-BEED-4098-AFC9-8A7F05B61568}"/>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3746081" y="1653977"/>
            <a:ext cx="3474720" cy="2730500"/>
          </a:xfrm>
          <a:prstGeom prst="rect">
            <a:avLst/>
          </a:prstGeom>
          <a:ln>
            <a:noFill/>
          </a:ln>
        </p:spPr>
      </p:pic>
      <p:pic>
        <p:nvPicPr>
          <p:cNvPr id="50" name="圖片 49">
            <a:extLst>
              <a:ext uri="{FF2B5EF4-FFF2-40B4-BE49-F238E27FC236}">
                <a16:creationId xmlns:a16="http://schemas.microsoft.com/office/drawing/2014/main" id="{D89B4E9A-2158-46C4-A47A-7F91640ECE56}"/>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7032638" y="1372321"/>
            <a:ext cx="3332055" cy="3386936"/>
          </a:xfrm>
          <a:prstGeom prst="rect">
            <a:avLst/>
          </a:prstGeom>
          <a:ln>
            <a:noFill/>
          </a:ln>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4BF657A7-97BC-4B27-9FAA-86DD5F22188D}"/>
                  </a:ext>
                </a:extLst>
              </p:cNvPr>
              <p:cNvSpPr/>
              <p:nvPr/>
            </p:nvSpPr>
            <p:spPr>
              <a:xfrm>
                <a:off x="352222" y="1264633"/>
                <a:ext cx="3326103" cy="338554"/>
              </a:xfrm>
              <a:prstGeom prst="rect">
                <a:avLst/>
              </a:prstGeom>
            </p:spPr>
            <p:txBody>
              <a:bodyPr wrap="none">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S</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chematic diagram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of </a:t>
                </a:r>
                <a14:m>
                  <m:oMath xmlns:m="http://schemas.openxmlformats.org/officeDocument/2006/math">
                    <m:acc>
                      <m:accPr>
                        <m:chr m:val="̌"/>
                        <m:ctrlPr>
                          <a:rPr lang="zh-TW" altLang="zh-TW" sz="1600" i="1">
                            <a:latin typeface="Cambria Math" panose="02040503050406030204" pitchFamily="18" charset="0"/>
                          </a:rPr>
                        </m:ctrlPr>
                      </m:accPr>
                      <m:e>
                        <m:r>
                          <a:rPr lang="en-US" altLang="zh-TW" sz="1600" i="1">
                            <a:latin typeface="Cambria Math" panose="02040503050406030204" pitchFamily="18" charset="0"/>
                          </a:rPr>
                          <m:t>𝑠</m:t>
                        </m:r>
                      </m:e>
                    </m:acc>
                    <m:r>
                      <a:rPr lang="en-US" altLang="zh-TW" sz="1600" i="1">
                        <a:latin typeface="Cambria Math" panose="02040503050406030204" pitchFamily="18" charset="0"/>
                      </a:rPr>
                      <m:t>𝑜𝑙𝑐</m:t>
                    </m:r>
                  </m:oMath>
                </a14:m>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type filter </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4BF657A7-97BC-4B27-9FAA-86DD5F22188D}"/>
                  </a:ext>
                </a:extLst>
              </p:cNvPr>
              <p:cNvSpPr>
                <a:spLocks noRot="1" noChangeAspect="1" noMove="1" noResize="1" noEditPoints="1" noAdjustHandles="1" noChangeArrowheads="1" noChangeShapeType="1" noTextEdit="1"/>
              </p:cNvSpPr>
              <p:nvPr/>
            </p:nvSpPr>
            <p:spPr>
              <a:xfrm>
                <a:off x="352222" y="1264633"/>
                <a:ext cx="3326103" cy="338554"/>
              </a:xfrm>
              <a:prstGeom prst="rect">
                <a:avLst/>
              </a:prstGeom>
              <a:blipFill>
                <a:blip r:embed="rId6"/>
                <a:stretch>
                  <a:fillRect l="-1101" t="-5357" r="-183" b="-214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F1A49872-EAFE-4225-A5A3-71D459C2E7E3}"/>
                  </a:ext>
                </a:extLst>
              </p:cNvPr>
              <p:cNvSpPr/>
              <p:nvPr/>
            </p:nvSpPr>
            <p:spPr>
              <a:xfrm>
                <a:off x="352222" y="4896777"/>
                <a:ext cx="2694648" cy="484620"/>
              </a:xfrm>
              <a:prstGeom prst="rect">
                <a:avLst/>
              </a:prstGeom>
            </p:spPr>
            <p:txBody>
              <a:bodyPr wrap="none">
                <a:spAutoFit/>
              </a:bodyPr>
              <a:lstStyle/>
              <a:p>
                <a14:m>
                  <m:oMath xmlns:m="http://schemas.openxmlformats.org/officeDocument/2006/math">
                    <m:r>
                      <m:rPr>
                        <m:sty m:val="p"/>
                      </m:rPr>
                      <a:rPr lang="en-US" altLang="zh-TW" sz="1600" smtClean="0">
                        <a:latin typeface="Cambria Math" panose="02040503050406030204" pitchFamily="18" charset="0"/>
                        <a:ea typeface="標楷體" panose="03000509000000000000" pitchFamily="65" charset="-120"/>
                        <a:cs typeface="Times New Roman" panose="02020603050405020304" pitchFamily="18" charset="0"/>
                      </a:rPr>
                      <m:t>t</m:t>
                    </m:r>
                    <m:r>
                      <a:rPr lang="en-US" altLang="zh-TW" sz="1600" smtClean="0">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16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𝑚</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den>
                    </m:f>
                    <m:f>
                      <m:fPr>
                        <m:ctrlPr>
                          <a:rPr lang="zh-TW" altLang="zh-TW" sz="16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TW" altLang="zh-TW" sz="16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𝜆</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0</m:t>
                            </m:r>
                          </m:sub>
                        </m:sSub>
                      </m:num>
                      <m:den>
                        <m:sSub>
                          <m:sSubPr>
                            <m:ctrlPr>
                              <a:rPr lang="zh-TW" altLang="zh-TW" sz="16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𝑛</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𝑜</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𝑛</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𝑒</m:t>
                            </m:r>
                          </m:sub>
                        </m:sSub>
                      </m:den>
                    </m:f>
                  </m:oMath>
                </a14:m>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m=1,2,3…</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F1A49872-EAFE-4225-A5A3-71D459C2E7E3}"/>
                  </a:ext>
                </a:extLst>
              </p:cNvPr>
              <p:cNvSpPr>
                <a:spLocks noRot="1" noChangeAspect="1" noMove="1" noResize="1" noEditPoints="1" noAdjustHandles="1" noChangeArrowheads="1" noChangeShapeType="1" noTextEdit="1"/>
              </p:cNvSpPr>
              <p:nvPr/>
            </p:nvSpPr>
            <p:spPr>
              <a:xfrm>
                <a:off x="352222" y="4896777"/>
                <a:ext cx="2694648" cy="484620"/>
              </a:xfrm>
              <a:prstGeom prst="rect">
                <a:avLst/>
              </a:prstGeom>
              <a:blipFill>
                <a:blip r:embed="rId7"/>
                <a:stretch>
                  <a:fillRect r="-2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0B08B70C-F9EE-4230-A759-006360903A33}"/>
                  </a:ext>
                </a:extLst>
              </p:cNvPr>
              <p:cNvSpPr/>
              <p:nvPr/>
            </p:nvSpPr>
            <p:spPr>
              <a:xfrm>
                <a:off x="4040672" y="1141522"/>
                <a:ext cx="2885538" cy="584775"/>
              </a:xfrm>
              <a:prstGeom prst="rect">
                <a:avLst/>
              </a:prstGeom>
            </p:spPr>
            <p:txBody>
              <a:bodyPr wrap="square">
                <a:spAutoFit/>
              </a:bodyPr>
              <a:lstStyle/>
              <a:p>
                <a:pPr algn="ct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a:t>
                </a:r>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chematic diagram</a:t>
                </a: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of </a:t>
                </a:r>
                <a14:m>
                  <m:oMath xmlns:m="http://schemas.openxmlformats.org/officeDocument/2006/math">
                    <m:acc>
                      <m:accPr>
                        <m:chr m:val="̌"/>
                        <m:ctrlPr>
                          <a:rPr lang="zh-TW" altLang="zh-TW" sz="1600" i="1">
                            <a:solidFill>
                              <a:schemeClr val="tx1"/>
                            </a:solidFill>
                            <a:latin typeface="Cambria Math" panose="02040503050406030204" pitchFamily="18" charset="0"/>
                          </a:rPr>
                        </m:ctrlPr>
                      </m:accPr>
                      <m:e>
                        <m:r>
                          <a:rPr lang="en-US" altLang="zh-TW" sz="1600" b="0" i="1">
                            <a:solidFill>
                              <a:schemeClr val="tx1"/>
                            </a:solidFill>
                            <a:latin typeface="Cambria Math" panose="02040503050406030204" pitchFamily="18" charset="0"/>
                          </a:rPr>
                          <m:t>𝑠</m:t>
                        </m:r>
                      </m:e>
                    </m:acc>
                    <m:r>
                      <a:rPr lang="en-US" altLang="zh-TW" sz="1600" b="0" i="1">
                        <a:solidFill>
                          <a:schemeClr val="tx1"/>
                        </a:solidFill>
                        <a:latin typeface="Cambria Math" panose="02040503050406030204" pitchFamily="18" charset="0"/>
                      </a:rPr>
                      <m:t>𝑜𝑙𝑐</m:t>
                    </m:r>
                  </m:oMath>
                </a14:m>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type polarization rotating </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0B08B70C-F9EE-4230-A759-006360903A33}"/>
                  </a:ext>
                </a:extLst>
              </p:cNvPr>
              <p:cNvSpPr>
                <a:spLocks noRot="1" noChangeAspect="1" noMove="1" noResize="1" noEditPoints="1" noAdjustHandles="1" noChangeArrowheads="1" noChangeShapeType="1" noTextEdit="1"/>
              </p:cNvSpPr>
              <p:nvPr/>
            </p:nvSpPr>
            <p:spPr>
              <a:xfrm>
                <a:off x="4040672" y="1141522"/>
                <a:ext cx="2885538" cy="584775"/>
              </a:xfrm>
              <a:prstGeom prst="rect">
                <a:avLst/>
              </a:prstGeom>
              <a:blipFill>
                <a:blip r:embed="rId8"/>
                <a:stretch>
                  <a:fillRect t="-3125" r="-1480" b="-1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261FA1A6-1056-4EF8-9FB5-74C026BBF482}"/>
                  </a:ext>
                </a:extLst>
              </p:cNvPr>
              <p:cNvSpPr/>
              <p:nvPr/>
            </p:nvSpPr>
            <p:spPr>
              <a:xfrm>
                <a:off x="7177760" y="4772469"/>
                <a:ext cx="1947008" cy="6651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TW" altLang="en-US">
                          <a:latin typeface="Cambria Math" panose="02040503050406030204" pitchFamily="18" charset="0"/>
                        </a:rPr>
                        <m:t>Λ</m:t>
                      </m:r>
                      <m:r>
                        <a:rPr lang="zh-TW" altLang="en-US" i="0">
                          <a:latin typeface="Cambria Math" panose="02040503050406030204" pitchFamily="18" charset="0"/>
                        </a:rPr>
                        <m:t>=2</m:t>
                      </m:r>
                      <m:r>
                        <m:rPr>
                          <m:sty m:val="p"/>
                        </m:rPr>
                        <a:rPr lang="zh-TW" altLang="en-US" i="0">
                          <a:latin typeface="Cambria Math" panose="02040503050406030204" pitchFamily="18" charset="0"/>
                        </a:rPr>
                        <m:t>t</m:t>
                      </m:r>
                      <m:r>
                        <a:rPr lang="zh-TW" altLang="en-US" i="0">
                          <a:latin typeface="Cambria Math" panose="02040503050406030204" pitchFamily="18" charset="0"/>
                        </a:rPr>
                        <m:t>=</m:t>
                      </m:r>
                      <m:f>
                        <m:fPr>
                          <m:ctrlPr>
                            <a:rPr lang="zh-TW" altLang="en-US" i="1">
                              <a:latin typeface="Cambria Math" panose="02040503050406030204" pitchFamily="18" charset="0"/>
                            </a:rPr>
                          </m:ctrlPr>
                        </m:fPr>
                        <m:num>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0">
                                  <a:latin typeface="Cambria Math" panose="02040503050406030204" pitchFamily="18" charset="0"/>
                                </a:rPr>
                                <m:t>0</m:t>
                              </m:r>
                            </m:sub>
                          </m:sSub>
                        </m:num>
                        <m:den>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1">
                                  <a:latin typeface="Cambria Math" panose="02040503050406030204" pitchFamily="18" charset="0"/>
                                </a:rPr>
                                <m:t>𝑜</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1">
                                  <a:latin typeface="Cambria Math" panose="02040503050406030204" pitchFamily="18" charset="0"/>
                                </a:rPr>
                                <m:t>𝑒</m:t>
                              </m:r>
                            </m:sub>
                          </m:sSub>
                        </m:den>
                      </m:f>
                    </m:oMath>
                  </m:oMathPara>
                </a14:m>
                <a:endParaRPr lang="zh-TW" altLang="en-US" dirty="0"/>
              </a:p>
            </p:txBody>
          </p:sp>
        </mc:Choice>
        <mc:Fallback xmlns="">
          <p:sp>
            <p:nvSpPr>
              <p:cNvPr id="16" name="矩形 15">
                <a:extLst>
                  <a:ext uri="{FF2B5EF4-FFF2-40B4-BE49-F238E27FC236}">
                    <a16:creationId xmlns:a16="http://schemas.microsoft.com/office/drawing/2014/main" id="{261FA1A6-1056-4EF8-9FB5-74C026BBF482}"/>
                  </a:ext>
                </a:extLst>
              </p:cNvPr>
              <p:cNvSpPr>
                <a:spLocks noRot="1" noChangeAspect="1" noMove="1" noResize="1" noEditPoints="1" noAdjustHandles="1" noChangeArrowheads="1" noChangeShapeType="1" noTextEdit="1"/>
              </p:cNvSpPr>
              <p:nvPr/>
            </p:nvSpPr>
            <p:spPr>
              <a:xfrm>
                <a:off x="7177760" y="4772469"/>
                <a:ext cx="1947008" cy="665118"/>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9ED59126-E074-4EA6-9B20-0AA7AE2CCC3D}"/>
                  </a:ext>
                </a:extLst>
              </p:cNvPr>
              <p:cNvSpPr txBox="1"/>
              <p:nvPr/>
            </p:nvSpPr>
            <p:spPr>
              <a:xfrm>
                <a:off x="7473239" y="831616"/>
                <a:ext cx="2877263" cy="338554"/>
              </a:xfrm>
              <a:prstGeom prst="rect">
                <a:avLst/>
              </a:prstGeom>
              <a:noFill/>
            </p:spPr>
            <p:txBody>
              <a:bodyPr wrap="none" rtlCol="0">
                <a:spAutoFit/>
              </a:bodyPr>
              <a:lstStyle/>
              <a:p>
                <a14:m>
                  <m:oMath xmlns:m="http://schemas.openxmlformats.org/officeDocument/2006/math">
                    <m:acc>
                      <m:accPr>
                        <m:chr m:val="̌"/>
                        <m:ctrlPr>
                          <a:rPr lang="zh-TW" altLang="zh-TW" sz="1600" i="1">
                            <a:latin typeface="Cambria Math" panose="02040503050406030204" pitchFamily="18" charset="0"/>
                          </a:rPr>
                        </m:ctrlPr>
                      </m:accPr>
                      <m:e>
                        <m:r>
                          <a:rPr lang="en-US" altLang="zh-TW" sz="1600" i="1">
                            <a:latin typeface="Cambria Math" panose="02040503050406030204" pitchFamily="18" charset="0"/>
                          </a:rPr>
                          <m:t>𝑠</m:t>
                        </m:r>
                      </m:e>
                    </m:acc>
                    <m:r>
                      <a:rPr lang="en-US" altLang="zh-TW" sz="1600" i="1">
                        <a:latin typeface="Cambria Math" panose="02040503050406030204" pitchFamily="18" charset="0"/>
                      </a:rPr>
                      <m:t>𝑜𝑙𝑐</m:t>
                    </m:r>
                  </m:oMath>
                </a14:m>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type filter in PPLN Crystal </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9ED59126-E074-4EA6-9B20-0AA7AE2CCC3D}"/>
                  </a:ext>
                </a:extLst>
              </p:cNvPr>
              <p:cNvSpPr txBox="1">
                <a:spLocks noRot="1" noChangeAspect="1" noMove="1" noResize="1" noEditPoints="1" noAdjustHandles="1" noChangeArrowheads="1" noChangeShapeType="1" noTextEdit="1"/>
              </p:cNvSpPr>
              <p:nvPr/>
            </p:nvSpPr>
            <p:spPr>
              <a:xfrm>
                <a:off x="7473239" y="831616"/>
                <a:ext cx="2877263" cy="338554"/>
              </a:xfrm>
              <a:prstGeom prst="rect">
                <a:avLst/>
              </a:prstGeom>
              <a:blipFill>
                <a:blip r:embed="rId10"/>
                <a:stretch>
                  <a:fillRect t="-5357" r="-212" b="-21429"/>
                </a:stretch>
              </a:blipFill>
            </p:spPr>
            <p:txBody>
              <a:bodyPr/>
              <a:lstStyle/>
              <a:p>
                <a:r>
                  <a:rPr lang="zh-TW" altLang="en-US">
                    <a:noFill/>
                  </a:rPr>
                  <a:t> </a:t>
                </a:r>
              </a:p>
            </p:txBody>
          </p:sp>
        </mc:Fallback>
      </mc:AlternateContent>
      <p:grpSp>
        <p:nvGrpSpPr>
          <p:cNvPr id="64" name="群組 63">
            <a:extLst>
              <a:ext uri="{FF2B5EF4-FFF2-40B4-BE49-F238E27FC236}">
                <a16:creationId xmlns:a16="http://schemas.microsoft.com/office/drawing/2014/main" id="{914C6848-32AC-4AD5-A3E7-D7664259DC01}"/>
              </a:ext>
            </a:extLst>
          </p:cNvPr>
          <p:cNvGrpSpPr/>
          <p:nvPr/>
        </p:nvGrpSpPr>
        <p:grpSpPr>
          <a:xfrm>
            <a:off x="9381407" y="4309276"/>
            <a:ext cx="2728037" cy="2097580"/>
            <a:chOff x="4069534" y="2318084"/>
            <a:chExt cx="3615171" cy="2779695"/>
          </a:xfrm>
        </p:grpSpPr>
        <p:cxnSp>
          <p:nvCxnSpPr>
            <p:cNvPr id="66" name="直線接點 65">
              <a:extLst>
                <a:ext uri="{FF2B5EF4-FFF2-40B4-BE49-F238E27FC236}">
                  <a16:creationId xmlns:a16="http://schemas.microsoft.com/office/drawing/2014/main" id="{68C6B2E1-726D-4873-AD01-2509521E4972}"/>
                </a:ext>
              </a:extLst>
            </p:cNvPr>
            <p:cNvCxnSpPr/>
            <p:nvPr/>
          </p:nvCxnSpPr>
          <p:spPr>
            <a:xfrm flipH="1">
              <a:off x="6674234" y="4325403"/>
              <a:ext cx="1010471"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68" name="矩形 67">
              <a:extLst>
                <a:ext uri="{FF2B5EF4-FFF2-40B4-BE49-F238E27FC236}">
                  <a16:creationId xmlns:a16="http://schemas.microsoft.com/office/drawing/2014/main" id="{437CC020-6177-4CF8-85A1-DD98BC82912D}"/>
                </a:ext>
              </a:extLst>
            </p:cNvPr>
            <p:cNvSpPr/>
            <p:nvPr/>
          </p:nvSpPr>
          <p:spPr>
            <a:xfrm>
              <a:off x="4160564" y="4102029"/>
              <a:ext cx="3475769" cy="995750"/>
            </a:xfrm>
            <a:prstGeom prst="rect">
              <a:avLst/>
            </a:prstGeom>
            <a:solidFill>
              <a:schemeClr val="bg1">
                <a:lumMod val="85000"/>
              </a:schemeClr>
            </a:solidFill>
            <a:ln>
              <a:solidFill>
                <a:schemeClr val="bg1">
                  <a:lumMod val="50000"/>
                </a:schemeClr>
              </a:solidFill>
            </a:ln>
            <a:scene3d>
              <a:camera prst="orthographicFront">
                <a:rot lat="20963146" lon="15372424" rev="16320000"/>
              </a:camera>
              <a:lightRig rig="threePt" dir="t"/>
            </a:scene3d>
            <a:sp3d extrusionH="393700">
              <a:bevelT w="165100" prst="coolSlant"/>
              <a:bevelB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cxnSp>
          <p:nvCxnSpPr>
            <p:cNvPr id="69" name="直線接點 68">
              <a:extLst>
                <a:ext uri="{FF2B5EF4-FFF2-40B4-BE49-F238E27FC236}">
                  <a16:creationId xmlns:a16="http://schemas.microsoft.com/office/drawing/2014/main" id="{B68E70D6-215C-444B-AC3F-675D203F0AEA}"/>
                </a:ext>
              </a:extLst>
            </p:cNvPr>
            <p:cNvCxnSpPr/>
            <p:nvPr/>
          </p:nvCxnSpPr>
          <p:spPr>
            <a:xfrm flipH="1">
              <a:off x="4069534" y="4325403"/>
              <a:ext cx="1497281"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 name="直線接點 69">
              <a:extLst>
                <a:ext uri="{FF2B5EF4-FFF2-40B4-BE49-F238E27FC236}">
                  <a16:creationId xmlns:a16="http://schemas.microsoft.com/office/drawing/2014/main" id="{FD68884E-01B9-46B5-ADF1-A116FA1DED6B}"/>
                </a:ext>
              </a:extLst>
            </p:cNvPr>
            <p:cNvCxnSpPr/>
            <p:nvPr/>
          </p:nvCxnSpPr>
          <p:spPr>
            <a:xfrm flipV="1">
              <a:off x="4074614" y="2588085"/>
              <a:ext cx="0" cy="173731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9ABF9C70-DB6B-49F3-BC3A-4DBA930674C8}"/>
                </a:ext>
              </a:extLst>
            </p:cNvPr>
            <p:cNvCxnSpPr/>
            <p:nvPr/>
          </p:nvCxnSpPr>
          <p:spPr>
            <a:xfrm flipH="1">
              <a:off x="4074614" y="2588086"/>
              <a:ext cx="2095816"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直線接點 71">
              <a:extLst>
                <a:ext uri="{FF2B5EF4-FFF2-40B4-BE49-F238E27FC236}">
                  <a16:creationId xmlns:a16="http://schemas.microsoft.com/office/drawing/2014/main" id="{BD012C71-F18A-45A0-9F32-C57F1EBC1A36}"/>
                </a:ext>
              </a:extLst>
            </p:cNvPr>
            <p:cNvCxnSpPr/>
            <p:nvPr/>
          </p:nvCxnSpPr>
          <p:spPr>
            <a:xfrm flipH="1" flipV="1">
              <a:off x="7676305" y="2588085"/>
              <a:ext cx="1" cy="173731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線接點 73">
              <a:extLst>
                <a:ext uri="{FF2B5EF4-FFF2-40B4-BE49-F238E27FC236}">
                  <a16:creationId xmlns:a16="http://schemas.microsoft.com/office/drawing/2014/main" id="{068D3ACE-C5F7-4C44-B050-4ADB11B0F345}"/>
                </a:ext>
              </a:extLst>
            </p:cNvPr>
            <p:cNvCxnSpPr/>
            <p:nvPr/>
          </p:nvCxnSpPr>
          <p:spPr>
            <a:xfrm flipH="1">
              <a:off x="6564639" y="2588084"/>
              <a:ext cx="1111667"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75" name="橢圓 74">
              <a:extLst>
                <a:ext uri="{FF2B5EF4-FFF2-40B4-BE49-F238E27FC236}">
                  <a16:creationId xmlns:a16="http://schemas.microsoft.com/office/drawing/2014/main" id="{F1EDA84B-5DAF-4F7C-8B63-8F6CF2A5D6EA}"/>
                </a:ext>
              </a:extLst>
            </p:cNvPr>
            <p:cNvSpPr/>
            <p:nvPr/>
          </p:nvSpPr>
          <p:spPr>
            <a:xfrm>
              <a:off x="6170429" y="2318084"/>
              <a:ext cx="540000" cy="540000"/>
            </a:xfrm>
            <a:prstGeom prst="ellipse">
              <a:avLst/>
            </a:prstGeom>
            <a:solidFill>
              <a:srgbClr val="FF0000"/>
            </a:solidFill>
            <a:ln>
              <a:solidFill>
                <a:srgbClr val="FF0000"/>
              </a:solidFill>
            </a:ln>
            <a:scene3d>
              <a:camera prst="orthographicFront"/>
              <a:lightRig rig="threePt" dir="t"/>
            </a:scene3d>
            <a:sp3d>
              <a:bevelT w="271780" h="271780"/>
              <a:bevelB w="271780" h="2717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cxnSp>
          <p:nvCxnSpPr>
            <p:cNvPr id="77" name="直線單箭頭接點 76">
              <a:extLst>
                <a:ext uri="{FF2B5EF4-FFF2-40B4-BE49-F238E27FC236}">
                  <a16:creationId xmlns:a16="http://schemas.microsoft.com/office/drawing/2014/main" id="{819B49D4-600C-4E1E-9538-5A0A52CD4137}"/>
                </a:ext>
              </a:extLst>
            </p:cNvPr>
            <p:cNvCxnSpPr/>
            <p:nvPr/>
          </p:nvCxnSpPr>
          <p:spPr>
            <a:xfrm>
              <a:off x="5853650" y="3895575"/>
              <a:ext cx="10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a:extLst>
                <a:ext uri="{FF2B5EF4-FFF2-40B4-BE49-F238E27FC236}">
                  <a16:creationId xmlns:a16="http://schemas.microsoft.com/office/drawing/2014/main" id="{30E17243-0FF1-4C1B-B276-B68E2AC1D6D6}"/>
                </a:ext>
              </a:extLst>
            </p:cNvPr>
            <p:cNvCxnSpPr/>
            <p:nvPr/>
          </p:nvCxnSpPr>
          <p:spPr>
            <a:xfrm flipV="1">
              <a:off x="5853650" y="2815575"/>
              <a:ext cx="0" cy="1080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a:extLst>
                <a:ext uri="{FF2B5EF4-FFF2-40B4-BE49-F238E27FC236}">
                  <a16:creationId xmlns:a16="http://schemas.microsoft.com/office/drawing/2014/main" id="{96893BCE-8710-4242-883E-7F5B725E2834}"/>
                </a:ext>
              </a:extLst>
            </p:cNvPr>
            <p:cNvCxnSpPr>
              <a:cxnSpLocks/>
            </p:cNvCxnSpPr>
            <p:nvPr/>
          </p:nvCxnSpPr>
          <p:spPr>
            <a:xfrm>
              <a:off x="5847957" y="3895574"/>
              <a:ext cx="615883" cy="7749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3" name="文字方塊 92">
                  <a:extLst>
                    <a:ext uri="{FF2B5EF4-FFF2-40B4-BE49-F238E27FC236}">
                      <a16:creationId xmlns:a16="http://schemas.microsoft.com/office/drawing/2014/main" id="{AE559BC5-4D95-4D50-96F9-4FEB7C325E24}"/>
                    </a:ext>
                  </a:extLst>
                </p:cNvPr>
                <p:cNvSpPr txBox="1"/>
                <p:nvPr/>
              </p:nvSpPr>
              <p:spPr>
                <a:xfrm>
                  <a:off x="5686529" y="2483043"/>
                  <a:ext cx="416615" cy="40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𝑧</m:t>
                        </m:r>
                      </m:oMath>
                    </m:oMathPara>
                  </a14:m>
                  <a:endParaRPr lang="zh-TW" altLang="en-US" sz="1400" dirty="0"/>
                </a:p>
              </p:txBody>
            </p:sp>
          </mc:Choice>
          <mc:Fallback xmlns="">
            <p:sp>
              <p:nvSpPr>
                <p:cNvPr id="93" name="文字方塊 92">
                  <a:extLst>
                    <a:ext uri="{FF2B5EF4-FFF2-40B4-BE49-F238E27FC236}">
                      <a16:creationId xmlns:a16="http://schemas.microsoft.com/office/drawing/2014/main" id="{AE559BC5-4D95-4D50-96F9-4FEB7C325E24}"/>
                    </a:ext>
                  </a:extLst>
                </p:cNvPr>
                <p:cNvSpPr txBox="1">
                  <a:spLocks noRot="1" noChangeAspect="1" noMove="1" noResize="1" noEditPoints="1" noAdjustHandles="1" noChangeArrowheads="1" noChangeShapeType="1" noTextEdit="1"/>
                </p:cNvSpPr>
                <p:nvPr/>
              </p:nvSpPr>
              <p:spPr>
                <a:xfrm>
                  <a:off x="5686529" y="2483043"/>
                  <a:ext cx="416615" cy="407863"/>
                </a:xfrm>
                <a:prstGeom prst="rect">
                  <a:avLst/>
                </a:prstGeom>
                <a:blipFill>
                  <a:blip r:embed="rId11"/>
                  <a:stretch>
                    <a:fillRect/>
                  </a:stretch>
                </a:blipFill>
              </p:spPr>
              <p:txBody>
                <a:bodyPr/>
                <a:lstStyle/>
                <a:p>
                  <a:r>
                    <a:rPr lang="zh-TW" altLang="en-US">
                      <a:noFill/>
                    </a:rPr>
                    <a:t> </a:t>
                  </a:r>
                </a:p>
              </p:txBody>
            </p:sp>
          </mc:Fallback>
        </mc:AlternateContent>
        <p:grpSp>
          <p:nvGrpSpPr>
            <p:cNvPr id="94" name="群組 93">
              <a:extLst>
                <a:ext uri="{FF2B5EF4-FFF2-40B4-BE49-F238E27FC236}">
                  <a16:creationId xmlns:a16="http://schemas.microsoft.com/office/drawing/2014/main" id="{A3322D57-AE3A-4956-8611-5C1124B941D1}"/>
                </a:ext>
              </a:extLst>
            </p:cNvPr>
            <p:cNvGrpSpPr/>
            <p:nvPr/>
          </p:nvGrpSpPr>
          <p:grpSpPr>
            <a:xfrm rot="900000">
              <a:off x="5984517" y="2979447"/>
              <a:ext cx="1080000" cy="1080000"/>
              <a:chOff x="2951998" y="4112717"/>
              <a:chExt cx="1080000" cy="1080000"/>
            </a:xfrm>
          </p:grpSpPr>
          <p:cxnSp>
            <p:nvCxnSpPr>
              <p:cNvPr id="110" name="直線單箭頭接點 109">
                <a:extLst>
                  <a:ext uri="{FF2B5EF4-FFF2-40B4-BE49-F238E27FC236}">
                    <a16:creationId xmlns:a16="http://schemas.microsoft.com/office/drawing/2014/main" id="{F448E020-F7B4-4E72-9632-D77A13619891}"/>
                  </a:ext>
                </a:extLst>
              </p:cNvPr>
              <p:cNvCxnSpPr/>
              <p:nvPr/>
            </p:nvCxnSpPr>
            <p:spPr>
              <a:xfrm>
                <a:off x="2951998" y="5192717"/>
                <a:ext cx="1080000" cy="0"/>
              </a:xfrm>
              <a:prstGeom prst="straightConnector1">
                <a:avLst/>
              </a:prstGeom>
              <a:ln w="1905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110">
                <a:extLst>
                  <a:ext uri="{FF2B5EF4-FFF2-40B4-BE49-F238E27FC236}">
                    <a16:creationId xmlns:a16="http://schemas.microsoft.com/office/drawing/2014/main" id="{C071B235-5ECA-47AD-BF11-71C8AEFF7816}"/>
                  </a:ext>
                </a:extLst>
              </p:cNvPr>
              <p:cNvCxnSpPr/>
              <p:nvPr/>
            </p:nvCxnSpPr>
            <p:spPr>
              <a:xfrm flipV="1">
                <a:off x="2951998" y="4112717"/>
                <a:ext cx="0" cy="1080000"/>
              </a:xfrm>
              <a:prstGeom prst="straightConnector1">
                <a:avLst/>
              </a:prstGeom>
              <a:ln w="1905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95" name="群組 94">
              <a:extLst>
                <a:ext uri="{FF2B5EF4-FFF2-40B4-BE49-F238E27FC236}">
                  <a16:creationId xmlns:a16="http://schemas.microsoft.com/office/drawing/2014/main" id="{2B077FE0-8CB1-4E78-BF34-EF3F286DF764}"/>
                </a:ext>
              </a:extLst>
            </p:cNvPr>
            <p:cNvGrpSpPr/>
            <p:nvPr/>
          </p:nvGrpSpPr>
          <p:grpSpPr>
            <a:xfrm rot="15300000">
              <a:off x="4636961" y="2979446"/>
              <a:ext cx="1080000" cy="1080000"/>
              <a:chOff x="2951998" y="4112717"/>
              <a:chExt cx="1080000" cy="1080000"/>
            </a:xfrm>
          </p:grpSpPr>
          <p:cxnSp>
            <p:nvCxnSpPr>
              <p:cNvPr id="108" name="直線單箭頭接點 107">
                <a:extLst>
                  <a:ext uri="{FF2B5EF4-FFF2-40B4-BE49-F238E27FC236}">
                    <a16:creationId xmlns:a16="http://schemas.microsoft.com/office/drawing/2014/main" id="{900F5FA0-C35B-46F4-B079-504AD9D45018}"/>
                  </a:ext>
                </a:extLst>
              </p:cNvPr>
              <p:cNvCxnSpPr/>
              <p:nvPr/>
            </p:nvCxnSpPr>
            <p:spPr>
              <a:xfrm>
                <a:off x="2951998" y="5192717"/>
                <a:ext cx="1080000" cy="0"/>
              </a:xfrm>
              <a:prstGeom prst="straightConnector1">
                <a:avLst/>
              </a:prstGeom>
              <a:ln w="19050">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a:extLst>
                  <a:ext uri="{FF2B5EF4-FFF2-40B4-BE49-F238E27FC236}">
                    <a16:creationId xmlns:a16="http://schemas.microsoft.com/office/drawing/2014/main" id="{3E75EBA6-0B80-4F4A-943A-0D73C9D3E602}"/>
                  </a:ext>
                </a:extLst>
              </p:cNvPr>
              <p:cNvCxnSpPr/>
              <p:nvPr/>
            </p:nvCxnSpPr>
            <p:spPr>
              <a:xfrm flipV="1">
                <a:off x="2951998" y="4112717"/>
                <a:ext cx="0" cy="1080000"/>
              </a:xfrm>
              <a:prstGeom prst="straightConnector1">
                <a:avLst/>
              </a:prstGeom>
              <a:ln w="19050">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6" name="文字方塊 95">
                  <a:extLst>
                    <a:ext uri="{FF2B5EF4-FFF2-40B4-BE49-F238E27FC236}">
                      <a16:creationId xmlns:a16="http://schemas.microsoft.com/office/drawing/2014/main" id="{F5E98F5D-ECDA-462D-AE13-295FA19B47F6}"/>
                    </a:ext>
                  </a:extLst>
                </p:cNvPr>
                <p:cNvSpPr txBox="1"/>
                <p:nvPr/>
              </p:nvSpPr>
              <p:spPr>
                <a:xfrm>
                  <a:off x="6041775" y="2788042"/>
                  <a:ext cx="495638" cy="40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1400" i="1" smtClean="0">
                                <a:latin typeface="Cambria Math" panose="02040503050406030204" pitchFamily="18" charset="0"/>
                              </a:rPr>
                            </m:ctrlPr>
                          </m:sSupPr>
                          <m:e>
                            <m:r>
                              <a:rPr lang="en-US" altLang="zh-TW" sz="1400" b="0" i="1" smtClean="0">
                                <a:latin typeface="Cambria Math" panose="02040503050406030204" pitchFamily="18" charset="0"/>
                              </a:rPr>
                              <m:t>𝑧</m:t>
                            </m:r>
                          </m:e>
                          <m:sup>
                            <m:r>
                              <a:rPr lang="en-US" altLang="zh-TW" sz="1400" b="0" i="1" smtClean="0">
                                <a:latin typeface="Cambria Math" panose="02040503050406030204" pitchFamily="18" charset="0"/>
                              </a:rPr>
                              <m:t>′</m:t>
                            </m:r>
                          </m:sup>
                        </m:sSup>
                      </m:oMath>
                    </m:oMathPara>
                  </a14:m>
                  <a:endParaRPr lang="zh-TW" altLang="en-US" sz="1400" dirty="0"/>
                </a:p>
              </p:txBody>
            </p:sp>
          </mc:Choice>
          <mc:Fallback xmlns="">
            <p:sp>
              <p:nvSpPr>
                <p:cNvPr id="96" name="文字方塊 95">
                  <a:extLst>
                    <a:ext uri="{FF2B5EF4-FFF2-40B4-BE49-F238E27FC236}">
                      <a16:creationId xmlns:a16="http://schemas.microsoft.com/office/drawing/2014/main" id="{F5E98F5D-ECDA-462D-AE13-295FA19B47F6}"/>
                    </a:ext>
                  </a:extLst>
                </p:cNvPr>
                <p:cNvSpPr txBox="1">
                  <a:spLocks noRot="1" noChangeAspect="1" noMove="1" noResize="1" noEditPoints="1" noAdjustHandles="1" noChangeArrowheads="1" noChangeShapeType="1" noTextEdit="1"/>
                </p:cNvSpPr>
                <p:nvPr/>
              </p:nvSpPr>
              <p:spPr>
                <a:xfrm>
                  <a:off x="6041775" y="2788042"/>
                  <a:ext cx="495638" cy="407863"/>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7" name="文字方塊 96">
                  <a:extLst>
                    <a:ext uri="{FF2B5EF4-FFF2-40B4-BE49-F238E27FC236}">
                      <a16:creationId xmlns:a16="http://schemas.microsoft.com/office/drawing/2014/main" id="{1ED609E4-C42B-4ED6-B3E4-ABF02FEEE240}"/>
                    </a:ext>
                  </a:extLst>
                </p:cNvPr>
                <p:cNvSpPr txBox="1"/>
                <p:nvPr/>
              </p:nvSpPr>
              <p:spPr>
                <a:xfrm>
                  <a:off x="5035820" y="2789584"/>
                  <a:ext cx="674077" cy="40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m:t>
                        </m:r>
                        <m:sSup>
                          <m:sSupPr>
                            <m:ctrlPr>
                              <a:rPr lang="en-US" altLang="zh-TW" sz="1400" i="1" smtClean="0">
                                <a:latin typeface="Cambria Math" panose="02040503050406030204" pitchFamily="18" charset="0"/>
                              </a:rPr>
                            </m:ctrlPr>
                          </m:sSupPr>
                          <m:e>
                            <m:r>
                              <a:rPr lang="en-US" altLang="zh-TW" sz="1400" b="0" i="1" smtClean="0">
                                <a:latin typeface="Cambria Math" panose="02040503050406030204" pitchFamily="18" charset="0"/>
                              </a:rPr>
                              <m:t>𝑧</m:t>
                            </m:r>
                          </m:e>
                          <m:sup>
                            <m:r>
                              <a:rPr lang="en-US" altLang="zh-TW" sz="1400" b="0" i="1" smtClean="0">
                                <a:latin typeface="Cambria Math" panose="02040503050406030204" pitchFamily="18" charset="0"/>
                              </a:rPr>
                              <m:t>′</m:t>
                            </m:r>
                          </m:sup>
                        </m:sSup>
                      </m:oMath>
                    </m:oMathPara>
                  </a14:m>
                  <a:endParaRPr lang="zh-TW" altLang="en-US" sz="1400" dirty="0"/>
                </a:p>
              </p:txBody>
            </p:sp>
          </mc:Choice>
          <mc:Fallback xmlns="">
            <p:sp>
              <p:nvSpPr>
                <p:cNvPr id="97" name="文字方塊 96">
                  <a:extLst>
                    <a:ext uri="{FF2B5EF4-FFF2-40B4-BE49-F238E27FC236}">
                      <a16:creationId xmlns:a16="http://schemas.microsoft.com/office/drawing/2014/main" id="{1ED609E4-C42B-4ED6-B3E4-ABF02FEEE240}"/>
                    </a:ext>
                  </a:extLst>
                </p:cNvPr>
                <p:cNvSpPr txBox="1">
                  <a:spLocks noRot="1" noChangeAspect="1" noMove="1" noResize="1" noEditPoints="1" noAdjustHandles="1" noChangeArrowheads="1" noChangeShapeType="1" noTextEdit="1"/>
                </p:cNvSpPr>
                <p:nvPr/>
              </p:nvSpPr>
              <p:spPr>
                <a:xfrm>
                  <a:off x="5035820" y="2789584"/>
                  <a:ext cx="674077" cy="407863"/>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8" name="文字方塊 97">
                  <a:extLst>
                    <a:ext uri="{FF2B5EF4-FFF2-40B4-BE49-F238E27FC236}">
                      <a16:creationId xmlns:a16="http://schemas.microsoft.com/office/drawing/2014/main" id="{3C26999C-8208-4E5D-A523-336804A120CF}"/>
                    </a:ext>
                  </a:extLst>
                </p:cNvPr>
                <p:cNvSpPr txBox="1"/>
                <p:nvPr/>
              </p:nvSpPr>
              <p:spPr>
                <a:xfrm>
                  <a:off x="6875361" y="3662686"/>
                  <a:ext cx="435734" cy="40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𝑦</m:t>
                        </m:r>
                      </m:oMath>
                    </m:oMathPara>
                  </a14:m>
                  <a:endParaRPr lang="zh-TW" altLang="en-US" sz="1400" dirty="0"/>
                </a:p>
              </p:txBody>
            </p:sp>
          </mc:Choice>
          <mc:Fallback xmlns="">
            <p:sp>
              <p:nvSpPr>
                <p:cNvPr id="98" name="文字方塊 97">
                  <a:extLst>
                    <a:ext uri="{FF2B5EF4-FFF2-40B4-BE49-F238E27FC236}">
                      <a16:creationId xmlns:a16="http://schemas.microsoft.com/office/drawing/2014/main" id="{3C26999C-8208-4E5D-A523-336804A120CF}"/>
                    </a:ext>
                  </a:extLst>
                </p:cNvPr>
                <p:cNvSpPr txBox="1">
                  <a:spLocks noRot="1" noChangeAspect="1" noMove="1" noResize="1" noEditPoints="1" noAdjustHandles="1" noChangeArrowheads="1" noChangeShapeType="1" noTextEdit="1"/>
                </p:cNvSpPr>
                <p:nvPr/>
              </p:nvSpPr>
              <p:spPr>
                <a:xfrm>
                  <a:off x="6875361" y="3662686"/>
                  <a:ext cx="435734" cy="407863"/>
                </a:xfrm>
                <a:prstGeom prst="rect">
                  <a:avLst/>
                </a:prstGeom>
                <a:blipFill>
                  <a:blip r:embed="rId14"/>
                  <a:stretch>
                    <a:fillRect b="-2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9" name="文字方塊 98">
                  <a:extLst>
                    <a:ext uri="{FF2B5EF4-FFF2-40B4-BE49-F238E27FC236}">
                      <a16:creationId xmlns:a16="http://schemas.microsoft.com/office/drawing/2014/main" id="{C4E1A3E1-5ECC-4CE9-B1F7-21E310C23CFB}"/>
                    </a:ext>
                  </a:extLst>
                </p:cNvPr>
                <p:cNvSpPr txBox="1"/>
                <p:nvPr/>
              </p:nvSpPr>
              <p:spPr>
                <a:xfrm>
                  <a:off x="6827965" y="4001852"/>
                  <a:ext cx="514757" cy="40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1400" i="1" smtClean="0">
                                <a:latin typeface="Cambria Math" panose="02040503050406030204" pitchFamily="18" charset="0"/>
                              </a:rPr>
                            </m:ctrlPr>
                          </m:sSupPr>
                          <m:e>
                            <m:r>
                              <a:rPr lang="en-US" altLang="zh-TW" sz="1400" b="0" i="1" smtClean="0">
                                <a:latin typeface="Cambria Math" panose="02040503050406030204" pitchFamily="18" charset="0"/>
                              </a:rPr>
                              <m:t>𝑦</m:t>
                            </m:r>
                          </m:e>
                          <m:sup>
                            <m:r>
                              <a:rPr lang="en-US" altLang="zh-TW" sz="1400" b="0" i="1" smtClean="0">
                                <a:latin typeface="Cambria Math" panose="02040503050406030204" pitchFamily="18" charset="0"/>
                              </a:rPr>
                              <m:t>′</m:t>
                            </m:r>
                          </m:sup>
                        </m:sSup>
                      </m:oMath>
                    </m:oMathPara>
                  </a14:m>
                  <a:endParaRPr lang="zh-TW" altLang="en-US" sz="1400" dirty="0"/>
                </a:p>
              </p:txBody>
            </p:sp>
          </mc:Choice>
          <mc:Fallback xmlns="">
            <p:sp>
              <p:nvSpPr>
                <p:cNvPr id="99" name="文字方塊 98">
                  <a:extLst>
                    <a:ext uri="{FF2B5EF4-FFF2-40B4-BE49-F238E27FC236}">
                      <a16:creationId xmlns:a16="http://schemas.microsoft.com/office/drawing/2014/main" id="{C4E1A3E1-5ECC-4CE9-B1F7-21E310C23CFB}"/>
                    </a:ext>
                  </a:extLst>
                </p:cNvPr>
                <p:cNvSpPr txBox="1">
                  <a:spLocks noRot="1" noChangeAspect="1" noMove="1" noResize="1" noEditPoints="1" noAdjustHandles="1" noChangeArrowheads="1" noChangeShapeType="1" noTextEdit="1"/>
                </p:cNvSpPr>
                <p:nvPr/>
              </p:nvSpPr>
              <p:spPr>
                <a:xfrm>
                  <a:off x="6827965" y="4001852"/>
                  <a:ext cx="514757" cy="407863"/>
                </a:xfrm>
                <a:prstGeom prst="rect">
                  <a:avLst/>
                </a:prstGeom>
                <a:blipFill>
                  <a:blip r:embed="rId15"/>
                  <a:stretch>
                    <a:fillRect b="-2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0" name="文字方塊 99">
                  <a:extLst>
                    <a:ext uri="{FF2B5EF4-FFF2-40B4-BE49-F238E27FC236}">
                      <a16:creationId xmlns:a16="http://schemas.microsoft.com/office/drawing/2014/main" id="{D456A427-83EB-47BA-B503-916182D6CC81}"/>
                    </a:ext>
                  </a:extLst>
                </p:cNvPr>
                <p:cNvSpPr txBox="1"/>
                <p:nvPr/>
              </p:nvSpPr>
              <p:spPr>
                <a:xfrm>
                  <a:off x="4302719" y="3996143"/>
                  <a:ext cx="693197" cy="40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m:t>
                        </m:r>
                        <m:sSup>
                          <m:sSupPr>
                            <m:ctrlPr>
                              <a:rPr lang="en-US" altLang="zh-TW" sz="1400" i="1" smtClean="0">
                                <a:latin typeface="Cambria Math" panose="02040503050406030204" pitchFamily="18" charset="0"/>
                              </a:rPr>
                            </m:ctrlPr>
                          </m:sSupPr>
                          <m:e>
                            <m:r>
                              <a:rPr lang="en-US" altLang="zh-TW" sz="1400" b="0" i="1" smtClean="0">
                                <a:latin typeface="Cambria Math" panose="02040503050406030204" pitchFamily="18" charset="0"/>
                              </a:rPr>
                              <m:t>𝑦</m:t>
                            </m:r>
                          </m:e>
                          <m:sup>
                            <m:r>
                              <a:rPr lang="en-US" altLang="zh-TW" sz="1400" b="0" i="1" smtClean="0">
                                <a:latin typeface="Cambria Math" panose="02040503050406030204" pitchFamily="18" charset="0"/>
                              </a:rPr>
                              <m:t>′</m:t>
                            </m:r>
                          </m:sup>
                        </m:sSup>
                      </m:oMath>
                    </m:oMathPara>
                  </a14:m>
                  <a:endParaRPr lang="zh-TW" altLang="en-US" sz="1400" dirty="0"/>
                </a:p>
              </p:txBody>
            </p:sp>
          </mc:Choice>
          <mc:Fallback xmlns="">
            <p:sp>
              <p:nvSpPr>
                <p:cNvPr id="100" name="文字方塊 99">
                  <a:extLst>
                    <a:ext uri="{FF2B5EF4-FFF2-40B4-BE49-F238E27FC236}">
                      <a16:creationId xmlns:a16="http://schemas.microsoft.com/office/drawing/2014/main" id="{D456A427-83EB-47BA-B503-916182D6CC81}"/>
                    </a:ext>
                  </a:extLst>
                </p:cNvPr>
                <p:cNvSpPr txBox="1">
                  <a:spLocks noRot="1" noChangeAspect="1" noMove="1" noResize="1" noEditPoints="1" noAdjustHandles="1" noChangeArrowheads="1" noChangeShapeType="1" noTextEdit="1"/>
                </p:cNvSpPr>
                <p:nvPr/>
              </p:nvSpPr>
              <p:spPr>
                <a:xfrm>
                  <a:off x="4302719" y="3996143"/>
                  <a:ext cx="693197" cy="407863"/>
                </a:xfrm>
                <a:prstGeom prst="rect">
                  <a:avLst/>
                </a:prstGeom>
                <a:blipFill>
                  <a:blip r:embed="rId16"/>
                  <a:stretch>
                    <a:fillRect/>
                  </a:stretch>
                </a:blipFill>
              </p:spPr>
              <p:txBody>
                <a:bodyPr/>
                <a:lstStyle/>
                <a:p>
                  <a:r>
                    <a:rPr lang="zh-TW" altLang="en-US">
                      <a:noFill/>
                    </a:rPr>
                    <a:t> </a:t>
                  </a:r>
                </a:p>
              </p:txBody>
            </p:sp>
          </mc:Fallback>
        </mc:AlternateContent>
        <p:cxnSp>
          <p:nvCxnSpPr>
            <p:cNvPr id="101" name="直線單箭頭接點 100">
              <a:extLst>
                <a:ext uri="{FF2B5EF4-FFF2-40B4-BE49-F238E27FC236}">
                  <a16:creationId xmlns:a16="http://schemas.microsoft.com/office/drawing/2014/main" id="{E37B1E6E-9884-4F36-A3A6-4C866B3B80E0}"/>
                </a:ext>
              </a:extLst>
            </p:cNvPr>
            <p:cNvCxnSpPr/>
            <p:nvPr/>
          </p:nvCxnSpPr>
          <p:spPr>
            <a:xfrm flipH="1">
              <a:off x="4767957" y="3895574"/>
              <a:ext cx="10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文字方塊 101">
                  <a:extLst>
                    <a:ext uri="{FF2B5EF4-FFF2-40B4-BE49-F238E27FC236}">
                      <a16:creationId xmlns:a16="http://schemas.microsoft.com/office/drawing/2014/main" id="{FDACDFE3-E05E-4082-B1F0-1A69D3B4AA98}"/>
                    </a:ext>
                  </a:extLst>
                </p:cNvPr>
                <p:cNvSpPr txBox="1"/>
                <p:nvPr/>
              </p:nvSpPr>
              <p:spPr>
                <a:xfrm>
                  <a:off x="4322559" y="3677810"/>
                  <a:ext cx="614173" cy="40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𝑦</m:t>
                        </m:r>
                      </m:oMath>
                    </m:oMathPara>
                  </a14:m>
                  <a:endParaRPr lang="zh-TW" altLang="en-US" sz="1400" dirty="0"/>
                </a:p>
              </p:txBody>
            </p:sp>
          </mc:Choice>
          <mc:Fallback xmlns="">
            <p:sp>
              <p:nvSpPr>
                <p:cNvPr id="102" name="文字方塊 101">
                  <a:extLst>
                    <a:ext uri="{FF2B5EF4-FFF2-40B4-BE49-F238E27FC236}">
                      <a16:creationId xmlns:a16="http://schemas.microsoft.com/office/drawing/2014/main" id="{FDACDFE3-E05E-4082-B1F0-1A69D3B4AA98}"/>
                    </a:ext>
                  </a:extLst>
                </p:cNvPr>
                <p:cNvSpPr txBox="1">
                  <a:spLocks noRot="1" noChangeAspect="1" noMove="1" noResize="1" noEditPoints="1" noAdjustHandles="1" noChangeArrowheads="1" noChangeShapeType="1" noTextEdit="1"/>
                </p:cNvSpPr>
                <p:nvPr/>
              </p:nvSpPr>
              <p:spPr>
                <a:xfrm>
                  <a:off x="4322559" y="3677810"/>
                  <a:ext cx="614173" cy="407863"/>
                </a:xfrm>
                <a:prstGeom prst="rect">
                  <a:avLst/>
                </a:prstGeom>
                <a:blipFill>
                  <a:blip r:embed="rId17"/>
                  <a:stretch>
                    <a:fillRect b="-2000"/>
                  </a:stretch>
                </a:blipFill>
              </p:spPr>
              <p:txBody>
                <a:bodyPr/>
                <a:lstStyle/>
                <a:p>
                  <a:r>
                    <a:rPr lang="zh-TW" altLang="en-US">
                      <a:noFill/>
                    </a:rPr>
                    <a:t> </a:t>
                  </a:r>
                </a:p>
              </p:txBody>
            </p:sp>
          </mc:Fallback>
        </mc:AlternateContent>
        <p:sp>
          <p:nvSpPr>
            <p:cNvPr id="103" name="手繪多邊形 93">
              <a:extLst>
                <a:ext uri="{FF2B5EF4-FFF2-40B4-BE49-F238E27FC236}">
                  <a16:creationId xmlns:a16="http://schemas.microsoft.com/office/drawing/2014/main" id="{07D372BA-C39E-41A3-97A9-E33EEDBE73B6}"/>
                </a:ext>
              </a:extLst>
            </p:cNvPr>
            <p:cNvSpPr/>
            <p:nvPr/>
          </p:nvSpPr>
          <p:spPr>
            <a:xfrm>
              <a:off x="5850255" y="3144726"/>
              <a:ext cx="186690" cy="84249"/>
            </a:xfrm>
            <a:custGeom>
              <a:avLst/>
              <a:gdLst>
                <a:gd name="connsiteX0" fmla="*/ 0 w 186690"/>
                <a:gd name="connsiteY0" fmla="*/ 57579 h 84249"/>
                <a:gd name="connsiteX1" fmla="*/ 110490 w 186690"/>
                <a:gd name="connsiteY1" fmla="*/ 429 h 84249"/>
                <a:gd name="connsiteX2" fmla="*/ 186690 w 186690"/>
                <a:gd name="connsiteY2" fmla="*/ 84249 h 84249"/>
              </a:gdLst>
              <a:ahLst/>
              <a:cxnLst>
                <a:cxn ang="0">
                  <a:pos x="connsiteX0" y="connsiteY0"/>
                </a:cxn>
                <a:cxn ang="0">
                  <a:pos x="connsiteX1" y="connsiteY1"/>
                </a:cxn>
                <a:cxn ang="0">
                  <a:pos x="connsiteX2" y="connsiteY2"/>
                </a:cxn>
              </a:cxnLst>
              <a:rect l="l" t="t" r="r" b="b"/>
              <a:pathLst>
                <a:path w="186690" h="84249">
                  <a:moveTo>
                    <a:pt x="0" y="57579"/>
                  </a:moveTo>
                  <a:cubicBezTo>
                    <a:pt x="39687" y="26781"/>
                    <a:pt x="79375" y="-4016"/>
                    <a:pt x="110490" y="429"/>
                  </a:cubicBezTo>
                  <a:cubicBezTo>
                    <a:pt x="141605" y="4874"/>
                    <a:pt x="164147" y="44561"/>
                    <a:pt x="186690" y="8424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104" name="手繪多邊形 94">
              <a:extLst>
                <a:ext uri="{FF2B5EF4-FFF2-40B4-BE49-F238E27FC236}">
                  <a16:creationId xmlns:a16="http://schemas.microsoft.com/office/drawing/2014/main" id="{63F6A4FD-D0F1-4064-B762-E7CAE818E306}"/>
                </a:ext>
              </a:extLst>
            </p:cNvPr>
            <p:cNvSpPr/>
            <p:nvPr/>
          </p:nvSpPr>
          <p:spPr>
            <a:xfrm rot="20700000">
              <a:off x="5652284" y="3156056"/>
              <a:ext cx="186690" cy="84249"/>
            </a:xfrm>
            <a:custGeom>
              <a:avLst/>
              <a:gdLst>
                <a:gd name="connsiteX0" fmla="*/ 0 w 186690"/>
                <a:gd name="connsiteY0" fmla="*/ 57579 h 84249"/>
                <a:gd name="connsiteX1" fmla="*/ 110490 w 186690"/>
                <a:gd name="connsiteY1" fmla="*/ 429 h 84249"/>
                <a:gd name="connsiteX2" fmla="*/ 186690 w 186690"/>
                <a:gd name="connsiteY2" fmla="*/ 84249 h 84249"/>
              </a:gdLst>
              <a:ahLst/>
              <a:cxnLst>
                <a:cxn ang="0">
                  <a:pos x="connsiteX0" y="connsiteY0"/>
                </a:cxn>
                <a:cxn ang="0">
                  <a:pos x="connsiteX1" y="connsiteY1"/>
                </a:cxn>
                <a:cxn ang="0">
                  <a:pos x="connsiteX2" y="connsiteY2"/>
                </a:cxn>
              </a:cxnLst>
              <a:rect l="l" t="t" r="r" b="b"/>
              <a:pathLst>
                <a:path w="186690" h="84249">
                  <a:moveTo>
                    <a:pt x="0" y="57579"/>
                  </a:moveTo>
                  <a:cubicBezTo>
                    <a:pt x="39687" y="26781"/>
                    <a:pt x="79375" y="-4016"/>
                    <a:pt x="110490" y="429"/>
                  </a:cubicBezTo>
                  <a:cubicBezTo>
                    <a:pt x="141605" y="4874"/>
                    <a:pt x="164147" y="44561"/>
                    <a:pt x="186690" y="8424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mc:AlternateContent xmlns:mc="http://schemas.openxmlformats.org/markup-compatibility/2006" xmlns:a14="http://schemas.microsoft.com/office/drawing/2010/main">
          <mc:Choice Requires="a14">
            <p:sp>
              <p:nvSpPr>
                <p:cNvPr id="105" name="文字方塊 104">
                  <a:extLst>
                    <a:ext uri="{FF2B5EF4-FFF2-40B4-BE49-F238E27FC236}">
                      <a16:creationId xmlns:a16="http://schemas.microsoft.com/office/drawing/2014/main" id="{BFAAB1FB-0C68-4675-88AB-8471D5A62794}"/>
                    </a:ext>
                  </a:extLst>
                </p:cNvPr>
                <p:cNvSpPr txBox="1"/>
                <p:nvPr/>
              </p:nvSpPr>
              <p:spPr>
                <a:xfrm>
                  <a:off x="6015697" y="3179745"/>
                  <a:ext cx="193905" cy="2855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1400" i="1" smtClean="0">
                            <a:latin typeface="Cambria Math" panose="02040503050406030204" pitchFamily="18" charset="0"/>
                          </a:rPr>
                          <m:t>𝜃</m:t>
                        </m:r>
                      </m:oMath>
                    </m:oMathPara>
                  </a14:m>
                  <a:endParaRPr lang="zh-TW" altLang="en-US" sz="1400" dirty="0"/>
                </a:p>
              </p:txBody>
            </p:sp>
          </mc:Choice>
          <mc:Fallback xmlns="">
            <p:sp>
              <p:nvSpPr>
                <p:cNvPr id="105" name="文字方塊 104">
                  <a:extLst>
                    <a:ext uri="{FF2B5EF4-FFF2-40B4-BE49-F238E27FC236}">
                      <a16:creationId xmlns:a16="http://schemas.microsoft.com/office/drawing/2014/main" id="{BFAAB1FB-0C68-4675-88AB-8471D5A62794}"/>
                    </a:ext>
                  </a:extLst>
                </p:cNvPr>
                <p:cNvSpPr txBox="1">
                  <a:spLocks noRot="1" noChangeAspect="1" noMove="1" noResize="1" noEditPoints="1" noAdjustHandles="1" noChangeArrowheads="1" noChangeShapeType="1" noTextEdit="1"/>
                </p:cNvSpPr>
                <p:nvPr/>
              </p:nvSpPr>
              <p:spPr>
                <a:xfrm>
                  <a:off x="6015697" y="3179745"/>
                  <a:ext cx="193905" cy="285505"/>
                </a:xfrm>
                <a:prstGeom prst="rect">
                  <a:avLst/>
                </a:prstGeom>
                <a:blipFill>
                  <a:blip r:embed="rId18"/>
                  <a:stretch>
                    <a:fillRect l="-33333" r="-20833" b="-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6" name="文字方塊 105">
                  <a:extLst>
                    <a:ext uri="{FF2B5EF4-FFF2-40B4-BE49-F238E27FC236}">
                      <a16:creationId xmlns:a16="http://schemas.microsoft.com/office/drawing/2014/main" id="{67629CD0-C6E9-410A-B2B6-1B7BFD234669}"/>
                    </a:ext>
                  </a:extLst>
                </p:cNvPr>
                <p:cNvSpPr txBox="1"/>
                <p:nvPr/>
              </p:nvSpPr>
              <p:spPr>
                <a:xfrm>
                  <a:off x="5304699" y="3179833"/>
                  <a:ext cx="372344" cy="2855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m:t>
                        </m:r>
                        <m:r>
                          <a:rPr lang="zh-TW" altLang="en-US" sz="1400" i="1" smtClean="0">
                            <a:latin typeface="Cambria Math" panose="02040503050406030204" pitchFamily="18" charset="0"/>
                          </a:rPr>
                          <m:t>𝜃</m:t>
                        </m:r>
                      </m:oMath>
                    </m:oMathPara>
                  </a14:m>
                  <a:endParaRPr lang="zh-TW" altLang="en-US" sz="1400" dirty="0"/>
                </a:p>
              </p:txBody>
            </p:sp>
          </mc:Choice>
          <mc:Fallback xmlns="">
            <p:sp>
              <p:nvSpPr>
                <p:cNvPr id="106" name="文字方塊 105">
                  <a:extLst>
                    <a:ext uri="{FF2B5EF4-FFF2-40B4-BE49-F238E27FC236}">
                      <a16:creationId xmlns:a16="http://schemas.microsoft.com/office/drawing/2014/main" id="{67629CD0-C6E9-410A-B2B6-1B7BFD234669}"/>
                    </a:ext>
                  </a:extLst>
                </p:cNvPr>
                <p:cNvSpPr txBox="1">
                  <a:spLocks noRot="1" noChangeAspect="1" noMove="1" noResize="1" noEditPoints="1" noAdjustHandles="1" noChangeArrowheads="1" noChangeShapeType="1" noTextEdit="1"/>
                </p:cNvSpPr>
                <p:nvPr/>
              </p:nvSpPr>
              <p:spPr>
                <a:xfrm>
                  <a:off x="5304699" y="3179833"/>
                  <a:ext cx="372344" cy="285505"/>
                </a:xfrm>
                <a:prstGeom prst="rect">
                  <a:avLst/>
                </a:prstGeom>
                <a:blipFill>
                  <a:blip r:embed="rId19"/>
                  <a:stretch>
                    <a:fillRect l="-4348" r="-10870" b="-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7" name="文字方塊 106">
                  <a:extLst>
                    <a:ext uri="{FF2B5EF4-FFF2-40B4-BE49-F238E27FC236}">
                      <a16:creationId xmlns:a16="http://schemas.microsoft.com/office/drawing/2014/main" id="{862642C8-037F-492F-85F5-9D16E07B87CF}"/>
                    </a:ext>
                  </a:extLst>
                </p:cNvPr>
                <p:cNvSpPr txBox="1"/>
                <p:nvPr/>
              </p:nvSpPr>
              <p:spPr>
                <a:xfrm>
                  <a:off x="6323593" y="4291393"/>
                  <a:ext cx="432504" cy="40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𝑥</m:t>
                        </m:r>
                      </m:oMath>
                    </m:oMathPara>
                  </a14:m>
                  <a:endParaRPr lang="zh-TW" altLang="en-US" sz="1400" dirty="0"/>
                </a:p>
              </p:txBody>
            </p:sp>
          </mc:Choice>
          <mc:Fallback xmlns="">
            <p:sp>
              <p:nvSpPr>
                <p:cNvPr id="107" name="文字方塊 106">
                  <a:extLst>
                    <a:ext uri="{FF2B5EF4-FFF2-40B4-BE49-F238E27FC236}">
                      <a16:creationId xmlns:a16="http://schemas.microsoft.com/office/drawing/2014/main" id="{862642C8-037F-492F-85F5-9D16E07B87CF}"/>
                    </a:ext>
                  </a:extLst>
                </p:cNvPr>
                <p:cNvSpPr txBox="1">
                  <a:spLocks noRot="1" noChangeAspect="1" noMove="1" noResize="1" noEditPoints="1" noAdjustHandles="1" noChangeArrowheads="1" noChangeShapeType="1" noTextEdit="1"/>
                </p:cNvSpPr>
                <p:nvPr/>
              </p:nvSpPr>
              <p:spPr>
                <a:xfrm>
                  <a:off x="6323593" y="4291393"/>
                  <a:ext cx="432504" cy="407863"/>
                </a:xfrm>
                <a:prstGeom prst="rect">
                  <a:avLst/>
                </a:prstGeom>
                <a:blipFill>
                  <a:blip r:embed="rId20"/>
                  <a:stretch>
                    <a:fillRect/>
                  </a:stretch>
                </a:blipFill>
              </p:spPr>
              <p:txBody>
                <a:bodyPr/>
                <a:lstStyle/>
                <a:p>
                  <a:r>
                    <a:rPr lang="zh-TW" altLang="en-US">
                      <a:noFill/>
                    </a:rPr>
                    <a:t> </a:t>
                  </a:r>
                </a:p>
              </p:txBody>
            </p:sp>
          </mc:Fallback>
        </mc:AlternateContent>
      </p:grpSp>
      <p:sp>
        <p:nvSpPr>
          <p:cNvPr id="3" name="投影片編號版面配置區 2">
            <a:extLst>
              <a:ext uri="{FF2B5EF4-FFF2-40B4-BE49-F238E27FC236}">
                <a16:creationId xmlns:a16="http://schemas.microsoft.com/office/drawing/2014/main" id="{9612B582-79E3-43CC-91D5-C87FB9420FE9}"/>
              </a:ext>
            </a:extLst>
          </p:cNvPr>
          <p:cNvSpPr>
            <a:spLocks noGrp="1"/>
          </p:cNvSpPr>
          <p:nvPr>
            <p:ph type="sldNum" sz="quarter" idx="12"/>
          </p:nvPr>
        </p:nvSpPr>
        <p:spPr/>
        <p:txBody>
          <a:bodyPr/>
          <a:lstStyle/>
          <a:p>
            <a:fld id="{9044CBB6-E20C-4076-82F9-F8F95241C54D}" type="slidenum">
              <a:rPr lang="zh-TW" altLang="en-US" smtClean="0">
                <a:solidFill>
                  <a:schemeClr val="tx1"/>
                </a:solidFill>
              </a:rPr>
              <a:t>13</a:t>
            </a:fld>
            <a:endParaRPr lang="zh-TW" altLang="en-US">
              <a:solidFill>
                <a:schemeClr val="tx1"/>
              </a:solidFill>
            </a:endParaRPr>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294EA989-8602-4FDC-9DA0-C8B60962F9C1}"/>
                  </a:ext>
                </a:extLst>
              </p:cNvPr>
              <p:cNvSpPr txBox="1"/>
              <p:nvPr/>
            </p:nvSpPr>
            <p:spPr>
              <a:xfrm>
                <a:off x="813034" y="741785"/>
                <a:ext cx="2894575" cy="369332"/>
              </a:xfrm>
              <a:prstGeom prst="rect">
                <a:avLst/>
              </a:prstGeom>
              <a:noFill/>
            </p:spPr>
            <p:txBody>
              <a:bodyPr wrap="none" rtlCol="0">
                <a:spAutoFit/>
              </a:bodyPr>
              <a:lstStyle/>
              <a:p>
                <a:pPr marL="285750" indent="-285750">
                  <a:buFont typeface="Arial" panose="020B0604020202020204" pitchFamily="34" charset="0"/>
                  <a:buChar char="•"/>
                </a:pPr>
                <a14:m>
                  <m:oMath xmlns:m="http://schemas.openxmlformats.org/officeDocument/2006/math">
                    <m:acc>
                      <m:accPr>
                        <m:chr m:val="̌"/>
                        <m:ctrlPr>
                          <a:rPr lang="zh-TW" altLang="zh-TW" b="1"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accPr>
                      <m:e>
                        <m:r>
                          <a:rPr lang="en-US" altLang="zh-TW" b="1" i="1">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𝑠</m:t>
                        </m:r>
                      </m:e>
                    </m:acc>
                    <m:r>
                      <a:rPr lang="en-US" altLang="zh-TW" b="1" i="1">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𝑜𝑙𝑐</m:t>
                    </m:r>
                  </m:oMath>
                </a14:m>
                <a:r>
                  <a:rPr lang="en-US" altLang="zh-TW" b="1" i="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type filter in LiNbO</a:t>
                </a:r>
                <a:r>
                  <a:rPr lang="en-US" altLang="zh-TW" b="1" i="1" baseline="-25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a:t>
                </a:r>
                <a:endParaRPr lang="zh-TW" altLang="en-US" b="1" i="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44" name="文字方塊 43">
                <a:extLst>
                  <a:ext uri="{FF2B5EF4-FFF2-40B4-BE49-F238E27FC236}">
                    <a16:creationId xmlns:a16="http://schemas.microsoft.com/office/drawing/2014/main" id="{294EA989-8602-4FDC-9DA0-C8B60962F9C1}"/>
                  </a:ext>
                </a:extLst>
              </p:cNvPr>
              <p:cNvSpPr txBox="1">
                <a:spLocks noRot="1" noChangeAspect="1" noMove="1" noResize="1" noEditPoints="1" noAdjustHandles="1" noChangeArrowheads="1" noChangeShapeType="1" noTextEdit="1"/>
              </p:cNvSpPr>
              <p:nvPr/>
            </p:nvSpPr>
            <p:spPr>
              <a:xfrm>
                <a:off x="813034" y="741785"/>
                <a:ext cx="2894575" cy="369332"/>
              </a:xfrm>
              <a:prstGeom prst="rect">
                <a:avLst/>
              </a:prstGeom>
              <a:blipFill>
                <a:blip r:embed="rId21"/>
                <a:stretch>
                  <a:fillRect l="-1263" t="-10000" b="-26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08029981"/>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群組 92">
            <a:extLst>
              <a:ext uri="{FF2B5EF4-FFF2-40B4-BE49-F238E27FC236}">
                <a16:creationId xmlns:a16="http://schemas.microsoft.com/office/drawing/2014/main" id="{DD9B7201-E728-4A18-8887-790D4B711873}"/>
              </a:ext>
            </a:extLst>
          </p:cNvPr>
          <p:cNvGrpSpPr/>
          <p:nvPr/>
        </p:nvGrpSpPr>
        <p:grpSpPr>
          <a:xfrm>
            <a:off x="8759325" y="606630"/>
            <a:ext cx="2715971" cy="2822370"/>
            <a:chOff x="8590286" y="1552489"/>
            <a:chExt cx="3390481" cy="3523304"/>
          </a:xfrm>
        </p:grpSpPr>
        <p:pic>
          <p:nvPicPr>
            <p:cNvPr id="83" name="圖片 82">
              <a:extLst>
                <a:ext uri="{FF2B5EF4-FFF2-40B4-BE49-F238E27FC236}">
                  <a16:creationId xmlns:a16="http://schemas.microsoft.com/office/drawing/2014/main" id="{278F4F50-9E32-4C78-BF8A-3ABC44BA24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0286" y="1552489"/>
              <a:ext cx="3390481" cy="3523304"/>
            </a:xfrm>
            <a:prstGeom prst="rect">
              <a:avLst/>
            </a:prstGeom>
          </p:spPr>
        </p:pic>
        <p:cxnSp>
          <p:nvCxnSpPr>
            <p:cNvPr id="90" name="直線單箭頭接點 89">
              <a:extLst>
                <a:ext uri="{FF2B5EF4-FFF2-40B4-BE49-F238E27FC236}">
                  <a16:creationId xmlns:a16="http://schemas.microsoft.com/office/drawing/2014/main" id="{1A1DCEBB-23EE-4418-BF25-482D529CAC80}"/>
                </a:ext>
              </a:extLst>
            </p:cNvPr>
            <p:cNvCxnSpPr/>
            <p:nvPr/>
          </p:nvCxnSpPr>
          <p:spPr>
            <a:xfrm>
              <a:off x="10766150" y="3879991"/>
              <a:ext cx="2042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a:extLst>
                <a:ext uri="{FF2B5EF4-FFF2-40B4-BE49-F238E27FC236}">
                  <a16:creationId xmlns:a16="http://schemas.microsoft.com/office/drawing/2014/main" id="{B64EBADA-65B7-4F32-93AE-45A6DD198F87}"/>
                </a:ext>
              </a:extLst>
            </p:cNvPr>
            <p:cNvCxnSpPr/>
            <p:nvPr/>
          </p:nvCxnSpPr>
          <p:spPr>
            <a:xfrm flipH="1">
              <a:off x="11072548" y="3879991"/>
              <a:ext cx="20436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文字方塊 91">
                  <a:extLst>
                    <a:ext uri="{FF2B5EF4-FFF2-40B4-BE49-F238E27FC236}">
                      <a16:creationId xmlns:a16="http://schemas.microsoft.com/office/drawing/2014/main" id="{727D49F8-263A-4804-9C6A-F229352F510F}"/>
                    </a:ext>
                  </a:extLst>
                </p:cNvPr>
                <p:cNvSpPr txBox="1"/>
                <p:nvPr/>
              </p:nvSpPr>
              <p:spPr>
                <a:xfrm>
                  <a:off x="10857146" y="3440589"/>
                  <a:ext cx="374013" cy="2682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1600" b="1" i="1" smtClean="0">
                            <a:latin typeface="Cambria Math" panose="02040503050406030204" pitchFamily="18" charset="0"/>
                          </a:rPr>
                          <m:t>∆</m:t>
                        </m:r>
                        <m:sSub>
                          <m:sSubPr>
                            <m:ctrlPr>
                              <a:rPr lang="en-US" altLang="zh-TW" sz="1600" b="1" i="1" smtClean="0">
                                <a:latin typeface="Cambria Math" panose="02040503050406030204" pitchFamily="18" charset="0"/>
                              </a:rPr>
                            </m:ctrlPr>
                          </m:sSubPr>
                          <m:e>
                            <m:r>
                              <a:rPr lang="zh-TW" altLang="en-US" sz="1600" b="1" i="1" smtClean="0">
                                <a:latin typeface="Cambria Math" panose="02040503050406030204" pitchFamily="18" charset="0"/>
                              </a:rPr>
                              <m:t>𝝉</m:t>
                            </m:r>
                          </m:e>
                          <m:sub>
                            <m:r>
                              <a:rPr lang="en-US" altLang="zh-TW" sz="1600" b="1" i="1" smtClean="0">
                                <a:latin typeface="Cambria Math" panose="02040503050406030204" pitchFamily="18" charset="0"/>
                              </a:rPr>
                              <m:t>𝒑</m:t>
                            </m:r>
                          </m:sub>
                        </m:sSub>
                      </m:oMath>
                    </m:oMathPara>
                  </a14:m>
                  <a:endParaRPr lang="zh-TW" altLang="en-US" sz="1600" b="1" dirty="0"/>
                </a:p>
              </p:txBody>
            </p:sp>
          </mc:Choice>
          <mc:Fallback xmlns="">
            <p:sp>
              <p:nvSpPr>
                <p:cNvPr id="92" name="文字方塊 91">
                  <a:extLst>
                    <a:ext uri="{FF2B5EF4-FFF2-40B4-BE49-F238E27FC236}">
                      <a16:creationId xmlns:a16="http://schemas.microsoft.com/office/drawing/2014/main" id="{727D49F8-263A-4804-9C6A-F229352F510F}"/>
                    </a:ext>
                  </a:extLst>
                </p:cNvPr>
                <p:cNvSpPr txBox="1">
                  <a:spLocks noRot="1" noChangeAspect="1" noMove="1" noResize="1" noEditPoints="1" noAdjustHandles="1" noChangeArrowheads="1" noChangeShapeType="1" noTextEdit="1"/>
                </p:cNvSpPr>
                <p:nvPr/>
              </p:nvSpPr>
              <p:spPr>
                <a:xfrm>
                  <a:off x="10857146" y="3440589"/>
                  <a:ext cx="374013" cy="268279"/>
                </a:xfrm>
                <a:prstGeom prst="rect">
                  <a:avLst/>
                </a:prstGeom>
                <a:blipFill>
                  <a:blip r:embed="rId5"/>
                  <a:stretch>
                    <a:fillRect l="-11290" r="-4839" b="-20455"/>
                  </a:stretch>
                </a:blipFill>
              </p:spPr>
              <p:txBody>
                <a:bodyPr/>
                <a:lstStyle/>
                <a:p>
                  <a:r>
                    <a:rPr lang="zh-TW" altLang="en-US">
                      <a:noFill/>
                    </a:rPr>
                    <a:t> </a:t>
                  </a:r>
                </a:p>
              </p:txBody>
            </p:sp>
          </mc:Fallback>
        </mc:AlternateContent>
      </p:grpSp>
      <p:grpSp>
        <p:nvGrpSpPr>
          <p:cNvPr id="68" name="群組 67">
            <a:extLst>
              <a:ext uri="{FF2B5EF4-FFF2-40B4-BE49-F238E27FC236}">
                <a16:creationId xmlns:a16="http://schemas.microsoft.com/office/drawing/2014/main" id="{18EB7C40-24D8-4511-BCD2-54B5CBA8CD39}"/>
              </a:ext>
            </a:extLst>
          </p:cNvPr>
          <p:cNvGrpSpPr/>
          <p:nvPr/>
        </p:nvGrpSpPr>
        <p:grpSpPr>
          <a:xfrm>
            <a:off x="637470" y="913403"/>
            <a:ext cx="690497" cy="4040579"/>
            <a:chOff x="6144190" y="3829206"/>
            <a:chExt cx="690497" cy="1217742"/>
          </a:xfrm>
        </p:grpSpPr>
        <p:sp>
          <p:nvSpPr>
            <p:cNvPr id="69" name="矩形 68">
              <a:extLst>
                <a:ext uri="{FF2B5EF4-FFF2-40B4-BE49-F238E27FC236}">
                  <a16:creationId xmlns:a16="http://schemas.microsoft.com/office/drawing/2014/main" id="{0E729F41-A5E9-41E5-B624-4C6EEB910A93}"/>
                </a:ext>
              </a:extLst>
            </p:cNvPr>
            <p:cNvSpPr/>
            <p:nvPr/>
          </p:nvSpPr>
          <p:spPr>
            <a:xfrm>
              <a:off x="6144190" y="3829206"/>
              <a:ext cx="422167" cy="1174767"/>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0" name="橢圓 69">
              <a:extLst>
                <a:ext uri="{FF2B5EF4-FFF2-40B4-BE49-F238E27FC236}">
                  <a16:creationId xmlns:a16="http://schemas.microsoft.com/office/drawing/2014/main" id="{288B3615-C6E0-44F4-ACAD-85585F608850}"/>
                </a:ext>
              </a:extLst>
            </p:cNvPr>
            <p:cNvSpPr/>
            <p:nvPr/>
          </p:nvSpPr>
          <p:spPr>
            <a:xfrm>
              <a:off x="6319117" y="3831976"/>
              <a:ext cx="486938" cy="119417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1" name="橢圓 70">
              <a:extLst>
                <a:ext uri="{FF2B5EF4-FFF2-40B4-BE49-F238E27FC236}">
                  <a16:creationId xmlns:a16="http://schemas.microsoft.com/office/drawing/2014/main" id="{73946342-4EC2-4830-B4EC-437893202205}"/>
                </a:ext>
              </a:extLst>
            </p:cNvPr>
            <p:cNvSpPr/>
            <p:nvPr/>
          </p:nvSpPr>
          <p:spPr>
            <a:xfrm>
              <a:off x="6347749" y="3829206"/>
              <a:ext cx="486938" cy="12177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2492990" cy="646331"/>
          </a:xfrm>
          <a:prstGeom prst="rect">
            <a:avLst/>
          </a:prstGeom>
          <a:noFill/>
        </p:spPr>
        <p:txBody>
          <a:bodyPr wrap="none" rtlCol="0">
            <a:spAutoFit/>
          </a:bodyPr>
          <a:lstStyle/>
          <a:p>
            <a:r>
              <a:rPr lang="en-US" altLang="zh-TW" sz="3600" b="1" i="1" kern="100" dirty="0">
                <a:latin typeface="Times New Roman" panose="02020603050405020304" pitchFamily="18" charset="0"/>
                <a:ea typeface="標楷體" panose="03000509000000000000" pitchFamily="65" charset="-120"/>
                <a:cs typeface="Times New Roman" panose="02020603050405020304" pitchFamily="18" charset="0"/>
              </a:rPr>
              <a:t>Q-switching</a:t>
            </a:r>
            <a:endParaRPr lang="zh-TW" altLang="zh-TW" sz="2800" kern="1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5" name="直線接點 14">
            <a:extLst>
              <a:ext uri="{FF2B5EF4-FFF2-40B4-BE49-F238E27FC236}">
                <a16:creationId xmlns:a16="http://schemas.microsoft.com/office/drawing/2014/main" id="{DC91708A-E240-43F6-990D-6D79075486A4}"/>
              </a:ext>
            </a:extLst>
          </p:cNvPr>
          <p:cNvCxnSpPr/>
          <p:nvPr/>
        </p:nvCxnSpPr>
        <p:spPr>
          <a:xfrm>
            <a:off x="1708040" y="4905377"/>
            <a:ext cx="29740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113E8C6C-DE39-4142-AF35-4319F694ED2F}"/>
              </a:ext>
            </a:extLst>
          </p:cNvPr>
          <p:cNvCxnSpPr>
            <a:cxnSpLocks/>
          </p:cNvCxnSpPr>
          <p:nvPr/>
        </p:nvCxnSpPr>
        <p:spPr>
          <a:xfrm>
            <a:off x="3861012" y="3152766"/>
            <a:ext cx="136586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34AB51CB-314F-4F9C-9074-1E0751F1B64F}"/>
              </a:ext>
            </a:extLst>
          </p:cNvPr>
          <p:cNvCxnSpPr>
            <a:cxnSpLocks/>
          </p:cNvCxnSpPr>
          <p:nvPr/>
        </p:nvCxnSpPr>
        <p:spPr>
          <a:xfrm>
            <a:off x="2863511" y="2291364"/>
            <a:ext cx="182807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45DEE236-74F9-4755-87B0-48430568198B}"/>
              </a:ext>
            </a:extLst>
          </p:cNvPr>
          <p:cNvSpPr/>
          <p:nvPr/>
        </p:nvSpPr>
        <p:spPr>
          <a:xfrm>
            <a:off x="1708040" y="884677"/>
            <a:ext cx="2974020" cy="15236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箭號: 向上 20">
            <a:extLst>
              <a:ext uri="{FF2B5EF4-FFF2-40B4-BE49-F238E27FC236}">
                <a16:creationId xmlns:a16="http://schemas.microsoft.com/office/drawing/2014/main" id="{E3B5E1F5-59B9-4D89-8BD6-00042555A874}"/>
              </a:ext>
            </a:extLst>
          </p:cNvPr>
          <p:cNvSpPr/>
          <p:nvPr/>
        </p:nvSpPr>
        <p:spPr>
          <a:xfrm>
            <a:off x="2176573" y="1401602"/>
            <a:ext cx="295275" cy="2566476"/>
          </a:xfrm>
          <a:prstGeom prst="up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箭號: 向上 23">
            <a:extLst>
              <a:ext uri="{FF2B5EF4-FFF2-40B4-BE49-F238E27FC236}">
                <a16:creationId xmlns:a16="http://schemas.microsoft.com/office/drawing/2014/main" id="{0309F8B9-4118-4905-828C-47313A413B80}"/>
              </a:ext>
            </a:extLst>
          </p:cNvPr>
          <p:cNvSpPr/>
          <p:nvPr/>
        </p:nvSpPr>
        <p:spPr>
          <a:xfrm rot="8129682">
            <a:off x="3364742" y="1031430"/>
            <a:ext cx="295275" cy="487476"/>
          </a:xfrm>
          <a:prstGeom prst="upArrow">
            <a:avLst/>
          </a:prstGeom>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箭號: 向上 24">
            <a:extLst>
              <a:ext uri="{FF2B5EF4-FFF2-40B4-BE49-F238E27FC236}">
                <a16:creationId xmlns:a16="http://schemas.microsoft.com/office/drawing/2014/main" id="{296F62CD-888A-4641-996B-94EDA7CD8E32}"/>
              </a:ext>
            </a:extLst>
          </p:cNvPr>
          <p:cNvSpPr/>
          <p:nvPr/>
        </p:nvSpPr>
        <p:spPr>
          <a:xfrm rot="10800000">
            <a:off x="2922150" y="2368277"/>
            <a:ext cx="78441" cy="1164827"/>
          </a:xfrm>
          <a:prstGeom prst="upArrow">
            <a:avLst/>
          </a:prstGeom>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a:extLst>
              <a:ext uri="{FF2B5EF4-FFF2-40B4-BE49-F238E27FC236}">
                <a16:creationId xmlns:a16="http://schemas.microsoft.com/office/drawing/2014/main" id="{F366E746-CBCB-4F2E-81EE-BA178942FAD6}"/>
              </a:ext>
            </a:extLst>
          </p:cNvPr>
          <p:cNvSpPr txBox="1"/>
          <p:nvPr/>
        </p:nvSpPr>
        <p:spPr>
          <a:xfrm>
            <a:off x="3772785" y="1187347"/>
            <a:ext cx="949299" cy="307777"/>
          </a:xfrm>
          <a:prstGeom prst="rect">
            <a:avLst/>
          </a:prstGeom>
          <a:noFill/>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Fast decay</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文字方塊 29">
            <a:extLst>
              <a:ext uri="{FF2B5EF4-FFF2-40B4-BE49-F238E27FC236}">
                <a16:creationId xmlns:a16="http://schemas.microsoft.com/office/drawing/2014/main" id="{6F3DF6F4-8B6D-4CDE-AC7C-C412CCEAD9DC}"/>
              </a:ext>
            </a:extLst>
          </p:cNvPr>
          <p:cNvSpPr txBox="1"/>
          <p:nvPr/>
        </p:nvSpPr>
        <p:spPr>
          <a:xfrm>
            <a:off x="4640551" y="4638402"/>
            <a:ext cx="889987"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Ground</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文字方塊 33">
            <a:extLst>
              <a:ext uri="{FF2B5EF4-FFF2-40B4-BE49-F238E27FC236}">
                <a16:creationId xmlns:a16="http://schemas.microsoft.com/office/drawing/2014/main" id="{87205B43-B8EC-49C7-9C13-35AC54BD393E}"/>
              </a:ext>
            </a:extLst>
          </p:cNvPr>
          <p:cNvSpPr txBox="1"/>
          <p:nvPr/>
        </p:nvSpPr>
        <p:spPr>
          <a:xfrm rot="16200000">
            <a:off x="1290753" y="2528446"/>
            <a:ext cx="1422184"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808nm Pump</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a:extLst>
              <a:ext uri="{FF2B5EF4-FFF2-40B4-BE49-F238E27FC236}">
                <a16:creationId xmlns:a16="http://schemas.microsoft.com/office/drawing/2014/main" id="{F1B5671A-D682-49C4-AC46-23204DD63221}"/>
              </a:ext>
            </a:extLst>
          </p:cNvPr>
          <p:cNvSpPr/>
          <p:nvPr/>
        </p:nvSpPr>
        <p:spPr>
          <a:xfrm>
            <a:off x="4696120" y="2075453"/>
            <a:ext cx="587020" cy="369332"/>
          </a:xfrm>
          <a:prstGeom prst="rect">
            <a:avLst/>
          </a:prstGeom>
        </p:spPr>
        <p:txBody>
          <a:bodyPr wrap="none">
            <a:spAutoFit/>
          </a:bodyPr>
          <a:lstStyle/>
          <a:p>
            <a:r>
              <a:rPr lang="en-US" altLang="zh-TW" baseline="30000" dirty="0">
                <a:latin typeface="Times New Roman" panose="02020603050405020304" pitchFamily="18" charset="0"/>
                <a:ea typeface="標楷體" panose="03000509000000000000" pitchFamily="65" charset="-120"/>
              </a:rPr>
              <a:t>4</a:t>
            </a:r>
            <a:r>
              <a:rPr lang="en-US" altLang="zh-TW" dirty="0">
                <a:latin typeface="Times New Roman" panose="02020603050405020304" pitchFamily="18" charset="0"/>
                <a:ea typeface="標楷體" panose="03000509000000000000" pitchFamily="65" charset="-120"/>
              </a:rPr>
              <a:t>F</a:t>
            </a:r>
            <a:r>
              <a:rPr lang="en-US" altLang="zh-TW" baseline="-25000" dirty="0">
                <a:latin typeface="Times New Roman" panose="02020603050405020304" pitchFamily="18" charset="0"/>
                <a:ea typeface="標楷體" panose="03000509000000000000" pitchFamily="65" charset="-120"/>
              </a:rPr>
              <a:t>3/2</a:t>
            </a:r>
            <a:endParaRPr lang="zh-TW" altLang="en-US" dirty="0"/>
          </a:p>
        </p:txBody>
      </p:sp>
      <p:cxnSp>
        <p:nvCxnSpPr>
          <p:cNvPr id="36" name="直線接點 35">
            <a:extLst>
              <a:ext uri="{FF2B5EF4-FFF2-40B4-BE49-F238E27FC236}">
                <a16:creationId xmlns:a16="http://schemas.microsoft.com/office/drawing/2014/main" id="{6C032271-2ABB-4E14-A461-938679A69CA3}"/>
              </a:ext>
            </a:extLst>
          </p:cNvPr>
          <p:cNvCxnSpPr>
            <a:cxnSpLocks/>
          </p:cNvCxnSpPr>
          <p:nvPr/>
        </p:nvCxnSpPr>
        <p:spPr>
          <a:xfrm>
            <a:off x="2863511" y="3832802"/>
            <a:ext cx="18185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12C32298-59A6-417A-8C43-B2F026C5D6AC}"/>
              </a:ext>
            </a:extLst>
          </p:cNvPr>
          <p:cNvSpPr txBox="1"/>
          <p:nvPr/>
        </p:nvSpPr>
        <p:spPr>
          <a:xfrm>
            <a:off x="4682059" y="776486"/>
            <a:ext cx="1328568" cy="369332"/>
          </a:xfrm>
          <a:prstGeom prst="rect">
            <a:avLst/>
          </a:prstGeom>
          <a:noFill/>
        </p:spPr>
        <p:txBody>
          <a:bodyPr wrap="squar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Pump band</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A9DEF2F6-2472-4FE8-9BC4-303226637672}"/>
              </a:ext>
            </a:extLst>
          </p:cNvPr>
          <p:cNvSpPr txBox="1"/>
          <p:nvPr/>
        </p:nvSpPr>
        <p:spPr>
          <a:xfrm rot="16200000">
            <a:off x="2311877" y="2755210"/>
            <a:ext cx="958917"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1064nm</a:t>
            </a:r>
            <a:endParaRPr lang="zh-TW" altLang="en-US" dirty="0">
              <a:latin typeface="Times New Roman" panose="02020603050405020304" pitchFamily="18" charset="0"/>
              <a:cs typeface="Times New Roman" panose="02020603050405020304" pitchFamily="18" charset="0"/>
            </a:endParaRPr>
          </a:p>
        </p:txBody>
      </p:sp>
      <p:sp>
        <p:nvSpPr>
          <p:cNvPr id="40" name="橢圓 39">
            <a:extLst>
              <a:ext uri="{FF2B5EF4-FFF2-40B4-BE49-F238E27FC236}">
                <a16:creationId xmlns:a16="http://schemas.microsoft.com/office/drawing/2014/main" id="{871F3C38-1765-4DBC-B70E-38DCE3E44390}"/>
              </a:ext>
            </a:extLst>
          </p:cNvPr>
          <p:cNvSpPr/>
          <p:nvPr/>
        </p:nvSpPr>
        <p:spPr>
          <a:xfrm>
            <a:off x="3140006" y="3574729"/>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41" name="手繪多邊形: 圖案 40">
            <a:extLst>
              <a:ext uri="{FF2B5EF4-FFF2-40B4-BE49-F238E27FC236}">
                <a16:creationId xmlns:a16="http://schemas.microsoft.com/office/drawing/2014/main" id="{09BA6859-D87D-4ADA-AA95-8F4FF227137A}"/>
              </a:ext>
            </a:extLst>
          </p:cNvPr>
          <p:cNvSpPr/>
          <p:nvPr/>
        </p:nvSpPr>
        <p:spPr>
          <a:xfrm>
            <a:off x="3387663" y="3607853"/>
            <a:ext cx="963930" cy="165630"/>
          </a:xfrm>
          <a:custGeom>
            <a:avLst/>
            <a:gdLst>
              <a:gd name="connsiteX0" fmla="*/ 0 w 963930"/>
              <a:gd name="connsiteY0" fmla="*/ 72422 h 165630"/>
              <a:gd name="connsiteX1" fmla="*/ 152400 w 963930"/>
              <a:gd name="connsiteY1" fmla="*/ 163862 h 165630"/>
              <a:gd name="connsiteX2" fmla="*/ 240030 w 963930"/>
              <a:gd name="connsiteY2" fmla="*/ 32 h 165630"/>
              <a:gd name="connsiteX3" fmla="*/ 365760 w 963930"/>
              <a:gd name="connsiteY3" fmla="*/ 148622 h 165630"/>
              <a:gd name="connsiteX4" fmla="*/ 487680 w 963930"/>
              <a:gd name="connsiteY4" fmla="*/ 26702 h 165630"/>
              <a:gd name="connsiteX5" fmla="*/ 670560 w 963930"/>
              <a:gd name="connsiteY5" fmla="*/ 125762 h 165630"/>
              <a:gd name="connsiteX6" fmla="*/ 963930 w 963930"/>
              <a:gd name="connsiteY6" fmla="*/ 121952 h 165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3930" h="165630">
                <a:moveTo>
                  <a:pt x="0" y="72422"/>
                </a:moveTo>
                <a:cubicBezTo>
                  <a:pt x="56197" y="124174"/>
                  <a:pt x="112395" y="175927"/>
                  <a:pt x="152400" y="163862"/>
                </a:cubicBezTo>
                <a:cubicBezTo>
                  <a:pt x="192405" y="151797"/>
                  <a:pt x="204470" y="2572"/>
                  <a:pt x="240030" y="32"/>
                </a:cubicBezTo>
                <a:cubicBezTo>
                  <a:pt x="275590" y="-2508"/>
                  <a:pt x="324485" y="144177"/>
                  <a:pt x="365760" y="148622"/>
                </a:cubicBezTo>
                <a:cubicBezTo>
                  <a:pt x="407035" y="153067"/>
                  <a:pt x="436880" y="30512"/>
                  <a:pt x="487680" y="26702"/>
                </a:cubicBezTo>
                <a:cubicBezTo>
                  <a:pt x="538480" y="22892"/>
                  <a:pt x="591185" y="109887"/>
                  <a:pt x="670560" y="125762"/>
                </a:cubicBezTo>
                <a:cubicBezTo>
                  <a:pt x="749935" y="141637"/>
                  <a:pt x="856932" y="131794"/>
                  <a:pt x="963930" y="121952"/>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手繪多邊形: 圖案 44">
            <a:extLst>
              <a:ext uri="{FF2B5EF4-FFF2-40B4-BE49-F238E27FC236}">
                <a16:creationId xmlns:a16="http://schemas.microsoft.com/office/drawing/2014/main" id="{FA75AEBE-A34B-4745-94B3-EEBE19258523}"/>
              </a:ext>
            </a:extLst>
          </p:cNvPr>
          <p:cNvSpPr/>
          <p:nvPr/>
        </p:nvSpPr>
        <p:spPr>
          <a:xfrm>
            <a:off x="4319210" y="2941004"/>
            <a:ext cx="963930" cy="165630"/>
          </a:xfrm>
          <a:custGeom>
            <a:avLst/>
            <a:gdLst>
              <a:gd name="connsiteX0" fmla="*/ 0 w 963930"/>
              <a:gd name="connsiteY0" fmla="*/ 72422 h 165630"/>
              <a:gd name="connsiteX1" fmla="*/ 152400 w 963930"/>
              <a:gd name="connsiteY1" fmla="*/ 163862 h 165630"/>
              <a:gd name="connsiteX2" fmla="*/ 240030 w 963930"/>
              <a:gd name="connsiteY2" fmla="*/ 32 h 165630"/>
              <a:gd name="connsiteX3" fmla="*/ 365760 w 963930"/>
              <a:gd name="connsiteY3" fmla="*/ 148622 h 165630"/>
              <a:gd name="connsiteX4" fmla="*/ 487680 w 963930"/>
              <a:gd name="connsiteY4" fmla="*/ 26702 h 165630"/>
              <a:gd name="connsiteX5" fmla="*/ 670560 w 963930"/>
              <a:gd name="connsiteY5" fmla="*/ 125762 h 165630"/>
              <a:gd name="connsiteX6" fmla="*/ 963930 w 963930"/>
              <a:gd name="connsiteY6" fmla="*/ 121952 h 165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3930" h="165630">
                <a:moveTo>
                  <a:pt x="0" y="72422"/>
                </a:moveTo>
                <a:cubicBezTo>
                  <a:pt x="56197" y="124174"/>
                  <a:pt x="112395" y="175927"/>
                  <a:pt x="152400" y="163862"/>
                </a:cubicBezTo>
                <a:cubicBezTo>
                  <a:pt x="192405" y="151797"/>
                  <a:pt x="204470" y="2572"/>
                  <a:pt x="240030" y="32"/>
                </a:cubicBezTo>
                <a:cubicBezTo>
                  <a:pt x="275590" y="-2508"/>
                  <a:pt x="324485" y="144177"/>
                  <a:pt x="365760" y="148622"/>
                </a:cubicBezTo>
                <a:cubicBezTo>
                  <a:pt x="407035" y="153067"/>
                  <a:pt x="436880" y="30512"/>
                  <a:pt x="487680" y="26702"/>
                </a:cubicBezTo>
                <a:cubicBezTo>
                  <a:pt x="538480" y="22892"/>
                  <a:pt x="591185" y="109887"/>
                  <a:pt x="670560" y="125762"/>
                </a:cubicBezTo>
                <a:cubicBezTo>
                  <a:pt x="749935" y="141637"/>
                  <a:pt x="856932" y="131794"/>
                  <a:pt x="963930" y="121952"/>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橢圓 45">
            <a:extLst>
              <a:ext uri="{FF2B5EF4-FFF2-40B4-BE49-F238E27FC236}">
                <a16:creationId xmlns:a16="http://schemas.microsoft.com/office/drawing/2014/main" id="{10F5DAEF-94AA-4DFF-84A1-F0D45E0E9FE6}"/>
              </a:ext>
            </a:extLst>
          </p:cNvPr>
          <p:cNvSpPr/>
          <p:nvPr/>
        </p:nvSpPr>
        <p:spPr>
          <a:xfrm>
            <a:off x="4074324" y="2891318"/>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42" name="矩形 41">
            <a:extLst>
              <a:ext uri="{FF2B5EF4-FFF2-40B4-BE49-F238E27FC236}">
                <a16:creationId xmlns:a16="http://schemas.microsoft.com/office/drawing/2014/main" id="{352E0E0E-136D-487D-AC3C-4F4CD4DA01EA}"/>
              </a:ext>
            </a:extLst>
          </p:cNvPr>
          <p:cNvSpPr/>
          <p:nvPr/>
        </p:nvSpPr>
        <p:spPr>
          <a:xfrm>
            <a:off x="4596460" y="3616210"/>
            <a:ext cx="658257" cy="369332"/>
          </a:xfrm>
          <a:prstGeom prst="rect">
            <a:avLst/>
          </a:prstGeom>
        </p:spPr>
        <p:txBody>
          <a:bodyPr wrap="none">
            <a:spAutoFit/>
          </a:bodyPr>
          <a:lstStyle/>
          <a:p>
            <a:r>
              <a:rPr lang="en-US" altLang="zh-TW" baseline="30000" dirty="0">
                <a:latin typeface="Times New Roman" panose="02020603050405020304" pitchFamily="18" charset="0"/>
                <a:ea typeface="標楷體" panose="03000509000000000000" pitchFamily="65" charset="-120"/>
              </a:rPr>
              <a:t>4</a:t>
            </a:r>
            <a:r>
              <a:rPr lang="en-US" altLang="zh-TW" dirty="0">
                <a:latin typeface="Times New Roman" panose="02020603050405020304" pitchFamily="18" charset="0"/>
                <a:ea typeface="標楷體" panose="03000509000000000000" pitchFamily="65" charset="-120"/>
              </a:rPr>
              <a:t>F</a:t>
            </a:r>
            <a:r>
              <a:rPr lang="en-US" altLang="zh-TW" baseline="-25000" dirty="0">
                <a:latin typeface="Times New Roman" panose="02020603050405020304" pitchFamily="18" charset="0"/>
                <a:ea typeface="標楷體" panose="03000509000000000000" pitchFamily="65" charset="-120"/>
              </a:rPr>
              <a:t>11/2</a:t>
            </a:r>
            <a:endParaRPr lang="zh-TW" altLang="en-US" dirty="0"/>
          </a:p>
        </p:txBody>
      </p:sp>
      <p:sp>
        <p:nvSpPr>
          <p:cNvPr id="43" name="矩形 42">
            <a:extLst>
              <a:ext uri="{FF2B5EF4-FFF2-40B4-BE49-F238E27FC236}">
                <a16:creationId xmlns:a16="http://schemas.microsoft.com/office/drawing/2014/main" id="{568B7CBC-0E8C-4E40-8F67-1B0D0AAACDC0}"/>
              </a:ext>
            </a:extLst>
          </p:cNvPr>
          <p:cNvSpPr/>
          <p:nvPr/>
        </p:nvSpPr>
        <p:spPr>
          <a:xfrm>
            <a:off x="5196044" y="2939876"/>
            <a:ext cx="663964" cy="369332"/>
          </a:xfrm>
          <a:prstGeom prst="rect">
            <a:avLst/>
          </a:prstGeom>
        </p:spPr>
        <p:txBody>
          <a:bodyPr wrap="none">
            <a:spAutoFit/>
          </a:bodyPr>
          <a:lstStyle/>
          <a:p>
            <a:r>
              <a:rPr lang="en-US" altLang="zh-TW" baseline="30000" dirty="0">
                <a:latin typeface="Times New Roman" panose="02020603050405020304" pitchFamily="18" charset="0"/>
                <a:ea typeface="標楷體" panose="03000509000000000000" pitchFamily="65" charset="-120"/>
              </a:rPr>
              <a:t>4</a:t>
            </a:r>
            <a:r>
              <a:rPr lang="en-US" altLang="zh-TW" dirty="0">
                <a:latin typeface="Times New Roman" panose="02020603050405020304" pitchFamily="18" charset="0"/>
                <a:ea typeface="標楷體" panose="03000509000000000000" pitchFamily="65" charset="-120"/>
              </a:rPr>
              <a:t>F</a:t>
            </a:r>
            <a:r>
              <a:rPr lang="en-US" altLang="zh-TW" baseline="-25000" dirty="0">
                <a:latin typeface="Times New Roman" panose="02020603050405020304" pitchFamily="18" charset="0"/>
                <a:ea typeface="標楷體" panose="03000509000000000000" pitchFamily="65" charset="-120"/>
              </a:rPr>
              <a:t>13/2</a:t>
            </a:r>
            <a:endParaRPr lang="zh-TW" altLang="en-US" dirty="0"/>
          </a:p>
        </p:txBody>
      </p:sp>
      <p:sp>
        <p:nvSpPr>
          <p:cNvPr id="52" name="箭號: 向上 51">
            <a:extLst>
              <a:ext uri="{FF2B5EF4-FFF2-40B4-BE49-F238E27FC236}">
                <a16:creationId xmlns:a16="http://schemas.microsoft.com/office/drawing/2014/main" id="{505AC25D-B2A7-48F6-A2FC-AE9036723FEB}"/>
              </a:ext>
            </a:extLst>
          </p:cNvPr>
          <p:cNvSpPr/>
          <p:nvPr/>
        </p:nvSpPr>
        <p:spPr>
          <a:xfrm rot="10800000">
            <a:off x="3917330" y="2311301"/>
            <a:ext cx="78441" cy="807787"/>
          </a:xfrm>
          <a:prstGeom prst="upArrow">
            <a:avLst/>
          </a:prstGeom>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文字方塊 52">
            <a:extLst>
              <a:ext uri="{FF2B5EF4-FFF2-40B4-BE49-F238E27FC236}">
                <a16:creationId xmlns:a16="http://schemas.microsoft.com/office/drawing/2014/main" id="{F0867131-0766-42A4-A70B-2717FD55E9D5}"/>
              </a:ext>
            </a:extLst>
          </p:cNvPr>
          <p:cNvSpPr txBox="1"/>
          <p:nvPr/>
        </p:nvSpPr>
        <p:spPr>
          <a:xfrm rot="16200000">
            <a:off x="3312747" y="2541947"/>
            <a:ext cx="94128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1342nm</a:t>
            </a:r>
            <a:endParaRPr lang="zh-TW" altLang="en-US" dirty="0">
              <a:latin typeface="Times New Roman" panose="02020603050405020304" pitchFamily="18" charset="0"/>
              <a:cs typeface="Times New Roman" panose="02020603050405020304" pitchFamily="18" charset="0"/>
            </a:endParaRPr>
          </a:p>
        </p:txBody>
      </p:sp>
      <p:grpSp>
        <p:nvGrpSpPr>
          <p:cNvPr id="44" name="群組 43">
            <a:extLst>
              <a:ext uri="{FF2B5EF4-FFF2-40B4-BE49-F238E27FC236}">
                <a16:creationId xmlns:a16="http://schemas.microsoft.com/office/drawing/2014/main" id="{2C629041-9484-4D89-9D00-E5869631CB1A}"/>
              </a:ext>
            </a:extLst>
          </p:cNvPr>
          <p:cNvGrpSpPr/>
          <p:nvPr/>
        </p:nvGrpSpPr>
        <p:grpSpPr>
          <a:xfrm>
            <a:off x="2201767" y="4348188"/>
            <a:ext cx="1425757" cy="465653"/>
            <a:chOff x="1824004" y="5143946"/>
            <a:chExt cx="1425757" cy="465653"/>
          </a:xfrm>
        </p:grpSpPr>
        <p:sp>
          <p:nvSpPr>
            <p:cNvPr id="22" name="橢圓 21">
              <a:extLst>
                <a:ext uri="{FF2B5EF4-FFF2-40B4-BE49-F238E27FC236}">
                  <a16:creationId xmlns:a16="http://schemas.microsoft.com/office/drawing/2014/main" id="{ACEF3E7D-88FC-421B-B3DF-567ACA075AFE}"/>
                </a:ext>
              </a:extLst>
            </p:cNvPr>
            <p:cNvSpPr/>
            <p:nvPr/>
          </p:nvSpPr>
          <p:spPr>
            <a:xfrm>
              <a:off x="1824004" y="5364713"/>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4" name="橢圓 53">
              <a:extLst>
                <a:ext uri="{FF2B5EF4-FFF2-40B4-BE49-F238E27FC236}">
                  <a16:creationId xmlns:a16="http://schemas.microsoft.com/office/drawing/2014/main" id="{4F6E7478-1BCC-4199-9060-679A4E7E5722}"/>
                </a:ext>
              </a:extLst>
            </p:cNvPr>
            <p:cNvSpPr/>
            <p:nvPr/>
          </p:nvSpPr>
          <p:spPr>
            <a:xfrm>
              <a:off x="2079720" y="5358022"/>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5" name="橢圓 54">
              <a:extLst>
                <a:ext uri="{FF2B5EF4-FFF2-40B4-BE49-F238E27FC236}">
                  <a16:creationId xmlns:a16="http://schemas.microsoft.com/office/drawing/2014/main" id="{3D4A4930-21B6-493A-8500-09937B4C0B18}"/>
                </a:ext>
              </a:extLst>
            </p:cNvPr>
            <p:cNvSpPr/>
            <p:nvPr/>
          </p:nvSpPr>
          <p:spPr>
            <a:xfrm>
              <a:off x="2338721" y="5358022"/>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6" name="橢圓 55">
              <a:extLst>
                <a:ext uri="{FF2B5EF4-FFF2-40B4-BE49-F238E27FC236}">
                  <a16:creationId xmlns:a16="http://schemas.microsoft.com/office/drawing/2014/main" id="{3ECCF09C-A252-4E87-945F-B7C752A072E1}"/>
                </a:ext>
              </a:extLst>
            </p:cNvPr>
            <p:cNvSpPr/>
            <p:nvPr/>
          </p:nvSpPr>
          <p:spPr>
            <a:xfrm>
              <a:off x="2597722" y="5358022"/>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7" name="橢圓 56">
              <a:extLst>
                <a:ext uri="{FF2B5EF4-FFF2-40B4-BE49-F238E27FC236}">
                  <a16:creationId xmlns:a16="http://schemas.microsoft.com/office/drawing/2014/main" id="{89418449-8FFA-4623-97AD-FC70CEE914CE}"/>
                </a:ext>
              </a:extLst>
            </p:cNvPr>
            <p:cNvSpPr/>
            <p:nvPr/>
          </p:nvSpPr>
          <p:spPr>
            <a:xfrm>
              <a:off x="2857848" y="5360942"/>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8" name="橢圓 57">
              <a:extLst>
                <a:ext uri="{FF2B5EF4-FFF2-40B4-BE49-F238E27FC236}">
                  <a16:creationId xmlns:a16="http://schemas.microsoft.com/office/drawing/2014/main" id="{ADF49999-BD21-4EC5-904E-4C258783699B}"/>
                </a:ext>
              </a:extLst>
            </p:cNvPr>
            <p:cNvSpPr/>
            <p:nvPr/>
          </p:nvSpPr>
          <p:spPr>
            <a:xfrm>
              <a:off x="1971031" y="5150637"/>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9" name="橢圓 58">
              <a:extLst>
                <a:ext uri="{FF2B5EF4-FFF2-40B4-BE49-F238E27FC236}">
                  <a16:creationId xmlns:a16="http://schemas.microsoft.com/office/drawing/2014/main" id="{92FDE681-99DD-4922-B7E0-5BC6E503AC37}"/>
                </a:ext>
              </a:extLst>
            </p:cNvPr>
            <p:cNvSpPr/>
            <p:nvPr/>
          </p:nvSpPr>
          <p:spPr>
            <a:xfrm>
              <a:off x="2226747" y="5143946"/>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0" name="橢圓 59">
              <a:extLst>
                <a:ext uri="{FF2B5EF4-FFF2-40B4-BE49-F238E27FC236}">
                  <a16:creationId xmlns:a16="http://schemas.microsoft.com/office/drawing/2014/main" id="{5CC6EFBF-419C-47A0-9E60-1E56E9157E70}"/>
                </a:ext>
              </a:extLst>
            </p:cNvPr>
            <p:cNvSpPr/>
            <p:nvPr/>
          </p:nvSpPr>
          <p:spPr>
            <a:xfrm>
              <a:off x="2485748" y="5143946"/>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1" name="橢圓 60">
              <a:extLst>
                <a:ext uri="{FF2B5EF4-FFF2-40B4-BE49-F238E27FC236}">
                  <a16:creationId xmlns:a16="http://schemas.microsoft.com/office/drawing/2014/main" id="{E497F1FB-C4E5-4BF3-A335-2CCEF9288F92}"/>
                </a:ext>
              </a:extLst>
            </p:cNvPr>
            <p:cNvSpPr/>
            <p:nvPr/>
          </p:nvSpPr>
          <p:spPr>
            <a:xfrm>
              <a:off x="2744749" y="5143946"/>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2" name="橢圓 61">
              <a:extLst>
                <a:ext uri="{FF2B5EF4-FFF2-40B4-BE49-F238E27FC236}">
                  <a16:creationId xmlns:a16="http://schemas.microsoft.com/office/drawing/2014/main" id="{5A26ACEC-7B73-4E24-B351-E6B57E649642}"/>
                </a:ext>
              </a:extLst>
            </p:cNvPr>
            <p:cNvSpPr/>
            <p:nvPr/>
          </p:nvSpPr>
          <p:spPr>
            <a:xfrm>
              <a:off x="3004875" y="5146866"/>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grpSp>
      <p:grpSp>
        <p:nvGrpSpPr>
          <p:cNvPr id="47" name="群組 46">
            <a:extLst>
              <a:ext uri="{FF2B5EF4-FFF2-40B4-BE49-F238E27FC236}">
                <a16:creationId xmlns:a16="http://schemas.microsoft.com/office/drawing/2014/main" id="{240F0ED1-68FD-46D7-8ACA-9D7BDB631C51}"/>
              </a:ext>
            </a:extLst>
          </p:cNvPr>
          <p:cNvGrpSpPr/>
          <p:nvPr/>
        </p:nvGrpSpPr>
        <p:grpSpPr>
          <a:xfrm>
            <a:off x="3000591" y="2010182"/>
            <a:ext cx="1278730" cy="251577"/>
            <a:chOff x="2622828" y="2805940"/>
            <a:chExt cx="1278730" cy="251577"/>
          </a:xfrm>
        </p:grpSpPr>
        <p:sp>
          <p:nvSpPr>
            <p:cNvPr id="63" name="橢圓 62">
              <a:extLst>
                <a:ext uri="{FF2B5EF4-FFF2-40B4-BE49-F238E27FC236}">
                  <a16:creationId xmlns:a16="http://schemas.microsoft.com/office/drawing/2014/main" id="{B932C80A-CE96-4653-BB36-851A0B6F6E83}"/>
                </a:ext>
              </a:extLst>
            </p:cNvPr>
            <p:cNvSpPr/>
            <p:nvPr/>
          </p:nvSpPr>
          <p:spPr>
            <a:xfrm>
              <a:off x="2622828" y="2812631"/>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4" name="橢圓 63">
              <a:extLst>
                <a:ext uri="{FF2B5EF4-FFF2-40B4-BE49-F238E27FC236}">
                  <a16:creationId xmlns:a16="http://schemas.microsoft.com/office/drawing/2014/main" id="{BB3FAA80-9DC8-4700-9419-E78AAADF094D}"/>
                </a:ext>
              </a:extLst>
            </p:cNvPr>
            <p:cNvSpPr/>
            <p:nvPr/>
          </p:nvSpPr>
          <p:spPr>
            <a:xfrm>
              <a:off x="2878544" y="2805940"/>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5" name="橢圓 64">
              <a:extLst>
                <a:ext uri="{FF2B5EF4-FFF2-40B4-BE49-F238E27FC236}">
                  <a16:creationId xmlns:a16="http://schemas.microsoft.com/office/drawing/2014/main" id="{E9703591-E02E-46A9-B8BE-546E26D06774}"/>
                </a:ext>
              </a:extLst>
            </p:cNvPr>
            <p:cNvSpPr/>
            <p:nvPr/>
          </p:nvSpPr>
          <p:spPr>
            <a:xfrm>
              <a:off x="3137545" y="2805940"/>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6" name="橢圓 65">
              <a:extLst>
                <a:ext uri="{FF2B5EF4-FFF2-40B4-BE49-F238E27FC236}">
                  <a16:creationId xmlns:a16="http://schemas.microsoft.com/office/drawing/2014/main" id="{D4D4C10C-3B1F-4A0B-82AD-664CB1AA8E7E}"/>
                </a:ext>
              </a:extLst>
            </p:cNvPr>
            <p:cNvSpPr/>
            <p:nvPr/>
          </p:nvSpPr>
          <p:spPr>
            <a:xfrm>
              <a:off x="3396546" y="2805940"/>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7" name="橢圓 66">
              <a:extLst>
                <a:ext uri="{FF2B5EF4-FFF2-40B4-BE49-F238E27FC236}">
                  <a16:creationId xmlns:a16="http://schemas.microsoft.com/office/drawing/2014/main" id="{0D77455A-8459-4D22-B031-2C822DDC841F}"/>
                </a:ext>
              </a:extLst>
            </p:cNvPr>
            <p:cNvSpPr/>
            <p:nvPr/>
          </p:nvSpPr>
          <p:spPr>
            <a:xfrm>
              <a:off x="3656672" y="2808860"/>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grpSp>
      <p:sp>
        <p:nvSpPr>
          <p:cNvPr id="72" name="箭號: 向右 71">
            <a:extLst>
              <a:ext uri="{FF2B5EF4-FFF2-40B4-BE49-F238E27FC236}">
                <a16:creationId xmlns:a16="http://schemas.microsoft.com/office/drawing/2014/main" id="{47C3C2A4-D26A-48F7-9874-7C89C8172EBE}"/>
              </a:ext>
            </a:extLst>
          </p:cNvPr>
          <p:cNvSpPr/>
          <p:nvPr/>
        </p:nvSpPr>
        <p:spPr>
          <a:xfrm>
            <a:off x="70566" y="2557596"/>
            <a:ext cx="1714344" cy="609598"/>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1959F468-5B7F-40C6-A21E-8E86AC671192}"/>
              </a:ext>
            </a:extLst>
          </p:cNvPr>
          <p:cNvSpPr/>
          <p:nvPr/>
        </p:nvSpPr>
        <p:spPr>
          <a:xfrm>
            <a:off x="6509089" y="922594"/>
            <a:ext cx="422167" cy="3897984"/>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77" name="群組 76">
            <a:extLst>
              <a:ext uri="{FF2B5EF4-FFF2-40B4-BE49-F238E27FC236}">
                <a16:creationId xmlns:a16="http://schemas.microsoft.com/office/drawing/2014/main" id="{C94CA34F-A2CB-48E9-82D2-172F5B2A89EC}"/>
              </a:ext>
            </a:extLst>
          </p:cNvPr>
          <p:cNvGrpSpPr/>
          <p:nvPr/>
        </p:nvGrpSpPr>
        <p:grpSpPr>
          <a:xfrm>
            <a:off x="5934491" y="2255068"/>
            <a:ext cx="2377241" cy="921317"/>
            <a:chOff x="5934491" y="2255068"/>
            <a:chExt cx="2377241" cy="921317"/>
          </a:xfrm>
        </p:grpSpPr>
        <p:sp>
          <p:nvSpPr>
            <p:cNvPr id="74" name="箭號: 向右 73">
              <a:extLst>
                <a:ext uri="{FF2B5EF4-FFF2-40B4-BE49-F238E27FC236}">
                  <a16:creationId xmlns:a16="http://schemas.microsoft.com/office/drawing/2014/main" id="{4538EA2F-C47B-4CDD-9253-88838E1FE1E9}"/>
                </a:ext>
              </a:extLst>
            </p:cNvPr>
            <p:cNvSpPr/>
            <p:nvPr/>
          </p:nvSpPr>
          <p:spPr>
            <a:xfrm>
              <a:off x="5934491" y="2566787"/>
              <a:ext cx="1714344" cy="609598"/>
            </a:xfrm>
            <a:prstGeom prst="rightArrow">
              <a:avLst/>
            </a:prstGeom>
            <a:gradFill>
              <a:gsLst>
                <a:gs pos="0">
                  <a:srgbClr val="FF0000"/>
                </a:gs>
                <a:gs pos="47000">
                  <a:schemeClr val="accent1">
                    <a:lumMod val="45000"/>
                    <a:lumOff val="55000"/>
                  </a:schemeClr>
                </a:gs>
                <a:gs pos="72000">
                  <a:srgbClr val="00B0F0"/>
                </a:gs>
                <a:gs pos="100000">
                  <a:srgbClr val="00B0F0"/>
                </a:gs>
              </a:gsLst>
              <a:lin ang="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文字方塊 75">
              <a:extLst>
                <a:ext uri="{FF2B5EF4-FFF2-40B4-BE49-F238E27FC236}">
                  <a16:creationId xmlns:a16="http://schemas.microsoft.com/office/drawing/2014/main" id="{C77937D6-EBD8-4A5E-BAAD-833ACEC133EA}"/>
                </a:ext>
              </a:extLst>
            </p:cNvPr>
            <p:cNvSpPr txBox="1"/>
            <p:nvPr/>
          </p:nvSpPr>
          <p:spPr>
            <a:xfrm>
              <a:off x="7060427" y="2255068"/>
              <a:ext cx="1251305"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CW Output</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75" name="禁止標誌 74">
            <a:extLst>
              <a:ext uri="{FF2B5EF4-FFF2-40B4-BE49-F238E27FC236}">
                <a16:creationId xmlns:a16="http://schemas.microsoft.com/office/drawing/2014/main" id="{E67EBDB5-2834-4962-91B1-C5F0D0C22029}"/>
              </a:ext>
            </a:extLst>
          </p:cNvPr>
          <p:cNvSpPr/>
          <p:nvPr/>
        </p:nvSpPr>
        <p:spPr>
          <a:xfrm>
            <a:off x="5745398" y="2511793"/>
            <a:ext cx="701204" cy="701204"/>
          </a:xfrm>
          <a:prstGeom prst="noSmoking">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80" name="群組 79">
            <a:extLst>
              <a:ext uri="{FF2B5EF4-FFF2-40B4-BE49-F238E27FC236}">
                <a16:creationId xmlns:a16="http://schemas.microsoft.com/office/drawing/2014/main" id="{106F45F0-867A-4A5C-954B-6BC24258282C}"/>
              </a:ext>
            </a:extLst>
          </p:cNvPr>
          <p:cNvGrpSpPr/>
          <p:nvPr/>
        </p:nvGrpSpPr>
        <p:grpSpPr>
          <a:xfrm>
            <a:off x="5694258" y="1922032"/>
            <a:ext cx="2683677" cy="1468355"/>
            <a:chOff x="5694258" y="1922032"/>
            <a:chExt cx="2683677" cy="1468355"/>
          </a:xfrm>
        </p:grpSpPr>
        <p:sp>
          <p:nvSpPr>
            <p:cNvPr id="78" name="箭號: 向右 77">
              <a:extLst>
                <a:ext uri="{FF2B5EF4-FFF2-40B4-BE49-F238E27FC236}">
                  <a16:creationId xmlns:a16="http://schemas.microsoft.com/office/drawing/2014/main" id="{0FE585C5-6E6C-4E12-901D-4A76EA18F002}"/>
                </a:ext>
              </a:extLst>
            </p:cNvPr>
            <p:cNvSpPr/>
            <p:nvPr/>
          </p:nvSpPr>
          <p:spPr>
            <a:xfrm>
              <a:off x="5694258" y="2311301"/>
              <a:ext cx="2178532" cy="1079086"/>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文字方塊 78">
              <a:extLst>
                <a:ext uri="{FF2B5EF4-FFF2-40B4-BE49-F238E27FC236}">
                  <a16:creationId xmlns:a16="http://schemas.microsoft.com/office/drawing/2014/main" id="{0C0ED39F-10BA-4F9D-ADC4-85E459186181}"/>
                </a:ext>
              </a:extLst>
            </p:cNvPr>
            <p:cNvSpPr txBox="1"/>
            <p:nvPr/>
          </p:nvSpPr>
          <p:spPr>
            <a:xfrm>
              <a:off x="6994223" y="1922032"/>
              <a:ext cx="1383712"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Pulse Output</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cxnSp>
        <p:nvCxnSpPr>
          <p:cNvPr id="97" name="直線單箭頭接點 96">
            <a:extLst>
              <a:ext uri="{FF2B5EF4-FFF2-40B4-BE49-F238E27FC236}">
                <a16:creationId xmlns:a16="http://schemas.microsoft.com/office/drawing/2014/main" id="{8005D505-6A7C-4259-8510-81490291ED80}"/>
              </a:ext>
            </a:extLst>
          </p:cNvPr>
          <p:cNvCxnSpPr>
            <a:cxnSpLocks/>
          </p:cNvCxnSpPr>
          <p:nvPr/>
        </p:nvCxnSpPr>
        <p:spPr>
          <a:xfrm>
            <a:off x="1174110" y="5587732"/>
            <a:ext cx="681432" cy="0"/>
          </a:xfrm>
          <a:prstGeom prst="straightConnector1">
            <a:avLst/>
          </a:prstGeom>
          <a:ln w="15875">
            <a:solidFill>
              <a:schemeClr val="tx1"/>
            </a:solidFill>
            <a:prstDash val="dash"/>
            <a:tailEnd type="triangle"/>
          </a:ln>
          <a:scene3d>
            <a:camera prst="orthographicFront">
              <a:rot lat="0" lon="0" rev="27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8" name="直線單箭頭接點 97">
            <a:extLst>
              <a:ext uri="{FF2B5EF4-FFF2-40B4-BE49-F238E27FC236}">
                <a16:creationId xmlns:a16="http://schemas.microsoft.com/office/drawing/2014/main" id="{EB26147A-80C4-4740-A7E3-A7E9000BA31C}"/>
              </a:ext>
            </a:extLst>
          </p:cNvPr>
          <p:cNvCxnSpPr/>
          <p:nvPr/>
        </p:nvCxnSpPr>
        <p:spPr>
          <a:xfrm flipV="1">
            <a:off x="1275076" y="5165925"/>
            <a:ext cx="0" cy="681432"/>
          </a:xfrm>
          <a:prstGeom prst="straightConnector1">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9" name="直線單箭頭接點 98">
            <a:extLst>
              <a:ext uri="{FF2B5EF4-FFF2-40B4-BE49-F238E27FC236}">
                <a16:creationId xmlns:a16="http://schemas.microsoft.com/office/drawing/2014/main" id="{46BF9B4E-EC58-4952-824B-104E3D9895BF}"/>
              </a:ext>
            </a:extLst>
          </p:cNvPr>
          <p:cNvCxnSpPr>
            <a:cxnSpLocks/>
          </p:cNvCxnSpPr>
          <p:nvPr/>
        </p:nvCxnSpPr>
        <p:spPr>
          <a:xfrm>
            <a:off x="1275076" y="5847357"/>
            <a:ext cx="681432" cy="0"/>
          </a:xfrm>
          <a:prstGeom prst="straightConnector1">
            <a:avLst/>
          </a:prstGeom>
          <a:ln w="158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0" name="立方體 99">
            <a:extLst>
              <a:ext uri="{FF2B5EF4-FFF2-40B4-BE49-F238E27FC236}">
                <a16:creationId xmlns:a16="http://schemas.microsoft.com/office/drawing/2014/main" id="{CB866641-02CF-4CD0-9A96-F0AC2CBBA3CE}"/>
              </a:ext>
            </a:extLst>
          </p:cNvPr>
          <p:cNvSpPr/>
          <p:nvPr/>
        </p:nvSpPr>
        <p:spPr>
          <a:xfrm>
            <a:off x="942677" y="5482411"/>
            <a:ext cx="921355" cy="732035"/>
          </a:xfrm>
          <a:prstGeom prst="cube">
            <a:avLst/>
          </a:prstGeom>
          <a:no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101" name="文字方塊 100">
            <a:extLst>
              <a:ext uri="{FF2B5EF4-FFF2-40B4-BE49-F238E27FC236}">
                <a16:creationId xmlns:a16="http://schemas.microsoft.com/office/drawing/2014/main" id="{3CE81016-37D0-49A3-B878-F4C5D7FB4C95}"/>
              </a:ext>
            </a:extLst>
          </p:cNvPr>
          <p:cNvSpPr txBox="1"/>
          <p:nvPr/>
        </p:nvSpPr>
        <p:spPr>
          <a:xfrm>
            <a:off x="1028883" y="4953531"/>
            <a:ext cx="521489" cy="276999"/>
          </a:xfrm>
          <a:prstGeom prst="rect">
            <a:avLst/>
          </a:prstGeom>
          <a:noFill/>
        </p:spPr>
        <p:txBody>
          <a:bodyPr wrap="none" rtlCol="0">
            <a:spAutoFit/>
          </a:bodyPr>
          <a:lstStyle/>
          <a:p>
            <a:pPr algn="ctr"/>
            <a:r>
              <a:rPr lang="en-US" altLang="zh-TW" sz="1200" dirty="0"/>
              <a:t>c axis</a:t>
            </a:r>
            <a:endParaRPr lang="zh-TW" altLang="en-US" sz="1200" dirty="0"/>
          </a:p>
        </p:txBody>
      </p:sp>
      <p:sp>
        <p:nvSpPr>
          <p:cNvPr id="102" name="文字方塊 101">
            <a:extLst>
              <a:ext uri="{FF2B5EF4-FFF2-40B4-BE49-F238E27FC236}">
                <a16:creationId xmlns:a16="http://schemas.microsoft.com/office/drawing/2014/main" id="{3089FBA4-A6DA-4F81-B9B9-5F4A4A6DAE9E}"/>
              </a:ext>
            </a:extLst>
          </p:cNvPr>
          <p:cNvSpPr txBox="1"/>
          <p:nvPr/>
        </p:nvSpPr>
        <p:spPr>
          <a:xfrm>
            <a:off x="1605307" y="5143207"/>
            <a:ext cx="535916" cy="276999"/>
          </a:xfrm>
          <a:prstGeom prst="rect">
            <a:avLst/>
          </a:prstGeom>
          <a:noFill/>
        </p:spPr>
        <p:txBody>
          <a:bodyPr wrap="none" rtlCol="0">
            <a:spAutoFit/>
          </a:bodyPr>
          <a:lstStyle/>
          <a:p>
            <a:pPr algn="ctr"/>
            <a:r>
              <a:rPr lang="en-US" altLang="zh-TW" sz="1200" dirty="0"/>
              <a:t>b axis</a:t>
            </a:r>
            <a:endParaRPr lang="zh-TW" altLang="en-US" sz="1200" dirty="0"/>
          </a:p>
        </p:txBody>
      </p:sp>
      <p:sp>
        <p:nvSpPr>
          <p:cNvPr id="103" name="文字方塊 102">
            <a:extLst>
              <a:ext uri="{FF2B5EF4-FFF2-40B4-BE49-F238E27FC236}">
                <a16:creationId xmlns:a16="http://schemas.microsoft.com/office/drawing/2014/main" id="{90F464C9-FDD5-4E0B-8A21-F75A5FE700D1}"/>
              </a:ext>
            </a:extLst>
          </p:cNvPr>
          <p:cNvSpPr txBox="1"/>
          <p:nvPr/>
        </p:nvSpPr>
        <p:spPr>
          <a:xfrm>
            <a:off x="1896807" y="5706261"/>
            <a:ext cx="529504" cy="276999"/>
          </a:xfrm>
          <a:prstGeom prst="rect">
            <a:avLst/>
          </a:prstGeom>
          <a:noFill/>
        </p:spPr>
        <p:txBody>
          <a:bodyPr wrap="none" rtlCol="0">
            <a:spAutoFit/>
          </a:bodyPr>
          <a:lstStyle/>
          <a:p>
            <a:pPr algn="ctr"/>
            <a:r>
              <a:rPr lang="en-US" altLang="zh-TW" sz="1200" dirty="0"/>
              <a:t>a axis</a:t>
            </a:r>
            <a:endParaRPr lang="zh-TW" altLang="en-US" sz="1200" dirty="0"/>
          </a:p>
        </p:txBody>
      </p:sp>
      <p:cxnSp>
        <p:nvCxnSpPr>
          <p:cNvPr id="104" name="直線單箭頭接點 103">
            <a:extLst>
              <a:ext uri="{FF2B5EF4-FFF2-40B4-BE49-F238E27FC236}">
                <a16:creationId xmlns:a16="http://schemas.microsoft.com/office/drawing/2014/main" id="{11B59EF0-7FC5-4A48-8B2E-09A6DA670336}"/>
              </a:ext>
            </a:extLst>
          </p:cNvPr>
          <p:cNvCxnSpPr/>
          <p:nvPr/>
        </p:nvCxnSpPr>
        <p:spPr>
          <a:xfrm>
            <a:off x="242308" y="5975720"/>
            <a:ext cx="408905" cy="0"/>
          </a:xfrm>
          <a:prstGeom prst="straightConnector1">
            <a:avLst/>
          </a:prstGeom>
          <a:ln w="254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05" name="文字方塊 104">
            <a:extLst>
              <a:ext uri="{FF2B5EF4-FFF2-40B4-BE49-F238E27FC236}">
                <a16:creationId xmlns:a16="http://schemas.microsoft.com/office/drawing/2014/main" id="{C0713A91-1C21-4A5D-91E7-40EC4BC0B1E9}"/>
              </a:ext>
            </a:extLst>
          </p:cNvPr>
          <p:cNvSpPr txBox="1"/>
          <p:nvPr/>
        </p:nvSpPr>
        <p:spPr>
          <a:xfrm>
            <a:off x="-78520" y="5691356"/>
            <a:ext cx="1013419"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Incident light</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06" name="直線單箭頭接點 105">
            <a:extLst>
              <a:ext uri="{FF2B5EF4-FFF2-40B4-BE49-F238E27FC236}">
                <a16:creationId xmlns:a16="http://schemas.microsoft.com/office/drawing/2014/main" id="{5031B913-F946-4BC7-9166-00CDE010C138}"/>
              </a:ext>
            </a:extLst>
          </p:cNvPr>
          <p:cNvCxnSpPr>
            <a:cxnSpLocks/>
          </p:cNvCxnSpPr>
          <p:nvPr/>
        </p:nvCxnSpPr>
        <p:spPr>
          <a:xfrm>
            <a:off x="3740404" y="5587732"/>
            <a:ext cx="681432" cy="0"/>
          </a:xfrm>
          <a:prstGeom prst="straightConnector1">
            <a:avLst/>
          </a:prstGeom>
          <a:ln w="15875">
            <a:solidFill>
              <a:schemeClr val="tx1"/>
            </a:solidFill>
            <a:prstDash val="dash"/>
            <a:tailEnd type="triangle"/>
          </a:ln>
          <a:scene3d>
            <a:camera prst="orthographicFront">
              <a:rot lat="0" lon="0" rev="27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19DB6237-A5AD-4D00-99DF-88048197E200}"/>
              </a:ext>
            </a:extLst>
          </p:cNvPr>
          <p:cNvCxnSpPr/>
          <p:nvPr/>
        </p:nvCxnSpPr>
        <p:spPr>
          <a:xfrm flipV="1">
            <a:off x="3841369" y="5165925"/>
            <a:ext cx="0" cy="681432"/>
          </a:xfrm>
          <a:prstGeom prst="straightConnector1">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261C97D8-7875-4C8F-89CD-7F0D144A2336}"/>
              </a:ext>
            </a:extLst>
          </p:cNvPr>
          <p:cNvCxnSpPr>
            <a:cxnSpLocks/>
          </p:cNvCxnSpPr>
          <p:nvPr/>
        </p:nvCxnSpPr>
        <p:spPr>
          <a:xfrm>
            <a:off x="3841369" y="5847357"/>
            <a:ext cx="681432" cy="0"/>
          </a:xfrm>
          <a:prstGeom prst="straightConnector1">
            <a:avLst/>
          </a:prstGeom>
          <a:ln w="158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9" name="立方體 108">
            <a:extLst>
              <a:ext uri="{FF2B5EF4-FFF2-40B4-BE49-F238E27FC236}">
                <a16:creationId xmlns:a16="http://schemas.microsoft.com/office/drawing/2014/main" id="{1B74EA00-2DC1-4C96-A53C-F4F62AFD5923}"/>
              </a:ext>
            </a:extLst>
          </p:cNvPr>
          <p:cNvSpPr/>
          <p:nvPr/>
        </p:nvSpPr>
        <p:spPr>
          <a:xfrm>
            <a:off x="3508970" y="5482411"/>
            <a:ext cx="921355" cy="732035"/>
          </a:xfrm>
          <a:prstGeom prst="cube">
            <a:avLst/>
          </a:prstGeom>
          <a:no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110" name="文字方塊 109">
            <a:extLst>
              <a:ext uri="{FF2B5EF4-FFF2-40B4-BE49-F238E27FC236}">
                <a16:creationId xmlns:a16="http://schemas.microsoft.com/office/drawing/2014/main" id="{A2C7B77E-E932-4AD4-8F0B-82D2B3F2FE48}"/>
              </a:ext>
            </a:extLst>
          </p:cNvPr>
          <p:cNvSpPr txBox="1"/>
          <p:nvPr/>
        </p:nvSpPr>
        <p:spPr>
          <a:xfrm>
            <a:off x="3584208" y="4947569"/>
            <a:ext cx="529504" cy="276999"/>
          </a:xfrm>
          <a:prstGeom prst="rect">
            <a:avLst/>
          </a:prstGeom>
          <a:noFill/>
        </p:spPr>
        <p:txBody>
          <a:bodyPr wrap="none" rtlCol="0">
            <a:spAutoFit/>
          </a:bodyPr>
          <a:lstStyle/>
          <a:p>
            <a:pPr algn="ctr"/>
            <a:r>
              <a:rPr lang="en-US" altLang="zh-TW" sz="1200" dirty="0"/>
              <a:t>a axis</a:t>
            </a:r>
            <a:endParaRPr lang="zh-TW" altLang="en-US" sz="1200" dirty="0"/>
          </a:p>
        </p:txBody>
      </p:sp>
      <p:sp>
        <p:nvSpPr>
          <p:cNvPr id="111" name="文字方塊 110">
            <a:extLst>
              <a:ext uri="{FF2B5EF4-FFF2-40B4-BE49-F238E27FC236}">
                <a16:creationId xmlns:a16="http://schemas.microsoft.com/office/drawing/2014/main" id="{A2A04315-6DB6-4992-876A-EE18680BF9CD}"/>
              </a:ext>
            </a:extLst>
          </p:cNvPr>
          <p:cNvSpPr txBox="1"/>
          <p:nvPr/>
        </p:nvSpPr>
        <p:spPr>
          <a:xfrm>
            <a:off x="4200801" y="5146657"/>
            <a:ext cx="535916" cy="276999"/>
          </a:xfrm>
          <a:prstGeom prst="rect">
            <a:avLst/>
          </a:prstGeom>
          <a:noFill/>
        </p:spPr>
        <p:txBody>
          <a:bodyPr wrap="none" rtlCol="0">
            <a:spAutoFit/>
          </a:bodyPr>
          <a:lstStyle/>
          <a:p>
            <a:pPr algn="ctr"/>
            <a:r>
              <a:rPr lang="en-US" altLang="zh-TW" sz="1200" dirty="0"/>
              <a:t>b axis</a:t>
            </a:r>
            <a:endParaRPr lang="zh-TW" altLang="en-US" sz="1200" dirty="0"/>
          </a:p>
        </p:txBody>
      </p:sp>
      <p:sp>
        <p:nvSpPr>
          <p:cNvPr id="112" name="文字方塊 111">
            <a:extLst>
              <a:ext uri="{FF2B5EF4-FFF2-40B4-BE49-F238E27FC236}">
                <a16:creationId xmlns:a16="http://schemas.microsoft.com/office/drawing/2014/main" id="{3E837361-CE31-419A-BFE5-E5032BA7873A}"/>
              </a:ext>
            </a:extLst>
          </p:cNvPr>
          <p:cNvSpPr txBox="1"/>
          <p:nvPr/>
        </p:nvSpPr>
        <p:spPr>
          <a:xfrm>
            <a:off x="4439362" y="5690428"/>
            <a:ext cx="521489" cy="276999"/>
          </a:xfrm>
          <a:prstGeom prst="rect">
            <a:avLst/>
          </a:prstGeom>
          <a:noFill/>
        </p:spPr>
        <p:txBody>
          <a:bodyPr wrap="none" rtlCol="0">
            <a:spAutoFit/>
          </a:bodyPr>
          <a:lstStyle/>
          <a:p>
            <a:pPr algn="ctr"/>
            <a:r>
              <a:rPr lang="en-US" altLang="zh-TW" sz="1200" dirty="0"/>
              <a:t>c axis</a:t>
            </a:r>
            <a:endParaRPr lang="zh-TW" altLang="en-US" sz="1200" dirty="0"/>
          </a:p>
        </p:txBody>
      </p:sp>
      <p:cxnSp>
        <p:nvCxnSpPr>
          <p:cNvPr id="113" name="直線單箭頭接點 112">
            <a:extLst>
              <a:ext uri="{FF2B5EF4-FFF2-40B4-BE49-F238E27FC236}">
                <a16:creationId xmlns:a16="http://schemas.microsoft.com/office/drawing/2014/main" id="{130FE181-854F-4C9A-A436-5124A25D0021}"/>
              </a:ext>
            </a:extLst>
          </p:cNvPr>
          <p:cNvCxnSpPr/>
          <p:nvPr/>
        </p:nvCxnSpPr>
        <p:spPr>
          <a:xfrm>
            <a:off x="2808601" y="5975720"/>
            <a:ext cx="408905" cy="0"/>
          </a:xfrm>
          <a:prstGeom prst="straightConnector1">
            <a:avLst/>
          </a:prstGeom>
          <a:ln w="254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14" name="文字方塊 113">
            <a:extLst>
              <a:ext uri="{FF2B5EF4-FFF2-40B4-BE49-F238E27FC236}">
                <a16:creationId xmlns:a16="http://schemas.microsoft.com/office/drawing/2014/main" id="{E72DD70A-40C3-4031-8551-1DFFE3C1985E}"/>
              </a:ext>
            </a:extLst>
          </p:cNvPr>
          <p:cNvSpPr txBox="1"/>
          <p:nvPr/>
        </p:nvSpPr>
        <p:spPr>
          <a:xfrm>
            <a:off x="2487774" y="5691356"/>
            <a:ext cx="1013419"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Incident light</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5" name="矩形 114">
            <a:extLst>
              <a:ext uri="{FF2B5EF4-FFF2-40B4-BE49-F238E27FC236}">
                <a16:creationId xmlns:a16="http://schemas.microsoft.com/office/drawing/2014/main" id="{C0E6A018-5042-4ED4-80EE-688D8108D995}"/>
              </a:ext>
            </a:extLst>
          </p:cNvPr>
          <p:cNvSpPr/>
          <p:nvPr/>
        </p:nvSpPr>
        <p:spPr>
          <a:xfrm>
            <a:off x="727969" y="6210315"/>
            <a:ext cx="1223412" cy="276999"/>
          </a:xfrm>
          <a:prstGeom prst="rect">
            <a:avLst/>
          </a:prstGeom>
        </p:spPr>
        <p:txBody>
          <a:bodyPr wrap="none">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Nd:YVO</a:t>
            </a:r>
            <a:r>
              <a:rPr lang="en-US" altLang="zh-TW" sz="1200" baseline="-25000" dirty="0">
                <a:latin typeface="Times New Roman" panose="02020603050405020304" pitchFamily="18" charset="0"/>
                <a:ea typeface="標楷體" panose="03000509000000000000" pitchFamily="65" charset="-120"/>
                <a:cs typeface="Times New Roman" panose="02020603050405020304" pitchFamily="18" charset="0"/>
              </a:rPr>
              <a:t>4 </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(a cut)</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6" name="矩形 115">
            <a:extLst>
              <a:ext uri="{FF2B5EF4-FFF2-40B4-BE49-F238E27FC236}">
                <a16:creationId xmlns:a16="http://schemas.microsoft.com/office/drawing/2014/main" id="{E6136301-3569-49CA-883C-1811E5C424F6}"/>
              </a:ext>
            </a:extLst>
          </p:cNvPr>
          <p:cNvSpPr/>
          <p:nvPr/>
        </p:nvSpPr>
        <p:spPr>
          <a:xfrm>
            <a:off x="3307065" y="6243497"/>
            <a:ext cx="1223412" cy="276999"/>
          </a:xfrm>
          <a:prstGeom prst="rect">
            <a:avLst/>
          </a:prstGeom>
        </p:spPr>
        <p:txBody>
          <a:bodyPr wrap="none">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Nd:YVO</a:t>
            </a:r>
            <a:r>
              <a:rPr lang="en-US" altLang="zh-TW" sz="1200" baseline="-25000" dirty="0">
                <a:latin typeface="Times New Roman" panose="02020603050405020304" pitchFamily="18" charset="0"/>
                <a:ea typeface="標楷體" panose="03000509000000000000" pitchFamily="65" charset="-120"/>
                <a:cs typeface="Times New Roman" panose="02020603050405020304" pitchFamily="18" charset="0"/>
              </a:rPr>
              <a:t>4 </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(c cut)</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8" name="禁止標誌 117">
            <a:extLst>
              <a:ext uri="{FF2B5EF4-FFF2-40B4-BE49-F238E27FC236}">
                <a16:creationId xmlns:a16="http://schemas.microsoft.com/office/drawing/2014/main" id="{935BC1B9-AB6B-4602-91BB-D402E0ABD9C7}"/>
              </a:ext>
            </a:extLst>
          </p:cNvPr>
          <p:cNvSpPr/>
          <p:nvPr/>
        </p:nvSpPr>
        <p:spPr>
          <a:xfrm>
            <a:off x="3368368" y="5224568"/>
            <a:ext cx="1140756" cy="1140756"/>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19" name="矩形 118">
            <a:extLst>
              <a:ext uri="{FF2B5EF4-FFF2-40B4-BE49-F238E27FC236}">
                <a16:creationId xmlns:a16="http://schemas.microsoft.com/office/drawing/2014/main" id="{0E16DB1A-4D68-4285-A9C6-DD0342FDD883}"/>
              </a:ext>
            </a:extLst>
          </p:cNvPr>
          <p:cNvSpPr/>
          <p:nvPr/>
        </p:nvSpPr>
        <p:spPr>
          <a:xfrm>
            <a:off x="637470" y="6412159"/>
            <a:ext cx="3251096" cy="461665"/>
          </a:xfrm>
          <a:prstGeom prst="rect">
            <a:avLst/>
          </a:prstGeom>
        </p:spPr>
        <p:txBody>
          <a:bodyPr wrap="square">
            <a:spAutoFit/>
          </a:bodyPr>
          <a:lstStyle/>
          <a:p>
            <a:pPr marL="171450" indent="-171450" algn="ctr">
              <a:buFont typeface="Wingdings" panose="05000000000000000000" pitchFamily="2" charset="2"/>
              <a:buChar char="Ø"/>
            </a:pPr>
            <a:r>
              <a:rPr lang="en-US" altLang="zh-TW" sz="1200" dirty="0">
                <a:latin typeface="Times New Roman" panose="02020603050405020304" pitchFamily="18" charset="0"/>
                <a:cs typeface="Times New Roman" panose="02020603050405020304" pitchFamily="18" charset="0"/>
              </a:rPr>
              <a:t>3 mm × 3 mm laser aperture and 7 mm length, a-cut, 0.5-at. % Nd</a:t>
            </a:r>
            <a:r>
              <a:rPr lang="en-US" altLang="zh-TW" sz="1200" baseline="30000" dirty="0">
                <a:latin typeface="Times New Roman" panose="02020603050405020304" pitchFamily="18" charset="0"/>
                <a:cs typeface="Times New Roman" panose="02020603050405020304" pitchFamily="18" charset="0"/>
              </a:rPr>
              <a:t>3+</a:t>
            </a:r>
            <a:r>
              <a:rPr lang="en-US" altLang="zh-TW" sz="1200" dirty="0">
                <a:latin typeface="Times New Roman" panose="02020603050405020304" pitchFamily="18" charset="0"/>
                <a:cs typeface="Times New Roman" panose="02020603050405020304" pitchFamily="18" charset="0"/>
              </a:rPr>
              <a:t> doping concentration.</a:t>
            </a:r>
            <a:endParaRPr lang="zh-TW" altLang="en-US" sz="1200" dirty="0"/>
          </a:p>
        </p:txBody>
      </p:sp>
      <p:sp>
        <p:nvSpPr>
          <p:cNvPr id="3" name="投影片編號版面配置區 2">
            <a:extLst>
              <a:ext uri="{FF2B5EF4-FFF2-40B4-BE49-F238E27FC236}">
                <a16:creationId xmlns:a16="http://schemas.microsoft.com/office/drawing/2014/main" id="{92EC96DA-A149-44B6-9BC8-4D954B631184}"/>
              </a:ext>
            </a:extLst>
          </p:cNvPr>
          <p:cNvSpPr>
            <a:spLocks noGrp="1"/>
          </p:cNvSpPr>
          <p:nvPr>
            <p:ph type="sldNum" sz="quarter" idx="12"/>
          </p:nvPr>
        </p:nvSpPr>
        <p:spPr>
          <a:xfrm>
            <a:off x="8610600" y="6356350"/>
            <a:ext cx="2743200" cy="365125"/>
          </a:xfrm>
        </p:spPr>
        <p:txBody>
          <a:bodyPr/>
          <a:lstStyle/>
          <a:p>
            <a:fld id="{9044CBB6-E20C-4076-82F9-F8F95241C54D}" type="slidenum">
              <a:rPr lang="zh-TW" altLang="en-US" smtClean="0">
                <a:solidFill>
                  <a:schemeClr val="tx1"/>
                </a:solidFill>
              </a:rPr>
              <a:t>14</a:t>
            </a:fld>
            <a:endParaRPr lang="zh-TW" altLang="en-US" dirty="0">
              <a:solidFill>
                <a:schemeClr val="tx1"/>
              </a:solidFill>
            </a:endParaRPr>
          </a:p>
        </p:txBody>
      </p:sp>
      <p:pic>
        <p:nvPicPr>
          <p:cNvPr id="89" name="圖片 88">
            <a:extLst>
              <a:ext uri="{FF2B5EF4-FFF2-40B4-BE49-F238E27FC236}">
                <a16:creationId xmlns:a16="http://schemas.microsoft.com/office/drawing/2014/main" id="{A51C2E61-095B-482B-BAD3-3D45FB3043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68290" y="3379539"/>
            <a:ext cx="4014452" cy="30108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4" name="文字方塊 93">
            <a:extLst>
              <a:ext uri="{FF2B5EF4-FFF2-40B4-BE49-F238E27FC236}">
                <a16:creationId xmlns:a16="http://schemas.microsoft.com/office/drawing/2014/main" id="{46F4233D-EE49-44D0-9837-E27E79EB0B81}"/>
              </a:ext>
            </a:extLst>
          </p:cNvPr>
          <p:cNvSpPr txBox="1"/>
          <p:nvPr/>
        </p:nvSpPr>
        <p:spPr>
          <a:xfrm>
            <a:off x="9739850" y="6162227"/>
            <a:ext cx="2179524" cy="406193"/>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6" name="文字方塊 95">
            <a:extLst>
              <a:ext uri="{FF2B5EF4-FFF2-40B4-BE49-F238E27FC236}">
                <a16:creationId xmlns:a16="http://schemas.microsoft.com/office/drawing/2014/main" id="{F4FC98CD-FF65-450D-A3B6-42DB83DA0F70}"/>
              </a:ext>
            </a:extLst>
          </p:cNvPr>
          <p:cNvSpPr txBox="1"/>
          <p:nvPr/>
        </p:nvSpPr>
        <p:spPr>
          <a:xfrm rot="16200000">
            <a:off x="6589099" y="4685514"/>
            <a:ext cx="2148119" cy="406193"/>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0" name="橢圓 129">
            <a:extLst>
              <a:ext uri="{FF2B5EF4-FFF2-40B4-BE49-F238E27FC236}">
                <a16:creationId xmlns:a16="http://schemas.microsoft.com/office/drawing/2014/main" id="{32AB271B-5A6B-4595-8B0D-05444A34CFA2}"/>
              </a:ext>
            </a:extLst>
          </p:cNvPr>
          <p:cNvSpPr/>
          <p:nvPr/>
        </p:nvSpPr>
        <p:spPr>
          <a:xfrm>
            <a:off x="10015373" y="5958409"/>
            <a:ext cx="244886" cy="244886"/>
          </a:xfrm>
          <a:prstGeom prst="ellipse">
            <a:avLst/>
          </a:prstGeom>
          <a:solidFill>
            <a:srgbClr val="FF33CC"/>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Tree>
    <p:extLst>
      <p:ext uri="{BB962C8B-B14F-4D97-AF65-F5344CB8AC3E}">
        <p14:creationId xmlns:p14="http://schemas.microsoft.com/office/powerpoint/2010/main" val="351311307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circle(in)">
                                      <p:cBhvr>
                                        <p:cTn id="7" dur="20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77"/>
                                        </p:tgtEl>
                                        <p:attrNameLst>
                                          <p:attrName>style.visibility</p:attrName>
                                        </p:attrNameLst>
                                      </p:cBhvr>
                                      <p:to>
                                        <p:strVal val="hidden"/>
                                      </p:to>
                                    </p:set>
                                  </p:childTnLst>
                                </p:cTn>
                              </p:par>
                              <p:par>
                                <p:cTn id="16" presetID="1" presetClass="exit" presetSubtype="0" fill="hold" grpId="1" nodeType="withEffect">
                                  <p:stCondLst>
                                    <p:cond delay="0"/>
                                  </p:stCondLst>
                                  <p:childTnLst>
                                    <p:set>
                                      <p:cBhvr>
                                        <p:cTn id="17" dur="1" fill="hold">
                                          <p:stCondLst>
                                            <p:cond delay="0"/>
                                          </p:stCondLst>
                                        </p:cTn>
                                        <p:tgtEl>
                                          <p:spTgt spid="7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0" presetClass="path" presetSubtype="0" accel="50000" decel="50000" fill="hold" nodeType="clickEffect">
                                  <p:stCondLst>
                                    <p:cond delay="0"/>
                                  </p:stCondLst>
                                  <p:childTnLst>
                                    <p:animMotion origin="layout" path="M -2.5E-6 -4.07407E-6 L -2.5E-6 -0.5662 L 0.05261 -0.5662 L 0.05261 -0.40787 " pathEditMode="relative" rAng="0" ptsTypes="AAAA">
                                      <p:cBhvr>
                                        <p:cTn id="21" dur="2000" fill="hold"/>
                                        <p:tgtEl>
                                          <p:spTgt spid="44"/>
                                        </p:tgtEl>
                                        <p:attrNameLst>
                                          <p:attrName>ppt_x</p:attrName>
                                          <p:attrName>ppt_y</p:attrName>
                                        </p:attrNameLst>
                                      </p:cBhvr>
                                      <p:rCtr x="2630" y="-28310"/>
                                    </p:animMotion>
                                  </p:childTnLst>
                                </p:cTn>
                              </p:par>
                              <p:par>
                                <p:cTn id="22" presetID="2" presetClass="entr" presetSubtype="4" fill="hold" grpId="0" nodeType="withEffect">
                                  <p:stCondLst>
                                    <p:cond delay="0"/>
                                  </p:stCondLst>
                                  <p:childTnLst>
                                    <p:set>
                                      <p:cBhvr>
                                        <p:cTn id="23" dur="1" fill="hold">
                                          <p:stCondLst>
                                            <p:cond delay="0"/>
                                          </p:stCondLst>
                                        </p:cTn>
                                        <p:tgtEl>
                                          <p:spTgt spid="130"/>
                                        </p:tgtEl>
                                        <p:attrNameLst>
                                          <p:attrName>style.visibility</p:attrName>
                                        </p:attrNameLst>
                                      </p:cBhvr>
                                      <p:to>
                                        <p:strVal val="visible"/>
                                      </p:to>
                                    </p:set>
                                    <p:anim calcmode="lin" valueType="num">
                                      <p:cBhvr additive="base">
                                        <p:cTn id="24" dur="500" fill="hold"/>
                                        <p:tgtEl>
                                          <p:spTgt spid="130"/>
                                        </p:tgtEl>
                                        <p:attrNameLst>
                                          <p:attrName>ppt_x</p:attrName>
                                        </p:attrNameLst>
                                      </p:cBhvr>
                                      <p:tavLst>
                                        <p:tav tm="0">
                                          <p:val>
                                            <p:strVal val="#ppt_x"/>
                                          </p:val>
                                        </p:tav>
                                        <p:tav tm="100000">
                                          <p:val>
                                            <p:strVal val="#ppt_x"/>
                                          </p:val>
                                        </p:tav>
                                      </p:tavLst>
                                    </p:anim>
                                    <p:anim calcmode="lin" valueType="num">
                                      <p:cBhvr additive="base">
                                        <p:cTn id="25" dur="500" fill="hold"/>
                                        <p:tgtEl>
                                          <p:spTgt spid="13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nodeType="clickEffect">
                                  <p:stCondLst>
                                    <p:cond delay="0"/>
                                  </p:stCondLst>
                                  <p:childTnLst>
                                    <p:animMotion origin="layout" path="M 0.05443 -0.40856 L 0.03568 -0.14513 " pathEditMode="relative" rAng="0" ptsTypes="AA">
                                      <p:cBhvr>
                                        <p:cTn id="29" dur="2000" fill="hold"/>
                                        <p:tgtEl>
                                          <p:spTgt spid="44"/>
                                        </p:tgtEl>
                                        <p:attrNameLst>
                                          <p:attrName>ppt_x</p:attrName>
                                          <p:attrName>ppt_y</p:attrName>
                                        </p:attrNameLst>
                                      </p:cBhvr>
                                      <p:rCtr x="-938" y="13171"/>
                                    </p:animMotion>
                                  </p:childTnLst>
                                </p:cTn>
                              </p:par>
                              <p:par>
                                <p:cTn id="30" presetID="0" presetClass="path" presetSubtype="0" accel="50000" decel="50000" fill="hold" nodeType="withEffect">
                                  <p:stCondLst>
                                    <p:cond delay="0"/>
                                  </p:stCondLst>
                                  <p:childTnLst>
                                    <p:animMotion origin="layout" path="M -0.00065 0.00023 L 0.04557 0.12685 " pathEditMode="relative" rAng="0" ptsTypes="AA">
                                      <p:cBhvr>
                                        <p:cTn id="31" dur="2000" fill="hold"/>
                                        <p:tgtEl>
                                          <p:spTgt spid="47"/>
                                        </p:tgtEl>
                                        <p:attrNameLst>
                                          <p:attrName>ppt_x</p:attrName>
                                          <p:attrName>ppt_y</p:attrName>
                                        </p:attrNameLst>
                                      </p:cBhvr>
                                      <p:rCtr x="2305" y="6319"/>
                                    </p:animMotion>
                                  </p:childTnLst>
                                </p:cTn>
                              </p:par>
                              <p:par>
                                <p:cTn id="32" presetID="0" presetClass="path" presetSubtype="0" accel="50000" decel="50000" fill="hold" grpId="1" nodeType="withEffect">
                                  <p:stCondLst>
                                    <p:cond delay="0"/>
                                  </p:stCondLst>
                                  <p:childTnLst>
                                    <p:animMotion origin="layout" path="M -4.16667E-7 -0.00115 L -0.17539 -0.36226 " pathEditMode="relative" ptsTypes="AA">
                                      <p:cBhvr>
                                        <p:cTn id="33" dur="2000" fill="hold"/>
                                        <p:tgtEl>
                                          <p:spTgt spid="130"/>
                                        </p:tgtEl>
                                        <p:attrNameLst>
                                          <p:attrName>ppt_x</p:attrName>
                                          <p:attrName>ppt_y</p:attrName>
                                        </p:attrNameLst>
                                      </p:cBhvr>
                                    </p:animMotion>
                                  </p:childTnLst>
                                </p:cTn>
                              </p:par>
                            </p:childTnLst>
                          </p:cTn>
                        </p:par>
                      </p:childTnLst>
                    </p:cTn>
                  </p:par>
                  <p:par>
                    <p:cTn id="34" fill="hold">
                      <p:stCondLst>
                        <p:cond delay="indefinite"/>
                      </p:stCondLst>
                      <p:childTnLst>
                        <p:par>
                          <p:cTn id="35" fill="hold">
                            <p:stCondLst>
                              <p:cond delay="0"/>
                            </p:stCondLst>
                            <p:childTnLst>
                              <p:par>
                                <p:cTn id="36" presetID="0" presetClass="path" presetSubtype="0" accel="50000" decel="50000" fill="hold" nodeType="clickEffect">
                                  <p:stCondLst>
                                    <p:cond delay="0"/>
                                  </p:stCondLst>
                                  <p:childTnLst>
                                    <p:animMotion origin="layout" path="M 0.03503 -0.14282 L -0.00052 -0.00185 " pathEditMode="relative" rAng="0" ptsTypes="AA">
                                      <p:cBhvr>
                                        <p:cTn id="37" dur="2000" fill="hold"/>
                                        <p:tgtEl>
                                          <p:spTgt spid="44"/>
                                        </p:tgtEl>
                                        <p:attrNameLst>
                                          <p:attrName>ppt_x</p:attrName>
                                          <p:attrName>ppt_y</p:attrName>
                                        </p:attrNameLst>
                                      </p:cBhvr>
                                      <p:rCtr x="-1784" y="7037"/>
                                    </p:animMotion>
                                  </p:childTnLst>
                                </p:cTn>
                              </p:par>
                              <p:par>
                                <p:cTn id="38" presetID="0" presetClass="path" presetSubtype="0" accel="50000" decel="50000" fill="hold" nodeType="withEffect">
                                  <p:stCondLst>
                                    <p:cond delay="0"/>
                                  </p:stCondLst>
                                  <p:childTnLst>
                                    <p:animMotion origin="layout" path="M 0.04557 0.12801 L -0.06446 0.30903 " pathEditMode="relative" rAng="0" ptsTypes="AA">
                                      <p:cBhvr>
                                        <p:cTn id="39" dur="2000" fill="hold"/>
                                        <p:tgtEl>
                                          <p:spTgt spid="47"/>
                                        </p:tgtEl>
                                        <p:attrNameLst>
                                          <p:attrName>ppt_x</p:attrName>
                                          <p:attrName>ppt_y</p:attrName>
                                        </p:attrNameLst>
                                      </p:cBhvr>
                                      <p:rCtr x="-5508" y="9051"/>
                                    </p:animMotion>
                                  </p:childTnLst>
                                </p:cTn>
                              </p:par>
                              <p:par>
                                <p:cTn id="40" presetID="0" presetClass="path" presetSubtype="0" accel="50000" decel="50000" fill="hold" grpId="0" nodeType="withEffect">
                                  <p:stCondLst>
                                    <p:cond delay="0"/>
                                  </p:stCondLst>
                                  <p:childTnLst>
                                    <p:animMotion origin="layout" path="M -0.00039 -0.00185 L -0.03529 0.14375 " pathEditMode="relative" rAng="0" ptsTypes="AA">
                                      <p:cBhvr>
                                        <p:cTn id="41" dur="2000" fill="hold"/>
                                        <p:tgtEl>
                                          <p:spTgt spid="40"/>
                                        </p:tgtEl>
                                        <p:attrNameLst>
                                          <p:attrName>ppt_x</p:attrName>
                                          <p:attrName>ppt_y</p:attrName>
                                        </p:attrNameLst>
                                      </p:cBhvr>
                                      <p:rCtr x="-1745" y="7269"/>
                                    </p:animMotion>
                                  </p:childTnLst>
                                </p:cTn>
                              </p:par>
                              <p:par>
                                <p:cTn id="42" presetID="0" presetClass="path" presetSubtype="0" accel="50000" decel="50000" fill="hold" grpId="0" nodeType="withEffect">
                                  <p:stCondLst>
                                    <p:cond delay="0"/>
                                  </p:stCondLst>
                                  <p:childTnLst>
                                    <p:animMotion origin="layout" path="M -0.00078 -0.00116 L -0.09075 0.24213 " pathEditMode="relative" rAng="0" ptsTypes="AA">
                                      <p:cBhvr>
                                        <p:cTn id="43" dur="2000" fill="hold"/>
                                        <p:tgtEl>
                                          <p:spTgt spid="46"/>
                                        </p:tgtEl>
                                        <p:attrNameLst>
                                          <p:attrName>ppt_x</p:attrName>
                                          <p:attrName>ppt_y</p:attrName>
                                        </p:attrNameLst>
                                      </p:cBhvr>
                                      <p:rCtr x="-4505" y="12153"/>
                                    </p:animMotion>
                                  </p:childTnLst>
                                </p:cTn>
                              </p:par>
                              <p:par>
                                <p:cTn id="44" presetID="6" presetClass="entr" presetSubtype="16" fill="hold" nodeType="withEffect">
                                  <p:stCondLst>
                                    <p:cond delay="0"/>
                                  </p:stCondLst>
                                  <p:childTnLst>
                                    <p:set>
                                      <p:cBhvr>
                                        <p:cTn id="45" dur="1" fill="hold">
                                          <p:stCondLst>
                                            <p:cond delay="0"/>
                                          </p:stCondLst>
                                        </p:cTn>
                                        <p:tgtEl>
                                          <p:spTgt spid="80"/>
                                        </p:tgtEl>
                                        <p:attrNameLst>
                                          <p:attrName>style.visibility</p:attrName>
                                        </p:attrNameLst>
                                      </p:cBhvr>
                                      <p:to>
                                        <p:strVal val="visible"/>
                                      </p:to>
                                    </p:set>
                                    <p:animEffect transition="in" filter="circle(in)">
                                      <p:cBhvr>
                                        <p:cTn id="46" dur="2000"/>
                                        <p:tgtEl>
                                          <p:spTgt spid="8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18"/>
                                        </p:tgtEl>
                                        <p:attrNameLst>
                                          <p:attrName>style.visibility</p:attrName>
                                        </p:attrNameLst>
                                      </p:cBhvr>
                                      <p:to>
                                        <p:strVal val="visible"/>
                                      </p:to>
                                    </p:set>
                                    <p:animEffect transition="in" filter="wipe(down)">
                                      <p:cBhvr>
                                        <p:cTn id="51"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6" grpId="0" animBg="1"/>
      <p:bldP spid="75" grpId="0" animBg="1"/>
      <p:bldP spid="75" grpId="1" animBg="1"/>
      <p:bldP spid="118" grpId="0" animBg="1"/>
      <p:bldP spid="130" grpId="0" animBg="1"/>
      <p:bldP spid="130"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66959"/>
            <a:ext cx="1082348" cy="646331"/>
          </a:xfrm>
          <a:prstGeom prst="rect">
            <a:avLst/>
          </a:prstGeom>
          <a:noFill/>
        </p:spPr>
        <p:txBody>
          <a:bodyPr wrap="none" rtlCol="0">
            <a:spAutoFit/>
          </a:bodyPr>
          <a:lstStyle/>
          <a:p>
            <a:r>
              <a:rPr lang="en-US" altLang="zh-TW" sz="3600" b="1" i="1" kern="100" dirty="0">
                <a:latin typeface="Times New Roman" panose="02020603050405020304" pitchFamily="18" charset="0"/>
                <a:ea typeface="標楷體" panose="03000509000000000000" pitchFamily="65" charset="-120"/>
                <a:cs typeface="Times New Roman" panose="02020603050405020304" pitchFamily="18" charset="0"/>
              </a:rPr>
              <a:t>SFG</a:t>
            </a:r>
            <a:endParaRPr lang="zh-TW" altLang="zh-TW" sz="3600" b="1" i="1" kern="1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9" name="圖片 48">
            <a:extLst>
              <a:ext uri="{FF2B5EF4-FFF2-40B4-BE49-F238E27FC236}">
                <a16:creationId xmlns:a16="http://schemas.microsoft.com/office/drawing/2014/main" id="{C56B1B59-52B2-4E3C-A2B4-0AD4F084546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9142089" y="1451357"/>
            <a:ext cx="2614710" cy="1977643"/>
          </a:xfrm>
          <a:prstGeom prst="rect">
            <a:avLst/>
          </a:prstGeom>
        </p:spPr>
      </p:pic>
      <p:grpSp>
        <p:nvGrpSpPr>
          <p:cNvPr id="11" name="群組 10">
            <a:extLst>
              <a:ext uri="{FF2B5EF4-FFF2-40B4-BE49-F238E27FC236}">
                <a16:creationId xmlns:a16="http://schemas.microsoft.com/office/drawing/2014/main" id="{8774BC39-99F6-42CB-8667-85351CD86284}"/>
              </a:ext>
            </a:extLst>
          </p:cNvPr>
          <p:cNvGrpSpPr/>
          <p:nvPr/>
        </p:nvGrpSpPr>
        <p:grpSpPr>
          <a:xfrm>
            <a:off x="996534" y="1717825"/>
            <a:ext cx="1785889" cy="1416368"/>
            <a:chOff x="88347" y="2376856"/>
            <a:chExt cx="2265680" cy="1796885"/>
          </a:xfrm>
        </p:grpSpPr>
        <p:sp>
          <p:nvSpPr>
            <p:cNvPr id="74" name="手繪多邊形: 圖案 73">
              <a:extLst>
                <a:ext uri="{FF2B5EF4-FFF2-40B4-BE49-F238E27FC236}">
                  <a16:creationId xmlns:a16="http://schemas.microsoft.com/office/drawing/2014/main" id="{5F79AA7B-645C-4146-8C15-E280B21F0CA4}"/>
                </a:ext>
              </a:extLst>
            </p:cNvPr>
            <p:cNvSpPr/>
            <p:nvPr/>
          </p:nvSpPr>
          <p:spPr>
            <a:xfrm>
              <a:off x="88347" y="2861611"/>
              <a:ext cx="2265680" cy="436358"/>
            </a:xfrm>
            <a:custGeom>
              <a:avLst/>
              <a:gdLst>
                <a:gd name="connsiteX0" fmla="*/ 0 w 2265680"/>
                <a:gd name="connsiteY0" fmla="*/ 433818 h 436358"/>
                <a:gd name="connsiteX1" fmla="*/ 330200 w 2265680"/>
                <a:gd name="connsiteY1" fmla="*/ 2018 h 436358"/>
                <a:gd name="connsiteX2" fmla="*/ 655320 w 2265680"/>
                <a:gd name="connsiteY2" fmla="*/ 436358 h 436358"/>
                <a:gd name="connsiteX3" fmla="*/ 982980 w 2265680"/>
                <a:gd name="connsiteY3" fmla="*/ 2018 h 436358"/>
                <a:gd name="connsiteX4" fmla="*/ 1313180 w 2265680"/>
                <a:gd name="connsiteY4" fmla="*/ 431278 h 436358"/>
                <a:gd name="connsiteX5" fmla="*/ 1645920 w 2265680"/>
                <a:gd name="connsiteY5" fmla="*/ 2018 h 436358"/>
                <a:gd name="connsiteX6" fmla="*/ 1899920 w 2265680"/>
                <a:gd name="connsiteY6" fmla="*/ 271258 h 436358"/>
                <a:gd name="connsiteX7" fmla="*/ 2265680 w 2265680"/>
                <a:gd name="connsiteY7" fmla="*/ 304278 h 436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5680" h="436358">
                  <a:moveTo>
                    <a:pt x="0" y="433818"/>
                  </a:moveTo>
                  <a:cubicBezTo>
                    <a:pt x="110490" y="217706"/>
                    <a:pt x="220980" y="1595"/>
                    <a:pt x="330200" y="2018"/>
                  </a:cubicBezTo>
                  <a:cubicBezTo>
                    <a:pt x="439420" y="2441"/>
                    <a:pt x="546523" y="436358"/>
                    <a:pt x="655320" y="436358"/>
                  </a:cubicBezTo>
                  <a:cubicBezTo>
                    <a:pt x="764117" y="436358"/>
                    <a:pt x="873337" y="2865"/>
                    <a:pt x="982980" y="2018"/>
                  </a:cubicBezTo>
                  <a:cubicBezTo>
                    <a:pt x="1092623" y="1171"/>
                    <a:pt x="1202690" y="431278"/>
                    <a:pt x="1313180" y="431278"/>
                  </a:cubicBezTo>
                  <a:cubicBezTo>
                    <a:pt x="1423670" y="431278"/>
                    <a:pt x="1548130" y="28688"/>
                    <a:pt x="1645920" y="2018"/>
                  </a:cubicBezTo>
                  <a:cubicBezTo>
                    <a:pt x="1743710" y="-24652"/>
                    <a:pt x="1796627" y="220881"/>
                    <a:pt x="1899920" y="271258"/>
                  </a:cubicBezTo>
                  <a:cubicBezTo>
                    <a:pt x="2003213" y="321635"/>
                    <a:pt x="2134446" y="312956"/>
                    <a:pt x="2265680" y="304278"/>
                  </a:cubicBezTo>
                </a:path>
              </a:pathLst>
            </a:custGeom>
            <a:noFill/>
            <a:ln w="31750">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手繪多邊形: 圖案 74">
              <a:extLst>
                <a:ext uri="{FF2B5EF4-FFF2-40B4-BE49-F238E27FC236}">
                  <a16:creationId xmlns:a16="http://schemas.microsoft.com/office/drawing/2014/main" id="{5A9DC156-819D-467E-A891-83C91AFCBD6D}"/>
                </a:ext>
              </a:extLst>
            </p:cNvPr>
            <p:cNvSpPr/>
            <p:nvPr/>
          </p:nvSpPr>
          <p:spPr>
            <a:xfrm>
              <a:off x="88347" y="3429000"/>
              <a:ext cx="2265680" cy="436358"/>
            </a:xfrm>
            <a:custGeom>
              <a:avLst/>
              <a:gdLst>
                <a:gd name="connsiteX0" fmla="*/ 0 w 2265680"/>
                <a:gd name="connsiteY0" fmla="*/ 433818 h 436358"/>
                <a:gd name="connsiteX1" fmla="*/ 330200 w 2265680"/>
                <a:gd name="connsiteY1" fmla="*/ 2018 h 436358"/>
                <a:gd name="connsiteX2" fmla="*/ 655320 w 2265680"/>
                <a:gd name="connsiteY2" fmla="*/ 436358 h 436358"/>
                <a:gd name="connsiteX3" fmla="*/ 982980 w 2265680"/>
                <a:gd name="connsiteY3" fmla="*/ 2018 h 436358"/>
                <a:gd name="connsiteX4" fmla="*/ 1313180 w 2265680"/>
                <a:gd name="connsiteY4" fmla="*/ 431278 h 436358"/>
                <a:gd name="connsiteX5" fmla="*/ 1645920 w 2265680"/>
                <a:gd name="connsiteY5" fmla="*/ 2018 h 436358"/>
                <a:gd name="connsiteX6" fmla="*/ 1899920 w 2265680"/>
                <a:gd name="connsiteY6" fmla="*/ 271258 h 436358"/>
                <a:gd name="connsiteX7" fmla="*/ 2265680 w 2265680"/>
                <a:gd name="connsiteY7" fmla="*/ 304278 h 436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5680" h="436358">
                  <a:moveTo>
                    <a:pt x="0" y="433818"/>
                  </a:moveTo>
                  <a:cubicBezTo>
                    <a:pt x="110490" y="217706"/>
                    <a:pt x="220980" y="1595"/>
                    <a:pt x="330200" y="2018"/>
                  </a:cubicBezTo>
                  <a:cubicBezTo>
                    <a:pt x="439420" y="2441"/>
                    <a:pt x="546523" y="436358"/>
                    <a:pt x="655320" y="436358"/>
                  </a:cubicBezTo>
                  <a:cubicBezTo>
                    <a:pt x="764117" y="436358"/>
                    <a:pt x="873337" y="2865"/>
                    <a:pt x="982980" y="2018"/>
                  </a:cubicBezTo>
                  <a:cubicBezTo>
                    <a:pt x="1092623" y="1171"/>
                    <a:pt x="1202690" y="431278"/>
                    <a:pt x="1313180" y="431278"/>
                  </a:cubicBezTo>
                  <a:cubicBezTo>
                    <a:pt x="1423670" y="431278"/>
                    <a:pt x="1548130" y="28688"/>
                    <a:pt x="1645920" y="2018"/>
                  </a:cubicBezTo>
                  <a:cubicBezTo>
                    <a:pt x="1743710" y="-24652"/>
                    <a:pt x="1796627" y="220881"/>
                    <a:pt x="1899920" y="271258"/>
                  </a:cubicBezTo>
                  <a:cubicBezTo>
                    <a:pt x="2003213" y="321635"/>
                    <a:pt x="2134446" y="312956"/>
                    <a:pt x="2265680" y="304278"/>
                  </a:cubicBezTo>
                </a:path>
              </a:pathLst>
            </a:custGeom>
            <a:noFill/>
            <a:ln w="31750">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FD6E456C-C4B7-45C8-8580-91C0A4E244CE}"/>
                    </a:ext>
                  </a:extLst>
                </p:cNvPr>
                <p:cNvSpPr txBox="1"/>
                <p:nvPr/>
              </p:nvSpPr>
              <p:spPr>
                <a:xfrm>
                  <a:off x="215347" y="2376856"/>
                  <a:ext cx="4352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chemeClr val="accent5">
                                    <a:lumMod val="75000"/>
                                  </a:schemeClr>
                                </a:solidFill>
                                <a:latin typeface="Cambria Math" panose="02040503050406030204" pitchFamily="18" charset="0"/>
                              </a:rPr>
                            </m:ctrlPr>
                          </m:sSubPr>
                          <m:e>
                            <m:r>
                              <a:rPr lang="zh-TW" altLang="en-US" sz="2400" i="1" smtClean="0">
                                <a:solidFill>
                                  <a:schemeClr val="accent5">
                                    <a:lumMod val="75000"/>
                                  </a:schemeClr>
                                </a:solidFill>
                                <a:latin typeface="Cambria Math" panose="02040503050406030204" pitchFamily="18" charset="0"/>
                              </a:rPr>
                              <m:t>𝜔</m:t>
                            </m:r>
                          </m:e>
                          <m:sub>
                            <m:r>
                              <a:rPr lang="en-US" altLang="zh-TW" sz="2400" i="1">
                                <a:solidFill>
                                  <a:schemeClr val="accent5">
                                    <a:lumMod val="75000"/>
                                  </a:schemeClr>
                                </a:solidFill>
                                <a:latin typeface="Cambria Math" panose="02040503050406030204" pitchFamily="18" charset="0"/>
                              </a:rPr>
                              <m:t>1</m:t>
                            </m:r>
                          </m:sub>
                        </m:sSub>
                      </m:oMath>
                    </m:oMathPara>
                  </a14:m>
                  <a:endParaRPr lang="zh-TW" altLang="en-US" sz="2400" dirty="0">
                    <a:solidFill>
                      <a:schemeClr val="accent5">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77" name="文字方塊 76">
                  <a:extLst>
                    <a:ext uri="{FF2B5EF4-FFF2-40B4-BE49-F238E27FC236}">
                      <a16:creationId xmlns:a16="http://schemas.microsoft.com/office/drawing/2014/main" id="{FD6E456C-C4B7-45C8-8580-91C0A4E244CE}"/>
                    </a:ext>
                  </a:extLst>
                </p:cNvPr>
                <p:cNvSpPr txBox="1">
                  <a:spLocks noRot="1" noChangeAspect="1" noMove="1" noResize="1" noEditPoints="1" noAdjustHandles="1" noChangeArrowheads="1" noChangeShapeType="1" noTextEdit="1"/>
                </p:cNvSpPr>
                <p:nvPr/>
              </p:nvSpPr>
              <p:spPr>
                <a:xfrm>
                  <a:off x="215347" y="2376856"/>
                  <a:ext cx="435247" cy="369332"/>
                </a:xfrm>
                <a:prstGeom prst="rect">
                  <a:avLst/>
                </a:prstGeom>
                <a:blipFill>
                  <a:blip r:embed="rId3"/>
                  <a:stretch>
                    <a:fillRect l="-21053" r="-19298" b="-458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1" name="文字方塊 90">
                  <a:extLst>
                    <a:ext uri="{FF2B5EF4-FFF2-40B4-BE49-F238E27FC236}">
                      <a16:creationId xmlns:a16="http://schemas.microsoft.com/office/drawing/2014/main" id="{82A89CFC-1DAB-4F19-A1AA-073259245CCC}"/>
                    </a:ext>
                  </a:extLst>
                </p:cNvPr>
                <p:cNvSpPr txBox="1"/>
                <p:nvPr/>
              </p:nvSpPr>
              <p:spPr>
                <a:xfrm>
                  <a:off x="208230" y="3804409"/>
                  <a:ext cx="4423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rgbClr val="FF0000"/>
                                </a:solidFill>
                                <a:latin typeface="Cambria Math" panose="02040503050406030204" pitchFamily="18" charset="0"/>
                              </a:rPr>
                            </m:ctrlPr>
                          </m:sSubPr>
                          <m:e>
                            <m:r>
                              <a:rPr lang="zh-TW" altLang="en-US" sz="2400" i="1" smtClean="0">
                                <a:solidFill>
                                  <a:srgbClr val="FF0000"/>
                                </a:solidFill>
                                <a:latin typeface="Cambria Math" panose="02040503050406030204" pitchFamily="18" charset="0"/>
                              </a:rPr>
                              <m:t>𝜔</m:t>
                            </m:r>
                          </m:e>
                          <m:sub>
                            <m:r>
                              <a:rPr lang="en-US" altLang="zh-TW" sz="2400" i="1">
                                <a:solidFill>
                                  <a:srgbClr val="FF0000"/>
                                </a:solidFill>
                                <a:latin typeface="Cambria Math" panose="02040503050406030204" pitchFamily="18" charset="0"/>
                              </a:rPr>
                              <m:t>2</m:t>
                            </m:r>
                          </m:sub>
                        </m:sSub>
                      </m:oMath>
                    </m:oMathPara>
                  </a14:m>
                  <a:endParaRPr lang="zh-TW" altLang="en-US"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91" name="文字方塊 90">
                  <a:extLst>
                    <a:ext uri="{FF2B5EF4-FFF2-40B4-BE49-F238E27FC236}">
                      <a16:creationId xmlns:a16="http://schemas.microsoft.com/office/drawing/2014/main" id="{82A89CFC-1DAB-4F19-A1AA-073259245CCC}"/>
                    </a:ext>
                  </a:extLst>
                </p:cNvPr>
                <p:cNvSpPr txBox="1">
                  <a:spLocks noRot="1" noChangeAspect="1" noMove="1" noResize="1" noEditPoints="1" noAdjustHandles="1" noChangeArrowheads="1" noChangeShapeType="1" noTextEdit="1"/>
                </p:cNvSpPr>
                <p:nvPr/>
              </p:nvSpPr>
              <p:spPr>
                <a:xfrm>
                  <a:off x="208230" y="3804409"/>
                  <a:ext cx="442364" cy="369332"/>
                </a:xfrm>
                <a:prstGeom prst="rect">
                  <a:avLst/>
                </a:prstGeom>
                <a:blipFill>
                  <a:blip r:embed="rId4"/>
                  <a:stretch>
                    <a:fillRect l="-20690" r="-18966" b="-45833"/>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D29D8866-2DD9-416C-93E6-FF16C8A3D43F}"/>
              </a:ext>
            </a:extLst>
          </p:cNvPr>
          <p:cNvGrpSpPr/>
          <p:nvPr/>
        </p:nvGrpSpPr>
        <p:grpSpPr>
          <a:xfrm>
            <a:off x="5593739" y="1905681"/>
            <a:ext cx="1903984" cy="813456"/>
            <a:chOff x="7660640" y="828216"/>
            <a:chExt cx="2265680" cy="967987"/>
          </a:xfrm>
        </p:grpSpPr>
        <p:sp>
          <p:nvSpPr>
            <p:cNvPr id="92" name="手繪多邊形: 圖案 91">
              <a:extLst>
                <a:ext uri="{FF2B5EF4-FFF2-40B4-BE49-F238E27FC236}">
                  <a16:creationId xmlns:a16="http://schemas.microsoft.com/office/drawing/2014/main" id="{EB03DB7A-EF55-4FB8-B9A9-C35DD11A560B}"/>
                </a:ext>
              </a:extLst>
            </p:cNvPr>
            <p:cNvSpPr/>
            <p:nvPr/>
          </p:nvSpPr>
          <p:spPr>
            <a:xfrm>
              <a:off x="7660640" y="1359845"/>
              <a:ext cx="2265680" cy="436358"/>
            </a:xfrm>
            <a:custGeom>
              <a:avLst/>
              <a:gdLst>
                <a:gd name="connsiteX0" fmla="*/ 0 w 2265680"/>
                <a:gd name="connsiteY0" fmla="*/ 433818 h 436358"/>
                <a:gd name="connsiteX1" fmla="*/ 330200 w 2265680"/>
                <a:gd name="connsiteY1" fmla="*/ 2018 h 436358"/>
                <a:gd name="connsiteX2" fmla="*/ 655320 w 2265680"/>
                <a:gd name="connsiteY2" fmla="*/ 436358 h 436358"/>
                <a:gd name="connsiteX3" fmla="*/ 982980 w 2265680"/>
                <a:gd name="connsiteY3" fmla="*/ 2018 h 436358"/>
                <a:gd name="connsiteX4" fmla="*/ 1313180 w 2265680"/>
                <a:gd name="connsiteY4" fmla="*/ 431278 h 436358"/>
                <a:gd name="connsiteX5" fmla="*/ 1645920 w 2265680"/>
                <a:gd name="connsiteY5" fmla="*/ 2018 h 436358"/>
                <a:gd name="connsiteX6" fmla="*/ 1899920 w 2265680"/>
                <a:gd name="connsiteY6" fmla="*/ 271258 h 436358"/>
                <a:gd name="connsiteX7" fmla="*/ 2265680 w 2265680"/>
                <a:gd name="connsiteY7" fmla="*/ 304278 h 436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5680" h="436358">
                  <a:moveTo>
                    <a:pt x="0" y="433818"/>
                  </a:moveTo>
                  <a:cubicBezTo>
                    <a:pt x="110490" y="217706"/>
                    <a:pt x="220980" y="1595"/>
                    <a:pt x="330200" y="2018"/>
                  </a:cubicBezTo>
                  <a:cubicBezTo>
                    <a:pt x="439420" y="2441"/>
                    <a:pt x="546523" y="436358"/>
                    <a:pt x="655320" y="436358"/>
                  </a:cubicBezTo>
                  <a:cubicBezTo>
                    <a:pt x="764117" y="436358"/>
                    <a:pt x="873337" y="2865"/>
                    <a:pt x="982980" y="2018"/>
                  </a:cubicBezTo>
                  <a:cubicBezTo>
                    <a:pt x="1092623" y="1171"/>
                    <a:pt x="1202690" y="431278"/>
                    <a:pt x="1313180" y="431278"/>
                  </a:cubicBezTo>
                  <a:cubicBezTo>
                    <a:pt x="1423670" y="431278"/>
                    <a:pt x="1548130" y="28688"/>
                    <a:pt x="1645920" y="2018"/>
                  </a:cubicBezTo>
                  <a:cubicBezTo>
                    <a:pt x="1743710" y="-24652"/>
                    <a:pt x="1796627" y="220881"/>
                    <a:pt x="1899920" y="271258"/>
                  </a:cubicBezTo>
                  <a:cubicBezTo>
                    <a:pt x="2003213" y="321635"/>
                    <a:pt x="2134446" y="312956"/>
                    <a:pt x="2265680" y="304278"/>
                  </a:cubicBezTo>
                </a:path>
              </a:pathLst>
            </a:custGeom>
            <a:noFill/>
            <a:ln w="31750">
              <a:solidFill>
                <a:srgbClr val="00B05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93" name="文字方塊 92">
                  <a:extLst>
                    <a:ext uri="{FF2B5EF4-FFF2-40B4-BE49-F238E27FC236}">
                      <a16:creationId xmlns:a16="http://schemas.microsoft.com/office/drawing/2014/main" id="{695567A3-BA6A-4E65-A274-920744454B59}"/>
                    </a:ext>
                  </a:extLst>
                </p:cNvPr>
                <p:cNvSpPr txBox="1"/>
                <p:nvPr/>
              </p:nvSpPr>
              <p:spPr>
                <a:xfrm>
                  <a:off x="8981249" y="828216"/>
                  <a:ext cx="526399" cy="4394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solidFill>
                                  <a:srgbClr val="00B050"/>
                                </a:solidFill>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sz="2400" i="1" smtClean="0">
                                <a:solidFill>
                                  <a:srgbClr val="00B050"/>
                                </a:solidFill>
                                <a:latin typeface="Cambria Math" panose="02040503050406030204" pitchFamily="18" charset="0"/>
                                <a:ea typeface="標楷體" panose="03000509000000000000" pitchFamily="65" charset="-120"/>
                                <a:cs typeface="Times New Roman" panose="02020603050405020304" pitchFamily="18" charset="0"/>
                              </a:rPr>
                              <m:t>𝜔</m:t>
                            </m:r>
                          </m:e>
                          <m:sub>
                            <m:r>
                              <a:rPr lang="en-US" altLang="zh-TW" sz="2400" i="1">
                                <a:solidFill>
                                  <a:srgbClr val="00B050"/>
                                </a:solidFill>
                                <a:latin typeface="Cambria Math" panose="02040503050406030204" pitchFamily="18" charset="0"/>
                                <a:ea typeface="標楷體" panose="03000509000000000000" pitchFamily="65" charset="-120"/>
                                <a:cs typeface="Times New Roman" panose="02020603050405020304" pitchFamily="18" charset="0"/>
                              </a:rPr>
                              <m:t>3</m:t>
                            </m:r>
                          </m:sub>
                        </m:sSub>
                      </m:oMath>
                    </m:oMathPara>
                  </a14:m>
                  <a:endParaRPr lang="zh-TW" altLang="en-US" sz="2400" dirty="0">
                    <a:solidFill>
                      <a:schemeClr val="accent5">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93" name="文字方塊 92">
                  <a:extLst>
                    <a:ext uri="{FF2B5EF4-FFF2-40B4-BE49-F238E27FC236}">
                      <a16:creationId xmlns:a16="http://schemas.microsoft.com/office/drawing/2014/main" id="{695567A3-BA6A-4E65-A274-920744454B59}"/>
                    </a:ext>
                  </a:extLst>
                </p:cNvPr>
                <p:cNvSpPr txBox="1">
                  <a:spLocks noRot="1" noChangeAspect="1" noMove="1" noResize="1" noEditPoints="1" noAdjustHandles="1" noChangeArrowheads="1" noChangeShapeType="1" noTextEdit="1"/>
                </p:cNvSpPr>
                <p:nvPr/>
              </p:nvSpPr>
              <p:spPr>
                <a:xfrm>
                  <a:off x="8981249" y="828216"/>
                  <a:ext cx="526399" cy="439493"/>
                </a:xfrm>
                <a:prstGeom prst="rect">
                  <a:avLst/>
                </a:prstGeom>
                <a:blipFill>
                  <a:blip r:embed="rId5"/>
                  <a:stretch>
                    <a:fillRect l="-8333" r="-5556" b="-1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2000A87-7641-4EF4-BBD6-5FC4907F8BA0}"/>
                  </a:ext>
                </a:extLst>
              </p:cNvPr>
              <p:cNvSpPr/>
              <p:nvPr/>
            </p:nvSpPr>
            <p:spPr>
              <a:xfrm>
                <a:off x="2627493" y="4080128"/>
                <a:ext cx="693701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0">
                              <a:latin typeface="Cambria Math" panose="02040503050406030204" pitchFamily="18" charset="0"/>
                            </a:rPr>
                            <m:t>593.5</m:t>
                          </m:r>
                          <m:r>
                            <a:rPr lang="zh-TW" altLang="en-US" i="1">
                              <a:latin typeface="Cambria Math" panose="02040503050406030204" pitchFamily="18" charset="0"/>
                            </a:rPr>
                            <m:t>𝑛𝑚</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0">
                              <a:latin typeface="Cambria Math" panose="02040503050406030204" pitchFamily="18" charset="0"/>
                            </a:rPr>
                            <m:t>1064</m:t>
                          </m:r>
                          <m:r>
                            <a:rPr lang="zh-TW" altLang="en-US" i="1">
                              <a:latin typeface="Cambria Math" panose="02040503050406030204" pitchFamily="18" charset="0"/>
                            </a:rPr>
                            <m:t>𝑛𝑚</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0">
                              <a:latin typeface="Cambria Math" panose="02040503050406030204" pitchFamily="18" charset="0"/>
                            </a:rPr>
                            <m:t>1342</m:t>
                          </m:r>
                          <m:r>
                            <a:rPr lang="zh-TW" altLang="en-US" i="1">
                              <a:latin typeface="Cambria Math" panose="02040503050406030204" pitchFamily="18" charset="0"/>
                            </a:rPr>
                            <m:t>𝑛𝑚</m:t>
                          </m:r>
                        </m:sub>
                      </m:sSub>
                      <m:r>
                        <a:rPr lang="zh-TW" altLang="en-US" i="0">
                          <a:latin typeface="Cambria Math" panose="02040503050406030204" pitchFamily="18" charset="0"/>
                        </a:rPr>
                        <m:t>=</m:t>
                      </m:r>
                      <m:r>
                        <a:rPr lang="zh-TW" altLang="en-US" i="1">
                          <a:latin typeface="Cambria Math" panose="02040503050406030204" pitchFamily="18" charset="0"/>
                        </a:rPr>
                        <m:t>h</m:t>
                      </m:r>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𝜈</m:t>
                              </m:r>
                            </m:e>
                            <m:sub>
                              <m:r>
                                <a:rPr lang="zh-TW" altLang="en-US" i="0">
                                  <a:latin typeface="Cambria Math" panose="02040503050406030204" pitchFamily="18" charset="0"/>
                                </a:rPr>
                                <m:t>1064</m:t>
                              </m:r>
                              <m:r>
                                <a:rPr lang="zh-TW" altLang="en-US" i="1">
                                  <a:latin typeface="Cambria Math" panose="02040503050406030204" pitchFamily="18" charset="0"/>
                                </a:rPr>
                                <m:t>𝑛𝑚</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𝜈</m:t>
                              </m:r>
                            </m:e>
                            <m:sub>
                              <m:r>
                                <a:rPr lang="zh-TW" altLang="en-US" i="0">
                                  <a:latin typeface="Cambria Math" panose="02040503050406030204" pitchFamily="18" charset="0"/>
                                </a:rPr>
                                <m:t>1342</m:t>
                              </m:r>
                              <m:r>
                                <a:rPr lang="zh-TW" altLang="en-US" i="1">
                                  <a:latin typeface="Cambria Math" panose="02040503050406030204" pitchFamily="18" charset="0"/>
                                </a:rPr>
                                <m:t>𝑛𝑚</m:t>
                              </m:r>
                            </m:sub>
                          </m:sSub>
                        </m:e>
                      </m:d>
                      <m:r>
                        <a:rPr lang="zh-TW" altLang="en-US" i="0">
                          <a:latin typeface="Cambria Math" panose="02040503050406030204" pitchFamily="18" charset="0"/>
                        </a:rPr>
                        <m:t>=</m:t>
                      </m:r>
                      <m:r>
                        <a:rPr lang="zh-TW" altLang="en-US" i="1">
                          <a:latin typeface="Cambria Math" panose="02040503050406030204" pitchFamily="18" charset="0"/>
                        </a:rPr>
                        <m:t>h</m:t>
                      </m:r>
                      <m:sSub>
                        <m:sSubPr>
                          <m:ctrlPr>
                            <a:rPr lang="zh-TW" altLang="en-US" i="1">
                              <a:latin typeface="Cambria Math" panose="02040503050406030204" pitchFamily="18" charset="0"/>
                            </a:rPr>
                          </m:ctrlPr>
                        </m:sSubPr>
                        <m:e>
                          <m:r>
                            <a:rPr lang="zh-TW" altLang="en-US" i="1">
                              <a:latin typeface="Cambria Math" panose="02040503050406030204" pitchFamily="18" charset="0"/>
                            </a:rPr>
                            <m:t>𝜈</m:t>
                          </m:r>
                        </m:e>
                        <m:sub>
                          <m:r>
                            <a:rPr lang="zh-TW" altLang="en-US" i="0">
                              <a:latin typeface="Cambria Math" panose="02040503050406030204" pitchFamily="18" charset="0"/>
                            </a:rPr>
                            <m:t>593.5</m:t>
                          </m:r>
                          <m:r>
                            <a:rPr lang="zh-TW" altLang="en-US" i="1">
                              <a:latin typeface="Cambria Math" panose="02040503050406030204" pitchFamily="18" charset="0"/>
                            </a:rPr>
                            <m:t>𝑛𝑚</m:t>
                          </m:r>
                        </m:sub>
                      </m:sSub>
                    </m:oMath>
                  </m:oMathPara>
                </a14:m>
                <a:endParaRPr lang="zh-TW" altLang="en-US" dirty="0"/>
              </a:p>
            </p:txBody>
          </p:sp>
        </mc:Choice>
        <mc:Fallback xmlns="">
          <p:sp>
            <p:nvSpPr>
              <p:cNvPr id="13" name="矩形 12">
                <a:extLst>
                  <a:ext uri="{FF2B5EF4-FFF2-40B4-BE49-F238E27FC236}">
                    <a16:creationId xmlns:a16="http://schemas.microsoft.com/office/drawing/2014/main" id="{C2000A87-7641-4EF4-BBD6-5FC4907F8BA0}"/>
                  </a:ext>
                </a:extLst>
              </p:cNvPr>
              <p:cNvSpPr>
                <a:spLocks noRot="1" noChangeAspect="1" noMove="1" noResize="1" noEditPoints="1" noAdjustHandles="1" noChangeArrowheads="1" noChangeShapeType="1" noTextEdit="1"/>
              </p:cNvSpPr>
              <p:nvPr/>
            </p:nvSpPr>
            <p:spPr>
              <a:xfrm>
                <a:off x="2627493" y="4080128"/>
                <a:ext cx="6937015"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F8224686-C0AF-412E-9C4C-229289DDA564}"/>
                  </a:ext>
                </a:extLst>
              </p:cNvPr>
              <p:cNvSpPr/>
              <p:nvPr/>
            </p:nvSpPr>
            <p:spPr>
              <a:xfrm>
                <a:off x="2151888" y="5648272"/>
                <a:ext cx="7888224" cy="71468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acc>
                                <m:accPr>
                                  <m:chr m:val="⃗"/>
                                  <m:ctrlPr>
                                    <a:rPr lang="zh-TW" altLang="en-US" i="1">
                                      <a:latin typeface="Cambria Math" panose="02040503050406030204" pitchFamily="18" charset="0"/>
                                    </a:rPr>
                                  </m:ctrlPr>
                                </m:accPr>
                                <m:e>
                                  <m:r>
                                    <a:rPr lang="zh-TW" altLang="en-US" i="1">
                                      <a:latin typeface="Cambria Math" panose="02040503050406030204" pitchFamily="18" charset="0"/>
                                    </a:rPr>
                                    <m:t>𝑘</m:t>
                                  </m:r>
                                </m:e>
                              </m:acc>
                            </m:e>
                            <m:sub>
                              <m:r>
                                <a:rPr lang="zh-TW" altLang="en-US" i="0">
                                  <a:latin typeface="Cambria Math" panose="02040503050406030204" pitchFamily="18" charset="0"/>
                                </a:rPr>
                                <m:t>593.5</m:t>
                              </m:r>
                              <m:r>
                                <a:rPr lang="zh-TW" altLang="en-US" i="1">
                                  <a:latin typeface="Cambria Math" panose="02040503050406030204" pitchFamily="18" charset="0"/>
                                </a:rPr>
                                <m:t>𝑛𝑚</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acc>
                                <m:accPr>
                                  <m:chr m:val="⃗"/>
                                  <m:ctrlPr>
                                    <a:rPr lang="zh-TW" altLang="en-US" i="1">
                                      <a:latin typeface="Cambria Math" panose="02040503050406030204" pitchFamily="18" charset="0"/>
                                    </a:rPr>
                                  </m:ctrlPr>
                                </m:accPr>
                                <m:e>
                                  <m:r>
                                    <a:rPr lang="zh-TW" altLang="en-US" i="1">
                                      <a:latin typeface="Cambria Math" panose="02040503050406030204" pitchFamily="18" charset="0"/>
                                    </a:rPr>
                                    <m:t>𝑘</m:t>
                                  </m:r>
                                </m:e>
                              </m:acc>
                            </m:e>
                            <m:sub>
                              <m:r>
                                <a:rPr lang="zh-TW" altLang="en-US" i="0">
                                  <a:latin typeface="Cambria Math" panose="02040503050406030204" pitchFamily="18" charset="0"/>
                                </a:rPr>
                                <m:t>1064</m:t>
                              </m:r>
                              <m:r>
                                <a:rPr lang="zh-TW" altLang="en-US" i="1">
                                  <a:latin typeface="Cambria Math" panose="02040503050406030204" pitchFamily="18" charset="0"/>
                                </a:rPr>
                                <m:t>𝑛𝑚</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acc>
                                <m:accPr>
                                  <m:chr m:val="⃗"/>
                                  <m:ctrlPr>
                                    <a:rPr lang="zh-TW" altLang="en-US" i="1">
                                      <a:latin typeface="Cambria Math" panose="02040503050406030204" pitchFamily="18" charset="0"/>
                                    </a:rPr>
                                  </m:ctrlPr>
                                </m:accPr>
                                <m:e>
                                  <m:r>
                                    <a:rPr lang="zh-TW" altLang="en-US" i="1">
                                      <a:latin typeface="Cambria Math" panose="02040503050406030204" pitchFamily="18" charset="0"/>
                                    </a:rPr>
                                    <m:t>𝑘</m:t>
                                  </m:r>
                                </m:e>
                              </m:acc>
                            </m:e>
                            <m:sub>
                              <m:r>
                                <a:rPr lang="zh-TW" altLang="en-US" i="0">
                                  <a:latin typeface="Cambria Math" panose="02040503050406030204" pitchFamily="18" charset="0"/>
                                </a:rPr>
                                <m:t>1342</m:t>
                              </m:r>
                              <m:r>
                                <a:rPr lang="zh-TW" altLang="en-US" i="1">
                                  <a:latin typeface="Cambria Math" panose="02040503050406030204" pitchFamily="18" charset="0"/>
                                </a:rPr>
                                <m:t>𝑛𝑚</m:t>
                              </m:r>
                            </m:sub>
                          </m:sSub>
                          <m:r>
                            <a:rPr lang="zh-TW" altLang="en-US" i="0">
                              <a:latin typeface="Cambria Math" panose="02040503050406030204" pitchFamily="18" charset="0"/>
                            </a:rPr>
                            <m:t>=2</m:t>
                          </m:r>
                          <m:r>
                            <a:rPr lang="zh-TW" altLang="en-US" i="1">
                              <a:latin typeface="Cambria Math" panose="02040503050406030204" pitchFamily="18" charset="0"/>
                            </a:rPr>
                            <m:t>𝜋</m:t>
                          </m:r>
                          <m:r>
                            <a:rPr lang="zh-TW" altLang="en-US" i="0">
                              <a:latin typeface="Cambria Math" panose="02040503050406030204" pitchFamily="18" charset="0"/>
                            </a:rPr>
                            <m:t>(</m:t>
                          </m:r>
                          <m:f>
                            <m:fPr>
                              <m:ctrlPr>
                                <a:rPr lang="zh-TW" altLang="en-US" i="1">
                                  <a:latin typeface="Cambria Math" panose="02040503050406030204" pitchFamily="18" charset="0"/>
                                </a:rPr>
                              </m:ctrlPr>
                            </m:fPr>
                            <m:num>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0">
                                      <a:latin typeface="Cambria Math" panose="02040503050406030204" pitchFamily="18" charset="0"/>
                                    </a:rPr>
                                    <m:t>1064</m:t>
                                  </m:r>
                                  <m:r>
                                    <a:rPr lang="zh-TW" altLang="en-US" i="1">
                                      <a:latin typeface="Cambria Math" panose="02040503050406030204" pitchFamily="18" charset="0"/>
                                    </a:rPr>
                                    <m:t>𝑛𝑚</m:t>
                                  </m:r>
                                </m:sub>
                              </m:sSub>
                            </m:num>
                            <m:den>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0">
                                      <a:latin typeface="Cambria Math" panose="02040503050406030204" pitchFamily="18" charset="0"/>
                                    </a:rPr>
                                    <m:t>1064</m:t>
                                  </m:r>
                                  <m:r>
                                    <a:rPr lang="zh-TW" altLang="en-US" i="1">
                                      <a:latin typeface="Cambria Math" panose="02040503050406030204" pitchFamily="18" charset="0"/>
                                    </a:rPr>
                                    <m:t>𝑛𝑚</m:t>
                                  </m:r>
                                </m:sub>
                              </m:sSub>
                            </m:den>
                          </m:f>
                          <m:r>
                            <a:rPr lang="zh-TW" altLang="en-US" i="0">
                              <a:latin typeface="Cambria Math" panose="02040503050406030204" pitchFamily="18" charset="0"/>
                            </a:rPr>
                            <m:t>)+2</m:t>
                          </m:r>
                          <m:r>
                            <m:rPr>
                              <m:sty m:val="p"/>
                            </m:rPr>
                            <a:rPr lang="zh-TW" altLang="en-US" i="0">
                              <a:latin typeface="Cambria Math" panose="02040503050406030204" pitchFamily="18" charset="0"/>
                            </a:rPr>
                            <m:t>π</m:t>
                          </m:r>
                          <m:r>
                            <a:rPr lang="zh-TW" altLang="en-US" i="0">
                              <a:latin typeface="Cambria Math" panose="02040503050406030204" pitchFamily="18" charset="0"/>
                            </a:rPr>
                            <m:t>(</m:t>
                          </m:r>
                          <m:f>
                            <m:fPr>
                              <m:ctrlPr>
                                <a:rPr lang="zh-TW" altLang="en-US" i="1">
                                  <a:latin typeface="Cambria Math" panose="02040503050406030204" pitchFamily="18" charset="0"/>
                                </a:rPr>
                              </m:ctrlPr>
                            </m:fPr>
                            <m:num>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0">
                                      <a:latin typeface="Cambria Math" panose="02040503050406030204" pitchFamily="18" charset="0"/>
                                    </a:rPr>
                                    <m:t>1342</m:t>
                                  </m:r>
                                  <m:r>
                                    <a:rPr lang="zh-TW" altLang="en-US" i="1">
                                      <a:latin typeface="Cambria Math" panose="02040503050406030204" pitchFamily="18" charset="0"/>
                                    </a:rPr>
                                    <m:t>𝑛𝑚</m:t>
                                  </m:r>
                                </m:sub>
                              </m:sSub>
                            </m:num>
                            <m:den>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0">
                                      <a:latin typeface="Cambria Math" panose="02040503050406030204" pitchFamily="18" charset="0"/>
                                    </a:rPr>
                                    <m:t>1342</m:t>
                                  </m:r>
                                  <m:r>
                                    <a:rPr lang="zh-TW" altLang="en-US" i="1">
                                      <a:latin typeface="Cambria Math" panose="02040503050406030204" pitchFamily="18" charset="0"/>
                                    </a:rPr>
                                    <m:t>𝑛𝑚</m:t>
                                  </m:r>
                                </m:sub>
                              </m:sSub>
                            </m:den>
                          </m:f>
                          <m:r>
                            <a:rPr lang="zh-TW" altLang="en-US" i="0">
                              <a:latin typeface="Cambria Math" panose="02040503050406030204" pitchFamily="18" charset="0"/>
                            </a:rPr>
                            <m:t>)=2</m:t>
                          </m:r>
                          <m:r>
                            <m:rPr>
                              <m:sty m:val="p"/>
                            </m:rPr>
                            <a:rPr lang="zh-TW" altLang="en-US" i="0">
                              <a:latin typeface="Cambria Math" panose="02040503050406030204" pitchFamily="18" charset="0"/>
                            </a:rPr>
                            <m:t>π</m:t>
                          </m:r>
                          <m:r>
                            <a:rPr lang="zh-TW" altLang="en-US" i="0">
                              <a:latin typeface="Cambria Math" panose="02040503050406030204" pitchFamily="18" charset="0"/>
                            </a:rPr>
                            <m:t>(</m:t>
                          </m:r>
                          <m:f>
                            <m:fPr>
                              <m:ctrlPr>
                                <a:rPr lang="zh-TW" altLang="en-US" i="1">
                                  <a:latin typeface="Cambria Math" panose="02040503050406030204" pitchFamily="18" charset="0"/>
                                </a:rPr>
                              </m:ctrlPr>
                            </m:fPr>
                            <m:num>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0">
                                      <a:latin typeface="Cambria Math" panose="02040503050406030204" pitchFamily="18" charset="0"/>
                                    </a:rPr>
                                    <m:t>593.5</m:t>
                                  </m:r>
                                  <m:r>
                                    <a:rPr lang="zh-TW" altLang="en-US" i="1">
                                      <a:latin typeface="Cambria Math" panose="02040503050406030204" pitchFamily="18" charset="0"/>
                                    </a:rPr>
                                    <m:t>𝑛𝑚</m:t>
                                  </m:r>
                                </m:sub>
                              </m:sSub>
                            </m:num>
                            <m:den>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0">
                                      <a:latin typeface="Cambria Math" panose="02040503050406030204" pitchFamily="18" charset="0"/>
                                    </a:rPr>
                                    <m:t>593.5</m:t>
                                  </m:r>
                                  <m:r>
                                    <a:rPr lang="zh-TW" altLang="en-US" i="1">
                                      <a:latin typeface="Cambria Math" panose="02040503050406030204" pitchFamily="18" charset="0"/>
                                    </a:rPr>
                                    <m:t>𝑛𝑚</m:t>
                                  </m:r>
                                </m:sub>
                              </m:sSub>
                            </m:den>
                          </m:f>
                        </m:e>
                      </m:d>
                    </m:oMath>
                  </m:oMathPara>
                </a14:m>
                <a:endParaRPr lang="zh-TW" altLang="en-US" dirty="0"/>
              </a:p>
            </p:txBody>
          </p:sp>
        </mc:Choice>
        <mc:Fallback xmlns="">
          <p:sp>
            <p:nvSpPr>
              <p:cNvPr id="16" name="矩形 15">
                <a:extLst>
                  <a:ext uri="{FF2B5EF4-FFF2-40B4-BE49-F238E27FC236}">
                    <a16:creationId xmlns:a16="http://schemas.microsoft.com/office/drawing/2014/main" id="{F8224686-C0AF-412E-9C4C-229289DDA564}"/>
                  </a:ext>
                </a:extLst>
              </p:cNvPr>
              <p:cNvSpPr>
                <a:spLocks noRot="1" noChangeAspect="1" noMove="1" noResize="1" noEditPoints="1" noAdjustHandles="1" noChangeArrowheads="1" noChangeShapeType="1" noTextEdit="1"/>
              </p:cNvSpPr>
              <p:nvPr/>
            </p:nvSpPr>
            <p:spPr>
              <a:xfrm>
                <a:off x="2151888" y="5648272"/>
                <a:ext cx="7888224" cy="714683"/>
              </a:xfrm>
              <a:prstGeom prst="rect">
                <a:avLst/>
              </a:prstGeom>
              <a:blipFill>
                <a:blip r:embed="rId7"/>
                <a:stretch>
                  <a:fillRect/>
                </a:stretch>
              </a:blipFill>
            </p:spPr>
            <p:txBody>
              <a:bodyPr/>
              <a:lstStyle/>
              <a:p>
                <a:r>
                  <a:rPr lang="zh-TW" altLang="en-US">
                    <a:noFill/>
                  </a:rPr>
                  <a:t> </a:t>
                </a:r>
              </a:p>
            </p:txBody>
          </p:sp>
        </mc:Fallback>
      </mc:AlternateContent>
      <p:sp>
        <p:nvSpPr>
          <p:cNvPr id="17" name="矩形 16">
            <a:extLst>
              <a:ext uri="{FF2B5EF4-FFF2-40B4-BE49-F238E27FC236}">
                <a16:creationId xmlns:a16="http://schemas.microsoft.com/office/drawing/2014/main" id="{18FE68E6-9B7B-4737-B25C-6777845F6EA4}"/>
              </a:ext>
            </a:extLst>
          </p:cNvPr>
          <p:cNvSpPr/>
          <p:nvPr/>
        </p:nvSpPr>
        <p:spPr>
          <a:xfrm>
            <a:off x="4669541" y="3495411"/>
            <a:ext cx="2941831" cy="369332"/>
          </a:xfrm>
          <a:prstGeom prst="rect">
            <a:avLst/>
          </a:prstGeom>
        </p:spPr>
        <p:txBody>
          <a:bodyPr wrap="none">
            <a:spAutoFit/>
          </a:bodyPr>
          <a:lstStyle/>
          <a:p>
            <a:r>
              <a:rPr lang="zh-TW" altLang="en-US" b="1" i="1" dirty="0">
                <a:latin typeface="Times New Roman" panose="02020603050405020304" pitchFamily="18" charset="0"/>
                <a:ea typeface="標楷體" panose="03000509000000000000" pitchFamily="65" charset="-120"/>
                <a:cs typeface="Times New Roman" panose="02020603050405020304" pitchFamily="18" charset="0"/>
              </a:rPr>
              <a:t>Conservation of momentum</a:t>
            </a:r>
          </a:p>
        </p:txBody>
      </p:sp>
      <p:sp>
        <p:nvSpPr>
          <p:cNvPr id="18" name="矩形 17">
            <a:extLst>
              <a:ext uri="{FF2B5EF4-FFF2-40B4-BE49-F238E27FC236}">
                <a16:creationId xmlns:a16="http://schemas.microsoft.com/office/drawing/2014/main" id="{8122042B-3DC3-42AA-819A-EC6731A13581}"/>
              </a:ext>
            </a:extLst>
          </p:cNvPr>
          <p:cNvSpPr/>
          <p:nvPr/>
        </p:nvSpPr>
        <p:spPr>
          <a:xfrm>
            <a:off x="4883221" y="5217501"/>
            <a:ext cx="2480166" cy="369332"/>
          </a:xfrm>
          <a:prstGeom prst="rect">
            <a:avLst/>
          </a:prstGeom>
        </p:spPr>
        <p:txBody>
          <a:bodyPr wrap="none">
            <a:spAutoFit/>
          </a:bodyPr>
          <a:lstStyle/>
          <a:p>
            <a:r>
              <a:rPr lang="zh-TW" altLang="en-US" b="1" i="1" dirty="0">
                <a:latin typeface="Times New Roman" panose="02020603050405020304" pitchFamily="18" charset="0"/>
                <a:ea typeface="標楷體" panose="03000509000000000000" pitchFamily="65" charset="-120"/>
                <a:cs typeface="Times New Roman" panose="02020603050405020304" pitchFamily="18" charset="0"/>
              </a:rPr>
              <a:t>Conservation of energy</a:t>
            </a:r>
          </a:p>
        </p:txBody>
      </p:sp>
      <p:sp>
        <p:nvSpPr>
          <p:cNvPr id="3" name="投影片編號版面配置區 2">
            <a:extLst>
              <a:ext uri="{FF2B5EF4-FFF2-40B4-BE49-F238E27FC236}">
                <a16:creationId xmlns:a16="http://schemas.microsoft.com/office/drawing/2014/main" id="{F1045887-E00F-4795-BAAE-D56BCEE8C17A}"/>
              </a:ext>
            </a:extLst>
          </p:cNvPr>
          <p:cNvSpPr>
            <a:spLocks noGrp="1"/>
          </p:cNvSpPr>
          <p:nvPr>
            <p:ph type="sldNum" sz="quarter" idx="12"/>
          </p:nvPr>
        </p:nvSpPr>
        <p:spPr/>
        <p:txBody>
          <a:bodyPr/>
          <a:lstStyle/>
          <a:p>
            <a:fld id="{9044CBB6-E20C-4076-82F9-F8F95241C54D}" type="slidenum">
              <a:rPr lang="zh-TW" altLang="en-US" smtClean="0">
                <a:solidFill>
                  <a:schemeClr val="tx1"/>
                </a:solidFill>
              </a:rPr>
              <a:t>15</a:t>
            </a:fld>
            <a:endParaRPr lang="zh-TW" altLang="en-US" dirty="0">
              <a:solidFill>
                <a:schemeClr val="tx1"/>
              </a:solidFill>
            </a:endParaRPr>
          </a:p>
        </p:txBody>
      </p:sp>
      <p:sp>
        <p:nvSpPr>
          <p:cNvPr id="2" name="立方體 1">
            <a:extLst>
              <a:ext uri="{FF2B5EF4-FFF2-40B4-BE49-F238E27FC236}">
                <a16:creationId xmlns:a16="http://schemas.microsoft.com/office/drawing/2014/main" id="{CFA35B29-56FA-4753-881D-589FB8D3EE1D}"/>
              </a:ext>
            </a:extLst>
          </p:cNvPr>
          <p:cNvSpPr/>
          <p:nvPr/>
        </p:nvSpPr>
        <p:spPr>
          <a:xfrm>
            <a:off x="3049912" y="1751311"/>
            <a:ext cx="2351643" cy="1506671"/>
          </a:xfrm>
          <a:prstGeom prst="cube">
            <a:avLst/>
          </a:prstGeom>
          <a:solidFill>
            <a:schemeClr val="bg1">
              <a:lumMod val="65000"/>
            </a:schemeClr>
          </a:solidFill>
          <a:ln w="25400">
            <a:solidFill>
              <a:schemeClr val="tx1"/>
            </a:solidFill>
          </a:ln>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5" name="文字方塊 4">
                <a:extLst>
                  <a:ext uri="{FF2B5EF4-FFF2-40B4-BE49-F238E27FC236}">
                    <a16:creationId xmlns:a16="http://schemas.microsoft.com/office/drawing/2014/main" id="{7A927414-A970-41B7-AEC7-845FE5B66A7D}"/>
                  </a:ext>
                </a:extLst>
              </p:cNvPr>
              <p:cNvSpPr txBox="1"/>
              <p:nvPr/>
            </p:nvSpPr>
            <p:spPr>
              <a:xfrm>
                <a:off x="3794601" y="2504206"/>
                <a:ext cx="641458"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TW" b="1" i="1" smtClean="0">
                              <a:effectLst>
                                <a:outerShdw blurRad="38100" dist="38100" dir="2700000" algn="tl">
                                  <a:srgbClr val="000000">
                                    <a:alpha val="43137"/>
                                  </a:srgbClr>
                                </a:outerShdw>
                              </a:effectLst>
                              <a:latin typeface="Cambria Math" panose="02040503050406030204" pitchFamily="18" charset="0"/>
                            </a:rPr>
                          </m:ctrlPr>
                        </m:sSupPr>
                        <m:e>
                          <m:r>
                            <a:rPr lang="zh-TW" altLang="en-US" b="1" i="1" smtClean="0">
                              <a:effectLst>
                                <a:outerShdw blurRad="38100" dist="38100" dir="2700000" algn="tl">
                                  <a:srgbClr val="000000">
                                    <a:alpha val="43137"/>
                                  </a:srgbClr>
                                </a:outerShdw>
                              </a:effectLst>
                              <a:latin typeface="Cambria Math" panose="02040503050406030204" pitchFamily="18" charset="0"/>
                            </a:rPr>
                            <m:t>𝝌</m:t>
                          </m:r>
                        </m:e>
                        <m:sup>
                          <m:r>
                            <a:rPr lang="en-US" altLang="zh-TW" b="1" i="1" smtClean="0">
                              <a:effectLst>
                                <a:outerShdw blurRad="38100" dist="38100" dir="2700000" algn="tl">
                                  <a:srgbClr val="000000">
                                    <a:alpha val="43137"/>
                                  </a:srgbClr>
                                </a:outerShdw>
                              </a:effectLst>
                              <a:latin typeface="Cambria Math" panose="02040503050406030204" pitchFamily="18" charset="0"/>
                            </a:rPr>
                            <m:t>(</m:t>
                          </m:r>
                          <m:r>
                            <a:rPr lang="en-US" altLang="zh-TW" b="1" i="1" smtClean="0">
                              <a:effectLst>
                                <a:outerShdw blurRad="38100" dist="38100" dir="2700000" algn="tl">
                                  <a:srgbClr val="000000">
                                    <a:alpha val="43137"/>
                                  </a:srgbClr>
                                </a:outerShdw>
                              </a:effectLst>
                              <a:latin typeface="Cambria Math" panose="02040503050406030204" pitchFamily="18" charset="0"/>
                            </a:rPr>
                            <m:t>𝟐</m:t>
                          </m:r>
                          <m:r>
                            <a:rPr lang="en-US" altLang="zh-TW" b="1" i="1" smtClean="0">
                              <a:effectLst>
                                <a:outerShdw blurRad="38100" dist="38100" dir="2700000" algn="tl">
                                  <a:srgbClr val="000000">
                                    <a:alpha val="43137"/>
                                  </a:srgbClr>
                                </a:outerShdw>
                              </a:effectLst>
                              <a:latin typeface="Cambria Math" panose="02040503050406030204" pitchFamily="18" charset="0"/>
                            </a:rPr>
                            <m:t>)</m:t>
                          </m:r>
                        </m:sup>
                      </m:sSup>
                    </m:oMath>
                  </m:oMathPara>
                </a14:m>
                <a:endParaRPr lang="zh-TW" altLang="en-US" b="1" dirty="0">
                  <a:effectLst>
                    <a:outerShdw blurRad="38100" dist="38100" dir="2700000" algn="tl">
                      <a:srgbClr val="000000">
                        <a:alpha val="43137"/>
                      </a:srgbClr>
                    </a:outerShdw>
                  </a:effectLst>
                </a:endParaRPr>
              </a:p>
            </p:txBody>
          </p:sp>
        </mc:Choice>
        <mc:Fallback>
          <p:sp>
            <p:nvSpPr>
              <p:cNvPr id="5" name="文字方塊 4">
                <a:extLst>
                  <a:ext uri="{FF2B5EF4-FFF2-40B4-BE49-F238E27FC236}">
                    <a16:creationId xmlns:a16="http://schemas.microsoft.com/office/drawing/2014/main" id="{7A927414-A970-41B7-AEC7-845FE5B66A7D}"/>
                  </a:ext>
                </a:extLst>
              </p:cNvPr>
              <p:cNvSpPr txBox="1">
                <a:spLocks noRot="1" noChangeAspect="1" noMove="1" noResize="1" noEditPoints="1" noAdjustHandles="1" noChangeArrowheads="1" noChangeShapeType="1" noTextEdit="1"/>
              </p:cNvSpPr>
              <p:nvPr/>
            </p:nvSpPr>
            <p:spPr>
              <a:xfrm>
                <a:off x="3794601" y="2504206"/>
                <a:ext cx="641458" cy="380810"/>
              </a:xfrm>
              <a:prstGeom prst="rect">
                <a:avLst/>
              </a:prstGeom>
              <a:blipFill>
                <a:blip r:embed="rId8"/>
                <a:stretch>
                  <a:fillRect b="-11290"/>
                </a:stretch>
              </a:blipFill>
            </p:spPr>
            <p:txBody>
              <a:bodyPr/>
              <a:lstStyle/>
              <a:p>
                <a:r>
                  <a:rPr lang="en-US">
                    <a:noFill/>
                  </a:rPr>
                  <a:t> </a:t>
                </a:r>
              </a:p>
            </p:txBody>
          </p:sp>
        </mc:Fallback>
      </mc:AlternateContent>
    </p:spTree>
    <p:extLst>
      <p:ext uri="{BB962C8B-B14F-4D97-AF65-F5344CB8AC3E}">
        <p14:creationId xmlns:p14="http://schemas.microsoft.com/office/powerpoint/2010/main" val="1722915708"/>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1620957"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Outline</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47686852-5EC8-47A2-BE38-C45E11A0EA84}"/>
              </a:ext>
            </a:extLst>
          </p:cNvPr>
          <p:cNvSpPr>
            <a:spLocks noGrp="1"/>
          </p:cNvSpPr>
          <p:nvPr>
            <p:ph type="sldNum" sz="quarter" idx="12"/>
          </p:nvPr>
        </p:nvSpPr>
        <p:spPr/>
        <p:txBody>
          <a:bodyPr/>
          <a:lstStyle/>
          <a:p>
            <a:fld id="{9044CBB6-E20C-4076-82F9-F8F95241C54D}" type="slidenum">
              <a:rPr lang="zh-TW" altLang="en-US" smtClean="0">
                <a:solidFill>
                  <a:schemeClr val="tx1"/>
                </a:solidFill>
              </a:rPr>
              <a:t>16</a:t>
            </a:fld>
            <a:endParaRPr lang="zh-TW" altLang="en-US">
              <a:solidFill>
                <a:schemeClr val="tx1"/>
              </a:solidFill>
            </a:endParaRPr>
          </a:p>
        </p:txBody>
      </p:sp>
      <p:sp>
        <p:nvSpPr>
          <p:cNvPr id="7" name="矩形 6">
            <a:extLst>
              <a:ext uri="{FF2B5EF4-FFF2-40B4-BE49-F238E27FC236}">
                <a16:creationId xmlns:a16="http://schemas.microsoft.com/office/drawing/2014/main" id="{E4DD3478-BB5D-4918-A791-2662B66F9675}"/>
              </a:ext>
            </a:extLst>
          </p:cNvPr>
          <p:cNvSpPr/>
          <p:nvPr/>
        </p:nvSpPr>
        <p:spPr>
          <a:xfrm>
            <a:off x="337373" y="2822061"/>
            <a:ext cx="8537359" cy="1138773"/>
          </a:xfrm>
          <a:prstGeom prst="rect">
            <a:avLst/>
          </a:prstGeom>
        </p:spPr>
        <p:txBody>
          <a:bodyPr wrap="square">
            <a:spAutoFit/>
          </a:bodyPr>
          <a:lstStyle/>
          <a:p>
            <a:pPr lvl="0">
              <a:spcAft>
                <a:spcPts val="0"/>
              </a:spcAft>
            </a:pPr>
            <a:r>
              <a:rPr lang="en-US" altLang="zh-TW" sz="2000" b="1" kern="100" dirty="0">
                <a:latin typeface="Times New Roman" panose="02020603050405020304" pitchFamily="18" charset="0"/>
                <a:ea typeface="標楷體" panose="03000509000000000000" pitchFamily="65" charset="-120"/>
                <a:cs typeface="Times New Roman" panose="02020603050405020304" pitchFamily="18" charset="0"/>
              </a:rPr>
              <a:t>iii. Device Design and Simulation Results</a:t>
            </a:r>
            <a:endParaRPr lang="zh-TW" altLang="zh-TW" sz="1100" kern="100" dirty="0">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Simulated Annealing Method</a:t>
            </a:r>
            <a:endParaRPr lang="zh-TW" altLang="zh-TW" sz="1200" kern="100" dirty="0">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Dual-wavelength Electro-Optic polarization rotation</a:t>
            </a:r>
            <a:endParaRPr lang="zh-TW" altLang="zh-TW" sz="1200" kern="100" dirty="0">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Simulation Results</a:t>
            </a:r>
          </a:p>
        </p:txBody>
      </p:sp>
      <p:pic>
        <p:nvPicPr>
          <p:cNvPr id="9" name="Picture 2" descr="https://scontent.xx.fbcdn.net/v/t35.0-12/18926362_10213084281410610_597485951_o.jpg?oh=32a4942d443050c0d576527d420552b7&amp;oe=5937BF7E">
            <a:extLst>
              <a:ext uri="{FF2B5EF4-FFF2-40B4-BE49-F238E27FC236}">
                <a16:creationId xmlns:a16="http://schemas.microsoft.com/office/drawing/2014/main" id="{7D7BEAD5-7612-4793-9D78-DED082C2A9DC}"/>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8867787" y="786554"/>
            <a:ext cx="3071672" cy="2488368"/>
          </a:xfrm>
          <a:prstGeom prst="rect">
            <a:avLst/>
          </a:prstGeom>
          <a:noFill/>
          <a:extLst>
            <a:ext uri="{909E8E84-426E-40DD-AFC4-6F175D3DCCD1}">
              <a14:hiddenFill xmlns:a14="http://schemas.microsoft.com/office/drawing/2010/main">
                <a:solidFill>
                  <a:srgbClr val="FFFFFF"/>
                </a:solidFill>
              </a14:hiddenFill>
            </a:ext>
          </a:extLst>
        </p:spPr>
      </p:pic>
      <p:pic>
        <p:nvPicPr>
          <p:cNvPr id="10" name="圖片 9">
            <a:extLst>
              <a:ext uri="{FF2B5EF4-FFF2-40B4-BE49-F238E27FC236}">
                <a16:creationId xmlns:a16="http://schemas.microsoft.com/office/drawing/2014/main" id="{23B26D8A-7649-4C51-BE44-F34E3D5890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8099" y="824742"/>
            <a:ext cx="3528753" cy="2389617"/>
          </a:xfrm>
          <a:prstGeom prst="rect">
            <a:avLst/>
          </a:prstGeom>
        </p:spPr>
      </p:pic>
      <p:pic>
        <p:nvPicPr>
          <p:cNvPr id="11" name="圖片 10">
            <a:extLst>
              <a:ext uri="{FF2B5EF4-FFF2-40B4-BE49-F238E27FC236}">
                <a16:creationId xmlns:a16="http://schemas.microsoft.com/office/drawing/2014/main" id="{8BC548A6-1110-4824-BE3E-91E5D3153F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3058" y="3466489"/>
            <a:ext cx="2226351" cy="2226351"/>
          </a:xfrm>
          <a:prstGeom prst="rect">
            <a:avLst/>
          </a:prstGeom>
        </p:spPr>
      </p:pic>
      <p:pic>
        <p:nvPicPr>
          <p:cNvPr id="12" name="圖片 11">
            <a:extLst>
              <a:ext uri="{FF2B5EF4-FFF2-40B4-BE49-F238E27FC236}">
                <a16:creationId xmlns:a16="http://schemas.microsoft.com/office/drawing/2014/main" id="{D39A5AA6-90EC-4E28-AD59-B06FD1E1B5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88041" y="3335486"/>
            <a:ext cx="3317812" cy="2488359"/>
          </a:xfrm>
          <a:prstGeom prst="rect">
            <a:avLst/>
          </a:prstGeom>
        </p:spPr>
      </p:pic>
    </p:spTree>
    <p:extLst>
      <p:ext uri="{BB962C8B-B14F-4D97-AF65-F5344CB8AC3E}">
        <p14:creationId xmlns:p14="http://schemas.microsoft.com/office/powerpoint/2010/main" val="35080796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6" name="文字方塊 5">
            <a:extLst>
              <a:ext uri="{FF2B5EF4-FFF2-40B4-BE49-F238E27FC236}">
                <a16:creationId xmlns:a16="http://schemas.microsoft.com/office/drawing/2014/main" id="{3CC93AA2-DA98-4535-976F-90F4234A810F}"/>
              </a:ext>
            </a:extLst>
          </p:cNvPr>
          <p:cNvSpPr txBox="1"/>
          <p:nvPr/>
        </p:nvSpPr>
        <p:spPr>
          <a:xfrm>
            <a:off x="727969" y="79659"/>
            <a:ext cx="5784469" cy="646331"/>
          </a:xfrm>
          <a:prstGeom prst="rect">
            <a:avLst/>
          </a:prstGeom>
          <a:noFill/>
        </p:spPr>
        <p:txBody>
          <a:bodyPr wrap="none" rtlCol="0">
            <a:spAutoFit/>
          </a:bodyPr>
          <a:lstStyle/>
          <a:p>
            <a:r>
              <a:rPr lang="en-US" altLang="zh-TW" sz="3600" b="1" i="1" kern="100" dirty="0">
                <a:latin typeface="Times New Roman" panose="02020603050405020304" pitchFamily="18" charset="0"/>
                <a:ea typeface="標楷體" panose="03000509000000000000" pitchFamily="65" charset="-120"/>
                <a:cs typeface="Times New Roman" panose="02020603050405020304" pitchFamily="18" charset="0"/>
              </a:rPr>
              <a:t>Simulated Annealing Method</a:t>
            </a:r>
            <a:endParaRPr lang="zh-TW" altLang="zh-TW" sz="3600" b="1" i="1" kern="1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5" name="圖片 4">
            <a:extLst>
              <a:ext uri="{FF2B5EF4-FFF2-40B4-BE49-F238E27FC236}">
                <a16:creationId xmlns:a16="http://schemas.microsoft.com/office/drawing/2014/main" id="{79B7FC15-F40A-4869-975B-97E5FC434B71}"/>
              </a:ext>
            </a:extLst>
          </p:cNvPr>
          <p:cNvPicPr/>
          <p:nvPr/>
        </p:nvPicPr>
        <p:blipFill>
          <a:blip r:embed="rId2">
            <a:extLst>
              <a:ext uri="{28A0092B-C50C-407E-A947-70E740481C1C}">
                <a14:useLocalDpi xmlns:a14="http://schemas.microsoft.com/office/drawing/2010/main" val="0"/>
              </a:ext>
            </a:extLst>
          </a:blip>
          <a:stretch>
            <a:fillRect/>
          </a:stretch>
        </p:blipFill>
        <p:spPr>
          <a:xfrm>
            <a:off x="285532" y="870557"/>
            <a:ext cx="4190197" cy="2588121"/>
          </a:xfrm>
          <a:prstGeom prst="rect">
            <a:avLst/>
          </a:prstGeom>
        </p:spPr>
      </p:pic>
      <p:pic>
        <p:nvPicPr>
          <p:cNvPr id="7" name="圖片 6">
            <a:extLst>
              <a:ext uri="{FF2B5EF4-FFF2-40B4-BE49-F238E27FC236}">
                <a16:creationId xmlns:a16="http://schemas.microsoft.com/office/drawing/2014/main" id="{5B7AADF8-2AB6-4606-BB11-8179EA197654}"/>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85532" y="3764280"/>
            <a:ext cx="4690745" cy="3093720"/>
          </a:xfrm>
          <a:prstGeom prst="rect">
            <a:avLst/>
          </a:prstGeom>
        </p:spPr>
      </p:pic>
      <p:grpSp>
        <p:nvGrpSpPr>
          <p:cNvPr id="68" name="群組 67">
            <a:extLst>
              <a:ext uri="{FF2B5EF4-FFF2-40B4-BE49-F238E27FC236}">
                <a16:creationId xmlns:a16="http://schemas.microsoft.com/office/drawing/2014/main" id="{CE8D9163-FF4F-489D-ADE1-B7149381E2D0}"/>
              </a:ext>
            </a:extLst>
          </p:cNvPr>
          <p:cNvGrpSpPr/>
          <p:nvPr/>
        </p:nvGrpSpPr>
        <p:grpSpPr>
          <a:xfrm>
            <a:off x="6640678" y="172188"/>
            <a:ext cx="5483275" cy="463026"/>
            <a:chOff x="4475729" y="2632446"/>
            <a:chExt cx="5483275" cy="463026"/>
          </a:xfrm>
        </p:grpSpPr>
        <p:sp>
          <p:nvSpPr>
            <p:cNvPr id="9" name="立方體 8">
              <a:extLst>
                <a:ext uri="{FF2B5EF4-FFF2-40B4-BE49-F238E27FC236}">
                  <a16:creationId xmlns:a16="http://schemas.microsoft.com/office/drawing/2014/main" id="{688F0929-1B5C-4469-8FAA-3F6E655B1A73}"/>
                </a:ext>
              </a:extLst>
            </p:cNvPr>
            <p:cNvSpPr/>
            <p:nvPr/>
          </p:nvSpPr>
          <p:spPr>
            <a:xfrm>
              <a:off x="4475729" y="2633575"/>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箭號: 向上 1">
              <a:extLst>
                <a:ext uri="{FF2B5EF4-FFF2-40B4-BE49-F238E27FC236}">
                  <a16:creationId xmlns:a16="http://schemas.microsoft.com/office/drawing/2014/main" id="{5E212B1F-1C63-4D12-863B-010232546C20}"/>
                </a:ext>
              </a:extLst>
            </p:cNvPr>
            <p:cNvSpPr/>
            <p:nvPr/>
          </p:nvSpPr>
          <p:spPr>
            <a:xfrm>
              <a:off x="4563113" y="2896796"/>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立方體 23">
              <a:extLst>
                <a:ext uri="{FF2B5EF4-FFF2-40B4-BE49-F238E27FC236}">
                  <a16:creationId xmlns:a16="http://schemas.microsoft.com/office/drawing/2014/main" id="{E31850A9-DFA8-47A7-953D-8567143E5745}"/>
                </a:ext>
              </a:extLst>
            </p:cNvPr>
            <p:cNvSpPr/>
            <p:nvPr/>
          </p:nvSpPr>
          <p:spPr>
            <a:xfrm>
              <a:off x="4737015" y="2633575"/>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立方體 24">
              <a:extLst>
                <a:ext uri="{FF2B5EF4-FFF2-40B4-BE49-F238E27FC236}">
                  <a16:creationId xmlns:a16="http://schemas.microsoft.com/office/drawing/2014/main" id="{C9276D62-174F-4AEA-8624-1D8BC4A1B98C}"/>
                </a:ext>
              </a:extLst>
            </p:cNvPr>
            <p:cNvSpPr/>
            <p:nvPr/>
          </p:nvSpPr>
          <p:spPr>
            <a:xfrm>
              <a:off x="4998301" y="2632449"/>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立方體 25">
              <a:extLst>
                <a:ext uri="{FF2B5EF4-FFF2-40B4-BE49-F238E27FC236}">
                  <a16:creationId xmlns:a16="http://schemas.microsoft.com/office/drawing/2014/main" id="{4043E6FF-40F9-46F8-9EEB-2D5F4F38592F}"/>
                </a:ext>
              </a:extLst>
            </p:cNvPr>
            <p:cNvSpPr/>
            <p:nvPr/>
          </p:nvSpPr>
          <p:spPr>
            <a:xfrm>
              <a:off x="5260165" y="2632449"/>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立方體 26">
              <a:extLst>
                <a:ext uri="{FF2B5EF4-FFF2-40B4-BE49-F238E27FC236}">
                  <a16:creationId xmlns:a16="http://schemas.microsoft.com/office/drawing/2014/main" id="{CEFE0D8D-D242-43BC-936D-E52390FACFF2}"/>
                </a:ext>
              </a:extLst>
            </p:cNvPr>
            <p:cNvSpPr/>
            <p:nvPr/>
          </p:nvSpPr>
          <p:spPr>
            <a:xfrm>
              <a:off x="5520873" y="2632449"/>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箭號: 向上 27">
              <a:extLst>
                <a:ext uri="{FF2B5EF4-FFF2-40B4-BE49-F238E27FC236}">
                  <a16:creationId xmlns:a16="http://schemas.microsoft.com/office/drawing/2014/main" id="{52A8B68D-CDB0-4B0E-90FE-905787A53D01}"/>
                </a:ext>
              </a:extLst>
            </p:cNvPr>
            <p:cNvSpPr/>
            <p:nvPr/>
          </p:nvSpPr>
          <p:spPr>
            <a:xfrm>
              <a:off x="4811600" y="2896796"/>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箭號: 向上 28">
              <a:extLst>
                <a:ext uri="{FF2B5EF4-FFF2-40B4-BE49-F238E27FC236}">
                  <a16:creationId xmlns:a16="http://schemas.microsoft.com/office/drawing/2014/main" id="{E129FA30-F707-4D3C-97C2-0B72C894A7C6}"/>
                </a:ext>
              </a:extLst>
            </p:cNvPr>
            <p:cNvSpPr/>
            <p:nvPr/>
          </p:nvSpPr>
          <p:spPr>
            <a:xfrm>
              <a:off x="5075237" y="2896796"/>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箭號: 向上 29">
              <a:extLst>
                <a:ext uri="{FF2B5EF4-FFF2-40B4-BE49-F238E27FC236}">
                  <a16:creationId xmlns:a16="http://schemas.microsoft.com/office/drawing/2014/main" id="{5E9CACF9-E59E-46DB-9157-8890074F7C88}"/>
                </a:ext>
              </a:extLst>
            </p:cNvPr>
            <p:cNvSpPr/>
            <p:nvPr/>
          </p:nvSpPr>
          <p:spPr>
            <a:xfrm>
              <a:off x="5339552" y="2896796"/>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箭號: 向上 30">
              <a:extLst>
                <a:ext uri="{FF2B5EF4-FFF2-40B4-BE49-F238E27FC236}">
                  <a16:creationId xmlns:a16="http://schemas.microsoft.com/office/drawing/2014/main" id="{3821350A-70C2-46C7-9DB9-7B8C99EBC890}"/>
                </a:ext>
              </a:extLst>
            </p:cNvPr>
            <p:cNvSpPr/>
            <p:nvPr/>
          </p:nvSpPr>
          <p:spPr>
            <a:xfrm rot="10800000">
              <a:off x="5601416" y="2896796"/>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立方體 31">
              <a:extLst>
                <a:ext uri="{FF2B5EF4-FFF2-40B4-BE49-F238E27FC236}">
                  <a16:creationId xmlns:a16="http://schemas.microsoft.com/office/drawing/2014/main" id="{1BE21A7C-4E72-477B-954A-1CDC7722EF99}"/>
                </a:ext>
              </a:extLst>
            </p:cNvPr>
            <p:cNvSpPr/>
            <p:nvPr/>
          </p:nvSpPr>
          <p:spPr>
            <a:xfrm>
              <a:off x="5782737" y="2632448"/>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箭號: 向上 32">
              <a:extLst>
                <a:ext uri="{FF2B5EF4-FFF2-40B4-BE49-F238E27FC236}">
                  <a16:creationId xmlns:a16="http://schemas.microsoft.com/office/drawing/2014/main" id="{22F5B240-3FAE-43FC-ACD2-7D9D12C3F3FB}"/>
                </a:ext>
              </a:extLst>
            </p:cNvPr>
            <p:cNvSpPr/>
            <p:nvPr/>
          </p:nvSpPr>
          <p:spPr>
            <a:xfrm>
              <a:off x="5859672" y="2896795"/>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立方體 33">
              <a:extLst>
                <a:ext uri="{FF2B5EF4-FFF2-40B4-BE49-F238E27FC236}">
                  <a16:creationId xmlns:a16="http://schemas.microsoft.com/office/drawing/2014/main" id="{BD29921D-9647-4C4F-81DB-0C2E3E8E86F6}"/>
                </a:ext>
              </a:extLst>
            </p:cNvPr>
            <p:cNvSpPr/>
            <p:nvPr/>
          </p:nvSpPr>
          <p:spPr>
            <a:xfrm>
              <a:off x="6044600" y="2632447"/>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向上 34">
              <a:extLst>
                <a:ext uri="{FF2B5EF4-FFF2-40B4-BE49-F238E27FC236}">
                  <a16:creationId xmlns:a16="http://schemas.microsoft.com/office/drawing/2014/main" id="{745D8FC6-3174-431F-8B31-319F9A7477AF}"/>
                </a:ext>
              </a:extLst>
            </p:cNvPr>
            <p:cNvSpPr/>
            <p:nvPr/>
          </p:nvSpPr>
          <p:spPr>
            <a:xfrm>
              <a:off x="6121536" y="2896794"/>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立方體 35">
              <a:extLst>
                <a:ext uri="{FF2B5EF4-FFF2-40B4-BE49-F238E27FC236}">
                  <a16:creationId xmlns:a16="http://schemas.microsoft.com/office/drawing/2014/main" id="{373645EB-368D-49D8-9D1F-D480945584C9}"/>
                </a:ext>
              </a:extLst>
            </p:cNvPr>
            <p:cNvSpPr/>
            <p:nvPr/>
          </p:nvSpPr>
          <p:spPr>
            <a:xfrm>
              <a:off x="6305309" y="2632448"/>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箭號: 向上 36">
              <a:extLst>
                <a:ext uri="{FF2B5EF4-FFF2-40B4-BE49-F238E27FC236}">
                  <a16:creationId xmlns:a16="http://schemas.microsoft.com/office/drawing/2014/main" id="{55FAD06D-CD72-4E7E-8634-28188F9F1FE8}"/>
                </a:ext>
              </a:extLst>
            </p:cNvPr>
            <p:cNvSpPr/>
            <p:nvPr/>
          </p:nvSpPr>
          <p:spPr>
            <a:xfrm rot="10800000">
              <a:off x="6385851" y="2896795"/>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立方體 37">
              <a:extLst>
                <a:ext uri="{FF2B5EF4-FFF2-40B4-BE49-F238E27FC236}">
                  <a16:creationId xmlns:a16="http://schemas.microsoft.com/office/drawing/2014/main" id="{29AA9F1B-A220-4B98-BBA2-48C35E3CEDF4}"/>
                </a:ext>
              </a:extLst>
            </p:cNvPr>
            <p:cNvSpPr/>
            <p:nvPr/>
          </p:nvSpPr>
          <p:spPr>
            <a:xfrm>
              <a:off x="6566595" y="2632447"/>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箭號: 向上 38">
              <a:extLst>
                <a:ext uri="{FF2B5EF4-FFF2-40B4-BE49-F238E27FC236}">
                  <a16:creationId xmlns:a16="http://schemas.microsoft.com/office/drawing/2014/main" id="{09D1C7BF-386C-4634-867A-96D4839C2720}"/>
                </a:ext>
              </a:extLst>
            </p:cNvPr>
            <p:cNvSpPr/>
            <p:nvPr/>
          </p:nvSpPr>
          <p:spPr>
            <a:xfrm rot="10800000">
              <a:off x="6647137"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立方體 39">
              <a:extLst>
                <a:ext uri="{FF2B5EF4-FFF2-40B4-BE49-F238E27FC236}">
                  <a16:creationId xmlns:a16="http://schemas.microsoft.com/office/drawing/2014/main" id="{26C65E04-F4D4-4106-A70E-47664FC47734}"/>
                </a:ext>
              </a:extLst>
            </p:cNvPr>
            <p:cNvSpPr/>
            <p:nvPr/>
          </p:nvSpPr>
          <p:spPr>
            <a:xfrm>
              <a:off x="6829702" y="2632446"/>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箭號: 向上 40">
              <a:extLst>
                <a:ext uri="{FF2B5EF4-FFF2-40B4-BE49-F238E27FC236}">
                  <a16:creationId xmlns:a16="http://schemas.microsoft.com/office/drawing/2014/main" id="{614CC3D1-4837-45D8-A0B6-4826A7DDEC5D}"/>
                </a:ext>
              </a:extLst>
            </p:cNvPr>
            <p:cNvSpPr/>
            <p:nvPr/>
          </p:nvSpPr>
          <p:spPr>
            <a:xfrm rot="10800000">
              <a:off x="6910245"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立方體 41">
              <a:extLst>
                <a:ext uri="{FF2B5EF4-FFF2-40B4-BE49-F238E27FC236}">
                  <a16:creationId xmlns:a16="http://schemas.microsoft.com/office/drawing/2014/main" id="{C11458F7-9EC6-4C3B-84B6-A3616AEBCECD}"/>
                </a:ext>
              </a:extLst>
            </p:cNvPr>
            <p:cNvSpPr/>
            <p:nvPr/>
          </p:nvSpPr>
          <p:spPr>
            <a:xfrm>
              <a:off x="7092809" y="2632446"/>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箭號: 向上 42">
              <a:extLst>
                <a:ext uri="{FF2B5EF4-FFF2-40B4-BE49-F238E27FC236}">
                  <a16:creationId xmlns:a16="http://schemas.microsoft.com/office/drawing/2014/main" id="{633908E7-0DC6-48D9-A992-5D1EB5F92D46}"/>
                </a:ext>
              </a:extLst>
            </p:cNvPr>
            <p:cNvSpPr/>
            <p:nvPr/>
          </p:nvSpPr>
          <p:spPr>
            <a:xfrm rot="10800000">
              <a:off x="7173352"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立方體 43">
              <a:extLst>
                <a:ext uri="{FF2B5EF4-FFF2-40B4-BE49-F238E27FC236}">
                  <a16:creationId xmlns:a16="http://schemas.microsoft.com/office/drawing/2014/main" id="{AE1E6CF4-566D-470D-A0C8-1535846592D0}"/>
                </a:ext>
              </a:extLst>
            </p:cNvPr>
            <p:cNvSpPr/>
            <p:nvPr/>
          </p:nvSpPr>
          <p:spPr>
            <a:xfrm>
              <a:off x="7355917" y="2632446"/>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箭號: 向上 44">
              <a:extLst>
                <a:ext uri="{FF2B5EF4-FFF2-40B4-BE49-F238E27FC236}">
                  <a16:creationId xmlns:a16="http://schemas.microsoft.com/office/drawing/2014/main" id="{7D9E986E-309F-4A37-BB95-B7799666E227}"/>
                </a:ext>
              </a:extLst>
            </p:cNvPr>
            <p:cNvSpPr/>
            <p:nvPr/>
          </p:nvSpPr>
          <p:spPr>
            <a:xfrm rot="10800000">
              <a:off x="7436459"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立方體 50">
              <a:extLst>
                <a:ext uri="{FF2B5EF4-FFF2-40B4-BE49-F238E27FC236}">
                  <a16:creationId xmlns:a16="http://schemas.microsoft.com/office/drawing/2014/main" id="{0D4C0C09-201F-400B-8B13-9CB58DA339D3}"/>
                </a:ext>
              </a:extLst>
            </p:cNvPr>
            <p:cNvSpPr/>
            <p:nvPr/>
          </p:nvSpPr>
          <p:spPr>
            <a:xfrm>
              <a:off x="7613560" y="2635327"/>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箭號: 向上 51">
              <a:extLst>
                <a:ext uri="{FF2B5EF4-FFF2-40B4-BE49-F238E27FC236}">
                  <a16:creationId xmlns:a16="http://schemas.microsoft.com/office/drawing/2014/main" id="{84AFB56D-7C06-43E2-82B1-5D2A2AF10BB9}"/>
                </a:ext>
              </a:extLst>
            </p:cNvPr>
            <p:cNvSpPr/>
            <p:nvPr/>
          </p:nvSpPr>
          <p:spPr>
            <a:xfrm>
              <a:off x="7700944" y="2896794"/>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立方體 53">
              <a:extLst>
                <a:ext uri="{FF2B5EF4-FFF2-40B4-BE49-F238E27FC236}">
                  <a16:creationId xmlns:a16="http://schemas.microsoft.com/office/drawing/2014/main" id="{2787B456-B37D-41B1-B0A8-D5FE7FCA7897}"/>
                </a:ext>
              </a:extLst>
            </p:cNvPr>
            <p:cNvSpPr/>
            <p:nvPr/>
          </p:nvSpPr>
          <p:spPr>
            <a:xfrm>
              <a:off x="8662445" y="2632446"/>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箭號: 向上 55">
              <a:extLst>
                <a:ext uri="{FF2B5EF4-FFF2-40B4-BE49-F238E27FC236}">
                  <a16:creationId xmlns:a16="http://schemas.microsoft.com/office/drawing/2014/main" id="{22A99709-5806-4F9E-B060-65E4CE88B40A}"/>
                </a:ext>
              </a:extLst>
            </p:cNvPr>
            <p:cNvSpPr/>
            <p:nvPr/>
          </p:nvSpPr>
          <p:spPr>
            <a:xfrm>
              <a:off x="8739380" y="2896794"/>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立方體 56">
              <a:extLst>
                <a:ext uri="{FF2B5EF4-FFF2-40B4-BE49-F238E27FC236}">
                  <a16:creationId xmlns:a16="http://schemas.microsoft.com/office/drawing/2014/main" id="{C2EAA842-73F7-4641-9CB1-F32304223A6F}"/>
                </a:ext>
              </a:extLst>
            </p:cNvPr>
            <p:cNvSpPr/>
            <p:nvPr/>
          </p:nvSpPr>
          <p:spPr>
            <a:xfrm>
              <a:off x="8927374" y="2633010"/>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箭號: 向上 57">
              <a:extLst>
                <a:ext uri="{FF2B5EF4-FFF2-40B4-BE49-F238E27FC236}">
                  <a16:creationId xmlns:a16="http://schemas.microsoft.com/office/drawing/2014/main" id="{45E3C209-265E-499B-97F7-508B6A915D47}"/>
                </a:ext>
              </a:extLst>
            </p:cNvPr>
            <p:cNvSpPr/>
            <p:nvPr/>
          </p:nvSpPr>
          <p:spPr>
            <a:xfrm rot="10800000">
              <a:off x="9007916" y="2897357"/>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立方體 58">
              <a:extLst>
                <a:ext uri="{FF2B5EF4-FFF2-40B4-BE49-F238E27FC236}">
                  <a16:creationId xmlns:a16="http://schemas.microsoft.com/office/drawing/2014/main" id="{FDB44BAC-8DBE-402C-8F67-D4A90884658E}"/>
                </a:ext>
              </a:extLst>
            </p:cNvPr>
            <p:cNvSpPr/>
            <p:nvPr/>
          </p:nvSpPr>
          <p:spPr>
            <a:xfrm>
              <a:off x="9192302" y="2632446"/>
              <a:ext cx="501676" cy="460145"/>
            </a:xfrm>
            <a:prstGeom prst="cube">
              <a:avLst>
                <a:gd name="adj" fmla="val 51496"/>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箭號: 向上 59">
              <a:extLst>
                <a:ext uri="{FF2B5EF4-FFF2-40B4-BE49-F238E27FC236}">
                  <a16:creationId xmlns:a16="http://schemas.microsoft.com/office/drawing/2014/main" id="{27108F46-9324-4FE3-96B4-83AC04F1C3A8}"/>
                </a:ext>
              </a:extLst>
            </p:cNvPr>
            <p:cNvSpPr/>
            <p:nvPr/>
          </p:nvSpPr>
          <p:spPr>
            <a:xfrm rot="10800000">
              <a:off x="9272845" y="2896794"/>
              <a:ext cx="86518" cy="174668"/>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立方體 60">
              <a:extLst>
                <a:ext uri="{FF2B5EF4-FFF2-40B4-BE49-F238E27FC236}">
                  <a16:creationId xmlns:a16="http://schemas.microsoft.com/office/drawing/2014/main" id="{73095190-168D-44B9-B4A1-87D017282F6A}"/>
                </a:ext>
              </a:extLst>
            </p:cNvPr>
            <p:cNvSpPr/>
            <p:nvPr/>
          </p:nvSpPr>
          <p:spPr>
            <a:xfrm>
              <a:off x="9457328" y="2632728"/>
              <a:ext cx="501676" cy="460145"/>
            </a:xfrm>
            <a:prstGeom prst="cube">
              <a:avLst>
                <a:gd name="adj" fmla="val 51496"/>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箭號: 向上 61">
              <a:extLst>
                <a:ext uri="{FF2B5EF4-FFF2-40B4-BE49-F238E27FC236}">
                  <a16:creationId xmlns:a16="http://schemas.microsoft.com/office/drawing/2014/main" id="{C00C478D-EED6-484F-83C9-3525B6C5601D}"/>
                </a:ext>
              </a:extLst>
            </p:cNvPr>
            <p:cNvSpPr/>
            <p:nvPr/>
          </p:nvSpPr>
          <p:spPr>
            <a:xfrm>
              <a:off x="9544712" y="2895950"/>
              <a:ext cx="86518" cy="174668"/>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橢圓 64">
              <a:extLst>
                <a:ext uri="{FF2B5EF4-FFF2-40B4-BE49-F238E27FC236}">
                  <a16:creationId xmlns:a16="http://schemas.microsoft.com/office/drawing/2014/main" id="{169E7BCD-8980-4B06-AAA3-934E711BA424}"/>
                </a:ext>
              </a:extLst>
            </p:cNvPr>
            <p:cNvSpPr/>
            <p:nvPr/>
          </p:nvSpPr>
          <p:spPr>
            <a:xfrm>
              <a:off x="8134311" y="2846070"/>
              <a:ext cx="68309" cy="68309"/>
            </a:xfrm>
            <a:prstGeom prst="ellipse">
              <a:avLst/>
            </a:prstGeom>
            <a:solidFill>
              <a:schemeClr val="tx1"/>
            </a:solidFill>
            <a:ln>
              <a:noFill/>
            </a:ln>
            <a:scene3d>
              <a:camera prst="orthographicFront"/>
              <a:lightRig rig="threePt" dir="t"/>
            </a:scene3d>
            <a:sp3d>
              <a:bevelT w="34290" h="34290"/>
              <a:bevelB w="34290" h="3429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橢圓 65">
              <a:extLst>
                <a:ext uri="{FF2B5EF4-FFF2-40B4-BE49-F238E27FC236}">
                  <a16:creationId xmlns:a16="http://schemas.microsoft.com/office/drawing/2014/main" id="{45B72A90-E50D-46EE-8176-47582494AB34}"/>
                </a:ext>
              </a:extLst>
            </p:cNvPr>
            <p:cNvSpPr/>
            <p:nvPr/>
          </p:nvSpPr>
          <p:spPr>
            <a:xfrm>
              <a:off x="8289933" y="2846069"/>
              <a:ext cx="68309" cy="68309"/>
            </a:xfrm>
            <a:prstGeom prst="ellipse">
              <a:avLst/>
            </a:prstGeom>
            <a:solidFill>
              <a:schemeClr val="tx1"/>
            </a:solidFill>
            <a:ln>
              <a:noFill/>
            </a:ln>
            <a:scene3d>
              <a:camera prst="orthographicFront"/>
              <a:lightRig rig="threePt" dir="t"/>
            </a:scene3d>
            <a:sp3d>
              <a:bevelT w="34290" h="34290"/>
              <a:bevelB w="34290" h="342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7" name="橢圓 66">
              <a:extLst>
                <a:ext uri="{FF2B5EF4-FFF2-40B4-BE49-F238E27FC236}">
                  <a16:creationId xmlns:a16="http://schemas.microsoft.com/office/drawing/2014/main" id="{E3677A31-6B81-44EE-B07E-21618A549135}"/>
                </a:ext>
              </a:extLst>
            </p:cNvPr>
            <p:cNvSpPr/>
            <p:nvPr/>
          </p:nvSpPr>
          <p:spPr>
            <a:xfrm>
              <a:off x="8460329" y="2846069"/>
              <a:ext cx="68309" cy="68309"/>
            </a:xfrm>
            <a:prstGeom prst="ellipse">
              <a:avLst/>
            </a:prstGeom>
            <a:solidFill>
              <a:schemeClr val="tx1"/>
            </a:solidFill>
            <a:ln>
              <a:noFill/>
            </a:ln>
            <a:scene3d>
              <a:camera prst="orthographicFront"/>
              <a:lightRig rig="threePt" dir="t"/>
            </a:scene3d>
            <a:sp3d>
              <a:bevelT w="34290" h="34290"/>
              <a:bevelB w="34290" h="342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grpSp>
      <p:sp>
        <p:nvSpPr>
          <p:cNvPr id="8" name="投影片編號版面配置區 7">
            <a:extLst>
              <a:ext uri="{FF2B5EF4-FFF2-40B4-BE49-F238E27FC236}">
                <a16:creationId xmlns:a16="http://schemas.microsoft.com/office/drawing/2014/main" id="{D173182E-5E7C-49F4-AFE6-D1FC6F60A1E7}"/>
              </a:ext>
            </a:extLst>
          </p:cNvPr>
          <p:cNvSpPr>
            <a:spLocks noGrp="1"/>
          </p:cNvSpPr>
          <p:nvPr>
            <p:ph type="sldNum" sz="quarter" idx="12"/>
          </p:nvPr>
        </p:nvSpPr>
        <p:spPr/>
        <p:txBody>
          <a:bodyPr/>
          <a:lstStyle/>
          <a:p>
            <a:fld id="{9044CBB6-E20C-4076-82F9-F8F95241C54D}" type="slidenum">
              <a:rPr lang="zh-TW" altLang="en-US" smtClean="0">
                <a:solidFill>
                  <a:schemeClr val="tx1"/>
                </a:solidFill>
              </a:rPr>
              <a:t>17</a:t>
            </a:fld>
            <a:endParaRPr lang="zh-TW" altLang="en-US">
              <a:solidFill>
                <a:schemeClr val="tx1"/>
              </a:solidFill>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20A23821-FF68-4EE3-B0CF-87BF2841EE42}"/>
                  </a:ext>
                </a:extLst>
              </p:cNvPr>
              <p:cNvSpPr/>
              <p:nvPr/>
            </p:nvSpPr>
            <p:spPr>
              <a:xfrm>
                <a:off x="1654181" y="3842941"/>
                <a:ext cx="1452898" cy="5067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TW" altLang="en-US" sz="1600">
                          <a:latin typeface="Cambria Math" panose="02040503050406030204" pitchFamily="18" charset="0"/>
                        </a:rPr>
                        <m:t>ρ</m:t>
                      </m:r>
                      <m:r>
                        <a:rPr lang="zh-TW" altLang="en-US" sz="1600" i="0">
                          <a:latin typeface="Cambria Math" panose="02040503050406030204" pitchFamily="18" charset="0"/>
                        </a:rPr>
                        <m:t>(</m:t>
                      </m:r>
                      <m:r>
                        <m:rPr>
                          <m:sty m:val="p"/>
                        </m:rPr>
                        <a:rPr lang="zh-TW" altLang="en-US" sz="1600" i="0">
                          <a:latin typeface="Cambria Math" panose="02040503050406030204" pitchFamily="18" charset="0"/>
                        </a:rPr>
                        <m:t>T</m:t>
                      </m:r>
                      <m:r>
                        <a:rPr lang="zh-TW" altLang="en-US" sz="1600" i="0">
                          <a:latin typeface="Cambria Math" panose="02040503050406030204" pitchFamily="18" charset="0"/>
                        </a:rPr>
                        <m:t>)</m:t>
                      </m:r>
                      <m:r>
                        <a:rPr lang="en-US" altLang="zh-TW" sz="1600" i="1" smtClean="0">
                          <a:latin typeface="Cambria Math" panose="02040503050406030204" pitchFamily="18" charset="0"/>
                          <a:ea typeface="Cambria Math" panose="02040503050406030204" pitchFamily="18" charset="0"/>
                        </a:rPr>
                        <m:t>&lt;</m:t>
                      </m:r>
                      <m:sSup>
                        <m:sSupPr>
                          <m:ctrlPr>
                            <a:rPr lang="zh-TW" altLang="en-US" sz="1600" i="1">
                              <a:latin typeface="Cambria Math" panose="02040503050406030204" pitchFamily="18" charset="0"/>
                            </a:rPr>
                          </m:ctrlPr>
                        </m:sSupPr>
                        <m:e>
                          <m:r>
                            <a:rPr lang="zh-TW" altLang="en-US" sz="1600" i="1">
                              <a:latin typeface="Cambria Math" panose="02040503050406030204" pitchFamily="18" charset="0"/>
                            </a:rPr>
                            <m:t>𝑒</m:t>
                          </m:r>
                        </m:e>
                        <m:sup>
                          <m:d>
                            <m:dPr>
                              <m:ctrlPr>
                                <a:rPr lang="zh-TW" altLang="en-US" sz="1600" i="1">
                                  <a:latin typeface="Cambria Math" panose="02040503050406030204" pitchFamily="18" charset="0"/>
                                </a:rPr>
                              </m:ctrlPr>
                            </m:dPr>
                            <m:e>
                              <m:r>
                                <a:rPr lang="zh-TW" altLang="en-US" sz="1600" i="0">
                                  <a:latin typeface="Cambria Math" panose="02040503050406030204" pitchFamily="18" charset="0"/>
                                </a:rPr>
                                <m:t>−</m:t>
                              </m:r>
                              <m:f>
                                <m:fPr>
                                  <m:ctrlPr>
                                    <a:rPr lang="zh-TW" altLang="en-US" sz="1600" i="1">
                                      <a:latin typeface="Cambria Math" panose="02040503050406030204" pitchFamily="18" charset="0"/>
                                    </a:rPr>
                                  </m:ctrlPr>
                                </m:fPr>
                                <m:num>
                                  <m:sSub>
                                    <m:sSubPr>
                                      <m:ctrlPr>
                                        <a:rPr lang="zh-TW" altLang="en-US" sz="1600" i="1">
                                          <a:latin typeface="Cambria Math" panose="02040503050406030204" pitchFamily="18" charset="0"/>
                                        </a:rPr>
                                      </m:ctrlPr>
                                    </m:sSubPr>
                                    <m:e>
                                      <m:r>
                                        <a:rPr lang="zh-TW" altLang="en-US" sz="1600" i="1">
                                          <a:latin typeface="Cambria Math" panose="02040503050406030204" pitchFamily="18" charset="0"/>
                                        </a:rPr>
                                        <m:t>𝐶</m:t>
                                      </m:r>
                                    </m:e>
                                    <m:sub>
                                      <m:r>
                                        <a:rPr lang="zh-TW" altLang="en-US" sz="1600" i="1">
                                          <a:latin typeface="Cambria Math" panose="02040503050406030204" pitchFamily="18" charset="0"/>
                                        </a:rPr>
                                        <m:t>𝑝</m:t>
                                      </m:r>
                                    </m:sub>
                                  </m:sSub>
                                </m:num>
                                <m:den>
                                  <m:r>
                                    <a:rPr lang="zh-TW" altLang="en-US" sz="1600" i="1">
                                      <a:latin typeface="Cambria Math" panose="02040503050406030204" pitchFamily="18" charset="0"/>
                                    </a:rPr>
                                    <m:t>𝑇</m:t>
                                  </m:r>
                                </m:den>
                              </m:f>
                            </m:e>
                          </m:d>
                        </m:sup>
                      </m:sSup>
                    </m:oMath>
                  </m:oMathPara>
                </a14:m>
                <a:endParaRPr lang="zh-TW" altLang="en-US" sz="1600" dirty="0"/>
              </a:p>
            </p:txBody>
          </p:sp>
        </mc:Choice>
        <mc:Fallback xmlns="">
          <p:sp>
            <p:nvSpPr>
              <p:cNvPr id="3" name="矩形 2">
                <a:extLst>
                  <a:ext uri="{FF2B5EF4-FFF2-40B4-BE49-F238E27FC236}">
                    <a16:creationId xmlns:a16="http://schemas.microsoft.com/office/drawing/2014/main" id="{20A23821-FF68-4EE3-B0CF-87BF2841EE42}"/>
                  </a:ext>
                </a:extLst>
              </p:cNvPr>
              <p:cNvSpPr>
                <a:spLocks noRot="1" noChangeAspect="1" noMove="1" noResize="1" noEditPoints="1" noAdjustHandles="1" noChangeArrowheads="1" noChangeShapeType="1" noTextEdit="1"/>
              </p:cNvSpPr>
              <p:nvPr/>
            </p:nvSpPr>
            <p:spPr>
              <a:xfrm>
                <a:off x="1654181" y="3842941"/>
                <a:ext cx="1452898" cy="506742"/>
              </a:xfrm>
              <a:prstGeom prst="rect">
                <a:avLst/>
              </a:prstGeom>
              <a:blipFill>
                <a:blip r:embed="rId5"/>
                <a:stretch>
                  <a:fillRect/>
                </a:stretch>
              </a:blipFill>
            </p:spPr>
            <p:txBody>
              <a:bodyPr/>
              <a:lstStyle/>
              <a:p>
                <a:r>
                  <a:rPr lang="zh-TW" altLang="en-US">
                    <a:noFill/>
                  </a:rPr>
                  <a:t> </a:t>
                </a:r>
              </a:p>
            </p:txBody>
          </p:sp>
        </mc:Fallback>
      </mc:AlternateContent>
      <p:sp>
        <p:nvSpPr>
          <p:cNvPr id="47" name="矩形: 圓角 46">
            <a:extLst>
              <a:ext uri="{FF2B5EF4-FFF2-40B4-BE49-F238E27FC236}">
                <a16:creationId xmlns:a16="http://schemas.microsoft.com/office/drawing/2014/main" id="{B992DD8E-BBE2-40B8-9439-FEC13B3B8C74}"/>
              </a:ext>
            </a:extLst>
          </p:cNvPr>
          <p:cNvSpPr/>
          <p:nvPr/>
        </p:nvSpPr>
        <p:spPr>
          <a:xfrm>
            <a:off x="6646564" y="809440"/>
            <a:ext cx="2050339" cy="80173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Set the initial condition</a:t>
            </a:r>
            <a:r>
              <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Domain number=N,</a:t>
            </a:r>
          </a:p>
          <a:p>
            <a:pPr algn="ct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Domain(j), </a:t>
            </a:r>
            <a:r>
              <a:rPr lang="en-US" altLang="zh-TW" sz="1400" i="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j</a:t>
            </a: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8" name="矩形: 圓角 47">
            <a:extLst>
              <a:ext uri="{FF2B5EF4-FFF2-40B4-BE49-F238E27FC236}">
                <a16:creationId xmlns:a16="http://schemas.microsoft.com/office/drawing/2014/main" id="{E7093517-5DBC-44EC-832A-1AC556B57D1B}"/>
              </a:ext>
            </a:extLst>
          </p:cNvPr>
          <p:cNvSpPr/>
          <p:nvPr/>
        </p:nvSpPr>
        <p:spPr>
          <a:xfrm>
            <a:off x="5858180" y="1937819"/>
            <a:ext cx="3613490" cy="34892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Set the object Function(</a:t>
            </a:r>
            <a:r>
              <a:rPr lang="en-US" altLang="zh-TW" sz="1400" i="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OF)</a:t>
            </a: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Calculation, </a:t>
            </a:r>
            <a:r>
              <a:rPr lang="en-US" altLang="zh-TW" sz="1400" i="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OF</a:t>
            </a: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 name="矩形: 圓角 48">
                <a:extLst>
                  <a:ext uri="{FF2B5EF4-FFF2-40B4-BE49-F238E27FC236}">
                    <a16:creationId xmlns:a16="http://schemas.microsoft.com/office/drawing/2014/main" id="{787B26AA-159D-46DB-B6E0-DE557D615305}"/>
                  </a:ext>
                </a:extLst>
              </p:cNvPr>
              <p:cNvSpPr/>
              <p:nvPr/>
            </p:nvSpPr>
            <p:spPr>
              <a:xfrm>
                <a:off x="6485910" y="2577027"/>
                <a:ext cx="2358030" cy="56975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Set the parameter of annealing</a:t>
                </a:r>
                <a:r>
                  <a:rPr lang="zh-TW" altLang="en-US" sz="1400" dirty="0">
                    <a:solidFill>
                      <a:schemeClr val="tx1"/>
                    </a:solidFill>
                    <a:latin typeface="標楷體" panose="03000509000000000000" pitchFamily="65" charset="-120"/>
                    <a:ea typeface="標楷體" panose="03000509000000000000" pitchFamily="65" charset="-120"/>
                    <a:cs typeface="Times New Roman" panose="02020603050405020304" pitchFamily="18" charset="0"/>
                  </a:rPr>
                  <a:t>：</a:t>
                </a:r>
                <a14:m>
                  <m:oMath xmlns:m="http://schemas.openxmlformats.org/officeDocument/2006/math">
                    <m:sSub>
                      <m:sSubPr>
                        <m:ctrlPr>
                          <a:rPr lang="en-US" altLang="zh-TW" sz="140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𝑇</m:t>
                        </m:r>
                      </m:e>
                      <m:sub>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𝑖𝑛</m:t>
                        </m:r>
                      </m:sub>
                    </m:sSub>
                  </m:oMath>
                </a14:m>
                <a:r>
                  <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14:m>
                  <m:oMath xmlns:m="http://schemas.openxmlformats.org/officeDocument/2006/math">
                    <m:sSub>
                      <m:sSubPr>
                        <m:ctrlPr>
                          <a:rPr lang="en-US" altLang="zh-TW" sz="1400" i="1" dirty="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400" b="0" i="1" dirty="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𝑇</m:t>
                        </m:r>
                      </m:e>
                      <m:sub>
                        <m:r>
                          <a:rPr lang="en-US" altLang="zh-TW" sz="1400" b="0" i="1" dirty="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𝑟𝑒</m:t>
                        </m:r>
                      </m:sub>
                    </m:sSub>
                  </m:oMath>
                </a14:m>
                <a:r>
                  <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14:m>
                  <m:oMath xmlns:m="http://schemas.openxmlformats.org/officeDocument/2006/math">
                    <m:sSub>
                      <m:sSubPr>
                        <m:ctrlPr>
                          <a:rPr lang="en-US" altLang="zh-TW" sz="1400" i="1" dirty="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400" b="0" i="1" dirty="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𝑇</m:t>
                        </m:r>
                      </m:e>
                      <m:sub>
                        <m:r>
                          <a:rPr lang="en-US" altLang="zh-TW" sz="1400" b="0" i="1" dirty="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𝑓𝑖𝑛𝑎𝑙</m:t>
                        </m:r>
                      </m:sub>
                    </m:sSub>
                  </m:oMath>
                </a14:m>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49" name="矩形: 圓角 48">
                <a:extLst>
                  <a:ext uri="{FF2B5EF4-FFF2-40B4-BE49-F238E27FC236}">
                    <a16:creationId xmlns:a16="http://schemas.microsoft.com/office/drawing/2014/main" id="{787B26AA-159D-46DB-B6E0-DE557D615305}"/>
                  </a:ext>
                </a:extLst>
              </p:cNvPr>
              <p:cNvSpPr>
                <a:spLocks noRot="1" noChangeAspect="1" noMove="1" noResize="1" noEditPoints="1" noAdjustHandles="1" noChangeArrowheads="1" noChangeShapeType="1" noTextEdit="1"/>
              </p:cNvSpPr>
              <p:nvPr/>
            </p:nvSpPr>
            <p:spPr>
              <a:xfrm>
                <a:off x="6485910" y="2577027"/>
                <a:ext cx="2358030" cy="569756"/>
              </a:xfrm>
              <a:prstGeom prst="roundRect">
                <a:avLst/>
              </a:prstGeom>
              <a:blipFill>
                <a:blip r:embed="rId6"/>
                <a:stretch>
                  <a:fillRect b="-4211"/>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矩形: 圓角 49">
                <a:extLst>
                  <a:ext uri="{FF2B5EF4-FFF2-40B4-BE49-F238E27FC236}">
                    <a16:creationId xmlns:a16="http://schemas.microsoft.com/office/drawing/2014/main" id="{E64C3D13-DF40-4E64-B109-B21F58E7F986}"/>
                  </a:ext>
                </a:extLst>
              </p:cNvPr>
              <p:cNvSpPr/>
              <p:nvPr/>
            </p:nvSpPr>
            <p:spPr>
              <a:xfrm>
                <a:off x="6919323" y="3457572"/>
                <a:ext cx="1483124" cy="29036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+1</m:t>
                      </m:r>
                    </m:oMath>
                  </m:oMathPara>
                </a14:m>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50" name="矩形: 圓角 49">
                <a:extLst>
                  <a:ext uri="{FF2B5EF4-FFF2-40B4-BE49-F238E27FC236}">
                    <a16:creationId xmlns:a16="http://schemas.microsoft.com/office/drawing/2014/main" id="{E64C3D13-DF40-4E64-B109-B21F58E7F986}"/>
                  </a:ext>
                </a:extLst>
              </p:cNvPr>
              <p:cNvSpPr>
                <a:spLocks noRot="1" noChangeAspect="1" noMove="1" noResize="1" noEditPoints="1" noAdjustHandles="1" noChangeArrowheads="1" noChangeShapeType="1" noTextEdit="1"/>
              </p:cNvSpPr>
              <p:nvPr/>
            </p:nvSpPr>
            <p:spPr>
              <a:xfrm>
                <a:off x="6919323" y="3457572"/>
                <a:ext cx="1483124" cy="290368"/>
              </a:xfrm>
              <a:prstGeom prst="roundRect">
                <a:avLst/>
              </a:prstGeom>
              <a:blipFill>
                <a:blip r:embed="rId7"/>
                <a:stretch>
                  <a:fillRect b="-18000"/>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矩形: 圓角 52">
                <a:extLst>
                  <a:ext uri="{FF2B5EF4-FFF2-40B4-BE49-F238E27FC236}">
                    <a16:creationId xmlns:a16="http://schemas.microsoft.com/office/drawing/2014/main" id="{37086E24-CF72-4F0B-81A3-35FDFDAD08F6}"/>
                  </a:ext>
                </a:extLst>
              </p:cNvPr>
              <p:cNvSpPr/>
              <p:nvPr/>
            </p:nvSpPr>
            <p:spPr>
              <a:xfrm>
                <a:off x="6389756" y="4058730"/>
                <a:ext cx="2552307" cy="29036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𝑑𝑜𝑚𝑎𝑖𝑛</m:t>
                      </m:r>
                      <m:d>
                        <m:dPr>
                          <m:ctrlP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e>
                      </m:d>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=−1</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𝑑𝑜𝑚𝑎𝑖𝑛</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53" name="矩形: 圓角 52">
                <a:extLst>
                  <a:ext uri="{FF2B5EF4-FFF2-40B4-BE49-F238E27FC236}">
                    <a16:creationId xmlns:a16="http://schemas.microsoft.com/office/drawing/2014/main" id="{37086E24-CF72-4F0B-81A3-35FDFDAD08F6}"/>
                  </a:ext>
                </a:extLst>
              </p:cNvPr>
              <p:cNvSpPr>
                <a:spLocks noRot="1" noChangeAspect="1" noMove="1" noResize="1" noEditPoints="1" noAdjustHandles="1" noChangeArrowheads="1" noChangeShapeType="1" noTextEdit="1"/>
              </p:cNvSpPr>
              <p:nvPr/>
            </p:nvSpPr>
            <p:spPr>
              <a:xfrm>
                <a:off x="6389756" y="4058730"/>
                <a:ext cx="2552307" cy="290368"/>
              </a:xfrm>
              <a:prstGeom prst="roundRect">
                <a:avLst/>
              </a:prstGeom>
              <a:blipFill>
                <a:blip r:embed="rId8"/>
                <a:stretch>
                  <a:fillRect b="-12245"/>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矩形: 圓角 54">
                <a:extLst>
                  <a:ext uri="{FF2B5EF4-FFF2-40B4-BE49-F238E27FC236}">
                    <a16:creationId xmlns:a16="http://schemas.microsoft.com/office/drawing/2014/main" id="{AA69CF26-6236-4E04-AA1E-66A10E5A87FA}"/>
                  </a:ext>
                </a:extLst>
              </p:cNvPr>
              <p:cNvSpPr/>
              <p:nvPr/>
            </p:nvSpPr>
            <p:spPr>
              <a:xfrm>
                <a:off x="6928956" y="4619848"/>
                <a:ext cx="1483124" cy="29036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&gt;</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𝑁</m:t>
                      </m:r>
                    </m:oMath>
                  </m:oMathPara>
                </a14:m>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55" name="矩形: 圓角 54">
                <a:extLst>
                  <a:ext uri="{FF2B5EF4-FFF2-40B4-BE49-F238E27FC236}">
                    <a16:creationId xmlns:a16="http://schemas.microsoft.com/office/drawing/2014/main" id="{AA69CF26-6236-4E04-AA1E-66A10E5A87FA}"/>
                  </a:ext>
                </a:extLst>
              </p:cNvPr>
              <p:cNvSpPr>
                <a:spLocks noRot="1" noChangeAspect="1" noMove="1" noResize="1" noEditPoints="1" noAdjustHandles="1" noChangeArrowheads="1" noChangeShapeType="1" noTextEdit="1"/>
              </p:cNvSpPr>
              <p:nvPr/>
            </p:nvSpPr>
            <p:spPr>
              <a:xfrm>
                <a:off x="6928956" y="4619848"/>
                <a:ext cx="1483124" cy="290368"/>
              </a:xfrm>
              <a:prstGeom prst="roundRect">
                <a:avLst/>
              </a:prstGeom>
              <a:blipFill>
                <a:blip r:embed="rId9"/>
                <a:stretch>
                  <a:fillRect b="-20408"/>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矩形: 圓角 62">
                <a:extLst>
                  <a:ext uri="{FF2B5EF4-FFF2-40B4-BE49-F238E27FC236}">
                    <a16:creationId xmlns:a16="http://schemas.microsoft.com/office/drawing/2014/main" id="{57DF89D0-F1A3-41C1-ADB0-F3AAB8A42F4E}"/>
                  </a:ext>
                </a:extLst>
              </p:cNvPr>
              <p:cNvSpPr/>
              <p:nvPr/>
            </p:nvSpPr>
            <p:spPr>
              <a:xfrm>
                <a:off x="6637319" y="5244671"/>
                <a:ext cx="2066396" cy="29036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𝑑𝑜𝑚𝑎𝑖𝑛</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𝑐h𝑎𝑛𝑔𝑒</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63" name="矩形: 圓角 62">
                <a:extLst>
                  <a:ext uri="{FF2B5EF4-FFF2-40B4-BE49-F238E27FC236}">
                    <a16:creationId xmlns:a16="http://schemas.microsoft.com/office/drawing/2014/main" id="{57DF89D0-F1A3-41C1-ADB0-F3AAB8A42F4E}"/>
                  </a:ext>
                </a:extLst>
              </p:cNvPr>
              <p:cNvSpPr>
                <a:spLocks noRot="1" noChangeAspect="1" noMove="1" noResize="1" noEditPoints="1" noAdjustHandles="1" noChangeArrowheads="1" noChangeShapeType="1" noTextEdit="1"/>
              </p:cNvSpPr>
              <p:nvPr/>
            </p:nvSpPr>
            <p:spPr>
              <a:xfrm>
                <a:off x="6637319" y="5244671"/>
                <a:ext cx="2066396" cy="290368"/>
              </a:xfrm>
              <a:prstGeom prst="roundRect">
                <a:avLst/>
              </a:prstGeom>
              <a:blipFill>
                <a:blip r:embed="rId10"/>
                <a:stretch>
                  <a:fillRect b="-20000"/>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4" name="矩形: 圓角 63">
                <a:extLst>
                  <a:ext uri="{FF2B5EF4-FFF2-40B4-BE49-F238E27FC236}">
                    <a16:creationId xmlns:a16="http://schemas.microsoft.com/office/drawing/2014/main" id="{EB72F108-9612-422A-9BE9-973A7C978D85}"/>
                  </a:ext>
                </a:extLst>
              </p:cNvPr>
              <p:cNvSpPr/>
              <p:nvPr/>
            </p:nvSpPr>
            <p:spPr>
              <a:xfrm>
                <a:off x="6637320" y="5842126"/>
                <a:ext cx="2066396" cy="29036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𝑇</m:t>
                      </m:r>
                      <m:r>
                        <a:rPr lang="en-US" altLang="zh-TW" sz="16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16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𝑇</m:t>
                          </m:r>
                        </m:e>
                        <m:sub>
                          <m:r>
                            <a:rPr lang="en-US" altLang="zh-TW" sz="16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𝑓𝑖𝑛𝑎𝑙</m:t>
                          </m:r>
                        </m:sub>
                      </m:sSub>
                    </m:oMath>
                  </m:oMathPara>
                </a14:m>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64" name="矩形: 圓角 63">
                <a:extLst>
                  <a:ext uri="{FF2B5EF4-FFF2-40B4-BE49-F238E27FC236}">
                    <a16:creationId xmlns:a16="http://schemas.microsoft.com/office/drawing/2014/main" id="{EB72F108-9612-422A-9BE9-973A7C978D85}"/>
                  </a:ext>
                </a:extLst>
              </p:cNvPr>
              <p:cNvSpPr>
                <a:spLocks noRot="1" noChangeAspect="1" noMove="1" noResize="1" noEditPoints="1" noAdjustHandles="1" noChangeArrowheads="1" noChangeShapeType="1" noTextEdit="1"/>
              </p:cNvSpPr>
              <p:nvPr/>
            </p:nvSpPr>
            <p:spPr>
              <a:xfrm>
                <a:off x="6637320" y="5842126"/>
                <a:ext cx="2066396" cy="290368"/>
              </a:xfrm>
              <a:prstGeom prst="roundRect">
                <a:avLst/>
              </a:prstGeom>
              <a:blipFill>
                <a:blip r:embed="rId11"/>
                <a:stretch>
                  <a:fillRect b="-18000"/>
                </a:stretch>
              </a:blipFill>
              <a:ln>
                <a:solidFill>
                  <a:schemeClr val="tx1"/>
                </a:solidFill>
              </a:ln>
            </p:spPr>
            <p:txBody>
              <a:bodyPr/>
              <a:lstStyle/>
              <a:p>
                <a:r>
                  <a:rPr lang="zh-TW" altLang="en-US">
                    <a:noFill/>
                  </a:rPr>
                  <a:t> </a:t>
                </a:r>
              </a:p>
            </p:txBody>
          </p:sp>
        </mc:Fallback>
      </mc:AlternateContent>
      <p:sp>
        <p:nvSpPr>
          <p:cNvPr id="69" name="矩形: 圓角 68">
            <a:extLst>
              <a:ext uri="{FF2B5EF4-FFF2-40B4-BE49-F238E27FC236}">
                <a16:creationId xmlns:a16="http://schemas.microsoft.com/office/drawing/2014/main" id="{1857B3F4-0465-41F0-AD2D-D07F01CB6B23}"/>
              </a:ext>
            </a:extLst>
          </p:cNvPr>
          <p:cNvSpPr/>
          <p:nvPr/>
        </p:nvSpPr>
        <p:spPr>
          <a:xfrm>
            <a:off x="6928955" y="6494930"/>
            <a:ext cx="1483124" cy="29036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end</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70" name="直線單箭頭接點 69">
            <a:extLst>
              <a:ext uri="{FF2B5EF4-FFF2-40B4-BE49-F238E27FC236}">
                <a16:creationId xmlns:a16="http://schemas.microsoft.com/office/drawing/2014/main" id="{B20A7C8E-FAA7-4240-A35F-D94C1AE59352}"/>
              </a:ext>
            </a:extLst>
          </p:cNvPr>
          <p:cNvCxnSpPr>
            <a:cxnSpLocks/>
            <a:stCxn id="47" idx="2"/>
            <a:endCxn id="48" idx="0"/>
          </p:cNvCxnSpPr>
          <p:nvPr/>
        </p:nvCxnSpPr>
        <p:spPr>
          <a:xfrm flipH="1">
            <a:off x="7664925" y="1611171"/>
            <a:ext cx="6809" cy="326648"/>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BBE340C0-036E-478F-946A-38439F7F2F73}"/>
              </a:ext>
            </a:extLst>
          </p:cNvPr>
          <p:cNvCxnSpPr>
            <a:cxnSpLocks/>
            <a:stCxn id="48" idx="2"/>
            <a:endCxn id="49" idx="0"/>
          </p:cNvCxnSpPr>
          <p:nvPr/>
        </p:nvCxnSpPr>
        <p:spPr>
          <a:xfrm>
            <a:off x="7664925" y="2286746"/>
            <a:ext cx="0" cy="290281"/>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a16="http://schemas.microsoft.com/office/drawing/2014/main" id="{337E2F0E-1F95-4EB5-8B36-308753EFA1E2}"/>
              </a:ext>
            </a:extLst>
          </p:cNvPr>
          <p:cNvCxnSpPr>
            <a:cxnSpLocks/>
            <a:stCxn id="49" idx="2"/>
            <a:endCxn id="50" idx="0"/>
          </p:cNvCxnSpPr>
          <p:nvPr/>
        </p:nvCxnSpPr>
        <p:spPr>
          <a:xfrm flipH="1">
            <a:off x="7660885" y="3146783"/>
            <a:ext cx="4040" cy="310789"/>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直線單箭頭接點 72">
            <a:extLst>
              <a:ext uri="{FF2B5EF4-FFF2-40B4-BE49-F238E27FC236}">
                <a16:creationId xmlns:a16="http://schemas.microsoft.com/office/drawing/2014/main" id="{D1674481-8B03-412C-831C-CB9B443C98D4}"/>
              </a:ext>
            </a:extLst>
          </p:cNvPr>
          <p:cNvCxnSpPr>
            <a:cxnSpLocks/>
            <a:stCxn id="50" idx="2"/>
            <a:endCxn id="53" idx="0"/>
          </p:cNvCxnSpPr>
          <p:nvPr/>
        </p:nvCxnSpPr>
        <p:spPr>
          <a:xfrm>
            <a:off x="7660885" y="3747940"/>
            <a:ext cx="5025" cy="31079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a16="http://schemas.microsoft.com/office/drawing/2014/main" id="{5255B406-B12F-4426-8432-12D421EF20B3}"/>
              </a:ext>
            </a:extLst>
          </p:cNvPr>
          <p:cNvCxnSpPr>
            <a:cxnSpLocks/>
            <a:stCxn id="55" idx="2"/>
            <a:endCxn id="63" idx="0"/>
          </p:cNvCxnSpPr>
          <p:nvPr/>
        </p:nvCxnSpPr>
        <p:spPr>
          <a:xfrm flipH="1">
            <a:off x="7670517" y="4910216"/>
            <a:ext cx="1" cy="334455"/>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直線單箭頭接點 74">
            <a:extLst>
              <a:ext uri="{FF2B5EF4-FFF2-40B4-BE49-F238E27FC236}">
                <a16:creationId xmlns:a16="http://schemas.microsoft.com/office/drawing/2014/main" id="{FD0147C0-A92C-4612-BA3F-6B58077D0A3A}"/>
              </a:ext>
            </a:extLst>
          </p:cNvPr>
          <p:cNvCxnSpPr>
            <a:cxnSpLocks/>
            <a:stCxn id="53" idx="2"/>
            <a:endCxn id="55" idx="0"/>
          </p:cNvCxnSpPr>
          <p:nvPr/>
        </p:nvCxnSpPr>
        <p:spPr>
          <a:xfrm>
            <a:off x="7665910" y="4349098"/>
            <a:ext cx="4608" cy="27075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5832B401-1802-4262-A924-48891D277751}"/>
              </a:ext>
            </a:extLst>
          </p:cNvPr>
          <p:cNvCxnSpPr>
            <a:stCxn id="63" idx="2"/>
            <a:endCxn id="64" idx="0"/>
          </p:cNvCxnSpPr>
          <p:nvPr/>
        </p:nvCxnSpPr>
        <p:spPr>
          <a:xfrm>
            <a:off x="7670517" y="5535039"/>
            <a:ext cx="1" cy="307087"/>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727BADC7-9A36-4C62-9EEF-D2159EEB4BFB}"/>
              </a:ext>
            </a:extLst>
          </p:cNvPr>
          <p:cNvCxnSpPr>
            <a:stCxn id="64" idx="2"/>
            <a:endCxn id="69" idx="0"/>
          </p:cNvCxnSpPr>
          <p:nvPr/>
        </p:nvCxnSpPr>
        <p:spPr>
          <a:xfrm flipH="1">
            <a:off x="7670517" y="6132494"/>
            <a:ext cx="1" cy="362436"/>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sp>
        <p:nvSpPr>
          <p:cNvPr id="78" name="文字方塊 77">
            <a:extLst>
              <a:ext uri="{FF2B5EF4-FFF2-40B4-BE49-F238E27FC236}">
                <a16:creationId xmlns:a16="http://schemas.microsoft.com/office/drawing/2014/main" id="{3EFE9556-7387-40E8-9D09-FDD716C66570}"/>
              </a:ext>
            </a:extLst>
          </p:cNvPr>
          <p:cNvSpPr txBox="1"/>
          <p:nvPr/>
        </p:nvSpPr>
        <p:spPr>
          <a:xfrm>
            <a:off x="7069888" y="4875339"/>
            <a:ext cx="520655"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Yes</a:t>
            </a:r>
            <a:endParaRPr lang="zh-TW" altLang="en-US" dirty="0">
              <a:latin typeface="Times New Roman" panose="02020603050405020304" pitchFamily="18" charset="0"/>
              <a:cs typeface="Times New Roman" panose="02020603050405020304" pitchFamily="18" charset="0"/>
            </a:endParaRPr>
          </a:p>
        </p:txBody>
      </p:sp>
      <p:sp>
        <p:nvSpPr>
          <p:cNvPr id="79" name="文字方塊 78">
            <a:extLst>
              <a:ext uri="{FF2B5EF4-FFF2-40B4-BE49-F238E27FC236}">
                <a16:creationId xmlns:a16="http://schemas.microsoft.com/office/drawing/2014/main" id="{572C3381-2911-4B5B-8043-40F678BD8364}"/>
              </a:ext>
            </a:extLst>
          </p:cNvPr>
          <p:cNvSpPr txBox="1"/>
          <p:nvPr/>
        </p:nvSpPr>
        <p:spPr>
          <a:xfrm>
            <a:off x="7069887" y="5503916"/>
            <a:ext cx="520655"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Yes</a:t>
            </a:r>
            <a:endParaRPr lang="zh-TW" altLang="en-US" dirty="0">
              <a:latin typeface="Times New Roman" panose="02020603050405020304" pitchFamily="18" charset="0"/>
              <a:cs typeface="Times New Roman" panose="02020603050405020304" pitchFamily="18" charset="0"/>
            </a:endParaRPr>
          </a:p>
        </p:txBody>
      </p:sp>
      <p:sp>
        <p:nvSpPr>
          <p:cNvPr id="80" name="文字方塊 79">
            <a:extLst>
              <a:ext uri="{FF2B5EF4-FFF2-40B4-BE49-F238E27FC236}">
                <a16:creationId xmlns:a16="http://schemas.microsoft.com/office/drawing/2014/main" id="{9FD9D4FB-1B92-4078-BADE-7B8862AFC653}"/>
              </a:ext>
            </a:extLst>
          </p:cNvPr>
          <p:cNvSpPr txBox="1"/>
          <p:nvPr/>
        </p:nvSpPr>
        <p:spPr>
          <a:xfrm>
            <a:off x="7069887" y="6117840"/>
            <a:ext cx="520655"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Yes</a:t>
            </a:r>
            <a:endParaRPr lang="zh-TW" altLang="en-US" dirty="0">
              <a:latin typeface="Times New Roman" panose="02020603050405020304" pitchFamily="18" charset="0"/>
              <a:cs typeface="Times New Roman" panose="02020603050405020304" pitchFamily="18" charset="0"/>
            </a:endParaRPr>
          </a:p>
        </p:txBody>
      </p:sp>
      <p:cxnSp>
        <p:nvCxnSpPr>
          <p:cNvPr id="81" name="接點: 肘形 80">
            <a:extLst>
              <a:ext uri="{FF2B5EF4-FFF2-40B4-BE49-F238E27FC236}">
                <a16:creationId xmlns:a16="http://schemas.microsoft.com/office/drawing/2014/main" id="{2357CE15-3843-4201-9DE0-1A91C891312A}"/>
              </a:ext>
            </a:extLst>
          </p:cNvPr>
          <p:cNvCxnSpPr>
            <a:cxnSpLocks/>
            <a:stCxn id="64" idx="1"/>
            <a:endCxn id="82" idx="2"/>
          </p:cNvCxnSpPr>
          <p:nvPr/>
        </p:nvCxnSpPr>
        <p:spPr>
          <a:xfrm rot="10800000">
            <a:off x="5194582" y="5390472"/>
            <a:ext cx="1442739" cy="596839"/>
          </a:xfrm>
          <a:prstGeom prst="bentConnector2">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矩形: 圓角 81">
                <a:extLst>
                  <a:ext uri="{FF2B5EF4-FFF2-40B4-BE49-F238E27FC236}">
                    <a16:creationId xmlns:a16="http://schemas.microsoft.com/office/drawing/2014/main" id="{C24DE9C7-D353-4B1B-A6AA-0AF813E581C6}"/>
                  </a:ext>
                </a:extLst>
              </p:cNvPr>
              <p:cNvSpPr/>
              <p:nvPr/>
            </p:nvSpPr>
            <p:spPr>
              <a:xfrm>
                <a:off x="4453019" y="5098871"/>
                <a:ext cx="1483124" cy="2916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
                    </m:oMathParaPr>
                    <m:oMath xmlns:m="http://schemas.openxmlformats.org/officeDocument/2006/math">
                      <m:r>
                        <a:rPr lang="en-US" altLang="zh-TW" sz="1600" i="1">
                          <a:solidFill>
                            <a:schemeClr val="tx1"/>
                          </a:solidFill>
                          <a:latin typeface="Cambria Math" panose="02040503050406030204" pitchFamily="18" charset="0"/>
                        </a:rPr>
                        <m:t>𝑇</m:t>
                      </m:r>
                      <m:r>
                        <a:rPr lang="en-US" altLang="zh-TW" sz="1600" i="1">
                          <a:solidFill>
                            <a:schemeClr val="tx1"/>
                          </a:solidFill>
                          <a:latin typeface="Cambria Math" panose="02040503050406030204" pitchFamily="18" charset="0"/>
                        </a:rPr>
                        <m:t>=</m:t>
                      </m:r>
                      <m:r>
                        <a:rPr lang="en-US" altLang="zh-TW" sz="1600" i="1">
                          <a:solidFill>
                            <a:schemeClr val="tx1"/>
                          </a:solidFill>
                          <a:latin typeface="Cambria Math" panose="02040503050406030204" pitchFamily="18" charset="0"/>
                        </a:rPr>
                        <m:t>𝑇</m:t>
                      </m:r>
                      <m:r>
                        <a:rPr lang="en-US" altLang="zh-TW" sz="1600" i="1">
                          <a:solidFill>
                            <a:schemeClr val="tx1"/>
                          </a:solidFill>
                          <a:latin typeface="Cambria Math" panose="02040503050406030204" pitchFamily="18" charset="0"/>
                        </a:rPr>
                        <m:t>×</m:t>
                      </m:r>
                      <m:sSub>
                        <m:sSubPr>
                          <m:ctrlPr>
                            <a:rPr lang="en-US" altLang="zh-TW" sz="1600" i="1">
                              <a:solidFill>
                                <a:schemeClr val="tx1"/>
                              </a:solidFill>
                              <a:latin typeface="Cambria Math" panose="02040503050406030204" pitchFamily="18" charset="0"/>
                            </a:rPr>
                          </m:ctrlPr>
                        </m:sSubPr>
                        <m:e>
                          <m:r>
                            <a:rPr lang="en-US" altLang="zh-TW" sz="1600" i="1">
                              <a:solidFill>
                                <a:schemeClr val="tx1"/>
                              </a:solidFill>
                              <a:latin typeface="Cambria Math" panose="02040503050406030204" pitchFamily="18" charset="0"/>
                            </a:rPr>
                            <m:t>𝑇</m:t>
                          </m:r>
                        </m:e>
                        <m:sub>
                          <m:r>
                            <a:rPr lang="en-US" altLang="zh-TW" sz="1600" i="1">
                              <a:solidFill>
                                <a:schemeClr val="tx1"/>
                              </a:solidFill>
                              <a:latin typeface="Cambria Math" panose="02040503050406030204" pitchFamily="18" charset="0"/>
                            </a:rPr>
                            <m:t>𝑟𝑒</m:t>
                          </m:r>
                        </m:sub>
                      </m:sSub>
                    </m:oMath>
                  </m:oMathPara>
                </a14:m>
                <a:endParaRPr lang="zh-TW" altLang="en-US" sz="1600" i="1" dirty="0">
                  <a:solidFill>
                    <a:schemeClr val="tx1"/>
                  </a:solidFill>
                  <a:latin typeface="Cambria Math" panose="02040503050406030204" pitchFamily="18" charset="0"/>
                  <a:ea typeface="標楷體" panose="03000509000000000000" pitchFamily="65" charset="-120"/>
                  <a:cs typeface="Times New Roman" panose="02020603050405020304" pitchFamily="18" charset="0"/>
                </a:endParaRPr>
              </a:p>
            </p:txBody>
          </p:sp>
        </mc:Choice>
        <mc:Fallback xmlns="">
          <p:sp>
            <p:nvSpPr>
              <p:cNvPr id="82" name="矩形: 圓角 81">
                <a:extLst>
                  <a:ext uri="{FF2B5EF4-FFF2-40B4-BE49-F238E27FC236}">
                    <a16:creationId xmlns:a16="http://schemas.microsoft.com/office/drawing/2014/main" id="{C24DE9C7-D353-4B1B-A6AA-0AF813E581C6}"/>
                  </a:ext>
                </a:extLst>
              </p:cNvPr>
              <p:cNvSpPr>
                <a:spLocks noRot="1" noChangeAspect="1" noMove="1" noResize="1" noEditPoints="1" noAdjustHandles="1" noChangeArrowheads="1" noChangeShapeType="1" noTextEdit="1"/>
              </p:cNvSpPr>
              <p:nvPr/>
            </p:nvSpPr>
            <p:spPr>
              <a:xfrm>
                <a:off x="4453019" y="5098871"/>
                <a:ext cx="1483124" cy="291600"/>
              </a:xfrm>
              <a:prstGeom prst="roundRect">
                <a:avLst/>
              </a:prstGeom>
              <a:blipFill>
                <a:blip r:embed="rId12"/>
                <a:stretch>
                  <a:fillRect b="-2000"/>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3" name="矩形: 圓角 82">
                <a:extLst>
                  <a:ext uri="{FF2B5EF4-FFF2-40B4-BE49-F238E27FC236}">
                    <a16:creationId xmlns:a16="http://schemas.microsoft.com/office/drawing/2014/main" id="{9CF19B85-442C-4A9E-BA16-F0372F655A76}"/>
                  </a:ext>
                </a:extLst>
              </p:cNvPr>
              <p:cNvSpPr/>
              <p:nvPr/>
            </p:nvSpPr>
            <p:spPr>
              <a:xfrm>
                <a:off x="4409267" y="4488547"/>
                <a:ext cx="1570627" cy="29036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𝑂𝐹</m:t>
                      </m:r>
                      <m:d>
                        <m:dPr>
                          <m:ctrlP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0</m:t>
                          </m:r>
                        </m:e>
                      </m:d>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𝑂𝐹</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83" name="矩形: 圓角 82">
                <a:extLst>
                  <a:ext uri="{FF2B5EF4-FFF2-40B4-BE49-F238E27FC236}">
                    <a16:creationId xmlns:a16="http://schemas.microsoft.com/office/drawing/2014/main" id="{9CF19B85-442C-4A9E-BA16-F0372F655A76}"/>
                  </a:ext>
                </a:extLst>
              </p:cNvPr>
              <p:cNvSpPr>
                <a:spLocks noRot="1" noChangeAspect="1" noMove="1" noResize="1" noEditPoints="1" noAdjustHandles="1" noChangeArrowheads="1" noChangeShapeType="1" noTextEdit="1"/>
              </p:cNvSpPr>
              <p:nvPr/>
            </p:nvSpPr>
            <p:spPr>
              <a:xfrm>
                <a:off x="4409267" y="4488547"/>
                <a:ext cx="1570627" cy="290368"/>
              </a:xfrm>
              <a:prstGeom prst="roundRect">
                <a:avLst/>
              </a:prstGeom>
              <a:blipFill>
                <a:blip r:embed="rId13"/>
                <a:stretch>
                  <a:fillRect b="-20000"/>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4" name="矩形: 圓角 83">
                <a:extLst>
                  <a:ext uri="{FF2B5EF4-FFF2-40B4-BE49-F238E27FC236}">
                    <a16:creationId xmlns:a16="http://schemas.microsoft.com/office/drawing/2014/main" id="{A577D1ED-4776-4761-BE9E-3B479779FD8F}"/>
                  </a:ext>
                </a:extLst>
              </p:cNvPr>
              <p:cNvSpPr/>
              <p:nvPr/>
            </p:nvSpPr>
            <p:spPr>
              <a:xfrm>
                <a:off x="4768928" y="3878223"/>
                <a:ext cx="851303" cy="29036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=1</m:t>
                      </m:r>
                    </m:oMath>
                  </m:oMathPara>
                </a14:m>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84" name="矩形: 圓角 83">
                <a:extLst>
                  <a:ext uri="{FF2B5EF4-FFF2-40B4-BE49-F238E27FC236}">
                    <a16:creationId xmlns:a16="http://schemas.microsoft.com/office/drawing/2014/main" id="{A577D1ED-4776-4761-BE9E-3B479779FD8F}"/>
                  </a:ext>
                </a:extLst>
              </p:cNvPr>
              <p:cNvSpPr>
                <a:spLocks noRot="1" noChangeAspect="1" noMove="1" noResize="1" noEditPoints="1" noAdjustHandles="1" noChangeArrowheads="1" noChangeShapeType="1" noTextEdit="1"/>
              </p:cNvSpPr>
              <p:nvPr/>
            </p:nvSpPr>
            <p:spPr>
              <a:xfrm>
                <a:off x="4768928" y="3878223"/>
                <a:ext cx="851303" cy="290368"/>
              </a:xfrm>
              <a:prstGeom prst="roundRect">
                <a:avLst/>
              </a:prstGeom>
              <a:blipFill>
                <a:blip r:embed="rId14"/>
                <a:stretch>
                  <a:fillRect b="-18000"/>
                </a:stretch>
              </a:blipFill>
              <a:ln>
                <a:solidFill>
                  <a:schemeClr val="tx1"/>
                </a:solidFill>
              </a:ln>
            </p:spPr>
            <p:txBody>
              <a:bodyPr/>
              <a:lstStyle/>
              <a:p>
                <a:r>
                  <a:rPr lang="zh-TW" altLang="en-US">
                    <a:noFill/>
                  </a:rPr>
                  <a:t> </a:t>
                </a:r>
              </a:p>
            </p:txBody>
          </p:sp>
        </mc:Fallback>
      </mc:AlternateContent>
      <p:cxnSp>
        <p:nvCxnSpPr>
          <p:cNvPr id="85" name="接點: 肘形 84">
            <a:extLst>
              <a:ext uri="{FF2B5EF4-FFF2-40B4-BE49-F238E27FC236}">
                <a16:creationId xmlns:a16="http://schemas.microsoft.com/office/drawing/2014/main" id="{9DB1CC7A-DF7E-4E7B-8AD3-CB5276B2FB72}"/>
              </a:ext>
            </a:extLst>
          </p:cNvPr>
          <p:cNvCxnSpPr>
            <a:stCxn id="84" idx="0"/>
            <a:endCxn id="50" idx="1"/>
          </p:cNvCxnSpPr>
          <p:nvPr/>
        </p:nvCxnSpPr>
        <p:spPr>
          <a:xfrm rot="5400000" flipH="1" flipV="1">
            <a:off x="5919218" y="2878119"/>
            <a:ext cx="275467" cy="1724743"/>
          </a:xfrm>
          <a:prstGeom prst="bentConnector2">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直線單箭頭接點 85">
            <a:extLst>
              <a:ext uri="{FF2B5EF4-FFF2-40B4-BE49-F238E27FC236}">
                <a16:creationId xmlns:a16="http://schemas.microsoft.com/office/drawing/2014/main" id="{90BEA646-8B1D-4084-A8BA-75686D350DA1}"/>
              </a:ext>
            </a:extLst>
          </p:cNvPr>
          <p:cNvCxnSpPr>
            <a:stCxn id="82" idx="0"/>
            <a:endCxn id="83" idx="2"/>
          </p:cNvCxnSpPr>
          <p:nvPr/>
        </p:nvCxnSpPr>
        <p:spPr>
          <a:xfrm flipV="1">
            <a:off x="5194581" y="4778915"/>
            <a:ext cx="0" cy="319956"/>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2FC11260-21DF-47C1-976D-35301DE72AE0}"/>
              </a:ext>
            </a:extLst>
          </p:cNvPr>
          <p:cNvCxnSpPr>
            <a:stCxn id="83" idx="0"/>
            <a:endCxn id="84" idx="2"/>
          </p:cNvCxnSpPr>
          <p:nvPr/>
        </p:nvCxnSpPr>
        <p:spPr>
          <a:xfrm flipH="1" flipV="1">
            <a:off x="5194580" y="4168591"/>
            <a:ext cx="1" cy="319956"/>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sp>
        <p:nvSpPr>
          <p:cNvPr id="88" name="文字方塊 87">
            <a:extLst>
              <a:ext uri="{FF2B5EF4-FFF2-40B4-BE49-F238E27FC236}">
                <a16:creationId xmlns:a16="http://schemas.microsoft.com/office/drawing/2014/main" id="{FDFD46CB-38E4-4749-B18E-8DCB384AAEA0}"/>
              </a:ext>
            </a:extLst>
          </p:cNvPr>
          <p:cNvSpPr txBox="1"/>
          <p:nvPr/>
        </p:nvSpPr>
        <p:spPr>
          <a:xfrm>
            <a:off x="6188198" y="5673104"/>
            <a:ext cx="466794"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No</a:t>
            </a:r>
            <a:endParaRPr lang="zh-TW" altLang="en-US" dirty="0">
              <a:latin typeface="Times New Roman" panose="02020603050405020304" pitchFamily="18" charset="0"/>
              <a:cs typeface="Times New Roman" panose="02020603050405020304" pitchFamily="18" charset="0"/>
            </a:endParaRPr>
          </a:p>
        </p:txBody>
      </p:sp>
      <p:cxnSp>
        <p:nvCxnSpPr>
          <p:cNvPr id="89" name="接點: 肘形 88">
            <a:extLst>
              <a:ext uri="{FF2B5EF4-FFF2-40B4-BE49-F238E27FC236}">
                <a16:creationId xmlns:a16="http://schemas.microsoft.com/office/drawing/2014/main" id="{DFAF154F-047A-40B9-9CFD-1419B1D2B1E0}"/>
              </a:ext>
            </a:extLst>
          </p:cNvPr>
          <p:cNvCxnSpPr>
            <a:stCxn id="63" idx="3"/>
            <a:endCxn id="69" idx="3"/>
          </p:cNvCxnSpPr>
          <p:nvPr/>
        </p:nvCxnSpPr>
        <p:spPr>
          <a:xfrm flipH="1">
            <a:off x="8412079" y="5389855"/>
            <a:ext cx="291636" cy="1250259"/>
          </a:xfrm>
          <a:prstGeom prst="bentConnector3">
            <a:avLst>
              <a:gd name="adj1" fmla="val -294380"/>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sp>
        <p:nvSpPr>
          <p:cNvPr id="90" name="文字方塊 89">
            <a:extLst>
              <a:ext uri="{FF2B5EF4-FFF2-40B4-BE49-F238E27FC236}">
                <a16:creationId xmlns:a16="http://schemas.microsoft.com/office/drawing/2014/main" id="{88524B37-1326-46B4-9CCC-44422795BB50}"/>
              </a:ext>
            </a:extLst>
          </p:cNvPr>
          <p:cNvSpPr txBox="1"/>
          <p:nvPr/>
        </p:nvSpPr>
        <p:spPr>
          <a:xfrm>
            <a:off x="8666770" y="5048442"/>
            <a:ext cx="466794"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No</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1" name="矩形: 圓角 90">
                <a:extLst>
                  <a:ext uri="{FF2B5EF4-FFF2-40B4-BE49-F238E27FC236}">
                    <a16:creationId xmlns:a16="http://schemas.microsoft.com/office/drawing/2014/main" id="{24ADEEBB-862B-4AE9-B45A-AC24CEF46322}"/>
                  </a:ext>
                </a:extLst>
              </p:cNvPr>
              <p:cNvSpPr/>
              <p:nvPr/>
            </p:nvSpPr>
            <p:spPr>
              <a:xfrm>
                <a:off x="9526807" y="4599420"/>
                <a:ext cx="2639888" cy="33160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𝐶𝑎𝑙𝑐𝑢𝑙𝑎𝑡𝑒</m:t>
                      </m:r>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 </m:t>
                      </m:r>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𝑂𝑏𝑗𝑒𝑐𝑡𝑖𝑣𝑒</m:t>
                      </m:r>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 </m:t>
                      </m:r>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𝐹𝑢𝑛𝑐𝑡𝑖𝑜𝑛</m:t>
                      </m:r>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91" name="矩形: 圓角 90">
                <a:extLst>
                  <a:ext uri="{FF2B5EF4-FFF2-40B4-BE49-F238E27FC236}">
                    <a16:creationId xmlns:a16="http://schemas.microsoft.com/office/drawing/2014/main" id="{24ADEEBB-862B-4AE9-B45A-AC24CEF46322}"/>
                  </a:ext>
                </a:extLst>
              </p:cNvPr>
              <p:cNvSpPr>
                <a:spLocks noRot="1" noChangeAspect="1" noMove="1" noResize="1" noEditPoints="1" noAdjustHandles="1" noChangeArrowheads="1" noChangeShapeType="1" noTextEdit="1"/>
              </p:cNvSpPr>
              <p:nvPr/>
            </p:nvSpPr>
            <p:spPr>
              <a:xfrm>
                <a:off x="9526807" y="4599420"/>
                <a:ext cx="2639888" cy="331607"/>
              </a:xfrm>
              <a:prstGeom prst="roundRect">
                <a:avLst/>
              </a:prstGeom>
              <a:blipFill>
                <a:blip r:embed="rId15"/>
                <a:stretch>
                  <a:fillRect l="-1149" b="-3509"/>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2" name="矩形: 圓角 91">
                <a:extLst>
                  <a:ext uri="{FF2B5EF4-FFF2-40B4-BE49-F238E27FC236}">
                    <a16:creationId xmlns:a16="http://schemas.microsoft.com/office/drawing/2014/main" id="{4F5C6817-2497-4FD9-8B56-091A8E6F0F96}"/>
                  </a:ext>
                </a:extLst>
              </p:cNvPr>
              <p:cNvSpPr/>
              <p:nvPr/>
            </p:nvSpPr>
            <p:spPr>
              <a:xfrm>
                <a:off x="9711589" y="3540418"/>
                <a:ext cx="2270323" cy="70399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rabicPeriod"/>
                </a:pPr>
                <a14:m>
                  <m:oMath xmlns:m="http://schemas.openxmlformats.org/officeDocument/2006/math">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𝑂𝐹</m:t>
                    </m:r>
                    <m:d>
                      <m:dPr>
                        <m:ctrlP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e>
                    </m:d>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&lt;</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𝑂𝐹</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−1)</m:t>
                    </m:r>
                  </m:oMath>
                </a14:m>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lgn="ctr">
                  <a:buFont typeface="+mj-lt"/>
                  <a:buAutoNum type="arabicPeriod"/>
                </a:pPr>
                <a14:m>
                  <m:oMath xmlns:m="http://schemas.openxmlformats.org/officeDocument/2006/math">
                    <m:r>
                      <a:rPr lang="zh-TW" altLang="en-US" sz="160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𝜌</m:t>
                    </m:r>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&lt;</m:t>
                    </m:r>
                    <m:sSup>
                      <m:sSupPr>
                        <m:ctrlP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𝑒</m:t>
                        </m:r>
                      </m:e>
                      <m:sup>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f>
                          <m:fPr>
                            <m:type m:val="skw"/>
                            <m:ctrlP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fPr>
                          <m:num>
                            <m:sSub>
                              <m:sSubPr>
                                <m:ctrlP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𝐶</m:t>
                                </m:r>
                              </m:e>
                              <m:sub>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𝑝</m:t>
                                </m:r>
                              </m:sub>
                            </m:sSub>
                          </m:num>
                          <m:den>
                            <m:r>
                              <a:rPr lang="en-US" altLang="zh-TW" sz="16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𝑇</m:t>
                            </m:r>
                          </m:den>
                        </m:f>
                      </m:sup>
                    </m:sSup>
                  </m:oMath>
                </a14:m>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92" name="矩形: 圓角 91">
                <a:extLst>
                  <a:ext uri="{FF2B5EF4-FFF2-40B4-BE49-F238E27FC236}">
                    <a16:creationId xmlns:a16="http://schemas.microsoft.com/office/drawing/2014/main" id="{4F5C6817-2497-4FD9-8B56-091A8E6F0F96}"/>
                  </a:ext>
                </a:extLst>
              </p:cNvPr>
              <p:cNvSpPr>
                <a:spLocks noRot="1" noChangeAspect="1" noMove="1" noResize="1" noEditPoints="1" noAdjustHandles="1" noChangeArrowheads="1" noChangeShapeType="1" noTextEdit="1"/>
              </p:cNvSpPr>
              <p:nvPr/>
            </p:nvSpPr>
            <p:spPr>
              <a:xfrm>
                <a:off x="9711589" y="3540418"/>
                <a:ext cx="2270323" cy="703993"/>
              </a:xfrm>
              <a:prstGeom prst="roundRect">
                <a:avLst/>
              </a:prstGeom>
              <a:blipFill>
                <a:blip r:embed="rId16"/>
                <a:stretch>
                  <a:fillRect t="-4274" b="-58120"/>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3" name="矩形: 圓角 92">
                <a:extLst>
                  <a:ext uri="{FF2B5EF4-FFF2-40B4-BE49-F238E27FC236}">
                    <a16:creationId xmlns:a16="http://schemas.microsoft.com/office/drawing/2014/main" id="{85518859-F037-4C14-A734-C90DC10F2207}"/>
                  </a:ext>
                </a:extLst>
              </p:cNvPr>
              <p:cNvSpPr/>
              <p:nvPr/>
            </p:nvSpPr>
            <p:spPr>
              <a:xfrm>
                <a:off x="9579346" y="2898054"/>
                <a:ext cx="2534808" cy="29036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𝑑𝑜𝑚𝑎𝑖𝑛</m:t>
                      </m:r>
                      <m:d>
                        <m:dPr>
                          <m:ctrlP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𝑗</m:t>
                          </m:r>
                        </m:e>
                      </m:d>
                      <m:r>
                        <a:rPr lang="en-US" altLang="zh-TW" sz="14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=−1</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𝑑𝑜𝑚𝑎𝑖𝑛</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𝑗</m:t>
                      </m:r>
                      <m:r>
                        <a:rPr lang="en-US" altLang="zh-TW" sz="1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93" name="矩形: 圓角 92">
                <a:extLst>
                  <a:ext uri="{FF2B5EF4-FFF2-40B4-BE49-F238E27FC236}">
                    <a16:creationId xmlns:a16="http://schemas.microsoft.com/office/drawing/2014/main" id="{85518859-F037-4C14-A734-C90DC10F2207}"/>
                  </a:ext>
                </a:extLst>
              </p:cNvPr>
              <p:cNvSpPr>
                <a:spLocks noRot="1" noChangeAspect="1" noMove="1" noResize="1" noEditPoints="1" noAdjustHandles="1" noChangeArrowheads="1" noChangeShapeType="1" noTextEdit="1"/>
              </p:cNvSpPr>
              <p:nvPr/>
            </p:nvSpPr>
            <p:spPr>
              <a:xfrm>
                <a:off x="9579346" y="2898054"/>
                <a:ext cx="2534808" cy="290368"/>
              </a:xfrm>
              <a:prstGeom prst="roundRect">
                <a:avLst/>
              </a:prstGeom>
              <a:blipFill>
                <a:blip r:embed="rId17"/>
                <a:stretch>
                  <a:fillRect b="-10000"/>
                </a:stretch>
              </a:blipFill>
              <a:ln>
                <a:solidFill>
                  <a:schemeClr val="tx1"/>
                </a:solidFill>
              </a:ln>
            </p:spPr>
            <p:txBody>
              <a:bodyPr/>
              <a:lstStyle/>
              <a:p>
                <a:r>
                  <a:rPr lang="zh-TW" altLang="en-US">
                    <a:noFill/>
                  </a:rPr>
                  <a:t> </a:t>
                </a:r>
              </a:p>
            </p:txBody>
          </p:sp>
        </mc:Fallback>
      </mc:AlternateContent>
      <p:cxnSp>
        <p:nvCxnSpPr>
          <p:cNvPr id="115" name="直線單箭頭接點 114">
            <a:extLst>
              <a:ext uri="{FF2B5EF4-FFF2-40B4-BE49-F238E27FC236}">
                <a16:creationId xmlns:a16="http://schemas.microsoft.com/office/drawing/2014/main" id="{5D64CC12-298E-41D4-810C-48E1E379978C}"/>
              </a:ext>
            </a:extLst>
          </p:cNvPr>
          <p:cNvCxnSpPr>
            <a:cxnSpLocks/>
            <a:stCxn id="91" idx="0"/>
            <a:endCxn id="92" idx="2"/>
          </p:cNvCxnSpPr>
          <p:nvPr/>
        </p:nvCxnSpPr>
        <p:spPr>
          <a:xfrm flipV="1">
            <a:off x="10846751" y="4244411"/>
            <a:ext cx="0" cy="355009"/>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61D69347-DF69-45C1-9187-5EAF1499E61F}"/>
              </a:ext>
            </a:extLst>
          </p:cNvPr>
          <p:cNvCxnSpPr>
            <a:cxnSpLocks/>
            <a:stCxn id="92" idx="0"/>
            <a:endCxn id="93" idx="2"/>
          </p:cNvCxnSpPr>
          <p:nvPr/>
        </p:nvCxnSpPr>
        <p:spPr>
          <a:xfrm flipH="1" flipV="1">
            <a:off x="10846750" y="3188422"/>
            <a:ext cx="1" cy="351996"/>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33" name="直線單箭頭接點 132">
            <a:extLst>
              <a:ext uri="{FF2B5EF4-FFF2-40B4-BE49-F238E27FC236}">
                <a16:creationId xmlns:a16="http://schemas.microsoft.com/office/drawing/2014/main" id="{10ACF2F0-C6F0-497C-9CBD-4623DC81621C}"/>
              </a:ext>
            </a:extLst>
          </p:cNvPr>
          <p:cNvCxnSpPr>
            <a:stCxn id="55" idx="3"/>
            <a:endCxn id="91" idx="1"/>
          </p:cNvCxnSpPr>
          <p:nvPr/>
        </p:nvCxnSpPr>
        <p:spPr>
          <a:xfrm>
            <a:off x="8412080" y="4765032"/>
            <a:ext cx="1114727" cy="192"/>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sp>
        <p:nvSpPr>
          <p:cNvPr id="136" name="文字方塊 135">
            <a:extLst>
              <a:ext uri="{FF2B5EF4-FFF2-40B4-BE49-F238E27FC236}">
                <a16:creationId xmlns:a16="http://schemas.microsoft.com/office/drawing/2014/main" id="{D6209956-7836-46A7-8991-4CC5B18EAE6F}"/>
              </a:ext>
            </a:extLst>
          </p:cNvPr>
          <p:cNvSpPr txBox="1"/>
          <p:nvPr/>
        </p:nvSpPr>
        <p:spPr>
          <a:xfrm>
            <a:off x="8360662" y="4450950"/>
            <a:ext cx="466794"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No</a:t>
            </a:r>
            <a:endParaRPr lang="zh-TW" altLang="en-US" dirty="0">
              <a:latin typeface="Times New Roman" panose="02020603050405020304" pitchFamily="18" charset="0"/>
              <a:cs typeface="Times New Roman" panose="02020603050405020304" pitchFamily="18" charset="0"/>
            </a:endParaRPr>
          </a:p>
        </p:txBody>
      </p:sp>
      <p:sp>
        <p:nvSpPr>
          <p:cNvPr id="138" name="文字方塊 137">
            <a:extLst>
              <a:ext uri="{FF2B5EF4-FFF2-40B4-BE49-F238E27FC236}">
                <a16:creationId xmlns:a16="http://schemas.microsoft.com/office/drawing/2014/main" id="{4B1FE9C5-7284-4E67-9F38-CCA55F9BDEB5}"/>
              </a:ext>
            </a:extLst>
          </p:cNvPr>
          <p:cNvSpPr txBox="1"/>
          <p:nvPr/>
        </p:nvSpPr>
        <p:spPr>
          <a:xfrm>
            <a:off x="10341314" y="3164029"/>
            <a:ext cx="466794"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No</a:t>
            </a:r>
            <a:endParaRPr lang="zh-TW" altLang="en-US" dirty="0">
              <a:latin typeface="Times New Roman" panose="02020603050405020304" pitchFamily="18" charset="0"/>
              <a:cs typeface="Times New Roman" panose="02020603050405020304" pitchFamily="18" charset="0"/>
            </a:endParaRPr>
          </a:p>
        </p:txBody>
      </p:sp>
      <p:cxnSp>
        <p:nvCxnSpPr>
          <p:cNvPr id="140" name="接點: 肘形 139">
            <a:extLst>
              <a:ext uri="{FF2B5EF4-FFF2-40B4-BE49-F238E27FC236}">
                <a16:creationId xmlns:a16="http://schemas.microsoft.com/office/drawing/2014/main" id="{F9CB7B6D-5C5A-481B-9379-475614F2CAE4}"/>
              </a:ext>
            </a:extLst>
          </p:cNvPr>
          <p:cNvCxnSpPr>
            <a:stCxn id="93" idx="1"/>
            <a:endCxn id="50" idx="3"/>
          </p:cNvCxnSpPr>
          <p:nvPr/>
        </p:nvCxnSpPr>
        <p:spPr>
          <a:xfrm rot="10800000" flipV="1">
            <a:off x="8402448" y="3043238"/>
            <a:ext cx="1176899" cy="559518"/>
          </a:xfrm>
          <a:prstGeom prst="bentConnector3">
            <a:avLst>
              <a:gd name="adj1" fmla="val 34979"/>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44" name="接點: 肘形 143">
            <a:extLst>
              <a:ext uri="{FF2B5EF4-FFF2-40B4-BE49-F238E27FC236}">
                <a16:creationId xmlns:a16="http://schemas.microsoft.com/office/drawing/2014/main" id="{21C1950D-20E7-4714-B14D-4DE00F657587}"/>
              </a:ext>
            </a:extLst>
          </p:cNvPr>
          <p:cNvCxnSpPr>
            <a:stCxn id="92" idx="1"/>
            <a:endCxn id="50" idx="3"/>
          </p:cNvCxnSpPr>
          <p:nvPr/>
        </p:nvCxnSpPr>
        <p:spPr>
          <a:xfrm rot="10800000">
            <a:off x="8402447" y="3602757"/>
            <a:ext cx="1309142" cy="289659"/>
          </a:xfrm>
          <a:prstGeom prst="bentConnector3">
            <a:avLst>
              <a:gd name="adj1" fmla="val 41618"/>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sp>
        <p:nvSpPr>
          <p:cNvPr id="158" name="文字方塊 157">
            <a:extLst>
              <a:ext uri="{FF2B5EF4-FFF2-40B4-BE49-F238E27FC236}">
                <a16:creationId xmlns:a16="http://schemas.microsoft.com/office/drawing/2014/main" id="{C82FB7BB-C15A-4628-93C3-585011B7F6FC}"/>
              </a:ext>
            </a:extLst>
          </p:cNvPr>
          <p:cNvSpPr txBox="1"/>
          <p:nvPr/>
        </p:nvSpPr>
        <p:spPr>
          <a:xfrm>
            <a:off x="9240574" y="3585421"/>
            <a:ext cx="520655"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Yes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694674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inVertical)">
                                      <p:cBhvr>
                                        <p:cTn id="7" dur="500"/>
                                        <p:tgtEl>
                                          <p:spTgt spid="47"/>
                                        </p:tgtEl>
                                      </p:cBhvr>
                                    </p:animEffect>
                                  </p:childTnLst>
                                </p:cTn>
                              </p:par>
                              <p:par>
                                <p:cTn id="8" presetID="16" presetClass="entr" presetSubtype="21" fill="hold"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barn(inVertical)">
                                      <p:cBhvr>
                                        <p:cTn id="10" dur="500"/>
                                        <p:tgtEl>
                                          <p:spTgt spid="70"/>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barn(inVertical)">
                                      <p:cBhvr>
                                        <p:cTn id="13" dur="500"/>
                                        <p:tgtEl>
                                          <p:spTgt spid="48"/>
                                        </p:tgtEl>
                                      </p:cBhvr>
                                    </p:animEffect>
                                  </p:childTnLst>
                                </p:cTn>
                              </p:par>
                              <p:par>
                                <p:cTn id="14" presetID="16" presetClass="entr" presetSubtype="21" fill="hold" nodeType="with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barn(inVertical)">
                                      <p:cBhvr>
                                        <p:cTn id="16" dur="500"/>
                                        <p:tgtEl>
                                          <p:spTgt spid="7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barn(inVertical)">
                                      <p:cBhvr>
                                        <p:cTn id="21" dur="500"/>
                                        <p:tgtEl>
                                          <p:spTgt spid="49"/>
                                        </p:tgtEl>
                                      </p:cBhvr>
                                    </p:animEffect>
                                  </p:childTnLst>
                                </p:cTn>
                              </p:par>
                              <p:par>
                                <p:cTn id="22" presetID="16" presetClass="entr" presetSubtype="21" fill="hold" nodeType="withEffect">
                                  <p:stCondLst>
                                    <p:cond delay="0"/>
                                  </p:stCondLst>
                                  <p:childTnLst>
                                    <p:set>
                                      <p:cBhvr>
                                        <p:cTn id="23" dur="1" fill="hold">
                                          <p:stCondLst>
                                            <p:cond delay="0"/>
                                          </p:stCondLst>
                                        </p:cTn>
                                        <p:tgtEl>
                                          <p:spTgt spid="72"/>
                                        </p:tgtEl>
                                        <p:attrNameLst>
                                          <p:attrName>style.visibility</p:attrName>
                                        </p:attrNameLst>
                                      </p:cBhvr>
                                      <p:to>
                                        <p:strVal val="visible"/>
                                      </p:to>
                                    </p:set>
                                    <p:animEffect transition="in" filter="barn(inVertical)">
                                      <p:cBhvr>
                                        <p:cTn id="24" dur="500"/>
                                        <p:tgtEl>
                                          <p:spTgt spid="72"/>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barn(inVertical)">
                                      <p:cBhvr>
                                        <p:cTn id="29" dur="500"/>
                                        <p:tgtEl>
                                          <p:spTgt spid="50"/>
                                        </p:tgtEl>
                                      </p:cBhvr>
                                    </p:animEffect>
                                  </p:childTnLst>
                                </p:cTn>
                              </p:par>
                              <p:par>
                                <p:cTn id="30" presetID="16" presetClass="entr" presetSubtype="21" fill="hold" nodeType="withEffect">
                                  <p:stCondLst>
                                    <p:cond delay="0"/>
                                  </p:stCondLst>
                                  <p:childTnLst>
                                    <p:set>
                                      <p:cBhvr>
                                        <p:cTn id="31" dur="1" fill="hold">
                                          <p:stCondLst>
                                            <p:cond delay="0"/>
                                          </p:stCondLst>
                                        </p:cTn>
                                        <p:tgtEl>
                                          <p:spTgt spid="73"/>
                                        </p:tgtEl>
                                        <p:attrNameLst>
                                          <p:attrName>style.visibility</p:attrName>
                                        </p:attrNameLst>
                                      </p:cBhvr>
                                      <p:to>
                                        <p:strVal val="visible"/>
                                      </p:to>
                                    </p:set>
                                    <p:animEffect transition="in" filter="barn(inVertical)">
                                      <p:cBhvr>
                                        <p:cTn id="32" dur="500"/>
                                        <p:tgtEl>
                                          <p:spTgt spid="73"/>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barn(inVertical)">
                                      <p:cBhvr>
                                        <p:cTn id="35" dur="500"/>
                                        <p:tgtEl>
                                          <p:spTgt spid="53"/>
                                        </p:tgtEl>
                                      </p:cBhvr>
                                    </p:animEffect>
                                  </p:childTnLst>
                                </p:cTn>
                              </p:par>
                              <p:par>
                                <p:cTn id="36" presetID="16" presetClass="entr" presetSubtype="21" fill="hold" nodeType="withEffect">
                                  <p:stCondLst>
                                    <p:cond delay="0"/>
                                  </p:stCondLst>
                                  <p:childTnLst>
                                    <p:set>
                                      <p:cBhvr>
                                        <p:cTn id="37" dur="1" fill="hold">
                                          <p:stCondLst>
                                            <p:cond delay="0"/>
                                          </p:stCondLst>
                                        </p:cTn>
                                        <p:tgtEl>
                                          <p:spTgt spid="75"/>
                                        </p:tgtEl>
                                        <p:attrNameLst>
                                          <p:attrName>style.visibility</p:attrName>
                                        </p:attrNameLst>
                                      </p:cBhvr>
                                      <p:to>
                                        <p:strVal val="visible"/>
                                      </p:to>
                                    </p:set>
                                    <p:animEffect transition="in" filter="barn(inVertical)">
                                      <p:cBhvr>
                                        <p:cTn id="38" dur="500"/>
                                        <p:tgtEl>
                                          <p:spTgt spid="75"/>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barn(inVertical)">
                                      <p:cBhvr>
                                        <p:cTn id="43" dur="500"/>
                                        <p:tgtEl>
                                          <p:spTgt spid="55"/>
                                        </p:tgtEl>
                                      </p:cBhvr>
                                    </p:animEffect>
                                  </p:childTnLst>
                                </p:cTn>
                              </p:par>
                              <p:par>
                                <p:cTn id="44" presetID="16" presetClass="entr" presetSubtype="21" fill="hold" nodeType="withEffect">
                                  <p:stCondLst>
                                    <p:cond delay="0"/>
                                  </p:stCondLst>
                                  <p:childTnLst>
                                    <p:set>
                                      <p:cBhvr>
                                        <p:cTn id="45" dur="1" fill="hold">
                                          <p:stCondLst>
                                            <p:cond delay="0"/>
                                          </p:stCondLst>
                                        </p:cTn>
                                        <p:tgtEl>
                                          <p:spTgt spid="133"/>
                                        </p:tgtEl>
                                        <p:attrNameLst>
                                          <p:attrName>style.visibility</p:attrName>
                                        </p:attrNameLst>
                                      </p:cBhvr>
                                      <p:to>
                                        <p:strVal val="visible"/>
                                      </p:to>
                                    </p:set>
                                    <p:animEffect transition="in" filter="barn(inVertical)">
                                      <p:cBhvr>
                                        <p:cTn id="46" dur="500"/>
                                        <p:tgtEl>
                                          <p:spTgt spid="133"/>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92"/>
                                        </p:tgtEl>
                                        <p:attrNameLst>
                                          <p:attrName>style.visibility</p:attrName>
                                        </p:attrNameLst>
                                      </p:cBhvr>
                                      <p:to>
                                        <p:strVal val="visible"/>
                                      </p:to>
                                    </p:set>
                                    <p:animEffect transition="in" filter="barn(inVertical)">
                                      <p:cBhvr>
                                        <p:cTn id="49" dur="500"/>
                                        <p:tgtEl>
                                          <p:spTgt spid="92"/>
                                        </p:tgtEl>
                                      </p:cBhvr>
                                    </p:animEffect>
                                  </p:childTnLst>
                                </p:cTn>
                              </p:par>
                              <p:par>
                                <p:cTn id="50" presetID="16" presetClass="entr" presetSubtype="21" fill="hold" nodeType="withEffect">
                                  <p:stCondLst>
                                    <p:cond delay="0"/>
                                  </p:stCondLst>
                                  <p:childTnLst>
                                    <p:set>
                                      <p:cBhvr>
                                        <p:cTn id="51" dur="1" fill="hold">
                                          <p:stCondLst>
                                            <p:cond delay="0"/>
                                          </p:stCondLst>
                                        </p:cTn>
                                        <p:tgtEl>
                                          <p:spTgt spid="115"/>
                                        </p:tgtEl>
                                        <p:attrNameLst>
                                          <p:attrName>style.visibility</p:attrName>
                                        </p:attrNameLst>
                                      </p:cBhvr>
                                      <p:to>
                                        <p:strVal val="visible"/>
                                      </p:to>
                                    </p:set>
                                    <p:animEffect transition="in" filter="barn(inVertical)">
                                      <p:cBhvr>
                                        <p:cTn id="52" dur="500"/>
                                        <p:tgtEl>
                                          <p:spTgt spid="115"/>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136"/>
                                        </p:tgtEl>
                                        <p:attrNameLst>
                                          <p:attrName>style.visibility</p:attrName>
                                        </p:attrNameLst>
                                      </p:cBhvr>
                                      <p:to>
                                        <p:strVal val="visible"/>
                                      </p:to>
                                    </p:set>
                                    <p:animEffect transition="in" filter="barn(inVertical)">
                                      <p:cBhvr>
                                        <p:cTn id="55" dur="500"/>
                                        <p:tgtEl>
                                          <p:spTgt spid="136"/>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91"/>
                                        </p:tgtEl>
                                        <p:attrNameLst>
                                          <p:attrName>style.visibility</p:attrName>
                                        </p:attrNameLst>
                                      </p:cBhvr>
                                      <p:to>
                                        <p:strVal val="visible"/>
                                      </p:to>
                                    </p:set>
                                    <p:animEffect transition="in" filter="barn(inVertical)">
                                      <p:cBhvr>
                                        <p:cTn id="58" dur="500"/>
                                        <p:tgtEl>
                                          <p:spTgt spid="91"/>
                                        </p:tgtEl>
                                      </p:cBhvr>
                                    </p:animEffect>
                                  </p:childTnLst>
                                </p:cTn>
                              </p:par>
                              <p:par>
                                <p:cTn id="59" presetID="2" presetClass="entr" presetSubtype="4" fill="hold" nodeType="with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500" fill="hold"/>
                                        <p:tgtEl>
                                          <p:spTgt spid="7"/>
                                        </p:tgtEl>
                                        <p:attrNameLst>
                                          <p:attrName>ppt_x</p:attrName>
                                        </p:attrNameLst>
                                      </p:cBhvr>
                                      <p:tavLst>
                                        <p:tav tm="0">
                                          <p:val>
                                            <p:strVal val="#ppt_x"/>
                                          </p:val>
                                        </p:tav>
                                        <p:tav tm="100000">
                                          <p:val>
                                            <p:strVal val="#ppt_x"/>
                                          </p:val>
                                        </p:tav>
                                      </p:tavLst>
                                    </p:anim>
                                    <p:anim calcmode="lin" valueType="num">
                                      <p:cBhvr additive="base">
                                        <p:cTn id="62" dur="500" fill="hold"/>
                                        <p:tgtEl>
                                          <p:spTgt spid="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
                                        </p:tgtEl>
                                        <p:attrNameLst>
                                          <p:attrName>style.visibility</p:attrName>
                                        </p:attrNameLst>
                                      </p:cBhvr>
                                      <p:to>
                                        <p:strVal val="visible"/>
                                      </p:to>
                                    </p:set>
                                    <p:anim calcmode="lin" valueType="num">
                                      <p:cBhvr additive="base">
                                        <p:cTn id="65" dur="500" fill="hold"/>
                                        <p:tgtEl>
                                          <p:spTgt spid="3"/>
                                        </p:tgtEl>
                                        <p:attrNameLst>
                                          <p:attrName>ppt_x</p:attrName>
                                        </p:attrNameLst>
                                      </p:cBhvr>
                                      <p:tavLst>
                                        <p:tav tm="0">
                                          <p:val>
                                            <p:strVal val="#ppt_x"/>
                                          </p:val>
                                        </p:tav>
                                        <p:tav tm="100000">
                                          <p:val>
                                            <p:strVal val="#ppt_x"/>
                                          </p:val>
                                        </p:tav>
                                      </p:tavLst>
                                    </p:anim>
                                    <p:anim calcmode="lin" valueType="num">
                                      <p:cBhvr additive="base">
                                        <p:cTn id="6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93"/>
                                        </p:tgtEl>
                                        <p:attrNameLst>
                                          <p:attrName>style.visibility</p:attrName>
                                        </p:attrNameLst>
                                      </p:cBhvr>
                                      <p:to>
                                        <p:strVal val="visible"/>
                                      </p:to>
                                    </p:set>
                                    <p:animEffect transition="in" filter="barn(inVertical)">
                                      <p:cBhvr>
                                        <p:cTn id="71" dur="500"/>
                                        <p:tgtEl>
                                          <p:spTgt spid="93"/>
                                        </p:tgtEl>
                                      </p:cBhvr>
                                    </p:animEffect>
                                  </p:childTnLst>
                                </p:cTn>
                              </p:par>
                              <p:par>
                                <p:cTn id="72" presetID="16" presetClass="entr" presetSubtype="21" fill="hold" nodeType="withEffect">
                                  <p:stCondLst>
                                    <p:cond delay="0"/>
                                  </p:stCondLst>
                                  <p:childTnLst>
                                    <p:set>
                                      <p:cBhvr>
                                        <p:cTn id="73" dur="1" fill="hold">
                                          <p:stCondLst>
                                            <p:cond delay="0"/>
                                          </p:stCondLst>
                                        </p:cTn>
                                        <p:tgtEl>
                                          <p:spTgt spid="120"/>
                                        </p:tgtEl>
                                        <p:attrNameLst>
                                          <p:attrName>style.visibility</p:attrName>
                                        </p:attrNameLst>
                                      </p:cBhvr>
                                      <p:to>
                                        <p:strVal val="visible"/>
                                      </p:to>
                                    </p:set>
                                    <p:animEffect transition="in" filter="barn(inVertical)">
                                      <p:cBhvr>
                                        <p:cTn id="74" dur="500"/>
                                        <p:tgtEl>
                                          <p:spTgt spid="120"/>
                                        </p:tgtEl>
                                      </p:cBhvr>
                                    </p:animEffect>
                                  </p:childTnLst>
                                </p:cTn>
                              </p:par>
                              <p:par>
                                <p:cTn id="75" presetID="16" presetClass="entr" presetSubtype="21" fill="hold" grpId="0" nodeType="withEffect">
                                  <p:stCondLst>
                                    <p:cond delay="0"/>
                                  </p:stCondLst>
                                  <p:childTnLst>
                                    <p:set>
                                      <p:cBhvr>
                                        <p:cTn id="76" dur="1" fill="hold">
                                          <p:stCondLst>
                                            <p:cond delay="0"/>
                                          </p:stCondLst>
                                        </p:cTn>
                                        <p:tgtEl>
                                          <p:spTgt spid="138"/>
                                        </p:tgtEl>
                                        <p:attrNameLst>
                                          <p:attrName>style.visibility</p:attrName>
                                        </p:attrNameLst>
                                      </p:cBhvr>
                                      <p:to>
                                        <p:strVal val="visible"/>
                                      </p:to>
                                    </p:set>
                                    <p:animEffect transition="in" filter="barn(inVertical)">
                                      <p:cBhvr>
                                        <p:cTn id="77" dur="500"/>
                                        <p:tgtEl>
                                          <p:spTgt spid="138"/>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nodeType="clickEffect">
                                  <p:stCondLst>
                                    <p:cond delay="0"/>
                                  </p:stCondLst>
                                  <p:childTnLst>
                                    <p:set>
                                      <p:cBhvr>
                                        <p:cTn id="81" dur="1" fill="hold">
                                          <p:stCondLst>
                                            <p:cond delay="0"/>
                                          </p:stCondLst>
                                        </p:cTn>
                                        <p:tgtEl>
                                          <p:spTgt spid="140"/>
                                        </p:tgtEl>
                                        <p:attrNameLst>
                                          <p:attrName>style.visibility</p:attrName>
                                        </p:attrNameLst>
                                      </p:cBhvr>
                                      <p:to>
                                        <p:strVal val="visible"/>
                                      </p:to>
                                    </p:set>
                                    <p:animEffect transition="in" filter="barn(inVertical)">
                                      <p:cBhvr>
                                        <p:cTn id="82" dur="500"/>
                                        <p:tgtEl>
                                          <p:spTgt spid="140"/>
                                        </p:tgtEl>
                                      </p:cBhvr>
                                    </p:animEffect>
                                  </p:childTnLst>
                                </p:cTn>
                              </p:par>
                              <p:par>
                                <p:cTn id="83" presetID="16" presetClass="entr" presetSubtype="21" fill="hold" nodeType="withEffect">
                                  <p:stCondLst>
                                    <p:cond delay="0"/>
                                  </p:stCondLst>
                                  <p:childTnLst>
                                    <p:set>
                                      <p:cBhvr>
                                        <p:cTn id="84" dur="1" fill="hold">
                                          <p:stCondLst>
                                            <p:cond delay="0"/>
                                          </p:stCondLst>
                                        </p:cTn>
                                        <p:tgtEl>
                                          <p:spTgt spid="144"/>
                                        </p:tgtEl>
                                        <p:attrNameLst>
                                          <p:attrName>style.visibility</p:attrName>
                                        </p:attrNameLst>
                                      </p:cBhvr>
                                      <p:to>
                                        <p:strVal val="visible"/>
                                      </p:to>
                                    </p:set>
                                    <p:animEffect transition="in" filter="barn(inVertical)">
                                      <p:cBhvr>
                                        <p:cTn id="85" dur="500"/>
                                        <p:tgtEl>
                                          <p:spTgt spid="144"/>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158"/>
                                        </p:tgtEl>
                                        <p:attrNameLst>
                                          <p:attrName>style.visibility</p:attrName>
                                        </p:attrNameLst>
                                      </p:cBhvr>
                                      <p:to>
                                        <p:strVal val="visible"/>
                                      </p:to>
                                    </p:set>
                                    <p:animEffect transition="in" filter="barn(inVertical)">
                                      <p:cBhvr>
                                        <p:cTn id="88" dur="500"/>
                                        <p:tgtEl>
                                          <p:spTgt spid="158"/>
                                        </p:tgtEl>
                                      </p:cBhvr>
                                    </p:animEffect>
                                  </p:childTnLst>
                                </p:cTn>
                              </p:par>
                            </p:childTnLst>
                          </p:cTn>
                        </p:par>
                      </p:childTnLst>
                    </p:cTn>
                  </p:par>
                  <p:par>
                    <p:cTn id="89" fill="hold">
                      <p:stCondLst>
                        <p:cond delay="indefinite"/>
                      </p:stCondLst>
                      <p:childTnLst>
                        <p:par>
                          <p:cTn id="90" fill="hold">
                            <p:stCondLst>
                              <p:cond delay="0"/>
                            </p:stCondLst>
                            <p:childTnLst>
                              <p:par>
                                <p:cTn id="91" presetID="16" presetClass="entr" presetSubtype="21" fill="hold" nodeType="clickEffect">
                                  <p:stCondLst>
                                    <p:cond delay="0"/>
                                  </p:stCondLst>
                                  <p:childTnLst>
                                    <p:set>
                                      <p:cBhvr>
                                        <p:cTn id="92" dur="1" fill="hold">
                                          <p:stCondLst>
                                            <p:cond delay="0"/>
                                          </p:stCondLst>
                                        </p:cTn>
                                        <p:tgtEl>
                                          <p:spTgt spid="74"/>
                                        </p:tgtEl>
                                        <p:attrNameLst>
                                          <p:attrName>style.visibility</p:attrName>
                                        </p:attrNameLst>
                                      </p:cBhvr>
                                      <p:to>
                                        <p:strVal val="visible"/>
                                      </p:to>
                                    </p:set>
                                    <p:animEffect transition="in" filter="barn(inVertical)">
                                      <p:cBhvr>
                                        <p:cTn id="93" dur="500"/>
                                        <p:tgtEl>
                                          <p:spTgt spid="74"/>
                                        </p:tgtEl>
                                      </p:cBhvr>
                                    </p:animEffect>
                                  </p:childTnLst>
                                </p:cTn>
                              </p:par>
                              <p:par>
                                <p:cTn id="94" presetID="16" presetClass="entr" presetSubtype="21" fill="hold" grpId="0" nodeType="withEffect">
                                  <p:stCondLst>
                                    <p:cond delay="0"/>
                                  </p:stCondLst>
                                  <p:childTnLst>
                                    <p:set>
                                      <p:cBhvr>
                                        <p:cTn id="95" dur="1" fill="hold">
                                          <p:stCondLst>
                                            <p:cond delay="0"/>
                                          </p:stCondLst>
                                        </p:cTn>
                                        <p:tgtEl>
                                          <p:spTgt spid="63"/>
                                        </p:tgtEl>
                                        <p:attrNameLst>
                                          <p:attrName>style.visibility</p:attrName>
                                        </p:attrNameLst>
                                      </p:cBhvr>
                                      <p:to>
                                        <p:strVal val="visible"/>
                                      </p:to>
                                    </p:set>
                                    <p:animEffect transition="in" filter="barn(inVertical)">
                                      <p:cBhvr>
                                        <p:cTn id="96" dur="500"/>
                                        <p:tgtEl>
                                          <p:spTgt spid="63"/>
                                        </p:tgtEl>
                                      </p:cBhvr>
                                    </p:animEffect>
                                  </p:childTnLst>
                                </p:cTn>
                              </p:par>
                              <p:par>
                                <p:cTn id="97" presetID="16" presetClass="entr" presetSubtype="21" fill="hold" grpId="0" nodeType="withEffect">
                                  <p:stCondLst>
                                    <p:cond delay="0"/>
                                  </p:stCondLst>
                                  <p:childTnLst>
                                    <p:set>
                                      <p:cBhvr>
                                        <p:cTn id="98" dur="1" fill="hold">
                                          <p:stCondLst>
                                            <p:cond delay="0"/>
                                          </p:stCondLst>
                                        </p:cTn>
                                        <p:tgtEl>
                                          <p:spTgt spid="78"/>
                                        </p:tgtEl>
                                        <p:attrNameLst>
                                          <p:attrName>style.visibility</p:attrName>
                                        </p:attrNameLst>
                                      </p:cBhvr>
                                      <p:to>
                                        <p:strVal val="visible"/>
                                      </p:to>
                                    </p:set>
                                    <p:animEffect transition="in" filter="barn(inVertical)">
                                      <p:cBhvr>
                                        <p:cTn id="99" dur="500"/>
                                        <p:tgtEl>
                                          <p:spTgt spid="78"/>
                                        </p:tgtEl>
                                      </p:cBhvr>
                                    </p:animEffect>
                                  </p:childTnLst>
                                </p:cTn>
                              </p:par>
                            </p:childTnLst>
                          </p:cTn>
                        </p:par>
                      </p:childTnLst>
                    </p:cTn>
                  </p:par>
                  <p:par>
                    <p:cTn id="100" fill="hold">
                      <p:stCondLst>
                        <p:cond delay="indefinite"/>
                      </p:stCondLst>
                      <p:childTnLst>
                        <p:par>
                          <p:cTn id="101" fill="hold">
                            <p:stCondLst>
                              <p:cond delay="0"/>
                            </p:stCondLst>
                            <p:childTnLst>
                              <p:par>
                                <p:cTn id="102" presetID="16" presetClass="entr" presetSubtype="21" fill="hold" nodeType="clickEffect">
                                  <p:stCondLst>
                                    <p:cond delay="0"/>
                                  </p:stCondLst>
                                  <p:childTnLst>
                                    <p:set>
                                      <p:cBhvr>
                                        <p:cTn id="103" dur="1" fill="hold">
                                          <p:stCondLst>
                                            <p:cond delay="0"/>
                                          </p:stCondLst>
                                        </p:cTn>
                                        <p:tgtEl>
                                          <p:spTgt spid="76"/>
                                        </p:tgtEl>
                                        <p:attrNameLst>
                                          <p:attrName>style.visibility</p:attrName>
                                        </p:attrNameLst>
                                      </p:cBhvr>
                                      <p:to>
                                        <p:strVal val="visible"/>
                                      </p:to>
                                    </p:set>
                                    <p:animEffect transition="in" filter="barn(inVertical)">
                                      <p:cBhvr>
                                        <p:cTn id="104" dur="500"/>
                                        <p:tgtEl>
                                          <p:spTgt spid="76"/>
                                        </p:tgtEl>
                                      </p:cBhvr>
                                    </p:animEffect>
                                  </p:childTnLst>
                                </p:cTn>
                              </p:par>
                              <p:par>
                                <p:cTn id="105" presetID="16" presetClass="entr" presetSubtype="21" fill="hold" grpId="0" nodeType="withEffect">
                                  <p:stCondLst>
                                    <p:cond delay="0"/>
                                  </p:stCondLst>
                                  <p:childTnLst>
                                    <p:set>
                                      <p:cBhvr>
                                        <p:cTn id="106" dur="1" fill="hold">
                                          <p:stCondLst>
                                            <p:cond delay="0"/>
                                          </p:stCondLst>
                                        </p:cTn>
                                        <p:tgtEl>
                                          <p:spTgt spid="79"/>
                                        </p:tgtEl>
                                        <p:attrNameLst>
                                          <p:attrName>style.visibility</p:attrName>
                                        </p:attrNameLst>
                                      </p:cBhvr>
                                      <p:to>
                                        <p:strVal val="visible"/>
                                      </p:to>
                                    </p:set>
                                    <p:animEffect transition="in" filter="barn(inVertical)">
                                      <p:cBhvr>
                                        <p:cTn id="107" dur="500"/>
                                        <p:tgtEl>
                                          <p:spTgt spid="79"/>
                                        </p:tgtEl>
                                      </p:cBhvr>
                                    </p:animEffect>
                                  </p:childTnLst>
                                </p:cTn>
                              </p:par>
                              <p:par>
                                <p:cTn id="108" presetID="16" presetClass="entr" presetSubtype="21" fill="hold" grpId="0" nodeType="withEffect">
                                  <p:stCondLst>
                                    <p:cond delay="0"/>
                                  </p:stCondLst>
                                  <p:childTnLst>
                                    <p:set>
                                      <p:cBhvr>
                                        <p:cTn id="109" dur="1" fill="hold">
                                          <p:stCondLst>
                                            <p:cond delay="0"/>
                                          </p:stCondLst>
                                        </p:cTn>
                                        <p:tgtEl>
                                          <p:spTgt spid="64"/>
                                        </p:tgtEl>
                                        <p:attrNameLst>
                                          <p:attrName>style.visibility</p:attrName>
                                        </p:attrNameLst>
                                      </p:cBhvr>
                                      <p:to>
                                        <p:strVal val="visible"/>
                                      </p:to>
                                    </p:set>
                                    <p:animEffect transition="in" filter="barn(inVertical)">
                                      <p:cBhvr>
                                        <p:cTn id="110" dur="500"/>
                                        <p:tgtEl>
                                          <p:spTgt spid="64"/>
                                        </p:tgtEl>
                                      </p:cBhvr>
                                    </p:animEffect>
                                  </p:childTnLst>
                                </p:cTn>
                              </p:par>
                              <p:par>
                                <p:cTn id="111" presetID="16" presetClass="entr" presetSubtype="21" fill="hold" grpId="0" nodeType="withEffect">
                                  <p:stCondLst>
                                    <p:cond delay="0"/>
                                  </p:stCondLst>
                                  <p:childTnLst>
                                    <p:set>
                                      <p:cBhvr>
                                        <p:cTn id="112" dur="1" fill="hold">
                                          <p:stCondLst>
                                            <p:cond delay="0"/>
                                          </p:stCondLst>
                                        </p:cTn>
                                        <p:tgtEl>
                                          <p:spTgt spid="88"/>
                                        </p:tgtEl>
                                        <p:attrNameLst>
                                          <p:attrName>style.visibility</p:attrName>
                                        </p:attrNameLst>
                                      </p:cBhvr>
                                      <p:to>
                                        <p:strVal val="visible"/>
                                      </p:to>
                                    </p:set>
                                    <p:animEffect transition="in" filter="barn(inVertical)">
                                      <p:cBhvr>
                                        <p:cTn id="113" dur="500"/>
                                        <p:tgtEl>
                                          <p:spTgt spid="88"/>
                                        </p:tgtEl>
                                      </p:cBhvr>
                                    </p:animEffect>
                                  </p:childTnLst>
                                </p:cTn>
                              </p:par>
                              <p:par>
                                <p:cTn id="114" presetID="16" presetClass="entr" presetSubtype="21" fill="hold" nodeType="withEffect">
                                  <p:stCondLst>
                                    <p:cond delay="0"/>
                                  </p:stCondLst>
                                  <p:childTnLst>
                                    <p:set>
                                      <p:cBhvr>
                                        <p:cTn id="115" dur="1" fill="hold">
                                          <p:stCondLst>
                                            <p:cond delay="0"/>
                                          </p:stCondLst>
                                        </p:cTn>
                                        <p:tgtEl>
                                          <p:spTgt spid="81"/>
                                        </p:tgtEl>
                                        <p:attrNameLst>
                                          <p:attrName>style.visibility</p:attrName>
                                        </p:attrNameLst>
                                      </p:cBhvr>
                                      <p:to>
                                        <p:strVal val="visible"/>
                                      </p:to>
                                    </p:set>
                                    <p:animEffect transition="in" filter="barn(inVertical)">
                                      <p:cBhvr>
                                        <p:cTn id="116" dur="500"/>
                                        <p:tgtEl>
                                          <p:spTgt spid="81"/>
                                        </p:tgtEl>
                                      </p:cBhvr>
                                    </p:animEffect>
                                  </p:childTnLst>
                                </p:cTn>
                              </p:par>
                              <p:par>
                                <p:cTn id="117" presetID="16" presetClass="entr" presetSubtype="21" fill="hold" grpId="0" nodeType="withEffect">
                                  <p:stCondLst>
                                    <p:cond delay="0"/>
                                  </p:stCondLst>
                                  <p:childTnLst>
                                    <p:set>
                                      <p:cBhvr>
                                        <p:cTn id="118" dur="1" fill="hold">
                                          <p:stCondLst>
                                            <p:cond delay="0"/>
                                          </p:stCondLst>
                                        </p:cTn>
                                        <p:tgtEl>
                                          <p:spTgt spid="82"/>
                                        </p:tgtEl>
                                        <p:attrNameLst>
                                          <p:attrName>style.visibility</p:attrName>
                                        </p:attrNameLst>
                                      </p:cBhvr>
                                      <p:to>
                                        <p:strVal val="visible"/>
                                      </p:to>
                                    </p:set>
                                    <p:animEffect transition="in" filter="barn(inVertical)">
                                      <p:cBhvr>
                                        <p:cTn id="119" dur="500"/>
                                        <p:tgtEl>
                                          <p:spTgt spid="82"/>
                                        </p:tgtEl>
                                      </p:cBhvr>
                                    </p:animEffect>
                                  </p:childTnLst>
                                </p:cTn>
                              </p:par>
                              <p:par>
                                <p:cTn id="120" presetID="16" presetClass="entr" presetSubtype="21" fill="hold" grpId="0" nodeType="withEffect">
                                  <p:stCondLst>
                                    <p:cond delay="0"/>
                                  </p:stCondLst>
                                  <p:childTnLst>
                                    <p:set>
                                      <p:cBhvr>
                                        <p:cTn id="121" dur="1" fill="hold">
                                          <p:stCondLst>
                                            <p:cond delay="0"/>
                                          </p:stCondLst>
                                        </p:cTn>
                                        <p:tgtEl>
                                          <p:spTgt spid="83"/>
                                        </p:tgtEl>
                                        <p:attrNameLst>
                                          <p:attrName>style.visibility</p:attrName>
                                        </p:attrNameLst>
                                      </p:cBhvr>
                                      <p:to>
                                        <p:strVal val="visible"/>
                                      </p:to>
                                    </p:set>
                                    <p:animEffect transition="in" filter="barn(inVertical)">
                                      <p:cBhvr>
                                        <p:cTn id="122" dur="500"/>
                                        <p:tgtEl>
                                          <p:spTgt spid="83"/>
                                        </p:tgtEl>
                                      </p:cBhvr>
                                    </p:animEffect>
                                  </p:childTnLst>
                                </p:cTn>
                              </p:par>
                              <p:par>
                                <p:cTn id="123" presetID="16" presetClass="entr" presetSubtype="21" fill="hold" grpId="0" nodeType="withEffect">
                                  <p:stCondLst>
                                    <p:cond delay="0"/>
                                  </p:stCondLst>
                                  <p:childTnLst>
                                    <p:set>
                                      <p:cBhvr>
                                        <p:cTn id="124" dur="1" fill="hold">
                                          <p:stCondLst>
                                            <p:cond delay="0"/>
                                          </p:stCondLst>
                                        </p:cTn>
                                        <p:tgtEl>
                                          <p:spTgt spid="84"/>
                                        </p:tgtEl>
                                        <p:attrNameLst>
                                          <p:attrName>style.visibility</p:attrName>
                                        </p:attrNameLst>
                                      </p:cBhvr>
                                      <p:to>
                                        <p:strVal val="visible"/>
                                      </p:to>
                                    </p:set>
                                    <p:animEffect transition="in" filter="barn(inVertical)">
                                      <p:cBhvr>
                                        <p:cTn id="125" dur="500"/>
                                        <p:tgtEl>
                                          <p:spTgt spid="84"/>
                                        </p:tgtEl>
                                      </p:cBhvr>
                                    </p:animEffect>
                                  </p:childTnLst>
                                </p:cTn>
                              </p:par>
                              <p:par>
                                <p:cTn id="126" presetID="16" presetClass="entr" presetSubtype="21" fill="hold" nodeType="withEffect">
                                  <p:stCondLst>
                                    <p:cond delay="0"/>
                                  </p:stCondLst>
                                  <p:childTnLst>
                                    <p:set>
                                      <p:cBhvr>
                                        <p:cTn id="127" dur="1" fill="hold">
                                          <p:stCondLst>
                                            <p:cond delay="0"/>
                                          </p:stCondLst>
                                        </p:cTn>
                                        <p:tgtEl>
                                          <p:spTgt spid="86"/>
                                        </p:tgtEl>
                                        <p:attrNameLst>
                                          <p:attrName>style.visibility</p:attrName>
                                        </p:attrNameLst>
                                      </p:cBhvr>
                                      <p:to>
                                        <p:strVal val="visible"/>
                                      </p:to>
                                    </p:set>
                                    <p:animEffect transition="in" filter="barn(inVertical)">
                                      <p:cBhvr>
                                        <p:cTn id="128" dur="500"/>
                                        <p:tgtEl>
                                          <p:spTgt spid="86"/>
                                        </p:tgtEl>
                                      </p:cBhvr>
                                    </p:animEffect>
                                  </p:childTnLst>
                                </p:cTn>
                              </p:par>
                              <p:par>
                                <p:cTn id="129" presetID="16" presetClass="entr" presetSubtype="21" fill="hold" nodeType="withEffect">
                                  <p:stCondLst>
                                    <p:cond delay="0"/>
                                  </p:stCondLst>
                                  <p:childTnLst>
                                    <p:set>
                                      <p:cBhvr>
                                        <p:cTn id="130" dur="1" fill="hold">
                                          <p:stCondLst>
                                            <p:cond delay="0"/>
                                          </p:stCondLst>
                                        </p:cTn>
                                        <p:tgtEl>
                                          <p:spTgt spid="87"/>
                                        </p:tgtEl>
                                        <p:attrNameLst>
                                          <p:attrName>style.visibility</p:attrName>
                                        </p:attrNameLst>
                                      </p:cBhvr>
                                      <p:to>
                                        <p:strVal val="visible"/>
                                      </p:to>
                                    </p:set>
                                    <p:animEffect transition="in" filter="barn(inVertical)">
                                      <p:cBhvr>
                                        <p:cTn id="131" dur="500"/>
                                        <p:tgtEl>
                                          <p:spTgt spid="87"/>
                                        </p:tgtEl>
                                      </p:cBhvr>
                                    </p:animEffect>
                                  </p:childTnLst>
                                </p:cTn>
                              </p:par>
                              <p:par>
                                <p:cTn id="132" presetID="16" presetClass="entr" presetSubtype="21" fill="hold" nodeType="withEffect">
                                  <p:stCondLst>
                                    <p:cond delay="0"/>
                                  </p:stCondLst>
                                  <p:childTnLst>
                                    <p:set>
                                      <p:cBhvr>
                                        <p:cTn id="133" dur="1" fill="hold">
                                          <p:stCondLst>
                                            <p:cond delay="0"/>
                                          </p:stCondLst>
                                        </p:cTn>
                                        <p:tgtEl>
                                          <p:spTgt spid="85"/>
                                        </p:tgtEl>
                                        <p:attrNameLst>
                                          <p:attrName>style.visibility</p:attrName>
                                        </p:attrNameLst>
                                      </p:cBhvr>
                                      <p:to>
                                        <p:strVal val="visible"/>
                                      </p:to>
                                    </p:set>
                                    <p:animEffect transition="in" filter="barn(inVertical)">
                                      <p:cBhvr>
                                        <p:cTn id="134" dur="500"/>
                                        <p:tgtEl>
                                          <p:spTgt spid="85"/>
                                        </p:tgtEl>
                                      </p:cBhvr>
                                    </p:animEffect>
                                  </p:childTnLst>
                                </p:cTn>
                              </p:par>
                            </p:childTnLst>
                          </p:cTn>
                        </p:par>
                      </p:childTnLst>
                    </p:cTn>
                  </p:par>
                  <p:par>
                    <p:cTn id="135" fill="hold">
                      <p:stCondLst>
                        <p:cond delay="indefinite"/>
                      </p:stCondLst>
                      <p:childTnLst>
                        <p:par>
                          <p:cTn id="136" fill="hold">
                            <p:stCondLst>
                              <p:cond delay="0"/>
                            </p:stCondLst>
                            <p:childTnLst>
                              <p:par>
                                <p:cTn id="137" presetID="16" presetClass="entr" presetSubtype="21" fill="hold" grpId="0" nodeType="clickEffect">
                                  <p:stCondLst>
                                    <p:cond delay="0"/>
                                  </p:stCondLst>
                                  <p:childTnLst>
                                    <p:set>
                                      <p:cBhvr>
                                        <p:cTn id="138" dur="1" fill="hold">
                                          <p:stCondLst>
                                            <p:cond delay="0"/>
                                          </p:stCondLst>
                                        </p:cTn>
                                        <p:tgtEl>
                                          <p:spTgt spid="90"/>
                                        </p:tgtEl>
                                        <p:attrNameLst>
                                          <p:attrName>style.visibility</p:attrName>
                                        </p:attrNameLst>
                                      </p:cBhvr>
                                      <p:to>
                                        <p:strVal val="visible"/>
                                      </p:to>
                                    </p:set>
                                    <p:animEffect transition="in" filter="barn(inVertical)">
                                      <p:cBhvr>
                                        <p:cTn id="139" dur="500"/>
                                        <p:tgtEl>
                                          <p:spTgt spid="90"/>
                                        </p:tgtEl>
                                      </p:cBhvr>
                                    </p:animEffect>
                                  </p:childTnLst>
                                </p:cTn>
                              </p:par>
                              <p:par>
                                <p:cTn id="140" presetID="16" presetClass="entr" presetSubtype="21" fill="hold" nodeType="withEffect">
                                  <p:stCondLst>
                                    <p:cond delay="0"/>
                                  </p:stCondLst>
                                  <p:childTnLst>
                                    <p:set>
                                      <p:cBhvr>
                                        <p:cTn id="141" dur="1" fill="hold">
                                          <p:stCondLst>
                                            <p:cond delay="0"/>
                                          </p:stCondLst>
                                        </p:cTn>
                                        <p:tgtEl>
                                          <p:spTgt spid="89"/>
                                        </p:tgtEl>
                                        <p:attrNameLst>
                                          <p:attrName>style.visibility</p:attrName>
                                        </p:attrNameLst>
                                      </p:cBhvr>
                                      <p:to>
                                        <p:strVal val="visible"/>
                                      </p:to>
                                    </p:set>
                                    <p:animEffect transition="in" filter="barn(inVertical)">
                                      <p:cBhvr>
                                        <p:cTn id="142" dur="500"/>
                                        <p:tgtEl>
                                          <p:spTgt spid="89"/>
                                        </p:tgtEl>
                                      </p:cBhvr>
                                    </p:animEffect>
                                  </p:childTnLst>
                                </p:cTn>
                              </p:par>
                              <p:par>
                                <p:cTn id="143" presetID="16" presetClass="entr" presetSubtype="21" fill="hold" nodeType="withEffect">
                                  <p:stCondLst>
                                    <p:cond delay="0"/>
                                  </p:stCondLst>
                                  <p:childTnLst>
                                    <p:set>
                                      <p:cBhvr>
                                        <p:cTn id="144" dur="1" fill="hold">
                                          <p:stCondLst>
                                            <p:cond delay="0"/>
                                          </p:stCondLst>
                                        </p:cTn>
                                        <p:tgtEl>
                                          <p:spTgt spid="77"/>
                                        </p:tgtEl>
                                        <p:attrNameLst>
                                          <p:attrName>style.visibility</p:attrName>
                                        </p:attrNameLst>
                                      </p:cBhvr>
                                      <p:to>
                                        <p:strVal val="visible"/>
                                      </p:to>
                                    </p:set>
                                    <p:animEffect transition="in" filter="barn(inVertical)">
                                      <p:cBhvr>
                                        <p:cTn id="145" dur="500"/>
                                        <p:tgtEl>
                                          <p:spTgt spid="77"/>
                                        </p:tgtEl>
                                      </p:cBhvr>
                                    </p:animEffect>
                                  </p:childTnLst>
                                </p:cTn>
                              </p:par>
                              <p:par>
                                <p:cTn id="146" presetID="16" presetClass="entr" presetSubtype="21" fill="hold" grpId="0" nodeType="withEffect">
                                  <p:stCondLst>
                                    <p:cond delay="0"/>
                                  </p:stCondLst>
                                  <p:childTnLst>
                                    <p:set>
                                      <p:cBhvr>
                                        <p:cTn id="147" dur="1" fill="hold">
                                          <p:stCondLst>
                                            <p:cond delay="0"/>
                                          </p:stCondLst>
                                        </p:cTn>
                                        <p:tgtEl>
                                          <p:spTgt spid="80"/>
                                        </p:tgtEl>
                                        <p:attrNameLst>
                                          <p:attrName>style.visibility</p:attrName>
                                        </p:attrNameLst>
                                      </p:cBhvr>
                                      <p:to>
                                        <p:strVal val="visible"/>
                                      </p:to>
                                    </p:set>
                                    <p:animEffect transition="in" filter="barn(inVertical)">
                                      <p:cBhvr>
                                        <p:cTn id="148" dur="500"/>
                                        <p:tgtEl>
                                          <p:spTgt spid="80"/>
                                        </p:tgtEl>
                                      </p:cBhvr>
                                    </p:animEffect>
                                  </p:childTnLst>
                                </p:cTn>
                              </p:par>
                              <p:par>
                                <p:cTn id="149" presetID="16" presetClass="entr" presetSubtype="21" fill="hold" grpId="0" nodeType="withEffect">
                                  <p:stCondLst>
                                    <p:cond delay="0"/>
                                  </p:stCondLst>
                                  <p:childTnLst>
                                    <p:set>
                                      <p:cBhvr>
                                        <p:cTn id="150" dur="1" fill="hold">
                                          <p:stCondLst>
                                            <p:cond delay="0"/>
                                          </p:stCondLst>
                                        </p:cTn>
                                        <p:tgtEl>
                                          <p:spTgt spid="69"/>
                                        </p:tgtEl>
                                        <p:attrNameLst>
                                          <p:attrName>style.visibility</p:attrName>
                                        </p:attrNameLst>
                                      </p:cBhvr>
                                      <p:to>
                                        <p:strVal val="visible"/>
                                      </p:to>
                                    </p:set>
                                    <p:animEffect transition="in" filter="barn(inVertical)">
                                      <p:cBhvr>
                                        <p:cTn id="151"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7" grpId="0" animBg="1"/>
      <p:bldP spid="48" grpId="0" animBg="1"/>
      <p:bldP spid="49" grpId="0" animBg="1"/>
      <p:bldP spid="50" grpId="0" animBg="1"/>
      <p:bldP spid="53" grpId="0" animBg="1"/>
      <p:bldP spid="55" grpId="0" animBg="1"/>
      <p:bldP spid="63" grpId="0" animBg="1"/>
      <p:bldP spid="64" grpId="0" animBg="1"/>
      <p:bldP spid="69" grpId="0" animBg="1"/>
      <p:bldP spid="78" grpId="0"/>
      <p:bldP spid="79" grpId="0"/>
      <p:bldP spid="80" grpId="0"/>
      <p:bldP spid="82" grpId="0" animBg="1"/>
      <p:bldP spid="83" grpId="0" animBg="1"/>
      <p:bldP spid="84" grpId="0" animBg="1"/>
      <p:bldP spid="88" grpId="0"/>
      <p:bldP spid="90" grpId="0"/>
      <p:bldP spid="91" grpId="0" animBg="1"/>
      <p:bldP spid="92" grpId="0" animBg="1"/>
      <p:bldP spid="93" grpId="0" animBg="1"/>
      <p:bldP spid="136" grpId="0"/>
      <p:bldP spid="138" grpId="0"/>
      <p:bldP spid="15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pic>
        <p:nvPicPr>
          <p:cNvPr id="8" name="圖片 7">
            <a:extLst>
              <a:ext uri="{FF2B5EF4-FFF2-40B4-BE49-F238E27FC236}">
                <a16:creationId xmlns:a16="http://schemas.microsoft.com/office/drawing/2014/main" id="{DD825DF4-E71D-4229-8DA2-F4E92D16B720}"/>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3182" y="725990"/>
            <a:ext cx="6097181" cy="2716566"/>
          </a:xfrm>
          <a:prstGeom prst="rect">
            <a:avLst/>
          </a:prstGeom>
        </p:spPr>
      </p:pic>
      <p:grpSp>
        <p:nvGrpSpPr>
          <p:cNvPr id="9" name="群組 8">
            <a:extLst>
              <a:ext uri="{FF2B5EF4-FFF2-40B4-BE49-F238E27FC236}">
                <a16:creationId xmlns:a16="http://schemas.microsoft.com/office/drawing/2014/main" id="{61920677-8126-4CA1-ADD5-FCF3547BD130}"/>
              </a:ext>
            </a:extLst>
          </p:cNvPr>
          <p:cNvGrpSpPr/>
          <p:nvPr/>
        </p:nvGrpSpPr>
        <p:grpSpPr>
          <a:xfrm>
            <a:off x="354212" y="3849484"/>
            <a:ext cx="11682333" cy="2098973"/>
            <a:chOff x="0" y="516586"/>
            <a:chExt cx="9742761" cy="2098973"/>
          </a:xfrm>
        </p:grpSpPr>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0369D700-D1F3-49D0-BA62-B3ED57352B73}"/>
                    </a:ext>
                  </a:extLst>
                </p:cNvPr>
                <p:cNvSpPr/>
                <p:nvPr/>
              </p:nvSpPr>
              <p:spPr>
                <a:xfrm>
                  <a:off x="0" y="516586"/>
                  <a:ext cx="9454718" cy="2098973"/>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TW" sz="1600" b="1" i="1" kern="100" smtClean="0">
                            <a:latin typeface="Cambria Math" panose="02040503050406030204" pitchFamily="18" charset="0"/>
                            <a:ea typeface="標楷體" panose="03000509000000000000" pitchFamily="65" charset="-120"/>
                            <a:cs typeface="Times New Roman" panose="02020603050405020304" pitchFamily="18" charset="0"/>
                          </a:rPr>
                          <m:t>𝐎𝐅</m:t>
                        </m:r>
                        <m:r>
                          <a:rPr lang="en-US" altLang="zh-TW" sz="1600" b="1" kern="100" smtClean="0">
                            <a:latin typeface="Cambria Math" panose="02040503050406030204" pitchFamily="18" charset="0"/>
                            <a:ea typeface="標楷體" panose="03000509000000000000" pitchFamily="65" charset="-120"/>
                            <a:cs typeface="Times New Roman" panose="02020603050405020304" pitchFamily="18" charset="0"/>
                          </a:rPr>
                          <m:t>=</m:t>
                        </m:r>
                        <m:nary>
                          <m:naryPr>
                            <m:chr m:val="∑"/>
                            <m:limLoc m:val="undOv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𝒋</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𝟏</m:t>
                            </m:r>
                          </m:sub>
                          <m:sup>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𝑵</m:t>
                            </m:r>
                          </m:sup>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𝒘𝒊</m:t>
                            </m:r>
                            <m:d>
                              <m:d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𝟏𝟎𝟔𝟒</m:t>
                                        </m:r>
                                      </m:sub>
                                    </m:s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𝑻𝒂𝒓𝒈𝒆𝒕</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𝑬</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𝒚</m:t>
                                        </m:r>
                                      </m:sub>
                                    </m:sSub>
                                  </m:e>
                                </m:d>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𝟏𝟎𝟔𝟒</m:t>
                                        </m:r>
                                      </m:sub>
                                    </m:s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𝑨𝒄𝒕𝒖𝒂𝒍</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𝑬</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𝒚</m:t>
                                        </m:r>
                                      </m:sub>
                                    </m:sSub>
                                  </m:e>
                                </m:d>
                              </m:e>
                            </m:d>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𝒘𝒊</m:t>
                            </m:r>
                            <m:d>
                              <m:d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𝟏𝟑𝟒𝟐</m:t>
                                        </m:r>
                                      </m:sub>
                                    </m:s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𝑻𝒂𝒓𝒈𝒆𝒕</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𝑬</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𝒚</m:t>
                                        </m:r>
                                      </m:sub>
                                    </m:sSub>
                                  </m:e>
                                </m:d>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𝟏𝟑𝟒𝟐</m:t>
                                        </m:r>
                                      </m:sub>
                                    </m:s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𝑨𝒄𝒕𝒖𝒂𝒍</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𝑬</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𝒚</m:t>
                                        </m:r>
                                      </m:sub>
                                    </m:sSub>
                                  </m:e>
                                </m:d>
                              </m:e>
                            </m:d>
                          </m:e>
                        </m:nary>
                      </m:oMath>
                    </m:oMathPara>
                  </a14:m>
                  <a:endParaRPr lang="zh-TW" altLang="zh-TW" sz="1600" b="1" kern="1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0369D700-D1F3-49D0-BA62-B3ED57352B73}"/>
                    </a:ext>
                  </a:extLst>
                </p:cNvPr>
                <p:cNvSpPr>
                  <a:spLocks noRot="1" noChangeAspect="1" noMove="1" noResize="1" noEditPoints="1" noAdjustHandles="1" noChangeArrowheads="1" noChangeShapeType="1" noTextEdit="1"/>
                </p:cNvSpPr>
                <p:nvPr/>
              </p:nvSpPr>
              <p:spPr>
                <a:xfrm>
                  <a:off x="0" y="516586"/>
                  <a:ext cx="9454718" cy="2098973"/>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AA1A0A3D-F40B-45BC-B3A5-84C68C0DBCA1}"/>
                    </a:ext>
                  </a:extLst>
                </p:cNvPr>
                <p:cNvSpPr/>
                <p:nvPr/>
              </p:nvSpPr>
              <p:spPr>
                <a:xfrm>
                  <a:off x="643043" y="1482241"/>
                  <a:ext cx="9099718" cy="66518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𝜷</m:t>
                        </m:r>
                        <m:d>
                          <m:dPr>
                            <m:begChr m:val="{"/>
                            <m:endChr m:val="}"/>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𝐦𝐚𝐱</m:t>
                            </m:r>
                            <m:d>
                              <m:dPr>
                                <m:begChr m:val="["/>
                                <m:endChr m:val="]"/>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𝟏𝟎𝟔𝟒</m:t>
                                        </m:r>
                                      </m:sub>
                                    </m:s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𝑨𝒄𝒕𝒖𝒂𝒍</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𝑬</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𝒚</m:t>
                                        </m:r>
                                      </m:sub>
                                    </m:sSub>
                                  </m:e>
                                </m:d>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𝟏𝟑𝟒𝟐</m:t>
                                        </m:r>
                                      </m:sub>
                                    </m:s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𝑨𝒄𝒕𝒖𝒂𝒍</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𝑬</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𝒚</m:t>
                                        </m:r>
                                      </m:sub>
                                    </m:sSub>
                                  </m:e>
                                </m:d>
                              </m:e>
                            </m:d>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𝒎𝒊𝒏</m:t>
                            </m:r>
                            <m:d>
                              <m:dPr>
                                <m:begChr m:val="["/>
                                <m:endChr m:val="]"/>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𝟏𝟎𝟔𝟒</m:t>
                                        </m:r>
                                      </m:sub>
                                    </m:s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𝑨𝒄𝒕𝒖𝒂𝒍</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𝑬</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𝒚</m:t>
                                        </m:r>
                                      </m:sub>
                                    </m:sSub>
                                  </m:e>
                                </m:d>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𝟏𝟑𝟒𝟐</m:t>
                                        </m:r>
                                      </m:sub>
                                    </m:s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𝑨𝒄𝒕𝒖𝒂𝒍</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𝑬</m:t>
                                        </m:r>
                                      </m:e>
                                      <m:sub>
                                        <m:r>
                                          <a:rPr lang="en-US" altLang="zh-TW" sz="1600" b="1" i="1">
                                            <a:latin typeface="Cambria Math" panose="02040503050406030204" pitchFamily="18" charset="0"/>
                                            <a:ea typeface="標楷體" panose="03000509000000000000" pitchFamily="65" charset="-120"/>
                                            <a:cs typeface="Times New Roman" panose="02020603050405020304" pitchFamily="18" charset="0"/>
                                          </a:rPr>
                                          <m:t>𝒚</m:t>
                                        </m:r>
                                      </m:sub>
                                    </m:sSub>
                                  </m:e>
                                </m:d>
                              </m:e>
                            </m:d>
                          </m:e>
                        </m:d>
                      </m:oMath>
                    </m:oMathPara>
                  </a14:m>
                  <a:endParaRPr lang="zh-TW" altLang="en-US" sz="3200" b="1" dirty="0"/>
                </a:p>
              </p:txBody>
            </p:sp>
          </mc:Choice>
          <mc:Fallback xmlns="">
            <p:sp>
              <p:nvSpPr>
                <p:cNvPr id="11" name="矩形 10">
                  <a:extLst>
                    <a:ext uri="{FF2B5EF4-FFF2-40B4-BE49-F238E27FC236}">
                      <a16:creationId xmlns:a16="http://schemas.microsoft.com/office/drawing/2014/main" id="{AA1A0A3D-F40B-45BC-B3A5-84C68C0DBCA1}"/>
                    </a:ext>
                  </a:extLst>
                </p:cNvPr>
                <p:cNvSpPr>
                  <a:spLocks noRot="1" noChangeAspect="1" noMove="1" noResize="1" noEditPoints="1" noAdjustHandles="1" noChangeArrowheads="1" noChangeShapeType="1" noTextEdit="1"/>
                </p:cNvSpPr>
                <p:nvPr/>
              </p:nvSpPr>
              <p:spPr>
                <a:xfrm>
                  <a:off x="643043" y="1482241"/>
                  <a:ext cx="9099718" cy="665182"/>
                </a:xfrm>
                <a:prstGeom prst="rect">
                  <a:avLst/>
                </a:prstGeom>
                <a:blipFill>
                  <a:blip r:embed="rId5"/>
                  <a:stretch>
                    <a:fillRect/>
                  </a:stretch>
                </a:blipFill>
              </p:spPr>
              <p:txBody>
                <a:bodyPr/>
                <a:lstStyle/>
                <a:p>
                  <a:r>
                    <a:rPr lang="zh-TW" altLang="en-US">
                      <a:noFill/>
                    </a:rPr>
                    <a:t> </a:t>
                  </a:r>
                </a:p>
              </p:txBody>
            </p:sp>
          </mc:Fallback>
        </mc:AlternateContent>
      </p:grpSp>
      <p:sp>
        <p:nvSpPr>
          <p:cNvPr id="104" name="文字方塊 103">
            <a:extLst>
              <a:ext uri="{FF2B5EF4-FFF2-40B4-BE49-F238E27FC236}">
                <a16:creationId xmlns:a16="http://schemas.microsoft.com/office/drawing/2014/main" id="{A043728A-F450-4B5C-881A-B8CC6B75F2AE}"/>
              </a:ext>
            </a:extLst>
          </p:cNvPr>
          <p:cNvSpPr txBox="1"/>
          <p:nvPr/>
        </p:nvSpPr>
        <p:spPr>
          <a:xfrm>
            <a:off x="733000" y="3742395"/>
            <a:ext cx="2035600" cy="369332"/>
          </a:xfrm>
          <a:prstGeom prst="rect">
            <a:avLst/>
          </a:prstGeom>
          <a:noFill/>
        </p:spPr>
        <p:txBody>
          <a:bodyPr wrap="square" rtlCol="0">
            <a:spAutoFit/>
          </a:bodyPr>
          <a:lstStyle/>
          <a:p>
            <a:r>
              <a:rPr lang="en-US" altLang="zh-TW" b="1" i="1" u="sng" dirty="0">
                <a:latin typeface="Times New Roman" panose="02020603050405020304" pitchFamily="18" charset="0"/>
                <a:ea typeface="標楷體" panose="03000509000000000000" pitchFamily="65" charset="-120"/>
                <a:cs typeface="Times New Roman" panose="02020603050405020304" pitchFamily="18" charset="0"/>
              </a:rPr>
              <a:t>Objective Function</a:t>
            </a:r>
            <a:endParaRPr lang="zh-TW" altLang="en-US" b="1" i="1" u="sng"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5" name="文字方塊 104">
            <a:extLst>
              <a:ext uri="{FF2B5EF4-FFF2-40B4-BE49-F238E27FC236}">
                <a16:creationId xmlns:a16="http://schemas.microsoft.com/office/drawing/2014/main" id="{4D24A3E9-6A6D-459C-BDCA-E6F70B2EDDEE}"/>
              </a:ext>
            </a:extLst>
          </p:cNvPr>
          <p:cNvSpPr txBox="1"/>
          <p:nvPr/>
        </p:nvSpPr>
        <p:spPr>
          <a:xfrm>
            <a:off x="6565030" y="732139"/>
            <a:ext cx="2690730" cy="369332"/>
          </a:xfrm>
          <a:prstGeom prst="rect">
            <a:avLst/>
          </a:prstGeom>
          <a:noFill/>
        </p:spPr>
        <p:txBody>
          <a:bodyPr wrap="square" rtlCol="0">
            <a:spAutoFit/>
          </a:bodyPr>
          <a:lstStyle/>
          <a:p>
            <a:r>
              <a:rPr lang="en-US" altLang="zh-TW" b="1" i="1" u="sng" dirty="0">
                <a:latin typeface="Times New Roman" panose="02020603050405020304" pitchFamily="18" charset="0"/>
                <a:ea typeface="標楷體" panose="03000509000000000000" pitchFamily="65" charset="-120"/>
                <a:cs typeface="Times New Roman" panose="02020603050405020304" pitchFamily="18" charset="0"/>
              </a:rPr>
              <a:t>Device design parameters</a:t>
            </a:r>
            <a:endParaRPr lang="zh-TW" altLang="en-US" b="1" i="1" u="sng"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6" name="文字方塊 105">
                <a:extLst>
                  <a:ext uri="{FF2B5EF4-FFF2-40B4-BE49-F238E27FC236}">
                    <a16:creationId xmlns:a16="http://schemas.microsoft.com/office/drawing/2014/main" id="{FD357710-A0BE-473F-8B10-4E9547F9A512}"/>
                  </a:ext>
                </a:extLst>
              </p:cNvPr>
              <p:cNvSpPr txBox="1"/>
              <p:nvPr/>
            </p:nvSpPr>
            <p:spPr>
              <a:xfrm>
                <a:off x="6489703" y="1083250"/>
                <a:ext cx="4092595" cy="1893339"/>
              </a:xfrm>
              <a:prstGeom prst="rect">
                <a:avLst/>
              </a:prstGeom>
              <a:noFill/>
            </p:spPr>
            <p:txBody>
              <a:bodyPr wrap="none" rtlCol="0">
                <a:spAutoFit/>
              </a:bodyPr>
              <a:lstStyle/>
              <a:p>
                <a:pPr marL="342900" indent="-342900">
                  <a:buFont typeface="+mj-lt"/>
                  <a:buAutoNum type="arabicPeriod"/>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Crystal length</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2cm</a:t>
                </a:r>
              </a:p>
              <a:p>
                <a:pPr marL="342900" indent="-342900">
                  <a:buFont typeface="+mj-lt"/>
                  <a:buAutoNum type="arabicPeriod"/>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Phase matching temperature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40℃</a:t>
                </a:r>
              </a:p>
              <a:p>
                <a:pPr marL="342900" indent="-342900">
                  <a:buFont typeface="+mj-lt"/>
                  <a:buAutoNum type="arabicPeriod"/>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Signal wavelength</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1064nm &amp; 1342nm</a:t>
                </a:r>
              </a:p>
              <a:p>
                <a:pPr marL="342900" indent="-342900">
                  <a:buFont typeface="+mj-lt"/>
                  <a:buAutoNum type="arabicPeriod"/>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Object function target value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zh-TW" sz="1600" b="1" kern="100" dirty="0">
                    <a:ea typeface="Cambria Math" panose="02040503050406030204" pitchFamily="18" charset="0"/>
                    <a:cs typeface="Times New Roman" panose="02020603050405020304" pitchFamily="18" charset="0"/>
                  </a:rPr>
                  <a:t> </a:t>
                </a:r>
                <a:r>
                  <a:rPr lang="en-US" altLang="zh-TW" sz="1600" b="1"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𝟏𝟎𝟔𝟒</m:t>
                            </m:r>
                          </m:sub>
                        </m:s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𝑻𝒂𝒓𝒈𝒆𝒕</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600" b="1" i="1" kern="100" smtClean="0">
                            <a:latin typeface="Cambria Math" panose="02040503050406030204" pitchFamily="18" charset="0"/>
                            <a:ea typeface="Cambria Math" panose="02040503050406030204" pitchFamily="18" charset="0"/>
                            <a:cs typeface="Times New Roman" panose="02020603050405020304" pitchFamily="18" charset="0"/>
                          </a:rPr>
                          <m:t>𝟗𝟎</m:t>
                        </m:r>
                        <m:r>
                          <a:rPr lang="en-US" altLang="zh-TW" sz="1600" b="1" i="1" kern="100" smtClean="0">
                            <a:latin typeface="Cambria Math" panose="02040503050406030204" pitchFamily="18" charset="0"/>
                            <a:ea typeface="Cambria Math" panose="02040503050406030204" pitchFamily="18" charset="0"/>
                            <a:cs typeface="Times New Roman" panose="02020603050405020304" pitchFamily="18" charset="0"/>
                          </a:rPr>
                          <m:t>𝑽</m:t>
                        </m:r>
                        <m:r>
                          <a:rPr lang="en-US" altLang="zh-TW" sz="1600" b="1" i="1" kern="10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1600" b="1" i="1" kern="100" smtClean="0">
                            <a:latin typeface="Cambria Math" panose="02040503050406030204" pitchFamily="18" charset="0"/>
                            <a:ea typeface="Cambria Math" panose="02040503050406030204" pitchFamily="18" charset="0"/>
                            <a:cs typeface="Times New Roman" panose="02020603050405020304" pitchFamily="18" charset="0"/>
                          </a:rPr>
                          <m:t>𝒎𝒎</m:t>
                        </m:r>
                      </m:e>
                    </m:d>
                    <m:r>
                      <a:rPr lang="en-US" altLang="zh-TW" sz="1600" b="1" i="1" kern="10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smtClean="0">
                        <a:latin typeface="Cambria Math" panose="02040503050406030204" pitchFamily="18" charset="0"/>
                        <a:ea typeface="標楷體" panose="03000509000000000000" pitchFamily="65" charset="-120"/>
                        <a:cs typeface="Times New Roman" panose="02020603050405020304" pitchFamily="18" charset="0"/>
                      </a:rPr>
                      <m:t>𝟎</m:t>
                    </m:r>
                    <m:r>
                      <a:rPr lang="en-US" altLang="zh-TW" sz="1600" b="1" i="1" kern="10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smtClean="0">
                        <a:latin typeface="Cambria Math" panose="02040503050406030204" pitchFamily="18" charset="0"/>
                        <a:ea typeface="標楷體" panose="03000509000000000000" pitchFamily="65" charset="-120"/>
                        <a:cs typeface="Times New Roman" panose="02020603050405020304" pitchFamily="18" charset="0"/>
                      </a:rPr>
                      <m:t>𝟓𝟗𝟕𝟒</m:t>
                    </m:r>
                  </m:oMath>
                </a14:m>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𝑨</m:t>
                        </m:r>
                      </m:e>
                      <m: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𝒆</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𝝀</m:t>
                            </m:r>
                          </m:e>
                          <m:sub>
                            <m:r>
                              <a:rPr lang="en-US" altLang="zh-TW" sz="1600" b="1" i="1" kern="100" smtClean="0">
                                <a:latin typeface="Cambria Math" panose="02040503050406030204" pitchFamily="18" charset="0"/>
                                <a:ea typeface="標楷體" panose="03000509000000000000" pitchFamily="65" charset="-120"/>
                                <a:cs typeface="Times New Roman" panose="02020603050405020304" pitchFamily="18" charset="0"/>
                              </a:rPr>
                              <m:t>𝟏𝟑𝟒𝟐</m:t>
                            </m:r>
                          </m:sub>
                        </m:sSub>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𝑻𝒂𝒓𝒈𝒆𝒕</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 </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𝒗𝒂𝒍𝒖𝒆</m:t>
                        </m:r>
                      </m:sub>
                    </m:sSub>
                    <m:d>
                      <m:dPr>
                        <m:ctrlPr>
                          <a:rPr lang="zh-TW" altLang="zh-TW" sz="1600" b="1"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600" b="1" i="1" kern="100">
                            <a:latin typeface="Cambria Math" panose="02040503050406030204" pitchFamily="18" charset="0"/>
                            <a:ea typeface="Cambria Math" panose="02040503050406030204" pitchFamily="18" charset="0"/>
                            <a:cs typeface="Times New Roman" panose="02020603050405020304" pitchFamily="18" charset="0"/>
                          </a:rPr>
                          <m:t>𝟗𝟎</m:t>
                        </m:r>
                        <m:r>
                          <a:rPr lang="en-US" altLang="zh-TW" sz="1600" b="1" i="1" kern="100">
                            <a:latin typeface="Cambria Math" panose="02040503050406030204" pitchFamily="18" charset="0"/>
                            <a:ea typeface="Cambria Math" panose="02040503050406030204" pitchFamily="18" charset="0"/>
                            <a:cs typeface="Times New Roman" panose="02020603050405020304" pitchFamily="18" charset="0"/>
                          </a:rPr>
                          <m:t>𝑽</m:t>
                        </m:r>
                        <m:r>
                          <a:rPr lang="en-US" altLang="zh-TW" sz="1600" b="1"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TW" sz="1600" b="1" i="1" kern="100">
                            <a:latin typeface="Cambria Math" panose="02040503050406030204" pitchFamily="18" charset="0"/>
                            <a:ea typeface="Cambria Math" panose="02040503050406030204" pitchFamily="18" charset="0"/>
                            <a:cs typeface="Times New Roman" panose="02020603050405020304" pitchFamily="18" charset="0"/>
                          </a:rPr>
                          <m:t>𝒎𝒎</m:t>
                        </m:r>
                      </m:e>
                    </m:d>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𝟎</m:t>
                    </m:r>
                    <m:r>
                      <a:rPr lang="en-US" altLang="zh-TW" sz="1600" b="1"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b="1" i="1" kern="100" smtClean="0">
                        <a:latin typeface="Cambria Math" panose="02040503050406030204" pitchFamily="18" charset="0"/>
                        <a:ea typeface="標楷體" panose="03000509000000000000" pitchFamily="65" charset="-120"/>
                        <a:cs typeface="Times New Roman" panose="02020603050405020304" pitchFamily="18" charset="0"/>
                      </a:rPr>
                      <m:t>𝟏𝟐𝟑𝟓</m:t>
                    </m:r>
                  </m:oMath>
                </a14:m>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mj-lt"/>
                  <a:buAutoNum type="arabicPeriod"/>
                </a:pP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06" name="文字方塊 105">
                <a:extLst>
                  <a:ext uri="{FF2B5EF4-FFF2-40B4-BE49-F238E27FC236}">
                    <a16:creationId xmlns:a16="http://schemas.microsoft.com/office/drawing/2014/main" id="{FD357710-A0BE-473F-8B10-4E9547F9A512}"/>
                  </a:ext>
                </a:extLst>
              </p:cNvPr>
              <p:cNvSpPr txBox="1">
                <a:spLocks noRot="1" noChangeAspect="1" noMove="1" noResize="1" noEditPoints="1" noAdjustHandles="1" noChangeArrowheads="1" noChangeShapeType="1" noTextEdit="1"/>
              </p:cNvSpPr>
              <p:nvPr/>
            </p:nvSpPr>
            <p:spPr>
              <a:xfrm>
                <a:off x="6489703" y="1083250"/>
                <a:ext cx="4092595" cy="1893339"/>
              </a:xfrm>
              <a:prstGeom prst="rect">
                <a:avLst/>
              </a:prstGeom>
              <a:blipFill>
                <a:blip r:embed="rId6"/>
                <a:stretch>
                  <a:fillRect l="-596" t="-968"/>
                </a:stretch>
              </a:blipFill>
            </p:spPr>
            <p:txBody>
              <a:bodyPr/>
              <a:lstStyle/>
              <a:p>
                <a:r>
                  <a:rPr lang="zh-TW" altLang="en-US">
                    <a:noFill/>
                  </a:rPr>
                  <a:t> </a:t>
                </a:r>
              </a:p>
            </p:txBody>
          </p:sp>
        </mc:Fallback>
      </mc:AlternateContent>
      <p:pic>
        <p:nvPicPr>
          <p:cNvPr id="107" name="圖片 106">
            <a:extLst>
              <a:ext uri="{FF2B5EF4-FFF2-40B4-BE49-F238E27FC236}">
                <a16:creationId xmlns:a16="http://schemas.microsoft.com/office/drawing/2014/main" id="{B09791A8-7B47-4B4A-A31B-5B1734172EEB}"/>
              </a:ext>
            </a:extLst>
          </p:cNvPr>
          <p:cNvPicPr/>
          <p:nvPr/>
        </p:nvPicPr>
        <p:blipFill rotWithShape="1">
          <a:blip r:embed="rId7" cstate="print">
            <a:extLst>
              <a:ext uri="{28A0092B-C50C-407E-A947-70E740481C1C}">
                <a14:useLocalDpi xmlns:a14="http://schemas.microsoft.com/office/drawing/2010/main" val="0"/>
              </a:ext>
            </a:extLst>
          </a:blip>
          <a:srcRect l="4190" r="3109" b="11231"/>
          <a:stretch/>
        </p:blipFill>
        <p:spPr bwMode="auto">
          <a:xfrm>
            <a:off x="7139191" y="2382266"/>
            <a:ext cx="4897354" cy="1694706"/>
          </a:xfrm>
          <a:prstGeom prst="rect">
            <a:avLst/>
          </a:prstGeom>
          <a:ln>
            <a:noFill/>
          </a:ln>
          <a:extLst>
            <a:ext uri="{53640926-AAD7-44D8-BBD7-CCE9431645EC}">
              <a14:shadowObscured xmlns:a14="http://schemas.microsoft.com/office/drawing/2010/main"/>
            </a:ext>
          </a:extLst>
        </p:spPr>
      </p:pic>
      <p:cxnSp>
        <p:nvCxnSpPr>
          <p:cNvPr id="109" name="直線單箭頭接點 108">
            <a:extLst>
              <a:ext uri="{FF2B5EF4-FFF2-40B4-BE49-F238E27FC236}">
                <a16:creationId xmlns:a16="http://schemas.microsoft.com/office/drawing/2014/main" id="{1BC68C48-D1C3-4742-9E35-9315BE4E974A}"/>
              </a:ext>
            </a:extLst>
          </p:cNvPr>
          <p:cNvCxnSpPr/>
          <p:nvPr/>
        </p:nvCxnSpPr>
        <p:spPr>
          <a:xfrm>
            <a:off x="7154431" y="2850401"/>
            <a:ext cx="0" cy="116332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文字方塊 109">
            <a:extLst>
              <a:ext uri="{FF2B5EF4-FFF2-40B4-BE49-F238E27FC236}">
                <a16:creationId xmlns:a16="http://schemas.microsoft.com/office/drawing/2014/main" id="{1D1CB7B1-9398-40A7-BB24-9B69DFC15833}"/>
              </a:ext>
            </a:extLst>
          </p:cNvPr>
          <p:cNvSpPr txBox="1"/>
          <p:nvPr/>
        </p:nvSpPr>
        <p:spPr>
          <a:xfrm>
            <a:off x="6525537" y="3245485"/>
            <a:ext cx="659155"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12" name="直線單箭頭接點 111">
            <a:extLst>
              <a:ext uri="{FF2B5EF4-FFF2-40B4-BE49-F238E27FC236}">
                <a16:creationId xmlns:a16="http://schemas.microsoft.com/office/drawing/2014/main" id="{B4EF62EB-F04E-4435-BF4A-59479C448F1C}"/>
              </a:ext>
            </a:extLst>
          </p:cNvPr>
          <p:cNvCxnSpPr/>
          <p:nvPr/>
        </p:nvCxnSpPr>
        <p:spPr>
          <a:xfrm>
            <a:off x="7214839" y="4112558"/>
            <a:ext cx="4636922"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3" name="文字方塊 112">
            <a:extLst>
              <a:ext uri="{FF2B5EF4-FFF2-40B4-BE49-F238E27FC236}">
                <a16:creationId xmlns:a16="http://schemas.microsoft.com/office/drawing/2014/main" id="{0E848BB3-0CD3-4B92-8F69-0AAA2D007953}"/>
              </a:ext>
            </a:extLst>
          </p:cNvPr>
          <p:cNvSpPr txBox="1"/>
          <p:nvPr/>
        </p:nvSpPr>
        <p:spPr>
          <a:xfrm>
            <a:off x="9162057" y="4054774"/>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2cm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5" name="群組 4">
            <a:extLst>
              <a:ext uri="{FF2B5EF4-FFF2-40B4-BE49-F238E27FC236}">
                <a16:creationId xmlns:a16="http://schemas.microsoft.com/office/drawing/2014/main" id="{91A36A08-2ADC-48EF-A9BF-80FEFB6BD815}"/>
              </a:ext>
            </a:extLst>
          </p:cNvPr>
          <p:cNvGrpSpPr/>
          <p:nvPr/>
        </p:nvGrpSpPr>
        <p:grpSpPr>
          <a:xfrm>
            <a:off x="1336742" y="5251536"/>
            <a:ext cx="9518516" cy="1580724"/>
            <a:chOff x="510366" y="4909351"/>
            <a:chExt cx="11384883" cy="1890668"/>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4DF25072-9A42-478C-94B7-3AD79D3CB8FA}"/>
                    </a:ext>
                  </a:extLst>
                </p:cNvPr>
                <p:cNvSpPr/>
                <p:nvPr/>
              </p:nvSpPr>
              <p:spPr>
                <a:xfrm>
                  <a:off x="9655338" y="5211390"/>
                  <a:ext cx="1516520" cy="4318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𝑒</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𝜆</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1064</m:t>
                                </m:r>
                              </m:sub>
                            </m:sSub>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𝐸</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𝑦</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en-US" sz="1600" dirty="0"/>
                </a:p>
              </p:txBody>
            </p:sp>
          </mc:Choice>
          <mc:Fallback xmlns="">
            <p:sp>
              <p:nvSpPr>
                <p:cNvPr id="2" name="矩形 1">
                  <a:extLst>
                    <a:ext uri="{FF2B5EF4-FFF2-40B4-BE49-F238E27FC236}">
                      <a16:creationId xmlns:a16="http://schemas.microsoft.com/office/drawing/2014/main" id="{4DF25072-9A42-478C-94B7-3AD79D3CB8FA}"/>
                    </a:ext>
                  </a:extLst>
                </p:cNvPr>
                <p:cNvSpPr>
                  <a:spLocks noRot="1" noChangeAspect="1" noMove="1" noResize="1" noEditPoints="1" noAdjustHandles="1" noChangeArrowheads="1" noChangeShapeType="1" noTextEdit="1"/>
                </p:cNvSpPr>
                <p:nvPr/>
              </p:nvSpPr>
              <p:spPr>
                <a:xfrm>
                  <a:off x="9655338" y="5211390"/>
                  <a:ext cx="1516520" cy="431857"/>
                </a:xfrm>
                <a:prstGeom prst="rect">
                  <a:avLst/>
                </a:prstGeom>
                <a:blipFill>
                  <a:blip r:embed="rId8"/>
                  <a:stretch>
                    <a:fillRect b="-5085"/>
                  </a:stretch>
                </a:blipFill>
              </p:spPr>
              <p:txBody>
                <a:bodyPr/>
                <a:lstStyle/>
                <a:p>
                  <a:r>
                    <a:rPr lang="zh-TW" altLang="en-US">
                      <a:noFill/>
                    </a:rPr>
                    <a:t> </a:t>
                  </a:r>
                </a:p>
              </p:txBody>
            </p:sp>
          </mc:Fallback>
        </mc:AlternateContent>
        <p:sp>
          <p:nvSpPr>
            <p:cNvPr id="3" name="文字方塊 2">
              <a:extLst>
                <a:ext uri="{FF2B5EF4-FFF2-40B4-BE49-F238E27FC236}">
                  <a16:creationId xmlns:a16="http://schemas.microsoft.com/office/drawing/2014/main" id="{EC2E9B07-378C-4A43-8724-E2B5CDA622DD}"/>
                </a:ext>
              </a:extLst>
            </p:cNvPr>
            <p:cNvSpPr txBox="1"/>
            <p:nvPr/>
          </p:nvSpPr>
          <p:spPr>
            <a:xfrm>
              <a:off x="8374347" y="5236719"/>
              <a:ext cx="1435993" cy="404937"/>
            </a:xfrm>
            <a:prstGeom prst="rect">
              <a:avLst/>
            </a:prstGeom>
            <a:noFill/>
          </p:spPr>
          <p:txBody>
            <a:bodyPr wrap="non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Target value</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文字方塊 11">
              <a:extLst>
                <a:ext uri="{FF2B5EF4-FFF2-40B4-BE49-F238E27FC236}">
                  <a16:creationId xmlns:a16="http://schemas.microsoft.com/office/drawing/2014/main" id="{28EFE883-8295-4A7B-84BA-92C65D2CA196}"/>
                </a:ext>
              </a:extLst>
            </p:cNvPr>
            <p:cNvSpPr txBox="1"/>
            <p:nvPr/>
          </p:nvSpPr>
          <p:spPr>
            <a:xfrm>
              <a:off x="3540308" y="5236719"/>
              <a:ext cx="1470965" cy="404937"/>
            </a:xfrm>
            <a:prstGeom prst="rect">
              <a:avLst/>
            </a:prstGeom>
            <a:noFill/>
          </p:spPr>
          <p:txBody>
            <a:bodyPr wrap="non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Actual value</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98D39744-B049-41D0-9BA5-8341E7A86FF4}"/>
                    </a:ext>
                  </a:extLst>
                </p:cNvPr>
                <p:cNvSpPr/>
                <p:nvPr/>
              </p:nvSpPr>
              <p:spPr>
                <a:xfrm>
                  <a:off x="4901248" y="5211390"/>
                  <a:ext cx="1516520" cy="4318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6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𝑒</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𝜆</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1064</m:t>
                                </m:r>
                              </m:sub>
                            </m:sSub>
                          </m:sub>
                        </m:sSub>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𝐸</m:t>
                            </m:r>
                          </m:e>
                          <m:sub>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𝑦</m:t>
                            </m:r>
                          </m:sub>
                        </m:sSub>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en-US" sz="1600" dirty="0"/>
                </a:p>
              </p:txBody>
            </p:sp>
          </mc:Choice>
          <mc:Fallback xmlns="">
            <p:sp>
              <p:nvSpPr>
                <p:cNvPr id="13" name="矩形 12">
                  <a:extLst>
                    <a:ext uri="{FF2B5EF4-FFF2-40B4-BE49-F238E27FC236}">
                      <a16:creationId xmlns:a16="http://schemas.microsoft.com/office/drawing/2014/main" id="{98D39744-B049-41D0-9BA5-8341E7A86FF4}"/>
                    </a:ext>
                  </a:extLst>
                </p:cNvPr>
                <p:cNvSpPr>
                  <a:spLocks noRot="1" noChangeAspect="1" noMove="1" noResize="1" noEditPoints="1" noAdjustHandles="1" noChangeArrowheads="1" noChangeShapeType="1" noTextEdit="1"/>
                </p:cNvSpPr>
                <p:nvPr/>
              </p:nvSpPr>
              <p:spPr>
                <a:xfrm>
                  <a:off x="4901248" y="5211390"/>
                  <a:ext cx="1516520" cy="431857"/>
                </a:xfrm>
                <a:prstGeom prst="rect">
                  <a:avLst/>
                </a:prstGeom>
                <a:blipFill>
                  <a:blip r:embed="rId9"/>
                  <a:stretch>
                    <a:fillRect b="-5085"/>
                  </a:stretch>
                </a:blipFill>
              </p:spPr>
              <p:txBody>
                <a:bodyPr/>
                <a:lstStyle/>
                <a:p>
                  <a:r>
                    <a:rPr lang="zh-TW" altLang="en-US">
                      <a:noFill/>
                    </a:rPr>
                    <a:t> </a:t>
                  </a:r>
                </a:p>
              </p:txBody>
            </p:sp>
          </mc:Fallback>
        </mc:AlternateContent>
        <p:sp>
          <p:nvSpPr>
            <p:cNvPr id="14" name="文字方塊 13">
              <a:extLst>
                <a:ext uri="{FF2B5EF4-FFF2-40B4-BE49-F238E27FC236}">
                  <a16:creationId xmlns:a16="http://schemas.microsoft.com/office/drawing/2014/main" id="{77FC1E82-EEF9-4F1B-908C-1E6BB421321E}"/>
                </a:ext>
              </a:extLst>
            </p:cNvPr>
            <p:cNvSpPr txBox="1"/>
            <p:nvPr/>
          </p:nvSpPr>
          <p:spPr>
            <a:xfrm>
              <a:off x="552982" y="5236719"/>
              <a:ext cx="1405776" cy="404937"/>
            </a:xfrm>
            <a:prstGeom prst="rect">
              <a:avLst/>
            </a:prstGeom>
            <a:noFill/>
          </p:spPr>
          <p:txBody>
            <a:bodyPr wrap="non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Initial value</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E5539DF4-2D40-4605-9313-2A3BED8C4D33}"/>
                    </a:ext>
                  </a:extLst>
                </p:cNvPr>
                <p:cNvSpPr/>
                <p:nvPr/>
              </p:nvSpPr>
              <p:spPr>
                <a:xfrm>
                  <a:off x="1741146" y="5211390"/>
                  <a:ext cx="1384762" cy="4318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6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𝑒</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𝜆</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1064</m:t>
                                </m:r>
                              </m:sub>
                            </m:sSub>
                          </m:sub>
                        </m:sSub>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(0)</m:t>
                        </m:r>
                      </m:oMath>
                    </m:oMathPara>
                  </a14:m>
                  <a:endParaRPr lang="zh-TW" altLang="en-US" sz="1600" dirty="0"/>
                </a:p>
              </p:txBody>
            </p:sp>
          </mc:Choice>
          <mc:Fallback xmlns="">
            <p:sp>
              <p:nvSpPr>
                <p:cNvPr id="15" name="矩形 14">
                  <a:extLst>
                    <a:ext uri="{FF2B5EF4-FFF2-40B4-BE49-F238E27FC236}">
                      <a16:creationId xmlns:a16="http://schemas.microsoft.com/office/drawing/2014/main" id="{E5539DF4-2D40-4605-9313-2A3BED8C4D33}"/>
                    </a:ext>
                  </a:extLst>
                </p:cNvPr>
                <p:cNvSpPr>
                  <a:spLocks noRot="1" noChangeAspect="1" noMove="1" noResize="1" noEditPoints="1" noAdjustHandles="1" noChangeArrowheads="1" noChangeShapeType="1" noTextEdit="1"/>
                </p:cNvSpPr>
                <p:nvPr/>
              </p:nvSpPr>
              <p:spPr>
                <a:xfrm>
                  <a:off x="1741146" y="5211390"/>
                  <a:ext cx="1384762" cy="431857"/>
                </a:xfrm>
                <a:prstGeom prst="rect">
                  <a:avLst/>
                </a:prstGeom>
                <a:blipFill>
                  <a:blip r:embed="rId10"/>
                  <a:stretch>
                    <a:fillRect b="-5085"/>
                  </a:stretch>
                </a:blipFill>
              </p:spPr>
              <p:txBody>
                <a:bodyPr/>
                <a:lstStyle/>
                <a:p>
                  <a:r>
                    <a:rPr lang="zh-TW" altLang="en-US">
                      <a:noFill/>
                    </a:rPr>
                    <a:t> </a:t>
                  </a:r>
                </a:p>
              </p:txBody>
            </p:sp>
          </mc:Fallback>
        </mc:AlternateContent>
        <p:sp>
          <p:nvSpPr>
            <p:cNvPr id="16" name="箭號: 上-下雙向 15">
              <a:extLst>
                <a:ext uri="{FF2B5EF4-FFF2-40B4-BE49-F238E27FC236}">
                  <a16:creationId xmlns:a16="http://schemas.microsoft.com/office/drawing/2014/main" id="{37E57E8B-3F3E-4843-BFA9-69E81B4DB6DC}"/>
                </a:ext>
              </a:extLst>
            </p:cNvPr>
            <p:cNvSpPr/>
            <p:nvPr/>
          </p:nvSpPr>
          <p:spPr>
            <a:xfrm>
              <a:off x="2906421" y="4909351"/>
              <a:ext cx="359716" cy="902683"/>
            </a:xfrm>
            <a:prstGeom prst="upDownArrow">
              <a:avLst/>
            </a:prstGeom>
            <a:solidFill>
              <a:srgbClr val="FF0000"/>
            </a:solidFill>
            <a:ln w="12700">
              <a:solidFill>
                <a:schemeClr val="tx1"/>
              </a:solidFill>
            </a:ln>
            <a:scene3d>
              <a:camera prst="orthographicFront"/>
              <a:lightRig rig="threePt" dir="t"/>
            </a:scene3d>
            <a:sp3d>
              <a:bevelT h="127000"/>
              <a:bevelB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p>
          </p:txBody>
        </p:sp>
        <p:sp>
          <p:nvSpPr>
            <p:cNvPr id="18" name="箭號: 上-下雙向 17">
              <a:extLst>
                <a:ext uri="{FF2B5EF4-FFF2-40B4-BE49-F238E27FC236}">
                  <a16:creationId xmlns:a16="http://schemas.microsoft.com/office/drawing/2014/main" id="{EA02E5F1-56B5-4840-B2DF-966D4D0C66A9}"/>
                </a:ext>
              </a:extLst>
            </p:cNvPr>
            <p:cNvSpPr/>
            <p:nvPr/>
          </p:nvSpPr>
          <p:spPr>
            <a:xfrm rot="19800000">
              <a:off x="11186095" y="4909353"/>
              <a:ext cx="359716" cy="902683"/>
            </a:xfrm>
            <a:prstGeom prst="upDownArrow">
              <a:avLst/>
            </a:prstGeom>
            <a:solidFill>
              <a:srgbClr val="FF0000"/>
            </a:solidFill>
            <a:ln w="12700">
              <a:solidFill>
                <a:schemeClr val="tx1"/>
              </a:solidFill>
            </a:ln>
            <a:scene3d>
              <a:camera prst="orthographicFront"/>
              <a:lightRig rig="threePt" dir="t"/>
            </a:scene3d>
            <a:sp3d>
              <a:bevelT h="127000"/>
              <a:bevelB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p>
          </p:txBody>
        </p:sp>
        <p:sp>
          <p:nvSpPr>
            <p:cNvPr id="19" name="文字方塊 18">
              <a:extLst>
                <a:ext uri="{FF2B5EF4-FFF2-40B4-BE49-F238E27FC236}">
                  <a16:creationId xmlns:a16="http://schemas.microsoft.com/office/drawing/2014/main" id="{4738CCF7-C270-419E-A5F8-D8D32A365714}"/>
                </a:ext>
              </a:extLst>
            </p:cNvPr>
            <p:cNvSpPr txBox="1"/>
            <p:nvPr/>
          </p:nvSpPr>
          <p:spPr>
            <a:xfrm>
              <a:off x="510366" y="6197596"/>
              <a:ext cx="1405776" cy="404937"/>
            </a:xfrm>
            <a:prstGeom prst="rect">
              <a:avLst/>
            </a:prstGeom>
            <a:noFill/>
          </p:spPr>
          <p:txBody>
            <a:bodyPr wrap="squar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Initial value</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D0EF4E33-3797-4C92-B010-42CA6838F136}"/>
                    </a:ext>
                  </a:extLst>
                </p:cNvPr>
                <p:cNvSpPr/>
                <p:nvPr/>
              </p:nvSpPr>
              <p:spPr>
                <a:xfrm>
                  <a:off x="1723965" y="6172268"/>
                  <a:ext cx="1277081" cy="43155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zh-TW" sz="16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𝑒</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𝜆</m:t>
                                </m:r>
                              </m:e>
                              <m:sub>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1342</m:t>
                                </m:r>
                              </m:sub>
                            </m:sSub>
                          </m:sub>
                        </m:sSub>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(0)</m:t>
                        </m:r>
                      </m:oMath>
                    </m:oMathPara>
                  </a14:m>
                  <a:endParaRPr lang="zh-TW" altLang="en-US" sz="1600" dirty="0"/>
                </a:p>
              </p:txBody>
            </p:sp>
          </mc:Choice>
          <mc:Fallback xmlns="">
            <p:sp>
              <p:nvSpPr>
                <p:cNvPr id="20" name="矩形 19">
                  <a:extLst>
                    <a:ext uri="{FF2B5EF4-FFF2-40B4-BE49-F238E27FC236}">
                      <a16:creationId xmlns:a16="http://schemas.microsoft.com/office/drawing/2014/main" id="{D0EF4E33-3797-4C92-B010-42CA6838F136}"/>
                    </a:ext>
                  </a:extLst>
                </p:cNvPr>
                <p:cNvSpPr>
                  <a:spLocks noRot="1" noChangeAspect="1" noMove="1" noResize="1" noEditPoints="1" noAdjustHandles="1" noChangeArrowheads="1" noChangeShapeType="1" noTextEdit="1"/>
                </p:cNvSpPr>
                <p:nvPr/>
              </p:nvSpPr>
              <p:spPr>
                <a:xfrm>
                  <a:off x="1723965" y="6172268"/>
                  <a:ext cx="1277081" cy="431550"/>
                </a:xfrm>
                <a:prstGeom prst="rect">
                  <a:avLst/>
                </a:prstGeom>
                <a:blipFill>
                  <a:blip r:embed="rId11"/>
                  <a:stretch>
                    <a:fillRect r="-3429" b="-5085"/>
                  </a:stretch>
                </a:blipFill>
              </p:spPr>
              <p:txBody>
                <a:bodyPr/>
                <a:lstStyle/>
                <a:p>
                  <a:r>
                    <a:rPr lang="zh-TW" altLang="en-US">
                      <a:noFill/>
                    </a:rPr>
                    <a:t> </a:t>
                  </a:r>
                </a:p>
              </p:txBody>
            </p:sp>
          </mc:Fallback>
        </mc:AlternateContent>
        <p:sp>
          <p:nvSpPr>
            <p:cNvPr id="21" name="箭號: 上-下雙向 20">
              <a:extLst>
                <a:ext uri="{FF2B5EF4-FFF2-40B4-BE49-F238E27FC236}">
                  <a16:creationId xmlns:a16="http://schemas.microsoft.com/office/drawing/2014/main" id="{A33DF085-AF68-42BA-9BD1-269C7E812C16}"/>
                </a:ext>
              </a:extLst>
            </p:cNvPr>
            <p:cNvSpPr/>
            <p:nvPr/>
          </p:nvSpPr>
          <p:spPr>
            <a:xfrm>
              <a:off x="2901959" y="5870228"/>
              <a:ext cx="359716" cy="902683"/>
            </a:xfrm>
            <a:prstGeom prst="upDownArrow">
              <a:avLst/>
            </a:prstGeom>
            <a:solidFill>
              <a:srgbClr val="00B0F0"/>
            </a:solidFill>
            <a:ln w="12700">
              <a:solidFill>
                <a:schemeClr val="tx1"/>
              </a:solidFill>
            </a:ln>
            <a:scene3d>
              <a:camera prst="orthographicFront"/>
              <a:lightRig rig="threePt" dir="t"/>
            </a:scene3d>
            <a:sp3d>
              <a:bevelT h="127000"/>
              <a:bevelB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p>
          </p:txBody>
        </p:sp>
        <p:sp>
          <p:nvSpPr>
            <p:cNvPr id="22" name="文字方塊 21">
              <a:extLst>
                <a:ext uri="{FF2B5EF4-FFF2-40B4-BE49-F238E27FC236}">
                  <a16:creationId xmlns:a16="http://schemas.microsoft.com/office/drawing/2014/main" id="{FA6D15D0-76EF-4107-A48C-D8308C08AA97}"/>
                </a:ext>
              </a:extLst>
            </p:cNvPr>
            <p:cNvSpPr txBox="1"/>
            <p:nvPr/>
          </p:nvSpPr>
          <p:spPr>
            <a:xfrm>
              <a:off x="3544373" y="6104988"/>
              <a:ext cx="1470965" cy="404937"/>
            </a:xfrm>
            <a:prstGeom prst="rect">
              <a:avLst/>
            </a:prstGeom>
            <a:noFill/>
          </p:spPr>
          <p:txBody>
            <a:bodyPr wrap="non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Actual value</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FB362EBB-CBE6-4666-9B93-2FD94F70E6FE}"/>
                    </a:ext>
                  </a:extLst>
                </p:cNvPr>
                <p:cNvSpPr/>
                <p:nvPr/>
              </p:nvSpPr>
              <p:spPr>
                <a:xfrm>
                  <a:off x="4895225" y="6079660"/>
                  <a:ext cx="1516520" cy="4315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6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𝑒</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𝜆</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342</m:t>
                                </m:r>
                              </m:sub>
                            </m:sSub>
                          </m:sub>
                        </m:sSub>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𝐸</m:t>
                            </m:r>
                          </m:e>
                          <m:sub>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𝑦</m:t>
                            </m:r>
                          </m:sub>
                        </m:sSub>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en-US" sz="1600" dirty="0"/>
                </a:p>
              </p:txBody>
            </p:sp>
          </mc:Choice>
          <mc:Fallback xmlns="">
            <p:sp>
              <p:nvSpPr>
                <p:cNvPr id="23" name="矩形 22">
                  <a:extLst>
                    <a:ext uri="{FF2B5EF4-FFF2-40B4-BE49-F238E27FC236}">
                      <a16:creationId xmlns:a16="http://schemas.microsoft.com/office/drawing/2014/main" id="{FB362EBB-CBE6-4666-9B93-2FD94F70E6FE}"/>
                    </a:ext>
                  </a:extLst>
                </p:cNvPr>
                <p:cNvSpPr>
                  <a:spLocks noRot="1" noChangeAspect="1" noMove="1" noResize="1" noEditPoints="1" noAdjustHandles="1" noChangeArrowheads="1" noChangeShapeType="1" noTextEdit="1"/>
                </p:cNvSpPr>
                <p:nvPr/>
              </p:nvSpPr>
              <p:spPr>
                <a:xfrm>
                  <a:off x="4895225" y="6079660"/>
                  <a:ext cx="1516520" cy="431550"/>
                </a:xfrm>
                <a:prstGeom prst="rect">
                  <a:avLst/>
                </a:prstGeom>
                <a:blipFill>
                  <a:blip r:embed="rId12"/>
                  <a:stretch>
                    <a:fillRect b="-5085"/>
                  </a:stretch>
                </a:blipFill>
              </p:spPr>
              <p:txBody>
                <a:bodyPr/>
                <a:lstStyle/>
                <a:p>
                  <a:r>
                    <a:rPr lang="zh-TW" altLang="en-US">
                      <a:noFill/>
                    </a:rPr>
                    <a:t> </a:t>
                  </a:r>
                </a:p>
              </p:txBody>
            </p:sp>
          </mc:Fallback>
        </mc:AlternateContent>
        <p:sp>
          <p:nvSpPr>
            <p:cNvPr id="25" name="箭號: 上-下雙向 24">
              <a:extLst>
                <a:ext uri="{FF2B5EF4-FFF2-40B4-BE49-F238E27FC236}">
                  <a16:creationId xmlns:a16="http://schemas.microsoft.com/office/drawing/2014/main" id="{D28AA216-EA93-4509-BC0B-0436B6BB4368}"/>
                </a:ext>
              </a:extLst>
            </p:cNvPr>
            <p:cNvSpPr/>
            <p:nvPr/>
          </p:nvSpPr>
          <p:spPr>
            <a:xfrm rot="17100000">
              <a:off x="11264050" y="5800320"/>
              <a:ext cx="359716" cy="902683"/>
            </a:xfrm>
            <a:prstGeom prst="upDownArrow">
              <a:avLst/>
            </a:prstGeom>
            <a:solidFill>
              <a:srgbClr val="00B0F0"/>
            </a:solidFill>
            <a:ln w="12700">
              <a:solidFill>
                <a:schemeClr val="tx1"/>
              </a:solidFill>
            </a:ln>
            <a:scene3d>
              <a:camera prst="orthographicFront"/>
              <a:lightRig rig="threePt" dir="t"/>
            </a:scene3d>
            <a:sp3d>
              <a:bevelT h="127000"/>
              <a:bevelB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p>
          </p:txBody>
        </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37C98202-92D7-4E43-89A4-71253B54432A}"/>
                    </a:ext>
                  </a:extLst>
                </p:cNvPr>
                <p:cNvSpPr/>
                <p:nvPr/>
              </p:nvSpPr>
              <p:spPr>
                <a:xfrm>
                  <a:off x="9655338" y="6054332"/>
                  <a:ext cx="1516520" cy="4315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6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𝑒</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𝜆</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r>
                                  <a:rPr lang="en-US" altLang="zh-TW" sz="1600" b="0" i="1" kern="100" smtClean="0">
                                    <a:latin typeface="Cambria Math" panose="02040503050406030204" pitchFamily="18" charset="0"/>
                                    <a:ea typeface="標楷體" panose="03000509000000000000" pitchFamily="65" charset="-120"/>
                                    <a:cs typeface="Times New Roman" panose="02020603050405020304" pitchFamily="18" charset="0"/>
                                  </a:rPr>
                                  <m:t>342</m:t>
                                </m:r>
                              </m:sub>
                            </m:sSub>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𝐸</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𝑦</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en-US" sz="1600" dirty="0"/>
                </a:p>
              </p:txBody>
            </p:sp>
          </mc:Choice>
          <mc:Fallback xmlns="">
            <p:sp>
              <p:nvSpPr>
                <p:cNvPr id="26" name="矩形 25">
                  <a:extLst>
                    <a:ext uri="{FF2B5EF4-FFF2-40B4-BE49-F238E27FC236}">
                      <a16:creationId xmlns:a16="http://schemas.microsoft.com/office/drawing/2014/main" id="{37C98202-92D7-4E43-89A4-71253B54432A}"/>
                    </a:ext>
                  </a:extLst>
                </p:cNvPr>
                <p:cNvSpPr>
                  <a:spLocks noRot="1" noChangeAspect="1" noMove="1" noResize="1" noEditPoints="1" noAdjustHandles="1" noChangeArrowheads="1" noChangeShapeType="1" noTextEdit="1"/>
                </p:cNvSpPr>
                <p:nvPr/>
              </p:nvSpPr>
              <p:spPr>
                <a:xfrm>
                  <a:off x="9655338" y="6054332"/>
                  <a:ext cx="1516520" cy="431549"/>
                </a:xfrm>
                <a:prstGeom prst="rect">
                  <a:avLst/>
                </a:prstGeom>
                <a:blipFill>
                  <a:blip r:embed="rId13"/>
                  <a:stretch>
                    <a:fillRect b="-5085"/>
                  </a:stretch>
                </a:blipFill>
              </p:spPr>
              <p:txBody>
                <a:bodyPr/>
                <a:lstStyle/>
                <a:p>
                  <a:r>
                    <a:rPr lang="zh-TW" altLang="en-US">
                      <a:noFill/>
                    </a:rPr>
                    <a:t> </a:t>
                  </a:r>
                </a:p>
              </p:txBody>
            </p:sp>
          </mc:Fallback>
        </mc:AlternateContent>
        <p:sp>
          <p:nvSpPr>
            <p:cNvPr id="27" name="文字方塊 26">
              <a:extLst>
                <a:ext uri="{FF2B5EF4-FFF2-40B4-BE49-F238E27FC236}">
                  <a16:creationId xmlns:a16="http://schemas.microsoft.com/office/drawing/2014/main" id="{CC5C24AE-BF5B-4904-8EEE-96A712154CF7}"/>
                </a:ext>
              </a:extLst>
            </p:cNvPr>
            <p:cNvSpPr txBox="1"/>
            <p:nvPr/>
          </p:nvSpPr>
          <p:spPr>
            <a:xfrm>
              <a:off x="8374347" y="6079660"/>
              <a:ext cx="1435993" cy="404937"/>
            </a:xfrm>
            <a:prstGeom prst="rect">
              <a:avLst/>
            </a:prstGeom>
            <a:noFill/>
          </p:spPr>
          <p:txBody>
            <a:bodyPr wrap="none" rtlCol="0">
              <a:spAutoFit/>
            </a:bodyPr>
            <a:lstStyle/>
            <a:p>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Target value</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32" name="直線接點 31">
              <a:extLst>
                <a:ext uri="{FF2B5EF4-FFF2-40B4-BE49-F238E27FC236}">
                  <a16:creationId xmlns:a16="http://schemas.microsoft.com/office/drawing/2014/main" id="{24962996-2437-4230-AA4F-021BCA4ECFAD}"/>
                </a:ext>
              </a:extLst>
            </p:cNvPr>
            <p:cNvCxnSpPr>
              <a:cxnSpLocks/>
            </p:cNvCxnSpPr>
            <p:nvPr/>
          </p:nvCxnSpPr>
          <p:spPr>
            <a:xfrm flipH="1">
              <a:off x="6416496" y="5929165"/>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7555F721-09CB-4F92-9870-C95BC6C30277}"/>
                </a:ext>
              </a:extLst>
            </p:cNvPr>
            <p:cNvCxnSpPr>
              <a:cxnSpLocks/>
            </p:cNvCxnSpPr>
            <p:nvPr/>
          </p:nvCxnSpPr>
          <p:spPr>
            <a:xfrm>
              <a:off x="6416496" y="6126685"/>
              <a:ext cx="0"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ED4D89F8-C359-4CD0-84E6-B48F9896D72E}"/>
                </a:ext>
              </a:extLst>
            </p:cNvPr>
            <p:cNvCxnSpPr>
              <a:cxnSpLocks/>
            </p:cNvCxnSpPr>
            <p:nvPr/>
          </p:nvCxnSpPr>
          <p:spPr>
            <a:xfrm flipV="1">
              <a:off x="6416496" y="6106576"/>
              <a:ext cx="78631" cy="201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EB57E400-0D86-4663-A3A1-98CD00C70798}"/>
                </a:ext>
              </a:extLst>
            </p:cNvPr>
            <p:cNvCxnSpPr>
              <a:cxnSpLocks/>
            </p:cNvCxnSpPr>
            <p:nvPr/>
          </p:nvCxnSpPr>
          <p:spPr>
            <a:xfrm>
              <a:off x="6495127" y="6106576"/>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1EB3701D-5E06-49B2-9BBC-29A00F25C3F7}"/>
                </a:ext>
              </a:extLst>
            </p:cNvPr>
            <p:cNvCxnSpPr>
              <a:cxnSpLocks/>
            </p:cNvCxnSpPr>
            <p:nvPr/>
          </p:nvCxnSpPr>
          <p:spPr>
            <a:xfrm>
              <a:off x="6557391" y="6340953"/>
              <a:ext cx="61383" cy="23270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8AC51F99-DD2D-4B88-8264-FB144696446C}"/>
                </a:ext>
              </a:extLst>
            </p:cNvPr>
            <p:cNvCxnSpPr>
              <a:cxnSpLocks/>
            </p:cNvCxnSpPr>
            <p:nvPr/>
          </p:nvCxnSpPr>
          <p:spPr>
            <a:xfrm flipV="1">
              <a:off x="6542506" y="6575330"/>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接點 54">
              <a:extLst>
                <a:ext uri="{FF2B5EF4-FFF2-40B4-BE49-F238E27FC236}">
                  <a16:creationId xmlns:a16="http://schemas.microsoft.com/office/drawing/2014/main" id="{D2B05C69-2065-4914-B45A-A793360BFB79}"/>
                </a:ext>
              </a:extLst>
            </p:cNvPr>
            <p:cNvCxnSpPr>
              <a:cxnSpLocks/>
            </p:cNvCxnSpPr>
            <p:nvPr/>
          </p:nvCxnSpPr>
          <p:spPr>
            <a:xfrm>
              <a:off x="6542506" y="6596961"/>
              <a:ext cx="197520" cy="11403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BB7CFA80-797B-4BF9-AD95-82C62C3AA354}"/>
                </a:ext>
              </a:extLst>
            </p:cNvPr>
            <p:cNvCxnSpPr>
              <a:cxnSpLocks/>
            </p:cNvCxnSpPr>
            <p:nvPr/>
          </p:nvCxnSpPr>
          <p:spPr>
            <a:xfrm flipV="1">
              <a:off x="6740026" y="6513479"/>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511BCD4C-4AE9-49E0-A3AC-3C841450D52B}"/>
                </a:ext>
              </a:extLst>
            </p:cNvPr>
            <p:cNvCxnSpPr>
              <a:cxnSpLocks/>
            </p:cNvCxnSpPr>
            <p:nvPr/>
          </p:nvCxnSpPr>
          <p:spPr>
            <a:xfrm flipH="1">
              <a:off x="6774693" y="6513479"/>
              <a:ext cx="79371" cy="19675"/>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124481BA-041C-45FB-9815-BD58DC59ACB6}"/>
                </a:ext>
              </a:extLst>
            </p:cNvPr>
            <p:cNvCxnSpPr>
              <a:cxnSpLocks/>
            </p:cNvCxnSpPr>
            <p:nvPr/>
          </p:nvCxnSpPr>
          <p:spPr>
            <a:xfrm flipH="1" flipV="1">
              <a:off x="6712684" y="6299212"/>
              <a:ext cx="60163" cy="233942"/>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15E54CAE-F7A5-40DB-8E30-F0B90EF7807B}"/>
                </a:ext>
              </a:extLst>
            </p:cNvPr>
            <p:cNvCxnSpPr>
              <a:cxnSpLocks/>
            </p:cNvCxnSpPr>
            <p:nvPr/>
          </p:nvCxnSpPr>
          <p:spPr>
            <a:xfrm flipH="1" flipV="1">
              <a:off x="6650906" y="6064835"/>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69C8D78B-B0D5-469F-A604-F1BF1CD7DE7B}"/>
                </a:ext>
              </a:extLst>
            </p:cNvPr>
            <p:cNvCxnSpPr>
              <a:cxnSpLocks/>
            </p:cNvCxnSpPr>
            <p:nvPr/>
          </p:nvCxnSpPr>
          <p:spPr>
            <a:xfrm flipV="1">
              <a:off x="6650906" y="6043204"/>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9" name="直線接點 68">
              <a:extLst>
                <a:ext uri="{FF2B5EF4-FFF2-40B4-BE49-F238E27FC236}">
                  <a16:creationId xmlns:a16="http://schemas.microsoft.com/office/drawing/2014/main" id="{67BB74B1-7486-47D8-A753-44A51F0466E0}"/>
                </a:ext>
              </a:extLst>
            </p:cNvPr>
            <p:cNvCxnSpPr>
              <a:cxnSpLocks/>
            </p:cNvCxnSpPr>
            <p:nvPr/>
          </p:nvCxnSpPr>
          <p:spPr>
            <a:xfrm flipH="1" flipV="1">
              <a:off x="6530534" y="5930735"/>
              <a:ext cx="197520" cy="114039"/>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4" name="直線接點 83">
              <a:extLst>
                <a:ext uri="{FF2B5EF4-FFF2-40B4-BE49-F238E27FC236}">
                  <a16:creationId xmlns:a16="http://schemas.microsoft.com/office/drawing/2014/main" id="{93932F6B-4B04-4A8A-99F1-D4C6259FECB2}"/>
                </a:ext>
              </a:extLst>
            </p:cNvPr>
            <p:cNvCxnSpPr>
              <a:cxnSpLocks/>
            </p:cNvCxnSpPr>
            <p:nvPr/>
          </p:nvCxnSpPr>
          <p:spPr>
            <a:xfrm>
              <a:off x="6375624" y="5019012"/>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直線接點 89">
              <a:extLst>
                <a:ext uri="{FF2B5EF4-FFF2-40B4-BE49-F238E27FC236}">
                  <a16:creationId xmlns:a16="http://schemas.microsoft.com/office/drawing/2014/main" id="{FE7525B6-F22C-4A2C-A735-D5D060B78E7A}"/>
                </a:ext>
              </a:extLst>
            </p:cNvPr>
            <p:cNvCxnSpPr>
              <a:cxnSpLocks/>
            </p:cNvCxnSpPr>
            <p:nvPr/>
          </p:nvCxnSpPr>
          <p:spPr>
            <a:xfrm rot="18900000" flipH="1">
              <a:off x="6240784" y="5199948"/>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1" name="直線接點 90">
              <a:extLst>
                <a:ext uri="{FF2B5EF4-FFF2-40B4-BE49-F238E27FC236}">
                  <a16:creationId xmlns:a16="http://schemas.microsoft.com/office/drawing/2014/main" id="{B95773E3-8D48-4951-BD2D-A4756FDBE23A}"/>
                </a:ext>
              </a:extLst>
            </p:cNvPr>
            <p:cNvCxnSpPr>
              <a:cxnSpLocks/>
            </p:cNvCxnSpPr>
            <p:nvPr/>
          </p:nvCxnSpPr>
          <p:spPr>
            <a:xfrm rot="18900000">
              <a:off x="6327318" y="5408861"/>
              <a:ext cx="0"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2" name="直線接點 91">
              <a:extLst>
                <a:ext uri="{FF2B5EF4-FFF2-40B4-BE49-F238E27FC236}">
                  <a16:creationId xmlns:a16="http://schemas.microsoft.com/office/drawing/2014/main" id="{E55E9D03-D8A4-4A0B-AB55-54364D16A68B}"/>
                </a:ext>
              </a:extLst>
            </p:cNvPr>
            <p:cNvCxnSpPr>
              <a:cxnSpLocks/>
            </p:cNvCxnSpPr>
            <p:nvPr/>
          </p:nvCxnSpPr>
          <p:spPr>
            <a:xfrm rot="18900000" flipV="1">
              <a:off x="6308693" y="5363895"/>
              <a:ext cx="78631" cy="201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F7F61A95-A5EA-40DA-998A-C156690A9FFB}"/>
                </a:ext>
              </a:extLst>
            </p:cNvPr>
            <p:cNvCxnSpPr>
              <a:cxnSpLocks/>
            </p:cNvCxnSpPr>
            <p:nvPr/>
          </p:nvCxnSpPr>
          <p:spPr>
            <a:xfrm rot="18900000">
              <a:off x="6442446" y="5282703"/>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4" name="直線接點 93">
              <a:extLst>
                <a:ext uri="{FF2B5EF4-FFF2-40B4-BE49-F238E27FC236}">
                  <a16:creationId xmlns:a16="http://schemas.microsoft.com/office/drawing/2014/main" id="{BE4D80C1-12B0-48AC-831E-ABCB207931D9}"/>
                </a:ext>
              </a:extLst>
            </p:cNvPr>
            <p:cNvCxnSpPr>
              <a:cxnSpLocks/>
            </p:cNvCxnSpPr>
            <p:nvPr/>
          </p:nvCxnSpPr>
          <p:spPr>
            <a:xfrm rot="18900000">
              <a:off x="6651741" y="5404961"/>
              <a:ext cx="61383" cy="23270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2F962504-BD15-4CCD-9CEB-0C821D6B316A}"/>
                </a:ext>
              </a:extLst>
            </p:cNvPr>
            <p:cNvCxnSpPr>
              <a:cxnSpLocks/>
            </p:cNvCxnSpPr>
            <p:nvPr/>
          </p:nvCxnSpPr>
          <p:spPr>
            <a:xfrm rot="18900000" flipV="1">
              <a:off x="6730010" y="5606553"/>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6" name="直線接點 95">
              <a:extLst>
                <a:ext uri="{FF2B5EF4-FFF2-40B4-BE49-F238E27FC236}">
                  <a16:creationId xmlns:a16="http://schemas.microsoft.com/office/drawing/2014/main" id="{1F921667-A7CF-41BF-969F-DC83E8DBAFB6}"/>
                </a:ext>
              </a:extLst>
            </p:cNvPr>
            <p:cNvCxnSpPr>
              <a:cxnSpLocks/>
            </p:cNvCxnSpPr>
            <p:nvPr/>
          </p:nvCxnSpPr>
          <p:spPr>
            <a:xfrm rot="18900000">
              <a:off x="6760348" y="5565759"/>
              <a:ext cx="197520" cy="11403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C40642B3-943B-41DE-82E4-C3B833CEB91E}"/>
                </a:ext>
              </a:extLst>
            </p:cNvPr>
            <p:cNvCxnSpPr>
              <a:cxnSpLocks/>
            </p:cNvCxnSpPr>
            <p:nvPr/>
          </p:nvCxnSpPr>
          <p:spPr>
            <a:xfrm rot="18900000" flipV="1">
              <a:off x="6882727" y="5384350"/>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8" name="直線接點 97">
              <a:extLst>
                <a:ext uri="{FF2B5EF4-FFF2-40B4-BE49-F238E27FC236}">
                  <a16:creationId xmlns:a16="http://schemas.microsoft.com/office/drawing/2014/main" id="{23E837EA-6EFD-46F5-B2A9-1DCAEAE5643D}"/>
                </a:ext>
              </a:extLst>
            </p:cNvPr>
            <p:cNvCxnSpPr>
              <a:cxnSpLocks/>
            </p:cNvCxnSpPr>
            <p:nvPr/>
          </p:nvCxnSpPr>
          <p:spPr>
            <a:xfrm rot="18900000" flipH="1">
              <a:off x="6849439" y="5398138"/>
              <a:ext cx="79371" cy="19675"/>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9" name="直線接點 98">
              <a:extLst>
                <a:ext uri="{FF2B5EF4-FFF2-40B4-BE49-F238E27FC236}">
                  <a16:creationId xmlns:a16="http://schemas.microsoft.com/office/drawing/2014/main" id="{F7D41121-5107-45E2-A3AE-20DA53D5780E}"/>
                </a:ext>
              </a:extLst>
            </p:cNvPr>
            <p:cNvCxnSpPr>
              <a:cxnSpLocks/>
            </p:cNvCxnSpPr>
            <p:nvPr/>
          </p:nvCxnSpPr>
          <p:spPr>
            <a:xfrm rot="18900000" flipH="1" flipV="1">
              <a:off x="6732650" y="5265888"/>
              <a:ext cx="60163" cy="233942"/>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D4946924-C3F8-4946-A604-13BD6477AB30}"/>
                </a:ext>
              </a:extLst>
            </p:cNvPr>
            <p:cNvCxnSpPr>
              <a:cxnSpLocks/>
            </p:cNvCxnSpPr>
            <p:nvPr/>
          </p:nvCxnSpPr>
          <p:spPr>
            <a:xfrm rot="18900000" flipH="1" flipV="1">
              <a:off x="6523083" y="5143036"/>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線接點 100">
              <a:extLst>
                <a:ext uri="{FF2B5EF4-FFF2-40B4-BE49-F238E27FC236}">
                  <a16:creationId xmlns:a16="http://schemas.microsoft.com/office/drawing/2014/main" id="{E35C1B79-2E8A-4521-9F4E-F2CACD6BA03F}"/>
                </a:ext>
              </a:extLst>
            </p:cNvPr>
            <p:cNvCxnSpPr>
              <a:cxnSpLocks/>
            </p:cNvCxnSpPr>
            <p:nvPr/>
          </p:nvCxnSpPr>
          <p:spPr>
            <a:xfrm rot="18900000" flipV="1">
              <a:off x="6430391" y="5153633"/>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B6D90CF9-2B7D-4EAC-883D-3DFA91A21776}"/>
                </a:ext>
              </a:extLst>
            </p:cNvPr>
            <p:cNvCxnSpPr>
              <a:cxnSpLocks/>
            </p:cNvCxnSpPr>
            <p:nvPr/>
          </p:nvCxnSpPr>
          <p:spPr>
            <a:xfrm rot="18900000" flipH="1" flipV="1">
              <a:off x="6280790" y="5103131"/>
              <a:ext cx="197520" cy="114039"/>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6" name="直線接點 145">
              <a:extLst>
                <a:ext uri="{FF2B5EF4-FFF2-40B4-BE49-F238E27FC236}">
                  <a16:creationId xmlns:a16="http://schemas.microsoft.com/office/drawing/2014/main" id="{0937C09F-0A7E-45E8-A5C7-12340C74C904}"/>
                </a:ext>
              </a:extLst>
            </p:cNvPr>
            <p:cNvCxnSpPr>
              <a:cxnSpLocks/>
            </p:cNvCxnSpPr>
            <p:nvPr/>
          </p:nvCxnSpPr>
          <p:spPr>
            <a:xfrm rot="3600000" flipH="1">
              <a:off x="7472947" y="4997928"/>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7" name="直線接點 146">
              <a:extLst>
                <a:ext uri="{FF2B5EF4-FFF2-40B4-BE49-F238E27FC236}">
                  <a16:creationId xmlns:a16="http://schemas.microsoft.com/office/drawing/2014/main" id="{2C74DCAB-6B71-460F-AA21-5B233EA5E939}"/>
                </a:ext>
              </a:extLst>
            </p:cNvPr>
            <p:cNvCxnSpPr>
              <a:cxnSpLocks/>
            </p:cNvCxnSpPr>
            <p:nvPr/>
          </p:nvCxnSpPr>
          <p:spPr>
            <a:xfrm rot="3600000">
              <a:off x="7415927" y="5096688"/>
              <a:ext cx="0"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8" name="直線接點 147">
              <a:extLst>
                <a:ext uri="{FF2B5EF4-FFF2-40B4-BE49-F238E27FC236}">
                  <a16:creationId xmlns:a16="http://schemas.microsoft.com/office/drawing/2014/main" id="{CBCD24CA-D769-4923-A257-EAB7DB563EBD}"/>
                </a:ext>
              </a:extLst>
            </p:cNvPr>
            <p:cNvCxnSpPr>
              <a:cxnSpLocks/>
            </p:cNvCxnSpPr>
            <p:nvPr/>
          </p:nvCxnSpPr>
          <p:spPr>
            <a:xfrm rot="3600000" flipV="1">
              <a:off x="7404977" y="5115654"/>
              <a:ext cx="78631" cy="201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9" name="直線接點 148">
              <a:extLst>
                <a:ext uri="{FF2B5EF4-FFF2-40B4-BE49-F238E27FC236}">
                  <a16:creationId xmlns:a16="http://schemas.microsoft.com/office/drawing/2014/main" id="{0F4F57F1-6B8D-46DD-A5DE-FD0CD0B73036}"/>
                </a:ext>
              </a:extLst>
            </p:cNvPr>
            <p:cNvCxnSpPr>
              <a:cxnSpLocks/>
            </p:cNvCxnSpPr>
            <p:nvPr/>
          </p:nvCxnSpPr>
          <p:spPr>
            <a:xfrm rot="3600000">
              <a:off x="7355604" y="5123097"/>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34E04688-24FE-48CA-96D6-D1C442324FC2}"/>
                </a:ext>
              </a:extLst>
            </p:cNvPr>
            <p:cNvCxnSpPr>
              <a:cxnSpLocks/>
            </p:cNvCxnSpPr>
            <p:nvPr/>
          </p:nvCxnSpPr>
          <p:spPr>
            <a:xfrm rot="3600000">
              <a:off x="7184703" y="5294243"/>
              <a:ext cx="61383" cy="23270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1" name="直線接點 150">
              <a:extLst>
                <a:ext uri="{FF2B5EF4-FFF2-40B4-BE49-F238E27FC236}">
                  <a16:creationId xmlns:a16="http://schemas.microsoft.com/office/drawing/2014/main" id="{49CC4113-DB9A-4748-A1B0-D983CE7862AE}"/>
                </a:ext>
              </a:extLst>
            </p:cNvPr>
            <p:cNvCxnSpPr>
              <a:cxnSpLocks/>
            </p:cNvCxnSpPr>
            <p:nvPr/>
          </p:nvCxnSpPr>
          <p:spPr>
            <a:xfrm rot="3600000" flipV="1">
              <a:off x="7061741" y="5458137"/>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2" name="直線接點 151">
              <a:extLst>
                <a:ext uri="{FF2B5EF4-FFF2-40B4-BE49-F238E27FC236}">
                  <a16:creationId xmlns:a16="http://schemas.microsoft.com/office/drawing/2014/main" id="{A139DF58-2BCF-4FEB-B866-420D33E40EF5}"/>
                </a:ext>
              </a:extLst>
            </p:cNvPr>
            <p:cNvCxnSpPr>
              <a:cxnSpLocks/>
            </p:cNvCxnSpPr>
            <p:nvPr/>
          </p:nvCxnSpPr>
          <p:spPr>
            <a:xfrm rot="3600000">
              <a:off x="6972902" y="5497973"/>
              <a:ext cx="197520" cy="11403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33EC15BB-51F6-42F2-BB1E-92D9DACBFD2C}"/>
                </a:ext>
              </a:extLst>
            </p:cNvPr>
            <p:cNvCxnSpPr>
              <a:cxnSpLocks/>
            </p:cNvCxnSpPr>
            <p:nvPr/>
          </p:nvCxnSpPr>
          <p:spPr>
            <a:xfrm rot="3600000" flipV="1">
              <a:off x="7128681" y="5570270"/>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4" name="直線接點 153">
              <a:extLst>
                <a:ext uri="{FF2B5EF4-FFF2-40B4-BE49-F238E27FC236}">
                  <a16:creationId xmlns:a16="http://schemas.microsoft.com/office/drawing/2014/main" id="{FDCF1FF3-9209-4EEC-8F48-D1FD2C6D25BD}"/>
                </a:ext>
              </a:extLst>
            </p:cNvPr>
            <p:cNvCxnSpPr>
              <a:cxnSpLocks/>
            </p:cNvCxnSpPr>
            <p:nvPr/>
          </p:nvCxnSpPr>
          <p:spPr>
            <a:xfrm rot="3600000" flipH="1">
              <a:off x="7231690" y="5629743"/>
              <a:ext cx="79371" cy="19675"/>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5" name="直線接點 154">
              <a:extLst>
                <a:ext uri="{FF2B5EF4-FFF2-40B4-BE49-F238E27FC236}">
                  <a16:creationId xmlns:a16="http://schemas.microsoft.com/office/drawing/2014/main" id="{9B4362D7-B148-4D60-B18A-F8B0FD10CC50}"/>
                </a:ext>
              </a:extLst>
            </p:cNvPr>
            <p:cNvCxnSpPr>
              <a:cxnSpLocks/>
            </p:cNvCxnSpPr>
            <p:nvPr/>
          </p:nvCxnSpPr>
          <p:spPr>
            <a:xfrm rot="3600000" flipH="1" flipV="1">
              <a:off x="7298268" y="5407024"/>
              <a:ext cx="60163" cy="233942"/>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6" name="直線接點 155">
              <a:extLst>
                <a:ext uri="{FF2B5EF4-FFF2-40B4-BE49-F238E27FC236}">
                  <a16:creationId xmlns:a16="http://schemas.microsoft.com/office/drawing/2014/main" id="{04462B09-8D63-4D04-8335-9FDC202DFBE1}"/>
                </a:ext>
              </a:extLst>
            </p:cNvPr>
            <p:cNvCxnSpPr>
              <a:cxnSpLocks/>
            </p:cNvCxnSpPr>
            <p:nvPr/>
          </p:nvCxnSpPr>
          <p:spPr>
            <a:xfrm rot="3600000" flipH="1" flipV="1">
              <a:off x="7469642" y="5237135"/>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7" name="直線接點 156">
              <a:extLst>
                <a:ext uri="{FF2B5EF4-FFF2-40B4-BE49-F238E27FC236}">
                  <a16:creationId xmlns:a16="http://schemas.microsoft.com/office/drawing/2014/main" id="{79196AF9-BD77-4CD2-8B10-8AEB28189F2C}"/>
                </a:ext>
              </a:extLst>
            </p:cNvPr>
            <p:cNvCxnSpPr>
              <a:cxnSpLocks/>
            </p:cNvCxnSpPr>
            <p:nvPr/>
          </p:nvCxnSpPr>
          <p:spPr>
            <a:xfrm rot="3600000" flipV="1">
              <a:off x="7576776" y="5285951"/>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8" name="直線接點 157">
              <a:extLst>
                <a:ext uri="{FF2B5EF4-FFF2-40B4-BE49-F238E27FC236}">
                  <a16:creationId xmlns:a16="http://schemas.microsoft.com/office/drawing/2014/main" id="{10D9A356-60FB-4FBF-8FD4-D63322CEEF89}"/>
                </a:ext>
              </a:extLst>
            </p:cNvPr>
            <p:cNvCxnSpPr>
              <a:cxnSpLocks/>
            </p:cNvCxnSpPr>
            <p:nvPr/>
          </p:nvCxnSpPr>
          <p:spPr>
            <a:xfrm rot="3600000" flipH="1" flipV="1">
              <a:off x="7543884" y="5154492"/>
              <a:ext cx="197520" cy="114039"/>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0" name="直線接點 159">
              <a:extLst>
                <a:ext uri="{FF2B5EF4-FFF2-40B4-BE49-F238E27FC236}">
                  <a16:creationId xmlns:a16="http://schemas.microsoft.com/office/drawing/2014/main" id="{07D95534-B04B-4173-8801-7886AA365EBD}"/>
                </a:ext>
              </a:extLst>
            </p:cNvPr>
            <p:cNvCxnSpPr>
              <a:cxnSpLocks/>
            </p:cNvCxnSpPr>
            <p:nvPr/>
          </p:nvCxnSpPr>
          <p:spPr>
            <a:xfrm rot="20700000" flipH="1">
              <a:off x="7729911" y="5068181"/>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1" name="直線接點 160">
              <a:extLst>
                <a:ext uri="{FF2B5EF4-FFF2-40B4-BE49-F238E27FC236}">
                  <a16:creationId xmlns:a16="http://schemas.microsoft.com/office/drawing/2014/main" id="{7E0E815A-9D29-4067-8CB7-2702B3DABDFB}"/>
                </a:ext>
              </a:extLst>
            </p:cNvPr>
            <p:cNvCxnSpPr>
              <a:cxnSpLocks/>
            </p:cNvCxnSpPr>
            <p:nvPr/>
          </p:nvCxnSpPr>
          <p:spPr>
            <a:xfrm rot="20700000">
              <a:off x="7757415" y="5277094"/>
              <a:ext cx="0"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2" name="直線接點 161">
              <a:extLst>
                <a:ext uri="{FF2B5EF4-FFF2-40B4-BE49-F238E27FC236}">
                  <a16:creationId xmlns:a16="http://schemas.microsoft.com/office/drawing/2014/main" id="{4971061E-2F00-4CF9-93DB-BD840AED93DA}"/>
                </a:ext>
              </a:extLst>
            </p:cNvPr>
            <p:cNvCxnSpPr>
              <a:cxnSpLocks/>
            </p:cNvCxnSpPr>
            <p:nvPr/>
          </p:nvCxnSpPr>
          <p:spPr>
            <a:xfrm rot="20700000" flipV="1">
              <a:off x="7753473" y="5247151"/>
              <a:ext cx="78631" cy="201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3" name="直線接點 162">
              <a:extLst>
                <a:ext uri="{FF2B5EF4-FFF2-40B4-BE49-F238E27FC236}">
                  <a16:creationId xmlns:a16="http://schemas.microsoft.com/office/drawing/2014/main" id="{ECDFE1E1-A6A8-49B3-96CC-E3867D496E24}"/>
                </a:ext>
              </a:extLst>
            </p:cNvPr>
            <p:cNvCxnSpPr>
              <a:cxnSpLocks/>
            </p:cNvCxnSpPr>
            <p:nvPr/>
          </p:nvCxnSpPr>
          <p:spPr>
            <a:xfrm rot="20700000">
              <a:off x="7857432" y="5225267"/>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4" name="直線接點 163">
              <a:extLst>
                <a:ext uri="{FF2B5EF4-FFF2-40B4-BE49-F238E27FC236}">
                  <a16:creationId xmlns:a16="http://schemas.microsoft.com/office/drawing/2014/main" id="{2E9C3147-0EDA-48B7-82BD-4F26B6136704}"/>
                </a:ext>
              </a:extLst>
            </p:cNvPr>
            <p:cNvCxnSpPr>
              <a:cxnSpLocks/>
            </p:cNvCxnSpPr>
            <p:nvPr/>
          </p:nvCxnSpPr>
          <p:spPr>
            <a:xfrm rot="20700000">
              <a:off x="7978034" y="5435685"/>
              <a:ext cx="61383" cy="23270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5" name="直線接點 164">
              <a:extLst>
                <a:ext uri="{FF2B5EF4-FFF2-40B4-BE49-F238E27FC236}">
                  <a16:creationId xmlns:a16="http://schemas.microsoft.com/office/drawing/2014/main" id="{F458287D-707F-4FAA-A6F4-B6EAEF00A062}"/>
                </a:ext>
              </a:extLst>
            </p:cNvPr>
            <p:cNvCxnSpPr>
              <a:cxnSpLocks/>
            </p:cNvCxnSpPr>
            <p:nvPr/>
          </p:nvCxnSpPr>
          <p:spPr>
            <a:xfrm rot="20700000" flipV="1">
              <a:off x="7996734" y="5667485"/>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6" name="直線接點 165">
              <a:extLst>
                <a:ext uri="{FF2B5EF4-FFF2-40B4-BE49-F238E27FC236}">
                  <a16:creationId xmlns:a16="http://schemas.microsoft.com/office/drawing/2014/main" id="{2C07B27C-978D-4C18-89DD-7E9E6366271F}"/>
                </a:ext>
              </a:extLst>
            </p:cNvPr>
            <p:cNvCxnSpPr>
              <a:cxnSpLocks/>
            </p:cNvCxnSpPr>
            <p:nvPr/>
          </p:nvCxnSpPr>
          <p:spPr>
            <a:xfrm rot="20700000">
              <a:off x="8012240" y="5671227"/>
              <a:ext cx="197520" cy="11403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7" name="直線接點 166">
              <a:extLst>
                <a:ext uri="{FF2B5EF4-FFF2-40B4-BE49-F238E27FC236}">
                  <a16:creationId xmlns:a16="http://schemas.microsoft.com/office/drawing/2014/main" id="{A017B364-16B6-43C6-A69D-F02FFFD13C80}"/>
                </a:ext>
              </a:extLst>
            </p:cNvPr>
            <p:cNvCxnSpPr>
              <a:cxnSpLocks/>
            </p:cNvCxnSpPr>
            <p:nvPr/>
          </p:nvCxnSpPr>
          <p:spPr>
            <a:xfrm rot="20700000" flipV="1">
              <a:off x="8193649" y="5548849"/>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8" name="直線接點 167">
              <a:extLst>
                <a:ext uri="{FF2B5EF4-FFF2-40B4-BE49-F238E27FC236}">
                  <a16:creationId xmlns:a16="http://schemas.microsoft.com/office/drawing/2014/main" id="{5B97D12E-8B22-4C21-A889-5188B8ED7EE1}"/>
                </a:ext>
              </a:extLst>
            </p:cNvPr>
            <p:cNvCxnSpPr>
              <a:cxnSpLocks/>
            </p:cNvCxnSpPr>
            <p:nvPr/>
          </p:nvCxnSpPr>
          <p:spPr>
            <a:xfrm rot="20700000" flipH="1">
              <a:off x="8204710" y="5547393"/>
              <a:ext cx="79371" cy="19675"/>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9" name="直線接點 168">
              <a:extLst>
                <a:ext uri="{FF2B5EF4-FFF2-40B4-BE49-F238E27FC236}">
                  <a16:creationId xmlns:a16="http://schemas.microsoft.com/office/drawing/2014/main" id="{B500215C-A916-4154-B9AE-6A39514BDC9C}"/>
                </a:ext>
              </a:extLst>
            </p:cNvPr>
            <p:cNvCxnSpPr>
              <a:cxnSpLocks/>
            </p:cNvCxnSpPr>
            <p:nvPr/>
          </p:nvCxnSpPr>
          <p:spPr>
            <a:xfrm rot="20700000" flipH="1" flipV="1">
              <a:off x="8117413" y="5355311"/>
              <a:ext cx="60163" cy="233942"/>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0" name="直線接點 169">
              <a:extLst>
                <a:ext uri="{FF2B5EF4-FFF2-40B4-BE49-F238E27FC236}">
                  <a16:creationId xmlns:a16="http://schemas.microsoft.com/office/drawing/2014/main" id="{E71D6692-EB8F-4AFA-B828-C9AD7DA29F93}"/>
                </a:ext>
              </a:extLst>
            </p:cNvPr>
            <p:cNvCxnSpPr>
              <a:cxnSpLocks/>
            </p:cNvCxnSpPr>
            <p:nvPr/>
          </p:nvCxnSpPr>
          <p:spPr>
            <a:xfrm rot="20700000" flipH="1" flipV="1">
              <a:off x="7997100" y="5144631"/>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1" name="直線接點 170">
              <a:extLst>
                <a:ext uri="{FF2B5EF4-FFF2-40B4-BE49-F238E27FC236}">
                  <a16:creationId xmlns:a16="http://schemas.microsoft.com/office/drawing/2014/main" id="{90398373-EE17-42E4-B727-6A6E938C8D6A}"/>
                </a:ext>
              </a:extLst>
            </p:cNvPr>
            <p:cNvCxnSpPr>
              <a:cxnSpLocks/>
            </p:cNvCxnSpPr>
            <p:nvPr/>
          </p:nvCxnSpPr>
          <p:spPr>
            <a:xfrm rot="20700000" flipV="1">
              <a:off x="7963716" y="5125435"/>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2" name="直線接點 171">
              <a:extLst>
                <a:ext uri="{FF2B5EF4-FFF2-40B4-BE49-F238E27FC236}">
                  <a16:creationId xmlns:a16="http://schemas.microsoft.com/office/drawing/2014/main" id="{D8B6377B-6D1A-4C87-9D64-C2F89DD27E5D}"/>
                </a:ext>
              </a:extLst>
            </p:cNvPr>
            <p:cNvCxnSpPr>
              <a:cxnSpLocks/>
            </p:cNvCxnSpPr>
            <p:nvPr/>
          </p:nvCxnSpPr>
          <p:spPr>
            <a:xfrm rot="20700000" flipH="1" flipV="1">
              <a:off x="7828245" y="5030801"/>
              <a:ext cx="197520" cy="114039"/>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4" name="直線接點 173">
              <a:extLst>
                <a:ext uri="{FF2B5EF4-FFF2-40B4-BE49-F238E27FC236}">
                  <a16:creationId xmlns:a16="http://schemas.microsoft.com/office/drawing/2014/main" id="{3DDDB251-BECD-4139-80CB-73A611A3B96A}"/>
                </a:ext>
              </a:extLst>
            </p:cNvPr>
            <p:cNvCxnSpPr>
              <a:cxnSpLocks/>
            </p:cNvCxnSpPr>
            <p:nvPr/>
          </p:nvCxnSpPr>
          <p:spPr>
            <a:xfrm rot="1800000" flipH="1">
              <a:off x="7247647" y="5934703"/>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5" name="直線接點 174">
              <a:extLst>
                <a:ext uri="{FF2B5EF4-FFF2-40B4-BE49-F238E27FC236}">
                  <a16:creationId xmlns:a16="http://schemas.microsoft.com/office/drawing/2014/main" id="{3658CB90-D48A-4A02-8357-B8A3CEF82B0F}"/>
                </a:ext>
              </a:extLst>
            </p:cNvPr>
            <p:cNvCxnSpPr>
              <a:cxnSpLocks/>
            </p:cNvCxnSpPr>
            <p:nvPr/>
          </p:nvCxnSpPr>
          <p:spPr>
            <a:xfrm rot="1800000">
              <a:off x="7205906" y="6090483"/>
              <a:ext cx="0"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6" name="直線接點 175">
              <a:extLst>
                <a:ext uri="{FF2B5EF4-FFF2-40B4-BE49-F238E27FC236}">
                  <a16:creationId xmlns:a16="http://schemas.microsoft.com/office/drawing/2014/main" id="{6AFB5722-3E91-49F7-90EE-B565EE549ADC}"/>
                </a:ext>
              </a:extLst>
            </p:cNvPr>
            <p:cNvCxnSpPr>
              <a:cxnSpLocks/>
            </p:cNvCxnSpPr>
            <p:nvPr/>
          </p:nvCxnSpPr>
          <p:spPr>
            <a:xfrm rot="1800000" flipV="1">
              <a:off x="7205666" y="6091378"/>
              <a:ext cx="78631" cy="201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7" name="直線接點 176">
              <a:extLst>
                <a:ext uri="{FF2B5EF4-FFF2-40B4-BE49-F238E27FC236}">
                  <a16:creationId xmlns:a16="http://schemas.microsoft.com/office/drawing/2014/main" id="{0FBA593A-879A-494E-8213-03F901F213B1}"/>
                </a:ext>
              </a:extLst>
            </p:cNvPr>
            <p:cNvCxnSpPr>
              <a:cxnSpLocks/>
            </p:cNvCxnSpPr>
            <p:nvPr/>
          </p:nvCxnSpPr>
          <p:spPr>
            <a:xfrm rot="1800000">
              <a:off x="7221292" y="6112248"/>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8" name="直線接點 177">
              <a:extLst>
                <a:ext uri="{FF2B5EF4-FFF2-40B4-BE49-F238E27FC236}">
                  <a16:creationId xmlns:a16="http://schemas.microsoft.com/office/drawing/2014/main" id="{243E1B86-38EF-4720-AEC6-5B39B8A8092B}"/>
                </a:ext>
              </a:extLst>
            </p:cNvPr>
            <p:cNvCxnSpPr>
              <a:cxnSpLocks/>
            </p:cNvCxnSpPr>
            <p:nvPr/>
          </p:nvCxnSpPr>
          <p:spPr>
            <a:xfrm rot="1800000">
              <a:off x="7158502" y="6346248"/>
              <a:ext cx="61383" cy="23270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9" name="直線接點 178">
              <a:extLst>
                <a:ext uri="{FF2B5EF4-FFF2-40B4-BE49-F238E27FC236}">
                  <a16:creationId xmlns:a16="http://schemas.microsoft.com/office/drawing/2014/main" id="{D4925A8D-6008-4B44-9ACB-6E9738C02CE9}"/>
                </a:ext>
              </a:extLst>
            </p:cNvPr>
            <p:cNvCxnSpPr>
              <a:cxnSpLocks/>
            </p:cNvCxnSpPr>
            <p:nvPr/>
          </p:nvCxnSpPr>
          <p:spPr>
            <a:xfrm rot="1800000" flipV="1">
              <a:off x="7080136" y="6559863"/>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0" name="直線接點 179">
              <a:extLst>
                <a:ext uri="{FF2B5EF4-FFF2-40B4-BE49-F238E27FC236}">
                  <a16:creationId xmlns:a16="http://schemas.microsoft.com/office/drawing/2014/main" id="{90B7B40F-BF72-4FA0-855C-A4DC813EAAAA}"/>
                </a:ext>
              </a:extLst>
            </p:cNvPr>
            <p:cNvCxnSpPr>
              <a:cxnSpLocks/>
            </p:cNvCxnSpPr>
            <p:nvPr/>
          </p:nvCxnSpPr>
          <p:spPr>
            <a:xfrm rot="1800000">
              <a:off x="7038155" y="6602499"/>
              <a:ext cx="197520" cy="11403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1" name="直線接點 180">
              <a:extLst>
                <a:ext uri="{FF2B5EF4-FFF2-40B4-BE49-F238E27FC236}">
                  <a16:creationId xmlns:a16="http://schemas.microsoft.com/office/drawing/2014/main" id="{0E800869-ED3C-4A79-9BEB-9388D19563E3}"/>
                </a:ext>
              </a:extLst>
            </p:cNvPr>
            <p:cNvCxnSpPr>
              <a:cxnSpLocks/>
            </p:cNvCxnSpPr>
            <p:nvPr/>
          </p:nvCxnSpPr>
          <p:spPr>
            <a:xfrm rot="1800000" flipV="1">
              <a:off x="7235675" y="6602499"/>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2" name="直線接點 181">
              <a:extLst>
                <a:ext uri="{FF2B5EF4-FFF2-40B4-BE49-F238E27FC236}">
                  <a16:creationId xmlns:a16="http://schemas.microsoft.com/office/drawing/2014/main" id="{9084F07A-AF6C-43DB-921E-6E8962FF2BB5}"/>
                </a:ext>
              </a:extLst>
            </p:cNvPr>
            <p:cNvCxnSpPr>
              <a:cxnSpLocks/>
            </p:cNvCxnSpPr>
            <p:nvPr/>
          </p:nvCxnSpPr>
          <p:spPr>
            <a:xfrm rot="1800000" flipH="1">
              <a:off x="7312481" y="6623079"/>
              <a:ext cx="79371" cy="19675"/>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3" name="直線接點 182">
              <a:extLst>
                <a:ext uri="{FF2B5EF4-FFF2-40B4-BE49-F238E27FC236}">
                  <a16:creationId xmlns:a16="http://schemas.microsoft.com/office/drawing/2014/main" id="{03D6B0D8-539B-4D8F-B4EF-6EA92B81FF34}"/>
                </a:ext>
              </a:extLst>
            </p:cNvPr>
            <p:cNvCxnSpPr>
              <a:cxnSpLocks/>
            </p:cNvCxnSpPr>
            <p:nvPr/>
          </p:nvCxnSpPr>
          <p:spPr>
            <a:xfrm rot="1800000" flipH="1" flipV="1">
              <a:off x="7313633" y="6387359"/>
              <a:ext cx="60163" cy="233942"/>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4" name="直線接點 183">
              <a:extLst>
                <a:ext uri="{FF2B5EF4-FFF2-40B4-BE49-F238E27FC236}">
                  <a16:creationId xmlns:a16="http://schemas.microsoft.com/office/drawing/2014/main" id="{A563EA6A-88BE-46A2-8805-71081EBF121A}"/>
                </a:ext>
              </a:extLst>
            </p:cNvPr>
            <p:cNvCxnSpPr>
              <a:cxnSpLocks/>
            </p:cNvCxnSpPr>
            <p:nvPr/>
          </p:nvCxnSpPr>
          <p:spPr>
            <a:xfrm rot="1800000" flipH="1" flipV="1">
              <a:off x="7377071" y="6153989"/>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5" name="直線接點 184">
              <a:extLst>
                <a:ext uri="{FF2B5EF4-FFF2-40B4-BE49-F238E27FC236}">
                  <a16:creationId xmlns:a16="http://schemas.microsoft.com/office/drawing/2014/main" id="{9A24861B-38C8-463F-9287-E60A4221A968}"/>
                </a:ext>
              </a:extLst>
            </p:cNvPr>
            <p:cNvCxnSpPr>
              <a:cxnSpLocks/>
            </p:cNvCxnSpPr>
            <p:nvPr/>
          </p:nvCxnSpPr>
          <p:spPr>
            <a:xfrm rot="1800000" flipV="1">
              <a:off x="7440076" y="6153228"/>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6" name="直線接點 185">
              <a:extLst>
                <a:ext uri="{FF2B5EF4-FFF2-40B4-BE49-F238E27FC236}">
                  <a16:creationId xmlns:a16="http://schemas.microsoft.com/office/drawing/2014/main" id="{2729ADA6-BAB2-434A-AE61-706F59021523}"/>
                </a:ext>
              </a:extLst>
            </p:cNvPr>
            <p:cNvCxnSpPr>
              <a:cxnSpLocks/>
            </p:cNvCxnSpPr>
            <p:nvPr/>
          </p:nvCxnSpPr>
          <p:spPr>
            <a:xfrm rot="1800000" flipH="1" flipV="1">
              <a:off x="7360900" y="6019545"/>
              <a:ext cx="197520" cy="114039"/>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8" name="直線接點 187">
              <a:extLst>
                <a:ext uri="{FF2B5EF4-FFF2-40B4-BE49-F238E27FC236}">
                  <a16:creationId xmlns:a16="http://schemas.microsoft.com/office/drawing/2014/main" id="{4D5E342E-5343-4BD9-8984-6BFA17FEA696}"/>
                </a:ext>
              </a:extLst>
            </p:cNvPr>
            <p:cNvCxnSpPr>
              <a:cxnSpLocks/>
            </p:cNvCxnSpPr>
            <p:nvPr/>
          </p:nvCxnSpPr>
          <p:spPr>
            <a:xfrm rot="18000000" flipH="1">
              <a:off x="7621466" y="6216429"/>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9" name="直線接點 188">
              <a:extLst>
                <a:ext uri="{FF2B5EF4-FFF2-40B4-BE49-F238E27FC236}">
                  <a16:creationId xmlns:a16="http://schemas.microsoft.com/office/drawing/2014/main" id="{024201C4-977C-4F4C-9EB3-3D967095329C}"/>
                </a:ext>
              </a:extLst>
            </p:cNvPr>
            <p:cNvCxnSpPr>
              <a:cxnSpLocks/>
            </p:cNvCxnSpPr>
            <p:nvPr/>
          </p:nvCxnSpPr>
          <p:spPr>
            <a:xfrm rot="18000000">
              <a:off x="7735505" y="6413949"/>
              <a:ext cx="0"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0" name="直線接點 189">
              <a:extLst>
                <a:ext uri="{FF2B5EF4-FFF2-40B4-BE49-F238E27FC236}">
                  <a16:creationId xmlns:a16="http://schemas.microsoft.com/office/drawing/2014/main" id="{A99CDC44-9821-4E30-8E89-60624DBCF92C}"/>
                </a:ext>
              </a:extLst>
            </p:cNvPr>
            <p:cNvCxnSpPr>
              <a:cxnSpLocks/>
            </p:cNvCxnSpPr>
            <p:nvPr/>
          </p:nvCxnSpPr>
          <p:spPr>
            <a:xfrm rot="18000000" flipV="1">
              <a:off x="7707139" y="6364819"/>
              <a:ext cx="78631" cy="2011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1" name="直線接點 190">
              <a:extLst>
                <a:ext uri="{FF2B5EF4-FFF2-40B4-BE49-F238E27FC236}">
                  <a16:creationId xmlns:a16="http://schemas.microsoft.com/office/drawing/2014/main" id="{265EA882-60EC-4688-84D9-DFE70761BAED}"/>
                </a:ext>
              </a:extLst>
            </p:cNvPr>
            <p:cNvCxnSpPr>
              <a:cxnSpLocks/>
            </p:cNvCxnSpPr>
            <p:nvPr/>
          </p:nvCxnSpPr>
          <p:spPr>
            <a:xfrm rot="18000000">
              <a:off x="7843327" y="6250242"/>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2" name="直線接點 191">
              <a:extLst>
                <a:ext uri="{FF2B5EF4-FFF2-40B4-BE49-F238E27FC236}">
                  <a16:creationId xmlns:a16="http://schemas.microsoft.com/office/drawing/2014/main" id="{C1F188D2-BA18-4444-AA75-872CA7A0E61E}"/>
                </a:ext>
              </a:extLst>
            </p:cNvPr>
            <p:cNvCxnSpPr>
              <a:cxnSpLocks/>
            </p:cNvCxnSpPr>
            <p:nvPr/>
          </p:nvCxnSpPr>
          <p:spPr>
            <a:xfrm rot="18000000">
              <a:off x="8076932" y="6314308"/>
              <a:ext cx="61383" cy="23270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3" name="直線接點 192">
              <a:extLst>
                <a:ext uri="{FF2B5EF4-FFF2-40B4-BE49-F238E27FC236}">
                  <a16:creationId xmlns:a16="http://schemas.microsoft.com/office/drawing/2014/main" id="{6CFCAEA6-F4BB-4D64-9E83-E17ADF49F105}"/>
                </a:ext>
              </a:extLst>
            </p:cNvPr>
            <p:cNvCxnSpPr>
              <a:cxnSpLocks/>
            </p:cNvCxnSpPr>
            <p:nvPr/>
          </p:nvCxnSpPr>
          <p:spPr>
            <a:xfrm rot="18000000" flipV="1">
              <a:off x="8177127" y="6490329"/>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4" name="直線接點 193">
              <a:extLst>
                <a:ext uri="{FF2B5EF4-FFF2-40B4-BE49-F238E27FC236}">
                  <a16:creationId xmlns:a16="http://schemas.microsoft.com/office/drawing/2014/main" id="{83746EA1-7A00-4B16-A23B-60092C9221D3}"/>
                </a:ext>
              </a:extLst>
            </p:cNvPr>
            <p:cNvCxnSpPr>
              <a:cxnSpLocks/>
            </p:cNvCxnSpPr>
            <p:nvPr/>
          </p:nvCxnSpPr>
          <p:spPr>
            <a:xfrm rot="18000000">
              <a:off x="8205780" y="6425921"/>
              <a:ext cx="197520" cy="11403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5" name="直線接點 194">
              <a:extLst>
                <a:ext uri="{FF2B5EF4-FFF2-40B4-BE49-F238E27FC236}">
                  <a16:creationId xmlns:a16="http://schemas.microsoft.com/office/drawing/2014/main" id="{ABA02C64-FE27-4722-93B5-445264635701}"/>
                </a:ext>
              </a:extLst>
            </p:cNvPr>
            <p:cNvCxnSpPr>
              <a:cxnSpLocks/>
            </p:cNvCxnSpPr>
            <p:nvPr/>
          </p:nvCxnSpPr>
          <p:spPr>
            <a:xfrm rot="18000000" flipV="1">
              <a:off x="8289262" y="6228401"/>
              <a:ext cx="114038" cy="19752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6" name="直線接點 195">
              <a:extLst>
                <a:ext uri="{FF2B5EF4-FFF2-40B4-BE49-F238E27FC236}">
                  <a16:creationId xmlns:a16="http://schemas.microsoft.com/office/drawing/2014/main" id="{3282D357-F6C1-4466-8BFC-726E98FF5FF7}"/>
                </a:ext>
              </a:extLst>
            </p:cNvPr>
            <p:cNvCxnSpPr>
              <a:cxnSpLocks/>
            </p:cNvCxnSpPr>
            <p:nvPr/>
          </p:nvCxnSpPr>
          <p:spPr>
            <a:xfrm rot="18000000" flipH="1">
              <a:off x="8238253" y="6257851"/>
              <a:ext cx="79371" cy="19675"/>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7" name="直線接點 196">
              <a:extLst>
                <a:ext uri="{FF2B5EF4-FFF2-40B4-BE49-F238E27FC236}">
                  <a16:creationId xmlns:a16="http://schemas.microsoft.com/office/drawing/2014/main" id="{FAF2C6B4-CCA5-4E2F-93BE-AB340B7C56A2}"/>
                </a:ext>
              </a:extLst>
            </p:cNvPr>
            <p:cNvCxnSpPr>
              <a:cxnSpLocks/>
            </p:cNvCxnSpPr>
            <p:nvPr/>
          </p:nvCxnSpPr>
          <p:spPr>
            <a:xfrm rot="18000000" flipH="1" flipV="1">
              <a:off x="8119270" y="6159169"/>
              <a:ext cx="60163" cy="233942"/>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8" name="直線接點 197">
              <a:extLst>
                <a:ext uri="{FF2B5EF4-FFF2-40B4-BE49-F238E27FC236}">
                  <a16:creationId xmlns:a16="http://schemas.microsoft.com/office/drawing/2014/main" id="{EE2F3778-8FDD-48EB-991A-A130B6F52326}"/>
                </a:ext>
              </a:extLst>
            </p:cNvPr>
            <p:cNvCxnSpPr>
              <a:cxnSpLocks/>
            </p:cNvCxnSpPr>
            <p:nvPr/>
          </p:nvCxnSpPr>
          <p:spPr>
            <a:xfrm rot="18000000" flipH="1" flipV="1">
              <a:off x="7885068" y="6094464"/>
              <a:ext cx="62264" cy="2343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9" name="直線接點 198">
              <a:extLst>
                <a:ext uri="{FF2B5EF4-FFF2-40B4-BE49-F238E27FC236}">
                  <a16:creationId xmlns:a16="http://schemas.microsoft.com/office/drawing/2014/main" id="{12BA4E3F-BFC4-499F-939F-E7D59F3629F2}"/>
                </a:ext>
              </a:extLst>
            </p:cNvPr>
            <p:cNvCxnSpPr>
              <a:cxnSpLocks/>
            </p:cNvCxnSpPr>
            <p:nvPr/>
          </p:nvCxnSpPr>
          <p:spPr>
            <a:xfrm rot="18000000" flipV="1">
              <a:off x="7770492" y="6130389"/>
              <a:ext cx="77148" cy="2163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0" name="直線接點 199">
              <a:extLst>
                <a:ext uri="{FF2B5EF4-FFF2-40B4-BE49-F238E27FC236}">
                  <a16:creationId xmlns:a16="http://schemas.microsoft.com/office/drawing/2014/main" id="{72A83E92-66E6-4E3D-8D45-D8481E479E4D}"/>
                </a:ext>
              </a:extLst>
            </p:cNvPr>
            <p:cNvCxnSpPr>
              <a:cxnSpLocks/>
            </p:cNvCxnSpPr>
            <p:nvPr/>
          </p:nvCxnSpPr>
          <p:spPr>
            <a:xfrm rot="18000000" flipH="1" flipV="1">
              <a:off x="7622826" y="6103176"/>
              <a:ext cx="197520" cy="114039"/>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7" name="投影片編號版面配置區 6">
            <a:extLst>
              <a:ext uri="{FF2B5EF4-FFF2-40B4-BE49-F238E27FC236}">
                <a16:creationId xmlns:a16="http://schemas.microsoft.com/office/drawing/2014/main" id="{60C4A7DC-BAD0-452B-B15A-929414412A53}"/>
              </a:ext>
            </a:extLst>
          </p:cNvPr>
          <p:cNvSpPr>
            <a:spLocks noGrp="1"/>
          </p:cNvSpPr>
          <p:nvPr>
            <p:ph type="sldNum" sz="quarter" idx="12"/>
          </p:nvPr>
        </p:nvSpPr>
        <p:spPr/>
        <p:txBody>
          <a:bodyPr/>
          <a:lstStyle/>
          <a:p>
            <a:fld id="{9044CBB6-E20C-4076-82F9-F8F95241C54D}" type="slidenum">
              <a:rPr lang="zh-TW" altLang="en-US" smtClean="0">
                <a:solidFill>
                  <a:schemeClr val="tx1"/>
                </a:solidFill>
              </a:rPr>
              <a:t>18</a:t>
            </a:fld>
            <a:endParaRPr lang="zh-TW" altLang="en-US">
              <a:solidFill>
                <a:schemeClr val="tx1"/>
              </a:solidFill>
            </a:endParaRPr>
          </a:p>
        </p:txBody>
      </p:sp>
      <p:sp>
        <p:nvSpPr>
          <p:cNvPr id="114" name="文字方塊 113">
            <a:extLst>
              <a:ext uri="{FF2B5EF4-FFF2-40B4-BE49-F238E27FC236}">
                <a16:creationId xmlns:a16="http://schemas.microsoft.com/office/drawing/2014/main" id="{3CC93AA2-DA98-4535-976F-90F4234A810F}"/>
              </a:ext>
            </a:extLst>
          </p:cNvPr>
          <p:cNvSpPr txBox="1"/>
          <p:nvPr/>
        </p:nvSpPr>
        <p:spPr>
          <a:xfrm>
            <a:off x="727969" y="79659"/>
            <a:ext cx="5784469" cy="646331"/>
          </a:xfrm>
          <a:prstGeom prst="rect">
            <a:avLst/>
          </a:prstGeom>
          <a:noFill/>
        </p:spPr>
        <p:txBody>
          <a:bodyPr wrap="none" rtlCol="0">
            <a:spAutoFit/>
          </a:bodyPr>
          <a:lstStyle/>
          <a:p>
            <a:r>
              <a:rPr lang="en-US" altLang="zh-TW" sz="3600" b="1" i="1" kern="100" dirty="0">
                <a:latin typeface="Times New Roman" panose="02020603050405020304" pitchFamily="18" charset="0"/>
                <a:ea typeface="標楷體" panose="03000509000000000000" pitchFamily="65" charset="-120"/>
                <a:cs typeface="Times New Roman" panose="02020603050405020304" pitchFamily="18" charset="0"/>
              </a:rPr>
              <a:t>Simulated Annealing Method</a:t>
            </a:r>
            <a:endParaRPr lang="zh-TW" altLang="zh-TW" sz="3600" b="1" i="1" kern="1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890986592"/>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pic>
        <p:nvPicPr>
          <p:cNvPr id="9" name="圖片 8">
            <a:extLst>
              <a:ext uri="{FF2B5EF4-FFF2-40B4-BE49-F238E27FC236}">
                <a16:creationId xmlns:a16="http://schemas.microsoft.com/office/drawing/2014/main" id="{C250CC1D-C380-46F7-842D-4798808A1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778" y="4016433"/>
            <a:ext cx="3653647" cy="2740236"/>
          </a:xfrm>
          <a:prstGeom prst="roundRect">
            <a:avLst>
              <a:gd name="adj" fmla="val 8594"/>
            </a:avLst>
          </a:prstGeom>
          <a:solidFill>
            <a:srgbClr val="FFFFFF">
              <a:shade val="85000"/>
            </a:srgbClr>
          </a:solidFill>
          <a:ln>
            <a:noFill/>
          </a:ln>
          <a:effectLst/>
        </p:spPr>
      </p:pic>
      <p:sp>
        <p:nvSpPr>
          <p:cNvPr id="5" name="文字方塊 4">
            <a:extLst>
              <a:ext uri="{FF2B5EF4-FFF2-40B4-BE49-F238E27FC236}">
                <a16:creationId xmlns:a16="http://schemas.microsoft.com/office/drawing/2014/main" id="{F72851BB-ABA4-4705-AA6D-925D749F593D}"/>
              </a:ext>
            </a:extLst>
          </p:cNvPr>
          <p:cNvSpPr txBox="1"/>
          <p:nvPr/>
        </p:nvSpPr>
        <p:spPr>
          <a:xfrm>
            <a:off x="2904336" y="6568209"/>
            <a:ext cx="1486304"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8" name="文字方塊 57">
            <a:extLst>
              <a:ext uri="{FF2B5EF4-FFF2-40B4-BE49-F238E27FC236}">
                <a16:creationId xmlns:a16="http://schemas.microsoft.com/office/drawing/2014/main" id="{0A4F43D9-17F8-403C-A05C-4B940F60D2EC}"/>
              </a:ext>
            </a:extLst>
          </p:cNvPr>
          <p:cNvSpPr txBox="1"/>
          <p:nvPr/>
        </p:nvSpPr>
        <p:spPr>
          <a:xfrm rot="16200000">
            <a:off x="-647101" y="5251377"/>
            <a:ext cx="2524473"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TM</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polarization-Transmittance(A.U.)</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0" name="文字方塊 59">
            <a:extLst>
              <a:ext uri="{FF2B5EF4-FFF2-40B4-BE49-F238E27FC236}">
                <a16:creationId xmlns:a16="http://schemas.microsoft.com/office/drawing/2014/main" id="{9C61A0DA-DAAE-4F46-B204-19471F6BE11A}"/>
              </a:ext>
            </a:extLst>
          </p:cNvPr>
          <p:cNvSpPr txBox="1"/>
          <p:nvPr/>
        </p:nvSpPr>
        <p:spPr>
          <a:xfrm>
            <a:off x="3899372" y="4093561"/>
            <a:ext cx="881972"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1064.50nm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2" name="文字方塊 61">
            <a:extLst>
              <a:ext uri="{FF2B5EF4-FFF2-40B4-BE49-F238E27FC236}">
                <a16:creationId xmlns:a16="http://schemas.microsoft.com/office/drawing/2014/main" id="{EAB77B7A-AC69-4452-B0B2-981A98FCD90A}"/>
              </a:ext>
            </a:extLst>
          </p:cNvPr>
          <p:cNvSpPr txBox="1"/>
          <p:nvPr/>
        </p:nvSpPr>
        <p:spPr>
          <a:xfrm>
            <a:off x="3899373" y="4346301"/>
            <a:ext cx="881972"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1342.33nm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橢圓 6">
            <a:extLst>
              <a:ext uri="{FF2B5EF4-FFF2-40B4-BE49-F238E27FC236}">
                <a16:creationId xmlns:a16="http://schemas.microsoft.com/office/drawing/2014/main" id="{A47C692A-7943-4E18-90D7-759E0D629FE6}"/>
              </a:ext>
            </a:extLst>
          </p:cNvPr>
          <p:cNvSpPr/>
          <p:nvPr/>
        </p:nvSpPr>
        <p:spPr>
          <a:xfrm>
            <a:off x="3824968" y="4194059"/>
            <a:ext cx="92654" cy="92654"/>
          </a:xfrm>
          <a:prstGeom prst="ellipse">
            <a:avLst/>
          </a:prstGeom>
          <a:solidFill>
            <a:srgbClr val="FF0000"/>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6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3" name="橢圓 62">
            <a:extLst>
              <a:ext uri="{FF2B5EF4-FFF2-40B4-BE49-F238E27FC236}">
                <a16:creationId xmlns:a16="http://schemas.microsoft.com/office/drawing/2014/main" id="{FB78A37C-ADFD-466C-9E5C-C60EBBC8EF19}"/>
              </a:ext>
            </a:extLst>
          </p:cNvPr>
          <p:cNvSpPr/>
          <p:nvPr/>
        </p:nvSpPr>
        <p:spPr>
          <a:xfrm>
            <a:off x="3827308" y="4427266"/>
            <a:ext cx="92654" cy="92654"/>
          </a:xfrm>
          <a:prstGeom prst="ellipse">
            <a:avLst/>
          </a:prstGeom>
          <a:solidFill>
            <a:srgbClr val="0000FF"/>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29" name="圖片 28">
            <a:extLst>
              <a:ext uri="{FF2B5EF4-FFF2-40B4-BE49-F238E27FC236}">
                <a16:creationId xmlns:a16="http://schemas.microsoft.com/office/drawing/2014/main" id="{572E3D0F-46B5-4615-9EEF-3402391C8B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6370" y="1064921"/>
            <a:ext cx="2987528" cy="2240645"/>
          </a:xfrm>
          <a:prstGeom prst="rect">
            <a:avLst/>
          </a:prstGeom>
          <a:ln>
            <a:noFill/>
          </a:ln>
          <a:effectLst>
            <a:outerShdw blurRad="292100" dist="139700" dir="2700000" algn="tl" rotWithShape="0">
              <a:srgbClr val="333333">
                <a:alpha val="65000"/>
              </a:srgbClr>
            </a:outerShdw>
          </a:effectLst>
        </p:spPr>
      </p:pic>
      <p:sp>
        <p:nvSpPr>
          <p:cNvPr id="70" name="文字方塊 69">
            <a:extLst>
              <a:ext uri="{FF2B5EF4-FFF2-40B4-BE49-F238E27FC236}">
                <a16:creationId xmlns:a16="http://schemas.microsoft.com/office/drawing/2014/main" id="{C602C3B2-C038-44DE-BCFA-A9CB01F9D0D4}"/>
              </a:ext>
            </a:extLst>
          </p:cNvPr>
          <p:cNvSpPr txBox="1"/>
          <p:nvPr/>
        </p:nvSpPr>
        <p:spPr>
          <a:xfrm>
            <a:off x="7798177" y="3107307"/>
            <a:ext cx="1093569"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Wavelength(nm)</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1" name="文字方塊 70">
            <a:extLst>
              <a:ext uri="{FF2B5EF4-FFF2-40B4-BE49-F238E27FC236}">
                <a16:creationId xmlns:a16="http://schemas.microsoft.com/office/drawing/2014/main" id="{B4B68B82-9757-4CE0-9685-23017BD809D2}"/>
              </a:ext>
            </a:extLst>
          </p:cNvPr>
          <p:cNvSpPr txBox="1"/>
          <p:nvPr/>
        </p:nvSpPr>
        <p:spPr>
          <a:xfrm rot="16200000">
            <a:off x="5299494" y="2058285"/>
            <a:ext cx="1303562"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文字方塊 32">
            <a:extLst>
              <a:ext uri="{FF2B5EF4-FFF2-40B4-BE49-F238E27FC236}">
                <a16:creationId xmlns:a16="http://schemas.microsoft.com/office/drawing/2014/main" id="{64558837-3EB0-4188-9413-C58DAB1690E2}"/>
              </a:ext>
            </a:extLst>
          </p:cNvPr>
          <p:cNvSpPr txBox="1"/>
          <p:nvPr/>
        </p:nvSpPr>
        <p:spPr>
          <a:xfrm>
            <a:off x="6707380" y="5544765"/>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233V/mm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4" name="文字方塊 73">
            <a:extLst>
              <a:ext uri="{FF2B5EF4-FFF2-40B4-BE49-F238E27FC236}">
                <a16:creationId xmlns:a16="http://schemas.microsoft.com/office/drawing/2014/main" id="{CA9ED16D-1134-49A1-99AC-23582F1C2836}"/>
              </a:ext>
            </a:extLst>
          </p:cNvPr>
          <p:cNvSpPr txBox="1"/>
          <p:nvPr/>
        </p:nvSpPr>
        <p:spPr>
          <a:xfrm>
            <a:off x="9822566" y="5538868"/>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822V/mm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5" name="文字方塊 74">
            <a:extLst>
              <a:ext uri="{FF2B5EF4-FFF2-40B4-BE49-F238E27FC236}">
                <a16:creationId xmlns:a16="http://schemas.microsoft.com/office/drawing/2014/main" id="{F1423490-ACBF-4F47-B69E-FAB2046C5A69}"/>
              </a:ext>
            </a:extLst>
          </p:cNvPr>
          <p:cNvSpPr txBox="1"/>
          <p:nvPr/>
        </p:nvSpPr>
        <p:spPr>
          <a:xfrm>
            <a:off x="438380" y="732139"/>
            <a:ext cx="2091290" cy="369332"/>
          </a:xfrm>
          <a:prstGeom prst="rect">
            <a:avLst/>
          </a:prstGeom>
          <a:noFill/>
        </p:spPr>
        <p:txBody>
          <a:bodyPr wrap="square" rtlCol="0">
            <a:spAutoFit/>
          </a:bodyPr>
          <a:lstStyle/>
          <a:p>
            <a:r>
              <a:rPr lang="en-US" altLang="zh-TW" b="1" i="1" u="sng" dirty="0">
                <a:latin typeface="Times New Roman" panose="02020603050405020304" pitchFamily="18" charset="0"/>
                <a:ea typeface="標楷體" panose="03000509000000000000" pitchFamily="65" charset="-120"/>
                <a:cs typeface="Times New Roman" panose="02020603050405020304" pitchFamily="18" charset="0"/>
              </a:rPr>
              <a:t>Device design result</a:t>
            </a:r>
            <a:endParaRPr lang="zh-TW" altLang="en-US" b="1" i="1" u="sng"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DF720C0C-2891-4D92-89F3-0E8C84DAB402}"/>
              </a:ext>
            </a:extLst>
          </p:cNvPr>
          <p:cNvSpPr>
            <a:spLocks noGrp="1"/>
          </p:cNvSpPr>
          <p:nvPr>
            <p:ph type="sldNum" sz="quarter" idx="12"/>
          </p:nvPr>
        </p:nvSpPr>
        <p:spPr/>
        <p:txBody>
          <a:bodyPr/>
          <a:lstStyle/>
          <a:p>
            <a:fld id="{9044CBB6-E20C-4076-82F9-F8F95241C54D}" type="slidenum">
              <a:rPr lang="zh-TW" altLang="en-US" smtClean="0">
                <a:solidFill>
                  <a:schemeClr val="tx1"/>
                </a:solidFill>
              </a:rPr>
              <a:t>19</a:t>
            </a:fld>
            <a:endParaRPr lang="zh-TW" altLang="en-US">
              <a:solidFill>
                <a:schemeClr val="tx1"/>
              </a:solidFill>
            </a:endParaRPr>
          </a:p>
        </p:txBody>
      </p:sp>
      <p:pic>
        <p:nvPicPr>
          <p:cNvPr id="11" name="圖片 10">
            <a:extLst>
              <a:ext uri="{FF2B5EF4-FFF2-40B4-BE49-F238E27FC236}">
                <a16:creationId xmlns:a16="http://schemas.microsoft.com/office/drawing/2014/main" id="{306F0924-88FE-4912-B63A-47095E7E8C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1973" y="3305565"/>
            <a:ext cx="2985600" cy="2239200"/>
          </a:xfrm>
          <a:prstGeom prst="rect">
            <a:avLst/>
          </a:prstGeom>
          <a:ln>
            <a:noFill/>
          </a:ln>
          <a:effectLst>
            <a:outerShdw blurRad="292100" dist="139700" dir="2700000" algn="tl" rotWithShape="0">
              <a:srgbClr val="333333">
                <a:alpha val="65000"/>
              </a:srgbClr>
            </a:outerShdw>
          </a:effectLst>
        </p:spPr>
      </p:pic>
      <p:pic>
        <p:nvPicPr>
          <p:cNvPr id="13" name="圖片 12">
            <a:extLst>
              <a:ext uri="{FF2B5EF4-FFF2-40B4-BE49-F238E27FC236}">
                <a16:creationId xmlns:a16="http://schemas.microsoft.com/office/drawing/2014/main" id="{F4041244-3326-4CEB-8C29-3E5EA25C77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93673" y="1066365"/>
            <a:ext cx="2985600" cy="2239200"/>
          </a:xfrm>
          <a:prstGeom prst="rect">
            <a:avLst/>
          </a:prstGeom>
          <a:ln>
            <a:noFill/>
          </a:ln>
          <a:effectLst>
            <a:outerShdw blurRad="292100" dist="139700" dir="2700000" algn="tl" rotWithShape="0">
              <a:srgbClr val="333333">
                <a:alpha val="65000"/>
              </a:srgbClr>
            </a:outerShdw>
          </a:effectLst>
        </p:spPr>
      </p:pic>
      <p:sp>
        <p:nvSpPr>
          <p:cNvPr id="31" name="文字方塊 30">
            <a:extLst>
              <a:ext uri="{FF2B5EF4-FFF2-40B4-BE49-F238E27FC236}">
                <a16:creationId xmlns:a16="http://schemas.microsoft.com/office/drawing/2014/main" id="{FD7DA314-3907-4335-A7BD-0E252B39E658}"/>
              </a:ext>
            </a:extLst>
          </p:cNvPr>
          <p:cNvSpPr txBox="1"/>
          <p:nvPr/>
        </p:nvSpPr>
        <p:spPr>
          <a:xfrm>
            <a:off x="7804273" y="5346495"/>
            <a:ext cx="1093569"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Wavelength(nm)</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文字方塊 31">
            <a:extLst>
              <a:ext uri="{FF2B5EF4-FFF2-40B4-BE49-F238E27FC236}">
                <a16:creationId xmlns:a16="http://schemas.microsoft.com/office/drawing/2014/main" id="{190409E6-74EF-474C-9E92-54BF3552183C}"/>
              </a:ext>
            </a:extLst>
          </p:cNvPr>
          <p:cNvSpPr txBox="1"/>
          <p:nvPr/>
        </p:nvSpPr>
        <p:spPr>
          <a:xfrm rot="16200000">
            <a:off x="5305590" y="4297473"/>
            <a:ext cx="1303562"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文字方塊 33">
            <a:extLst>
              <a:ext uri="{FF2B5EF4-FFF2-40B4-BE49-F238E27FC236}">
                <a16:creationId xmlns:a16="http://schemas.microsoft.com/office/drawing/2014/main" id="{E7F796CE-6487-43C9-8794-504C2BA3FF81}"/>
              </a:ext>
            </a:extLst>
          </p:cNvPr>
          <p:cNvSpPr txBox="1"/>
          <p:nvPr/>
        </p:nvSpPr>
        <p:spPr>
          <a:xfrm>
            <a:off x="10902418" y="3107295"/>
            <a:ext cx="1093569"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Wavelength(nm)</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 name="文字方塊 34">
            <a:extLst>
              <a:ext uri="{FF2B5EF4-FFF2-40B4-BE49-F238E27FC236}">
                <a16:creationId xmlns:a16="http://schemas.microsoft.com/office/drawing/2014/main" id="{7815187C-0117-4721-9FDC-CDD6AAAA59BA}"/>
              </a:ext>
            </a:extLst>
          </p:cNvPr>
          <p:cNvSpPr txBox="1"/>
          <p:nvPr/>
        </p:nvSpPr>
        <p:spPr>
          <a:xfrm rot="16200000">
            <a:off x="8403735" y="2058273"/>
            <a:ext cx="1303562"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24" name="圖片 23">
            <a:extLst>
              <a:ext uri="{FF2B5EF4-FFF2-40B4-BE49-F238E27FC236}">
                <a16:creationId xmlns:a16="http://schemas.microsoft.com/office/drawing/2014/main" id="{8F22189D-BA99-40E0-93E4-7CD06F591F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91746" y="3305732"/>
            <a:ext cx="2987527" cy="2240645"/>
          </a:xfrm>
          <a:prstGeom prst="rect">
            <a:avLst/>
          </a:prstGeom>
          <a:ln>
            <a:noFill/>
          </a:ln>
          <a:effectLst>
            <a:outerShdw blurRad="292100" dist="139700" dir="2700000" algn="tl" rotWithShape="0">
              <a:srgbClr val="333333">
                <a:alpha val="65000"/>
              </a:srgbClr>
            </a:outerShdw>
          </a:effectLst>
        </p:spPr>
      </p:pic>
      <p:sp>
        <p:nvSpPr>
          <p:cNvPr id="72" name="文字方塊 71">
            <a:extLst>
              <a:ext uri="{FF2B5EF4-FFF2-40B4-BE49-F238E27FC236}">
                <a16:creationId xmlns:a16="http://schemas.microsoft.com/office/drawing/2014/main" id="{11CF49DE-4A93-4900-84BA-CDE1953AE45E}"/>
              </a:ext>
            </a:extLst>
          </p:cNvPr>
          <p:cNvSpPr txBox="1"/>
          <p:nvPr/>
        </p:nvSpPr>
        <p:spPr>
          <a:xfrm>
            <a:off x="10897363" y="5339240"/>
            <a:ext cx="1093569"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Wavelength(nm)</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3" name="文字方塊 72">
            <a:extLst>
              <a:ext uri="{FF2B5EF4-FFF2-40B4-BE49-F238E27FC236}">
                <a16:creationId xmlns:a16="http://schemas.microsoft.com/office/drawing/2014/main" id="{75B98C78-048E-455A-A2BD-66EE078AF9EA}"/>
              </a:ext>
            </a:extLst>
          </p:cNvPr>
          <p:cNvSpPr txBox="1"/>
          <p:nvPr/>
        </p:nvSpPr>
        <p:spPr>
          <a:xfrm rot="16200000">
            <a:off x="8398680" y="4290218"/>
            <a:ext cx="1303562"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橢圓 27">
            <a:extLst>
              <a:ext uri="{FF2B5EF4-FFF2-40B4-BE49-F238E27FC236}">
                <a16:creationId xmlns:a16="http://schemas.microsoft.com/office/drawing/2014/main" id="{6D85AD12-170E-4683-86C0-024560207494}"/>
              </a:ext>
            </a:extLst>
          </p:cNvPr>
          <p:cNvSpPr/>
          <p:nvPr/>
        </p:nvSpPr>
        <p:spPr>
          <a:xfrm>
            <a:off x="841090" y="4146047"/>
            <a:ext cx="168153" cy="168153"/>
          </a:xfrm>
          <a:prstGeom prst="ellipse">
            <a:avLst/>
          </a:prstGeom>
          <a:solidFill>
            <a:srgbClr val="FF0000"/>
          </a:solidFill>
          <a:ln>
            <a:noFill/>
          </a:ln>
          <a:scene3d>
            <a:camera prst="orthographicFront"/>
            <a:lightRig rig="threePt" dir="t"/>
          </a:scene3d>
          <a:sp3d>
            <a:bevelT w="85090" h="85090"/>
            <a:bevelB w="85090" h="850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30" name="橢圓 29">
            <a:extLst>
              <a:ext uri="{FF2B5EF4-FFF2-40B4-BE49-F238E27FC236}">
                <a16:creationId xmlns:a16="http://schemas.microsoft.com/office/drawing/2014/main" id="{3E65F977-2895-4F23-937D-153D74CD5A12}"/>
              </a:ext>
            </a:extLst>
          </p:cNvPr>
          <p:cNvSpPr/>
          <p:nvPr/>
        </p:nvSpPr>
        <p:spPr>
          <a:xfrm>
            <a:off x="841090" y="4152515"/>
            <a:ext cx="168153" cy="168153"/>
          </a:xfrm>
          <a:prstGeom prst="ellipse">
            <a:avLst/>
          </a:prstGeom>
          <a:solidFill>
            <a:srgbClr val="0000FF"/>
          </a:solidFill>
          <a:ln>
            <a:noFill/>
          </a:ln>
          <a:scene3d>
            <a:camera prst="orthographicFront"/>
            <a:lightRig rig="threePt" dir="t"/>
          </a:scene3d>
          <a:sp3d>
            <a:bevelT w="85090" h="85090"/>
            <a:bevelB w="85090" h="850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cxnSp>
        <p:nvCxnSpPr>
          <p:cNvPr id="37" name="直線接點 36">
            <a:extLst>
              <a:ext uri="{FF2B5EF4-FFF2-40B4-BE49-F238E27FC236}">
                <a16:creationId xmlns:a16="http://schemas.microsoft.com/office/drawing/2014/main" id="{AC888A44-DE78-4925-9BCD-3D8259A19498}"/>
              </a:ext>
            </a:extLst>
          </p:cNvPr>
          <p:cNvCxnSpPr>
            <a:cxnSpLocks/>
          </p:cNvCxnSpPr>
          <p:nvPr/>
        </p:nvCxnSpPr>
        <p:spPr>
          <a:xfrm>
            <a:off x="1574344" y="4046656"/>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B545E94D-5500-48F2-8AB5-EEF92F130CDB}"/>
              </a:ext>
            </a:extLst>
          </p:cNvPr>
          <p:cNvCxnSpPr>
            <a:cxnSpLocks/>
          </p:cNvCxnSpPr>
          <p:nvPr/>
        </p:nvCxnSpPr>
        <p:spPr>
          <a:xfrm>
            <a:off x="3238552" y="4046656"/>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572627AF-9BE4-4EFF-939F-96BAA33F4AA4}"/>
              </a:ext>
            </a:extLst>
          </p:cNvPr>
          <p:cNvCxnSpPr>
            <a:cxnSpLocks/>
          </p:cNvCxnSpPr>
          <p:nvPr/>
        </p:nvCxnSpPr>
        <p:spPr>
          <a:xfrm>
            <a:off x="903784" y="4044935"/>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2B401FE4-2BE9-45D0-8A75-483FE53555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7778" y="1067548"/>
            <a:ext cx="3652800" cy="2739600"/>
          </a:xfrm>
          <a:prstGeom prst="rect">
            <a:avLst/>
          </a:prstGeom>
        </p:spPr>
      </p:pic>
      <p:cxnSp>
        <p:nvCxnSpPr>
          <p:cNvPr id="40" name="直線接點 39">
            <a:extLst>
              <a:ext uri="{FF2B5EF4-FFF2-40B4-BE49-F238E27FC236}">
                <a16:creationId xmlns:a16="http://schemas.microsoft.com/office/drawing/2014/main" id="{63338B62-9BEE-4A79-ADF8-E929981FF4F2}"/>
              </a:ext>
            </a:extLst>
          </p:cNvPr>
          <p:cNvCxnSpPr>
            <a:cxnSpLocks/>
          </p:cNvCxnSpPr>
          <p:nvPr/>
        </p:nvCxnSpPr>
        <p:spPr>
          <a:xfrm>
            <a:off x="1164996" y="1162499"/>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289892EC-5FCC-4BB7-A2B9-DB5DCD347551}"/>
              </a:ext>
            </a:extLst>
          </p:cNvPr>
          <p:cNvSpPr txBox="1"/>
          <p:nvPr/>
        </p:nvSpPr>
        <p:spPr>
          <a:xfrm>
            <a:off x="2884605" y="3607125"/>
            <a:ext cx="1486304"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2" name="文字方塊 41">
            <a:extLst>
              <a:ext uri="{FF2B5EF4-FFF2-40B4-BE49-F238E27FC236}">
                <a16:creationId xmlns:a16="http://schemas.microsoft.com/office/drawing/2014/main" id="{9BFB89CE-2863-466E-A73B-C46AE255AFE3}"/>
              </a:ext>
            </a:extLst>
          </p:cNvPr>
          <p:cNvSpPr txBox="1"/>
          <p:nvPr/>
        </p:nvSpPr>
        <p:spPr>
          <a:xfrm rot="16200000">
            <a:off x="-666832" y="2290293"/>
            <a:ext cx="2524473"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TM</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polarization-Transmittance(A.U.)</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3" name="文字方塊 42">
            <a:extLst>
              <a:ext uri="{FF2B5EF4-FFF2-40B4-BE49-F238E27FC236}">
                <a16:creationId xmlns:a16="http://schemas.microsoft.com/office/drawing/2014/main" id="{DAF8CB6B-FBF9-4C09-972A-103FE3F0C49C}"/>
              </a:ext>
            </a:extLst>
          </p:cNvPr>
          <p:cNvSpPr txBox="1"/>
          <p:nvPr/>
        </p:nvSpPr>
        <p:spPr>
          <a:xfrm>
            <a:off x="3879641" y="1132477"/>
            <a:ext cx="881972"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1064.50nm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4" name="文字方塊 43">
            <a:extLst>
              <a:ext uri="{FF2B5EF4-FFF2-40B4-BE49-F238E27FC236}">
                <a16:creationId xmlns:a16="http://schemas.microsoft.com/office/drawing/2014/main" id="{D05BB55D-9C02-46CB-96AC-4FEABC12B544}"/>
              </a:ext>
            </a:extLst>
          </p:cNvPr>
          <p:cNvSpPr txBox="1"/>
          <p:nvPr/>
        </p:nvSpPr>
        <p:spPr>
          <a:xfrm>
            <a:off x="3879642" y="1385217"/>
            <a:ext cx="881972"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1342.33nm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5" name="橢圓 44">
            <a:extLst>
              <a:ext uri="{FF2B5EF4-FFF2-40B4-BE49-F238E27FC236}">
                <a16:creationId xmlns:a16="http://schemas.microsoft.com/office/drawing/2014/main" id="{BE753515-BAAA-4DE8-AEC7-6BDFBFFB0E8C}"/>
              </a:ext>
            </a:extLst>
          </p:cNvPr>
          <p:cNvSpPr/>
          <p:nvPr/>
        </p:nvSpPr>
        <p:spPr>
          <a:xfrm>
            <a:off x="3805237" y="1232975"/>
            <a:ext cx="92654" cy="92654"/>
          </a:xfrm>
          <a:prstGeom prst="ellipse">
            <a:avLst/>
          </a:prstGeom>
          <a:solidFill>
            <a:srgbClr val="FF0000"/>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6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6" name="橢圓 45">
            <a:extLst>
              <a:ext uri="{FF2B5EF4-FFF2-40B4-BE49-F238E27FC236}">
                <a16:creationId xmlns:a16="http://schemas.microsoft.com/office/drawing/2014/main" id="{28E1EACA-F97C-492D-BB23-D44747DECCAD}"/>
              </a:ext>
            </a:extLst>
          </p:cNvPr>
          <p:cNvSpPr/>
          <p:nvPr/>
        </p:nvSpPr>
        <p:spPr>
          <a:xfrm>
            <a:off x="3807577" y="1466182"/>
            <a:ext cx="92654" cy="92654"/>
          </a:xfrm>
          <a:prstGeom prst="ellipse">
            <a:avLst/>
          </a:prstGeom>
          <a:solidFill>
            <a:srgbClr val="0000FF"/>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7" name="文字方塊 46">
            <a:extLst>
              <a:ext uri="{FF2B5EF4-FFF2-40B4-BE49-F238E27FC236}">
                <a16:creationId xmlns:a16="http://schemas.microsoft.com/office/drawing/2014/main" id="{3CC93AA2-DA98-4535-976F-90F4234A810F}"/>
              </a:ext>
            </a:extLst>
          </p:cNvPr>
          <p:cNvSpPr txBox="1"/>
          <p:nvPr/>
        </p:nvSpPr>
        <p:spPr>
          <a:xfrm>
            <a:off x="727969" y="79659"/>
            <a:ext cx="5784469" cy="646331"/>
          </a:xfrm>
          <a:prstGeom prst="rect">
            <a:avLst/>
          </a:prstGeom>
          <a:noFill/>
        </p:spPr>
        <p:txBody>
          <a:bodyPr wrap="none" rtlCol="0">
            <a:spAutoFit/>
          </a:bodyPr>
          <a:lstStyle/>
          <a:p>
            <a:r>
              <a:rPr lang="en-US" altLang="zh-TW" sz="3600" b="1" i="1" kern="100" dirty="0">
                <a:latin typeface="Times New Roman" panose="02020603050405020304" pitchFamily="18" charset="0"/>
                <a:ea typeface="標楷體" panose="03000509000000000000" pitchFamily="65" charset="-120"/>
                <a:cs typeface="Times New Roman" panose="02020603050405020304" pitchFamily="18" charset="0"/>
              </a:rPr>
              <a:t>Simulated Annealing Method</a:t>
            </a:r>
            <a:endParaRPr lang="zh-TW" altLang="zh-TW" sz="3600" b="1" i="1" kern="1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63582862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0" nodeType="clickEffect">
                                  <p:stCondLst>
                                    <p:cond delay="0"/>
                                  </p:stCondLst>
                                  <p:childTnLst>
                                    <p:animMotion origin="layout" path="M -0.00091 -0.00162 C 0.00104 1.85185E-6 0.00313 0.00162 0.00612 0.04491 C 0.00912 0.08842 0.01341 0.2118 0.01693 0.25833 C 0.02044 0.30509 0.02305 0.34004 0.02695 0.325 C 0.03086 0.30995 0.03698 0.21759 0.04024 0.16805 C 0.04362 0.11852 0.04492 0.05625 0.04701 0.02801 C 0.04909 -0.00046 0.05091 -0.00139 0.05287 -0.00232 " pathEditMode="relative" rAng="0" ptsTypes="AAAAAAA">
                                      <p:cBhvr>
                                        <p:cTn id="11" dur="2000" fill="hold"/>
                                        <p:tgtEl>
                                          <p:spTgt spid="28"/>
                                        </p:tgtEl>
                                        <p:attrNameLst>
                                          <p:attrName>ppt_x</p:attrName>
                                          <p:attrName>ppt_y</p:attrName>
                                        </p:attrNameLst>
                                      </p:cBhvr>
                                      <p:rCtr x="2682" y="16458"/>
                                    </p:animMotion>
                                  </p:childTnLst>
                                </p:cTn>
                              </p:par>
                              <p:par>
                                <p:cTn id="12" presetID="10" presetClass="exit" presetSubtype="0" fill="hold" nodeType="withEffect">
                                  <p:stCondLst>
                                    <p:cond delay="0"/>
                                  </p:stCondLst>
                                  <p:childTnLst>
                                    <p:animEffect transition="out" filter="fade">
                                      <p:cBhvr>
                                        <p:cTn id="13" dur="500"/>
                                        <p:tgtEl>
                                          <p:spTgt spid="39"/>
                                        </p:tgtEl>
                                      </p:cBhvr>
                                    </p:animEffect>
                                    <p:set>
                                      <p:cBhvr>
                                        <p:cTn id="14" dur="1" fill="hold">
                                          <p:stCondLst>
                                            <p:cond delay="499"/>
                                          </p:stCondLst>
                                        </p:cTn>
                                        <p:tgtEl>
                                          <p:spTgt spid="39"/>
                                        </p:tgtEl>
                                        <p:attrNameLst>
                                          <p:attrName>style.visibility</p:attrName>
                                        </p:attrNameLst>
                                      </p:cBhvr>
                                      <p:to>
                                        <p:strVal val="hidden"/>
                                      </p:to>
                                    </p:set>
                                  </p:childTnLst>
                                </p:cTn>
                              </p:par>
                              <p:par>
                                <p:cTn id="15" presetID="0" presetClass="path" presetSubtype="0" accel="50000" decel="50000" fill="hold" grpId="0" nodeType="withEffect">
                                  <p:stCondLst>
                                    <p:cond delay="0"/>
                                  </p:stCondLst>
                                  <p:childTnLst>
                                    <p:animMotion origin="layout" path="M -0.00039 -0.00185 C 0.00313 0.00255 0.00677 0.00695 0.01198 0.04954 C 0.01732 0.09237 0.02565 0.2088 0.03099 0.25394 C 0.03646 0.29931 0.04102 0.3125 0.04453 0.32153 C 0.04818 0.33056 0.05039 0.31945 0.05261 0.30834 " pathEditMode="relative" rAng="0" ptsTypes="AAAAA">
                                      <p:cBhvr>
                                        <p:cTn id="16" dur="2000" fill="hold"/>
                                        <p:tgtEl>
                                          <p:spTgt spid="30"/>
                                        </p:tgtEl>
                                        <p:attrNameLst>
                                          <p:attrName>ppt_x</p:attrName>
                                          <p:attrName>ppt_y</p:attrName>
                                        </p:attrNameLst>
                                      </p:cBhvr>
                                      <p:rCtr x="2643" y="16319"/>
                                    </p:animMotion>
                                  </p:childTnLst>
                                </p:cTn>
                              </p:par>
                              <p:par>
                                <p:cTn id="17" presetID="10"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grpId="1" nodeType="clickEffect">
                                  <p:stCondLst>
                                    <p:cond delay="0"/>
                                  </p:stCondLst>
                                  <p:childTnLst>
                                    <p:animMotion origin="layout" path="M 0.05156 -0.00301 L 0.0586 0.01921 L 0.06615 0.16366 L 0.07565 0.31319 L 0.08021 0.32361 L 0.09362 0.18356 L 0.10104 0.01481 L 0.10729 -0.00371 L 0.11654 0.05185 L 0.12526 0.24583 L 0.13229 0.32592 L 0.13659 0.31481 " pathEditMode="relative" rAng="0" ptsTypes="AAAAAAAAAAAA">
                                      <p:cBhvr>
                                        <p:cTn id="23" dur="2000" fill="hold"/>
                                        <p:tgtEl>
                                          <p:spTgt spid="28"/>
                                        </p:tgtEl>
                                        <p:attrNameLst>
                                          <p:attrName>ppt_x</p:attrName>
                                          <p:attrName>ppt_y</p:attrName>
                                        </p:attrNameLst>
                                      </p:cBhvr>
                                      <p:rCtr x="4245" y="16412"/>
                                    </p:animMotion>
                                  </p:childTnLst>
                                </p:cTn>
                              </p:par>
                              <p:par>
                                <p:cTn id="24" presetID="10" presetClass="exit" presetSubtype="0" fill="hold" nodeType="withEffect">
                                  <p:stCondLst>
                                    <p:cond delay="0"/>
                                  </p:stCondLst>
                                  <p:childTnLst>
                                    <p:animEffect transition="out" filter="fade">
                                      <p:cBhvr>
                                        <p:cTn id="25" dur="500"/>
                                        <p:tgtEl>
                                          <p:spTgt spid="37"/>
                                        </p:tgtEl>
                                      </p:cBhvr>
                                    </p:animEffect>
                                    <p:set>
                                      <p:cBhvr>
                                        <p:cTn id="26" dur="1" fill="hold">
                                          <p:stCondLst>
                                            <p:cond delay="499"/>
                                          </p:stCondLst>
                                        </p:cTn>
                                        <p:tgtEl>
                                          <p:spTgt spid="37"/>
                                        </p:tgtEl>
                                        <p:attrNameLst>
                                          <p:attrName>style.visibility</p:attrName>
                                        </p:attrNameLst>
                                      </p:cBhvr>
                                      <p:to>
                                        <p:strVal val="hidden"/>
                                      </p:to>
                                    </p:set>
                                  </p:childTnLst>
                                </p:cTn>
                              </p:par>
                              <p:par>
                                <p:cTn id="27" presetID="0" presetClass="path" presetSubtype="0" accel="50000" decel="50000" fill="hold" grpId="1" nodeType="withEffect">
                                  <p:stCondLst>
                                    <p:cond delay="0"/>
                                  </p:stCondLst>
                                  <p:childTnLst>
                                    <p:animMotion origin="layout" path="M 0.05208 0.30834 L 0.06901 0.1875 L 0.07956 0.05764 L 0.09011 0.0007 L 0.0961 -0.00092 L 0.10951 0.06204 L 0.125 0.23357 L 0.13151 0.28866 L 0.13763 0.31551 " pathEditMode="relative" rAng="0" ptsTypes="AAAAAAAAA">
                                      <p:cBhvr>
                                        <p:cTn id="28" dur="2000" fill="hold"/>
                                        <p:tgtEl>
                                          <p:spTgt spid="30"/>
                                        </p:tgtEl>
                                        <p:attrNameLst>
                                          <p:attrName>ppt_x</p:attrName>
                                          <p:attrName>ppt_y</p:attrName>
                                        </p:attrNameLst>
                                      </p:cBhvr>
                                      <p:rCtr x="4271" y="-15116"/>
                                    </p:animMotion>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2" nodeType="clickEffect">
                                  <p:stCondLst>
                                    <p:cond delay="0"/>
                                  </p:stCondLst>
                                  <p:childTnLst>
                                    <p:animMotion origin="layout" path="M 0.13464 0.31736 L 0.14401 0.25416 L 0.15352 0.03449 L 0.16055 -0.00278 L 0.1655 0.01666 L 0.18008 0.25046 L 0.18503 0.31551 L 0.19011 0.32361 " pathEditMode="relative" rAng="0" ptsTypes="AAAAAAAA">
                                      <p:cBhvr>
                                        <p:cTn id="32" dur="2000" fill="hold"/>
                                        <p:tgtEl>
                                          <p:spTgt spid="28"/>
                                        </p:tgtEl>
                                        <p:attrNameLst>
                                          <p:attrName>ppt_x</p:attrName>
                                          <p:attrName>ppt_y</p:attrName>
                                        </p:attrNameLst>
                                      </p:cBhvr>
                                      <p:rCtr x="2773" y="-15694"/>
                                    </p:animMotion>
                                  </p:childTnLst>
                                </p:cTn>
                              </p:par>
                              <p:par>
                                <p:cTn id="33" presetID="10"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par>
                                <p:cTn id="36" presetID="0" presetClass="path" presetSubtype="0" accel="50000" decel="50000" fill="hold" grpId="2" nodeType="withEffect">
                                  <p:stCondLst>
                                    <p:cond delay="0"/>
                                  </p:stCondLst>
                                  <p:childTnLst>
                                    <p:animMotion origin="layout" path="M 0.13711 0.31459 L 0.14258 0.32362 L 0.15052 0.29862 L 0.17357 0.09306 L 0.18203 0.01042 L 0.18906 -0.00277 " pathEditMode="relative" rAng="0" ptsTypes="AAAAAA">
                                      <p:cBhvr>
                                        <p:cTn id="37" dur="2000" fill="hold"/>
                                        <p:tgtEl>
                                          <p:spTgt spid="30"/>
                                        </p:tgtEl>
                                        <p:attrNameLst>
                                          <p:attrName>ppt_x</p:attrName>
                                          <p:attrName>ppt_y</p:attrName>
                                        </p:attrNameLst>
                                      </p:cBhvr>
                                      <p:rCtr x="2591" y="-1541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8" grpId="1" animBg="1"/>
      <p:bldP spid="28" grpId="2" animBg="1"/>
      <p:bldP spid="30" grpId="0" animBg="1"/>
      <p:bldP spid="30" grpId="1" animBg="1"/>
      <p:bldP spid="30" grpId="2"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57" name="直線接點 56">
            <a:extLst>
              <a:ext uri="{FF2B5EF4-FFF2-40B4-BE49-F238E27FC236}">
                <a16:creationId xmlns:a16="http://schemas.microsoft.com/office/drawing/2014/main" id="{F5E65E26-026E-4447-887B-2D5302D4110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8" name="文字方塊 57">
            <a:extLst>
              <a:ext uri="{FF2B5EF4-FFF2-40B4-BE49-F238E27FC236}">
                <a16:creationId xmlns:a16="http://schemas.microsoft.com/office/drawing/2014/main" id="{AC422012-1E65-4DB1-AA8B-1566355C4D8F}"/>
              </a:ext>
            </a:extLst>
          </p:cNvPr>
          <p:cNvSpPr txBox="1"/>
          <p:nvPr/>
        </p:nvSpPr>
        <p:spPr>
          <a:xfrm>
            <a:off x="727969" y="79659"/>
            <a:ext cx="4493538" cy="646331"/>
          </a:xfrm>
          <a:prstGeom prst="rect">
            <a:avLst/>
          </a:prstGeom>
          <a:noFill/>
        </p:spPr>
        <p:txBody>
          <a:bodyPr wrap="none" rtlCol="0">
            <a:spAutoFit/>
          </a:bodyPr>
          <a:lstStyle/>
          <a:p>
            <a:r>
              <a:rPr lang="en-US" altLang="zh-TW" sz="3600" b="1" i="1" kern="100" dirty="0">
                <a:latin typeface="Times New Roman" panose="02020603050405020304" pitchFamily="18" charset="0"/>
                <a:ea typeface="標楷體" panose="03000509000000000000" pitchFamily="65" charset="-120"/>
                <a:cs typeface="Times New Roman" panose="02020603050405020304" pitchFamily="18" charset="0"/>
              </a:rPr>
              <a:t>Round trip calculation</a:t>
            </a:r>
            <a:endParaRPr lang="zh-TW" altLang="zh-TW" sz="3600" b="1" i="1" kern="1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2" name="群組 1">
            <a:extLst>
              <a:ext uri="{FF2B5EF4-FFF2-40B4-BE49-F238E27FC236}">
                <a16:creationId xmlns:a16="http://schemas.microsoft.com/office/drawing/2014/main" id="{25C9F7AA-11D8-4E53-AD36-04AB618B28EC}"/>
              </a:ext>
            </a:extLst>
          </p:cNvPr>
          <p:cNvGrpSpPr/>
          <p:nvPr/>
        </p:nvGrpSpPr>
        <p:grpSpPr>
          <a:xfrm>
            <a:off x="722291" y="1382002"/>
            <a:ext cx="9916761" cy="4567285"/>
            <a:chOff x="722291" y="1382002"/>
            <a:chExt cx="9916761" cy="4567285"/>
          </a:xfrm>
        </p:grpSpPr>
        <p:pic>
          <p:nvPicPr>
            <p:cNvPr id="22" name="圖片 21">
              <a:extLst>
                <a:ext uri="{FF2B5EF4-FFF2-40B4-BE49-F238E27FC236}">
                  <a16:creationId xmlns:a16="http://schemas.microsoft.com/office/drawing/2014/main" id="{0E76A6F9-CB46-44A9-9D44-E920C941796C}"/>
                </a:ext>
              </a:extLst>
            </p:cNvPr>
            <p:cNvPicPr>
              <a:picLocks noChangeAspect="1"/>
            </p:cNvPicPr>
            <p:nvPr/>
          </p:nvPicPr>
          <p:blipFill rotWithShape="1">
            <a:blip r:embed="rId3">
              <a:extLst>
                <a:ext uri="{28A0092B-C50C-407E-A947-70E740481C1C}">
                  <a14:useLocalDpi xmlns:a14="http://schemas.microsoft.com/office/drawing/2010/main" val="0"/>
                </a:ext>
              </a:extLst>
            </a:blip>
            <a:srcRect l="4931" t="4903" r="5330" b="14466"/>
            <a:stretch/>
          </p:blipFill>
          <p:spPr>
            <a:xfrm>
              <a:off x="6491844" y="1794520"/>
              <a:ext cx="2215347" cy="1219281"/>
            </a:xfrm>
            <a:prstGeom prst="rect">
              <a:avLst/>
            </a:prstGeom>
          </p:spPr>
        </p:pic>
        <p:grpSp>
          <p:nvGrpSpPr>
            <p:cNvPr id="5" name="群組 4">
              <a:extLst>
                <a:ext uri="{FF2B5EF4-FFF2-40B4-BE49-F238E27FC236}">
                  <a16:creationId xmlns:a16="http://schemas.microsoft.com/office/drawing/2014/main" id="{3E86C508-E1C7-4488-B349-9760105E6FC8}"/>
                </a:ext>
              </a:extLst>
            </p:cNvPr>
            <p:cNvGrpSpPr/>
            <p:nvPr/>
          </p:nvGrpSpPr>
          <p:grpSpPr>
            <a:xfrm>
              <a:off x="3661712" y="1796967"/>
              <a:ext cx="512324" cy="1237983"/>
              <a:chOff x="6144190" y="3829206"/>
              <a:chExt cx="690497" cy="1217742"/>
            </a:xfrm>
          </p:grpSpPr>
          <p:sp>
            <p:nvSpPr>
              <p:cNvPr id="6" name="矩形 5">
                <a:extLst>
                  <a:ext uri="{FF2B5EF4-FFF2-40B4-BE49-F238E27FC236}">
                    <a16:creationId xmlns:a16="http://schemas.microsoft.com/office/drawing/2014/main" id="{3A8AC4F4-CECC-4EDC-8A18-FE15032A1CC2}"/>
                  </a:ext>
                </a:extLst>
              </p:cNvPr>
              <p:cNvSpPr/>
              <p:nvPr/>
            </p:nvSpPr>
            <p:spPr>
              <a:xfrm>
                <a:off x="6144190" y="3829207"/>
                <a:ext cx="422167" cy="1174767"/>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橢圓 6">
                <a:extLst>
                  <a:ext uri="{FF2B5EF4-FFF2-40B4-BE49-F238E27FC236}">
                    <a16:creationId xmlns:a16="http://schemas.microsoft.com/office/drawing/2014/main" id="{E0414E8F-530A-4D37-8630-0779105349E5}"/>
                  </a:ext>
                </a:extLst>
              </p:cNvPr>
              <p:cNvSpPr/>
              <p:nvPr/>
            </p:nvSpPr>
            <p:spPr>
              <a:xfrm>
                <a:off x="6319117" y="3831976"/>
                <a:ext cx="486938" cy="119417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橢圓 7">
                <a:extLst>
                  <a:ext uri="{FF2B5EF4-FFF2-40B4-BE49-F238E27FC236}">
                    <a16:creationId xmlns:a16="http://schemas.microsoft.com/office/drawing/2014/main" id="{19082C16-8265-42C6-899D-95D39E9E8940}"/>
                  </a:ext>
                </a:extLst>
              </p:cNvPr>
              <p:cNvSpPr/>
              <p:nvPr/>
            </p:nvSpPr>
            <p:spPr>
              <a:xfrm>
                <a:off x="6347749" y="3829206"/>
                <a:ext cx="486938" cy="12177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9" name="箭號: 上-下雙向 8">
              <a:extLst>
                <a:ext uri="{FF2B5EF4-FFF2-40B4-BE49-F238E27FC236}">
                  <a16:creationId xmlns:a16="http://schemas.microsoft.com/office/drawing/2014/main" id="{7A5CEF69-9E48-44BE-9415-682819B7B7FE}"/>
                </a:ext>
              </a:extLst>
            </p:cNvPr>
            <p:cNvSpPr/>
            <p:nvPr/>
          </p:nvSpPr>
          <p:spPr>
            <a:xfrm>
              <a:off x="3040099" y="1724355"/>
              <a:ext cx="266896" cy="669758"/>
            </a:xfrm>
            <a:prstGeom prst="upDownArrow">
              <a:avLst/>
            </a:prstGeom>
            <a:solidFill>
              <a:srgbClr val="00B0F0"/>
            </a:solidFill>
            <a:ln w="12700">
              <a:solidFill>
                <a:schemeClr val="tx1"/>
              </a:solidFill>
            </a:ln>
            <a:scene3d>
              <a:camera prst="orthographicFront"/>
              <a:lightRig rig="threePt" dir="t"/>
            </a:scene3d>
            <a:sp3d>
              <a:bevelT h="127000"/>
              <a:bevelB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直線單箭頭接點 10">
              <a:extLst>
                <a:ext uri="{FF2B5EF4-FFF2-40B4-BE49-F238E27FC236}">
                  <a16:creationId xmlns:a16="http://schemas.microsoft.com/office/drawing/2014/main" id="{A6B18838-7F10-466A-84F2-FD04E730246B}"/>
                </a:ext>
              </a:extLst>
            </p:cNvPr>
            <p:cNvCxnSpPr>
              <a:cxnSpLocks/>
            </p:cNvCxnSpPr>
            <p:nvPr/>
          </p:nvCxnSpPr>
          <p:spPr>
            <a:xfrm>
              <a:off x="3306995" y="2059235"/>
              <a:ext cx="5583817" cy="0"/>
            </a:xfrm>
            <a:prstGeom prst="straightConnector1">
              <a:avLst/>
            </a:prstGeom>
            <a:ln w="34925">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箭號: 上-下雙向 11">
              <a:extLst>
                <a:ext uri="{FF2B5EF4-FFF2-40B4-BE49-F238E27FC236}">
                  <a16:creationId xmlns:a16="http://schemas.microsoft.com/office/drawing/2014/main" id="{228B9AB2-455C-4037-B3B9-5E8208A9C1A3}"/>
                </a:ext>
              </a:extLst>
            </p:cNvPr>
            <p:cNvSpPr/>
            <p:nvPr/>
          </p:nvSpPr>
          <p:spPr>
            <a:xfrm rot="16200000">
              <a:off x="5442466" y="2300247"/>
              <a:ext cx="266896" cy="669758"/>
            </a:xfrm>
            <a:prstGeom prst="upDownArrow">
              <a:avLst/>
            </a:prstGeom>
            <a:solidFill>
              <a:srgbClr val="00B0F0"/>
            </a:solidFill>
            <a:ln w="12700">
              <a:solidFill>
                <a:schemeClr val="tx1"/>
              </a:solidFill>
            </a:ln>
            <a:scene3d>
              <a:camera prst="orthographicFront"/>
              <a:lightRig rig="threePt" dir="t"/>
            </a:scene3d>
            <a:sp3d>
              <a:bevelT h="127000"/>
              <a:bevelB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5BF92B96-2020-473B-8F3F-D43038B0B35C}"/>
                </a:ext>
              </a:extLst>
            </p:cNvPr>
            <p:cNvSpPr/>
            <p:nvPr/>
          </p:nvSpPr>
          <p:spPr>
            <a:xfrm>
              <a:off x="8895057" y="1794520"/>
              <a:ext cx="313233" cy="1194289"/>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5" name="直線單箭頭接點 14">
              <a:extLst>
                <a:ext uri="{FF2B5EF4-FFF2-40B4-BE49-F238E27FC236}">
                  <a16:creationId xmlns:a16="http://schemas.microsoft.com/office/drawing/2014/main" id="{2E2E6F7F-1375-4C53-94AB-5076A91D8CA5}"/>
                </a:ext>
              </a:extLst>
            </p:cNvPr>
            <p:cNvCxnSpPr>
              <a:cxnSpLocks/>
            </p:cNvCxnSpPr>
            <p:nvPr/>
          </p:nvCxnSpPr>
          <p:spPr>
            <a:xfrm flipH="1">
              <a:off x="5992210" y="2631085"/>
              <a:ext cx="2898604" cy="0"/>
            </a:xfrm>
            <a:prstGeom prst="straightConnector1">
              <a:avLst/>
            </a:prstGeom>
            <a:ln w="34925">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B7F9B179-344C-4A2C-8BAF-652FDEF56761}"/>
                </a:ext>
              </a:extLst>
            </p:cNvPr>
            <p:cNvSpPr/>
            <p:nvPr/>
          </p:nvSpPr>
          <p:spPr>
            <a:xfrm>
              <a:off x="6518724" y="1765777"/>
              <a:ext cx="2160086" cy="67928"/>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8CC73DBF-610E-4287-989B-F9E941F08936}"/>
                </a:ext>
              </a:extLst>
            </p:cNvPr>
            <p:cNvSpPr/>
            <p:nvPr/>
          </p:nvSpPr>
          <p:spPr>
            <a:xfrm>
              <a:off x="6513087" y="2965194"/>
              <a:ext cx="2181080" cy="67928"/>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4A65F1F0-4DF0-4064-B182-89A5F3D194E8}"/>
                    </a:ext>
                  </a:extLst>
                </p:cNvPr>
                <p:cNvSpPr/>
                <p:nvPr/>
              </p:nvSpPr>
              <p:spPr>
                <a:xfrm>
                  <a:off x="6525719" y="3039955"/>
                  <a:ext cx="1640998" cy="251195"/>
                </a:xfrm>
                <a:prstGeom prst="rect">
                  <a:avLst/>
                </a:prstGeom>
              </p:spPr>
              <p:txBody>
                <a:bodyPr wrap="none">
                  <a:spAutoFit/>
                </a:bodyPr>
                <a:lstStyle/>
                <a:p>
                  <a:r>
                    <a:rPr lang="pt-BR" altLang="zh-TW" sz="1600" dirty="0">
                      <a:latin typeface="Times New Roman" panose="02020603050405020304" pitchFamily="18" charset="0"/>
                      <a:ea typeface="Cambria Math" panose="02040503050406030204" pitchFamily="18" charset="0"/>
                      <a:cs typeface="Times New Roman" panose="02020603050405020304" pitchFamily="18" charset="0"/>
                    </a:rPr>
                    <a:t>EO APPLN</a:t>
                  </a:r>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a:t>
                  </a:r>
                  <a14:m>
                    <m:oMath xmlns:m="http://schemas.openxmlformats.org/officeDocument/2006/math">
                      <m:r>
                        <a:rPr lang="en-US" altLang="zh-TW" sz="1400" b="0" i="1" smtClean="0">
                          <a:latin typeface="Cambria Math" panose="02040503050406030204" pitchFamily="18" charset="0"/>
                          <a:ea typeface="Cambria Math" panose="02040503050406030204" pitchFamily="18" charset="0"/>
                          <a:cs typeface="Times New Roman" panose="02020603050405020304" pitchFamily="18" charset="0"/>
                        </a:rPr>
                        <m:t>2</m:t>
                      </m:r>
                      <m:r>
                        <a:rPr lang="en-US" altLang="zh-TW" sz="1400" b="0" i="1" smtClean="0">
                          <a:latin typeface="Cambria Math" panose="02040503050406030204" pitchFamily="18" charset="0"/>
                          <a:ea typeface="Cambria Math" panose="02040503050406030204" pitchFamily="18" charset="0"/>
                          <a:cs typeface="Times New Roman" panose="02020603050405020304" pitchFamily="18" charset="0"/>
                        </a:rPr>
                        <m:t>𝑐𝑚</m:t>
                      </m:r>
                      <m:r>
                        <a:rPr lang="en-US" altLang="zh-TW" sz="1400" b="0" i="1"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TW" sz="1400" b="0" i="1" smtClean="0">
                          <a:latin typeface="Cambria Math" panose="02040503050406030204" pitchFamily="18" charset="0"/>
                          <a:ea typeface="Cambria Math" panose="02040503050406030204" pitchFamily="18" charset="0"/>
                          <a:cs typeface="Times New Roman" panose="02020603050405020304" pitchFamily="18" charset="0"/>
                        </a:rPr>
                        <m:t>𝑚𝑚</m:t>
                      </m:r>
                    </m:oMath>
                  </a14:m>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30" name="矩形 29">
                  <a:extLst>
                    <a:ext uri="{FF2B5EF4-FFF2-40B4-BE49-F238E27FC236}">
                      <a16:creationId xmlns:a16="http://schemas.microsoft.com/office/drawing/2014/main" id="{4A65F1F0-4DF0-4064-B182-89A5F3D194E8}"/>
                    </a:ext>
                  </a:extLst>
                </p:cNvPr>
                <p:cNvSpPr>
                  <a:spLocks noRot="1" noChangeAspect="1" noMove="1" noResize="1" noEditPoints="1" noAdjustHandles="1" noChangeArrowheads="1" noChangeShapeType="1" noTextEdit="1"/>
                </p:cNvSpPr>
                <p:nvPr/>
              </p:nvSpPr>
              <p:spPr>
                <a:xfrm>
                  <a:off x="6525719" y="3039955"/>
                  <a:ext cx="1640998" cy="251195"/>
                </a:xfrm>
                <a:prstGeom prst="rect">
                  <a:avLst/>
                </a:prstGeom>
                <a:blipFill>
                  <a:blip r:embed="rId4"/>
                  <a:stretch>
                    <a:fillRect l="-1852" t="-7317" r="-33704" b="-65854"/>
                  </a:stretch>
                </a:blipFill>
              </p:spPr>
              <p:txBody>
                <a:bodyPr/>
                <a:lstStyle/>
                <a:p>
                  <a:r>
                    <a:rPr lang="zh-TW" altLang="en-US">
                      <a:noFill/>
                    </a:rPr>
                    <a:t> </a:t>
                  </a:r>
                </a:p>
              </p:txBody>
            </p:sp>
          </mc:Fallback>
        </mc:AlternateContent>
        <p:sp>
          <p:nvSpPr>
            <p:cNvPr id="31" name="箭號: 向右 30">
              <a:extLst>
                <a:ext uri="{FF2B5EF4-FFF2-40B4-BE49-F238E27FC236}">
                  <a16:creationId xmlns:a16="http://schemas.microsoft.com/office/drawing/2014/main" id="{E45A6693-82FD-492A-8DD2-81AAD96E8831}"/>
                </a:ext>
              </a:extLst>
            </p:cNvPr>
            <p:cNvSpPr/>
            <p:nvPr/>
          </p:nvSpPr>
          <p:spPr>
            <a:xfrm>
              <a:off x="9368044" y="2139503"/>
              <a:ext cx="755743" cy="472340"/>
            </a:xfrm>
            <a:prstGeom prst="rightArrow">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禁止標誌 31">
              <a:extLst>
                <a:ext uri="{FF2B5EF4-FFF2-40B4-BE49-F238E27FC236}">
                  <a16:creationId xmlns:a16="http://schemas.microsoft.com/office/drawing/2014/main" id="{BD59888A-874B-408B-BFA5-E30BB959F28A}"/>
                </a:ext>
              </a:extLst>
            </p:cNvPr>
            <p:cNvSpPr/>
            <p:nvPr/>
          </p:nvSpPr>
          <p:spPr>
            <a:xfrm>
              <a:off x="10177099" y="2139503"/>
              <a:ext cx="461953" cy="461953"/>
            </a:xfrm>
            <a:prstGeom prst="noSmoking">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61" name="文字方塊 60">
              <a:extLst>
                <a:ext uri="{FF2B5EF4-FFF2-40B4-BE49-F238E27FC236}">
                  <a16:creationId xmlns:a16="http://schemas.microsoft.com/office/drawing/2014/main" id="{55E2D9FE-0B71-43A8-8C1C-E4CC482E3E6B}"/>
                </a:ext>
              </a:extLst>
            </p:cNvPr>
            <p:cNvSpPr txBox="1"/>
            <p:nvPr/>
          </p:nvSpPr>
          <p:spPr>
            <a:xfrm>
              <a:off x="1671582" y="1382002"/>
              <a:ext cx="1501965" cy="400110"/>
            </a:xfrm>
            <a:prstGeom prst="rect">
              <a:avLst/>
            </a:prstGeom>
            <a:noFill/>
          </p:spPr>
          <p:txBody>
            <a:bodyPr wrap="square" rtlCol="0">
              <a:spAutoFit/>
            </a:bodyPr>
            <a:lstStyle/>
            <a:p>
              <a:r>
                <a:rPr lang="en-US" altLang="zh-TW" sz="2000" b="1" dirty="0">
                  <a:latin typeface="Times New Roman" panose="02020603050405020304" pitchFamily="18" charset="0"/>
                  <a:ea typeface="標楷體" panose="03000509000000000000" pitchFamily="65" charset="-120"/>
                  <a:cs typeface="Times New Roman" panose="02020603050405020304" pitchFamily="18" charset="0"/>
                </a:rPr>
                <a:t>Round Trip</a:t>
              </a:r>
              <a:endParaRPr lang="zh-TW" altLang="en-US" sz="2000" b="1"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B99D0678-7D59-40AE-AB1E-6F8094223302}"/>
                    </a:ext>
                  </a:extLst>
                </p:cNvPr>
                <p:cNvSpPr txBox="1"/>
                <p:nvPr/>
              </p:nvSpPr>
              <p:spPr>
                <a:xfrm>
                  <a:off x="3756527" y="2914379"/>
                  <a:ext cx="1501965" cy="2511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smtClean="0">
                            <a:latin typeface="Cambria Math" panose="02040503050406030204" pitchFamily="18" charset="0"/>
                            <a:ea typeface="Cambria Math" panose="02040503050406030204" pitchFamily="18" charset="0"/>
                          </a:rPr>
                          <m:t>N</m:t>
                        </m:r>
                        <m:r>
                          <m:rPr>
                            <m:sty m:val="p"/>
                          </m:rPr>
                          <a:rPr lang="en-US" altLang="zh-TW" sz="1600" b="0" i="0" smtClean="0">
                            <a:latin typeface="Cambria Math" panose="02040503050406030204" pitchFamily="18" charset="0"/>
                            <a:ea typeface="Cambria Math" panose="02040503050406030204" pitchFamily="18" charset="0"/>
                          </a:rPr>
                          <m:t>d</m:t>
                        </m:r>
                        <m:r>
                          <a:rPr lang="en-US" altLang="zh-TW" sz="1600" b="0" i="0" smtClean="0">
                            <a:latin typeface="Cambria Math" panose="02040503050406030204" pitchFamily="18" charset="0"/>
                            <a:ea typeface="Cambria Math" panose="02040503050406030204" pitchFamily="18" charset="0"/>
                          </a:rPr>
                          <m:t>:</m:t>
                        </m:r>
                        <m:r>
                          <m:rPr>
                            <m:sty m:val="p"/>
                          </m:rPr>
                          <a:rPr lang="en-US" altLang="zh-TW" sz="1600" b="0" i="0" smtClean="0">
                            <a:latin typeface="Cambria Math" panose="02040503050406030204" pitchFamily="18" charset="0"/>
                            <a:ea typeface="Cambria Math" panose="02040503050406030204" pitchFamily="18" charset="0"/>
                          </a:rPr>
                          <m:t>YV</m:t>
                        </m:r>
                        <m:sSub>
                          <m:sSubPr>
                            <m:ctrlPr>
                              <a:rPr lang="en-US" altLang="zh-TW" sz="1600" i="1" smtClean="0">
                                <a:latin typeface="Cambria Math" panose="02040503050406030204" pitchFamily="18" charset="0"/>
                                <a:ea typeface="Cambria Math" panose="02040503050406030204" pitchFamily="18" charset="0"/>
                              </a:rPr>
                            </m:ctrlPr>
                          </m:sSubPr>
                          <m:e>
                            <m:r>
                              <m:rPr>
                                <m:sty m:val="p"/>
                              </m:rPr>
                              <a:rPr lang="en-US" altLang="zh-TW" sz="1600" b="0" i="0" smtClean="0">
                                <a:latin typeface="Cambria Math" panose="02040503050406030204" pitchFamily="18" charset="0"/>
                                <a:ea typeface="Cambria Math" panose="02040503050406030204" pitchFamily="18" charset="0"/>
                              </a:rPr>
                              <m:t>O</m:t>
                            </m:r>
                          </m:e>
                          <m:sub>
                            <m:r>
                              <a:rPr lang="en-US" altLang="zh-TW" sz="1600" b="0" i="0" smtClean="0">
                                <a:latin typeface="Cambria Math" panose="02040503050406030204" pitchFamily="18" charset="0"/>
                                <a:ea typeface="Cambria Math" panose="02040503050406030204" pitchFamily="18" charset="0"/>
                              </a:rPr>
                              <m:t>4</m:t>
                            </m:r>
                          </m:sub>
                        </m:sSub>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B99D0678-7D59-40AE-AB1E-6F8094223302}"/>
                    </a:ext>
                  </a:extLst>
                </p:cNvPr>
                <p:cNvSpPr txBox="1">
                  <a:spLocks noRot="1" noChangeAspect="1" noMove="1" noResize="1" noEditPoints="1" noAdjustHandles="1" noChangeArrowheads="1" noChangeShapeType="1" noTextEdit="1"/>
                </p:cNvSpPr>
                <p:nvPr/>
              </p:nvSpPr>
              <p:spPr>
                <a:xfrm>
                  <a:off x="3756527" y="2914379"/>
                  <a:ext cx="1501965" cy="251195"/>
                </a:xfrm>
                <a:prstGeom prst="rect">
                  <a:avLst/>
                </a:prstGeom>
                <a:blipFill>
                  <a:blip r:embed="rId5"/>
                  <a:stretch>
                    <a:fillRect b="-34146"/>
                  </a:stretch>
                </a:blipFill>
              </p:spPr>
              <p:txBody>
                <a:bodyPr/>
                <a:lstStyle/>
                <a:p>
                  <a:r>
                    <a:rPr lang="zh-TW" altLang="en-US">
                      <a:noFill/>
                    </a:rPr>
                    <a:t> </a:t>
                  </a:r>
                </a:p>
              </p:txBody>
            </p:sp>
          </mc:Fallback>
        </mc:AlternateContent>
        <p:sp>
          <p:nvSpPr>
            <p:cNvPr id="26" name="立方體 25">
              <a:extLst>
                <a:ext uri="{FF2B5EF4-FFF2-40B4-BE49-F238E27FC236}">
                  <a16:creationId xmlns:a16="http://schemas.microsoft.com/office/drawing/2014/main" id="{0127D436-F131-4FBD-800F-7D789F163775}"/>
                </a:ext>
              </a:extLst>
            </p:cNvPr>
            <p:cNvSpPr/>
            <p:nvPr/>
          </p:nvSpPr>
          <p:spPr>
            <a:xfrm>
              <a:off x="3926834" y="1900226"/>
              <a:ext cx="1219289" cy="968749"/>
            </a:xfrm>
            <a:prstGeom prst="cube">
              <a:avLst/>
            </a:prstGeom>
            <a:solidFill>
              <a:schemeClr val="bg1">
                <a:lumMod val="95000"/>
              </a:schemeClr>
            </a:solid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pic>
          <p:nvPicPr>
            <p:cNvPr id="79" name="圖片 78">
              <a:extLst>
                <a:ext uri="{FF2B5EF4-FFF2-40B4-BE49-F238E27FC236}">
                  <a16:creationId xmlns:a16="http://schemas.microsoft.com/office/drawing/2014/main" id="{64B9983C-E7D2-41FB-B070-BB9DC320F61C}"/>
                </a:ext>
              </a:extLst>
            </p:cNvPr>
            <p:cNvPicPr>
              <a:picLocks noChangeAspect="1"/>
            </p:cNvPicPr>
            <p:nvPr/>
          </p:nvPicPr>
          <p:blipFill rotWithShape="1">
            <a:blip r:embed="rId3">
              <a:extLst>
                <a:ext uri="{28A0092B-C50C-407E-A947-70E740481C1C}">
                  <a14:useLocalDpi xmlns:a14="http://schemas.microsoft.com/office/drawing/2010/main" val="0"/>
                </a:ext>
              </a:extLst>
            </a:blip>
            <a:srcRect l="4931" t="4903" r="5330" b="14466"/>
            <a:stretch/>
          </p:blipFill>
          <p:spPr>
            <a:xfrm>
              <a:off x="5606860" y="4445962"/>
              <a:ext cx="2193089" cy="1207030"/>
            </a:xfrm>
            <a:prstGeom prst="rect">
              <a:avLst/>
            </a:prstGeom>
          </p:spPr>
        </p:pic>
        <p:grpSp>
          <p:nvGrpSpPr>
            <p:cNvPr id="80" name="群組 79">
              <a:extLst>
                <a:ext uri="{FF2B5EF4-FFF2-40B4-BE49-F238E27FC236}">
                  <a16:creationId xmlns:a16="http://schemas.microsoft.com/office/drawing/2014/main" id="{3D87A754-FCD7-46F1-B2E0-A3249925EA2D}"/>
                </a:ext>
              </a:extLst>
            </p:cNvPr>
            <p:cNvGrpSpPr/>
            <p:nvPr/>
          </p:nvGrpSpPr>
          <p:grpSpPr>
            <a:xfrm>
              <a:off x="3742118" y="4448383"/>
              <a:ext cx="507176" cy="1225545"/>
              <a:chOff x="6144190" y="3829206"/>
              <a:chExt cx="690497" cy="1217742"/>
            </a:xfrm>
          </p:grpSpPr>
          <p:sp>
            <p:nvSpPr>
              <p:cNvPr id="97" name="矩形 96">
                <a:extLst>
                  <a:ext uri="{FF2B5EF4-FFF2-40B4-BE49-F238E27FC236}">
                    <a16:creationId xmlns:a16="http://schemas.microsoft.com/office/drawing/2014/main" id="{90FC4FF7-ABD5-4FC6-973B-DE4569065B6C}"/>
                  </a:ext>
                </a:extLst>
              </p:cNvPr>
              <p:cNvSpPr/>
              <p:nvPr/>
            </p:nvSpPr>
            <p:spPr>
              <a:xfrm>
                <a:off x="6144190" y="3829206"/>
                <a:ext cx="422167" cy="1174767"/>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8" name="橢圓 97">
                <a:extLst>
                  <a:ext uri="{FF2B5EF4-FFF2-40B4-BE49-F238E27FC236}">
                    <a16:creationId xmlns:a16="http://schemas.microsoft.com/office/drawing/2014/main" id="{4E8C5652-956F-4E1E-BC6C-4423FD259198}"/>
                  </a:ext>
                </a:extLst>
              </p:cNvPr>
              <p:cNvSpPr/>
              <p:nvPr/>
            </p:nvSpPr>
            <p:spPr>
              <a:xfrm>
                <a:off x="6319117" y="3831976"/>
                <a:ext cx="486938" cy="119417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9" name="橢圓 98">
                <a:extLst>
                  <a:ext uri="{FF2B5EF4-FFF2-40B4-BE49-F238E27FC236}">
                    <a16:creationId xmlns:a16="http://schemas.microsoft.com/office/drawing/2014/main" id="{D31008D6-DABD-498D-BD4B-232FCC755DFD}"/>
                  </a:ext>
                </a:extLst>
              </p:cNvPr>
              <p:cNvSpPr/>
              <p:nvPr/>
            </p:nvSpPr>
            <p:spPr>
              <a:xfrm>
                <a:off x="6347749" y="3829206"/>
                <a:ext cx="486938" cy="121774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81" name="箭號: 上-下雙向 80">
              <a:extLst>
                <a:ext uri="{FF2B5EF4-FFF2-40B4-BE49-F238E27FC236}">
                  <a16:creationId xmlns:a16="http://schemas.microsoft.com/office/drawing/2014/main" id="{A35D9043-A6B3-4B22-A635-ACC5E3780CBB}"/>
                </a:ext>
              </a:extLst>
            </p:cNvPr>
            <p:cNvSpPr/>
            <p:nvPr/>
          </p:nvSpPr>
          <p:spPr>
            <a:xfrm>
              <a:off x="3126751" y="4376501"/>
              <a:ext cx="264215" cy="663029"/>
            </a:xfrm>
            <a:prstGeom prst="upDownArrow">
              <a:avLst/>
            </a:prstGeom>
            <a:solidFill>
              <a:srgbClr val="00B0F0"/>
            </a:solidFill>
            <a:ln w="12700">
              <a:solidFill>
                <a:schemeClr val="tx1"/>
              </a:solidFill>
            </a:ln>
            <a:scene3d>
              <a:camera prst="orthographicFront"/>
              <a:lightRig rig="threePt" dir="t"/>
            </a:scene3d>
            <a:sp3d>
              <a:bevelT h="127000"/>
              <a:bevelB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2" name="直線單箭頭接點 81">
              <a:extLst>
                <a:ext uri="{FF2B5EF4-FFF2-40B4-BE49-F238E27FC236}">
                  <a16:creationId xmlns:a16="http://schemas.microsoft.com/office/drawing/2014/main" id="{EDA2068C-E80A-4954-BC1A-478B5E89B0A6}"/>
                </a:ext>
              </a:extLst>
            </p:cNvPr>
            <p:cNvCxnSpPr>
              <a:cxnSpLocks/>
            </p:cNvCxnSpPr>
            <p:nvPr/>
          </p:nvCxnSpPr>
          <p:spPr>
            <a:xfrm>
              <a:off x="3390965" y="4708016"/>
              <a:ext cx="5527715" cy="0"/>
            </a:xfrm>
            <a:prstGeom prst="straightConnector1">
              <a:avLst/>
            </a:prstGeom>
            <a:ln w="34925">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sp>
          <p:nvSpPr>
            <p:cNvPr id="83" name="箭號: 上-下雙向 82">
              <a:extLst>
                <a:ext uri="{FF2B5EF4-FFF2-40B4-BE49-F238E27FC236}">
                  <a16:creationId xmlns:a16="http://schemas.microsoft.com/office/drawing/2014/main" id="{21731463-D892-4478-8E67-CA59A4FC6D36}"/>
                </a:ext>
              </a:extLst>
            </p:cNvPr>
            <p:cNvSpPr/>
            <p:nvPr/>
          </p:nvSpPr>
          <p:spPr>
            <a:xfrm rot="16200000">
              <a:off x="8389093" y="5112493"/>
              <a:ext cx="264215" cy="663029"/>
            </a:xfrm>
            <a:prstGeom prst="upDownArrow">
              <a:avLst/>
            </a:prstGeom>
            <a:solidFill>
              <a:srgbClr val="00B0F0"/>
            </a:solidFill>
            <a:ln w="12700">
              <a:solidFill>
                <a:schemeClr val="tx1"/>
              </a:solidFill>
            </a:ln>
            <a:scene3d>
              <a:camera prst="orthographicFront"/>
              <a:lightRig rig="threePt" dir="t"/>
            </a:scene3d>
            <a:sp3d>
              <a:bevelT h="127000"/>
              <a:bevelB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a:extLst>
                <a:ext uri="{FF2B5EF4-FFF2-40B4-BE49-F238E27FC236}">
                  <a16:creationId xmlns:a16="http://schemas.microsoft.com/office/drawing/2014/main" id="{2CD94E99-E633-4582-A679-1534784D111B}"/>
                </a:ext>
              </a:extLst>
            </p:cNvPr>
            <p:cNvSpPr/>
            <p:nvPr/>
          </p:nvSpPr>
          <p:spPr>
            <a:xfrm>
              <a:off x="8922881" y="4445962"/>
              <a:ext cx="310085" cy="1182290"/>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85" name="直線單箭頭接點 84">
              <a:extLst>
                <a:ext uri="{FF2B5EF4-FFF2-40B4-BE49-F238E27FC236}">
                  <a16:creationId xmlns:a16="http://schemas.microsoft.com/office/drawing/2014/main" id="{9F0B4425-F917-4AE0-A277-AC3C23667FAD}"/>
                </a:ext>
              </a:extLst>
            </p:cNvPr>
            <p:cNvCxnSpPr>
              <a:cxnSpLocks/>
            </p:cNvCxnSpPr>
            <p:nvPr/>
          </p:nvCxnSpPr>
          <p:spPr>
            <a:xfrm flipH="1">
              <a:off x="3870603" y="5037107"/>
              <a:ext cx="5048077" cy="0"/>
            </a:xfrm>
            <a:prstGeom prst="straightConnector1">
              <a:avLst/>
            </a:prstGeom>
            <a:ln w="34925">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55A33588-3CD9-4792-B75F-42A159041B1B}"/>
                </a:ext>
              </a:extLst>
            </p:cNvPr>
            <p:cNvSpPr/>
            <p:nvPr/>
          </p:nvSpPr>
          <p:spPr>
            <a:xfrm>
              <a:off x="5633470" y="4417507"/>
              <a:ext cx="2138383" cy="67246"/>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87" name="矩形 86">
              <a:extLst>
                <a:ext uri="{FF2B5EF4-FFF2-40B4-BE49-F238E27FC236}">
                  <a16:creationId xmlns:a16="http://schemas.microsoft.com/office/drawing/2014/main" id="{E9C16771-BB42-455C-B525-9E1C1F4E56B2}"/>
                </a:ext>
              </a:extLst>
            </p:cNvPr>
            <p:cNvSpPr/>
            <p:nvPr/>
          </p:nvSpPr>
          <p:spPr>
            <a:xfrm>
              <a:off x="5627890" y="5604873"/>
              <a:ext cx="2159166" cy="67246"/>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8" name="文字方塊 87">
                  <a:extLst>
                    <a:ext uri="{FF2B5EF4-FFF2-40B4-BE49-F238E27FC236}">
                      <a16:creationId xmlns:a16="http://schemas.microsoft.com/office/drawing/2014/main" id="{9A90EE78-55AA-4686-8F6E-8FE81EE40EF2}"/>
                    </a:ext>
                  </a:extLst>
                </p:cNvPr>
                <p:cNvSpPr txBox="1"/>
                <p:nvPr/>
              </p:nvSpPr>
              <p:spPr>
                <a:xfrm>
                  <a:off x="3998064" y="5543188"/>
                  <a:ext cx="1486875" cy="24867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smtClean="0">
                            <a:latin typeface="Cambria Math" panose="02040503050406030204" pitchFamily="18" charset="0"/>
                            <a:ea typeface="Cambria Math" panose="02040503050406030204" pitchFamily="18" charset="0"/>
                          </a:rPr>
                          <m:t>N</m:t>
                        </m:r>
                        <m:r>
                          <m:rPr>
                            <m:sty m:val="p"/>
                          </m:rPr>
                          <a:rPr lang="en-US" altLang="zh-TW" sz="1600" b="0" i="0" smtClean="0">
                            <a:latin typeface="Cambria Math" panose="02040503050406030204" pitchFamily="18" charset="0"/>
                            <a:ea typeface="Cambria Math" panose="02040503050406030204" pitchFamily="18" charset="0"/>
                          </a:rPr>
                          <m:t>d</m:t>
                        </m:r>
                        <m:r>
                          <a:rPr lang="en-US" altLang="zh-TW" sz="1600" b="0" i="0" smtClean="0">
                            <a:latin typeface="Cambria Math" panose="02040503050406030204" pitchFamily="18" charset="0"/>
                            <a:ea typeface="Cambria Math" panose="02040503050406030204" pitchFamily="18" charset="0"/>
                          </a:rPr>
                          <m:t>:</m:t>
                        </m:r>
                        <m:r>
                          <m:rPr>
                            <m:sty m:val="p"/>
                          </m:rPr>
                          <a:rPr lang="en-US" altLang="zh-TW" sz="1600" b="0" i="0" smtClean="0">
                            <a:latin typeface="Cambria Math" panose="02040503050406030204" pitchFamily="18" charset="0"/>
                            <a:ea typeface="Cambria Math" panose="02040503050406030204" pitchFamily="18" charset="0"/>
                          </a:rPr>
                          <m:t>YV</m:t>
                        </m:r>
                        <m:sSub>
                          <m:sSubPr>
                            <m:ctrlPr>
                              <a:rPr lang="en-US" altLang="zh-TW" sz="1600" i="1" smtClean="0">
                                <a:latin typeface="Cambria Math" panose="02040503050406030204" pitchFamily="18" charset="0"/>
                                <a:ea typeface="Cambria Math" panose="02040503050406030204" pitchFamily="18" charset="0"/>
                              </a:rPr>
                            </m:ctrlPr>
                          </m:sSubPr>
                          <m:e>
                            <m:r>
                              <m:rPr>
                                <m:sty m:val="p"/>
                              </m:rPr>
                              <a:rPr lang="en-US" altLang="zh-TW" sz="1600" b="0" i="0" smtClean="0">
                                <a:latin typeface="Cambria Math" panose="02040503050406030204" pitchFamily="18" charset="0"/>
                                <a:ea typeface="Cambria Math" panose="02040503050406030204" pitchFamily="18" charset="0"/>
                              </a:rPr>
                              <m:t>O</m:t>
                            </m:r>
                          </m:e>
                          <m:sub>
                            <m:r>
                              <a:rPr lang="en-US" altLang="zh-TW" sz="1600" b="0" i="0" smtClean="0">
                                <a:latin typeface="Cambria Math" panose="02040503050406030204" pitchFamily="18" charset="0"/>
                                <a:ea typeface="Cambria Math" panose="02040503050406030204" pitchFamily="18" charset="0"/>
                              </a:rPr>
                              <m:t>4</m:t>
                            </m:r>
                          </m:sub>
                        </m:sSub>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88" name="文字方塊 87">
                  <a:extLst>
                    <a:ext uri="{FF2B5EF4-FFF2-40B4-BE49-F238E27FC236}">
                      <a16:creationId xmlns:a16="http://schemas.microsoft.com/office/drawing/2014/main" id="{9A90EE78-55AA-4686-8F6E-8FE81EE40EF2}"/>
                    </a:ext>
                  </a:extLst>
                </p:cNvPr>
                <p:cNvSpPr txBox="1">
                  <a:spLocks noRot="1" noChangeAspect="1" noMove="1" noResize="1" noEditPoints="1" noAdjustHandles="1" noChangeArrowheads="1" noChangeShapeType="1" noTextEdit="1"/>
                </p:cNvSpPr>
                <p:nvPr/>
              </p:nvSpPr>
              <p:spPr>
                <a:xfrm>
                  <a:off x="3998064" y="5543188"/>
                  <a:ext cx="1486875" cy="248671"/>
                </a:xfrm>
                <a:prstGeom prst="rect">
                  <a:avLst/>
                </a:prstGeom>
                <a:blipFill>
                  <a:blip r:embed="rId6"/>
                  <a:stretch>
                    <a:fillRect b="-341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9" name="矩形 88">
                  <a:extLst>
                    <a:ext uri="{FF2B5EF4-FFF2-40B4-BE49-F238E27FC236}">
                      <a16:creationId xmlns:a16="http://schemas.microsoft.com/office/drawing/2014/main" id="{79ABB7C9-43EB-4195-A80E-91A948565822}"/>
                    </a:ext>
                  </a:extLst>
                </p:cNvPr>
                <p:cNvSpPr/>
                <p:nvPr/>
              </p:nvSpPr>
              <p:spPr>
                <a:xfrm>
                  <a:off x="5636766" y="5700616"/>
                  <a:ext cx="1624511" cy="248671"/>
                </a:xfrm>
                <a:prstGeom prst="rect">
                  <a:avLst/>
                </a:prstGeom>
              </p:spPr>
              <p:txBody>
                <a:bodyPr wrap="none">
                  <a:spAutoFit/>
                </a:bodyPr>
                <a:lstStyle/>
                <a:p>
                  <a:r>
                    <a:rPr lang="pt-BR" altLang="zh-TW" sz="1600" dirty="0">
                      <a:latin typeface="Times New Roman" panose="02020603050405020304" pitchFamily="18" charset="0"/>
                      <a:ea typeface="Cambria Math" panose="02040503050406030204" pitchFamily="18" charset="0"/>
                      <a:cs typeface="Times New Roman" panose="02020603050405020304" pitchFamily="18" charset="0"/>
                    </a:rPr>
                    <a:t>EO APPLN</a:t>
                  </a:r>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a:t>
                  </a:r>
                  <a14:m>
                    <m:oMath xmlns:m="http://schemas.openxmlformats.org/officeDocument/2006/math">
                      <m:r>
                        <a:rPr lang="en-US" altLang="zh-TW" sz="1400" b="0" i="1" smtClean="0">
                          <a:latin typeface="Cambria Math" panose="02040503050406030204" pitchFamily="18" charset="0"/>
                          <a:ea typeface="Cambria Math" panose="02040503050406030204" pitchFamily="18" charset="0"/>
                          <a:cs typeface="Times New Roman" panose="02020603050405020304" pitchFamily="18" charset="0"/>
                        </a:rPr>
                        <m:t>2</m:t>
                      </m:r>
                      <m:r>
                        <a:rPr lang="en-US" altLang="zh-TW" sz="1400" b="0" i="1" smtClean="0">
                          <a:latin typeface="Cambria Math" panose="02040503050406030204" pitchFamily="18" charset="0"/>
                          <a:ea typeface="Cambria Math" panose="02040503050406030204" pitchFamily="18" charset="0"/>
                          <a:cs typeface="Times New Roman" panose="02020603050405020304" pitchFamily="18" charset="0"/>
                        </a:rPr>
                        <m:t>𝑐𝑚</m:t>
                      </m:r>
                      <m:r>
                        <a:rPr lang="en-US" altLang="zh-TW" sz="1400" b="0" i="1"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TW" sz="1400" b="0" i="1" smtClean="0">
                          <a:latin typeface="Cambria Math" panose="02040503050406030204" pitchFamily="18" charset="0"/>
                          <a:ea typeface="Cambria Math" panose="02040503050406030204" pitchFamily="18" charset="0"/>
                          <a:cs typeface="Times New Roman" panose="02020603050405020304" pitchFamily="18" charset="0"/>
                        </a:rPr>
                        <m:t>𝑚𝑚</m:t>
                      </m:r>
                    </m:oMath>
                  </a14:m>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89" name="矩形 88">
                  <a:extLst>
                    <a:ext uri="{FF2B5EF4-FFF2-40B4-BE49-F238E27FC236}">
                      <a16:creationId xmlns:a16="http://schemas.microsoft.com/office/drawing/2014/main" id="{79ABB7C9-43EB-4195-A80E-91A948565822}"/>
                    </a:ext>
                  </a:extLst>
                </p:cNvPr>
                <p:cNvSpPr>
                  <a:spLocks noRot="1" noChangeAspect="1" noMove="1" noResize="1" noEditPoints="1" noAdjustHandles="1" noChangeArrowheads="1" noChangeShapeType="1" noTextEdit="1"/>
                </p:cNvSpPr>
                <p:nvPr/>
              </p:nvSpPr>
              <p:spPr>
                <a:xfrm>
                  <a:off x="5636766" y="5700616"/>
                  <a:ext cx="1624511" cy="248671"/>
                </a:xfrm>
                <a:prstGeom prst="rect">
                  <a:avLst/>
                </a:prstGeom>
                <a:blipFill>
                  <a:blip r:embed="rId7"/>
                  <a:stretch>
                    <a:fillRect l="-2256" t="-7317" r="-35714" b="-65854"/>
                  </a:stretch>
                </a:blipFill>
              </p:spPr>
              <p:txBody>
                <a:bodyPr/>
                <a:lstStyle/>
                <a:p>
                  <a:r>
                    <a:rPr lang="zh-TW" altLang="en-US">
                      <a:noFill/>
                    </a:rPr>
                    <a:t> </a:t>
                  </a:r>
                </a:p>
              </p:txBody>
            </p:sp>
          </mc:Fallback>
        </mc:AlternateContent>
        <p:sp>
          <p:nvSpPr>
            <p:cNvPr id="93" name="箭號: 向右 92">
              <a:extLst>
                <a:ext uri="{FF2B5EF4-FFF2-40B4-BE49-F238E27FC236}">
                  <a16:creationId xmlns:a16="http://schemas.microsoft.com/office/drawing/2014/main" id="{5B2D23DF-A9FD-46BF-9A7E-6118A5D03683}"/>
                </a:ext>
              </a:extLst>
            </p:cNvPr>
            <p:cNvSpPr/>
            <p:nvPr/>
          </p:nvSpPr>
          <p:spPr>
            <a:xfrm>
              <a:off x="9380814" y="4831596"/>
              <a:ext cx="748150" cy="467594"/>
            </a:xfrm>
            <a:prstGeom prst="rightArrow">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禁止標誌 93">
              <a:extLst>
                <a:ext uri="{FF2B5EF4-FFF2-40B4-BE49-F238E27FC236}">
                  <a16:creationId xmlns:a16="http://schemas.microsoft.com/office/drawing/2014/main" id="{FA139801-F39D-4F42-8C64-934132323ECC}"/>
                </a:ext>
              </a:extLst>
            </p:cNvPr>
            <p:cNvSpPr/>
            <p:nvPr/>
          </p:nvSpPr>
          <p:spPr>
            <a:xfrm>
              <a:off x="10181741" y="4831596"/>
              <a:ext cx="457311" cy="457311"/>
            </a:xfrm>
            <a:prstGeom prst="noSmoking">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cxnSp>
          <p:nvCxnSpPr>
            <p:cNvPr id="95" name="直線單箭頭接點 94">
              <a:extLst>
                <a:ext uri="{FF2B5EF4-FFF2-40B4-BE49-F238E27FC236}">
                  <a16:creationId xmlns:a16="http://schemas.microsoft.com/office/drawing/2014/main" id="{3F259155-5F4B-411B-B4F6-598A69264753}"/>
                </a:ext>
              </a:extLst>
            </p:cNvPr>
            <p:cNvCxnSpPr>
              <a:cxnSpLocks/>
            </p:cNvCxnSpPr>
            <p:nvPr/>
          </p:nvCxnSpPr>
          <p:spPr>
            <a:xfrm>
              <a:off x="3925257" y="5436346"/>
              <a:ext cx="4230806" cy="0"/>
            </a:xfrm>
            <a:prstGeom prst="straightConnector1">
              <a:avLst/>
            </a:prstGeom>
            <a:ln w="34925">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sp>
          <p:nvSpPr>
            <p:cNvPr id="96" name="立方體 95">
              <a:extLst>
                <a:ext uri="{FF2B5EF4-FFF2-40B4-BE49-F238E27FC236}">
                  <a16:creationId xmlns:a16="http://schemas.microsoft.com/office/drawing/2014/main" id="{29F6F06B-52E6-44F8-80B6-1E0160A39C42}"/>
                </a:ext>
              </a:extLst>
            </p:cNvPr>
            <p:cNvSpPr/>
            <p:nvPr/>
          </p:nvSpPr>
          <p:spPr>
            <a:xfrm>
              <a:off x="4212079" y="4550605"/>
              <a:ext cx="1207038" cy="959016"/>
            </a:xfrm>
            <a:prstGeom prst="cube">
              <a:avLst/>
            </a:prstGeom>
            <a:solidFill>
              <a:schemeClr val="bg1">
                <a:lumMod val="95000"/>
              </a:schemeClr>
            </a:solid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100" name="文字方塊 99">
              <a:extLst>
                <a:ext uri="{FF2B5EF4-FFF2-40B4-BE49-F238E27FC236}">
                  <a16:creationId xmlns:a16="http://schemas.microsoft.com/office/drawing/2014/main" id="{BE67E2EC-8A38-4D5F-8C6C-17A1C94575E9}"/>
                </a:ext>
              </a:extLst>
            </p:cNvPr>
            <p:cNvSpPr txBox="1"/>
            <p:nvPr/>
          </p:nvSpPr>
          <p:spPr>
            <a:xfrm>
              <a:off x="1102024" y="3919337"/>
              <a:ext cx="3061381" cy="400110"/>
            </a:xfrm>
            <a:prstGeom prst="rect">
              <a:avLst/>
            </a:prstGeom>
            <a:noFill/>
          </p:spPr>
          <p:txBody>
            <a:bodyPr wrap="square" rtlCol="0">
              <a:spAutoFit/>
            </a:bodyPr>
            <a:lstStyle/>
            <a:p>
              <a:pPr algn="ctr"/>
              <a:r>
                <a:rPr lang="en-US" altLang="zh-TW" sz="2000" b="1" dirty="0">
                  <a:latin typeface="Times New Roman" panose="02020603050405020304" pitchFamily="18" charset="0"/>
                  <a:ea typeface="標楷體" panose="03000509000000000000" pitchFamily="65" charset="-120"/>
                  <a:cs typeface="Times New Roman" panose="02020603050405020304" pitchFamily="18" charset="0"/>
                </a:rPr>
                <a:t>Round Trip</a:t>
              </a:r>
              <a:r>
                <a:rPr lang="zh-TW" altLang="en-US" sz="2000" b="1"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b="1"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b="1"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b="1" dirty="0">
                  <a:latin typeface="Times New Roman" panose="02020603050405020304" pitchFamily="18" charset="0"/>
                  <a:ea typeface="標楷體" panose="03000509000000000000" pitchFamily="65" charset="-120"/>
                  <a:cs typeface="Times New Roman" panose="02020603050405020304" pitchFamily="18" charset="0"/>
                </a:rPr>
                <a:t>Single pass</a:t>
              </a:r>
              <a:endParaRPr lang="zh-TW" altLang="en-US" sz="2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箭號: 向右 15">
              <a:extLst>
                <a:ext uri="{FF2B5EF4-FFF2-40B4-BE49-F238E27FC236}">
                  <a16:creationId xmlns:a16="http://schemas.microsoft.com/office/drawing/2014/main" id="{EBC33D32-2017-4B6A-85BE-CFC6D24EC77D}"/>
                </a:ext>
              </a:extLst>
            </p:cNvPr>
            <p:cNvSpPr/>
            <p:nvPr/>
          </p:nvSpPr>
          <p:spPr>
            <a:xfrm>
              <a:off x="722291" y="2028684"/>
              <a:ext cx="1403567" cy="73085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808nm Laser</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1" name="箭號: 向右 100">
              <a:extLst>
                <a:ext uri="{FF2B5EF4-FFF2-40B4-BE49-F238E27FC236}">
                  <a16:creationId xmlns:a16="http://schemas.microsoft.com/office/drawing/2014/main" id="{12504561-6592-42F0-ABE6-83D04BE3DFF1}"/>
                </a:ext>
              </a:extLst>
            </p:cNvPr>
            <p:cNvSpPr/>
            <p:nvPr/>
          </p:nvSpPr>
          <p:spPr>
            <a:xfrm>
              <a:off x="732903" y="4690599"/>
              <a:ext cx="1403567" cy="73085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808nm Laser</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3091988263"/>
      </p:ext>
    </p:extLst>
  </p:cSld>
  <p:clrMapOvr>
    <a:overrideClrMapping bg1="lt1" tx1="dk1" bg2="lt2" tx2="dk2" accent1="accent1" accent2="accent2" accent3="accent3" accent4="accent4" accent5="accent5" accent6="accent6" hlink="hlink" folHlink="folHlink"/>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1620957"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Outline</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F6ED31EE-3B10-4C1F-B663-B0F2A0FCC476}"/>
              </a:ext>
            </a:extLst>
          </p:cNvPr>
          <p:cNvSpPr>
            <a:spLocks noGrp="1"/>
          </p:cNvSpPr>
          <p:nvPr>
            <p:ph type="sldNum" sz="quarter" idx="12"/>
          </p:nvPr>
        </p:nvSpPr>
        <p:spPr/>
        <p:txBody>
          <a:bodyPr/>
          <a:lstStyle/>
          <a:p>
            <a:fld id="{9044CBB6-E20C-4076-82F9-F8F95241C54D}" type="slidenum">
              <a:rPr lang="zh-TW" altLang="en-US" smtClean="0">
                <a:solidFill>
                  <a:schemeClr val="tx1"/>
                </a:solidFill>
              </a:rPr>
              <a:t>21</a:t>
            </a:fld>
            <a:endParaRPr lang="zh-TW" altLang="en-US">
              <a:solidFill>
                <a:schemeClr val="tx1"/>
              </a:solidFill>
            </a:endParaRPr>
          </a:p>
        </p:txBody>
      </p:sp>
      <p:sp>
        <p:nvSpPr>
          <p:cNvPr id="7" name="矩形 6">
            <a:extLst>
              <a:ext uri="{FF2B5EF4-FFF2-40B4-BE49-F238E27FC236}">
                <a16:creationId xmlns:a16="http://schemas.microsoft.com/office/drawing/2014/main" id="{7DE71ED2-A936-4AD4-88C2-9FAD9E733ACF}"/>
              </a:ext>
            </a:extLst>
          </p:cNvPr>
          <p:cNvSpPr/>
          <p:nvPr/>
        </p:nvSpPr>
        <p:spPr>
          <a:xfrm>
            <a:off x="337373" y="4000632"/>
            <a:ext cx="6096000" cy="646331"/>
          </a:xfrm>
          <a:prstGeom prst="rect">
            <a:avLst/>
          </a:prstGeom>
        </p:spPr>
        <p:txBody>
          <a:bodyPr>
            <a:spAutoFit/>
          </a:bodyPr>
          <a:lstStyle/>
          <a:p>
            <a:pPr lvl="0">
              <a:spcAft>
                <a:spcPts val="0"/>
              </a:spcAft>
            </a:pPr>
            <a:r>
              <a:rPr lang="en-US" altLang="zh-TW" sz="2000" b="1" kern="100" dirty="0">
                <a:latin typeface="Times New Roman" panose="02020603050405020304" pitchFamily="18" charset="0"/>
                <a:ea typeface="標楷體" panose="03000509000000000000" pitchFamily="65" charset="-120"/>
                <a:cs typeface="Times New Roman" panose="02020603050405020304" pitchFamily="18" charset="0"/>
              </a:rPr>
              <a:t>iv. Device Fabrication</a:t>
            </a:r>
            <a:endParaRPr lang="zh-TW" altLang="zh-TW" sz="1100" kern="100" dirty="0">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Fabrication process of EO APPLN</a:t>
            </a:r>
            <a:endParaRPr lang="zh-TW" altLang="zh-TW" sz="1200" kern="100" dirty="0">
              <a:latin typeface="Calibri" panose="020F0502020204030204" pitchFamily="34" charset="0"/>
              <a:cs typeface="Times New Roman" panose="02020603050405020304" pitchFamily="18" charset="0"/>
            </a:endParaRPr>
          </a:p>
        </p:txBody>
      </p:sp>
      <p:pic>
        <p:nvPicPr>
          <p:cNvPr id="9" name="Picture 2" descr="https://scontent.xx.fbcdn.net/v/t35.0-12/18926362_10213084281410610_597485951_o.jpg?oh=32a4942d443050c0d576527d420552b7&amp;oe=5937BF7E">
            <a:extLst>
              <a:ext uri="{FF2B5EF4-FFF2-40B4-BE49-F238E27FC236}">
                <a16:creationId xmlns:a16="http://schemas.microsoft.com/office/drawing/2014/main" id="{30ED2BAD-B3A9-42D1-8489-2564064A657D}"/>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8867787" y="786554"/>
            <a:ext cx="3071672" cy="2488368"/>
          </a:xfrm>
          <a:prstGeom prst="rect">
            <a:avLst/>
          </a:prstGeom>
          <a:noFill/>
          <a:extLst>
            <a:ext uri="{909E8E84-426E-40DD-AFC4-6F175D3DCCD1}">
              <a14:hiddenFill xmlns:a14="http://schemas.microsoft.com/office/drawing/2010/main">
                <a:solidFill>
                  <a:srgbClr val="FFFFFF"/>
                </a:solidFill>
              </a14:hiddenFill>
            </a:ext>
          </a:extLst>
        </p:spPr>
      </p:pic>
      <p:pic>
        <p:nvPicPr>
          <p:cNvPr id="10" name="圖片 9">
            <a:extLst>
              <a:ext uri="{FF2B5EF4-FFF2-40B4-BE49-F238E27FC236}">
                <a16:creationId xmlns:a16="http://schemas.microsoft.com/office/drawing/2014/main" id="{C949200F-222C-46DA-893F-D08E357068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8099" y="824742"/>
            <a:ext cx="3528753" cy="2389617"/>
          </a:xfrm>
          <a:prstGeom prst="rect">
            <a:avLst/>
          </a:prstGeom>
        </p:spPr>
      </p:pic>
      <p:pic>
        <p:nvPicPr>
          <p:cNvPr id="11" name="圖片 10">
            <a:extLst>
              <a:ext uri="{FF2B5EF4-FFF2-40B4-BE49-F238E27FC236}">
                <a16:creationId xmlns:a16="http://schemas.microsoft.com/office/drawing/2014/main" id="{99879932-7E99-4365-9CF9-1A6FFD07B6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3058" y="3466489"/>
            <a:ext cx="2226351" cy="2226351"/>
          </a:xfrm>
          <a:prstGeom prst="rect">
            <a:avLst/>
          </a:prstGeom>
        </p:spPr>
      </p:pic>
      <p:pic>
        <p:nvPicPr>
          <p:cNvPr id="12" name="圖片 11">
            <a:extLst>
              <a:ext uri="{FF2B5EF4-FFF2-40B4-BE49-F238E27FC236}">
                <a16:creationId xmlns:a16="http://schemas.microsoft.com/office/drawing/2014/main" id="{1CA36F1E-D1C7-41AD-A8F4-A34CBF40C1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88041" y="3335486"/>
            <a:ext cx="3317812" cy="2488359"/>
          </a:xfrm>
          <a:prstGeom prst="rect">
            <a:avLst/>
          </a:prstGeom>
        </p:spPr>
      </p:pic>
    </p:spTree>
    <p:extLst>
      <p:ext uri="{BB962C8B-B14F-4D97-AF65-F5344CB8AC3E}">
        <p14:creationId xmlns:p14="http://schemas.microsoft.com/office/powerpoint/2010/main" val="150020310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6810391" cy="646331"/>
          </a:xfrm>
          <a:prstGeom prst="rect">
            <a:avLst/>
          </a:prstGeom>
          <a:noFill/>
        </p:spPr>
        <p:txBody>
          <a:bodyPr wrap="none" rtlCol="0">
            <a:spAutoFit/>
          </a:bodyPr>
          <a:lstStyle/>
          <a:p>
            <a:r>
              <a:rPr lang="en-US" altLang="zh-TW" sz="3600" b="1" i="1" kern="100" dirty="0">
                <a:latin typeface="Times New Roman" panose="02020603050405020304" pitchFamily="18" charset="0"/>
                <a:ea typeface="標楷體" panose="03000509000000000000" pitchFamily="65" charset="-120"/>
                <a:cs typeface="Times New Roman" panose="02020603050405020304" pitchFamily="18" charset="0"/>
              </a:rPr>
              <a:t>Fabrication process of EO APPLN</a:t>
            </a:r>
            <a:endParaRPr lang="zh-TW" altLang="zh-TW" sz="3600" kern="1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a:extLst>
              <a:ext uri="{FF2B5EF4-FFF2-40B4-BE49-F238E27FC236}">
                <a16:creationId xmlns:a16="http://schemas.microsoft.com/office/drawing/2014/main" id="{1E41D64B-D522-4A60-A61E-F5E7F8450E9F}"/>
              </a:ext>
            </a:extLst>
          </p:cNvPr>
          <p:cNvPicPr/>
          <p:nvPr/>
        </p:nvPicPr>
        <p:blipFill>
          <a:blip r:embed="rId2">
            <a:extLst>
              <a:ext uri="{28A0092B-C50C-407E-A947-70E740481C1C}">
                <a14:useLocalDpi xmlns:a14="http://schemas.microsoft.com/office/drawing/2010/main" val="0"/>
              </a:ext>
            </a:extLst>
          </a:blip>
          <a:stretch>
            <a:fillRect/>
          </a:stretch>
        </p:blipFill>
        <p:spPr>
          <a:xfrm>
            <a:off x="402907" y="808369"/>
            <a:ext cx="2964895" cy="1552653"/>
          </a:xfrm>
          <a:prstGeom prst="rect">
            <a:avLst/>
          </a:prstGeom>
        </p:spPr>
      </p:pic>
      <p:pic>
        <p:nvPicPr>
          <p:cNvPr id="7" name="圖片 6">
            <a:extLst>
              <a:ext uri="{FF2B5EF4-FFF2-40B4-BE49-F238E27FC236}">
                <a16:creationId xmlns:a16="http://schemas.microsoft.com/office/drawing/2014/main" id="{41F2E109-B566-4912-953E-05BB85426900}"/>
              </a:ext>
            </a:extLst>
          </p:cNvPr>
          <p:cNvPicPr/>
          <p:nvPr/>
        </p:nvPicPr>
        <p:blipFill>
          <a:blip r:embed="rId3">
            <a:extLst>
              <a:ext uri="{28A0092B-C50C-407E-A947-70E740481C1C}">
                <a14:useLocalDpi xmlns:a14="http://schemas.microsoft.com/office/drawing/2010/main" val="0"/>
              </a:ext>
            </a:extLst>
          </a:blip>
          <a:stretch>
            <a:fillRect/>
          </a:stretch>
        </p:blipFill>
        <p:spPr>
          <a:xfrm>
            <a:off x="3859161" y="835864"/>
            <a:ext cx="3557052" cy="1550198"/>
          </a:xfrm>
          <a:prstGeom prst="rect">
            <a:avLst/>
          </a:prstGeom>
        </p:spPr>
      </p:pic>
      <p:pic>
        <p:nvPicPr>
          <p:cNvPr id="8" name="圖片 7">
            <a:extLst>
              <a:ext uri="{FF2B5EF4-FFF2-40B4-BE49-F238E27FC236}">
                <a16:creationId xmlns:a16="http://schemas.microsoft.com/office/drawing/2014/main" id="{3A32E1E1-32DC-4B87-B902-ECD9A52519F1}"/>
              </a:ext>
            </a:extLst>
          </p:cNvPr>
          <p:cNvPicPr/>
          <p:nvPr/>
        </p:nvPicPr>
        <p:blipFill rotWithShape="1">
          <a:blip r:embed="rId4">
            <a:extLst>
              <a:ext uri="{28A0092B-C50C-407E-A947-70E740481C1C}">
                <a14:useLocalDpi xmlns:a14="http://schemas.microsoft.com/office/drawing/2010/main" val="0"/>
              </a:ext>
            </a:extLst>
          </a:blip>
          <a:srcRect t="18846"/>
          <a:stretch/>
        </p:blipFill>
        <p:spPr bwMode="auto">
          <a:xfrm>
            <a:off x="9265847" y="877452"/>
            <a:ext cx="2867025" cy="2372075"/>
          </a:xfrm>
          <a:prstGeom prst="rect">
            <a:avLst/>
          </a:prstGeom>
          <a:ln>
            <a:noFill/>
          </a:ln>
          <a:extLst>
            <a:ext uri="{53640926-AAD7-44D8-BBD7-CCE9431645EC}">
              <a14:shadowObscured xmlns:a14="http://schemas.microsoft.com/office/drawing/2010/main"/>
            </a:ext>
          </a:extLst>
        </p:spPr>
      </p:pic>
      <p:pic>
        <p:nvPicPr>
          <p:cNvPr id="9" name="圖片 8">
            <a:extLst>
              <a:ext uri="{FF2B5EF4-FFF2-40B4-BE49-F238E27FC236}">
                <a16:creationId xmlns:a16="http://schemas.microsoft.com/office/drawing/2014/main" id="{2E145D5C-BF7C-4D2D-92C2-402E37B60B4A}"/>
              </a:ext>
            </a:extLst>
          </p:cNvPr>
          <p:cNvPicPr/>
          <p:nvPr/>
        </p:nvPicPr>
        <p:blipFill>
          <a:blip r:embed="rId5">
            <a:extLst>
              <a:ext uri="{28A0092B-C50C-407E-A947-70E740481C1C}">
                <a14:useLocalDpi xmlns:a14="http://schemas.microsoft.com/office/drawing/2010/main" val="0"/>
              </a:ext>
            </a:extLst>
          </a:blip>
          <a:stretch>
            <a:fillRect/>
          </a:stretch>
        </p:blipFill>
        <p:spPr>
          <a:xfrm>
            <a:off x="8263748" y="3829759"/>
            <a:ext cx="4010025" cy="2453640"/>
          </a:xfrm>
          <a:prstGeom prst="rect">
            <a:avLst/>
          </a:prstGeom>
        </p:spPr>
      </p:pic>
      <p:pic>
        <p:nvPicPr>
          <p:cNvPr id="10" name="圖片 9">
            <a:extLst>
              <a:ext uri="{FF2B5EF4-FFF2-40B4-BE49-F238E27FC236}">
                <a16:creationId xmlns:a16="http://schemas.microsoft.com/office/drawing/2014/main" id="{05413903-7226-4646-A455-88017354800D}"/>
              </a:ext>
            </a:extLst>
          </p:cNvPr>
          <p:cNvPicPr/>
          <p:nvPr/>
        </p:nvPicPr>
        <p:blipFill>
          <a:blip r:embed="rId6">
            <a:extLst>
              <a:ext uri="{28A0092B-C50C-407E-A947-70E740481C1C}">
                <a14:useLocalDpi xmlns:a14="http://schemas.microsoft.com/office/drawing/2010/main" val="0"/>
              </a:ext>
            </a:extLst>
          </a:blip>
          <a:stretch>
            <a:fillRect/>
          </a:stretch>
        </p:blipFill>
        <p:spPr>
          <a:xfrm>
            <a:off x="4299008" y="4185845"/>
            <a:ext cx="4198620" cy="1989455"/>
          </a:xfrm>
          <a:prstGeom prst="rect">
            <a:avLst/>
          </a:prstGeom>
        </p:spPr>
      </p:pic>
      <p:pic>
        <p:nvPicPr>
          <p:cNvPr id="11" name="圖片 10">
            <a:extLst>
              <a:ext uri="{FF2B5EF4-FFF2-40B4-BE49-F238E27FC236}">
                <a16:creationId xmlns:a16="http://schemas.microsoft.com/office/drawing/2014/main" id="{C176BC56-6C64-4A4B-9ED9-892734CEAA33}"/>
              </a:ext>
            </a:extLst>
          </p:cNvPr>
          <p:cNvPicPr/>
          <p:nvPr/>
        </p:nvPicPr>
        <p:blipFill>
          <a:blip r:embed="rId7">
            <a:extLst>
              <a:ext uri="{28A0092B-C50C-407E-A947-70E740481C1C}">
                <a14:useLocalDpi xmlns:a14="http://schemas.microsoft.com/office/drawing/2010/main" val="0"/>
              </a:ext>
            </a:extLst>
          </a:blip>
          <a:stretch>
            <a:fillRect/>
          </a:stretch>
        </p:blipFill>
        <p:spPr>
          <a:xfrm>
            <a:off x="80862" y="2614556"/>
            <a:ext cx="2867025" cy="2699385"/>
          </a:xfrm>
          <a:prstGeom prst="rect">
            <a:avLst/>
          </a:prstGeom>
        </p:spPr>
      </p:pic>
      <p:sp>
        <p:nvSpPr>
          <p:cNvPr id="2" name="矩形 1">
            <a:extLst>
              <a:ext uri="{FF2B5EF4-FFF2-40B4-BE49-F238E27FC236}">
                <a16:creationId xmlns:a16="http://schemas.microsoft.com/office/drawing/2014/main" id="{ED5C64FB-2D1D-4BB8-885A-CD87EED3CC75}"/>
              </a:ext>
            </a:extLst>
          </p:cNvPr>
          <p:cNvSpPr/>
          <p:nvPr/>
        </p:nvSpPr>
        <p:spPr>
          <a:xfrm>
            <a:off x="1088327" y="2254828"/>
            <a:ext cx="1319592" cy="369332"/>
          </a:xfrm>
          <a:prstGeom prst="rect">
            <a:avLst/>
          </a:prstGeom>
        </p:spPr>
        <p:txBody>
          <a:bodyPr wrap="none">
            <a:spAutoFit/>
          </a:bodyPr>
          <a:lstStyle/>
          <a:p>
            <a:r>
              <a:rPr lang="en-US" altLang="zh-TW" b="1" dirty="0">
                <a:latin typeface="Times New Roman" panose="02020603050405020304" pitchFamily="18" charset="0"/>
                <a:ea typeface="標楷體" panose="03000509000000000000" pitchFamily="65" charset="-120"/>
              </a:rPr>
              <a:t>clean wafer</a:t>
            </a:r>
            <a:endParaRPr lang="zh-TW" altLang="en-US" b="1" dirty="0"/>
          </a:p>
        </p:txBody>
      </p:sp>
      <p:sp>
        <p:nvSpPr>
          <p:cNvPr id="3" name="矩形 2">
            <a:extLst>
              <a:ext uri="{FF2B5EF4-FFF2-40B4-BE49-F238E27FC236}">
                <a16:creationId xmlns:a16="http://schemas.microsoft.com/office/drawing/2014/main" id="{AEA6432E-CD8C-45FD-AD5E-934A7BB095EF}"/>
              </a:ext>
            </a:extLst>
          </p:cNvPr>
          <p:cNvSpPr/>
          <p:nvPr/>
        </p:nvSpPr>
        <p:spPr>
          <a:xfrm>
            <a:off x="4085862" y="2267714"/>
            <a:ext cx="2059218" cy="369332"/>
          </a:xfrm>
          <a:prstGeom prst="rect">
            <a:avLst/>
          </a:prstGeom>
        </p:spPr>
        <p:txBody>
          <a:bodyPr wrap="none">
            <a:spAutoFit/>
          </a:bodyPr>
          <a:lstStyle/>
          <a:p>
            <a:r>
              <a:rPr lang="en-US" altLang="zh-TW" b="1" dirty="0">
                <a:latin typeface="Times New Roman" panose="02020603050405020304" pitchFamily="18" charset="0"/>
                <a:ea typeface="標楷體" panose="03000509000000000000" pitchFamily="65" charset="-120"/>
              </a:rPr>
              <a:t>Photoresist coating</a:t>
            </a:r>
            <a:endParaRPr lang="zh-TW" altLang="en-US" b="1" dirty="0"/>
          </a:p>
        </p:txBody>
      </p:sp>
      <p:sp>
        <p:nvSpPr>
          <p:cNvPr id="13" name="矩形 12">
            <a:extLst>
              <a:ext uri="{FF2B5EF4-FFF2-40B4-BE49-F238E27FC236}">
                <a16:creationId xmlns:a16="http://schemas.microsoft.com/office/drawing/2014/main" id="{6B785B87-6114-486A-A2DE-B93891F0907E}"/>
              </a:ext>
            </a:extLst>
          </p:cNvPr>
          <p:cNvSpPr/>
          <p:nvPr/>
        </p:nvSpPr>
        <p:spPr>
          <a:xfrm>
            <a:off x="9283603" y="6173309"/>
            <a:ext cx="1116652" cy="369332"/>
          </a:xfrm>
          <a:prstGeom prst="rect">
            <a:avLst/>
          </a:prstGeom>
        </p:spPr>
        <p:txBody>
          <a:bodyPr wrap="none">
            <a:spAutoFit/>
          </a:bodyPr>
          <a:lstStyle/>
          <a:p>
            <a:r>
              <a:rPr lang="en-US" altLang="zh-TW" b="1" dirty="0">
                <a:latin typeface="Times New Roman" panose="02020603050405020304" pitchFamily="18" charset="0"/>
                <a:ea typeface="標楷體" panose="03000509000000000000" pitchFamily="65" charset="-120"/>
              </a:rPr>
              <a:t>Exposure</a:t>
            </a:r>
            <a:endParaRPr lang="zh-TW" altLang="en-US" b="1" dirty="0"/>
          </a:p>
        </p:txBody>
      </p:sp>
      <p:sp>
        <p:nvSpPr>
          <p:cNvPr id="14" name="矩形 13">
            <a:extLst>
              <a:ext uri="{FF2B5EF4-FFF2-40B4-BE49-F238E27FC236}">
                <a16:creationId xmlns:a16="http://schemas.microsoft.com/office/drawing/2014/main" id="{9704E269-E479-4CCB-B179-7C66152B7E60}"/>
              </a:ext>
            </a:extLst>
          </p:cNvPr>
          <p:cNvSpPr/>
          <p:nvPr/>
        </p:nvSpPr>
        <p:spPr>
          <a:xfrm>
            <a:off x="5040524" y="6173309"/>
            <a:ext cx="1479892" cy="369332"/>
          </a:xfrm>
          <a:prstGeom prst="rect">
            <a:avLst/>
          </a:prstGeom>
        </p:spPr>
        <p:txBody>
          <a:bodyPr wrap="none">
            <a:spAutoFit/>
          </a:bodyPr>
          <a:lstStyle/>
          <a:p>
            <a:r>
              <a:rPr lang="en-US" altLang="zh-TW" b="1" dirty="0">
                <a:latin typeface="Times New Roman" panose="02020603050405020304" pitchFamily="18" charset="0"/>
                <a:ea typeface="標楷體" panose="03000509000000000000" pitchFamily="65" charset="-120"/>
              </a:rPr>
              <a:t>Development</a:t>
            </a:r>
            <a:endParaRPr lang="zh-TW" altLang="en-US" b="1" dirty="0"/>
          </a:p>
        </p:txBody>
      </p:sp>
      <p:sp>
        <p:nvSpPr>
          <p:cNvPr id="15" name="箭號: 向右 14">
            <a:extLst>
              <a:ext uri="{FF2B5EF4-FFF2-40B4-BE49-F238E27FC236}">
                <a16:creationId xmlns:a16="http://schemas.microsoft.com/office/drawing/2014/main" id="{DDF5DE67-E001-4F80-8582-F3D80F57C382}"/>
              </a:ext>
            </a:extLst>
          </p:cNvPr>
          <p:cNvSpPr/>
          <p:nvPr/>
        </p:nvSpPr>
        <p:spPr>
          <a:xfrm>
            <a:off x="3449255" y="1748162"/>
            <a:ext cx="636607" cy="315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立方體 15">
            <a:extLst>
              <a:ext uri="{FF2B5EF4-FFF2-40B4-BE49-F238E27FC236}">
                <a16:creationId xmlns:a16="http://schemas.microsoft.com/office/drawing/2014/main" id="{2AC21C32-BEFB-43BD-AC1F-A77D2C476126}"/>
              </a:ext>
            </a:extLst>
          </p:cNvPr>
          <p:cNvSpPr/>
          <p:nvPr/>
        </p:nvSpPr>
        <p:spPr>
          <a:xfrm>
            <a:off x="7078780" y="1335955"/>
            <a:ext cx="2005653" cy="1190454"/>
          </a:xfrm>
          <a:prstGeom prst="cube">
            <a:avLst>
              <a:gd name="adj" fmla="val 49601"/>
            </a:avLst>
          </a:prstGeom>
          <a:solidFill>
            <a:srgbClr val="FF5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9907683E-DBC0-4816-A32E-2ABDA3DE1DD8}"/>
              </a:ext>
            </a:extLst>
          </p:cNvPr>
          <p:cNvSpPr/>
          <p:nvPr/>
        </p:nvSpPr>
        <p:spPr>
          <a:xfrm>
            <a:off x="7425699" y="1426297"/>
            <a:ext cx="1319592" cy="369332"/>
          </a:xfrm>
          <a:prstGeom prst="rect">
            <a:avLst/>
          </a:prstGeom>
        </p:spPr>
        <p:txBody>
          <a:bodyPr wrap="none">
            <a:spAutoFit/>
          </a:bodyPr>
          <a:lstStyle/>
          <a:p>
            <a:r>
              <a:rPr lang="en-US" altLang="zh-TW" b="1" dirty="0">
                <a:latin typeface="Times New Roman" panose="02020603050405020304" pitchFamily="18" charset="0"/>
                <a:ea typeface="標楷體" panose="03000509000000000000" pitchFamily="65" charset="-120"/>
              </a:rPr>
              <a:t>Soft baking</a:t>
            </a:r>
            <a:endParaRPr lang="zh-TW" altLang="en-US" b="1" dirty="0"/>
          </a:p>
        </p:txBody>
      </p:sp>
      <p:sp>
        <p:nvSpPr>
          <p:cNvPr id="17" name="箭號: 向右 16">
            <a:extLst>
              <a:ext uri="{FF2B5EF4-FFF2-40B4-BE49-F238E27FC236}">
                <a16:creationId xmlns:a16="http://schemas.microsoft.com/office/drawing/2014/main" id="{5B01FF89-04DA-473B-8A2F-E1A4A7C353A7}"/>
              </a:ext>
            </a:extLst>
          </p:cNvPr>
          <p:cNvSpPr/>
          <p:nvPr/>
        </p:nvSpPr>
        <p:spPr>
          <a:xfrm>
            <a:off x="6421958" y="1748161"/>
            <a:ext cx="636607" cy="315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立方體 17">
            <a:extLst>
              <a:ext uri="{FF2B5EF4-FFF2-40B4-BE49-F238E27FC236}">
                <a16:creationId xmlns:a16="http://schemas.microsoft.com/office/drawing/2014/main" id="{B94DAD02-6779-4884-A25E-13B4E3F7E9C1}"/>
              </a:ext>
            </a:extLst>
          </p:cNvPr>
          <p:cNvSpPr/>
          <p:nvPr/>
        </p:nvSpPr>
        <p:spPr>
          <a:xfrm>
            <a:off x="2456854" y="5587887"/>
            <a:ext cx="2005653" cy="1190454"/>
          </a:xfrm>
          <a:prstGeom prst="cube">
            <a:avLst>
              <a:gd name="adj" fmla="val 4960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C6389F7F-C0B5-4420-80F1-7E079985722B}"/>
              </a:ext>
            </a:extLst>
          </p:cNvPr>
          <p:cNvSpPr/>
          <p:nvPr/>
        </p:nvSpPr>
        <p:spPr>
          <a:xfrm>
            <a:off x="2735765" y="5644784"/>
            <a:ext cx="1447832" cy="369332"/>
          </a:xfrm>
          <a:prstGeom prst="rect">
            <a:avLst/>
          </a:prstGeom>
        </p:spPr>
        <p:txBody>
          <a:bodyPr wrap="none">
            <a:spAutoFit/>
          </a:bodyPr>
          <a:lstStyle/>
          <a:p>
            <a:r>
              <a:rPr lang="en-US" altLang="zh-TW" b="1" dirty="0">
                <a:latin typeface="Times New Roman" panose="02020603050405020304" pitchFamily="18" charset="0"/>
                <a:ea typeface="標楷體" panose="03000509000000000000" pitchFamily="65" charset="-120"/>
              </a:rPr>
              <a:t>Hard baking</a:t>
            </a:r>
            <a:endParaRPr lang="zh-TW" altLang="en-US" b="1" dirty="0"/>
          </a:p>
        </p:txBody>
      </p:sp>
      <p:sp>
        <p:nvSpPr>
          <p:cNvPr id="20" name="箭號: 向右 19">
            <a:extLst>
              <a:ext uri="{FF2B5EF4-FFF2-40B4-BE49-F238E27FC236}">
                <a16:creationId xmlns:a16="http://schemas.microsoft.com/office/drawing/2014/main" id="{1AEB1A30-764A-4017-8C5F-0C0DD36137C5}"/>
              </a:ext>
            </a:extLst>
          </p:cNvPr>
          <p:cNvSpPr/>
          <p:nvPr/>
        </p:nvSpPr>
        <p:spPr>
          <a:xfrm rot="10800000">
            <a:off x="7804769" y="5290223"/>
            <a:ext cx="636607" cy="315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箭號: 向右 20">
            <a:extLst>
              <a:ext uri="{FF2B5EF4-FFF2-40B4-BE49-F238E27FC236}">
                <a16:creationId xmlns:a16="http://schemas.microsoft.com/office/drawing/2014/main" id="{E4A6B11F-C3A2-486E-BE21-9959D28581B1}"/>
              </a:ext>
            </a:extLst>
          </p:cNvPr>
          <p:cNvSpPr/>
          <p:nvPr/>
        </p:nvSpPr>
        <p:spPr>
          <a:xfrm rot="9000000">
            <a:off x="4390875" y="5208391"/>
            <a:ext cx="636607" cy="315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箭號: 向右 21">
            <a:extLst>
              <a:ext uri="{FF2B5EF4-FFF2-40B4-BE49-F238E27FC236}">
                <a16:creationId xmlns:a16="http://schemas.microsoft.com/office/drawing/2014/main" id="{8F2169FB-B8D2-4817-9558-50727964DC24}"/>
              </a:ext>
            </a:extLst>
          </p:cNvPr>
          <p:cNvSpPr/>
          <p:nvPr/>
        </p:nvSpPr>
        <p:spPr>
          <a:xfrm rot="3600000">
            <a:off x="7996726" y="3189305"/>
            <a:ext cx="1545723" cy="315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928E3C1F-BE72-448B-BACE-5BF183B496E3}"/>
              </a:ext>
            </a:extLst>
          </p:cNvPr>
          <p:cNvSpPr/>
          <p:nvPr/>
        </p:nvSpPr>
        <p:spPr>
          <a:xfrm>
            <a:off x="9084433" y="3249527"/>
            <a:ext cx="3188693" cy="307777"/>
          </a:xfrm>
          <a:prstGeom prst="rect">
            <a:avLst/>
          </a:prstGeom>
        </p:spPr>
        <p:txBody>
          <a:bodyPr wrap="none">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S</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chematic diagram</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of p</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ositive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photo</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mask</a:t>
            </a:r>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0A99A8B0-96B4-4CDA-BDC4-C405989EE8EF}"/>
                  </a:ext>
                </a:extLst>
              </p:cNvPr>
              <p:cNvSpPr/>
              <p:nvPr/>
            </p:nvSpPr>
            <p:spPr>
              <a:xfrm>
                <a:off x="80862" y="5299005"/>
                <a:ext cx="2747682" cy="461665"/>
              </a:xfrm>
              <a:prstGeom prst="rect">
                <a:avLst/>
              </a:prstGeom>
            </p:spPr>
            <p:txBody>
              <a:bodyPr wrap="square">
                <a:spAutoFit/>
              </a:bodyPr>
              <a:lstStyle/>
              <a:p>
                <a:pPr algn="ctr"/>
                <a:r>
                  <a:rPr lang="en-US" altLang="zh-TW" sz="12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a:t>
                </a:r>
                <a:r>
                  <a:rPr lang="zh-TW" altLang="en-US" sz="12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chematic diagram</a:t>
                </a:r>
                <a:r>
                  <a:rPr lang="en-US" altLang="zh-TW" sz="12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of </a:t>
                </a:r>
                <a14:m>
                  <m:oMath xmlns:m="http://schemas.openxmlformats.org/officeDocument/2006/math">
                    <m:sSub>
                      <m:sSubPr>
                        <m:ctrlPr>
                          <a:rPr lang="en-US" altLang="zh-TW" sz="120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2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𝐿𝑖𝑁𝑏𝑂</m:t>
                        </m:r>
                      </m:e>
                      <m:sub>
                        <m:r>
                          <a:rPr lang="en-US" altLang="zh-TW" sz="1200" b="0"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3</m:t>
                        </m:r>
                      </m:sub>
                    </m:sSub>
                  </m:oMath>
                </a14:m>
                <a:r>
                  <a:rPr lang="zh-TW" altLang="en-US" sz="12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2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chip after lithography </a:t>
                </a:r>
                <a:endParaRPr lang="zh-TW" altLang="en-US" sz="12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4" name="矩形 23">
                <a:extLst>
                  <a:ext uri="{FF2B5EF4-FFF2-40B4-BE49-F238E27FC236}">
                    <a16:creationId xmlns:a16="http://schemas.microsoft.com/office/drawing/2014/main" id="{0A99A8B0-96B4-4CDA-BDC4-C405989EE8EF}"/>
                  </a:ext>
                </a:extLst>
              </p:cNvPr>
              <p:cNvSpPr>
                <a:spLocks noRot="1" noChangeAspect="1" noMove="1" noResize="1" noEditPoints="1" noAdjustHandles="1" noChangeArrowheads="1" noChangeShapeType="1" noTextEdit="1"/>
              </p:cNvSpPr>
              <p:nvPr/>
            </p:nvSpPr>
            <p:spPr>
              <a:xfrm>
                <a:off x="80862" y="5299005"/>
                <a:ext cx="2747682" cy="461665"/>
              </a:xfrm>
              <a:prstGeom prst="rect">
                <a:avLst/>
              </a:prstGeom>
              <a:blipFill>
                <a:blip r:embed="rId8"/>
                <a:stretch>
                  <a:fillRect r="-443" b="-9211"/>
                </a:stretch>
              </a:blipFill>
            </p:spPr>
            <p:txBody>
              <a:bodyPr/>
              <a:lstStyle/>
              <a:p>
                <a:r>
                  <a:rPr lang="zh-TW" altLang="en-US">
                    <a:noFill/>
                  </a:rPr>
                  <a:t> </a:t>
                </a:r>
              </a:p>
            </p:txBody>
          </p:sp>
        </mc:Fallback>
      </mc:AlternateContent>
      <p:sp>
        <p:nvSpPr>
          <p:cNvPr id="26" name="投影片編號版面配置區 25">
            <a:extLst>
              <a:ext uri="{FF2B5EF4-FFF2-40B4-BE49-F238E27FC236}">
                <a16:creationId xmlns:a16="http://schemas.microsoft.com/office/drawing/2014/main" id="{5F450241-F58B-4482-89B9-71A23A28743F}"/>
              </a:ext>
            </a:extLst>
          </p:cNvPr>
          <p:cNvSpPr>
            <a:spLocks noGrp="1"/>
          </p:cNvSpPr>
          <p:nvPr>
            <p:ph type="sldNum" sz="quarter" idx="12"/>
          </p:nvPr>
        </p:nvSpPr>
        <p:spPr/>
        <p:txBody>
          <a:bodyPr/>
          <a:lstStyle/>
          <a:p>
            <a:fld id="{9044CBB6-E20C-4076-82F9-F8F95241C54D}" type="slidenum">
              <a:rPr lang="zh-TW" altLang="en-US" smtClean="0">
                <a:solidFill>
                  <a:schemeClr val="tx1"/>
                </a:solidFill>
              </a:rPr>
              <a:t>22</a:t>
            </a:fld>
            <a:endParaRPr lang="zh-TW" altLang="en-US">
              <a:solidFill>
                <a:schemeClr val="tx1"/>
              </a:solidFill>
            </a:endParaRPr>
          </a:p>
        </p:txBody>
      </p:sp>
    </p:spTree>
    <p:extLst>
      <p:ext uri="{BB962C8B-B14F-4D97-AF65-F5344CB8AC3E}">
        <p14:creationId xmlns:p14="http://schemas.microsoft.com/office/powerpoint/2010/main" val="3867002510"/>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pic>
        <p:nvPicPr>
          <p:cNvPr id="6" name="圖片 5">
            <a:extLst>
              <a:ext uri="{FF2B5EF4-FFF2-40B4-BE49-F238E27FC236}">
                <a16:creationId xmlns:a16="http://schemas.microsoft.com/office/drawing/2014/main" id="{9D122191-1B33-418A-A643-92CE82CD59B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99072" y="898710"/>
            <a:ext cx="5758815" cy="1837690"/>
          </a:xfrm>
          <a:prstGeom prst="rect">
            <a:avLst/>
          </a:prstGeom>
        </p:spPr>
      </p:pic>
      <p:pic>
        <p:nvPicPr>
          <p:cNvPr id="7" name="圖片 6">
            <a:extLst>
              <a:ext uri="{FF2B5EF4-FFF2-40B4-BE49-F238E27FC236}">
                <a16:creationId xmlns:a16="http://schemas.microsoft.com/office/drawing/2014/main" id="{D6D789AC-D5C1-44AB-A375-4ED1D8E773E8}"/>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6248577" y="725990"/>
            <a:ext cx="5760085" cy="1910080"/>
          </a:xfrm>
          <a:prstGeom prst="rect">
            <a:avLst/>
          </a:prstGeom>
        </p:spPr>
      </p:pic>
      <p:pic>
        <p:nvPicPr>
          <p:cNvPr id="8" name="圖片 7">
            <a:extLst>
              <a:ext uri="{FF2B5EF4-FFF2-40B4-BE49-F238E27FC236}">
                <a16:creationId xmlns:a16="http://schemas.microsoft.com/office/drawing/2014/main" id="{C8B60F83-3553-4F7C-A076-56B5D020F9FB}"/>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725699" y="3394338"/>
            <a:ext cx="5762625" cy="2804160"/>
          </a:xfrm>
          <a:prstGeom prst="rect">
            <a:avLst/>
          </a:prstGeom>
        </p:spPr>
      </p:pic>
      <p:pic>
        <p:nvPicPr>
          <p:cNvPr id="9" name="圖片 8">
            <a:extLst>
              <a:ext uri="{FF2B5EF4-FFF2-40B4-BE49-F238E27FC236}">
                <a16:creationId xmlns:a16="http://schemas.microsoft.com/office/drawing/2014/main" id="{D356CFF8-CD1A-48A2-9D53-9AE5ACE2ED6B}"/>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7715443" y="3429000"/>
            <a:ext cx="3521710" cy="2514600"/>
          </a:xfrm>
          <a:prstGeom prst="rect">
            <a:avLst/>
          </a:prstGeom>
        </p:spPr>
      </p:pic>
      <p:sp>
        <p:nvSpPr>
          <p:cNvPr id="2" name="文字方塊 1">
            <a:extLst>
              <a:ext uri="{FF2B5EF4-FFF2-40B4-BE49-F238E27FC236}">
                <a16:creationId xmlns:a16="http://schemas.microsoft.com/office/drawing/2014/main" id="{783E21F4-3915-4A62-8426-F17E553E0427}"/>
              </a:ext>
            </a:extLst>
          </p:cNvPr>
          <p:cNvSpPr txBox="1"/>
          <p:nvPr/>
        </p:nvSpPr>
        <p:spPr>
          <a:xfrm>
            <a:off x="2494759" y="2724453"/>
            <a:ext cx="1533433" cy="369332"/>
          </a:xfrm>
          <a:prstGeom prst="rect">
            <a:avLst/>
          </a:prstGeom>
          <a:noFill/>
        </p:spPr>
        <p:txBody>
          <a:bodyPr wrap="none" rtlCol="0">
            <a:spAutoFit/>
          </a:bodyPr>
          <a:lstStyle/>
          <a:p>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Poling fixture</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CE8C5647-EE64-4F41-93B8-62E6C9F2A053}"/>
                  </a:ext>
                </a:extLst>
              </p:cNvPr>
              <p:cNvSpPr txBox="1"/>
              <p:nvPr/>
            </p:nvSpPr>
            <p:spPr>
              <a:xfrm>
                <a:off x="7715443" y="2636070"/>
                <a:ext cx="2907206" cy="369332"/>
              </a:xfrm>
              <a:prstGeom prst="rect">
                <a:avLst/>
              </a:prstGeom>
              <a:noFill/>
            </p:spPr>
            <p:txBody>
              <a:bodyPr wrap="none" rtlCol="0">
                <a:spAutoFit/>
              </a:bodyPr>
              <a:lstStyle/>
              <a:p>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Inject </a:t>
                </a:r>
                <a14:m>
                  <m:oMath xmlns:m="http://schemas.openxmlformats.org/officeDocument/2006/math">
                    <m:r>
                      <a:rPr lang="en-US" altLang="zh-TW" b="1" i="1" smtClean="0">
                        <a:latin typeface="Cambria Math" panose="02040503050406030204" pitchFamily="18" charset="0"/>
                      </a:rPr>
                      <m:t>𝑳𝒊𝑪𝒍</m:t>
                    </m:r>
                  </m:oMath>
                </a14:m>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in poling fixture</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0" name="文字方塊 9">
                <a:extLst>
                  <a:ext uri="{FF2B5EF4-FFF2-40B4-BE49-F238E27FC236}">
                    <a16:creationId xmlns:a16="http://schemas.microsoft.com/office/drawing/2014/main" id="{CE8C5647-EE64-4F41-93B8-62E6C9F2A053}"/>
                  </a:ext>
                </a:extLst>
              </p:cNvPr>
              <p:cNvSpPr txBox="1">
                <a:spLocks noRot="1" noChangeAspect="1" noMove="1" noResize="1" noEditPoints="1" noAdjustHandles="1" noChangeArrowheads="1" noChangeShapeType="1" noTextEdit="1"/>
              </p:cNvSpPr>
              <p:nvPr/>
            </p:nvSpPr>
            <p:spPr>
              <a:xfrm>
                <a:off x="7715443" y="2636070"/>
                <a:ext cx="2907206" cy="369332"/>
              </a:xfrm>
              <a:prstGeom prst="rect">
                <a:avLst/>
              </a:prstGeom>
              <a:blipFill>
                <a:blip r:embed="rId7"/>
                <a:stretch>
                  <a:fillRect l="-1887" t="-8197" r="-1048" b="-24590"/>
                </a:stretch>
              </a:blipFill>
            </p:spPr>
            <p:txBody>
              <a:bodyPr/>
              <a:lstStyle/>
              <a:p>
                <a:r>
                  <a:rPr lang="zh-TW" altLang="en-US">
                    <a:noFill/>
                  </a:rPr>
                  <a:t> </a:t>
                </a:r>
              </a:p>
            </p:txBody>
          </p:sp>
        </mc:Fallback>
      </mc:AlternateContent>
      <p:sp>
        <p:nvSpPr>
          <p:cNvPr id="3" name="文字方塊 2">
            <a:extLst>
              <a:ext uri="{FF2B5EF4-FFF2-40B4-BE49-F238E27FC236}">
                <a16:creationId xmlns:a16="http://schemas.microsoft.com/office/drawing/2014/main" id="{2FD01E74-0667-4362-9779-464462901132}"/>
              </a:ext>
            </a:extLst>
          </p:cNvPr>
          <p:cNvSpPr txBox="1"/>
          <p:nvPr/>
        </p:nvSpPr>
        <p:spPr>
          <a:xfrm>
            <a:off x="2351260" y="6303863"/>
            <a:ext cx="2743200" cy="369332"/>
          </a:xfrm>
          <a:prstGeom prst="rect">
            <a:avLst/>
          </a:prstGeom>
          <a:noFill/>
        </p:spPr>
        <p:txBody>
          <a:bodyPr wrap="square" rtlCol="0">
            <a:spAutoFit/>
          </a:bodyPr>
          <a:lstStyle/>
          <a:p>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Applied high electric field</a:t>
            </a:r>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A968EB90-9ABE-49FF-9152-19D008A4D1A9}"/>
                  </a:ext>
                </a:extLst>
              </p:cNvPr>
              <p:cNvSpPr/>
              <p:nvPr/>
            </p:nvSpPr>
            <p:spPr>
              <a:xfrm>
                <a:off x="8133943" y="5996086"/>
                <a:ext cx="2684709" cy="307777"/>
              </a:xfrm>
              <a:prstGeom prst="rect">
                <a:avLst/>
              </a:prstGeom>
            </p:spPr>
            <p:txBody>
              <a:bodyPr wrap="none">
                <a:spAutoFit/>
              </a:bodyPr>
              <a:lstStyle/>
              <a:p>
                <a14:m>
                  <m:oMath xmlns:m="http://schemas.openxmlformats.org/officeDocument/2006/math">
                    <m:sSub>
                      <m:sSubPr>
                        <m:ctrlPr>
                          <a:rPr lang="en-US" altLang="zh-TW" sz="1400" b="1" i="1"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1400" b="1" i="1">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𝑳𝒊𝑵𝒃𝑶</m:t>
                        </m:r>
                      </m:e>
                      <m:sub>
                        <m:r>
                          <a:rPr lang="en-US" altLang="zh-TW" sz="1400" b="1" i="1">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𝟑</m:t>
                        </m:r>
                      </m:sub>
                    </m:sSub>
                  </m:oMath>
                </a14:m>
                <a:r>
                  <a:rPr lang="zh-TW" altLang="en-US" sz="1400"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after poling and etching</a:t>
                </a:r>
                <a:endParaRPr lang="zh-TW" altLang="en-US" sz="1400"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A968EB90-9ABE-49FF-9152-19D008A4D1A9}"/>
                  </a:ext>
                </a:extLst>
              </p:cNvPr>
              <p:cNvSpPr>
                <a:spLocks noRot="1" noChangeAspect="1" noMove="1" noResize="1" noEditPoints="1" noAdjustHandles="1" noChangeArrowheads="1" noChangeShapeType="1" noTextEdit="1"/>
              </p:cNvSpPr>
              <p:nvPr/>
            </p:nvSpPr>
            <p:spPr>
              <a:xfrm>
                <a:off x="8133943" y="5996086"/>
                <a:ext cx="2684709" cy="307777"/>
              </a:xfrm>
              <a:prstGeom prst="rect">
                <a:avLst/>
              </a:prstGeom>
              <a:blipFill>
                <a:blip r:embed="rId8"/>
                <a:stretch>
                  <a:fillRect t="-4000" b="-20000"/>
                </a:stretch>
              </a:blipFill>
            </p:spPr>
            <p:txBody>
              <a:bodyPr/>
              <a:lstStyle/>
              <a:p>
                <a:r>
                  <a:rPr lang="zh-TW" altLang="en-US">
                    <a:noFill/>
                  </a:rPr>
                  <a:t> </a:t>
                </a:r>
              </a:p>
            </p:txBody>
          </p:sp>
        </mc:Fallback>
      </mc:AlternateContent>
      <p:sp>
        <p:nvSpPr>
          <p:cNvPr id="13" name="投影片編號版面配置區 12">
            <a:extLst>
              <a:ext uri="{FF2B5EF4-FFF2-40B4-BE49-F238E27FC236}">
                <a16:creationId xmlns:a16="http://schemas.microsoft.com/office/drawing/2014/main" id="{B8778F40-ED1F-4CF0-B67F-88ADA3817B64}"/>
              </a:ext>
            </a:extLst>
          </p:cNvPr>
          <p:cNvSpPr>
            <a:spLocks noGrp="1"/>
          </p:cNvSpPr>
          <p:nvPr>
            <p:ph type="sldNum" sz="quarter" idx="12"/>
          </p:nvPr>
        </p:nvSpPr>
        <p:spPr/>
        <p:txBody>
          <a:bodyPr/>
          <a:lstStyle/>
          <a:p>
            <a:fld id="{9044CBB6-E20C-4076-82F9-F8F95241C54D}" type="slidenum">
              <a:rPr lang="zh-TW" altLang="en-US" smtClean="0">
                <a:solidFill>
                  <a:schemeClr val="tx1"/>
                </a:solidFill>
              </a:rPr>
              <a:t>23</a:t>
            </a:fld>
            <a:endParaRPr lang="zh-TW" altLang="en-US">
              <a:solidFill>
                <a:schemeClr val="tx1"/>
              </a:solidFill>
            </a:endParaRPr>
          </a:p>
        </p:txBody>
      </p:sp>
      <p:sp>
        <p:nvSpPr>
          <p:cNvPr id="14" name="文字方塊 13">
            <a:extLst>
              <a:ext uri="{FF2B5EF4-FFF2-40B4-BE49-F238E27FC236}">
                <a16:creationId xmlns:a16="http://schemas.microsoft.com/office/drawing/2014/main" id="{B2319CFA-D116-4795-8CE2-9EC724FE2A43}"/>
              </a:ext>
            </a:extLst>
          </p:cNvPr>
          <p:cNvSpPr txBox="1"/>
          <p:nvPr/>
        </p:nvSpPr>
        <p:spPr>
          <a:xfrm>
            <a:off x="727969" y="79659"/>
            <a:ext cx="6810391" cy="646331"/>
          </a:xfrm>
          <a:prstGeom prst="rect">
            <a:avLst/>
          </a:prstGeom>
          <a:noFill/>
        </p:spPr>
        <p:txBody>
          <a:bodyPr wrap="none" rtlCol="0">
            <a:spAutoFit/>
          </a:bodyPr>
          <a:lstStyle/>
          <a:p>
            <a:r>
              <a:rPr lang="en-US" altLang="zh-TW" sz="3600" b="1" i="1" kern="100" dirty="0">
                <a:latin typeface="Times New Roman" panose="02020603050405020304" pitchFamily="18" charset="0"/>
                <a:ea typeface="標楷體" panose="03000509000000000000" pitchFamily="65" charset="-120"/>
                <a:cs typeface="Times New Roman" panose="02020603050405020304" pitchFamily="18" charset="0"/>
              </a:rPr>
              <a:t>Fabrication process of EO APPLN</a:t>
            </a:r>
            <a:endParaRPr lang="zh-TW" altLang="zh-TW" sz="3600" kern="1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901125388"/>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5262979" cy="646331"/>
          </a:xfrm>
          <a:prstGeom prst="rect">
            <a:avLst/>
          </a:prstGeom>
          <a:noFill/>
        </p:spPr>
        <p:txBody>
          <a:bodyPr wrap="none" rtlCol="0">
            <a:spAutoFit/>
          </a:bodyPr>
          <a:lstStyle/>
          <a:p>
            <a:r>
              <a:rPr lang="en-US" altLang="zh-TW" sz="3600" b="1" i="1" kern="100" dirty="0">
                <a:latin typeface="Times New Roman" panose="02020603050405020304" pitchFamily="18" charset="0"/>
                <a:ea typeface="標楷體" panose="03000509000000000000" pitchFamily="65" charset="-120"/>
                <a:cs typeface="Times New Roman" panose="02020603050405020304" pitchFamily="18" charset="0"/>
              </a:rPr>
              <a:t>Dicing, Polishing, Coating</a:t>
            </a:r>
            <a:endParaRPr lang="zh-TW" altLang="zh-TW" sz="3600" kern="1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a:extLst>
              <a:ext uri="{FF2B5EF4-FFF2-40B4-BE49-F238E27FC236}">
                <a16:creationId xmlns:a16="http://schemas.microsoft.com/office/drawing/2014/main" id="{55A09B52-FF9C-4DFC-9B09-B28B272E3938}"/>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177290" y="807887"/>
            <a:ext cx="3741420" cy="2960370"/>
          </a:xfrm>
          <a:prstGeom prst="rect">
            <a:avLst/>
          </a:prstGeom>
        </p:spPr>
      </p:pic>
      <p:pic>
        <p:nvPicPr>
          <p:cNvPr id="7" name="圖片 6">
            <a:extLst>
              <a:ext uri="{FF2B5EF4-FFF2-40B4-BE49-F238E27FC236}">
                <a16:creationId xmlns:a16="http://schemas.microsoft.com/office/drawing/2014/main" id="{C0A96B08-F641-4FC6-8D17-07E2232293B4}"/>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7951037" y="1181544"/>
            <a:ext cx="2950741" cy="2213056"/>
          </a:xfrm>
          <a:prstGeom prst="rect">
            <a:avLst/>
          </a:prstGeom>
        </p:spPr>
      </p:pic>
      <p:pic>
        <p:nvPicPr>
          <p:cNvPr id="8" name="圖片 7">
            <a:extLst>
              <a:ext uri="{FF2B5EF4-FFF2-40B4-BE49-F238E27FC236}">
                <a16:creationId xmlns:a16="http://schemas.microsoft.com/office/drawing/2014/main" id="{8DFCA66E-AC25-4FAD-A269-362580F792D0}"/>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3203956" y="4295248"/>
            <a:ext cx="5760085" cy="2211705"/>
          </a:xfrm>
          <a:prstGeom prst="rect">
            <a:avLst/>
          </a:prstGeom>
        </p:spPr>
      </p:pic>
      <p:sp>
        <p:nvSpPr>
          <p:cNvPr id="2" name="矩形 1">
            <a:extLst>
              <a:ext uri="{FF2B5EF4-FFF2-40B4-BE49-F238E27FC236}">
                <a16:creationId xmlns:a16="http://schemas.microsoft.com/office/drawing/2014/main" id="{69AE06F9-0EF4-48F5-A46C-A134A6555297}"/>
              </a:ext>
            </a:extLst>
          </p:cNvPr>
          <p:cNvSpPr/>
          <p:nvPr/>
        </p:nvSpPr>
        <p:spPr>
          <a:xfrm>
            <a:off x="1422101" y="3739484"/>
            <a:ext cx="4028603" cy="307777"/>
          </a:xfrm>
          <a:prstGeom prst="rect">
            <a:avLst/>
          </a:prstGeom>
        </p:spPr>
        <p:txBody>
          <a:bodyPr wrap="none">
            <a:spAutoFit/>
          </a:bodyPr>
          <a:lstStyle/>
          <a:p>
            <a:r>
              <a:rPr lang="en-US" altLang="zh-TW" sz="1400" b="1" dirty="0">
                <a:latin typeface="Times New Roman" panose="02020603050405020304" pitchFamily="18" charset="0"/>
                <a:ea typeface="標楷體" panose="03000509000000000000" pitchFamily="65" charset="-120"/>
                <a:cs typeface="Times New Roman" panose="02020603050405020304" pitchFamily="18" charset="0"/>
              </a:rPr>
              <a:t>D</a:t>
            </a:r>
            <a:r>
              <a:rPr lang="zh-TW" altLang="en-US" sz="1400" b="1" dirty="0">
                <a:latin typeface="Times New Roman" panose="02020603050405020304" pitchFamily="18" charset="0"/>
                <a:ea typeface="標楷體" panose="03000509000000000000" pitchFamily="65" charset="-120"/>
                <a:cs typeface="Times New Roman" panose="02020603050405020304" pitchFamily="18" charset="0"/>
              </a:rPr>
              <a:t>iagram</a:t>
            </a:r>
            <a:r>
              <a:rPr lang="en-US" altLang="zh-TW" sz="1400" b="1" dirty="0">
                <a:latin typeface="Times New Roman" panose="02020603050405020304" pitchFamily="18" charset="0"/>
                <a:ea typeface="標楷體" panose="03000509000000000000" pitchFamily="65" charset="-120"/>
                <a:cs typeface="Times New Roman" panose="02020603050405020304" pitchFamily="18" charset="0"/>
              </a:rPr>
              <a:t> of the EOAPPLN after </a:t>
            </a:r>
            <a:r>
              <a:rPr lang="en-US" altLang="zh-TW" sz="1400" b="1" dirty="0" err="1">
                <a:latin typeface="Times New Roman" panose="02020603050405020304" pitchFamily="18" charset="0"/>
                <a:ea typeface="標楷體" panose="03000509000000000000" pitchFamily="65" charset="-120"/>
                <a:cs typeface="Times New Roman" panose="02020603050405020304" pitchFamily="18" charset="0"/>
              </a:rPr>
              <a:t>endface</a:t>
            </a:r>
            <a:r>
              <a:rPr lang="en-US" altLang="zh-TW" sz="1400" b="1" dirty="0">
                <a:latin typeface="Times New Roman" panose="02020603050405020304" pitchFamily="18" charset="0"/>
                <a:ea typeface="標楷體" panose="03000509000000000000" pitchFamily="65" charset="-120"/>
                <a:cs typeface="Times New Roman" panose="02020603050405020304" pitchFamily="18" charset="0"/>
              </a:rPr>
              <a:t> polishing</a:t>
            </a:r>
            <a:endParaRPr lang="zh-TW" altLang="en-US" sz="1400" dirty="0"/>
          </a:p>
        </p:txBody>
      </p:sp>
      <p:sp>
        <p:nvSpPr>
          <p:cNvPr id="3" name="矩形 2">
            <a:extLst>
              <a:ext uri="{FF2B5EF4-FFF2-40B4-BE49-F238E27FC236}">
                <a16:creationId xmlns:a16="http://schemas.microsoft.com/office/drawing/2014/main" id="{AEC75381-05B8-4C7F-AFB1-A374338F2F69}"/>
              </a:ext>
            </a:extLst>
          </p:cNvPr>
          <p:cNvSpPr/>
          <p:nvPr/>
        </p:nvSpPr>
        <p:spPr>
          <a:xfrm>
            <a:off x="501474" y="812212"/>
            <a:ext cx="1095172" cy="369332"/>
          </a:xfrm>
          <a:prstGeom prst="rect">
            <a:avLst/>
          </a:prstGeom>
        </p:spPr>
        <p:txBody>
          <a:bodyPr wrap="none">
            <a:spAutoFit/>
          </a:bodyPr>
          <a:lstStyle/>
          <a:p>
            <a:r>
              <a:rPr lang="en-US" altLang="zh-TW" b="1" i="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Polishing</a:t>
            </a:r>
            <a:endParaRPr lang="zh-TW" altLang="en-US" i="1" u="sng" dirty="0">
              <a:effectLst>
                <a:outerShdw blurRad="38100" dist="38100" dir="2700000" algn="tl">
                  <a:srgbClr val="000000">
                    <a:alpha val="43137"/>
                  </a:srgbClr>
                </a:outerShdw>
              </a:effectLst>
            </a:endParaRPr>
          </a:p>
        </p:txBody>
      </p:sp>
      <p:sp>
        <p:nvSpPr>
          <p:cNvPr id="9" name="矩形 8">
            <a:extLst>
              <a:ext uri="{FF2B5EF4-FFF2-40B4-BE49-F238E27FC236}">
                <a16:creationId xmlns:a16="http://schemas.microsoft.com/office/drawing/2014/main" id="{C71AD33D-6F9E-4E24-B2BA-C12E9E2F3684}"/>
              </a:ext>
            </a:extLst>
          </p:cNvPr>
          <p:cNvSpPr/>
          <p:nvPr/>
        </p:nvSpPr>
        <p:spPr>
          <a:xfrm>
            <a:off x="6539770" y="812212"/>
            <a:ext cx="941283" cy="369332"/>
          </a:xfrm>
          <a:prstGeom prst="rect">
            <a:avLst/>
          </a:prstGeom>
        </p:spPr>
        <p:txBody>
          <a:bodyPr wrap="none">
            <a:spAutoFit/>
          </a:bodyPr>
          <a:lstStyle/>
          <a:p>
            <a:r>
              <a:rPr lang="en-US" altLang="zh-TW" b="1" i="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Coating</a:t>
            </a:r>
            <a:endParaRPr lang="zh-TW" altLang="en-US" i="1" u="sng" dirty="0">
              <a:effectLst>
                <a:outerShdw blurRad="38100" dist="38100" dir="2700000" algn="tl">
                  <a:srgbClr val="000000">
                    <a:alpha val="43137"/>
                  </a:srgbClr>
                </a:outerShdw>
              </a:effectLst>
            </a:endParaRPr>
          </a:p>
        </p:txBody>
      </p:sp>
      <p:sp>
        <p:nvSpPr>
          <p:cNvPr id="10" name="矩形 9">
            <a:extLst>
              <a:ext uri="{FF2B5EF4-FFF2-40B4-BE49-F238E27FC236}">
                <a16:creationId xmlns:a16="http://schemas.microsoft.com/office/drawing/2014/main" id="{578BB785-D04E-442D-AC86-BAAE1BD71FE2}"/>
              </a:ext>
            </a:extLst>
          </p:cNvPr>
          <p:cNvSpPr/>
          <p:nvPr/>
        </p:nvSpPr>
        <p:spPr>
          <a:xfrm>
            <a:off x="1217515" y="4295248"/>
            <a:ext cx="1986441" cy="369332"/>
          </a:xfrm>
          <a:prstGeom prst="rect">
            <a:avLst/>
          </a:prstGeom>
        </p:spPr>
        <p:txBody>
          <a:bodyPr wrap="none">
            <a:spAutoFit/>
          </a:bodyPr>
          <a:lstStyle/>
          <a:p>
            <a:r>
              <a:rPr lang="en-US" altLang="zh-TW" b="1" i="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Completed product</a:t>
            </a:r>
            <a:endParaRPr lang="zh-TW" altLang="en-US" b="1" i="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矩形 10">
            <a:extLst>
              <a:ext uri="{FF2B5EF4-FFF2-40B4-BE49-F238E27FC236}">
                <a16:creationId xmlns:a16="http://schemas.microsoft.com/office/drawing/2014/main" id="{4B4D73C3-88EF-4CEF-81A5-206CFD9763FA}"/>
              </a:ext>
            </a:extLst>
          </p:cNvPr>
          <p:cNvSpPr/>
          <p:nvPr/>
        </p:nvSpPr>
        <p:spPr>
          <a:xfrm>
            <a:off x="7728698" y="3739484"/>
            <a:ext cx="3255956" cy="307777"/>
          </a:xfrm>
          <a:prstGeom prst="rect">
            <a:avLst/>
          </a:prstGeom>
        </p:spPr>
        <p:txBody>
          <a:bodyPr wrap="none">
            <a:spAutoFit/>
          </a:bodyPr>
          <a:lstStyle/>
          <a:p>
            <a:r>
              <a:rPr lang="en-US" altLang="zh-TW" sz="1400" b="1" dirty="0">
                <a:latin typeface="Times New Roman" panose="02020603050405020304" pitchFamily="18" charset="0"/>
                <a:ea typeface="標楷體" panose="03000509000000000000" pitchFamily="65" charset="-120"/>
                <a:cs typeface="Times New Roman" panose="02020603050405020304" pitchFamily="18" charset="0"/>
              </a:rPr>
              <a:t>D</a:t>
            </a:r>
            <a:r>
              <a:rPr lang="zh-TW" altLang="en-US" sz="1400" b="1" dirty="0">
                <a:latin typeface="Times New Roman" panose="02020603050405020304" pitchFamily="18" charset="0"/>
                <a:ea typeface="標楷體" panose="03000509000000000000" pitchFamily="65" charset="-120"/>
                <a:cs typeface="Times New Roman" panose="02020603050405020304" pitchFamily="18" charset="0"/>
              </a:rPr>
              <a:t>iagram</a:t>
            </a:r>
            <a:r>
              <a:rPr lang="en-US" altLang="zh-TW" sz="1400" b="1" dirty="0">
                <a:latin typeface="Times New Roman" panose="02020603050405020304" pitchFamily="18" charset="0"/>
                <a:ea typeface="標楷體" panose="03000509000000000000" pitchFamily="65" charset="-120"/>
                <a:cs typeface="Times New Roman" panose="02020603050405020304" pitchFamily="18" charset="0"/>
              </a:rPr>
              <a:t> of the EOAPPLN after coating</a:t>
            </a:r>
            <a:endParaRPr lang="zh-TW" altLang="en-US" sz="1400" dirty="0"/>
          </a:p>
        </p:txBody>
      </p:sp>
      <p:sp>
        <p:nvSpPr>
          <p:cNvPr id="13" name="投影片編號版面配置區 12">
            <a:extLst>
              <a:ext uri="{FF2B5EF4-FFF2-40B4-BE49-F238E27FC236}">
                <a16:creationId xmlns:a16="http://schemas.microsoft.com/office/drawing/2014/main" id="{08FFA755-A51E-4467-846B-59EA0FD1CFF5}"/>
              </a:ext>
            </a:extLst>
          </p:cNvPr>
          <p:cNvSpPr>
            <a:spLocks noGrp="1"/>
          </p:cNvSpPr>
          <p:nvPr>
            <p:ph type="sldNum" sz="quarter" idx="12"/>
          </p:nvPr>
        </p:nvSpPr>
        <p:spPr/>
        <p:txBody>
          <a:bodyPr/>
          <a:lstStyle/>
          <a:p>
            <a:fld id="{9044CBB6-E20C-4076-82F9-F8F95241C54D}" type="slidenum">
              <a:rPr lang="zh-TW" altLang="en-US" smtClean="0">
                <a:solidFill>
                  <a:schemeClr val="tx1"/>
                </a:solidFill>
              </a:rPr>
              <a:t>24</a:t>
            </a:fld>
            <a:endParaRPr lang="zh-TW" altLang="en-US">
              <a:solidFill>
                <a:schemeClr val="tx1"/>
              </a:solidFill>
            </a:endParaRPr>
          </a:p>
        </p:txBody>
      </p:sp>
    </p:spTree>
    <p:extLst>
      <p:ext uri="{BB962C8B-B14F-4D97-AF65-F5344CB8AC3E}">
        <p14:creationId xmlns:p14="http://schemas.microsoft.com/office/powerpoint/2010/main" val="3236732323"/>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1620957"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Outline</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6099B670-A301-4A90-8E55-E49EE4509084}"/>
              </a:ext>
            </a:extLst>
          </p:cNvPr>
          <p:cNvSpPr>
            <a:spLocks noGrp="1"/>
          </p:cNvSpPr>
          <p:nvPr>
            <p:ph type="sldNum" sz="quarter" idx="12"/>
          </p:nvPr>
        </p:nvSpPr>
        <p:spPr/>
        <p:txBody>
          <a:bodyPr/>
          <a:lstStyle/>
          <a:p>
            <a:fld id="{9044CBB6-E20C-4076-82F9-F8F95241C54D}" type="slidenum">
              <a:rPr lang="zh-TW" altLang="en-US" smtClean="0">
                <a:solidFill>
                  <a:schemeClr val="tx1"/>
                </a:solidFill>
              </a:rPr>
              <a:t>25</a:t>
            </a:fld>
            <a:endParaRPr lang="zh-TW" altLang="en-US">
              <a:solidFill>
                <a:schemeClr val="tx1"/>
              </a:solidFill>
            </a:endParaRPr>
          </a:p>
        </p:txBody>
      </p:sp>
      <p:sp>
        <p:nvSpPr>
          <p:cNvPr id="8" name="矩形 7">
            <a:extLst>
              <a:ext uri="{FF2B5EF4-FFF2-40B4-BE49-F238E27FC236}">
                <a16:creationId xmlns:a16="http://schemas.microsoft.com/office/drawing/2014/main" id="{748E0D09-8CEA-4506-A94F-04C509FE7184}"/>
              </a:ext>
            </a:extLst>
          </p:cNvPr>
          <p:cNvSpPr/>
          <p:nvPr/>
        </p:nvSpPr>
        <p:spPr>
          <a:xfrm>
            <a:off x="286037" y="5217576"/>
            <a:ext cx="10117586" cy="1138773"/>
          </a:xfrm>
          <a:prstGeom prst="rect">
            <a:avLst/>
          </a:prstGeom>
        </p:spPr>
        <p:txBody>
          <a:bodyPr wrap="square">
            <a:spAutoFit/>
          </a:bodyPr>
          <a:lstStyle/>
          <a:p>
            <a:pPr lvl="0">
              <a:spcAft>
                <a:spcPts val="0"/>
              </a:spcAft>
            </a:pPr>
            <a:r>
              <a:rPr lang="en-US" altLang="zh-TW" sz="2000" b="1" kern="100" dirty="0">
                <a:latin typeface="Times New Roman" panose="02020603050405020304" pitchFamily="18" charset="0"/>
                <a:ea typeface="標楷體" panose="03000509000000000000" pitchFamily="65" charset="-120"/>
                <a:cs typeface="Times New Roman" panose="02020603050405020304" pitchFamily="18" charset="0"/>
              </a:rPr>
              <a:t>v. Experimental Setup and Results Analysis</a:t>
            </a:r>
            <a:endParaRPr lang="zh-TW" altLang="zh-TW" sz="1100" kern="100" dirty="0">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Single pass measurement </a:t>
            </a: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CW operation</a:t>
            </a:r>
            <a:endParaRPr lang="zh-TW" altLang="zh-TW" sz="1200" kern="100" dirty="0">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Q-switched operation</a:t>
            </a:r>
          </a:p>
        </p:txBody>
      </p:sp>
      <p:pic>
        <p:nvPicPr>
          <p:cNvPr id="9" name="Picture 2" descr="https://scontent.xx.fbcdn.net/v/t35.0-12/18926362_10213084281410610_597485951_o.jpg?oh=32a4942d443050c0d576527d420552b7&amp;oe=5937BF7E">
            <a:extLst>
              <a:ext uri="{FF2B5EF4-FFF2-40B4-BE49-F238E27FC236}">
                <a16:creationId xmlns:a16="http://schemas.microsoft.com/office/drawing/2014/main" id="{AD15B485-283B-46EA-9858-CEF1B0FFD162}"/>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8867787" y="786554"/>
            <a:ext cx="3071672" cy="2488368"/>
          </a:xfrm>
          <a:prstGeom prst="rect">
            <a:avLst/>
          </a:prstGeom>
          <a:noFill/>
          <a:extLst>
            <a:ext uri="{909E8E84-426E-40DD-AFC4-6F175D3DCCD1}">
              <a14:hiddenFill xmlns:a14="http://schemas.microsoft.com/office/drawing/2010/main">
                <a:solidFill>
                  <a:srgbClr val="FFFFFF"/>
                </a:solidFill>
              </a14:hiddenFill>
            </a:ext>
          </a:extLst>
        </p:spPr>
      </p:pic>
      <p:pic>
        <p:nvPicPr>
          <p:cNvPr id="10" name="圖片 9">
            <a:extLst>
              <a:ext uri="{FF2B5EF4-FFF2-40B4-BE49-F238E27FC236}">
                <a16:creationId xmlns:a16="http://schemas.microsoft.com/office/drawing/2014/main" id="{4A5DBF5A-DDF4-40B7-97D6-D3E9C2457C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8099" y="824742"/>
            <a:ext cx="3528753" cy="2389617"/>
          </a:xfrm>
          <a:prstGeom prst="rect">
            <a:avLst/>
          </a:prstGeom>
        </p:spPr>
      </p:pic>
      <p:pic>
        <p:nvPicPr>
          <p:cNvPr id="12" name="圖片 11">
            <a:extLst>
              <a:ext uri="{FF2B5EF4-FFF2-40B4-BE49-F238E27FC236}">
                <a16:creationId xmlns:a16="http://schemas.microsoft.com/office/drawing/2014/main" id="{1B01CEFE-7526-4D02-94F8-02BADC523C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88041" y="3335486"/>
            <a:ext cx="3317812" cy="2488359"/>
          </a:xfrm>
          <a:prstGeom prst="rect">
            <a:avLst/>
          </a:prstGeom>
        </p:spPr>
      </p:pic>
      <p:pic>
        <p:nvPicPr>
          <p:cNvPr id="13" name="圖片 12">
            <a:extLst>
              <a:ext uri="{FF2B5EF4-FFF2-40B4-BE49-F238E27FC236}">
                <a16:creationId xmlns:a16="http://schemas.microsoft.com/office/drawing/2014/main" id="{49418440-E386-470A-94E2-72C9B59371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9424" y="3429000"/>
            <a:ext cx="2041176" cy="2041176"/>
          </a:xfrm>
          <a:prstGeom prst="rect">
            <a:avLst/>
          </a:prstGeom>
        </p:spPr>
      </p:pic>
    </p:spTree>
    <p:extLst>
      <p:ext uri="{BB962C8B-B14F-4D97-AF65-F5344CB8AC3E}">
        <p14:creationId xmlns:p14="http://schemas.microsoft.com/office/powerpoint/2010/main" val="232470947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群組 7">
            <a:extLst>
              <a:ext uri="{FF2B5EF4-FFF2-40B4-BE49-F238E27FC236}">
                <a16:creationId xmlns:a16="http://schemas.microsoft.com/office/drawing/2014/main" id="{9D1E123F-BD31-4A54-9669-6DD00F832E93}"/>
              </a:ext>
            </a:extLst>
          </p:cNvPr>
          <p:cNvGrpSpPr/>
          <p:nvPr/>
        </p:nvGrpSpPr>
        <p:grpSpPr>
          <a:xfrm>
            <a:off x="4858365" y="3326647"/>
            <a:ext cx="690497" cy="1217742"/>
            <a:chOff x="6144190" y="3829206"/>
            <a:chExt cx="690497" cy="1217742"/>
          </a:xfrm>
        </p:grpSpPr>
        <p:sp>
          <p:nvSpPr>
            <p:cNvPr id="9" name="矩形 8">
              <a:extLst>
                <a:ext uri="{FF2B5EF4-FFF2-40B4-BE49-F238E27FC236}">
                  <a16:creationId xmlns:a16="http://schemas.microsoft.com/office/drawing/2014/main" id="{B45FE4BA-4AC0-4E3B-9C53-14B0EDE91A3D}"/>
                </a:ext>
              </a:extLst>
            </p:cNvPr>
            <p:cNvSpPr/>
            <p:nvPr/>
          </p:nvSpPr>
          <p:spPr>
            <a:xfrm>
              <a:off x="6144190" y="3829206"/>
              <a:ext cx="422167" cy="1174767"/>
            </a:xfrm>
            <a:prstGeom prst="rect">
              <a:avLst/>
            </a:prstGeom>
            <a:solidFill>
              <a:schemeClr val="tx1">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橢圓 9">
              <a:extLst>
                <a:ext uri="{FF2B5EF4-FFF2-40B4-BE49-F238E27FC236}">
                  <a16:creationId xmlns:a16="http://schemas.microsoft.com/office/drawing/2014/main" id="{0B6C82C4-3B78-4AFA-8EFC-227EE73CB497}"/>
                </a:ext>
              </a:extLst>
            </p:cNvPr>
            <p:cNvSpPr/>
            <p:nvPr/>
          </p:nvSpPr>
          <p:spPr>
            <a:xfrm>
              <a:off x="6319117" y="3831976"/>
              <a:ext cx="486938" cy="119417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橢圓 10">
              <a:extLst>
                <a:ext uri="{FF2B5EF4-FFF2-40B4-BE49-F238E27FC236}">
                  <a16:creationId xmlns:a16="http://schemas.microsoft.com/office/drawing/2014/main" id="{AE8CB7C2-21A3-4608-9244-5CBFC9E3E809}"/>
                </a:ext>
              </a:extLst>
            </p:cNvPr>
            <p:cNvSpPr/>
            <p:nvPr/>
          </p:nvSpPr>
          <p:spPr>
            <a:xfrm>
              <a:off x="6347749" y="3829206"/>
              <a:ext cx="486938" cy="1217742"/>
            </a:xfrm>
            <a:prstGeom prst="ellipse">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grpSp>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132584"/>
            <a:ext cx="4472699" cy="584775"/>
          </a:xfrm>
          <a:prstGeom prst="rect">
            <a:avLst/>
          </a:prstGeom>
          <a:noFill/>
        </p:spPr>
        <p:txBody>
          <a:bodyPr wrap="none" rtlCol="0">
            <a:spAutoFit/>
          </a:bodyPr>
          <a:lstStyle/>
          <a:p>
            <a:r>
              <a:rPr lang="en-US" altLang="zh-TW" sz="3200" b="1" i="1" kern="100" dirty="0">
                <a:latin typeface="Times New Roman" panose="02020603050405020304" pitchFamily="18" charset="0"/>
                <a:ea typeface="標楷體" panose="03000509000000000000" pitchFamily="65" charset="-120"/>
                <a:cs typeface="Times New Roman" panose="02020603050405020304" pitchFamily="18" charset="0"/>
              </a:rPr>
              <a:t>Single pass measurement</a:t>
            </a:r>
            <a:endParaRPr lang="zh-TW" altLang="zh-TW" sz="3200" kern="100" dirty="0">
              <a:latin typeface="Calibri" panose="020F0502020204030204" pitchFamily="34" charset="0"/>
              <a:cs typeface="Times New Roman" panose="02020603050405020304" pitchFamily="18" charset="0"/>
            </a:endParaRPr>
          </a:p>
        </p:txBody>
      </p:sp>
      <p:pic>
        <p:nvPicPr>
          <p:cNvPr id="6" name="內容版面配置區 3">
            <a:extLst>
              <a:ext uri="{FF2B5EF4-FFF2-40B4-BE49-F238E27FC236}">
                <a16:creationId xmlns:a16="http://schemas.microsoft.com/office/drawing/2014/main" id="{242ED677-0368-4BA1-85AA-F9B8CFBBE25E}"/>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tretch/>
        </p:blipFill>
        <p:spPr>
          <a:xfrm>
            <a:off x="9090381" y="3659936"/>
            <a:ext cx="918556" cy="465513"/>
          </a:xfrm>
          <a:ln>
            <a:noFill/>
          </a:ln>
        </p:spPr>
      </p:pic>
      <p:cxnSp>
        <p:nvCxnSpPr>
          <p:cNvPr id="7" name="肘形接點 3">
            <a:extLst>
              <a:ext uri="{FF2B5EF4-FFF2-40B4-BE49-F238E27FC236}">
                <a16:creationId xmlns:a16="http://schemas.microsoft.com/office/drawing/2014/main" id="{8FA8BE40-4F26-427A-9AA6-A62A921BB333}"/>
              </a:ext>
            </a:extLst>
          </p:cNvPr>
          <p:cNvCxnSpPr/>
          <p:nvPr/>
        </p:nvCxnSpPr>
        <p:spPr>
          <a:xfrm>
            <a:off x="754145" y="2987128"/>
            <a:ext cx="1705663" cy="940695"/>
          </a:xfrm>
          <a:prstGeom prst="bentConnector3">
            <a:avLst>
              <a:gd name="adj1" fmla="val 50000"/>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043363DE-6F26-40C4-BFB8-933E0ED800F5}"/>
              </a:ext>
            </a:extLst>
          </p:cNvPr>
          <p:cNvCxnSpPr>
            <a:cxnSpLocks/>
          </p:cNvCxnSpPr>
          <p:nvPr/>
        </p:nvCxnSpPr>
        <p:spPr>
          <a:xfrm flipV="1">
            <a:off x="4467975" y="4225707"/>
            <a:ext cx="390390" cy="27380"/>
          </a:xfrm>
          <a:prstGeom prst="straightConnector1">
            <a:avLst/>
          </a:prstGeom>
          <a:ln>
            <a:solidFill>
              <a:srgbClr val="FF0000"/>
            </a:solidFill>
            <a:headEnd type="none"/>
            <a:tailEnd type="triangle"/>
          </a:ln>
        </p:spPr>
        <p:style>
          <a:lnRef idx="2">
            <a:schemeClr val="accent2"/>
          </a:lnRef>
          <a:fillRef idx="0">
            <a:schemeClr val="accent2"/>
          </a:fillRef>
          <a:effectRef idx="1">
            <a:schemeClr val="accent2"/>
          </a:effectRef>
          <a:fontRef idx="minor">
            <a:schemeClr val="tx1"/>
          </a:fontRef>
        </p:style>
      </p:cxnSp>
      <p:sp>
        <p:nvSpPr>
          <p:cNvPr id="13" name="手繪多邊形 9">
            <a:extLst>
              <a:ext uri="{FF2B5EF4-FFF2-40B4-BE49-F238E27FC236}">
                <a16:creationId xmlns:a16="http://schemas.microsoft.com/office/drawing/2014/main" id="{66631A29-A34E-48C4-BFC2-696C5422797F}"/>
              </a:ext>
            </a:extLst>
          </p:cNvPr>
          <p:cNvSpPr/>
          <p:nvPr/>
        </p:nvSpPr>
        <p:spPr>
          <a:xfrm flipV="1">
            <a:off x="5055195" y="3905386"/>
            <a:ext cx="5340429" cy="289448"/>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立方體 13">
            <a:extLst>
              <a:ext uri="{FF2B5EF4-FFF2-40B4-BE49-F238E27FC236}">
                <a16:creationId xmlns:a16="http://schemas.microsoft.com/office/drawing/2014/main" id="{908F0BF1-CCA4-452B-B398-055CADAD6F6F}"/>
              </a:ext>
            </a:extLst>
          </p:cNvPr>
          <p:cNvSpPr/>
          <p:nvPr/>
        </p:nvSpPr>
        <p:spPr>
          <a:xfrm>
            <a:off x="201096" y="796385"/>
            <a:ext cx="1463649" cy="2592288"/>
          </a:xfrm>
          <a:prstGeom prst="cube">
            <a:avLst/>
          </a:prstGeom>
          <a:solidFill>
            <a:schemeClr val="tx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矩形 14">
            <a:extLst>
              <a:ext uri="{FF2B5EF4-FFF2-40B4-BE49-F238E27FC236}">
                <a16:creationId xmlns:a16="http://schemas.microsoft.com/office/drawing/2014/main" id="{D532DA81-2C86-47F4-8888-722BFD13851A}"/>
              </a:ext>
            </a:extLst>
          </p:cNvPr>
          <p:cNvSpPr/>
          <p:nvPr/>
        </p:nvSpPr>
        <p:spPr>
          <a:xfrm>
            <a:off x="401995" y="1497518"/>
            <a:ext cx="736628" cy="23973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文字方塊 15">
            <a:extLst>
              <a:ext uri="{FF2B5EF4-FFF2-40B4-BE49-F238E27FC236}">
                <a16:creationId xmlns:a16="http://schemas.microsoft.com/office/drawing/2014/main" id="{7A296610-E923-4727-9A8F-B6CD9666E46E}"/>
              </a:ext>
            </a:extLst>
          </p:cNvPr>
          <p:cNvSpPr txBox="1"/>
          <p:nvPr/>
        </p:nvSpPr>
        <p:spPr>
          <a:xfrm>
            <a:off x="404539" y="1417329"/>
            <a:ext cx="683760" cy="400110"/>
          </a:xfrm>
          <a:prstGeom prst="rect">
            <a:avLst/>
          </a:prstGeom>
          <a:noFill/>
        </p:spPr>
        <p:txBody>
          <a:bodyPr wrap="square" rtlCol="0">
            <a:spAutoFit/>
          </a:bodyPr>
          <a:lstStyle/>
          <a:p>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I:7.0A</a:t>
            </a:r>
          </a:p>
          <a:p>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V:23.2V</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橢圓 16">
            <a:extLst>
              <a:ext uri="{FF2B5EF4-FFF2-40B4-BE49-F238E27FC236}">
                <a16:creationId xmlns:a16="http://schemas.microsoft.com/office/drawing/2014/main" id="{E67F498A-7DD3-4A81-8A95-292C2B26208E}"/>
              </a:ext>
            </a:extLst>
          </p:cNvPr>
          <p:cNvSpPr/>
          <p:nvPr/>
        </p:nvSpPr>
        <p:spPr>
          <a:xfrm>
            <a:off x="251520" y="1874971"/>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T</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橢圓 17">
            <a:extLst>
              <a:ext uri="{FF2B5EF4-FFF2-40B4-BE49-F238E27FC236}">
                <a16:creationId xmlns:a16="http://schemas.microsoft.com/office/drawing/2014/main" id="{FA7F029C-08F5-4B48-914B-C2340BB87BFF}"/>
              </a:ext>
            </a:extLst>
          </p:cNvPr>
          <p:cNvSpPr/>
          <p:nvPr/>
        </p:nvSpPr>
        <p:spPr>
          <a:xfrm>
            <a:off x="468961" y="1876505"/>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C</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 name="橢圓 18">
            <a:extLst>
              <a:ext uri="{FF2B5EF4-FFF2-40B4-BE49-F238E27FC236}">
                <a16:creationId xmlns:a16="http://schemas.microsoft.com/office/drawing/2014/main" id="{6CC5788D-4640-49F9-B075-5CC5E05B7929}"/>
              </a:ext>
            </a:extLst>
          </p:cNvPr>
          <p:cNvSpPr/>
          <p:nvPr/>
        </p:nvSpPr>
        <p:spPr>
          <a:xfrm>
            <a:off x="350806" y="2167301"/>
            <a:ext cx="475869" cy="41002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on</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 name="橢圓 19">
            <a:extLst>
              <a:ext uri="{FF2B5EF4-FFF2-40B4-BE49-F238E27FC236}">
                <a16:creationId xmlns:a16="http://schemas.microsoft.com/office/drawing/2014/main" id="{F98E0358-4D55-4461-B8B8-9B85D983EE00}"/>
              </a:ext>
            </a:extLst>
          </p:cNvPr>
          <p:cNvSpPr/>
          <p:nvPr/>
        </p:nvSpPr>
        <p:spPr>
          <a:xfrm>
            <a:off x="1114880" y="1876505"/>
            <a:ext cx="166336" cy="17264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橢圓 20">
            <a:extLst>
              <a:ext uri="{FF2B5EF4-FFF2-40B4-BE49-F238E27FC236}">
                <a16:creationId xmlns:a16="http://schemas.microsoft.com/office/drawing/2014/main" id="{A11F1DF1-90AC-40CD-91E0-4872441E82C7}"/>
              </a:ext>
            </a:extLst>
          </p:cNvPr>
          <p:cNvSpPr/>
          <p:nvPr/>
        </p:nvSpPr>
        <p:spPr>
          <a:xfrm>
            <a:off x="1182297" y="1940660"/>
            <a:ext cx="35303" cy="4142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橢圓 21">
            <a:extLst>
              <a:ext uri="{FF2B5EF4-FFF2-40B4-BE49-F238E27FC236}">
                <a16:creationId xmlns:a16="http://schemas.microsoft.com/office/drawing/2014/main" id="{B5DFBBE3-7C6F-4366-A568-78447A1EE074}"/>
              </a:ext>
            </a:extLst>
          </p:cNvPr>
          <p:cNvSpPr/>
          <p:nvPr/>
        </p:nvSpPr>
        <p:spPr>
          <a:xfrm>
            <a:off x="683568" y="1876505"/>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等腰三角形 22">
            <a:extLst>
              <a:ext uri="{FF2B5EF4-FFF2-40B4-BE49-F238E27FC236}">
                <a16:creationId xmlns:a16="http://schemas.microsoft.com/office/drawing/2014/main" id="{35C20DAB-8423-4CC6-A064-A8B859E6BD6E}"/>
              </a:ext>
            </a:extLst>
          </p:cNvPr>
          <p:cNvSpPr/>
          <p:nvPr/>
        </p:nvSpPr>
        <p:spPr>
          <a:xfrm>
            <a:off x="706446" y="1907500"/>
            <a:ext cx="116888" cy="89251"/>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橢圓 23">
            <a:extLst>
              <a:ext uri="{FF2B5EF4-FFF2-40B4-BE49-F238E27FC236}">
                <a16:creationId xmlns:a16="http://schemas.microsoft.com/office/drawing/2014/main" id="{E0818AA7-9A8D-4BEE-9FA8-D88F699E15C6}"/>
              </a:ext>
            </a:extLst>
          </p:cNvPr>
          <p:cNvSpPr/>
          <p:nvPr/>
        </p:nvSpPr>
        <p:spPr>
          <a:xfrm>
            <a:off x="899592" y="1876505"/>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等腰三角形 24">
            <a:extLst>
              <a:ext uri="{FF2B5EF4-FFF2-40B4-BE49-F238E27FC236}">
                <a16:creationId xmlns:a16="http://schemas.microsoft.com/office/drawing/2014/main" id="{5BA9EA05-20E3-44A5-852D-9BF4B23BA0AA}"/>
              </a:ext>
            </a:extLst>
          </p:cNvPr>
          <p:cNvSpPr/>
          <p:nvPr/>
        </p:nvSpPr>
        <p:spPr>
          <a:xfrm rot="10800000">
            <a:off x="929600" y="1919630"/>
            <a:ext cx="104503" cy="10774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橢圓 25">
            <a:extLst>
              <a:ext uri="{FF2B5EF4-FFF2-40B4-BE49-F238E27FC236}">
                <a16:creationId xmlns:a16="http://schemas.microsoft.com/office/drawing/2014/main" id="{59FFAE90-431C-42FE-A7CC-C3281000A5A6}"/>
              </a:ext>
            </a:extLst>
          </p:cNvPr>
          <p:cNvSpPr/>
          <p:nvPr/>
        </p:nvSpPr>
        <p:spPr>
          <a:xfrm>
            <a:off x="3739612" y="3331017"/>
            <a:ext cx="124989" cy="1200512"/>
          </a:xfrm>
          <a:prstGeom prst="ellipse">
            <a:avLst/>
          </a:prstGeom>
          <a:solidFill>
            <a:schemeClr val="bg1">
              <a:lumMod val="65000"/>
            </a:schemeClr>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21F45D57-970D-4261-B54A-CBC3B2B6B3B3}"/>
              </a:ext>
            </a:extLst>
          </p:cNvPr>
          <p:cNvCxnSpPr>
            <a:cxnSpLocks/>
          </p:cNvCxnSpPr>
          <p:nvPr/>
        </p:nvCxnSpPr>
        <p:spPr>
          <a:xfrm>
            <a:off x="3223955" y="3935518"/>
            <a:ext cx="533961" cy="42020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28" name="直線單箭頭接點 27">
            <a:extLst>
              <a:ext uri="{FF2B5EF4-FFF2-40B4-BE49-F238E27FC236}">
                <a16:creationId xmlns:a16="http://schemas.microsoft.com/office/drawing/2014/main" id="{AF5A6C29-3B8A-47DD-BB85-50A6B5DCFF61}"/>
              </a:ext>
            </a:extLst>
          </p:cNvPr>
          <p:cNvCxnSpPr/>
          <p:nvPr/>
        </p:nvCxnSpPr>
        <p:spPr>
          <a:xfrm flipV="1">
            <a:off x="3212036" y="3506828"/>
            <a:ext cx="545880" cy="415155"/>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29" name="文字方塊 28">
            <a:extLst>
              <a:ext uri="{FF2B5EF4-FFF2-40B4-BE49-F238E27FC236}">
                <a16:creationId xmlns:a16="http://schemas.microsoft.com/office/drawing/2014/main" id="{E7D51AF9-206A-448F-9145-433E94DCC1EE}"/>
              </a:ext>
            </a:extLst>
          </p:cNvPr>
          <p:cNvSpPr txBox="1"/>
          <p:nvPr/>
        </p:nvSpPr>
        <p:spPr>
          <a:xfrm>
            <a:off x="1533951" y="4162778"/>
            <a:ext cx="2478485" cy="584775"/>
          </a:xfrm>
          <a:prstGeom prst="rect">
            <a:avLst/>
          </a:prstGeom>
          <a:noFill/>
        </p:spPr>
        <p:txBody>
          <a:bodyPr wrap="square" rtlCol="0">
            <a:spAutoFit/>
          </a:bodyPr>
          <a:lstStyle/>
          <a:p>
            <a:pPr algn="ct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Pump laser:</a:t>
            </a:r>
          </a:p>
          <a:p>
            <a:pPr algn="ct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809nm diode laser</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C7FBC5F7-28DE-4129-A961-686A202CBD46}"/>
                  </a:ext>
                </a:extLst>
              </p:cNvPr>
              <p:cNvSpPr txBox="1"/>
              <p:nvPr/>
            </p:nvSpPr>
            <p:spPr>
              <a:xfrm>
                <a:off x="5245363" y="4192354"/>
                <a:ext cx="94019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ea typeface="Cambria Math" panose="02040503050406030204" pitchFamily="18" charset="0"/>
                        </a:rPr>
                        <m:t>N</m:t>
                      </m:r>
                      <m:r>
                        <m:rPr>
                          <m:sty m:val="p"/>
                        </m:rPr>
                        <a:rPr lang="en-US" altLang="zh-TW" sz="1400" b="0" i="0" smtClean="0">
                          <a:latin typeface="Cambria Math" panose="02040503050406030204" pitchFamily="18" charset="0"/>
                          <a:ea typeface="Cambria Math" panose="02040503050406030204" pitchFamily="18" charset="0"/>
                        </a:rPr>
                        <m:t>d</m:t>
                      </m:r>
                      <m:r>
                        <a:rPr lang="en-US" altLang="zh-TW" sz="1400" b="0" i="0" smtClean="0">
                          <a:latin typeface="Cambria Math" panose="02040503050406030204" pitchFamily="18" charset="0"/>
                          <a:ea typeface="Cambria Math" panose="02040503050406030204" pitchFamily="18" charset="0"/>
                        </a:rPr>
                        <m:t>:</m:t>
                      </m:r>
                      <m:r>
                        <m:rPr>
                          <m:sty m:val="p"/>
                        </m:rPr>
                        <a:rPr lang="en-US" altLang="zh-TW" sz="1400" b="0" i="0" smtClean="0">
                          <a:latin typeface="Cambria Math" panose="02040503050406030204" pitchFamily="18" charset="0"/>
                          <a:ea typeface="Cambria Math" panose="02040503050406030204" pitchFamily="18" charset="0"/>
                        </a:rPr>
                        <m:t>YV</m:t>
                      </m:r>
                      <m:sSub>
                        <m:sSubPr>
                          <m:ctrlPr>
                            <a:rPr lang="en-US" altLang="zh-TW" sz="1400" i="1" smtClean="0">
                              <a:latin typeface="Cambria Math" panose="02040503050406030204" pitchFamily="18" charset="0"/>
                              <a:ea typeface="Cambria Math" panose="02040503050406030204" pitchFamily="18" charset="0"/>
                            </a:rPr>
                          </m:ctrlPr>
                        </m:sSubPr>
                        <m:e>
                          <m:r>
                            <m:rPr>
                              <m:sty m:val="p"/>
                            </m:rPr>
                            <a:rPr lang="en-US" altLang="zh-TW" sz="1400" b="0" i="0" smtClean="0">
                              <a:latin typeface="Cambria Math" panose="02040503050406030204" pitchFamily="18" charset="0"/>
                              <a:ea typeface="Cambria Math" panose="02040503050406030204" pitchFamily="18" charset="0"/>
                            </a:rPr>
                            <m:t>O</m:t>
                          </m:r>
                        </m:e>
                        <m:sub>
                          <m:r>
                            <a:rPr lang="en-US" altLang="zh-TW" sz="1400" b="0" i="0" smtClean="0">
                              <a:latin typeface="Cambria Math" panose="02040503050406030204" pitchFamily="18" charset="0"/>
                              <a:ea typeface="Cambria Math" panose="02040503050406030204" pitchFamily="18" charset="0"/>
                            </a:rPr>
                            <m:t>4</m:t>
                          </m:r>
                        </m:sub>
                      </m:sSub>
                    </m:oMath>
                  </m:oMathPara>
                </a14:m>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30" name="文字方塊 29">
                <a:extLst>
                  <a:ext uri="{FF2B5EF4-FFF2-40B4-BE49-F238E27FC236}">
                    <a16:creationId xmlns:a16="http://schemas.microsoft.com/office/drawing/2014/main" id="{C7FBC5F7-28DE-4129-A961-686A202CBD46}"/>
                  </a:ext>
                </a:extLst>
              </p:cNvPr>
              <p:cNvSpPr txBox="1">
                <a:spLocks noRot="1" noChangeAspect="1" noMove="1" noResize="1" noEditPoints="1" noAdjustHandles="1" noChangeArrowheads="1" noChangeShapeType="1" noTextEdit="1"/>
              </p:cNvSpPr>
              <p:nvPr/>
            </p:nvSpPr>
            <p:spPr>
              <a:xfrm>
                <a:off x="5245363" y="4192354"/>
                <a:ext cx="940193" cy="307777"/>
              </a:xfrm>
              <a:prstGeom prst="rect">
                <a:avLst/>
              </a:prstGeom>
              <a:blipFill>
                <a:blip r:embed="rId3"/>
                <a:stretch>
                  <a:fillRect/>
                </a:stretch>
              </a:blipFill>
            </p:spPr>
            <p:txBody>
              <a:bodyPr/>
              <a:lstStyle/>
              <a:p>
                <a:r>
                  <a:rPr lang="zh-TW" altLang="en-US">
                    <a:noFill/>
                  </a:rPr>
                  <a:t> </a:t>
                </a:r>
              </a:p>
            </p:txBody>
          </p:sp>
        </mc:Fallback>
      </mc:AlternateContent>
      <p:cxnSp>
        <p:nvCxnSpPr>
          <p:cNvPr id="31" name="直線單箭頭接點 30">
            <a:extLst>
              <a:ext uri="{FF2B5EF4-FFF2-40B4-BE49-F238E27FC236}">
                <a16:creationId xmlns:a16="http://schemas.microsoft.com/office/drawing/2014/main" id="{0ACAF0D1-A6C0-4F86-8F88-B5B289DD0F49}"/>
              </a:ext>
            </a:extLst>
          </p:cNvPr>
          <p:cNvCxnSpPr/>
          <p:nvPr/>
        </p:nvCxnSpPr>
        <p:spPr>
          <a:xfrm flipV="1">
            <a:off x="3846297" y="4253087"/>
            <a:ext cx="533297" cy="102631"/>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32" name="直線單箭頭接點 31">
            <a:extLst>
              <a:ext uri="{FF2B5EF4-FFF2-40B4-BE49-F238E27FC236}">
                <a16:creationId xmlns:a16="http://schemas.microsoft.com/office/drawing/2014/main" id="{39583FFC-E461-4B5D-9C0B-AB459286A273}"/>
              </a:ext>
            </a:extLst>
          </p:cNvPr>
          <p:cNvCxnSpPr>
            <a:cxnSpLocks/>
          </p:cNvCxnSpPr>
          <p:nvPr/>
        </p:nvCxnSpPr>
        <p:spPr>
          <a:xfrm>
            <a:off x="4467975" y="3604022"/>
            <a:ext cx="390390" cy="55914"/>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33" name="文字方塊 32">
            <a:extLst>
              <a:ext uri="{FF2B5EF4-FFF2-40B4-BE49-F238E27FC236}">
                <a16:creationId xmlns:a16="http://schemas.microsoft.com/office/drawing/2014/main" id="{B7268E7A-A1EC-4C3A-8643-C07B8C0E4F8A}"/>
              </a:ext>
            </a:extLst>
          </p:cNvPr>
          <p:cNvSpPr txBox="1"/>
          <p:nvPr/>
        </p:nvSpPr>
        <p:spPr>
          <a:xfrm>
            <a:off x="4714948" y="4497340"/>
            <a:ext cx="710451" cy="276999"/>
          </a:xfrm>
          <a:prstGeom prst="rect">
            <a:avLst/>
          </a:prstGeom>
          <a:noFill/>
        </p:spPr>
        <p:txBody>
          <a:bodyPr wrap="none" rtlCol="0">
            <a:spAutoFit/>
          </a:bodyPr>
          <a:lstStyle/>
          <a:p>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Mirror 1</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34" name="直線單箭頭接點 33">
            <a:extLst>
              <a:ext uri="{FF2B5EF4-FFF2-40B4-BE49-F238E27FC236}">
                <a16:creationId xmlns:a16="http://schemas.microsoft.com/office/drawing/2014/main" id="{5A1712FD-B595-46EC-84C6-0DD5607861B7}"/>
              </a:ext>
            </a:extLst>
          </p:cNvPr>
          <p:cNvCxnSpPr/>
          <p:nvPr/>
        </p:nvCxnSpPr>
        <p:spPr>
          <a:xfrm>
            <a:off x="3846297" y="3506828"/>
            <a:ext cx="533297" cy="97194"/>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35" name="文字方塊 34">
            <a:extLst>
              <a:ext uri="{FF2B5EF4-FFF2-40B4-BE49-F238E27FC236}">
                <a16:creationId xmlns:a16="http://schemas.microsoft.com/office/drawing/2014/main" id="{9FAE827E-320C-4F19-9231-1E3DB175AAE2}"/>
              </a:ext>
            </a:extLst>
          </p:cNvPr>
          <p:cNvSpPr txBox="1"/>
          <p:nvPr/>
        </p:nvSpPr>
        <p:spPr>
          <a:xfrm>
            <a:off x="200386" y="3400255"/>
            <a:ext cx="1374094" cy="276999"/>
          </a:xfrm>
          <a:prstGeom prst="rect">
            <a:avLst/>
          </a:prstGeom>
          <a:noFill/>
        </p:spPr>
        <p:txBody>
          <a:bodyPr wrap="none" rtlCol="0">
            <a:spAutoFit/>
          </a:bodyPr>
          <a:lstStyle/>
          <a:p>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LIMQ</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laser system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6" name="橢圓 35">
            <a:extLst>
              <a:ext uri="{FF2B5EF4-FFF2-40B4-BE49-F238E27FC236}">
                <a16:creationId xmlns:a16="http://schemas.microsoft.com/office/drawing/2014/main" id="{7D1150A4-094B-4503-9A63-D3377774CFBF}"/>
              </a:ext>
            </a:extLst>
          </p:cNvPr>
          <p:cNvSpPr/>
          <p:nvPr/>
        </p:nvSpPr>
        <p:spPr>
          <a:xfrm>
            <a:off x="1466518" y="3844186"/>
            <a:ext cx="120485" cy="12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橢圓 36">
            <a:extLst>
              <a:ext uri="{FF2B5EF4-FFF2-40B4-BE49-F238E27FC236}">
                <a16:creationId xmlns:a16="http://schemas.microsoft.com/office/drawing/2014/main" id="{6031D170-4D4A-4051-BBB1-5BD4C0956D91}"/>
              </a:ext>
            </a:extLst>
          </p:cNvPr>
          <p:cNvSpPr/>
          <p:nvPr/>
        </p:nvSpPr>
        <p:spPr>
          <a:xfrm>
            <a:off x="1571128" y="3944769"/>
            <a:ext cx="122400" cy="12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8" name="橢圓 37">
            <a:extLst>
              <a:ext uri="{FF2B5EF4-FFF2-40B4-BE49-F238E27FC236}">
                <a16:creationId xmlns:a16="http://schemas.microsoft.com/office/drawing/2014/main" id="{9274C162-D30F-4DB4-86AC-A000EE318079}"/>
              </a:ext>
            </a:extLst>
          </p:cNvPr>
          <p:cNvSpPr/>
          <p:nvPr/>
        </p:nvSpPr>
        <p:spPr>
          <a:xfrm>
            <a:off x="4361290" y="3469596"/>
            <a:ext cx="124989" cy="917917"/>
          </a:xfrm>
          <a:prstGeom prst="ellipse">
            <a:avLst/>
          </a:prstGeom>
          <a:solidFill>
            <a:schemeClr val="bg1">
              <a:lumMod val="65000"/>
            </a:schemeClr>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9" name="圓柱 35">
            <a:extLst>
              <a:ext uri="{FF2B5EF4-FFF2-40B4-BE49-F238E27FC236}">
                <a16:creationId xmlns:a16="http://schemas.microsoft.com/office/drawing/2014/main" id="{7F249E8C-AF67-44D1-ACFE-4A8FF0855618}"/>
              </a:ext>
            </a:extLst>
          </p:cNvPr>
          <p:cNvSpPr/>
          <p:nvPr/>
        </p:nvSpPr>
        <p:spPr>
          <a:xfrm rot="5400000">
            <a:off x="2725321" y="3562659"/>
            <a:ext cx="199300" cy="730327"/>
          </a:xfrm>
          <a:prstGeom prst="can">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0" name="文字方塊 39">
            <a:extLst>
              <a:ext uri="{FF2B5EF4-FFF2-40B4-BE49-F238E27FC236}">
                <a16:creationId xmlns:a16="http://schemas.microsoft.com/office/drawing/2014/main" id="{D6745BD8-F27D-4DE6-BE1A-AEBEBC559374}"/>
              </a:ext>
            </a:extLst>
          </p:cNvPr>
          <p:cNvSpPr txBox="1"/>
          <p:nvPr/>
        </p:nvSpPr>
        <p:spPr>
          <a:xfrm>
            <a:off x="6574608" y="4482460"/>
            <a:ext cx="825867" cy="276999"/>
          </a:xfrm>
          <a:prstGeom prst="rect">
            <a:avLst/>
          </a:prstGeom>
          <a:noFill/>
        </p:spPr>
        <p:txBody>
          <a:bodyPr wrap="none" rtlCol="0">
            <a:spAutoFit/>
          </a:bodyPr>
          <a:lstStyle/>
          <a:p>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Mirror 2,3</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1" name="手繪多邊形 37">
            <a:extLst>
              <a:ext uri="{FF2B5EF4-FFF2-40B4-BE49-F238E27FC236}">
                <a16:creationId xmlns:a16="http://schemas.microsoft.com/office/drawing/2014/main" id="{6E83A18F-2449-473E-9118-4D83C8AEE69B}"/>
              </a:ext>
            </a:extLst>
          </p:cNvPr>
          <p:cNvSpPr/>
          <p:nvPr/>
        </p:nvSpPr>
        <p:spPr>
          <a:xfrm>
            <a:off x="5061922" y="3698531"/>
            <a:ext cx="5303223" cy="173286"/>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3" name="矩形 42">
            <a:extLst>
              <a:ext uri="{FF2B5EF4-FFF2-40B4-BE49-F238E27FC236}">
                <a16:creationId xmlns:a16="http://schemas.microsoft.com/office/drawing/2014/main" id="{BB5EE4C1-19FA-4492-A72C-DBF0EB3A9CE7}"/>
              </a:ext>
            </a:extLst>
          </p:cNvPr>
          <p:cNvSpPr/>
          <p:nvPr/>
        </p:nvSpPr>
        <p:spPr>
          <a:xfrm>
            <a:off x="6851252" y="3326647"/>
            <a:ext cx="302339" cy="1171997"/>
          </a:xfrm>
          <a:prstGeom prst="rect">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42" name="群組 41">
            <a:extLst>
              <a:ext uri="{FF2B5EF4-FFF2-40B4-BE49-F238E27FC236}">
                <a16:creationId xmlns:a16="http://schemas.microsoft.com/office/drawing/2014/main" id="{5F45549E-7EE8-4D9E-AC94-F7D62FADD15D}"/>
              </a:ext>
            </a:extLst>
          </p:cNvPr>
          <p:cNvGrpSpPr/>
          <p:nvPr/>
        </p:nvGrpSpPr>
        <p:grpSpPr>
          <a:xfrm>
            <a:off x="7292987" y="881868"/>
            <a:ext cx="2502927" cy="1279991"/>
            <a:chOff x="7092213" y="1105613"/>
            <a:chExt cx="3010012" cy="1539313"/>
          </a:xfrm>
        </p:grpSpPr>
        <p:sp>
          <p:nvSpPr>
            <p:cNvPr id="44" name="立方體 43">
              <a:extLst>
                <a:ext uri="{FF2B5EF4-FFF2-40B4-BE49-F238E27FC236}">
                  <a16:creationId xmlns:a16="http://schemas.microsoft.com/office/drawing/2014/main" id="{F2DBC1D1-CE0C-4163-95F6-FAB5C16AA1E9}"/>
                </a:ext>
              </a:extLst>
            </p:cNvPr>
            <p:cNvSpPr/>
            <p:nvPr/>
          </p:nvSpPr>
          <p:spPr>
            <a:xfrm>
              <a:off x="7092213" y="1105613"/>
              <a:ext cx="3010012" cy="1539313"/>
            </a:xfrm>
            <a:prstGeom prst="cube">
              <a:avLst>
                <a:gd name="adj" fmla="val 21802"/>
              </a:avLst>
            </a:prstGeom>
            <a:solidFill>
              <a:srgbClr val="FF0000"/>
            </a:solid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立方體 44">
              <a:extLst>
                <a:ext uri="{FF2B5EF4-FFF2-40B4-BE49-F238E27FC236}">
                  <a16:creationId xmlns:a16="http://schemas.microsoft.com/office/drawing/2014/main" id="{928BD134-EB12-48F5-8A70-1E9F61368364}"/>
                </a:ext>
              </a:extLst>
            </p:cNvPr>
            <p:cNvSpPr/>
            <p:nvPr/>
          </p:nvSpPr>
          <p:spPr>
            <a:xfrm>
              <a:off x="7252619" y="1480794"/>
              <a:ext cx="2366466" cy="1059971"/>
            </a:xfrm>
            <a:prstGeom prst="cube">
              <a:avLst>
                <a:gd name="adj" fmla="val 0"/>
              </a:avLst>
            </a:prstGeom>
            <a:solidFill>
              <a:schemeClr val="bg1"/>
            </a:solidFill>
            <a:ln>
              <a:solidFill>
                <a:schemeClr val="bg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立方體 45">
              <a:extLst>
                <a:ext uri="{FF2B5EF4-FFF2-40B4-BE49-F238E27FC236}">
                  <a16:creationId xmlns:a16="http://schemas.microsoft.com/office/drawing/2014/main" id="{A4FC4471-C0B0-4D83-B05F-962964A5DF1F}"/>
                </a:ext>
              </a:extLst>
            </p:cNvPr>
            <p:cNvSpPr/>
            <p:nvPr/>
          </p:nvSpPr>
          <p:spPr>
            <a:xfrm>
              <a:off x="7315636" y="1574864"/>
              <a:ext cx="2213813" cy="868524"/>
            </a:xfrm>
            <a:prstGeom prst="cube">
              <a:avLst>
                <a:gd name="adj" fmla="val 0"/>
              </a:avLst>
            </a:prstGeom>
            <a:solidFill>
              <a:schemeClr val="tx1"/>
            </a:solid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7" name="群組 46">
              <a:extLst>
                <a:ext uri="{FF2B5EF4-FFF2-40B4-BE49-F238E27FC236}">
                  <a16:creationId xmlns:a16="http://schemas.microsoft.com/office/drawing/2014/main" id="{F33A8984-4C3D-4288-96DD-2BE5A1CD270B}"/>
                </a:ext>
              </a:extLst>
            </p:cNvPr>
            <p:cNvGrpSpPr/>
            <p:nvPr/>
          </p:nvGrpSpPr>
          <p:grpSpPr>
            <a:xfrm>
              <a:off x="8922270" y="1770577"/>
              <a:ext cx="403871" cy="403398"/>
              <a:chOff x="8981856" y="2498725"/>
              <a:chExt cx="503829" cy="503239"/>
            </a:xfrm>
          </p:grpSpPr>
          <p:sp>
            <p:nvSpPr>
              <p:cNvPr id="48" name="L-圖案 52">
                <a:extLst>
                  <a:ext uri="{FF2B5EF4-FFF2-40B4-BE49-F238E27FC236}">
                    <a16:creationId xmlns:a16="http://schemas.microsoft.com/office/drawing/2014/main" id="{7D4EC0F9-2CA3-4BC9-BD2C-F7F8FBABB97E}"/>
                  </a:ext>
                </a:extLst>
              </p:cNvPr>
              <p:cNvSpPr/>
              <p:nvPr/>
            </p:nvSpPr>
            <p:spPr>
              <a:xfrm rot="8100000">
                <a:off x="9161460" y="2511862"/>
                <a:ext cx="161400" cy="161565"/>
              </a:xfrm>
              <a:prstGeom prst="corner">
                <a:avLst>
                  <a:gd name="adj1" fmla="val 29795"/>
                  <a:gd name="adj2" fmla="val 28354"/>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L-圖案 53">
                <a:extLst>
                  <a:ext uri="{FF2B5EF4-FFF2-40B4-BE49-F238E27FC236}">
                    <a16:creationId xmlns:a16="http://schemas.microsoft.com/office/drawing/2014/main" id="{1AD9D619-9E0D-475E-B681-6F36BD30F834}"/>
                  </a:ext>
                </a:extLst>
              </p:cNvPr>
              <p:cNvSpPr/>
              <p:nvPr/>
            </p:nvSpPr>
            <p:spPr>
              <a:xfrm rot="13500000">
                <a:off x="9313860" y="2664262"/>
                <a:ext cx="161400" cy="161565"/>
              </a:xfrm>
              <a:prstGeom prst="corner">
                <a:avLst>
                  <a:gd name="adj1" fmla="val 29795"/>
                  <a:gd name="adj2" fmla="val 28354"/>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L-圖案 54">
                <a:extLst>
                  <a:ext uri="{FF2B5EF4-FFF2-40B4-BE49-F238E27FC236}">
                    <a16:creationId xmlns:a16="http://schemas.microsoft.com/office/drawing/2014/main" id="{DE5BA78D-8CF3-4A50-A9FC-1A1D55A58775}"/>
                  </a:ext>
                </a:extLst>
              </p:cNvPr>
              <p:cNvSpPr/>
              <p:nvPr/>
            </p:nvSpPr>
            <p:spPr>
              <a:xfrm rot="18900000">
                <a:off x="9161458" y="2827125"/>
                <a:ext cx="161400" cy="161565"/>
              </a:xfrm>
              <a:prstGeom prst="corner">
                <a:avLst>
                  <a:gd name="adj1" fmla="val 29795"/>
                  <a:gd name="adj2" fmla="val 28354"/>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L-圖案 55">
                <a:extLst>
                  <a:ext uri="{FF2B5EF4-FFF2-40B4-BE49-F238E27FC236}">
                    <a16:creationId xmlns:a16="http://schemas.microsoft.com/office/drawing/2014/main" id="{FF3B3CD6-A929-4434-886E-54EC6E21F814}"/>
                  </a:ext>
                </a:extLst>
              </p:cNvPr>
              <p:cNvSpPr/>
              <p:nvPr/>
            </p:nvSpPr>
            <p:spPr>
              <a:xfrm rot="2700000">
                <a:off x="8997749" y="2671275"/>
                <a:ext cx="161400" cy="161565"/>
              </a:xfrm>
              <a:prstGeom prst="corner">
                <a:avLst>
                  <a:gd name="adj1" fmla="val 29795"/>
                  <a:gd name="adj2" fmla="val 28354"/>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橢圓 51">
                <a:extLst>
                  <a:ext uri="{FF2B5EF4-FFF2-40B4-BE49-F238E27FC236}">
                    <a16:creationId xmlns:a16="http://schemas.microsoft.com/office/drawing/2014/main" id="{EB4F4E41-273E-427C-8A18-E6FFC03651B7}"/>
                  </a:ext>
                </a:extLst>
              </p:cNvPr>
              <p:cNvSpPr/>
              <p:nvPr/>
            </p:nvSpPr>
            <p:spPr>
              <a:xfrm>
                <a:off x="9157962" y="2655428"/>
                <a:ext cx="174957" cy="200182"/>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3" name="等腰三角形 52">
                <a:extLst>
                  <a:ext uri="{FF2B5EF4-FFF2-40B4-BE49-F238E27FC236}">
                    <a16:creationId xmlns:a16="http://schemas.microsoft.com/office/drawing/2014/main" id="{7D2EB92B-6DC8-43EA-B5AD-C3882325C225}"/>
                  </a:ext>
                </a:extLst>
              </p:cNvPr>
              <p:cNvSpPr/>
              <p:nvPr/>
            </p:nvSpPr>
            <p:spPr>
              <a:xfrm>
                <a:off x="9220200" y="2498725"/>
                <a:ext cx="45719" cy="45719"/>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等腰三角形 53">
                <a:extLst>
                  <a:ext uri="{FF2B5EF4-FFF2-40B4-BE49-F238E27FC236}">
                    <a16:creationId xmlns:a16="http://schemas.microsoft.com/office/drawing/2014/main" id="{875E6A1E-E8DB-49ED-B52C-1D3D67094D82}"/>
                  </a:ext>
                </a:extLst>
              </p:cNvPr>
              <p:cNvSpPr/>
              <p:nvPr/>
            </p:nvSpPr>
            <p:spPr>
              <a:xfrm rot="5400000">
                <a:off x="9439966" y="2722184"/>
                <a:ext cx="45719" cy="45719"/>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等腰三角形 54">
                <a:extLst>
                  <a:ext uri="{FF2B5EF4-FFF2-40B4-BE49-F238E27FC236}">
                    <a16:creationId xmlns:a16="http://schemas.microsoft.com/office/drawing/2014/main" id="{FDEE79B0-DB26-4B8D-BBE6-EE0ADD2CDC54}"/>
                  </a:ext>
                </a:extLst>
              </p:cNvPr>
              <p:cNvSpPr/>
              <p:nvPr/>
            </p:nvSpPr>
            <p:spPr>
              <a:xfrm rot="10800000">
                <a:off x="9216544" y="2956245"/>
                <a:ext cx="45719" cy="45719"/>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等腰三角形 55">
                <a:extLst>
                  <a:ext uri="{FF2B5EF4-FFF2-40B4-BE49-F238E27FC236}">
                    <a16:creationId xmlns:a16="http://schemas.microsoft.com/office/drawing/2014/main" id="{464F53E8-A269-4AE5-B780-F3DD38FCA768}"/>
                  </a:ext>
                </a:extLst>
              </p:cNvPr>
              <p:cNvSpPr/>
              <p:nvPr/>
            </p:nvSpPr>
            <p:spPr>
              <a:xfrm rot="16200000">
                <a:off x="8981856" y="2729197"/>
                <a:ext cx="45719" cy="45719"/>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7" name="圓角矩形 61">
              <a:extLst>
                <a:ext uri="{FF2B5EF4-FFF2-40B4-BE49-F238E27FC236}">
                  <a16:creationId xmlns:a16="http://schemas.microsoft.com/office/drawing/2014/main" id="{3C4FC9C3-A8C2-4156-A47E-1704DBE897AD}"/>
                </a:ext>
              </a:extLst>
            </p:cNvPr>
            <p:cNvSpPr/>
            <p:nvPr/>
          </p:nvSpPr>
          <p:spPr>
            <a:xfrm>
              <a:off x="8879716" y="2206185"/>
              <a:ext cx="193699" cy="97283"/>
            </a:xfrm>
            <a:prstGeom prst="roundRect">
              <a:avLst/>
            </a:prstGeom>
            <a:solidFill>
              <a:schemeClr val="accent1">
                <a:lumMod val="60000"/>
                <a:lumOff val="40000"/>
              </a:schemeClr>
            </a:solidFill>
            <a:ln>
              <a:solidFill>
                <a:schemeClr val="accent1">
                  <a:lumMod val="60000"/>
                  <a:lumOff val="40000"/>
                </a:schemeClr>
              </a:solidFill>
            </a:ln>
            <a:scene3d>
              <a:camera prst="perspectiveContrastingLeftFacing">
                <a:rot lat="21551725" lon="1475540" rev="21394387"/>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圓角矩形 62">
              <a:extLst>
                <a:ext uri="{FF2B5EF4-FFF2-40B4-BE49-F238E27FC236}">
                  <a16:creationId xmlns:a16="http://schemas.microsoft.com/office/drawing/2014/main" id="{51D5FC12-3778-4E68-B701-4A143211DDF1}"/>
                </a:ext>
              </a:extLst>
            </p:cNvPr>
            <p:cNvSpPr/>
            <p:nvPr/>
          </p:nvSpPr>
          <p:spPr>
            <a:xfrm>
              <a:off x="9162123" y="2222169"/>
              <a:ext cx="193699" cy="97283"/>
            </a:xfrm>
            <a:prstGeom prst="roundRect">
              <a:avLst/>
            </a:prstGeom>
            <a:solidFill>
              <a:schemeClr val="accent1">
                <a:lumMod val="60000"/>
                <a:lumOff val="40000"/>
              </a:schemeClr>
            </a:solidFill>
            <a:ln>
              <a:solidFill>
                <a:schemeClr val="accent1">
                  <a:lumMod val="60000"/>
                  <a:lumOff val="40000"/>
                </a:schemeClr>
              </a:solidFill>
            </a:ln>
            <a:scene3d>
              <a:camera prst="perspectiveContrastingLeftFacing">
                <a:rot lat="21551725" lon="1475540" rev="21394387"/>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圓角矩形 63">
              <a:extLst>
                <a:ext uri="{FF2B5EF4-FFF2-40B4-BE49-F238E27FC236}">
                  <a16:creationId xmlns:a16="http://schemas.microsoft.com/office/drawing/2014/main" id="{E26028BE-8441-4D12-A33A-C08B2E70597D}"/>
                </a:ext>
              </a:extLst>
            </p:cNvPr>
            <p:cNvSpPr/>
            <p:nvPr/>
          </p:nvSpPr>
          <p:spPr>
            <a:xfrm>
              <a:off x="8864476" y="2368043"/>
              <a:ext cx="193699" cy="97283"/>
            </a:xfrm>
            <a:prstGeom prst="roundRect">
              <a:avLst/>
            </a:prstGeom>
            <a:solidFill>
              <a:schemeClr val="accent1">
                <a:lumMod val="60000"/>
                <a:lumOff val="40000"/>
              </a:schemeClr>
            </a:solidFill>
            <a:ln>
              <a:solidFill>
                <a:schemeClr val="accent1">
                  <a:lumMod val="60000"/>
                  <a:lumOff val="40000"/>
                </a:schemeClr>
              </a:solidFill>
            </a:ln>
            <a:scene3d>
              <a:camera prst="perspectiveContrastingLeftFacing">
                <a:rot lat="21551725" lon="1475540" rev="21394387"/>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文字方塊 59">
              <a:extLst>
                <a:ext uri="{FF2B5EF4-FFF2-40B4-BE49-F238E27FC236}">
                  <a16:creationId xmlns:a16="http://schemas.microsoft.com/office/drawing/2014/main" id="{B603C5D9-0B4C-481E-A0D3-345AD9ADFB44}"/>
                </a:ext>
              </a:extLst>
            </p:cNvPr>
            <p:cNvSpPr txBox="1"/>
            <p:nvPr/>
          </p:nvSpPr>
          <p:spPr>
            <a:xfrm>
              <a:off x="8975138" y="1873342"/>
              <a:ext cx="312906" cy="200055"/>
            </a:xfrm>
            <a:prstGeom prst="rect">
              <a:avLst/>
            </a:prstGeom>
            <a:noFill/>
          </p:spPr>
          <p:txBody>
            <a:bodyPr wrap="none" rtlCol="0">
              <a:spAutoFit/>
            </a:bodyPr>
            <a:lstStyle/>
            <a:p>
              <a:r>
                <a:rPr lang="en-US" altLang="zh-TW" sz="700" dirty="0">
                  <a:latin typeface="Times New Roman" panose="02020603050405020304" pitchFamily="18" charset="0"/>
                  <a:ea typeface="標楷體" panose="03000509000000000000" pitchFamily="65" charset="-120"/>
                  <a:cs typeface="Times New Roman" panose="02020603050405020304" pitchFamily="18" charset="0"/>
                </a:rPr>
                <a:t>OK</a:t>
              </a:r>
              <a:endParaRPr lang="zh-TW" altLang="en-US" sz="7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DCCF53F1-3366-4D9C-AC7C-7A469B47AD29}"/>
                    </a:ext>
                  </a:extLst>
                </p:cNvPr>
                <p:cNvSpPr txBox="1"/>
                <p:nvPr/>
              </p:nvSpPr>
              <p:spPr>
                <a:xfrm>
                  <a:off x="8844586" y="2150727"/>
                  <a:ext cx="255133" cy="2000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TW" altLang="en-US" sz="700" i="1" smtClean="0">
                            <a:latin typeface="Cambria Math" panose="02040503050406030204" pitchFamily="18" charset="0"/>
                            <a:ea typeface="標楷體" panose="03000509000000000000" pitchFamily="65" charset="-120"/>
                            <a:cs typeface="Times New Roman" panose="02020603050405020304" pitchFamily="18" charset="0"/>
                          </a:rPr>
                          <m:t>𝜆</m:t>
                        </m:r>
                      </m:oMath>
                    </m:oMathPara>
                  </a14:m>
                  <a:endParaRPr lang="zh-TW" altLang="en-US" sz="7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61" name="文字方塊 60">
                  <a:extLst>
                    <a:ext uri="{FF2B5EF4-FFF2-40B4-BE49-F238E27FC236}">
                      <a16:creationId xmlns:a16="http://schemas.microsoft.com/office/drawing/2014/main" id="{DCCF53F1-3366-4D9C-AC7C-7A469B47AD29}"/>
                    </a:ext>
                  </a:extLst>
                </p:cNvPr>
                <p:cNvSpPr txBox="1">
                  <a:spLocks noRot="1" noChangeAspect="1" noMove="1" noResize="1" noEditPoints="1" noAdjustHandles="1" noChangeArrowheads="1" noChangeShapeType="1" noTextEdit="1"/>
                </p:cNvSpPr>
                <p:nvPr/>
              </p:nvSpPr>
              <p:spPr>
                <a:xfrm>
                  <a:off x="8844586" y="2150727"/>
                  <a:ext cx="255133" cy="20005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F8568DAD-E600-4C66-89E7-CB1C5ECEF99A}"/>
                    </a:ext>
                  </a:extLst>
                </p:cNvPr>
                <p:cNvSpPr txBox="1"/>
                <p:nvPr/>
              </p:nvSpPr>
              <p:spPr>
                <a:xfrm>
                  <a:off x="9126816" y="2168772"/>
                  <a:ext cx="260008" cy="2000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altLang="zh-TW" sz="700" i="1" smtClean="0">
                            <a:latin typeface="Cambria Math" panose="02040503050406030204" pitchFamily="18" charset="0"/>
                            <a:ea typeface="Cambria Math" panose="02040503050406030204" pitchFamily="18" charset="0"/>
                            <a:cs typeface="Times New Roman" panose="02020603050405020304" pitchFamily="18" charset="0"/>
                          </a:rPr>
                          <m:t>Δ</m:t>
                        </m:r>
                      </m:oMath>
                    </m:oMathPara>
                  </a14:m>
                  <a:endParaRPr lang="zh-TW" altLang="en-US" sz="7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62" name="文字方塊 61">
                  <a:extLst>
                    <a:ext uri="{FF2B5EF4-FFF2-40B4-BE49-F238E27FC236}">
                      <a16:creationId xmlns:a16="http://schemas.microsoft.com/office/drawing/2014/main" id="{F8568DAD-E600-4C66-89E7-CB1C5ECEF99A}"/>
                    </a:ext>
                  </a:extLst>
                </p:cNvPr>
                <p:cNvSpPr txBox="1">
                  <a:spLocks noRot="1" noChangeAspect="1" noMove="1" noResize="1" noEditPoints="1" noAdjustHandles="1" noChangeArrowheads="1" noChangeShapeType="1" noTextEdit="1"/>
                </p:cNvSpPr>
                <p:nvPr/>
              </p:nvSpPr>
              <p:spPr>
                <a:xfrm>
                  <a:off x="9126816" y="2168772"/>
                  <a:ext cx="260008" cy="20005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圓角矩形 67">
                  <a:extLst>
                    <a:ext uri="{FF2B5EF4-FFF2-40B4-BE49-F238E27FC236}">
                      <a16:creationId xmlns:a16="http://schemas.microsoft.com/office/drawing/2014/main" id="{546D8F5E-05A8-4242-9860-72F04F3E01FC}"/>
                    </a:ext>
                  </a:extLst>
                </p:cNvPr>
                <p:cNvSpPr/>
                <p:nvPr/>
              </p:nvSpPr>
              <p:spPr>
                <a:xfrm>
                  <a:off x="7440956" y="1633176"/>
                  <a:ext cx="1393487" cy="625683"/>
                </a:xfrm>
                <a:prstGeom prst="roundRect">
                  <a:avLst>
                    <a:gd name="adj" fmla="val 8931"/>
                  </a:avLst>
                </a:prstGeom>
                <a:solidFill>
                  <a:srgbClr val="00B0F0"/>
                </a:solidFill>
                <a:ln>
                  <a:solidFill>
                    <a:schemeClr val="accent1">
                      <a:lumMod val="60000"/>
                      <a:lumOff val="40000"/>
                    </a:schemeClr>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m:t>
                            </m:r>
                          </m:e>
                          <m:sub>
                            <m:r>
                              <m:rPr>
                                <m:sty m:val="p"/>
                              </m:rPr>
                              <a:rPr lang="en-US" altLang="zh-TW" i="1">
                                <a:latin typeface="Cambria Math" panose="02040503050406030204" pitchFamily="18" charset="0"/>
                              </a:rPr>
                              <m:t>mW</m:t>
                            </m:r>
                          </m:sub>
                        </m:sSub>
                      </m:oMath>
                    </m:oMathPara>
                  </a14:m>
                  <a:endParaRPr lang="zh-TW" altLang="en-US" i="1" dirty="0">
                    <a:latin typeface="Cambria Math" panose="02040503050406030204" pitchFamily="18" charset="0"/>
                    <a:ea typeface="標楷體" panose="03000509000000000000" pitchFamily="65" charset="-120"/>
                    <a:cs typeface="Times New Roman" panose="02020603050405020304" pitchFamily="18" charset="0"/>
                  </a:endParaRPr>
                </a:p>
              </p:txBody>
            </p:sp>
          </mc:Choice>
          <mc:Fallback xmlns="">
            <p:sp>
              <p:nvSpPr>
                <p:cNvPr id="63" name="圓角矩形 67">
                  <a:extLst>
                    <a:ext uri="{FF2B5EF4-FFF2-40B4-BE49-F238E27FC236}">
                      <a16:creationId xmlns:a16="http://schemas.microsoft.com/office/drawing/2014/main" id="{546D8F5E-05A8-4242-9860-72F04F3E01FC}"/>
                    </a:ext>
                  </a:extLst>
                </p:cNvPr>
                <p:cNvSpPr>
                  <a:spLocks noRot="1" noChangeAspect="1" noMove="1" noResize="1" noEditPoints="1" noAdjustHandles="1" noChangeArrowheads="1" noChangeShapeType="1" noTextEdit="1"/>
                </p:cNvSpPr>
                <p:nvPr/>
              </p:nvSpPr>
              <p:spPr>
                <a:xfrm>
                  <a:off x="7440956" y="1633176"/>
                  <a:ext cx="1393487" cy="625683"/>
                </a:xfrm>
                <a:prstGeom prst="roundRect">
                  <a:avLst>
                    <a:gd name="adj" fmla="val 8931"/>
                  </a:avLst>
                </a:prstGeom>
                <a:blipFill>
                  <a:blip r:embed="rId6"/>
                  <a:stretch>
                    <a:fillRect/>
                  </a:stretch>
                </a:blipFill>
                <a:ln>
                  <a:solidFill>
                    <a:schemeClr val="accent1">
                      <a:lumMod val="60000"/>
                      <a:lumOff val="40000"/>
                    </a:schemeClr>
                  </a:solidFill>
                </a:ln>
              </p:spPr>
              <p:txBody>
                <a:bodyPr/>
                <a:lstStyle/>
                <a:p>
                  <a:r>
                    <a:rPr lang="zh-TW" altLang="en-US">
                      <a:noFill/>
                    </a:rPr>
                    <a:t> </a:t>
                  </a:r>
                </a:p>
              </p:txBody>
            </p:sp>
          </mc:Fallback>
        </mc:AlternateContent>
        <p:grpSp>
          <p:nvGrpSpPr>
            <p:cNvPr id="64" name="群組 63">
              <a:extLst>
                <a:ext uri="{FF2B5EF4-FFF2-40B4-BE49-F238E27FC236}">
                  <a16:creationId xmlns:a16="http://schemas.microsoft.com/office/drawing/2014/main" id="{859F456B-913E-46EE-8ACA-B5DCE66E56A0}"/>
                </a:ext>
              </a:extLst>
            </p:cNvPr>
            <p:cNvGrpSpPr/>
            <p:nvPr/>
          </p:nvGrpSpPr>
          <p:grpSpPr>
            <a:xfrm>
              <a:off x="8903209" y="2368341"/>
              <a:ext cx="111420" cy="99377"/>
              <a:chOff x="9073354" y="3664443"/>
              <a:chExt cx="37103" cy="39565"/>
            </a:xfrm>
            <a:solidFill>
              <a:schemeClr val="tx1"/>
            </a:solidFill>
          </p:grpSpPr>
          <p:sp>
            <p:nvSpPr>
              <p:cNvPr id="65" name="橢圓 64">
                <a:extLst>
                  <a:ext uri="{FF2B5EF4-FFF2-40B4-BE49-F238E27FC236}">
                    <a16:creationId xmlns:a16="http://schemas.microsoft.com/office/drawing/2014/main" id="{0CB6896D-CECA-4668-BB78-2419957DBD78}"/>
                  </a:ext>
                </a:extLst>
              </p:cNvPr>
              <p:cNvSpPr/>
              <p:nvPr/>
            </p:nvSpPr>
            <p:spPr>
              <a:xfrm>
                <a:off x="9085235" y="3676525"/>
                <a:ext cx="13341" cy="1497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6" name="直線接點 65">
                <a:extLst>
                  <a:ext uri="{FF2B5EF4-FFF2-40B4-BE49-F238E27FC236}">
                    <a16:creationId xmlns:a16="http://schemas.microsoft.com/office/drawing/2014/main" id="{F16D5653-2841-40F6-BD74-8E0C6EEDEE77}"/>
                  </a:ext>
                </a:extLst>
              </p:cNvPr>
              <p:cNvCxnSpPr>
                <a:stCxn id="65" idx="6"/>
              </p:cNvCxnSpPr>
              <p:nvPr/>
            </p:nvCxnSpPr>
            <p:spPr>
              <a:xfrm flipV="1">
                <a:off x="9098576" y="3683691"/>
                <a:ext cx="11881" cy="32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6D0598A0-7359-4901-BEE6-C42A8A5ED19C}"/>
                  </a:ext>
                </a:extLst>
              </p:cNvPr>
              <p:cNvCxnSpPr>
                <a:stCxn id="65" idx="7"/>
              </p:cNvCxnSpPr>
              <p:nvPr/>
            </p:nvCxnSpPr>
            <p:spPr>
              <a:xfrm flipV="1">
                <a:off x="9096622" y="3669656"/>
                <a:ext cx="7894" cy="906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76323B0D-E4CF-45A6-AE13-CEE8D8AAEA38}"/>
                  </a:ext>
                </a:extLst>
              </p:cNvPr>
              <p:cNvCxnSpPr>
                <a:stCxn id="65" idx="0"/>
              </p:cNvCxnSpPr>
              <p:nvPr/>
            </p:nvCxnSpPr>
            <p:spPr>
              <a:xfrm flipH="1" flipV="1">
                <a:off x="9091905" y="3664443"/>
                <a:ext cx="0" cy="1208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線接點 68">
                <a:extLst>
                  <a:ext uri="{FF2B5EF4-FFF2-40B4-BE49-F238E27FC236}">
                    <a16:creationId xmlns:a16="http://schemas.microsoft.com/office/drawing/2014/main" id="{9EFC7849-67D1-45D0-8A35-0D5594244BD6}"/>
                  </a:ext>
                </a:extLst>
              </p:cNvPr>
              <p:cNvCxnSpPr>
                <a:stCxn id="65" idx="1"/>
              </p:cNvCxnSpPr>
              <p:nvPr/>
            </p:nvCxnSpPr>
            <p:spPr>
              <a:xfrm flipH="1" flipV="1">
                <a:off x="9079104" y="3670136"/>
                <a:ext cx="8085" cy="858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線接點 69">
                <a:extLst>
                  <a:ext uri="{FF2B5EF4-FFF2-40B4-BE49-F238E27FC236}">
                    <a16:creationId xmlns:a16="http://schemas.microsoft.com/office/drawing/2014/main" id="{1733212A-916B-4B89-99ED-9CC2555A86C1}"/>
                  </a:ext>
                </a:extLst>
              </p:cNvPr>
              <p:cNvCxnSpPr>
                <a:stCxn id="65" idx="2"/>
              </p:cNvCxnSpPr>
              <p:nvPr/>
            </p:nvCxnSpPr>
            <p:spPr>
              <a:xfrm flipH="1" flipV="1">
                <a:off x="9073354" y="3683883"/>
                <a:ext cx="11881" cy="12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C2D9477D-08C8-417C-A3FB-2C8BDAFDE425}"/>
                  </a:ext>
                </a:extLst>
              </p:cNvPr>
              <p:cNvCxnSpPr>
                <a:stCxn id="65" idx="3"/>
              </p:cNvCxnSpPr>
              <p:nvPr/>
            </p:nvCxnSpPr>
            <p:spPr>
              <a:xfrm flipH="1">
                <a:off x="9077420" y="3689304"/>
                <a:ext cx="9769" cy="959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線接點 71">
                <a:extLst>
                  <a:ext uri="{FF2B5EF4-FFF2-40B4-BE49-F238E27FC236}">
                    <a16:creationId xmlns:a16="http://schemas.microsoft.com/office/drawing/2014/main" id="{0F70D502-0A51-4232-A30A-C5A84281DDFB}"/>
                  </a:ext>
                </a:extLst>
              </p:cNvPr>
              <p:cNvCxnSpPr>
                <a:stCxn id="65" idx="4"/>
              </p:cNvCxnSpPr>
              <p:nvPr/>
            </p:nvCxnSpPr>
            <p:spPr>
              <a:xfrm flipH="1">
                <a:off x="9091905" y="3691497"/>
                <a:ext cx="0" cy="1251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9B48C50A-52DA-4986-868F-434C9D40AC72}"/>
                  </a:ext>
                </a:extLst>
              </p:cNvPr>
              <p:cNvCxnSpPr>
                <a:stCxn id="65" idx="5"/>
              </p:cNvCxnSpPr>
              <p:nvPr/>
            </p:nvCxnSpPr>
            <p:spPr>
              <a:xfrm>
                <a:off x="9096622" y="3689304"/>
                <a:ext cx="7395" cy="1065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圓角矩形 78">
              <a:extLst>
                <a:ext uri="{FF2B5EF4-FFF2-40B4-BE49-F238E27FC236}">
                  <a16:creationId xmlns:a16="http://schemas.microsoft.com/office/drawing/2014/main" id="{27ACE385-4999-42A0-A7DE-53F40706B44E}"/>
                </a:ext>
              </a:extLst>
            </p:cNvPr>
            <p:cNvSpPr/>
            <p:nvPr/>
          </p:nvSpPr>
          <p:spPr>
            <a:xfrm>
              <a:off x="7550518" y="1660376"/>
              <a:ext cx="1156838" cy="63476"/>
            </a:xfrm>
            <a:prstGeom prst="roundRect">
              <a:avLst>
                <a:gd name="adj" fmla="val 0"/>
              </a:avLst>
            </a:prstGeom>
            <a:solidFill>
              <a:schemeClr val="tx1"/>
            </a:solid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5" name="圓角矩形 79">
                  <a:extLst>
                    <a:ext uri="{FF2B5EF4-FFF2-40B4-BE49-F238E27FC236}">
                      <a16:creationId xmlns:a16="http://schemas.microsoft.com/office/drawing/2014/main" id="{F80EC979-A287-4C78-A69B-372AEC33ADFD}"/>
                    </a:ext>
                  </a:extLst>
                </p:cNvPr>
                <p:cNvSpPr/>
                <p:nvPr/>
              </p:nvSpPr>
              <p:spPr>
                <a:xfrm>
                  <a:off x="7517541" y="2039313"/>
                  <a:ext cx="285514" cy="106268"/>
                </a:xfrm>
                <a:prstGeom prst="roundRect">
                  <a:avLst>
                    <a:gd name="adj" fmla="val 0"/>
                  </a:avLst>
                </a:prstGeom>
                <a:no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zh-TW" altLang="en-US" sz="400" i="0" smtClean="0">
                            <a:latin typeface="Cambria Math" panose="02040503050406030204" pitchFamily="18" charset="0"/>
                          </a:rPr>
                          <m:t>λ</m:t>
                        </m:r>
                        <m:r>
                          <a:rPr lang="en-US" altLang="zh-TW" sz="400" b="0" i="0" smtClean="0">
                            <a:latin typeface="Cambria Math" panose="02040503050406030204" pitchFamily="18" charset="0"/>
                          </a:rPr>
                          <m:t> </m:t>
                        </m:r>
                        <m:sSub>
                          <m:sSubPr>
                            <m:ctrlPr>
                              <a:rPr lang="en-US" altLang="zh-TW" sz="400" b="0" i="1" smtClean="0">
                                <a:latin typeface="Cambria Math" panose="02040503050406030204" pitchFamily="18" charset="0"/>
                              </a:rPr>
                            </m:ctrlPr>
                          </m:sSubPr>
                          <m:e>
                            <m:r>
                              <a:rPr lang="en-US" altLang="zh-TW" sz="400" b="0" i="0" smtClean="0">
                                <a:latin typeface="Cambria Math" panose="02040503050406030204" pitchFamily="18" charset="0"/>
                              </a:rPr>
                              <m:t>1064</m:t>
                            </m:r>
                          </m:e>
                          <m:sub>
                            <m:r>
                              <m:rPr>
                                <m:sty m:val="p"/>
                              </m:rPr>
                              <a:rPr lang="en-US" altLang="zh-TW" sz="400" b="0" i="0" smtClean="0">
                                <a:latin typeface="Cambria Math" panose="02040503050406030204" pitchFamily="18" charset="0"/>
                              </a:rPr>
                              <m:t>nm</m:t>
                            </m:r>
                          </m:sub>
                        </m:sSub>
                      </m:oMath>
                    </m:oMathPara>
                  </a14:m>
                  <a:endParaRPr lang="zh-TW" altLang="en-US" sz="400" dirty="0"/>
                </a:p>
              </p:txBody>
            </p:sp>
          </mc:Choice>
          <mc:Fallback xmlns="">
            <p:sp>
              <p:nvSpPr>
                <p:cNvPr id="75" name="圓角矩形 79">
                  <a:extLst>
                    <a:ext uri="{FF2B5EF4-FFF2-40B4-BE49-F238E27FC236}">
                      <a16:creationId xmlns:a16="http://schemas.microsoft.com/office/drawing/2014/main" id="{F80EC979-A287-4C78-A69B-372AEC33ADFD}"/>
                    </a:ext>
                  </a:extLst>
                </p:cNvPr>
                <p:cNvSpPr>
                  <a:spLocks noRot="1" noChangeAspect="1" noMove="1" noResize="1" noEditPoints="1" noAdjustHandles="1" noChangeArrowheads="1" noChangeShapeType="1" noTextEdit="1"/>
                </p:cNvSpPr>
                <p:nvPr/>
              </p:nvSpPr>
              <p:spPr>
                <a:xfrm>
                  <a:off x="7517541" y="2039313"/>
                  <a:ext cx="285514" cy="106268"/>
                </a:xfrm>
                <a:prstGeom prst="roundRect">
                  <a:avLst>
                    <a:gd name="adj" fmla="val 0"/>
                  </a:avLst>
                </a:prstGeom>
                <a:blipFill>
                  <a:blip r:embed="rId7"/>
                  <a:stretch>
                    <a:fillRect/>
                  </a:stretch>
                </a:blipFill>
                <a:ln>
                  <a:solidFill>
                    <a:schemeClr val="tx1"/>
                  </a:solidFill>
                </a:ln>
              </p:spPr>
              <p:txBody>
                <a:bodyPr/>
                <a:lstStyle/>
                <a:p>
                  <a:r>
                    <a:rPr lang="zh-TW" altLang="en-US">
                      <a:noFill/>
                    </a:rPr>
                    <a:t> </a:t>
                  </a:r>
                </a:p>
              </p:txBody>
            </p:sp>
          </mc:Fallback>
        </mc:AlternateContent>
        <p:sp>
          <p:nvSpPr>
            <p:cNvPr id="76" name="圓角矩形 80">
              <a:extLst>
                <a:ext uri="{FF2B5EF4-FFF2-40B4-BE49-F238E27FC236}">
                  <a16:creationId xmlns:a16="http://schemas.microsoft.com/office/drawing/2014/main" id="{FB23BA75-F4FA-4A7E-9F4A-85C8912572F2}"/>
                </a:ext>
              </a:extLst>
            </p:cNvPr>
            <p:cNvSpPr/>
            <p:nvPr/>
          </p:nvSpPr>
          <p:spPr>
            <a:xfrm>
              <a:off x="7842280" y="2088163"/>
              <a:ext cx="285514" cy="106268"/>
            </a:xfrm>
            <a:prstGeom prst="roundRect">
              <a:avLst>
                <a:gd name="adj" fmla="val 0"/>
              </a:avLst>
            </a:prstGeom>
            <a:no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400" dirty="0"/>
                <a:t>Unit</a:t>
              </a:r>
              <a:endParaRPr lang="zh-TW" altLang="en-US" sz="400" dirty="0"/>
            </a:p>
          </p:txBody>
        </p:sp>
        <mc:AlternateContent xmlns:mc="http://schemas.openxmlformats.org/markup-compatibility/2006" xmlns:a14="http://schemas.microsoft.com/office/drawing/2010/main">
          <mc:Choice Requires="a14">
            <p:sp>
              <p:nvSpPr>
                <p:cNvPr id="77" name="圓角矩形 81">
                  <a:extLst>
                    <a:ext uri="{FF2B5EF4-FFF2-40B4-BE49-F238E27FC236}">
                      <a16:creationId xmlns:a16="http://schemas.microsoft.com/office/drawing/2014/main" id="{813A22E2-36FA-425A-A367-8ED7821CAFC7}"/>
                    </a:ext>
                  </a:extLst>
                </p:cNvPr>
                <p:cNvSpPr/>
                <p:nvPr/>
              </p:nvSpPr>
              <p:spPr>
                <a:xfrm>
                  <a:off x="8162924" y="2141297"/>
                  <a:ext cx="285514" cy="106268"/>
                </a:xfrm>
                <a:prstGeom prst="roundRect">
                  <a:avLst>
                    <a:gd name="adj" fmla="val 0"/>
                  </a:avLst>
                </a:prstGeom>
                <a:no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300" b="0" i="0" smtClean="0">
                            <a:latin typeface="Cambria Math" panose="02040503050406030204" pitchFamily="18" charset="0"/>
                          </a:rPr>
                          <m:t>System</m:t>
                        </m:r>
                        <m:r>
                          <a:rPr lang="en-US" altLang="zh-TW" sz="300" b="0" i="0" smtClean="0">
                            <a:latin typeface="Cambria Math" panose="02040503050406030204" pitchFamily="18" charset="0"/>
                          </a:rPr>
                          <m:t> </m:t>
                        </m:r>
                        <m:r>
                          <m:rPr>
                            <m:sty m:val="p"/>
                          </m:rPr>
                          <a:rPr lang="en-US" altLang="zh-TW" sz="300" b="0" i="0" smtClean="0">
                            <a:latin typeface="Cambria Math" panose="02040503050406030204" pitchFamily="18" charset="0"/>
                          </a:rPr>
                          <m:t>Menu</m:t>
                        </m:r>
                      </m:oMath>
                    </m:oMathPara>
                  </a14:m>
                  <a:endParaRPr lang="zh-TW" altLang="en-US" sz="300" dirty="0"/>
                </a:p>
              </p:txBody>
            </p:sp>
          </mc:Choice>
          <mc:Fallback xmlns="">
            <p:sp>
              <p:nvSpPr>
                <p:cNvPr id="77" name="圓角矩形 81">
                  <a:extLst>
                    <a:ext uri="{FF2B5EF4-FFF2-40B4-BE49-F238E27FC236}">
                      <a16:creationId xmlns:a16="http://schemas.microsoft.com/office/drawing/2014/main" id="{813A22E2-36FA-425A-A367-8ED7821CAFC7}"/>
                    </a:ext>
                  </a:extLst>
                </p:cNvPr>
                <p:cNvSpPr>
                  <a:spLocks noRot="1" noChangeAspect="1" noMove="1" noResize="1" noEditPoints="1" noAdjustHandles="1" noChangeArrowheads="1" noChangeShapeType="1" noTextEdit="1"/>
                </p:cNvSpPr>
                <p:nvPr/>
              </p:nvSpPr>
              <p:spPr>
                <a:xfrm>
                  <a:off x="8162924" y="2141297"/>
                  <a:ext cx="285514" cy="106268"/>
                </a:xfrm>
                <a:prstGeom prst="roundRect">
                  <a:avLst>
                    <a:gd name="adj" fmla="val 0"/>
                  </a:avLst>
                </a:prstGeom>
                <a:blipFill>
                  <a:blip r:embed="rId8"/>
                  <a:stretch>
                    <a:fillRect/>
                  </a:stretch>
                </a:blipFill>
                <a:ln>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8" name="圓角矩形 82">
                  <a:extLst>
                    <a:ext uri="{FF2B5EF4-FFF2-40B4-BE49-F238E27FC236}">
                      <a16:creationId xmlns:a16="http://schemas.microsoft.com/office/drawing/2014/main" id="{FEA37F3A-0C13-43B1-95CA-17E9CD1340C8}"/>
                    </a:ext>
                  </a:extLst>
                </p:cNvPr>
                <p:cNvSpPr/>
                <p:nvPr/>
              </p:nvSpPr>
              <p:spPr>
                <a:xfrm>
                  <a:off x="8474876" y="2189761"/>
                  <a:ext cx="285514" cy="106268"/>
                </a:xfrm>
                <a:prstGeom prst="roundRect">
                  <a:avLst>
                    <a:gd name="adj" fmla="val 0"/>
                  </a:avLst>
                </a:prstGeom>
                <a:no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00" b="0" i="0" smtClean="0">
                            <a:latin typeface="Cambria Math" panose="02040503050406030204" pitchFamily="18" charset="0"/>
                          </a:rPr>
                          <m:t>Meas</m:t>
                        </m:r>
                        <m:r>
                          <a:rPr lang="en-US" altLang="zh-TW" sz="400" b="0" i="0" smtClean="0">
                            <a:latin typeface="Cambria Math" panose="02040503050406030204" pitchFamily="18" charset="0"/>
                          </a:rPr>
                          <m:t> </m:t>
                        </m:r>
                        <m:r>
                          <m:rPr>
                            <m:sty m:val="p"/>
                          </m:rPr>
                          <a:rPr lang="en-US" altLang="zh-TW" sz="400" b="0" i="0" smtClean="0">
                            <a:latin typeface="Cambria Math" panose="02040503050406030204" pitchFamily="18" charset="0"/>
                          </a:rPr>
                          <m:t>View</m:t>
                        </m:r>
                      </m:oMath>
                    </m:oMathPara>
                  </a14:m>
                  <a:endParaRPr lang="zh-TW" altLang="en-US" sz="400" dirty="0"/>
                </a:p>
              </p:txBody>
            </p:sp>
          </mc:Choice>
          <mc:Fallback xmlns="">
            <p:sp>
              <p:nvSpPr>
                <p:cNvPr id="78" name="圓角矩形 82">
                  <a:extLst>
                    <a:ext uri="{FF2B5EF4-FFF2-40B4-BE49-F238E27FC236}">
                      <a16:creationId xmlns:a16="http://schemas.microsoft.com/office/drawing/2014/main" id="{FEA37F3A-0C13-43B1-95CA-17E9CD1340C8}"/>
                    </a:ext>
                  </a:extLst>
                </p:cNvPr>
                <p:cNvSpPr>
                  <a:spLocks noRot="1" noChangeAspect="1" noMove="1" noResize="1" noEditPoints="1" noAdjustHandles="1" noChangeArrowheads="1" noChangeShapeType="1" noTextEdit="1"/>
                </p:cNvSpPr>
                <p:nvPr/>
              </p:nvSpPr>
              <p:spPr>
                <a:xfrm>
                  <a:off x="8474876" y="2189761"/>
                  <a:ext cx="285514" cy="106268"/>
                </a:xfrm>
                <a:prstGeom prst="roundRect">
                  <a:avLst>
                    <a:gd name="adj" fmla="val 0"/>
                  </a:avLst>
                </a:prstGeom>
                <a:blipFill>
                  <a:blip r:embed="rId9"/>
                  <a:stretch>
                    <a:fillRect/>
                  </a:stretch>
                </a:blipFill>
                <a:ln>
                  <a:solidFill>
                    <a:schemeClr val="tx1"/>
                  </a:solidFill>
                </a:ln>
              </p:spPr>
              <p:txBody>
                <a:bodyPr/>
                <a:lstStyle/>
                <a:p>
                  <a:r>
                    <a:rPr lang="zh-TW" altLang="en-US">
                      <a:noFill/>
                    </a:rPr>
                    <a:t> </a:t>
                  </a:r>
                </a:p>
              </p:txBody>
            </p:sp>
          </mc:Fallback>
        </mc:AlternateContent>
      </p:grpSp>
      <p:sp>
        <p:nvSpPr>
          <p:cNvPr id="79" name="橢圓 78">
            <a:extLst>
              <a:ext uri="{FF2B5EF4-FFF2-40B4-BE49-F238E27FC236}">
                <a16:creationId xmlns:a16="http://schemas.microsoft.com/office/drawing/2014/main" id="{81EF602A-8E82-4EFD-8E8B-F9D3D5B225B0}"/>
              </a:ext>
            </a:extLst>
          </p:cNvPr>
          <p:cNvSpPr/>
          <p:nvPr/>
        </p:nvSpPr>
        <p:spPr>
          <a:xfrm>
            <a:off x="7800246" y="3461976"/>
            <a:ext cx="124989" cy="809903"/>
          </a:xfrm>
          <a:prstGeom prst="ellipse">
            <a:avLst/>
          </a:prstGeom>
          <a:solidFill>
            <a:schemeClr val="bg1">
              <a:lumMod val="65000"/>
            </a:schemeClr>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mbria Math" panose="02040503050406030204" pitchFamily="18" charset="0"/>
              <a:ea typeface="標楷體" panose="03000509000000000000" pitchFamily="65" charset="-120"/>
            </a:endParaRPr>
          </a:p>
        </p:txBody>
      </p:sp>
      <p:sp>
        <p:nvSpPr>
          <p:cNvPr id="80" name="文字方塊 79">
            <a:extLst>
              <a:ext uri="{FF2B5EF4-FFF2-40B4-BE49-F238E27FC236}">
                <a16:creationId xmlns:a16="http://schemas.microsoft.com/office/drawing/2014/main" id="{B10BC2A8-DAEF-4585-9DB7-F292502D187D}"/>
              </a:ext>
            </a:extLst>
          </p:cNvPr>
          <p:cNvSpPr txBox="1"/>
          <p:nvPr/>
        </p:nvSpPr>
        <p:spPr>
          <a:xfrm>
            <a:off x="7523231" y="4288374"/>
            <a:ext cx="772969" cy="276999"/>
          </a:xfrm>
          <a:prstGeom prst="rect">
            <a:avLst/>
          </a:prstGeom>
          <a:noFill/>
        </p:spPr>
        <p:txBody>
          <a:bodyPr wrap="none" rtlCol="0">
            <a:spAutoFit/>
          </a:bodyPr>
          <a:lstStyle/>
          <a:p>
            <a:r>
              <a:rPr lang="en-US" altLang="zh-TW" sz="1200" dirty="0">
                <a:latin typeface="Cambria Math" panose="02040503050406030204" pitchFamily="18" charset="0"/>
                <a:ea typeface="Cambria Math" panose="02040503050406030204" pitchFamily="18" charset="0"/>
              </a:rPr>
              <a:t>f=75mm</a:t>
            </a:r>
            <a:endParaRPr lang="zh-TW" altLang="en-US" sz="1200" dirty="0">
              <a:latin typeface="Cambria Math" panose="02040503050406030204" pitchFamily="18" charset="0"/>
            </a:endParaRPr>
          </a:p>
        </p:txBody>
      </p:sp>
      <p:sp>
        <p:nvSpPr>
          <p:cNvPr id="81" name="橢圓 80">
            <a:extLst>
              <a:ext uri="{FF2B5EF4-FFF2-40B4-BE49-F238E27FC236}">
                <a16:creationId xmlns:a16="http://schemas.microsoft.com/office/drawing/2014/main" id="{3B72D4AA-62CF-4A65-A683-CB9A007E937C}"/>
              </a:ext>
            </a:extLst>
          </p:cNvPr>
          <p:cNvSpPr/>
          <p:nvPr/>
        </p:nvSpPr>
        <p:spPr>
          <a:xfrm>
            <a:off x="8618904" y="3464429"/>
            <a:ext cx="124989" cy="809903"/>
          </a:xfrm>
          <a:prstGeom prst="ellipse">
            <a:avLst/>
          </a:prstGeom>
          <a:solidFill>
            <a:schemeClr val="bg1">
              <a:lumMod val="65000"/>
            </a:schemeClr>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mbria Math" panose="02040503050406030204" pitchFamily="18" charset="0"/>
              <a:ea typeface="標楷體" panose="03000509000000000000" pitchFamily="65" charset="-120"/>
            </a:endParaRPr>
          </a:p>
        </p:txBody>
      </p:sp>
      <p:sp>
        <p:nvSpPr>
          <p:cNvPr id="82" name="文字方塊 81">
            <a:extLst>
              <a:ext uri="{FF2B5EF4-FFF2-40B4-BE49-F238E27FC236}">
                <a16:creationId xmlns:a16="http://schemas.microsoft.com/office/drawing/2014/main" id="{A5CC18B4-28FC-4B72-B62A-2D11A57E65C9}"/>
              </a:ext>
            </a:extLst>
          </p:cNvPr>
          <p:cNvSpPr txBox="1"/>
          <p:nvPr/>
        </p:nvSpPr>
        <p:spPr>
          <a:xfrm>
            <a:off x="8251483" y="4267390"/>
            <a:ext cx="857927" cy="276999"/>
          </a:xfrm>
          <a:prstGeom prst="rect">
            <a:avLst/>
          </a:prstGeom>
          <a:noFill/>
        </p:spPr>
        <p:txBody>
          <a:bodyPr wrap="none" rtlCol="0">
            <a:spAutoFit/>
          </a:bodyPr>
          <a:lstStyle/>
          <a:p>
            <a:r>
              <a:rPr lang="en-US" altLang="zh-TW" sz="1200" dirty="0">
                <a:latin typeface="Cambria Math" panose="02040503050406030204" pitchFamily="18" charset="0"/>
                <a:ea typeface="Cambria Math" panose="02040503050406030204" pitchFamily="18" charset="0"/>
              </a:rPr>
              <a:t>f=125mm</a:t>
            </a:r>
            <a:endParaRPr lang="zh-TW" altLang="en-US" sz="1200" dirty="0">
              <a:latin typeface="Cambria Math" panose="02040503050406030204" pitchFamily="18" charset="0"/>
            </a:endParaRPr>
          </a:p>
        </p:txBody>
      </p:sp>
      <p:grpSp>
        <p:nvGrpSpPr>
          <p:cNvPr id="83" name="群組 82">
            <a:extLst>
              <a:ext uri="{FF2B5EF4-FFF2-40B4-BE49-F238E27FC236}">
                <a16:creationId xmlns:a16="http://schemas.microsoft.com/office/drawing/2014/main" id="{F2ED25CE-717A-48C1-9035-39E729E2ED8C}"/>
              </a:ext>
            </a:extLst>
          </p:cNvPr>
          <p:cNvGrpSpPr/>
          <p:nvPr/>
        </p:nvGrpSpPr>
        <p:grpSpPr>
          <a:xfrm>
            <a:off x="6248837" y="3679388"/>
            <a:ext cx="458132" cy="360068"/>
            <a:chOff x="2483768" y="764703"/>
            <a:chExt cx="971165" cy="848496"/>
          </a:xfrm>
        </p:grpSpPr>
        <p:sp>
          <p:nvSpPr>
            <p:cNvPr id="84" name="圓柱 88">
              <a:extLst>
                <a:ext uri="{FF2B5EF4-FFF2-40B4-BE49-F238E27FC236}">
                  <a16:creationId xmlns:a16="http://schemas.microsoft.com/office/drawing/2014/main" id="{037510FC-38F2-4BEA-9006-24BBBE459172}"/>
                </a:ext>
              </a:extLst>
            </p:cNvPr>
            <p:cNvSpPr/>
            <p:nvPr/>
          </p:nvSpPr>
          <p:spPr>
            <a:xfrm rot="16200000">
              <a:off x="2545103" y="703368"/>
              <a:ext cx="848496" cy="971165"/>
            </a:xfrm>
            <a:prstGeom prst="can">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1BCEA139-A6B6-4A8A-A817-8A8DEB954E49}"/>
                </a:ext>
              </a:extLst>
            </p:cNvPr>
            <p:cNvSpPr/>
            <p:nvPr/>
          </p:nvSpPr>
          <p:spPr>
            <a:xfrm>
              <a:off x="2563314" y="1021378"/>
              <a:ext cx="64470" cy="391398"/>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6" name="文字方塊 85">
            <a:extLst>
              <a:ext uri="{FF2B5EF4-FFF2-40B4-BE49-F238E27FC236}">
                <a16:creationId xmlns:a16="http://schemas.microsoft.com/office/drawing/2014/main" id="{7FAF55E5-89AB-4DEB-9AEE-FE0716C3E19C}"/>
              </a:ext>
            </a:extLst>
          </p:cNvPr>
          <p:cNvSpPr txBox="1"/>
          <p:nvPr/>
        </p:nvSpPr>
        <p:spPr>
          <a:xfrm>
            <a:off x="6174145" y="4005423"/>
            <a:ext cx="590263" cy="369332"/>
          </a:xfrm>
          <a:prstGeom prst="rect">
            <a:avLst/>
          </a:prstGeom>
          <a:noFill/>
        </p:spPr>
        <p:txBody>
          <a:bodyPr wrap="square" rtlCol="0">
            <a:spAutoFit/>
          </a:bodyPr>
          <a:lstStyle/>
          <a:p>
            <a:pPr algn="ctr"/>
            <a:r>
              <a:rPr lang="en-US" altLang="zh-TW" b="1" i="1" dirty="0">
                <a:solidFill>
                  <a:srgbClr val="FF0000"/>
                </a:solidFill>
              </a:rPr>
              <a:t>Iris</a:t>
            </a:r>
            <a:endParaRPr lang="zh-TW" altLang="en-US" b="1" i="1" dirty="0">
              <a:solidFill>
                <a:srgbClr val="FF0000"/>
              </a:solidFill>
            </a:endParaRPr>
          </a:p>
        </p:txBody>
      </p:sp>
      <p:sp>
        <p:nvSpPr>
          <p:cNvPr id="87" name="手繪多邊形 91">
            <a:extLst>
              <a:ext uri="{FF2B5EF4-FFF2-40B4-BE49-F238E27FC236}">
                <a16:creationId xmlns:a16="http://schemas.microsoft.com/office/drawing/2014/main" id="{952EE1C6-0D1E-466B-A39D-D1C86B8A7839}"/>
              </a:ext>
            </a:extLst>
          </p:cNvPr>
          <p:cNvSpPr/>
          <p:nvPr/>
        </p:nvSpPr>
        <p:spPr>
          <a:xfrm rot="16200000">
            <a:off x="10443644" y="2578647"/>
            <a:ext cx="325196" cy="132038"/>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Cambria Math" panose="02040503050406030204" pitchFamily="18" charset="0"/>
            </a:endParaRPr>
          </a:p>
        </p:txBody>
      </p:sp>
      <p:sp>
        <p:nvSpPr>
          <p:cNvPr id="88" name="手繪多邊形 92">
            <a:extLst>
              <a:ext uri="{FF2B5EF4-FFF2-40B4-BE49-F238E27FC236}">
                <a16:creationId xmlns:a16="http://schemas.microsoft.com/office/drawing/2014/main" id="{FECF2C08-B120-4159-814C-BF457E701E50}"/>
              </a:ext>
            </a:extLst>
          </p:cNvPr>
          <p:cNvSpPr/>
          <p:nvPr/>
        </p:nvSpPr>
        <p:spPr>
          <a:xfrm rot="16200000" flipV="1">
            <a:off x="10621681" y="2598945"/>
            <a:ext cx="325195" cy="91439"/>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Cambria Math" panose="02040503050406030204" pitchFamily="18" charset="0"/>
            </a:endParaRPr>
          </a:p>
        </p:txBody>
      </p:sp>
      <p:sp>
        <p:nvSpPr>
          <p:cNvPr id="89" name="手繪多邊形 93">
            <a:extLst>
              <a:ext uri="{FF2B5EF4-FFF2-40B4-BE49-F238E27FC236}">
                <a16:creationId xmlns:a16="http://schemas.microsoft.com/office/drawing/2014/main" id="{5A22B713-455D-45A7-826C-341C5C9B143C}"/>
              </a:ext>
            </a:extLst>
          </p:cNvPr>
          <p:cNvSpPr/>
          <p:nvPr/>
        </p:nvSpPr>
        <p:spPr>
          <a:xfrm rot="5400000" flipV="1">
            <a:off x="10149906" y="3405120"/>
            <a:ext cx="884672" cy="144779"/>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Cambria Math" panose="02040503050406030204" pitchFamily="18" charset="0"/>
            </a:endParaRPr>
          </a:p>
        </p:txBody>
      </p:sp>
      <p:sp>
        <p:nvSpPr>
          <p:cNvPr id="90" name="手繪多邊形 94">
            <a:extLst>
              <a:ext uri="{FF2B5EF4-FFF2-40B4-BE49-F238E27FC236}">
                <a16:creationId xmlns:a16="http://schemas.microsoft.com/office/drawing/2014/main" id="{1EBD0E21-89C4-4E67-9119-C9E752C0A5A0}"/>
              </a:ext>
            </a:extLst>
          </p:cNvPr>
          <p:cNvSpPr/>
          <p:nvPr/>
        </p:nvSpPr>
        <p:spPr>
          <a:xfrm rot="5400000">
            <a:off x="10313318" y="3394115"/>
            <a:ext cx="894832" cy="176949"/>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Cambria Math" panose="02040503050406030204" pitchFamily="18" charset="0"/>
            </a:endParaRPr>
          </a:p>
        </p:txBody>
      </p:sp>
      <p:sp>
        <p:nvSpPr>
          <p:cNvPr id="91" name="文字方塊 90">
            <a:extLst>
              <a:ext uri="{FF2B5EF4-FFF2-40B4-BE49-F238E27FC236}">
                <a16:creationId xmlns:a16="http://schemas.microsoft.com/office/drawing/2014/main" id="{B0DEC338-4428-4501-A09C-002A34D483E0}"/>
              </a:ext>
            </a:extLst>
          </p:cNvPr>
          <p:cNvSpPr txBox="1"/>
          <p:nvPr/>
        </p:nvSpPr>
        <p:spPr>
          <a:xfrm>
            <a:off x="10430881" y="4184038"/>
            <a:ext cx="569708" cy="369332"/>
          </a:xfrm>
          <a:prstGeom prst="rect">
            <a:avLst/>
          </a:prstGeom>
          <a:noFill/>
        </p:spPr>
        <p:txBody>
          <a:bodyPr wrap="none" rtlCol="0">
            <a:spAutoFit/>
          </a:bodyPr>
          <a:lstStyle/>
          <a:p>
            <a:r>
              <a:rPr lang="en-US" altLang="zh-TW" dirty="0">
                <a:latin typeface="Cambria Math" panose="02040503050406030204" pitchFamily="18" charset="0"/>
                <a:ea typeface="Cambria Math" panose="02040503050406030204" pitchFamily="18" charset="0"/>
              </a:rPr>
              <a:t>PBS</a:t>
            </a:r>
            <a:endParaRPr lang="zh-TW" altLang="en-US" dirty="0">
              <a:latin typeface="Cambria Math" panose="02040503050406030204" pitchFamily="18" charset="0"/>
            </a:endParaRPr>
          </a:p>
        </p:txBody>
      </p:sp>
      <p:grpSp>
        <p:nvGrpSpPr>
          <p:cNvPr id="92" name="群組 91">
            <a:extLst>
              <a:ext uri="{FF2B5EF4-FFF2-40B4-BE49-F238E27FC236}">
                <a16:creationId xmlns:a16="http://schemas.microsoft.com/office/drawing/2014/main" id="{1EF95E25-7EB2-400A-B16E-D5091E10380C}"/>
              </a:ext>
            </a:extLst>
          </p:cNvPr>
          <p:cNvGrpSpPr/>
          <p:nvPr/>
        </p:nvGrpSpPr>
        <p:grpSpPr>
          <a:xfrm>
            <a:off x="10365145" y="3493909"/>
            <a:ext cx="759600" cy="670466"/>
            <a:chOff x="10372512" y="4486507"/>
            <a:chExt cx="759600" cy="670466"/>
          </a:xfrm>
        </p:grpSpPr>
        <p:sp>
          <p:nvSpPr>
            <p:cNvPr id="93" name="矩形 92">
              <a:extLst>
                <a:ext uri="{FF2B5EF4-FFF2-40B4-BE49-F238E27FC236}">
                  <a16:creationId xmlns:a16="http://schemas.microsoft.com/office/drawing/2014/main" id="{885D707C-D6EE-45C8-8831-8F6913B34483}"/>
                </a:ext>
              </a:extLst>
            </p:cNvPr>
            <p:cNvSpPr/>
            <p:nvPr/>
          </p:nvSpPr>
          <p:spPr>
            <a:xfrm>
              <a:off x="10372512" y="4486507"/>
              <a:ext cx="759600" cy="670466"/>
            </a:xfrm>
            <a:prstGeom prst="rect">
              <a:avLst/>
            </a:prstGeom>
            <a:solidFill>
              <a:schemeClr val="tx1">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4" name="直線接點 93">
              <a:extLst>
                <a:ext uri="{FF2B5EF4-FFF2-40B4-BE49-F238E27FC236}">
                  <a16:creationId xmlns:a16="http://schemas.microsoft.com/office/drawing/2014/main" id="{11074227-A8FB-4539-AE14-EF294FB2DDE3}"/>
                </a:ext>
              </a:extLst>
            </p:cNvPr>
            <p:cNvCxnSpPr/>
            <p:nvPr/>
          </p:nvCxnSpPr>
          <p:spPr>
            <a:xfrm flipH="1">
              <a:off x="10382733" y="4486507"/>
              <a:ext cx="749379" cy="6672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5" name="橢圓 94">
            <a:extLst>
              <a:ext uri="{FF2B5EF4-FFF2-40B4-BE49-F238E27FC236}">
                <a16:creationId xmlns:a16="http://schemas.microsoft.com/office/drawing/2014/main" id="{4090CD27-4461-482A-A16A-14D77FD08360}"/>
              </a:ext>
            </a:extLst>
          </p:cNvPr>
          <p:cNvSpPr/>
          <p:nvPr/>
        </p:nvSpPr>
        <p:spPr>
          <a:xfrm>
            <a:off x="10206088" y="2823689"/>
            <a:ext cx="937528" cy="221362"/>
          </a:xfrm>
          <a:prstGeom prst="ellipse">
            <a:avLst/>
          </a:prstGeom>
          <a:solidFill>
            <a:schemeClr val="bg1">
              <a:lumMod val="65000"/>
            </a:schemeClr>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mbria Math" panose="02040503050406030204" pitchFamily="18" charset="0"/>
              <a:ea typeface="標楷體" panose="03000509000000000000" pitchFamily="65" charset="-120"/>
            </a:endParaRPr>
          </a:p>
        </p:txBody>
      </p:sp>
      <p:sp>
        <p:nvSpPr>
          <p:cNvPr id="96" name="文字方塊 95">
            <a:extLst>
              <a:ext uri="{FF2B5EF4-FFF2-40B4-BE49-F238E27FC236}">
                <a16:creationId xmlns:a16="http://schemas.microsoft.com/office/drawing/2014/main" id="{10084E39-D35E-4735-B7D2-A5CBD9145972}"/>
              </a:ext>
            </a:extLst>
          </p:cNvPr>
          <p:cNvSpPr txBox="1"/>
          <p:nvPr/>
        </p:nvSpPr>
        <p:spPr>
          <a:xfrm>
            <a:off x="9799808" y="997038"/>
            <a:ext cx="1463649" cy="369332"/>
          </a:xfrm>
          <a:prstGeom prst="rect">
            <a:avLst/>
          </a:prstGeom>
          <a:noFill/>
          <a:ln>
            <a:solidFill>
              <a:schemeClr val="tx1"/>
            </a:solidFill>
          </a:ln>
        </p:spPr>
        <p:txBody>
          <a:bodyPr wrap="square" rtlCol="0">
            <a:spAutoFit/>
          </a:bodyPr>
          <a:lstStyle/>
          <a:p>
            <a:pPr algn="ctr"/>
            <a:r>
              <a:rPr lang="en-US" altLang="zh-TW" b="1" dirty="0">
                <a:latin typeface="Times New Roman" panose="02020603050405020304" pitchFamily="18" charset="0"/>
                <a:cs typeface="Times New Roman" panose="02020603050405020304" pitchFamily="18" charset="0"/>
              </a:rPr>
              <a:t>Power meter</a:t>
            </a:r>
            <a:endParaRPr lang="zh-TW" altLang="en-US" b="1" dirty="0">
              <a:latin typeface="Times New Roman" panose="02020603050405020304" pitchFamily="18" charset="0"/>
              <a:cs typeface="Times New Roman" panose="02020603050405020304" pitchFamily="18" charset="0"/>
            </a:endParaRPr>
          </a:p>
        </p:txBody>
      </p:sp>
      <p:sp>
        <p:nvSpPr>
          <p:cNvPr id="97" name="手繪多邊形 103">
            <a:extLst>
              <a:ext uri="{FF2B5EF4-FFF2-40B4-BE49-F238E27FC236}">
                <a16:creationId xmlns:a16="http://schemas.microsoft.com/office/drawing/2014/main" id="{815247C1-2F3F-4EA1-91EB-BEA829041404}"/>
              </a:ext>
            </a:extLst>
          </p:cNvPr>
          <p:cNvSpPr/>
          <p:nvPr/>
        </p:nvSpPr>
        <p:spPr>
          <a:xfrm>
            <a:off x="9691403" y="1515668"/>
            <a:ext cx="1310054" cy="772214"/>
          </a:xfrm>
          <a:custGeom>
            <a:avLst/>
            <a:gdLst>
              <a:gd name="connsiteX0" fmla="*/ 0 w 1310054"/>
              <a:gd name="connsiteY0" fmla="*/ 24868 h 772214"/>
              <a:gd name="connsiteX1" fmla="*/ 606669 w 1310054"/>
              <a:gd name="connsiteY1" fmla="*/ 7284 h 772214"/>
              <a:gd name="connsiteX2" fmla="*/ 1160584 w 1310054"/>
              <a:gd name="connsiteY2" fmla="*/ 130376 h 772214"/>
              <a:gd name="connsiteX3" fmla="*/ 1310054 w 1310054"/>
              <a:gd name="connsiteY3" fmla="*/ 772214 h 772214"/>
            </a:gdLst>
            <a:ahLst/>
            <a:cxnLst>
              <a:cxn ang="0">
                <a:pos x="connsiteX0" y="connsiteY0"/>
              </a:cxn>
              <a:cxn ang="0">
                <a:pos x="connsiteX1" y="connsiteY1"/>
              </a:cxn>
              <a:cxn ang="0">
                <a:pos x="connsiteX2" y="connsiteY2"/>
              </a:cxn>
              <a:cxn ang="0">
                <a:pos x="connsiteX3" y="connsiteY3"/>
              </a:cxn>
            </a:cxnLst>
            <a:rect l="l" t="t" r="r" b="b"/>
            <a:pathLst>
              <a:path w="1310054" h="772214">
                <a:moveTo>
                  <a:pt x="0" y="24868"/>
                </a:moveTo>
                <a:cubicBezTo>
                  <a:pt x="206619" y="7283"/>
                  <a:pt x="413238" y="-10301"/>
                  <a:pt x="606669" y="7284"/>
                </a:cubicBezTo>
                <a:cubicBezTo>
                  <a:pt x="800100" y="24869"/>
                  <a:pt x="1043353" y="2888"/>
                  <a:pt x="1160584" y="130376"/>
                </a:cubicBezTo>
                <a:cubicBezTo>
                  <a:pt x="1277815" y="257864"/>
                  <a:pt x="1293934" y="515039"/>
                  <a:pt x="1310054" y="772214"/>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橢圓 97">
            <a:extLst>
              <a:ext uri="{FF2B5EF4-FFF2-40B4-BE49-F238E27FC236}">
                <a16:creationId xmlns:a16="http://schemas.microsoft.com/office/drawing/2014/main" id="{6857A66B-470B-4FF8-A491-D7F88670BA25}"/>
              </a:ext>
            </a:extLst>
          </p:cNvPr>
          <p:cNvSpPr/>
          <p:nvPr/>
        </p:nvSpPr>
        <p:spPr>
          <a:xfrm rot="16200000" flipH="1">
            <a:off x="10869710" y="2334146"/>
            <a:ext cx="158108" cy="135523"/>
          </a:xfrm>
          <a:prstGeom prst="ellipse">
            <a:avLst/>
          </a:prstGeom>
          <a:solidFill>
            <a:schemeClr val="bg1">
              <a:lumMod val="65000"/>
            </a:schemeClr>
          </a:solidFill>
          <a:effectLst/>
          <a:scene3d>
            <a:camera prst="isometricOffAxis2Top"/>
            <a:lightRig rig="threePt" dir="t"/>
          </a:scene3d>
          <a:sp3d extrusionH="990600"/>
        </p:spPr>
        <p:style>
          <a:lnRef idx="0">
            <a:schemeClr val="accent3"/>
          </a:lnRef>
          <a:fillRef idx="3">
            <a:schemeClr val="accent3"/>
          </a:fillRef>
          <a:effectRef idx="3">
            <a:schemeClr val="accent3"/>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99" name="橢圓 98">
            <a:extLst>
              <a:ext uri="{FF2B5EF4-FFF2-40B4-BE49-F238E27FC236}">
                <a16:creationId xmlns:a16="http://schemas.microsoft.com/office/drawing/2014/main" id="{D6DE35F1-ABE6-495F-9168-DAA20D98B528}"/>
              </a:ext>
            </a:extLst>
          </p:cNvPr>
          <p:cNvSpPr/>
          <p:nvPr/>
        </p:nvSpPr>
        <p:spPr>
          <a:xfrm rot="15762442">
            <a:off x="10396748" y="1999874"/>
            <a:ext cx="621665" cy="532864"/>
          </a:xfrm>
          <a:prstGeom prst="ellipse">
            <a:avLst/>
          </a:prstGeom>
          <a:solidFill>
            <a:schemeClr val="bg1">
              <a:lumMod val="65000"/>
            </a:schemeClr>
          </a:solidFill>
          <a:effectLst/>
          <a:scene3d>
            <a:camera prst="isometricOffAxis2Right"/>
            <a:lightRig rig="threePt" dir="t"/>
          </a:scene3d>
          <a:sp3d extrusionH="215900"/>
        </p:spPr>
        <p:style>
          <a:lnRef idx="0">
            <a:schemeClr val="accent3"/>
          </a:lnRef>
          <a:fillRef idx="3">
            <a:schemeClr val="accent3"/>
          </a:fillRef>
          <a:effectRef idx="3">
            <a:schemeClr val="accent3"/>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00" name="矩形 99">
            <a:extLst>
              <a:ext uri="{FF2B5EF4-FFF2-40B4-BE49-F238E27FC236}">
                <a16:creationId xmlns:a16="http://schemas.microsoft.com/office/drawing/2014/main" id="{67832CD1-EFC7-4F64-B616-F55CB77E0B6F}"/>
              </a:ext>
            </a:extLst>
          </p:cNvPr>
          <p:cNvSpPr/>
          <p:nvPr/>
        </p:nvSpPr>
        <p:spPr>
          <a:xfrm>
            <a:off x="7339183" y="3333166"/>
            <a:ext cx="150968" cy="1173359"/>
          </a:xfrm>
          <a:prstGeom prst="rect">
            <a:avLst/>
          </a:prstGeom>
          <a:gradFill>
            <a:gsLst>
              <a:gs pos="6000">
                <a:srgbClr val="FF0000"/>
              </a:gs>
              <a:gs pos="9000">
                <a:srgbClr val="FFC000"/>
              </a:gs>
              <a:gs pos="62000">
                <a:srgbClr val="FFFF00"/>
              </a:gs>
              <a:gs pos="81000">
                <a:srgbClr val="7030A0"/>
              </a:gs>
              <a:gs pos="97000">
                <a:srgbClr val="00B0F0"/>
              </a:gs>
              <a:gs pos="48000">
                <a:srgbClr val="00B050"/>
              </a:gs>
            </a:gsLst>
            <a:lin ang="5400000" scaled="1"/>
          </a:gra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文字方塊 100">
            <a:extLst>
              <a:ext uri="{FF2B5EF4-FFF2-40B4-BE49-F238E27FC236}">
                <a16:creationId xmlns:a16="http://schemas.microsoft.com/office/drawing/2014/main" id="{96B7A95E-A9B7-4661-80EE-7552D73C733E}"/>
              </a:ext>
            </a:extLst>
          </p:cNvPr>
          <p:cNvSpPr txBox="1"/>
          <p:nvPr/>
        </p:nvSpPr>
        <p:spPr>
          <a:xfrm>
            <a:off x="6709816" y="4918002"/>
            <a:ext cx="1491114" cy="307777"/>
          </a:xfrm>
          <a:prstGeom prst="rect">
            <a:avLst/>
          </a:prstGeom>
          <a:noFill/>
          <a:ln>
            <a:solidFill>
              <a:schemeClr val="tx1"/>
            </a:solidFill>
          </a:ln>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HR@808nm filter</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02" name="直線單箭頭接點 101">
            <a:extLst>
              <a:ext uri="{FF2B5EF4-FFF2-40B4-BE49-F238E27FC236}">
                <a16:creationId xmlns:a16="http://schemas.microsoft.com/office/drawing/2014/main" id="{908E56B7-EB43-4638-8251-9EBA7D01CBFC}"/>
              </a:ext>
            </a:extLst>
          </p:cNvPr>
          <p:cNvCxnSpPr>
            <a:stCxn id="100" idx="2"/>
            <a:endCxn id="101" idx="0"/>
          </p:cNvCxnSpPr>
          <p:nvPr/>
        </p:nvCxnSpPr>
        <p:spPr>
          <a:xfrm>
            <a:off x="7414667" y="4506525"/>
            <a:ext cx="40706" cy="4114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矩形 103">
            <a:extLst>
              <a:ext uri="{FF2B5EF4-FFF2-40B4-BE49-F238E27FC236}">
                <a16:creationId xmlns:a16="http://schemas.microsoft.com/office/drawing/2014/main" id="{CF1005B1-25D2-4466-8110-49CACF6CB277}"/>
              </a:ext>
            </a:extLst>
          </p:cNvPr>
          <p:cNvSpPr/>
          <p:nvPr/>
        </p:nvSpPr>
        <p:spPr>
          <a:xfrm>
            <a:off x="9157439" y="3628709"/>
            <a:ext cx="781647"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05" name="矩形 104">
            <a:extLst>
              <a:ext uri="{FF2B5EF4-FFF2-40B4-BE49-F238E27FC236}">
                <a16:creationId xmlns:a16="http://schemas.microsoft.com/office/drawing/2014/main" id="{A4023EBA-5812-42D7-A6CC-04B228994ADC}"/>
              </a:ext>
            </a:extLst>
          </p:cNvPr>
          <p:cNvSpPr/>
          <p:nvPr/>
        </p:nvSpPr>
        <p:spPr>
          <a:xfrm>
            <a:off x="9149843" y="4083949"/>
            <a:ext cx="789244"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06" name="文字方塊 105">
            <a:extLst>
              <a:ext uri="{FF2B5EF4-FFF2-40B4-BE49-F238E27FC236}">
                <a16:creationId xmlns:a16="http://schemas.microsoft.com/office/drawing/2014/main" id="{97121989-AF5D-45E6-BDA5-CDC530235E97}"/>
              </a:ext>
            </a:extLst>
          </p:cNvPr>
          <p:cNvSpPr txBox="1"/>
          <p:nvPr/>
        </p:nvSpPr>
        <p:spPr>
          <a:xfrm>
            <a:off x="89363" y="5953526"/>
            <a:ext cx="7778027" cy="307777"/>
          </a:xfrm>
          <a:prstGeom prst="rect">
            <a:avLst/>
          </a:prstGeom>
          <a:noFill/>
        </p:spPr>
        <p:txBody>
          <a:bodyPr wrap="none" rtlCol="0">
            <a:spAutoFit/>
          </a:bodyPr>
          <a:lstStyle/>
          <a:p>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Mirror 1: Meniscus mirror; ROC=15 cm T~93%@809 nm, HR~99.8%@1064 nm, HR~99.8%@1342 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8" name="圓角矩形 147">
            <a:extLst>
              <a:ext uri="{FF2B5EF4-FFF2-40B4-BE49-F238E27FC236}">
                <a16:creationId xmlns:a16="http://schemas.microsoft.com/office/drawing/2014/main" id="{B551FB75-92BE-497B-A57C-0766CD692F8D}"/>
              </a:ext>
            </a:extLst>
          </p:cNvPr>
          <p:cNvSpPr/>
          <p:nvPr/>
        </p:nvSpPr>
        <p:spPr>
          <a:xfrm>
            <a:off x="5555963" y="2075216"/>
            <a:ext cx="1371021" cy="616461"/>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sp>
        <p:nvSpPr>
          <p:cNvPr id="109" name="橢圓 108">
            <a:extLst>
              <a:ext uri="{FF2B5EF4-FFF2-40B4-BE49-F238E27FC236}">
                <a16:creationId xmlns:a16="http://schemas.microsoft.com/office/drawing/2014/main" id="{51A54F85-E869-490E-908E-8612EE069CEA}"/>
              </a:ext>
            </a:extLst>
          </p:cNvPr>
          <p:cNvSpPr/>
          <p:nvPr/>
        </p:nvSpPr>
        <p:spPr>
          <a:xfrm>
            <a:off x="6007344" y="2515107"/>
            <a:ext cx="114300" cy="125073"/>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10" name="橢圓 109">
            <a:extLst>
              <a:ext uri="{FF2B5EF4-FFF2-40B4-BE49-F238E27FC236}">
                <a16:creationId xmlns:a16="http://schemas.microsoft.com/office/drawing/2014/main" id="{F27C27EC-3071-44AE-89B7-52C2C0F0C3E2}"/>
              </a:ext>
            </a:extLst>
          </p:cNvPr>
          <p:cNvSpPr/>
          <p:nvPr/>
        </p:nvSpPr>
        <p:spPr>
          <a:xfrm>
            <a:off x="6396851" y="2519940"/>
            <a:ext cx="114300" cy="125073"/>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12" name="手繪多邊形: 圖案 111">
            <a:extLst>
              <a:ext uri="{FF2B5EF4-FFF2-40B4-BE49-F238E27FC236}">
                <a16:creationId xmlns:a16="http://schemas.microsoft.com/office/drawing/2014/main" id="{588A079E-434A-4AB6-A7D4-C3457A8BC565}"/>
              </a:ext>
            </a:extLst>
          </p:cNvPr>
          <p:cNvSpPr/>
          <p:nvPr/>
        </p:nvSpPr>
        <p:spPr>
          <a:xfrm>
            <a:off x="6451600" y="2576739"/>
            <a:ext cx="3766069" cy="1941005"/>
          </a:xfrm>
          <a:custGeom>
            <a:avLst/>
            <a:gdLst>
              <a:gd name="connsiteX0" fmla="*/ 0 w 3766069"/>
              <a:gd name="connsiteY0" fmla="*/ 0 h 1941005"/>
              <a:gd name="connsiteX1" fmla="*/ 2304288 w 3766069"/>
              <a:gd name="connsiteY1" fmla="*/ 408432 h 1941005"/>
              <a:gd name="connsiteX2" fmla="*/ 3681984 w 3766069"/>
              <a:gd name="connsiteY2" fmla="*/ 1133856 h 1941005"/>
              <a:gd name="connsiteX3" fmla="*/ 3560064 w 3766069"/>
              <a:gd name="connsiteY3" fmla="*/ 1926336 h 1941005"/>
              <a:gd name="connsiteX4" fmla="*/ 3108960 w 3766069"/>
              <a:gd name="connsiteY4" fmla="*/ 1572768 h 194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6069" h="1941005">
                <a:moveTo>
                  <a:pt x="0" y="0"/>
                </a:moveTo>
                <a:cubicBezTo>
                  <a:pt x="845312" y="109728"/>
                  <a:pt x="1690624" y="219456"/>
                  <a:pt x="2304288" y="408432"/>
                </a:cubicBezTo>
                <a:cubicBezTo>
                  <a:pt x="2917952" y="597408"/>
                  <a:pt x="3472688" y="880872"/>
                  <a:pt x="3681984" y="1133856"/>
                </a:cubicBezTo>
                <a:cubicBezTo>
                  <a:pt x="3891280" y="1386840"/>
                  <a:pt x="3655568" y="1853184"/>
                  <a:pt x="3560064" y="1926336"/>
                </a:cubicBezTo>
                <a:cubicBezTo>
                  <a:pt x="3464560" y="1999488"/>
                  <a:pt x="3286760" y="1786128"/>
                  <a:pt x="3108960" y="1572768"/>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 name="手繪多邊形: 圖案 112">
            <a:extLst>
              <a:ext uri="{FF2B5EF4-FFF2-40B4-BE49-F238E27FC236}">
                <a16:creationId xmlns:a16="http://schemas.microsoft.com/office/drawing/2014/main" id="{24818277-F633-4BA2-AD54-043173B8035F}"/>
              </a:ext>
            </a:extLst>
          </p:cNvPr>
          <p:cNvSpPr/>
          <p:nvPr/>
        </p:nvSpPr>
        <p:spPr>
          <a:xfrm>
            <a:off x="6065520" y="2592995"/>
            <a:ext cx="3474720" cy="1024128"/>
          </a:xfrm>
          <a:custGeom>
            <a:avLst/>
            <a:gdLst>
              <a:gd name="connsiteX0" fmla="*/ 0 w 3474720"/>
              <a:gd name="connsiteY0" fmla="*/ 0 h 1024128"/>
              <a:gd name="connsiteX1" fmla="*/ 2542032 w 3474720"/>
              <a:gd name="connsiteY1" fmla="*/ 621792 h 1024128"/>
              <a:gd name="connsiteX2" fmla="*/ 3474720 w 3474720"/>
              <a:gd name="connsiteY2" fmla="*/ 1024128 h 1024128"/>
            </a:gdLst>
            <a:ahLst/>
            <a:cxnLst>
              <a:cxn ang="0">
                <a:pos x="connsiteX0" y="connsiteY0"/>
              </a:cxn>
              <a:cxn ang="0">
                <a:pos x="connsiteX1" y="connsiteY1"/>
              </a:cxn>
              <a:cxn ang="0">
                <a:pos x="connsiteX2" y="connsiteY2"/>
              </a:cxn>
            </a:cxnLst>
            <a:rect l="l" t="t" r="r" b="b"/>
            <a:pathLst>
              <a:path w="3474720" h="1024128">
                <a:moveTo>
                  <a:pt x="0" y="0"/>
                </a:moveTo>
                <a:cubicBezTo>
                  <a:pt x="981456" y="225552"/>
                  <a:pt x="1962912" y="451104"/>
                  <a:pt x="2542032" y="621792"/>
                </a:cubicBezTo>
                <a:cubicBezTo>
                  <a:pt x="3121152" y="792480"/>
                  <a:pt x="3297936" y="908304"/>
                  <a:pt x="3474720" y="1024128"/>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3" name="矩形 102">
                <a:extLst>
                  <a:ext uri="{FF2B5EF4-FFF2-40B4-BE49-F238E27FC236}">
                    <a16:creationId xmlns:a16="http://schemas.microsoft.com/office/drawing/2014/main" id="{C8FAA6C9-B03A-497B-9708-6D8EEAED05ED}"/>
                  </a:ext>
                </a:extLst>
              </p:cNvPr>
              <p:cNvSpPr/>
              <p:nvPr/>
            </p:nvSpPr>
            <p:spPr>
              <a:xfrm>
                <a:off x="8771129" y="4460613"/>
                <a:ext cx="1937966" cy="307777"/>
              </a:xfrm>
              <a:prstGeom prst="rect">
                <a:avLst/>
              </a:prstGeom>
            </p:spPr>
            <p:txBody>
              <a:bodyPr wrap="none">
                <a:spAutoFit/>
              </a:bodyPr>
              <a:lstStyle/>
              <a:p>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EO APPLN</a:t>
                </a:r>
                <a:r>
                  <a:rPr lang="pt-BR" altLang="zh-TW" sz="1200" dirty="0">
                    <a:latin typeface="Times New Roman" panose="02020603050405020304" pitchFamily="18" charset="0"/>
                    <a:ea typeface="Cambria Math" panose="02040503050406030204" pitchFamily="18" charset="0"/>
                    <a:cs typeface="Times New Roman" panose="02020603050405020304" pitchFamily="18" charset="0"/>
                  </a:rPr>
                  <a:t>(</a:t>
                </a:r>
                <a14:m>
                  <m:oMath xmlns:m="http://schemas.openxmlformats.org/officeDocument/2006/math">
                    <m:r>
                      <a:rPr lang="en-US" altLang="zh-TW" sz="1200" b="0" i="1" smtClean="0">
                        <a:latin typeface="Cambria Math" panose="02040503050406030204" pitchFamily="18" charset="0"/>
                        <a:ea typeface="Cambria Math" panose="02040503050406030204" pitchFamily="18" charset="0"/>
                        <a:cs typeface="Times New Roman" panose="02020603050405020304" pitchFamily="18" charset="0"/>
                      </a:rPr>
                      <m:t>2</m:t>
                    </m:r>
                    <m:r>
                      <a:rPr lang="en-US" altLang="zh-TW" sz="1200" b="0" i="1" smtClean="0">
                        <a:latin typeface="Cambria Math" panose="02040503050406030204" pitchFamily="18" charset="0"/>
                        <a:ea typeface="Cambria Math" panose="02040503050406030204" pitchFamily="18" charset="0"/>
                        <a:cs typeface="Times New Roman" panose="02020603050405020304" pitchFamily="18" charset="0"/>
                      </a:rPr>
                      <m:t>𝑐𝑚</m:t>
                    </m:r>
                    <m:r>
                      <a:rPr lang="en-US" altLang="zh-TW" sz="1200" b="0" i="1"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TW" sz="1200" b="0" i="1" smtClean="0">
                        <a:latin typeface="Cambria Math" panose="02040503050406030204" pitchFamily="18" charset="0"/>
                        <a:ea typeface="Cambria Math" panose="02040503050406030204" pitchFamily="18" charset="0"/>
                        <a:cs typeface="Times New Roman" panose="02020603050405020304" pitchFamily="18" charset="0"/>
                      </a:rPr>
                      <m:t>𝑚𝑚</m:t>
                    </m:r>
                  </m:oMath>
                </a14:m>
                <a:r>
                  <a:rPr lang="pt-BR" altLang="zh-TW" sz="1200" dirty="0">
                    <a:latin typeface="Times New Roman" panose="02020603050405020304" pitchFamily="18" charset="0"/>
                    <a:ea typeface="Cambria Math" panose="02040503050406030204" pitchFamily="18" charset="0"/>
                    <a:cs typeface="Times New Roman" panose="02020603050405020304" pitchFamily="18" charset="0"/>
                  </a:rPr>
                  <a:t>)</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03" name="矩形 102">
                <a:extLst>
                  <a:ext uri="{FF2B5EF4-FFF2-40B4-BE49-F238E27FC236}">
                    <a16:creationId xmlns:a16="http://schemas.microsoft.com/office/drawing/2014/main" id="{C8FAA6C9-B03A-497B-9708-6D8EEAED05ED}"/>
                  </a:ext>
                </a:extLst>
              </p:cNvPr>
              <p:cNvSpPr>
                <a:spLocks noRot="1" noChangeAspect="1" noMove="1" noResize="1" noEditPoints="1" noAdjustHandles="1" noChangeArrowheads="1" noChangeShapeType="1" noTextEdit="1"/>
              </p:cNvSpPr>
              <p:nvPr/>
            </p:nvSpPr>
            <p:spPr>
              <a:xfrm>
                <a:off x="8771129" y="4460613"/>
                <a:ext cx="1937966" cy="307777"/>
              </a:xfrm>
              <a:prstGeom prst="rect">
                <a:avLst/>
              </a:prstGeom>
              <a:blipFill>
                <a:blip r:embed="rId10"/>
                <a:stretch>
                  <a:fillRect l="-943" t="-4000" b="-20000"/>
                </a:stretch>
              </a:blipFill>
            </p:spPr>
            <p:txBody>
              <a:bodyPr/>
              <a:lstStyle/>
              <a:p>
                <a:r>
                  <a:rPr lang="zh-TW" altLang="en-US">
                    <a:noFill/>
                  </a:rPr>
                  <a:t> </a:t>
                </a:r>
              </a:p>
            </p:txBody>
          </p:sp>
        </mc:Fallback>
      </mc:AlternateContent>
      <p:sp>
        <p:nvSpPr>
          <p:cNvPr id="114" name="立方體 113">
            <a:extLst>
              <a:ext uri="{FF2B5EF4-FFF2-40B4-BE49-F238E27FC236}">
                <a16:creationId xmlns:a16="http://schemas.microsoft.com/office/drawing/2014/main" id="{122A69B7-6FD7-4ED4-9FE9-4B74294F80CF}"/>
              </a:ext>
            </a:extLst>
          </p:cNvPr>
          <p:cNvSpPr/>
          <p:nvPr/>
        </p:nvSpPr>
        <p:spPr>
          <a:xfrm>
            <a:off x="5372822" y="3608122"/>
            <a:ext cx="707304" cy="561967"/>
          </a:xfrm>
          <a:prstGeom prst="cube">
            <a:avLst/>
          </a:prstGeom>
          <a:solidFill>
            <a:schemeClr val="bg1">
              <a:lumMod val="95000"/>
            </a:schemeClr>
          </a:solid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3" name="投影片編號版面配置區 2">
            <a:extLst>
              <a:ext uri="{FF2B5EF4-FFF2-40B4-BE49-F238E27FC236}">
                <a16:creationId xmlns:a16="http://schemas.microsoft.com/office/drawing/2014/main" id="{25C43EE4-8E16-4823-9EDD-A0ECA5C64FC5}"/>
              </a:ext>
            </a:extLst>
          </p:cNvPr>
          <p:cNvSpPr>
            <a:spLocks noGrp="1"/>
          </p:cNvSpPr>
          <p:nvPr>
            <p:ph type="sldNum" sz="quarter" idx="12"/>
          </p:nvPr>
        </p:nvSpPr>
        <p:spPr>
          <a:xfrm>
            <a:off x="8610600" y="6336030"/>
            <a:ext cx="2743200" cy="365125"/>
          </a:xfrm>
        </p:spPr>
        <p:txBody>
          <a:bodyPr/>
          <a:lstStyle/>
          <a:p>
            <a:fld id="{9044CBB6-E20C-4076-82F9-F8F95241C54D}" type="slidenum">
              <a:rPr lang="zh-TW" altLang="en-US" smtClean="0">
                <a:solidFill>
                  <a:schemeClr val="tx1"/>
                </a:solidFill>
              </a:rPr>
              <a:t>26</a:t>
            </a:fld>
            <a:endParaRPr lang="zh-TW" altLang="en-US">
              <a:solidFill>
                <a:schemeClr val="tx1"/>
              </a:solidFill>
            </a:endParaRPr>
          </a:p>
        </p:txBody>
      </p:sp>
      <p:grpSp>
        <p:nvGrpSpPr>
          <p:cNvPr id="116" name="群組 115">
            <a:extLst>
              <a:ext uri="{FF2B5EF4-FFF2-40B4-BE49-F238E27FC236}">
                <a16:creationId xmlns:a16="http://schemas.microsoft.com/office/drawing/2014/main" id="{4278EE78-9B86-4949-987D-87761B568E8E}"/>
              </a:ext>
            </a:extLst>
          </p:cNvPr>
          <p:cNvGrpSpPr/>
          <p:nvPr/>
        </p:nvGrpSpPr>
        <p:grpSpPr>
          <a:xfrm>
            <a:off x="8208052" y="5031695"/>
            <a:ext cx="3230115" cy="1864975"/>
            <a:chOff x="446937" y="-13935"/>
            <a:chExt cx="12178588" cy="7031564"/>
          </a:xfrm>
        </p:grpSpPr>
        <p:pic>
          <p:nvPicPr>
            <p:cNvPr id="117" name="圖片 116">
              <a:extLst>
                <a:ext uri="{FF2B5EF4-FFF2-40B4-BE49-F238E27FC236}">
                  <a16:creationId xmlns:a16="http://schemas.microsoft.com/office/drawing/2014/main" id="{2E69C8EC-9AA5-4978-B4AB-1A930C2204CA}"/>
                </a:ext>
              </a:extLst>
            </p:cNvPr>
            <p:cNvPicPr>
              <a:picLocks noChangeAspect="1"/>
            </p:cNvPicPr>
            <p:nvPr/>
          </p:nvPicPr>
          <p:blipFill>
            <a:blip r:embed="rId11"/>
            <a:stretch>
              <a:fillRect/>
            </a:stretch>
          </p:blipFill>
          <p:spPr>
            <a:xfrm>
              <a:off x="2042160" y="1507178"/>
              <a:ext cx="6391273" cy="5125521"/>
            </a:xfrm>
            <a:prstGeom prst="rect">
              <a:avLst/>
            </a:prstGeom>
          </p:spPr>
        </p:pic>
        <p:sp>
          <p:nvSpPr>
            <p:cNvPr id="118" name="立方體 117">
              <a:extLst>
                <a:ext uri="{FF2B5EF4-FFF2-40B4-BE49-F238E27FC236}">
                  <a16:creationId xmlns:a16="http://schemas.microsoft.com/office/drawing/2014/main" id="{4906E2FE-422E-4655-80D2-008B09878FDB}"/>
                </a:ext>
              </a:extLst>
            </p:cNvPr>
            <p:cNvSpPr/>
            <p:nvPr/>
          </p:nvSpPr>
          <p:spPr>
            <a:xfrm>
              <a:off x="4476337" y="1689773"/>
              <a:ext cx="1360223" cy="1287703"/>
            </a:xfrm>
            <a:prstGeom prst="cube">
              <a:avLst>
                <a:gd name="adj" fmla="val 75308"/>
              </a:avLst>
            </a:prstGeom>
            <a:solidFill>
              <a:srgbClr val="00B0F0"/>
            </a:solidFill>
            <a:ln>
              <a:solidFill>
                <a:schemeClr val="tx1"/>
              </a:solidFill>
            </a:ln>
            <a:scene3d>
              <a:camera prst="orthographicFront">
                <a:rot lat="20256977" lon="20434550" rev="36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19" name="圖片 118">
              <a:extLst>
                <a:ext uri="{FF2B5EF4-FFF2-40B4-BE49-F238E27FC236}">
                  <a16:creationId xmlns:a16="http://schemas.microsoft.com/office/drawing/2014/main" id="{971EC593-ADD4-4413-8F28-4B2D1835D018}"/>
                </a:ext>
              </a:extLst>
            </p:cNvPr>
            <p:cNvPicPr>
              <a:picLocks noChangeAspect="1"/>
            </p:cNvPicPr>
            <p:nvPr/>
          </p:nvPicPr>
          <p:blipFill rotWithShape="1">
            <a:blip r:embed="rId12" cstate="hqprint">
              <a:extLst>
                <a:ext uri="{28A0092B-C50C-407E-A947-70E740481C1C}">
                  <a14:useLocalDpi xmlns:a14="http://schemas.microsoft.com/office/drawing/2010/main" val="0"/>
                </a:ext>
              </a:extLst>
            </a:blip>
            <a:srcRect l="5962" t="23866" r="6064" b="15060"/>
            <a:stretch/>
          </p:blipFill>
          <p:spPr>
            <a:xfrm rot="18870193">
              <a:off x="4431175" y="1945485"/>
              <a:ext cx="1436508" cy="478146"/>
            </a:xfrm>
            <a:prstGeom prst="rect">
              <a:avLst/>
            </a:prstGeom>
            <a:scene3d>
              <a:camera prst="orthographicFront">
                <a:rot lat="19036026" lon="18512231" rev="2160000"/>
              </a:camera>
              <a:lightRig rig="threePt" dir="t"/>
            </a:scene3d>
          </p:spPr>
        </p:pic>
        <p:pic>
          <p:nvPicPr>
            <p:cNvPr id="120" name="圖片 119">
              <a:extLst>
                <a:ext uri="{FF2B5EF4-FFF2-40B4-BE49-F238E27FC236}">
                  <a16:creationId xmlns:a16="http://schemas.microsoft.com/office/drawing/2014/main" id="{CDEE54BF-E39B-436E-9BC4-FCC97A41CA88}"/>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677" b="34909" l="41565" r="89976"/>
                      </a14:imgEffect>
                    </a14:imgLayer>
                  </a14:imgProps>
                </a:ext>
              </a:extLst>
            </a:blip>
            <a:stretch>
              <a:fillRect/>
            </a:stretch>
          </p:blipFill>
          <p:spPr>
            <a:xfrm>
              <a:off x="2055432" y="1499267"/>
              <a:ext cx="6391274" cy="5125522"/>
            </a:xfrm>
            <a:prstGeom prst="rect">
              <a:avLst/>
            </a:prstGeom>
          </p:spPr>
        </p:pic>
        <p:sp>
          <p:nvSpPr>
            <p:cNvPr id="121" name="圓柱形 120">
              <a:extLst>
                <a:ext uri="{FF2B5EF4-FFF2-40B4-BE49-F238E27FC236}">
                  <a16:creationId xmlns:a16="http://schemas.microsoft.com/office/drawing/2014/main" id="{B935820F-EA6D-4F67-96EE-3585D76A644A}"/>
                </a:ext>
              </a:extLst>
            </p:cNvPr>
            <p:cNvSpPr/>
            <p:nvPr/>
          </p:nvSpPr>
          <p:spPr>
            <a:xfrm>
              <a:off x="3883896" y="2168306"/>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2" name="圓柱形 121">
              <a:extLst>
                <a:ext uri="{FF2B5EF4-FFF2-40B4-BE49-F238E27FC236}">
                  <a16:creationId xmlns:a16="http://schemas.microsoft.com/office/drawing/2014/main" id="{A010F23F-6A0A-4DA5-BC63-D95FAC7F2ED2}"/>
                </a:ext>
              </a:extLst>
            </p:cNvPr>
            <p:cNvSpPr/>
            <p:nvPr/>
          </p:nvSpPr>
          <p:spPr>
            <a:xfrm>
              <a:off x="3883896" y="2093601"/>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3" name="圓柱形 122">
              <a:extLst>
                <a:ext uri="{FF2B5EF4-FFF2-40B4-BE49-F238E27FC236}">
                  <a16:creationId xmlns:a16="http://schemas.microsoft.com/office/drawing/2014/main" id="{FF44F924-40A3-4B4A-8339-246A4CCCC31E}"/>
                </a:ext>
              </a:extLst>
            </p:cNvPr>
            <p:cNvSpPr/>
            <p:nvPr/>
          </p:nvSpPr>
          <p:spPr>
            <a:xfrm>
              <a:off x="3883897" y="2018896"/>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4" name="圓柱形 123">
              <a:extLst>
                <a:ext uri="{FF2B5EF4-FFF2-40B4-BE49-F238E27FC236}">
                  <a16:creationId xmlns:a16="http://schemas.microsoft.com/office/drawing/2014/main" id="{1232E94A-842E-47E1-811F-8DEF77B1D308}"/>
                </a:ext>
              </a:extLst>
            </p:cNvPr>
            <p:cNvSpPr/>
            <p:nvPr/>
          </p:nvSpPr>
          <p:spPr>
            <a:xfrm>
              <a:off x="3883896" y="1944190"/>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5" name="圓柱形 124">
              <a:extLst>
                <a:ext uri="{FF2B5EF4-FFF2-40B4-BE49-F238E27FC236}">
                  <a16:creationId xmlns:a16="http://schemas.microsoft.com/office/drawing/2014/main" id="{22CE39B0-F38E-4235-BF43-03DFC16A62E4}"/>
                </a:ext>
              </a:extLst>
            </p:cNvPr>
            <p:cNvSpPr/>
            <p:nvPr/>
          </p:nvSpPr>
          <p:spPr>
            <a:xfrm>
              <a:off x="3883896" y="1869485"/>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6" name="圓柱形 125">
              <a:extLst>
                <a:ext uri="{FF2B5EF4-FFF2-40B4-BE49-F238E27FC236}">
                  <a16:creationId xmlns:a16="http://schemas.microsoft.com/office/drawing/2014/main" id="{9A107917-7FE3-41D3-A300-790BB4D416E0}"/>
                </a:ext>
              </a:extLst>
            </p:cNvPr>
            <p:cNvSpPr/>
            <p:nvPr/>
          </p:nvSpPr>
          <p:spPr>
            <a:xfrm>
              <a:off x="3883896" y="1794779"/>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7" name="圓柱形 126">
              <a:extLst>
                <a:ext uri="{FF2B5EF4-FFF2-40B4-BE49-F238E27FC236}">
                  <a16:creationId xmlns:a16="http://schemas.microsoft.com/office/drawing/2014/main" id="{C716C82D-8D0E-491A-A0D7-145267A37E4A}"/>
                </a:ext>
              </a:extLst>
            </p:cNvPr>
            <p:cNvSpPr/>
            <p:nvPr/>
          </p:nvSpPr>
          <p:spPr>
            <a:xfrm>
              <a:off x="3883896" y="1720075"/>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8" name="圓柱形 127">
              <a:extLst>
                <a:ext uri="{FF2B5EF4-FFF2-40B4-BE49-F238E27FC236}">
                  <a16:creationId xmlns:a16="http://schemas.microsoft.com/office/drawing/2014/main" id="{B433FCE9-058D-4FA4-BD23-0CF4396E27D4}"/>
                </a:ext>
              </a:extLst>
            </p:cNvPr>
            <p:cNvSpPr/>
            <p:nvPr/>
          </p:nvSpPr>
          <p:spPr>
            <a:xfrm>
              <a:off x="3883897" y="1645369"/>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9" name="圓柱形 128">
              <a:extLst>
                <a:ext uri="{FF2B5EF4-FFF2-40B4-BE49-F238E27FC236}">
                  <a16:creationId xmlns:a16="http://schemas.microsoft.com/office/drawing/2014/main" id="{1AD08E41-B72E-4307-BF0C-84DDB7A83E3D}"/>
                </a:ext>
              </a:extLst>
            </p:cNvPr>
            <p:cNvSpPr/>
            <p:nvPr/>
          </p:nvSpPr>
          <p:spPr>
            <a:xfrm>
              <a:off x="3883896" y="1570663"/>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0" name="圓柱形 129">
              <a:extLst>
                <a:ext uri="{FF2B5EF4-FFF2-40B4-BE49-F238E27FC236}">
                  <a16:creationId xmlns:a16="http://schemas.microsoft.com/office/drawing/2014/main" id="{CBAB721A-00CB-4CF0-AD41-4EC9A4BF1AF5}"/>
                </a:ext>
              </a:extLst>
            </p:cNvPr>
            <p:cNvSpPr/>
            <p:nvPr/>
          </p:nvSpPr>
          <p:spPr>
            <a:xfrm>
              <a:off x="3883896" y="1495958"/>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1" name="圓柱形 130">
              <a:extLst>
                <a:ext uri="{FF2B5EF4-FFF2-40B4-BE49-F238E27FC236}">
                  <a16:creationId xmlns:a16="http://schemas.microsoft.com/office/drawing/2014/main" id="{0EC247EE-CDBB-4298-B524-B2F6D89AE774}"/>
                </a:ext>
              </a:extLst>
            </p:cNvPr>
            <p:cNvSpPr/>
            <p:nvPr/>
          </p:nvSpPr>
          <p:spPr>
            <a:xfrm>
              <a:off x="3883897" y="1421253"/>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2" name="圓柱形 131">
              <a:extLst>
                <a:ext uri="{FF2B5EF4-FFF2-40B4-BE49-F238E27FC236}">
                  <a16:creationId xmlns:a16="http://schemas.microsoft.com/office/drawing/2014/main" id="{8E53E320-6A51-4988-B3ED-66E2EA5A52F0}"/>
                </a:ext>
              </a:extLst>
            </p:cNvPr>
            <p:cNvSpPr/>
            <p:nvPr/>
          </p:nvSpPr>
          <p:spPr>
            <a:xfrm>
              <a:off x="3623293" y="1187474"/>
              <a:ext cx="710214" cy="284086"/>
            </a:xfrm>
            <a:prstGeom prst="can">
              <a:avLst>
                <a:gd name="adj" fmla="val 500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33" name="直線接點 132">
              <a:extLst>
                <a:ext uri="{FF2B5EF4-FFF2-40B4-BE49-F238E27FC236}">
                  <a16:creationId xmlns:a16="http://schemas.microsoft.com/office/drawing/2014/main" id="{88975BEC-7BD1-41BA-8FB6-20CD86423B8F}"/>
                </a:ext>
              </a:extLst>
            </p:cNvPr>
            <p:cNvCxnSpPr>
              <a:cxnSpLocks/>
            </p:cNvCxnSpPr>
            <p:nvPr/>
          </p:nvCxnSpPr>
          <p:spPr>
            <a:xfrm flipV="1">
              <a:off x="3731305" y="1218162"/>
              <a:ext cx="528828" cy="856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圓柱形 133">
              <a:extLst>
                <a:ext uri="{FF2B5EF4-FFF2-40B4-BE49-F238E27FC236}">
                  <a16:creationId xmlns:a16="http://schemas.microsoft.com/office/drawing/2014/main" id="{C3A474F5-CAFE-479C-B783-18046BC8D230}"/>
                </a:ext>
              </a:extLst>
            </p:cNvPr>
            <p:cNvSpPr/>
            <p:nvPr/>
          </p:nvSpPr>
          <p:spPr>
            <a:xfrm>
              <a:off x="4369346" y="1760106"/>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5" name="圓柱形 134">
              <a:extLst>
                <a:ext uri="{FF2B5EF4-FFF2-40B4-BE49-F238E27FC236}">
                  <a16:creationId xmlns:a16="http://schemas.microsoft.com/office/drawing/2014/main" id="{BACCEBC4-6D10-4BF1-9EAC-1ED055E16A57}"/>
                </a:ext>
              </a:extLst>
            </p:cNvPr>
            <p:cNvSpPr/>
            <p:nvPr/>
          </p:nvSpPr>
          <p:spPr>
            <a:xfrm>
              <a:off x="4369346" y="1685401"/>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6" name="圓柱形 135">
              <a:extLst>
                <a:ext uri="{FF2B5EF4-FFF2-40B4-BE49-F238E27FC236}">
                  <a16:creationId xmlns:a16="http://schemas.microsoft.com/office/drawing/2014/main" id="{CEFF0271-9DAE-47B9-9E45-9866485A8D98}"/>
                </a:ext>
              </a:extLst>
            </p:cNvPr>
            <p:cNvSpPr/>
            <p:nvPr/>
          </p:nvSpPr>
          <p:spPr>
            <a:xfrm>
              <a:off x="4369347" y="1610696"/>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7" name="圓柱形 136">
              <a:extLst>
                <a:ext uri="{FF2B5EF4-FFF2-40B4-BE49-F238E27FC236}">
                  <a16:creationId xmlns:a16="http://schemas.microsoft.com/office/drawing/2014/main" id="{ED948AF8-4D3D-479F-9A7E-05CAF5F20B66}"/>
                </a:ext>
              </a:extLst>
            </p:cNvPr>
            <p:cNvSpPr/>
            <p:nvPr/>
          </p:nvSpPr>
          <p:spPr>
            <a:xfrm>
              <a:off x="4369346" y="1535990"/>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8" name="圓柱形 137">
              <a:extLst>
                <a:ext uri="{FF2B5EF4-FFF2-40B4-BE49-F238E27FC236}">
                  <a16:creationId xmlns:a16="http://schemas.microsoft.com/office/drawing/2014/main" id="{354E4301-76B2-4606-B744-F4A1AE92B5C5}"/>
                </a:ext>
              </a:extLst>
            </p:cNvPr>
            <p:cNvSpPr/>
            <p:nvPr/>
          </p:nvSpPr>
          <p:spPr>
            <a:xfrm>
              <a:off x="4369346" y="1461285"/>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9" name="圓柱形 138">
              <a:extLst>
                <a:ext uri="{FF2B5EF4-FFF2-40B4-BE49-F238E27FC236}">
                  <a16:creationId xmlns:a16="http://schemas.microsoft.com/office/drawing/2014/main" id="{B1474545-4F24-4710-89E9-2F772F3BB6E2}"/>
                </a:ext>
              </a:extLst>
            </p:cNvPr>
            <p:cNvSpPr/>
            <p:nvPr/>
          </p:nvSpPr>
          <p:spPr>
            <a:xfrm>
              <a:off x="4369346" y="1386579"/>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0" name="圓柱形 139">
              <a:extLst>
                <a:ext uri="{FF2B5EF4-FFF2-40B4-BE49-F238E27FC236}">
                  <a16:creationId xmlns:a16="http://schemas.microsoft.com/office/drawing/2014/main" id="{2B8A4884-A546-4385-9E08-1056745E13E3}"/>
                </a:ext>
              </a:extLst>
            </p:cNvPr>
            <p:cNvSpPr/>
            <p:nvPr/>
          </p:nvSpPr>
          <p:spPr>
            <a:xfrm>
              <a:off x="4369346" y="1311875"/>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1" name="圓柱形 140">
              <a:extLst>
                <a:ext uri="{FF2B5EF4-FFF2-40B4-BE49-F238E27FC236}">
                  <a16:creationId xmlns:a16="http://schemas.microsoft.com/office/drawing/2014/main" id="{76FAB039-D876-4E44-AA56-513F666556DB}"/>
                </a:ext>
              </a:extLst>
            </p:cNvPr>
            <p:cNvSpPr/>
            <p:nvPr/>
          </p:nvSpPr>
          <p:spPr>
            <a:xfrm>
              <a:off x="4369347" y="1237169"/>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2" name="圓柱形 141">
              <a:extLst>
                <a:ext uri="{FF2B5EF4-FFF2-40B4-BE49-F238E27FC236}">
                  <a16:creationId xmlns:a16="http://schemas.microsoft.com/office/drawing/2014/main" id="{37F5E6AC-19D8-4FFD-8297-C673F66E90BD}"/>
                </a:ext>
              </a:extLst>
            </p:cNvPr>
            <p:cNvSpPr/>
            <p:nvPr/>
          </p:nvSpPr>
          <p:spPr>
            <a:xfrm>
              <a:off x="4369346" y="1162463"/>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3" name="圓柱形 142">
              <a:extLst>
                <a:ext uri="{FF2B5EF4-FFF2-40B4-BE49-F238E27FC236}">
                  <a16:creationId xmlns:a16="http://schemas.microsoft.com/office/drawing/2014/main" id="{AE7DC94B-6B74-4208-AD3D-B0B11D345582}"/>
                </a:ext>
              </a:extLst>
            </p:cNvPr>
            <p:cNvSpPr/>
            <p:nvPr/>
          </p:nvSpPr>
          <p:spPr>
            <a:xfrm>
              <a:off x="4369346" y="1087758"/>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4" name="圓柱形 143">
              <a:extLst>
                <a:ext uri="{FF2B5EF4-FFF2-40B4-BE49-F238E27FC236}">
                  <a16:creationId xmlns:a16="http://schemas.microsoft.com/office/drawing/2014/main" id="{D7EEFE1F-BC7D-4DC0-8065-D194E4E18071}"/>
                </a:ext>
              </a:extLst>
            </p:cNvPr>
            <p:cNvSpPr/>
            <p:nvPr/>
          </p:nvSpPr>
          <p:spPr>
            <a:xfrm>
              <a:off x="4369347" y="1013053"/>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5" name="圓柱形 144">
              <a:extLst>
                <a:ext uri="{FF2B5EF4-FFF2-40B4-BE49-F238E27FC236}">
                  <a16:creationId xmlns:a16="http://schemas.microsoft.com/office/drawing/2014/main" id="{A8E9E30E-56CD-46F1-8CAA-13AC979AEF82}"/>
                </a:ext>
              </a:extLst>
            </p:cNvPr>
            <p:cNvSpPr/>
            <p:nvPr/>
          </p:nvSpPr>
          <p:spPr>
            <a:xfrm>
              <a:off x="4108743" y="779274"/>
              <a:ext cx="710214" cy="284086"/>
            </a:xfrm>
            <a:prstGeom prst="can">
              <a:avLst>
                <a:gd name="adj" fmla="val 500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46" name="直線接點 145">
              <a:extLst>
                <a:ext uri="{FF2B5EF4-FFF2-40B4-BE49-F238E27FC236}">
                  <a16:creationId xmlns:a16="http://schemas.microsoft.com/office/drawing/2014/main" id="{5FA1D4BB-1BBF-4C86-8697-472F92EABA66}"/>
                </a:ext>
              </a:extLst>
            </p:cNvPr>
            <p:cNvCxnSpPr>
              <a:cxnSpLocks/>
            </p:cNvCxnSpPr>
            <p:nvPr/>
          </p:nvCxnSpPr>
          <p:spPr>
            <a:xfrm flipV="1">
              <a:off x="4216755" y="809962"/>
              <a:ext cx="528828" cy="856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7" name="圓柱形 146">
              <a:extLst>
                <a:ext uri="{FF2B5EF4-FFF2-40B4-BE49-F238E27FC236}">
                  <a16:creationId xmlns:a16="http://schemas.microsoft.com/office/drawing/2014/main" id="{8A11C2C1-1C39-472B-9D13-FDDD81B2FACA}"/>
                </a:ext>
              </a:extLst>
            </p:cNvPr>
            <p:cNvSpPr/>
            <p:nvPr/>
          </p:nvSpPr>
          <p:spPr>
            <a:xfrm>
              <a:off x="6270344" y="1992345"/>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8" name="圓柱形 147">
              <a:extLst>
                <a:ext uri="{FF2B5EF4-FFF2-40B4-BE49-F238E27FC236}">
                  <a16:creationId xmlns:a16="http://schemas.microsoft.com/office/drawing/2014/main" id="{5D6AC242-1AFF-435D-AF31-22EE0604C88F}"/>
                </a:ext>
              </a:extLst>
            </p:cNvPr>
            <p:cNvSpPr/>
            <p:nvPr/>
          </p:nvSpPr>
          <p:spPr>
            <a:xfrm>
              <a:off x="6270344" y="1917640"/>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9" name="圓柱形 148">
              <a:extLst>
                <a:ext uri="{FF2B5EF4-FFF2-40B4-BE49-F238E27FC236}">
                  <a16:creationId xmlns:a16="http://schemas.microsoft.com/office/drawing/2014/main" id="{7D0B1CD1-219B-48E4-8A78-FE2FC9174C61}"/>
                </a:ext>
              </a:extLst>
            </p:cNvPr>
            <p:cNvSpPr/>
            <p:nvPr/>
          </p:nvSpPr>
          <p:spPr>
            <a:xfrm>
              <a:off x="6270345" y="1842935"/>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0" name="圓柱形 149">
              <a:extLst>
                <a:ext uri="{FF2B5EF4-FFF2-40B4-BE49-F238E27FC236}">
                  <a16:creationId xmlns:a16="http://schemas.microsoft.com/office/drawing/2014/main" id="{8262E259-0F2C-4EF5-8ACB-6A2A02E1C69F}"/>
                </a:ext>
              </a:extLst>
            </p:cNvPr>
            <p:cNvSpPr/>
            <p:nvPr/>
          </p:nvSpPr>
          <p:spPr>
            <a:xfrm>
              <a:off x="6270344" y="1768229"/>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1" name="圓柱形 150">
              <a:extLst>
                <a:ext uri="{FF2B5EF4-FFF2-40B4-BE49-F238E27FC236}">
                  <a16:creationId xmlns:a16="http://schemas.microsoft.com/office/drawing/2014/main" id="{01D4ACAB-3C12-4957-B815-68021DE196F4}"/>
                </a:ext>
              </a:extLst>
            </p:cNvPr>
            <p:cNvSpPr/>
            <p:nvPr/>
          </p:nvSpPr>
          <p:spPr>
            <a:xfrm>
              <a:off x="6270344" y="1693524"/>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2" name="圓柱形 151">
              <a:extLst>
                <a:ext uri="{FF2B5EF4-FFF2-40B4-BE49-F238E27FC236}">
                  <a16:creationId xmlns:a16="http://schemas.microsoft.com/office/drawing/2014/main" id="{47B685D7-6AFB-4716-843B-1F59048E3919}"/>
                </a:ext>
              </a:extLst>
            </p:cNvPr>
            <p:cNvSpPr/>
            <p:nvPr/>
          </p:nvSpPr>
          <p:spPr>
            <a:xfrm>
              <a:off x="6270344" y="1618818"/>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3" name="圓柱形 152">
              <a:extLst>
                <a:ext uri="{FF2B5EF4-FFF2-40B4-BE49-F238E27FC236}">
                  <a16:creationId xmlns:a16="http://schemas.microsoft.com/office/drawing/2014/main" id="{DEA41E2A-B14D-4E1E-96A6-AB2E45643324}"/>
                </a:ext>
              </a:extLst>
            </p:cNvPr>
            <p:cNvSpPr/>
            <p:nvPr/>
          </p:nvSpPr>
          <p:spPr>
            <a:xfrm>
              <a:off x="6270344" y="1544114"/>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4" name="圓柱形 153">
              <a:extLst>
                <a:ext uri="{FF2B5EF4-FFF2-40B4-BE49-F238E27FC236}">
                  <a16:creationId xmlns:a16="http://schemas.microsoft.com/office/drawing/2014/main" id="{0714F5CC-D9D1-4DDF-B096-6F54B0DF81A7}"/>
                </a:ext>
              </a:extLst>
            </p:cNvPr>
            <p:cNvSpPr/>
            <p:nvPr/>
          </p:nvSpPr>
          <p:spPr>
            <a:xfrm>
              <a:off x="6270345" y="1469408"/>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5" name="圓柱形 154">
              <a:extLst>
                <a:ext uri="{FF2B5EF4-FFF2-40B4-BE49-F238E27FC236}">
                  <a16:creationId xmlns:a16="http://schemas.microsoft.com/office/drawing/2014/main" id="{81452B19-F649-4EB6-A176-F43FAFFB898A}"/>
                </a:ext>
              </a:extLst>
            </p:cNvPr>
            <p:cNvSpPr/>
            <p:nvPr/>
          </p:nvSpPr>
          <p:spPr>
            <a:xfrm>
              <a:off x="6270344" y="1394702"/>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6" name="圓柱形 155">
              <a:extLst>
                <a:ext uri="{FF2B5EF4-FFF2-40B4-BE49-F238E27FC236}">
                  <a16:creationId xmlns:a16="http://schemas.microsoft.com/office/drawing/2014/main" id="{0DF87D8E-4647-4BF8-AE1A-39896E34E458}"/>
                </a:ext>
              </a:extLst>
            </p:cNvPr>
            <p:cNvSpPr/>
            <p:nvPr/>
          </p:nvSpPr>
          <p:spPr>
            <a:xfrm>
              <a:off x="6270344" y="1319997"/>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7" name="圓柱形 156">
              <a:extLst>
                <a:ext uri="{FF2B5EF4-FFF2-40B4-BE49-F238E27FC236}">
                  <a16:creationId xmlns:a16="http://schemas.microsoft.com/office/drawing/2014/main" id="{DB7B32E9-57F3-4B98-BD43-2052C52817F4}"/>
                </a:ext>
              </a:extLst>
            </p:cNvPr>
            <p:cNvSpPr/>
            <p:nvPr/>
          </p:nvSpPr>
          <p:spPr>
            <a:xfrm>
              <a:off x="6270345" y="1245292"/>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8" name="圓柱形 157">
              <a:extLst>
                <a:ext uri="{FF2B5EF4-FFF2-40B4-BE49-F238E27FC236}">
                  <a16:creationId xmlns:a16="http://schemas.microsoft.com/office/drawing/2014/main" id="{D1399CEE-C806-4CAA-891E-E965F7F80C23}"/>
                </a:ext>
              </a:extLst>
            </p:cNvPr>
            <p:cNvSpPr/>
            <p:nvPr/>
          </p:nvSpPr>
          <p:spPr>
            <a:xfrm>
              <a:off x="6009741" y="1011513"/>
              <a:ext cx="710214" cy="284086"/>
            </a:xfrm>
            <a:prstGeom prst="can">
              <a:avLst>
                <a:gd name="adj" fmla="val 500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59" name="直線接點 158">
              <a:extLst>
                <a:ext uri="{FF2B5EF4-FFF2-40B4-BE49-F238E27FC236}">
                  <a16:creationId xmlns:a16="http://schemas.microsoft.com/office/drawing/2014/main" id="{3CB53896-B380-487E-A7AD-1AFCC4C27517}"/>
                </a:ext>
              </a:extLst>
            </p:cNvPr>
            <p:cNvCxnSpPr>
              <a:cxnSpLocks/>
            </p:cNvCxnSpPr>
            <p:nvPr/>
          </p:nvCxnSpPr>
          <p:spPr>
            <a:xfrm flipV="1">
              <a:off x="6117753" y="1042201"/>
              <a:ext cx="528828" cy="856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圓柱形 159">
              <a:extLst>
                <a:ext uri="{FF2B5EF4-FFF2-40B4-BE49-F238E27FC236}">
                  <a16:creationId xmlns:a16="http://schemas.microsoft.com/office/drawing/2014/main" id="{2974AC6A-DE49-4013-AC06-D041E7222DD8}"/>
                </a:ext>
              </a:extLst>
            </p:cNvPr>
            <p:cNvSpPr/>
            <p:nvPr/>
          </p:nvSpPr>
          <p:spPr>
            <a:xfrm>
              <a:off x="5945828" y="2440577"/>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1" name="圓柱形 160">
              <a:extLst>
                <a:ext uri="{FF2B5EF4-FFF2-40B4-BE49-F238E27FC236}">
                  <a16:creationId xmlns:a16="http://schemas.microsoft.com/office/drawing/2014/main" id="{418F02D4-DAEC-4059-8439-E0B156541273}"/>
                </a:ext>
              </a:extLst>
            </p:cNvPr>
            <p:cNvSpPr/>
            <p:nvPr/>
          </p:nvSpPr>
          <p:spPr>
            <a:xfrm>
              <a:off x="5945828" y="2365872"/>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2" name="圓柱形 161">
              <a:extLst>
                <a:ext uri="{FF2B5EF4-FFF2-40B4-BE49-F238E27FC236}">
                  <a16:creationId xmlns:a16="http://schemas.microsoft.com/office/drawing/2014/main" id="{24F647FA-5B7C-4E36-8BA7-E29976AEDC51}"/>
                </a:ext>
              </a:extLst>
            </p:cNvPr>
            <p:cNvSpPr/>
            <p:nvPr/>
          </p:nvSpPr>
          <p:spPr>
            <a:xfrm>
              <a:off x="5945829" y="2291167"/>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3" name="圓柱形 162">
              <a:extLst>
                <a:ext uri="{FF2B5EF4-FFF2-40B4-BE49-F238E27FC236}">
                  <a16:creationId xmlns:a16="http://schemas.microsoft.com/office/drawing/2014/main" id="{A25DC5D5-B14C-4BEC-B0F2-3F551BFD191D}"/>
                </a:ext>
              </a:extLst>
            </p:cNvPr>
            <p:cNvSpPr/>
            <p:nvPr/>
          </p:nvSpPr>
          <p:spPr>
            <a:xfrm>
              <a:off x="5945828" y="2216461"/>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4" name="圓柱形 163">
              <a:extLst>
                <a:ext uri="{FF2B5EF4-FFF2-40B4-BE49-F238E27FC236}">
                  <a16:creationId xmlns:a16="http://schemas.microsoft.com/office/drawing/2014/main" id="{8C34F00B-965F-41E0-9665-09EE13D60217}"/>
                </a:ext>
              </a:extLst>
            </p:cNvPr>
            <p:cNvSpPr/>
            <p:nvPr/>
          </p:nvSpPr>
          <p:spPr>
            <a:xfrm>
              <a:off x="5945828" y="2141756"/>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5" name="圓柱形 164">
              <a:extLst>
                <a:ext uri="{FF2B5EF4-FFF2-40B4-BE49-F238E27FC236}">
                  <a16:creationId xmlns:a16="http://schemas.microsoft.com/office/drawing/2014/main" id="{C75DBDA4-692E-478D-B81E-CBCA83034AA7}"/>
                </a:ext>
              </a:extLst>
            </p:cNvPr>
            <p:cNvSpPr/>
            <p:nvPr/>
          </p:nvSpPr>
          <p:spPr>
            <a:xfrm>
              <a:off x="5945828" y="2067050"/>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6" name="圓柱形 165">
              <a:extLst>
                <a:ext uri="{FF2B5EF4-FFF2-40B4-BE49-F238E27FC236}">
                  <a16:creationId xmlns:a16="http://schemas.microsoft.com/office/drawing/2014/main" id="{BE91A529-EBC5-4286-9C9F-EEE999D15C49}"/>
                </a:ext>
              </a:extLst>
            </p:cNvPr>
            <p:cNvSpPr/>
            <p:nvPr/>
          </p:nvSpPr>
          <p:spPr>
            <a:xfrm>
              <a:off x="5945828" y="1992346"/>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7" name="圓柱形 166">
              <a:extLst>
                <a:ext uri="{FF2B5EF4-FFF2-40B4-BE49-F238E27FC236}">
                  <a16:creationId xmlns:a16="http://schemas.microsoft.com/office/drawing/2014/main" id="{B46614CC-26D9-4F89-807C-475EBF0A36DC}"/>
                </a:ext>
              </a:extLst>
            </p:cNvPr>
            <p:cNvSpPr/>
            <p:nvPr/>
          </p:nvSpPr>
          <p:spPr>
            <a:xfrm>
              <a:off x="5945829" y="1917640"/>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8" name="圓柱形 167">
              <a:extLst>
                <a:ext uri="{FF2B5EF4-FFF2-40B4-BE49-F238E27FC236}">
                  <a16:creationId xmlns:a16="http://schemas.microsoft.com/office/drawing/2014/main" id="{00F736A4-5B16-4979-AFE9-4AE23C846E1E}"/>
                </a:ext>
              </a:extLst>
            </p:cNvPr>
            <p:cNvSpPr/>
            <p:nvPr/>
          </p:nvSpPr>
          <p:spPr>
            <a:xfrm>
              <a:off x="5945828" y="1842934"/>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9" name="圓柱形 168">
              <a:extLst>
                <a:ext uri="{FF2B5EF4-FFF2-40B4-BE49-F238E27FC236}">
                  <a16:creationId xmlns:a16="http://schemas.microsoft.com/office/drawing/2014/main" id="{387CC6D8-2307-4EB2-8046-DA5064F1063E}"/>
                </a:ext>
              </a:extLst>
            </p:cNvPr>
            <p:cNvSpPr/>
            <p:nvPr/>
          </p:nvSpPr>
          <p:spPr>
            <a:xfrm>
              <a:off x="5945828" y="1768229"/>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0" name="圓柱形 169">
              <a:extLst>
                <a:ext uri="{FF2B5EF4-FFF2-40B4-BE49-F238E27FC236}">
                  <a16:creationId xmlns:a16="http://schemas.microsoft.com/office/drawing/2014/main" id="{4279B7B7-DEA0-43EA-B062-9F930BC2A0D0}"/>
                </a:ext>
              </a:extLst>
            </p:cNvPr>
            <p:cNvSpPr/>
            <p:nvPr/>
          </p:nvSpPr>
          <p:spPr>
            <a:xfrm>
              <a:off x="5945829" y="1693524"/>
              <a:ext cx="163350" cy="100614"/>
            </a:xfrm>
            <a:prstGeom prst="can">
              <a:avLst>
                <a:gd name="adj" fmla="val 475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1" name="圓柱形 170">
              <a:extLst>
                <a:ext uri="{FF2B5EF4-FFF2-40B4-BE49-F238E27FC236}">
                  <a16:creationId xmlns:a16="http://schemas.microsoft.com/office/drawing/2014/main" id="{686B4ECA-C8CB-40B0-8970-E9BA11BC2335}"/>
                </a:ext>
              </a:extLst>
            </p:cNvPr>
            <p:cNvSpPr/>
            <p:nvPr/>
          </p:nvSpPr>
          <p:spPr>
            <a:xfrm>
              <a:off x="5685225" y="1459745"/>
              <a:ext cx="710214" cy="284086"/>
            </a:xfrm>
            <a:prstGeom prst="can">
              <a:avLst>
                <a:gd name="adj" fmla="val 50000"/>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72" name="直線接點 171">
              <a:extLst>
                <a:ext uri="{FF2B5EF4-FFF2-40B4-BE49-F238E27FC236}">
                  <a16:creationId xmlns:a16="http://schemas.microsoft.com/office/drawing/2014/main" id="{C134BE9A-4693-4FFF-82D7-196C6F67BB1C}"/>
                </a:ext>
              </a:extLst>
            </p:cNvPr>
            <p:cNvCxnSpPr>
              <a:cxnSpLocks/>
            </p:cNvCxnSpPr>
            <p:nvPr/>
          </p:nvCxnSpPr>
          <p:spPr>
            <a:xfrm flipV="1">
              <a:off x="5793237" y="1490433"/>
              <a:ext cx="528828" cy="856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線接點 172">
              <a:extLst>
                <a:ext uri="{FF2B5EF4-FFF2-40B4-BE49-F238E27FC236}">
                  <a16:creationId xmlns:a16="http://schemas.microsoft.com/office/drawing/2014/main" id="{DC1B804D-E95B-4C7E-BAEA-537416210E58}"/>
                </a:ext>
              </a:extLst>
            </p:cNvPr>
            <p:cNvCxnSpPr>
              <a:cxnSpLocks/>
            </p:cNvCxnSpPr>
            <p:nvPr/>
          </p:nvCxnSpPr>
          <p:spPr>
            <a:xfrm flipV="1">
              <a:off x="3829509" y="2701542"/>
              <a:ext cx="0" cy="1005841"/>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4" name="直線接點 173">
              <a:extLst>
                <a:ext uri="{FF2B5EF4-FFF2-40B4-BE49-F238E27FC236}">
                  <a16:creationId xmlns:a16="http://schemas.microsoft.com/office/drawing/2014/main" id="{8F66B5A4-838E-46AE-85C2-D1448840002E}"/>
                </a:ext>
              </a:extLst>
            </p:cNvPr>
            <p:cNvCxnSpPr>
              <a:cxnSpLocks/>
            </p:cNvCxnSpPr>
            <p:nvPr/>
          </p:nvCxnSpPr>
          <p:spPr>
            <a:xfrm flipV="1">
              <a:off x="4078429" y="2779266"/>
              <a:ext cx="0" cy="909828"/>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5" name="直線接點 174">
              <a:extLst>
                <a:ext uri="{FF2B5EF4-FFF2-40B4-BE49-F238E27FC236}">
                  <a16:creationId xmlns:a16="http://schemas.microsoft.com/office/drawing/2014/main" id="{D450CCAF-FF58-4AFF-AFDD-ECA6E2B8D6EF}"/>
                </a:ext>
              </a:extLst>
            </p:cNvPr>
            <p:cNvCxnSpPr>
              <a:cxnSpLocks/>
            </p:cNvCxnSpPr>
            <p:nvPr/>
          </p:nvCxnSpPr>
          <p:spPr>
            <a:xfrm flipV="1">
              <a:off x="5869995" y="3029202"/>
              <a:ext cx="0" cy="1046833"/>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6" name="直線接點 175">
              <a:extLst>
                <a:ext uri="{FF2B5EF4-FFF2-40B4-BE49-F238E27FC236}">
                  <a16:creationId xmlns:a16="http://schemas.microsoft.com/office/drawing/2014/main" id="{37CACCDD-3F7B-4913-972E-4F6A2EF872F8}"/>
                </a:ext>
              </a:extLst>
            </p:cNvPr>
            <p:cNvCxnSpPr>
              <a:cxnSpLocks/>
            </p:cNvCxnSpPr>
            <p:nvPr/>
          </p:nvCxnSpPr>
          <p:spPr>
            <a:xfrm flipV="1">
              <a:off x="6137203" y="3071874"/>
              <a:ext cx="0" cy="998063"/>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7" name="直線接點 176">
              <a:extLst>
                <a:ext uri="{FF2B5EF4-FFF2-40B4-BE49-F238E27FC236}">
                  <a16:creationId xmlns:a16="http://schemas.microsoft.com/office/drawing/2014/main" id="{EF067DF0-811E-4EB7-8ADF-38F5FB8A0EF7}"/>
                </a:ext>
              </a:extLst>
            </p:cNvPr>
            <p:cNvCxnSpPr>
              <a:cxnSpLocks/>
            </p:cNvCxnSpPr>
            <p:nvPr/>
          </p:nvCxnSpPr>
          <p:spPr>
            <a:xfrm flipV="1">
              <a:off x="6226790" y="3071874"/>
              <a:ext cx="0" cy="44417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8" name="直線接點 177">
              <a:extLst>
                <a:ext uri="{FF2B5EF4-FFF2-40B4-BE49-F238E27FC236}">
                  <a16:creationId xmlns:a16="http://schemas.microsoft.com/office/drawing/2014/main" id="{C8721D9B-E0EE-41DF-B426-5936619CF4BF}"/>
                </a:ext>
              </a:extLst>
            </p:cNvPr>
            <p:cNvCxnSpPr>
              <a:cxnSpLocks/>
            </p:cNvCxnSpPr>
            <p:nvPr/>
          </p:nvCxnSpPr>
          <p:spPr>
            <a:xfrm flipV="1">
              <a:off x="6481806" y="3132834"/>
              <a:ext cx="0" cy="395401"/>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9" name="直線接點 178">
              <a:extLst>
                <a:ext uri="{FF2B5EF4-FFF2-40B4-BE49-F238E27FC236}">
                  <a16:creationId xmlns:a16="http://schemas.microsoft.com/office/drawing/2014/main" id="{1322FAD5-CBF2-4FC6-8143-6A4C924894DC}"/>
                </a:ext>
              </a:extLst>
            </p:cNvPr>
            <p:cNvCxnSpPr>
              <a:cxnSpLocks/>
            </p:cNvCxnSpPr>
            <p:nvPr/>
          </p:nvCxnSpPr>
          <p:spPr>
            <a:xfrm flipV="1">
              <a:off x="4326472" y="2852418"/>
              <a:ext cx="0" cy="360772"/>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0" name="直線接點 179">
              <a:extLst>
                <a:ext uri="{FF2B5EF4-FFF2-40B4-BE49-F238E27FC236}">
                  <a16:creationId xmlns:a16="http://schemas.microsoft.com/office/drawing/2014/main" id="{E65DC6BB-70B9-4FD2-B10F-B14E9DCB9B6D}"/>
                </a:ext>
              </a:extLst>
            </p:cNvPr>
            <p:cNvCxnSpPr>
              <a:cxnSpLocks/>
            </p:cNvCxnSpPr>
            <p:nvPr/>
          </p:nvCxnSpPr>
          <p:spPr>
            <a:xfrm flipV="1">
              <a:off x="4563200" y="2852418"/>
              <a:ext cx="0" cy="348577"/>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1" name="圓柱形 180">
              <a:extLst>
                <a:ext uri="{FF2B5EF4-FFF2-40B4-BE49-F238E27FC236}">
                  <a16:creationId xmlns:a16="http://schemas.microsoft.com/office/drawing/2014/main" id="{C138E1CE-E5F5-4A74-A35D-0C020FF7027E}"/>
                </a:ext>
              </a:extLst>
            </p:cNvPr>
            <p:cNvSpPr/>
            <p:nvPr/>
          </p:nvSpPr>
          <p:spPr>
            <a:xfrm rot="16822080">
              <a:off x="8641582" y="4757815"/>
              <a:ext cx="569243" cy="1315545"/>
            </a:xfrm>
            <a:prstGeom prst="can">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82" name="直線接點 181">
              <a:extLst>
                <a:ext uri="{FF2B5EF4-FFF2-40B4-BE49-F238E27FC236}">
                  <a16:creationId xmlns:a16="http://schemas.microsoft.com/office/drawing/2014/main" id="{EFB7D031-A0C1-4E07-9B04-D793409BB3F5}"/>
                </a:ext>
              </a:extLst>
            </p:cNvPr>
            <p:cNvCxnSpPr>
              <a:cxnSpLocks/>
            </p:cNvCxnSpPr>
            <p:nvPr/>
          </p:nvCxnSpPr>
          <p:spPr>
            <a:xfrm>
              <a:off x="7053068" y="4160086"/>
              <a:ext cx="1401257" cy="28662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3" name="直線接點 182">
              <a:extLst>
                <a:ext uri="{FF2B5EF4-FFF2-40B4-BE49-F238E27FC236}">
                  <a16:creationId xmlns:a16="http://schemas.microsoft.com/office/drawing/2014/main" id="{12DAC180-CED4-44BF-AAAC-FC4A07057433}"/>
                </a:ext>
              </a:extLst>
            </p:cNvPr>
            <p:cNvCxnSpPr>
              <a:cxnSpLocks/>
            </p:cNvCxnSpPr>
            <p:nvPr/>
          </p:nvCxnSpPr>
          <p:spPr>
            <a:xfrm>
              <a:off x="7002268" y="4456954"/>
              <a:ext cx="1369572" cy="28014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4" name="直線接點 183">
              <a:extLst>
                <a:ext uri="{FF2B5EF4-FFF2-40B4-BE49-F238E27FC236}">
                  <a16:creationId xmlns:a16="http://schemas.microsoft.com/office/drawing/2014/main" id="{AD182BA2-954E-43E1-BC66-8BF6808C33FC}"/>
                </a:ext>
              </a:extLst>
            </p:cNvPr>
            <p:cNvCxnSpPr>
              <a:cxnSpLocks/>
            </p:cNvCxnSpPr>
            <p:nvPr/>
          </p:nvCxnSpPr>
          <p:spPr>
            <a:xfrm>
              <a:off x="7002268" y="4737094"/>
              <a:ext cx="1369572" cy="28014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5" name="直線接點 184">
              <a:extLst>
                <a:ext uri="{FF2B5EF4-FFF2-40B4-BE49-F238E27FC236}">
                  <a16:creationId xmlns:a16="http://schemas.microsoft.com/office/drawing/2014/main" id="{1C1CF12B-06C5-4459-A58B-61F052B93233}"/>
                </a:ext>
              </a:extLst>
            </p:cNvPr>
            <p:cNvCxnSpPr>
              <a:cxnSpLocks/>
            </p:cNvCxnSpPr>
            <p:nvPr/>
          </p:nvCxnSpPr>
          <p:spPr>
            <a:xfrm>
              <a:off x="6868156" y="5297374"/>
              <a:ext cx="1369572" cy="28014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6" name="圓柱形 185">
              <a:extLst>
                <a:ext uri="{FF2B5EF4-FFF2-40B4-BE49-F238E27FC236}">
                  <a16:creationId xmlns:a16="http://schemas.microsoft.com/office/drawing/2014/main" id="{FC36C4C1-438C-4BAE-9476-D811E0E3D86B}"/>
                </a:ext>
              </a:extLst>
            </p:cNvPr>
            <p:cNvSpPr/>
            <p:nvPr/>
          </p:nvSpPr>
          <p:spPr>
            <a:xfrm rot="16787710">
              <a:off x="8194721" y="5233209"/>
              <a:ext cx="264990" cy="128331"/>
            </a:xfrm>
            <a:prstGeom prst="can">
              <a:avLst>
                <a:gd name="adj" fmla="val 50000"/>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7" name="圓柱形 186">
              <a:extLst>
                <a:ext uri="{FF2B5EF4-FFF2-40B4-BE49-F238E27FC236}">
                  <a16:creationId xmlns:a16="http://schemas.microsoft.com/office/drawing/2014/main" id="{F2E024A8-3339-4968-9326-D5E51ED4C2BC}"/>
                </a:ext>
              </a:extLst>
            </p:cNvPr>
            <p:cNvSpPr/>
            <p:nvPr/>
          </p:nvSpPr>
          <p:spPr>
            <a:xfrm rot="16796527">
              <a:off x="8640522" y="4281677"/>
              <a:ext cx="292985" cy="748055"/>
            </a:xfrm>
            <a:prstGeom prst="ca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8" name="手繪多邊形: 圖案 187">
              <a:extLst>
                <a:ext uri="{FF2B5EF4-FFF2-40B4-BE49-F238E27FC236}">
                  <a16:creationId xmlns:a16="http://schemas.microsoft.com/office/drawing/2014/main" id="{9ED113B4-9015-4AE9-995A-A03E8E70B13A}"/>
                </a:ext>
              </a:extLst>
            </p:cNvPr>
            <p:cNvSpPr/>
            <p:nvPr/>
          </p:nvSpPr>
          <p:spPr>
            <a:xfrm>
              <a:off x="9168384" y="4711698"/>
              <a:ext cx="1530551" cy="1481328"/>
            </a:xfrm>
            <a:custGeom>
              <a:avLst/>
              <a:gdLst>
                <a:gd name="connsiteX0" fmla="*/ 0 w 1530551"/>
                <a:gd name="connsiteY0" fmla="*/ 0 h 1481328"/>
                <a:gd name="connsiteX1" fmla="*/ 1298448 w 1530551"/>
                <a:gd name="connsiteY1" fmla="*/ 347472 h 1481328"/>
                <a:gd name="connsiteX2" fmla="*/ 1524000 w 1530551"/>
                <a:gd name="connsiteY2" fmla="*/ 1481328 h 1481328"/>
              </a:gdLst>
              <a:ahLst/>
              <a:cxnLst>
                <a:cxn ang="0">
                  <a:pos x="connsiteX0" y="connsiteY0"/>
                </a:cxn>
                <a:cxn ang="0">
                  <a:pos x="connsiteX1" y="connsiteY1"/>
                </a:cxn>
                <a:cxn ang="0">
                  <a:pos x="connsiteX2" y="connsiteY2"/>
                </a:cxn>
              </a:cxnLst>
              <a:rect l="l" t="t" r="r" b="b"/>
              <a:pathLst>
                <a:path w="1530551" h="1481328">
                  <a:moveTo>
                    <a:pt x="0" y="0"/>
                  </a:moveTo>
                  <a:cubicBezTo>
                    <a:pt x="522224" y="50292"/>
                    <a:pt x="1044448" y="100584"/>
                    <a:pt x="1298448" y="347472"/>
                  </a:cubicBezTo>
                  <a:cubicBezTo>
                    <a:pt x="1552448" y="594360"/>
                    <a:pt x="1538224" y="1037844"/>
                    <a:pt x="1524000" y="1481328"/>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9" name="手繪多邊形: 圖案 188">
              <a:extLst>
                <a:ext uri="{FF2B5EF4-FFF2-40B4-BE49-F238E27FC236}">
                  <a16:creationId xmlns:a16="http://schemas.microsoft.com/office/drawing/2014/main" id="{F48CCFE4-3ED2-4893-8C98-F0DF6B228DF6}"/>
                </a:ext>
              </a:extLst>
            </p:cNvPr>
            <p:cNvSpPr/>
            <p:nvPr/>
          </p:nvSpPr>
          <p:spPr>
            <a:xfrm>
              <a:off x="9570720" y="5522466"/>
              <a:ext cx="1517904" cy="975360"/>
            </a:xfrm>
            <a:custGeom>
              <a:avLst/>
              <a:gdLst>
                <a:gd name="connsiteX0" fmla="*/ 0 w 1517904"/>
                <a:gd name="connsiteY0" fmla="*/ 0 h 975360"/>
                <a:gd name="connsiteX1" fmla="*/ 694944 w 1517904"/>
                <a:gd name="connsiteY1" fmla="*/ 188976 h 975360"/>
                <a:gd name="connsiteX2" fmla="*/ 1121664 w 1517904"/>
                <a:gd name="connsiteY2" fmla="*/ 664464 h 975360"/>
                <a:gd name="connsiteX3" fmla="*/ 1517904 w 1517904"/>
                <a:gd name="connsiteY3" fmla="*/ 975360 h 975360"/>
              </a:gdLst>
              <a:ahLst/>
              <a:cxnLst>
                <a:cxn ang="0">
                  <a:pos x="connsiteX0" y="connsiteY0"/>
                </a:cxn>
                <a:cxn ang="0">
                  <a:pos x="connsiteX1" y="connsiteY1"/>
                </a:cxn>
                <a:cxn ang="0">
                  <a:pos x="connsiteX2" y="connsiteY2"/>
                </a:cxn>
                <a:cxn ang="0">
                  <a:pos x="connsiteX3" y="connsiteY3"/>
                </a:cxn>
              </a:cxnLst>
              <a:rect l="l" t="t" r="r" b="b"/>
              <a:pathLst>
                <a:path w="1517904" h="975360">
                  <a:moveTo>
                    <a:pt x="0" y="0"/>
                  </a:moveTo>
                  <a:cubicBezTo>
                    <a:pt x="254000" y="39116"/>
                    <a:pt x="508000" y="78232"/>
                    <a:pt x="694944" y="188976"/>
                  </a:cubicBezTo>
                  <a:cubicBezTo>
                    <a:pt x="881888" y="299720"/>
                    <a:pt x="984504" y="533400"/>
                    <a:pt x="1121664" y="664464"/>
                  </a:cubicBezTo>
                  <a:cubicBezTo>
                    <a:pt x="1258824" y="795528"/>
                    <a:pt x="1388364" y="885444"/>
                    <a:pt x="1517904" y="97536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0" name="文字方塊 189">
              <a:extLst>
                <a:ext uri="{FF2B5EF4-FFF2-40B4-BE49-F238E27FC236}">
                  <a16:creationId xmlns:a16="http://schemas.microsoft.com/office/drawing/2014/main" id="{6413BE5E-3505-41A1-9696-F9A736E12C0D}"/>
                </a:ext>
              </a:extLst>
            </p:cNvPr>
            <p:cNvSpPr txBox="1"/>
            <p:nvPr/>
          </p:nvSpPr>
          <p:spPr>
            <a:xfrm>
              <a:off x="7868893" y="926279"/>
              <a:ext cx="3476418" cy="986355"/>
            </a:xfrm>
            <a:prstGeom prst="rect">
              <a:avLst/>
            </a:prstGeom>
            <a:noFill/>
          </p:spPr>
          <p:txBody>
            <a:bodyPr wrap="none" rtlCol="0">
              <a:spAutoFit/>
            </a:bodyPr>
            <a:lstStyle/>
            <a:p>
              <a:r>
                <a:rPr lang="en-US" altLang="zh-TW" sz="110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Plastic screw</a:t>
              </a:r>
              <a:endParaRPr lang="zh-TW" altLang="en-US" sz="110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91" name="直線單箭頭接點 190">
              <a:extLst>
                <a:ext uri="{FF2B5EF4-FFF2-40B4-BE49-F238E27FC236}">
                  <a16:creationId xmlns:a16="http://schemas.microsoft.com/office/drawing/2014/main" id="{695AAFD2-0CA9-4C29-8954-9AB524746C3E}"/>
                </a:ext>
              </a:extLst>
            </p:cNvPr>
            <p:cNvCxnSpPr/>
            <p:nvPr/>
          </p:nvCxnSpPr>
          <p:spPr>
            <a:xfrm flipH="1">
              <a:off x="6868156" y="1113667"/>
              <a:ext cx="885540" cy="0"/>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192" name="文字方塊 191">
              <a:extLst>
                <a:ext uri="{FF2B5EF4-FFF2-40B4-BE49-F238E27FC236}">
                  <a16:creationId xmlns:a16="http://schemas.microsoft.com/office/drawing/2014/main" id="{48658058-241D-49C5-A920-A9D5FE00707C}"/>
                </a:ext>
              </a:extLst>
            </p:cNvPr>
            <p:cNvSpPr txBox="1"/>
            <p:nvPr/>
          </p:nvSpPr>
          <p:spPr>
            <a:xfrm>
              <a:off x="8580949" y="2031780"/>
              <a:ext cx="2285783" cy="986355"/>
            </a:xfrm>
            <a:prstGeom prst="rect">
              <a:avLst/>
            </a:prstGeom>
            <a:noFill/>
          </p:spPr>
          <p:txBody>
            <a:bodyPr wrap="none" rtlCol="0">
              <a:spAutoFit/>
            </a:bodyPr>
            <a:lstStyle/>
            <a:p>
              <a:r>
                <a:rPr lang="en-US" altLang="zh-TW" sz="110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Acrylic</a:t>
              </a:r>
              <a:endParaRPr lang="zh-TW" altLang="en-US" sz="110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93" name="直線單箭頭接點 192">
              <a:extLst>
                <a:ext uri="{FF2B5EF4-FFF2-40B4-BE49-F238E27FC236}">
                  <a16:creationId xmlns:a16="http://schemas.microsoft.com/office/drawing/2014/main" id="{F1EDE671-EC2C-4719-A731-A1AA21436D51}"/>
                </a:ext>
              </a:extLst>
            </p:cNvPr>
            <p:cNvCxnSpPr>
              <a:cxnSpLocks/>
              <a:stCxn id="192" idx="1"/>
            </p:cNvCxnSpPr>
            <p:nvPr/>
          </p:nvCxnSpPr>
          <p:spPr>
            <a:xfrm flipH="1" flipV="1">
              <a:off x="7471485" y="2457755"/>
              <a:ext cx="1109464" cy="67202"/>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194" name="矩形 193">
              <a:extLst>
                <a:ext uri="{FF2B5EF4-FFF2-40B4-BE49-F238E27FC236}">
                  <a16:creationId xmlns:a16="http://schemas.microsoft.com/office/drawing/2014/main" id="{8F526CFD-2497-4ECA-8ABC-B5068AE5DD91}"/>
                </a:ext>
              </a:extLst>
            </p:cNvPr>
            <p:cNvSpPr/>
            <p:nvPr/>
          </p:nvSpPr>
          <p:spPr>
            <a:xfrm>
              <a:off x="446937" y="4511644"/>
              <a:ext cx="2110512" cy="986355"/>
            </a:xfrm>
            <a:prstGeom prst="rect">
              <a:avLst/>
            </a:prstGeom>
          </p:spPr>
          <p:txBody>
            <a:bodyPr wrap="none">
              <a:spAutoFit/>
            </a:bodyPr>
            <a:lstStyle/>
            <a:p>
              <a:r>
                <a:rPr lang="zh-TW" altLang="en-US" sz="110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Teflon</a:t>
              </a:r>
            </a:p>
          </p:txBody>
        </p:sp>
        <p:cxnSp>
          <p:nvCxnSpPr>
            <p:cNvPr id="195" name="直線單箭頭接點 194">
              <a:extLst>
                <a:ext uri="{FF2B5EF4-FFF2-40B4-BE49-F238E27FC236}">
                  <a16:creationId xmlns:a16="http://schemas.microsoft.com/office/drawing/2014/main" id="{39A96DAB-A5F9-4370-B6B7-CA0A184E30AF}"/>
                </a:ext>
              </a:extLst>
            </p:cNvPr>
            <p:cNvCxnSpPr>
              <a:cxnSpLocks/>
              <a:stCxn id="194" idx="3"/>
            </p:cNvCxnSpPr>
            <p:nvPr/>
          </p:nvCxnSpPr>
          <p:spPr>
            <a:xfrm flipV="1">
              <a:off x="2557449" y="4813066"/>
              <a:ext cx="1023934" cy="19175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196" name="矩形 195">
              <a:extLst>
                <a:ext uri="{FF2B5EF4-FFF2-40B4-BE49-F238E27FC236}">
                  <a16:creationId xmlns:a16="http://schemas.microsoft.com/office/drawing/2014/main" id="{9E921C2B-290C-4688-A9A9-564059B8C1C8}"/>
                </a:ext>
              </a:extLst>
            </p:cNvPr>
            <p:cNvSpPr/>
            <p:nvPr/>
          </p:nvSpPr>
          <p:spPr>
            <a:xfrm>
              <a:off x="572421" y="3129160"/>
              <a:ext cx="1784141" cy="986355"/>
            </a:xfrm>
            <a:prstGeom prst="rect">
              <a:avLst/>
            </a:prstGeom>
            <a:ln>
              <a:noFill/>
            </a:ln>
          </p:spPr>
          <p:txBody>
            <a:bodyPr wrap="none">
              <a:spAutoFit/>
            </a:bodyPr>
            <a:lstStyle/>
            <a:p>
              <a:r>
                <a:rPr lang="zh-TW" altLang="en-US" sz="110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brass</a:t>
              </a:r>
            </a:p>
          </p:txBody>
        </p:sp>
        <p:cxnSp>
          <p:nvCxnSpPr>
            <p:cNvPr id="197" name="直線單箭頭接點 196">
              <a:extLst>
                <a:ext uri="{FF2B5EF4-FFF2-40B4-BE49-F238E27FC236}">
                  <a16:creationId xmlns:a16="http://schemas.microsoft.com/office/drawing/2014/main" id="{969E6F1A-0A0A-4608-98FC-1A1ACD279A7B}"/>
                </a:ext>
              </a:extLst>
            </p:cNvPr>
            <p:cNvCxnSpPr>
              <a:cxnSpLocks/>
              <a:stCxn id="196" idx="3"/>
            </p:cNvCxnSpPr>
            <p:nvPr/>
          </p:nvCxnSpPr>
          <p:spPr>
            <a:xfrm>
              <a:off x="2356562" y="3622337"/>
              <a:ext cx="2519000" cy="127068"/>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8" name="文字方塊 197">
                  <a:extLst>
                    <a:ext uri="{FF2B5EF4-FFF2-40B4-BE49-F238E27FC236}">
                      <a16:creationId xmlns:a16="http://schemas.microsoft.com/office/drawing/2014/main" id="{90519D67-EAEF-4C0C-8733-B14F68993BCA}"/>
                    </a:ext>
                  </a:extLst>
                </p:cNvPr>
                <p:cNvSpPr txBox="1"/>
                <p:nvPr/>
              </p:nvSpPr>
              <p:spPr>
                <a:xfrm>
                  <a:off x="3516940" y="-13935"/>
                  <a:ext cx="5992538" cy="957346"/>
                </a:xfrm>
                <a:prstGeom prst="rect">
                  <a:avLst/>
                </a:prstGeom>
                <a:noFill/>
              </p:spPr>
              <p:txBody>
                <a:bodyPr wrap="square" rtlCol="0">
                  <a:spAutoFit/>
                </a:bodyPr>
                <a:lstStyle/>
                <a:p>
                  <a:r>
                    <a:rPr lang="en-US" altLang="zh-TW" sz="100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EO-APPLN</a:t>
                  </a:r>
                  <a:r>
                    <a:rPr lang="en-US" altLang="zh-TW" sz="105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a:t>
                  </a:r>
                  <a14:m>
                    <m:oMath xmlns:m="http://schemas.openxmlformats.org/officeDocument/2006/math">
                      <m:r>
                        <a:rPr lang="en-US" altLang="zh-TW" sz="1050" b="0" i="1" smtClean="0">
                          <a:effectLst>
                            <a:outerShdw blurRad="38100" dist="38100" dir="2700000" algn="tl">
                              <a:srgbClr val="000000">
                                <a:alpha val="43137"/>
                              </a:srgbClr>
                            </a:outerShdw>
                          </a:effectLst>
                          <a:latin typeface="Cambria Math" panose="02040503050406030204" pitchFamily="18" charset="0"/>
                          <a:ea typeface="標楷體" panose="03000509000000000000" pitchFamily="65" charset="-120"/>
                          <a:cs typeface="Times New Roman" panose="02020603050405020304" pitchFamily="18" charset="0"/>
                        </a:rPr>
                        <m:t>2</m:t>
                      </m:r>
                      <m:r>
                        <a:rPr lang="en-US" altLang="zh-TW" sz="1050" b="0" i="1" smtClean="0">
                          <a:effectLst>
                            <a:outerShdw blurRad="38100" dist="38100" dir="2700000" algn="tl">
                              <a:srgbClr val="000000">
                                <a:alpha val="43137"/>
                              </a:srgbClr>
                            </a:outerShdw>
                          </a:effectLst>
                          <a:latin typeface="Cambria Math" panose="02040503050406030204" pitchFamily="18" charset="0"/>
                          <a:ea typeface="標楷體" panose="03000509000000000000" pitchFamily="65" charset="-120"/>
                          <a:cs typeface="Times New Roman" panose="02020603050405020304" pitchFamily="18" charset="0"/>
                        </a:rPr>
                        <m:t>𝑐𝑚</m:t>
                      </m:r>
                      <m:r>
                        <a:rPr lang="en-US" altLang="zh-TW" sz="105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m:t>×1</m:t>
                      </m:r>
                      <m:r>
                        <a:rPr lang="en-US" altLang="zh-TW" sz="105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m:t>𝑚𝑚</m:t>
                      </m:r>
                    </m:oMath>
                  </a14:m>
                  <a:r>
                    <a:rPr lang="en-US" altLang="zh-TW" sz="105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sz="105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98" name="文字方塊 197">
                  <a:extLst>
                    <a:ext uri="{FF2B5EF4-FFF2-40B4-BE49-F238E27FC236}">
                      <a16:creationId xmlns:a16="http://schemas.microsoft.com/office/drawing/2014/main" id="{90519D67-EAEF-4C0C-8733-B14F68993BCA}"/>
                    </a:ext>
                  </a:extLst>
                </p:cNvPr>
                <p:cNvSpPr txBox="1">
                  <a:spLocks noRot="1" noChangeAspect="1" noMove="1" noResize="1" noEditPoints="1" noAdjustHandles="1" noChangeArrowheads="1" noChangeShapeType="1" noTextEdit="1"/>
                </p:cNvSpPr>
                <p:nvPr/>
              </p:nvSpPr>
              <p:spPr>
                <a:xfrm>
                  <a:off x="3516940" y="-13935"/>
                  <a:ext cx="5992538" cy="957346"/>
                </a:xfrm>
                <a:prstGeom prst="rect">
                  <a:avLst/>
                </a:prstGeom>
                <a:blipFill>
                  <a:blip r:embed="rId15"/>
                  <a:stretch>
                    <a:fillRect r="-3065" b="-21951"/>
                  </a:stretch>
                </a:blipFill>
              </p:spPr>
              <p:txBody>
                <a:bodyPr/>
                <a:lstStyle/>
                <a:p>
                  <a:r>
                    <a:rPr lang="zh-TW" altLang="en-US">
                      <a:noFill/>
                    </a:rPr>
                    <a:t> </a:t>
                  </a:r>
                </a:p>
              </p:txBody>
            </p:sp>
          </mc:Fallback>
        </mc:AlternateContent>
        <p:cxnSp>
          <p:nvCxnSpPr>
            <p:cNvPr id="199" name="直線單箭頭接點 198">
              <a:extLst>
                <a:ext uri="{FF2B5EF4-FFF2-40B4-BE49-F238E27FC236}">
                  <a16:creationId xmlns:a16="http://schemas.microsoft.com/office/drawing/2014/main" id="{8F93AE79-5995-41E8-AF4F-CDC67CBDA45B}"/>
                </a:ext>
              </a:extLst>
            </p:cNvPr>
            <p:cNvCxnSpPr>
              <a:cxnSpLocks/>
            </p:cNvCxnSpPr>
            <p:nvPr/>
          </p:nvCxnSpPr>
          <p:spPr>
            <a:xfrm flipH="1">
              <a:off x="5247166" y="753032"/>
              <a:ext cx="530952" cy="131401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200" name="矩形 199">
              <a:extLst>
                <a:ext uri="{FF2B5EF4-FFF2-40B4-BE49-F238E27FC236}">
                  <a16:creationId xmlns:a16="http://schemas.microsoft.com/office/drawing/2014/main" id="{D1404EF8-1A19-47AA-A5A2-EE646D452A0E}"/>
                </a:ext>
              </a:extLst>
            </p:cNvPr>
            <p:cNvSpPr/>
            <p:nvPr/>
          </p:nvSpPr>
          <p:spPr>
            <a:xfrm>
              <a:off x="7785493" y="6031274"/>
              <a:ext cx="2110512" cy="986355"/>
            </a:xfrm>
            <a:prstGeom prst="rect">
              <a:avLst/>
            </a:prstGeom>
          </p:spPr>
          <p:txBody>
            <a:bodyPr wrap="none">
              <a:spAutoFit/>
            </a:bodyPr>
            <a:lstStyle/>
            <a:p>
              <a:r>
                <a:rPr lang="zh-TW" altLang="en-US" sz="110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Heater</a:t>
              </a:r>
            </a:p>
          </p:txBody>
        </p:sp>
        <p:sp>
          <p:nvSpPr>
            <p:cNvPr id="201" name="矩形 200">
              <a:extLst>
                <a:ext uri="{FF2B5EF4-FFF2-40B4-BE49-F238E27FC236}">
                  <a16:creationId xmlns:a16="http://schemas.microsoft.com/office/drawing/2014/main" id="{CD0272EB-8F87-41A9-9728-6C8B869E1F99}"/>
                </a:ext>
              </a:extLst>
            </p:cNvPr>
            <p:cNvSpPr/>
            <p:nvPr/>
          </p:nvSpPr>
          <p:spPr>
            <a:xfrm>
              <a:off x="7734846" y="3026045"/>
              <a:ext cx="4890679" cy="986355"/>
            </a:xfrm>
            <a:prstGeom prst="rect">
              <a:avLst/>
            </a:prstGeom>
          </p:spPr>
          <p:txBody>
            <a:bodyPr wrap="none">
              <a:spAutoFit/>
            </a:bodyPr>
            <a:lstStyle/>
            <a:p>
              <a:r>
                <a:rPr lang="zh-TW" altLang="en-US" sz="1100"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Temperature sensor</a:t>
              </a:r>
            </a:p>
          </p:txBody>
        </p:sp>
        <p:cxnSp>
          <p:nvCxnSpPr>
            <p:cNvPr id="202" name="直線單箭頭接點 201">
              <a:extLst>
                <a:ext uri="{FF2B5EF4-FFF2-40B4-BE49-F238E27FC236}">
                  <a16:creationId xmlns:a16="http://schemas.microsoft.com/office/drawing/2014/main" id="{929B2EA2-463B-43BD-BBD6-FB75A98695B0}"/>
                </a:ext>
              </a:extLst>
            </p:cNvPr>
            <p:cNvCxnSpPr>
              <a:cxnSpLocks/>
              <a:stCxn id="201" idx="2"/>
              <a:endCxn id="187" idx="4"/>
            </p:cNvCxnSpPr>
            <p:nvPr/>
          </p:nvCxnSpPr>
          <p:spPr>
            <a:xfrm flipH="1">
              <a:off x="8812307" y="4012400"/>
              <a:ext cx="1367878" cy="499010"/>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03" name="直線單箭頭接點 202">
              <a:extLst>
                <a:ext uri="{FF2B5EF4-FFF2-40B4-BE49-F238E27FC236}">
                  <a16:creationId xmlns:a16="http://schemas.microsoft.com/office/drawing/2014/main" id="{3DF79DE1-333A-4A2B-8ED0-3AA18B1F8DDC}"/>
                </a:ext>
              </a:extLst>
            </p:cNvPr>
            <p:cNvCxnSpPr>
              <a:cxnSpLocks/>
              <a:stCxn id="200" idx="0"/>
              <a:endCxn id="181" idx="2"/>
            </p:cNvCxnSpPr>
            <p:nvPr/>
          </p:nvCxnSpPr>
          <p:spPr>
            <a:xfrm flipV="1">
              <a:off x="8840751" y="5695564"/>
              <a:ext cx="34235" cy="335710"/>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204" name="文字方塊 203">
            <a:extLst>
              <a:ext uri="{FF2B5EF4-FFF2-40B4-BE49-F238E27FC236}">
                <a16:creationId xmlns:a16="http://schemas.microsoft.com/office/drawing/2014/main" id="{E76EF585-FF1C-47B6-9693-BDE7EEFAA7B0}"/>
              </a:ext>
            </a:extLst>
          </p:cNvPr>
          <p:cNvSpPr txBox="1"/>
          <p:nvPr/>
        </p:nvSpPr>
        <p:spPr>
          <a:xfrm>
            <a:off x="52087" y="6195619"/>
            <a:ext cx="5529078" cy="307777"/>
          </a:xfrm>
          <a:prstGeom prst="rect">
            <a:avLst/>
          </a:prstGeom>
          <a:noFill/>
        </p:spPr>
        <p:txBody>
          <a:bodyPr wrap="none" rtlCol="0">
            <a:spAutoFit/>
          </a:bodyPr>
          <a:lstStyle/>
          <a:p>
            <a:pPr algn="ct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Mirror 2: Plane mirror</a:t>
            </a:r>
            <a:r>
              <a:rPr lang="pt-BR" altLang="zh-TW" sz="1400" b="1" dirty="0">
                <a:latin typeface="Times New Roman" panose="02020603050405020304" pitchFamily="18" charset="0"/>
                <a:ea typeface="標楷體" panose="03000509000000000000" pitchFamily="65" charset="-120"/>
                <a:cs typeface="Times New Roman" panose="02020603050405020304" pitchFamily="18" charset="0"/>
              </a:rPr>
              <a:t>;</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HR~9</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9.908</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342</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nm </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HT~96.256%@1</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064</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5" name="文字方塊 204">
            <a:extLst>
              <a:ext uri="{FF2B5EF4-FFF2-40B4-BE49-F238E27FC236}">
                <a16:creationId xmlns:a16="http://schemas.microsoft.com/office/drawing/2014/main" id="{46978725-93C9-4A8D-9C84-C93412762C46}"/>
              </a:ext>
            </a:extLst>
          </p:cNvPr>
          <p:cNvSpPr txBox="1"/>
          <p:nvPr/>
        </p:nvSpPr>
        <p:spPr>
          <a:xfrm>
            <a:off x="53637" y="6450856"/>
            <a:ext cx="5160388" cy="307777"/>
          </a:xfrm>
          <a:prstGeom prst="rect">
            <a:avLst/>
          </a:prstGeom>
          <a:noFill/>
        </p:spPr>
        <p:txBody>
          <a:bodyPr wrap="none" rtlCol="0">
            <a:spAutoFit/>
          </a:bodyPr>
          <a:lstStyle/>
          <a:p>
            <a:pPr algn="ct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Mirror 3: Plane mirror;</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HR~61.3%@1</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064</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nm </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HT~99.</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3</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%@1</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342</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206" name="群組 205">
            <a:extLst>
              <a:ext uri="{FF2B5EF4-FFF2-40B4-BE49-F238E27FC236}">
                <a16:creationId xmlns:a16="http://schemas.microsoft.com/office/drawing/2014/main" id="{B9E68F1C-0817-4B08-A78A-2D3EFF1148AA}"/>
              </a:ext>
            </a:extLst>
          </p:cNvPr>
          <p:cNvGrpSpPr/>
          <p:nvPr/>
        </p:nvGrpSpPr>
        <p:grpSpPr>
          <a:xfrm>
            <a:off x="10960464" y="5159289"/>
            <a:ext cx="1249060" cy="685866"/>
            <a:chOff x="9587106" y="3387726"/>
            <a:chExt cx="2697708" cy="1481328"/>
          </a:xfrm>
        </p:grpSpPr>
        <p:sp>
          <p:nvSpPr>
            <p:cNvPr id="207" name="矩形 206">
              <a:extLst>
                <a:ext uri="{FF2B5EF4-FFF2-40B4-BE49-F238E27FC236}">
                  <a16:creationId xmlns:a16="http://schemas.microsoft.com/office/drawing/2014/main" id="{D4C65039-5793-405E-AD5F-68F9571D8BDC}"/>
                </a:ext>
              </a:extLst>
            </p:cNvPr>
            <p:cNvSpPr/>
            <p:nvPr/>
          </p:nvSpPr>
          <p:spPr>
            <a:xfrm>
              <a:off x="9773464" y="3387726"/>
              <a:ext cx="2351164" cy="1481328"/>
            </a:xfrm>
            <a:prstGeom prst="rect">
              <a:avLst/>
            </a:prstGeom>
            <a:solidFill>
              <a:schemeClr val="bg2">
                <a:lumMod val="75000"/>
              </a:schemeClr>
            </a:solidFill>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208" name="群組 207">
              <a:extLst>
                <a:ext uri="{FF2B5EF4-FFF2-40B4-BE49-F238E27FC236}">
                  <a16:creationId xmlns:a16="http://schemas.microsoft.com/office/drawing/2014/main" id="{115E1E43-253B-48C2-85E8-4DA474948B89}"/>
                </a:ext>
              </a:extLst>
            </p:cNvPr>
            <p:cNvGrpSpPr/>
            <p:nvPr/>
          </p:nvGrpSpPr>
          <p:grpSpPr>
            <a:xfrm>
              <a:off x="9880943" y="3527769"/>
              <a:ext cx="449019" cy="714842"/>
              <a:chOff x="9945283" y="1864510"/>
              <a:chExt cx="2613561" cy="4160810"/>
            </a:xfrm>
            <a:solidFill>
              <a:srgbClr val="FF0000"/>
            </a:solidFill>
          </p:grpSpPr>
          <p:sp>
            <p:nvSpPr>
              <p:cNvPr id="252" name="矩形 251">
                <a:extLst>
                  <a:ext uri="{FF2B5EF4-FFF2-40B4-BE49-F238E27FC236}">
                    <a16:creationId xmlns:a16="http://schemas.microsoft.com/office/drawing/2014/main" id="{CFE37FEF-24E2-4331-AE54-EE9740F96636}"/>
                  </a:ext>
                </a:extLst>
              </p:cNvPr>
              <p:cNvSpPr/>
              <p:nvPr/>
            </p:nvSpPr>
            <p:spPr>
              <a:xfrm>
                <a:off x="9945283" y="2070357"/>
                <a:ext cx="479146" cy="1519963"/>
              </a:xfrm>
              <a:prstGeom prst="rect">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3" name="直角三角形 252">
                <a:extLst>
                  <a:ext uri="{FF2B5EF4-FFF2-40B4-BE49-F238E27FC236}">
                    <a16:creationId xmlns:a16="http://schemas.microsoft.com/office/drawing/2014/main" id="{8B93B272-04FF-4539-803C-0DD6B729ACD5}"/>
                  </a:ext>
                </a:extLst>
              </p:cNvPr>
              <p:cNvSpPr/>
              <p:nvPr/>
            </p:nvSpPr>
            <p:spPr>
              <a:xfrm rot="8100000">
                <a:off x="10015452" y="1864510"/>
                <a:ext cx="338806" cy="338806"/>
              </a:xfrm>
              <a:prstGeom prst="rtTriangle">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4" name="直角三角形 253">
                <a:extLst>
                  <a:ext uri="{FF2B5EF4-FFF2-40B4-BE49-F238E27FC236}">
                    <a16:creationId xmlns:a16="http://schemas.microsoft.com/office/drawing/2014/main" id="{105483BA-A2F6-4CB7-A8FE-F2F523A7FEFE}"/>
                  </a:ext>
                </a:extLst>
              </p:cNvPr>
              <p:cNvSpPr/>
              <p:nvPr/>
            </p:nvSpPr>
            <p:spPr>
              <a:xfrm rot="18900000">
                <a:off x="10015453" y="3499169"/>
                <a:ext cx="338806" cy="338806"/>
              </a:xfrm>
              <a:prstGeom prst="rtTriangle">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5" name="直角三角形 254">
                <a:extLst>
                  <a:ext uri="{FF2B5EF4-FFF2-40B4-BE49-F238E27FC236}">
                    <a16:creationId xmlns:a16="http://schemas.microsoft.com/office/drawing/2014/main" id="{09DEDC1E-E2CF-44B4-92B7-446D4385B39E}"/>
                  </a:ext>
                </a:extLst>
              </p:cNvPr>
              <p:cNvSpPr/>
              <p:nvPr/>
            </p:nvSpPr>
            <p:spPr>
              <a:xfrm rot="2700000">
                <a:off x="10282831" y="3771584"/>
                <a:ext cx="338806" cy="338806"/>
              </a:xfrm>
              <a:prstGeom prst="rtTriangle">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6" name="矩形 255">
                <a:extLst>
                  <a:ext uri="{FF2B5EF4-FFF2-40B4-BE49-F238E27FC236}">
                    <a16:creationId xmlns:a16="http://schemas.microsoft.com/office/drawing/2014/main" id="{E4887852-8479-48ED-B820-1D10BF5FBEAE}"/>
                  </a:ext>
                </a:extLst>
              </p:cNvPr>
              <p:cNvSpPr/>
              <p:nvPr/>
            </p:nvSpPr>
            <p:spPr>
              <a:xfrm rot="5400000">
                <a:off x="11029145" y="3174571"/>
                <a:ext cx="479146" cy="1519963"/>
              </a:xfrm>
              <a:prstGeom prst="rect">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7" name="矩形 256">
                <a:extLst>
                  <a:ext uri="{FF2B5EF4-FFF2-40B4-BE49-F238E27FC236}">
                    <a16:creationId xmlns:a16="http://schemas.microsoft.com/office/drawing/2014/main" id="{59C7B434-1217-43D3-9051-41FFB62B7D50}"/>
                  </a:ext>
                </a:extLst>
              </p:cNvPr>
              <p:cNvSpPr/>
              <p:nvPr/>
            </p:nvSpPr>
            <p:spPr>
              <a:xfrm>
                <a:off x="12079698" y="2075353"/>
                <a:ext cx="479146" cy="1519963"/>
              </a:xfrm>
              <a:prstGeom prst="rect">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8" name="直角三角形 257">
                <a:extLst>
                  <a:ext uri="{FF2B5EF4-FFF2-40B4-BE49-F238E27FC236}">
                    <a16:creationId xmlns:a16="http://schemas.microsoft.com/office/drawing/2014/main" id="{3891D594-5BDC-4890-BE03-58DFFA8255F3}"/>
                  </a:ext>
                </a:extLst>
              </p:cNvPr>
              <p:cNvSpPr/>
              <p:nvPr/>
            </p:nvSpPr>
            <p:spPr>
              <a:xfrm rot="8100000">
                <a:off x="12149867" y="1869506"/>
                <a:ext cx="338806" cy="338806"/>
              </a:xfrm>
              <a:prstGeom prst="rtTriangle">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9" name="直角三角形 258">
                <a:extLst>
                  <a:ext uri="{FF2B5EF4-FFF2-40B4-BE49-F238E27FC236}">
                    <a16:creationId xmlns:a16="http://schemas.microsoft.com/office/drawing/2014/main" id="{7EDBE73F-2A42-4962-8ACC-71EDCA338B26}"/>
                  </a:ext>
                </a:extLst>
              </p:cNvPr>
              <p:cNvSpPr/>
              <p:nvPr/>
            </p:nvSpPr>
            <p:spPr>
              <a:xfrm rot="18900000">
                <a:off x="12149868" y="3504165"/>
                <a:ext cx="338806" cy="338806"/>
              </a:xfrm>
              <a:prstGeom prst="rtTriangle">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0" name="矩形 259">
                <a:extLst>
                  <a:ext uri="{FF2B5EF4-FFF2-40B4-BE49-F238E27FC236}">
                    <a16:creationId xmlns:a16="http://schemas.microsoft.com/office/drawing/2014/main" id="{7FD5586A-6A9A-4C91-B62B-AFF1ADF2CDC7}"/>
                  </a:ext>
                </a:extLst>
              </p:cNvPr>
              <p:cNvSpPr/>
              <p:nvPr/>
            </p:nvSpPr>
            <p:spPr>
              <a:xfrm>
                <a:off x="12075961" y="4258811"/>
                <a:ext cx="479146" cy="1519963"/>
              </a:xfrm>
              <a:prstGeom prst="rect">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1" name="直角三角形 260">
                <a:extLst>
                  <a:ext uri="{FF2B5EF4-FFF2-40B4-BE49-F238E27FC236}">
                    <a16:creationId xmlns:a16="http://schemas.microsoft.com/office/drawing/2014/main" id="{0FB8353A-CF36-47D2-B2E8-6E6FEFCD405C}"/>
                  </a:ext>
                </a:extLst>
              </p:cNvPr>
              <p:cNvSpPr/>
              <p:nvPr/>
            </p:nvSpPr>
            <p:spPr>
              <a:xfrm rot="8100000">
                <a:off x="12159403" y="4011156"/>
                <a:ext cx="338806" cy="338806"/>
              </a:xfrm>
              <a:prstGeom prst="rtTriangle">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2" name="直角三角形 261">
                <a:extLst>
                  <a:ext uri="{FF2B5EF4-FFF2-40B4-BE49-F238E27FC236}">
                    <a16:creationId xmlns:a16="http://schemas.microsoft.com/office/drawing/2014/main" id="{371FECAB-A1B8-481C-804F-F47F2F4156D7}"/>
                  </a:ext>
                </a:extLst>
              </p:cNvPr>
              <p:cNvSpPr/>
              <p:nvPr/>
            </p:nvSpPr>
            <p:spPr>
              <a:xfrm rot="18900000">
                <a:off x="12152769" y="5686514"/>
                <a:ext cx="338806" cy="338806"/>
              </a:xfrm>
              <a:prstGeom prst="rtTriangle">
                <a:avLst/>
              </a:prstGeom>
              <a:gr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09" name="矩形 208">
              <a:extLst>
                <a:ext uri="{FF2B5EF4-FFF2-40B4-BE49-F238E27FC236}">
                  <a16:creationId xmlns:a16="http://schemas.microsoft.com/office/drawing/2014/main" id="{BE85C362-D48A-4B11-9E05-65686BA6241B}"/>
                </a:ext>
              </a:extLst>
            </p:cNvPr>
            <p:cNvSpPr/>
            <p:nvPr/>
          </p:nvSpPr>
          <p:spPr>
            <a:xfrm>
              <a:off x="10523262" y="3560183"/>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0" name="直角三角形 209">
              <a:extLst>
                <a:ext uri="{FF2B5EF4-FFF2-40B4-BE49-F238E27FC236}">
                  <a16:creationId xmlns:a16="http://schemas.microsoft.com/office/drawing/2014/main" id="{6AD57BE9-0841-405E-8C2F-AAC86BA2CEF6}"/>
                </a:ext>
              </a:extLst>
            </p:cNvPr>
            <p:cNvSpPr/>
            <p:nvPr/>
          </p:nvSpPr>
          <p:spPr>
            <a:xfrm rot="8100000">
              <a:off x="10535317" y="3524818"/>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1" name="直角三角形 210">
              <a:extLst>
                <a:ext uri="{FF2B5EF4-FFF2-40B4-BE49-F238E27FC236}">
                  <a16:creationId xmlns:a16="http://schemas.microsoft.com/office/drawing/2014/main" id="{38954D12-53C2-4E9A-A37D-5928534166E4}"/>
                </a:ext>
              </a:extLst>
            </p:cNvPr>
            <p:cNvSpPr/>
            <p:nvPr/>
          </p:nvSpPr>
          <p:spPr>
            <a:xfrm rot="18900000">
              <a:off x="10535317" y="3805658"/>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2" name="直角三角形 211">
              <a:extLst>
                <a:ext uri="{FF2B5EF4-FFF2-40B4-BE49-F238E27FC236}">
                  <a16:creationId xmlns:a16="http://schemas.microsoft.com/office/drawing/2014/main" id="{2413C3DE-CA88-4560-B9C1-D60620C42925}"/>
                </a:ext>
              </a:extLst>
            </p:cNvPr>
            <p:cNvSpPr/>
            <p:nvPr/>
          </p:nvSpPr>
          <p:spPr>
            <a:xfrm rot="2700000">
              <a:off x="10577444" y="4227095"/>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3" name="矩形 212">
              <a:extLst>
                <a:ext uri="{FF2B5EF4-FFF2-40B4-BE49-F238E27FC236}">
                  <a16:creationId xmlns:a16="http://schemas.microsoft.com/office/drawing/2014/main" id="{263327AB-7C77-4E30-ABC7-2588B0BA0A1D}"/>
                </a:ext>
              </a:extLst>
            </p:cNvPr>
            <p:cNvSpPr/>
            <p:nvPr/>
          </p:nvSpPr>
          <p:spPr>
            <a:xfrm rot="5400000">
              <a:off x="10703758" y="4123958"/>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4" name="矩形 213">
              <a:extLst>
                <a:ext uri="{FF2B5EF4-FFF2-40B4-BE49-F238E27FC236}">
                  <a16:creationId xmlns:a16="http://schemas.microsoft.com/office/drawing/2014/main" id="{B38CB974-F98E-45F6-9C6A-D82F0C4FEEBB}"/>
                </a:ext>
              </a:extLst>
            </p:cNvPr>
            <p:cNvSpPr/>
            <p:nvPr/>
          </p:nvSpPr>
          <p:spPr>
            <a:xfrm>
              <a:off x="10889962" y="3561042"/>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5" name="直角三角形 214">
              <a:extLst>
                <a:ext uri="{FF2B5EF4-FFF2-40B4-BE49-F238E27FC236}">
                  <a16:creationId xmlns:a16="http://schemas.microsoft.com/office/drawing/2014/main" id="{5DEC09F7-1CB1-4BE8-94EB-509EED0CD05E}"/>
                </a:ext>
              </a:extLst>
            </p:cNvPr>
            <p:cNvSpPr/>
            <p:nvPr/>
          </p:nvSpPr>
          <p:spPr>
            <a:xfrm rot="8100000">
              <a:off x="10902017" y="3525676"/>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6" name="直角三角形 215">
              <a:extLst>
                <a:ext uri="{FF2B5EF4-FFF2-40B4-BE49-F238E27FC236}">
                  <a16:creationId xmlns:a16="http://schemas.microsoft.com/office/drawing/2014/main" id="{1335FB02-1138-420A-A400-5C479A083D6F}"/>
                </a:ext>
              </a:extLst>
            </p:cNvPr>
            <p:cNvSpPr/>
            <p:nvPr/>
          </p:nvSpPr>
          <p:spPr>
            <a:xfrm rot="18900000">
              <a:off x="10902017" y="3806517"/>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7" name="矩形 216">
              <a:extLst>
                <a:ext uri="{FF2B5EF4-FFF2-40B4-BE49-F238E27FC236}">
                  <a16:creationId xmlns:a16="http://schemas.microsoft.com/office/drawing/2014/main" id="{EEA9FA25-40C6-4024-9A63-5BC91F327866}"/>
                </a:ext>
              </a:extLst>
            </p:cNvPr>
            <p:cNvSpPr/>
            <p:nvPr/>
          </p:nvSpPr>
          <p:spPr>
            <a:xfrm>
              <a:off x="10889320" y="3931266"/>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8" name="直角三角形 217">
              <a:extLst>
                <a:ext uri="{FF2B5EF4-FFF2-40B4-BE49-F238E27FC236}">
                  <a16:creationId xmlns:a16="http://schemas.microsoft.com/office/drawing/2014/main" id="{55B38BF8-BBA1-45F1-A713-4F51EE9779A4}"/>
                </a:ext>
              </a:extLst>
            </p:cNvPr>
            <p:cNvSpPr/>
            <p:nvPr/>
          </p:nvSpPr>
          <p:spPr>
            <a:xfrm rot="8100000">
              <a:off x="10903656" y="3893619"/>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9" name="直角三角形 218">
              <a:extLst>
                <a:ext uri="{FF2B5EF4-FFF2-40B4-BE49-F238E27FC236}">
                  <a16:creationId xmlns:a16="http://schemas.microsoft.com/office/drawing/2014/main" id="{8F1BF0C2-874F-42F6-8F02-2D5F1B60FBF1}"/>
                </a:ext>
              </a:extLst>
            </p:cNvPr>
            <p:cNvSpPr/>
            <p:nvPr/>
          </p:nvSpPr>
          <p:spPr>
            <a:xfrm rot="18900000">
              <a:off x="10902516" y="4175737"/>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0" name="矩形 219">
              <a:extLst>
                <a:ext uri="{FF2B5EF4-FFF2-40B4-BE49-F238E27FC236}">
                  <a16:creationId xmlns:a16="http://schemas.microsoft.com/office/drawing/2014/main" id="{BDF008A2-FEE6-4359-8564-C923B93CBCC3}"/>
                </a:ext>
              </a:extLst>
            </p:cNvPr>
            <p:cNvSpPr/>
            <p:nvPr/>
          </p:nvSpPr>
          <p:spPr>
            <a:xfrm rot="5400000">
              <a:off x="10706611" y="3372652"/>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1" name="直角三角形 220">
              <a:extLst>
                <a:ext uri="{FF2B5EF4-FFF2-40B4-BE49-F238E27FC236}">
                  <a16:creationId xmlns:a16="http://schemas.microsoft.com/office/drawing/2014/main" id="{D8611772-C1CF-4D24-9B42-168715051325}"/>
                </a:ext>
              </a:extLst>
            </p:cNvPr>
            <p:cNvSpPr/>
            <p:nvPr/>
          </p:nvSpPr>
          <p:spPr>
            <a:xfrm rot="2700000">
              <a:off x="10581255" y="3478015"/>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2" name="直角三角形 221">
              <a:extLst>
                <a:ext uri="{FF2B5EF4-FFF2-40B4-BE49-F238E27FC236}">
                  <a16:creationId xmlns:a16="http://schemas.microsoft.com/office/drawing/2014/main" id="{1422FFFB-57DC-41D4-B70D-06D499441AD1}"/>
                </a:ext>
              </a:extLst>
            </p:cNvPr>
            <p:cNvSpPr/>
            <p:nvPr/>
          </p:nvSpPr>
          <p:spPr>
            <a:xfrm rot="13500000">
              <a:off x="10857385" y="3476992"/>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3" name="矩形 222">
              <a:extLst>
                <a:ext uri="{FF2B5EF4-FFF2-40B4-BE49-F238E27FC236}">
                  <a16:creationId xmlns:a16="http://schemas.microsoft.com/office/drawing/2014/main" id="{7370A8D9-12C2-4FC8-9804-14F61C69A016}"/>
                </a:ext>
              </a:extLst>
            </p:cNvPr>
            <p:cNvSpPr/>
            <p:nvPr/>
          </p:nvSpPr>
          <p:spPr>
            <a:xfrm>
              <a:off x="10523261" y="3929510"/>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4" name="直角三角形 223">
              <a:extLst>
                <a:ext uri="{FF2B5EF4-FFF2-40B4-BE49-F238E27FC236}">
                  <a16:creationId xmlns:a16="http://schemas.microsoft.com/office/drawing/2014/main" id="{2F427A71-1A36-4347-A044-2F94535A71DC}"/>
                </a:ext>
              </a:extLst>
            </p:cNvPr>
            <p:cNvSpPr/>
            <p:nvPr/>
          </p:nvSpPr>
          <p:spPr>
            <a:xfrm rot="8100000">
              <a:off x="10537598" y="3892196"/>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5" name="直角三角形 224">
              <a:extLst>
                <a:ext uri="{FF2B5EF4-FFF2-40B4-BE49-F238E27FC236}">
                  <a16:creationId xmlns:a16="http://schemas.microsoft.com/office/drawing/2014/main" id="{0CF45687-6677-4B44-A4B5-CE2A914823FB}"/>
                </a:ext>
              </a:extLst>
            </p:cNvPr>
            <p:cNvSpPr/>
            <p:nvPr/>
          </p:nvSpPr>
          <p:spPr>
            <a:xfrm rot="13500000">
              <a:off x="10855480" y="4228184"/>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6" name="直角三角形 225">
              <a:extLst>
                <a:ext uri="{FF2B5EF4-FFF2-40B4-BE49-F238E27FC236}">
                  <a16:creationId xmlns:a16="http://schemas.microsoft.com/office/drawing/2014/main" id="{504CAC3B-80F7-41D6-9B5B-B16091CCF3D8}"/>
                </a:ext>
              </a:extLst>
            </p:cNvPr>
            <p:cNvSpPr/>
            <p:nvPr/>
          </p:nvSpPr>
          <p:spPr>
            <a:xfrm rot="18900000">
              <a:off x="10534512" y="4174736"/>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7" name="矩形 226">
              <a:extLst>
                <a:ext uri="{FF2B5EF4-FFF2-40B4-BE49-F238E27FC236}">
                  <a16:creationId xmlns:a16="http://schemas.microsoft.com/office/drawing/2014/main" id="{C5684D39-6F61-4CF9-B72A-C416A0A85471}"/>
                </a:ext>
              </a:extLst>
            </p:cNvPr>
            <p:cNvSpPr/>
            <p:nvPr/>
          </p:nvSpPr>
          <p:spPr>
            <a:xfrm>
              <a:off x="11034028" y="3553634"/>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8" name="直角三角形 227">
              <a:extLst>
                <a:ext uri="{FF2B5EF4-FFF2-40B4-BE49-F238E27FC236}">
                  <a16:creationId xmlns:a16="http://schemas.microsoft.com/office/drawing/2014/main" id="{EB712F33-0F3A-4749-AEA2-1007AEC4D33A}"/>
                </a:ext>
              </a:extLst>
            </p:cNvPr>
            <p:cNvSpPr/>
            <p:nvPr/>
          </p:nvSpPr>
          <p:spPr>
            <a:xfrm rot="8100000">
              <a:off x="11046083" y="3518269"/>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9" name="直角三角形 228">
              <a:extLst>
                <a:ext uri="{FF2B5EF4-FFF2-40B4-BE49-F238E27FC236}">
                  <a16:creationId xmlns:a16="http://schemas.microsoft.com/office/drawing/2014/main" id="{655BCB57-8ADF-44B7-9634-6F98A1FF8B75}"/>
                </a:ext>
              </a:extLst>
            </p:cNvPr>
            <p:cNvSpPr/>
            <p:nvPr/>
          </p:nvSpPr>
          <p:spPr>
            <a:xfrm rot="18900000">
              <a:off x="11046083" y="3799109"/>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0" name="直角三角形 229">
              <a:extLst>
                <a:ext uri="{FF2B5EF4-FFF2-40B4-BE49-F238E27FC236}">
                  <a16:creationId xmlns:a16="http://schemas.microsoft.com/office/drawing/2014/main" id="{92324C05-9E32-4816-8768-785FA9030C3C}"/>
                </a:ext>
              </a:extLst>
            </p:cNvPr>
            <p:cNvSpPr/>
            <p:nvPr/>
          </p:nvSpPr>
          <p:spPr>
            <a:xfrm rot="2700000">
              <a:off x="11088210" y="3848957"/>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1" name="矩形 230">
              <a:extLst>
                <a:ext uri="{FF2B5EF4-FFF2-40B4-BE49-F238E27FC236}">
                  <a16:creationId xmlns:a16="http://schemas.microsoft.com/office/drawing/2014/main" id="{0D6356A4-EE3F-400D-93A9-1F33129C3E24}"/>
                </a:ext>
              </a:extLst>
            </p:cNvPr>
            <p:cNvSpPr/>
            <p:nvPr/>
          </p:nvSpPr>
          <p:spPr>
            <a:xfrm rot="5400000">
              <a:off x="11214524" y="3743024"/>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2" name="矩形 231">
              <a:extLst>
                <a:ext uri="{FF2B5EF4-FFF2-40B4-BE49-F238E27FC236}">
                  <a16:creationId xmlns:a16="http://schemas.microsoft.com/office/drawing/2014/main" id="{DF1DE9C4-1672-4D0D-80D2-62266313238C}"/>
                </a:ext>
              </a:extLst>
            </p:cNvPr>
            <p:cNvSpPr/>
            <p:nvPr/>
          </p:nvSpPr>
          <p:spPr>
            <a:xfrm>
              <a:off x="11400728" y="3554493"/>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3" name="直角三角形 232">
              <a:extLst>
                <a:ext uri="{FF2B5EF4-FFF2-40B4-BE49-F238E27FC236}">
                  <a16:creationId xmlns:a16="http://schemas.microsoft.com/office/drawing/2014/main" id="{67EA401D-73C1-4B0D-AEF5-475F3E957423}"/>
                </a:ext>
              </a:extLst>
            </p:cNvPr>
            <p:cNvSpPr/>
            <p:nvPr/>
          </p:nvSpPr>
          <p:spPr>
            <a:xfrm rot="8100000">
              <a:off x="11412783" y="3519127"/>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4" name="直角三角形 233">
              <a:extLst>
                <a:ext uri="{FF2B5EF4-FFF2-40B4-BE49-F238E27FC236}">
                  <a16:creationId xmlns:a16="http://schemas.microsoft.com/office/drawing/2014/main" id="{0A1DB771-E0A4-4094-AD36-DA616768943D}"/>
                </a:ext>
              </a:extLst>
            </p:cNvPr>
            <p:cNvSpPr/>
            <p:nvPr/>
          </p:nvSpPr>
          <p:spPr>
            <a:xfrm rot="18900000">
              <a:off x="11412783" y="3799968"/>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5" name="矩形 234">
              <a:extLst>
                <a:ext uri="{FF2B5EF4-FFF2-40B4-BE49-F238E27FC236}">
                  <a16:creationId xmlns:a16="http://schemas.microsoft.com/office/drawing/2014/main" id="{7115792F-A706-4852-8763-787E8BE5713C}"/>
                </a:ext>
              </a:extLst>
            </p:cNvPr>
            <p:cNvSpPr/>
            <p:nvPr/>
          </p:nvSpPr>
          <p:spPr>
            <a:xfrm rot="5400000">
              <a:off x="11217377" y="3366103"/>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6" name="直角三角形 235">
              <a:extLst>
                <a:ext uri="{FF2B5EF4-FFF2-40B4-BE49-F238E27FC236}">
                  <a16:creationId xmlns:a16="http://schemas.microsoft.com/office/drawing/2014/main" id="{A430D33E-0F2A-4E5C-A0E7-7EDDAA2A2B84}"/>
                </a:ext>
              </a:extLst>
            </p:cNvPr>
            <p:cNvSpPr/>
            <p:nvPr/>
          </p:nvSpPr>
          <p:spPr>
            <a:xfrm rot="2700000">
              <a:off x="11092021" y="3471466"/>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7" name="直角三角形 236">
              <a:extLst>
                <a:ext uri="{FF2B5EF4-FFF2-40B4-BE49-F238E27FC236}">
                  <a16:creationId xmlns:a16="http://schemas.microsoft.com/office/drawing/2014/main" id="{4332E7B8-AAEE-44D2-A53A-6A3EC032E7FF}"/>
                </a:ext>
              </a:extLst>
            </p:cNvPr>
            <p:cNvSpPr/>
            <p:nvPr/>
          </p:nvSpPr>
          <p:spPr>
            <a:xfrm rot="13500000">
              <a:off x="11368151" y="3470443"/>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8" name="直角三角形 237">
              <a:extLst>
                <a:ext uri="{FF2B5EF4-FFF2-40B4-BE49-F238E27FC236}">
                  <a16:creationId xmlns:a16="http://schemas.microsoft.com/office/drawing/2014/main" id="{50274B32-1293-499E-A5D6-931CE259ADBD}"/>
                </a:ext>
              </a:extLst>
            </p:cNvPr>
            <p:cNvSpPr/>
            <p:nvPr/>
          </p:nvSpPr>
          <p:spPr>
            <a:xfrm rot="13500000">
              <a:off x="11366246" y="3850046"/>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9" name="矩形 238">
              <a:extLst>
                <a:ext uri="{FF2B5EF4-FFF2-40B4-BE49-F238E27FC236}">
                  <a16:creationId xmlns:a16="http://schemas.microsoft.com/office/drawing/2014/main" id="{4CDDF607-215A-463E-9FCF-72E232FDC9F8}"/>
                </a:ext>
              </a:extLst>
            </p:cNvPr>
            <p:cNvSpPr/>
            <p:nvPr/>
          </p:nvSpPr>
          <p:spPr>
            <a:xfrm>
              <a:off x="11569806" y="3560183"/>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0" name="直角三角形 239">
              <a:extLst>
                <a:ext uri="{FF2B5EF4-FFF2-40B4-BE49-F238E27FC236}">
                  <a16:creationId xmlns:a16="http://schemas.microsoft.com/office/drawing/2014/main" id="{5CC0EA58-AEC7-4611-9BA8-52F479BF1419}"/>
                </a:ext>
              </a:extLst>
            </p:cNvPr>
            <p:cNvSpPr/>
            <p:nvPr/>
          </p:nvSpPr>
          <p:spPr>
            <a:xfrm rot="8100000">
              <a:off x="11581861" y="3524818"/>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1" name="直角三角形 240">
              <a:extLst>
                <a:ext uri="{FF2B5EF4-FFF2-40B4-BE49-F238E27FC236}">
                  <a16:creationId xmlns:a16="http://schemas.microsoft.com/office/drawing/2014/main" id="{7426A710-EB6D-46A2-BA71-174564646F47}"/>
                </a:ext>
              </a:extLst>
            </p:cNvPr>
            <p:cNvSpPr/>
            <p:nvPr/>
          </p:nvSpPr>
          <p:spPr>
            <a:xfrm rot="18900000">
              <a:off x="11581861" y="3805658"/>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2" name="直角三角形 241">
              <a:extLst>
                <a:ext uri="{FF2B5EF4-FFF2-40B4-BE49-F238E27FC236}">
                  <a16:creationId xmlns:a16="http://schemas.microsoft.com/office/drawing/2014/main" id="{A5DC868E-301E-40BC-8139-13C7D1C64FE2}"/>
                </a:ext>
              </a:extLst>
            </p:cNvPr>
            <p:cNvSpPr/>
            <p:nvPr/>
          </p:nvSpPr>
          <p:spPr>
            <a:xfrm rot="2700000">
              <a:off x="11623988" y="4227095"/>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3" name="矩形 242">
              <a:extLst>
                <a:ext uri="{FF2B5EF4-FFF2-40B4-BE49-F238E27FC236}">
                  <a16:creationId xmlns:a16="http://schemas.microsoft.com/office/drawing/2014/main" id="{A82FA65E-FABF-403A-9FA3-D513269F9719}"/>
                </a:ext>
              </a:extLst>
            </p:cNvPr>
            <p:cNvSpPr/>
            <p:nvPr/>
          </p:nvSpPr>
          <p:spPr>
            <a:xfrm rot="5400000">
              <a:off x="11750302" y="4123958"/>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4" name="矩形 243">
              <a:extLst>
                <a:ext uri="{FF2B5EF4-FFF2-40B4-BE49-F238E27FC236}">
                  <a16:creationId xmlns:a16="http://schemas.microsoft.com/office/drawing/2014/main" id="{F86ACC52-46BC-4D28-B7B9-5F3728111D0F}"/>
                </a:ext>
              </a:extLst>
            </p:cNvPr>
            <p:cNvSpPr/>
            <p:nvPr/>
          </p:nvSpPr>
          <p:spPr>
            <a:xfrm rot="5400000">
              <a:off x="11753155" y="3372652"/>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5" name="直角三角形 244">
              <a:extLst>
                <a:ext uri="{FF2B5EF4-FFF2-40B4-BE49-F238E27FC236}">
                  <a16:creationId xmlns:a16="http://schemas.microsoft.com/office/drawing/2014/main" id="{6EE28E61-BE11-4B6E-B661-F05A79134EF7}"/>
                </a:ext>
              </a:extLst>
            </p:cNvPr>
            <p:cNvSpPr/>
            <p:nvPr/>
          </p:nvSpPr>
          <p:spPr>
            <a:xfrm rot="2700000">
              <a:off x="11627799" y="3478015"/>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6" name="直角三角形 245">
              <a:extLst>
                <a:ext uri="{FF2B5EF4-FFF2-40B4-BE49-F238E27FC236}">
                  <a16:creationId xmlns:a16="http://schemas.microsoft.com/office/drawing/2014/main" id="{A371A5C5-0353-48F3-A0FF-65F014D016F1}"/>
                </a:ext>
              </a:extLst>
            </p:cNvPr>
            <p:cNvSpPr/>
            <p:nvPr/>
          </p:nvSpPr>
          <p:spPr>
            <a:xfrm rot="13500000">
              <a:off x="11903929" y="3476992"/>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7" name="矩形 246">
              <a:extLst>
                <a:ext uri="{FF2B5EF4-FFF2-40B4-BE49-F238E27FC236}">
                  <a16:creationId xmlns:a16="http://schemas.microsoft.com/office/drawing/2014/main" id="{C4252409-3A26-4DE5-9AEA-015F8EF82C2C}"/>
                </a:ext>
              </a:extLst>
            </p:cNvPr>
            <p:cNvSpPr/>
            <p:nvPr/>
          </p:nvSpPr>
          <p:spPr>
            <a:xfrm>
              <a:off x="11569805" y="3929510"/>
              <a:ext cx="82319" cy="261135"/>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8" name="直角三角形 247">
              <a:extLst>
                <a:ext uri="{FF2B5EF4-FFF2-40B4-BE49-F238E27FC236}">
                  <a16:creationId xmlns:a16="http://schemas.microsoft.com/office/drawing/2014/main" id="{B6B0429F-2E0D-4058-9EE6-3D5A1294EFE0}"/>
                </a:ext>
              </a:extLst>
            </p:cNvPr>
            <p:cNvSpPr/>
            <p:nvPr/>
          </p:nvSpPr>
          <p:spPr>
            <a:xfrm rot="8100000">
              <a:off x="11584142" y="3892196"/>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9" name="直角三角形 248">
              <a:extLst>
                <a:ext uri="{FF2B5EF4-FFF2-40B4-BE49-F238E27FC236}">
                  <a16:creationId xmlns:a16="http://schemas.microsoft.com/office/drawing/2014/main" id="{8E3F091A-7419-43F8-923B-4BEB4849AA3C}"/>
                </a:ext>
              </a:extLst>
            </p:cNvPr>
            <p:cNvSpPr/>
            <p:nvPr/>
          </p:nvSpPr>
          <p:spPr>
            <a:xfrm rot="13500000">
              <a:off x="11902024" y="4228184"/>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0" name="直角三角形 249">
              <a:extLst>
                <a:ext uri="{FF2B5EF4-FFF2-40B4-BE49-F238E27FC236}">
                  <a16:creationId xmlns:a16="http://schemas.microsoft.com/office/drawing/2014/main" id="{78624921-985F-427F-860E-4C15291C4AB1}"/>
                </a:ext>
              </a:extLst>
            </p:cNvPr>
            <p:cNvSpPr/>
            <p:nvPr/>
          </p:nvSpPr>
          <p:spPr>
            <a:xfrm rot="18900000">
              <a:off x="11581056" y="4174736"/>
              <a:ext cx="58208" cy="58208"/>
            </a:xfrm>
            <a:prstGeom prst="r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1" name="文字方塊 250">
              <a:extLst>
                <a:ext uri="{FF2B5EF4-FFF2-40B4-BE49-F238E27FC236}">
                  <a16:creationId xmlns:a16="http://schemas.microsoft.com/office/drawing/2014/main" id="{DC3E0EFD-E4EB-41E9-91FD-63B0418ED5B8}"/>
                </a:ext>
              </a:extLst>
            </p:cNvPr>
            <p:cNvSpPr txBox="1"/>
            <p:nvPr/>
          </p:nvSpPr>
          <p:spPr>
            <a:xfrm>
              <a:off x="9587106" y="4389746"/>
              <a:ext cx="2697708" cy="465314"/>
            </a:xfrm>
            <a:prstGeom prst="rect">
              <a:avLst/>
            </a:prstGeom>
            <a:noFill/>
          </p:spPr>
          <p:txBody>
            <a:bodyPr wrap="none" rtlCol="0">
              <a:spAutoFit/>
            </a:bodyPr>
            <a:lstStyle/>
            <a:p>
              <a:r>
                <a:rPr lang="en-US" altLang="zh-TW" sz="8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Temperature Controller</a:t>
              </a:r>
              <a:endParaRPr lang="zh-TW" altLang="en-US" sz="8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2" name="手繪多邊形: 圖案 1">
            <a:extLst>
              <a:ext uri="{FF2B5EF4-FFF2-40B4-BE49-F238E27FC236}">
                <a16:creationId xmlns:a16="http://schemas.microsoft.com/office/drawing/2014/main" id="{8F66499B-60AA-4E2B-8994-3E200BA415F3}"/>
              </a:ext>
            </a:extLst>
          </p:cNvPr>
          <p:cNvSpPr/>
          <p:nvPr/>
        </p:nvSpPr>
        <p:spPr>
          <a:xfrm>
            <a:off x="10919460" y="5850890"/>
            <a:ext cx="937930" cy="968552"/>
          </a:xfrm>
          <a:custGeom>
            <a:avLst/>
            <a:gdLst>
              <a:gd name="connsiteX0" fmla="*/ 0 w 937930"/>
              <a:gd name="connsiteY0" fmla="*/ 822960 h 968552"/>
              <a:gd name="connsiteX1" fmla="*/ 91440 w 937930"/>
              <a:gd name="connsiteY1" fmla="*/ 895350 h 968552"/>
              <a:gd name="connsiteX2" fmla="*/ 190500 w 937930"/>
              <a:gd name="connsiteY2" fmla="*/ 952500 h 968552"/>
              <a:gd name="connsiteX3" fmla="*/ 323850 w 937930"/>
              <a:gd name="connsiteY3" fmla="*/ 967740 h 968552"/>
              <a:gd name="connsiteX4" fmla="*/ 560070 w 937930"/>
              <a:gd name="connsiteY4" fmla="*/ 933450 h 968552"/>
              <a:gd name="connsiteX5" fmla="*/ 781050 w 937930"/>
              <a:gd name="connsiteY5" fmla="*/ 769620 h 968552"/>
              <a:gd name="connsiteX6" fmla="*/ 937260 w 937930"/>
              <a:gd name="connsiteY6" fmla="*/ 502920 h 968552"/>
              <a:gd name="connsiteX7" fmla="*/ 834390 w 937930"/>
              <a:gd name="connsiteY7" fmla="*/ 118110 h 968552"/>
              <a:gd name="connsiteX8" fmla="*/ 758190 w 937930"/>
              <a:gd name="connsiteY8" fmla="*/ 0 h 96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7930" h="968552">
                <a:moveTo>
                  <a:pt x="0" y="822960"/>
                </a:moveTo>
                <a:cubicBezTo>
                  <a:pt x="29845" y="848360"/>
                  <a:pt x="59690" y="873760"/>
                  <a:pt x="91440" y="895350"/>
                </a:cubicBezTo>
                <a:cubicBezTo>
                  <a:pt x="123190" y="916940"/>
                  <a:pt x="151765" y="940435"/>
                  <a:pt x="190500" y="952500"/>
                </a:cubicBezTo>
                <a:cubicBezTo>
                  <a:pt x="229235" y="964565"/>
                  <a:pt x="262255" y="970915"/>
                  <a:pt x="323850" y="967740"/>
                </a:cubicBezTo>
                <a:cubicBezTo>
                  <a:pt x="385445" y="964565"/>
                  <a:pt x="483870" y="966470"/>
                  <a:pt x="560070" y="933450"/>
                </a:cubicBezTo>
                <a:cubicBezTo>
                  <a:pt x="636270" y="900430"/>
                  <a:pt x="718185" y="841375"/>
                  <a:pt x="781050" y="769620"/>
                </a:cubicBezTo>
                <a:cubicBezTo>
                  <a:pt x="843915" y="697865"/>
                  <a:pt x="928370" y="611505"/>
                  <a:pt x="937260" y="502920"/>
                </a:cubicBezTo>
                <a:cubicBezTo>
                  <a:pt x="946150" y="394335"/>
                  <a:pt x="864235" y="201930"/>
                  <a:pt x="834390" y="118110"/>
                </a:cubicBezTo>
                <a:cubicBezTo>
                  <a:pt x="804545" y="34290"/>
                  <a:pt x="781367" y="17145"/>
                  <a:pt x="758190"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221274427"/>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pic>
        <p:nvPicPr>
          <p:cNvPr id="115" name="圖片 114">
            <a:extLst>
              <a:ext uri="{FF2B5EF4-FFF2-40B4-BE49-F238E27FC236}">
                <a16:creationId xmlns:a16="http://schemas.microsoft.com/office/drawing/2014/main" id="{07D75BC7-406C-4445-8279-C704EF471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5780" y="4097902"/>
            <a:ext cx="3874957" cy="2699999"/>
          </a:xfrm>
          <a:prstGeom prst="rect">
            <a:avLst/>
          </a:prstGeom>
          <a:ln>
            <a:noFill/>
          </a:ln>
          <a:effectLst>
            <a:outerShdw blurRad="292100" dist="139700" dir="2700000" algn="tl" rotWithShape="0">
              <a:srgbClr val="333333">
                <a:alpha val="65000"/>
              </a:srgbClr>
            </a:outerShdw>
          </a:effectLst>
        </p:spPr>
      </p:pic>
      <p:sp>
        <p:nvSpPr>
          <p:cNvPr id="116" name="文字方塊 115">
            <a:extLst>
              <a:ext uri="{FF2B5EF4-FFF2-40B4-BE49-F238E27FC236}">
                <a16:creationId xmlns:a16="http://schemas.microsoft.com/office/drawing/2014/main" id="{953D7820-9591-40AB-900F-F5F7A441E32B}"/>
              </a:ext>
            </a:extLst>
          </p:cNvPr>
          <p:cNvSpPr txBox="1"/>
          <p:nvPr/>
        </p:nvSpPr>
        <p:spPr>
          <a:xfrm>
            <a:off x="6515779" y="3606167"/>
            <a:ext cx="4312591" cy="400110"/>
          </a:xfrm>
          <a:prstGeom prst="rect">
            <a:avLst/>
          </a:prstGeom>
          <a:noFill/>
        </p:spPr>
        <p:txBody>
          <a:bodyPr wrap="none" rtlCol="0">
            <a:spAutoFit/>
          </a:bodyPr>
          <a:lstStyle/>
          <a:p>
            <a:r>
              <a:rPr lang="en-US" altLang="zh-TW" sz="2000" b="1" dirty="0">
                <a:latin typeface="Times New Roman" panose="02020603050405020304" pitchFamily="18" charset="0"/>
                <a:ea typeface="標楷體" panose="03000509000000000000" pitchFamily="65" charset="-120"/>
                <a:cs typeface="Times New Roman" panose="02020603050405020304" pitchFamily="18" charset="0"/>
              </a:rPr>
              <a:t>Extra-cavity single pass measurement</a:t>
            </a:r>
            <a:endParaRPr lang="zh-TW" altLang="en-US" sz="2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AA0E82CF-CDFC-4D7F-8391-88C993B2F69D}"/>
              </a:ext>
            </a:extLst>
          </p:cNvPr>
          <p:cNvSpPr>
            <a:spLocks noGrp="1"/>
          </p:cNvSpPr>
          <p:nvPr>
            <p:ph type="sldNum" sz="quarter" idx="12"/>
          </p:nvPr>
        </p:nvSpPr>
        <p:spPr/>
        <p:txBody>
          <a:bodyPr/>
          <a:lstStyle/>
          <a:p>
            <a:fld id="{9044CBB6-E20C-4076-82F9-F8F95241C54D}" type="slidenum">
              <a:rPr lang="zh-TW" altLang="en-US" smtClean="0">
                <a:solidFill>
                  <a:schemeClr val="tx1"/>
                </a:solidFill>
              </a:rPr>
              <a:t>27</a:t>
            </a:fld>
            <a:endParaRPr lang="zh-TW" altLang="en-US">
              <a:solidFill>
                <a:schemeClr val="tx1"/>
              </a:solidFill>
            </a:endParaRPr>
          </a:p>
        </p:txBody>
      </p:sp>
      <p:sp>
        <p:nvSpPr>
          <p:cNvPr id="2" name="矩形 1">
            <a:extLst>
              <a:ext uri="{FF2B5EF4-FFF2-40B4-BE49-F238E27FC236}">
                <a16:creationId xmlns:a16="http://schemas.microsoft.com/office/drawing/2014/main" id="{3E80350B-CAA8-49C3-A6E7-87539C857829}"/>
              </a:ext>
            </a:extLst>
          </p:cNvPr>
          <p:cNvSpPr/>
          <p:nvPr/>
        </p:nvSpPr>
        <p:spPr>
          <a:xfrm>
            <a:off x="849874" y="3795238"/>
            <a:ext cx="296314"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6" name="矩形 45">
            <a:extLst>
              <a:ext uri="{FF2B5EF4-FFF2-40B4-BE49-F238E27FC236}">
                <a16:creationId xmlns:a16="http://schemas.microsoft.com/office/drawing/2014/main" id="{9E4E952D-2F78-4D90-AC4E-899F5F7B1549}"/>
              </a:ext>
            </a:extLst>
          </p:cNvPr>
          <p:cNvSpPr/>
          <p:nvPr/>
        </p:nvSpPr>
        <p:spPr>
          <a:xfrm>
            <a:off x="1823864" y="3801732"/>
            <a:ext cx="195581"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47" name="矩形 46">
            <a:extLst>
              <a:ext uri="{FF2B5EF4-FFF2-40B4-BE49-F238E27FC236}">
                <a16:creationId xmlns:a16="http://schemas.microsoft.com/office/drawing/2014/main" id="{0DB5E27B-0E6D-497B-992A-6D1DEB6515B0}"/>
              </a:ext>
            </a:extLst>
          </p:cNvPr>
          <p:cNvSpPr/>
          <p:nvPr/>
        </p:nvSpPr>
        <p:spPr>
          <a:xfrm>
            <a:off x="1161058" y="3801732"/>
            <a:ext cx="296314"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8" name="矩形 47">
            <a:extLst>
              <a:ext uri="{FF2B5EF4-FFF2-40B4-BE49-F238E27FC236}">
                <a16:creationId xmlns:a16="http://schemas.microsoft.com/office/drawing/2014/main" id="{5433F82F-5B66-48F8-BA50-EEA6936053A0}"/>
              </a:ext>
            </a:extLst>
          </p:cNvPr>
          <p:cNvSpPr/>
          <p:nvPr/>
        </p:nvSpPr>
        <p:spPr>
          <a:xfrm>
            <a:off x="1467863" y="3801732"/>
            <a:ext cx="342361"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9" name="矩形 48">
            <a:extLst>
              <a:ext uri="{FF2B5EF4-FFF2-40B4-BE49-F238E27FC236}">
                <a16:creationId xmlns:a16="http://schemas.microsoft.com/office/drawing/2014/main" id="{1CC0F695-34E9-4042-91FF-2015A1B31092}"/>
              </a:ext>
            </a:extLst>
          </p:cNvPr>
          <p:cNvSpPr/>
          <p:nvPr/>
        </p:nvSpPr>
        <p:spPr>
          <a:xfrm>
            <a:off x="2026140" y="3801732"/>
            <a:ext cx="350536"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0" name="矩形 49">
            <a:extLst>
              <a:ext uri="{FF2B5EF4-FFF2-40B4-BE49-F238E27FC236}">
                <a16:creationId xmlns:a16="http://schemas.microsoft.com/office/drawing/2014/main" id="{6D50190A-BE7A-4980-9227-033C0695BBAE}"/>
              </a:ext>
            </a:extLst>
          </p:cNvPr>
          <p:cNvSpPr/>
          <p:nvPr/>
        </p:nvSpPr>
        <p:spPr>
          <a:xfrm>
            <a:off x="2388641" y="3801732"/>
            <a:ext cx="508763"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1" name="矩形 50">
            <a:extLst>
              <a:ext uri="{FF2B5EF4-FFF2-40B4-BE49-F238E27FC236}">
                <a16:creationId xmlns:a16="http://schemas.microsoft.com/office/drawing/2014/main" id="{CF01AD86-BBBE-46C9-A52D-D5758970B89D}"/>
              </a:ext>
            </a:extLst>
          </p:cNvPr>
          <p:cNvSpPr/>
          <p:nvPr/>
        </p:nvSpPr>
        <p:spPr>
          <a:xfrm>
            <a:off x="2910838" y="3801732"/>
            <a:ext cx="1944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2" name="矩形 51">
            <a:extLst>
              <a:ext uri="{FF2B5EF4-FFF2-40B4-BE49-F238E27FC236}">
                <a16:creationId xmlns:a16="http://schemas.microsoft.com/office/drawing/2014/main" id="{2E1FD697-7F0B-42FD-916F-780B9F027B0A}"/>
              </a:ext>
            </a:extLst>
          </p:cNvPr>
          <p:cNvSpPr/>
          <p:nvPr/>
        </p:nvSpPr>
        <p:spPr>
          <a:xfrm>
            <a:off x="3113910" y="3801732"/>
            <a:ext cx="1944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3" name="矩形 52">
            <a:extLst>
              <a:ext uri="{FF2B5EF4-FFF2-40B4-BE49-F238E27FC236}">
                <a16:creationId xmlns:a16="http://schemas.microsoft.com/office/drawing/2014/main" id="{7E60357C-B257-4970-9548-9D917E968C15}"/>
              </a:ext>
            </a:extLst>
          </p:cNvPr>
          <p:cNvSpPr/>
          <p:nvPr/>
        </p:nvSpPr>
        <p:spPr>
          <a:xfrm>
            <a:off x="3318605" y="3801732"/>
            <a:ext cx="1944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4" name="矩形 53">
            <a:extLst>
              <a:ext uri="{FF2B5EF4-FFF2-40B4-BE49-F238E27FC236}">
                <a16:creationId xmlns:a16="http://schemas.microsoft.com/office/drawing/2014/main" id="{DABF6272-EC9E-4509-B3F3-F83B5CCC2FEC}"/>
              </a:ext>
            </a:extLst>
          </p:cNvPr>
          <p:cNvSpPr/>
          <p:nvPr/>
        </p:nvSpPr>
        <p:spPr>
          <a:xfrm>
            <a:off x="3520580" y="3801732"/>
            <a:ext cx="1944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5" name="矩形 54">
            <a:extLst>
              <a:ext uri="{FF2B5EF4-FFF2-40B4-BE49-F238E27FC236}">
                <a16:creationId xmlns:a16="http://schemas.microsoft.com/office/drawing/2014/main" id="{1BB36AD9-EFEB-4A21-8481-CA55588B179B}"/>
              </a:ext>
            </a:extLst>
          </p:cNvPr>
          <p:cNvSpPr/>
          <p:nvPr/>
        </p:nvSpPr>
        <p:spPr>
          <a:xfrm>
            <a:off x="3722555" y="3801732"/>
            <a:ext cx="600680"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7" name="矩形 56">
            <a:extLst>
              <a:ext uri="{FF2B5EF4-FFF2-40B4-BE49-F238E27FC236}">
                <a16:creationId xmlns:a16="http://schemas.microsoft.com/office/drawing/2014/main" id="{C086D9D0-0207-4C33-8A77-F6A92B59D6B9}"/>
              </a:ext>
            </a:extLst>
          </p:cNvPr>
          <p:cNvSpPr/>
          <p:nvPr/>
        </p:nvSpPr>
        <p:spPr>
          <a:xfrm>
            <a:off x="4324756" y="3801732"/>
            <a:ext cx="1944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58" name="矩形 57">
            <a:extLst>
              <a:ext uri="{FF2B5EF4-FFF2-40B4-BE49-F238E27FC236}">
                <a16:creationId xmlns:a16="http://schemas.microsoft.com/office/drawing/2014/main" id="{4503A37E-B948-4C67-82E7-E0ACA59FAC4E}"/>
              </a:ext>
            </a:extLst>
          </p:cNvPr>
          <p:cNvSpPr/>
          <p:nvPr/>
        </p:nvSpPr>
        <p:spPr>
          <a:xfrm>
            <a:off x="4535474" y="3801732"/>
            <a:ext cx="1944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60" name="矩形 59">
            <a:extLst>
              <a:ext uri="{FF2B5EF4-FFF2-40B4-BE49-F238E27FC236}">
                <a16:creationId xmlns:a16="http://schemas.microsoft.com/office/drawing/2014/main" id="{3833A737-8C18-4E83-88FE-19B072111167}"/>
              </a:ext>
            </a:extLst>
          </p:cNvPr>
          <p:cNvSpPr/>
          <p:nvPr/>
        </p:nvSpPr>
        <p:spPr>
          <a:xfrm>
            <a:off x="4737635" y="3801732"/>
            <a:ext cx="395508"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1" name="箭號: 向上 60">
            <a:extLst>
              <a:ext uri="{FF2B5EF4-FFF2-40B4-BE49-F238E27FC236}">
                <a16:creationId xmlns:a16="http://schemas.microsoft.com/office/drawing/2014/main" id="{4CF30279-BA49-464B-B766-4F5A6FA0150F}"/>
              </a:ext>
            </a:extLst>
          </p:cNvPr>
          <p:cNvSpPr/>
          <p:nvPr/>
        </p:nvSpPr>
        <p:spPr>
          <a:xfrm>
            <a:off x="954772" y="4002913"/>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箭號: 向上 62">
            <a:extLst>
              <a:ext uri="{FF2B5EF4-FFF2-40B4-BE49-F238E27FC236}">
                <a16:creationId xmlns:a16="http://schemas.microsoft.com/office/drawing/2014/main" id="{373399F4-E5E0-4183-9C17-17727A1E49C3}"/>
              </a:ext>
            </a:extLst>
          </p:cNvPr>
          <p:cNvSpPr/>
          <p:nvPr/>
        </p:nvSpPr>
        <p:spPr>
          <a:xfrm>
            <a:off x="1247490" y="4002913"/>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箭號: 向上 63">
            <a:extLst>
              <a:ext uri="{FF2B5EF4-FFF2-40B4-BE49-F238E27FC236}">
                <a16:creationId xmlns:a16="http://schemas.microsoft.com/office/drawing/2014/main" id="{77264984-C8F2-49E5-A25D-263639A978DF}"/>
              </a:ext>
            </a:extLst>
          </p:cNvPr>
          <p:cNvSpPr/>
          <p:nvPr/>
        </p:nvSpPr>
        <p:spPr>
          <a:xfrm>
            <a:off x="1592090" y="4002913"/>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箭號: 向上 64">
            <a:extLst>
              <a:ext uri="{FF2B5EF4-FFF2-40B4-BE49-F238E27FC236}">
                <a16:creationId xmlns:a16="http://schemas.microsoft.com/office/drawing/2014/main" id="{6C7C8153-E8BE-44E8-9A84-BE6D4E00BE15}"/>
              </a:ext>
            </a:extLst>
          </p:cNvPr>
          <p:cNvSpPr/>
          <p:nvPr/>
        </p:nvSpPr>
        <p:spPr>
          <a:xfrm>
            <a:off x="2157758" y="4002913"/>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箭號: 向上 65">
            <a:extLst>
              <a:ext uri="{FF2B5EF4-FFF2-40B4-BE49-F238E27FC236}">
                <a16:creationId xmlns:a16="http://schemas.microsoft.com/office/drawing/2014/main" id="{4C1A6672-9DE7-4645-85B5-D8095BDFA185}"/>
              </a:ext>
            </a:extLst>
          </p:cNvPr>
          <p:cNvSpPr/>
          <p:nvPr/>
        </p:nvSpPr>
        <p:spPr>
          <a:xfrm>
            <a:off x="2603536" y="4002913"/>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箭號: 向上 66">
            <a:extLst>
              <a:ext uri="{FF2B5EF4-FFF2-40B4-BE49-F238E27FC236}">
                <a16:creationId xmlns:a16="http://schemas.microsoft.com/office/drawing/2014/main" id="{4A01C698-563A-45D6-9384-C8934B096FBF}"/>
              </a:ext>
            </a:extLst>
          </p:cNvPr>
          <p:cNvSpPr/>
          <p:nvPr/>
        </p:nvSpPr>
        <p:spPr>
          <a:xfrm>
            <a:off x="3922554" y="4002913"/>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箭號: 向上 67">
            <a:extLst>
              <a:ext uri="{FF2B5EF4-FFF2-40B4-BE49-F238E27FC236}">
                <a16:creationId xmlns:a16="http://schemas.microsoft.com/office/drawing/2014/main" id="{82F80524-51A8-4F1C-9FBE-DF73DD3A73DB}"/>
              </a:ext>
            </a:extLst>
          </p:cNvPr>
          <p:cNvSpPr/>
          <p:nvPr/>
        </p:nvSpPr>
        <p:spPr>
          <a:xfrm>
            <a:off x="4946722" y="4002913"/>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箭號: 向上 68">
            <a:extLst>
              <a:ext uri="{FF2B5EF4-FFF2-40B4-BE49-F238E27FC236}">
                <a16:creationId xmlns:a16="http://schemas.microsoft.com/office/drawing/2014/main" id="{D63647DE-6BF7-4870-B7A3-52BF2C90F7DC}"/>
              </a:ext>
            </a:extLst>
          </p:cNvPr>
          <p:cNvSpPr/>
          <p:nvPr/>
        </p:nvSpPr>
        <p:spPr>
          <a:xfrm rot="10800000">
            <a:off x="4585005" y="4002913"/>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箭號: 向上 70">
            <a:extLst>
              <a:ext uri="{FF2B5EF4-FFF2-40B4-BE49-F238E27FC236}">
                <a16:creationId xmlns:a16="http://schemas.microsoft.com/office/drawing/2014/main" id="{4AFE6561-471B-464C-A878-6A963DB115E8}"/>
              </a:ext>
            </a:extLst>
          </p:cNvPr>
          <p:cNvSpPr/>
          <p:nvPr/>
        </p:nvSpPr>
        <p:spPr>
          <a:xfrm rot="10800000">
            <a:off x="4384974" y="4002913"/>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箭號: 向上 71">
            <a:extLst>
              <a:ext uri="{FF2B5EF4-FFF2-40B4-BE49-F238E27FC236}">
                <a16:creationId xmlns:a16="http://schemas.microsoft.com/office/drawing/2014/main" id="{823DDD7F-D9FC-4DDE-BCCF-CA616E84B61E}"/>
              </a:ext>
            </a:extLst>
          </p:cNvPr>
          <p:cNvSpPr/>
          <p:nvPr/>
        </p:nvSpPr>
        <p:spPr>
          <a:xfrm rot="10800000">
            <a:off x="3579381" y="4002913"/>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箭號: 向上 72">
            <a:extLst>
              <a:ext uri="{FF2B5EF4-FFF2-40B4-BE49-F238E27FC236}">
                <a16:creationId xmlns:a16="http://schemas.microsoft.com/office/drawing/2014/main" id="{35077EF8-C24A-4B54-B28A-8EB4CA1380BF}"/>
              </a:ext>
            </a:extLst>
          </p:cNvPr>
          <p:cNvSpPr/>
          <p:nvPr/>
        </p:nvSpPr>
        <p:spPr>
          <a:xfrm rot="10800000">
            <a:off x="3371973" y="4002913"/>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箭號: 向上 73">
            <a:extLst>
              <a:ext uri="{FF2B5EF4-FFF2-40B4-BE49-F238E27FC236}">
                <a16:creationId xmlns:a16="http://schemas.microsoft.com/office/drawing/2014/main" id="{B8F69189-2A7F-4055-9CF8-FBC7A250994D}"/>
              </a:ext>
            </a:extLst>
          </p:cNvPr>
          <p:cNvSpPr/>
          <p:nvPr/>
        </p:nvSpPr>
        <p:spPr>
          <a:xfrm rot="10800000">
            <a:off x="3164103" y="4002912"/>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箭號: 向上 74">
            <a:extLst>
              <a:ext uri="{FF2B5EF4-FFF2-40B4-BE49-F238E27FC236}">
                <a16:creationId xmlns:a16="http://schemas.microsoft.com/office/drawing/2014/main" id="{F3A9EF47-18E9-4D7E-B826-3DA590E77C7E}"/>
              </a:ext>
            </a:extLst>
          </p:cNvPr>
          <p:cNvSpPr/>
          <p:nvPr/>
        </p:nvSpPr>
        <p:spPr>
          <a:xfrm rot="10800000">
            <a:off x="2956695" y="4002912"/>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88BFBC1D-A316-42DD-821F-5FED9232F094}"/>
              </a:ext>
            </a:extLst>
          </p:cNvPr>
          <p:cNvSpPr txBox="1"/>
          <p:nvPr/>
        </p:nvSpPr>
        <p:spPr>
          <a:xfrm>
            <a:off x="1914411" y="2123541"/>
            <a:ext cx="1873270" cy="369332"/>
          </a:xfrm>
          <a:prstGeom prst="rect">
            <a:avLst/>
          </a:prstGeom>
          <a:solidFill>
            <a:srgbClr val="FFFF00"/>
          </a:solidFill>
          <a:ln>
            <a:solidFill>
              <a:schemeClr val="tx1"/>
            </a:solidFill>
          </a:ln>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Poling error effect</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箭號: 向下 5">
            <a:extLst>
              <a:ext uri="{FF2B5EF4-FFF2-40B4-BE49-F238E27FC236}">
                <a16:creationId xmlns:a16="http://schemas.microsoft.com/office/drawing/2014/main" id="{32197179-9106-4723-9EE8-2EE5DA730E9E}"/>
              </a:ext>
            </a:extLst>
          </p:cNvPr>
          <p:cNvSpPr/>
          <p:nvPr/>
        </p:nvSpPr>
        <p:spPr>
          <a:xfrm>
            <a:off x="2762428" y="2544165"/>
            <a:ext cx="296818" cy="597403"/>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9" name="直線接點 78">
            <a:extLst>
              <a:ext uri="{FF2B5EF4-FFF2-40B4-BE49-F238E27FC236}">
                <a16:creationId xmlns:a16="http://schemas.microsoft.com/office/drawing/2014/main" id="{635160A8-077C-493C-8010-1A9EB425A555}"/>
              </a:ext>
            </a:extLst>
          </p:cNvPr>
          <p:cNvCxnSpPr/>
          <p:nvPr/>
        </p:nvCxnSpPr>
        <p:spPr>
          <a:xfrm>
            <a:off x="2908298" y="3481692"/>
            <a:ext cx="0" cy="3124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線接點 81">
            <a:extLst>
              <a:ext uri="{FF2B5EF4-FFF2-40B4-BE49-F238E27FC236}">
                <a16:creationId xmlns:a16="http://schemas.microsoft.com/office/drawing/2014/main" id="{E59E7407-72A1-4865-9A7E-9AA272A46341}"/>
              </a:ext>
            </a:extLst>
          </p:cNvPr>
          <p:cNvCxnSpPr/>
          <p:nvPr/>
        </p:nvCxnSpPr>
        <p:spPr>
          <a:xfrm>
            <a:off x="3722555" y="3481692"/>
            <a:ext cx="0" cy="3124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線單箭頭接點 80">
            <a:extLst>
              <a:ext uri="{FF2B5EF4-FFF2-40B4-BE49-F238E27FC236}">
                <a16:creationId xmlns:a16="http://schemas.microsoft.com/office/drawing/2014/main" id="{6D13754B-33B1-4882-899E-30B1D41995C9}"/>
              </a:ext>
            </a:extLst>
          </p:cNvPr>
          <p:cNvCxnSpPr/>
          <p:nvPr/>
        </p:nvCxnSpPr>
        <p:spPr>
          <a:xfrm>
            <a:off x="2728298" y="3610216"/>
            <a:ext cx="18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a:extLst>
              <a:ext uri="{FF2B5EF4-FFF2-40B4-BE49-F238E27FC236}">
                <a16:creationId xmlns:a16="http://schemas.microsoft.com/office/drawing/2014/main" id="{CC52E214-DF8C-43EB-A51D-40C20402A450}"/>
              </a:ext>
            </a:extLst>
          </p:cNvPr>
          <p:cNvCxnSpPr/>
          <p:nvPr/>
        </p:nvCxnSpPr>
        <p:spPr>
          <a:xfrm flipH="1">
            <a:off x="3727601" y="3610216"/>
            <a:ext cx="18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文字方塊 84">
            <a:extLst>
              <a:ext uri="{FF2B5EF4-FFF2-40B4-BE49-F238E27FC236}">
                <a16:creationId xmlns:a16="http://schemas.microsoft.com/office/drawing/2014/main" id="{C0C76DC4-E252-4B23-B99C-47D7E1A27FE5}"/>
              </a:ext>
            </a:extLst>
          </p:cNvPr>
          <p:cNvSpPr txBox="1"/>
          <p:nvPr/>
        </p:nvSpPr>
        <p:spPr>
          <a:xfrm>
            <a:off x="2679586" y="3158852"/>
            <a:ext cx="1227678" cy="338554"/>
          </a:xfrm>
          <a:prstGeom prst="rect">
            <a:avLst/>
          </a:prstGeom>
          <a:noFill/>
        </p:spPr>
        <p:txBody>
          <a:bodyPr wrap="square" rtlCol="0">
            <a:spAutoFit/>
          </a:bodyPr>
          <a:lstStyle/>
          <a:p>
            <a:pPr algn="ctr"/>
            <a:r>
              <a:rPr lang="en-US" altLang="zh-TW"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Under-poled</a:t>
            </a:r>
            <a:endParaRPr lang="zh-TW" altLang="en-US"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8" name="箭號: 向上 87">
            <a:extLst>
              <a:ext uri="{FF2B5EF4-FFF2-40B4-BE49-F238E27FC236}">
                <a16:creationId xmlns:a16="http://schemas.microsoft.com/office/drawing/2014/main" id="{C054DBA0-2779-4E65-88D0-9681562FDAFF}"/>
              </a:ext>
            </a:extLst>
          </p:cNvPr>
          <p:cNvSpPr/>
          <p:nvPr/>
        </p:nvSpPr>
        <p:spPr>
          <a:xfrm rot="10800000">
            <a:off x="1878395" y="4002912"/>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9" name="直線接點 88">
            <a:extLst>
              <a:ext uri="{FF2B5EF4-FFF2-40B4-BE49-F238E27FC236}">
                <a16:creationId xmlns:a16="http://schemas.microsoft.com/office/drawing/2014/main" id="{B2D43CC3-6CF3-4735-999C-9F54BB9A5B9F}"/>
              </a:ext>
            </a:extLst>
          </p:cNvPr>
          <p:cNvCxnSpPr/>
          <p:nvPr/>
        </p:nvCxnSpPr>
        <p:spPr>
          <a:xfrm>
            <a:off x="1817831" y="3481692"/>
            <a:ext cx="0" cy="3124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線接點 89">
            <a:extLst>
              <a:ext uri="{FF2B5EF4-FFF2-40B4-BE49-F238E27FC236}">
                <a16:creationId xmlns:a16="http://schemas.microsoft.com/office/drawing/2014/main" id="{29F7063F-D367-47DF-AFA6-A6F0C18406BD}"/>
              </a:ext>
            </a:extLst>
          </p:cNvPr>
          <p:cNvCxnSpPr/>
          <p:nvPr/>
        </p:nvCxnSpPr>
        <p:spPr>
          <a:xfrm>
            <a:off x="2026140" y="3481692"/>
            <a:ext cx="0" cy="3124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線單箭頭接點 90">
            <a:extLst>
              <a:ext uri="{FF2B5EF4-FFF2-40B4-BE49-F238E27FC236}">
                <a16:creationId xmlns:a16="http://schemas.microsoft.com/office/drawing/2014/main" id="{20F6B442-69EF-49A2-AF68-80288875DDEB}"/>
              </a:ext>
            </a:extLst>
          </p:cNvPr>
          <p:cNvCxnSpPr/>
          <p:nvPr/>
        </p:nvCxnSpPr>
        <p:spPr>
          <a:xfrm>
            <a:off x="1637831" y="3610216"/>
            <a:ext cx="18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a:extLst>
              <a:ext uri="{FF2B5EF4-FFF2-40B4-BE49-F238E27FC236}">
                <a16:creationId xmlns:a16="http://schemas.microsoft.com/office/drawing/2014/main" id="{758937C4-41AB-465E-B5F1-0904F101CD75}"/>
              </a:ext>
            </a:extLst>
          </p:cNvPr>
          <p:cNvCxnSpPr/>
          <p:nvPr/>
        </p:nvCxnSpPr>
        <p:spPr>
          <a:xfrm flipH="1">
            <a:off x="2031186" y="3610216"/>
            <a:ext cx="18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文字方塊 92">
            <a:extLst>
              <a:ext uri="{FF2B5EF4-FFF2-40B4-BE49-F238E27FC236}">
                <a16:creationId xmlns:a16="http://schemas.microsoft.com/office/drawing/2014/main" id="{50357E72-1490-408F-BC74-ADC405C81851}"/>
              </a:ext>
            </a:extLst>
          </p:cNvPr>
          <p:cNvSpPr txBox="1"/>
          <p:nvPr/>
        </p:nvSpPr>
        <p:spPr>
          <a:xfrm>
            <a:off x="1169447" y="3161385"/>
            <a:ext cx="1417895" cy="338554"/>
          </a:xfrm>
          <a:prstGeom prst="rect">
            <a:avLst/>
          </a:prstGeom>
          <a:noFill/>
        </p:spPr>
        <p:txBody>
          <a:bodyPr wrap="square" rtlCol="0">
            <a:spAutoFit/>
          </a:bodyPr>
          <a:lstStyle/>
          <a:p>
            <a:pPr algn="ctr"/>
            <a:r>
              <a:rPr lang="en-US" altLang="zh-TW"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Under-poled</a:t>
            </a:r>
            <a:endParaRPr lang="zh-TW" altLang="en-US"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94" name="直線接點 93">
            <a:extLst>
              <a:ext uri="{FF2B5EF4-FFF2-40B4-BE49-F238E27FC236}">
                <a16:creationId xmlns:a16="http://schemas.microsoft.com/office/drawing/2014/main" id="{90B13BA7-2ADC-4BC8-A027-2C26813842F8}"/>
              </a:ext>
            </a:extLst>
          </p:cNvPr>
          <p:cNvCxnSpPr/>
          <p:nvPr/>
        </p:nvCxnSpPr>
        <p:spPr>
          <a:xfrm>
            <a:off x="4327165" y="3477643"/>
            <a:ext cx="0" cy="3124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FE91F72A-AFA7-4EA4-8D29-CCABE01040CB}"/>
              </a:ext>
            </a:extLst>
          </p:cNvPr>
          <p:cNvCxnSpPr/>
          <p:nvPr/>
        </p:nvCxnSpPr>
        <p:spPr>
          <a:xfrm>
            <a:off x="4729874" y="3477643"/>
            <a:ext cx="0" cy="3124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單箭頭接點 95">
            <a:extLst>
              <a:ext uri="{FF2B5EF4-FFF2-40B4-BE49-F238E27FC236}">
                <a16:creationId xmlns:a16="http://schemas.microsoft.com/office/drawing/2014/main" id="{82488A97-A589-49B0-91B5-76503AE46E10}"/>
              </a:ext>
            </a:extLst>
          </p:cNvPr>
          <p:cNvCxnSpPr>
            <a:cxnSpLocks/>
          </p:cNvCxnSpPr>
          <p:nvPr/>
        </p:nvCxnSpPr>
        <p:spPr>
          <a:xfrm>
            <a:off x="4146695" y="3606167"/>
            <a:ext cx="18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a:extLst>
              <a:ext uri="{FF2B5EF4-FFF2-40B4-BE49-F238E27FC236}">
                <a16:creationId xmlns:a16="http://schemas.microsoft.com/office/drawing/2014/main" id="{989486EF-E596-464D-8CB7-B67EBCB12164}"/>
              </a:ext>
            </a:extLst>
          </p:cNvPr>
          <p:cNvCxnSpPr/>
          <p:nvPr/>
        </p:nvCxnSpPr>
        <p:spPr>
          <a:xfrm flipH="1">
            <a:off x="4734920" y="3606167"/>
            <a:ext cx="1692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文字方塊 98">
            <a:extLst>
              <a:ext uri="{FF2B5EF4-FFF2-40B4-BE49-F238E27FC236}">
                <a16:creationId xmlns:a16="http://schemas.microsoft.com/office/drawing/2014/main" id="{FD49B1EB-2D26-4505-8E56-077FDB519B24}"/>
              </a:ext>
            </a:extLst>
          </p:cNvPr>
          <p:cNvSpPr txBox="1"/>
          <p:nvPr/>
        </p:nvSpPr>
        <p:spPr>
          <a:xfrm>
            <a:off x="3917562" y="3171305"/>
            <a:ext cx="1227678" cy="338554"/>
          </a:xfrm>
          <a:prstGeom prst="rect">
            <a:avLst/>
          </a:prstGeom>
          <a:noFill/>
        </p:spPr>
        <p:txBody>
          <a:bodyPr wrap="square" rtlCol="0">
            <a:spAutoFit/>
          </a:bodyPr>
          <a:lstStyle/>
          <a:p>
            <a:pPr algn="ctr"/>
            <a:r>
              <a:rPr lang="en-US" altLang="zh-TW"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Under-poled</a:t>
            </a:r>
            <a:endParaRPr lang="zh-TW" altLang="en-US"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87" name="群組 86">
            <a:extLst>
              <a:ext uri="{FF2B5EF4-FFF2-40B4-BE49-F238E27FC236}">
                <a16:creationId xmlns:a16="http://schemas.microsoft.com/office/drawing/2014/main" id="{61C05370-F61A-412D-828A-19B21A830141}"/>
              </a:ext>
            </a:extLst>
          </p:cNvPr>
          <p:cNvGrpSpPr/>
          <p:nvPr/>
        </p:nvGrpSpPr>
        <p:grpSpPr>
          <a:xfrm>
            <a:off x="849874" y="970311"/>
            <a:ext cx="4283741" cy="1014727"/>
            <a:chOff x="479805" y="1248563"/>
            <a:chExt cx="4192413" cy="1014727"/>
          </a:xfrm>
        </p:grpSpPr>
        <p:sp>
          <p:nvSpPr>
            <p:cNvPr id="100" name="矩形 99">
              <a:extLst>
                <a:ext uri="{FF2B5EF4-FFF2-40B4-BE49-F238E27FC236}">
                  <a16:creationId xmlns:a16="http://schemas.microsoft.com/office/drawing/2014/main" id="{45C1BD0F-A1CE-470A-A591-3ADBA7EA44A2}"/>
                </a:ext>
              </a:extLst>
            </p:cNvPr>
            <p:cNvSpPr/>
            <p:nvPr/>
          </p:nvSpPr>
          <p:spPr>
            <a:xfrm>
              <a:off x="479805" y="1248563"/>
              <a:ext cx="296314"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1" name="箭號: 向上 100">
              <a:extLst>
                <a:ext uri="{FF2B5EF4-FFF2-40B4-BE49-F238E27FC236}">
                  <a16:creationId xmlns:a16="http://schemas.microsoft.com/office/drawing/2014/main" id="{00E3CC9F-2A24-44D5-89B9-1FB90C5C4ABE}"/>
                </a:ext>
              </a:extLst>
            </p:cNvPr>
            <p:cNvSpPr/>
            <p:nvPr/>
          </p:nvSpPr>
          <p:spPr>
            <a:xfrm>
              <a:off x="584703" y="1448618"/>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矩形 103">
              <a:extLst>
                <a:ext uri="{FF2B5EF4-FFF2-40B4-BE49-F238E27FC236}">
                  <a16:creationId xmlns:a16="http://schemas.microsoft.com/office/drawing/2014/main" id="{05A4153D-D604-48A7-B783-FCA41FF0F885}"/>
                </a:ext>
              </a:extLst>
            </p:cNvPr>
            <p:cNvSpPr/>
            <p:nvPr/>
          </p:nvSpPr>
          <p:spPr>
            <a:xfrm>
              <a:off x="780032" y="1248563"/>
              <a:ext cx="296314"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5" name="箭號: 向上 104">
              <a:extLst>
                <a:ext uri="{FF2B5EF4-FFF2-40B4-BE49-F238E27FC236}">
                  <a16:creationId xmlns:a16="http://schemas.microsoft.com/office/drawing/2014/main" id="{B389ED6D-278F-4B13-B572-FFD9243A8589}"/>
                </a:ext>
              </a:extLst>
            </p:cNvPr>
            <p:cNvSpPr/>
            <p:nvPr/>
          </p:nvSpPr>
          <p:spPr>
            <a:xfrm>
              <a:off x="884930" y="1448618"/>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a:extLst>
                <a:ext uri="{FF2B5EF4-FFF2-40B4-BE49-F238E27FC236}">
                  <a16:creationId xmlns:a16="http://schemas.microsoft.com/office/drawing/2014/main" id="{0AC54FB9-378A-4C20-9C42-A7986D34E5B0}"/>
                </a:ext>
              </a:extLst>
            </p:cNvPr>
            <p:cNvSpPr/>
            <p:nvPr/>
          </p:nvSpPr>
          <p:spPr>
            <a:xfrm>
              <a:off x="1079322" y="1248563"/>
              <a:ext cx="296314"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7" name="箭號: 向上 106">
              <a:extLst>
                <a:ext uri="{FF2B5EF4-FFF2-40B4-BE49-F238E27FC236}">
                  <a16:creationId xmlns:a16="http://schemas.microsoft.com/office/drawing/2014/main" id="{F51C40CF-2044-401E-AE60-5C837D7F500E}"/>
                </a:ext>
              </a:extLst>
            </p:cNvPr>
            <p:cNvSpPr/>
            <p:nvPr/>
          </p:nvSpPr>
          <p:spPr>
            <a:xfrm>
              <a:off x="1184220" y="1448618"/>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矩形 109">
              <a:extLst>
                <a:ext uri="{FF2B5EF4-FFF2-40B4-BE49-F238E27FC236}">
                  <a16:creationId xmlns:a16="http://schemas.microsoft.com/office/drawing/2014/main" id="{4A6075E1-DBAF-40DD-B692-EA8950D2648F}"/>
                </a:ext>
              </a:extLst>
            </p:cNvPr>
            <p:cNvSpPr/>
            <p:nvPr/>
          </p:nvSpPr>
          <p:spPr>
            <a:xfrm>
              <a:off x="1387591" y="1248563"/>
              <a:ext cx="2952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11" name="箭號: 向上 110">
              <a:extLst>
                <a:ext uri="{FF2B5EF4-FFF2-40B4-BE49-F238E27FC236}">
                  <a16:creationId xmlns:a16="http://schemas.microsoft.com/office/drawing/2014/main" id="{9C056B36-50E6-423E-9DBD-6F921549F37F}"/>
                </a:ext>
              </a:extLst>
            </p:cNvPr>
            <p:cNvSpPr/>
            <p:nvPr/>
          </p:nvSpPr>
          <p:spPr>
            <a:xfrm rot="10800000">
              <a:off x="1490266" y="1448618"/>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 name="矩形 111">
              <a:extLst>
                <a:ext uri="{FF2B5EF4-FFF2-40B4-BE49-F238E27FC236}">
                  <a16:creationId xmlns:a16="http://schemas.microsoft.com/office/drawing/2014/main" id="{FA3DB893-B1CD-4D9B-B59B-A3F407A5E965}"/>
                </a:ext>
              </a:extLst>
            </p:cNvPr>
            <p:cNvSpPr/>
            <p:nvPr/>
          </p:nvSpPr>
          <p:spPr>
            <a:xfrm>
              <a:off x="1685767" y="1248563"/>
              <a:ext cx="296314"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3" name="箭號: 向上 112">
              <a:extLst>
                <a:ext uri="{FF2B5EF4-FFF2-40B4-BE49-F238E27FC236}">
                  <a16:creationId xmlns:a16="http://schemas.microsoft.com/office/drawing/2014/main" id="{E5F62870-E275-4447-9E77-AF3F948BA7F3}"/>
                </a:ext>
              </a:extLst>
            </p:cNvPr>
            <p:cNvSpPr/>
            <p:nvPr/>
          </p:nvSpPr>
          <p:spPr>
            <a:xfrm>
              <a:off x="1790665" y="1448618"/>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 name="矩形 113">
              <a:extLst>
                <a:ext uri="{FF2B5EF4-FFF2-40B4-BE49-F238E27FC236}">
                  <a16:creationId xmlns:a16="http://schemas.microsoft.com/office/drawing/2014/main" id="{B90E95E7-B89F-4B21-93D3-A49D433FD71D}"/>
                </a:ext>
              </a:extLst>
            </p:cNvPr>
            <p:cNvSpPr/>
            <p:nvPr/>
          </p:nvSpPr>
          <p:spPr>
            <a:xfrm>
              <a:off x="1985057" y="1248563"/>
              <a:ext cx="296314"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7" name="箭號: 向上 116">
              <a:extLst>
                <a:ext uri="{FF2B5EF4-FFF2-40B4-BE49-F238E27FC236}">
                  <a16:creationId xmlns:a16="http://schemas.microsoft.com/office/drawing/2014/main" id="{AA0E1465-E8F1-4B76-A685-1340DD7E716F}"/>
                </a:ext>
              </a:extLst>
            </p:cNvPr>
            <p:cNvSpPr/>
            <p:nvPr/>
          </p:nvSpPr>
          <p:spPr>
            <a:xfrm>
              <a:off x="2089955" y="1448618"/>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 name="矩形 119">
              <a:extLst>
                <a:ext uri="{FF2B5EF4-FFF2-40B4-BE49-F238E27FC236}">
                  <a16:creationId xmlns:a16="http://schemas.microsoft.com/office/drawing/2014/main" id="{CB809D42-F8E9-4B4D-8222-666270BD1098}"/>
                </a:ext>
              </a:extLst>
            </p:cNvPr>
            <p:cNvSpPr/>
            <p:nvPr/>
          </p:nvSpPr>
          <p:spPr>
            <a:xfrm>
              <a:off x="2286570" y="1248563"/>
              <a:ext cx="2952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21" name="箭號: 向上 120">
              <a:extLst>
                <a:ext uri="{FF2B5EF4-FFF2-40B4-BE49-F238E27FC236}">
                  <a16:creationId xmlns:a16="http://schemas.microsoft.com/office/drawing/2014/main" id="{88BEB088-70A9-45A6-A15C-0FFAB2962A02}"/>
                </a:ext>
              </a:extLst>
            </p:cNvPr>
            <p:cNvSpPr/>
            <p:nvPr/>
          </p:nvSpPr>
          <p:spPr>
            <a:xfrm rot="10800000">
              <a:off x="2389245" y="1448618"/>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 name="矩形 121">
              <a:extLst>
                <a:ext uri="{FF2B5EF4-FFF2-40B4-BE49-F238E27FC236}">
                  <a16:creationId xmlns:a16="http://schemas.microsoft.com/office/drawing/2014/main" id="{AAB727F8-6A6A-4C6D-9A6D-55F6FB015D40}"/>
                </a:ext>
              </a:extLst>
            </p:cNvPr>
            <p:cNvSpPr/>
            <p:nvPr/>
          </p:nvSpPr>
          <p:spPr>
            <a:xfrm>
              <a:off x="2584751" y="1248563"/>
              <a:ext cx="2952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23" name="箭號: 向上 122">
              <a:extLst>
                <a:ext uri="{FF2B5EF4-FFF2-40B4-BE49-F238E27FC236}">
                  <a16:creationId xmlns:a16="http://schemas.microsoft.com/office/drawing/2014/main" id="{AD163A82-112C-4636-91AB-4738475962ED}"/>
                </a:ext>
              </a:extLst>
            </p:cNvPr>
            <p:cNvSpPr/>
            <p:nvPr/>
          </p:nvSpPr>
          <p:spPr>
            <a:xfrm rot="10800000">
              <a:off x="2687426" y="1448618"/>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 name="矩形 123">
              <a:extLst>
                <a:ext uri="{FF2B5EF4-FFF2-40B4-BE49-F238E27FC236}">
                  <a16:creationId xmlns:a16="http://schemas.microsoft.com/office/drawing/2014/main" id="{CE740E35-B4B1-4C55-892C-C2E543C9C2F8}"/>
                </a:ext>
              </a:extLst>
            </p:cNvPr>
            <p:cNvSpPr/>
            <p:nvPr/>
          </p:nvSpPr>
          <p:spPr>
            <a:xfrm>
              <a:off x="2881938" y="1248563"/>
              <a:ext cx="2952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25" name="箭號: 向上 124">
              <a:extLst>
                <a:ext uri="{FF2B5EF4-FFF2-40B4-BE49-F238E27FC236}">
                  <a16:creationId xmlns:a16="http://schemas.microsoft.com/office/drawing/2014/main" id="{85ED51E8-002A-4D2E-AFE3-E45E46DC16E2}"/>
                </a:ext>
              </a:extLst>
            </p:cNvPr>
            <p:cNvSpPr/>
            <p:nvPr/>
          </p:nvSpPr>
          <p:spPr>
            <a:xfrm rot="10800000">
              <a:off x="2984613" y="1448618"/>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 name="矩形 125">
              <a:extLst>
                <a:ext uri="{FF2B5EF4-FFF2-40B4-BE49-F238E27FC236}">
                  <a16:creationId xmlns:a16="http://schemas.microsoft.com/office/drawing/2014/main" id="{426DF3DC-E545-4E11-AD46-826879506F54}"/>
                </a:ext>
              </a:extLst>
            </p:cNvPr>
            <p:cNvSpPr/>
            <p:nvPr/>
          </p:nvSpPr>
          <p:spPr>
            <a:xfrm>
              <a:off x="3180440" y="1248563"/>
              <a:ext cx="2952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27" name="箭號: 向上 126">
              <a:extLst>
                <a:ext uri="{FF2B5EF4-FFF2-40B4-BE49-F238E27FC236}">
                  <a16:creationId xmlns:a16="http://schemas.microsoft.com/office/drawing/2014/main" id="{0551A400-9AD2-4E0B-92C8-4C9805DC404B}"/>
                </a:ext>
              </a:extLst>
            </p:cNvPr>
            <p:cNvSpPr/>
            <p:nvPr/>
          </p:nvSpPr>
          <p:spPr>
            <a:xfrm rot="10800000">
              <a:off x="3283115" y="1448618"/>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 name="矩形 127">
              <a:extLst>
                <a:ext uri="{FF2B5EF4-FFF2-40B4-BE49-F238E27FC236}">
                  <a16:creationId xmlns:a16="http://schemas.microsoft.com/office/drawing/2014/main" id="{DA26B668-C239-4F25-9BC8-C5F8F70EDD20}"/>
                </a:ext>
              </a:extLst>
            </p:cNvPr>
            <p:cNvSpPr/>
            <p:nvPr/>
          </p:nvSpPr>
          <p:spPr>
            <a:xfrm>
              <a:off x="3479404" y="1248563"/>
              <a:ext cx="296314"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9" name="箭號: 向上 128">
              <a:extLst>
                <a:ext uri="{FF2B5EF4-FFF2-40B4-BE49-F238E27FC236}">
                  <a16:creationId xmlns:a16="http://schemas.microsoft.com/office/drawing/2014/main" id="{4BD6878C-14BA-407D-8C53-759E5141B7EF}"/>
                </a:ext>
              </a:extLst>
            </p:cNvPr>
            <p:cNvSpPr/>
            <p:nvPr/>
          </p:nvSpPr>
          <p:spPr>
            <a:xfrm>
              <a:off x="3584302" y="1448618"/>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矩形 129">
              <a:extLst>
                <a:ext uri="{FF2B5EF4-FFF2-40B4-BE49-F238E27FC236}">
                  <a16:creationId xmlns:a16="http://schemas.microsoft.com/office/drawing/2014/main" id="{EB893088-E3FB-40DB-B588-FC4625B35A94}"/>
                </a:ext>
              </a:extLst>
            </p:cNvPr>
            <p:cNvSpPr/>
            <p:nvPr/>
          </p:nvSpPr>
          <p:spPr>
            <a:xfrm>
              <a:off x="3776640" y="1249830"/>
              <a:ext cx="2952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31" name="箭號: 向上 130">
              <a:extLst>
                <a:ext uri="{FF2B5EF4-FFF2-40B4-BE49-F238E27FC236}">
                  <a16:creationId xmlns:a16="http://schemas.microsoft.com/office/drawing/2014/main" id="{05E0942C-6376-435D-9383-1B85211DDF9F}"/>
                </a:ext>
              </a:extLst>
            </p:cNvPr>
            <p:cNvSpPr/>
            <p:nvPr/>
          </p:nvSpPr>
          <p:spPr>
            <a:xfrm rot="10800000">
              <a:off x="3879315" y="1449885"/>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 name="矩形 131">
              <a:extLst>
                <a:ext uri="{FF2B5EF4-FFF2-40B4-BE49-F238E27FC236}">
                  <a16:creationId xmlns:a16="http://schemas.microsoft.com/office/drawing/2014/main" id="{178892E4-3B76-48ED-B4F8-08D6A2DFB312}"/>
                </a:ext>
              </a:extLst>
            </p:cNvPr>
            <p:cNvSpPr/>
            <p:nvPr/>
          </p:nvSpPr>
          <p:spPr>
            <a:xfrm>
              <a:off x="4075142" y="1249830"/>
              <a:ext cx="295200" cy="1013460"/>
            </a:xfrm>
            <a:prstGeom prst="rect">
              <a:avLst/>
            </a:prstGeom>
            <a:solidFill>
              <a:schemeClr val="accent5">
                <a:lumMod val="20000"/>
                <a:lumOff val="80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33" name="箭號: 向上 132">
              <a:extLst>
                <a:ext uri="{FF2B5EF4-FFF2-40B4-BE49-F238E27FC236}">
                  <a16:creationId xmlns:a16="http://schemas.microsoft.com/office/drawing/2014/main" id="{10C80FBC-70E4-4228-A745-2100B788FF7C}"/>
                </a:ext>
              </a:extLst>
            </p:cNvPr>
            <p:cNvSpPr/>
            <p:nvPr/>
          </p:nvSpPr>
          <p:spPr>
            <a:xfrm rot="10800000">
              <a:off x="4177817" y="1449885"/>
              <a:ext cx="86518" cy="671706"/>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 name="矩形 133">
              <a:extLst>
                <a:ext uri="{FF2B5EF4-FFF2-40B4-BE49-F238E27FC236}">
                  <a16:creationId xmlns:a16="http://schemas.microsoft.com/office/drawing/2014/main" id="{8A722652-9929-4C06-8086-FC1447C85433}"/>
                </a:ext>
              </a:extLst>
            </p:cNvPr>
            <p:cNvSpPr/>
            <p:nvPr/>
          </p:nvSpPr>
          <p:spPr>
            <a:xfrm>
              <a:off x="4375904" y="1249830"/>
              <a:ext cx="296314" cy="1013460"/>
            </a:xfrm>
            <a:prstGeom prst="rect">
              <a:avLst/>
            </a:prstGeom>
            <a:solidFill>
              <a:schemeClr val="bg2">
                <a:lumMod val="75000"/>
              </a:schemeClr>
            </a:solidFill>
            <a:ln>
              <a:solidFill>
                <a:schemeClr val="tx1"/>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5" name="箭號: 向上 134">
              <a:extLst>
                <a:ext uri="{FF2B5EF4-FFF2-40B4-BE49-F238E27FC236}">
                  <a16:creationId xmlns:a16="http://schemas.microsoft.com/office/drawing/2014/main" id="{6E65C63A-5979-4317-9973-F15793781C82}"/>
                </a:ext>
              </a:extLst>
            </p:cNvPr>
            <p:cNvSpPr/>
            <p:nvPr/>
          </p:nvSpPr>
          <p:spPr>
            <a:xfrm>
              <a:off x="4480802" y="1449885"/>
              <a:ext cx="86518" cy="671706"/>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8" name="圖片 7">
            <a:extLst>
              <a:ext uri="{FF2B5EF4-FFF2-40B4-BE49-F238E27FC236}">
                <a16:creationId xmlns:a16="http://schemas.microsoft.com/office/drawing/2014/main" id="{545A8672-D557-4864-95C7-435536D402E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515779" y="791856"/>
            <a:ext cx="3874958" cy="2700000"/>
          </a:xfrm>
          <a:prstGeom prst="rect">
            <a:avLst/>
          </a:prstGeom>
          <a:ln>
            <a:noFill/>
          </a:ln>
          <a:effectLst>
            <a:outerShdw blurRad="292100" dist="139700" dir="2700000" algn="tl" rotWithShape="0">
              <a:srgbClr val="333333">
                <a:alpha val="65000"/>
              </a:srgbClr>
            </a:outerShdw>
          </a:effectLst>
        </p:spPr>
      </p:pic>
      <p:sp>
        <p:nvSpPr>
          <p:cNvPr id="83" name="文字方塊 82">
            <a:extLst>
              <a:ext uri="{FF2B5EF4-FFF2-40B4-BE49-F238E27FC236}">
                <a16:creationId xmlns:a16="http://schemas.microsoft.com/office/drawing/2014/main" id="{09828120-F854-4354-B419-C6A5DEC1CAF1}"/>
              </a:ext>
            </a:extLst>
          </p:cNvPr>
          <p:cNvSpPr txBox="1"/>
          <p:nvPr/>
        </p:nvSpPr>
        <p:spPr>
          <a:xfrm>
            <a:off x="10487914" y="5378509"/>
            <a:ext cx="1595416" cy="307777"/>
          </a:xfrm>
          <a:prstGeom prst="rect">
            <a:avLst/>
          </a:prstGeom>
          <a:solidFill>
            <a:srgbClr val="FFC000"/>
          </a:solidFill>
          <a:ln>
            <a:solidFill>
              <a:schemeClr val="tx1"/>
            </a:solidFill>
          </a:ln>
        </p:spPr>
        <p:txBody>
          <a:bodyPr wrap="square" rtlCol="0">
            <a:spAutoFit/>
          </a:bodyPr>
          <a:lstStyle/>
          <a:p>
            <a:pPr algn="ct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Poling error effect</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矩形 9">
            <a:extLst>
              <a:ext uri="{FF2B5EF4-FFF2-40B4-BE49-F238E27FC236}">
                <a16:creationId xmlns:a16="http://schemas.microsoft.com/office/drawing/2014/main" id="{BEA25417-922B-465D-98B1-DE67691F5A71}"/>
              </a:ext>
            </a:extLst>
          </p:cNvPr>
          <p:cNvSpPr/>
          <p:nvPr/>
        </p:nvSpPr>
        <p:spPr>
          <a:xfrm>
            <a:off x="10613002" y="1874167"/>
            <a:ext cx="1345240" cy="307777"/>
          </a:xfrm>
          <a:prstGeom prst="rect">
            <a:avLst/>
          </a:prstGeom>
          <a:solidFill>
            <a:srgbClr val="FFC000"/>
          </a:solidFill>
          <a:ln>
            <a:solidFill>
              <a:schemeClr val="tx1"/>
            </a:solidFill>
          </a:ln>
        </p:spPr>
        <p:txBody>
          <a:bodyPr wrap="none" rtlCol="0">
            <a:spAutoFit/>
          </a:bodyPr>
          <a:lstStyle/>
          <a:p>
            <a:pPr algn="ct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No poling error </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矩形 6">
            <a:extLst>
              <a:ext uri="{FF2B5EF4-FFF2-40B4-BE49-F238E27FC236}">
                <a16:creationId xmlns:a16="http://schemas.microsoft.com/office/drawing/2014/main" id="{6F9E114F-E4CF-4153-8171-E677D70C90D6}"/>
              </a:ext>
            </a:extLst>
          </p:cNvPr>
          <p:cNvSpPr/>
          <p:nvPr/>
        </p:nvSpPr>
        <p:spPr>
          <a:xfrm>
            <a:off x="240723" y="5293919"/>
            <a:ext cx="2186569" cy="421586"/>
          </a:xfrm>
          <a:prstGeom prst="rect">
            <a:avLst/>
          </a:prstGeom>
          <a:solidFill>
            <a:schemeClr val="bg1"/>
          </a:solidFill>
          <a:ln w="25400">
            <a:solidFill>
              <a:srgbClr val="0000FF"/>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Simulation EO coefficient</a:t>
            </a:r>
            <a:r>
              <a:rPr lang="zh-TW" altLang="en-US" sz="1400" dirty="0">
                <a:solidFill>
                  <a:schemeClr val="tx1"/>
                </a:solidFill>
                <a:latin typeface="標楷體" panose="03000509000000000000" pitchFamily="65" charset="-120"/>
                <a:ea typeface="標楷體" panose="03000509000000000000" pitchFamily="65" charset="-120"/>
                <a:cs typeface="Times New Roman" panose="02020603050405020304" pitchFamily="18" charset="0"/>
              </a:rPr>
              <a:t>：</a:t>
            </a:r>
            <a:endPar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26pm/V</a:t>
            </a:r>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8" name="矩形 97">
            <a:extLst>
              <a:ext uri="{FF2B5EF4-FFF2-40B4-BE49-F238E27FC236}">
                <a16:creationId xmlns:a16="http://schemas.microsoft.com/office/drawing/2014/main" id="{2EE9381F-D0FB-4ABB-AE84-6C12D970A0E2}"/>
              </a:ext>
            </a:extLst>
          </p:cNvPr>
          <p:cNvSpPr/>
          <p:nvPr/>
        </p:nvSpPr>
        <p:spPr>
          <a:xfrm>
            <a:off x="238891" y="6040580"/>
            <a:ext cx="2186545" cy="421586"/>
          </a:xfrm>
          <a:prstGeom prst="rect">
            <a:avLst/>
          </a:prstGeom>
          <a:solidFill>
            <a:schemeClr val="bg1"/>
          </a:solidFill>
          <a:ln w="25400">
            <a:solidFill>
              <a:srgbClr val="FF0000"/>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TW"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Simulation Temperature</a:t>
            </a:r>
            <a:r>
              <a:rPr lang="zh-TW" altLang="en-US"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40℃</a:t>
            </a:r>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2" name="矩形 101">
            <a:extLst>
              <a:ext uri="{FF2B5EF4-FFF2-40B4-BE49-F238E27FC236}">
                <a16:creationId xmlns:a16="http://schemas.microsoft.com/office/drawing/2014/main" id="{2C2934C5-8691-4B51-9148-9595275A3754}"/>
              </a:ext>
            </a:extLst>
          </p:cNvPr>
          <p:cNvSpPr/>
          <p:nvPr/>
        </p:nvSpPr>
        <p:spPr>
          <a:xfrm>
            <a:off x="3252638" y="6037093"/>
            <a:ext cx="2186527" cy="421586"/>
          </a:xfrm>
          <a:prstGeom prst="rect">
            <a:avLst/>
          </a:prstGeom>
          <a:solidFill>
            <a:schemeClr val="bg1"/>
          </a:solidFill>
          <a:ln w="25400">
            <a:solidFill>
              <a:srgbClr val="FF0000"/>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TW"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Fitting</a:t>
            </a: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Temperature</a:t>
            </a:r>
            <a:r>
              <a:rPr lang="zh-TW" altLang="en-US"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40.2℃</a:t>
            </a:r>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3" name="矩形 102">
            <a:extLst>
              <a:ext uri="{FF2B5EF4-FFF2-40B4-BE49-F238E27FC236}">
                <a16:creationId xmlns:a16="http://schemas.microsoft.com/office/drawing/2014/main" id="{87F30793-EBE0-4207-8A41-D2B7AAA0D0A0}"/>
              </a:ext>
            </a:extLst>
          </p:cNvPr>
          <p:cNvSpPr/>
          <p:nvPr/>
        </p:nvSpPr>
        <p:spPr>
          <a:xfrm>
            <a:off x="3252596" y="5293919"/>
            <a:ext cx="2186569" cy="421586"/>
          </a:xfrm>
          <a:prstGeom prst="rect">
            <a:avLst/>
          </a:prstGeom>
          <a:solidFill>
            <a:schemeClr val="bg1"/>
          </a:solidFill>
          <a:ln w="25400">
            <a:solidFill>
              <a:srgbClr val="0000FF"/>
            </a:solidFill>
          </a:ln>
          <a:scene3d>
            <a:camera prst="orthographicFront"/>
            <a:lightRig rig="threePt" dir="t"/>
          </a:scene3d>
          <a:sp3d>
            <a:bevelT h="1270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TW"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Fitting EO coefficient</a:t>
            </a:r>
            <a:r>
              <a:rPr lang="zh-TW" altLang="en-US"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140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24pm/</a:t>
            </a: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V</a:t>
            </a:r>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箭號: 向右 10">
            <a:extLst>
              <a:ext uri="{FF2B5EF4-FFF2-40B4-BE49-F238E27FC236}">
                <a16:creationId xmlns:a16="http://schemas.microsoft.com/office/drawing/2014/main" id="{1F534946-5234-4026-BE37-3F7FB1A8F204}"/>
              </a:ext>
            </a:extLst>
          </p:cNvPr>
          <p:cNvSpPr/>
          <p:nvPr/>
        </p:nvSpPr>
        <p:spPr>
          <a:xfrm>
            <a:off x="2547973" y="5399317"/>
            <a:ext cx="565937" cy="210789"/>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箭號: 向右 107">
            <a:extLst>
              <a:ext uri="{FF2B5EF4-FFF2-40B4-BE49-F238E27FC236}">
                <a16:creationId xmlns:a16="http://schemas.microsoft.com/office/drawing/2014/main" id="{5495894E-C521-41CC-B18F-244A76A0254C}"/>
              </a:ext>
            </a:extLst>
          </p:cNvPr>
          <p:cNvSpPr/>
          <p:nvPr/>
        </p:nvSpPr>
        <p:spPr>
          <a:xfrm>
            <a:off x="2547973" y="6151016"/>
            <a:ext cx="565937" cy="210789"/>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9" name="文字方塊 108">
                <a:extLst>
                  <a:ext uri="{FF2B5EF4-FFF2-40B4-BE49-F238E27FC236}">
                    <a16:creationId xmlns:a16="http://schemas.microsoft.com/office/drawing/2014/main" id="{0286DEF8-5343-4646-B23F-E25D1FBB0ED1}"/>
                  </a:ext>
                </a:extLst>
              </p:cNvPr>
              <p:cNvSpPr txBox="1"/>
              <p:nvPr/>
            </p:nvSpPr>
            <p:spPr>
              <a:xfrm>
                <a:off x="1591902" y="4825452"/>
                <a:ext cx="2663991" cy="338554"/>
              </a:xfrm>
              <a:prstGeom prst="rect">
                <a:avLst/>
              </a:prstGeom>
              <a:noFill/>
            </p:spPr>
            <p:txBody>
              <a:bodyPr wrap="square" rtlCol="0">
                <a:spAutoFit/>
              </a:bodyPr>
              <a:lstStyle/>
              <a:p>
                <a:pPr algn="ctr"/>
                <a:r>
                  <a:rPr lang="en-US" altLang="zh-TW"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Under-poled</a:t>
                </a:r>
                <a:r>
                  <a:rPr lang="zh-TW" altLang="en-US" sz="1600" dirty="0">
                    <a:solidFill>
                      <a:srgbClr val="FF0000"/>
                    </a:solidFill>
                    <a:latin typeface="標楷體" panose="03000509000000000000" pitchFamily="65" charset="-120"/>
                    <a:ea typeface="標楷體" panose="03000509000000000000" pitchFamily="65" charset="-120"/>
                    <a:cs typeface="Times New Roman" panose="02020603050405020304" pitchFamily="18" charset="0"/>
                  </a:rPr>
                  <a:t>：</a:t>
                </a:r>
                <a14:m>
                  <m:oMath xmlns:m="http://schemas.openxmlformats.org/officeDocument/2006/math">
                    <m:r>
                      <a:rPr lang="en-US" altLang="zh-TW" sz="1600" i="1" dirty="0">
                        <a:solidFill>
                          <a:srgbClr val="FF0000"/>
                        </a:solidFill>
                        <a:latin typeface="Cambria Math" panose="02040503050406030204" pitchFamily="18" charset="0"/>
                        <a:ea typeface="標楷體" panose="03000509000000000000" pitchFamily="65" charset="-120"/>
                        <a:cs typeface="Times New Roman" panose="02020603050405020304" pitchFamily="18" charset="0"/>
                      </a:rPr>
                      <m:t>3</m:t>
                    </m:r>
                    <m:r>
                      <a:rPr lang="en-US" altLang="zh-TW" sz="1600" i="1" dirty="0" smtClean="0">
                        <a:solidFill>
                          <a:srgbClr val="FF0000"/>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dirty="0">
                        <a:solidFill>
                          <a:srgbClr val="FF0000"/>
                        </a:solidFill>
                        <a:latin typeface="Cambria Math" panose="02040503050406030204" pitchFamily="18" charset="0"/>
                        <a:ea typeface="標楷體" panose="03000509000000000000" pitchFamily="65" charset="-120"/>
                        <a:cs typeface="Times New Roman" panose="02020603050405020304" pitchFamily="18" charset="0"/>
                      </a:rPr>
                      <m:t>4</m:t>
                    </m:r>
                    <m:r>
                      <a:rPr lang="zh-TW" altLang="en-US" sz="1600" i="1" dirty="0" smtClean="0">
                        <a:solidFill>
                          <a:srgbClr val="FF0000"/>
                        </a:solidFill>
                        <a:latin typeface="Cambria Math" panose="02040503050406030204" pitchFamily="18" charset="0"/>
                        <a:ea typeface="標楷體" panose="03000509000000000000" pitchFamily="65" charset="-120"/>
                        <a:cs typeface="Times New Roman" panose="02020603050405020304" pitchFamily="18" charset="0"/>
                      </a:rPr>
                      <m:t>𝜇</m:t>
                    </m:r>
                    <m:r>
                      <a:rPr lang="en-US" altLang="zh-TW" sz="1600" b="0" i="1" dirty="0" smtClean="0">
                        <a:solidFill>
                          <a:srgbClr val="FF0000"/>
                        </a:solidFill>
                        <a:latin typeface="Cambria Math" panose="02040503050406030204" pitchFamily="18" charset="0"/>
                        <a:ea typeface="標楷體" panose="03000509000000000000" pitchFamily="65" charset="-120"/>
                        <a:cs typeface="Times New Roman" panose="02020603050405020304" pitchFamily="18" charset="0"/>
                      </a:rPr>
                      <m:t>𝑚</m:t>
                    </m:r>
                  </m:oMath>
                </a14:m>
                <a:endParaRPr lang="zh-TW" altLang="en-US"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09" name="文字方塊 108">
                <a:extLst>
                  <a:ext uri="{FF2B5EF4-FFF2-40B4-BE49-F238E27FC236}">
                    <a16:creationId xmlns:a16="http://schemas.microsoft.com/office/drawing/2014/main" id="{0286DEF8-5343-4646-B23F-E25D1FBB0ED1}"/>
                  </a:ext>
                </a:extLst>
              </p:cNvPr>
              <p:cNvSpPr txBox="1">
                <a:spLocks noRot="1" noChangeAspect="1" noMove="1" noResize="1" noEditPoints="1" noAdjustHandles="1" noChangeArrowheads="1" noChangeShapeType="1" noTextEdit="1"/>
              </p:cNvSpPr>
              <p:nvPr/>
            </p:nvSpPr>
            <p:spPr>
              <a:xfrm>
                <a:off x="1591902" y="4825452"/>
                <a:ext cx="2663991" cy="338554"/>
              </a:xfrm>
              <a:prstGeom prst="rect">
                <a:avLst/>
              </a:prstGeom>
              <a:blipFill>
                <a:blip r:embed="rId4"/>
                <a:stretch>
                  <a:fillRect t="-5455" b="-23636"/>
                </a:stretch>
              </a:blipFill>
            </p:spPr>
            <p:txBody>
              <a:bodyPr/>
              <a:lstStyle/>
              <a:p>
                <a:r>
                  <a:rPr lang="zh-TW" altLang="en-US">
                    <a:noFill/>
                  </a:rPr>
                  <a:t> </a:t>
                </a:r>
              </a:p>
            </p:txBody>
          </p:sp>
        </mc:Fallback>
      </mc:AlternateContent>
      <p:sp>
        <p:nvSpPr>
          <p:cNvPr id="118" name="文字方塊 117">
            <a:extLst>
              <a:ext uri="{FF2B5EF4-FFF2-40B4-BE49-F238E27FC236}">
                <a16:creationId xmlns:a16="http://schemas.microsoft.com/office/drawing/2014/main" id="{B2319CFA-D116-4795-8CE2-9EC724FE2A43}"/>
              </a:ext>
            </a:extLst>
          </p:cNvPr>
          <p:cNvSpPr txBox="1"/>
          <p:nvPr/>
        </p:nvSpPr>
        <p:spPr>
          <a:xfrm>
            <a:off x="727969" y="132584"/>
            <a:ext cx="4472699" cy="584775"/>
          </a:xfrm>
          <a:prstGeom prst="rect">
            <a:avLst/>
          </a:prstGeom>
          <a:noFill/>
        </p:spPr>
        <p:txBody>
          <a:bodyPr wrap="none" rtlCol="0">
            <a:spAutoFit/>
          </a:bodyPr>
          <a:lstStyle/>
          <a:p>
            <a:r>
              <a:rPr lang="en-US" altLang="zh-TW" sz="3200" b="1" i="1" kern="100" dirty="0">
                <a:latin typeface="Times New Roman" panose="02020603050405020304" pitchFamily="18" charset="0"/>
                <a:ea typeface="標楷體" panose="03000509000000000000" pitchFamily="65" charset="-120"/>
                <a:cs typeface="Times New Roman" panose="02020603050405020304" pitchFamily="18" charset="0"/>
              </a:rPr>
              <a:t>Single pass measurement</a:t>
            </a:r>
            <a:endParaRPr lang="zh-TW" altLang="zh-TW" sz="32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2191920"/>
      </p:ext>
    </p:extLst>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4" name="內容版面配置區 3">
            <a:extLst>
              <a:ext uri="{FF2B5EF4-FFF2-40B4-BE49-F238E27FC236}">
                <a16:creationId xmlns:a16="http://schemas.microsoft.com/office/drawing/2014/main" id="{F081A76A-1BFB-432A-8E5E-F78A135F023B}"/>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tretch/>
        </p:blipFill>
        <p:spPr>
          <a:xfrm>
            <a:off x="7387861" y="4731465"/>
            <a:ext cx="918556" cy="465513"/>
          </a:xfrm>
          <a:ln>
            <a:noFill/>
          </a:ln>
        </p:spPr>
      </p:pic>
      <p:sp>
        <p:nvSpPr>
          <p:cNvPr id="336" name="矩形 335">
            <a:extLst>
              <a:ext uri="{FF2B5EF4-FFF2-40B4-BE49-F238E27FC236}">
                <a16:creationId xmlns:a16="http://schemas.microsoft.com/office/drawing/2014/main" id="{6F263506-DD85-42F8-91E5-860ED19B3639}"/>
              </a:ext>
            </a:extLst>
          </p:cNvPr>
          <p:cNvSpPr/>
          <p:nvPr/>
        </p:nvSpPr>
        <p:spPr>
          <a:xfrm>
            <a:off x="7453240" y="4699590"/>
            <a:ext cx="781647"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37" name="矩形 336">
            <a:extLst>
              <a:ext uri="{FF2B5EF4-FFF2-40B4-BE49-F238E27FC236}">
                <a16:creationId xmlns:a16="http://schemas.microsoft.com/office/drawing/2014/main" id="{27061882-596F-4140-A104-2A92E672C400}"/>
              </a:ext>
            </a:extLst>
          </p:cNvPr>
          <p:cNvSpPr/>
          <p:nvPr/>
        </p:nvSpPr>
        <p:spPr>
          <a:xfrm>
            <a:off x="7445644" y="5144670"/>
            <a:ext cx="789244"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4757836" y="151273"/>
            <a:ext cx="2241255" cy="523220"/>
          </a:xfrm>
          <a:prstGeom prst="rect">
            <a:avLst/>
          </a:prstGeom>
          <a:noFill/>
        </p:spPr>
        <p:txBody>
          <a:bodyPr wrap="none" rtlCol="0">
            <a:spAutoFit/>
          </a:bodyPr>
          <a:lstStyle/>
          <a:p>
            <a:r>
              <a:rPr lang="en-US" altLang="zh-TW" sz="2800" b="1" i="1" kern="100" dirty="0">
                <a:latin typeface="Times New Roman" panose="02020603050405020304" pitchFamily="18" charset="0"/>
                <a:ea typeface="標楷體" panose="03000509000000000000" pitchFamily="65" charset="-120"/>
                <a:cs typeface="Times New Roman" panose="02020603050405020304" pitchFamily="18" charset="0"/>
              </a:rPr>
              <a:t>CW operation</a:t>
            </a:r>
            <a:endParaRPr lang="zh-TW" altLang="zh-TW" sz="2800" kern="100" dirty="0">
              <a:latin typeface="Calibri" panose="020F0502020204030204" pitchFamily="34" charset="0"/>
              <a:cs typeface="Times New Roman" panose="02020603050405020304" pitchFamily="18" charset="0"/>
            </a:endParaRPr>
          </a:p>
        </p:txBody>
      </p:sp>
      <p:grpSp>
        <p:nvGrpSpPr>
          <p:cNvPr id="115" name="群組 114">
            <a:extLst>
              <a:ext uri="{FF2B5EF4-FFF2-40B4-BE49-F238E27FC236}">
                <a16:creationId xmlns:a16="http://schemas.microsoft.com/office/drawing/2014/main" id="{FDEAF6FE-93A3-4847-B77F-DD7516AEFF1A}"/>
              </a:ext>
            </a:extLst>
          </p:cNvPr>
          <p:cNvGrpSpPr/>
          <p:nvPr/>
        </p:nvGrpSpPr>
        <p:grpSpPr>
          <a:xfrm>
            <a:off x="8442686" y="1920659"/>
            <a:ext cx="3135470" cy="1603180"/>
            <a:chOff x="9005589" y="3428189"/>
            <a:chExt cx="3135470" cy="1603180"/>
          </a:xfrm>
        </p:grpSpPr>
        <p:sp>
          <p:nvSpPr>
            <p:cNvPr id="116" name="立方體 115">
              <a:extLst>
                <a:ext uri="{FF2B5EF4-FFF2-40B4-BE49-F238E27FC236}">
                  <a16:creationId xmlns:a16="http://schemas.microsoft.com/office/drawing/2014/main" id="{8C14477D-91AF-4F3E-BC84-B0D4D451FD9C}"/>
                </a:ext>
              </a:extLst>
            </p:cNvPr>
            <p:cNvSpPr/>
            <p:nvPr/>
          </p:nvSpPr>
          <p:spPr>
            <a:xfrm>
              <a:off x="9087770" y="3428189"/>
              <a:ext cx="3053289" cy="1603180"/>
            </a:xfrm>
            <a:prstGeom prst="cube">
              <a:avLst>
                <a:gd name="adj" fmla="val 30383"/>
              </a:avLst>
            </a:prstGeom>
            <a:gradFill>
              <a:gsLst>
                <a:gs pos="17000">
                  <a:schemeClr val="tx1">
                    <a:lumMod val="50000"/>
                    <a:lumOff val="50000"/>
                  </a:schemeClr>
                </a:gs>
                <a:gs pos="38000">
                  <a:schemeClr val="bg1">
                    <a:lumMod val="50000"/>
                  </a:schemeClr>
                </a:gs>
                <a:gs pos="99000">
                  <a:schemeClr val="bg1">
                    <a:lumMod val="85000"/>
                  </a:schemeClr>
                </a:gs>
                <a:gs pos="70000">
                  <a:schemeClr val="bg1">
                    <a:alpha val="75000"/>
                    <a:lumMod val="49000"/>
                  </a:schemeClr>
                </a:gs>
              </a:gsLst>
              <a:lin ang="10800000" scaled="0"/>
            </a:gradFill>
            <a:ln w="25400">
              <a:solidFill>
                <a:schemeClr val="tx1"/>
              </a:solidFill>
            </a:ln>
            <a:scene3d>
              <a:camera prst="orthographicFront">
                <a:rot lat="1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sp>
          <p:nvSpPr>
            <p:cNvPr id="117" name="圓角矩形 54">
              <a:extLst>
                <a:ext uri="{FF2B5EF4-FFF2-40B4-BE49-F238E27FC236}">
                  <a16:creationId xmlns:a16="http://schemas.microsoft.com/office/drawing/2014/main" id="{5F75A93C-01DC-401C-BE10-4BF17AB1B318}"/>
                </a:ext>
              </a:extLst>
            </p:cNvPr>
            <p:cNvSpPr/>
            <p:nvPr/>
          </p:nvSpPr>
          <p:spPr>
            <a:xfrm>
              <a:off x="9527226" y="4037551"/>
              <a:ext cx="1009642" cy="680364"/>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pic>
          <p:nvPicPr>
            <p:cNvPr id="118" name="圖片 117">
              <a:extLst>
                <a:ext uri="{FF2B5EF4-FFF2-40B4-BE49-F238E27FC236}">
                  <a16:creationId xmlns:a16="http://schemas.microsoft.com/office/drawing/2014/main" id="{F897A214-A3A7-414A-8B38-CCD340C3F304}"/>
                </a:ext>
              </a:extLst>
            </p:cNvPr>
            <p:cNvPicPr>
              <a:picLocks noChangeAspect="1"/>
            </p:cNvPicPr>
            <p:nvPr/>
          </p:nvPicPr>
          <p:blipFill>
            <a:blip r:embed="rId3"/>
            <a:stretch>
              <a:fillRect/>
            </a:stretch>
          </p:blipFill>
          <p:spPr>
            <a:xfrm>
              <a:off x="11180281" y="4727973"/>
              <a:ext cx="204606" cy="190197"/>
            </a:xfrm>
            <a:prstGeom prst="rect">
              <a:avLst/>
            </a:prstGeom>
          </p:spPr>
        </p:pic>
        <p:pic>
          <p:nvPicPr>
            <p:cNvPr id="119" name="圖片 118">
              <a:extLst>
                <a:ext uri="{FF2B5EF4-FFF2-40B4-BE49-F238E27FC236}">
                  <a16:creationId xmlns:a16="http://schemas.microsoft.com/office/drawing/2014/main" id="{0CF0BAAB-2977-4C9D-B0D9-2CBFD0D97C07}"/>
                </a:ext>
              </a:extLst>
            </p:cNvPr>
            <p:cNvPicPr>
              <a:picLocks noChangeAspect="1"/>
            </p:cNvPicPr>
            <p:nvPr/>
          </p:nvPicPr>
          <p:blipFill>
            <a:blip r:embed="rId3"/>
            <a:stretch>
              <a:fillRect/>
            </a:stretch>
          </p:blipFill>
          <p:spPr>
            <a:xfrm>
              <a:off x="11357751" y="4709607"/>
              <a:ext cx="204606" cy="190197"/>
            </a:xfrm>
            <a:prstGeom prst="rect">
              <a:avLst/>
            </a:prstGeom>
          </p:spPr>
        </p:pic>
        <p:sp>
          <p:nvSpPr>
            <p:cNvPr id="120" name="圓角矩形 57">
              <a:extLst>
                <a:ext uri="{FF2B5EF4-FFF2-40B4-BE49-F238E27FC236}">
                  <a16:creationId xmlns:a16="http://schemas.microsoft.com/office/drawing/2014/main" id="{52419392-3FB4-4785-B916-9B5CF461EBDF}"/>
                </a:ext>
              </a:extLst>
            </p:cNvPr>
            <p:cNvSpPr/>
            <p:nvPr/>
          </p:nvSpPr>
          <p:spPr>
            <a:xfrm>
              <a:off x="9331478" y="4242601"/>
              <a:ext cx="131445" cy="45719"/>
            </a:xfrm>
            <a:prstGeom prst="roundRect">
              <a:avLst/>
            </a:prstGeom>
            <a:solidFill>
              <a:srgbClr val="FFFF00"/>
            </a:solidFill>
            <a:ln>
              <a:solidFill>
                <a:srgbClr val="FFFF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 name="文字方塊 120">
              <a:extLst>
                <a:ext uri="{FF2B5EF4-FFF2-40B4-BE49-F238E27FC236}">
                  <a16:creationId xmlns:a16="http://schemas.microsoft.com/office/drawing/2014/main" id="{6CAAE7E7-62E3-45D7-B130-F783FA1B7336}"/>
                </a:ext>
              </a:extLst>
            </p:cNvPr>
            <p:cNvSpPr txBox="1"/>
            <p:nvPr/>
          </p:nvSpPr>
          <p:spPr>
            <a:xfrm>
              <a:off x="9217752" y="4105584"/>
              <a:ext cx="354027" cy="169277"/>
            </a:xfrm>
            <a:prstGeom prst="rect">
              <a:avLst/>
            </a:prstGeom>
            <a:noFill/>
          </p:spPr>
          <p:txBody>
            <a:bodyPr wrap="square" rtlCol="0">
              <a:spAutoFit/>
            </a:bodyPr>
            <a:lstStyle/>
            <a:p>
              <a:r>
                <a:rPr lang="en-US" altLang="zh-TW" sz="500" b="1" dirty="0">
                  <a:latin typeface="Times New Roman" panose="02020603050405020304" pitchFamily="18" charset="0"/>
                  <a:ea typeface="標楷體" panose="03000509000000000000" pitchFamily="65" charset="-120"/>
                  <a:cs typeface="Times New Roman" panose="02020603050405020304" pitchFamily="18" charset="0"/>
                </a:rPr>
                <a:t>Preset</a:t>
              </a:r>
              <a:endParaRPr lang="zh-TW" altLang="en-US" sz="5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2" name="橢圓 121">
              <a:extLst>
                <a:ext uri="{FF2B5EF4-FFF2-40B4-BE49-F238E27FC236}">
                  <a16:creationId xmlns:a16="http://schemas.microsoft.com/office/drawing/2014/main" id="{21FA0041-FAA1-4BB5-867F-D0E982360B11}"/>
                </a:ext>
              </a:extLst>
            </p:cNvPr>
            <p:cNvSpPr/>
            <p:nvPr/>
          </p:nvSpPr>
          <p:spPr>
            <a:xfrm>
              <a:off x="9347941" y="4718229"/>
              <a:ext cx="78105" cy="86477"/>
            </a:xfrm>
            <a:prstGeom prst="ellipse">
              <a:avLst/>
            </a:prstGeom>
            <a:solidFill>
              <a:srgbClr val="92D050"/>
            </a:solidFill>
            <a:ln>
              <a:solidFill>
                <a:srgbClr val="92D05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3" name="文字方塊 122">
              <a:extLst>
                <a:ext uri="{FF2B5EF4-FFF2-40B4-BE49-F238E27FC236}">
                  <a16:creationId xmlns:a16="http://schemas.microsoft.com/office/drawing/2014/main" id="{BC959774-F1D8-408C-A76D-64E334D843C5}"/>
                </a:ext>
              </a:extLst>
            </p:cNvPr>
            <p:cNvSpPr txBox="1"/>
            <p:nvPr/>
          </p:nvSpPr>
          <p:spPr>
            <a:xfrm>
              <a:off x="9215462" y="4578700"/>
              <a:ext cx="370036" cy="169277"/>
            </a:xfrm>
            <a:prstGeom prst="rect">
              <a:avLst/>
            </a:prstGeom>
            <a:noFill/>
          </p:spPr>
          <p:txBody>
            <a:bodyPr wrap="square" rtlCol="0">
              <a:spAutoFit/>
            </a:bodyPr>
            <a:lstStyle/>
            <a:p>
              <a:r>
                <a:rPr lang="en-US" altLang="zh-TW" sz="500" b="1" dirty="0">
                  <a:latin typeface="Times New Roman" panose="02020603050405020304" pitchFamily="18" charset="0"/>
                  <a:ea typeface="標楷體" panose="03000509000000000000" pitchFamily="65" charset="-120"/>
                  <a:cs typeface="Times New Roman" panose="02020603050405020304" pitchFamily="18" charset="0"/>
                </a:rPr>
                <a:t>Power</a:t>
              </a:r>
              <a:endParaRPr lang="zh-TW" altLang="en-US" sz="5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4" name="文字方塊 123">
              <a:extLst>
                <a:ext uri="{FF2B5EF4-FFF2-40B4-BE49-F238E27FC236}">
                  <a16:creationId xmlns:a16="http://schemas.microsoft.com/office/drawing/2014/main" id="{97F22A3E-D8F6-4062-9E80-1796985C28ED}"/>
                </a:ext>
              </a:extLst>
            </p:cNvPr>
            <p:cNvSpPr txBox="1"/>
            <p:nvPr/>
          </p:nvSpPr>
          <p:spPr>
            <a:xfrm>
              <a:off x="9005589" y="3920801"/>
              <a:ext cx="497707" cy="246221"/>
            </a:xfrm>
            <a:prstGeom prst="rect">
              <a:avLst/>
            </a:prstGeom>
            <a:noFill/>
          </p:spPr>
          <p:txBody>
            <a:bodyPr wrap="square" rtlCol="0">
              <a:spAutoFit/>
            </a:bodyPr>
            <a:lstStyle/>
            <a:p>
              <a:r>
                <a:rPr lang="en-US" altLang="zh-TW" sz="500" b="1" dirty="0">
                  <a:solidFill>
                    <a:srgbClr val="00B050"/>
                  </a:solidFill>
                  <a:latin typeface="Times New Roman" panose="02020603050405020304" pitchFamily="18" charset="0"/>
                  <a:ea typeface="標楷體" panose="03000509000000000000" pitchFamily="65" charset="-120"/>
                  <a:cs typeface="Times New Roman" panose="02020603050405020304" pitchFamily="18" charset="0"/>
                </a:rPr>
                <a:t>ANRITSU</a:t>
              </a:r>
            </a:p>
            <a:p>
              <a:r>
                <a:rPr lang="en-US" altLang="zh-TW" sz="500" b="1" dirty="0">
                  <a:latin typeface="Times New Roman" panose="02020603050405020304" pitchFamily="18" charset="0"/>
                  <a:ea typeface="標楷體" panose="03000509000000000000" pitchFamily="65" charset="-120"/>
                  <a:cs typeface="Times New Roman" panose="02020603050405020304" pitchFamily="18" charset="0"/>
                </a:rPr>
                <a:t>MS9740A</a:t>
              </a:r>
              <a:endParaRPr lang="zh-TW" altLang="en-US" sz="500" b="1"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5" name="圓角矩形 62">
                  <a:extLst>
                    <a:ext uri="{FF2B5EF4-FFF2-40B4-BE49-F238E27FC236}">
                      <a16:creationId xmlns:a16="http://schemas.microsoft.com/office/drawing/2014/main" id="{CAA81D4F-B9F3-438F-AE04-750BD500300E}"/>
                    </a:ext>
                  </a:extLst>
                </p:cNvPr>
                <p:cNvSpPr/>
                <p:nvPr/>
              </p:nvSpPr>
              <p:spPr>
                <a:xfrm>
                  <a:off x="9329042" y="4364931"/>
                  <a:ext cx="131445"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𝑺𝑨𝑽𝑬</m:t>
                        </m:r>
                      </m:oMath>
                    </m:oMathPara>
                  </a14:m>
                  <a:endParaRPr lang="en-US" altLang="zh-TW" sz="300" b="1" dirty="0">
                    <a:solidFill>
                      <a:schemeClr val="tx1"/>
                    </a:solidFill>
                  </a:endParaRPr>
                </a:p>
              </p:txBody>
            </p:sp>
          </mc:Choice>
          <mc:Fallback xmlns="">
            <p:sp>
              <p:nvSpPr>
                <p:cNvPr id="125" name="圓角矩形 62">
                  <a:extLst>
                    <a:ext uri="{FF2B5EF4-FFF2-40B4-BE49-F238E27FC236}">
                      <a16:creationId xmlns:a16="http://schemas.microsoft.com/office/drawing/2014/main" id="{CAA81D4F-B9F3-438F-AE04-750BD500300E}"/>
                    </a:ext>
                  </a:extLst>
                </p:cNvPr>
                <p:cNvSpPr>
                  <a:spLocks noRot="1" noChangeAspect="1" noMove="1" noResize="1" noEditPoints="1" noAdjustHandles="1" noChangeArrowheads="1" noChangeShapeType="1" noTextEdit="1"/>
                </p:cNvSpPr>
                <p:nvPr/>
              </p:nvSpPr>
              <p:spPr>
                <a:xfrm>
                  <a:off x="9329042" y="4364931"/>
                  <a:ext cx="131445" cy="45719"/>
                </a:xfrm>
                <a:prstGeom prst="roundRect">
                  <a:avLst/>
                </a:prstGeom>
                <a:blipFill>
                  <a:blip r:embed="rId4"/>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6" name="圓角矩形 63">
                  <a:extLst>
                    <a:ext uri="{FF2B5EF4-FFF2-40B4-BE49-F238E27FC236}">
                      <a16:creationId xmlns:a16="http://schemas.microsoft.com/office/drawing/2014/main" id="{EA93E9CA-1E29-4493-8420-BD060CAFE901}"/>
                    </a:ext>
                  </a:extLst>
                </p:cNvPr>
                <p:cNvSpPr/>
                <p:nvPr/>
              </p:nvSpPr>
              <p:spPr>
                <a:xfrm>
                  <a:off x="9328580" y="4457493"/>
                  <a:ext cx="131445"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𝑹𝒆𝒄𝒂𝒍𝒍</m:t>
                        </m:r>
                      </m:oMath>
                    </m:oMathPara>
                  </a14:m>
                  <a:endParaRPr lang="en-US" altLang="zh-TW" sz="300" b="1" dirty="0">
                    <a:solidFill>
                      <a:schemeClr val="tx1"/>
                    </a:solidFill>
                  </a:endParaRPr>
                </a:p>
              </p:txBody>
            </p:sp>
          </mc:Choice>
          <mc:Fallback xmlns="">
            <p:sp>
              <p:nvSpPr>
                <p:cNvPr id="126" name="圓角矩形 63">
                  <a:extLst>
                    <a:ext uri="{FF2B5EF4-FFF2-40B4-BE49-F238E27FC236}">
                      <a16:creationId xmlns:a16="http://schemas.microsoft.com/office/drawing/2014/main" id="{EA93E9CA-1E29-4493-8420-BD060CAFE901}"/>
                    </a:ext>
                  </a:extLst>
                </p:cNvPr>
                <p:cNvSpPr>
                  <a:spLocks noRot="1" noChangeAspect="1" noMove="1" noResize="1" noEditPoints="1" noAdjustHandles="1" noChangeArrowheads="1" noChangeShapeType="1" noTextEdit="1"/>
                </p:cNvSpPr>
                <p:nvPr/>
              </p:nvSpPr>
              <p:spPr>
                <a:xfrm>
                  <a:off x="9328580" y="4457493"/>
                  <a:ext cx="131445" cy="45719"/>
                </a:xfrm>
                <a:prstGeom prst="roundRect">
                  <a:avLst/>
                </a:prstGeom>
                <a:blipFill>
                  <a:blip r:embed="rId5"/>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7" name="圓角矩形 64">
                  <a:extLst>
                    <a:ext uri="{FF2B5EF4-FFF2-40B4-BE49-F238E27FC236}">
                      <a16:creationId xmlns:a16="http://schemas.microsoft.com/office/drawing/2014/main" id="{DA1C2A26-0B68-4C6F-BD86-3A4F177A013B}"/>
                    </a:ext>
                  </a:extLst>
                </p:cNvPr>
                <p:cNvSpPr/>
                <p:nvPr/>
              </p:nvSpPr>
              <p:spPr>
                <a:xfrm>
                  <a:off x="9329639" y="4558459"/>
                  <a:ext cx="131445"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𝑪𝒐𝒑𝒚</m:t>
                        </m:r>
                      </m:oMath>
                    </m:oMathPara>
                  </a14:m>
                  <a:endParaRPr lang="en-US" altLang="zh-TW" sz="300" b="1" dirty="0">
                    <a:solidFill>
                      <a:schemeClr val="tx1"/>
                    </a:solidFill>
                  </a:endParaRPr>
                </a:p>
              </p:txBody>
            </p:sp>
          </mc:Choice>
          <mc:Fallback xmlns="">
            <p:sp>
              <p:nvSpPr>
                <p:cNvPr id="127" name="圓角矩形 64">
                  <a:extLst>
                    <a:ext uri="{FF2B5EF4-FFF2-40B4-BE49-F238E27FC236}">
                      <a16:creationId xmlns:a16="http://schemas.microsoft.com/office/drawing/2014/main" id="{DA1C2A26-0B68-4C6F-BD86-3A4F177A013B}"/>
                    </a:ext>
                  </a:extLst>
                </p:cNvPr>
                <p:cNvSpPr>
                  <a:spLocks noRot="1" noChangeAspect="1" noMove="1" noResize="1" noEditPoints="1" noAdjustHandles="1" noChangeArrowheads="1" noChangeShapeType="1" noTextEdit="1"/>
                </p:cNvSpPr>
                <p:nvPr/>
              </p:nvSpPr>
              <p:spPr>
                <a:xfrm>
                  <a:off x="9329639" y="4558459"/>
                  <a:ext cx="131445" cy="45719"/>
                </a:xfrm>
                <a:prstGeom prst="roundRect">
                  <a:avLst/>
                </a:prstGeom>
                <a:blipFill>
                  <a:blip r:embed="rId6"/>
                  <a:stretch>
                    <a:fillRect/>
                  </a:stretch>
                </a:blipFill>
                <a:ln>
                  <a:solidFill>
                    <a:schemeClr val="bg1">
                      <a:lumMod val="65000"/>
                    </a:schemeClr>
                  </a:solidFill>
                </a:ln>
              </p:spPr>
              <p:txBody>
                <a:bodyPr/>
                <a:lstStyle/>
                <a:p>
                  <a:r>
                    <a:rPr lang="zh-TW" altLang="en-US">
                      <a:noFill/>
                    </a:rPr>
                    <a:t> </a:t>
                  </a:r>
                </a:p>
              </p:txBody>
            </p:sp>
          </mc:Fallback>
        </mc:AlternateContent>
        <p:pic>
          <p:nvPicPr>
            <p:cNvPr id="128" name="圖片 127">
              <a:extLst>
                <a:ext uri="{FF2B5EF4-FFF2-40B4-BE49-F238E27FC236}">
                  <a16:creationId xmlns:a16="http://schemas.microsoft.com/office/drawing/2014/main" id="{2F39DDE4-E105-4D82-BF1A-BAA5C1BF9380}"/>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 r="90" b="394"/>
            <a:stretch/>
          </p:blipFill>
          <p:spPr>
            <a:xfrm>
              <a:off x="9537729" y="4043911"/>
              <a:ext cx="989613" cy="659948"/>
            </a:xfrm>
            <a:prstGeom prst="rect">
              <a:avLst/>
            </a:prstGeom>
          </p:spPr>
        </p:pic>
        <p:sp>
          <p:nvSpPr>
            <p:cNvPr id="129" name="矩形 128">
              <a:extLst>
                <a:ext uri="{FF2B5EF4-FFF2-40B4-BE49-F238E27FC236}">
                  <a16:creationId xmlns:a16="http://schemas.microsoft.com/office/drawing/2014/main" id="{50CBBEC2-876A-478B-804E-032177ABB4DD}"/>
                </a:ext>
              </a:extLst>
            </p:cNvPr>
            <p:cNvSpPr/>
            <p:nvPr/>
          </p:nvSpPr>
          <p:spPr>
            <a:xfrm>
              <a:off x="10565130" y="4019550"/>
              <a:ext cx="106680" cy="712233"/>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30" name="圓角矩形 67">
                  <a:extLst>
                    <a:ext uri="{FF2B5EF4-FFF2-40B4-BE49-F238E27FC236}">
                      <a16:creationId xmlns:a16="http://schemas.microsoft.com/office/drawing/2014/main" id="{84AF7B48-5271-4BCE-865B-AA22F70AA611}"/>
                    </a:ext>
                  </a:extLst>
                </p:cNvPr>
                <p:cNvSpPr/>
                <p:nvPr/>
              </p:nvSpPr>
              <p:spPr>
                <a:xfrm>
                  <a:off x="10578219" y="4031437"/>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𝒇</m:t>
                        </m:r>
                        <m:r>
                          <a:rPr lang="en-US" altLang="zh-TW" sz="300" b="1" i="1" smtClean="0">
                            <a:solidFill>
                              <a:schemeClr val="tx1"/>
                            </a:solidFill>
                            <a:latin typeface="Cambria Math" panose="02040503050406030204" pitchFamily="18" charset="0"/>
                          </a:rPr>
                          <m:t>𝟏</m:t>
                        </m:r>
                      </m:oMath>
                    </m:oMathPara>
                  </a14:m>
                  <a:endParaRPr lang="en-US" altLang="zh-TW" sz="300" b="1" dirty="0">
                    <a:solidFill>
                      <a:schemeClr val="tx1"/>
                    </a:solidFill>
                  </a:endParaRPr>
                </a:p>
              </p:txBody>
            </p:sp>
          </mc:Choice>
          <mc:Fallback xmlns="">
            <p:sp>
              <p:nvSpPr>
                <p:cNvPr id="130" name="圓角矩形 67">
                  <a:extLst>
                    <a:ext uri="{FF2B5EF4-FFF2-40B4-BE49-F238E27FC236}">
                      <a16:creationId xmlns:a16="http://schemas.microsoft.com/office/drawing/2014/main" id="{84AF7B48-5271-4BCE-865B-AA22F70AA611}"/>
                    </a:ext>
                  </a:extLst>
                </p:cNvPr>
                <p:cNvSpPr>
                  <a:spLocks noRot="1" noChangeAspect="1" noMove="1" noResize="1" noEditPoints="1" noAdjustHandles="1" noChangeArrowheads="1" noChangeShapeType="1" noTextEdit="1"/>
                </p:cNvSpPr>
                <p:nvPr/>
              </p:nvSpPr>
              <p:spPr>
                <a:xfrm>
                  <a:off x="10578219" y="4031437"/>
                  <a:ext cx="76486" cy="45719"/>
                </a:xfrm>
                <a:prstGeom prst="roundRect">
                  <a:avLst/>
                </a:prstGeom>
                <a:blipFill>
                  <a:blip r:embed="rId8"/>
                  <a:stretch>
                    <a:fillRect b="-6667"/>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1" name="圓角矩形 68">
                  <a:extLst>
                    <a:ext uri="{FF2B5EF4-FFF2-40B4-BE49-F238E27FC236}">
                      <a16:creationId xmlns:a16="http://schemas.microsoft.com/office/drawing/2014/main" id="{E4F428D0-DBFD-4272-941A-F6079739B084}"/>
                    </a:ext>
                  </a:extLst>
                </p:cNvPr>
                <p:cNvSpPr/>
                <p:nvPr/>
              </p:nvSpPr>
              <p:spPr>
                <a:xfrm>
                  <a:off x="10578219" y="4133890"/>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𝒇</m:t>
                        </m:r>
                        <m:r>
                          <a:rPr lang="en-US" altLang="zh-TW" sz="300" b="1" i="1" smtClean="0">
                            <a:solidFill>
                              <a:schemeClr val="tx1"/>
                            </a:solidFill>
                            <a:latin typeface="Cambria Math" panose="02040503050406030204" pitchFamily="18" charset="0"/>
                          </a:rPr>
                          <m:t>𝟐</m:t>
                        </m:r>
                      </m:oMath>
                    </m:oMathPara>
                  </a14:m>
                  <a:endParaRPr lang="en-US" altLang="zh-TW" sz="300" b="1" dirty="0">
                    <a:solidFill>
                      <a:schemeClr val="tx1"/>
                    </a:solidFill>
                  </a:endParaRPr>
                </a:p>
              </p:txBody>
            </p:sp>
          </mc:Choice>
          <mc:Fallback xmlns="">
            <p:sp>
              <p:nvSpPr>
                <p:cNvPr id="131" name="圓角矩形 68">
                  <a:extLst>
                    <a:ext uri="{FF2B5EF4-FFF2-40B4-BE49-F238E27FC236}">
                      <a16:creationId xmlns:a16="http://schemas.microsoft.com/office/drawing/2014/main" id="{E4F428D0-DBFD-4272-941A-F6079739B084}"/>
                    </a:ext>
                  </a:extLst>
                </p:cNvPr>
                <p:cNvSpPr>
                  <a:spLocks noRot="1" noChangeAspect="1" noMove="1" noResize="1" noEditPoints="1" noAdjustHandles="1" noChangeArrowheads="1" noChangeShapeType="1" noTextEdit="1"/>
                </p:cNvSpPr>
                <p:nvPr/>
              </p:nvSpPr>
              <p:spPr>
                <a:xfrm>
                  <a:off x="10578219" y="4133890"/>
                  <a:ext cx="76486" cy="45719"/>
                </a:xfrm>
                <a:prstGeom prst="roundRect">
                  <a:avLst/>
                </a:prstGeom>
                <a:blipFill>
                  <a:blip r:embed="rId9"/>
                  <a:stretch>
                    <a:fillRect b="-6667"/>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2" name="圓角矩形 69">
                  <a:extLst>
                    <a:ext uri="{FF2B5EF4-FFF2-40B4-BE49-F238E27FC236}">
                      <a16:creationId xmlns:a16="http://schemas.microsoft.com/office/drawing/2014/main" id="{5E3EF731-97D5-46C1-B1DD-453045637B15}"/>
                    </a:ext>
                  </a:extLst>
                </p:cNvPr>
                <p:cNvSpPr/>
                <p:nvPr/>
              </p:nvSpPr>
              <p:spPr>
                <a:xfrm>
                  <a:off x="10578219" y="4242601"/>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𝒇</m:t>
                        </m:r>
                        <m:r>
                          <a:rPr lang="en-US" altLang="zh-TW" sz="300" b="1" i="1" smtClean="0">
                            <a:solidFill>
                              <a:schemeClr val="tx1"/>
                            </a:solidFill>
                            <a:latin typeface="Cambria Math" panose="02040503050406030204" pitchFamily="18" charset="0"/>
                          </a:rPr>
                          <m:t>𝟑</m:t>
                        </m:r>
                      </m:oMath>
                    </m:oMathPara>
                  </a14:m>
                  <a:endParaRPr lang="en-US" altLang="zh-TW" sz="300" b="1" dirty="0">
                    <a:solidFill>
                      <a:schemeClr val="tx1"/>
                    </a:solidFill>
                  </a:endParaRPr>
                </a:p>
              </p:txBody>
            </p:sp>
          </mc:Choice>
          <mc:Fallback xmlns="">
            <p:sp>
              <p:nvSpPr>
                <p:cNvPr id="132" name="圓角矩形 69">
                  <a:extLst>
                    <a:ext uri="{FF2B5EF4-FFF2-40B4-BE49-F238E27FC236}">
                      <a16:creationId xmlns:a16="http://schemas.microsoft.com/office/drawing/2014/main" id="{5E3EF731-97D5-46C1-B1DD-453045637B15}"/>
                    </a:ext>
                  </a:extLst>
                </p:cNvPr>
                <p:cNvSpPr>
                  <a:spLocks noRot="1" noChangeAspect="1" noMove="1" noResize="1" noEditPoints="1" noAdjustHandles="1" noChangeArrowheads="1" noChangeShapeType="1" noTextEdit="1"/>
                </p:cNvSpPr>
                <p:nvPr/>
              </p:nvSpPr>
              <p:spPr>
                <a:xfrm>
                  <a:off x="10578219" y="4242601"/>
                  <a:ext cx="76486" cy="45719"/>
                </a:xfrm>
                <a:prstGeom prst="roundRect">
                  <a:avLst/>
                </a:prstGeom>
                <a:blipFill>
                  <a:blip r:embed="rId10"/>
                  <a:stretch>
                    <a:fillRect b="-6667"/>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3" name="圓角矩形 70">
                  <a:extLst>
                    <a:ext uri="{FF2B5EF4-FFF2-40B4-BE49-F238E27FC236}">
                      <a16:creationId xmlns:a16="http://schemas.microsoft.com/office/drawing/2014/main" id="{D9ACF9F5-6EF8-41DC-9B23-46FC2E35626D}"/>
                    </a:ext>
                  </a:extLst>
                </p:cNvPr>
                <p:cNvSpPr/>
                <p:nvPr/>
              </p:nvSpPr>
              <p:spPr>
                <a:xfrm>
                  <a:off x="10578219" y="4349427"/>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𝒇</m:t>
                        </m:r>
                        <m:r>
                          <a:rPr lang="en-US" altLang="zh-TW" sz="300" b="1" i="1" smtClean="0">
                            <a:solidFill>
                              <a:schemeClr val="tx1"/>
                            </a:solidFill>
                            <a:latin typeface="Cambria Math" panose="02040503050406030204" pitchFamily="18" charset="0"/>
                          </a:rPr>
                          <m:t>𝟒</m:t>
                        </m:r>
                      </m:oMath>
                    </m:oMathPara>
                  </a14:m>
                  <a:endParaRPr lang="en-US" altLang="zh-TW" sz="300" b="1" dirty="0">
                    <a:solidFill>
                      <a:schemeClr val="tx1"/>
                    </a:solidFill>
                  </a:endParaRPr>
                </a:p>
              </p:txBody>
            </p:sp>
          </mc:Choice>
          <mc:Fallback xmlns="">
            <p:sp>
              <p:nvSpPr>
                <p:cNvPr id="133" name="圓角矩形 70">
                  <a:extLst>
                    <a:ext uri="{FF2B5EF4-FFF2-40B4-BE49-F238E27FC236}">
                      <a16:creationId xmlns:a16="http://schemas.microsoft.com/office/drawing/2014/main" id="{D9ACF9F5-6EF8-41DC-9B23-46FC2E35626D}"/>
                    </a:ext>
                  </a:extLst>
                </p:cNvPr>
                <p:cNvSpPr>
                  <a:spLocks noRot="1" noChangeAspect="1" noMove="1" noResize="1" noEditPoints="1" noAdjustHandles="1" noChangeArrowheads="1" noChangeShapeType="1" noTextEdit="1"/>
                </p:cNvSpPr>
                <p:nvPr/>
              </p:nvSpPr>
              <p:spPr>
                <a:xfrm>
                  <a:off x="10578219" y="4349427"/>
                  <a:ext cx="76486" cy="45719"/>
                </a:xfrm>
                <a:prstGeom prst="roundRect">
                  <a:avLst/>
                </a:prstGeom>
                <a:blipFill>
                  <a:blip r:embed="rId11"/>
                  <a:stretch>
                    <a:fillRect b="-7143"/>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4" name="圓角矩形 71">
                  <a:extLst>
                    <a:ext uri="{FF2B5EF4-FFF2-40B4-BE49-F238E27FC236}">
                      <a16:creationId xmlns:a16="http://schemas.microsoft.com/office/drawing/2014/main" id="{AA5B14E9-BCCB-4716-9E83-34135AC51BED}"/>
                    </a:ext>
                  </a:extLst>
                </p:cNvPr>
                <p:cNvSpPr/>
                <p:nvPr/>
              </p:nvSpPr>
              <p:spPr>
                <a:xfrm>
                  <a:off x="10578219" y="4460592"/>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𝒇</m:t>
                        </m:r>
                        <m:r>
                          <a:rPr lang="en-US" altLang="zh-TW" sz="300" b="1" i="1" smtClean="0">
                            <a:solidFill>
                              <a:schemeClr val="tx1"/>
                            </a:solidFill>
                            <a:latin typeface="Cambria Math" panose="02040503050406030204" pitchFamily="18" charset="0"/>
                          </a:rPr>
                          <m:t>𝟓</m:t>
                        </m:r>
                      </m:oMath>
                    </m:oMathPara>
                  </a14:m>
                  <a:endParaRPr lang="en-US" altLang="zh-TW" sz="300" b="1" dirty="0">
                    <a:solidFill>
                      <a:schemeClr val="tx1"/>
                    </a:solidFill>
                  </a:endParaRPr>
                </a:p>
              </p:txBody>
            </p:sp>
          </mc:Choice>
          <mc:Fallback xmlns="">
            <p:sp>
              <p:nvSpPr>
                <p:cNvPr id="134" name="圓角矩形 71">
                  <a:extLst>
                    <a:ext uri="{FF2B5EF4-FFF2-40B4-BE49-F238E27FC236}">
                      <a16:creationId xmlns:a16="http://schemas.microsoft.com/office/drawing/2014/main" id="{AA5B14E9-BCCB-4716-9E83-34135AC51BED}"/>
                    </a:ext>
                  </a:extLst>
                </p:cNvPr>
                <p:cNvSpPr>
                  <a:spLocks noRot="1" noChangeAspect="1" noMove="1" noResize="1" noEditPoints="1" noAdjustHandles="1" noChangeArrowheads="1" noChangeShapeType="1" noTextEdit="1"/>
                </p:cNvSpPr>
                <p:nvPr/>
              </p:nvSpPr>
              <p:spPr>
                <a:xfrm>
                  <a:off x="10578219" y="4460592"/>
                  <a:ext cx="76486" cy="45719"/>
                </a:xfrm>
                <a:prstGeom prst="roundRect">
                  <a:avLst/>
                </a:prstGeom>
                <a:blipFill>
                  <a:blip r:embed="rId12"/>
                  <a:stretch>
                    <a:fillRect b="-7143"/>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5" name="圓角矩形 72">
                  <a:extLst>
                    <a:ext uri="{FF2B5EF4-FFF2-40B4-BE49-F238E27FC236}">
                      <a16:creationId xmlns:a16="http://schemas.microsoft.com/office/drawing/2014/main" id="{0506C16C-D37E-4062-BFA6-66DAFFA18A5C}"/>
                    </a:ext>
                  </a:extLst>
                </p:cNvPr>
                <p:cNvSpPr/>
                <p:nvPr/>
              </p:nvSpPr>
              <p:spPr>
                <a:xfrm>
                  <a:off x="10576842" y="4568039"/>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𝒇</m:t>
                        </m:r>
                        <m:r>
                          <a:rPr lang="en-US" altLang="zh-TW" sz="300" b="1" i="1" smtClean="0">
                            <a:solidFill>
                              <a:schemeClr val="tx1"/>
                            </a:solidFill>
                            <a:latin typeface="Cambria Math" panose="02040503050406030204" pitchFamily="18" charset="0"/>
                          </a:rPr>
                          <m:t>𝟔</m:t>
                        </m:r>
                      </m:oMath>
                    </m:oMathPara>
                  </a14:m>
                  <a:endParaRPr lang="en-US" altLang="zh-TW" sz="300" b="1" dirty="0">
                    <a:solidFill>
                      <a:schemeClr val="tx1"/>
                    </a:solidFill>
                  </a:endParaRPr>
                </a:p>
              </p:txBody>
            </p:sp>
          </mc:Choice>
          <mc:Fallback xmlns="">
            <p:sp>
              <p:nvSpPr>
                <p:cNvPr id="135" name="圓角矩形 72">
                  <a:extLst>
                    <a:ext uri="{FF2B5EF4-FFF2-40B4-BE49-F238E27FC236}">
                      <a16:creationId xmlns:a16="http://schemas.microsoft.com/office/drawing/2014/main" id="{0506C16C-D37E-4062-BFA6-66DAFFA18A5C}"/>
                    </a:ext>
                  </a:extLst>
                </p:cNvPr>
                <p:cNvSpPr>
                  <a:spLocks noRot="1" noChangeAspect="1" noMove="1" noResize="1" noEditPoints="1" noAdjustHandles="1" noChangeArrowheads="1" noChangeShapeType="1" noTextEdit="1"/>
                </p:cNvSpPr>
                <p:nvPr/>
              </p:nvSpPr>
              <p:spPr>
                <a:xfrm>
                  <a:off x="10576842" y="4568039"/>
                  <a:ext cx="76486" cy="45719"/>
                </a:xfrm>
                <a:prstGeom prst="roundRect">
                  <a:avLst/>
                </a:prstGeom>
                <a:blipFill>
                  <a:blip r:embed="rId13"/>
                  <a:stretch>
                    <a:fillRect b="-7143"/>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6" name="圓角矩形 73">
                  <a:extLst>
                    <a:ext uri="{FF2B5EF4-FFF2-40B4-BE49-F238E27FC236}">
                      <a16:creationId xmlns:a16="http://schemas.microsoft.com/office/drawing/2014/main" id="{7F14E87E-3A85-4DAB-AFA0-E983C7552306}"/>
                    </a:ext>
                  </a:extLst>
                </p:cNvPr>
                <p:cNvSpPr/>
                <p:nvPr/>
              </p:nvSpPr>
              <p:spPr>
                <a:xfrm>
                  <a:off x="10576842" y="4669928"/>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𝒇</m:t>
                        </m:r>
                        <m:r>
                          <a:rPr lang="en-US" altLang="zh-TW" sz="300" b="1" i="1" smtClean="0">
                            <a:solidFill>
                              <a:schemeClr val="tx1"/>
                            </a:solidFill>
                            <a:latin typeface="Cambria Math" panose="02040503050406030204" pitchFamily="18" charset="0"/>
                          </a:rPr>
                          <m:t>𝟕</m:t>
                        </m:r>
                      </m:oMath>
                    </m:oMathPara>
                  </a14:m>
                  <a:endParaRPr lang="en-US" altLang="zh-TW" sz="300" b="1" dirty="0">
                    <a:solidFill>
                      <a:schemeClr val="tx1"/>
                    </a:solidFill>
                  </a:endParaRPr>
                </a:p>
              </p:txBody>
            </p:sp>
          </mc:Choice>
          <mc:Fallback xmlns="">
            <p:sp>
              <p:nvSpPr>
                <p:cNvPr id="136" name="圓角矩形 73">
                  <a:extLst>
                    <a:ext uri="{FF2B5EF4-FFF2-40B4-BE49-F238E27FC236}">
                      <a16:creationId xmlns:a16="http://schemas.microsoft.com/office/drawing/2014/main" id="{7F14E87E-3A85-4DAB-AFA0-E983C7552306}"/>
                    </a:ext>
                  </a:extLst>
                </p:cNvPr>
                <p:cNvSpPr>
                  <a:spLocks noRot="1" noChangeAspect="1" noMove="1" noResize="1" noEditPoints="1" noAdjustHandles="1" noChangeArrowheads="1" noChangeShapeType="1" noTextEdit="1"/>
                </p:cNvSpPr>
                <p:nvPr/>
              </p:nvSpPr>
              <p:spPr>
                <a:xfrm>
                  <a:off x="10576842" y="4669928"/>
                  <a:ext cx="76486" cy="45719"/>
                </a:xfrm>
                <a:prstGeom prst="roundRect">
                  <a:avLst/>
                </a:prstGeom>
                <a:blipFill>
                  <a:blip r:embed="rId14"/>
                  <a:stretch>
                    <a:fillRect b="-6667"/>
                  </a:stretch>
                </a:blipFill>
                <a:ln>
                  <a:solidFill>
                    <a:schemeClr val="bg1">
                      <a:lumMod val="65000"/>
                    </a:schemeClr>
                  </a:solidFill>
                </a:ln>
              </p:spPr>
              <p:txBody>
                <a:bodyPr/>
                <a:lstStyle/>
                <a:p>
                  <a:r>
                    <a:rPr lang="zh-TW" altLang="en-US">
                      <a:noFill/>
                    </a:rPr>
                    <a:t> </a:t>
                  </a:r>
                </a:p>
              </p:txBody>
            </p:sp>
          </mc:Fallback>
        </mc:AlternateContent>
        <p:sp>
          <p:nvSpPr>
            <p:cNvPr id="137" name="矩形 136">
              <a:extLst>
                <a:ext uri="{FF2B5EF4-FFF2-40B4-BE49-F238E27FC236}">
                  <a16:creationId xmlns:a16="http://schemas.microsoft.com/office/drawing/2014/main" id="{ABB4BE62-F222-4F28-AF43-569D75D424F9}"/>
                </a:ext>
              </a:extLst>
            </p:cNvPr>
            <p:cNvSpPr/>
            <p:nvPr/>
          </p:nvSpPr>
          <p:spPr>
            <a:xfrm rot="16200000">
              <a:off x="9979001" y="4310978"/>
              <a:ext cx="106680" cy="1009058"/>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38" name="圓角矩形 75">
                  <a:extLst>
                    <a:ext uri="{FF2B5EF4-FFF2-40B4-BE49-F238E27FC236}">
                      <a16:creationId xmlns:a16="http://schemas.microsoft.com/office/drawing/2014/main" id="{01E8F573-9710-47F6-A3F8-CC858BD409CC}"/>
                    </a:ext>
                  </a:extLst>
                </p:cNvPr>
                <p:cNvSpPr/>
                <p:nvPr/>
              </p:nvSpPr>
              <p:spPr>
                <a:xfrm>
                  <a:off x="9547255" y="4792648"/>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𝑭</m:t>
                        </m:r>
                        <m:r>
                          <a:rPr lang="en-US" altLang="zh-TW" sz="300" b="1" i="1" smtClean="0">
                            <a:solidFill>
                              <a:schemeClr val="tx1"/>
                            </a:solidFill>
                            <a:latin typeface="Cambria Math" panose="02040503050406030204" pitchFamily="18" charset="0"/>
                          </a:rPr>
                          <m:t>𝟏</m:t>
                        </m:r>
                      </m:oMath>
                    </m:oMathPara>
                  </a14:m>
                  <a:endParaRPr lang="en-US" altLang="zh-TW" sz="300" b="1" dirty="0">
                    <a:solidFill>
                      <a:schemeClr val="tx1"/>
                    </a:solidFill>
                  </a:endParaRPr>
                </a:p>
              </p:txBody>
            </p:sp>
          </mc:Choice>
          <mc:Fallback xmlns="">
            <p:sp>
              <p:nvSpPr>
                <p:cNvPr id="138" name="圓角矩形 75">
                  <a:extLst>
                    <a:ext uri="{FF2B5EF4-FFF2-40B4-BE49-F238E27FC236}">
                      <a16:creationId xmlns:a16="http://schemas.microsoft.com/office/drawing/2014/main" id="{01E8F573-9710-47F6-A3F8-CC858BD409CC}"/>
                    </a:ext>
                  </a:extLst>
                </p:cNvPr>
                <p:cNvSpPr>
                  <a:spLocks noRot="1" noChangeAspect="1" noMove="1" noResize="1" noEditPoints="1" noAdjustHandles="1" noChangeArrowheads="1" noChangeShapeType="1" noTextEdit="1"/>
                </p:cNvSpPr>
                <p:nvPr/>
              </p:nvSpPr>
              <p:spPr>
                <a:xfrm>
                  <a:off x="9547255" y="4792648"/>
                  <a:ext cx="76486" cy="45719"/>
                </a:xfrm>
                <a:prstGeom prst="roundRect">
                  <a:avLst/>
                </a:prstGeom>
                <a:blipFill>
                  <a:blip r:embed="rId15"/>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9" name="圓角矩形 76">
                  <a:extLst>
                    <a:ext uri="{FF2B5EF4-FFF2-40B4-BE49-F238E27FC236}">
                      <a16:creationId xmlns:a16="http://schemas.microsoft.com/office/drawing/2014/main" id="{2944C6F1-A6EC-48AC-93BF-05A31AD6E488}"/>
                    </a:ext>
                  </a:extLst>
                </p:cNvPr>
                <p:cNvSpPr/>
                <p:nvPr/>
              </p:nvSpPr>
              <p:spPr>
                <a:xfrm>
                  <a:off x="9691293" y="4794521"/>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𝑭</m:t>
                        </m:r>
                        <m:r>
                          <a:rPr lang="en-US" altLang="zh-TW" sz="300" b="1" i="1" smtClean="0">
                            <a:solidFill>
                              <a:schemeClr val="tx1"/>
                            </a:solidFill>
                            <a:latin typeface="Cambria Math" panose="02040503050406030204" pitchFamily="18" charset="0"/>
                          </a:rPr>
                          <m:t>𝟐</m:t>
                        </m:r>
                      </m:oMath>
                    </m:oMathPara>
                  </a14:m>
                  <a:endParaRPr lang="en-US" altLang="zh-TW" sz="300" b="1" dirty="0">
                    <a:solidFill>
                      <a:schemeClr val="tx1"/>
                    </a:solidFill>
                  </a:endParaRPr>
                </a:p>
              </p:txBody>
            </p:sp>
          </mc:Choice>
          <mc:Fallback xmlns="">
            <p:sp>
              <p:nvSpPr>
                <p:cNvPr id="139" name="圓角矩形 76">
                  <a:extLst>
                    <a:ext uri="{FF2B5EF4-FFF2-40B4-BE49-F238E27FC236}">
                      <a16:creationId xmlns:a16="http://schemas.microsoft.com/office/drawing/2014/main" id="{2944C6F1-A6EC-48AC-93BF-05A31AD6E488}"/>
                    </a:ext>
                  </a:extLst>
                </p:cNvPr>
                <p:cNvSpPr>
                  <a:spLocks noRot="1" noChangeAspect="1" noMove="1" noResize="1" noEditPoints="1" noAdjustHandles="1" noChangeArrowheads="1" noChangeShapeType="1" noTextEdit="1"/>
                </p:cNvSpPr>
                <p:nvPr/>
              </p:nvSpPr>
              <p:spPr>
                <a:xfrm>
                  <a:off x="9691293" y="4794521"/>
                  <a:ext cx="76486" cy="45719"/>
                </a:xfrm>
                <a:prstGeom prst="roundRect">
                  <a:avLst/>
                </a:prstGeom>
                <a:blipFill>
                  <a:blip r:embed="rId16"/>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0" name="圓角矩形 77">
                  <a:extLst>
                    <a:ext uri="{FF2B5EF4-FFF2-40B4-BE49-F238E27FC236}">
                      <a16:creationId xmlns:a16="http://schemas.microsoft.com/office/drawing/2014/main" id="{13D87E90-5F08-4CC1-9796-710C052D7EEC}"/>
                    </a:ext>
                  </a:extLst>
                </p:cNvPr>
                <p:cNvSpPr/>
                <p:nvPr/>
              </p:nvSpPr>
              <p:spPr>
                <a:xfrm>
                  <a:off x="9843231" y="4796990"/>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𝑭</m:t>
                        </m:r>
                        <m:r>
                          <a:rPr lang="en-US" altLang="zh-TW" sz="300" b="1" i="1" smtClean="0">
                            <a:solidFill>
                              <a:schemeClr val="tx1"/>
                            </a:solidFill>
                            <a:latin typeface="Cambria Math" panose="02040503050406030204" pitchFamily="18" charset="0"/>
                          </a:rPr>
                          <m:t>𝟑</m:t>
                        </m:r>
                      </m:oMath>
                    </m:oMathPara>
                  </a14:m>
                  <a:endParaRPr lang="en-US" altLang="zh-TW" sz="300" b="1" dirty="0">
                    <a:solidFill>
                      <a:schemeClr val="tx1"/>
                    </a:solidFill>
                  </a:endParaRPr>
                </a:p>
              </p:txBody>
            </p:sp>
          </mc:Choice>
          <mc:Fallback xmlns="">
            <p:sp>
              <p:nvSpPr>
                <p:cNvPr id="140" name="圓角矩形 77">
                  <a:extLst>
                    <a:ext uri="{FF2B5EF4-FFF2-40B4-BE49-F238E27FC236}">
                      <a16:creationId xmlns:a16="http://schemas.microsoft.com/office/drawing/2014/main" id="{13D87E90-5F08-4CC1-9796-710C052D7EEC}"/>
                    </a:ext>
                  </a:extLst>
                </p:cNvPr>
                <p:cNvSpPr>
                  <a:spLocks noRot="1" noChangeAspect="1" noMove="1" noResize="1" noEditPoints="1" noAdjustHandles="1" noChangeArrowheads="1" noChangeShapeType="1" noTextEdit="1"/>
                </p:cNvSpPr>
                <p:nvPr/>
              </p:nvSpPr>
              <p:spPr>
                <a:xfrm>
                  <a:off x="9843231" y="4796990"/>
                  <a:ext cx="76486" cy="45719"/>
                </a:xfrm>
                <a:prstGeom prst="roundRect">
                  <a:avLst/>
                </a:prstGeom>
                <a:blipFill>
                  <a:blip r:embed="rId17"/>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1" name="圓角矩形 78">
                  <a:extLst>
                    <a:ext uri="{FF2B5EF4-FFF2-40B4-BE49-F238E27FC236}">
                      <a16:creationId xmlns:a16="http://schemas.microsoft.com/office/drawing/2014/main" id="{6F3E4F52-6E35-4DC3-AC95-13F078C1E96F}"/>
                    </a:ext>
                  </a:extLst>
                </p:cNvPr>
                <p:cNvSpPr/>
                <p:nvPr/>
              </p:nvSpPr>
              <p:spPr>
                <a:xfrm>
                  <a:off x="9995169" y="4796989"/>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𝑭</m:t>
                        </m:r>
                        <m:r>
                          <a:rPr lang="en-US" altLang="zh-TW" sz="300" b="1" i="1" smtClean="0">
                            <a:solidFill>
                              <a:schemeClr val="tx1"/>
                            </a:solidFill>
                            <a:latin typeface="Cambria Math" panose="02040503050406030204" pitchFamily="18" charset="0"/>
                          </a:rPr>
                          <m:t>𝟒</m:t>
                        </m:r>
                      </m:oMath>
                    </m:oMathPara>
                  </a14:m>
                  <a:endParaRPr lang="en-US" altLang="zh-TW" sz="300" b="1" dirty="0">
                    <a:solidFill>
                      <a:schemeClr val="tx1"/>
                    </a:solidFill>
                  </a:endParaRPr>
                </a:p>
              </p:txBody>
            </p:sp>
          </mc:Choice>
          <mc:Fallback xmlns="">
            <p:sp>
              <p:nvSpPr>
                <p:cNvPr id="141" name="圓角矩形 78">
                  <a:extLst>
                    <a:ext uri="{FF2B5EF4-FFF2-40B4-BE49-F238E27FC236}">
                      <a16:creationId xmlns:a16="http://schemas.microsoft.com/office/drawing/2014/main" id="{6F3E4F52-6E35-4DC3-AC95-13F078C1E96F}"/>
                    </a:ext>
                  </a:extLst>
                </p:cNvPr>
                <p:cNvSpPr>
                  <a:spLocks noRot="1" noChangeAspect="1" noMove="1" noResize="1" noEditPoints="1" noAdjustHandles="1" noChangeArrowheads="1" noChangeShapeType="1" noTextEdit="1"/>
                </p:cNvSpPr>
                <p:nvPr/>
              </p:nvSpPr>
              <p:spPr>
                <a:xfrm>
                  <a:off x="9995169" y="4796989"/>
                  <a:ext cx="76486" cy="45719"/>
                </a:xfrm>
                <a:prstGeom prst="roundRect">
                  <a:avLst/>
                </a:prstGeom>
                <a:blipFill>
                  <a:blip r:embed="rId18"/>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2" name="圓角矩形 79">
                  <a:extLst>
                    <a:ext uri="{FF2B5EF4-FFF2-40B4-BE49-F238E27FC236}">
                      <a16:creationId xmlns:a16="http://schemas.microsoft.com/office/drawing/2014/main" id="{5D534361-4F59-406A-AB5D-CBAD2CE485A4}"/>
                    </a:ext>
                  </a:extLst>
                </p:cNvPr>
                <p:cNvSpPr/>
                <p:nvPr/>
              </p:nvSpPr>
              <p:spPr>
                <a:xfrm>
                  <a:off x="10147107" y="4796988"/>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𝑭</m:t>
                        </m:r>
                        <m:r>
                          <a:rPr lang="en-US" altLang="zh-TW" sz="300" b="1" i="1" smtClean="0">
                            <a:solidFill>
                              <a:schemeClr val="tx1"/>
                            </a:solidFill>
                            <a:latin typeface="Cambria Math" panose="02040503050406030204" pitchFamily="18" charset="0"/>
                          </a:rPr>
                          <m:t>𝟓</m:t>
                        </m:r>
                      </m:oMath>
                    </m:oMathPara>
                  </a14:m>
                  <a:endParaRPr lang="en-US" altLang="zh-TW" sz="300" b="1" dirty="0">
                    <a:solidFill>
                      <a:schemeClr val="tx1"/>
                    </a:solidFill>
                  </a:endParaRPr>
                </a:p>
              </p:txBody>
            </p:sp>
          </mc:Choice>
          <mc:Fallback xmlns="">
            <p:sp>
              <p:nvSpPr>
                <p:cNvPr id="142" name="圓角矩形 79">
                  <a:extLst>
                    <a:ext uri="{FF2B5EF4-FFF2-40B4-BE49-F238E27FC236}">
                      <a16:creationId xmlns:a16="http://schemas.microsoft.com/office/drawing/2014/main" id="{5D534361-4F59-406A-AB5D-CBAD2CE485A4}"/>
                    </a:ext>
                  </a:extLst>
                </p:cNvPr>
                <p:cNvSpPr>
                  <a:spLocks noRot="1" noChangeAspect="1" noMove="1" noResize="1" noEditPoints="1" noAdjustHandles="1" noChangeArrowheads="1" noChangeShapeType="1" noTextEdit="1"/>
                </p:cNvSpPr>
                <p:nvPr/>
              </p:nvSpPr>
              <p:spPr>
                <a:xfrm>
                  <a:off x="10147107" y="4796988"/>
                  <a:ext cx="76486" cy="45719"/>
                </a:xfrm>
                <a:prstGeom prst="roundRect">
                  <a:avLst/>
                </a:prstGeom>
                <a:blipFill>
                  <a:blip r:embed="rId19"/>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3" name="圓角矩形 80">
                  <a:extLst>
                    <a:ext uri="{FF2B5EF4-FFF2-40B4-BE49-F238E27FC236}">
                      <a16:creationId xmlns:a16="http://schemas.microsoft.com/office/drawing/2014/main" id="{BAEDE8A5-4539-4285-944D-6301FAF67315}"/>
                    </a:ext>
                  </a:extLst>
                </p:cNvPr>
                <p:cNvSpPr/>
                <p:nvPr/>
              </p:nvSpPr>
              <p:spPr>
                <a:xfrm>
                  <a:off x="10299045" y="4796776"/>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𝑭</m:t>
                        </m:r>
                        <m:r>
                          <a:rPr lang="en-US" altLang="zh-TW" sz="300" b="1" i="1" smtClean="0">
                            <a:solidFill>
                              <a:schemeClr val="tx1"/>
                            </a:solidFill>
                            <a:latin typeface="Cambria Math" panose="02040503050406030204" pitchFamily="18" charset="0"/>
                          </a:rPr>
                          <m:t>𝟔</m:t>
                        </m:r>
                      </m:oMath>
                    </m:oMathPara>
                  </a14:m>
                  <a:endParaRPr lang="en-US" altLang="zh-TW" sz="300" b="1" dirty="0">
                    <a:solidFill>
                      <a:schemeClr val="tx1"/>
                    </a:solidFill>
                  </a:endParaRPr>
                </a:p>
              </p:txBody>
            </p:sp>
          </mc:Choice>
          <mc:Fallback xmlns="">
            <p:sp>
              <p:nvSpPr>
                <p:cNvPr id="143" name="圓角矩形 80">
                  <a:extLst>
                    <a:ext uri="{FF2B5EF4-FFF2-40B4-BE49-F238E27FC236}">
                      <a16:creationId xmlns:a16="http://schemas.microsoft.com/office/drawing/2014/main" id="{BAEDE8A5-4539-4285-944D-6301FAF67315}"/>
                    </a:ext>
                  </a:extLst>
                </p:cNvPr>
                <p:cNvSpPr>
                  <a:spLocks noRot="1" noChangeAspect="1" noMove="1" noResize="1" noEditPoints="1" noAdjustHandles="1" noChangeArrowheads="1" noChangeShapeType="1" noTextEdit="1"/>
                </p:cNvSpPr>
                <p:nvPr/>
              </p:nvSpPr>
              <p:spPr>
                <a:xfrm>
                  <a:off x="10299045" y="4796776"/>
                  <a:ext cx="76486" cy="45719"/>
                </a:xfrm>
                <a:prstGeom prst="roundRect">
                  <a:avLst/>
                </a:prstGeom>
                <a:blipFill>
                  <a:blip r:embed="rId20"/>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4" name="圓角矩形 81">
                  <a:extLst>
                    <a:ext uri="{FF2B5EF4-FFF2-40B4-BE49-F238E27FC236}">
                      <a16:creationId xmlns:a16="http://schemas.microsoft.com/office/drawing/2014/main" id="{70F581B6-DF69-428C-8D10-86DDE696F159}"/>
                    </a:ext>
                  </a:extLst>
                </p:cNvPr>
                <p:cNvSpPr/>
                <p:nvPr/>
              </p:nvSpPr>
              <p:spPr>
                <a:xfrm>
                  <a:off x="10445740" y="4794755"/>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𝑭</m:t>
                        </m:r>
                        <m:r>
                          <a:rPr lang="en-US" altLang="zh-TW" sz="300" b="1" i="1" smtClean="0">
                            <a:solidFill>
                              <a:schemeClr val="tx1"/>
                            </a:solidFill>
                            <a:latin typeface="Cambria Math" panose="02040503050406030204" pitchFamily="18" charset="0"/>
                          </a:rPr>
                          <m:t>𝟕</m:t>
                        </m:r>
                      </m:oMath>
                    </m:oMathPara>
                  </a14:m>
                  <a:endParaRPr lang="en-US" altLang="zh-TW" sz="300" b="1" dirty="0">
                    <a:solidFill>
                      <a:schemeClr val="tx1"/>
                    </a:solidFill>
                  </a:endParaRPr>
                </a:p>
              </p:txBody>
            </p:sp>
          </mc:Choice>
          <mc:Fallback xmlns="">
            <p:sp>
              <p:nvSpPr>
                <p:cNvPr id="144" name="圓角矩形 81">
                  <a:extLst>
                    <a:ext uri="{FF2B5EF4-FFF2-40B4-BE49-F238E27FC236}">
                      <a16:creationId xmlns:a16="http://schemas.microsoft.com/office/drawing/2014/main" id="{70F581B6-DF69-428C-8D10-86DDE696F159}"/>
                    </a:ext>
                  </a:extLst>
                </p:cNvPr>
                <p:cNvSpPr>
                  <a:spLocks noRot="1" noChangeAspect="1" noMove="1" noResize="1" noEditPoints="1" noAdjustHandles="1" noChangeArrowheads="1" noChangeShapeType="1" noTextEdit="1"/>
                </p:cNvSpPr>
                <p:nvPr/>
              </p:nvSpPr>
              <p:spPr>
                <a:xfrm>
                  <a:off x="10445740" y="4794755"/>
                  <a:ext cx="76486" cy="45719"/>
                </a:xfrm>
                <a:prstGeom prst="roundRect">
                  <a:avLst/>
                </a:prstGeom>
                <a:blipFill>
                  <a:blip r:embed="rId21"/>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5" name="圓角矩形 82">
                  <a:extLst>
                    <a:ext uri="{FF2B5EF4-FFF2-40B4-BE49-F238E27FC236}">
                      <a16:creationId xmlns:a16="http://schemas.microsoft.com/office/drawing/2014/main" id="{CFD5DC83-6FFE-4FDA-912A-DDE42A0CFF98}"/>
                    </a:ext>
                  </a:extLst>
                </p:cNvPr>
                <p:cNvSpPr/>
                <p:nvPr/>
              </p:nvSpPr>
              <p:spPr>
                <a:xfrm>
                  <a:off x="10728878" y="4122006"/>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𝑳𝒐𝒈</m:t>
                        </m:r>
                      </m:oMath>
                    </m:oMathPara>
                  </a14:m>
                  <a:endParaRPr lang="en-US" altLang="zh-TW" sz="300" b="1" dirty="0">
                    <a:solidFill>
                      <a:schemeClr val="tx1"/>
                    </a:solidFill>
                  </a:endParaRPr>
                </a:p>
              </p:txBody>
            </p:sp>
          </mc:Choice>
          <mc:Fallback xmlns="">
            <p:sp>
              <p:nvSpPr>
                <p:cNvPr id="145" name="圓角矩形 82">
                  <a:extLst>
                    <a:ext uri="{FF2B5EF4-FFF2-40B4-BE49-F238E27FC236}">
                      <a16:creationId xmlns:a16="http://schemas.microsoft.com/office/drawing/2014/main" id="{CFD5DC83-6FFE-4FDA-912A-DDE42A0CFF98}"/>
                    </a:ext>
                  </a:extLst>
                </p:cNvPr>
                <p:cNvSpPr>
                  <a:spLocks noRot="1" noChangeAspect="1" noMove="1" noResize="1" noEditPoints="1" noAdjustHandles="1" noChangeArrowheads="1" noChangeShapeType="1" noTextEdit="1"/>
                </p:cNvSpPr>
                <p:nvPr/>
              </p:nvSpPr>
              <p:spPr>
                <a:xfrm>
                  <a:off x="10728878" y="4122006"/>
                  <a:ext cx="101209" cy="45719"/>
                </a:xfrm>
                <a:prstGeom prst="roundRect">
                  <a:avLst/>
                </a:prstGeom>
                <a:blipFill>
                  <a:blip r:embed="rId22"/>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6" name="圓角矩形 83">
                  <a:extLst>
                    <a:ext uri="{FF2B5EF4-FFF2-40B4-BE49-F238E27FC236}">
                      <a16:creationId xmlns:a16="http://schemas.microsoft.com/office/drawing/2014/main" id="{21A86ACC-53B4-4A97-BF33-B95B21B68869}"/>
                    </a:ext>
                  </a:extLst>
                </p:cNvPr>
                <p:cNvSpPr/>
                <p:nvPr/>
              </p:nvSpPr>
              <p:spPr>
                <a:xfrm>
                  <a:off x="10875251" y="4122005"/>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𝑹𝒆𝒇</m:t>
                        </m:r>
                      </m:oMath>
                    </m:oMathPara>
                  </a14:m>
                  <a:endParaRPr lang="en-US" altLang="zh-TW" sz="300" b="1" dirty="0">
                    <a:solidFill>
                      <a:schemeClr val="tx1"/>
                    </a:solidFill>
                  </a:endParaRPr>
                </a:p>
              </p:txBody>
            </p:sp>
          </mc:Choice>
          <mc:Fallback xmlns="">
            <p:sp>
              <p:nvSpPr>
                <p:cNvPr id="146" name="圓角矩形 83">
                  <a:extLst>
                    <a:ext uri="{FF2B5EF4-FFF2-40B4-BE49-F238E27FC236}">
                      <a16:creationId xmlns:a16="http://schemas.microsoft.com/office/drawing/2014/main" id="{21A86ACC-53B4-4A97-BF33-B95B21B68869}"/>
                    </a:ext>
                  </a:extLst>
                </p:cNvPr>
                <p:cNvSpPr>
                  <a:spLocks noRot="1" noChangeAspect="1" noMove="1" noResize="1" noEditPoints="1" noAdjustHandles="1" noChangeArrowheads="1" noChangeShapeType="1" noTextEdit="1"/>
                </p:cNvSpPr>
                <p:nvPr/>
              </p:nvSpPr>
              <p:spPr>
                <a:xfrm>
                  <a:off x="10875251" y="4122005"/>
                  <a:ext cx="101209" cy="45719"/>
                </a:xfrm>
                <a:prstGeom prst="roundRect">
                  <a:avLst/>
                </a:prstGeom>
                <a:blipFill>
                  <a:blip r:embed="rId23"/>
                  <a:stretch>
                    <a:fillRect b="-6667"/>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7" name="圓角矩形 84">
                  <a:extLst>
                    <a:ext uri="{FF2B5EF4-FFF2-40B4-BE49-F238E27FC236}">
                      <a16:creationId xmlns:a16="http://schemas.microsoft.com/office/drawing/2014/main" id="{27CE1845-DD24-4FB2-B1A6-B7CFC2CD747D}"/>
                    </a:ext>
                  </a:extLst>
                </p:cNvPr>
                <p:cNvSpPr/>
                <p:nvPr/>
              </p:nvSpPr>
              <p:spPr>
                <a:xfrm>
                  <a:off x="11027205" y="4122004"/>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𝑽𝑩𝑾</m:t>
                        </m:r>
                      </m:oMath>
                    </m:oMathPara>
                  </a14:m>
                  <a:endParaRPr lang="en-US" altLang="zh-TW" sz="300" b="1" dirty="0">
                    <a:solidFill>
                      <a:schemeClr val="tx1"/>
                    </a:solidFill>
                  </a:endParaRPr>
                </a:p>
              </p:txBody>
            </p:sp>
          </mc:Choice>
          <mc:Fallback xmlns="">
            <p:sp>
              <p:nvSpPr>
                <p:cNvPr id="147" name="圓角矩形 84">
                  <a:extLst>
                    <a:ext uri="{FF2B5EF4-FFF2-40B4-BE49-F238E27FC236}">
                      <a16:creationId xmlns:a16="http://schemas.microsoft.com/office/drawing/2014/main" id="{27CE1845-DD24-4FB2-B1A6-B7CFC2CD747D}"/>
                    </a:ext>
                  </a:extLst>
                </p:cNvPr>
                <p:cNvSpPr>
                  <a:spLocks noRot="1" noChangeAspect="1" noMove="1" noResize="1" noEditPoints="1" noAdjustHandles="1" noChangeArrowheads="1" noChangeShapeType="1" noTextEdit="1"/>
                </p:cNvSpPr>
                <p:nvPr/>
              </p:nvSpPr>
              <p:spPr>
                <a:xfrm>
                  <a:off x="11027205" y="4122004"/>
                  <a:ext cx="101209" cy="45719"/>
                </a:xfrm>
                <a:prstGeom prst="roundRect">
                  <a:avLst/>
                </a:prstGeom>
                <a:blipFill>
                  <a:blip r:embed="rId24"/>
                  <a:stretch>
                    <a:fillRect/>
                  </a:stretch>
                </a:blipFill>
                <a:ln>
                  <a:solidFill>
                    <a:schemeClr val="bg1">
                      <a:lumMod val="65000"/>
                    </a:schemeClr>
                  </a:solidFill>
                </a:ln>
              </p:spPr>
              <p:txBody>
                <a:bodyPr/>
                <a:lstStyle/>
                <a:p>
                  <a:r>
                    <a:rPr lang="zh-TW" altLang="en-US">
                      <a:noFill/>
                    </a:rPr>
                    <a:t> </a:t>
                  </a:r>
                </a:p>
              </p:txBody>
            </p:sp>
          </mc:Fallback>
        </mc:AlternateContent>
        <p:sp>
          <p:nvSpPr>
            <p:cNvPr id="148" name="文字方塊 147">
              <a:extLst>
                <a:ext uri="{FF2B5EF4-FFF2-40B4-BE49-F238E27FC236}">
                  <a16:creationId xmlns:a16="http://schemas.microsoft.com/office/drawing/2014/main" id="{1F632A72-DAE0-4127-BA0E-D3856C634060}"/>
                </a:ext>
              </a:extLst>
            </p:cNvPr>
            <p:cNvSpPr txBox="1"/>
            <p:nvPr/>
          </p:nvSpPr>
          <p:spPr>
            <a:xfrm>
              <a:off x="10744401" y="3950081"/>
              <a:ext cx="357790" cy="184666"/>
            </a:xfrm>
            <a:prstGeom prst="rect">
              <a:avLst/>
            </a:prstGeom>
            <a:noFill/>
          </p:spPr>
          <p:txBody>
            <a:bodyPr wrap="none" rtlCol="0">
              <a:spAutoFit/>
            </a:bodyPr>
            <a:lstStyle/>
            <a:p>
              <a:r>
                <a:rPr lang="en-US" altLang="zh-TW" sz="6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Level</a:t>
              </a:r>
              <a:endParaRPr lang="zh-TW" altLang="en-US" sz="6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49" name="直線接點 148">
              <a:extLst>
                <a:ext uri="{FF2B5EF4-FFF2-40B4-BE49-F238E27FC236}">
                  <a16:creationId xmlns:a16="http://schemas.microsoft.com/office/drawing/2014/main" id="{ABF443EC-D514-477E-AB34-1EE5A650F530}"/>
                </a:ext>
              </a:extLst>
            </p:cNvPr>
            <p:cNvCxnSpPr/>
            <p:nvPr/>
          </p:nvCxnSpPr>
          <p:spPr>
            <a:xfrm>
              <a:off x="11021490" y="4054559"/>
              <a:ext cx="1295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9BC22D62-3A14-4E23-A6DF-F7DB3C5BAD2D}"/>
                </a:ext>
              </a:extLst>
            </p:cNvPr>
            <p:cNvCxnSpPr/>
            <p:nvPr/>
          </p:nvCxnSpPr>
          <p:spPr>
            <a:xfrm>
              <a:off x="10695979" y="4054296"/>
              <a:ext cx="1295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1" name="圓角矩形 88">
                  <a:extLst>
                    <a:ext uri="{FF2B5EF4-FFF2-40B4-BE49-F238E27FC236}">
                      <a16:creationId xmlns:a16="http://schemas.microsoft.com/office/drawing/2014/main" id="{97316060-630E-4448-BDB3-3C7CEA960A24}"/>
                    </a:ext>
                  </a:extLst>
                </p:cNvPr>
                <p:cNvSpPr/>
                <p:nvPr/>
              </p:nvSpPr>
              <p:spPr>
                <a:xfrm>
                  <a:off x="10726392" y="4332248"/>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 b="1" i="1" smtClean="0">
                            <a:solidFill>
                              <a:schemeClr val="tx1"/>
                            </a:solidFill>
                            <a:latin typeface="Cambria Math" panose="02040503050406030204" pitchFamily="18" charset="0"/>
                          </a:rPr>
                          <m:t>𝑪𝒆𝒏𝒕𝒆𝒓</m:t>
                        </m:r>
                      </m:oMath>
                    </m:oMathPara>
                  </a14:m>
                  <a:endParaRPr lang="en-US" altLang="zh-TW" sz="200" b="1" dirty="0">
                    <a:solidFill>
                      <a:schemeClr val="tx1"/>
                    </a:solidFill>
                  </a:endParaRPr>
                </a:p>
              </p:txBody>
            </p:sp>
          </mc:Choice>
          <mc:Fallback xmlns="">
            <p:sp>
              <p:nvSpPr>
                <p:cNvPr id="151" name="圓角矩形 88">
                  <a:extLst>
                    <a:ext uri="{FF2B5EF4-FFF2-40B4-BE49-F238E27FC236}">
                      <a16:creationId xmlns:a16="http://schemas.microsoft.com/office/drawing/2014/main" id="{97316060-630E-4448-BDB3-3C7CEA960A24}"/>
                    </a:ext>
                  </a:extLst>
                </p:cNvPr>
                <p:cNvSpPr>
                  <a:spLocks noRot="1" noChangeAspect="1" noMove="1" noResize="1" noEditPoints="1" noAdjustHandles="1" noChangeArrowheads="1" noChangeShapeType="1" noTextEdit="1"/>
                </p:cNvSpPr>
                <p:nvPr/>
              </p:nvSpPr>
              <p:spPr>
                <a:xfrm>
                  <a:off x="10726392" y="4332248"/>
                  <a:ext cx="101209" cy="45719"/>
                </a:xfrm>
                <a:prstGeom prst="roundRect">
                  <a:avLst/>
                </a:prstGeom>
                <a:blipFill>
                  <a:blip r:embed="rId25"/>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2" name="圓角矩形 89">
                  <a:extLst>
                    <a:ext uri="{FF2B5EF4-FFF2-40B4-BE49-F238E27FC236}">
                      <a16:creationId xmlns:a16="http://schemas.microsoft.com/office/drawing/2014/main" id="{2A770CC2-7755-4DE8-B8F2-3E08B5BF6883}"/>
                    </a:ext>
                  </a:extLst>
                </p:cNvPr>
                <p:cNvSpPr/>
                <p:nvPr/>
              </p:nvSpPr>
              <p:spPr>
                <a:xfrm>
                  <a:off x="10873346" y="4326567"/>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 b="1" i="1" smtClean="0">
                            <a:solidFill>
                              <a:schemeClr val="tx1"/>
                            </a:solidFill>
                            <a:latin typeface="Cambria Math" panose="02040503050406030204" pitchFamily="18" charset="0"/>
                          </a:rPr>
                          <m:t>𝑹𝒆𝒇</m:t>
                        </m:r>
                        <m:r>
                          <a:rPr lang="en-US" altLang="zh-TW" sz="200" b="1" i="1" smtClean="0">
                            <a:solidFill>
                              <a:schemeClr val="tx1"/>
                            </a:solidFill>
                            <a:latin typeface="Cambria Math" panose="02040503050406030204" pitchFamily="18" charset="0"/>
                          </a:rPr>
                          <m:t> </m:t>
                        </m:r>
                        <m:r>
                          <a:rPr lang="en-US" altLang="zh-TW" sz="200" b="1" i="1" smtClean="0">
                            <a:solidFill>
                              <a:schemeClr val="tx1"/>
                            </a:solidFill>
                            <a:latin typeface="Cambria Math" panose="02040503050406030204" pitchFamily="18" charset="0"/>
                          </a:rPr>
                          <m:t>𝑳𝒗</m:t>
                        </m:r>
                        <m:r>
                          <a:rPr lang="en-US" altLang="zh-TW" sz="200" b="1" i="1" smtClean="0">
                            <a:solidFill>
                              <a:schemeClr val="tx1"/>
                            </a:solidFill>
                            <a:latin typeface="Cambria Math" panose="02040503050406030204" pitchFamily="18" charset="0"/>
                          </a:rPr>
                          <m:t>𝟏</m:t>
                        </m:r>
                      </m:oMath>
                    </m:oMathPara>
                  </a14:m>
                  <a:endParaRPr lang="en-US" altLang="zh-TW" sz="200" b="1" dirty="0">
                    <a:solidFill>
                      <a:schemeClr val="tx1"/>
                    </a:solidFill>
                  </a:endParaRPr>
                </a:p>
              </p:txBody>
            </p:sp>
          </mc:Choice>
          <mc:Fallback xmlns="">
            <p:sp>
              <p:nvSpPr>
                <p:cNvPr id="152" name="圓角矩形 89">
                  <a:extLst>
                    <a:ext uri="{FF2B5EF4-FFF2-40B4-BE49-F238E27FC236}">
                      <a16:creationId xmlns:a16="http://schemas.microsoft.com/office/drawing/2014/main" id="{2A770CC2-7755-4DE8-B8F2-3E08B5BF6883}"/>
                    </a:ext>
                  </a:extLst>
                </p:cNvPr>
                <p:cNvSpPr>
                  <a:spLocks noRot="1" noChangeAspect="1" noMove="1" noResize="1" noEditPoints="1" noAdjustHandles="1" noChangeArrowheads="1" noChangeShapeType="1" noTextEdit="1"/>
                </p:cNvSpPr>
                <p:nvPr/>
              </p:nvSpPr>
              <p:spPr>
                <a:xfrm>
                  <a:off x="10873346" y="4326567"/>
                  <a:ext cx="101209" cy="45719"/>
                </a:xfrm>
                <a:prstGeom prst="roundRect">
                  <a:avLst/>
                </a:prstGeom>
                <a:blipFill>
                  <a:blip r:embed="rId26"/>
                  <a:stretch>
                    <a:fillRect/>
                  </a:stretch>
                </a:blipFill>
                <a:ln>
                  <a:solidFill>
                    <a:schemeClr val="bg1">
                      <a:lumMod val="65000"/>
                    </a:schemeClr>
                  </a:solidFill>
                </a:ln>
              </p:spPr>
              <p:txBody>
                <a:bodyPr/>
                <a:lstStyle/>
                <a:p>
                  <a:r>
                    <a:rPr lang="zh-TW" altLang="en-US">
                      <a:noFill/>
                    </a:rPr>
                    <a:t> </a:t>
                  </a:r>
                </a:p>
              </p:txBody>
            </p:sp>
          </mc:Fallback>
        </mc:AlternateContent>
        <p:sp>
          <p:nvSpPr>
            <p:cNvPr id="153" name="文字方塊 152">
              <a:extLst>
                <a:ext uri="{FF2B5EF4-FFF2-40B4-BE49-F238E27FC236}">
                  <a16:creationId xmlns:a16="http://schemas.microsoft.com/office/drawing/2014/main" id="{EFAF57C1-6317-4E62-8D1E-359FB7ECD928}"/>
                </a:ext>
              </a:extLst>
            </p:cNvPr>
            <p:cNvSpPr txBox="1"/>
            <p:nvPr/>
          </p:nvSpPr>
          <p:spPr>
            <a:xfrm>
              <a:off x="10762322" y="4147896"/>
              <a:ext cx="333746" cy="184666"/>
            </a:xfrm>
            <a:prstGeom prst="rect">
              <a:avLst/>
            </a:prstGeom>
            <a:noFill/>
          </p:spPr>
          <p:txBody>
            <a:bodyPr wrap="none" rtlCol="0">
              <a:spAutoFit/>
            </a:bodyPr>
            <a:lstStyle/>
            <a:p>
              <a:r>
                <a:rPr lang="en-US" altLang="zh-TW" sz="6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Peak</a:t>
              </a:r>
              <a:endParaRPr lang="zh-TW" altLang="en-US" sz="6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54" name="直線接點 153">
              <a:extLst>
                <a:ext uri="{FF2B5EF4-FFF2-40B4-BE49-F238E27FC236}">
                  <a16:creationId xmlns:a16="http://schemas.microsoft.com/office/drawing/2014/main" id="{983A5B7D-27BC-4800-8C11-4C6CBE873009}"/>
                </a:ext>
              </a:extLst>
            </p:cNvPr>
            <p:cNvCxnSpPr/>
            <p:nvPr/>
          </p:nvCxnSpPr>
          <p:spPr>
            <a:xfrm>
              <a:off x="11023967" y="4251289"/>
              <a:ext cx="1295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5" name="直線接點 154">
              <a:extLst>
                <a:ext uri="{FF2B5EF4-FFF2-40B4-BE49-F238E27FC236}">
                  <a16:creationId xmlns:a16="http://schemas.microsoft.com/office/drawing/2014/main" id="{222E2BA9-4664-4BF2-9B36-43E25735B680}"/>
                </a:ext>
              </a:extLst>
            </p:cNvPr>
            <p:cNvCxnSpPr/>
            <p:nvPr/>
          </p:nvCxnSpPr>
          <p:spPr>
            <a:xfrm>
              <a:off x="10698456" y="4251026"/>
              <a:ext cx="1295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56" name="圓角矩形 93">
              <a:extLst>
                <a:ext uri="{FF2B5EF4-FFF2-40B4-BE49-F238E27FC236}">
                  <a16:creationId xmlns:a16="http://schemas.microsoft.com/office/drawing/2014/main" id="{ADEE9A30-B511-4350-88DD-9941A43CEBDA}"/>
                </a:ext>
              </a:extLst>
            </p:cNvPr>
            <p:cNvSpPr/>
            <p:nvPr/>
          </p:nvSpPr>
          <p:spPr>
            <a:xfrm>
              <a:off x="10726392" y="4504244"/>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 b="1" dirty="0">
                <a:solidFill>
                  <a:schemeClr val="tx1"/>
                </a:solidFill>
              </a:endParaRPr>
            </a:p>
          </p:txBody>
        </p:sp>
        <mc:AlternateContent xmlns:mc="http://schemas.openxmlformats.org/markup-compatibility/2006" xmlns:a14="http://schemas.microsoft.com/office/drawing/2010/main">
          <mc:Choice Requires="a14">
            <p:sp>
              <p:nvSpPr>
                <p:cNvPr id="157" name="文字方塊 156">
                  <a:extLst>
                    <a:ext uri="{FF2B5EF4-FFF2-40B4-BE49-F238E27FC236}">
                      <a16:creationId xmlns:a16="http://schemas.microsoft.com/office/drawing/2014/main" id="{060216F1-6520-4924-8EAB-EA4A3AA1A57A}"/>
                    </a:ext>
                  </a:extLst>
                </p:cNvPr>
                <p:cNvSpPr txBox="1"/>
                <p:nvPr/>
              </p:nvSpPr>
              <p:spPr>
                <a:xfrm>
                  <a:off x="10646992" y="4455680"/>
                  <a:ext cx="260008" cy="138499"/>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altLang="zh-TW" sz="150" b="1" i="1" smtClean="0">
                            <a:latin typeface="Cambria Math" panose="02040503050406030204" pitchFamily="18" charset="0"/>
                          </a:rPr>
                          <m:t>𝑴𝒂𝒓𝒌𝒆𝒓</m:t>
                        </m:r>
                      </m:oMath>
                    </m:oMathPara>
                  </a14:m>
                  <a:endParaRPr lang="en-US" altLang="zh-TW" sz="150" b="1" dirty="0"/>
                </a:p>
                <a:p>
                  <a:pPr algn="ctr"/>
                  <a:r>
                    <a:rPr lang="en-US" altLang="zh-TW" sz="150" b="1" dirty="0"/>
                    <a:t>Select</a:t>
                  </a:r>
                  <a:endParaRPr lang="zh-TW" altLang="en-US" sz="150" b="1" dirty="0"/>
                </a:p>
              </p:txBody>
            </p:sp>
          </mc:Choice>
          <mc:Fallback xmlns="">
            <p:sp>
              <p:nvSpPr>
                <p:cNvPr id="157" name="文字方塊 156">
                  <a:extLst>
                    <a:ext uri="{FF2B5EF4-FFF2-40B4-BE49-F238E27FC236}">
                      <a16:creationId xmlns:a16="http://schemas.microsoft.com/office/drawing/2014/main" id="{060216F1-6520-4924-8EAB-EA4A3AA1A57A}"/>
                    </a:ext>
                  </a:extLst>
                </p:cNvPr>
                <p:cNvSpPr txBox="1">
                  <a:spLocks noRot="1" noChangeAspect="1" noMove="1" noResize="1" noEditPoints="1" noAdjustHandles="1" noChangeArrowheads="1" noChangeShapeType="1" noTextEdit="1"/>
                </p:cNvSpPr>
                <p:nvPr/>
              </p:nvSpPr>
              <p:spPr>
                <a:xfrm>
                  <a:off x="10646992" y="4455680"/>
                  <a:ext cx="260008" cy="138499"/>
                </a:xfrm>
                <a:prstGeom prst="rect">
                  <a:avLst/>
                </a:prstGeom>
                <a:blipFill>
                  <a:blip r:embed="rId27"/>
                  <a:stretch>
                    <a:fillRect/>
                  </a:stretch>
                </a:blipFill>
              </p:spPr>
              <p:txBody>
                <a:bodyPr/>
                <a:lstStyle/>
                <a:p>
                  <a:r>
                    <a:rPr lang="zh-TW" altLang="en-US">
                      <a:noFill/>
                    </a:rPr>
                    <a:t> </a:t>
                  </a:r>
                </a:p>
              </p:txBody>
            </p:sp>
          </mc:Fallback>
        </mc:AlternateContent>
        <p:sp>
          <p:nvSpPr>
            <p:cNvPr id="158" name="文字方塊 157">
              <a:extLst>
                <a:ext uri="{FF2B5EF4-FFF2-40B4-BE49-F238E27FC236}">
                  <a16:creationId xmlns:a16="http://schemas.microsoft.com/office/drawing/2014/main" id="{E29D8AC4-8EE3-4C16-8461-BD6BF3ABDAAA}"/>
                </a:ext>
              </a:extLst>
            </p:cNvPr>
            <p:cNvSpPr txBox="1"/>
            <p:nvPr/>
          </p:nvSpPr>
          <p:spPr>
            <a:xfrm>
              <a:off x="10736430" y="4339293"/>
              <a:ext cx="410690" cy="184666"/>
            </a:xfrm>
            <a:prstGeom prst="rect">
              <a:avLst/>
            </a:prstGeom>
            <a:noFill/>
          </p:spPr>
          <p:txBody>
            <a:bodyPr wrap="none" rtlCol="0">
              <a:spAutoFit/>
            </a:bodyPr>
            <a:lstStyle/>
            <a:p>
              <a:r>
                <a:rPr lang="en-US" altLang="zh-TW" sz="6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Marker</a:t>
              </a:r>
              <a:endParaRPr lang="zh-TW" altLang="en-US" sz="6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59" name="直線接點 158">
              <a:extLst>
                <a:ext uri="{FF2B5EF4-FFF2-40B4-BE49-F238E27FC236}">
                  <a16:creationId xmlns:a16="http://schemas.microsoft.com/office/drawing/2014/main" id="{042EC4E3-F9CC-4D53-BFD9-28B697CEC6AE}"/>
                </a:ext>
              </a:extLst>
            </p:cNvPr>
            <p:cNvCxnSpPr/>
            <p:nvPr/>
          </p:nvCxnSpPr>
          <p:spPr>
            <a:xfrm>
              <a:off x="11066479" y="4445301"/>
              <a:ext cx="1295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0" name="直線接點 159">
              <a:extLst>
                <a:ext uri="{FF2B5EF4-FFF2-40B4-BE49-F238E27FC236}">
                  <a16:creationId xmlns:a16="http://schemas.microsoft.com/office/drawing/2014/main" id="{612FB6BE-5C3C-4D01-8CA0-2A5039377221}"/>
                </a:ext>
              </a:extLst>
            </p:cNvPr>
            <p:cNvCxnSpPr/>
            <p:nvPr/>
          </p:nvCxnSpPr>
          <p:spPr>
            <a:xfrm>
              <a:off x="10692708" y="4445038"/>
              <a:ext cx="1295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61" name="圓角矩形 98">
              <a:extLst>
                <a:ext uri="{FF2B5EF4-FFF2-40B4-BE49-F238E27FC236}">
                  <a16:creationId xmlns:a16="http://schemas.microsoft.com/office/drawing/2014/main" id="{E0016FA7-D9F9-41A1-A99B-856D4144B442}"/>
                </a:ext>
              </a:extLst>
            </p:cNvPr>
            <p:cNvSpPr/>
            <p:nvPr/>
          </p:nvSpPr>
          <p:spPr>
            <a:xfrm>
              <a:off x="10879636" y="4506311"/>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 b="1" dirty="0">
                <a:solidFill>
                  <a:schemeClr val="tx1"/>
                </a:solidFill>
              </a:endParaRPr>
            </a:p>
          </p:txBody>
        </p:sp>
        <p:sp>
          <p:nvSpPr>
            <p:cNvPr id="162" name="圓角矩形 99">
              <a:extLst>
                <a:ext uri="{FF2B5EF4-FFF2-40B4-BE49-F238E27FC236}">
                  <a16:creationId xmlns:a16="http://schemas.microsoft.com/office/drawing/2014/main" id="{9FCBC9BA-5F3B-4F8E-AD00-7DFCA703B04B}"/>
                </a:ext>
              </a:extLst>
            </p:cNvPr>
            <p:cNvSpPr/>
            <p:nvPr/>
          </p:nvSpPr>
          <p:spPr>
            <a:xfrm>
              <a:off x="11026510" y="4505698"/>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 b="1" dirty="0">
                <a:solidFill>
                  <a:schemeClr val="tx1"/>
                </a:solidFill>
              </a:endParaRPr>
            </a:p>
          </p:txBody>
        </p:sp>
        <mc:AlternateContent xmlns:mc="http://schemas.openxmlformats.org/markup-compatibility/2006" xmlns:a14="http://schemas.microsoft.com/office/drawing/2010/main">
          <mc:Choice Requires="a14">
            <p:sp>
              <p:nvSpPr>
                <p:cNvPr id="163" name="文字方塊 162">
                  <a:extLst>
                    <a:ext uri="{FF2B5EF4-FFF2-40B4-BE49-F238E27FC236}">
                      <a16:creationId xmlns:a16="http://schemas.microsoft.com/office/drawing/2014/main" id="{1FAFEDB0-73E9-4F4A-8405-BD317CB0A810}"/>
                    </a:ext>
                  </a:extLst>
                </p:cNvPr>
                <p:cNvSpPr txBox="1"/>
                <p:nvPr/>
              </p:nvSpPr>
              <p:spPr>
                <a:xfrm>
                  <a:off x="10803407" y="4458262"/>
                  <a:ext cx="248786" cy="138499"/>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altLang="zh-TW" sz="150" b="1" i="1" smtClean="0">
                            <a:latin typeface="Cambria Math" panose="02040503050406030204" pitchFamily="18" charset="0"/>
                          </a:rPr>
                          <m:t>𝒁𝒐𝒏</m:t>
                        </m:r>
                        <m:r>
                          <a:rPr lang="en-US" altLang="zh-TW" sz="150" b="1" i="0" smtClean="0">
                            <a:latin typeface="Cambria Math" panose="02040503050406030204" pitchFamily="18" charset="0"/>
                          </a:rPr>
                          <m:t>𝐞</m:t>
                        </m:r>
                      </m:oMath>
                    </m:oMathPara>
                  </a14:m>
                  <a:endParaRPr lang="en-US" altLang="zh-TW" sz="150" b="1" dirty="0"/>
                </a:p>
                <a:p>
                  <a:pPr algn="ctr"/>
                  <a:r>
                    <a:rPr lang="en-US" altLang="zh-TW" sz="150" b="1" dirty="0"/>
                    <a:t>Marker</a:t>
                  </a:r>
                </a:p>
              </p:txBody>
            </p:sp>
          </mc:Choice>
          <mc:Fallback xmlns="">
            <p:sp>
              <p:nvSpPr>
                <p:cNvPr id="163" name="文字方塊 162">
                  <a:extLst>
                    <a:ext uri="{FF2B5EF4-FFF2-40B4-BE49-F238E27FC236}">
                      <a16:creationId xmlns:a16="http://schemas.microsoft.com/office/drawing/2014/main" id="{1FAFEDB0-73E9-4F4A-8405-BD317CB0A810}"/>
                    </a:ext>
                  </a:extLst>
                </p:cNvPr>
                <p:cNvSpPr txBox="1">
                  <a:spLocks noRot="1" noChangeAspect="1" noMove="1" noResize="1" noEditPoints="1" noAdjustHandles="1" noChangeArrowheads="1" noChangeShapeType="1" noTextEdit="1"/>
                </p:cNvSpPr>
                <p:nvPr/>
              </p:nvSpPr>
              <p:spPr>
                <a:xfrm>
                  <a:off x="10803407" y="4458262"/>
                  <a:ext cx="248786" cy="138499"/>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4" name="文字方塊 163">
                  <a:extLst>
                    <a:ext uri="{FF2B5EF4-FFF2-40B4-BE49-F238E27FC236}">
                      <a16:creationId xmlns:a16="http://schemas.microsoft.com/office/drawing/2014/main" id="{E51BF93E-3361-49F8-B901-D60552DCD7AC}"/>
                    </a:ext>
                  </a:extLst>
                </p:cNvPr>
                <p:cNvSpPr txBox="1"/>
                <p:nvPr/>
              </p:nvSpPr>
              <p:spPr>
                <a:xfrm>
                  <a:off x="10950722" y="4462550"/>
                  <a:ext cx="243978" cy="138499"/>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altLang="zh-TW" sz="150" b="1" i="1" smtClean="0">
                            <a:latin typeface="Cambria Math" panose="02040503050406030204" pitchFamily="18" charset="0"/>
                          </a:rPr>
                          <m:t>𝑷𝒆𝒂𝒌</m:t>
                        </m:r>
                      </m:oMath>
                    </m:oMathPara>
                  </a14:m>
                  <a:endParaRPr lang="en-US" altLang="zh-TW" sz="150" b="1" dirty="0"/>
                </a:p>
                <a:p>
                  <a:pPr algn="ctr"/>
                  <a:r>
                    <a:rPr lang="en-US" altLang="zh-TW" sz="150" b="1" dirty="0"/>
                    <a:t>Search</a:t>
                  </a:r>
                </a:p>
              </p:txBody>
            </p:sp>
          </mc:Choice>
          <mc:Fallback xmlns="">
            <p:sp>
              <p:nvSpPr>
                <p:cNvPr id="164" name="文字方塊 163">
                  <a:extLst>
                    <a:ext uri="{FF2B5EF4-FFF2-40B4-BE49-F238E27FC236}">
                      <a16:creationId xmlns:a16="http://schemas.microsoft.com/office/drawing/2014/main" id="{E51BF93E-3361-49F8-B901-D60552DCD7AC}"/>
                    </a:ext>
                  </a:extLst>
                </p:cNvPr>
                <p:cNvSpPr txBox="1">
                  <a:spLocks noRot="1" noChangeAspect="1" noMove="1" noResize="1" noEditPoints="1" noAdjustHandles="1" noChangeArrowheads="1" noChangeShapeType="1" noTextEdit="1"/>
                </p:cNvSpPr>
                <p:nvPr/>
              </p:nvSpPr>
              <p:spPr>
                <a:xfrm>
                  <a:off x="10950722" y="4462550"/>
                  <a:ext cx="243978" cy="138499"/>
                </a:xfrm>
                <a:prstGeom prst="rect">
                  <a:avLst/>
                </a:prstGeom>
                <a:blipFill>
                  <a:blip r:embed="rId29"/>
                  <a:stretch>
                    <a:fillRect/>
                  </a:stretch>
                </a:blipFill>
              </p:spPr>
              <p:txBody>
                <a:bodyPr/>
                <a:lstStyle/>
                <a:p>
                  <a:r>
                    <a:rPr lang="zh-TW" altLang="en-US">
                      <a:noFill/>
                    </a:rPr>
                    <a:t> </a:t>
                  </a:r>
                </a:p>
              </p:txBody>
            </p:sp>
          </mc:Fallback>
        </mc:AlternateContent>
        <p:sp>
          <p:nvSpPr>
            <p:cNvPr id="165" name="文字方塊 164">
              <a:extLst>
                <a:ext uri="{FF2B5EF4-FFF2-40B4-BE49-F238E27FC236}">
                  <a16:creationId xmlns:a16="http://schemas.microsoft.com/office/drawing/2014/main" id="{1D01C3C1-B5F5-4280-B0AA-8B0169328641}"/>
                </a:ext>
              </a:extLst>
            </p:cNvPr>
            <p:cNvSpPr txBox="1"/>
            <p:nvPr/>
          </p:nvSpPr>
          <p:spPr>
            <a:xfrm>
              <a:off x="10751555" y="4515146"/>
              <a:ext cx="389850" cy="184666"/>
            </a:xfrm>
            <a:prstGeom prst="rect">
              <a:avLst/>
            </a:prstGeom>
            <a:noFill/>
          </p:spPr>
          <p:txBody>
            <a:bodyPr wrap="none" rtlCol="0">
              <a:spAutoFit/>
            </a:bodyPr>
            <a:lstStyle/>
            <a:p>
              <a:r>
                <a:rPr lang="en-US" altLang="zh-TW" sz="6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Sweep</a:t>
              </a:r>
              <a:endParaRPr lang="zh-TW" altLang="en-US" sz="6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66" name="直線接點 165">
              <a:extLst>
                <a:ext uri="{FF2B5EF4-FFF2-40B4-BE49-F238E27FC236}">
                  <a16:creationId xmlns:a16="http://schemas.microsoft.com/office/drawing/2014/main" id="{BB87AEDB-9B21-46FD-A38A-128F257A75D5}"/>
                </a:ext>
              </a:extLst>
            </p:cNvPr>
            <p:cNvCxnSpPr/>
            <p:nvPr/>
          </p:nvCxnSpPr>
          <p:spPr>
            <a:xfrm>
              <a:off x="11068269" y="4621154"/>
              <a:ext cx="1295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7" name="直線接點 166">
              <a:extLst>
                <a:ext uri="{FF2B5EF4-FFF2-40B4-BE49-F238E27FC236}">
                  <a16:creationId xmlns:a16="http://schemas.microsoft.com/office/drawing/2014/main" id="{FA2AB72A-586F-411D-B43E-3A7D06E0F047}"/>
                </a:ext>
              </a:extLst>
            </p:cNvPr>
            <p:cNvCxnSpPr/>
            <p:nvPr/>
          </p:nvCxnSpPr>
          <p:spPr>
            <a:xfrm>
              <a:off x="10694498" y="4620891"/>
              <a:ext cx="1295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8" name="圓角矩形 105">
                  <a:extLst>
                    <a:ext uri="{FF2B5EF4-FFF2-40B4-BE49-F238E27FC236}">
                      <a16:creationId xmlns:a16="http://schemas.microsoft.com/office/drawing/2014/main" id="{0E249A16-70B1-4CBE-B889-BBCAB2350861}"/>
                    </a:ext>
                  </a:extLst>
                </p:cNvPr>
                <p:cNvSpPr/>
                <p:nvPr/>
              </p:nvSpPr>
              <p:spPr>
                <a:xfrm>
                  <a:off x="10723382" y="4670385"/>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 b="1" i="1" smtClean="0">
                            <a:solidFill>
                              <a:schemeClr val="tx1"/>
                            </a:solidFill>
                            <a:latin typeface="Cambria Math" panose="02040503050406030204" pitchFamily="18" charset="0"/>
                          </a:rPr>
                          <m:t>𝑺𝒊𝒏𝒈𝒍𝒆</m:t>
                        </m:r>
                      </m:oMath>
                    </m:oMathPara>
                  </a14:m>
                  <a:endParaRPr lang="en-US" altLang="zh-TW" sz="300" b="1" dirty="0">
                    <a:solidFill>
                      <a:schemeClr val="tx1"/>
                    </a:solidFill>
                  </a:endParaRPr>
                </a:p>
              </p:txBody>
            </p:sp>
          </mc:Choice>
          <mc:Fallback xmlns="">
            <p:sp>
              <p:nvSpPr>
                <p:cNvPr id="168" name="圓角矩形 105">
                  <a:extLst>
                    <a:ext uri="{FF2B5EF4-FFF2-40B4-BE49-F238E27FC236}">
                      <a16:creationId xmlns:a16="http://schemas.microsoft.com/office/drawing/2014/main" id="{0E249A16-70B1-4CBE-B889-BBCAB2350861}"/>
                    </a:ext>
                  </a:extLst>
                </p:cNvPr>
                <p:cNvSpPr>
                  <a:spLocks noRot="1" noChangeAspect="1" noMove="1" noResize="1" noEditPoints="1" noAdjustHandles="1" noChangeArrowheads="1" noChangeShapeType="1" noTextEdit="1"/>
                </p:cNvSpPr>
                <p:nvPr/>
              </p:nvSpPr>
              <p:spPr>
                <a:xfrm>
                  <a:off x="10723382" y="4670385"/>
                  <a:ext cx="101209" cy="45719"/>
                </a:xfrm>
                <a:prstGeom prst="roundRect">
                  <a:avLst/>
                </a:prstGeom>
                <a:blipFill>
                  <a:blip r:embed="rId30"/>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9" name="圓角矩形 106">
                  <a:extLst>
                    <a:ext uri="{FF2B5EF4-FFF2-40B4-BE49-F238E27FC236}">
                      <a16:creationId xmlns:a16="http://schemas.microsoft.com/office/drawing/2014/main" id="{95318A46-F0C3-476F-BE8A-71B6E8B723D8}"/>
                    </a:ext>
                  </a:extLst>
                </p:cNvPr>
                <p:cNvSpPr/>
                <p:nvPr/>
              </p:nvSpPr>
              <p:spPr>
                <a:xfrm>
                  <a:off x="10875470" y="4670384"/>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 b="1" i="1" smtClean="0">
                            <a:solidFill>
                              <a:schemeClr val="tx1"/>
                            </a:solidFill>
                            <a:latin typeface="Cambria Math" panose="02040503050406030204" pitchFamily="18" charset="0"/>
                          </a:rPr>
                          <m:t>𝑹𝒆𝒑𝒆𝒂𝒕</m:t>
                        </m:r>
                      </m:oMath>
                    </m:oMathPara>
                  </a14:m>
                  <a:endParaRPr lang="en-US" altLang="zh-TW" sz="200" b="1" dirty="0">
                    <a:solidFill>
                      <a:schemeClr val="tx1"/>
                    </a:solidFill>
                  </a:endParaRPr>
                </a:p>
              </p:txBody>
            </p:sp>
          </mc:Choice>
          <mc:Fallback xmlns="">
            <p:sp>
              <p:nvSpPr>
                <p:cNvPr id="169" name="圓角矩形 106">
                  <a:extLst>
                    <a:ext uri="{FF2B5EF4-FFF2-40B4-BE49-F238E27FC236}">
                      <a16:creationId xmlns:a16="http://schemas.microsoft.com/office/drawing/2014/main" id="{95318A46-F0C3-476F-BE8A-71B6E8B723D8}"/>
                    </a:ext>
                  </a:extLst>
                </p:cNvPr>
                <p:cNvSpPr>
                  <a:spLocks noRot="1" noChangeAspect="1" noMove="1" noResize="1" noEditPoints="1" noAdjustHandles="1" noChangeArrowheads="1" noChangeShapeType="1" noTextEdit="1"/>
                </p:cNvSpPr>
                <p:nvPr/>
              </p:nvSpPr>
              <p:spPr>
                <a:xfrm>
                  <a:off x="10875470" y="4670384"/>
                  <a:ext cx="101209" cy="45719"/>
                </a:xfrm>
                <a:prstGeom prst="roundRect">
                  <a:avLst/>
                </a:prstGeom>
                <a:blipFill>
                  <a:blip r:embed="rId31"/>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0" name="圓角矩形 107">
                  <a:extLst>
                    <a:ext uri="{FF2B5EF4-FFF2-40B4-BE49-F238E27FC236}">
                      <a16:creationId xmlns:a16="http://schemas.microsoft.com/office/drawing/2014/main" id="{1AF277DC-3824-444B-BFFB-FF9D7CBFFE42}"/>
                    </a:ext>
                  </a:extLst>
                </p:cNvPr>
                <p:cNvSpPr/>
                <p:nvPr/>
              </p:nvSpPr>
              <p:spPr>
                <a:xfrm>
                  <a:off x="11027424" y="4670383"/>
                  <a:ext cx="101209"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𝑺𝒕𝒐𝒑</m:t>
                        </m:r>
                      </m:oMath>
                    </m:oMathPara>
                  </a14:m>
                  <a:endParaRPr lang="en-US" altLang="zh-TW" sz="300" b="1" dirty="0">
                    <a:solidFill>
                      <a:schemeClr val="tx1"/>
                    </a:solidFill>
                  </a:endParaRPr>
                </a:p>
              </p:txBody>
            </p:sp>
          </mc:Choice>
          <mc:Fallback xmlns="">
            <p:sp>
              <p:nvSpPr>
                <p:cNvPr id="170" name="圓角矩形 107">
                  <a:extLst>
                    <a:ext uri="{FF2B5EF4-FFF2-40B4-BE49-F238E27FC236}">
                      <a16:creationId xmlns:a16="http://schemas.microsoft.com/office/drawing/2014/main" id="{1AF277DC-3824-444B-BFFB-FF9D7CBFFE42}"/>
                    </a:ext>
                  </a:extLst>
                </p:cNvPr>
                <p:cNvSpPr>
                  <a:spLocks noRot="1" noChangeAspect="1" noMove="1" noResize="1" noEditPoints="1" noAdjustHandles="1" noChangeArrowheads="1" noChangeShapeType="1" noTextEdit="1"/>
                </p:cNvSpPr>
                <p:nvPr/>
              </p:nvSpPr>
              <p:spPr>
                <a:xfrm>
                  <a:off x="11027424" y="4670383"/>
                  <a:ext cx="101209" cy="45719"/>
                </a:xfrm>
                <a:prstGeom prst="roundRect">
                  <a:avLst/>
                </a:prstGeom>
                <a:blipFill>
                  <a:blip r:embed="rId32"/>
                  <a:stretch>
                    <a:fillRect/>
                  </a:stretch>
                </a:blipFill>
                <a:ln>
                  <a:solidFill>
                    <a:schemeClr val="bg1">
                      <a:lumMod val="65000"/>
                    </a:schemeClr>
                  </a:solidFill>
                </a:ln>
              </p:spPr>
              <p:txBody>
                <a:bodyPr/>
                <a:lstStyle/>
                <a:p>
                  <a:r>
                    <a:rPr lang="zh-TW" altLang="en-US">
                      <a:noFill/>
                    </a:rPr>
                    <a:t> </a:t>
                  </a:r>
                </a:p>
              </p:txBody>
            </p:sp>
          </mc:Fallback>
        </mc:AlternateContent>
        <p:sp>
          <p:nvSpPr>
            <p:cNvPr id="171" name="橢圓 170">
              <a:extLst>
                <a:ext uri="{FF2B5EF4-FFF2-40B4-BE49-F238E27FC236}">
                  <a16:creationId xmlns:a16="http://schemas.microsoft.com/office/drawing/2014/main" id="{624AD6F5-BE4C-4D7C-B233-75A6859DB920}"/>
                </a:ext>
              </a:extLst>
            </p:cNvPr>
            <p:cNvSpPr/>
            <p:nvPr/>
          </p:nvSpPr>
          <p:spPr>
            <a:xfrm>
              <a:off x="11279205" y="3998429"/>
              <a:ext cx="207645" cy="196730"/>
            </a:xfrm>
            <a:prstGeom prst="ellipse">
              <a:avLst/>
            </a:prstGeom>
            <a:solidFill>
              <a:schemeClr val="bg1">
                <a:lumMod val="50000"/>
              </a:schemeClr>
            </a:solidFill>
            <a:ln>
              <a:solidFill>
                <a:schemeClr val="bg1">
                  <a:lumMod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2" name="橢圓 171">
              <a:extLst>
                <a:ext uri="{FF2B5EF4-FFF2-40B4-BE49-F238E27FC236}">
                  <a16:creationId xmlns:a16="http://schemas.microsoft.com/office/drawing/2014/main" id="{B6CC78EF-7974-4986-804F-FB3AF9D3F5C3}"/>
                </a:ext>
              </a:extLst>
            </p:cNvPr>
            <p:cNvSpPr/>
            <p:nvPr/>
          </p:nvSpPr>
          <p:spPr>
            <a:xfrm>
              <a:off x="11299309" y="4062765"/>
              <a:ext cx="62526" cy="59239"/>
            </a:xfrm>
            <a:prstGeom prst="ellipse">
              <a:avLst/>
            </a:prstGeom>
            <a:solidFill>
              <a:schemeClr val="bg1">
                <a:lumMod val="50000"/>
              </a:schemeClr>
            </a:solidFill>
            <a:ln>
              <a:solidFill>
                <a:schemeClr val="bg1">
                  <a:lumMod val="50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3" name="圓角矩形 110">
                  <a:extLst>
                    <a:ext uri="{FF2B5EF4-FFF2-40B4-BE49-F238E27FC236}">
                      <a16:creationId xmlns:a16="http://schemas.microsoft.com/office/drawing/2014/main" id="{C9CB5DAF-A0CF-4D12-909F-E4E1EB46A37B}"/>
                    </a:ext>
                  </a:extLst>
                </p:cNvPr>
                <p:cNvSpPr/>
                <p:nvPr/>
              </p:nvSpPr>
              <p:spPr>
                <a:xfrm>
                  <a:off x="11228990" y="4241177"/>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𝟏</m:t>
                        </m:r>
                      </m:oMath>
                    </m:oMathPara>
                  </a14:m>
                  <a:endParaRPr lang="en-US" altLang="zh-TW" sz="300" b="1" dirty="0">
                    <a:solidFill>
                      <a:schemeClr val="tx1"/>
                    </a:solidFill>
                  </a:endParaRPr>
                </a:p>
              </p:txBody>
            </p:sp>
          </mc:Choice>
          <mc:Fallback xmlns="">
            <p:sp>
              <p:nvSpPr>
                <p:cNvPr id="173" name="圓角矩形 110">
                  <a:extLst>
                    <a:ext uri="{FF2B5EF4-FFF2-40B4-BE49-F238E27FC236}">
                      <a16:creationId xmlns:a16="http://schemas.microsoft.com/office/drawing/2014/main" id="{C9CB5DAF-A0CF-4D12-909F-E4E1EB46A37B}"/>
                    </a:ext>
                  </a:extLst>
                </p:cNvPr>
                <p:cNvSpPr>
                  <a:spLocks noRot="1" noChangeAspect="1" noMove="1" noResize="1" noEditPoints="1" noAdjustHandles="1" noChangeArrowheads="1" noChangeShapeType="1" noTextEdit="1"/>
                </p:cNvSpPr>
                <p:nvPr/>
              </p:nvSpPr>
              <p:spPr>
                <a:xfrm>
                  <a:off x="11228990" y="4241177"/>
                  <a:ext cx="76486" cy="45719"/>
                </a:xfrm>
                <a:prstGeom prst="roundRect">
                  <a:avLst/>
                </a:prstGeom>
                <a:blipFill>
                  <a:blip r:embed="rId33"/>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4" name="圓角矩形 111">
                  <a:extLst>
                    <a:ext uri="{FF2B5EF4-FFF2-40B4-BE49-F238E27FC236}">
                      <a16:creationId xmlns:a16="http://schemas.microsoft.com/office/drawing/2014/main" id="{AA5881D3-C3D6-4512-9B22-FEBD51F7D3A2}"/>
                    </a:ext>
                  </a:extLst>
                </p:cNvPr>
                <p:cNvSpPr/>
                <p:nvPr/>
              </p:nvSpPr>
              <p:spPr>
                <a:xfrm>
                  <a:off x="11370525" y="4241956"/>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𝟐</m:t>
                        </m:r>
                      </m:oMath>
                    </m:oMathPara>
                  </a14:m>
                  <a:endParaRPr lang="en-US" altLang="zh-TW" sz="300" b="1" dirty="0">
                    <a:solidFill>
                      <a:schemeClr val="tx1"/>
                    </a:solidFill>
                  </a:endParaRPr>
                </a:p>
              </p:txBody>
            </p:sp>
          </mc:Choice>
          <mc:Fallback xmlns="">
            <p:sp>
              <p:nvSpPr>
                <p:cNvPr id="174" name="圓角矩形 111">
                  <a:extLst>
                    <a:ext uri="{FF2B5EF4-FFF2-40B4-BE49-F238E27FC236}">
                      <a16:creationId xmlns:a16="http://schemas.microsoft.com/office/drawing/2014/main" id="{AA5881D3-C3D6-4512-9B22-FEBD51F7D3A2}"/>
                    </a:ext>
                  </a:extLst>
                </p:cNvPr>
                <p:cNvSpPr>
                  <a:spLocks noRot="1" noChangeAspect="1" noMove="1" noResize="1" noEditPoints="1" noAdjustHandles="1" noChangeArrowheads="1" noChangeShapeType="1" noTextEdit="1"/>
                </p:cNvSpPr>
                <p:nvPr/>
              </p:nvSpPr>
              <p:spPr>
                <a:xfrm>
                  <a:off x="11370525" y="4241956"/>
                  <a:ext cx="76486" cy="45719"/>
                </a:xfrm>
                <a:prstGeom prst="roundRect">
                  <a:avLst/>
                </a:prstGeom>
                <a:blipFill>
                  <a:blip r:embed="rId34"/>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5" name="圓角矩形 112">
                  <a:extLst>
                    <a:ext uri="{FF2B5EF4-FFF2-40B4-BE49-F238E27FC236}">
                      <a16:creationId xmlns:a16="http://schemas.microsoft.com/office/drawing/2014/main" id="{C4FF1737-3D28-4261-BA6B-310188E0FD96}"/>
                    </a:ext>
                  </a:extLst>
                </p:cNvPr>
                <p:cNvSpPr/>
                <p:nvPr/>
              </p:nvSpPr>
              <p:spPr>
                <a:xfrm>
                  <a:off x="11508661" y="4241110"/>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𝟑</m:t>
                        </m:r>
                      </m:oMath>
                    </m:oMathPara>
                  </a14:m>
                  <a:endParaRPr lang="en-US" altLang="zh-TW" sz="300" b="1" dirty="0">
                    <a:solidFill>
                      <a:schemeClr val="tx1"/>
                    </a:solidFill>
                  </a:endParaRPr>
                </a:p>
              </p:txBody>
            </p:sp>
          </mc:Choice>
          <mc:Fallback xmlns="">
            <p:sp>
              <p:nvSpPr>
                <p:cNvPr id="175" name="圓角矩形 112">
                  <a:extLst>
                    <a:ext uri="{FF2B5EF4-FFF2-40B4-BE49-F238E27FC236}">
                      <a16:creationId xmlns:a16="http://schemas.microsoft.com/office/drawing/2014/main" id="{C4FF1737-3D28-4261-BA6B-310188E0FD96}"/>
                    </a:ext>
                  </a:extLst>
                </p:cNvPr>
                <p:cNvSpPr>
                  <a:spLocks noRot="1" noChangeAspect="1" noMove="1" noResize="1" noEditPoints="1" noAdjustHandles="1" noChangeArrowheads="1" noChangeShapeType="1" noTextEdit="1"/>
                </p:cNvSpPr>
                <p:nvPr/>
              </p:nvSpPr>
              <p:spPr>
                <a:xfrm>
                  <a:off x="11508661" y="4241110"/>
                  <a:ext cx="76486" cy="45719"/>
                </a:xfrm>
                <a:prstGeom prst="roundRect">
                  <a:avLst/>
                </a:prstGeom>
                <a:blipFill>
                  <a:blip r:embed="rId35"/>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6" name="圓角矩形 113">
                  <a:extLst>
                    <a:ext uri="{FF2B5EF4-FFF2-40B4-BE49-F238E27FC236}">
                      <a16:creationId xmlns:a16="http://schemas.microsoft.com/office/drawing/2014/main" id="{1C33A215-5C7E-4FB3-A7AF-2BD2BCB981D3}"/>
                    </a:ext>
                  </a:extLst>
                </p:cNvPr>
                <p:cNvSpPr/>
                <p:nvPr/>
              </p:nvSpPr>
              <p:spPr>
                <a:xfrm>
                  <a:off x="11228990" y="4340533"/>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𝟒</m:t>
                        </m:r>
                      </m:oMath>
                    </m:oMathPara>
                  </a14:m>
                  <a:endParaRPr lang="en-US" altLang="zh-TW" sz="300" b="1" dirty="0">
                    <a:solidFill>
                      <a:schemeClr val="tx1"/>
                    </a:solidFill>
                  </a:endParaRPr>
                </a:p>
              </p:txBody>
            </p:sp>
          </mc:Choice>
          <mc:Fallback xmlns="">
            <p:sp>
              <p:nvSpPr>
                <p:cNvPr id="176" name="圓角矩形 113">
                  <a:extLst>
                    <a:ext uri="{FF2B5EF4-FFF2-40B4-BE49-F238E27FC236}">
                      <a16:creationId xmlns:a16="http://schemas.microsoft.com/office/drawing/2014/main" id="{1C33A215-5C7E-4FB3-A7AF-2BD2BCB981D3}"/>
                    </a:ext>
                  </a:extLst>
                </p:cNvPr>
                <p:cNvSpPr>
                  <a:spLocks noRot="1" noChangeAspect="1" noMove="1" noResize="1" noEditPoints="1" noAdjustHandles="1" noChangeArrowheads="1" noChangeShapeType="1" noTextEdit="1"/>
                </p:cNvSpPr>
                <p:nvPr/>
              </p:nvSpPr>
              <p:spPr>
                <a:xfrm>
                  <a:off x="11228990" y="4340533"/>
                  <a:ext cx="76486" cy="45719"/>
                </a:xfrm>
                <a:prstGeom prst="roundRect">
                  <a:avLst/>
                </a:prstGeom>
                <a:blipFill>
                  <a:blip r:embed="rId36"/>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7" name="圓角矩形 114">
                  <a:extLst>
                    <a:ext uri="{FF2B5EF4-FFF2-40B4-BE49-F238E27FC236}">
                      <a16:creationId xmlns:a16="http://schemas.microsoft.com/office/drawing/2014/main" id="{B93D51F8-7A6C-41CB-9C89-74AD3E9BDA5B}"/>
                    </a:ext>
                  </a:extLst>
                </p:cNvPr>
                <p:cNvSpPr/>
                <p:nvPr/>
              </p:nvSpPr>
              <p:spPr>
                <a:xfrm>
                  <a:off x="11370525" y="4341312"/>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𝟓</m:t>
                        </m:r>
                      </m:oMath>
                    </m:oMathPara>
                  </a14:m>
                  <a:endParaRPr lang="en-US" altLang="zh-TW" sz="300" b="1" dirty="0">
                    <a:solidFill>
                      <a:schemeClr val="tx1"/>
                    </a:solidFill>
                  </a:endParaRPr>
                </a:p>
              </p:txBody>
            </p:sp>
          </mc:Choice>
          <mc:Fallback xmlns="">
            <p:sp>
              <p:nvSpPr>
                <p:cNvPr id="177" name="圓角矩形 114">
                  <a:extLst>
                    <a:ext uri="{FF2B5EF4-FFF2-40B4-BE49-F238E27FC236}">
                      <a16:creationId xmlns:a16="http://schemas.microsoft.com/office/drawing/2014/main" id="{B93D51F8-7A6C-41CB-9C89-74AD3E9BDA5B}"/>
                    </a:ext>
                  </a:extLst>
                </p:cNvPr>
                <p:cNvSpPr>
                  <a:spLocks noRot="1" noChangeAspect="1" noMove="1" noResize="1" noEditPoints="1" noAdjustHandles="1" noChangeArrowheads="1" noChangeShapeType="1" noTextEdit="1"/>
                </p:cNvSpPr>
                <p:nvPr/>
              </p:nvSpPr>
              <p:spPr>
                <a:xfrm>
                  <a:off x="11370525" y="4341312"/>
                  <a:ext cx="76486" cy="45719"/>
                </a:xfrm>
                <a:prstGeom prst="roundRect">
                  <a:avLst/>
                </a:prstGeom>
                <a:blipFill>
                  <a:blip r:embed="rId37"/>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8" name="圓角矩形 115">
                  <a:extLst>
                    <a:ext uri="{FF2B5EF4-FFF2-40B4-BE49-F238E27FC236}">
                      <a16:creationId xmlns:a16="http://schemas.microsoft.com/office/drawing/2014/main" id="{239F5C3C-5DE7-4BC4-9820-2E45C3B7E159}"/>
                    </a:ext>
                  </a:extLst>
                </p:cNvPr>
                <p:cNvSpPr/>
                <p:nvPr/>
              </p:nvSpPr>
              <p:spPr>
                <a:xfrm>
                  <a:off x="11508661" y="4340466"/>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𝟔</m:t>
                        </m:r>
                      </m:oMath>
                    </m:oMathPara>
                  </a14:m>
                  <a:endParaRPr lang="en-US" altLang="zh-TW" sz="300" b="1" dirty="0">
                    <a:solidFill>
                      <a:schemeClr val="tx1"/>
                    </a:solidFill>
                  </a:endParaRPr>
                </a:p>
              </p:txBody>
            </p:sp>
          </mc:Choice>
          <mc:Fallback xmlns="">
            <p:sp>
              <p:nvSpPr>
                <p:cNvPr id="178" name="圓角矩形 115">
                  <a:extLst>
                    <a:ext uri="{FF2B5EF4-FFF2-40B4-BE49-F238E27FC236}">
                      <a16:creationId xmlns:a16="http://schemas.microsoft.com/office/drawing/2014/main" id="{239F5C3C-5DE7-4BC4-9820-2E45C3B7E159}"/>
                    </a:ext>
                  </a:extLst>
                </p:cNvPr>
                <p:cNvSpPr>
                  <a:spLocks noRot="1" noChangeAspect="1" noMove="1" noResize="1" noEditPoints="1" noAdjustHandles="1" noChangeArrowheads="1" noChangeShapeType="1" noTextEdit="1"/>
                </p:cNvSpPr>
                <p:nvPr/>
              </p:nvSpPr>
              <p:spPr>
                <a:xfrm>
                  <a:off x="11508661" y="4340466"/>
                  <a:ext cx="76486" cy="45719"/>
                </a:xfrm>
                <a:prstGeom prst="roundRect">
                  <a:avLst/>
                </a:prstGeom>
                <a:blipFill>
                  <a:blip r:embed="rId38"/>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9" name="圓角矩形 116">
                  <a:extLst>
                    <a:ext uri="{FF2B5EF4-FFF2-40B4-BE49-F238E27FC236}">
                      <a16:creationId xmlns:a16="http://schemas.microsoft.com/office/drawing/2014/main" id="{D9EA69D6-8671-448A-91BB-A71BCA1A7318}"/>
                    </a:ext>
                  </a:extLst>
                </p:cNvPr>
                <p:cNvSpPr/>
                <p:nvPr/>
              </p:nvSpPr>
              <p:spPr>
                <a:xfrm>
                  <a:off x="11229784" y="4446227"/>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𝟕</m:t>
                        </m:r>
                      </m:oMath>
                    </m:oMathPara>
                  </a14:m>
                  <a:endParaRPr lang="en-US" altLang="zh-TW" sz="300" b="1" dirty="0">
                    <a:solidFill>
                      <a:schemeClr val="tx1"/>
                    </a:solidFill>
                  </a:endParaRPr>
                </a:p>
              </p:txBody>
            </p:sp>
          </mc:Choice>
          <mc:Fallback xmlns="">
            <p:sp>
              <p:nvSpPr>
                <p:cNvPr id="179" name="圓角矩形 116">
                  <a:extLst>
                    <a:ext uri="{FF2B5EF4-FFF2-40B4-BE49-F238E27FC236}">
                      <a16:creationId xmlns:a16="http://schemas.microsoft.com/office/drawing/2014/main" id="{D9EA69D6-8671-448A-91BB-A71BCA1A7318}"/>
                    </a:ext>
                  </a:extLst>
                </p:cNvPr>
                <p:cNvSpPr>
                  <a:spLocks noRot="1" noChangeAspect="1" noMove="1" noResize="1" noEditPoints="1" noAdjustHandles="1" noChangeArrowheads="1" noChangeShapeType="1" noTextEdit="1"/>
                </p:cNvSpPr>
                <p:nvPr/>
              </p:nvSpPr>
              <p:spPr>
                <a:xfrm>
                  <a:off x="11229784" y="4446227"/>
                  <a:ext cx="76486" cy="45719"/>
                </a:xfrm>
                <a:prstGeom prst="roundRect">
                  <a:avLst/>
                </a:prstGeom>
                <a:blipFill>
                  <a:blip r:embed="rId39"/>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0" name="圓角矩形 117">
                  <a:extLst>
                    <a:ext uri="{FF2B5EF4-FFF2-40B4-BE49-F238E27FC236}">
                      <a16:creationId xmlns:a16="http://schemas.microsoft.com/office/drawing/2014/main" id="{D502DAF4-53D9-43B3-AF50-41D6DAE83CEE}"/>
                    </a:ext>
                  </a:extLst>
                </p:cNvPr>
                <p:cNvSpPr/>
                <p:nvPr/>
              </p:nvSpPr>
              <p:spPr>
                <a:xfrm>
                  <a:off x="11371319" y="4447006"/>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𝟖</m:t>
                        </m:r>
                      </m:oMath>
                    </m:oMathPara>
                  </a14:m>
                  <a:endParaRPr lang="en-US" altLang="zh-TW" sz="300" b="1" dirty="0">
                    <a:solidFill>
                      <a:schemeClr val="tx1"/>
                    </a:solidFill>
                  </a:endParaRPr>
                </a:p>
              </p:txBody>
            </p:sp>
          </mc:Choice>
          <mc:Fallback xmlns="">
            <p:sp>
              <p:nvSpPr>
                <p:cNvPr id="180" name="圓角矩形 117">
                  <a:extLst>
                    <a:ext uri="{FF2B5EF4-FFF2-40B4-BE49-F238E27FC236}">
                      <a16:creationId xmlns:a16="http://schemas.microsoft.com/office/drawing/2014/main" id="{D502DAF4-53D9-43B3-AF50-41D6DAE83CEE}"/>
                    </a:ext>
                  </a:extLst>
                </p:cNvPr>
                <p:cNvSpPr>
                  <a:spLocks noRot="1" noChangeAspect="1" noMove="1" noResize="1" noEditPoints="1" noAdjustHandles="1" noChangeArrowheads="1" noChangeShapeType="1" noTextEdit="1"/>
                </p:cNvSpPr>
                <p:nvPr/>
              </p:nvSpPr>
              <p:spPr>
                <a:xfrm>
                  <a:off x="11371319" y="4447006"/>
                  <a:ext cx="76486" cy="45719"/>
                </a:xfrm>
                <a:prstGeom prst="roundRect">
                  <a:avLst/>
                </a:prstGeom>
                <a:blipFill>
                  <a:blip r:embed="rId40"/>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1" name="圓角矩形 118">
                  <a:extLst>
                    <a:ext uri="{FF2B5EF4-FFF2-40B4-BE49-F238E27FC236}">
                      <a16:creationId xmlns:a16="http://schemas.microsoft.com/office/drawing/2014/main" id="{566A0B19-B782-4798-A2FA-574099B9EA80}"/>
                    </a:ext>
                  </a:extLst>
                </p:cNvPr>
                <p:cNvSpPr/>
                <p:nvPr/>
              </p:nvSpPr>
              <p:spPr>
                <a:xfrm>
                  <a:off x="11509455" y="4446160"/>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𝟗</m:t>
                        </m:r>
                      </m:oMath>
                    </m:oMathPara>
                  </a14:m>
                  <a:endParaRPr lang="en-US" altLang="zh-TW" sz="300" b="1" dirty="0">
                    <a:solidFill>
                      <a:schemeClr val="tx1"/>
                    </a:solidFill>
                  </a:endParaRPr>
                </a:p>
              </p:txBody>
            </p:sp>
          </mc:Choice>
          <mc:Fallback xmlns="">
            <p:sp>
              <p:nvSpPr>
                <p:cNvPr id="181" name="圓角矩形 118">
                  <a:extLst>
                    <a:ext uri="{FF2B5EF4-FFF2-40B4-BE49-F238E27FC236}">
                      <a16:creationId xmlns:a16="http://schemas.microsoft.com/office/drawing/2014/main" id="{566A0B19-B782-4798-A2FA-574099B9EA80}"/>
                    </a:ext>
                  </a:extLst>
                </p:cNvPr>
                <p:cNvSpPr>
                  <a:spLocks noRot="1" noChangeAspect="1" noMove="1" noResize="1" noEditPoints="1" noAdjustHandles="1" noChangeArrowheads="1" noChangeShapeType="1" noTextEdit="1"/>
                </p:cNvSpPr>
                <p:nvPr/>
              </p:nvSpPr>
              <p:spPr>
                <a:xfrm>
                  <a:off x="11509455" y="4446160"/>
                  <a:ext cx="76486" cy="45719"/>
                </a:xfrm>
                <a:prstGeom prst="roundRect">
                  <a:avLst/>
                </a:prstGeom>
                <a:blipFill>
                  <a:blip r:embed="rId41"/>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2" name="圓角矩形 119">
                  <a:extLst>
                    <a:ext uri="{FF2B5EF4-FFF2-40B4-BE49-F238E27FC236}">
                      <a16:creationId xmlns:a16="http://schemas.microsoft.com/office/drawing/2014/main" id="{85EC46DB-A5EE-425C-A0FA-07293F0F7139}"/>
                    </a:ext>
                  </a:extLst>
                </p:cNvPr>
                <p:cNvSpPr/>
                <p:nvPr/>
              </p:nvSpPr>
              <p:spPr>
                <a:xfrm>
                  <a:off x="11228990" y="4547405"/>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𝟎</m:t>
                        </m:r>
                      </m:oMath>
                    </m:oMathPara>
                  </a14:m>
                  <a:endParaRPr lang="en-US" altLang="zh-TW" sz="300" b="1" dirty="0">
                    <a:solidFill>
                      <a:schemeClr val="tx1"/>
                    </a:solidFill>
                  </a:endParaRPr>
                </a:p>
              </p:txBody>
            </p:sp>
          </mc:Choice>
          <mc:Fallback xmlns="">
            <p:sp>
              <p:nvSpPr>
                <p:cNvPr id="182" name="圓角矩形 119">
                  <a:extLst>
                    <a:ext uri="{FF2B5EF4-FFF2-40B4-BE49-F238E27FC236}">
                      <a16:creationId xmlns:a16="http://schemas.microsoft.com/office/drawing/2014/main" id="{85EC46DB-A5EE-425C-A0FA-07293F0F7139}"/>
                    </a:ext>
                  </a:extLst>
                </p:cNvPr>
                <p:cNvSpPr>
                  <a:spLocks noRot="1" noChangeAspect="1" noMove="1" noResize="1" noEditPoints="1" noAdjustHandles="1" noChangeArrowheads="1" noChangeShapeType="1" noTextEdit="1"/>
                </p:cNvSpPr>
                <p:nvPr/>
              </p:nvSpPr>
              <p:spPr>
                <a:xfrm>
                  <a:off x="11228990" y="4547405"/>
                  <a:ext cx="76486" cy="45719"/>
                </a:xfrm>
                <a:prstGeom prst="roundRect">
                  <a:avLst/>
                </a:prstGeom>
                <a:blipFill>
                  <a:blip r:embed="rId42"/>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3" name="圓角矩形 120">
                  <a:extLst>
                    <a:ext uri="{FF2B5EF4-FFF2-40B4-BE49-F238E27FC236}">
                      <a16:creationId xmlns:a16="http://schemas.microsoft.com/office/drawing/2014/main" id="{8725DBAC-8764-4D81-9933-82F35AFBCCD3}"/>
                    </a:ext>
                  </a:extLst>
                </p:cNvPr>
                <p:cNvSpPr/>
                <p:nvPr/>
              </p:nvSpPr>
              <p:spPr>
                <a:xfrm>
                  <a:off x="11370525" y="4548184"/>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400" b="1" i="1" smtClean="0">
                            <a:solidFill>
                              <a:schemeClr val="tx1"/>
                            </a:solidFill>
                            <a:latin typeface="Cambria Math" panose="02040503050406030204" pitchFamily="18" charset="0"/>
                          </a:rPr>
                          <m:t>.</m:t>
                        </m:r>
                      </m:oMath>
                    </m:oMathPara>
                  </a14:m>
                  <a:endParaRPr lang="en-US" altLang="zh-TW" sz="300" b="1" dirty="0">
                    <a:solidFill>
                      <a:schemeClr val="tx1"/>
                    </a:solidFill>
                  </a:endParaRPr>
                </a:p>
              </p:txBody>
            </p:sp>
          </mc:Choice>
          <mc:Fallback xmlns="">
            <p:sp>
              <p:nvSpPr>
                <p:cNvPr id="183" name="圓角矩形 120">
                  <a:extLst>
                    <a:ext uri="{FF2B5EF4-FFF2-40B4-BE49-F238E27FC236}">
                      <a16:creationId xmlns:a16="http://schemas.microsoft.com/office/drawing/2014/main" id="{8725DBAC-8764-4D81-9933-82F35AFBCCD3}"/>
                    </a:ext>
                  </a:extLst>
                </p:cNvPr>
                <p:cNvSpPr>
                  <a:spLocks noRot="1" noChangeAspect="1" noMove="1" noResize="1" noEditPoints="1" noAdjustHandles="1" noChangeArrowheads="1" noChangeShapeType="1" noTextEdit="1"/>
                </p:cNvSpPr>
                <p:nvPr/>
              </p:nvSpPr>
              <p:spPr>
                <a:xfrm>
                  <a:off x="11370525" y="4548184"/>
                  <a:ext cx="76486" cy="45719"/>
                </a:xfrm>
                <a:prstGeom prst="roundRect">
                  <a:avLst/>
                </a:prstGeom>
                <a:blipFill>
                  <a:blip r:embed="rId43"/>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4" name="圓角矩形 121">
                  <a:extLst>
                    <a:ext uri="{FF2B5EF4-FFF2-40B4-BE49-F238E27FC236}">
                      <a16:creationId xmlns:a16="http://schemas.microsoft.com/office/drawing/2014/main" id="{3A7CC4E9-956B-472B-A8DF-B7D95DD80853}"/>
                    </a:ext>
                  </a:extLst>
                </p:cNvPr>
                <p:cNvSpPr/>
                <p:nvPr/>
              </p:nvSpPr>
              <p:spPr>
                <a:xfrm>
                  <a:off x="11508661" y="4547338"/>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m:t>
                        </m:r>
                      </m:oMath>
                    </m:oMathPara>
                  </a14:m>
                  <a:endParaRPr lang="en-US" altLang="zh-TW" sz="300" b="1" dirty="0">
                    <a:solidFill>
                      <a:schemeClr val="tx1"/>
                    </a:solidFill>
                  </a:endParaRPr>
                </a:p>
              </p:txBody>
            </p:sp>
          </mc:Choice>
          <mc:Fallback xmlns="">
            <p:sp>
              <p:nvSpPr>
                <p:cNvPr id="184" name="圓角矩形 121">
                  <a:extLst>
                    <a:ext uri="{FF2B5EF4-FFF2-40B4-BE49-F238E27FC236}">
                      <a16:creationId xmlns:a16="http://schemas.microsoft.com/office/drawing/2014/main" id="{3A7CC4E9-956B-472B-A8DF-B7D95DD80853}"/>
                    </a:ext>
                  </a:extLst>
                </p:cNvPr>
                <p:cNvSpPr>
                  <a:spLocks noRot="1" noChangeAspect="1" noMove="1" noResize="1" noEditPoints="1" noAdjustHandles="1" noChangeArrowheads="1" noChangeShapeType="1" noTextEdit="1"/>
                </p:cNvSpPr>
                <p:nvPr/>
              </p:nvSpPr>
              <p:spPr>
                <a:xfrm>
                  <a:off x="11508661" y="4547338"/>
                  <a:ext cx="76486" cy="45719"/>
                </a:xfrm>
                <a:prstGeom prst="roundRect">
                  <a:avLst/>
                </a:prstGeom>
                <a:blipFill>
                  <a:blip r:embed="rId44"/>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5" name="圓角矩形 122">
                  <a:extLst>
                    <a:ext uri="{FF2B5EF4-FFF2-40B4-BE49-F238E27FC236}">
                      <a16:creationId xmlns:a16="http://schemas.microsoft.com/office/drawing/2014/main" id="{72FEFBA9-7C44-49C1-9C02-6EC215229929}"/>
                    </a:ext>
                  </a:extLst>
                </p:cNvPr>
                <p:cNvSpPr/>
                <p:nvPr/>
              </p:nvSpPr>
              <p:spPr>
                <a:xfrm>
                  <a:off x="11227860" y="4652216"/>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00" b="1" i="1" smtClean="0">
                            <a:solidFill>
                              <a:schemeClr val="tx1"/>
                            </a:solidFill>
                            <a:latin typeface="Cambria Math" panose="02040503050406030204" pitchFamily="18" charset="0"/>
                          </a:rPr>
                          <m:t>𝑩𝑺</m:t>
                        </m:r>
                      </m:oMath>
                    </m:oMathPara>
                  </a14:m>
                  <a:endParaRPr lang="en-US" altLang="zh-TW" sz="300" b="1" dirty="0">
                    <a:solidFill>
                      <a:schemeClr val="tx1"/>
                    </a:solidFill>
                  </a:endParaRPr>
                </a:p>
              </p:txBody>
            </p:sp>
          </mc:Choice>
          <mc:Fallback xmlns="">
            <p:sp>
              <p:nvSpPr>
                <p:cNvPr id="185" name="圓角矩形 122">
                  <a:extLst>
                    <a:ext uri="{FF2B5EF4-FFF2-40B4-BE49-F238E27FC236}">
                      <a16:creationId xmlns:a16="http://schemas.microsoft.com/office/drawing/2014/main" id="{72FEFBA9-7C44-49C1-9C02-6EC215229929}"/>
                    </a:ext>
                  </a:extLst>
                </p:cNvPr>
                <p:cNvSpPr>
                  <a:spLocks noRot="1" noChangeAspect="1" noMove="1" noResize="1" noEditPoints="1" noAdjustHandles="1" noChangeArrowheads="1" noChangeShapeType="1" noTextEdit="1"/>
                </p:cNvSpPr>
                <p:nvPr/>
              </p:nvSpPr>
              <p:spPr>
                <a:xfrm>
                  <a:off x="11227860" y="4652216"/>
                  <a:ext cx="76486" cy="45719"/>
                </a:xfrm>
                <a:prstGeom prst="roundRect">
                  <a:avLst/>
                </a:prstGeom>
                <a:blipFill>
                  <a:blip r:embed="rId45"/>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6" name="圓角矩形 123">
                  <a:extLst>
                    <a:ext uri="{FF2B5EF4-FFF2-40B4-BE49-F238E27FC236}">
                      <a16:creationId xmlns:a16="http://schemas.microsoft.com/office/drawing/2014/main" id="{C1EA1146-34DC-4C8C-BB93-E565F86A1EA2}"/>
                    </a:ext>
                  </a:extLst>
                </p:cNvPr>
                <p:cNvSpPr/>
                <p:nvPr/>
              </p:nvSpPr>
              <p:spPr>
                <a:xfrm>
                  <a:off x="11369395" y="4652995"/>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200" b="1" i="1" smtClean="0">
                            <a:solidFill>
                              <a:schemeClr val="tx1"/>
                            </a:solidFill>
                            <a:latin typeface="Cambria Math" panose="02040503050406030204" pitchFamily="18" charset="0"/>
                          </a:rPr>
                          <m:t>𝑬𝒏𝒕𝒆𝒓</m:t>
                        </m:r>
                      </m:oMath>
                    </m:oMathPara>
                  </a14:m>
                  <a:endParaRPr lang="en-US" altLang="zh-TW" sz="200" b="1" dirty="0">
                    <a:solidFill>
                      <a:schemeClr val="tx1"/>
                    </a:solidFill>
                  </a:endParaRPr>
                </a:p>
              </p:txBody>
            </p:sp>
          </mc:Choice>
          <mc:Fallback xmlns="">
            <p:sp>
              <p:nvSpPr>
                <p:cNvPr id="186" name="圓角矩形 123">
                  <a:extLst>
                    <a:ext uri="{FF2B5EF4-FFF2-40B4-BE49-F238E27FC236}">
                      <a16:creationId xmlns:a16="http://schemas.microsoft.com/office/drawing/2014/main" id="{C1EA1146-34DC-4C8C-BB93-E565F86A1EA2}"/>
                    </a:ext>
                  </a:extLst>
                </p:cNvPr>
                <p:cNvSpPr>
                  <a:spLocks noRot="1" noChangeAspect="1" noMove="1" noResize="1" noEditPoints="1" noAdjustHandles="1" noChangeArrowheads="1" noChangeShapeType="1" noTextEdit="1"/>
                </p:cNvSpPr>
                <p:nvPr/>
              </p:nvSpPr>
              <p:spPr>
                <a:xfrm>
                  <a:off x="11369395" y="4652995"/>
                  <a:ext cx="76486" cy="45719"/>
                </a:xfrm>
                <a:prstGeom prst="roundRect">
                  <a:avLst/>
                </a:prstGeom>
                <a:blipFill>
                  <a:blip r:embed="rId46"/>
                  <a:stretch>
                    <a:fillRect/>
                  </a:stretch>
                </a:blipFill>
                <a:ln>
                  <a:solidFill>
                    <a:schemeClr val="bg1">
                      <a:lumMod val="6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7" name="圓角矩形 124">
                  <a:extLst>
                    <a:ext uri="{FF2B5EF4-FFF2-40B4-BE49-F238E27FC236}">
                      <a16:creationId xmlns:a16="http://schemas.microsoft.com/office/drawing/2014/main" id="{38C86C72-7820-42BA-B347-0FC0B1095862}"/>
                    </a:ext>
                  </a:extLst>
                </p:cNvPr>
                <p:cNvSpPr/>
                <p:nvPr/>
              </p:nvSpPr>
              <p:spPr>
                <a:xfrm>
                  <a:off x="11507531" y="4652149"/>
                  <a:ext cx="76486" cy="45719"/>
                </a:xfrm>
                <a:prstGeom prst="roundRect">
                  <a:avLst/>
                </a:prstGeom>
                <a:solidFill>
                  <a:schemeClr val="bg1">
                    <a:lumMod val="65000"/>
                  </a:schemeClr>
                </a:solidFill>
                <a:ln>
                  <a:solidFill>
                    <a:schemeClr val="bg1">
                      <a:lumMod val="65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 b="1" i="1" smtClean="0">
                            <a:solidFill>
                              <a:schemeClr val="tx1"/>
                            </a:solidFill>
                            <a:latin typeface="Cambria Math" panose="02040503050406030204" pitchFamily="18" charset="0"/>
                          </a:rPr>
                          <m:t>𝑪𝒂𝒏𝒄𝒆𝒍</m:t>
                        </m:r>
                      </m:oMath>
                    </m:oMathPara>
                  </a14:m>
                  <a:endParaRPr lang="en-US" altLang="zh-TW" sz="300" b="1" dirty="0">
                    <a:solidFill>
                      <a:schemeClr val="tx1"/>
                    </a:solidFill>
                  </a:endParaRPr>
                </a:p>
              </p:txBody>
            </p:sp>
          </mc:Choice>
          <mc:Fallback xmlns="">
            <p:sp>
              <p:nvSpPr>
                <p:cNvPr id="187" name="圓角矩形 124">
                  <a:extLst>
                    <a:ext uri="{FF2B5EF4-FFF2-40B4-BE49-F238E27FC236}">
                      <a16:creationId xmlns:a16="http://schemas.microsoft.com/office/drawing/2014/main" id="{38C86C72-7820-42BA-B347-0FC0B1095862}"/>
                    </a:ext>
                  </a:extLst>
                </p:cNvPr>
                <p:cNvSpPr>
                  <a:spLocks noRot="1" noChangeAspect="1" noMove="1" noResize="1" noEditPoints="1" noAdjustHandles="1" noChangeArrowheads="1" noChangeShapeType="1" noTextEdit="1"/>
                </p:cNvSpPr>
                <p:nvPr/>
              </p:nvSpPr>
              <p:spPr>
                <a:xfrm>
                  <a:off x="11507531" y="4652149"/>
                  <a:ext cx="76486" cy="45719"/>
                </a:xfrm>
                <a:prstGeom prst="roundRect">
                  <a:avLst/>
                </a:prstGeom>
                <a:blipFill>
                  <a:blip r:embed="rId47"/>
                  <a:stretch>
                    <a:fillRect/>
                  </a:stretch>
                </a:blipFill>
                <a:ln>
                  <a:solidFill>
                    <a:schemeClr val="bg1">
                      <a:lumMod val="65000"/>
                    </a:schemeClr>
                  </a:solidFill>
                </a:ln>
              </p:spPr>
              <p:txBody>
                <a:bodyPr/>
                <a:lstStyle/>
                <a:p>
                  <a:r>
                    <a:rPr lang="zh-TW" altLang="en-US">
                      <a:noFill/>
                    </a:rPr>
                    <a:t> </a:t>
                  </a:r>
                </a:p>
              </p:txBody>
            </p:sp>
          </mc:Fallback>
        </mc:AlternateContent>
      </p:grpSp>
      <p:grpSp>
        <p:nvGrpSpPr>
          <p:cNvPr id="281" name="群組 280">
            <a:extLst>
              <a:ext uri="{FF2B5EF4-FFF2-40B4-BE49-F238E27FC236}">
                <a16:creationId xmlns:a16="http://schemas.microsoft.com/office/drawing/2014/main" id="{F71EF977-1393-4854-AABF-921B4B061EFB}"/>
              </a:ext>
            </a:extLst>
          </p:cNvPr>
          <p:cNvGrpSpPr/>
          <p:nvPr/>
        </p:nvGrpSpPr>
        <p:grpSpPr>
          <a:xfrm>
            <a:off x="5876589" y="4302992"/>
            <a:ext cx="690497" cy="1217742"/>
            <a:chOff x="6144190" y="3829206"/>
            <a:chExt cx="690497" cy="1217742"/>
          </a:xfrm>
        </p:grpSpPr>
        <p:sp>
          <p:nvSpPr>
            <p:cNvPr id="282" name="矩形 281">
              <a:extLst>
                <a:ext uri="{FF2B5EF4-FFF2-40B4-BE49-F238E27FC236}">
                  <a16:creationId xmlns:a16="http://schemas.microsoft.com/office/drawing/2014/main" id="{7D25597D-8822-46C7-A0D2-3BEF2280AA34}"/>
                </a:ext>
              </a:extLst>
            </p:cNvPr>
            <p:cNvSpPr/>
            <p:nvPr/>
          </p:nvSpPr>
          <p:spPr>
            <a:xfrm>
              <a:off x="6144190" y="3829206"/>
              <a:ext cx="422167" cy="1174767"/>
            </a:xfrm>
            <a:prstGeom prst="rect">
              <a:avLst/>
            </a:prstGeom>
            <a:solidFill>
              <a:schemeClr val="tx1">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83" name="橢圓 282">
              <a:extLst>
                <a:ext uri="{FF2B5EF4-FFF2-40B4-BE49-F238E27FC236}">
                  <a16:creationId xmlns:a16="http://schemas.microsoft.com/office/drawing/2014/main" id="{2A842A7F-D437-4840-8410-900FD65BE0B8}"/>
                </a:ext>
              </a:extLst>
            </p:cNvPr>
            <p:cNvSpPr/>
            <p:nvPr/>
          </p:nvSpPr>
          <p:spPr>
            <a:xfrm>
              <a:off x="6319117" y="3831976"/>
              <a:ext cx="486938" cy="119417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84" name="橢圓 283">
              <a:extLst>
                <a:ext uri="{FF2B5EF4-FFF2-40B4-BE49-F238E27FC236}">
                  <a16:creationId xmlns:a16="http://schemas.microsoft.com/office/drawing/2014/main" id="{6E3ABF1C-EE87-4D58-A8BB-D4654B1EE444}"/>
                </a:ext>
              </a:extLst>
            </p:cNvPr>
            <p:cNvSpPr/>
            <p:nvPr/>
          </p:nvSpPr>
          <p:spPr>
            <a:xfrm>
              <a:off x="6347749" y="3829206"/>
              <a:ext cx="486938" cy="1217742"/>
            </a:xfrm>
            <a:prstGeom prst="ellipse">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grpSp>
      <p:sp>
        <p:nvSpPr>
          <p:cNvPr id="285" name="手繪多邊形 31">
            <a:extLst>
              <a:ext uri="{FF2B5EF4-FFF2-40B4-BE49-F238E27FC236}">
                <a16:creationId xmlns:a16="http://schemas.microsoft.com/office/drawing/2014/main" id="{2CD9AFCF-0AD1-41DA-89DA-2EAB5C001166}"/>
              </a:ext>
            </a:extLst>
          </p:cNvPr>
          <p:cNvSpPr/>
          <p:nvPr/>
        </p:nvSpPr>
        <p:spPr>
          <a:xfrm>
            <a:off x="6085934" y="5010384"/>
            <a:ext cx="4352174" cy="128739"/>
          </a:xfrm>
          <a:custGeom>
            <a:avLst/>
            <a:gdLst>
              <a:gd name="connsiteX0" fmla="*/ 0 w 2876550"/>
              <a:gd name="connsiteY0" fmla="*/ 70100 h 70100"/>
              <a:gd name="connsiteX1" fmla="*/ 914400 w 2876550"/>
              <a:gd name="connsiteY1" fmla="*/ 3425 h 70100"/>
              <a:gd name="connsiteX2" fmla="*/ 2876550 w 2876550"/>
              <a:gd name="connsiteY2" fmla="*/ 12950 h 70100"/>
            </a:gdLst>
            <a:ahLst/>
            <a:cxnLst>
              <a:cxn ang="0">
                <a:pos x="connsiteX0" y="connsiteY0"/>
              </a:cxn>
              <a:cxn ang="0">
                <a:pos x="connsiteX1" y="connsiteY1"/>
              </a:cxn>
              <a:cxn ang="0">
                <a:pos x="connsiteX2" y="connsiteY2"/>
              </a:cxn>
            </a:cxnLst>
            <a:rect l="l" t="t" r="r" b="b"/>
            <a:pathLst>
              <a:path w="2876550" h="70100">
                <a:moveTo>
                  <a:pt x="0" y="70100"/>
                </a:moveTo>
                <a:cubicBezTo>
                  <a:pt x="217487" y="41525"/>
                  <a:pt x="434975" y="12950"/>
                  <a:pt x="914400" y="3425"/>
                </a:cubicBezTo>
                <a:cubicBezTo>
                  <a:pt x="1393825" y="-6100"/>
                  <a:pt x="2573338" y="6600"/>
                  <a:pt x="2876550" y="1295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86" name="手繪多邊形 30">
            <a:extLst>
              <a:ext uri="{FF2B5EF4-FFF2-40B4-BE49-F238E27FC236}">
                <a16:creationId xmlns:a16="http://schemas.microsoft.com/office/drawing/2014/main" id="{7938F10D-4ECE-4EAD-9867-C8AD0680F681}"/>
              </a:ext>
            </a:extLst>
          </p:cNvPr>
          <p:cNvSpPr/>
          <p:nvPr/>
        </p:nvSpPr>
        <p:spPr>
          <a:xfrm>
            <a:off x="6080148" y="4666326"/>
            <a:ext cx="4357960" cy="211571"/>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sp>
        <p:nvSpPr>
          <p:cNvPr id="287" name="向右箭號 8">
            <a:extLst>
              <a:ext uri="{FF2B5EF4-FFF2-40B4-BE49-F238E27FC236}">
                <a16:creationId xmlns:a16="http://schemas.microsoft.com/office/drawing/2014/main" id="{F37EE0D5-CCA9-4998-BAD5-4698E94C6C9A}"/>
              </a:ext>
            </a:extLst>
          </p:cNvPr>
          <p:cNvSpPr/>
          <p:nvPr/>
        </p:nvSpPr>
        <p:spPr>
          <a:xfrm>
            <a:off x="10406129" y="4779875"/>
            <a:ext cx="978671" cy="359248"/>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88" name="立方體 287">
            <a:extLst>
              <a:ext uri="{FF2B5EF4-FFF2-40B4-BE49-F238E27FC236}">
                <a16:creationId xmlns:a16="http://schemas.microsoft.com/office/drawing/2014/main" id="{F23DC8A2-1C15-4CD9-95BC-A42ED1E88E7C}"/>
              </a:ext>
            </a:extLst>
          </p:cNvPr>
          <p:cNvSpPr/>
          <p:nvPr/>
        </p:nvSpPr>
        <p:spPr>
          <a:xfrm>
            <a:off x="138974" y="1691450"/>
            <a:ext cx="1463649" cy="2592288"/>
          </a:xfrm>
          <a:prstGeom prst="cube">
            <a:avLst/>
          </a:prstGeom>
          <a:solidFill>
            <a:schemeClr val="tx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9" name="矩形 288">
            <a:extLst>
              <a:ext uri="{FF2B5EF4-FFF2-40B4-BE49-F238E27FC236}">
                <a16:creationId xmlns:a16="http://schemas.microsoft.com/office/drawing/2014/main" id="{AA330865-153B-427A-B98C-BBB34F8B69AE}"/>
              </a:ext>
            </a:extLst>
          </p:cNvPr>
          <p:cNvSpPr/>
          <p:nvPr/>
        </p:nvSpPr>
        <p:spPr>
          <a:xfrm>
            <a:off x="339873" y="2392583"/>
            <a:ext cx="736628" cy="23973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0" name="文字方塊 289">
            <a:extLst>
              <a:ext uri="{FF2B5EF4-FFF2-40B4-BE49-F238E27FC236}">
                <a16:creationId xmlns:a16="http://schemas.microsoft.com/office/drawing/2014/main" id="{28ED124D-A595-4373-8194-D65260944B06}"/>
              </a:ext>
            </a:extLst>
          </p:cNvPr>
          <p:cNvSpPr txBox="1"/>
          <p:nvPr/>
        </p:nvSpPr>
        <p:spPr>
          <a:xfrm>
            <a:off x="342417" y="2312394"/>
            <a:ext cx="683760" cy="400110"/>
          </a:xfrm>
          <a:prstGeom prst="rect">
            <a:avLst/>
          </a:prstGeom>
          <a:noFill/>
        </p:spPr>
        <p:txBody>
          <a:bodyPr wrap="square" rtlCol="0">
            <a:spAutoFit/>
          </a:bodyPr>
          <a:lstStyle/>
          <a:p>
            <a:r>
              <a:rPr lang="en-US" altLang="zh-TW" sz="1000" dirty="0">
                <a:latin typeface="Times New Roman" panose="02020603050405020304" pitchFamily="18" charset="0"/>
                <a:ea typeface="Cambria Math" panose="02040503050406030204" pitchFamily="18" charset="0"/>
                <a:cs typeface="Times New Roman" panose="02020603050405020304" pitchFamily="18" charset="0"/>
              </a:rPr>
              <a:t>I:7.0A</a:t>
            </a:r>
          </a:p>
          <a:p>
            <a:r>
              <a:rPr lang="en-US" altLang="zh-TW" sz="1000" dirty="0">
                <a:latin typeface="Times New Roman" panose="02020603050405020304" pitchFamily="18" charset="0"/>
                <a:ea typeface="Cambria Math" panose="02040503050406030204" pitchFamily="18" charset="0"/>
                <a:cs typeface="Times New Roman" panose="02020603050405020304" pitchFamily="18" charset="0"/>
              </a:rPr>
              <a:t>V:23.2V</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1" name="橢圓 290">
            <a:extLst>
              <a:ext uri="{FF2B5EF4-FFF2-40B4-BE49-F238E27FC236}">
                <a16:creationId xmlns:a16="http://schemas.microsoft.com/office/drawing/2014/main" id="{A7B99259-CDCF-4105-B6B3-71FA7959192E}"/>
              </a:ext>
            </a:extLst>
          </p:cNvPr>
          <p:cNvSpPr/>
          <p:nvPr/>
        </p:nvSpPr>
        <p:spPr>
          <a:xfrm>
            <a:off x="189398" y="2770036"/>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ea typeface="Cambria Math" panose="02040503050406030204" pitchFamily="18" charset="0"/>
                <a:cs typeface="Times New Roman" panose="02020603050405020304" pitchFamily="18" charset="0"/>
              </a:rPr>
              <a:t>T</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2" name="橢圓 291">
            <a:extLst>
              <a:ext uri="{FF2B5EF4-FFF2-40B4-BE49-F238E27FC236}">
                <a16:creationId xmlns:a16="http://schemas.microsoft.com/office/drawing/2014/main" id="{F0C7C309-3492-4823-8199-F47CA84F32BD}"/>
              </a:ext>
            </a:extLst>
          </p:cNvPr>
          <p:cNvSpPr/>
          <p:nvPr/>
        </p:nvSpPr>
        <p:spPr>
          <a:xfrm>
            <a:off x="406839" y="2771570"/>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ea typeface="Cambria Math" panose="02040503050406030204" pitchFamily="18" charset="0"/>
                <a:cs typeface="Times New Roman" panose="02020603050405020304" pitchFamily="18" charset="0"/>
              </a:rPr>
              <a:t>C</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3" name="橢圓 292">
            <a:extLst>
              <a:ext uri="{FF2B5EF4-FFF2-40B4-BE49-F238E27FC236}">
                <a16:creationId xmlns:a16="http://schemas.microsoft.com/office/drawing/2014/main" id="{A5AA362B-DA22-4880-B036-B0B282484608}"/>
              </a:ext>
            </a:extLst>
          </p:cNvPr>
          <p:cNvSpPr/>
          <p:nvPr/>
        </p:nvSpPr>
        <p:spPr>
          <a:xfrm>
            <a:off x="288684" y="3062366"/>
            <a:ext cx="475869" cy="41002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a:latin typeface="Times New Roman" panose="02020603050405020304" pitchFamily="18" charset="0"/>
                <a:ea typeface="Cambria Math" panose="02040503050406030204" pitchFamily="18" charset="0"/>
                <a:cs typeface="Times New Roman" panose="02020603050405020304" pitchFamily="18" charset="0"/>
              </a:rPr>
              <a:t>on</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4" name="橢圓 293">
            <a:extLst>
              <a:ext uri="{FF2B5EF4-FFF2-40B4-BE49-F238E27FC236}">
                <a16:creationId xmlns:a16="http://schemas.microsoft.com/office/drawing/2014/main" id="{016E6740-7B44-4A37-B9D0-6893406E0634}"/>
              </a:ext>
            </a:extLst>
          </p:cNvPr>
          <p:cNvSpPr/>
          <p:nvPr/>
        </p:nvSpPr>
        <p:spPr>
          <a:xfrm>
            <a:off x="1052758" y="2771570"/>
            <a:ext cx="166336" cy="17264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5" name="橢圓 294">
            <a:extLst>
              <a:ext uri="{FF2B5EF4-FFF2-40B4-BE49-F238E27FC236}">
                <a16:creationId xmlns:a16="http://schemas.microsoft.com/office/drawing/2014/main" id="{7EB8BE72-670F-45D5-A08A-5CD70648F17B}"/>
              </a:ext>
            </a:extLst>
          </p:cNvPr>
          <p:cNvSpPr/>
          <p:nvPr/>
        </p:nvSpPr>
        <p:spPr>
          <a:xfrm>
            <a:off x="1120175" y="2835725"/>
            <a:ext cx="35303" cy="4142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96" name="橢圓 295">
            <a:extLst>
              <a:ext uri="{FF2B5EF4-FFF2-40B4-BE49-F238E27FC236}">
                <a16:creationId xmlns:a16="http://schemas.microsoft.com/office/drawing/2014/main" id="{9B55371E-BBD5-4181-A39B-F587E6CC1E57}"/>
              </a:ext>
            </a:extLst>
          </p:cNvPr>
          <p:cNvSpPr/>
          <p:nvPr/>
        </p:nvSpPr>
        <p:spPr>
          <a:xfrm>
            <a:off x="621446" y="2771570"/>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7" name="等腰三角形 296">
            <a:extLst>
              <a:ext uri="{FF2B5EF4-FFF2-40B4-BE49-F238E27FC236}">
                <a16:creationId xmlns:a16="http://schemas.microsoft.com/office/drawing/2014/main" id="{361F0141-5C9D-408D-9F43-BC140D9207D2}"/>
              </a:ext>
            </a:extLst>
          </p:cNvPr>
          <p:cNvSpPr/>
          <p:nvPr/>
        </p:nvSpPr>
        <p:spPr>
          <a:xfrm>
            <a:off x="644324" y="2802565"/>
            <a:ext cx="116888" cy="89251"/>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98" name="橢圓 297">
            <a:extLst>
              <a:ext uri="{FF2B5EF4-FFF2-40B4-BE49-F238E27FC236}">
                <a16:creationId xmlns:a16="http://schemas.microsoft.com/office/drawing/2014/main" id="{FE3296A9-8E48-4DFA-9DFF-CFB855090498}"/>
              </a:ext>
            </a:extLst>
          </p:cNvPr>
          <p:cNvSpPr/>
          <p:nvPr/>
        </p:nvSpPr>
        <p:spPr>
          <a:xfrm>
            <a:off x="837470" y="2771570"/>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9" name="等腰三角形 298">
            <a:extLst>
              <a:ext uri="{FF2B5EF4-FFF2-40B4-BE49-F238E27FC236}">
                <a16:creationId xmlns:a16="http://schemas.microsoft.com/office/drawing/2014/main" id="{1660A66A-73C4-45AB-A8AC-936E612E530B}"/>
              </a:ext>
            </a:extLst>
          </p:cNvPr>
          <p:cNvSpPr/>
          <p:nvPr/>
        </p:nvSpPr>
        <p:spPr>
          <a:xfrm rot="10800000">
            <a:off x="867478" y="2814695"/>
            <a:ext cx="104503" cy="10774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00" name="橢圓 299">
            <a:extLst>
              <a:ext uri="{FF2B5EF4-FFF2-40B4-BE49-F238E27FC236}">
                <a16:creationId xmlns:a16="http://schemas.microsoft.com/office/drawing/2014/main" id="{FCDD4958-3DD1-43BB-B90C-A5F7DF3CA132}"/>
              </a:ext>
            </a:extLst>
          </p:cNvPr>
          <p:cNvSpPr/>
          <p:nvPr/>
        </p:nvSpPr>
        <p:spPr>
          <a:xfrm>
            <a:off x="4757836" y="4307362"/>
            <a:ext cx="124989" cy="1200512"/>
          </a:xfrm>
          <a:prstGeom prst="ellipse">
            <a:avLst/>
          </a:prstGeom>
          <a:solidFill>
            <a:schemeClr val="bg1">
              <a:lumMod val="65000"/>
            </a:schemeClr>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301" name="直線單箭頭接點 300">
            <a:extLst>
              <a:ext uri="{FF2B5EF4-FFF2-40B4-BE49-F238E27FC236}">
                <a16:creationId xmlns:a16="http://schemas.microsoft.com/office/drawing/2014/main" id="{F6FDA503-47F3-47AE-869E-BBDA3A6343DD}"/>
              </a:ext>
            </a:extLst>
          </p:cNvPr>
          <p:cNvCxnSpPr/>
          <p:nvPr/>
        </p:nvCxnSpPr>
        <p:spPr>
          <a:xfrm>
            <a:off x="4242179" y="4911863"/>
            <a:ext cx="533961" cy="420200"/>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302" name="直線單箭頭接點 301">
            <a:extLst>
              <a:ext uri="{FF2B5EF4-FFF2-40B4-BE49-F238E27FC236}">
                <a16:creationId xmlns:a16="http://schemas.microsoft.com/office/drawing/2014/main" id="{6556EB1E-3F76-4398-A3AC-D7E75662245E}"/>
              </a:ext>
            </a:extLst>
          </p:cNvPr>
          <p:cNvCxnSpPr/>
          <p:nvPr/>
        </p:nvCxnSpPr>
        <p:spPr>
          <a:xfrm flipV="1">
            <a:off x="4230260" y="4483173"/>
            <a:ext cx="545880" cy="415155"/>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303" name="文字方塊 302">
            <a:extLst>
              <a:ext uri="{FF2B5EF4-FFF2-40B4-BE49-F238E27FC236}">
                <a16:creationId xmlns:a16="http://schemas.microsoft.com/office/drawing/2014/main" id="{B6BCBBE9-B8ED-44BA-84C7-DBC55AA8ADFF}"/>
              </a:ext>
            </a:extLst>
          </p:cNvPr>
          <p:cNvSpPr txBox="1"/>
          <p:nvPr/>
        </p:nvSpPr>
        <p:spPr>
          <a:xfrm>
            <a:off x="2552175" y="5139123"/>
            <a:ext cx="2478485" cy="584775"/>
          </a:xfrm>
          <a:prstGeom prst="rect">
            <a:avLst/>
          </a:prstGeom>
          <a:noFill/>
        </p:spPr>
        <p:txBody>
          <a:bodyPr wrap="square" rtlCol="0">
            <a:spAutoFit/>
          </a:bodyPr>
          <a:lstStyle/>
          <a:p>
            <a:pPr algn="ctr"/>
            <a:r>
              <a:rPr lang="en-US" altLang="zh-TW" sz="1600" dirty="0">
                <a:latin typeface="Times New Roman" panose="02020603050405020304" pitchFamily="18" charset="0"/>
                <a:ea typeface="Cambria Math" panose="02040503050406030204" pitchFamily="18" charset="0"/>
                <a:cs typeface="Times New Roman" panose="02020603050405020304" pitchFamily="18" charset="0"/>
              </a:rPr>
              <a:t>Fiber Coupled</a:t>
            </a:r>
          </a:p>
          <a:p>
            <a:pPr algn="ctr"/>
            <a:r>
              <a:rPr lang="en-US" altLang="zh-TW" sz="1600" dirty="0">
                <a:latin typeface="Times New Roman" panose="02020603050405020304" pitchFamily="18" charset="0"/>
                <a:ea typeface="Cambria Math" panose="02040503050406030204" pitchFamily="18" charset="0"/>
                <a:cs typeface="Times New Roman" panose="02020603050405020304" pitchFamily="18" charset="0"/>
              </a:rPr>
              <a:t>809nm laser diode </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5" name="文字方塊 304">
                <a:extLst>
                  <a:ext uri="{FF2B5EF4-FFF2-40B4-BE49-F238E27FC236}">
                    <a16:creationId xmlns:a16="http://schemas.microsoft.com/office/drawing/2014/main" id="{F63292F9-0CC6-4509-81C5-5DD3E0C26243}"/>
                  </a:ext>
                </a:extLst>
              </p:cNvPr>
              <p:cNvSpPr txBox="1"/>
              <p:nvPr/>
            </p:nvSpPr>
            <p:spPr>
              <a:xfrm>
                <a:off x="6329628" y="5291850"/>
                <a:ext cx="104169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smtClean="0">
                          <a:latin typeface="Cambria Math" panose="02040503050406030204" pitchFamily="18" charset="0"/>
                          <a:ea typeface="Cambria Math" panose="02040503050406030204" pitchFamily="18" charset="0"/>
                        </a:rPr>
                        <m:t>N</m:t>
                      </m:r>
                      <m:r>
                        <m:rPr>
                          <m:sty m:val="p"/>
                        </m:rPr>
                        <a:rPr lang="en-US" altLang="zh-TW" sz="1600" b="0" i="0" smtClean="0">
                          <a:latin typeface="Cambria Math" panose="02040503050406030204" pitchFamily="18" charset="0"/>
                          <a:ea typeface="Cambria Math" panose="02040503050406030204" pitchFamily="18" charset="0"/>
                        </a:rPr>
                        <m:t>d</m:t>
                      </m:r>
                      <m:r>
                        <a:rPr lang="en-US" altLang="zh-TW" sz="1600" b="0" i="0" smtClean="0">
                          <a:latin typeface="Cambria Math" panose="02040503050406030204" pitchFamily="18" charset="0"/>
                          <a:ea typeface="Cambria Math" panose="02040503050406030204" pitchFamily="18" charset="0"/>
                        </a:rPr>
                        <m:t>:</m:t>
                      </m:r>
                      <m:r>
                        <m:rPr>
                          <m:sty m:val="p"/>
                        </m:rPr>
                        <a:rPr lang="en-US" altLang="zh-TW" sz="1600" b="0" i="0" smtClean="0">
                          <a:latin typeface="Cambria Math" panose="02040503050406030204" pitchFamily="18" charset="0"/>
                          <a:ea typeface="Cambria Math" panose="02040503050406030204" pitchFamily="18" charset="0"/>
                        </a:rPr>
                        <m:t>YV</m:t>
                      </m:r>
                      <m:sSub>
                        <m:sSubPr>
                          <m:ctrlPr>
                            <a:rPr lang="en-US" altLang="zh-TW" sz="1600" i="1" smtClean="0">
                              <a:latin typeface="Cambria Math" panose="02040503050406030204" pitchFamily="18" charset="0"/>
                              <a:ea typeface="Cambria Math" panose="02040503050406030204" pitchFamily="18" charset="0"/>
                            </a:rPr>
                          </m:ctrlPr>
                        </m:sSubPr>
                        <m:e>
                          <m:r>
                            <m:rPr>
                              <m:sty m:val="p"/>
                            </m:rPr>
                            <a:rPr lang="en-US" altLang="zh-TW" sz="1600" b="0" i="0" smtClean="0">
                              <a:latin typeface="Cambria Math" panose="02040503050406030204" pitchFamily="18" charset="0"/>
                              <a:ea typeface="Cambria Math" panose="02040503050406030204" pitchFamily="18" charset="0"/>
                            </a:rPr>
                            <m:t>O</m:t>
                          </m:r>
                        </m:e>
                        <m:sub>
                          <m:r>
                            <a:rPr lang="en-US" altLang="zh-TW" sz="1600" b="0" i="0" smtClean="0">
                              <a:latin typeface="Cambria Math" panose="02040503050406030204" pitchFamily="18" charset="0"/>
                              <a:ea typeface="Cambria Math" panose="02040503050406030204" pitchFamily="18" charset="0"/>
                            </a:rPr>
                            <m:t>4</m:t>
                          </m:r>
                        </m:sub>
                      </m:sSub>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305" name="文字方塊 304">
                <a:extLst>
                  <a:ext uri="{FF2B5EF4-FFF2-40B4-BE49-F238E27FC236}">
                    <a16:creationId xmlns:a16="http://schemas.microsoft.com/office/drawing/2014/main" id="{F63292F9-0CC6-4509-81C5-5DD3E0C26243}"/>
                  </a:ext>
                </a:extLst>
              </p:cNvPr>
              <p:cNvSpPr txBox="1">
                <a:spLocks noRot="1" noChangeAspect="1" noMove="1" noResize="1" noEditPoints="1" noAdjustHandles="1" noChangeArrowheads="1" noChangeShapeType="1" noTextEdit="1"/>
              </p:cNvSpPr>
              <p:nvPr/>
            </p:nvSpPr>
            <p:spPr>
              <a:xfrm>
                <a:off x="6329628" y="5291850"/>
                <a:ext cx="1041695" cy="338554"/>
              </a:xfrm>
              <a:prstGeom prst="rect">
                <a:avLst/>
              </a:prstGeom>
              <a:blipFill>
                <a:blip r:embed="rId48"/>
                <a:stretch>
                  <a:fillRect/>
                </a:stretch>
              </a:blipFill>
            </p:spPr>
            <p:txBody>
              <a:bodyPr/>
              <a:lstStyle/>
              <a:p>
                <a:r>
                  <a:rPr lang="zh-TW" altLang="en-US">
                    <a:noFill/>
                  </a:rPr>
                  <a:t> </a:t>
                </a:r>
              </a:p>
            </p:txBody>
          </p:sp>
        </mc:Fallback>
      </mc:AlternateContent>
      <p:cxnSp>
        <p:nvCxnSpPr>
          <p:cNvPr id="306" name="直線單箭頭接點 305">
            <a:extLst>
              <a:ext uri="{FF2B5EF4-FFF2-40B4-BE49-F238E27FC236}">
                <a16:creationId xmlns:a16="http://schemas.microsoft.com/office/drawing/2014/main" id="{8A34D0AF-874C-4D64-A318-5E26C8E7BD7D}"/>
              </a:ext>
            </a:extLst>
          </p:cNvPr>
          <p:cNvCxnSpPr>
            <a:endCxn id="314" idx="3"/>
          </p:cNvCxnSpPr>
          <p:nvPr/>
        </p:nvCxnSpPr>
        <p:spPr>
          <a:xfrm flipV="1">
            <a:off x="4864521" y="5229432"/>
            <a:ext cx="533297" cy="102631"/>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307" name="直線單箭頭接點 306">
            <a:extLst>
              <a:ext uri="{FF2B5EF4-FFF2-40B4-BE49-F238E27FC236}">
                <a16:creationId xmlns:a16="http://schemas.microsoft.com/office/drawing/2014/main" id="{A6C768D1-A83D-4E58-AC14-F2438AB24BC9}"/>
              </a:ext>
            </a:extLst>
          </p:cNvPr>
          <p:cNvCxnSpPr>
            <a:stCxn id="314" idx="7"/>
          </p:cNvCxnSpPr>
          <p:nvPr/>
        </p:nvCxnSpPr>
        <p:spPr>
          <a:xfrm>
            <a:off x="5486199" y="4580367"/>
            <a:ext cx="399711" cy="55560"/>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308" name="文字方塊 307">
            <a:extLst>
              <a:ext uri="{FF2B5EF4-FFF2-40B4-BE49-F238E27FC236}">
                <a16:creationId xmlns:a16="http://schemas.microsoft.com/office/drawing/2014/main" id="{28909D50-338F-415C-8072-002B06F97135}"/>
              </a:ext>
            </a:extLst>
          </p:cNvPr>
          <p:cNvSpPr txBox="1"/>
          <p:nvPr/>
        </p:nvSpPr>
        <p:spPr>
          <a:xfrm>
            <a:off x="5637015" y="5517462"/>
            <a:ext cx="797013" cy="307777"/>
          </a:xfrm>
          <a:prstGeom prst="rect">
            <a:avLst/>
          </a:prstGeom>
          <a:noFill/>
        </p:spPr>
        <p:txBody>
          <a:bodyPr wrap="none" rtlCol="0">
            <a:spAutoFit/>
          </a:bodyPr>
          <a:lstStyle/>
          <a:p>
            <a:r>
              <a:rPr lang="en-US" altLang="zh-TW" sz="1400" dirty="0">
                <a:latin typeface="Times New Roman" panose="02020603050405020304" pitchFamily="18" charset="0"/>
                <a:ea typeface="Cambria Math" panose="02040503050406030204" pitchFamily="18" charset="0"/>
                <a:cs typeface="Times New Roman" panose="02020603050405020304" pitchFamily="18" charset="0"/>
              </a:rPr>
              <a:t>Mirror 1</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309" name="直線單箭頭接點 308">
            <a:extLst>
              <a:ext uri="{FF2B5EF4-FFF2-40B4-BE49-F238E27FC236}">
                <a16:creationId xmlns:a16="http://schemas.microsoft.com/office/drawing/2014/main" id="{C418435C-BEED-431A-B581-2042EEA32295}"/>
              </a:ext>
            </a:extLst>
          </p:cNvPr>
          <p:cNvCxnSpPr>
            <a:endCxn id="314" idx="1"/>
          </p:cNvCxnSpPr>
          <p:nvPr/>
        </p:nvCxnSpPr>
        <p:spPr>
          <a:xfrm>
            <a:off x="4864521" y="4483173"/>
            <a:ext cx="533297" cy="97194"/>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310" name="直線單箭頭接點 309">
            <a:extLst>
              <a:ext uri="{FF2B5EF4-FFF2-40B4-BE49-F238E27FC236}">
                <a16:creationId xmlns:a16="http://schemas.microsoft.com/office/drawing/2014/main" id="{B01A7284-FBA0-4F47-A1B7-2DA91ABCD40E}"/>
              </a:ext>
            </a:extLst>
          </p:cNvPr>
          <p:cNvCxnSpPr>
            <a:stCxn id="314" idx="5"/>
          </p:cNvCxnSpPr>
          <p:nvPr/>
        </p:nvCxnSpPr>
        <p:spPr>
          <a:xfrm flipV="1">
            <a:off x="5486199" y="5217510"/>
            <a:ext cx="430412" cy="1192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311" name="文字方塊 310">
            <a:extLst>
              <a:ext uri="{FF2B5EF4-FFF2-40B4-BE49-F238E27FC236}">
                <a16:creationId xmlns:a16="http://schemas.microsoft.com/office/drawing/2014/main" id="{7509694D-3A73-4B05-B73F-7E2938B6E618}"/>
              </a:ext>
            </a:extLst>
          </p:cNvPr>
          <p:cNvSpPr txBox="1"/>
          <p:nvPr/>
        </p:nvSpPr>
        <p:spPr>
          <a:xfrm>
            <a:off x="1295349" y="4569627"/>
            <a:ext cx="1392369" cy="276999"/>
          </a:xfrm>
          <a:prstGeom prst="rect">
            <a:avLst/>
          </a:prstGeom>
          <a:noFill/>
        </p:spPr>
        <p:txBody>
          <a:bodyPr wrap="none" rtlCol="0">
            <a:spAutoFit/>
          </a:bodyPr>
          <a:lstStyle/>
          <a:p>
            <a:r>
              <a:rPr lang="en-US" altLang="zh-TW" sz="1200" dirty="0">
                <a:latin typeface="Times New Roman" panose="02020603050405020304" pitchFamily="18" charset="0"/>
                <a:ea typeface="Cambria Math" panose="02040503050406030204" pitchFamily="18" charset="0"/>
                <a:cs typeface="Times New Roman" panose="02020603050405020304" pitchFamily="18" charset="0"/>
              </a:rPr>
              <a:t>LIMQ</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200" dirty="0">
                <a:latin typeface="Times New Roman" panose="02020603050405020304" pitchFamily="18" charset="0"/>
                <a:ea typeface="Cambria Math" panose="02040503050406030204" pitchFamily="18" charset="0"/>
                <a:cs typeface="Times New Roman" panose="02020603050405020304" pitchFamily="18" charset="0"/>
              </a:rPr>
              <a:t>laser system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2" name="橢圓 311">
            <a:extLst>
              <a:ext uri="{FF2B5EF4-FFF2-40B4-BE49-F238E27FC236}">
                <a16:creationId xmlns:a16="http://schemas.microsoft.com/office/drawing/2014/main" id="{8F2A24E1-D518-4FA5-8091-301D6EC8B82B}"/>
              </a:ext>
            </a:extLst>
          </p:cNvPr>
          <p:cNvSpPr/>
          <p:nvPr/>
        </p:nvSpPr>
        <p:spPr>
          <a:xfrm>
            <a:off x="557562" y="4811950"/>
            <a:ext cx="120485" cy="12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13" name="橢圓 312">
            <a:extLst>
              <a:ext uri="{FF2B5EF4-FFF2-40B4-BE49-F238E27FC236}">
                <a16:creationId xmlns:a16="http://schemas.microsoft.com/office/drawing/2014/main" id="{8284D6A4-47BC-407E-B7CD-8B7A2A698F7C}"/>
              </a:ext>
            </a:extLst>
          </p:cNvPr>
          <p:cNvSpPr/>
          <p:nvPr/>
        </p:nvSpPr>
        <p:spPr>
          <a:xfrm>
            <a:off x="641852" y="4909993"/>
            <a:ext cx="122400" cy="12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14" name="橢圓 313">
            <a:extLst>
              <a:ext uri="{FF2B5EF4-FFF2-40B4-BE49-F238E27FC236}">
                <a16:creationId xmlns:a16="http://schemas.microsoft.com/office/drawing/2014/main" id="{77F5FD98-A275-4A04-BF45-7760C228EF2B}"/>
              </a:ext>
            </a:extLst>
          </p:cNvPr>
          <p:cNvSpPr/>
          <p:nvPr/>
        </p:nvSpPr>
        <p:spPr>
          <a:xfrm>
            <a:off x="5379514" y="4445941"/>
            <a:ext cx="124989" cy="917917"/>
          </a:xfrm>
          <a:prstGeom prst="ellipse">
            <a:avLst/>
          </a:prstGeom>
          <a:solidFill>
            <a:schemeClr val="bg1">
              <a:lumMod val="65000"/>
            </a:schemeClr>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5" name="圓柱 34">
            <a:extLst>
              <a:ext uri="{FF2B5EF4-FFF2-40B4-BE49-F238E27FC236}">
                <a16:creationId xmlns:a16="http://schemas.microsoft.com/office/drawing/2014/main" id="{B7CE6173-65CB-4997-8AD1-BE3998565463}"/>
              </a:ext>
            </a:extLst>
          </p:cNvPr>
          <p:cNvSpPr/>
          <p:nvPr/>
        </p:nvSpPr>
        <p:spPr>
          <a:xfrm rot="5400000">
            <a:off x="3743545" y="4539004"/>
            <a:ext cx="199300" cy="730327"/>
          </a:xfrm>
          <a:prstGeom prst="can">
            <a:avLst/>
          </a:prstGeom>
          <a:solidFill>
            <a:schemeClr val="tx1">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cxnSp>
        <p:nvCxnSpPr>
          <p:cNvPr id="316" name="肘形接點 35">
            <a:extLst>
              <a:ext uri="{FF2B5EF4-FFF2-40B4-BE49-F238E27FC236}">
                <a16:creationId xmlns:a16="http://schemas.microsoft.com/office/drawing/2014/main" id="{8579CF6A-EABD-4DDF-A8BA-AA6BF66910C7}"/>
              </a:ext>
            </a:extLst>
          </p:cNvPr>
          <p:cNvCxnSpPr>
            <a:stCxn id="288" idx="3"/>
            <a:endCxn id="315" idx="3"/>
          </p:cNvCxnSpPr>
          <p:nvPr/>
        </p:nvCxnSpPr>
        <p:spPr>
          <a:xfrm rot="16200000" flipH="1">
            <a:off x="1772722" y="3198858"/>
            <a:ext cx="620430" cy="2790190"/>
          </a:xfrm>
          <a:prstGeom prst="bentConnector2">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17" name="文字方塊 316">
            <a:extLst>
              <a:ext uri="{FF2B5EF4-FFF2-40B4-BE49-F238E27FC236}">
                <a16:creationId xmlns:a16="http://schemas.microsoft.com/office/drawing/2014/main" id="{2D724454-E67E-41F2-A509-5A8D56ED5EA5}"/>
              </a:ext>
            </a:extLst>
          </p:cNvPr>
          <p:cNvSpPr txBox="1"/>
          <p:nvPr/>
        </p:nvSpPr>
        <p:spPr>
          <a:xfrm>
            <a:off x="202486" y="5894387"/>
            <a:ext cx="7778027" cy="307777"/>
          </a:xfrm>
          <a:prstGeom prst="rect">
            <a:avLst/>
          </a:prstGeom>
          <a:noFill/>
        </p:spPr>
        <p:txBody>
          <a:bodyPr wrap="none" rtlCol="0">
            <a:spAutoFit/>
          </a:bodyPr>
          <a:lstStyle/>
          <a:p>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Mirror 1: Meniscus mirror; ROC=15 cm T~93%@809 nm, HR~99.8%@1064 nm, HR~99.8%@1342 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8" name="橢圓 317">
            <a:extLst>
              <a:ext uri="{FF2B5EF4-FFF2-40B4-BE49-F238E27FC236}">
                <a16:creationId xmlns:a16="http://schemas.microsoft.com/office/drawing/2014/main" id="{4FF26D81-6201-4E10-A065-704431E54347}"/>
              </a:ext>
            </a:extLst>
          </p:cNvPr>
          <p:cNvSpPr/>
          <p:nvPr/>
        </p:nvSpPr>
        <p:spPr>
          <a:xfrm flipH="1">
            <a:off x="11406295" y="5063667"/>
            <a:ext cx="158108" cy="135523"/>
          </a:xfrm>
          <a:prstGeom prst="ellipse">
            <a:avLst/>
          </a:prstGeom>
          <a:solidFill>
            <a:schemeClr val="bg1">
              <a:lumMod val="65000"/>
            </a:schemeClr>
          </a:solidFill>
          <a:effectLst/>
          <a:scene3d>
            <a:camera prst="isometricOffAxis2Top"/>
            <a:lightRig rig="threePt" dir="t"/>
          </a:scene3d>
          <a:sp3d extrusionH="990600"/>
        </p:spPr>
        <p:style>
          <a:lnRef idx="0">
            <a:schemeClr val="accent3"/>
          </a:lnRef>
          <a:fillRef idx="3">
            <a:schemeClr val="accent3"/>
          </a:fillRef>
          <a:effectRef idx="3">
            <a:schemeClr val="accent3"/>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19" name="橢圓 318">
            <a:extLst>
              <a:ext uri="{FF2B5EF4-FFF2-40B4-BE49-F238E27FC236}">
                <a16:creationId xmlns:a16="http://schemas.microsoft.com/office/drawing/2014/main" id="{08D92201-0EEB-41E5-BF88-8F3ABFC00EB4}"/>
              </a:ext>
            </a:extLst>
          </p:cNvPr>
          <p:cNvSpPr/>
          <p:nvPr/>
        </p:nvSpPr>
        <p:spPr>
          <a:xfrm>
            <a:off x="11282842" y="4666326"/>
            <a:ext cx="621665" cy="532864"/>
          </a:xfrm>
          <a:prstGeom prst="ellipse">
            <a:avLst/>
          </a:prstGeom>
          <a:solidFill>
            <a:schemeClr val="bg1">
              <a:lumMod val="65000"/>
            </a:schemeClr>
          </a:solidFill>
          <a:effectLst/>
          <a:scene3d>
            <a:camera prst="isometricOffAxis2Right"/>
            <a:lightRig rig="threePt" dir="t"/>
          </a:scene3d>
          <a:sp3d extrusionH="215900"/>
        </p:spPr>
        <p:style>
          <a:lnRef idx="0">
            <a:schemeClr val="accent3"/>
          </a:lnRef>
          <a:fillRef idx="3">
            <a:schemeClr val="accent3"/>
          </a:fillRef>
          <a:effectRef idx="3">
            <a:schemeClr val="accent3"/>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20" name="文字方塊 319">
            <a:extLst>
              <a:ext uri="{FF2B5EF4-FFF2-40B4-BE49-F238E27FC236}">
                <a16:creationId xmlns:a16="http://schemas.microsoft.com/office/drawing/2014/main" id="{363678FC-ACAB-43F7-8A96-FB299C4D8D80}"/>
              </a:ext>
            </a:extLst>
          </p:cNvPr>
          <p:cNvSpPr txBox="1"/>
          <p:nvPr/>
        </p:nvSpPr>
        <p:spPr>
          <a:xfrm>
            <a:off x="197373" y="6195619"/>
            <a:ext cx="5529078" cy="307777"/>
          </a:xfrm>
          <a:prstGeom prst="rect">
            <a:avLst/>
          </a:prstGeom>
          <a:noFill/>
        </p:spPr>
        <p:txBody>
          <a:bodyPr wrap="none" rtlCol="0">
            <a:spAutoFit/>
          </a:bodyPr>
          <a:lstStyle/>
          <a:p>
            <a:pPr algn="ct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Mirror 2: Plane mirror</a:t>
            </a:r>
            <a:r>
              <a:rPr lang="pt-BR" altLang="zh-TW" sz="1400" b="1" dirty="0">
                <a:latin typeface="Times New Roman" panose="02020603050405020304" pitchFamily="18" charset="0"/>
                <a:ea typeface="標楷體" panose="03000509000000000000" pitchFamily="65" charset="-120"/>
                <a:cs typeface="Times New Roman" panose="02020603050405020304" pitchFamily="18" charset="0"/>
              </a:rPr>
              <a:t>;</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HR~9</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9.908</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342</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nm </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HT~96.256%@1</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064</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1" name="文字方塊 320">
            <a:extLst>
              <a:ext uri="{FF2B5EF4-FFF2-40B4-BE49-F238E27FC236}">
                <a16:creationId xmlns:a16="http://schemas.microsoft.com/office/drawing/2014/main" id="{74569935-DBF7-4AEA-B518-0C020EAE249B}"/>
              </a:ext>
            </a:extLst>
          </p:cNvPr>
          <p:cNvSpPr txBox="1"/>
          <p:nvPr/>
        </p:nvSpPr>
        <p:spPr>
          <a:xfrm>
            <a:off x="189398" y="6450856"/>
            <a:ext cx="5160388" cy="307777"/>
          </a:xfrm>
          <a:prstGeom prst="rect">
            <a:avLst/>
          </a:prstGeom>
          <a:noFill/>
        </p:spPr>
        <p:txBody>
          <a:bodyPr wrap="none" rtlCol="0">
            <a:spAutoFit/>
          </a:bodyPr>
          <a:lstStyle/>
          <a:p>
            <a:pPr algn="ct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Mirror 3: Plane mirror;</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HR~61.3%@1</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064</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nm </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HT~99.</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3</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%@1</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342</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2" name="文字方塊 321">
            <a:extLst>
              <a:ext uri="{FF2B5EF4-FFF2-40B4-BE49-F238E27FC236}">
                <a16:creationId xmlns:a16="http://schemas.microsoft.com/office/drawing/2014/main" id="{EE285717-5BE6-421A-80D0-FFA1573CACA0}"/>
              </a:ext>
            </a:extLst>
          </p:cNvPr>
          <p:cNvSpPr txBox="1"/>
          <p:nvPr/>
        </p:nvSpPr>
        <p:spPr>
          <a:xfrm>
            <a:off x="9266536" y="5481677"/>
            <a:ext cx="710451" cy="276999"/>
          </a:xfrm>
          <a:prstGeom prst="rect">
            <a:avLst/>
          </a:prstGeom>
          <a:noFill/>
        </p:spPr>
        <p:txBody>
          <a:bodyPr wrap="none" rtlCol="0">
            <a:spAutoFit/>
          </a:bodyPr>
          <a:lstStyle/>
          <a:p>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Mirror 3</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3" name="矩形 322">
            <a:extLst>
              <a:ext uri="{FF2B5EF4-FFF2-40B4-BE49-F238E27FC236}">
                <a16:creationId xmlns:a16="http://schemas.microsoft.com/office/drawing/2014/main" id="{FBA9DECD-9484-4E9D-8BB0-86FAC1EB0FCE}"/>
              </a:ext>
            </a:extLst>
          </p:cNvPr>
          <p:cNvSpPr/>
          <p:nvPr/>
        </p:nvSpPr>
        <p:spPr>
          <a:xfrm>
            <a:off x="9574508" y="4325864"/>
            <a:ext cx="149759" cy="1171997"/>
          </a:xfrm>
          <a:prstGeom prst="rect">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4" name="矩形 323">
            <a:extLst>
              <a:ext uri="{FF2B5EF4-FFF2-40B4-BE49-F238E27FC236}">
                <a16:creationId xmlns:a16="http://schemas.microsoft.com/office/drawing/2014/main" id="{697137DC-2475-4A95-81F5-43A1AE7529D6}"/>
              </a:ext>
            </a:extLst>
          </p:cNvPr>
          <p:cNvSpPr/>
          <p:nvPr/>
        </p:nvSpPr>
        <p:spPr>
          <a:xfrm>
            <a:off x="10344506" y="4376461"/>
            <a:ext cx="150968" cy="1173359"/>
          </a:xfrm>
          <a:prstGeom prst="rect">
            <a:avLst/>
          </a:prstGeom>
          <a:gradFill>
            <a:gsLst>
              <a:gs pos="26000">
                <a:srgbClr val="FF0000">
                  <a:lumMod val="90000"/>
                </a:srgbClr>
              </a:gs>
              <a:gs pos="9000">
                <a:srgbClr val="FFC000"/>
              </a:gs>
              <a:gs pos="62000">
                <a:srgbClr val="FFFF00"/>
              </a:gs>
              <a:gs pos="81000">
                <a:srgbClr val="7030A0"/>
              </a:gs>
              <a:gs pos="97000">
                <a:srgbClr val="00B0F0"/>
              </a:gs>
              <a:gs pos="48000">
                <a:srgbClr val="00B050"/>
              </a:gs>
            </a:gsLst>
            <a:lin ang="5400000" scaled="1"/>
          </a:gra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5" name="文字方塊 324">
            <a:extLst>
              <a:ext uri="{FF2B5EF4-FFF2-40B4-BE49-F238E27FC236}">
                <a16:creationId xmlns:a16="http://schemas.microsoft.com/office/drawing/2014/main" id="{6B7350C3-7F1E-44C3-BCB1-0E79074689E7}"/>
              </a:ext>
            </a:extLst>
          </p:cNvPr>
          <p:cNvSpPr txBox="1"/>
          <p:nvPr/>
        </p:nvSpPr>
        <p:spPr>
          <a:xfrm>
            <a:off x="9605142" y="5953234"/>
            <a:ext cx="1491114" cy="307777"/>
          </a:xfrm>
          <a:prstGeom prst="rect">
            <a:avLst/>
          </a:prstGeom>
          <a:noFill/>
          <a:ln>
            <a:solidFill>
              <a:schemeClr val="tx1"/>
            </a:solidFill>
          </a:ln>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HR@808nm filter</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326" name="直線單箭頭接點 325">
            <a:extLst>
              <a:ext uri="{FF2B5EF4-FFF2-40B4-BE49-F238E27FC236}">
                <a16:creationId xmlns:a16="http://schemas.microsoft.com/office/drawing/2014/main" id="{384427C1-EC43-48AC-B089-551B0B6998F2}"/>
              </a:ext>
            </a:extLst>
          </p:cNvPr>
          <p:cNvCxnSpPr>
            <a:stCxn id="324" idx="2"/>
            <a:endCxn id="325" idx="0"/>
          </p:cNvCxnSpPr>
          <p:nvPr/>
        </p:nvCxnSpPr>
        <p:spPr>
          <a:xfrm flipH="1">
            <a:off x="10350699" y="5549820"/>
            <a:ext cx="69291" cy="4034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7" name="箭號: 左-右雙向 326">
            <a:extLst>
              <a:ext uri="{FF2B5EF4-FFF2-40B4-BE49-F238E27FC236}">
                <a16:creationId xmlns:a16="http://schemas.microsoft.com/office/drawing/2014/main" id="{237621C4-800D-4F26-B314-F1472773B1CB}"/>
              </a:ext>
            </a:extLst>
          </p:cNvPr>
          <p:cNvSpPr/>
          <p:nvPr/>
        </p:nvSpPr>
        <p:spPr>
          <a:xfrm>
            <a:off x="6329628" y="4083728"/>
            <a:ext cx="2170960" cy="99053"/>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8" name="文字方塊 327">
            <a:extLst>
              <a:ext uri="{FF2B5EF4-FFF2-40B4-BE49-F238E27FC236}">
                <a16:creationId xmlns:a16="http://schemas.microsoft.com/office/drawing/2014/main" id="{18E1C74F-304C-4BBF-BBA5-7B42B3CCF401}"/>
              </a:ext>
            </a:extLst>
          </p:cNvPr>
          <p:cNvSpPr txBox="1"/>
          <p:nvPr/>
        </p:nvSpPr>
        <p:spPr>
          <a:xfrm>
            <a:off x="6966086" y="4106677"/>
            <a:ext cx="784189" cy="369332"/>
          </a:xfrm>
          <a:prstGeom prst="rect">
            <a:avLst/>
          </a:prstGeom>
          <a:noFill/>
        </p:spPr>
        <p:txBody>
          <a:bodyPr wrap="none" rtlCol="0">
            <a:spAutoFit/>
          </a:bodyPr>
          <a:lstStyle/>
          <a:p>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7.4cm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9" name="箭號: 左-右雙向 328">
            <a:extLst>
              <a:ext uri="{FF2B5EF4-FFF2-40B4-BE49-F238E27FC236}">
                <a16:creationId xmlns:a16="http://schemas.microsoft.com/office/drawing/2014/main" id="{03EAE642-2F90-4F5C-9ED5-5F88430DF91F}"/>
              </a:ext>
            </a:extLst>
          </p:cNvPr>
          <p:cNvSpPr/>
          <p:nvPr/>
        </p:nvSpPr>
        <p:spPr>
          <a:xfrm>
            <a:off x="6329627" y="3881554"/>
            <a:ext cx="3235749" cy="99053"/>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0" name="文字方塊 329">
            <a:extLst>
              <a:ext uri="{FF2B5EF4-FFF2-40B4-BE49-F238E27FC236}">
                <a16:creationId xmlns:a16="http://schemas.microsoft.com/office/drawing/2014/main" id="{C32B6E1E-A0B9-4EE1-A673-F4C32941E5C7}"/>
              </a:ext>
            </a:extLst>
          </p:cNvPr>
          <p:cNvSpPr txBox="1"/>
          <p:nvPr/>
        </p:nvSpPr>
        <p:spPr>
          <a:xfrm>
            <a:off x="8584583" y="3541730"/>
            <a:ext cx="710451" cy="369332"/>
          </a:xfrm>
          <a:prstGeom prst="rect">
            <a:avLst/>
          </a:prstGeom>
          <a:noFill/>
        </p:spPr>
        <p:txBody>
          <a:bodyPr wrap="none" rtlCol="0">
            <a:spAutoFit/>
          </a:bodyPr>
          <a:lstStyle/>
          <a:p>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12cm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1" name="手繪多邊形 136">
            <a:extLst>
              <a:ext uri="{FF2B5EF4-FFF2-40B4-BE49-F238E27FC236}">
                <a16:creationId xmlns:a16="http://schemas.microsoft.com/office/drawing/2014/main" id="{D37CC1F5-EB64-46C6-9237-FD0216B22AB9}"/>
              </a:ext>
            </a:extLst>
          </p:cNvPr>
          <p:cNvSpPr/>
          <p:nvPr/>
        </p:nvSpPr>
        <p:spPr>
          <a:xfrm>
            <a:off x="10555584" y="3342640"/>
            <a:ext cx="1417677" cy="2335501"/>
          </a:xfrm>
          <a:custGeom>
            <a:avLst/>
            <a:gdLst>
              <a:gd name="connsiteX0" fmla="*/ 965856 w 1417677"/>
              <a:gd name="connsiteY0" fmla="*/ 1859280 h 2335501"/>
              <a:gd name="connsiteX1" fmla="*/ 1250336 w 1417677"/>
              <a:gd name="connsiteY1" fmla="*/ 2326640 h 2335501"/>
              <a:gd name="connsiteX2" fmla="*/ 1402736 w 1417677"/>
              <a:gd name="connsiteY2" fmla="*/ 1493520 h 2335501"/>
              <a:gd name="connsiteX3" fmla="*/ 884576 w 1417677"/>
              <a:gd name="connsiteY3" fmla="*/ 822960 h 2335501"/>
              <a:gd name="connsiteX4" fmla="*/ 61616 w 1417677"/>
              <a:gd name="connsiteY4" fmla="*/ 467360 h 2335501"/>
              <a:gd name="connsiteX5" fmla="*/ 122576 w 1417677"/>
              <a:gd name="connsiteY5" fmla="*/ 0 h 2335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7677" h="2335501">
                <a:moveTo>
                  <a:pt x="965856" y="1859280"/>
                </a:moveTo>
                <a:cubicBezTo>
                  <a:pt x="1071689" y="2123440"/>
                  <a:pt x="1177523" y="2387600"/>
                  <a:pt x="1250336" y="2326640"/>
                </a:cubicBezTo>
                <a:cubicBezTo>
                  <a:pt x="1323149" y="2265680"/>
                  <a:pt x="1463696" y="1744133"/>
                  <a:pt x="1402736" y="1493520"/>
                </a:cubicBezTo>
                <a:cubicBezTo>
                  <a:pt x="1341776" y="1242907"/>
                  <a:pt x="1108096" y="993987"/>
                  <a:pt x="884576" y="822960"/>
                </a:cubicBezTo>
                <a:cubicBezTo>
                  <a:pt x="661056" y="651933"/>
                  <a:pt x="188616" y="604520"/>
                  <a:pt x="61616" y="467360"/>
                </a:cubicBezTo>
                <a:cubicBezTo>
                  <a:pt x="-65384" y="330200"/>
                  <a:pt x="28596" y="165100"/>
                  <a:pt x="122576" y="0"/>
                </a:cubicBezTo>
              </a:path>
            </a:pathLst>
          </a:cu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2" name="文字方塊 331">
            <a:extLst>
              <a:ext uri="{FF2B5EF4-FFF2-40B4-BE49-F238E27FC236}">
                <a16:creationId xmlns:a16="http://schemas.microsoft.com/office/drawing/2014/main" id="{5DB5AF28-8F3F-4DE1-BF9D-131B15947D36}"/>
              </a:ext>
            </a:extLst>
          </p:cNvPr>
          <p:cNvSpPr txBox="1"/>
          <p:nvPr/>
        </p:nvSpPr>
        <p:spPr>
          <a:xfrm>
            <a:off x="8234002" y="5504164"/>
            <a:ext cx="710451" cy="276999"/>
          </a:xfrm>
          <a:prstGeom prst="rect">
            <a:avLst/>
          </a:prstGeom>
          <a:noFill/>
        </p:spPr>
        <p:txBody>
          <a:bodyPr wrap="none" rtlCol="0">
            <a:spAutoFit/>
          </a:bodyPr>
          <a:lstStyle/>
          <a:p>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Mirror 2</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3" name="矩形 332">
            <a:extLst>
              <a:ext uri="{FF2B5EF4-FFF2-40B4-BE49-F238E27FC236}">
                <a16:creationId xmlns:a16="http://schemas.microsoft.com/office/drawing/2014/main" id="{CBE566C7-B3A3-41F5-A42A-FA15105FE567}"/>
              </a:ext>
            </a:extLst>
          </p:cNvPr>
          <p:cNvSpPr/>
          <p:nvPr/>
        </p:nvSpPr>
        <p:spPr>
          <a:xfrm>
            <a:off x="8500588" y="4348351"/>
            <a:ext cx="149759" cy="1171997"/>
          </a:xfrm>
          <a:prstGeom prst="rect">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8" name="立方體 337">
            <a:extLst>
              <a:ext uri="{FF2B5EF4-FFF2-40B4-BE49-F238E27FC236}">
                <a16:creationId xmlns:a16="http://schemas.microsoft.com/office/drawing/2014/main" id="{7D99B650-FEB0-4EB2-B724-2A658EF92362}"/>
              </a:ext>
            </a:extLst>
          </p:cNvPr>
          <p:cNvSpPr/>
          <p:nvPr/>
        </p:nvSpPr>
        <p:spPr>
          <a:xfrm>
            <a:off x="6488610" y="4609391"/>
            <a:ext cx="707304" cy="561967"/>
          </a:xfrm>
          <a:prstGeom prst="cube">
            <a:avLst/>
          </a:prstGeom>
          <a:solidFill>
            <a:schemeClr val="bg1">
              <a:lumMod val="95000"/>
            </a:schemeClr>
          </a:solid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339" name="圓角矩形 147">
            <a:extLst>
              <a:ext uri="{FF2B5EF4-FFF2-40B4-BE49-F238E27FC236}">
                <a16:creationId xmlns:a16="http://schemas.microsoft.com/office/drawing/2014/main" id="{79CA90A9-816B-4B91-BD11-68E75B85A6D5}"/>
              </a:ext>
            </a:extLst>
          </p:cNvPr>
          <p:cNvSpPr/>
          <p:nvPr/>
        </p:nvSpPr>
        <p:spPr>
          <a:xfrm>
            <a:off x="5688043" y="2741549"/>
            <a:ext cx="1371021" cy="616461"/>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sp>
        <p:nvSpPr>
          <p:cNvPr id="340" name="橢圓 339">
            <a:extLst>
              <a:ext uri="{FF2B5EF4-FFF2-40B4-BE49-F238E27FC236}">
                <a16:creationId xmlns:a16="http://schemas.microsoft.com/office/drawing/2014/main" id="{85528322-A0D6-4298-9F18-0C0D80D707DF}"/>
              </a:ext>
            </a:extLst>
          </p:cNvPr>
          <p:cNvSpPr/>
          <p:nvPr/>
        </p:nvSpPr>
        <p:spPr>
          <a:xfrm>
            <a:off x="6139424" y="3181440"/>
            <a:ext cx="114300" cy="125073"/>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41" name="橢圓 340">
            <a:extLst>
              <a:ext uri="{FF2B5EF4-FFF2-40B4-BE49-F238E27FC236}">
                <a16:creationId xmlns:a16="http://schemas.microsoft.com/office/drawing/2014/main" id="{64776D9A-4E3A-4D2E-9AD5-1BAB72F1BE0E}"/>
              </a:ext>
            </a:extLst>
          </p:cNvPr>
          <p:cNvSpPr/>
          <p:nvPr/>
        </p:nvSpPr>
        <p:spPr>
          <a:xfrm>
            <a:off x="6528931" y="3186273"/>
            <a:ext cx="114300" cy="125073"/>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42" name="手繪多邊形: 圖案 41">
            <a:extLst>
              <a:ext uri="{FF2B5EF4-FFF2-40B4-BE49-F238E27FC236}">
                <a16:creationId xmlns:a16="http://schemas.microsoft.com/office/drawing/2014/main" id="{52AEBB9C-3709-4176-A777-ABBD74A0936A}"/>
              </a:ext>
            </a:extLst>
          </p:cNvPr>
          <p:cNvSpPr/>
          <p:nvPr/>
        </p:nvSpPr>
        <p:spPr>
          <a:xfrm>
            <a:off x="6187440" y="3261360"/>
            <a:ext cx="1912718" cy="1424940"/>
          </a:xfrm>
          <a:custGeom>
            <a:avLst/>
            <a:gdLst>
              <a:gd name="connsiteX0" fmla="*/ 0 w 1912718"/>
              <a:gd name="connsiteY0" fmla="*/ 0 h 1424940"/>
              <a:gd name="connsiteX1" fmla="*/ 1767840 w 1912718"/>
              <a:gd name="connsiteY1" fmla="*/ 1043940 h 1424940"/>
              <a:gd name="connsiteX2" fmla="*/ 1684020 w 1912718"/>
              <a:gd name="connsiteY2" fmla="*/ 1424940 h 1424940"/>
            </a:gdLst>
            <a:ahLst/>
            <a:cxnLst>
              <a:cxn ang="0">
                <a:pos x="connsiteX0" y="connsiteY0"/>
              </a:cxn>
              <a:cxn ang="0">
                <a:pos x="connsiteX1" y="connsiteY1"/>
              </a:cxn>
              <a:cxn ang="0">
                <a:pos x="connsiteX2" y="connsiteY2"/>
              </a:cxn>
            </a:cxnLst>
            <a:rect l="l" t="t" r="r" b="b"/>
            <a:pathLst>
              <a:path w="1912718" h="1424940">
                <a:moveTo>
                  <a:pt x="0" y="0"/>
                </a:moveTo>
                <a:cubicBezTo>
                  <a:pt x="743585" y="403225"/>
                  <a:pt x="1487170" y="806450"/>
                  <a:pt x="1767840" y="1043940"/>
                </a:cubicBezTo>
                <a:cubicBezTo>
                  <a:pt x="2048510" y="1281430"/>
                  <a:pt x="1866265" y="1353185"/>
                  <a:pt x="1684020" y="142494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 name="手繪多邊形: 圖案 110">
            <a:extLst>
              <a:ext uri="{FF2B5EF4-FFF2-40B4-BE49-F238E27FC236}">
                <a16:creationId xmlns:a16="http://schemas.microsoft.com/office/drawing/2014/main" id="{F9A3E134-2726-4B78-8956-0EA34240E15F}"/>
              </a:ext>
            </a:extLst>
          </p:cNvPr>
          <p:cNvSpPr/>
          <p:nvPr/>
        </p:nvSpPr>
        <p:spPr>
          <a:xfrm>
            <a:off x="6591300" y="3246120"/>
            <a:ext cx="1790534" cy="2378336"/>
          </a:xfrm>
          <a:custGeom>
            <a:avLst/>
            <a:gdLst>
              <a:gd name="connsiteX0" fmla="*/ 0 w 1790534"/>
              <a:gd name="connsiteY0" fmla="*/ 0 h 2378336"/>
              <a:gd name="connsiteX1" fmla="*/ 1432560 w 1790534"/>
              <a:gd name="connsiteY1" fmla="*/ 289560 h 2378336"/>
              <a:gd name="connsiteX2" fmla="*/ 1783080 w 1790534"/>
              <a:gd name="connsiteY2" fmla="*/ 1341120 h 2378336"/>
              <a:gd name="connsiteX3" fmla="*/ 1638300 w 1790534"/>
              <a:gd name="connsiteY3" fmla="*/ 2354580 h 2378336"/>
              <a:gd name="connsiteX4" fmla="*/ 1249680 w 1790534"/>
              <a:gd name="connsiteY4" fmla="*/ 1958340 h 2378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0534" h="2378336">
                <a:moveTo>
                  <a:pt x="0" y="0"/>
                </a:moveTo>
                <a:cubicBezTo>
                  <a:pt x="567690" y="33020"/>
                  <a:pt x="1135380" y="66040"/>
                  <a:pt x="1432560" y="289560"/>
                </a:cubicBezTo>
                <a:cubicBezTo>
                  <a:pt x="1729740" y="513080"/>
                  <a:pt x="1748790" y="996950"/>
                  <a:pt x="1783080" y="1341120"/>
                </a:cubicBezTo>
                <a:cubicBezTo>
                  <a:pt x="1817370" y="1685290"/>
                  <a:pt x="1727200" y="2251710"/>
                  <a:pt x="1638300" y="2354580"/>
                </a:cubicBezTo>
                <a:cubicBezTo>
                  <a:pt x="1549400" y="2457450"/>
                  <a:pt x="1399540" y="2207895"/>
                  <a:pt x="1249680" y="195834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2" name="矩形 341">
            <a:extLst>
              <a:ext uri="{FF2B5EF4-FFF2-40B4-BE49-F238E27FC236}">
                <a16:creationId xmlns:a16="http://schemas.microsoft.com/office/drawing/2014/main" id="{81B3E010-B319-470C-9724-8BEA80D9C3A4}"/>
              </a:ext>
            </a:extLst>
          </p:cNvPr>
          <p:cNvSpPr/>
          <p:nvPr/>
        </p:nvSpPr>
        <p:spPr>
          <a:xfrm>
            <a:off x="7189509" y="5202525"/>
            <a:ext cx="1394677" cy="307777"/>
          </a:xfrm>
          <a:prstGeom prst="rect">
            <a:avLst/>
          </a:prstGeom>
        </p:spPr>
        <p:txBody>
          <a:bodyPr wrap="none">
            <a:spAutoFit/>
          </a:bodyPr>
          <a:lstStyle/>
          <a:p>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EO APPLN</a:t>
            </a:r>
            <a:r>
              <a:rPr lang="pt-BR" altLang="zh-TW" sz="1200" dirty="0">
                <a:latin typeface="Times New Roman" panose="02020603050405020304" pitchFamily="18" charset="0"/>
                <a:ea typeface="Cambria Math" panose="02040503050406030204" pitchFamily="18" charset="0"/>
                <a:cs typeface="Times New Roman" panose="02020603050405020304" pitchFamily="18" charset="0"/>
              </a:rPr>
              <a:t>(2cm)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3" name="矩形 342">
            <a:extLst>
              <a:ext uri="{FF2B5EF4-FFF2-40B4-BE49-F238E27FC236}">
                <a16:creationId xmlns:a16="http://schemas.microsoft.com/office/drawing/2014/main" id="{46BC1ACA-AB52-478E-B248-9C3F94DC7BBC}"/>
              </a:ext>
            </a:extLst>
          </p:cNvPr>
          <p:cNvSpPr/>
          <p:nvPr/>
        </p:nvSpPr>
        <p:spPr>
          <a:xfrm>
            <a:off x="9835074" y="1569715"/>
            <a:ext cx="659155" cy="369332"/>
          </a:xfrm>
          <a:prstGeom prst="rect">
            <a:avLst/>
          </a:prstGeom>
          <a:ln>
            <a:solidFill>
              <a:schemeClr val="tx1"/>
            </a:solidFill>
          </a:ln>
        </p:spPr>
        <p:txBody>
          <a:bodyPr wrap="none">
            <a:spAutoFit/>
          </a:bodyPr>
          <a:lstStyle/>
          <a:p>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SA</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432B20AD-0D9A-4BB0-853B-3F2157D098A9}"/>
              </a:ext>
            </a:extLst>
          </p:cNvPr>
          <p:cNvSpPr>
            <a:spLocks noGrp="1"/>
          </p:cNvSpPr>
          <p:nvPr>
            <p:ph type="sldNum" sz="quarter" idx="12"/>
          </p:nvPr>
        </p:nvSpPr>
        <p:spPr/>
        <p:txBody>
          <a:bodyPr/>
          <a:lstStyle/>
          <a:p>
            <a:fld id="{9044CBB6-E20C-4076-82F9-F8F95241C54D}" type="slidenum">
              <a:rPr lang="zh-TW" altLang="en-US" smtClean="0">
                <a:solidFill>
                  <a:schemeClr val="tx1"/>
                </a:solidFill>
              </a:rPr>
              <a:t>28</a:t>
            </a:fld>
            <a:endParaRPr lang="zh-TW" altLang="en-US">
              <a:solidFill>
                <a:schemeClr val="tx1"/>
              </a:solidFill>
            </a:endParaRPr>
          </a:p>
        </p:txBody>
      </p:sp>
    </p:spTree>
    <p:extLst>
      <p:ext uri="{BB962C8B-B14F-4D97-AF65-F5344CB8AC3E}">
        <p14:creationId xmlns:p14="http://schemas.microsoft.com/office/powerpoint/2010/main" val="1559190740"/>
      </p:ext>
    </p:extLst>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pic>
        <p:nvPicPr>
          <p:cNvPr id="189" name="圖片 188">
            <a:extLst>
              <a:ext uri="{FF2B5EF4-FFF2-40B4-BE49-F238E27FC236}">
                <a16:creationId xmlns:a16="http://schemas.microsoft.com/office/drawing/2014/main" id="{A501C53D-D948-4F88-BC74-A855AB9C77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117" y="816214"/>
            <a:ext cx="3610963" cy="2516054"/>
          </a:xfrm>
          <a:prstGeom prst="rect">
            <a:avLst/>
          </a:prstGeom>
          <a:ln>
            <a:noFill/>
          </a:ln>
          <a:effectLst>
            <a:outerShdw blurRad="292100" dist="139700" dir="2700000" algn="tl" rotWithShape="0">
              <a:srgbClr val="333333">
                <a:alpha val="65000"/>
              </a:srgbClr>
            </a:outerShdw>
          </a:effectLst>
        </p:spPr>
      </p:pic>
      <p:pic>
        <p:nvPicPr>
          <p:cNvPr id="191" name="圖片 190">
            <a:extLst>
              <a:ext uri="{FF2B5EF4-FFF2-40B4-BE49-F238E27FC236}">
                <a16:creationId xmlns:a16="http://schemas.microsoft.com/office/drawing/2014/main" id="{E1B58E18-5ECF-4A58-9D46-1A37FDA6B6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118" y="3737328"/>
            <a:ext cx="3610956" cy="2516049"/>
          </a:xfrm>
          <a:prstGeom prst="rect">
            <a:avLst/>
          </a:prstGeom>
          <a:ln>
            <a:noFill/>
          </a:ln>
          <a:effectLst>
            <a:outerShdw blurRad="292100" dist="139700" dir="2700000" algn="tl" rotWithShape="0">
              <a:srgbClr val="333333">
                <a:alpha val="65000"/>
              </a:srgbClr>
            </a:outerShdw>
          </a:effectLst>
        </p:spPr>
      </p:pic>
      <p:sp>
        <p:nvSpPr>
          <p:cNvPr id="193" name="文字方塊 192">
            <a:extLst>
              <a:ext uri="{FF2B5EF4-FFF2-40B4-BE49-F238E27FC236}">
                <a16:creationId xmlns:a16="http://schemas.microsoft.com/office/drawing/2014/main" id="{28D33A13-CC66-4290-AA93-C1DC66ED9B68}"/>
              </a:ext>
            </a:extLst>
          </p:cNvPr>
          <p:cNvSpPr txBox="1"/>
          <p:nvPr/>
        </p:nvSpPr>
        <p:spPr>
          <a:xfrm>
            <a:off x="2170605" y="3356504"/>
            <a:ext cx="915635" cy="369332"/>
          </a:xfrm>
          <a:prstGeom prst="rect">
            <a:avLst/>
          </a:prstGeom>
          <a:noFill/>
        </p:spPr>
        <p:txBody>
          <a:bodyPr wrap="none" rtlCol="0">
            <a:spAutoFit/>
          </a:bodyPr>
          <a:lstStyle/>
          <a:p>
            <a:r>
              <a:rPr lang="en-US" altLang="zh-TW"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0V/mm</a:t>
            </a:r>
            <a:endParaRPr lang="zh-TW" altLang="en-US"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4" name="文字方塊 193">
            <a:extLst>
              <a:ext uri="{FF2B5EF4-FFF2-40B4-BE49-F238E27FC236}">
                <a16:creationId xmlns:a16="http://schemas.microsoft.com/office/drawing/2014/main" id="{42A27DFC-FA0F-44E5-9AFA-FF21BDB50794}"/>
              </a:ext>
            </a:extLst>
          </p:cNvPr>
          <p:cNvSpPr txBox="1"/>
          <p:nvPr/>
        </p:nvSpPr>
        <p:spPr>
          <a:xfrm>
            <a:off x="8967450" y="3356504"/>
            <a:ext cx="1146468" cy="369332"/>
          </a:xfrm>
          <a:prstGeom prst="rect">
            <a:avLst/>
          </a:prstGeom>
          <a:noFill/>
        </p:spPr>
        <p:txBody>
          <a:bodyPr wrap="none" rtlCol="0">
            <a:spAutoFit/>
          </a:bodyPr>
          <a:lstStyle/>
          <a:p>
            <a:r>
              <a:rPr lang="en-US" altLang="zh-TW"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267V/mm</a:t>
            </a:r>
            <a:endParaRPr lang="zh-TW" altLang="en-US"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5" name="文字方塊 194">
            <a:extLst>
              <a:ext uri="{FF2B5EF4-FFF2-40B4-BE49-F238E27FC236}">
                <a16:creationId xmlns:a16="http://schemas.microsoft.com/office/drawing/2014/main" id="{2C96AD33-D4A4-4AC9-8E83-EECE91A2A6FB}"/>
              </a:ext>
            </a:extLst>
          </p:cNvPr>
          <p:cNvSpPr txBox="1"/>
          <p:nvPr/>
        </p:nvSpPr>
        <p:spPr>
          <a:xfrm>
            <a:off x="2055186" y="6253377"/>
            <a:ext cx="1146468" cy="369332"/>
          </a:xfrm>
          <a:prstGeom prst="rect">
            <a:avLst/>
          </a:prstGeom>
          <a:noFill/>
        </p:spPr>
        <p:txBody>
          <a:bodyPr wrap="none" rtlCol="0">
            <a:spAutoFit/>
          </a:bodyPr>
          <a:lstStyle/>
          <a:p>
            <a:r>
              <a:rPr lang="en-US" altLang="zh-TW"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685V/mm</a:t>
            </a:r>
            <a:endParaRPr lang="zh-TW" altLang="en-US"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F1127B15-AA17-49AD-9EFC-B61135F3BE41}"/>
              </a:ext>
            </a:extLst>
          </p:cNvPr>
          <p:cNvSpPr>
            <a:spLocks noGrp="1"/>
          </p:cNvSpPr>
          <p:nvPr>
            <p:ph type="sldNum" sz="quarter" idx="12"/>
          </p:nvPr>
        </p:nvSpPr>
        <p:spPr/>
        <p:txBody>
          <a:bodyPr/>
          <a:lstStyle/>
          <a:p>
            <a:fld id="{9044CBB6-E20C-4076-82F9-F8F95241C54D}" type="slidenum">
              <a:rPr lang="zh-TW" altLang="en-US" smtClean="0"/>
              <a:t>29</a:t>
            </a:fld>
            <a:endParaRPr lang="zh-TW" altLang="en-US"/>
          </a:p>
        </p:txBody>
      </p:sp>
      <p:pic>
        <p:nvPicPr>
          <p:cNvPr id="188" name="圖片 187">
            <a:extLst>
              <a:ext uri="{FF2B5EF4-FFF2-40B4-BE49-F238E27FC236}">
                <a16:creationId xmlns:a16="http://schemas.microsoft.com/office/drawing/2014/main" id="{DF28CDA2-8833-42C7-B221-FD62C3D3BB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2378" y="816214"/>
            <a:ext cx="3610963" cy="2516054"/>
          </a:xfrm>
          <a:prstGeom prst="rect">
            <a:avLst/>
          </a:prstGeom>
          <a:ln>
            <a:noFill/>
          </a:ln>
          <a:effectLst>
            <a:outerShdw blurRad="292100" dist="139700" dir="2700000" algn="tl" rotWithShape="0">
              <a:srgbClr val="333333">
                <a:alpha val="65000"/>
              </a:srgbClr>
            </a:outerShdw>
          </a:effectLst>
        </p:spPr>
      </p:pic>
      <p:pic>
        <p:nvPicPr>
          <p:cNvPr id="190" name="圖片 189">
            <a:extLst>
              <a:ext uri="{FF2B5EF4-FFF2-40B4-BE49-F238E27FC236}">
                <a16:creationId xmlns:a16="http://schemas.microsoft.com/office/drawing/2014/main" id="{5D5A9BC2-1144-4607-822A-A0D80A3E30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22384" y="3737328"/>
            <a:ext cx="3610958" cy="2516049"/>
          </a:xfrm>
          <a:prstGeom prst="rect">
            <a:avLst/>
          </a:prstGeom>
          <a:ln>
            <a:noFill/>
          </a:ln>
          <a:effectLst>
            <a:outerShdw blurRad="292100" dist="139700" dir="2700000" algn="tl" rotWithShape="0">
              <a:srgbClr val="333333">
                <a:alpha val="65000"/>
              </a:srgbClr>
            </a:outerShdw>
          </a:effectLst>
        </p:spPr>
      </p:pic>
      <p:sp>
        <p:nvSpPr>
          <p:cNvPr id="13" name="文字方塊 12">
            <a:extLst>
              <a:ext uri="{FF2B5EF4-FFF2-40B4-BE49-F238E27FC236}">
                <a16:creationId xmlns:a16="http://schemas.microsoft.com/office/drawing/2014/main" id="{1EB95F94-5D99-4228-AAC7-0BE146AE77A4}"/>
              </a:ext>
            </a:extLst>
          </p:cNvPr>
          <p:cNvSpPr txBox="1"/>
          <p:nvPr/>
        </p:nvSpPr>
        <p:spPr>
          <a:xfrm>
            <a:off x="8967450" y="6253377"/>
            <a:ext cx="1146468" cy="369332"/>
          </a:xfrm>
          <a:prstGeom prst="rect">
            <a:avLst/>
          </a:prstGeom>
          <a:noFill/>
        </p:spPr>
        <p:txBody>
          <a:bodyPr wrap="none" rtlCol="0">
            <a:spAutoFit/>
          </a:bodyPr>
          <a:lstStyle/>
          <a:p>
            <a:r>
              <a:rPr lang="en-US" altLang="zh-TW"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895V/mm</a:t>
            </a:r>
            <a:endParaRPr lang="zh-TW" altLang="en-US"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文字方塊 14">
            <a:extLst>
              <a:ext uri="{FF2B5EF4-FFF2-40B4-BE49-F238E27FC236}">
                <a16:creationId xmlns:a16="http://schemas.microsoft.com/office/drawing/2014/main" id="{B2319CFA-D116-4795-8CE2-9EC724FE2A43}"/>
              </a:ext>
            </a:extLst>
          </p:cNvPr>
          <p:cNvSpPr txBox="1"/>
          <p:nvPr/>
        </p:nvSpPr>
        <p:spPr>
          <a:xfrm>
            <a:off x="4757836" y="151273"/>
            <a:ext cx="2241255" cy="523220"/>
          </a:xfrm>
          <a:prstGeom prst="rect">
            <a:avLst/>
          </a:prstGeom>
          <a:noFill/>
        </p:spPr>
        <p:txBody>
          <a:bodyPr wrap="none" rtlCol="0">
            <a:spAutoFit/>
          </a:bodyPr>
          <a:lstStyle/>
          <a:p>
            <a:r>
              <a:rPr lang="en-US" altLang="zh-TW" sz="2800" b="1" i="1" kern="100" dirty="0">
                <a:latin typeface="Times New Roman" panose="02020603050405020304" pitchFamily="18" charset="0"/>
                <a:ea typeface="標楷體" panose="03000509000000000000" pitchFamily="65" charset="-120"/>
                <a:cs typeface="Times New Roman" panose="02020603050405020304" pitchFamily="18" charset="0"/>
              </a:rPr>
              <a:t>CW operation</a:t>
            </a:r>
            <a:endParaRPr lang="zh-TW" altLang="zh-TW" sz="28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95437302"/>
      </p:ext>
    </p:extLst>
  </p:cSld>
  <p:clrMapOvr>
    <a:masterClrMapping/>
  </p:clrMapOvr>
  <p:transition spd="med">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文字方塊 193">
            <a:extLst>
              <a:ext uri="{FF2B5EF4-FFF2-40B4-BE49-F238E27FC236}">
                <a16:creationId xmlns:a16="http://schemas.microsoft.com/office/drawing/2014/main" id="{42A27DFC-FA0F-44E5-9AFA-FF21BDB50794}"/>
              </a:ext>
            </a:extLst>
          </p:cNvPr>
          <p:cNvSpPr txBox="1"/>
          <p:nvPr/>
        </p:nvSpPr>
        <p:spPr>
          <a:xfrm>
            <a:off x="9678837" y="3099374"/>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267V/mm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88" name="圖片 187">
            <a:extLst>
              <a:ext uri="{FF2B5EF4-FFF2-40B4-BE49-F238E27FC236}">
                <a16:creationId xmlns:a16="http://schemas.microsoft.com/office/drawing/2014/main" id="{DF28CDA2-8833-42C7-B221-FD62C3D3BB32}"/>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433765" y="583320"/>
            <a:ext cx="3610964" cy="2516054"/>
          </a:xfrm>
          <a:prstGeom prst="rect">
            <a:avLst/>
          </a:prstGeom>
          <a:ln>
            <a:noFill/>
          </a:ln>
          <a:effectLst/>
        </p:spPr>
      </p:pic>
      <p:pic>
        <p:nvPicPr>
          <p:cNvPr id="5" name="圖片 4">
            <a:extLst>
              <a:ext uri="{FF2B5EF4-FFF2-40B4-BE49-F238E27FC236}">
                <a16:creationId xmlns:a16="http://schemas.microsoft.com/office/drawing/2014/main" id="{F54B4BB7-2BBE-4967-B62D-428BDF9CECD2}"/>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47271" y="582974"/>
            <a:ext cx="3611460" cy="2516400"/>
          </a:xfrm>
          <a:prstGeom prst="rect">
            <a:avLst/>
          </a:prstGeom>
        </p:spPr>
      </p:pic>
      <p:pic>
        <p:nvPicPr>
          <p:cNvPr id="7" name="圖片 6">
            <a:extLst>
              <a:ext uri="{FF2B5EF4-FFF2-40B4-BE49-F238E27FC236}">
                <a16:creationId xmlns:a16="http://schemas.microsoft.com/office/drawing/2014/main" id="{720DCB39-5A92-4D9B-9600-1272B0B35EB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4290270" y="507869"/>
            <a:ext cx="3611460" cy="2516400"/>
          </a:xfrm>
          <a:prstGeom prst="rect">
            <a:avLst/>
          </a:prstGeom>
        </p:spPr>
      </p:pic>
      <p:sp>
        <p:nvSpPr>
          <p:cNvPr id="17" name="文字方塊 16">
            <a:extLst>
              <a:ext uri="{FF2B5EF4-FFF2-40B4-BE49-F238E27FC236}">
                <a16:creationId xmlns:a16="http://schemas.microsoft.com/office/drawing/2014/main" id="{05AD9BD9-F603-4ED2-9A64-1C3CC92D8680}"/>
              </a:ext>
            </a:extLst>
          </p:cNvPr>
          <p:cNvSpPr txBox="1"/>
          <p:nvPr/>
        </p:nvSpPr>
        <p:spPr>
          <a:xfrm>
            <a:off x="5523589" y="3099374"/>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255V/mm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文字方塊 17">
            <a:extLst>
              <a:ext uri="{FF2B5EF4-FFF2-40B4-BE49-F238E27FC236}">
                <a16:creationId xmlns:a16="http://schemas.microsoft.com/office/drawing/2014/main" id="{046EE36D-6BBF-4298-828F-4CF7F6130B13}"/>
              </a:ext>
            </a:extLst>
          </p:cNvPr>
          <p:cNvSpPr txBox="1"/>
          <p:nvPr/>
        </p:nvSpPr>
        <p:spPr>
          <a:xfrm>
            <a:off x="1392343" y="3099374"/>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243V/mm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3" name="投影片編號版面配置區 2">
            <a:extLst>
              <a:ext uri="{FF2B5EF4-FFF2-40B4-BE49-F238E27FC236}">
                <a16:creationId xmlns:a16="http://schemas.microsoft.com/office/drawing/2014/main" id="{F1127B15-AA17-49AD-9EFC-B61135F3BE41}"/>
              </a:ext>
            </a:extLst>
          </p:cNvPr>
          <p:cNvSpPr>
            <a:spLocks noGrp="1"/>
          </p:cNvSpPr>
          <p:nvPr>
            <p:ph type="sldNum" sz="quarter" idx="12"/>
          </p:nvPr>
        </p:nvSpPr>
        <p:spPr/>
        <p:txBody>
          <a:bodyPr/>
          <a:lstStyle/>
          <a:p>
            <a:fld id="{9044CBB6-E20C-4076-82F9-F8F95241C54D}" type="slidenum">
              <a:rPr lang="zh-TW" altLang="en-US" smtClean="0"/>
              <a:t>30</a:t>
            </a:fld>
            <a:endParaRPr lang="zh-TW" altLang="en-US"/>
          </a:p>
        </p:txBody>
      </p:sp>
      <p:pic>
        <p:nvPicPr>
          <p:cNvPr id="9" name="圖片 8">
            <a:extLst>
              <a:ext uri="{FF2B5EF4-FFF2-40B4-BE49-F238E27FC236}">
                <a16:creationId xmlns:a16="http://schemas.microsoft.com/office/drawing/2014/main" id="{C8F591D2-4B1E-4B07-86A5-BF1A6994EC64}"/>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290574" y="3701600"/>
            <a:ext cx="3611460" cy="2516400"/>
          </a:xfrm>
          <a:prstGeom prst="rect">
            <a:avLst/>
          </a:prstGeom>
        </p:spPr>
      </p:pic>
      <p:pic>
        <p:nvPicPr>
          <p:cNvPr id="11" name="圖片 10">
            <a:extLst>
              <a:ext uri="{FF2B5EF4-FFF2-40B4-BE49-F238E27FC236}">
                <a16:creationId xmlns:a16="http://schemas.microsoft.com/office/drawing/2014/main" id="{D0400B86-37A2-476A-A1FD-C7E1B9D64209}"/>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4290270" y="3701600"/>
            <a:ext cx="3611460" cy="2516400"/>
          </a:xfrm>
          <a:prstGeom prst="rect">
            <a:avLst/>
          </a:prstGeom>
        </p:spPr>
      </p:pic>
      <p:sp>
        <p:nvSpPr>
          <p:cNvPr id="23" name="文字方塊 22">
            <a:extLst>
              <a:ext uri="{FF2B5EF4-FFF2-40B4-BE49-F238E27FC236}">
                <a16:creationId xmlns:a16="http://schemas.microsoft.com/office/drawing/2014/main" id="{B4EC2B30-6F12-45D7-853F-FE5C7349B300}"/>
              </a:ext>
            </a:extLst>
          </p:cNvPr>
          <p:cNvSpPr txBox="1"/>
          <p:nvPr/>
        </p:nvSpPr>
        <p:spPr>
          <a:xfrm>
            <a:off x="1535894" y="6218000"/>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275V/mm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文字方塊 23">
            <a:extLst>
              <a:ext uri="{FF2B5EF4-FFF2-40B4-BE49-F238E27FC236}">
                <a16:creationId xmlns:a16="http://schemas.microsoft.com/office/drawing/2014/main" id="{D2FF3241-EBBD-4971-B66C-FF2CAF31DBA5}"/>
              </a:ext>
            </a:extLst>
          </p:cNvPr>
          <p:cNvSpPr txBox="1"/>
          <p:nvPr/>
        </p:nvSpPr>
        <p:spPr>
          <a:xfrm>
            <a:off x="5535590" y="6218000"/>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286V/mm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文字方塊 24">
            <a:extLst>
              <a:ext uri="{FF2B5EF4-FFF2-40B4-BE49-F238E27FC236}">
                <a16:creationId xmlns:a16="http://schemas.microsoft.com/office/drawing/2014/main" id="{B99A8392-5C38-47E2-9F79-99C1D8969D88}"/>
              </a:ext>
            </a:extLst>
          </p:cNvPr>
          <p:cNvSpPr txBox="1"/>
          <p:nvPr/>
        </p:nvSpPr>
        <p:spPr>
          <a:xfrm>
            <a:off x="8433765" y="3965449"/>
            <a:ext cx="1120820" cy="369332"/>
          </a:xfrm>
          <a:prstGeom prst="rect">
            <a:avLst/>
          </a:prstGeom>
          <a:solidFill>
            <a:srgbClr val="FF0000"/>
          </a:solidFill>
          <a:ln>
            <a:solidFill>
              <a:schemeClr val="tx1"/>
            </a:solidFill>
          </a:ln>
        </p:spPr>
        <p:txBody>
          <a:bodyPr wrap="none" rtlCol="0">
            <a:spAutoFit/>
          </a:bodyPr>
          <a:lstStyle/>
          <a:p>
            <a:r>
              <a:rPr lang="en-US" altLang="zh-TW"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244V/mm</a:t>
            </a:r>
            <a:endParaRPr lang="zh-TW" altLang="en-US"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文字方塊 25">
            <a:extLst>
              <a:ext uri="{FF2B5EF4-FFF2-40B4-BE49-F238E27FC236}">
                <a16:creationId xmlns:a16="http://schemas.microsoft.com/office/drawing/2014/main" id="{10F81766-4CAC-4A66-8746-68F718FCD963}"/>
              </a:ext>
            </a:extLst>
          </p:cNvPr>
          <p:cNvSpPr txBox="1"/>
          <p:nvPr/>
        </p:nvSpPr>
        <p:spPr>
          <a:xfrm>
            <a:off x="10931305" y="3963305"/>
            <a:ext cx="1120820" cy="369332"/>
          </a:xfrm>
          <a:prstGeom prst="rect">
            <a:avLst/>
          </a:prstGeom>
          <a:solidFill>
            <a:srgbClr val="FF0000"/>
          </a:solidFill>
          <a:ln>
            <a:solidFill>
              <a:schemeClr val="tx1"/>
            </a:solidFill>
          </a:ln>
        </p:spPr>
        <p:txBody>
          <a:bodyPr wrap="none" rtlCol="0">
            <a:spAutoFit/>
          </a:bodyPr>
          <a:lstStyle/>
          <a:p>
            <a:r>
              <a:rPr lang="en-US" altLang="zh-TW"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285V/mm</a:t>
            </a:r>
            <a:endParaRPr lang="zh-TW" altLang="en-US"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箭號: 左-右雙向 26">
            <a:extLst>
              <a:ext uri="{FF2B5EF4-FFF2-40B4-BE49-F238E27FC236}">
                <a16:creationId xmlns:a16="http://schemas.microsoft.com/office/drawing/2014/main" id="{B7550466-2797-421D-B824-7B6C0BD21CC5}"/>
              </a:ext>
            </a:extLst>
          </p:cNvPr>
          <p:cNvSpPr/>
          <p:nvPr/>
        </p:nvSpPr>
        <p:spPr>
          <a:xfrm>
            <a:off x="9632180" y="4025158"/>
            <a:ext cx="1143934" cy="276999"/>
          </a:xfrm>
          <a:prstGeom prst="lef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8E436996-1BC3-4549-B496-47D4C17768A8}"/>
              </a:ext>
            </a:extLst>
          </p:cNvPr>
          <p:cNvSpPr txBox="1"/>
          <p:nvPr/>
        </p:nvSpPr>
        <p:spPr>
          <a:xfrm>
            <a:off x="8677601" y="3644296"/>
            <a:ext cx="3126753"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1064.5nm Tolerance</a:t>
            </a:r>
            <a:r>
              <a:rPr lang="zh-TW" altLang="en-US" dirty="0">
                <a:latin typeface="標楷體" panose="03000509000000000000" pitchFamily="65" charset="-120"/>
                <a:ea typeface="標楷體" panose="03000509000000000000" pitchFamily="65" charset="-120"/>
                <a:cs typeface="Times New Roman" panose="02020603050405020304" pitchFamily="18" charset="0"/>
              </a:rPr>
              <a: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42V/mm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a:extLst>
              <a:ext uri="{FF2B5EF4-FFF2-40B4-BE49-F238E27FC236}">
                <a16:creationId xmlns:a16="http://schemas.microsoft.com/office/drawing/2014/main" id="{BC1E1762-492A-4C7E-9C77-490779F965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21708" y="4361486"/>
            <a:ext cx="3070006" cy="2302505"/>
          </a:xfrm>
          <a:prstGeom prst="rect">
            <a:avLst/>
          </a:prstGeom>
        </p:spPr>
      </p:pic>
      <p:cxnSp>
        <p:nvCxnSpPr>
          <p:cNvPr id="10" name="直線接點 9">
            <a:extLst>
              <a:ext uri="{FF2B5EF4-FFF2-40B4-BE49-F238E27FC236}">
                <a16:creationId xmlns:a16="http://schemas.microsoft.com/office/drawing/2014/main" id="{C1AA4198-C5EC-4068-85C3-ABBF3309C43D}"/>
              </a:ext>
            </a:extLst>
          </p:cNvPr>
          <p:cNvCxnSpPr/>
          <p:nvPr/>
        </p:nvCxnSpPr>
        <p:spPr>
          <a:xfrm>
            <a:off x="8565841" y="6356350"/>
            <a:ext cx="2826059"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FC2F8B22-E771-40C8-B14B-98AEC53D7206}"/>
              </a:ext>
            </a:extLst>
          </p:cNvPr>
          <p:cNvSpPr txBox="1"/>
          <p:nvPr/>
        </p:nvSpPr>
        <p:spPr>
          <a:xfrm>
            <a:off x="7668651" y="6139100"/>
            <a:ext cx="934871" cy="369332"/>
          </a:xfrm>
          <a:prstGeom prst="rect">
            <a:avLst/>
          </a:prstGeom>
          <a:noFill/>
        </p:spPr>
        <p:txBody>
          <a:bodyPr wrap="none" rtlCol="0">
            <a:spAutoFit/>
          </a:bodyPr>
          <a:lstStyle/>
          <a:p>
            <a:r>
              <a:rPr lang="en-US" altLang="zh-TW"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0.02714</a:t>
            </a:r>
            <a:endParaRPr lang="zh-TW" altLang="en-US"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6" name="直線接點 15">
            <a:extLst>
              <a:ext uri="{FF2B5EF4-FFF2-40B4-BE49-F238E27FC236}">
                <a16:creationId xmlns:a16="http://schemas.microsoft.com/office/drawing/2014/main" id="{90062CCB-2C5E-4F31-9CE9-9D53696994FF}"/>
              </a:ext>
            </a:extLst>
          </p:cNvPr>
          <p:cNvCxnSpPr/>
          <p:nvPr/>
        </p:nvCxnSpPr>
        <p:spPr>
          <a:xfrm>
            <a:off x="9403080" y="4449116"/>
            <a:ext cx="0" cy="199486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8D988A4-BC0B-4125-B0E2-3CEAF409986D}"/>
              </a:ext>
            </a:extLst>
          </p:cNvPr>
          <p:cNvCxnSpPr/>
          <p:nvPr/>
        </p:nvCxnSpPr>
        <p:spPr>
          <a:xfrm>
            <a:off x="9235440" y="4449116"/>
            <a:ext cx="0" cy="199486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0" name="文字方塊 29">
            <a:extLst>
              <a:ext uri="{FF2B5EF4-FFF2-40B4-BE49-F238E27FC236}">
                <a16:creationId xmlns:a16="http://schemas.microsoft.com/office/drawing/2014/main" id="{35FC6F82-6E89-4598-A3D1-C5B9BD45B9B4}"/>
              </a:ext>
            </a:extLst>
          </p:cNvPr>
          <p:cNvSpPr txBox="1"/>
          <p:nvPr/>
        </p:nvSpPr>
        <p:spPr>
          <a:xfrm>
            <a:off x="10376545" y="6583362"/>
            <a:ext cx="1486304"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文字方塊 30">
            <a:extLst>
              <a:ext uri="{FF2B5EF4-FFF2-40B4-BE49-F238E27FC236}">
                <a16:creationId xmlns:a16="http://schemas.microsoft.com/office/drawing/2014/main" id="{63B10A16-3A66-4B94-8727-45CC7B8CD11A}"/>
              </a:ext>
            </a:extLst>
          </p:cNvPr>
          <p:cNvSpPr txBox="1"/>
          <p:nvPr/>
        </p:nvSpPr>
        <p:spPr>
          <a:xfrm rot="16200000">
            <a:off x="7526009" y="5247580"/>
            <a:ext cx="1938351"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TM</a:t>
            </a:r>
            <a:r>
              <a:rPr lang="zh-TW" altLang="en-US" sz="9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polarization-Transmittance(A.U.)</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文字方塊 31">
            <a:extLst>
              <a:ext uri="{FF2B5EF4-FFF2-40B4-BE49-F238E27FC236}">
                <a16:creationId xmlns:a16="http://schemas.microsoft.com/office/drawing/2014/main" id="{B612B437-3997-4254-BEA4-0C7B53A4319F}"/>
              </a:ext>
            </a:extLst>
          </p:cNvPr>
          <p:cNvSpPr txBox="1"/>
          <p:nvPr/>
        </p:nvSpPr>
        <p:spPr>
          <a:xfrm>
            <a:off x="11371581" y="4383352"/>
            <a:ext cx="881972"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1064.50nm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文字方塊 32">
            <a:extLst>
              <a:ext uri="{FF2B5EF4-FFF2-40B4-BE49-F238E27FC236}">
                <a16:creationId xmlns:a16="http://schemas.microsoft.com/office/drawing/2014/main" id="{5D26B0ED-0B9F-4610-A58A-FFEAE59CE3D2}"/>
              </a:ext>
            </a:extLst>
          </p:cNvPr>
          <p:cNvSpPr txBox="1"/>
          <p:nvPr/>
        </p:nvSpPr>
        <p:spPr>
          <a:xfrm>
            <a:off x="11371582" y="4636092"/>
            <a:ext cx="881972"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1342.33nm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橢圓 33">
            <a:extLst>
              <a:ext uri="{FF2B5EF4-FFF2-40B4-BE49-F238E27FC236}">
                <a16:creationId xmlns:a16="http://schemas.microsoft.com/office/drawing/2014/main" id="{0C1C822E-B48E-4204-BAA8-6A87091196C8}"/>
              </a:ext>
            </a:extLst>
          </p:cNvPr>
          <p:cNvSpPr/>
          <p:nvPr/>
        </p:nvSpPr>
        <p:spPr>
          <a:xfrm>
            <a:off x="11297177" y="4483850"/>
            <a:ext cx="92654" cy="92654"/>
          </a:xfrm>
          <a:prstGeom prst="ellipse">
            <a:avLst/>
          </a:prstGeom>
          <a:solidFill>
            <a:srgbClr val="FF0000"/>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6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 name="橢圓 34">
            <a:extLst>
              <a:ext uri="{FF2B5EF4-FFF2-40B4-BE49-F238E27FC236}">
                <a16:creationId xmlns:a16="http://schemas.microsoft.com/office/drawing/2014/main" id="{F609A9E7-4E7A-400A-AC88-FF9EC81FD92C}"/>
              </a:ext>
            </a:extLst>
          </p:cNvPr>
          <p:cNvSpPr/>
          <p:nvPr/>
        </p:nvSpPr>
        <p:spPr>
          <a:xfrm>
            <a:off x="11299517" y="4717057"/>
            <a:ext cx="92654" cy="92654"/>
          </a:xfrm>
          <a:prstGeom prst="ellipse">
            <a:avLst/>
          </a:prstGeom>
          <a:solidFill>
            <a:srgbClr val="0000FF"/>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6" name="文字方塊 35">
            <a:extLst>
              <a:ext uri="{FF2B5EF4-FFF2-40B4-BE49-F238E27FC236}">
                <a16:creationId xmlns:a16="http://schemas.microsoft.com/office/drawing/2014/main" id="{B2319CFA-D116-4795-8CE2-9EC724FE2A43}"/>
              </a:ext>
            </a:extLst>
          </p:cNvPr>
          <p:cNvSpPr txBox="1"/>
          <p:nvPr/>
        </p:nvSpPr>
        <p:spPr>
          <a:xfrm>
            <a:off x="4757836" y="151273"/>
            <a:ext cx="2241255" cy="523220"/>
          </a:xfrm>
          <a:prstGeom prst="rect">
            <a:avLst/>
          </a:prstGeom>
          <a:noFill/>
        </p:spPr>
        <p:txBody>
          <a:bodyPr wrap="none" rtlCol="0">
            <a:spAutoFit/>
          </a:bodyPr>
          <a:lstStyle/>
          <a:p>
            <a:r>
              <a:rPr lang="en-US" altLang="zh-TW" sz="2800" b="1" i="1" kern="100" dirty="0">
                <a:latin typeface="Times New Roman" panose="02020603050405020304" pitchFamily="18" charset="0"/>
                <a:ea typeface="標楷體" panose="03000509000000000000" pitchFamily="65" charset="-120"/>
                <a:cs typeface="Times New Roman" panose="02020603050405020304" pitchFamily="18" charset="0"/>
              </a:rPr>
              <a:t>CW operation</a:t>
            </a:r>
            <a:endParaRPr lang="zh-TW" altLang="zh-TW" sz="28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69579656"/>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64E369BF-FE20-4007-9504-F72AEC39BAC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90574" y="3701600"/>
            <a:ext cx="3611460" cy="2516400"/>
          </a:xfrm>
          <a:prstGeom prst="rect">
            <a:avLst/>
          </a:prstGeom>
        </p:spPr>
      </p:pic>
      <p:pic>
        <p:nvPicPr>
          <p:cNvPr id="21" name="圖片 20">
            <a:extLst>
              <a:ext uri="{FF2B5EF4-FFF2-40B4-BE49-F238E27FC236}">
                <a16:creationId xmlns:a16="http://schemas.microsoft.com/office/drawing/2014/main" id="{FF495F4B-CD29-428F-8758-DB2BACC4F821}"/>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300562" y="3701600"/>
            <a:ext cx="3611460" cy="2516400"/>
          </a:xfrm>
          <a:prstGeom prst="rect">
            <a:avLst/>
          </a:prstGeom>
        </p:spPr>
      </p:pic>
      <p:pic>
        <p:nvPicPr>
          <p:cNvPr id="10" name="圖片 9">
            <a:extLst>
              <a:ext uri="{FF2B5EF4-FFF2-40B4-BE49-F238E27FC236}">
                <a16:creationId xmlns:a16="http://schemas.microsoft.com/office/drawing/2014/main" id="{0659BEC1-A1B9-4BE3-910E-2222E1FFAF9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4306907" y="546840"/>
            <a:ext cx="3611460" cy="2516400"/>
          </a:xfrm>
          <a:prstGeom prst="rect">
            <a:avLst/>
          </a:prstGeom>
        </p:spPr>
      </p:pic>
      <p:pic>
        <p:nvPicPr>
          <p:cNvPr id="6" name="圖片 5">
            <a:extLst>
              <a:ext uri="{FF2B5EF4-FFF2-40B4-BE49-F238E27FC236}">
                <a16:creationId xmlns:a16="http://schemas.microsoft.com/office/drawing/2014/main" id="{89BE97D7-9D91-4CA9-B9B1-100960F1B237}"/>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59954" y="546840"/>
            <a:ext cx="3611460" cy="2516400"/>
          </a:xfrm>
          <a:prstGeom prst="rect">
            <a:avLst/>
          </a:prstGeom>
        </p:spPr>
      </p:pic>
      <p:pic>
        <p:nvPicPr>
          <p:cNvPr id="19" name="圖片 18">
            <a:extLst>
              <a:ext uri="{FF2B5EF4-FFF2-40B4-BE49-F238E27FC236}">
                <a16:creationId xmlns:a16="http://schemas.microsoft.com/office/drawing/2014/main" id="{BCC1C82B-1E9D-4F3B-8FD0-7BE0FBB35D91}"/>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8453860" y="541899"/>
            <a:ext cx="3610958" cy="2516050"/>
          </a:xfrm>
          <a:prstGeom prst="rect">
            <a:avLst/>
          </a:prstGeom>
          <a:ln>
            <a:noFill/>
          </a:ln>
          <a:effectLst/>
        </p:spPr>
      </p:pic>
      <p:sp>
        <p:nvSpPr>
          <p:cNvPr id="20" name="文字方塊 19">
            <a:extLst>
              <a:ext uri="{FF2B5EF4-FFF2-40B4-BE49-F238E27FC236}">
                <a16:creationId xmlns:a16="http://schemas.microsoft.com/office/drawing/2014/main" id="{EC4FFE51-A396-4116-A39D-24B319F98B1A}"/>
              </a:ext>
            </a:extLst>
          </p:cNvPr>
          <p:cNvSpPr txBox="1"/>
          <p:nvPr/>
        </p:nvSpPr>
        <p:spPr>
          <a:xfrm>
            <a:off x="9686925" y="3057948"/>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895V/mm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3" name="投影片編號版面配置區 2">
            <a:extLst>
              <a:ext uri="{FF2B5EF4-FFF2-40B4-BE49-F238E27FC236}">
                <a16:creationId xmlns:a16="http://schemas.microsoft.com/office/drawing/2014/main" id="{F1127B15-AA17-49AD-9EFC-B61135F3BE41}"/>
              </a:ext>
            </a:extLst>
          </p:cNvPr>
          <p:cNvSpPr>
            <a:spLocks noGrp="1"/>
          </p:cNvSpPr>
          <p:nvPr>
            <p:ph type="sldNum" sz="quarter" idx="12"/>
          </p:nvPr>
        </p:nvSpPr>
        <p:spPr/>
        <p:txBody>
          <a:bodyPr/>
          <a:lstStyle/>
          <a:p>
            <a:fld id="{9044CBB6-E20C-4076-82F9-F8F95241C54D}" type="slidenum">
              <a:rPr lang="zh-TW" altLang="en-US" smtClean="0"/>
              <a:t>31</a:t>
            </a:fld>
            <a:endParaRPr lang="zh-TW" altLang="en-US"/>
          </a:p>
        </p:txBody>
      </p:sp>
      <p:sp>
        <p:nvSpPr>
          <p:cNvPr id="17" name="文字方塊 16">
            <a:extLst>
              <a:ext uri="{FF2B5EF4-FFF2-40B4-BE49-F238E27FC236}">
                <a16:creationId xmlns:a16="http://schemas.microsoft.com/office/drawing/2014/main" id="{05AD9BD9-F603-4ED2-9A64-1C3CC92D8680}"/>
              </a:ext>
            </a:extLst>
          </p:cNvPr>
          <p:cNvSpPr txBox="1"/>
          <p:nvPr/>
        </p:nvSpPr>
        <p:spPr>
          <a:xfrm>
            <a:off x="5523589" y="2966508"/>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891V/mm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文字方塊 17">
            <a:extLst>
              <a:ext uri="{FF2B5EF4-FFF2-40B4-BE49-F238E27FC236}">
                <a16:creationId xmlns:a16="http://schemas.microsoft.com/office/drawing/2014/main" id="{046EE36D-6BBF-4298-828F-4CF7F6130B13}"/>
              </a:ext>
            </a:extLst>
          </p:cNvPr>
          <p:cNvSpPr txBox="1"/>
          <p:nvPr/>
        </p:nvSpPr>
        <p:spPr>
          <a:xfrm>
            <a:off x="1392343" y="2966508"/>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883V/mm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文字方塊 22">
            <a:extLst>
              <a:ext uri="{FF2B5EF4-FFF2-40B4-BE49-F238E27FC236}">
                <a16:creationId xmlns:a16="http://schemas.microsoft.com/office/drawing/2014/main" id="{B4EC2B30-6F12-45D7-853F-FE5C7349B300}"/>
              </a:ext>
            </a:extLst>
          </p:cNvPr>
          <p:cNvSpPr txBox="1"/>
          <p:nvPr/>
        </p:nvSpPr>
        <p:spPr>
          <a:xfrm>
            <a:off x="1535894" y="6218000"/>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907V/mm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文字方塊 23">
            <a:extLst>
              <a:ext uri="{FF2B5EF4-FFF2-40B4-BE49-F238E27FC236}">
                <a16:creationId xmlns:a16="http://schemas.microsoft.com/office/drawing/2014/main" id="{D2FF3241-EBBD-4971-B66C-FF2CAF31DBA5}"/>
              </a:ext>
            </a:extLst>
          </p:cNvPr>
          <p:cNvSpPr txBox="1"/>
          <p:nvPr/>
        </p:nvSpPr>
        <p:spPr>
          <a:xfrm>
            <a:off x="5535590" y="6218000"/>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917V/mm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文字方塊 24">
            <a:extLst>
              <a:ext uri="{FF2B5EF4-FFF2-40B4-BE49-F238E27FC236}">
                <a16:creationId xmlns:a16="http://schemas.microsoft.com/office/drawing/2014/main" id="{B99A8392-5C38-47E2-9F79-99C1D8969D88}"/>
              </a:ext>
            </a:extLst>
          </p:cNvPr>
          <p:cNvSpPr txBox="1"/>
          <p:nvPr/>
        </p:nvSpPr>
        <p:spPr>
          <a:xfrm>
            <a:off x="8433765" y="3971220"/>
            <a:ext cx="1120820" cy="369332"/>
          </a:xfrm>
          <a:prstGeom prst="rect">
            <a:avLst/>
          </a:prstGeom>
          <a:solidFill>
            <a:srgbClr val="0000FF"/>
          </a:solidFill>
          <a:ln>
            <a:solidFill>
              <a:schemeClr val="tx1"/>
            </a:solidFill>
          </a:ln>
        </p:spPr>
        <p:txBody>
          <a:bodyPr wrap="none" rtlCol="0">
            <a:spAutoFit/>
          </a:bodyPr>
          <a:lstStyle/>
          <a:p>
            <a:r>
              <a:rPr lang="en-US" altLang="zh-TW"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884V/mm</a:t>
            </a:r>
            <a:endParaRPr lang="zh-TW" altLang="en-US"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文字方塊 25">
            <a:extLst>
              <a:ext uri="{FF2B5EF4-FFF2-40B4-BE49-F238E27FC236}">
                <a16:creationId xmlns:a16="http://schemas.microsoft.com/office/drawing/2014/main" id="{10F81766-4CAC-4A66-8746-68F718FCD963}"/>
              </a:ext>
            </a:extLst>
          </p:cNvPr>
          <p:cNvSpPr txBox="1"/>
          <p:nvPr/>
        </p:nvSpPr>
        <p:spPr>
          <a:xfrm>
            <a:off x="10931305" y="3969076"/>
            <a:ext cx="1120820" cy="369332"/>
          </a:xfrm>
          <a:prstGeom prst="rect">
            <a:avLst/>
          </a:prstGeom>
          <a:solidFill>
            <a:srgbClr val="0000FF"/>
          </a:solidFill>
          <a:ln>
            <a:solidFill>
              <a:schemeClr val="tx1"/>
            </a:solidFill>
          </a:ln>
        </p:spPr>
        <p:txBody>
          <a:bodyPr wrap="none" rtlCol="0">
            <a:spAutoFit/>
          </a:bodyPr>
          <a:lstStyle/>
          <a:p>
            <a:r>
              <a:rPr lang="en-US" altLang="zh-TW"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916V/mm</a:t>
            </a:r>
            <a:endParaRPr lang="zh-TW" altLang="en-US"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箭號: 左-右雙向 26">
            <a:extLst>
              <a:ext uri="{FF2B5EF4-FFF2-40B4-BE49-F238E27FC236}">
                <a16:creationId xmlns:a16="http://schemas.microsoft.com/office/drawing/2014/main" id="{B7550466-2797-421D-B824-7B6C0BD21CC5}"/>
              </a:ext>
            </a:extLst>
          </p:cNvPr>
          <p:cNvSpPr/>
          <p:nvPr/>
        </p:nvSpPr>
        <p:spPr>
          <a:xfrm>
            <a:off x="9632180" y="4030929"/>
            <a:ext cx="1143934" cy="276999"/>
          </a:xfrm>
          <a:prstGeom prst="lef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8E436996-1BC3-4549-B496-47D4C17768A8}"/>
              </a:ext>
            </a:extLst>
          </p:cNvPr>
          <p:cNvSpPr txBox="1"/>
          <p:nvPr/>
        </p:nvSpPr>
        <p:spPr>
          <a:xfrm>
            <a:off x="8573969" y="3668355"/>
            <a:ext cx="324217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1342.33nm Tolerance</a:t>
            </a:r>
            <a:r>
              <a:rPr lang="zh-TW" altLang="en-US" dirty="0">
                <a:latin typeface="標楷體" panose="03000509000000000000" pitchFamily="65" charset="-120"/>
                <a:ea typeface="標楷體" panose="03000509000000000000" pitchFamily="65" charset="-120"/>
                <a:cs typeface="Times New Roman" panose="02020603050405020304" pitchFamily="18" charset="0"/>
              </a:rPr>
              <a: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33V/mm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3" name="投影片編號版面配置區 2">
            <a:extLst>
              <a:ext uri="{FF2B5EF4-FFF2-40B4-BE49-F238E27FC236}">
                <a16:creationId xmlns:a16="http://schemas.microsoft.com/office/drawing/2014/main" id="{E0602118-0CAC-45FB-AED2-5AB9E081952D}"/>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44CBB6-E20C-4076-82F9-F8F95241C54D}" type="slidenum">
              <a:rPr lang="zh-TW" altLang="en-US" smtClean="0"/>
              <a:pPr/>
              <a:t>31</a:t>
            </a:fld>
            <a:endParaRPr lang="zh-TW" altLang="en-US"/>
          </a:p>
        </p:txBody>
      </p:sp>
      <p:pic>
        <p:nvPicPr>
          <p:cNvPr id="48" name="圖片 47">
            <a:extLst>
              <a:ext uri="{FF2B5EF4-FFF2-40B4-BE49-F238E27FC236}">
                <a16:creationId xmlns:a16="http://schemas.microsoft.com/office/drawing/2014/main" id="{4A681FBF-4E85-4F54-BC34-391EC9342A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21708" y="4361486"/>
            <a:ext cx="3070006" cy="2302504"/>
          </a:xfrm>
          <a:prstGeom prst="rect">
            <a:avLst/>
          </a:prstGeom>
        </p:spPr>
      </p:pic>
      <p:cxnSp>
        <p:nvCxnSpPr>
          <p:cNvPr id="49" name="直線接點 48">
            <a:extLst>
              <a:ext uri="{FF2B5EF4-FFF2-40B4-BE49-F238E27FC236}">
                <a16:creationId xmlns:a16="http://schemas.microsoft.com/office/drawing/2014/main" id="{F80963EF-5880-4FD4-B5C2-6F7AEF9C2317}"/>
              </a:ext>
            </a:extLst>
          </p:cNvPr>
          <p:cNvCxnSpPr/>
          <p:nvPr/>
        </p:nvCxnSpPr>
        <p:spPr>
          <a:xfrm>
            <a:off x="8565841" y="6322060"/>
            <a:ext cx="2826059"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文字方塊 49">
            <a:extLst>
              <a:ext uri="{FF2B5EF4-FFF2-40B4-BE49-F238E27FC236}">
                <a16:creationId xmlns:a16="http://schemas.microsoft.com/office/drawing/2014/main" id="{428DC1F7-C49C-45AD-806E-849281770054}"/>
              </a:ext>
            </a:extLst>
          </p:cNvPr>
          <p:cNvSpPr txBox="1"/>
          <p:nvPr/>
        </p:nvSpPr>
        <p:spPr>
          <a:xfrm>
            <a:off x="7653086" y="6138735"/>
            <a:ext cx="934871" cy="369332"/>
          </a:xfrm>
          <a:prstGeom prst="rect">
            <a:avLst/>
          </a:prstGeom>
          <a:noFill/>
        </p:spPr>
        <p:txBody>
          <a:bodyPr wrap="none" rtlCol="0">
            <a:spAutoFit/>
          </a:bodyPr>
          <a:lstStyle/>
          <a:p>
            <a:r>
              <a:rPr lang="en-US" altLang="zh-TW"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0.04875</a:t>
            </a:r>
            <a:endParaRPr lang="zh-TW" altLang="en-US"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51" name="直線接點 50">
            <a:extLst>
              <a:ext uri="{FF2B5EF4-FFF2-40B4-BE49-F238E27FC236}">
                <a16:creationId xmlns:a16="http://schemas.microsoft.com/office/drawing/2014/main" id="{52983D00-F700-47D7-A894-756957B55202}"/>
              </a:ext>
            </a:extLst>
          </p:cNvPr>
          <p:cNvCxnSpPr/>
          <p:nvPr/>
        </p:nvCxnSpPr>
        <p:spPr>
          <a:xfrm>
            <a:off x="10822985" y="4449116"/>
            <a:ext cx="0" cy="199486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6D96295B-7D36-4EB6-83EC-65DACDFA5C45}"/>
              </a:ext>
            </a:extLst>
          </p:cNvPr>
          <p:cNvCxnSpPr/>
          <p:nvPr/>
        </p:nvCxnSpPr>
        <p:spPr>
          <a:xfrm>
            <a:off x="10713720" y="4449116"/>
            <a:ext cx="0" cy="199486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文字方塊 52">
            <a:extLst>
              <a:ext uri="{FF2B5EF4-FFF2-40B4-BE49-F238E27FC236}">
                <a16:creationId xmlns:a16="http://schemas.microsoft.com/office/drawing/2014/main" id="{DC0111B3-C5B9-4B65-8091-D7D73B8D1616}"/>
              </a:ext>
            </a:extLst>
          </p:cNvPr>
          <p:cNvSpPr txBox="1"/>
          <p:nvPr/>
        </p:nvSpPr>
        <p:spPr>
          <a:xfrm>
            <a:off x="10376545" y="6583362"/>
            <a:ext cx="1486304"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4" name="文字方塊 53">
            <a:extLst>
              <a:ext uri="{FF2B5EF4-FFF2-40B4-BE49-F238E27FC236}">
                <a16:creationId xmlns:a16="http://schemas.microsoft.com/office/drawing/2014/main" id="{F8937C2A-D538-4CAC-82B5-567057EF689C}"/>
              </a:ext>
            </a:extLst>
          </p:cNvPr>
          <p:cNvSpPr txBox="1"/>
          <p:nvPr/>
        </p:nvSpPr>
        <p:spPr>
          <a:xfrm rot="16200000">
            <a:off x="7526009" y="5247580"/>
            <a:ext cx="1938351"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TM</a:t>
            </a:r>
            <a:r>
              <a:rPr lang="zh-TW" altLang="en-US" sz="9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polarization-Transmittance(A.U.)</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5" name="文字方塊 54">
            <a:extLst>
              <a:ext uri="{FF2B5EF4-FFF2-40B4-BE49-F238E27FC236}">
                <a16:creationId xmlns:a16="http://schemas.microsoft.com/office/drawing/2014/main" id="{8F49BC5B-FE84-4A38-9ECD-7BB3316AC45C}"/>
              </a:ext>
            </a:extLst>
          </p:cNvPr>
          <p:cNvSpPr txBox="1"/>
          <p:nvPr/>
        </p:nvSpPr>
        <p:spPr>
          <a:xfrm>
            <a:off x="11371581" y="4383352"/>
            <a:ext cx="881972"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1064.50nm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6" name="文字方塊 55">
            <a:extLst>
              <a:ext uri="{FF2B5EF4-FFF2-40B4-BE49-F238E27FC236}">
                <a16:creationId xmlns:a16="http://schemas.microsoft.com/office/drawing/2014/main" id="{0AC354D3-6176-448A-9992-094654E75491}"/>
              </a:ext>
            </a:extLst>
          </p:cNvPr>
          <p:cNvSpPr txBox="1"/>
          <p:nvPr/>
        </p:nvSpPr>
        <p:spPr>
          <a:xfrm>
            <a:off x="11371582" y="4636092"/>
            <a:ext cx="881972"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1342.33nm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7" name="橢圓 56">
            <a:extLst>
              <a:ext uri="{FF2B5EF4-FFF2-40B4-BE49-F238E27FC236}">
                <a16:creationId xmlns:a16="http://schemas.microsoft.com/office/drawing/2014/main" id="{BA478C6A-C2AB-4370-AC24-380DC7AB2A5A}"/>
              </a:ext>
            </a:extLst>
          </p:cNvPr>
          <p:cNvSpPr/>
          <p:nvPr/>
        </p:nvSpPr>
        <p:spPr>
          <a:xfrm>
            <a:off x="11297177" y="4483850"/>
            <a:ext cx="92654" cy="92654"/>
          </a:xfrm>
          <a:prstGeom prst="ellipse">
            <a:avLst/>
          </a:prstGeom>
          <a:solidFill>
            <a:srgbClr val="FF0000"/>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6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8" name="橢圓 57">
            <a:extLst>
              <a:ext uri="{FF2B5EF4-FFF2-40B4-BE49-F238E27FC236}">
                <a16:creationId xmlns:a16="http://schemas.microsoft.com/office/drawing/2014/main" id="{20E46BDE-5A47-4C94-9E81-52C7E5B1265A}"/>
              </a:ext>
            </a:extLst>
          </p:cNvPr>
          <p:cNvSpPr/>
          <p:nvPr/>
        </p:nvSpPr>
        <p:spPr>
          <a:xfrm>
            <a:off x="11299517" y="4717057"/>
            <a:ext cx="92654" cy="92654"/>
          </a:xfrm>
          <a:prstGeom prst="ellipse">
            <a:avLst/>
          </a:prstGeom>
          <a:solidFill>
            <a:srgbClr val="0000FF"/>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文字方塊 30">
            <a:extLst>
              <a:ext uri="{FF2B5EF4-FFF2-40B4-BE49-F238E27FC236}">
                <a16:creationId xmlns:a16="http://schemas.microsoft.com/office/drawing/2014/main" id="{B2319CFA-D116-4795-8CE2-9EC724FE2A43}"/>
              </a:ext>
            </a:extLst>
          </p:cNvPr>
          <p:cNvSpPr txBox="1"/>
          <p:nvPr/>
        </p:nvSpPr>
        <p:spPr>
          <a:xfrm>
            <a:off x="4757836" y="151273"/>
            <a:ext cx="2241255" cy="523220"/>
          </a:xfrm>
          <a:prstGeom prst="rect">
            <a:avLst/>
          </a:prstGeom>
          <a:noFill/>
        </p:spPr>
        <p:txBody>
          <a:bodyPr wrap="none" rtlCol="0">
            <a:spAutoFit/>
          </a:bodyPr>
          <a:lstStyle/>
          <a:p>
            <a:r>
              <a:rPr lang="en-US" altLang="zh-TW" sz="2800" b="1" i="1" kern="100" dirty="0">
                <a:latin typeface="Times New Roman" panose="02020603050405020304" pitchFamily="18" charset="0"/>
                <a:ea typeface="標楷體" panose="03000509000000000000" pitchFamily="65" charset="-120"/>
                <a:cs typeface="Times New Roman" panose="02020603050405020304" pitchFamily="18" charset="0"/>
              </a:rPr>
              <a:t>CW operation</a:t>
            </a:r>
            <a:endParaRPr lang="zh-TW" altLang="zh-TW" sz="28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9016397"/>
      </p:ext>
    </p:extLst>
  </p:cSld>
  <p:clrMapOvr>
    <a:masterClrMapping/>
  </p:clrMapOvr>
  <p:transition spd="med">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4" name="內容版面配置區 3">
            <a:extLst>
              <a:ext uri="{FF2B5EF4-FFF2-40B4-BE49-F238E27FC236}">
                <a16:creationId xmlns:a16="http://schemas.microsoft.com/office/drawing/2014/main" id="{F081A76A-1BFB-432A-8E5E-F78A135F023B}"/>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a:xfrm>
            <a:off x="7387861" y="4731465"/>
            <a:ext cx="918556" cy="465513"/>
          </a:xfrm>
          <a:ln>
            <a:noFill/>
          </a:ln>
        </p:spPr>
      </p:pic>
      <p:sp>
        <p:nvSpPr>
          <p:cNvPr id="336" name="矩形 335">
            <a:extLst>
              <a:ext uri="{FF2B5EF4-FFF2-40B4-BE49-F238E27FC236}">
                <a16:creationId xmlns:a16="http://schemas.microsoft.com/office/drawing/2014/main" id="{6F263506-DD85-42F8-91E5-860ED19B3639}"/>
              </a:ext>
            </a:extLst>
          </p:cNvPr>
          <p:cNvSpPr/>
          <p:nvPr/>
        </p:nvSpPr>
        <p:spPr>
          <a:xfrm>
            <a:off x="7453240" y="4699590"/>
            <a:ext cx="781647"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37" name="矩形 336">
            <a:extLst>
              <a:ext uri="{FF2B5EF4-FFF2-40B4-BE49-F238E27FC236}">
                <a16:creationId xmlns:a16="http://schemas.microsoft.com/office/drawing/2014/main" id="{27061882-596F-4140-A104-2A92E672C400}"/>
              </a:ext>
            </a:extLst>
          </p:cNvPr>
          <p:cNvSpPr/>
          <p:nvPr/>
        </p:nvSpPr>
        <p:spPr>
          <a:xfrm>
            <a:off x="7445644" y="5144670"/>
            <a:ext cx="789244"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4690872" y="226199"/>
            <a:ext cx="2966372" cy="461665"/>
          </a:xfrm>
          <a:prstGeom prst="rect">
            <a:avLst/>
          </a:prstGeom>
          <a:noFill/>
        </p:spPr>
        <p:txBody>
          <a:bodyPr wrap="square" rtlCol="0">
            <a:spAutoFit/>
          </a:bodyPr>
          <a:lstStyle/>
          <a:p>
            <a:r>
              <a:rPr lang="en-US" altLang="zh-TW" sz="2400" b="1" i="1" kern="100" dirty="0">
                <a:latin typeface="Times New Roman" panose="02020603050405020304" pitchFamily="18" charset="0"/>
                <a:ea typeface="標楷體" panose="03000509000000000000" pitchFamily="65" charset="-120"/>
                <a:cs typeface="Times New Roman" panose="02020603050405020304" pitchFamily="18" charset="0"/>
              </a:rPr>
              <a:t>Q-switched operation</a:t>
            </a:r>
            <a:endParaRPr lang="zh-TW" altLang="zh-TW" sz="2400" kern="100" dirty="0">
              <a:latin typeface="Calibri" panose="020F0502020204030204" pitchFamily="34" charset="0"/>
              <a:cs typeface="Times New Roman" panose="02020603050405020304" pitchFamily="18" charset="0"/>
            </a:endParaRPr>
          </a:p>
        </p:txBody>
      </p:sp>
      <p:grpSp>
        <p:nvGrpSpPr>
          <p:cNvPr id="281" name="群組 280">
            <a:extLst>
              <a:ext uri="{FF2B5EF4-FFF2-40B4-BE49-F238E27FC236}">
                <a16:creationId xmlns:a16="http://schemas.microsoft.com/office/drawing/2014/main" id="{F71EF977-1393-4854-AABF-921B4B061EFB}"/>
              </a:ext>
            </a:extLst>
          </p:cNvPr>
          <p:cNvGrpSpPr/>
          <p:nvPr/>
        </p:nvGrpSpPr>
        <p:grpSpPr>
          <a:xfrm>
            <a:off x="5876589" y="4302992"/>
            <a:ext cx="690497" cy="1217742"/>
            <a:chOff x="6144190" y="3829206"/>
            <a:chExt cx="690497" cy="1217742"/>
          </a:xfrm>
        </p:grpSpPr>
        <p:sp>
          <p:nvSpPr>
            <p:cNvPr id="282" name="矩形 281">
              <a:extLst>
                <a:ext uri="{FF2B5EF4-FFF2-40B4-BE49-F238E27FC236}">
                  <a16:creationId xmlns:a16="http://schemas.microsoft.com/office/drawing/2014/main" id="{7D25597D-8822-46C7-A0D2-3BEF2280AA34}"/>
                </a:ext>
              </a:extLst>
            </p:cNvPr>
            <p:cNvSpPr/>
            <p:nvPr/>
          </p:nvSpPr>
          <p:spPr>
            <a:xfrm>
              <a:off x="6144190" y="3829206"/>
              <a:ext cx="422167" cy="1174767"/>
            </a:xfrm>
            <a:prstGeom prst="rect">
              <a:avLst/>
            </a:prstGeom>
            <a:solidFill>
              <a:schemeClr val="tx1">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83" name="橢圓 282">
              <a:extLst>
                <a:ext uri="{FF2B5EF4-FFF2-40B4-BE49-F238E27FC236}">
                  <a16:creationId xmlns:a16="http://schemas.microsoft.com/office/drawing/2014/main" id="{2A842A7F-D437-4840-8410-900FD65BE0B8}"/>
                </a:ext>
              </a:extLst>
            </p:cNvPr>
            <p:cNvSpPr/>
            <p:nvPr/>
          </p:nvSpPr>
          <p:spPr>
            <a:xfrm>
              <a:off x="6319117" y="3831976"/>
              <a:ext cx="486938" cy="119417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84" name="橢圓 283">
              <a:extLst>
                <a:ext uri="{FF2B5EF4-FFF2-40B4-BE49-F238E27FC236}">
                  <a16:creationId xmlns:a16="http://schemas.microsoft.com/office/drawing/2014/main" id="{6E3ABF1C-EE87-4D58-A8BB-D4654B1EE444}"/>
                </a:ext>
              </a:extLst>
            </p:cNvPr>
            <p:cNvSpPr/>
            <p:nvPr/>
          </p:nvSpPr>
          <p:spPr>
            <a:xfrm>
              <a:off x="6347749" y="3829206"/>
              <a:ext cx="486938" cy="1217742"/>
            </a:xfrm>
            <a:prstGeom prst="ellipse">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grpSp>
      <p:sp>
        <p:nvSpPr>
          <p:cNvPr id="285" name="手繪多邊形 31">
            <a:extLst>
              <a:ext uri="{FF2B5EF4-FFF2-40B4-BE49-F238E27FC236}">
                <a16:creationId xmlns:a16="http://schemas.microsoft.com/office/drawing/2014/main" id="{2CD9AFCF-0AD1-41DA-89DA-2EAB5C001166}"/>
              </a:ext>
            </a:extLst>
          </p:cNvPr>
          <p:cNvSpPr/>
          <p:nvPr/>
        </p:nvSpPr>
        <p:spPr>
          <a:xfrm>
            <a:off x="6085934" y="5010384"/>
            <a:ext cx="4352174" cy="128739"/>
          </a:xfrm>
          <a:custGeom>
            <a:avLst/>
            <a:gdLst>
              <a:gd name="connsiteX0" fmla="*/ 0 w 2876550"/>
              <a:gd name="connsiteY0" fmla="*/ 70100 h 70100"/>
              <a:gd name="connsiteX1" fmla="*/ 914400 w 2876550"/>
              <a:gd name="connsiteY1" fmla="*/ 3425 h 70100"/>
              <a:gd name="connsiteX2" fmla="*/ 2876550 w 2876550"/>
              <a:gd name="connsiteY2" fmla="*/ 12950 h 70100"/>
            </a:gdLst>
            <a:ahLst/>
            <a:cxnLst>
              <a:cxn ang="0">
                <a:pos x="connsiteX0" y="connsiteY0"/>
              </a:cxn>
              <a:cxn ang="0">
                <a:pos x="connsiteX1" y="connsiteY1"/>
              </a:cxn>
              <a:cxn ang="0">
                <a:pos x="connsiteX2" y="connsiteY2"/>
              </a:cxn>
            </a:cxnLst>
            <a:rect l="l" t="t" r="r" b="b"/>
            <a:pathLst>
              <a:path w="2876550" h="70100">
                <a:moveTo>
                  <a:pt x="0" y="70100"/>
                </a:moveTo>
                <a:cubicBezTo>
                  <a:pt x="217487" y="41525"/>
                  <a:pt x="434975" y="12950"/>
                  <a:pt x="914400" y="3425"/>
                </a:cubicBezTo>
                <a:cubicBezTo>
                  <a:pt x="1393825" y="-6100"/>
                  <a:pt x="2573338" y="6600"/>
                  <a:pt x="2876550" y="1295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86" name="手繪多邊形 30">
            <a:extLst>
              <a:ext uri="{FF2B5EF4-FFF2-40B4-BE49-F238E27FC236}">
                <a16:creationId xmlns:a16="http://schemas.microsoft.com/office/drawing/2014/main" id="{7938F10D-4ECE-4EAD-9867-C8AD0680F681}"/>
              </a:ext>
            </a:extLst>
          </p:cNvPr>
          <p:cNvSpPr/>
          <p:nvPr/>
        </p:nvSpPr>
        <p:spPr>
          <a:xfrm>
            <a:off x="6080148" y="4666326"/>
            <a:ext cx="4357960" cy="211571"/>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sp>
        <p:nvSpPr>
          <p:cNvPr id="287" name="向右箭號 8">
            <a:extLst>
              <a:ext uri="{FF2B5EF4-FFF2-40B4-BE49-F238E27FC236}">
                <a16:creationId xmlns:a16="http://schemas.microsoft.com/office/drawing/2014/main" id="{F37EE0D5-CCA9-4998-BAD5-4698E94C6C9A}"/>
              </a:ext>
            </a:extLst>
          </p:cNvPr>
          <p:cNvSpPr/>
          <p:nvPr/>
        </p:nvSpPr>
        <p:spPr>
          <a:xfrm>
            <a:off x="10406129" y="4779875"/>
            <a:ext cx="978671" cy="359248"/>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88" name="立方體 287">
            <a:extLst>
              <a:ext uri="{FF2B5EF4-FFF2-40B4-BE49-F238E27FC236}">
                <a16:creationId xmlns:a16="http://schemas.microsoft.com/office/drawing/2014/main" id="{F23DC8A2-1C15-4CD9-95BC-A42ED1E88E7C}"/>
              </a:ext>
            </a:extLst>
          </p:cNvPr>
          <p:cNvSpPr/>
          <p:nvPr/>
        </p:nvSpPr>
        <p:spPr>
          <a:xfrm>
            <a:off x="138974" y="1691450"/>
            <a:ext cx="1463649" cy="2592288"/>
          </a:xfrm>
          <a:prstGeom prst="cube">
            <a:avLst/>
          </a:prstGeom>
          <a:solidFill>
            <a:schemeClr val="tx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9" name="矩形 288">
            <a:extLst>
              <a:ext uri="{FF2B5EF4-FFF2-40B4-BE49-F238E27FC236}">
                <a16:creationId xmlns:a16="http://schemas.microsoft.com/office/drawing/2014/main" id="{AA330865-153B-427A-B98C-BBB34F8B69AE}"/>
              </a:ext>
            </a:extLst>
          </p:cNvPr>
          <p:cNvSpPr/>
          <p:nvPr/>
        </p:nvSpPr>
        <p:spPr>
          <a:xfrm>
            <a:off x="339873" y="2392583"/>
            <a:ext cx="736628" cy="23973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0" name="文字方塊 289">
            <a:extLst>
              <a:ext uri="{FF2B5EF4-FFF2-40B4-BE49-F238E27FC236}">
                <a16:creationId xmlns:a16="http://schemas.microsoft.com/office/drawing/2014/main" id="{28ED124D-A595-4373-8194-D65260944B06}"/>
              </a:ext>
            </a:extLst>
          </p:cNvPr>
          <p:cNvSpPr txBox="1"/>
          <p:nvPr/>
        </p:nvSpPr>
        <p:spPr>
          <a:xfrm>
            <a:off x="342417" y="2312394"/>
            <a:ext cx="683760" cy="400110"/>
          </a:xfrm>
          <a:prstGeom prst="rect">
            <a:avLst/>
          </a:prstGeom>
          <a:noFill/>
        </p:spPr>
        <p:txBody>
          <a:bodyPr wrap="square" rtlCol="0">
            <a:spAutoFit/>
          </a:bodyPr>
          <a:lstStyle/>
          <a:p>
            <a:r>
              <a:rPr lang="en-US" altLang="zh-TW" sz="1000" dirty="0">
                <a:latin typeface="Times New Roman" panose="02020603050405020304" pitchFamily="18" charset="0"/>
                <a:ea typeface="Cambria Math" panose="02040503050406030204" pitchFamily="18" charset="0"/>
                <a:cs typeface="Times New Roman" panose="02020603050405020304" pitchFamily="18" charset="0"/>
              </a:rPr>
              <a:t>I:7.0A</a:t>
            </a:r>
          </a:p>
          <a:p>
            <a:r>
              <a:rPr lang="en-US" altLang="zh-TW" sz="1000" dirty="0">
                <a:latin typeface="Times New Roman" panose="02020603050405020304" pitchFamily="18" charset="0"/>
                <a:ea typeface="Cambria Math" panose="02040503050406030204" pitchFamily="18" charset="0"/>
                <a:cs typeface="Times New Roman" panose="02020603050405020304" pitchFamily="18" charset="0"/>
              </a:rPr>
              <a:t>V:23.2V</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1" name="橢圓 290">
            <a:extLst>
              <a:ext uri="{FF2B5EF4-FFF2-40B4-BE49-F238E27FC236}">
                <a16:creationId xmlns:a16="http://schemas.microsoft.com/office/drawing/2014/main" id="{A7B99259-CDCF-4105-B6B3-71FA7959192E}"/>
              </a:ext>
            </a:extLst>
          </p:cNvPr>
          <p:cNvSpPr/>
          <p:nvPr/>
        </p:nvSpPr>
        <p:spPr>
          <a:xfrm>
            <a:off x="189398" y="2770036"/>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ea typeface="Cambria Math" panose="02040503050406030204" pitchFamily="18" charset="0"/>
                <a:cs typeface="Times New Roman" panose="02020603050405020304" pitchFamily="18" charset="0"/>
              </a:rPr>
              <a:t>T</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2" name="橢圓 291">
            <a:extLst>
              <a:ext uri="{FF2B5EF4-FFF2-40B4-BE49-F238E27FC236}">
                <a16:creationId xmlns:a16="http://schemas.microsoft.com/office/drawing/2014/main" id="{F0C7C309-3492-4823-8199-F47CA84F32BD}"/>
              </a:ext>
            </a:extLst>
          </p:cNvPr>
          <p:cNvSpPr/>
          <p:nvPr/>
        </p:nvSpPr>
        <p:spPr>
          <a:xfrm>
            <a:off x="406839" y="2771570"/>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ea typeface="Cambria Math" panose="02040503050406030204" pitchFamily="18" charset="0"/>
                <a:cs typeface="Times New Roman" panose="02020603050405020304" pitchFamily="18" charset="0"/>
              </a:rPr>
              <a:t>C</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3" name="橢圓 292">
            <a:extLst>
              <a:ext uri="{FF2B5EF4-FFF2-40B4-BE49-F238E27FC236}">
                <a16:creationId xmlns:a16="http://schemas.microsoft.com/office/drawing/2014/main" id="{A5AA362B-DA22-4880-B036-B0B282484608}"/>
              </a:ext>
            </a:extLst>
          </p:cNvPr>
          <p:cNvSpPr/>
          <p:nvPr/>
        </p:nvSpPr>
        <p:spPr>
          <a:xfrm>
            <a:off x="288684" y="3062366"/>
            <a:ext cx="475869" cy="41002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a:latin typeface="Times New Roman" panose="02020603050405020304" pitchFamily="18" charset="0"/>
                <a:ea typeface="Cambria Math" panose="02040503050406030204" pitchFamily="18" charset="0"/>
                <a:cs typeface="Times New Roman" panose="02020603050405020304" pitchFamily="18" charset="0"/>
              </a:rPr>
              <a:t>on</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4" name="橢圓 293">
            <a:extLst>
              <a:ext uri="{FF2B5EF4-FFF2-40B4-BE49-F238E27FC236}">
                <a16:creationId xmlns:a16="http://schemas.microsoft.com/office/drawing/2014/main" id="{016E6740-7B44-4A37-B9D0-6893406E0634}"/>
              </a:ext>
            </a:extLst>
          </p:cNvPr>
          <p:cNvSpPr/>
          <p:nvPr/>
        </p:nvSpPr>
        <p:spPr>
          <a:xfrm>
            <a:off x="1052758" y="2771570"/>
            <a:ext cx="166336" cy="17264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5" name="橢圓 294">
            <a:extLst>
              <a:ext uri="{FF2B5EF4-FFF2-40B4-BE49-F238E27FC236}">
                <a16:creationId xmlns:a16="http://schemas.microsoft.com/office/drawing/2014/main" id="{7EB8BE72-670F-45D5-A08A-5CD70648F17B}"/>
              </a:ext>
            </a:extLst>
          </p:cNvPr>
          <p:cNvSpPr/>
          <p:nvPr/>
        </p:nvSpPr>
        <p:spPr>
          <a:xfrm>
            <a:off x="1120175" y="2835725"/>
            <a:ext cx="35303" cy="4142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96" name="橢圓 295">
            <a:extLst>
              <a:ext uri="{FF2B5EF4-FFF2-40B4-BE49-F238E27FC236}">
                <a16:creationId xmlns:a16="http://schemas.microsoft.com/office/drawing/2014/main" id="{9B55371E-BBD5-4181-A39B-F587E6CC1E57}"/>
              </a:ext>
            </a:extLst>
          </p:cNvPr>
          <p:cNvSpPr/>
          <p:nvPr/>
        </p:nvSpPr>
        <p:spPr>
          <a:xfrm>
            <a:off x="621446" y="2771570"/>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7" name="等腰三角形 296">
            <a:extLst>
              <a:ext uri="{FF2B5EF4-FFF2-40B4-BE49-F238E27FC236}">
                <a16:creationId xmlns:a16="http://schemas.microsoft.com/office/drawing/2014/main" id="{361F0141-5C9D-408D-9F43-BC140D9207D2}"/>
              </a:ext>
            </a:extLst>
          </p:cNvPr>
          <p:cNvSpPr/>
          <p:nvPr/>
        </p:nvSpPr>
        <p:spPr>
          <a:xfrm>
            <a:off x="644324" y="2802565"/>
            <a:ext cx="116888" cy="89251"/>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98" name="橢圓 297">
            <a:extLst>
              <a:ext uri="{FF2B5EF4-FFF2-40B4-BE49-F238E27FC236}">
                <a16:creationId xmlns:a16="http://schemas.microsoft.com/office/drawing/2014/main" id="{FE3296A9-8E48-4DFA-9DFF-CFB855090498}"/>
              </a:ext>
            </a:extLst>
          </p:cNvPr>
          <p:cNvSpPr/>
          <p:nvPr/>
        </p:nvSpPr>
        <p:spPr>
          <a:xfrm>
            <a:off x="837470" y="2771570"/>
            <a:ext cx="165600" cy="172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9" name="等腰三角形 298">
            <a:extLst>
              <a:ext uri="{FF2B5EF4-FFF2-40B4-BE49-F238E27FC236}">
                <a16:creationId xmlns:a16="http://schemas.microsoft.com/office/drawing/2014/main" id="{1660A66A-73C4-45AB-A8AC-936E612E530B}"/>
              </a:ext>
            </a:extLst>
          </p:cNvPr>
          <p:cNvSpPr/>
          <p:nvPr/>
        </p:nvSpPr>
        <p:spPr>
          <a:xfrm rot="10800000">
            <a:off x="867478" y="2814695"/>
            <a:ext cx="104503" cy="10774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00" name="橢圓 299">
            <a:extLst>
              <a:ext uri="{FF2B5EF4-FFF2-40B4-BE49-F238E27FC236}">
                <a16:creationId xmlns:a16="http://schemas.microsoft.com/office/drawing/2014/main" id="{FCDD4958-3DD1-43BB-B90C-A5F7DF3CA132}"/>
              </a:ext>
            </a:extLst>
          </p:cNvPr>
          <p:cNvSpPr/>
          <p:nvPr/>
        </p:nvSpPr>
        <p:spPr>
          <a:xfrm>
            <a:off x="4757836" y="4307362"/>
            <a:ext cx="124989" cy="1200512"/>
          </a:xfrm>
          <a:prstGeom prst="ellipse">
            <a:avLst/>
          </a:prstGeom>
          <a:solidFill>
            <a:schemeClr val="bg1">
              <a:lumMod val="65000"/>
            </a:schemeClr>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301" name="直線單箭頭接點 300">
            <a:extLst>
              <a:ext uri="{FF2B5EF4-FFF2-40B4-BE49-F238E27FC236}">
                <a16:creationId xmlns:a16="http://schemas.microsoft.com/office/drawing/2014/main" id="{F6FDA503-47F3-47AE-869E-BBDA3A6343DD}"/>
              </a:ext>
            </a:extLst>
          </p:cNvPr>
          <p:cNvCxnSpPr/>
          <p:nvPr/>
        </p:nvCxnSpPr>
        <p:spPr>
          <a:xfrm>
            <a:off x="4242179" y="4911863"/>
            <a:ext cx="533961" cy="420200"/>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302" name="直線單箭頭接點 301">
            <a:extLst>
              <a:ext uri="{FF2B5EF4-FFF2-40B4-BE49-F238E27FC236}">
                <a16:creationId xmlns:a16="http://schemas.microsoft.com/office/drawing/2014/main" id="{6556EB1E-3F76-4398-A3AC-D7E75662245E}"/>
              </a:ext>
            </a:extLst>
          </p:cNvPr>
          <p:cNvCxnSpPr/>
          <p:nvPr/>
        </p:nvCxnSpPr>
        <p:spPr>
          <a:xfrm flipV="1">
            <a:off x="4230260" y="4483173"/>
            <a:ext cx="545880" cy="415155"/>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303" name="文字方塊 302">
            <a:extLst>
              <a:ext uri="{FF2B5EF4-FFF2-40B4-BE49-F238E27FC236}">
                <a16:creationId xmlns:a16="http://schemas.microsoft.com/office/drawing/2014/main" id="{B6BCBBE9-B8ED-44BA-84C7-DBC55AA8ADFF}"/>
              </a:ext>
            </a:extLst>
          </p:cNvPr>
          <p:cNvSpPr txBox="1"/>
          <p:nvPr/>
        </p:nvSpPr>
        <p:spPr>
          <a:xfrm>
            <a:off x="2552175" y="5139123"/>
            <a:ext cx="2478485" cy="584775"/>
          </a:xfrm>
          <a:prstGeom prst="rect">
            <a:avLst/>
          </a:prstGeom>
          <a:noFill/>
        </p:spPr>
        <p:txBody>
          <a:bodyPr wrap="square" rtlCol="0">
            <a:spAutoFit/>
          </a:bodyPr>
          <a:lstStyle/>
          <a:p>
            <a:pPr algn="ctr"/>
            <a:r>
              <a:rPr lang="en-US" altLang="zh-TW" sz="1600" dirty="0">
                <a:latin typeface="Times New Roman" panose="02020603050405020304" pitchFamily="18" charset="0"/>
                <a:ea typeface="Cambria Math" panose="02040503050406030204" pitchFamily="18" charset="0"/>
                <a:cs typeface="Times New Roman" panose="02020603050405020304" pitchFamily="18" charset="0"/>
              </a:rPr>
              <a:t>Fiber Coupled</a:t>
            </a:r>
          </a:p>
          <a:p>
            <a:pPr algn="ctr"/>
            <a:r>
              <a:rPr lang="en-US" altLang="zh-TW" sz="1600" dirty="0">
                <a:latin typeface="Times New Roman" panose="02020603050405020304" pitchFamily="18" charset="0"/>
                <a:ea typeface="Cambria Math" panose="02040503050406030204" pitchFamily="18" charset="0"/>
                <a:cs typeface="Times New Roman" panose="02020603050405020304" pitchFamily="18" charset="0"/>
              </a:rPr>
              <a:t>809nm laser diode </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5" name="文字方塊 304">
                <a:extLst>
                  <a:ext uri="{FF2B5EF4-FFF2-40B4-BE49-F238E27FC236}">
                    <a16:creationId xmlns:a16="http://schemas.microsoft.com/office/drawing/2014/main" id="{F63292F9-0CC6-4509-81C5-5DD3E0C26243}"/>
                  </a:ext>
                </a:extLst>
              </p:cNvPr>
              <p:cNvSpPr txBox="1"/>
              <p:nvPr/>
            </p:nvSpPr>
            <p:spPr>
              <a:xfrm>
                <a:off x="6329628" y="5291850"/>
                <a:ext cx="104169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smtClean="0">
                          <a:latin typeface="Cambria Math" panose="02040503050406030204" pitchFamily="18" charset="0"/>
                          <a:ea typeface="Cambria Math" panose="02040503050406030204" pitchFamily="18" charset="0"/>
                        </a:rPr>
                        <m:t>N</m:t>
                      </m:r>
                      <m:r>
                        <m:rPr>
                          <m:sty m:val="p"/>
                        </m:rPr>
                        <a:rPr lang="en-US" altLang="zh-TW" sz="1600" b="0" i="0" smtClean="0">
                          <a:latin typeface="Cambria Math" panose="02040503050406030204" pitchFamily="18" charset="0"/>
                          <a:ea typeface="Cambria Math" panose="02040503050406030204" pitchFamily="18" charset="0"/>
                        </a:rPr>
                        <m:t>d</m:t>
                      </m:r>
                      <m:r>
                        <a:rPr lang="en-US" altLang="zh-TW" sz="1600" b="0" i="0" smtClean="0">
                          <a:latin typeface="Cambria Math" panose="02040503050406030204" pitchFamily="18" charset="0"/>
                          <a:ea typeface="Cambria Math" panose="02040503050406030204" pitchFamily="18" charset="0"/>
                        </a:rPr>
                        <m:t>:</m:t>
                      </m:r>
                      <m:r>
                        <m:rPr>
                          <m:sty m:val="p"/>
                        </m:rPr>
                        <a:rPr lang="en-US" altLang="zh-TW" sz="1600" b="0" i="0" smtClean="0">
                          <a:latin typeface="Cambria Math" panose="02040503050406030204" pitchFamily="18" charset="0"/>
                          <a:ea typeface="Cambria Math" panose="02040503050406030204" pitchFamily="18" charset="0"/>
                        </a:rPr>
                        <m:t>YV</m:t>
                      </m:r>
                      <m:sSub>
                        <m:sSubPr>
                          <m:ctrlPr>
                            <a:rPr lang="en-US" altLang="zh-TW" sz="1600" i="1" smtClean="0">
                              <a:latin typeface="Cambria Math" panose="02040503050406030204" pitchFamily="18" charset="0"/>
                              <a:ea typeface="Cambria Math" panose="02040503050406030204" pitchFamily="18" charset="0"/>
                            </a:rPr>
                          </m:ctrlPr>
                        </m:sSubPr>
                        <m:e>
                          <m:r>
                            <m:rPr>
                              <m:sty m:val="p"/>
                            </m:rPr>
                            <a:rPr lang="en-US" altLang="zh-TW" sz="1600" b="0" i="0" smtClean="0">
                              <a:latin typeface="Cambria Math" panose="02040503050406030204" pitchFamily="18" charset="0"/>
                              <a:ea typeface="Cambria Math" panose="02040503050406030204" pitchFamily="18" charset="0"/>
                            </a:rPr>
                            <m:t>O</m:t>
                          </m:r>
                        </m:e>
                        <m:sub>
                          <m:r>
                            <a:rPr lang="en-US" altLang="zh-TW" sz="1600" b="0" i="0" smtClean="0">
                              <a:latin typeface="Cambria Math" panose="02040503050406030204" pitchFamily="18" charset="0"/>
                              <a:ea typeface="Cambria Math" panose="02040503050406030204" pitchFamily="18" charset="0"/>
                            </a:rPr>
                            <m:t>4</m:t>
                          </m:r>
                        </m:sub>
                      </m:sSub>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305" name="文字方塊 304">
                <a:extLst>
                  <a:ext uri="{FF2B5EF4-FFF2-40B4-BE49-F238E27FC236}">
                    <a16:creationId xmlns:a16="http://schemas.microsoft.com/office/drawing/2014/main" id="{F63292F9-0CC6-4509-81C5-5DD3E0C26243}"/>
                  </a:ext>
                </a:extLst>
              </p:cNvPr>
              <p:cNvSpPr txBox="1">
                <a:spLocks noRot="1" noChangeAspect="1" noMove="1" noResize="1" noEditPoints="1" noAdjustHandles="1" noChangeArrowheads="1" noChangeShapeType="1" noTextEdit="1"/>
              </p:cNvSpPr>
              <p:nvPr/>
            </p:nvSpPr>
            <p:spPr>
              <a:xfrm>
                <a:off x="6329628" y="5291850"/>
                <a:ext cx="1041695" cy="338554"/>
              </a:xfrm>
              <a:prstGeom prst="rect">
                <a:avLst/>
              </a:prstGeom>
              <a:blipFill>
                <a:blip r:embed="rId4"/>
                <a:stretch>
                  <a:fillRect/>
                </a:stretch>
              </a:blipFill>
            </p:spPr>
            <p:txBody>
              <a:bodyPr/>
              <a:lstStyle/>
              <a:p>
                <a:r>
                  <a:rPr lang="zh-TW" altLang="en-US">
                    <a:noFill/>
                  </a:rPr>
                  <a:t> </a:t>
                </a:r>
              </a:p>
            </p:txBody>
          </p:sp>
        </mc:Fallback>
      </mc:AlternateContent>
      <p:cxnSp>
        <p:nvCxnSpPr>
          <p:cNvPr id="306" name="直線單箭頭接點 305">
            <a:extLst>
              <a:ext uri="{FF2B5EF4-FFF2-40B4-BE49-F238E27FC236}">
                <a16:creationId xmlns:a16="http://schemas.microsoft.com/office/drawing/2014/main" id="{8A34D0AF-874C-4D64-A318-5E26C8E7BD7D}"/>
              </a:ext>
            </a:extLst>
          </p:cNvPr>
          <p:cNvCxnSpPr>
            <a:endCxn id="314" idx="3"/>
          </p:cNvCxnSpPr>
          <p:nvPr/>
        </p:nvCxnSpPr>
        <p:spPr>
          <a:xfrm flipV="1">
            <a:off x="4864521" y="5229432"/>
            <a:ext cx="533297" cy="102631"/>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307" name="直線單箭頭接點 306">
            <a:extLst>
              <a:ext uri="{FF2B5EF4-FFF2-40B4-BE49-F238E27FC236}">
                <a16:creationId xmlns:a16="http://schemas.microsoft.com/office/drawing/2014/main" id="{A6C768D1-A83D-4E58-AC14-F2438AB24BC9}"/>
              </a:ext>
            </a:extLst>
          </p:cNvPr>
          <p:cNvCxnSpPr>
            <a:stCxn id="314" idx="7"/>
          </p:cNvCxnSpPr>
          <p:nvPr/>
        </p:nvCxnSpPr>
        <p:spPr>
          <a:xfrm>
            <a:off x="5486199" y="4580367"/>
            <a:ext cx="399711" cy="55560"/>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308" name="文字方塊 307">
            <a:extLst>
              <a:ext uri="{FF2B5EF4-FFF2-40B4-BE49-F238E27FC236}">
                <a16:creationId xmlns:a16="http://schemas.microsoft.com/office/drawing/2014/main" id="{28909D50-338F-415C-8072-002B06F97135}"/>
              </a:ext>
            </a:extLst>
          </p:cNvPr>
          <p:cNvSpPr txBox="1"/>
          <p:nvPr/>
        </p:nvSpPr>
        <p:spPr>
          <a:xfrm>
            <a:off x="5637015" y="5517462"/>
            <a:ext cx="797013" cy="307777"/>
          </a:xfrm>
          <a:prstGeom prst="rect">
            <a:avLst/>
          </a:prstGeom>
          <a:noFill/>
        </p:spPr>
        <p:txBody>
          <a:bodyPr wrap="none" rtlCol="0">
            <a:spAutoFit/>
          </a:bodyPr>
          <a:lstStyle/>
          <a:p>
            <a:r>
              <a:rPr lang="en-US" altLang="zh-TW" sz="1400" dirty="0">
                <a:latin typeface="Times New Roman" panose="02020603050405020304" pitchFamily="18" charset="0"/>
                <a:ea typeface="Cambria Math" panose="02040503050406030204" pitchFamily="18" charset="0"/>
                <a:cs typeface="Times New Roman" panose="02020603050405020304" pitchFamily="18" charset="0"/>
              </a:rPr>
              <a:t>Mirror 1</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309" name="直線單箭頭接點 308">
            <a:extLst>
              <a:ext uri="{FF2B5EF4-FFF2-40B4-BE49-F238E27FC236}">
                <a16:creationId xmlns:a16="http://schemas.microsoft.com/office/drawing/2014/main" id="{C418435C-BEED-431A-B581-2042EEA32295}"/>
              </a:ext>
            </a:extLst>
          </p:cNvPr>
          <p:cNvCxnSpPr>
            <a:endCxn id="314" idx="1"/>
          </p:cNvCxnSpPr>
          <p:nvPr/>
        </p:nvCxnSpPr>
        <p:spPr>
          <a:xfrm>
            <a:off x="4864521" y="4483173"/>
            <a:ext cx="533297" cy="97194"/>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310" name="直線單箭頭接點 309">
            <a:extLst>
              <a:ext uri="{FF2B5EF4-FFF2-40B4-BE49-F238E27FC236}">
                <a16:creationId xmlns:a16="http://schemas.microsoft.com/office/drawing/2014/main" id="{B01A7284-FBA0-4F47-A1B7-2DA91ABCD40E}"/>
              </a:ext>
            </a:extLst>
          </p:cNvPr>
          <p:cNvCxnSpPr>
            <a:stCxn id="314" idx="5"/>
          </p:cNvCxnSpPr>
          <p:nvPr/>
        </p:nvCxnSpPr>
        <p:spPr>
          <a:xfrm flipV="1">
            <a:off x="5486199" y="5217510"/>
            <a:ext cx="430412" cy="1192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sp>
        <p:nvSpPr>
          <p:cNvPr id="311" name="文字方塊 310">
            <a:extLst>
              <a:ext uri="{FF2B5EF4-FFF2-40B4-BE49-F238E27FC236}">
                <a16:creationId xmlns:a16="http://schemas.microsoft.com/office/drawing/2014/main" id="{7509694D-3A73-4B05-B73F-7E2938B6E618}"/>
              </a:ext>
            </a:extLst>
          </p:cNvPr>
          <p:cNvSpPr txBox="1"/>
          <p:nvPr/>
        </p:nvSpPr>
        <p:spPr>
          <a:xfrm>
            <a:off x="1295349" y="4569627"/>
            <a:ext cx="1392369" cy="276999"/>
          </a:xfrm>
          <a:prstGeom prst="rect">
            <a:avLst/>
          </a:prstGeom>
          <a:noFill/>
        </p:spPr>
        <p:txBody>
          <a:bodyPr wrap="none" rtlCol="0">
            <a:spAutoFit/>
          </a:bodyPr>
          <a:lstStyle/>
          <a:p>
            <a:r>
              <a:rPr lang="en-US" altLang="zh-TW" sz="1200" dirty="0">
                <a:latin typeface="Times New Roman" panose="02020603050405020304" pitchFamily="18" charset="0"/>
                <a:ea typeface="Cambria Math" panose="02040503050406030204" pitchFamily="18" charset="0"/>
                <a:cs typeface="Times New Roman" panose="02020603050405020304" pitchFamily="18" charset="0"/>
              </a:rPr>
              <a:t>LIMQ</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200" dirty="0">
                <a:latin typeface="Times New Roman" panose="02020603050405020304" pitchFamily="18" charset="0"/>
                <a:ea typeface="Cambria Math" panose="02040503050406030204" pitchFamily="18" charset="0"/>
                <a:cs typeface="Times New Roman" panose="02020603050405020304" pitchFamily="18" charset="0"/>
              </a:rPr>
              <a:t>laser system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2" name="橢圓 311">
            <a:extLst>
              <a:ext uri="{FF2B5EF4-FFF2-40B4-BE49-F238E27FC236}">
                <a16:creationId xmlns:a16="http://schemas.microsoft.com/office/drawing/2014/main" id="{8F2A24E1-D518-4FA5-8091-301D6EC8B82B}"/>
              </a:ext>
            </a:extLst>
          </p:cNvPr>
          <p:cNvSpPr/>
          <p:nvPr/>
        </p:nvSpPr>
        <p:spPr>
          <a:xfrm>
            <a:off x="557562" y="4811950"/>
            <a:ext cx="120485" cy="12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13" name="橢圓 312">
            <a:extLst>
              <a:ext uri="{FF2B5EF4-FFF2-40B4-BE49-F238E27FC236}">
                <a16:creationId xmlns:a16="http://schemas.microsoft.com/office/drawing/2014/main" id="{8284D6A4-47BC-407E-B7CD-8B7A2A698F7C}"/>
              </a:ext>
            </a:extLst>
          </p:cNvPr>
          <p:cNvSpPr/>
          <p:nvPr/>
        </p:nvSpPr>
        <p:spPr>
          <a:xfrm>
            <a:off x="641852" y="4909993"/>
            <a:ext cx="122400" cy="12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14" name="橢圓 313">
            <a:extLst>
              <a:ext uri="{FF2B5EF4-FFF2-40B4-BE49-F238E27FC236}">
                <a16:creationId xmlns:a16="http://schemas.microsoft.com/office/drawing/2014/main" id="{77F5FD98-A275-4A04-BF45-7760C228EF2B}"/>
              </a:ext>
            </a:extLst>
          </p:cNvPr>
          <p:cNvSpPr/>
          <p:nvPr/>
        </p:nvSpPr>
        <p:spPr>
          <a:xfrm>
            <a:off x="5379514" y="4445941"/>
            <a:ext cx="124989" cy="917917"/>
          </a:xfrm>
          <a:prstGeom prst="ellipse">
            <a:avLst/>
          </a:prstGeom>
          <a:solidFill>
            <a:schemeClr val="bg1">
              <a:lumMod val="65000"/>
            </a:schemeClr>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5" name="圓柱 34">
            <a:extLst>
              <a:ext uri="{FF2B5EF4-FFF2-40B4-BE49-F238E27FC236}">
                <a16:creationId xmlns:a16="http://schemas.microsoft.com/office/drawing/2014/main" id="{B7CE6173-65CB-4997-8AD1-BE3998565463}"/>
              </a:ext>
            </a:extLst>
          </p:cNvPr>
          <p:cNvSpPr/>
          <p:nvPr/>
        </p:nvSpPr>
        <p:spPr>
          <a:xfrm rot="5400000">
            <a:off x="3743545" y="4539004"/>
            <a:ext cx="199300" cy="730327"/>
          </a:xfrm>
          <a:prstGeom prst="can">
            <a:avLst/>
          </a:prstGeom>
          <a:solidFill>
            <a:schemeClr val="tx1">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cxnSp>
        <p:nvCxnSpPr>
          <p:cNvPr id="316" name="肘形接點 35">
            <a:extLst>
              <a:ext uri="{FF2B5EF4-FFF2-40B4-BE49-F238E27FC236}">
                <a16:creationId xmlns:a16="http://schemas.microsoft.com/office/drawing/2014/main" id="{8579CF6A-EABD-4DDF-A8BA-AA6BF66910C7}"/>
              </a:ext>
            </a:extLst>
          </p:cNvPr>
          <p:cNvCxnSpPr>
            <a:stCxn id="288" idx="3"/>
            <a:endCxn id="315" idx="3"/>
          </p:cNvCxnSpPr>
          <p:nvPr/>
        </p:nvCxnSpPr>
        <p:spPr>
          <a:xfrm rot="16200000" flipH="1">
            <a:off x="1772722" y="3198858"/>
            <a:ext cx="620430" cy="2790190"/>
          </a:xfrm>
          <a:prstGeom prst="bentConnector2">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17" name="文字方塊 316">
            <a:extLst>
              <a:ext uri="{FF2B5EF4-FFF2-40B4-BE49-F238E27FC236}">
                <a16:creationId xmlns:a16="http://schemas.microsoft.com/office/drawing/2014/main" id="{2D724454-E67E-41F2-A509-5A8D56ED5EA5}"/>
              </a:ext>
            </a:extLst>
          </p:cNvPr>
          <p:cNvSpPr txBox="1"/>
          <p:nvPr/>
        </p:nvSpPr>
        <p:spPr>
          <a:xfrm>
            <a:off x="202486" y="5894387"/>
            <a:ext cx="7778027" cy="307777"/>
          </a:xfrm>
          <a:prstGeom prst="rect">
            <a:avLst/>
          </a:prstGeom>
          <a:noFill/>
        </p:spPr>
        <p:txBody>
          <a:bodyPr wrap="none" rtlCol="0">
            <a:spAutoFit/>
          </a:bodyPr>
          <a:lstStyle/>
          <a:p>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Mirror 1: Meniscus mirror; ROC=15 cm T~93%@809 nm, HR~99.8%@1064 nm, HR~99.8%@1342 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8" name="橢圓 317">
            <a:extLst>
              <a:ext uri="{FF2B5EF4-FFF2-40B4-BE49-F238E27FC236}">
                <a16:creationId xmlns:a16="http://schemas.microsoft.com/office/drawing/2014/main" id="{4FF26D81-6201-4E10-A065-704431E54347}"/>
              </a:ext>
            </a:extLst>
          </p:cNvPr>
          <p:cNvSpPr/>
          <p:nvPr/>
        </p:nvSpPr>
        <p:spPr>
          <a:xfrm flipH="1">
            <a:off x="11406295" y="5063667"/>
            <a:ext cx="158108" cy="135523"/>
          </a:xfrm>
          <a:prstGeom prst="ellipse">
            <a:avLst/>
          </a:prstGeom>
          <a:solidFill>
            <a:schemeClr val="bg1">
              <a:lumMod val="65000"/>
            </a:schemeClr>
          </a:solidFill>
          <a:effectLst/>
          <a:scene3d>
            <a:camera prst="isometricOffAxis2Top"/>
            <a:lightRig rig="threePt" dir="t"/>
          </a:scene3d>
          <a:sp3d extrusionH="990600"/>
        </p:spPr>
        <p:style>
          <a:lnRef idx="0">
            <a:schemeClr val="accent3"/>
          </a:lnRef>
          <a:fillRef idx="3">
            <a:schemeClr val="accent3"/>
          </a:fillRef>
          <a:effectRef idx="3">
            <a:schemeClr val="accent3"/>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19" name="橢圓 318">
            <a:extLst>
              <a:ext uri="{FF2B5EF4-FFF2-40B4-BE49-F238E27FC236}">
                <a16:creationId xmlns:a16="http://schemas.microsoft.com/office/drawing/2014/main" id="{08D92201-0EEB-41E5-BF88-8F3ABFC00EB4}"/>
              </a:ext>
            </a:extLst>
          </p:cNvPr>
          <p:cNvSpPr/>
          <p:nvPr/>
        </p:nvSpPr>
        <p:spPr>
          <a:xfrm>
            <a:off x="11282842" y="4666326"/>
            <a:ext cx="621665" cy="532864"/>
          </a:xfrm>
          <a:prstGeom prst="ellipse">
            <a:avLst/>
          </a:prstGeom>
          <a:solidFill>
            <a:schemeClr val="bg1">
              <a:lumMod val="65000"/>
            </a:schemeClr>
          </a:solidFill>
          <a:effectLst/>
          <a:scene3d>
            <a:camera prst="isometricOffAxis2Right"/>
            <a:lightRig rig="threePt" dir="t"/>
          </a:scene3d>
          <a:sp3d extrusionH="215900"/>
        </p:spPr>
        <p:style>
          <a:lnRef idx="0">
            <a:schemeClr val="accent3"/>
          </a:lnRef>
          <a:fillRef idx="3">
            <a:schemeClr val="accent3"/>
          </a:fillRef>
          <a:effectRef idx="3">
            <a:schemeClr val="accent3"/>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20" name="文字方塊 319">
            <a:extLst>
              <a:ext uri="{FF2B5EF4-FFF2-40B4-BE49-F238E27FC236}">
                <a16:creationId xmlns:a16="http://schemas.microsoft.com/office/drawing/2014/main" id="{363678FC-ACAB-43F7-8A96-FB299C4D8D80}"/>
              </a:ext>
            </a:extLst>
          </p:cNvPr>
          <p:cNvSpPr txBox="1"/>
          <p:nvPr/>
        </p:nvSpPr>
        <p:spPr>
          <a:xfrm>
            <a:off x="197373" y="6195619"/>
            <a:ext cx="5529078" cy="307777"/>
          </a:xfrm>
          <a:prstGeom prst="rect">
            <a:avLst/>
          </a:prstGeom>
          <a:noFill/>
        </p:spPr>
        <p:txBody>
          <a:bodyPr wrap="none" rtlCol="0">
            <a:spAutoFit/>
          </a:bodyPr>
          <a:lstStyle/>
          <a:p>
            <a:pPr algn="ct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Mirror 2: Plane mirror</a:t>
            </a:r>
            <a:r>
              <a:rPr lang="pt-BR" altLang="zh-TW" sz="1400" b="1" dirty="0">
                <a:latin typeface="Times New Roman" panose="02020603050405020304" pitchFamily="18" charset="0"/>
                <a:ea typeface="標楷體" panose="03000509000000000000" pitchFamily="65" charset="-120"/>
                <a:cs typeface="Times New Roman" panose="02020603050405020304" pitchFamily="18" charset="0"/>
              </a:rPr>
              <a:t>;</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HR~9</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9.908</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342</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nm </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HT~96.256%@1</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064</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1" name="文字方塊 320">
            <a:extLst>
              <a:ext uri="{FF2B5EF4-FFF2-40B4-BE49-F238E27FC236}">
                <a16:creationId xmlns:a16="http://schemas.microsoft.com/office/drawing/2014/main" id="{74569935-DBF7-4AEA-B518-0C020EAE249B}"/>
              </a:ext>
            </a:extLst>
          </p:cNvPr>
          <p:cNvSpPr txBox="1"/>
          <p:nvPr/>
        </p:nvSpPr>
        <p:spPr>
          <a:xfrm>
            <a:off x="189398" y="6450856"/>
            <a:ext cx="5160388" cy="307777"/>
          </a:xfrm>
          <a:prstGeom prst="rect">
            <a:avLst/>
          </a:prstGeom>
          <a:noFill/>
        </p:spPr>
        <p:txBody>
          <a:bodyPr wrap="none" rtlCol="0">
            <a:spAutoFit/>
          </a:bodyPr>
          <a:lstStyle/>
          <a:p>
            <a:pPr algn="ct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Mirror 3: Plane mirror;</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HR~61.3%@1</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064</a:t>
            </a:r>
            <a:r>
              <a:rPr lang="pt-BR"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nm </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HT~99.</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3</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%@1</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342</a:t>
            </a:r>
            <a:r>
              <a:rPr lang="pt-BR" altLang="zh-TW" sz="1400" dirty="0">
                <a:latin typeface="Times New Roman" panose="02020603050405020304" pitchFamily="18" charset="0"/>
                <a:ea typeface="標楷體" panose="03000509000000000000" pitchFamily="65" charset="-120"/>
                <a:cs typeface="Times New Roman" panose="02020603050405020304" pitchFamily="18" charset="0"/>
              </a:rPr>
              <a:t>nm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2" name="文字方塊 321">
            <a:extLst>
              <a:ext uri="{FF2B5EF4-FFF2-40B4-BE49-F238E27FC236}">
                <a16:creationId xmlns:a16="http://schemas.microsoft.com/office/drawing/2014/main" id="{EE285717-5BE6-421A-80D0-FFA1573CACA0}"/>
              </a:ext>
            </a:extLst>
          </p:cNvPr>
          <p:cNvSpPr txBox="1"/>
          <p:nvPr/>
        </p:nvSpPr>
        <p:spPr>
          <a:xfrm>
            <a:off x="9257408" y="5527428"/>
            <a:ext cx="710451" cy="276999"/>
          </a:xfrm>
          <a:prstGeom prst="rect">
            <a:avLst/>
          </a:prstGeom>
          <a:noFill/>
        </p:spPr>
        <p:txBody>
          <a:bodyPr wrap="none" rtlCol="0">
            <a:spAutoFit/>
          </a:bodyPr>
          <a:lstStyle/>
          <a:p>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Mirror 3</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3" name="矩形 322">
            <a:extLst>
              <a:ext uri="{FF2B5EF4-FFF2-40B4-BE49-F238E27FC236}">
                <a16:creationId xmlns:a16="http://schemas.microsoft.com/office/drawing/2014/main" id="{FBA9DECD-9484-4E9D-8BB0-86FAC1EB0FCE}"/>
              </a:ext>
            </a:extLst>
          </p:cNvPr>
          <p:cNvSpPr/>
          <p:nvPr/>
        </p:nvSpPr>
        <p:spPr>
          <a:xfrm>
            <a:off x="9565380" y="4371615"/>
            <a:ext cx="149759" cy="1171997"/>
          </a:xfrm>
          <a:prstGeom prst="rect">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4" name="矩形 323">
            <a:extLst>
              <a:ext uri="{FF2B5EF4-FFF2-40B4-BE49-F238E27FC236}">
                <a16:creationId xmlns:a16="http://schemas.microsoft.com/office/drawing/2014/main" id="{697137DC-2475-4A95-81F5-43A1AE7529D6}"/>
              </a:ext>
            </a:extLst>
          </p:cNvPr>
          <p:cNvSpPr/>
          <p:nvPr/>
        </p:nvSpPr>
        <p:spPr>
          <a:xfrm>
            <a:off x="10344506" y="4376461"/>
            <a:ext cx="150968" cy="1173359"/>
          </a:xfrm>
          <a:prstGeom prst="rect">
            <a:avLst/>
          </a:prstGeom>
          <a:gradFill>
            <a:gsLst>
              <a:gs pos="26000">
                <a:srgbClr val="FF0000">
                  <a:lumMod val="90000"/>
                </a:srgbClr>
              </a:gs>
              <a:gs pos="9000">
                <a:srgbClr val="FFC000"/>
              </a:gs>
              <a:gs pos="62000">
                <a:srgbClr val="FFFF00"/>
              </a:gs>
              <a:gs pos="81000">
                <a:srgbClr val="7030A0"/>
              </a:gs>
              <a:gs pos="97000">
                <a:srgbClr val="00B0F0"/>
              </a:gs>
              <a:gs pos="48000">
                <a:srgbClr val="00B050"/>
              </a:gs>
            </a:gsLst>
            <a:lin ang="5400000" scaled="1"/>
          </a:gra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5" name="文字方塊 324">
            <a:extLst>
              <a:ext uri="{FF2B5EF4-FFF2-40B4-BE49-F238E27FC236}">
                <a16:creationId xmlns:a16="http://schemas.microsoft.com/office/drawing/2014/main" id="{6B7350C3-7F1E-44C3-BCB1-0E79074689E7}"/>
              </a:ext>
            </a:extLst>
          </p:cNvPr>
          <p:cNvSpPr txBox="1"/>
          <p:nvPr/>
        </p:nvSpPr>
        <p:spPr>
          <a:xfrm>
            <a:off x="9715139" y="6189522"/>
            <a:ext cx="1491114" cy="307777"/>
          </a:xfrm>
          <a:prstGeom prst="rect">
            <a:avLst/>
          </a:prstGeom>
          <a:noFill/>
          <a:ln>
            <a:solidFill>
              <a:schemeClr val="tx1"/>
            </a:solidFill>
          </a:ln>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HR@808nm filter</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326" name="直線單箭頭接點 325">
            <a:extLst>
              <a:ext uri="{FF2B5EF4-FFF2-40B4-BE49-F238E27FC236}">
                <a16:creationId xmlns:a16="http://schemas.microsoft.com/office/drawing/2014/main" id="{384427C1-EC43-48AC-B089-551B0B6998F2}"/>
              </a:ext>
            </a:extLst>
          </p:cNvPr>
          <p:cNvCxnSpPr>
            <a:stCxn id="324" idx="2"/>
            <a:endCxn id="325" idx="0"/>
          </p:cNvCxnSpPr>
          <p:nvPr/>
        </p:nvCxnSpPr>
        <p:spPr>
          <a:xfrm>
            <a:off x="10419990" y="5549820"/>
            <a:ext cx="40706" cy="6397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7" name="箭號: 左-右雙向 326">
            <a:extLst>
              <a:ext uri="{FF2B5EF4-FFF2-40B4-BE49-F238E27FC236}">
                <a16:creationId xmlns:a16="http://schemas.microsoft.com/office/drawing/2014/main" id="{237621C4-800D-4F26-B314-F1472773B1CB}"/>
              </a:ext>
            </a:extLst>
          </p:cNvPr>
          <p:cNvSpPr/>
          <p:nvPr/>
        </p:nvSpPr>
        <p:spPr>
          <a:xfrm>
            <a:off x="6329628" y="4083728"/>
            <a:ext cx="2170960" cy="99053"/>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8" name="文字方塊 327">
            <a:extLst>
              <a:ext uri="{FF2B5EF4-FFF2-40B4-BE49-F238E27FC236}">
                <a16:creationId xmlns:a16="http://schemas.microsoft.com/office/drawing/2014/main" id="{18E1C74F-304C-4BBF-BBA5-7B42B3CCF401}"/>
              </a:ext>
            </a:extLst>
          </p:cNvPr>
          <p:cNvSpPr txBox="1"/>
          <p:nvPr/>
        </p:nvSpPr>
        <p:spPr>
          <a:xfrm>
            <a:off x="6966086" y="4106677"/>
            <a:ext cx="784189" cy="369332"/>
          </a:xfrm>
          <a:prstGeom prst="rect">
            <a:avLst/>
          </a:prstGeom>
          <a:noFill/>
        </p:spPr>
        <p:txBody>
          <a:bodyPr wrap="none" rtlCol="0">
            <a:spAutoFit/>
          </a:bodyPr>
          <a:lstStyle/>
          <a:p>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7.4cm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9" name="箭號: 左-右雙向 328">
            <a:extLst>
              <a:ext uri="{FF2B5EF4-FFF2-40B4-BE49-F238E27FC236}">
                <a16:creationId xmlns:a16="http://schemas.microsoft.com/office/drawing/2014/main" id="{03EAE642-2F90-4F5C-9ED5-5F88430DF91F}"/>
              </a:ext>
            </a:extLst>
          </p:cNvPr>
          <p:cNvSpPr/>
          <p:nvPr/>
        </p:nvSpPr>
        <p:spPr>
          <a:xfrm>
            <a:off x="6329627" y="3881554"/>
            <a:ext cx="3235749" cy="99053"/>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0" name="文字方塊 329">
            <a:extLst>
              <a:ext uri="{FF2B5EF4-FFF2-40B4-BE49-F238E27FC236}">
                <a16:creationId xmlns:a16="http://schemas.microsoft.com/office/drawing/2014/main" id="{C32B6E1E-A0B9-4EE1-A673-F4C32941E5C7}"/>
              </a:ext>
            </a:extLst>
          </p:cNvPr>
          <p:cNvSpPr txBox="1"/>
          <p:nvPr/>
        </p:nvSpPr>
        <p:spPr>
          <a:xfrm>
            <a:off x="8584583" y="3541730"/>
            <a:ext cx="710451" cy="369332"/>
          </a:xfrm>
          <a:prstGeom prst="rect">
            <a:avLst/>
          </a:prstGeom>
          <a:noFill/>
        </p:spPr>
        <p:txBody>
          <a:bodyPr wrap="none" rtlCol="0">
            <a:spAutoFit/>
          </a:bodyPr>
          <a:lstStyle/>
          <a:p>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12cm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1" name="手繪多邊形 136">
            <a:extLst>
              <a:ext uri="{FF2B5EF4-FFF2-40B4-BE49-F238E27FC236}">
                <a16:creationId xmlns:a16="http://schemas.microsoft.com/office/drawing/2014/main" id="{D37CC1F5-EB64-46C6-9237-FD0216B22AB9}"/>
              </a:ext>
            </a:extLst>
          </p:cNvPr>
          <p:cNvSpPr/>
          <p:nvPr/>
        </p:nvSpPr>
        <p:spPr>
          <a:xfrm>
            <a:off x="10555584" y="3342640"/>
            <a:ext cx="1417677" cy="2335501"/>
          </a:xfrm>
          <a:custGeom>
            <a:avLst/>
            <a:gdLst>
              <a:gd name="connsiteX0" fmla="*/ 965856 w 1417677"/>
              <a:gd name="connsiteY0" fmla="*/ 1859280 h 2335501"/>
              <a:gd name="connsiteX1" fmla="*/ 1250336 w 1417677"/>
              <a:gd name="connsiteY1" fmla="*/ 2326640 h 2335501"/>
              <a:gd name="connsiteX2" fmla="*/ 1402736 w 1417677"/>
              <a:gd name="connsiteY2" fmla="*/ 1493520 h 2335501"/>
              <a:gd name="connsiteX3" fmla="*/ 884576 w 1417677"/>
              <a:gd name="connsiteY3" fmla="*/ 822960 h 2335501"/>
              <a:gd name="connsiteX4" fmla="*/ 61616 w 1417677"/>
              <a:gd name="connsiteY4" fmla="*/ 467360 h 2335501"/>
              <a:gd name="connsiteX5" fmla="*/ 122576 w 1417677"/>
              <a:gd name="connsiteY5" fmla="*/ 0 h 2335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7677" h="2335501">
                <a:moveTo>
                  <a:pt x="965856" y="1859280"/>
                </a:moveTo>
                <a:cubicBezTo>
                  <a:pt x="1071689" y="2123440"/>
                  <a:pt x="1177523" y="2387600"/>
                  <a:pt x="1250336" y="2326640"/>
                </a:cubicBezTo>
                <a:cubicBezTo>
                  <a:pt x="1323149" y="2265680"/>
                  <a:pt x="1463696" y="1744133"/>
                  <a:pt x="1402736" y="1493520"/>
                </a:cubicBezTo>
                <a:cubicBezTo>
                  <a:pt x="1341776" y="1242907"/>
                  <a:pt x="1108096" y="993987"/>
                  <a:pt x="884576" y="822960"/>
                </a:cubicBezTo>
                <a:cubicBezTo>
                  <a:pt x="661056" y="651933"/>
                  <a:pt x="188616" y="604520"/>
                  <a:pt x="61616" y="467360"/>
                </a:cubicBezTo>
                <a:cubicBezTo>
                  <a:pt x="-65384" y="330200"/>
                  <a:pt x="28596" y="165100"/>
                  <a:pt x="122576" y="0"/>
                </a:cubicBezTo>
              </a:path>
            </a:pathLst>
          </a:cu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2" name="文字方塊 331">
            <a:extLst>
              <a:ext uri="{FF2B5EF4-FFF2-40B4-BE49-F238E27FC236}">
                <a16:creationId xmlns:a16="http://schemas.microsoft.com/office/drawing/2014/main" id="{5DB5AF28-8F3F-4DE1-BF9D-131B15947D36}"/>
              </a:ext>
            </a:extLst>
          </p:cNvPr>
          <p:cNvSpPr txBox="1"/>
          <p:nvPr/>
        </p:nvSpPr>
        <p:spPr>
          <a:xfrm>
            <a:off x="8234002" y="5504164"/>
            <a:ext cx="710451" cy="276999"/>
          </a:xfrm>
          <a:prstGeom prst="rect">
            <a:avLst/>
          </a:prstGeom>
          <a:noFill/>
        </p:spPr>
        <p:txBody>
          <a:bodyPr wrap="none" rtlCol="0">
            <a:spAutoFit/>
          </a:bodyPr>
          <a:lstStyle/>
          <a:p>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Mirror 2</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3" name="矩形 332">
            <a:extLst>
              <a:ext uri="{FF2B5EF4-FFF2-40B4-BE49-F238E27FC236}">
                <a16:creationId xmlns:a16="http://schemas.microsoft.com/office/drawing/2014/main" id="{CBE566C7-B3A3-41F5-A42A-FA15105FE567}"/>
              </a:ext>
            </a:extLst>
          </p:cNvPr>
          <p:cNvSpPr/>
          <p:nvPr/>
        </p:nvSpPr>
        <p:spPr>
          <a:xfrm>
            <a:off x="8500588" y="4348351"/>
            <a:ext cx="149759" cy="1171997"/>
          </a:xfrm>
          <a:prstGeom prst="rect">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8" name="立方體 337">
            <a:extLst>
              <a:ext uri="{FF2B5EF4-FFF2-40B4-BE49-F238E27FC236}">
                <a16:creationId xmlns:a16="http://schemas.microsoft.com/office/drawing/2014/main" id="{7D99B650-FEB0-4EB2-B724-2A658EF92362}"/>
              </a:ext>
            </a:extLst>
          </p:cNvPr>
          <p:cNvSpPr/>
          <p:nvPr/>
        </p:nvSpPr>
        <p:spPr>
          <a:xfrm>
            <a:off x="6488610" y="4609391"/>
            <a:ext cx="707304" cy="561967"/>
          </a:xfrm>
          <a:prstGeom prst="cube">
            <a:avLst/>
          </a:prstGeom>
          <a:solidFill>
            <a:schemeClr val="bg1">
              <a:lumMod val="95000"/>
            </a:schemeClr>
          </a:solid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342" name="矩形 341">
            <a:extLst>
              <a:ext uri="{FF2B5EF4-FFF2-40B4-BE49-F238E27FC236}">
                <a16:creationId xmlns:a16="http://schemas.microsoft.com/office/drawing/2014/main" id="{81B3E010-B319-470C-9724-8BEA80D9C3A4}"/>
              </a:ext>
            </a:extLst>
          </p:cNvPr>
          <p:cNvSpPr/>
          <p:nvPr/>
        </p:nvSpPr>
        <p:spPr>
          <a:xfrm>
            <a:off x="7189509" y="5202525"/>
            <a:ext cx="1394677" cy="307777"/>
          </a:xfrm>
          <a:prstGeom prst="rect">
            <a:avLst/>
          </a:prstGeom>
        </p:spPr>
        <p:txBody>
          <a:bodyPr wrap="none">
            <a:spAutoFit/>
          </a:bodyPr>
          <a:lstStyle/>
          <a:p>
            <a:r>
              <a:rPr lang="pt-BR" altLang="zh-TW" sz="1400" dirty="0">
                <a:latin typeface="Times New Roman" panose="02020603050405020304" pitchFamily="18" charset="0"/>
                <a:ea typeface="Cambria Math" panose="02040503050406030204" pitchFamily="18" charset="0"/>
                <a:cs typeface="Times New Roman" panose="02020603050405020304" pitchFamily="18" charset="0"/>
              </a:rPr>
              <a:t>EO APPLN</a:t>
            </a:r>
            <a:r>
              <a:rPr lang="pt-BR" altLang="zh-TW" sz="1200" dirty="0">
                <a:latin typeface="Times New Roman" panose="02020603050405020304" pitchFamily="18" charset="0"/>
                <a:ea typeface="Cambria Math" panose="02040503050406030204" pitchFamily="18" charset="0"/>
                <a:cs typeface="Times New Roman" panose="02020603050405020304" pitchFamily="18" charset="0"/>
              </a:rPr>
              <a:t>(2cm)</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88" name="群組 187">
            <a:extLst>
              <a:ext uri="{FF2B5EF4-FFF2-40B4-BE49-F238E27FC236}">
                <a16:creationId xmlns:a16="http://schemas.microsoft.com/office/drawing/2014/main" id="{0584399B-4DDE-4FC6-BCBD-0859ABEF07AD}"/>
              </a:ext>
            </a:extLst>
          </p:cNvPr>
          <p:cNvGrpSpPr/>
          <p:nvPr/>
        </p:nvGrpSpPr>
        <p:grpSpPr>
          <a:xfrm>
            <a:off x="9233687" y="2119196"/>
            <a:ext cx="2484012" cy="1334509"/>
            <a:chOff x="3955276" y="1704215"/>
            <a:chExt cx="2484012" cy="1334509"/>
          </a:xfrm>
        </p:grpSpPr>
        <p:sp>
          <p:nvSpPr>
            <p:cNvPr id="189" name="立方體 188">
              <a:extLst>
                <a:ext uri="{FF2B5EF4-FFF2-40B4-BE49-F238E27FC236}">
                  <a16:creationId xmlns:a16="http://schemas.microsoft.com/office/drawing/2014/main" id="{629B8C1D-BF47-4BC0-975A-C9DA38D73767}"/>
                </a:ext>
              </a:extLst>
            </p:cNvPr>
            <p:cNvSpPr/>
            <p:nvPr/>
          </p:nvSpPr>
          <p:spPr>
            <a:xfrm>
              <a:off x="3955276" y="1704215"/>
              <a:ext cx="2484012" cy="1334509"/>
            </a:xfrm>
            <a:prstGeom prst="cube">
              <a:avLst>
                <a:gd name="adj" fmla="val 42957"/>
              </a:avLst>
            </a:prstGeom>
            <a:solidFill>
              <a:schemeClr val="bg1">
                <a:lumMod val="65000"/>
              </a:schemeClr>
            </a:solidFill>
            <a:ln w="25400">
              <a:solidFill>
                <a:schemeClr val="tx1"/>
              </a:solidFill>
            </a:ln>
            <a:scene3d>
              <a:camera prst="orthographicFront">
                <a:rot lat="1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sp>
          <p:nvSpPr>
            <p:cNvPr id="190" name="圓角矩形 103">
              <a:extLst>
                <a:ext uri="{FF2B5EF4-FFF2-40B4-BE49-F238E27FC236}">
                  <a16:creationId xmlns:a16="http://schemas.microsoft.com/office/drawing/2014/main" id="{0428622B-61BB-48DE-BB31-8E6421AA437F}"/>
                </a:ext>
              </a:extLst>
            </p:cNvPr>
            <p:cNvSpPr/>
            <p:nvPr/>
          </p:nvSpPr>
          <p:spPr>
            <a:xfrm>
              <a:off x="4121714" y="2343893"/>
              <a:ext cx="794289" cy="4095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grpSp>
          <p:nvGrpSpPr>
            <p:cNvPr id="191" name="群組 190">
              <a:extLst>
                <a:ext uri="{FF2B5EF4-FFF2-40B4-BE49-F238E27FC236}">
                  <a16:creationId xmlns:a16="http://schemas.microsoft.com/office/drawing/2014/main" id="{677946F2-E582-4E2F-A4B8-C22AE13A1909}"/>
                </a:ext>
              </a:extLst>
            </p:cNvPr>
            <p:cNvGrpSpPr/>
            <p:nvPr/>
          </p:nvGrpSpPr>
          <p:grpSpPr>
            <a:xfrm>
              <a:off x="4952856" y="2350593"/>
              <a:ext cx="926071" cy="488314"/>
              <a:chOff x="4941426" y="2356308"/>
              <a:chExt cx="926071" cy="488314"/>
            </a:xfrm>
          </p:grpSpPr>
          <p:grpSp>
            <p:nvGrpSpPr>
              <p:cNvPr id="199" name="群組 198">
                <a:extLst>
                  <a:ext uri="{FF2B5EF4-FFF2-40B4-BE49-F238E27FC236}">
                    <a16:creationId xmlns:a16="http://schemas.microsoft.com/office/drawing/2014/main" id="{25FC76E1-6662-4967-BEF1-3233356E6BBD}"/>
                  </a:ext>
                </a:extLst>
              </p:cNvPr>
              <p:cNvGrpSpPr/>
              <p:nvPr/>
            </p:nvGrpSpPr>
            <p:grpSpPr>
              <a:xfrm>
                <a:off x="4941426" y="2358144"/>
                <a:ext cx="636589" cy="486478"/>
                <a:chOff x="4984631" y="2368736"/>
                <a:chExt cx="636589" cy="486478"/>
              </a:xfrm>
            </p:grpSpPr>
            <p:sp>
              <p:nvSpPr>
                <p:cNvPr id="203" name="圓角矩形 116">
                  <a:extLst>
                    <a:ext uri="{FF2B5EF4-FFF2-40B4-BE49-F238E27FC236}">
                      <a16:creationId xmlns:a16="http://schemas.microsoft.com/office/drawing/2014/main" id="{A0DEC1BC-09A6-4DC7-BA0C-A49F17C60B21}"/>
                    </a:ext>
                  </a:extLst>
                </p:cNvPr>
                <p:cNvSpPr/>
                <p:nvPr/>
              </p:nvSpPr>
              <p:spPr>
                <a:xfrm>
                  <a:off x="5232967" y="2393994"/>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1</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04" name="圓角矩形 117">
                  <a:extLst>
                    <a:ext uri="{FF2B5EF4-FFF2-40B4-BE49-F238E27FC236}">
                      <a16:creationId xmlns:a16="http://schemas.microsoft.com/office/drawing/2014/main" id="{FDF0D345-EC5B-4F4D-B15F-9D7F01ECD87C}"/>
                    </a:ext>
                  </a:extLst>
                </p:cNvPr>
                <p:cNvSpPr/>
                <p:nvPr/>
              </p:nvSpPr>
              <p:spPr>
                <a:xfrm>
                  <a:off x="5508982" y="2393994"/>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3</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05" name="圓角矩形 118">
                  <a:extLst>
                    <a:ext uri="{FF2B5EF4-FFF2-40B4-BE49-F238E27FC236}">
                      <a16:creationId xmlns:a16="http://schemas.microsoft.com/office/drawing/2014/main" id="{8062FD4B-0923-4005-A122-5168E1706AE6}"/>
                    </a:ext>
                  </a:extLst>
                </p:cNvPr>
                <p:cNvSpPr/>
                <p:nvPr/>
              </p:nvSpPr>
              <p:spPr>
                <a:xfrm>
                  <a:off x="5370478" y="2393993"/>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2</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06" name="圓角矩形 119">
                  <a:extLst>
                    <a:ext uri="{FF2B5EF4-FFF2-40B4-BE49-F238E27FC236}">
                      <a16:creationId xmlns:a16="http://schemas.microsoft.com/office/drawing/2014/main" id="{AEE34126-63CB-4282-80B1-5EDAC5194230}"/>
                    </a:ext>
                  </a:extLst>
                </p:cNvPr>
                <p:cNvSpPr/>
                <p:nvPr/>
              </p:nvSpPr>
              <p:spPr>
                <a:xfrm>
                  <a:off x="5232367" y="2514729"/>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4</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07" name="圓角矩形 120">
                  <a:extLst>
                    <a:ext uri="{FF2B5EF4-FFF2-40B4-BE49-F238E27FC236}">
                      <a16:creationId xmlns:a16="http://schemas.microsoft.com/office/drawing/2014/main" id="{3F6896BD-6644-4EA4-8E9D-14E9991AFEEE}"/>
                    </a:ext>
                  </a:extLst>
                </p:cNvPr>
                <p:cNvSpPr/>
                <p:nvPr/>
              </p:nvSpPr>
              <p:spPr>
                <a:xfrm>
                  <a:off x="5370478" y="2514728"/>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5</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08" name="圓角矩形 121">
                  <a:extLst>
                    <a:ext uri="{FF2B5EF4-FFF2-40B4-BE49-F238E27FC236}">
                      <a16:creationId xmlns:a16="http://schemas.microsoft.com/office/drawing/2014/main" id="{4B5E8E8D-AE5E-4BFC-B4DF-EDCBDD160D24}"/>
                    </a:ext>
                  </a:extLst>
                </p:cNvPr>
                <p:cNvSpPr/>
                <p:nvPr/>
              </p:nvSpPr>
              <p:spPr>
                <a:xfrm>
                  <a:off x="5508982" y="2514728"/>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6</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09" name="圓角矩形 122">
                  <a:extLst>
                    <a:ext uri="{FF2B5EF4-FFF2-40B4-BE49-F238E27FC236}">
                      <a16:creationId xmlns:a16="http://schemas.microsoft.com/office/drawing/2014/main" id="{5E907C65-0F50-468C-9608-97B4463467E2}"/>
                    </a:ext>
                  </a:extLst>
                </p:cNvPr>
                <p:cNvSpPr/>
                <p:nvPr/>
              </p:nvSpPr>
              <p:spPr>
                <a:xfrm>
                  <a:off x="5370478" y="2636286"/>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8</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10" name="圓角矩形 123">
                  <a:extLst>
                    <a:ext uri="{FF2B5EF4-FFF2-40B4-BE49-F238E27FC236}">
                      <a16:creationId xmlns:a16="http://schemas.microsoft.com/office/drawing/2014/main" id="{0AD3AF7B-1656-499C-B7A9-42A8419FA6A7}"/>
                    </a:ext>
                  </a:extLst>
                </p:cNvPr>
                <p:cNvSpPr/>
                <p:nvPr/>
              </p:nvSpPr>
              <p:spPr>
                <a:xfrm>
                  <a:off x="5232367" y="2636285"/>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7</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11" name="圓角矩形 124">
                  <a:extLst>
                    <a:ext uri="{FF2B5EF4-FFF2-40B4-BE49-F238E27FC236}">
                      <a16:creationId xmlns:a16="http://schemas.microsoft.com/office/drawing/2014/main" id="{133205DB-F104-4597-BAEF-FCC45779E46F}"/>
                    </a:ext>
                  </a:extLst>
                </p:cNvPr>
                <p:cNvSpPr/>
                <p:nvPr/>
              </p:nvSpPr>
              <p:spPr>
                <a:xfrm>
                  <a:off x="5508982" y="2635462"/>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9</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12" name="圓角矩形 125">
                  <a:extLst>
                    <a:ext uri="{FF2B5EF4-FFF2-40B4-BE49-F238E27FC236}">
                      <a16:creationId xmlns:a16="http://schemas.microsoft.com/office/drawing/2014/main" id="{733B4E4C-32DD-477A-848D-DCA4EB59E904}"/>
                    </a:ext>
                  </a:extLst>
                </p:cNvPr>
                <p:cNvSpPr/>
                <p:nvPr/>
              </p:nvSpPr>
              <p:spPr>
                <a:xfrm>
                  <a:off x="5232367" y="2748700"/>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0</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13" name="圓角矩形 126">
                  <a:extLst>
                    <a:ext uri="{FF2B5EF4-FFF2-40B4-BE49-F238E27FC236}">
                      <a16:creationId xmlns:a16="http://schemas.microsoft.com/office/drawing/2014/main" id="{BF6EBE95-3DB8-4CCF-9008-71E2E81E7C22}"/>
                    </a:ext>
                  </a:extLst>
                </p:cNvPr>
                <p:cNvSpPr/>
                <p:nvPr/>
              </p:nvSpPr>
              <p:spPr>
                <a:xfrm>
                  <a:off x="5370478" y="2744125"/>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cs typeface="Times New Roman" panose="02020603050405020304" pitchFamily="18" charset="0"/>
                    </a:rPr>
                    <a:t>.</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4" name="圓角矩形 127">
                      <a:extLst>
                        <a:ext uri="{FF2B5EF4-FFF2-40B4-BE49-F238E27FC236}">
                          <a16:creationId xmlns:a16="http://schemas.microsoft.com/office/drawing/2014/main" id="{A2F8813F-ECD7-4131-AF50-B6EA79F4EFA5}"/>
                        </a:ext>
                      </a:extLst>
                    </p:cNvPr>
                    <p:cNvSpPr/>
                    <p:nvPr/>
                  </p:nvSpPr>
                  <p:spPr>
                    <a:xfrm>
                      <a:off x="5508982" y="2746830"/>
                      <a:ext cx="112238"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type m:val="skw"/>
                                <m:ctrlPr>
                                  <a:rPr lang="zh-TW" altLang="en-US" sz="300" b="1" i="1" smtClean="0">
                                    <a:solidFill>
                                      <a:schemeClr val="tx1"/>
                                    </a:solidFill>
                                    <a:latin typeface="Cambria Math" panose="02040503050406030204" pitchFamily="18" charset="0"/>
                                  </a:rPr>
                                </m:ctrlPr>
                              </m:fPr>
                              <m:num>
                                <m:r>
                                  <a:rPr lang="en-US" altLang="zh-TW" sz="300" b="1" i="0" smtClean="0">
                                    <a:solidFill>
                                      <a:schemeClr val="tx1"/>
                                    </a:solidFill>
                                    <a:latin typeface="Cambria Math" panose="02040503050406030204" pitchFamily="18" charset="0"/>
                                  </a:rPr>
                                  <m:t>+</m:t>
                                </m:r>
                              </m:num>
                              <m:den>
                                <m:r>
                                  <a:rPr lang="en-US" altLang="zh-TW" sz="300" b="1" i="0" smtClean="0">
                                    <a:solidFill>
                                      <a:schemeClr val="tx1"/>
                                    </a:solidFill>
                                    <a:latin typeface="Cambria Math" panose="02040503050406030204" pitchFamily="18" charset="0"/>
                                  </a:rPr>
                                  <m:t>−</m:t>
                                </m:r>
                              </m:den>
                            </m:f>
                          </m:oMath>
                        </m:oMathPara>
                      </a14:m>
                      <a:endParaRPr lang="zh-TW" altLang="en-US" sz="3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22" name="圓角矩形 121"/>
                    <p:cNvSpPr>
                      <a:spLocks noRot="1" noChangeAspect="1" noMove="1" noResize="1" noEditPoints="1" noAdjustHandles="1" noChangeArrowheads="1" noChangeShapeType="1" noTextEdit="1"/>
                    </p:cNvSpPr>
                    <p:nvPr/>
                  </p:nvSpPr>
                  <p:spPr>
                    <a:xfrm>
                      <a:off x="5508982" y="2746830"/>
                      <a:ext cx="112238" cy="81253"/>
                    </a:xfrm>
                    <a:prstGeom prst="roundRect">
                      <a:avLst/>
                    </a:prstGeom>
                    <a:blipFill>
                      <a:blip r:embed="rId6"/>
                      <a:stretch>
                        <a:fillRect l="-12000" t="-47619" r="-4000" b="-90476"/>
                      </a:stretch>
                    </a:blipFill>
                    <a:ln>
                      <a:solidFill>
                        <a:schemeClr val="bg1">
                          <a:lumMod val="85000"/>
                        </a:schemeClr>
                      </a:solidFill>
                    </a:ln>
                  </p:spPr>
                  <p:txBody>
                    <a:bodyPr/>
                    <a:lstStyle/>
                    <a:p>
                      <a:r>
                        <a:rPr lang="zh-TW" altLang="en-US">
                          <a:noFill/>
                        </a:rPr>
                        <a:t> </a:t>
                      </a:r>
                    </a:p>
                  </p:txBody>
                </p:sp>
              </mc:Fallback>
            </mc:AlternateContent>
            <p:sp>
              <p:nvSpPr>
                <p:cNvPr id="215" name="圓角矩形 128">
                  <a:extLst>
                    <a:ext uri="{FF2B5EF4-FFF2-40B4-BE49-F238E27FC236}">
                      <a16:creationId xmlns:a16="http://schemas.microsoft.com/office/drawing/2014/main" id="{953BE18E-6E4B-4A4A-8F70-1D27C01FF509}"/>
                    </a:ext>
                  </a:extLst>
                </p:cNvPr>
                <p:cNvSpPr/>
                <p:nvPr/>
              </p:nvSpPr>
              <p:spPr>
                <a:xfrm>
                  <a:off x="5067990" y="2516365"/>
                  <a:ext cx="123794"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16" name="圓角矩形 129">
                  <a:extLst>
                    <a:ext uri="{FF2B5EF4-FFF2-40B4-BE49-F238E27FC236}">
                      <a16:creationId xmlns:a16="http://schemas.microsoft.com/office/drawing/2014/main" id="{72123028-7FDB-40B7-A034-10517163585D}"/>
                    </a:ext>
                  </a:extLst>
                </p:cNvPr>
                <p:cNvSpPr/>
                <p:nvPr/>
              </p:nvSpPr>
              <p:spPr>
                <a:xfrm>
                  <a:off x="5067678" y="2630016"/>
                  <a:ext cx="123794"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17" name="圓角矩形 130">
                  <a:extLst>
                    <a:ext uri="{FF2B5EF4-FFF2-40B4-BE49-F238E27FC236}">
                      <a16:creationId xmlns:a16="http://schemas.microsoft.com/office/drawing/2014/main" id="{8D7722C0-1DBD-472A-9E35-833EE46E4946}"/>
                    </a:ext>
                  </a:extLst>
                </p:cNvPr>
                <p:cNvSpPr/>
                <p:nvPr/>
              </p:nvSpPr>
              <p:spPr>
                <a:xfrm>
                  <a:off x="5067990" y="2745762"/>
                  <a:ext cx="123794"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18" name="文字方塊 217">
                  <a:extLst>
                    <a:ext uri="{FF2B5EF4-FFF2-40B4-BE49-F238E27FC236}">
                      <a16:creationId xmlns:a16="http://schemas.microsoft.com/office/drawing/2014/main" id="{73387784-D13E-45D0-981B-2EB021ADDF94}"/>
                    </a:ext>
                  </a:extLst>
                </p:cNvPr>
                <p:cNvSpPr txBox="1"/>
                <p:nvPr/>
              </p:nvSpPr>
              <p:spPr>
                <a:xfrm>
                  <a:off x="4992271" y="2716715"/>
                  <a:ext cx="324565" cy="138499"/>
                </a:xfrm>
                <a:prstGeom prst="rect">
                  <a:avLst/>
                </a:prstGeom>
                <a:noFill/>
              </p:spPr>
              <p:txBody>
                <a:bodyPr wrap="square" rtlCol="0">
                  <a:spAutoFit/>
                </a:bodyPr>
                <a:lstStyle/>
                <a:p>
                  <a:r>
                    <a:rPr lang="en-US" altLang="zh-TW" sz="300" dirty="0">
                      <a:latin typeface="Times New Roman" panose="02020603050405020304" pitchFamily="18" charset="0"/>
                      <a:cs typeface="Times New Roman" panose="02020603050405020304" pitchFamily="18" charset="0"/>
                    </a:rPr>
                    <a:t>menu</a:t>
                  </a:r>
                  <a:endParaRPr lang="zh-TW" altLang="en-US" sz="300" dirty="0">
                    <a:latin typeface="Times New Roman" panose="02020603050405020304" pitchFamily="18" charset="0"/>
                    <a:cs typeface="Times New Roman" panose="02020603050405020304" pitchFamily="18" charset="0"/>
                  </a:endParaRPr>
                </a:p>
              </p:txBody>
            </p:sp>
            <p:sp>
              <p:nvSpPr>
                <p:cNvPr id="219" name="圓角矩形 132">
                  <a:extLst>
                    <a:ext uri="{FF2B5EF4-FFF2-40B4-BE49-F238E27FC236}">
                      <a16:creationId xmlns:a16="http://schemas.microsoft.com/office/drawing/2014/main" id="{0772023B-FAE9-4FC4-A8E0-34D249A5D6AE}"/>
                    </a:ext>
                  </a:extLst>
                </p:cNvPr>
                <p:cNvSpPr/>
                <p:nvPr/>
              </p:nvSpPr>
              <p:spPr>
                <a:xfrm>
                  <a:off x="5067444" y="2397710"/>
                  <a:ext cx="127312" cy="81253"/>
                </a:xfrm>
                <a:prstGeom prst="roundRect">
                  <a:avLst/>
                </a:prstGeom>
                <a:solidFill>
                  <a:srgbClr val="CC3300"/>
                </a:solidFill>
                <a:ln>
                  <a:solidFill>
                    <a:schemeClr val="tx1"/>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20" name="文字方塊 219">
                  <a:extLst>
                    <a:ext uri="{FF2B5EF4-FFF2-40B4-BE49-F238E27FC236}">
                      <a16:creationId xmlns:a16="http://schemas.microsoft.com/office/drawing/2014/main" id="{A940721B-A7C0-4ED1-9D8B-3827444E7ECB}"/>
                    </a:ext>
                  </a:extLst>
                </p:cNvPr>
                <p:cNvSpPr txBox="1"/>
                <p:nvPr/>
              </p:nvSpPr>
              <p:spPr>
                <a:xfrm>
                  <a:off x="4984631" y="2368736"/>
                  <a:ext cx="324565" cy="138499"/>
                </a:xfrm>
                <a:prstGeom prst="rect">
                  <a:avLst/>
                </a:prstGeom>
                <a:noFill/>
              </p:spPr>
              <p:txBody>
                <a:bodyPr wrap="square" rtlCol="0">
                  <a:spAutoFit/>
                </a:bodyPr>
                <a:lstStyle/>
                <a:p>
                  <a:r>
                    <a:rPr lang="en-US" altLang="zh-TW" sz="300" b="1" dirty="0">
                      <a:latin typeface="Times New Roman" panose="02020603050405020304" pitchFamily="18" charset="0"/>
                      <a:cs typeface="Times New Roman" panose="02020603050405020304" pitchFamily="18" charset="0"/>
                    </a:rPr>
                    <a:t>LOCAL</a:t>
                  </a:r>
                  <a:endParaRPr lang="zh-TW" altLang="en-US" sz="300" b="1" dirty="0">
                    <a:latin typeface="Times New Roman" panose="02020603050405020304" pitchFamily="18" charset="0"/>
                    <a:cs typeface="Times New Roman" panose="02020603050405020304" pitchFamily="18" charset="0"/>
                  </a:endParaRPr>
                </a:p>
              </p:txBody>
            </p:sp>
          </p:grpSp>
          <p:sp>
            <p:nvSpPr>
              <p:cNvPr id="200" name="圓角矩形 113">
                <a:extLst>
                  <a:ext uri="{FF2B5EF4-FFF2-40B4-BE49-F238E27FC236}">
                    <a16:creationId xmlns:a16="http://schemas.microsoft.com/office/drawing/2014/main" id="{3755EBE0-36EE-41A8-AC2C-5A5CDF2F9CD9}"/>
                  </a:ext>
                </a:extLst>
              </p:cNvPr>
              <p:cNvSpPr/>
              <p:nvPr/>
            </p:nvSpPr>
            <p:spPr>
              <a:xfrm>
                <a:off x="5613166" y="2383401"/>
                <a:ext cx="127312" cy="81253"/>
              </a:xfrm>
              <a:prstGeom prst="roundRect">
                <a:avLst/>
              </a:prstGeom>
              <a:solidFill>
                <a:srgbClr val="CC3300"/>
              </a:solidFill>
              <a:ln>
                <a:solidFill>
                  <a:schemeClr val="tx1"/>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201" name="文字方塊 200">
                <a:extLst>
                  <a:ext uri="{FF2B5EF4-FFF2-40B4-BE49-F238E27FC236}">
                    <a16:creationId xmlns:a16="http://schemas.microsoft.com/office/drawing/2014/main" id="{E2B1686C-6A9E-4073-82E7-4C6761656AEC}"/>
                  </a:ext>
                </a:extLst>
              </p:cNvPr>
              <p:cNvSpPr txBox="1"/>
              <p:nvPr/>
            </p:nvSpPr>
            <p:spPr>
              <a:xfrm>
                <a:off x="5542932" y="2356308"/>
                <a:ext cx="324565" cy="138499"/>
              </a:xfrm>
              <a:prstGeom prst="rect">
                <a:avLst/>
              </a:prstGeom>
              <a:noFill/>
            </p:spPr>
            <p:txBody>
              <a:bodyPr wrap="square" rtlCol="0">
                <a:spAutoFit/>
              </a:bodyPr>
              <a:lstStyle/>
              <a:p>
                <a:r>
                  <a:rPr lang="en-US" altLang="zh-TW" sz="300" b="1" dirty="0">
                    <a:latin typeface="Times New Roman" panose="02020603050405020304" pitchFamily="18" charset="0"/>
                    <a:cs typeface="Times New Roman" panose="02020603050405020304" pitchFamily="18" charset="0"/>
                  </a:rPr>
                  <a:t>STOP</a:t>
                </a:r>
                <a:endParaRPr lang="zh-TW" altLang="en-US" sz="300" b="1" dirty="0">
                  <a:latin typeface="Times New Roman" panose="02020603050405020304" pitchFamily="18" charset="0"/>
                  <a:cs typeface="Times New Roman" panose="02020603050405020304" pitchFamily="18" charset="0"/>
                </a:endParaRPr>
              </a:p>
            </p:txBody>
          </p:sp>
          <p:sp>
            <p:nvSpPr>
              <p:cNvPr id="202" name="圓角矩形 115">
                <a:extLst>
                  <a:ext uri="{FF2B5EF4-FFF2-40B4-BE49-F238E27FC236}">
                    <a16:creationId xmlns:a16="http://schemas.microsoft.com/office/drawing/2014/main" id="{93690F24-C72C-4D15-A3AC-75C100B9D190}"/>
                  </a:ext>
                </a:extLst>
              </p:cNvPr>
              <p:cNvSpPr/>
              <p:nvPr/>
            </p:nvSpPr>
            <p:spPr>
              <a:xfrm>
                <a:off x="5620703" y="2505772"/>
                <a:ext cx="112238" cy="30901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00" b="1" dirty="0">
                    <a:solidFill>
                      <a:schemeClr val="tx1"/>
                    </a:solidFill>
                    <a:latin typeface="Times New Roman" panose="02020603050405020304" pitchFamily="18" charset="0"/>
                    <a:cs typeface="Times New Roman" panose="02020603050405020304" pitchFamily="18" charset="0"/>
                  </a:rPr>
                  <a:t>ENTER</a:t>
                </a:r>
              </a:p>
              <a:p>
                <a:pPr algn="ctr"/>
                <a:endParaRPr lang="zh-TW" altLang="en-US" sz="300" b="1" dirty="0">
                  <a:solidFill>
                    <a:schemeClr val="tx1"/>
                  </a:solidFill>
                  <a:latin typeface="Times New Roman" panose="02020603050405020304" pitchFamily="18" charset="0"/>
                  <a:cs typeface="Times New Roman" panose="02020603050405020304" pitchFamily="18" charset="0"/>
                </a:endParaRPr>
              </a:p>
            </p:txBody>
          </p:sp>
        </p:grpSp>
        <p:pic>
          <p:nvPicPr>
            <p:cNvPr id="192" name="圖片 191">
              <a:extLst>
                <a:ext uri="{FF2B5EF4-FFF2-40B4-BE49-F238E27FC236}">
                  <a16:creationId xmlns:a16="http://schemas.microsoft.com/office/drawing/2014/main" id="{230F0862-D271-412B-8F72-95B98B37EFA6}"/>
                </a:ext>
              </a:extLst>
            </p:cNvPr>
            <p:cNvPicPr>
              <a:picLocks noChangeAspect="1"/>
            </p:cNvPicPr>
            <p:nvPr/>
          </p:nvPicPr>
          <p:blipFill>
            <a:blip r:embed="rId7"/>
            <a:stretch>
              <a:fillRect/>
            </a:stretch>
          </p:blipFill>
          <p:spPr>
            <a:xfrm>
              <a:off x="5316524" y="2805858"/>
              <a:ext cx="204606" cy="190197"/>
            </a:xfrm>
            <a:prstGeom prst="rect">
              <a:avLst/>
            </a:prstGeom>
          </p:spPr>
        </p:pic>
        <p:pic>
          <p:nvPicPr>
            <p:cNvPr id="193" name="圖片 192">
              <a:extLst>
                <a:ext uri="{FF2B5EF4-FFF2-40B4-BE49-F238E27FC236}">
                  <a16:creationId xmlns:a16="http://schemas.microsoft.com/office/drawing/2014/main" id="{64764246-2826-449D-B156-AE2003B20978}"/>
                </a:ext>
              </a:extLst>
            </p:cNvPr>
            <p:cNvPicPr>
              <a:picLocks noChangeAspect="1"/>
            </p:cNvPicPr>
            <p:nvPr/>
          </p:nvPicPr>
          <p:blipFill>
            <a:blip r:embed="rId7"/>
            <a:stretch>
              <a:fillRect/>
            </a:stretch>
          </p:blipFill>
          <p:spPr>
            <a:xfrm>
              <a:off x="5509321" y="2806016"/>
              <a:ext cx="204606" cy="190197"/>
            </a:xfrm>
            <a:prstGeom prst="rect">
              <a:avLst/>
            </a:prstGeom>
          </p:spPr>
        </p:pic>
        <p:sp>
          <p:nvSpPr>
            <p:cNvPr id="194" name="圓角矩形 107">
              <a:extLst>
                <a:ext uri="{FF2B5EF4-FFF2-40B4-BE49-F238E27FC236}">
                  <a16:creationId xmlns:a16="http://schemas.microsoft.com/office/drawing/2014/main" id="{DD905EFE-CC6A-4DF1-9222-0DB14F35A34B}"/>
                </a:ext>
              </a:extLst>
            </p:cNvPr>
            <p:cNvSpPr/>
            <p:nvPr/>
          </p:nvSpPr>
          <p:spPr>
            <a:xfrm>
              <a:off x="4206945" y="2824254"/>
              <a:ext cx="123794"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195" name="圓角矩形 108">
              <a:extLst>
                <a:ext uri="{FF2B5EF4-FFF2-40B4-BE49-F238E27FC236}">
                  <a16:creationId xmlns:a16="http://schemas.microsoft.com/office/drawing/2014/main" id="{DD2F70AD-D402-42C5-BCAC-B22529486213}"/>
                </a:ext>
              </a:extLst>
            </p:cNvPr>
            <p:cNvSpPr/>
            <p:nvPr/>
          </p:nvSpPr>
          <p:spPr>
            <a:xfrm>
              <a:off x="4436728" y="2826198"/>
              <a:ext cx="123794"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196" name="圓角矩形 109">
              <a:extLst>
                <a:ext uri="{FF2B5EF4-FFF2-40B4-BE49-F238E27FC236}">
                  <a16:creationId xmlns:a16="http://schemas.microsoft.com/office/drawing/2014/main" id="{E477F7FC-095C-4026-824E-57F402776D25}"/>
                </a:ext>
              </a:extLst>
            </p:cNvPr>
            <p:cNvSpPr/>
            <p:nvPr/>
          </p:nvSpPr>
          <p:spPr>
            <a:xfrm>
              <a:off x="4684343" y="2826198"/>
              <a:ext cx="123794" cy="81253"/>
            </a:xfrm>
            <a:prstGeom prst="roundRect">
              <a:avLst/>
            </a:prstGeom>
            <a:solidFill>
              <a:schemeClr val="bg1">
                <a:lumMod val="75000"/>
              </a:schemeClr>
            </a:solidFill>
            <a:ln>
              <a:solidFill>
                <a:schemeClr val="bg1">
                  <a:lumMod val="85000"/>
                </a:schemeClr>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00" b="1" dirty="0">
                <a:solidFill>
                  <a:schemeClr val="tx1"/>
                </a:solidFill>
                <a:latin typeface="Times New Roman" panose="02020603050405020304" pitchFamily="18" charset="0"/>
                <a:cs typeface="Times New Roman" panose="02020603050405020304" pitchFamily="18" charset="0"/>
              </a:endParaRPr>
            </a:p>
          </p:txBody>
        </p:sp>
        <p:sp>
          <p:nvSpPr>
            <p:cNvPr id="197" name="橢圓 196">
              <a:extLst>
                <a:ext uri="{FF2B5EF4-FFF2-40B4-BE49-F238E27FC236}">
                  <a16:creationId xmlns:a16="http://schemas.microsoft.com/office/drawing/2014/main" id="{ACFE8A47-80F8-4DCD-9416-9095AE4B2146}"/>
                </a:ext>
              </a:extLst>
            </p:cNvPr>
            <p:cNvSpPr/>
            <p:nvPr/>
          </p:nvSpPr>
          <p:spPr>
            <a:xfrm>
              <a:off x="4240448" y="2842287"/>
              <a:ext cx="56788" cy="5210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cxnSp>
          <p:nvCxnSpPr>
            <p:cNvPr id="198" name="直線接點 197">
              <a:extLst>
                <a:ext uri="{FF2B5EF4-FFF2-40B4-BE49-F238E27FC236}">
                  <a16:creationId xmlns:a16="http://schemas.microsoft.com/office/drawing/2014/main" id="{6DCDD010-E80E-4B90-BBA2-A03395DC6A97}"/>
                </a:ext>
              </a:extLst>
            </p:cNvPr>
            <p:cNvCxnSpPr/>
            <p:nvPr/>
          </p:nvCxnSpPr>
          <p:spPr>
            <a:xfrm>
              <a:off x="4269968" y="2826435"/>
              <a:ext cx="0" cy="349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21" name="圖片 220">
            <a:extLst>
              <a:ext uri="{FF2B5EF4-FFF2-40B4-BE49-F238E27FC236}">
                <a16:creationId xmlns:a16="http://schemas.microsoft.com/office/drawing/2014/main" id="{251BC83C-DB0F-4FD2-89E1-B0BC54C35D3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08885" y="2769735"/>
            <a:ext cx="782773" cy="38562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2" name="矩形 221">
            <a:extLst>
              <a:ext uri="{FF2B5EF4-FFF2-40B4-BE49-F238E27FC236}">
                <a16:creationId xmlns:a16="http://schemas.microsoft.com/office/drawing/2014/main" id="{484D1D8A-D860-4B4D-8209-D2A85DFBE1D8}"/>
              </a:ext>
            </a:extLst>
          </p:cNvPr>
          <p:cNvSpPr/>
          <p:nvPr/>
        </p:nvSpPr>
        <p:spPr>
          <a:xfrm>
            <a:off x="9942434" y="1771533"/>
            <a:ext cx="1402948" cy="369332"/>
          </a:xfrm>
          <a:prstGeom prst="rect">
            <a:avLst/>
          </a:prstGeom>
          <a:ln>
            <a:solidFill>
              <a:schemeClr val="tx1"/>
            </a:solidFill>
          </a:ln>
        </p:spPr>
        <p:txBody>
          <a:bodyPr wrap="none">
            <a:spAutoFit/>
          </a:bodyPr>
          <a:lstStyle/>
          <a:p>
            <a:r>
              <a:rPr lang="zh-TW" altLang="en-US" b="1" dirty="0">
                <a:latin typeface="Times New Roman" panose="02020603050405020304" pitchFamily="18" charset="0"/>
                <a:ea typeface="標楷體" panose="03000509000000000000" pitchFamily="65" charset="-120"/>
                <a:cs typeface="Times New Roman" panose="02020603050405020304" pitchFamily="18" charset="0"/>
              </a:rPr>
              <a:t>Oscilloscope</a:t>
            </a:r>
          </a:p>
        </p:txBody>
      </p:sp>
      <p:sp>
        <p:nvSpPr>
          <p:cNvPr id="223" name="圓角矩形 4">
            <a:extLst>
              <a:ext uri="{FF2B5EF4-FFF2-40B4-BE49-F238E27FC236}">
                <a16:creationId xmlns:a16="http://schemas.microsoft.com/office/drawing/2014/main" id="{BB2002C4-1605-4EDD-93D7-810663389A39}"/>
              </a:ext>
            </a:extLst>
          </p:cNvPr>
          <p:cNvSpPr/>
          <p:nvPr/>
        </p:nvSpPr>
        <p:spPr>
          <a:xfrm>
            <a:off x="6445129" y="1499047"/>
            <a:ext cx="1371021" cy="616461"/>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sp>
        <p:nvSpPr>
          <p:cNvPr id="224" name="立方體 223">
            <a:extLst>
              <a:ext uri="{FF2B5EF4-FFF2-40B4-BE49-F238E27FC236}">
                <a16:creationId xmlns:a16="http://schemas.microsoft.com/office/drawing/2014/main" id="{EF693349-A627-4A5D-A45D-767DBF55EF14}"/>
              </a:ext>
            </a:extLst>
          </p:cNvPr>
          <p:cNvSpPr/>
          <p:nvPr/>
        </p:nvSpPr>
        <p:spPr>
          <a:xfrm>
            <a:off x="7009514" y="2904039"/>
            <a:ext cx="1156716" cy="440918"/>
          </a:xfrm>
          <a:prstGeom prst="cube">
            <a:avLst/>
          </a:prstGeom>
          <a:solidFill>
            <a:srgbClr val="00B0F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26" name="文字方塊 225">
            <a:extLst>
              <a:ext uri="{FF2B5EF4-FFF2-40B4-BE49-F238E27FC236}">
                <a16:creationId xmlns:a16="http://schemas.microsoft.com/office/drawing/2014/main" id="{1B54A8A3-516B-4B09-A088-0C37CC948810}"/>
              </a:ext>
            </a:extLst>
          </p:cNvPr>
          <p:cNvSpPr txBox="1"/>
          <p:nvPr/>
        </p:nvSpPr>
        <p:spPr>
          <a:xfrm>
            <a:off x="7179133" y="2982455"/>
            <a:ext cx="766557"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pulser</a:t>
            </a:r>
            <a:endParaRPr lang="zh-TW" altLang="en-US" dirty="0">
              <a:latin typeface="Times New Roman" panose="02020603050405020304" pitchFamily="18" charset="0"/>
              <a:cs typeface="Times New Roman" panose="02020603050405020304" pitchFamily="18" charset="0"/>
            </a:endParaRPr>
          </a:p>
        </p:txBody>
      </p:sp>
      <p:sp>
        <p:nvSpPr>
          <p:cNvPr id="228" name="橢圓 227">
            <a:extLst>
              <a:ext uri="{FF2B5EF4-FFF2-40B4-BE49-F238E27FC236}">
                <a16:creationId xmlns:a16="http://schemas.microsoft.com/office/drawing/2014/main" id="{77C56674-6B3F-4BFF-BF3F-8C85F9E31F43}"/>
              </a:ext>
            </a:extLst>
          </p:cNvPr>
          <p:cNvSpPr/>
          <p:nvPr/>
        </p:nvSpPr>
        <p:spPr>
          <a:xfrm>
            <a:off x="6896510" y="1938938"/>
            <a:ext cx="114300" cy="125073"/>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29" name="橢圓 228">
            <a:extLst>
              <a:ext uri="{FF2B5EF4-FFF2-40B4-BE49-F238E27FC236}">
                <a16:creationId xmlns:a16="http://schemas.microsoft.com/office/drawing/2014/main" id="{C8813AA0-DE3A-4F03-8B3A-BEB99BC062B6}"/>
              </a:ext>
            </a:extLst>
          </p:cNvPr>
          <p:cNvSpPr/>
          <p:nvPr/>
        </p:nvSpPr>
        <p:spPr>
          <a:xfrm>
            <a:off x="7286017" y="1943771"/>
            <a:ext cx="114300" cy="125073"/>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2" name="文字方塊 231">
            <a:extLst>
              <a:ext uri="{FF2B5EF4-FFF2-40B4-BE49-F238E27FC236}">
                <a16:creationId xmlns:a16="http://schemas.microsoft.com/office/drawing/2014/main" id="{479F163E-0C98-4CE8-9D2E-8563B0983EC6}"/>
              </a:ext>
            </a:extLst>
          </p:cNvPr>
          <p:cNvSpPr txBox="1"/>
          <p:nvPr/>
        </p:nvSpPr>
        <p:spPr>
          <a:xfrm>
            <a:off x="5697468" y="2760932"/>
            <a:ext cx="530915" cy="276999"/>
          </a:xfrm>
          <a:prstGeom prst="rect">
            <a:avLst/>
          </a:prstGeom>
          <a:noFill/>
        </p:spPr>
        <p:txBody>
          <a:bodyPr wrap="none" rtlCol="0">
            <a:spAutoFit/>
          </a:bodyPr>
          <a:lstStyle/>
          <a:p>
            <a:r>
              <a:rPr lang="en-US" altLang="zh-TW" sz="1200" b="1" dirty="0">
                <a:latin typeface="Times New Roman" panose="02020603050405020304" pitchFamily="18" charset="0"/>
                <a:cs typeface="Times New Roman" panose="02020603050405020304" pitchFamily="18" charset="0"/>
              </a:rPr>
              <a:t>CH 1</a:t>
            </a:r>
            <a:endParaRPr lang="zh-TW" altLang="en-US" sz="1200" b="1" dirty="0">
              <a:latin typeface="Times New Roman" panose="02020603050405020304" pitchFamily="18" charset="0"/>
              <a:cs typeface="Times New Roman" panose="02020603050405020304" pitchFamily="18" charset="0"/>
            </a:endParaRPr>
          </a:p>
        </p:txBody>
      </p:sp>
      <p:sp>
        <p:nvSpPr>
          <p:cNvPr id="246" name="圓角矩形 147">
            <a:extLst>
              <a:ext uri="{FF2B5EF4-FFF2-40B4-BE49-F238E27FC236}">
                <a16:creationId xmlns:a16="http://schemas.microsoft.com/office/drawing/2014/main" id="{6C018BD1-8E82-4F33-8870-48F4E8873684}"/>
              </a:ext>
            </a:extLst>
          </p:cNvPr>
          <p:cNvSpPr/>
          <p:nvPr/>
        </p:nvSpPr>
        <p:spPr>
          <a:xfrm>
            <a:off x="4690872" y="1502735"/>
            <a:ext cx="1371021" cy="616461"/>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sp>
        <p:nvSpPr>
          <p:cNvPr id="247" name="橢圓 246">
            <a:extLst>
              <a:ext uri="{FF2B5EF4-FFF2-40B4-BE49-F238E27FC236}">
                <a16:creationId xmlns:a16="http://schemas.microsoft.com/office/drawing/2014/main" id="{3A552C8C-A490-480A-88BB-9DDFD823B9C9}"/>
              </a:ext>
            </a:extLst>
          </p:cNvPr>
          <p:cNvSpPr/>
          <p:nvPr/>
        </p:nvSpPr>
        <p:spPr>
          <a:xfrm>
            <a:off x="5142253" y="1942626"/>
            <a:ext cx="114300" cy="125073"/>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48" name="橢圓 247">
            <a:extLst>
              <a:ext uri="{FF2B5EF4-FFF2-40B4-BE49-F238E27FC236}">
                <a16:creationId xmlns:a16="http://schemas.microsoft.com/office/drawing/2014/main" id="{B3F74196-3B46-414B-B5DA-D13ADBBA6D65}"/>
              </a:ext>
            </a:extLst>
          </p:cNvPr>
          <p:cNvSpPr/>
          <p:nvPr/>
        </p:nvSpPr>
        <p:spPr>
          <a:xfrm>
            <a:off x="5531760" y="1947459"/>
            <a:ext cx="114300" cy="125073"/>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51" name="文字方塊 250">
            <a:extLst>
              <a:ext uri="{FF2B5EF4-FFF2-40B4-BE49-F238E27FC236}">
                <a16:creationId xmlns:a16="http://schemas.microsoft.com/office/drawing/2014/main" id="{BCDE6139-4BE2-45FD-A8F5-7BCB93D7D2DF}"/>
              </a:ext>
            </a:extLst>
          </p:cNvPr>
          <p:cNvSpPr txBox="1"/>
          <p:nvPr/>
        </p:nvSpPr>
        <p:spPr>
          <a:xfrm>
            <a:off x="5231615" y="1472877"/>
            <a:ext cx="261610" cy="276999"/>
          </a:xfrm>
          <a:prstGeom prst="rect">
            <a:avLst/>
          </a:prstGeom>
          <a:noFill/>
        </p:spPr>
        <p:txBody>
          <a:bodyPr wrap="none" rtlCol="0">
            <a:spAutoFit/>
          </a:bodyPr>
          <a:lstStyle/>
          <a:p>
            <a:r>
              <a:rPr lang="en-US" altLang="zh-TW"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2" name="文字方塊 251">
            <a:extLst>
              <a:ext uri="{FF2B5EF4-FFF2-40B4-BE49-F238E27FC236}">
                <a16:creationId xmlns:a16="http://schemas.microsoft.com/office/drawing/2014/main" id="{47D52B4F-31C2-4B3F-8970-361A295D6CBD}"/>
              </a:ext>
            </a:extLst>
          </p:cNvPr>
          <p:cNvSpPr txBox="1"/>
          <p:nvPr/>
        </p:nvSpPr>
        <p:spPr>
          <a:xfrm>
            <a:off x="6981963" y="1467212"/>
            <a:ext cx="261610" cy="276999"/>
          </a:xfrm>
          <a:prstGeom prst="rect">
            <a:avLst/>
          </a:prstGeom>
          <a:noFill/>
        </p:spPr>
        <p:txBody>
          <a:bodyPr wrap="none" rtlCol="0">
            <a:spAutoFit/>
          </a:bodyPr>
          <a:lstStyle/>
          <a:p>
            <a:r>
              <a:rPr lang="en-US" altLang="zh-TW"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0" name="直線單箭頭接點 9">
            <a:extLst>
              <a:ext uri="{FF2B5EF4-FFF2-40B4-BE49-F238E27FC236}">
                <a16:creationId xmlns:a16="http://schemas.microsoft.com/office/drawing/2014/main" id="{2BA0748D-F929-4C60-AF9D-50B1A033814D}"/>
              </a:ext>
            </a:extLst>
          </p:cNvPr>
          <p:cNvCxnSpPr/>
          <p:nvPr/>
        </p:nvCxnSpPr>
        <p:spPr>
          <a:xfrm>
            <a:off x="5281514" y="3325158"/>
            <a:ext cx="1728000" cy="0"/>
          </a:xfrm>
          <a:prstGeom prst="straightConnector1">
            <a:avLst/>
          </a:prstGeom>
          <a:ln w="50800">
            <a:solidFill>
              <a:srgbClr val="00B050"/>
            </a:solidFill>
            <a:tailEnd type="triangl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sp>
        <p:nvSpPr>
          <p:cNvPr id="253" name="文字方塊 252">
            <a:extLst>
              <a:ext uri="{FF2B5EF4-FFF2-40B4-BE49-F238E27FC236}">
                <a16:creationId xmlns:a16="http://schemas.microsoft.com/office/drawing/2014/main" id="{571A0C2F-5EE4-4062-9CF6-CF909696C346}"/>
              </a:ext>
            </a:extLst>
          </p:cNvPr>
          <p:cNvSpPr txBox="1"/>
          <p:nvPr/>
        </p:nvSpPr>
        <p:spPr>
          <a:xfrm>
            <a:off x="5705116" y="3317118"/>
            <a:ext cx="530915" cy="276999"/>
          </a:xfrm>
          <a:prstGeom prst="rect">
            <a:avLst/>
          </a:prstGeom>
          <a:noFill/>
        </p:spPr>
        <p:txBody>
          <a:bodyPr wrap="none" rtlCol="0">
            <a:spAutoFit/>
          </a:bodyPr>
          <a:lstStyle/>
          <a:p>
            <a:r>
              <a:rPr lang="en-US" altLang="zh-TW" sz="1200" b="1" dirty="0">
                <a:latin typeface="Times New Roman" panose="02020603050405020304" pitchFamily="18" charset="0"/>
                <a:cs typeface="Times New Roman" panose="02020603050405020304" pitchFamily="18" charset="0"/>
              </a:rPr>
              <a:t>CH 2</a:t>
            </a:r>
            <a:endParaRPr lang="zh-TW" altLang="en-US" sz="1200" b="1" dirty="0">
              <a:latin typeface="Times New Roman" panose="02020603050405020304" pitchFamily="18" charset="0"/>
              <a:cs typeface="Times New Roman" panose="02020603050405020304" pitchFamily="18" charset="0"/>
            </a:endParaRPr>
          </a:p>
        </p:txBody>
      </p:sp>
      <p:grpSp>
        <p:nvGrpSpPr>
          <p:cNvPr id="254" name="群組 253">
            <a:extLst>
              <a:ext uri="{FF2B5EF4-FFF2-40B4-BE49-F238E27FC236}">
                <a16:creationId xmlns:a16="http://schemas.microsoft.com/office/drawing/2014/main" id="{C4ED3122-A7F5-4050-BAC7-41E202D6BA6F}"/>
              </a:ext>
            </a:extLst>
          </p:cNvPr>
          <p:cNvGrpSpPr/>
          <p:nvPr/>
        </p:nvGrpSpPr>
        <p:grpSpPr>
          <a:xfrm>
            <a:off x="3543519" y="2855026"/>
            <a:ext cx="588978" cy="243528"/>
            <a:chOff x="162725" y="4811697"/>
            <a:chExt cx="3132001" cy="855586"/>
          </a:xfrm>
        </p:grpSpPr>
        <p:cxnSp>
          <p:nvCxnSpPr>
            <p:cNvPr id="255" name="接點: 肘形 254">
              <a:extLst>
                <a:ext uri="{FF2B5EF4-FFF2-40B4-BE49-F238E27FC236}">
                  <a16:creationId xmlns:a16="http://schemas.microsoft.com/office/drawing/2014/main" id="{FE3A4468-F430-4B65-BB4B-E9DF251BBCC5}"/>
                </a:ext>
              </a:extLst>
            </p:cNvPr>
            <p:cNvCxnSpPr/>
            <p:nvPr/>
          </p:nvCxnSpPr>
          <p:spPr>
            <a:xfrm>
              <a:off x="16272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6" name="接點: 肘形 255">
              <a:extLst>
                <a:ext uri="{FF2B5EF4-FFF2-40B4-BE49-F238E27FC236}">
                  <a16:creationId xmlns:a16="http://schemas.microsoft.com/office/drawing/2014/main" id="{91058F7E-3110-44D5-AE28-230BA1143882}"/>
                </a:ext>
              </a:extLst>
            </p:cNvPr>
            <p:cNvCxnSpPr/>
            <p:nvPr/>
          </p:nvCxnSpPr>
          <p:spPr>
            <a:xfrm>
              <a:off x="1642877" y="4819837"/>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257" name="群組 256">
            <a:extLst>
              <a:ext uri="{FF2B5EF4-FFF2-40B4-BE49-F238E27FC236}">
                <a16:creationId xmlns:a16="http://schemas.microsoft.com/office/drawing/2014/main" id="{CA8539BA-8968-4459-B78F-47A2F57C8843}"/>
              </a:ext>
            </a:extLst>
          </p:cNvPr>
          <p:cNvGrpSpPr/>
          <p:nvPr/>
        </p:nvGrpSpPr>
        <p:grpSpPr>
          <a:xfrm rot="10800000">
            <a:off x="3545404" y="3252937"/>
            <a:ext cx="589142" cy="249109"/>
            <a:chOff x="221951" y="4813144"/>
            <a:chExt cx="3072775" cy="858403"/>
          </a:xfrm>
        </p:grpSpPr>
        <p:cxnSp>
          <p:nvCxnSpPr>
            <p:cNvPr id="258" name="接點: 肘形 257">
              <a:extLst>
                <a:ext uri="{FF2B5EF4-FFF2-40B4-BE49-F238E27FC236}">
                  <a16:creationId xmlns:a16="http://schemas.microsoft.com/office/drawing/2014/main" id="{0164D0BA-6F99-43EB-B759-A36D29195097}"/>
                </a:ext>
              </a:extLst>
            </p:cNvPr>
            <p:cNvCxnSpPr/>
            <p:nvPr/>
          </p:nvCxnSpPr>
          <p:spPr>
            <a:xfrm>
              <a:off x="221951" y="4824098"/>
              <a:ext cx="1651847" cy="847449"/>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9" name="接點: 肘形 258">
              <a:extLst>
                <a:ext uri="{FF2B5EF4-FFF2-40B4-BE49-F238E27FC236}">
                  <a16:creationId xmlns:a16="http://schemas.microsoft.com/office/drawing/2014/main" id="{0CA5266F-ADF9-4107-9265-827C19329217}"/>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260" name="群組 259">
            <a:extLst>
              <a:ext uri="{FF2B5EF4-FFF2-40B4-BE49-F238E27FC236}">
                <a16:creationId xmlns:a16="http://schemas.microsoft.com/office/drawing/2014/main" id="{F752A047-03BA-47FA-937D-904C9669982B}"/>
              </a:ext>
            </a:extLst>
          </p:cNvPr>
          <p:cNvGrpSpPr/>
          <p:nvPr/>
        </p:nvGrpSpPr>
        <p:grpSpPr>
          <a:xfrm rot="10800000">
            <a:off x="4136479" y="3251369"/>
            <a:ext cx="591682" cy="247204"/>
            <a:chOff x="182208" y="4813144"/>
            <a:chExt cx="3086022" cy="851838"/>
          </a:xfrm>
        </p:grpSpPr>
        <p:cxnSp>
          <p:nvCxnSpPr>
            <p:cNvPr id="261" name="接點: 肘形 260">
              <a:extLst>
                <a:ext uri="{FF2B5EF4-FFF2-40B4-BE49-F238E27FC236}">
                  <a16:creationId xmlns:a16="http://schemas.microsoft.com/office/drawing/2014/main" id="{B8572EB5-FC69-4229-92F1-36E1011AFBD3}"/>
                </a:ext>
              </a:extLst>
            </p:cNvPr>
            <p:cNvCxnSpPr/>
            <p:nvPr/>
          </p:nvCxnSpPr>
          <p:spPr>
            <a:xfrm>
              <a:off x="182208" y="4817534"/>
              <a:ext cx="1651847" cy="847448"/>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2" name="接點: 肘形 261">
              <a:extLst>
                <a:ext uri="{FF2B5EF4-FFF2-40B4-BE49-F238E27FC236}">
                  <a16:creationId xmlns:a16="http://schemas.microsoft.com/office/drawing/2014/main" id="{3481DDF6-E806-4B3E-B783-1DBC5BAF4E91}"/>
                </a:ext>
              </a:extLst>
            </p:cNvPr>
            <p:cNvCxnSpPr/>
            <p:nvPr/>
          </p:nvCxnSpPr>
          <p:spPr>
            <a:xfrm>
              <a:off x="1616384" y="4813144"/>
              <a:ext cx="1651846" cy="847444"/>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263" name="群組 262">
            <a:extLst>
              <a:ext uri="{FF2B5EF4-FFF2-40B4-BE49-F238E27FC236}">
                <a16:creationId xmlns:a16="http://schemas.microsoft.com/office/drawing/2014/main" id="{8B8E3D13-81D4-4B75-9D82-FE9738CA1EB1}"/>
              </a:ext>
            </a:extLst>
          </p:cNvPr>
          <p:cNvGrpSpPr/>
          <p:nvPr/>
        </p:nvGrpSpPr>
        <p:grpSpPr>
          <a:xfrm>
            <a:off x="4133960" y="2857566"/>
            <a:ext cx="588978" cy="241623"/>
            <a:chOff x="162725" y="4811697"/>
            <a:chExt cx="3132001" cy="848893"/>
          </a:xfrm>
        </p:grpSpPr>
        <p:cxnSp>
          <p:nvCxnSpPr>
            <p:cNvPr id="264" name="接點: 肘形 263">
              <a:extLst>
                <a:ext uri="{FF2B5EF4-FFF2-40B4-BE49-F238E27FC236}">
                  <a16:creationId xmlns:a16="http://schemas.microsoft.com/office/drawing/2014/main" id="{96693FF8-FE86-427B-8C41-15A8540AC887}"/>
                </a:ext>
              </a:extLst>
            </p:cNvPr>
            <p:cNvCxnSpPr/>
            <p:nvPr/>
          </p:nvCxnSpPr>
          <p:spPr>
            <a:xfrm>
              <a:off x="16272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5" name="接點: 肘形 264">
              <a:extLst>
                <a:ext uri="{FF2B5EF4-FFF2-40B4-BE49-F238E27FC236}">
                  <a16:creationId xmlns:a16="http://schemas.microsoft.com/office/drawing/2014/main" id="{EEA5F733-0025-461B-908D-C7676E76687E}"/>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266" name="群組 265">
            <a:extLst>
              <a:ext uri="{FF2B5EF4-FFF2-40B4-BE49-F238E27FC236}">
                <a16:creationId xmlns:a16="http://schemas.microsoft.com/office/drawing/2014/main" id="{05E45723-F3F7-4ACD-A83B-86440E473D0C}"/>
              </a:ext>
            </a:extLst>
          </p:cNvPr>
          <p:cNvGrpSpPr/>
          <p:nvPr/>
        </p:nvGrpSpPr>
        <p:grpSpPr>
          <a:xfrm>
            <a:off x="4724705" y="2854698"/>
            <a:ext cx="588978" cy="242258"/>
            <a:chOff x="162725" y="4811697"/>
            <a:chExt cx="3132001" cy="851124"/>
          </a:xfrm>
        </p:grpSpPr>
        <p:cxnSp>
          <p:nvCxnSpPr>
            <p:cNvPr id="267" name="接點: 肘形 266">
              <a:extLst>
                <a:ext uri="{FF2B5EF4-FFF2-40B4-BE49-F238E27FC236}">
                  <a16:creationId xmlns:a16="http://schemas.microsoft.com/office/drawing/2014/main" id="{EDD6CEDB-41F1-4BD6-9BE1-C2534940AE4C}"/>
                </a:ext>
              </a:extLst>
            </p:cNvPr>
            <p:cNvCxnSpPr/>
            <p:nvPr/>
          </p:nvCxnSpPr>
          <p:spPr>
            <a:xfrm>
              <a:off x="16272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8" name="接點: 肘形 267">
              <a:extLst>
                <a:ext uri="{FF2B5EF4-FFF2-40B4-BE49-F238E27FC236}">
                  <a16:creationId xmlns:a16="http://schemas.microsoft.com/office/drawing/2014/main" id="{EE82C423-04EC-4B22-988A-D4535853C203}"/>
                </a:ext>
              </a:extLst>
            </p:cNvPr>
            <p:cNvCxnSpPr/>
            <p:nvPr/>
          </p:nvCxnSpPr>
          <p:spPr>
            <a:xfrm>
              <a:off x="1642877" y="4815375"/>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269" name="群組 268">
            <a:extLst>
              <a:ext uri="{FF2B5EF4-FFF2-40B4-BE49-F238E27FC236}">
                <a16:creationId xmlns:a16="http://schemas.microsoft.com/office/drawing/2014/main" id="{9E27CFD0-11BF-4843-BB7C-C6D08C678156}"/>
              </a:ext>
            </a:extLst>
          </p:cNvPr>
          <p:cNvGrpSpPr/>
          <p:nvPr/>
        </p:nvGrpSpPr>
        <p:grpSpPr>
          <a:xfrm rot="10800000">
            <a:off x="4730145" y="3251371"/>
            <a:ext cx="589142" cy="247204"/>
            <a:chOff x="221951" y="4813144"/>
            <a:chExt cx="3072775" cy="851839"/>
          </a:xfrm>
        </p:grpSpPr>
        <p:cxnSp>
          <p:nvCxnSpPr>
            <p:cNvPr id="270" name="接點: 肘形 269">
              <a:extLst>
                <a:ext uri="{FF2B5EF4-FFF2-40B4-BE49-F238E27FC236}">
                  <a16:creationId xmlns:a16="http://schemas.microsoft.com/office/drawing/2014/main" id="{D24548CA-2680-4582-9281-49FACE442431}"/>
                </a:ext>
              </a:extLst>
            </p:cNvPr>
            <p:cNvCxnSpPr/>
            <p:nvPr/>
          </p:nvCxnSpPr>
          <p:spPr>
            <a:xfrm>
              <a:off x="221951" y="4817534"/>
              <a:ext cx="1651847" cy="847449"/>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1" name="接點: 肘形 270">
              <a:extLst>
                <a:ext uri="{FF2B5EF4-FFF2-40B4-BE49-F238E27FC236}">
                  <a16:creationId xmlns:a16="http://schemas.microsoft.com/office/drawing/2014/main" id="{940718A8-D26D-4895-96E9-936332A55C27}"/>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cxnSp>
        <p:nvCxnSpPr>
          <p:cNvPr id="12" name="接點: 肘形 11">
            <a:extLst>
              <a:ext uri="{FF2B5EF4-FFF2-40B4-BE49-F238E27FC236}">
                <a16:creationId xmlns:a16="http://schemas.microsoft.com/office/drawing/2014/main" id="{A7B0DF93-1D0E-481C-9560-6C43437CE57E}"/>
              </a:ext>
            </a:extLst>
          </p:cNvPr>
          <p:cNvCxnSpPr>
            <a:cxnSpLocks/>
            <a:endCxn id="224" idx="4"/>
          </p:cNvCxnSpPr>
          <p:nvPr/>
        </p:nvCxnSpPr>
        <p:spPr>
          <a:xfrm rot="5400000" flipH="1" flipV="1">
            <a:off x="7087223" y="3724224"/>
            <a:ext cx="1513388" cy="424167"/>
          </a:xfrm>
          <a:prstGeom prst="bentConnector4">
            <a:avLst>
              <a:gd name="adj1" fmla="val 65684"/>
              <a:gd name="adj2" fmla="val 153894"/>
            </a:avLst>
          </a:prstGeom>
          <a:ln w="50800">
            <a:solidFill>
              <a:srgbClr val="00B050"/>
            </a:solidFill>
            <a:headEnd type="triangle"/>
            <a:tailEnd type="non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cxnSp>
        <p:nvCxnSpPr>
          <p:cNvPr id="15" name="接點: 肘形 14">
            <a:extLst>
              <a:ext uri="{FF2B5EF4-FFF2-40B4-BE49-F238E27FC236}">
                <a16:creationId xmlns:a16="http://schemas.microsoft.com/office/drawing/2014/main" id="{D3E75FB2-4DDB-4264-A156-FAB60D50E82D}"/>
              </a:ext>
            </a:extLst>
          </p:cNvPr>
          <p:cNvCxnSpPr>
            <a:cxnSpLocks/>
            <a:stCxn id="224" idx="5"/>
          </p:cNvCxnSpPr>
          <p:nvPr/>
        </p:nvCxnSpPr>
        <p:spPr>
          <a:xfrm flipH="1">
            <a:off x="7962888" y="3069383"/>
            <a:ext cx="203342" cy="1620161"/>
          </a:xfrm>
          <a:prstGeom prst="bentConnector4">
            <a:avLst>
              <a:gd name="adj1" fmla="val -112421"/>
              <a:gd name="adj2" fmla="val 44865"/>
            </a:avLst>
          </a:prstGeom>
          <a:ln w="50800">
            <a:solidFill>
              <a:srgbClr val="FFC000"/>
            </a:solidFill>
            <a:tailEnd type="triangl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sp>
        <p:nvSpPr>
          <p:cNvPr id="24" name="手繪多邊形: 圖案 23">
            <a:extLst>
              <a:ext uri="{FF2B5EF4-FFF2-40B4-BE49-F238E27FC236}">
                <a16:creationId xmlns:a16="http://schemas.microsoft.com/office/drawing/2014/main" id="{54A415DC-C746-4115-8285-5B5804395F5C}"/>
              </a:ext>
            </a:extLst>
          </p:cNvPr>
          <p:cNvSpPr/>
          <p:nvPr/>
        </p:nvSpPr>
        <p:spPr>
          <a:xfrm>
            <a:off x="5196840" y="2009140"/>
            <a:ext cx="1809750" cy="1192530"/>
          </a:xfrm>
          <a:custGeom>
            <a:avLst/>
            <a:gdLst>
              <a:gd name="connsiteX0" fmla="*/ 0 w 1809750"/>
              <a:gd name="connsiteY0" fmla="*/ 0 h 1192530"/>
              <a:gd name="connsiteX1" fmla="*/ 457200 w 1809750"/>
              <a:gd name="connsiteY1" fmla="*/ 377190 h 1192530"/>
              <a:gd name="connsiteX2" fmla="*/ 1173480 w 1809750"/>
              <a:gd name="connsiteY2" fmla="*/ 621030 h 1192530"/>
              <a:gd name="connsiteX3" fmla="*/ 1512570 w 1809750"/>
              <a:gd name="connsiteY3" fmla="*/ 1089660 h 1192530"/>
              <a:gd name="connsiteX4" fmla="*/ 1809750 w 1809750"/>
              <a:gd name="connsiteY4" fmla="*/ 1192530 h 1192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9750" h="1192530">
                <a:moveTo>
                  <a:pt x="0" y="0"/>
                </a:moveTo>
                <a:cubicBezTo>
                  <a:pt x="130810" y="136842"/>
                  <a:pt x="261620" y="273685"/>
                  <a:pt x="457200" y="377190"/>
                </a:cubicBezTo>
                <a:cubicBezTo>
                  <a:pt x="652780" y="480695"/>
                  <a:pt x="997585" y="502285"/>
                  <a:pt x="1173480" y="621030"/>
                </a:cubicBezTo>
                <a:cubicBezTo>
                  <a:pt x="1349375" y="739775"/>
                  <a:pt x="1406525" y="994410"/>
                  <a:pt x="1512570" y="1089660"/>
                </a:cubicBezTo>
                <a:cubicBezTo>
                  <a:pt x="1618615" y="1184910"/>
                  <a:pt x="1714182" y="1188720"/>
                  <a:pt x="1809750" y="119253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手繪多邊形: 圖案 26">
            <a:extLst>
              <a:ext uri="{FF2B5EF4-FFF2-40B4-BE49-F238E27FC236}">
                <a16:creationId xmlns:a16="http://schemas.microsoft.com/office/drawing/2014/main" id="{05E9982E-E252-422E-9671-35AC31367876}"/>
              </a:ext>
            </a:extLst>
          </p:cNvPr>
          <p:cNvSpPr/>
          <p:nvPr/>
        </p:nvSpPr>
        <p:spPr>
          <a:xfrm>
            <a:off x="5589270" y="2009140"/>
            <a:ext cx="1436370" cy="1197633"/>
          </a:xfrm>
          <a:custGeom>
            <a:avLst/>
            <a:gdLst>
              <a:gd name="connsiteX0" fmla="*/ 0 w 1436370"/>
              <a:gd name="connsiteY0" fmla="*/ 0 h 1197633"/>
              <a:gd name="connsiteX1" fmla="*/ 739140 w 1436370"/>
              <a:gd name="connsiteY1" fmla="*/ 369570 h 1197633"/>
              <a:gd name="connsiteX2" fmla="*/ 1226820 w 1436370"/>
              <a:gd name="connsiteY2" fmla="*/ 1085850 h 1197633"/>
              <a:gd name="connsiteX3" fmla="*/ 1436370 w 1436370"/>
              <a:gd name="connsiteY3" fmla="*/ 1184910 h 1197633"/>
            </a:gdLst>
            <a:ahLst/>
            <a:cxnLst>
              <a:cxn ang="0">
                <a:pos x="connsiteX0" y="connsiteY0"/>
              </a:cxn>
              <a:cxn ang="0">
                <a:pos x="connsiteX1" y="connsiteY1"/>
              </a:cxn>
              <a:cxn ang="0">
                <a:pos x="connsiteX2" y="connsiteY2"/>
              </a:cxn>
              <a:cxn ang="0">
                <a:pos x="connsiteX3" y="connsiteY3"/>
              </a:cxn>
            </a:cxnLst>
            <a:rect l="l" t="t" r="r" b="b"/>
            <a:pathLst>
              <a:path w="1436370" h="1197633">
                <a:moveTo>
                  <a:pt x="0" y="0"/>
                </a:moveTo>
                <a:cubicBezTo>
                  <a:pt x="267335" y="94297"/>
                  <a:pt x="534670" y="188595"/>
                  <a:pt x="739140" y="369570"/>
                </a:cubicBezTo>
                <a:cubicBezTo>
                  <a:pt x="943610" y="550545"/>
                  <a:pt x="1110615" y="949960"/>
                  <a:pt x="1226820" y="1085850"/>
                </a:cubicBezTo>
                <a:cubicBezTo>
                  <a:pt x="1343025" y="1221740"/>
                  <a:pt x="1389697" y="1203325"/>
                  <a:pt x="1436370" y="118491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手繪多邊形: 圖案 27">
            <a:extLst>
              <a:ext uri="{FF2B5EF4-FFF2-40B4-BE49-F238E27FC236}">
                <a16:creationId xmlns:a16="http://schemas.microsoft.com/office/drawing/2014/main" id="{B72915A7-0C9D-49E5-9323-75A3A09DF869}"/>
              </a:ext>
            </a:extLst>
          </p:cNvPr>
          <p:cNvSpPr/>
          <p:nvPr/>
        </p:nvSpPr>
        <p:spPr>
          <a:xfrm>
            <a:off x="6773607" y="2009140"/>
            <a:ext cx="236793" cy="1192530"/>
          </a:xfrm>
          <a:custGeom>
            <a:avLst/>
            <a:gdLst>
              <a:gd name="connsiteX0" fmla="*/ 183453 w 236793"/>
              <a:gd name="connsiteY0" fmla="*/ 0 h 1192530"/>
              <a:gd name="connsiteX1" fmla="*/ 573 w 236793"/>
              <a:gd name="connsiteY1" fmla="*/ 472440 h 1192530"/>
              <a:gd name="connsiteX2" fmla="*/ 236793 w 236793"/>
              <a:gd name="connsiteY2" fmla="*/ 1192530 h 1192530"/>
            </a:gdLst>
            <a:ahLst/>
            <a:cxnLst>
              <a:cxn ang="0">
                <a:pos x="connsiteX0" y="connsiteY0"/>
              </a:cxn>
              <a:cxn ang="0">
                <a:pos x="connsiteX1" y="connsiteY1"/>
              </a:cxn>
              <a:cxn ang="0">
                <a:pos x="connsiteX2" y="connsiteY2"/>
              </a:cxn>
            </a:cxnLst>
            <a:rect l="l" t="t" r="r" b="b"/>
            <a:pathLst>
              <a:path w="236793" h="1192530">
                <a:moveTo>
                  <a:pt x="183453" y="0"/>
                </a:moveTo>
                <a:cubicBezTo>
                  <a:pt x="87568" y="136842"/>
                  <a:pt x="-8317" y="273685"/>
                  <a:pt x="573" y="472440"/>
                </a:cubicBezTo>
                <a:cubicBezTo>
                  <a:pt x="9463" y="671195"/>
                  <a:pt x="123128" y="931862"/>
                  <a:pt x="236793" y="119253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手繪多邊形: 圖案 28">
            <a:extLst>
              <a:ext uri="{FF2B5EF4-FFF2-40B4-BE49-F238E27FC236}">
                <a16:creationId xmlns:a16="http://schemas.microsoft.com/office/drawing/2014/main" id="{77680EF2-18B4-4648-A1AD-914E4BADD84F}"/>
              </a:ext>
            </a:extLst>
          </p:cNvPr>
          <p:cNvSpPr/>
          <p:nvPr/>
        </p:nvSpPr>
        <p:spPr>
          <a:xfrm>
            <a:off x="6921412" y="2012950"/>
            <a:ext cx="460112" cy="1184910"/>
          </a:xfrm>
          <a:custGeom>
            <a:avLst/>
            <a:gdLst>
              <a:gd name="connsiteX0" fmla="*/ 431888 w 460112"/>
              <a:gd name="connsiteY0" fmla="*/ 0 h 1184910"/>
              <a:gd name="connsiteX1" fmla="*/ 416648 w 460112"/>
              <a:gd name="connsiteY1" fmla="*/ 483870 h 1184910"/>
              <a:gd name="connsiteX2" fmla="*/ 20408 w 460112"/>
              <a:gd name="connsiteY2" fmla="*/ 628650 h 1184910"/>
              <a:gd name="connsiteX3" fmla="*/ 92798 w 460112"/>
              <a:gd name="connsiteY3" fmla="*/ 1184910 h 1184910"/>
            </a:gdLst>
            <a:ahLst/>
            <a:cxnLst>
              <a:cxn ang="0">
                <a:pos x="connsiteX0" y="connsiteY0"/>
              </a:cxn>
              <a:cxn ang="0">
                <a:pos x="connsiteX1" y="connsiteY1"/>
              </a:cxn>
              <a:cxn ang="0">
                <a:pos x="connsiteX2" y="connsiteY2"/>
              </a:cxn>
              <a:cxn ang="0">
                <a:pos x="connsiteX3" y="connsiteY3"/>
              </a:cxn>
            </a:cxnLst>
            <a:rect l="l" t="t" r="r" b="b"/>
            <a:pathLst>
              <a:path w="460112" h="1184910">
                <a:moveTo>
                  <a:pt x="431888" y="0"/>
                </a:moveTo>
                <a:cubicBezTo>
                  <a:pt x="458558" y="189547"/>
                  <a:pt x="485228" y="379095"/>
                  <a:pt x="416648" y="483870"/>
                </a:cubicBezTo>
                <a:cubicBezTo>
                  <a:pt x="348068" y="588645"/>
                  <a:pt x="74383" y="511810"/>
                  <a:pt x="20408" y="628650"/>
                </a:cubicBezTo>
                <a:cubicBezTo>
                  <a:pt x="-33567" y="745490"/>
                  <a:pt x="29615" y="965200"/>
                  <a:pt x="92798" y="118491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單箭頭接點 7">
            <a:extLst>
              <a:ext uri="{FF2B5EF4-FFF2-40B4-BE49-F238E27FC236}">
                <a16:creationId xmlns:a16="http://schemas.microsoft.com/office/drawing/2014/main" id="{35FC4F2F-2A7C-4735-B013-9E912BFC03B0}"/>
              </a:ext>
            </a:extLst>
          </p:cNvPr>
          <p:cNvCxnSpPr/>
          <p:nvPr/>
        </p:nvCxnSpPr>
        <p:spPr>
          <a:xfrm>
            <a:off x="5281514" y="3022406"/>
            <a:ext cx="1728000" cy="0"/>
          </a:xfrm>
          <a:prstGeom prst="straightConnector1">
            <a:avLst/>
          </a:prstGeom>
          <a:ln w="50800">
            <a:solidFill>
              <a:srgbClr val="FFC000"/>
            </a:solidFill>
            <a:tailEnd type="triangl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sp>
        <p:nvSpPr>
          <p:cNvPr id="3" name="投影片編號版面配置區 2">
            <a:extLst>
              <a:ext uri="{FF2B5EF4-FFF2-40B4-BE49-F238E27FC236}">
                <a16:creationId xmlns:a16="http://schemas.microsoft.com/office/drawing/2014/main" id="{25624DC1-63BF-417C-A3DE-3C718D892F66}"/>
              </a:ext>
            </a:extLst>
          </p:cNvPr>
          <p:cNvSpPr>
            <a:spLocks noGrp="1"/>
          </p:cNvSpPr>
          <p:nvPr>
            <p:ph type="sldNum" sz="quarter" idx="12"/>
          </p:nvPr>
        </p:nvSpPr>
        <p:spPr/>
        <p:txBody>
          <a:bodyPr/>
          <a:lstStyle/>
          <a:p>
            <a:fld id="{9044CBB6-E20C-4076-82F9-F8F95241C54D}" type="slidenum">
              <a:rPr lang="zh-TW" altLang="en-US" smtClean="0"/>
              <a:t>32</a:t>
            </a:fld>
            <a:endParaRPr lang="zh-TW" altLang="en-US"/>
          </a:p>
        </p:txBody>
      </p:sp>
    </p:spTree>
    <p:extLst>
      <p:ext uri="{BB962C8B-B14F-4D97-AF65-F5344CB8AC3E}">
        <p14:creationId xmlns:p14="http://schemas.microsoft.com/office/powerpoint/2010/main" val="2699177182"/>
      </p:ext>
    </p:extLst>
  </p:cSld>
  <p:clrMapOvr>
    <a:masterClrMapping/>
  </p:clrMapOvr>
  <p:transition spd="med">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 name="圖片 136">
            <a:extLst>
              <a:ext uri="{FF2B5EF4-FFF2-40B4-BE49-F238E27FC236}">
                <a16:creationId xmlns:a16="http://schemas.microsoft.com/office/drawing/2014/main" id="{EB75C535-2D92-46D9-8CF6-B6E4F97AE25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703048" y="1263384"/>
            <a:ext cx="3874958" cy="2700000"/>
          </a:xfrm>
          <a:prstGeom prst="rect">
            <a:avLst/>
          </a:prstGeom>
          <a:ln>
            <a:noFill/>
          </a:ln>
          <a:effectLst>
            <a:outerShdw blurRad="292100" dist="139700" dir="2700000" algn="tl" rotWithShape="0">
              <a:srgbClr val="333333">
                <a:alpha val="65000"/>
              </a:srgbClr>
            </a:outerShdw>
          </a:effectLst>
        </p:spPr>
      </p:pic>
      <p:pic>
        <p:nvPicPr>
          <p:cNvPr id="138" name="圖片 137">
            <a:extLst>
              <a:ext uri="{FF2B5EF4-FFF2-40B4-BE49-F238E27FC236}">
                <a16:creationId xmlns:a16="http://schemas.microsoft.com/office/drawing/2014/main" id="{68005043-FC0E-4026-AE6E-B7735051798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776007" y="1263384"/>
            <a:ext cx="3874958" cy="2700000"/>
          </a:xfrm>
          <a:prstGeom prst="rect">
            <a:avLst/>
          </a:prstGeom>
          <a:ln>
            <a:noFill/>
          </a:ln>
          <a:effectLst/>
        </p:spPr>
      </p:pic>
      <p:sp>
        <p:nvSpPr>
          <p:cNvPr id="140" name="文字方塊 139">
            <a:extLst>
              <a:ext uri="{FF2B5EF4-FFF2-40B4-BE49-F238E27FC236}">
                <a16:creationId xmlns:a16="http://schemas.microsoft.com/office/drawing/2014/main" id="{6A9CE0AC-ED66-40BA-A22C-418012D6ABF4}"/>
              </a:ext>
            </a:extLst>
          </p:cNvPr>
          <p:cNvSpPr txBox="1"/>
          <p:nvPr/>
        </p:nvSpPr>
        <p:spPr>
          <a:xfrm>
            <a:off x="3645398" y="1267016"/>
            <a:ext cx="1661032" cy="307777"/>
          </a:xfrm>
          <a:prstGeom prst="rect">
            <a:avLst/>
          </a:prstGeom>
          <a:noFill/>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1064nm Pulse width</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41" name="圖片 140">
            <a:extLst>
              <a:ext uri="{FF2B5EF4-FFF2-40B4-BE49-F238E27FC236}">
                <a16:creationId xmlns:a16="http://schemas.microsoft.com/office/drawing/2014/main" id="{60CCCDAD-CC80-4E45-95A7-E8C10FAA93E2}"/>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703048" y="4052916"/>
            <a:ext cx="3874957" cy="2700000"/>
          </a:xfrm>
          <a:prstGeom prst="rect">
            <a:avLst/>
          </a:prstGeom>
          <a:ln>
            <a:noFill/>
          </a:ln>
          <a:effectLst>
            <a:outerShdw blurRad="292100" dist="139700" dir="2700000" algn="tl" rotWithShape="0">
              <a:srgbClr val="333333">
                <a:alpha val="65000"/>
              </a:srgbClr>
            </a:outerShdw>
          </a:effectLst>
        </p:spPr>
      </p:pic>
      <p:pic>
        <p:nvPicPr>
          <p:cNvPr id="142" name="圖片 141">
            <a:extLst>
              <a:ext uri="{FF2B5EF4-FFF2-40B4-BE49-F238E27FC236}">
                <a16:creationId xmlns:a16="http://schemas.microsoft.com/office/drawing/2014/main" id="{121C59B0-951A-4853-822C-B612207E1C0B}"/>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3776007" y="4110044"/>
            <a:ext cx="3874957" cy="2700000"/>
          </a:xfrm>
          <a:prstGeom prst="rect">
            <a:avLst/>
          </a:prstGeom>
          <a:ln>
            <a:noFill/>
          </a:ln>
          <a:effectLst/>
        </p:spPr>
      </p:pic>
      <p:sp>
        <p:nvSpPr>
          <p:cNvPr id="143" name="文字方塊 142">
            <a:extLst>
              <a:ext uri="{FF2B5EF4-FFF2-40B4-BE49-F238E27FC236}">
                <a16:creationId xmlns:a16="http://schemas.microsoft.com/office/drawing/2014/main" id="{3E518D90-A0AE-43AB-8B17-0D5C46442A83}"/>
              </a:ext>
            </a:extLst>
          </p:cNvPr>
          <p:cNvSpPr txBox="1"/>
          <p:nvPr/>
        </p:nvSpPr>
        <p:spPr>
          <a:xfrm>
            <a:off x="7703048" y="6445139"/>
            <a:ext cx="732384"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532nm</a:t>
            </a:r>
            <a:endParaRPr lang="zh-TW" altLang="en-US" sz="1400" dirty="0">
              <a:latin typeface="Times New Roman" panose="02020603050405020304" pitchFamily="18" charset="0"/>
              <a:cs typeface="Times New Roman" panose="02020603050405020304" pitchFamily="18" charset="0"/>
            </a:endParaRPr>
          </a:p>
        </p:txBody>
      </p:sp>
      <p:sp>
        <p:nvSpPr>
          <p:cNvPr id="144" name="文字方塊 143">
            <a:extLst>
              <a:ext uri="{FF2B5EF4-FFF2-40B4-BE49-F238E27FC236}">
                <a16:creationId xmlns:a16="http://schemas.microsoft.com/office/drawing/2014/main" id="{090200F4-016C-4DBF-B97A-B0BD68E14522}"/>
              </a:ext>
            </a:extLst>
          </p:cNvPr>
          <p:cNvSpPr txBox="1"/>
          <p:nvPr/>
        </p:nvSpPr>
        <p:spPr>
          <a:xfrm>
            <a:off x="3690282" y="4051697"/>
            <a:ext cx="1571264" cy="307777"/>
          </a:xfrm>
          <a:prstGeom prst="rect">
            <a:avLst/>
          </a:prstGeom>
          <a:noFill/>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532nm Pulse width</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5" name="文字方塊 144">
            <a:extLst>
              <a:ext uri="{FF2B5EF4-FFF2-40B4-BE49-F238E27FC236}">
                <a16:creationId xmlns:a16="http://schemas.microsoft.com/office/drawing/2014/main" id="{578281BB-76B5-40D4-8499-0CB3D09D89B0}"/>
              </a:ext>
            </a:extLst>
          </p:cNvPr>
          <p:cNvSpPr txBox="1"/>
          <p:nvPr/>
        </p:nvSpPr>
        <p:spPr>
          <a:xfrm>
            <a:off x="9322004" y="720630"/>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6" name="文字方塊 145">
            <a:extLst>
              <a:ext uri="{FF2B5EF4-FFF2-40B4-BE49-F238E27FC236}">
                <a16:creationId xmlns:a16="http://schemas.microsoft.com/office/drawing/2014/main" id="{DD28FE8B-C2FB-40D3-83CD-4FFA3A377A84}"/>
              </a:ext>
            </a:extLst>
          </p:cNvPr>
          <p:cNvSpPr txBox="1"/>
          <p:nvPr/>
        </p:nvSpPr>
        <p:spPr>
          <a:xfrm>
            <a:off x="9303975" y="1079065"/>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267V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47" name="群組 146">
            <a:extLst>
              <a:ext uri="{FF2B5EF4-FFF2-40B4-BE49-F238E27FC236}">
                <a16:creationId xmlns:a16="http://schemas.microsoft.com/office/drawing/2014/main" id="{9EF938DD-1522-49B0-8401-A0F95123DF56}"/>
              </a:ext>
            </a:extLst>
          </p:cNvPr>
          <p:cNvGrpSpPr/>
          <p:nvPr/>
        </p:nvGrpSpPr>
        <p:grpSpPr>
          <a:xfrm>
            <a:off x="9424502" y="951668"/>
            <a:ext cx="592788" cy="241623"/>
            <a:chOff x="142465" y="4811697"/>
            <a:chExt cx="3152261" cy="848893"/>
          </a:xfrm>
        </p:grpSpPr>
        <p:cxnSp>
          <p:nvCxnSpPr>
            <p:cNvPr id="148" name="接點: 肘形 147">
              <a:extLst>
                <a:ext uri="{FF2B5EF4-FFF2-40B4-BE49-F238E27FC236}">
                  <a16:creationId xmlns:a16="http://schemas.microsoft.com/office/drawing/2014/main" id="{7E922D40-025E-42ED-B59E-11216E95AC02}"/>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9" name="接點: 肘形 148">
              <a:extLst>
                <a:ext uri="{FF2B5EF4-FFF2-40B4-BE49-F238E27FC236}">
                  <a16:creationId xmlns:a16="http://schemas.microsoft.com/office/drawing/2014/main" id="{CED4C5D0-CDB6-48A0-9C4E-33562609F315}"/>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150" name="文字方塊 149">
            <a:extLst>
              <a:ext uri="{FF2B5EF4-FFF2-40B4-BE49-F238E27FC236}">
                <a16:creationId xmlns:a16="http://schemas.microsoft.com/office/drawing/2014/main" id="{12768C96-25AC-41A3-AEB3-8AF3EFA9C8B9}"/>
              </a:ext>
            </a:extLst>
          </p:cNvPr>
          <p:cNvSpPr txBox="1"/>
          <p:nvPr/>
        </p:nvSpPr>
        <p:spPr>
          <a:xfrm>
            <a:off x="8527875" y="720424"/>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1" name="文字方塊 150">
            <a:extLst>
              <a:ext uri="{FF2B5EF4-FFF2-40B4-BE49-F238E27FC236}">
                <a16:creationId xmlns:a16="http://schemas.microsoft.com/office/drawing/2014/main" id="{26A8AD8D-AA4D-4F44-93A3-20C30BFEF678}"/>
              </a:ext>
            </a:extLst>
          </p:cNvPr>
          <p:cNvSpPr txBox="1"/>
          <p:nvPr/>
        </p:nvSpPr>
        <p:spPr>
          <a:xfrm>
            <a:off x="8509846" y="1078859"/>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261V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52" name="群組 151">
            <a:extLst>
              <a:ext uri="{FF2B5EF4-FFF2-40B4-BE49-F238E27FC236}">
                <a16:creationId xmlns:a16="http://schemas.microsoft.com/office/drawing/2014/main" id="{E6398F37-8E1E-49CE-BC90-5A1863843B03}"/>
              </a:ext>
            </a:extLst>
          </p:cNvPr>
          <p:cNvGrpSpPr/>
          <p:nvPr/>
        </p:nvGrpSpPr>
        <p:grpSpPr>
          <a:xfrm>
            <a:off x="8630373" y="951462"/>
            <a:ext cx="592788" cy="241623"/>
            <a:chOff x="142465" y="4811697"/>
            <a:chExt cx="3152261" cy="848893"/>
          </a:xfrm>
        </p:grpSpPr>
        <p:cxnSp>
          <p:nvCxnSpPr>
            <p:cNvPr id="153" name="接點: 肘形 152">
              <a:extLst>
                <a:ext uri="{FF2B5EF4-FFF2-40B4-BE49-F238E27FC236}">
                  <a16:creationId xmlns:a16="http://schemas.microsoft.com/office/drawing/2014/main" id="{BFA97048-F71E-47B4-BD3A-616ECDF62B32}"/>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4" name="接點: 肘形 153">
              <a:extLst>
                <a:ext uri="{FF2B5EF4-FFF2-40B4-BE49-F238E27FC236}">
                  <a16:creationId xmlns:a16="http://schemas.microsoft.com/office/drawing/2014/main" id="{5E03B5C5-F5C7-4F9E-82A0-CE579265A626}"/>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155" name="文字方塊 154">
            <a:extLst>
              <a:ext uri="{FF2B5EF4-FFF2-40B4-BE49-F238E27FC236}">
                <a16:creationId xmlns:a16="http://schemas.microsoft.com/office/drawing/2014/main" id="{1122EBBF-63D8-48E3-9E69-B8177B05764D}"/>
              </a:ext>
            </a:extLst>
          </p:cNvPr>
          <p:cNvSpPr txBox="1"/>
          <p:nvPr/>
        </p:nvSpPr>
        <p:spPr>
          <a:xfrm>
            <a:off x="10080825" y="714320"/>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6" name="文字方塊 155">
            <a:extLst>
              <a:ext uri="{FF2B5EF4-FFF2-40B4-BE49-F238E27FC236}">
                <a16:creationId xmlns:a16="http://schemas.microsoft.com/office/drawing/2014/main" id="{0BC6382F-1802-41A1-9749-4E25363A7007}"/>
              </a:ext>
            </a:extLst>
          </p:cNvPr>
          <p:cNvSpPr txBox="1"/>
          <p:nvPr/>
        </p:nvSpPr>
        <p:spPr>
          <a:xfrm>
            <a:off x="10062796" y="1072755"/>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269V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57" name="群組 156">
            <a:extLst>
              <a:ext uri="{FF2B5EF4-FFF2-40B4-BE49-F238E27FC236}">
                <a16:creationId xmlns:a16="http://schemas.microsoft.com/office/drawing/2014/main" id="{BCAB5631-77A0-40F6-830C-E92DC3997826}"/>
              </a:ext>
            </a:extLst>
          </p:cNvPr>
          <p:cNvGrpSpPr/>
          <p:nvPr/>
        </p:nvGrpSpPr>
        <p:grpSpPr>
          <a:xfrm>
            <a:off x="10183323" y="945358"/>
            <a:ext cx="592788" cy="241623"/>
            <a:chOff x="142465" y="4811697"/>
            <a:chExt cx="3152261" cy="848893"/>
          </a:xfrm>
        </p:grpSpPr>
        <p:cxnSp>
          <p:nvCxnSpPr>
            <p:cNvPr id="158" name="接點: 肘形 157">
              <a:extLst>
                <a:ext uri="{FF2B5EF4-FFF2-40B4-BE49-F238E27FC236}">
                  <a16:creationId xmlns:a16="http://schemas.microsoft.com/office/drawing/2014/main" id="{9052C906-5068-45F4-874F-2336BC362205}"/>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接點: 肘形 158">
              <a:extLst>
                <a:ext uri="{FF2B5EF4-FFF2-40B4-BE49-F238E27FC236}">
                  <a16:creationId xmlns:a16="http://schemas.microsoft.com/office/drawing/2014/main" id="{06B17D1E-F9A8-4206-802A-08682817F932}"/>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160" name="文字方塊 159">
            <a:extLst>
              <a:ext uri="{FF2B5EF4-FFF2-40B4-BE49-F238E27FC236}">
                <a16:creationId xmlns:a16="http://schemas.microsoft.com/office/drawing/2014/main" id="{A3718A68-3980-49FC-ACD9-E68A82C45152}"/>
              </a:ext>
            </a:extLst>
          </p:cNvPr>
          <p:cNvSpPr txBox="1"/>
          <p:nvPr/>
        </p:nvSpPr>
        <p:spPr>
          <a:xfrm>
            <a:off x="7721077" y="713908"/>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1" name="文字方塊 160">
            <a:extLst>
              <a:ext uri="{FF2B5EF4-FFF2-40B4-BE49-F238E27FC236}">
                <a16:creationId xmlns:a16="http://schemas.microsoft.com/office/drawing/2014/main" id="{F2A8089C-A7DD-4A3E-9BC7-3BF187436AC1}"/>
              </a:ext>
            </a:extLst>
          </p:cNvPr>
          <p:cNvSpPr txBox="1"/>
          <p:nvPr/>
        </p:nvSpPr>
        <p:spPr>
          <a:xfrm>
            <a:off x="7703048" y="1072343"/>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255V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62" name="群組 161">
            <a:extLst>
              <a:ext uri="{FF2B5EF4-FFF2-40B4-BE49-F238E27FC236}">
                <a16:creationId xmlns:a16="http://schemas.microsoft.com/office/drawing/2014/main" id="{48061E9D-6260-4F11-B989-FA8669F8A82E}"/>
              </a:ext>
            </a:extLst>
          </p:cNvPr>
          <p:cNvGrpSpPr/>
          <p:nvPr/>
        </p:nvGrpSpPr>
        <p:grpSpPr>
          <a:xfrm>
            <a:off x="7823575" y="944946"/>
            <a:ext cx="592788" cy="241623"/>
            <a:chOff x="142465" y="4811697"/>
            <a:chExt cx="3152261" cy="848893"/>
          </a:xfrm>
        </p:grpSpPr>
        <p:cxnSp>
          <p:nvCxnSpPr>
            <p:cNvPr id="163" name="接點: 肘形 162">
              <a:extLst>
                <a:ext uri="{FF2B5EF4-FFF2-40B4-BE49-F238E27FC236}">
                  <a16:creationId xmlns:a16="http://schemas.microsoft.com/office/drawing/2014/main" id="{45791A76-5D85-4877-841F-A78E2B983822}"/>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4" name="接點: 肘形 163">
              <a:extLst>
                <a:ext uri="{FF2B5EF4-FFF2-40B4-BE49-F238E27FC236}">
                  <a16:creationId xmlns:a16="http://schemas.microsoft.com/office/drawing/2014/main" id="{7FAE871B-6CD6-4440-8B40-4AAA15CF3EF1}"/>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165" name="文字方塊 164">
            <a:extLst>
              <a:ext uri="{FF2B5EF4-FFF2-40B4-BE49-F238E27FC236}">
                <a16:creationId xmlns:a16="http://schemas.microsoft.com/office/drawing/2014/main" id="{8644C5DA-CFB4-463C-BA79-F00545906BE1}"/>
              </a:ext>
            </a:extLst>
          </p:cNvPr>
          <p:cNvSpPr txBox="1"/>
          <p:nvPr/>
        </p:nvSpPr>
        <p:spPr>
          <a:xfrm>
            <a:off x="10827985" y="713702"/>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6" name="文字方塊 165">
            <a:extLst>
              <a:ext uri="{FF2B5EF4-FFF2-40B4-BE49-F238E27FC236}">
                <a16:creationId xmlns:a16="http://schemas.microsoft.com/office/drawing/2014/main" id="{F9F6BF11-080F-4BB7-96A6-01D90E7D0F8C}"/>
              </a:ext>
            </a:extLst>
          </p:cNvPr>
          <p:cNvSpPr txBox="1"/>
          <p:nvPr/>
        </p:nvSpPr>
        <p:spPr>
          <a:xfrm>
            <a:off x="10809956" y="1072137"/>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273V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67" name="群組 166">
            <a:extLst>
              <a:ext uri="{FF2B5EF4-FFF2-40B4-BE49-F238E27FC236}">
                <a16:creationId xmlns:a16="http://schemas.microsoft.com/office/drawing/2014/main" id="{776A6D2D-E560-4A72-ADFA-841E0D33DE2C}"/>
              </a:ext>
            </a:extLst>
          </p:cNvPr>
          <p:cNvGrpSpPr/>
          <p:nvPr/>
        </p:nvGrpSpPr>
        <p:grpSpPr>
          <a:xfrm>
            <a:off x="10930483" y="944740"/>
            <a:ext cx="592788" cy="241623"/>
            <a:chOff x="142465" y="4811697"/>
            <a:chExt cx="3152261" cy="848893"/>
          </a:xfrm>
        </p:grpSpPr>
        <p:cxnSp>
          <p:nvCxnSpPr>
            <p:cNvPr id="168" name="接點: 肘形 167">
              <a:extLst>
                <a:ext uri="{FF2B5EF4-FFF2-40B4-BE49-F238E27FC236}">
                  <a16:creationId xmlns:a16="http://schemas.microsoft.com/office/drawing/2014/main" id="{83A4895D-0C33-49C6-A7CC-6437E4C3FA39}"/>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9" name="接點: 肘形 168">
              <a:extLst>
                <a:ext uri="{FF2B5EF4-FFF2-40B4-BE49-F238E27FC236}">
                  <a16:creationId xmlns:a16="http://schemas.microsoft.com/office/drawing/2014/main" id="{CF991F00-F25E-482C-9E74-EA8FB076855E}"/>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pic>
        <p:nvPicPr>
          <p:cNvPr id="17" name="圖片 16">
            <a:extLst>
              <a:ext uri="{FF2B5EF4-FFF2-40B4-BE49-F238E27FC236}">
                <a16:creationId xmlns:a16="http://schemas.microsoft.com/office/drawing/2014/main" id="{017301D5-9C51-4DDC-9A8C-FD30CDC189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712" y="3812322"/>
            <a:ext cx="3710094" cy="2782570"/>
          </a:xfrm>
          <a:prstGeom prst="rect">
            <a:avLst/>
          </a:prstGeom>
        </p:spPr>
      </p:pic>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3" name="投影片編號版面配置區 2">
            <a:extLst>
              <a:ext uri="{FF2B5EF4-FFF2-40B4-BE49-F238E27FC236}">
                <a16:creationId xmlns:a16="http://schemas.microsoft.com/office/drawing/2014/main" id="{25624DC1-63BF-417C-A3DE-3C718D892F66}"/>
              </a:ext>
            </a:extLst>
          </p:cNvPr>
          <p:cNvSpPr>
            <a:spLocks noGrp="1"/>
          </p:cNvSpPr>
          <p:nvPr>
            <p:ph type="sldNum" sz="quarter" idx="12"/>
          </p:nvPr>
        </p:nvSpPr>
        <p:spPr>
          <a:xfrm>
            <a:off x="9306860" y="6356350"/>
            <a:ext cx="2743200" cy="365125"/>
          </a:xfrm>
        </p:spPr>
        <p:txBody>
          <a:bodyPr/>
          <a:lstStyle/>
          <a:p>
            <a:fld id="{9044CBB6-E20C-4076-82F9-F8F95241C54D}" type="slidenum">
              <a:rPr lang="zh-TW" altLang="en-US" smtClean="0">
                <a:solidFill>
                  <a:schemeClr val="tx1"/>
                </a:solidFill>
              </a:rPr>
              <a:t>33</a:t>
            </a:fld>
            <a:endParaRPr lang="zh-TW" altLang="en-US" dirty="0">
              <a:solidFill>
                <a:schemeClr val="tx1"/>
              </a:solidFill>
            </a:endParaRPr>
          </a:p>
        </p:txBody>
      </p:sp>
      <p:sp>
        <p:nvSpPr>
          <p:cNvPr id="236" name="立方體 235">
            <a:extLst>
              <a:ext uri="{FF2B5EF4-FFF2-40B4-BE49-F238E27FC236}">
                <a16:creationId xmlns:a16="http://schemas.microsoft.com/office/drawing/2014/main" id="{5012E8FC-2B2A-45F5-9223-18F22C304D34}"/>
              </a:ext>
            </a:extLst>
          </p:cNvPr>
          <p:cNvSpPr/>
          <p:nvPr/>
        </p:nvSpPr>
        <p:spPr>
          <a:xfrm>
            <a:off x="2484278" y="2255404"/>
            <a:ext cx="714201" cy="272240"/>
          </a:xfrm>
          <a:prstGeom prst="cube">
            <a:avLst/>
          </a:prstGeom>
          <a:solidFill>
            <a:srgbClr val="00B0F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7" name="文字方塊 236">
            <a:extLst>
              <a:ext uri="{FF2B5EF4-FFF2-40B4-BE49-F238E27FC236}">
                <a16:creationId xmlns:a16="http://schemas.microsoft.com/office/drawing/2014/main" id="{D62C9534-9A0E-4234-A4E9-A6BE10B0B7D8}"/>
              </a:ext>
            </a:extLst>
          </p:cNvPr>
          <p:cNvSpPr txBox="1"/>
          <p:nvPr/>
        </p:nvSpPr>
        <p:spPr>
          <a:xfrm>
            <a:off x="2517070" y="2262593"/>
            <a:ext cx="589572" cy="290848"/>
          </a:xfrm>
          <a:prstGeom prst="rect">
            <a:avLst/>
          </a:prstGeom>
          <a:noFill/>
        </p:spPr>
        <p:txBody>
          <a:bodyPr wrap="none" rtlCol="0">
            <a:spAutoFit/>
          </a:bodyPr>
          <a:lstStyle/>
          <a:p>
            <a:pPr algn="ctr"/>
            <a:r>
              <a:rPr lang="en-US" altLang="zh-TW" sz="1400" dirty="0" err="1">
                <a:latin typeface="Times New Roman" panose="02020603050405020304" pitchFamily="18" charset="0"/>
                <a:cs typeface="Times New Roman" panose="02020603050405020304" pitchFamily="18" charset="0"/>
              </a:rPr>
              <a:t>pulser</a:t>
            </a:r>
            <a:endParaRPr lang="zh-TW" altLang="en-US" sz="1400" dirty="0">
              <a:latin typeface="Times New Roman" panose="02020603050405020304" pitchFamily="18" charset="0"/>
              <a:cs typeface="Times New Roman" panose="02020603050405020304" pitchFamily="18" charset="0"/>
            </a:endParaRPr>
          </a:p>
        </p:txBody>
      </p:sp>
      <p:sp>
        <p:nvSpPr>
          <p:cNvPr id="240" name="文字方塊 239">
            <a:extLst>
              <a:ext uri="{FF2B5EF4-FFF2-40B4-BE49-F238E27FC236}">
                <a16:creationId xmlns:a16="http://schemas.microsoft.com/office/drawing/2014/main" id="{DE276328-30C9-404C-8579-8930BAA0EA69}"/>
              </a:ext>
            </a:extLst>
          </p:cNvPr>
          <p:cNvSpPr txBox="1"/>
          <p:nvPr/>
        </p:nvSpPr>
        <p:spPr>
          <a:xfrm>
            <a:off x="1584529" y="2078118"/>
            <a:ext cx="474445" cy="247220"/>
          </a:xfrm>
          <a:prstGeom prst="rect">
            <a:avLst/>
          </a:prstGeom>
          <a:noFill/>
        </p:spPr>
        <p:txBody>
          <a:bodyPr wrap="none" rtlCol="0">
            <a:spAutoFit/>
          </a:bodyPr>
          <a:lstStyle/>
          <a:p>
            <a:r>
              <a:rPr lang="en-US" altLang="zh-TW" sz="1100" b="1" dirty="0">
                <a:latin typeface="Times New Roman" panose="02020603050405020304" pitchFamily="18" charset="0"/>
                <a:cs typeface="Times New Roman" panose="02020603050405020304" pitchFamily="18" charset="0"/>
              </a:rPr>
              <a:t>CH 1</a:t>
            </a:r>
            <a:endParaRPr lang="zh-TW" altLang="en-US" sz="1100" b="1" dirty="0">
              <a:latin typeface="Times New Roman" panose="02020603050405020304" pitchFamily="18" charset="0"/>
              <a:cs typeface="Times New Roman" panose="02020603050405020304" pitchFamily="18" charset="0"/>
            </a:endParaRPr>
          </a:p>
        </p:txBody>
      </p:sp>
      <p:grpSp>
        <p:nvGrpSpPr>
          <p:cNvPr id="249" name="群組 248">
            <a:extLst>
              <a:ext uri="{FF2B5EF4-FFF2-40B4-BE49-F238E27FC236}">
                <a16:creationId xmlns:a16="http://schemas.microsoft.com/office/drawing/2014/main" id="{FA2B216B-C40E-498E-84E6-DC9C7D82D439}"/>
              </a:ext>
            </a:extLst>
          </p:cNvPr>
          <p:cNvGrpSpPr/>
          <p:nvPr/>
        </p:nvGrpSpPr>
        <p:grpSpPr>
          <a:xfrm>
            <a:off x="344239" y="2225142"/>
            <a:ext cx="363658" cy="150364"/>
            <a:chOff x="162725" y="4811697"/>
            <a:chExt cx="3132001" cy="855586"/>
          </a:xfrm>
        </p:grpSpPr>
        <p:cxnSp>
          <p:nvCxnSpPr>
            <p:cNvPr id="250" name="接點: 肘形 249">
              <a:extLst>
                <a:ext uri="{FF2B5EF4-FFF2-40B4-BE49-F238E27FC236}">
                  <a16:creationId xmlns:a16="http://schemas.microsoft.com/office/drawing/2014/main" id="{451AAB53-166E-456D-B407-74ADA3C96ECD}"/>
                </a:ext>
              </a:extLst>
            </p:cNvPr>
            <p:cNvCxnSpPr/>
            <p:nvPr/>
          </p:nvCxnSpPr>
          <p:spPr>
            <a:xfrm>
              <a:off x="162725" y="4811697"/>
              <a:ext cx="1651849" cy="847446"/>
            </a:xfrm>
            <a:prstGeom prst="bentConnector3">
              <a:avLst>
                <a:gd name="adj1" fmla="val 85471"/>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2" name="接點: 肘形 271">
              <a:extLst>
                <a:ext uri="{FF2B5EF4-FFF2-40B4-BE49-F238E27FC236}">
                  <a16:creationId xmlns:a16="http://schemas.microsoft.com/office/drawing/2014/main" id="{553154B9-E032-4E48-974D-039FB989392E}"/>
                </a:ext>
              </a:extLst>
            </p:cNvPr>
            <p:cNvCxnSpPr/>
            <p:nvPr/>
          </p:nvCxnSpPr>
          <p:spPr>
            <a:xfrm>
              <a:off x="1642877" y="4819837"/>
              <a:ext cx="1651849" cy="847446"/>
            </a:xfrm>
            <a:prstGeom prst="bentConnector3">
              <a:avLst>
                <a:gd name="adj1" fmla="val 85471"/>
              </a:avLst>
            </a:prstGeom>
            <a:ln w="15875">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273" name="群組 272">
            <a:extLst>
              <a:ext uri="{FF2B5EF4-FFF2-40B4-BE49-F238E27FC236}">
                <a16:creationId xmlns:a16="http://schemas.microsoft.com/office/drawing/2014/main" id="{F85B9F68-D8E2-4776-BE16-80A814C04E07}"/>
              </a:ext>
            </a:extLst>
          </p:cNvPr>
          <p:cNvGrpSpPr/>
          <p:nvPr/>
        </p:nvGrpSpPr>
        <p:grpSpPr>
          <a:xfrm>
            <a:off x="708800" y="2224805"/>
            <a:ext cx="363658" cy="149187"/>
            <a:chOff x="162725" y="4811697"/>
            <a:chExt cx="3132001" cy="848893"/>
          </a:xfrm>
        </p:grpSpPr>
        <p:cxnSp>
          <p:nvCxnSpPr>
            <p:cNvPr id="274" name="接點: 肘形 273">
              <a:extLst>
                <a:ext uri="{FF2B5EF4-FFF2-40B4-BE49-F238E27FC236}">
                  <a16:creationId xmlns:a16="http://schemas.microsoft.com/office/drawing/2014/main" id="{C458C391-05CB-4D5B-BC73-1FF7BD8D1DD7}"/>
                </a:ext>
              </a:extLst>
            </p:cNvPr>
            <p:cNvCxnSpPr/>
            <p:nvPr/>
          </p:nvCxnSpPr>
          <p:spPr>
            <a:xfrm>
              <a:off x="162725" y="4811697"/>
              <a:ext cx="1651849" cy="847446"/>
            </a:xfrm>
            <a:prstGeom prst="bentConnector3">
              <a:avLst>
                <a:gd name="adj1" fmla="val 85471"/>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接點: 肘形 274">
              <a:extLst>
                <a:ext uri="{FF2B5EF4-FFF2-40B4-BE49-F238E27FC236}">
                  <a16:creationId xmlns:a16="http://schemas.microsoft.com/office/drawing/2014/main" id="{ED42B147-E027-4FDD-B256-027FC0F2D3E3}"/>
                </a:ext>
              </a:extLst>
            </p:cNvPr>
            <p:cNvCxnSpPr/>
            <p:nvPr/>
          </p:nvCxnSpPr>
          <p:spPr>
            <a:xfrm>
              <a:off x="1642877" y="4813144"/>
              <a:ext cx="1651849" cy="847446"/>
            </a:xfrm>
            <a:prstGeom prst="bentConnector3">
              <a:avLst>
                <a:gd name="adj1" fmla="val 85471"/>
              </a:avLst>
            </a:prstGeom>
            <a:ln w="15875">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276" name="群組 275">
            <a:extLst>
              <a:ext uri="{FF2B5EF4-FFF2-40B4-BE49-F238E27FC236}">
                <a16:creationId xmlns:a16="http://schemas.microsoft.com/office/drawing/2014/main" id="{24CF3394-DF87-414C-A199-FFC6CC90B7AF}"/>
              </a:ext>
            </a:extLst>
          </p:cNvPr>
          <p:cNvGrpSpPr/>
          <p:nvPr/>
        </p:nvGrpSpPr>
        <p:grpSpPr>
          <a:xfrm>
            <a:off x="1071644" y="2224940"/>
            <a:ext cx="363658" cy="149577"/>
            <a:chOff x="162725" y="4811711"/>
            <a:chExt cx="3132001" cy="851110"/>
          </a:xfrm>
        </p:grpSpPr>
        <p:cxnSp>
          <p:nvCxnSpPr>
            <p:cNvPr id="277" name="接點: 肘形 276">
              <a:extLst>
                <a:ext uri="{FF2B5EF4-FFF2-40B4-BE49-F238E27FC236}">
                  <a16:creationId xmlns:a16="http://schemas.microsoft.com/office/drawing/2014/main" id="{11A5DB48-D2CF-4CD9-915E-D863CC0BF84C}"/>
                </a:ext>
              </a:extLst>
            </p:cNvPr>
            <p:cNvCxnSpPr/>
            <p:nvPr/>
          </p:nvCxnSpPr>
          <p:spPr>
            <a:xfrm>
              <a:off x="162725" y="4811711"/>
              <a:ext cx="1651850" cy="847446"/>
            </a:xfrm>
            <a:prstGeom prst="bentConnector3">
              <a:avLst>
                <a:gd name="adj1" fmla="val 85471"/>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8" name="接點: 肘形 277">
              <a:extLst>
                <a:ext uri="{FF2B5EF4-FFF2-40B4-BE49-F238E27FC236}">
                  <a16:creationId xmlns:a16="http://schemas.microsoft.com/office/drawing/2014/main" id="{2BB72032-E372-4E9D-8594-F49B24FABFE2}"/>
                </a:ext>
              </a:extLst>
            </p:cNvPr>
            <p:cNvCxnSpPr/>
            <p:nvPr/>
          </p:nvCxnSpPr>
          <p:spPr>
            <a:xfrm>
              <a:off x="1642877" y="4815375"/>
              <a:ext cx="1651849" cy="847446"/>
            </a:xfrm>
            <a:prstGeom prst="bentConnector3">
              <a:avLst>
                <a:gd name="adj1" fmla="val 85471"/>
              </a:avLst>
            </a:prstGeom>
            <a:ln w="15875">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cxnSp>
        <p:nvCxnSpPr>
          <p:cNvPr id="279" name="接點: 肘形 278">
            <a:extLst>
              <a:ext uri="{FF2B5EF4-FFF2-40B4-BE49-F238E27FC236}">
                <a16:creationId xmlns:a16="http://schemas.microsoft.com/office/drawing/2014/main" id="{18A0D041-BAE7-4738-98B1-90179BA5CD43}"/>
              </a:ext>
            </a:extLst>
          </p:cNvPr>
          <p:cNvCxnSpPr>
            <a:cxnSpLocks/>
            <a:stCxn id="236" idx="5"/>
            <a:endCxn id="343" idx="0"/>
          </p:cNvCxnSpPr>
          <p:nvPr/>
        </p:nvCxnSpPr>
        <p:spPr>
          <a:xfrm flipH="1">
            <a:off x="2293604" y="2357494"/>
            <a:ext cx="904875" cy="605128"/>
          </a:xfrm>
          <a:prstGeom prst="bentConnector4">
            <a:avLst>
              <a:gd name="adj1" fmla="val -25263"/>
              <a:gd name="adj2" fmla="val 64059"/>
            </a:avLst>
          </a:prstGeom>
          <a:ln w="50800">
            <a:solidFill>
              <a:srgbClr val="FFC000"/>
            </a:solidFill>
            <a:tailEnd type="triangl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cxnSp>
        <p:nvCxnSpPr>
          <p:cNvPr id="340" name="直線單箭頭接點 339">
            <a:extLst>
              <a:ext uri="{FF2B5EF4-FFF2-40B4-BE49-F238E27FC236}">
                <a16:creationId xmlns:a16="http://schemas.microsoft.com/office/drawing/2014/main" id="{D6240518-6999-4F56-9289-AA9A3B5905F0}"/>
              </a:ext>
            </a:extLst>
          </p:cNvPr>
          <p:cNvCxnSpPr/>
          <p:nvPr/>
        </p:nvCxnSpPr>
        <p:spPr>
          <a:xfrm>
            <a:off x="1417344" y="2328489"/>
            <a:ext cx="1066934" cy="0"/>
          </a:xfrm>
          <a:prstGeom prst="straightConnector1">
            <a:avLst/>
          </a:prstGeom>
          <a:ln w="50800">
            <a:solidFill>
              <a:srgbClr val="FFC000"/>
            </a:solidFill>
            <a:tailEnd type="triangl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pic>
        <p:nvPicPr>
          <p:cNvPr id="341" name="內容版面配置區 3">
            <a:extLst>
              <a:ext uri="{FF2B5EF4-FFF2-40B4-BE49-F238E27FC236}">
                <a16:creationId xmlns:a16="http://schemas.microsoft.com/office/drawing/2014/main" id="{379FB4DF-A43A-45CB-B480-47E6A2795EA7}"/>
              </a:ext>
            </a:extLst>
          </p:cNvPr>
          <p:cNvPicPr>
            <a:picLocks noGrp="1" noChangeAspect="1"/>
          </p:cNvPicPr>
          <p:nvPr>
            <p:ph idx="1"/>
          </p:nvPr>
        </p:nvPicPr>
        <p:blipFill rotWithShape="1">
          <a:blip r:embed="rId8" cstate="print">
            <a:extLst>
              <a:ext uri="{28A0092B-C50C-407E-A947-70E740481C1C}">
                <a14:useLocalDpi xmlns:a14="http://schemas.microsoft.com/office/drawing/2010/main" val="0"/>
              </a:ext>
            </a:extLst>
          </a:blip>
          <a:stretch/>
        </p:blipFill>
        <p:spPr>
          <a:xfrm>
            <a:off x="1837401" y="2994497"/>
            <a:ext cx="918556" cy="465513"/>
          </a:xfrm>
          <a:ln>
            <a:noFill/>
          </a:ln>
        </p:spPr>
      </p:pic>
      <p:sp>
        <p:nvSpPr>
          <p:cNvPr id="343" name="矩形 342">
            <a:extLst>
              <a:ext uri="{FF2B5EF4-FFF2-40B4-BE49-F238E27FC236}">
                <a16:creationId xmlns:a16="http://schemas.microsoft.com/office/drawing/2014/main" id="{8BBCD055-2E45-48A1-8AF0-D6E33E7C040A}"/>
              </a:ext>
            </a:extLst>
          </p:cNvPr>
          <p:cNvSpPr/>
          <p:nvPr/>
        </p:nvSpPr>
        <p:spPr>
          <a:xfrm>
            <a:off x="1902780" y="2962622"/>
            <a:ext cx="781647"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44" name="矩形 343">
            <a:extLst>
              <a:ext uri="{FF2B5EF4-FFF2-40B4-BE49-F238E27FC236}">
                <a16:creationId xmlns:a16="http://schemas.microsoft.com/office/drawing/2014/main" id="{8B96BB41-50EE-4DDC-8E6E-64F26F9FDAB3}"/>
              </a:ext>
            </a:extLst>
          </p:cNvPr>
          <p:cNvSpPr/>
          <p:nvPr/>
        </p:nvSpPr>
        <p:spPr>
          <a:xfrm>
            <a:off x="1895184" y="3407702"/>
            <a:ext cx="789244"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46" name="文字方塊 345">
            <a:extLst>
              <a:ext uri="{FF2B5EF4-FFF2-40B4-BE49-F238E27FC236}">
                <a16:creationId xmlns:a16="http://schemas.microsoft.com/office/drawing/2014/main" id="{879D8575-A1E3-4802-87E7-CACA5F6E7239}"/>
              </a:ext>
            </a:extLst>
          </p:cNvPr>
          <p:cNvSpPr txBox="1"/>
          <p:nvPr/>
        </p:nvSpPr>
        <p:spPr>
          <a:xfrm>
            <a:off x="7711552" y="3650425"/>
            <a:ext cx="774925"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1064nm</a:t>
            </a:r>
            <a:endParaRPr lang="zh-TW" altLang="en-US" sz="1400" dirty="0">
              <a:latin typeface="Times New Roman" panose="02020603050405020304" pitchFamily="18" charset="0"/>
              <a:cs typeface="Times New Roman" panose="02020603050405020304" pitchFamily="18" charset="0"/>
            </a:endParaRPr>
          </a:p>
        </p:txBody>
      </p:sp>
      <p:sp>
        <p:nvSpPr>
          <p:cNvPr id="347" name="圓角矩形 4">
            <a:extLst>
              <a:ext uri="{FF2B5EF4-FFF2-40B4-BE49-F238E27FC236}">
                <a16:creationId xmlns:a16="http://schemas.microsoft.com/office/drawing/2014/main" id="{55A33841-B262-4E36-BE4F-9E244A75DB7B}"/>
              </a:ext>
            </a:extLst>
          </p:cNvPr>
          <p:cNvSpPr/>
          <p:nvPr/>
        </p:nvSpPr>
        <p:spPr>
          <a:xfrm>
            <a:off x="832410" y="1061853"/>
            <a:ext cx="1143040" cy="513953"/>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sp>
        <p:nvSpPr>
          <p:cNvPr id="348" name="圓角矩形 4">
            <a:extLst>
              <a:ext uri="{FF2B5EF4-FFF2-40B4-BE49-F238E27FC236}">
                <a16:creationId xmlns:a16="http://schemas.microsoft.com/office/drawing/2014/main" id="{05E352A2-915B-4166-9650-0BCA833E5781}"/>
              </a:ext>
            </a:extLst>
          </p:cNvPr>
          <p:cNvSpPr/>
          <p:nvPr/>
        </p:nvSpPr>
        <p:spPr>
          <a:xfrm>
            <a:off x="2055506" y="1054345"/>
            <a:ext cx="1143040" cy="513953"/>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sp>
        <p:nvSpPr>
          <p:cNvPr id="349" name="橢圓 348">
            <a:extLst>
              <a:ext uri="{FF2B5EF4-FFF2-40B4-BE49-F238E27FC236}">
                <a16:creationId xmlns:a16="http://schemas.microsoft.com/office/drawing/2014/main" id="{9DDADD58-8CFB-4E5F-9AF3-F9E4648AE645}"/>
              </a:ext>
            </a:extLst>
          </p:cNvPr>
          <p:cNvSpPr/>
          <p:nvPr/>
        </p:nvSpPr>
        <p:spPr>
          <a:xfrm>
            <a:off x="2451017" y="1496206"/>
            <a:ext cx="70573" cy="77225"/>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50" name="橢圓 349">
            <a:extLst>
              <a:ext uri="{FF2B5EF4-FFF2-40B4-BE49-F238E27FC236}">
                <a16:creationId xmlns:a16="http://schemas.microsoft.com/office/drawing/2014/main" id="{658EBC0D-55E0-4045-8F5E-46CD25683A49}"/>
              </a:ext>
            </a:extLst>
          </p:cNvPr>
          <p:cNvSpPr/>
          <p:nvPr/>
        </p:nvSpPr>
        <p:spPr>
          <a:xfrm>
            <a:off x="2691514" y="1499190"/>
            <a:ext cx="70573" cy="77225"/>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51" name="橢圓 350">
            <a:extLst>
              <a:ext uri="{FF2B5EF4-FFF2-40B4-BE49-F238E27FC236}">
                <a16:creationId xmlns:a16="http://schemas.microsoft.com/office/drawing/2014/main" id="{13881365-FBC8-406C-8893-5D0C44574752}"/>
              </a:ext>
            </a:extLst>
          </p:cNvPr>
          <p:cNvSpPr/>
          <p:nvPr/>
        </p:nvSpPr>
        <p:spPr>
          <a:xfrm>
            <a:off x="1227910" y="1506910"/>
            <a:ext cx="70573" cy="77225"/>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52" name="橢圓 351">
            <a:extLst>
              <a:ext uri="{FF2B5EF4-FFF2-40B4-BE49-F238E27FC236}">
                <a16:creationId xmlns:a16="http://schemas.microsoft.com/office/drawing/2014/main" id="{BF6CC019-DF05-4E35-BA7B-FEA28AB8134B}"/>
              </a:ext>
            </a:extLst>
          </p:cNvPr>
          <p:cNvSpPr/>
          <p:nvPr/>
        </p:nvSpPr>
        <p:spPr>
          <a:xfrm>
            <a:off x="1493247" y="1506910"/>
            <a:ext cx="70573" cy="77225"/>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53" name="文字方塊 352">
            <a:extLst>
              <a:ext uri="{FF2B5EF4-FFF2-40B4-BE49-F238E27FC236}">
                <a16:creationId xmlns:a16="http://schemas.microsoft.com/office/drawing/2014/main" id="{7F04EDA1-EA22-4BC4-9431-E7387CAB2E89}"/>
              </a:ext>
            </a:extLst>
          </p:cNvPr>
          <p:cNvSpPr txBox="1"/>
          <p:nvPr/>
        </p:nvSpPr>
        <p:spPr>
          <a:xfrm>
            <a:off x="868834" y="1064407"/>
            <a:ext cx="247220" cy="261763"/>
          </a:xfrm>
          <a:prstGeom prst="rect">
            <a:avLst/>
          </a:prstGeom>
          <a:noFill/>
        </p:spPr>
        <p:txBody>
          <a:bodyPr wrap="none" rtlCol="0">
            <a:spAutoFit/>
          </a:bodyPr>
          <a:lstStyle/>
          <a:p>
            <a:pPr algn="ctr"/>
            <a:r>
              <a:rPr lang="en-US" altLang="zh-TW"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4" name="文字方塊 353">
            <a:extLst>
              <a:ext uri="{FF2B5EF4-FFF2-40B4-BE49-F238E27FC236}">
                <a16:creationId xmlns:a16="http://schemas.microsoft.com/office/drawing/2014/main" id="{88A3C985-1639-49F2-9E34-8C585A4AFCE7}"/>
              </a:ext>
            </a:extLst>
          </p:cNvPr>
          <p:cNvSpPr txBox="1"/>
          <p:nvPr/>
        </p:nvSpPr>
        <p:spPr>
          <a:xfrm>
            <a:off x="2077207" y="1059275"/>
            <a:ext cx="247220" cy="261763"/>
          </a:xfrm>
          <a:prstGeom prst="rect">
            <a:avLst/>
          </a:prstGeom>
          <a:noFill/>
        </p:spPr>
        <p:txBody>
          <a:bodyPr wrap="none" rtlCol="0">
            <a:spAutoFit/>
          </a:bodyPr>
          <a:lstStyle/>
          <a:p>
            <a:pPr algn="ctr"/>
            <a:r>
              <a:rPr lang="en-US" altLang="zh-TW"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5" name="手繪多邊形: 圖案 354">
            <a:extLst>
              <a:ext uri="{FF2B5EF4-FFF2-40B4-BE49-F238E27FC236}">
                <a16:creationId xmlns:a16="http://schemas.microsoft.com/office/drawing/2014/main" id="{06561608-FF2F-4A80-8A5C-3F92AF0087BB}"/>
              </a:ext>
            </a:extLst>
          </p:cNvPr>
          <p:cNvSpPr/>
          <p:nvPr/>
        </p:nvSpPr>
        <p:spPr>
          <a:xfrm>
            <a:off x="2375132" y="1539551"/>
            <a:ext cx="146205" cy="736314"/>
          </a:xfrm>
          <a:custGeom>
            <a:avLst/>
            <a:gdLst>
              <a:gd name="connsiteX0" fmla="*/ 183453 w 236793"/>
              <a:gd name="connsiteY0" fmla="*/ 0 h 1192530"/>
              <a:gd name="connsiteX1" fmla="*/ 573 w 236793"/>
              <a:gd name="connsiteY1" fmla="*/ 472440 h 1192530"/>
              <a:gd name="connsiteX2" fmla="*/ 236793 w 236793"/>
              <a:gd name="connsiteY2" fmla="*/ 1192530 h 1192530"/>
            </a:gdLst>
            <a:ahLst/>
            <a:cxnLst>
              <a:cxn ang="0">
                <a:pos x="connsiteX0" y="connsiteY0"/>
              </a:cxn>
              <a:cxn ang="0">
                <a:pos x="connsiteX1" y="connsiteY1"/>
              </a:cxn>
              <a:cxn ang="0">
                <a:pos x="connsiteX2" y="connsiteY2"/>
              </a:cxn>
            </a:cxnLst>
            <a:rect l="l" t="t" r="r" b="b"/>
            <a:pathLst>
              <a:path w="236793" h="1192530">
                <a:moveTo>
                  <a:pt x="183453" y="0"/>
                </a:moveTo>
                <a:cubicBezTo>
                  <a:pt x="87568" y="136842"/>
                  <a:pt x="-8317" y="273685"/>
                  <a:pt x="573" y="472440"/>
                </a:cubicBezTo>
                <a:cubicBezTo>
                  <a:pt x="9463" y="671195"/>
                  <a:pt x="123128" y="931862"/>
                  <a:pt x="236793" y="119253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6" name="手繪多邊形: 圖案 355">
            <a:extLst>
              <a:ext uri="{FF2B5EF4-FFF2-40B4-BE49-F238E27FC236}">
                <a16:creationId xmlns:a16="http://schemas.microsoft.com/office/drawing/2014/main" id="{0112022A-AA0F-4E9C-850D-5C6D308A32B5}"/>
              </a:ext>
            </a:extLst>
          </p:cNvPr>
          <p:cNvSpPr/>
          <p:nvPr/>
        </p:nvSpPr>
        <p:spPr>
          <a:xfrm>
            <a:off x="2466392" y="1541904"/>
            <a:ext cx="284091" cy="731609"/>
          </a:xfrm>
          <a:custGeom>
            <a:avLst/>
            <a:gdLst>
              <a:gd name="connsiteX0" fmla="*/ 431888 w 460112"/>
              <a:gd name="connsiteY0" fmla="*/ 0 h 1184910"/>
              <a:gd name="connsiteX1" fmla="*/ 416648 w 460112"/>
              <a:gd name="connsiteY1" fmla="*/ 483870 h 1184910"/>
              <a:gd name="connsiteX2" fmla="*/ 20408 w 460112"/>
              <a:gd name="connsiteY2" fmla="*/ 628650 h 1184910"/>
              <a:gd name="connsiteX3" fmla="*/ 92798 w 460112"/>
              <a:gd name="connsiteY3" fmla="*/ 1184910 h 1184910"/>
            </a:gdLst>
            <a:ahLst/>
            <a:cxnLst>
              <a:cxn ang="0">
                <a:pos x="connsiteX0" y="connsiteY0"/>
              </a:cxn>
              <a:cxn ang="0">
                <a:pos x="connsiteX1" y="connsiteY1"/>
              </a:cxn>
              <a:cxn ang="0">
                <a:pos x="connsiteX2" y="connsiteY2"/>
              </a:cxn>
              <a:cxn ang="0">
                <a:pos x="connsiteX3" y="connsiteY3"/>
              </a:cxn>
            </a:cxnLst>
            <a:rect l="l" t="t" r="r" b="b"/>
            <a:pathLst>
              <a:path w="460112" h="1184910">
                <a:moveTo>
                  <a:pt x="431888" y="0"/>
                </a:moveTo>
                <a:cubicBezTo>
                  <a:pt x="458558" y="189547"/>
                  <a:pt x="485228" y="379095"/>
                  <a:pt x="416648" y="483870"/>
                </a:cubicBezTo>
                <a:cubicBezTo>
                  <a:pt x="348068" y="588645"/>
                  <a:pt x="74383" y="511810"/>
                  <a:pt x="20408" y="628650"/>
                </a:cubicBezTo>
                <a:cubicBezTo>
                  <a:pt x="-33567" y="745490"/>
                  <a:pt x="29615" y="965200"/>
                  <a:pt x="92798" y="118491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7" name="手繪多邊形: 圖案 356">
            <a:extLst>
              <a:ext uri="{FF2B5EF4-FFF2-40B4-BE49-F238E27FC236}">
                <a16:creationId xmlns:a16="http://schemas.microsoft.com/office/drawing/2014/main" id="{E73E6A0A-FF04-475F-8CDB-798084722C1B}"/>
              </a:ext>
            </a:extLst>
          </p:cNvPr>
          <p:cNvSpPr/>
          <p:nvPr/>
        </p:nvSpPr>
        <p:spPr>
          <a:xfrm>
            <a:off x="1258252" y="1546112"/>
            <a:ext cx="1259840" cy="721360"/>
          </a:xfrm>
          <a:custGeom>
            <a:avLst/>
            <a:gdLst>
              <a:gd name="connsiteX0" fmla="*/ 0 w 1259840"/>
              <a:gd name="connsiteY0" fmla="*/ 0 h 721360"/>
              <a:gd name="connsiteX1" fmla="*/ 607060 w 1259840"/>
              <a:gd name="connsiteY1" fmla="*/ 462280 h 721360"/>
              <a:gd name="connsiteX2" fmla="*/ 1259840 w 1259840"/>
              <a:gd name="connsiteY2" fmla="*/ 721360 h 721360"/>
            </a:gdLst>
            <a:ahLst/>
            <a:cxnLst>
              <a:cxn ang="0">
                <a:pos x="connsiteX0" y="connsiteY0"/>
              </a:cxn>
              <a:cxn ang="0">
                <a:pos x="connsiteX1" y="connsiteY1"/>
              </a:cxn>
              <a:cxn ang="0">
                <a:pos x="connsiteX2" y="connsiteY2"/>
              </a:cxn>
            </a:cxnLst>
            <a:rect l="l" t="t" r="r" b="b"/>
            <a:pathLst>
              <a:path w="1259840" h="721360">
                <a:moveTo>
                  <a:pt x="0" y="0"/>
                </a:moveTo>
                <a:cubicBezTo>
                  <a:pt x="198543" y="171026"/>
                  <a:pt x="397087" y="342053"/>
                  <a:pt x="607060" y="462280"/>
                </a:cubicBezTo>
                <a:cubicBezTo>
                  <a:pt x="817033" y="582507"/>
                  <a:pt x="1038436" y="651933"/>
                  <a:pt x="1259840" y="72136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8" name="手繪多邊形: 圖案 357">
            <a:extLst>
              <a:ext uri="{FF2B5EF4-FFF2-40B4-BE49-F238E27FC236}">
                <a16:creationId xmlns:a16="http://schemas.microsoft.com/office/drawing/2014/main" id="{19A84559-A26B-416F-8FFA-261E882A57F3}"/>
              </a:ext>
            </a:extLst>
          </p:cNvPr>
          <p:cNvSpPr/>
          <p:nvPr/>
        </p:nvSpPr>
        <p:spPr>
          <a:xfrm>
            <a:off x="1524952" y="1546112"/>
            <a:ext cx="977900" cy="708660"/>
          </a:xfrm>
          <a:custGeom>
            <a:avLst/>
            <a:gdLst>
              <a:gd name="connsiteX0" fmla="*/ 0 w 977900"/>
              <a:gd name="connsiteY0" fmla="*/ 0 h 708660"/>
              <a:gd name="connsiteX1" fmla="*/ 424180 w 977900"/>
              <a:gd name="connsiteY1" fmla="*/ 193040 h 708660"/>
              <a:gd name="connsiteX2" fmla="*/ 756920 w 977900"/>
              <a:gd name="connsiteY2" fmla="*/ 513080 h 708660"/>
              <a:gd name="connsiteX3" fmla="*/ 977900 w 977900"/>
              <a:gd name="connsiteY3" fmla="*/ 708660 h 708660"/>
            </a:gdLst>
            <a:ahLst/>
            <a:cxnLst>
              <a:cxn ang="0">
                <a:pos x="connsiteX0" y="connsiteY0"/>
              </a:cxn>
              <a:cxn ang="0">
                <a:pos x="connsiteX1" y="connsiteY1"/>
              </a:cxn>
              <a:cxn ang="0">
                <a:pos x="connsiteX2" y="connsiteY2"/>
              </a:cxn>
              <a:cxn ang="0">
                <a:pos x="connsiteX3" y="connsiteY3"/>
              </a:cxn>
            </a:cxnLst>
            <a:rect l="l" t="t" r="r" b="b"/>
            <a:pathLst>
              <a:path w="977900" h="708660">
                <a:moveTo>
                  <a:pt x="0" y="0"/>
                </a:moveTo>
                <a:cubicBezTo>
                  <a:pt x="149013" y="53763"/>
                  <a:pt x="298027" y="107527"/>
                  <a:pt x="424180" y="193040"/>
                </a:cubicBezTo>
                <a:cubicBezTo>
                  <a:pt x="550333" y="278553"/>
                  <a:pt x="664633" y="427143"/>
                  <a:pt x="756920" y="513080"/>
                </a:cubicBezTo>
                <a:cubicBezTo>
                  <a:pt x="849207" y="599017"/>
                  <a:pt x="913553" y="653838"/>
                  <a:pt x="977900" y="70866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0" name="圖片 69">
            <a:extLst>
              <a:ext uri="{FF2B5EF4-FFF2-40B4-BE49-F238E27FC236}">
                <a16:creationId xmlns:a16="http://schemas.microsoft.com/office/drawing/2014/main" id="{9B243D49-B2B9-4898-BB3E-55BD91A0923E}"/>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5704862" y="2553441"/>
            <a:ext cx="3874956" cy="2700000"/>
          </a:xfrm>
          <a:prstGeom prst="rect">
            <a:avLst/>
          </a:prstGeom>
          <a:ln>
            <a:noFill/>
          </a:ln>
          <a:effectLst>
            <a:outerShdw blurRad="292100" dist="139700" dir="2700000" algn="tl" rotWithShape="0">
              <a:srgbClr val="333333">
                <a:alpha val="65000"/>
              </a:srgbClr>
            </a:outerShdw>
          </a:effectLst>
        </p:spPr>
      </p:pic>
      <p:sp>
        <p:nvSpPr>
          <p:cNvPr id="71" name="文字方塊 70">
            <a:extLst>
              <a:ext uri="{FF2B5EF4-FFF2-40B4-BE49-F238E27FC236}">
                <a16:creationId xmlns:a16="http://schemas.microsoft.com/office/drawing/2014/main" id="{A3F35A31-58B1-4B63-A488-F8535D2EEBFE}"/>
              </a:ext>
            </a:extLst>
          </p:cNvPr>
          <p:cNvSpPr txBox="1"/>
          <p:nvPr/>
        </p:nvSpPr>
        <p:spPr>
          <a:xfrm>
            <a:off x="3193862" y="3565341"/>
            <a:ext cx="707245"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1064.50nm</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2" name="文字方塊 71">
            <a:extLst>
              <a:ext uri="{FF2B5EF4-FFF2-40B4-BE49-F238E27FC236}">
                <a16:creationId xmlns:a16="http://schemas.microsoft.com/office/drawing/2014/main" id="{A8563613-5420-41C4-B5FB-4D936E021578}"/>
              </a:ext>
            </a:extLst>
          </p:cNvPr>
          <p:cNvSpPr txBox="1"/>
          <p:nvPr/>
        </p:nvSpPr>
        <p:spPr>
          <a:xfrm>
            <a:off x="3198479" y="3768002"/>
            <a:ext cx="707245"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1342.33nm</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3" name="橢圓 72">
            <a:extLst>
              <a:ext uri="{FF2B5EF4-FFF2-40B4-BE49-F238E27FC236}">
                <a16:creationId xmlns:a16="http://schemas.microsoft.com/office/drawing/2014/main" id="{FE4ED449-5D89-4C21-8109-BE40C0E037E9}"/>
              </a:ext>
            </a:extLst>
          </p:cNvPr>
          <p:cNvSpPr/>
          <p:nvPr/>
        </p:nvSpPr>
        <p:spPr>
          <a:xfrm>
            <a:off x="3097455" y="3615402"/>
            <a:ext cx="125376" cy="125376"/>
          </a:xfrm>
          <a:prstGeom prst="ellipse">
            <a:avLst/>
          </a:prstGeom>
          <a:solidFill>
            <a:srgbClr val="FF0000"/>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050"/>
          </a:p>
        </p:txBody>
      </p:sp>
      <p:sp>
        <p:nvSpPr>
          <p:cNvPr id="74" name="橢圓 73">
            <a:extLst>
              <a:ext uri="{FF2B5EF4-FFF2-40B4-BE49-F238E27FC236}">
                <a16:creationId xmlns:a16="http://schemas.microsoft.com/office/drawing/2014/main" id="{C2EB6A04-F3A5-4EA8-9BDB-F6379D52A55D}"/>
              </a:ext>
            </a:extLst>
          </p:cNvPr>
          <p:cNvSpPr/>
          <p:nvPr/>
        </p:nvSpPr>
        <p:spPr>
          <a:xfrm>
            <a:off x="3097455" y="3828956"/>
            <a:ext cx="125376" cy="125376"/>
          </a:xfrm>
          <a:prstGeom prst="ellipse">
            <a:avLst/>
          </a:prstGeom>
          <a:solidFill>
            <a:srgbClr val="0000FF"/>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p>
        </p:txBody>
      </p:sp>
      <p:sp>
        <p:nvSpPr>
          <p:cNvPr id="75" name="文字方塊 74">
            <a:extLst>
              <a:ext uri="{FF2B5EF4-FFF2-40B4-BE49-F238E27FC236}">
                <a16:creationId xmlns:a16="http://schemas.microsoft.com/office/drawing/2014/main" id="{239BB8E8-8340-4CD6-96A1-C18BFF1AD932}"/>
              </a:ext>
            </a:extLst>
          </p:cNvPr>
          <p:cNvSpPr txBox="1"/>
          <p:nvPr/>
        </p:nvSpPr>
        <p:spPr>
          <a:xfrm>
            <a:off x="1751616" y="6459569"/>
            <a:ext cx="2179524" cy="406193"/>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6" name="文字方塊 75">
            <a:extLst>
              <a:ext uri="{FF2B5EF4-FFF2-40B4-BE49-F238E27FC236}">
                <a16:creationId xmlns:a16="http://schemas.microsoft.com/office/drawing/2014/main" id="{6F266844-5974-4149-9AED-C2D997E724D2}"/>
              </a:ext>
            </a:extLst>
          </p:cNvPr>
          <p:cNvSpPr txBox="1"/>
          <p:nvPr/>
        </p:nvSpPr>
        <p:spPr>
          <a:xfrm rot="16200000">
            <a:off x="-815623" y="4922801"/>
            <a:ext cx="2148119" cy="406193"/>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6" name="直線接點 5">
            <a:extLst>
              <a:ext uri="{FF2B5EF4-FFF2-40B4-BE49-F238E27FC236}">
                <a16:creationId xmlns:a16="http://schemas.microsoft.com/office/drawing/2014/main" id="{14177BE2-88EA-4B8D-8753-C27162CEA3E8}"/>
              </a:ext>
            </a:extLst>
          </p:cNvPr>
          <p:cNvCxnSpPr>
            <a:cxnSpLocks/>
          </p:cNvCxnSpPr>
          <p:nvPr/>
        </p:nvCxnSpPr>
        <p:spPr>
          <a:xfrm>
            <a:off x="1162864" y="3870960"/>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直線接點 79">
            <a:extLst>
              <a:ext uri="{FF2B5EF4-FFF2-40B4-BE49-F238E27FC236}">
                <a16:creationId xmlns:a16="http://schemas.microsoft.com/office/drawing/2014/main" id="{AFDE47D1-B431-47A9-9A1E-91C5E3862405}"/>
              </a:ext>
            </a:extLst>
          </p:cNvPr>
          <p:cNvCxnSpPr>
            <a:cxnSpLocks/>
          </p:cNvCxnSpPr>
          <p:nvPr/>
        </p:nvCxnSpPr>
        <p:spPr>
          <a:xfrm>
            <a:off x="2183944" y="3870960"/>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7" name="橢圓 76">
            <a:extLst>
              <a:ext uri="{FF2B5EF4-FFF2-40B4-BE49-F238E27FC236}">
                <a16:creationId xmlns:a16="http://schemas.microsoft.com/office/drawing/2014/main" id="{064FBC0A-2561-49FC-A645-E8BFE689E2F3}"/>
              </a:ext>
            </a:extLst>
          </p:cNvPr>
          <p:cNvSpPr/>
          <p:nvPr/>
        </p:nvSpPr>
        <p:spPr>
          <a:xfrm>
            <a:off x="2077207" y="6132010"/>
            <a:ext cx="244886" cy="244886"/>
          </a:xfrm>
          <a:prstGeom prst="ellipse">
            <a:avLst/>
          </a:prstGeom>
          <a:solidFill>
            <a:srgbClr val="FF0000"/>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78" name="文字方塊 77">
            <a:extLst>
              <a:ext uri="{FF2B5EF4-FFF2-40B4-BE49-F238E27FC236}">
                <a16:creationId xmlns:a16="http://schemas.microsoft.com/office/drawing/2014/main" id="{B2319CFA-D116-4795-8CE2-9EC724FE2A43}"/>
              </a:ext>
            </a:extLst>
          </p:cNvPr>
          <p:cNvSpPr txBox="1"/>
          <p:nvPr/>
        </p:nvSpPr>
        <p:spPr>
          <a:xfrm>
            <a:off x="4690872" y="226199"/>
            <a:ext cx="2966372" cy="461665"/>
          </a:xfrm>
          <a:prstGeom prst="rect">
            <a:avLst/>
          </a:prstGeom>
          <a:noFill/>
        </p:spPr>
        <p:txBody>
          <a:bodyPr wrap="square" rtlCol="0">
            <a:spAutoFit/>
          </a:bodyPr>
          <a:lstStyle/>
          <a:p>
            <a:r>
              <a:rPr lang="en-US" altLang="zh-TW" sz="2400" b="1" i="1" kern="100" dirty="0">
                <a:latin typeface="Times New Roman" panose="02020603050405020304" pitchFamily="18" charset="0"/>
                <a:ea typeface="標楷體" panose="03000509000000000000" pitchFamily="65" charset="-120"/>
                <a:cs typeface="Times New Roman" panose="02020603050405020304" pitchFamily="18" charset="0"/>
              </a:rPr>
              <a:t>Q-switched operation</a:t>
            </a:r>
            <a:endParaRPr lang="zh-TW" altLang="zh-TW" sz="24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537769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0" presetClass="path" presetSubtype="0" repeatCount="indefinite" accel="50000" decel="50000" fill="hold" grpId="1" nodeType="clickEffect">
                                  <p:stCondLst>
                                    <p:cond delay="0"/>
                                  </p:stCondLst>
                                  <p:childTnLst>
                                    <p:animMotion origin="layout" path="M -0.00078 -0.00139 L -0.08542 -0.32755 L -0.00078 -0.00139 Z " pathEditMode="relative" ptsTypes="AAA">
                                      <p:cBhvr>
                                        <p:cTn id="12" dur="2000" fill="hold"/>
                                        <p:tgtEl>
                                          <p:spTgt spid="7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down)">
                                      <p:cBhvr>
                                        <p:cTn id="1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7"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圓角矩形 4">
            <a:extLst>
              <a:ext uri="{FF2B5EF4-FFF2-40B4-BE49-F238E27FC236}">
                <a16:creationId xmlns:a16="http://schemas.microsoft.com/office/drawing/2014/main" id="{865B03BC-4F7B-4DDE-9889-0ADEB4E4F69B}"/>
              </a:ext>
            </a:extLst>
          </p:cNvPr>
          <p:cNvSpPr/>
          <p:nvPr/>
        </p:nvSpPr>
        <p:spPr>
          <a:xfrm>
            <a:off x="795898" y="1225161"/>
            <a:ext cx="1143040" cy="513953"/>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pic>
        <p:nvPicPr>
          <p:cNvPr id="75" name="圖片 74">
            <a:extLst>
              <a:ext uri="{FF2B5EF4-FFF2-40B4-BE49-F238E27FC236}">
                <a16:creationId xmlns:a16="http://schemas.microsoft.com/office/drawing/2014/main" id="{52DB6DD0-2064-46C5-A6D4-80FAC49DFB7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721077" y="4042042"/>
            <a:ext cx="3874958" cy="2700000"/>
          </a:xfrm>
          <a:prstGeom prst="rect">
            <a:avLst/>
          </a:prstGeom>
          <a:ln>
            <a:noFill/>
          </a:ln>
          <a:effectLst>
            <a:outerShdw blurRad="292100" dist="139700" dir="2700000" algn="tl" rotWithShape="0">
              <a:srgbClr val="333333">
                <a:alpha val="65000"/>
              </a:srgbClr>
            </a:outerShdw>
          </a:effectLst>
        </p:spPr>
      </p:pic>
      <p:pic>
        <p:nvPicPr>
          <p:cNvPr id="74" name="圖片 73">
            <a:extLst>
              <a:ext uri="{FF2B5EF4-FFF2-40B4-BE49-F238E27FC236}">
                <a16:creationId xmlns:a16="http://schemas.microsoft.com/office/drawing/2014/main" id="{D278F75E-D578-4A17-A405-239AC23A35D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721077" y="1269076"/>
            <a:ext cx="3874958" cy="2700000"/>
          </a:xfrm>
          <a:prstGeom prst="rect">
            <a:avLst/>
          </a:prstGeom>
          <a:ln>
            <a:noFill/>
          </a:ln>
          <a:effectLst>
            <a:outerShdw blurRad="292100" dist="139700" dir="2700000" algn="tl" rotWithShape="0">
              <a:srgbClr val="333333">
                <a:alpha val="65000"/>
              </a:srgbClr>
            </a:outerShdw>
          </a:effectLst>
        </p:spPr>
      </p:pic>
      <p:pic>
        <p:nvPicPr>
          <p:cNvPr id="72" name="圖片 71">
            <a:extLst>
              <a:ext uri="{FF2B5EF4-FFF2-40B4-BE49-F238E27FC236}">
                <a16:creationId xmlns:a16="http://schemas.microsoft.com/office/drawing/2014/main" id="{D0DFEA22-7A60-4206-9B83-FB6D4CE993C3}"/>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3776006" y="4119569"/>
            <a:ext cx="3874958" cy="2700000"/>
          </a:xfrm>
          <a:prstGeom prst="rect">
            <a:avLst/>
          </a:prstGeom>
          <a:ln>
            <a:noFill/>
          </a:ln>
          <a:effectLst/>
        </p:spPr>
      </p:pic>
      <p:pic>
        <p:nvPicPr>
          <p:cNvPr id="70" name="圖片 69">
            <a:extLst>
              <a:ext uri="{FF2B5EF4-FFF2-40B4-BE49-F238E27FC236}">
                <a16:creationId xmlns:a16="http://schemas.microsoft.com/office/drawing/2014/main" id="{106BC86B-82CB-4990-9FBC-A771B31868AD}"/>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3776101" y="1258786"/>
            <a:ext cx="3874957" cy="2700000"/>
          </a:xfrm>
          <a:prstGeom prst="rect">
            <a:avLst/>
          </a:prstGeom>
          <a:ln>
            <a:noFill/>
          </a:ln>
          <a:effectLst/>
        </p:spPr>
      </p:pic>
      <p:sp>
        <p:nvSpPr>
          <p:cNvPr id="71" name="文字方塊 70">
            <a:extLst>
              <a:ext uri="{FF2B5EF4-FFF2-40B4-BE49-F238E27FC236}">
                <a16:creationId xmlns:a16="http://schemas.microsoft.com/office/drawing/2014/main" id="{4908A2D1-A206-4A7C-A480-6DD654954C41}"/>
              </a:ext>
            </a:extLst>
          </p:cNvPr>
          <p:cNvSpPr txBox="1"/>
          <p:nvPr/>
        </p:nvSpPr>
        <p:spPr>
          <a:xfrm>
            <a:off x="3648438" y="1267092"/>
            <a:ext cx="1661032" cy="307777"/>
          </a:xfrm>
          <a:prstGeom prst="rect">
            <a:avLst/>
          </a:prstGeom>
          <a:noFill/>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1342nm Pulse width</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3" name="文字方塊 142">
            <a:extLst>
              <a:ext uri="{FF2B5EF4-FFF2-40B4-BE49-F238E27FC236}">
                <a16:creationId xmlns:a16="http://schemas.microsoft.com/office/drawing/2014/main" id="{3E518D90-A0AE-43AB-8B17-0D5C46442A83}"/>
              </a:ext>
            </a:extLst>
          </p:cNvPr>
          <p:cNvSpPr txBox="1"/>
          <p:nvPr/>
        </p:nvSpPr>
        <p:spPr>
          <a:xfrm>
            <a:off x="7703048" y="6445139"/>
            <a:ext cx="732384"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671nm</a:t>
            </a:r>
            <a:endParaRPr lang="zh-TW" altLang="en-US" sz="1400" dirty="0">
              <a:latin typeface="Times New Roman" panose="02020603050405020304" pitchFamily="18" charset="0"/>
              <a:cs typeface="Times New Roman" panose="02020603050405020304" pitchFamily="18" charset="0"/>
            </a:endParaRPr>
          </a:p>
        </p:txBody>
      </p:sp>
      <p:sp>
        <p:nvSpPr>
          <p:cNvPr id="144" name="文字方塊 143">
            <a:extLst>
              <a:ext uri="{FF2B5EF4-FFF2-40B4-BE49-F238E27FC236}">
                <a16:creationId xmlns:a16="http://schemas.microsoft.com/office/drawing/2014/main" id="{090200F4-016C-4DBF-B97A-B0BD68E14522}"/>
              </a:ext>
            </a:extLst>
          </p:cNvPr>
          <p:cNvSpPr txBox="1"/>
          <p:nvPr/>
        </p:nvSpPr>
        <p:spPr>
          <a:xfrm>
            <a:off x="3690282" y="4051697"/>
            <a:ext cx="1571264" cy="307777"/>
          </a:xfrm>
          <a:prstGeom prst="rect">
            <a:avLst/>
          </a:prstGeom>
          <a:noFill/>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671nm Pulse width</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7" name="圖片 16">
            <a:extLst>
              <a:ext uri="{FF2B5EF4-FFF2-40B4-BE49-F238E27FC236}">
                <a16:creationId xmlns:a16="http://schemas.microsoft.com/office/drawing/2014/main" id="{017301D5-9C51-4DDC-9A8C-FD30CDC189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712" y="3812322"/>
            <a:ext cx="3710094" cy="2782570"/>
          </a:xfrm>
          <a:prstGeom prst="rect">
            <a:avLst/>
          </a:prstGeom>
        </p:spPr>
      </p:pic>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3" name="投影片編號版面配置區 2">
            <a:extLst>
              <a:ext uri="{FF2B5EF4-FFF2-40B4-BE49-F238E27FC236}">
                <a16:creationId xmlns:a16="http://schemas.microsoft.com/office/drawing/2014/main" id="{25624DC1-63BF-417C-A3DE-3C718D892F66}"/>
              </a:ext>
            </a:extLst>
          </p:cNvPr>
          <p:cNvSpPr>
            <a:spLocks noGrp="1"/>
          </p:cNvSpPr>
          <p:nvPr>
            <p:ph type="sldNum" sz="quarter" idx="12"/>
          </p:nvPr>
        </p:nvSpPr>
        <p:spPr>
          <a:xfrm>
            <a:off x="9306860" y="6356350"/>
            <a:ext cx="2743200" cy="365125"/>
          </a:xfrm>
        </p:spPr>
        <p:txBody>
          <a:bodyPr/>
          <a:lstStyle/>
          <a:p>
            <a:fld id="{9044CBB6-E20C-4076-82F9-F8F95241C54D}" type="slidenum">
              <a:rPr lang="zh-TW" altLang="en-US" smtClean="0">
                <a:solidFill>
                  <a:schemeClr val="tx1"/>
                </a:solidFill>
              </a:rPr>
              <a:t>34</a:t>
            </a:fld>
            <a:endParaRPr lang="zh-TW" altLang="en-US" dirty="0">
              <a:solidFill>
                <a:schemeClr val="tx1"/>
              </a:solidFill>
            </a:endParaRPr>
          </a:p>
        </p:txBody>
      </p:sp>
      <p:sp>
        <p:nvSpPr>
          <p:cNvPr id="235" name="圓角矩形 4">
            <a:extLst>
              <a:ext uri="{FF2B5EF4-FFF2-40B4-BE49-F238E27FC236}">
                <a16:creationId xmlns:a16="http://schemas.microsoft.com/office/drawing/2014/main" id="{25086BC8-1A4A-49BC-BB6E-223BE3E69836}"/>
              </a:ext>
            </a:extLst>
          </p:cNvPr>
          <p:cNvSpPr/>
          <p:nvPr/>
        </p:nvSpPr>
        <p:spPr>
          <a:xfrm>
            <a:off x="2018994" y="1217653"/>
            <a:ext cx="1143040" cy="513953"/>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sp>
        <p:nvSpPr>
          <p:cNvPr id="236" name="立方體 235">
            <a:extLst>
              <a:ext uri="{FF2B5EF4-FFF2-40B4-BE49-F238E27FC236}">
                <a16:creationId xmlns:a16="http://schemas.microsoft.com/office/drawing/2014/main" id="{5012E8FC-2B2A-45F5-9223-18F22C304D34}"/>
              </a:ext>
            </a:extLst>
          </p:cNvPr>
          <p:cNvSpPr/>
          <p:nvPr/>
        </p:nvSpPr>
        <p:spPr>
          <a:xfrm>
            <a:off x="2484278" y="2255404"/>
            <a:ext cx="714201" cy="272240"/>
          </a:xfrm>
          <a:prstGeom prst="cube">
            <a:avLst/>
          </a:prstGeom>
          <a:solidFill>
            <a:srgbClr val="00B0F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7" name="文字方塊 236">
            <a:extLst>
              <a:ext uri="{FF2B5EF4-FFF2-40B4-BE49-F238E27FC236}">
                <a16:creationId xmlns:a16="http://schemas.microsoft.com/office/drawing/2014/main" id="{D62C9534-9A0E-4234-A4E9-A6BE10B0B7D8}"/>
              </a:ext>
            </a:extLst>
          </p:cNvPr>
          <p:cNvSpPr txBox="1"/>
          <p:nvPr/>
        </p:nvSpPr>
        <p:spPr>
          <a:xfrm>
            <a:off x="2517070" y="2262593"/>
            <a:ext cx="589572" cy="290848"/>
          </a:xfrm>
          <a:prstGeom prst="rect">
            <a:avLst/>
          </a:prstGeom>
          <a:noFill/>
        </p:spPr>
        <p:txBody>
          <a:bodyPr wrap="none" rtlCol="0">
            <a:spAutoFit/>
          </a:bodyPr>
          <a:lstStyle/>
          <a:p>
            <a:pPr algn="ctr"/>
            <a:r>
              <a:rPr lang="en-US" altLang="zh-TW" sz="1400" dirty="0" err="1">
                <a:latin typeface="Times New Roman" panose="02020603050405020304" pitchFamily="18" charset="0"/>
                <a:cs typeface="Times New Roman" panose="02020603050405020304" pitchFamily="18" charset="0"/>
              </a:rPr>
              <a:t>pulser</a:t>
            </a:r>
            <a:endParaRPr lang="zh-TW" altLang="en-US" sz="1400" dirty="0">
              <a:latin typeface="Times New Roman" panose="02020603050405020304" pitchFamily="18" charset="0"/>
              <a:cs typeface="Times New Roman" panose="02020603050405020304" pitchFamily="18" charset="0"/>
            </a:endParaRPr>
          </a:p>
        </p:txBody>
      </p:sp>
      <p:sp>
        <p:nvSpPr>
          <p:cNvPr id="238" name="橢圓 237">
            <a:extLst>
              <a:ext uri="{FF2B5EF4-FFF2-40B4-BE49-F238E27FC236}">
                <a16:creationId xmlns:a16="http://schemas.microsoft.com/office/drawing/2014/main" id="{D7BD0029-E60F-4308-A388-7A1E5737FE33}"/>
              </a:ext>
            </a:extLst>
          </p:cNvPr>
          <p:cNvSpPr/>
          <p:nvPr/>
        </p:nvSpPr>
        <p:spPr>
          <a:xfrm>
            <a:off x="2414505" y="1659514"/>
            <a:ext cx="70573" cy="77225"/>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9" name="橢圓 238">
            <a:extLst>
              <a:ext uri="{FF2B5EF4-FFF2-40B4-BE49-F238E27FC236}">
                <a16:creationId xmlns:a16="http://schemas.microsoft.com/office/drawing/2014/main" id="{DF2237B1-C5A6-4D37-8696-DB9AFB014E7F}"/>
              </a:ext>
            </a:extLst>
          </p:cNvPr>
          <p:cNvSpPr/>
          <p:nvPr/>
        </p:nvSpPr>
        <p:spPr>
          <a:xfrm>
            <a:off x="2655002" y="1662498"/>
            <a:ext cx="70573" cy="77225"/>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42" name="橢圓 241">
            <a:extLst>
              <a:ext uri="{FF2B5EF4-FFF2-40B4-BE49-F238E27FC236}">
                <a16:creationId xmlns:a16="http://schemas.microsoft.com/office/drawing/2014/main" id="{F8E98CEA-6AB7-4BAB-816B-519B82059C84}"/>
              </a:ext>
            </a:extLst>
          </p:cNvPr>
          <p:cNvSpPr/>
          <p:nvPr/>
        </p:nvSpPr>
        <p:spPr>
          <a:xfrm>
            <a:off x="1191398" y="1670218"/>
            <a:ext cx="70573" cy="77225"/>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43" name="橢圓 242">
            <a:extLst>
              <a:ext uri="{FF2B5EF4-FFF2-40B4-BE49-F238E27FC236}">
                <a16:creationId xmlns:a16="http://schemas.microsoft.com/office/drawing/2014/main" id="{F38CE5E4-CA4F-4AA7-842F-FD4DD23CA6AC}"/>
              </a:ext>
            </a:extLst>
          </p:cNvPr>
          <p:cNvSpPr/>
          <p:nvPr/>
        </p:nvSpPr>
        <p:spPr>
          <a:xfrm>
            <a:off x="1456735" y="1670218"/>
            <a:ext cx="70573" cy="77225"/>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44" name="文字方塊 243">
            <a:extLst>
              <a:ext uri="{FF2B5EF4-FFF2-40B4-BE49-F238E27FC236}">
                <a16:creationId xmlns:a16="http://schemas.microsoft.com/office/drawing/2014/main" id="{BDB98A3C-A6A2-4D91-89B8-59635B87C812}"/>
              </a:ext>
            </a:extLst>
          </p:cNvPr>
          <p:cNvSpPr txBox="1"/>
          <p:nvPr/>
        </p:nvSpPr>
        <p:spPr>
          <a:xfrm>
            <a:off x="832322" y="1227715"/>
            <a:ext cx="247220" cy="261763"/>
          </a:xfrm>
          <a:prstGeom prst="rect">
            <a:avLst/>
          </a:prstGeom>
          <a:noFill/>
        </p:spPr>
        <p:txBody>
          <a:bodyPr wrap="none" rtlCol="0">
            <a:spAutoFit/>
          </a:bodyPr>
          <a:lstStyle/>
          <a:p>
            <a:pPr algn="ctr"/>
            <a:r>
              <a:rPr lang="en-US" altLang="zh-TW"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5" name="文字方塊 244">
            <a:extLst>
              <a:ext uri="{FF2B5EF4-FFF2-40B4-BE49-F238E27FC236}">
                <a16:creationId xmlns:a16="http://schemas.microsoft.com/office/drawing/2014/main" id="{E276B1A1-C2B5-4876-AD61-C11FD33B13AA}"/>
              </a:ext>
            </a:extLst>
          </p:cNvPr>
          <p:cNvSpPr txBox="1"/>
          <p:nvPr/>
        </p:nvSpPr>
        <p:spPr>
          <a:xfrm>
            <a:off x="2040695" y="1222583"/>
            <a:ext cx="247220" cy="261763"/>
          </a:xfrm>
          <a:prstGeom prst="rect">
            <a:avLst/>
          </a:prstGeom>
          <a:noFill/>
        </p:spPr>
        <p:txBody>
          <a:bodyPr wrap="none" rtlCol="0">
            <a:spAutoFit/>
          </a:bodyPr>
          <a:lstStyle/>
          <a:p>
            <a:pPr algn="ctr"/>
            <a:r>
              <a:rPr lang="en-US" altLang="zh-TW"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5" name="手繪多邊形: 圖案 334">
            <a:extLst>
              <a:ext uri="{FF2B5EF4-FFF2-40B4-BE49-F238E27FC236}">
                <a16:creationId xmlns:a16="http://schemas.microsoft.com/office/drawing/2014/main" id="{F06E0342-B93A-4DD2-A905-197E5D855D0E}"/>
              </a:ext>
            </a:extLst>
          </p:cNvPr>
          <p:cNvSpPr/>
          <p:nvPr/>
        </p:nvSpPr>
        <p:spPr>
          <a:xfrm>
            <a:off x="2338620" y="1702859"/>
            <a:ext cx="146205" cy="736314"/>
          </a:xfrm>
          <a:custGeom>
            <a:avLst/>
            <a:gdLst>
              <a:gd name="connsiteX0" fmla="*/ 183453 w 236793"/>
              <a:gd name="connsiteY0" fmla="*/ 0 h 1192530"/>
              <a:gd name="connsiteX1" fmla="*/ 573 w 236793"/>
              <a:gd name="connsiteY1" fmla="*/ 472440 h 1192530"/>
              <a:gd name="connsiteX2" fmla="*/ 236793 w 236793"/>
              <a:gd name="connsiteY2" fmla="*/ 1192530 h 1192530"/>
            </a:gdLst>
            <a:ahLst/>
            <a:cxnLst>
              <a:cxn ang="0">
                <a:pos x="connsiteX0" y="connsiteY0"/>
              </a:cxn>
              <a:cxn ang="0">
                <a:pos x="connsiteX1" y="connsiteY1"/>
              </a:cxn>
              <a:cxn ang="0">
                <a:pos x="connsiteX2" y="connsiteY2"/>
              </a:cxn>
            </a:cxnLst>
            <a:rect l="l" t="t" r="r" b="b"/>
            <a:pathLst>
              <a:path w="236793" h="1192530">
                <a:moveTo>
                  <a:pt x="183453" y="0"/>
                </a:moveTo>
                <a:cubicBezTo>
                  <a:pt x="87568" y="136842"/>
                  <a:pt x="-8317" y="273685"/>
                  <a:pt x="573" y="472440"/>
                </a:cubicBezTo>
                <a:cubicBezTo>
                  <a:pt x="9463" y="671195"/>
                  <a:pt x="123128" y="931862"/>
                  <a:pt x="236793" y="119253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9" name="手繪多邊形: 圖案 338">
            <a:extLst>
              <a:ext uri="{FF2B5EF4-FFF2-40B4-BE49-F238E27FC236}">
                <a16:creationId xmlns:a16="http://schemas.microsoft.com/office/drawing/2014/main" id="{19FCC919-7A24-469E-A06F-14A02A1B228B}"/>
              </a:ext>
            </a:extLst>
          </p:cNvPr>
          <p:cNvSpPr/>
          <p:nvPr/>
        </p:nvSpPr>
        <p:spPr>
          <a:xfrm>
            <a:off x="2429880" y="1705212"/>
            <a:ext cx="284091" cy="731609"/>
          </a:xfrm>
          <a:custGeom>
            <a:avLst/>
            <a:gdLst>
              <a:gd name="connsiteX0" fmla="*/ 431888 w 460112"/>
              <a:gd name="connsiteY0" fmla="*/ 0 h 1184910"/>
              <a:gd name="connsiteX1" fmla="*/ 416648 w 460112"/>
              <a:gd name="connsiteY1" fmla="*/ 483870 h 1184910"/>
              <a:gd name="connsiteX2" fmla="*/ 20408 w 460112"/>
              <a:gd name="connsiteY2" fmla="*/ 628650 h 1184910"/>
              <a:gd name="connsiteX3" fmla="*/ 92798 w 460112"/>
              <a:gd name="connsiteY3" fmla="*/ 1184910 h 1184910"/>
            </a:gdLst>
            <a:ahLst/>
            <a:cxnLst>
              <a:cxn ang="0">
                <a:pos x="connsiteX0" y="connsiteY0"/>
              </a:cxn>
              <a:cxn ang="0">
                <a:pos x="connsiteX1" y="connsiteY1"/>
              </a:cxn>
              <a:cxn ang="0">
                <a:pos x="connsiteX2" y="connsiteY2"/>
              </a:cxn>
              <a:cxn ang="0">
                <a:pos x="connsiteX3" y="connsiteY3"/>
              </a:cxn>
            </a:cxnLst>
            <a:rect l="l" t="t" r="r" b="b"/>
            <a:pathLst>
              <a:path w="460112" h="1184910">
                <a:moveTo>
                  <a:pt x="431888" y="0"/>
                </a:moveTo>
                <a:cubicBezTo>
                  <a:pt x="458558" y="189547"/>
                  <a:pt x="485228" y="379095"/>
                  <a:pt x="416648" y="483870"/>
                </a:cubicBezTo>
                <a:cubicBezTo>
                  <a:pt x="348068" y="588645"/>
                  <a:pt x="74383" y="511810"/>
                  <a:pt x="20408" y="628650"/>
                </a:cubicBezTo>
                <a:cubicBezTo>
                  <a:pt x="-33567" y="745490"/>
                  <a:pt x="29615" y="965200"/>
                  <a:pt x="92798" y="118491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41" name="內容版面配置區 3">
            <a:extLst>
              <a:ext uri="{FF2B5EF4-FFF2-40B4-BE49-F238E27FC236}">
                <a16:creationId xmlns:a16="http://schemas.microsoft.com/office/drawing/2014/main" id="{379FB4DF-A43A-45CB-B480-47E6A2795EA7}"/>
              </a:ext>
            </a:extLst>
          </p:cNvPr>
          <p:cNvPicPr>
            <a:picLocks noGrp="1" noChangeAspect="1"/>
          </p:cNvPicPr>
          <p:nvPr>
            <p:ph idx="1"/>
          </p:nvPr>
        </p:nvPicPr>
        <p:blipFill rotWithShape="1">
          <a:blip r:embed="rId8" cstate="print">
            <a:extLst>
              <a:ext uri="{28A0092B-C50C-407E-A947-70E740481C1C}">
                <a14:useLocalDpi xmlns:a14="http://schemas.microsoft.com/office/drawing/2010/main" val="0"/>
              </a:ext>
            </a:extLst>
          </a:blip>
          <a:stretch/>
        </p:blipFill>
        <p:spPr>
          <a:xfrm>
            <a:off x="1958302" y="2957889"/>
            <a:ext cx="918556" cy="465513"/>
          </a:xfrm>
          <a:ln>
            <a:noFill/>
          </a:ln>
        </p:spPr>
      </p:pic>
      <p:sp>
        <p:nvSpPr>
          <p:cNvPr id="343" name="矩形 342">
            <a:extLst>
              <a:ext uri="{FF2B5EF4-FFF2-40B4-BE49-F238E27FC236}">
                <a16:creationId xmlns:a16="http://schemas.microsoft.com/office/drawing/2014/main" id="{8BBCD055-2E45-48A1-8AF0-D6E33E7C040A}"/>
              </a:ext>
            </a:extLst>
          </p:cNvPr>
          <p:cNvSpPr/>
          <p:nvPr/>
        </p:nvSpPr>
        <p:spPr>
          <a:xfrm>
            <a:off x="2023681" y="2926014"/>
            <a:ext cx="781647"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44" name="矩形 343">
            <a:extLst>
              <a:ext uri="{FF2B5EF4-FFF2-40B4-BE49-F238E27FC236}">
                <a16:creationId xmlns:a16="http://schemas.microsoft.com/office/drawing/2014/main" id="{8B96BB41-50EE-4DDC-8E6E-64F26F9FDAB3}"/>
              </a:ext>
            </a:extLst>
          </p:cNvPr>
          <p:cNvSpPr/>
          <p:nvPr/>
        </p:nvSpPr>
        <p:spPr>
          <a:xfrm>
            <a:off x="2016085" y="3371094"/>
            <a:ext cx="789244"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76" name="文字方塊 75">
            <a:extLst>
              <a:ext uri="{FF2B5EF4-FFF2-40B4-BE49-F238E27FC236}">
                <a16:creationId xmlns:a16="http://schemas.microsoft.com/office/drawing/2014/main" id="{37C9C35A-050A-496E-BF87-05702B9FBFB0}"/>
              </a:ext>
            </a:extLst>
          </p:cNvPr>
          <p:cNvSpPr txBox="1"/>
          <p:nvPr/>
        </p:nvSpPr>
        <p:spPr>
          <a:xfrm>
            <a:off x="7703048" y="3650425"/>
            <a:ext cx="806798"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1342nm</a:t>
            </a:r>
            <a:endParaRPr lang="zh-TW" altLang="en-US" sz="1400" dirty="0">
              <a:latin typeface="Times New Roman" panose="02020603050405020304" pitchFamily="18" charset="0"/>
              <a:cs typeface="Times New Roman" panose="02020603050405020304" pitchFamily="18" charset="0"/>
            </a:endParaRPr>
          </a:p>
        </p:txBody>
      </p:sp>
      <p:sp>
        <p:nvSpPr>
          <p:cNvPr id="77" name="文字方塊 76">
            <a:extLst>
              <a:ext uri="{FF2B5EF4-FFF2-40B4-BE49-F238E27FC236}">
                <a16:creationId xmlns:a16="http://schemas.microsoft.com/office/drawing/2014/main" id="{67DDBD69-72EA-48A8-8776-69EB7A18F659}"/>
              </a:ext>
            </a:extLst>
          </p:cNvPr>
          <p:cNvSpPr txBox="1"/>
          <p:nvPr/>
        </p:nvSpPr>
        <p:spPr>
          <a:xfrm>
            <a:off x="7702353" y="1089785"/>
            <a:ext cx="44510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8" name="文字方塊 77">
            <a:extLst>
              <a:ext uri="{FF2B5EF4-FFF2-40B4-BE49-F238E27FC236}">
                <a16:creationId xmlns:a16="http://schemas.microsoft.com/office/drawing/2014/main" id="{71F500DA-DF21-4DC9-B0FF-B0DB0A6113FA}"/>
              </a:ext>
            </a:extLst>
          </p:cNvPr>
          <p:cNvSpPr txBox="1"/>
          <p:nvPr/>
        </p:nvSpPr>
        <p:spPr>
          <a:xfrm>
            <a:off x="7725175" y="713219"/>
            <a:ext cx="466400"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875V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9" name="文字方塊 78">
            <a:extLst>
              <a:ext uri="{FF2B5EF4-FFF2-40B4-BE49-F238E27FC236}">
                <a16:creationId xmlns:a16="http://schemas.microsoft.com/office/drawing/2014/main" id="{4DD944A0-A80C-46FB-B883-B6E480722194}"/>
              </a:ext>
            </a:extLst>
          </p:cNvPr>
          <p:cNvSpPr txBox="1"/>
          <p:nvPr/>
        </p:nvSpPr>
        <p:spPr>
          <a:xfrm>
            <a:off x="8412583" y="1090331"/>
            <a:ext cx="538614"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680V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0" name="文字方塊 79">
            <a:extLst>
              <a:ext uri="{FF2B5EF4-FFF2-40B4-BE49-F238E27FC236}">
                <a16:creationId xmlns:a16="http://schemas.microsoft.com/office/drawing/2014/main" id="{59859AEE-473E-42A2-8A34-480930A60D2B}"/>
              </a:ext>
            </a:extLst>
          </p:cNvPr>
          <p:cNvSpPr txBox="1"/>
          <p:nvPr/>
        </p:nvSpPr>
        <p:spPr>
          <a:xfrm>
            <a:off x="8374243" y="721390"/>
            <a:ext cx="564383"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875V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81" name="群組 80">
            <a:extLst>
              <a:ext uri="{FF2B5EF4-FFF2-40B4-BE49-F238E27FC236}">
                <a16:creationId xmlns:a16="http://schemas.microsoft.com/office/drawing/2014/main" id="{306CAB72-C8FF-4B6A-94A0-C852AFAC92FB}"/>
              </a:ext>
            </a:extLst>
          </p:cNvPr>
          <p:cNvGrpSpPr/>
          <p:nvPr/>
        </p:nvGrpSpPr>
        <p:grpSpPr>
          <a:xfrm rot="10800000">
            <a:off x="7873808" y="835120"/>
            <a:ext cx="604382" cy="247204"/>
            <a:chOff x="142465" y="4813144"/>
            <a:chExt cx="3152261" cy="851838"/>
          </a:xfrm>
        </p:grpSpPr>
        <p:cxnSp>
          <p:nvCxnSpPr>
            <p:cNvPr id="82" name="接點: 肘形 81">
              <a:extLst>
                <a:ext uri="{FF2B5EF4-FFF2-40B4-BE49-F238E27FC236}">
                  <a16:creationId xmlns:a16="http://schemas.microsoft.com/office/drawing/2014/main" id="{7B6D3ED9-24F5-4FE1-B9B0-FFDA44A93C30}"/>
                </a:ext>
              </a:extLst>
            </p:cNvPr>
            <p:cNvCxnSpPr/>
            <p:nvPr/>
          </p:nvCxnSpPr>
          <p:spPr>
            <a:xfrm>
              <a:off x="142465" y="4817535"/>
              <a:ext cx="1651848" cy="847447"/>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接點: 肘形 82">
              <a:extLst>
                <a:ext uri="{FF2B5EF4-FFF2-40B4-BE49-F238E27FC236}">
                  <a16:creationId xmlns:a16="http://schemas.microsoft.com/office/drawing/2014/main" id="{643E7E64-49CC-4541-8D2C-788420EC5C24}"/>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84" name="群組 83">
            <a:extLst>
              <a:ext uri="{FF2B5EF4-FFF2-40B4-BE49-F238E27FC236}">
                <a16:creationId xmlns:a16="http://schemas.microsoft.com/office/drawing/2014/main" id="{23B8FFA1-8EAC-4EB3-80B0-3F0884F0D2F4}"/>
              </a:ext>
            </a:extLst>
          </p:cNvPr>
          <p:cNvGrpSpPr/>
          <p:nvPr/>
        </p:nvGrpSpPr>
        <p:grpSpPr>
          <a:xfrm rot="10800000">
            <a:off x="8615491" y="836395"/>
            <a:ext cx="604382" cy="247204"/>
            <a:chOff x="142465" y="4813144"/>
            <a:chExt cx="3152261" cy="851838"/>
          </a:xfrm>
        </p:grpSpPr>
        <p:cxnSp>
          <p:nvCxnSpPr>
            <p:cNvPr id="85" name="接點: 肘形 84">
              <a:extLst>
                <a:ext uri="{FF2B5EF4-FFF2-40B4-BE49-F238E27FC236}">
                  <a16:creationId xmlns:a16="http://schemas.microsoft.com/office/drawing/2014/main" id="{D9272440-6DE1-46B8-A178-F00085DDDB69}"/>
                </a:ext>
              </a:extLst>
            </p:cNvPr>
            <p:cNvCxnSpPr/>
            <p:nvPr/>
          </p:nvCxnSpPr>
          <p:spPr>
            <a:xfrm>
              <a:off x="142465" y="4817535"/>
              <a:ext cx="1651848" cy="847447"/>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接點: 肘形 85">
              <a:extLst>
                <a:ext uri="{FF2B5EF4-FFF2-40B4-BE49-F238E27FC236}">
                  <a16:creationId xmlns:a16="http://schemas.microsoft.com/office/drawing/2014/main" id="{F9C22B61-AC1E-47A5-8ABA-DDDE70207E24}"/>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87" name="群組 86">
            <a:extLst>
              <a:ext uri="{FF2B5EF4-FFF2-40B4-BE49-F238E27FC236}">
                <a16:creationId xmlns:a16="http://schemas.microsoft.com/office/drawing/2014/main" id="{973B2ADC-98C3-4003-B38E-09D7F3E3E7E3}"/>
              </a:ext>
            </a:extLst>
          </p:cNvPr>
          <p:cNvGrpSpPr/>
          <p:nvPr/>
        </p:nvGrpSpPr>
        <p:grpSpPr>
          <a:xfrm rot="10800000">
            <a:off x="9360508" y="835120"/>
            <a:ext cx="604382" cy="247204"/>
            <a:chOff x="142465" y="4813144"/>
            <a:chExt cx="3152261" cy="851838"/>
          </a:xfrm>
        </p:grpSpPr>
        <p:cxnSp>
          <p:nvCxnSpPr>
            <p:cNvPr id="88" name="接點: 肘形 87">
              <a:extLst>
                <a:ext uri="{FF2B5EF4-FFF2-40B4-BE49-F238E27FC236}">
                  <a16:creationId xmlns:a16="http://schemas.microsoft.com/office/drawing/2014/main" id="{DEC66760-5592-420B-92A2-CD1D0641F9C3}"/>
                </a:ext>
              </a:extLst>
            </p:cNvPr>
            <p:cNvCxnSpPr/>
            <p:nvPr/>
          </p:nvCxnSpPr>
          <p:spPr>
            <a:xfrm>
              <a:off x="142465" y="4817535"/>
              <a:ext cx="1651848" cy="847447"/>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接點: 肘形 88">
              <a:extLst>
                <a:ext uri="{FF2B5EF4-FFF2-40B4-BE49-F238E27FC236}">
                  <a16:creationId xmlns:a16="http://schemas.microsoft.com/office/drawing/2014/main" id="{ACF780C0-78E3-49EA-91C7-49393BCEF93D}"/>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90" name="文字方塊 89">
            <a:extLst>
              <a:ext uri="{FF2B5EF4-FFF2-40B4-BE49-F238E27FC236}">
                <a16:creationId xmlns:a16="http://schemas.microsoft.com/office/drawing/2014/main" id="{9BB345EA-8DAF-4938-8C2B-02B3BF4A91EF}"/>
              </a:ext>
            </a:extLst>
          </p:cNvPr>
          <p:cNvSpPr txBox="1"/>
          <p:nvPr/>
        </p:nvSpPr>
        <p:spPr>
          <a:xfrm>
            <a:off x="9138602" y="1085340"/>
            <a:ext cx="538614"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1" name="文字方塊 90">
            <a:extLst>
              <a:ext uri="{FF2B5EF4-FFF2-40B4-BE49-F238E27FC236}">
                <a16:creationId xmlns:a16="http://schemas.microsoft.com/office/drawing/2014/main" id="{84922C55-1018-4EE4-B494-8E3F87B26F36}"/>
              </a:ext>
            </a:extLst>
          </p:cNvPr>
          <p:cNvSpPr txBox="1"/>
          <p:nvPr/>
        </p:nvSpPr>
        <p:spPr>
          <a:xfrm>
            <a:off x="9176564" y="714892"/>
            <a:ext cx="564383"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895V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2" name="文字方塊 91">
            <a:extLst>
              <a:ext uri="{FF2B5EF4-FFF2-40B4-BE49-F238E27FC236}">
                <a16:creationId xmlns:a16="http://schemas.microsoft.com/office/drawing/2014/main" id="{E09CE0B9-7387-41C7-98EF-801A44C925EC}"/>
              </a:ext>
            </a:extLst>
          </p:cNvPr>
          <p:cNvSpPr txBox="1"/>
          <p:nvPr/>
        </p:nvSpPr>
        <p:spPr>
          <a:xfrm>
            <a:off x="9865603" y="1083413"/>
            <a:ext cx="538614"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3" name="文字方塊 92">
            <a:extLst>
              <a:ext uri="{FF2B5EF4-FFF2-40B4-BE49-F238E27FC236}">
                <a16:creationId xmlns:a16="http://schemas.microsoft.com/office/drawing/2014/main" id="{8E578D73-40E2-4657-BF51-17346E63EAA4}"/>
              </a:ext>
            </a:extLst>
          </p:cNvPr>
          <p:cNvSpPr txBox="1"/>
          <p:nvPr/>
        </p:nvSpPr>
        <p:spPr>
          <a:xfrm>
            <a:off x="9925132" y="714892"/>
            <a:ext cx="564383"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897V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94" name="群組 93">
            <a:extLst>
              <a:ext uri="{FF2B5EF4-FFF2-40B4-BE49-F238E27FC236}">
                <a16:creationId xmlns:a16="http://schemas.microsoft.com/office/drawing/2014/main" id="{AA466C29-5338-4AD1-B157-1B3A6AF706CE}"/>
              </a:ext>
            </a:extLst>
          </p:cNvPr>
          <p:cNvGrpSpPr/>
          <p:nvPr/>
        </p:nvGrpSpPr>
        <p:grpSpPr>
          <a:xfrm rot="10800000">
            <a:off x="10103018" y="826337"/>
            <a:ext cx="604382" cy="247204"/>
            <a:chOff x="142465" y="4813144"/>
            <a:chExt cx="3152261" cy="851838"/>
          </a:xfrm>
        </p:grpSpPr>
        <p:cxnSp>
          <p:nvCxnSpPr>
            <p:cNvPr id="95" name="接點: 肘形 94">
              <a:extLst>
                <a:ext uri="{FF2B5EF4-FFF2-40B4-BE49-F238E27FC236}">
                  <a16:creationId xmlns:a16="http://schemas.microsoft.com/office/drawing/2014/main" id="{83E3DCC7-AAF8-4D95-9F3E-F01AEC69CC81}"/>
                </a:ext>
              </a:extLst>
            </p:cNvPr>
            <p:cNvCxnSpPr/>
            <p:nvPr/>
          </p:nvCxnSpPr>
          <p:spPr>
            <a:xfrm>
              <a:off x="142465" y="4817535"/>
              <a:ext cx="1651848" cy="847447"/>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6" name="接點: 肘形 95">
              <a:extLst>
                <a:ext uri="{FF2B5EF4-FFF2-40B4-BE49-F238E27FC236}">
                  <a16:creationId xmlns:a16="http://schemas.microsoft.com/office/drawing/2014/main" id="{E76A4EA9-4D03-4703-93A6-53189F812A9D}"/>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97" name="群組 96">
            <a:extLst>
              <a:ext uri="{FF2B5EF4-FFF2-40B4-BE49-F238E27FC236}">
                <a16:creationId xmlns:a16="http://schemas.microsoft.com/office/drawing/2014/main" id="{7032BBEF-5DFF-4BFA-B5BF-918FEB242D44}"/>
              </a:ext>
            </a:extLst>
          </p:cNvPr>
          <p:cNvGrpSpPr/>
          <p:nvPr/>
        </p:nvGrpSpPr>
        <p:grpSpPr>
          <a:xfrm rot="10800000">
            <a:off x="10902391" y="821087"/>
            <a:ext cx="604382" cy="247204"/>
            <a:chOff x="142465" y="4813144"/>
            <a:chExt cx="3152261" cy="851838"/>
          </a:xfrm>
        </p:grpSpPr>
        <p:cxnSp>
          <p:nvCxnSpPr>
            <p:cNvPr id="98" name="接點: 肘形 97">
              <a:extLst>
                <a:ext uri="{FF2B5EF4-FFF2-40B4-BE49-F238E27FC236}">
                  <a16:creationId xmlns:a16="http://schemas.microsoft.com/office/drawing/2014/main" id="{3A11E2A3-07E0-4D39-8BB5-FB50C9C5172A}"/>
                </a:ext>
              </a:extLst>
            </p:cNvPr>
            <p:cNvCxnSpPr/>
            <p:nvPr/>
          </p:nvCxnSpPr>
          <p:spPr>
            <a:xfrm>
              <a:off x="142465" y="4817535"/>
              <a:ext cx="1651848" cy="847447"/>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接點: 肘形 98">
              <a:extLst>
                <a:ext uri="{FF2B5EF4-FFF2-40B4-BE49-F238E27FC236}">
                  <a16:creationId xmlns:a16="http://schemas.microsoft.com/office/drawing/2014/main" id="{3E754933-BEA5-4583-8A4B-C9BC9822A5E8}"/>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100" name="文字方塊 99">
            <a:extLst>
              <a:ext uri="{FF2B5EF4-FFF2-40B4-BE49-F238E27FC236}">
                <a16:creationId xmlns:a16="http://schemas.microsoft.com/office/drawing/2014/main" id="{C9D3980A-5DDD-401D-A0E3-5A7178A27486}"/>
              </a:ext>
            </a:extLst>
          </p:cNvPr>
          <p:cNvSpPr txBox="1"/>
          <p:nvPr/>
        </p:nvSpPr>
        <p:spPr>
          <a:xfrm>
            <a:off x="10647234" y="1061790"/>
            <a:ext cx="538614"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1" name="文字方塊 100">
            <a:extLst>
              <a:ext uri="{FF2B5EF4-FFF2-40B4-BE49-F238E27FC236}">
                <a16:creationId xmlns:a16="http://schemas.microsoft.com/office/drawing/2014/main" id="{20FB0D5B-FC58-4C5D-8B9B-E1DFDCD58DA8}"/>
              </a:ext>
            </a:extLst>
          </p:cNvPr>
          <p:cNvSpPr txBox="1"/>
          <p:nvPr/>
        </p:nvSpPr>
        <p:spPr>
          <a:xfrm>
            <a:off x="10717046" y="702467"/>
            <a:ext cx="564383"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901V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02" name="直線單箭頭接點 101">
            <a:extLst>
              <a:ext uri="{FF2B5EF4-FFF2-40B4-BE49-F238E27FC236}">
                <a16:creationId xmlns:a16="http://schemas.microsoft.com/office/drawing/2014/main" id="{1A62B97D-2AC2-4B0D-A355-E8CFFA113747}"/>
              </a:ext>
            </a:extLst>
          </p:cNvPr>
          <p:cNvCxnSpPr>
            <a:cxnSpLocks/>
          </p:cNvCxnSpPr>
          <p:nvPr/>
        </p:nvCxnSpPr>
        <p:spPr>
          <a:xfrm>
            <a:off x="1417344" y="2522520"/>
            <a:ext cx="1045119" cy="0"/>
          </a:xfrm>
          <a:prstGeom prst="straightConnector1">
            <a:avLst/>
          </a:prstGeom>
          <a:ln w="50800">
            <a:solidFill>
              <a:srgbClr val="00B050"/>
            </a:solidFill>
            <a:tailEnd type="triangl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sp>
        <p:nvSpPr>
          <p:cNvPr id="103" name="文字方塊 102">
            <a:extLst>
              <a:ext uri="{FF2B5EF4-FFF2-40B4-BE49-F238E27FC236}">
                <a16:creationId xmlns:a16="http://schemas.microsoft.com/office/drawing/2014/main" id="{65B60877-E978-4B56-AEFD-120773971963}"/>
              </a:ext>
            </a:extLst>
          </p:cNvPr>
          <p:cNvSpPr txBox="1"/>
          <p:nvPr/>
        </p:nvSpPr>
        <p:spPr>
          <a:xfrm>
            <a:off x="1596131" y="2489140"/>
            <a:ext cx="502061" cy="261610"/>
          </a:xfrm>
          <a:prstGeom prst="rect">
            <a:avLst/>
          </a:prstGeom>
          <a:noFill/>
        </p:spPr>
        <p:txBody>
          <a:bodyPr wrap="square" rtlCol="0">
            <a:spAutoFit/>
          </a:bodyPr>
          <a:lstStyle/>
          <a:p>
            <a:r>
              <a:rPr lang="en-US" altLang="zh-TW" sz="1100" b="1" dirty="0">
                <a:latin typeface="Times New Roman" panose="02020603050405020304" pitchFamily="18" charset="0"/>
                <a:cs typeface="Times New Roman" panose="02020603050405020304" pitchFamily="18" charset="0"/>
              </a:rPr>
              <a:t>CH 2</a:t>
            </a:r>
            <a:endParaRPr lang="zh-TW" altLang="en-US" sz="1100" b="1" dirty="0">
              <a:latin typeface="Times New Roman" panose="02020603050405020304" pitchFamily="18" charset="0"/>
              <a:cs typeface="Times New Roman" panose="02020603050405020304" pitchFamily="18" charset="0"/>
            </a:endParaRPr>
          </a:p>
        </p:txBody>
      </p:sp>
      <p:grpSp>
        <p:nvGrpSpPr>
          <p:cNvPr id="2" name="群組 1">
            <a:extLst>
              <a:ext uri="{FF2B5EF4-FFF2-40B4-BE49-F238E27FC236}">
                <a16:creationId xmlns:a16="http://schemas.microsoft.com/office/drawing/2014/main" id="{D08DF1F3-8F22-4F3F-ABC2-F2DF282AADE5}"/>
              </a:ext>
            </a:extLst>
          </p:cNvPr>
          <p:cNvGrpSpPr/>
          <p:nvPr/>
        </p:nvGrpSpPr>
        <p:grpSpPr>
          <a:xfrm>
            <a:off x="190663" y="2239615"/>
            <a:ext cx="1191672" cy="168402"/>
            <a:chOff x="-119214" y="2567228"/>
            <a:chExt cx="1773883" cy="250677"/>
          </a:xfrm>
        </p:grpSpPr>
        <p:grpSp>
          <p:nvGrpSpPr>
            <p:cNvPr id="104" name="群組 103">
              <a:extLst>
                <a:ext uri="{FF2B5EF4-FFF2-40B4-BE49-F238E27FC236}">
                  <a16:creationId xmlns:a16="http://schemas.microsoft.com/office/drawing/2014/main" id="{9679CB36-E934-409B-B426-823BD72F6F8E}"/>
                </a:ext>
              </a:extLst>
            </p:cNvPr>
            <p:cNvGrpSpPr/>
            <p:nvPr/>
          </p:nvGrpSpPr>
          <p:grpSpPr>
            <a:xfrm rot="10800000">
              <a:off x="-119214" y="2568796"/>
              <a:ext cx="589142" cy="249109"/>
              <a:chOff x="221951" y="4813144"/>
              <a:chExt cx="3072775" cy="858403"/>
            </a:xfrm>
          </p:grpSpPr>
          <p:cxnSp>
            <p:nvCxnSpPr>
              <p:cNvPr id="105" name="接點: 肘形 104">
                <a:extLst>
                  <a:ext uri="{FF2B5EF4-FFF2-40B4-BE49-F238E27FC236}">
                    <a16:creationId xmlns:a16="http://schemas.microsoft.com/office/drawing/2014/main" id="{4DBEF143-787D-4376-BF38-BAC5E7C09EA8}"/>
                  </a:ext>
                </a:extLst>
              </p:cNvPr>
              <p:cNvCxnSpPr/>
              <p:nvPr/>
            </p:nvCxnSpPr>
            <p:spPr>
              <a:xfrm>
                <a:off x="221951" y="4824098"/>
                <a:ext cx="1651847" cy="847449"/>
              </a:xfrm>
              <a:prstGeom prst="bentConnector3">
                <a:avLst>
                  <a:gd name="adj1" fmla="val 85471"/>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接點: 肘形 105">
                <a:extLst>
                  <a:ext uri="{FF2B5EF4-FFF2-40B4-BE49-F238E27FC236}">
                    <a16:creationId xmlns:a16="http://schemas.microsoft.com/office/drawing/2014/main" id="{5A59B255-EFDA-4080-B097-53F4D655D621}"/>
                  </a:ext>
                </a:extLst>
              </p:cNvPr>
              <p:cNvCxnSpPr/>
              <p:nvPr/>
            </p:nvCxnSpPr>
            <p:spPr>
              <a:xfrm>
                <a:off x="1642877" y="4813144"/>
                <a:ext cx="1651849" cy="847446"/>
              </a:xfrm>
              <a:prstGeom prst="bentConnector3">
                <a:avLst>
                  <a:gd name="adj1" fmla="val 85471"/>
                </a:avLst>
              </a:prstGeom>
              <a:ln w="15875">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107" name="群組 106">
              <a:extLst>
                <a:ext uri="{FF2B5EF4-FFF2-40B4-BE49-F238E27FC236}">
                  <a16:creationId xmlns:a16="http://schemas.microsoft.com/office/drawing/2014/main" id="{E729572B-984E-4354-BD14-25FBDD778D2E}"/>
                </a:ext>
              </a:extLst>
            </p:cNvPr>
            <p:cNvGrpSpPr/>
            <p:nvPr/>
          </p:nvGrpSpPr>
          <p:grpSpPr>
            <a:xfrm rot="10800000">
              <a:off x="471861" y="2567228"/>
              <a:ext cx="591682" cy="247204"/>
              <a:chOff x="182208" y="4813144"/>
              <a:chExt cx="3086022" cy="851838"/>
            </a:xfrm>
          </p:grpSpPr>
          <p:cxnSp>
            <p:nvCxnSpPr>
              <p:cNvPr id="108" name="接點: 肘形 107">
                <a:extLst>
                  <a:ext uri="{FF2B5EF4-FFF2-40B4-BE49-F238E27FC236}">
                    <a16:creationId xmlns:a16="http://schemas.microsoft.com/office/drawing/2014/main" id="{435877B9-EB55-437B-A9C1-D22615D411D3}"/>
                  </a:ext>
                </a:extLst>
              </p:cNvPr>
              <p:cNvCxnSpPr/>
              <p:nvPr/>
            </p:nvCxnSpPr>
            <p:spPr>
              <a:xfrm>
                <a:off x="182208" y="4817534"/>
                <a:ext cx="1651847" cy="847448"/>
              </a:xfrm>
              <a:prstGeom prst="bentConnector3">
                <a:avLst>
                  <a:gd name="adj1" fmla="val 85471"/>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接點: 肘形 108">
                <a:extLst>
                  <a:ext uri="{FF2B5EF4-FFF2-40B4-BE49-F238E27FC236}">
                    <a16:creationId xmlns:a16="http://schemas.microsoft.com/office/drawing/2014/main" id="{2955A0A5-6CC3-453F-B7EA-17D7FDADA1C4}"/>
                  </a:ext>
                </a:extLst>
              </p:cNvPr>
              <p:cNvCxnSpPr/>
              <p:nvPr/>
            </p:nvCxnSpPr>
            <p:spPr>
              <a:xfrm>
                <a:off x="1616384" y="4813144"/>
                <a:ext cx="1651846" cy="847444"/>
              </a:xfrm>
              <a:prstGeom prst="bentConnector3">
                <a:avLst>
                  <a:gd name="adj1" fmla="val 85471"/>
                </a:avLst>
              </a:prstGeom>
              <a:ln w="15875">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110" name="群組 109">
              <a:extLst>
                <a:ext uri="{FF2B5EF4-FFF2-40B4-BE49-F238E27FC236}">
                  <a16:creationId xmlns:a16="http://schemas.microsoft.com/office/drawing/2014/main" id="{7C334DCD-6E62-4816-9BBF-226008A1312C}"/>
                </a:ext>
              </a:extLst>
            </p:cNvPr>
            <p:cNvGrpSpPr/>
            <p:nvPr/>
          </p:nvGrpSpPr>
          <p:grpSpPr>
            <a:xfrm rot="10800000">
              <a:off x="1065527" y="2567230"/>
              <a:ext cx="589142" cy="247204"/>
              <a:chOff x="221951" y="4813144"/>
              <a:chExt cx="3072775" cy="851839"/>
            </a:xfrm>
          </p:grpSpPr>
          <p:cxnSp>
            <p:nvCxnSpPr>
              <p:cNvPr id="111" name="接點: 肘形 110">
                <a:extLst>
                  <a:ext uri="{FF2B5EF4-FFF2-40B4-BE49-F238E27FC236}">
                    <a16:creationId xmlns:a16="http://schemas.microsoft.com/office/drawing/2014/main" id="{949E556B-3EDE-4BD3-A59B-A0433955518C}"/>
                  </a:ext>
                </a:extLst>
              </p:cNvPr>
              <p:cNvCxnSpPr/>
              <p:nvPr/>
            </p:nvCxnSpPr>
            <p:spPr>
              <a:xfrm>
                <a:off x="221951" y="4817534"/>
                <a:ext cx="1651847" cy="847449"/>
              </a:xfrm>
              <a:prstGeom prst="bentConnector3">
                <a:avLst>
                  <a:gd name="adj1" fmla="val 85471"/>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2" name="接點: 肘形 111">
                <a:extLst>
                  <a:ext uri="{FF2B5EF4-FFF2-40B4-BE49-F238E27FC236}">
                    <a16:creationId xmlns:a16="http://schemas.microsoft.com/office/drawing/2014/main" id="{0E23F6B7-EA18-4CB7-927D-4DD98924D873}"/>
                  </a:ext>
                </a:extLst>
              </p:cNvPr>
              <p:cNvCxnSpPr/>
              <p:nvPr/>
            </p:nvCxnSpPr>
            <p:spPr>
              <a:xfrm>
                <a:off x="1642877" y="4813144"/>
                <a:ext cx="1651849" cy="847446"/>
              </a:xfrm>
              <a:prstGeom prst="bentConnector3">
                <a:avLst>
                  <a:gd name="adj1" fmla="val 85471"/>
                </a:avLst>
              </a:prstGeom>
              <a:ln w="15875">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cxnSp>
        <p:nvCxnSpPr>
          <p:cNvPr id="113" name="接點: 肘形 112">
            <a:extLst>
              <a:ext uri="{FF2B5EF4-FFF2-40B4-BE49-F238E27FC236}">
                <a16:creationId xmlns:a16="http://schemas.microsoft.com/office/drawing/2014/main" id="{E6FA4475-2BA4-4555-A82A-BF9D112D0E0E}"/>
              </a:ext>
            </a:extLst>
          </p:cNvPr>
          <p:cNvCxnSpPr>
            <a:cxnSpLocks/>
            <a:stCxn id="343" idx="0"/>
            <a:endCxn id="236" idx="4"/>
          </p:cNvCxnSpPr>
          <p:nvPr/>
        </p:nvCxnSpPr>
        <p:spPr>
          <a:xfrm rot="5400000" flipH="1" flipV="1">
            <a:off x="2522232" y="2317827"/>
            <a:ext cx="500460" cy="715914"/>
          </a:xfrm>
          <a:prstGeom prst="bentConnector4">
            <a:avLst>
              <a:gd name="adj1" fmla="val 39800"/>
              <a:gd name="adj2" fmla="val 131931"/>
            </a:avLst>
          </a:prstGeom>
          <a:ln w="50800">
            <a:solidFill>
              <a:srgbClr val="00B050"/>
            </a:solidFill>
            <a:headEnd type="triangle"/>
            <a:tailEnd type="non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sp>
        <p:nvSpPr>
          <p:cNvPr id="22" name="手繪多邊形: 圖案 21">
            <a:extLst>
              <a:ext uri="{FF2B5EF4-FFF2-40B4-BE49-F238E27FC236}">
                <a16:creationId xmlns:a16="http://schemas.microsoft.com/office/drawing/2014/main" id="{AC47B0BE-EA0C-48AA-BD09-33FC7607C827}"/>
              </a:ext>
            </a:extLst>
          </p:cNvPr>
          <p:cNvSpPr/>
          <p:nvPr/>
        </p:nvSpPr>
        <p:spPr>
          <a:xfrm>
            <a:off x="1221740" y="1709420"/>
            <a:ext cx="1259840" cy="721360"/>
          </a:xfrm>
          <a:custGeom>
            <a:avLst/>
            <a:gdLst>
              <a:gd name="connsiteX0" fmla="*/ 0 w 1259840"/>
              <a:gd name="connsiteY0" fmla="*/ 0 h 721360"/>
              <a:gd name="connsiteX1" fmla="*/ 607060 w 1259840"/>
              <a:gd name="connsiteY1" fmla="*/ 462280 h 721360"/>
              <a:gd name="connsiteX2" fmla="*/ 1259840 w 1259840"/>
              <a:gd name="connsiteY2" fmla="*/ 721360 h 721360"/>
            </a:gdLst>
            <a:ahLst/>
            <a:cxnLst>
              <a:cxn ang="0">
                <a:pos x="connsiteX0" y="connsiteY0"/>
              </a:cxn>
              <a:cxn ang="0">
                <a:pos x="connsiteX1" y="connsiteY1"/>
              </a:cxn>
              <a:cxn ang="0">
                <a:pos x="connsiteX2" y="connsiteY2"/>
              </a:cxn>
            </a:cxnLst>
            <a:rect l="l" t="t" r="r" b="b"/>
            <a:pathLst>
              <a:path w="1259840" h="721360">
                <a:moveTo>
                  <a:pt x="0" y="0"/>
                </a:moveTo>
                <a:cubicBezTo>
                  <a:pt x="198543" y="171026"/>
                  <a:pt x="397087" y="342053"/>
                  <a:pt x="607060" y="462280"/>
                </a:cubicBezTo>
                <a:cubicBezTo>
                  <a:pt x="817033" y="582507"/>
                  <a:pt x="1038436" y="651933"/>
                  <a:pt x="1259840" y="72136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手繪多邊形: 圖案 22">
            <a:extLst>
              <a:ext uri="{FF2B5EF4-FFF2-40B4-BE49-F238E27FC236}">
                <a16:creationId xmlns:a16="http://schemas.microsoft.com/office/drawing/2014/main" id="{A1269865-6CB1-404C-A5B1-CBC0D0B176B8}"/>
              </a:ext>
            </a:extLst>
          </p:cNvPr>
          <p:cNvSpPr/>
          <p:nvPr/>
        </p:nvSpPr>
        <p:spPr>
          <a:xfrm>
            <a:off x="1488440" y="1709420"/>
            <a:ext cx="977900" cy="708660"/>
          </a:xfrm>
          <a:custGeom>
            <a:avLst/>
            <a:gdLst>
              <a:gd name="connsiteX0" fmla="*/ 0 w 977900"/>
              <a:gd name="connsiteY0" fmla="*/ 0 h 708660"/>
              <a:gd name="connsiteX1" fmla="*/ 424180 w 977900"/>
              <a:gd name="connsiteY1" fmla="*/ 193040 h 708660"/>
              <a:gd name="connsiteX2" fmla="*/ 756920 w 977900"/>
              <a:gd name="connsiteY2" fmla="*/ 513080 h 708660"/>
              <a:gd name="connsiteX3" fmla="*/ 977900 w 977900"/>
              <a:gd name="connsiteY3" fmla="*/ 708660 h 708660"/>
            </a:gdLst>
            <a:ahLst/>
            <a:cxnLst>
              <a:cxn ang="0">
                <a:pos x="connsiteX0" y="connsiteY0"/>
              </a:cxn>
              <a:cxn ang="0">
                <a:pos x="connsiteX1" y="connsiteY1"/>
              </a:cxn>
              <a:cxn ang="0">
                <a:pos x="connsiteX2" y="connsiteY2"/>
              </a:cxn>
              <a:cxn ang="0">
                <a:pos x="connsiteX3" y="connsiteY3"/>
              </a:cxn>
            </a:cxnLst>
            <a:rect l="l" t="t" r="r" b="b"/>
            <a:pathLst>
              <a:path w="977900" h="708660">
                <a:moveTo>
                  <a:pt x="0" y="0"/>
                </a:moveTo>
                <a:cubicBezTo>
                  <a:pt x="149013" y="53763"/>
                  <a:pt x="298027" y="107527"/>
                  <a:pt x="424180" y="193040"/>
                </a:cubicBezTo>
                <a:cubicBezTo>
                  <a:pt x="550333" y="278553"/>
                  <a:pt x="664633" y="427143"/>
                  <a:pt x="756920" y="513080"/>
                </a:cubicBezTo>
                <a:cubicBezTo>
                  <a:pt x="849207" y="599017"/>
                  <a:pt x="913553" y="653838"/>
                  <a:pt x="977900" y="70866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4" name="圖片 113">
            <a:extLst>
              <a:ext uri="{FF2B5EF4-FFF2-40B4-BE49-F238E27FC236}">
                <a16:creationId xmlns:a16="http://schemas.microsoft.com/office/drawing/2014/main" id="{CAC57B7D-2DF8-43B6-8080-A8E1A1DBE7CA}"/>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5704925" y="2391524"/>
            <a:ext cx="3874943" cy="2699991"/>
          </a:xfrm>
          <a:prstGeom prst="rect">
            <a:avLst/>
          </a:prstGeom>
          <a:ln>
            <a:noFill/>
          </a:ln>
          <a:effectLst>
            <a:outerShdw blurRad="292100" dist="139700" dir="2700000" algn="tl" rotWithShape="0">
              <a:srgbClr val="333333">
                <a:alpha val="65000"/>
              </a:srgbClr>
            </a:outerShdw>
          </a:effectLst>
        </p:spPr>
      </p:pic>
      <p:sp>
        <p:nvSpPr>
          <p:cNvPr id="73" name="文字方塊 72">
            <a:extLst>
              <a:ext uri="{FF2B5EF4-FFF2-40B4-BE49-F238E27FC236}">
                <a16:creationId xmlns:a16="http://schemas.microsoft.com/office/drawing/2014/main" id="{9A821213-EBC5-469C-995F-C2CF66652638}"/>
              </a:ext>
            </a:extLst>
          </p:cNvPr>
          <p:cNvSpPr txBox="1"/>
          <p:nvPr/>
        </p:nvSpPr>
        <p:spPr>
          <a:xfrm>
            <a:off x="3193862" y="3565341"/>
            <a:ext cx="707245"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1064.50nm</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5" name="文字方塊 114">
            <a:extLst>
              <a:ext uri="{FF2B5EF4-FFF2-40B4-BE49-F238E27FC236}">
                <a16:creationId xmlns:a16="http://schemas.microsoft.com/office/drawing/2014/main" id="{7BE2E88C-4BED-4F0C-8D2D-585C0A8E41B7}"/>
              </a:ext>
            </a:extLst>
          </p:cNvPr>
          <p:cNvSpPr txBox="1"/>
          <p:nvPr/>
        </p:nvSpPr>
        <p:spPr>
          <a:xfrm>
            <a:off x="3198479" y="3768002"/>
            <a:ext cx="707245"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1342.33nm</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6" name="橢圓 115">
            <a:extLst>
              <a:ext uri="{FF2B5EF4-FFF2-40B4-BE49-F238E27FC236}">
                <a16:creationId xmlns:a16="http://schemas.microsoft.com/office/drawing/2014/main" id="{41EB340D-285C-46A3-AED4-E4142581742D}"/>
              </a:ext>
            </a:extLst>
          </p:cNvPr>
          <p:cNvSpPr/>
          <p:nvPr/>
        </p:nvSpPr>
        <p:spPr>
          <a:xfrm>
            <a:off x="3097455" y="3615402"/>
            <a:ext cx="125376" cy="125376"/>
          </a:xfrm>
          <a:prstGeom prst="ellipse">
            <a:avLst/>
          </a:prstGeom>
          <a:solidFill>
            <a:srgbClr val="FF0000"/>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050"/>
          </a:p>
        </p:txBody>
      </p:sp>
      <p:sp>
        <p:nvSpPr>
          <p:cNvPr id="117" name="橢圓 116">
            <a:extLst>
              <a:ext uri="{FF2B5EF4-FFF2-40B4-BE49-F238E27FC236}">
                <a16:creationId xmlns:a16="http://schemas.microsoft.com/office/drawing/2014/main" id="{D6E3E7EE-291A-47BC-B20D-4F3924CC159C}"/>
              </a:ext>
            </a:extLst>
          </p:cNvPr>
          <p:cNvSpPr/>
          <p:nvPr/>
        </p:nvSpPr>
        <p:spPr>
          <a:xfrm>
            <a:off x="3097455" y="3828956"/>
            <a:ext cx="125376" cy="125376"/>
          </a:xfrm>
          <a:prstGeom prst="ellipse">
            <a:avLst/>
          </a:prstGeom>
          <a:solidFill>
            <a:srgbClr val="0000FF"/>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p>
        </p:txBody>
      </p:sp>
      <p:sp>
        <p:nvSpPr>
          <p:cNvPr id="118" name="文字方塊 117">
            <a:extLst>
              <a:ext uri="{FF2B5EF4-FFF2-40B4-BE49-F238E27FC236}">
                <a16:creationId xmlns:a16="http://schemas.microsoft.com/office/drawing/2014/main" id="{CBDA4803-C068-49BB-A216-1208927F8CB4}"/>
              </a:ext>
            </a:extLst>
          </p:cNvPr>
          <p:cNvSpPr txBox="1"/>
          <p:nvPr/>
        </p:nvSpPr>
        <p:spPr>
          <a:xfrm>
            <a:off x="1751616" y="6459569"/>
            <a:ext cx="2179524" cy="406193"/>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9" name="文字方塊 118">
            <a:extLst>
              <a:ext uri="{FF2B5EF4-FFF2-40B4-BE49-F238E27FC236}">
                <a16:creationId xmlns:a16="http://schemas.microsoft.com/office/drawing/2014/main" id="{F07CE8B7-2CB3-40CD-BB1F-1AC39FC21753}"/>
              </a:ext>
            </a:extLst>
          </p:cNvPr>
          <p:cNvSpPr txBox="1"/>
          <p:nvPr/>
        </p:nvSpPr>
        <p:spPr>
          <a:xfrm rot="16200000">
            <a:off x="-815623" y="4922801"/>
            <a:ext cx="2148119" cy="406193"/>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21" name="直線接點 120">
            <a:extLst>
              <a:ext uri="{FF2B5EF4-FFF2-40B4-BE49-F238E27FC236}">
                <a16:creationId xmlns:a16="http://schemas.microsoft.com/office/drawing/2014/main" id="{955DF327-5830-4F8B-BE2D-80AC08E8BE10}"/>
              </a:ext>
            </a:extLst>
          </p:cNvPr>
          <p:cNvCxnSpPr>
            <a:cxnSpLocks/>
          </p:cNvCxnSpPr>
          <p:nvPr/>
        </p:nvCxnSpPr>
        <p:spPr>
          <a:xfrm>
            <a:off x="2183944" y="3895175"/>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2" name="直線接點 121">
            <a:extLst>
              <a:ext uri="{FF2B5EF4-FFF2-40B4-BE49-F238E27FC236}">
                <a16:creationId xmlns:a16="http://schemas.microsoft.com/office/drawing/2014/main" id="{5BB52428-78CD-485B-9E52-3B99556E41DA}"/>
              </a:ext>
            </a:extLst>
          </p:cNvPr>
          <p:cNvCxnSpPr>
            <a:cxnSpLocks/>
          </p:cNvCxnSpPr>
          <p:nvPr/>
        </p:nvCxnSpPr>
        <p:spPr>
          <a:xfrm>
            <a:off x="2858622" y="3879935"/>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0" name="橢圓 119">
            <a:extLst>
              <a:ext uri="{FF2B5EF4-FFF2-40B4-BE49-F238E27FC236}">
                <a16:creationId xmlns:a16="http://schemas.microsoft.com/office/drawing/2014/main" id="{4C5D2B91-8131-41A1-95FF-5A3E9F36249E}"/>
              </a:ext>
            </a:extLst>
          </p:cNvPr>
          <p:cNvSpPr/>
          <p:nvPr/>
        </p:nvSpPr>
        <p:spPr>
          <a:xfrm>
            <a:off x="2077207" y="6132010"/>
            <a:ext cx="244886" cy="244886"/>
          </a:xfrm>
          <a:prstGeom prst="ellipse">
            <a:avLst/>
          </a:prstGeom>
          <a:solidFill>
            <a:srgbClr val="0000FF"/>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23" name="文字方塊 122">
            <a:extLst>
              <a:ext uri="{FF2B5EF4-FFF2-40B4-BE49-F238E27FC236}">
                <a16:creationId xmlns:a16="http://schemas.microsoft.com/office/drawing/2014/main" id="{B2319CFA-D116-4795-8CE2-9EC724FE2A43}"/>
              </a:ext>
            </a:extLst>
          </p:cNvPr>
          <p:cNvSpPr txBox="1"/>
          <p:nvPr/>
        </p:nvSpPr>
        <p:spPr>
          <a:xfrm>
            <a:off x="4690872" y="226199"/>
            <a:ext cx="2966372" cy="461665"/>
          </a:xfrm>
          <a:prstGeom prst="rect">
            <a:avLst/>
          </a:prstGeom>
          <a:noFill/>
        </p:spPr>
        <p:txBody>
          <a:bodyPr wrap="square" rtlCol="0">
            <a:spAutoFit/>
          </a:bodyPr>
          <a:lstStyle/>
          <a:p>
            <a:r>
              <a:rPr lang="en-US" altLang="zh-TW" sz="2400" b="1" i="1" kern="100" dirty="0">
                <a:latin typeface="Times New Roman" panose="02020603050405020304" pitchFamily="18" charset="0"/>
                <a:ea typeface="標楷體" panose="03000509000000000000" pitchFamily="65" charset="-120"/>
                <a:cs typeface="Times New Roman" panose="02020603050405020304" pitchFamily="18" charset="0"/>
              </a:rPr>
              <a:t>Q-switched operation</a:t>
            </a:r>
            <a:endParaRPr lang="zh-TW" altLang="zh-TW" sz="24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6354310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120"/>
                                        </p:tgtEl>
                                        <p:attrNameLst>
                                          <p:attrName>style.visibility</p:attrName>
                                        </p:attrNameLst>
                                      </p:cBhvr>
                                      <p:to>
                                        <p:strVal val="visible"/>
                                      </p:to>
                                    </p:set>
                                    <p:anim calcmode="lin" valueType="num">
                                      <p:cBhvr additive="base">
                                        <p:cTn id="7" dur="500" fill="hold"/>
                                        <p:tgtEl>
                                          <p:spTgt spid="120"/>
                                        </p:tgtEl>
                                        <p:attrNameLst>
                                          <p:attrName>ppt_x</p:attrName>
                                        </p:attrNameLst>
                                      </p:cBhvr>
                                      <p:tavLst>
                                        <p:tav tm="0">
                                          <p:val>
                                            <p:strVal val="#ppt_x"/>
                                          </p:val>
                                        </p:tav>
                                        <p:tav tm="100000">
                                          <p:val>
                                            <p:strVal val="#ppt_x"/>
                                          </p:val>
                                        </p:tav>
                                      </p:tavLst>
                                    </p:anim>
                                    <p:anim calcmode="lin" valueType="num">
                                      <p:cBhvr additive="base">
                                        <p:cTn id="8"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0" presetClass="path" presetSubtype="0" repeatCount="indefinite" accel="50000" decel="50000" fill="hold" grpId="0" nodeType="clickEffect">
                                  <p:stCondLst>
                                    <p:cond delay="0"/>
                                  </p:stCondLst>
                                  <p:childTnLst>
                                    <p:animMotion origin="layout" path="M -0.00078 -0.00139 L 0.0543 -0.32616 L -0.00078 -0.00139 Z " pathEditMode="relative" ptsTypes="AAA">
                                      <p:cBhvr>
                                        <p:cTn id="12" dur="2000" fill="hold"/>
                                        <p:tgtEl>
                                          <p:spTgt spid="120"/>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4"/>
                                        </p:tgtEl>
                                        <p:attrNameLst>
                                          <p:attrName>style.visibility</p:attrName>
                                        </p:attrNameLst>
                                      </p:cBhvr>
                                      <p:to>
                                        <p:strVal val="visible"/>
                                      </p:to>
                                    </p:set>
                                    <p:animEffect transition="in" filter="wipe(down)">
                                      <p:cBhvr>
                                        <p:cTn id="17"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20"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圖片 76">
            <a:extLst>
              <a:ext uri="{FF2B5EF4-FFF2-40B4-BE49-F238E27FC236}">
                <a16:creationId xmlns:a16="http://schemas.microsoft.com/office/drawing/2014/main" id="{91BF1582-FAF4-40FF-97AE-A919218380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2" y="3812322"/>
            <a:ext cx="3710094" cy="2782570"/>
          </a:xfrm>
          <a:prstGeom prst="rect">
            <a:avLst/>
          </a:prstGeom>
        </p:spPr>
      </p:pic>
      <p:pic>
        <p:nvPicPr>
          <p:cNvPr id="96" name="圖片 95">
            <a:extLst>
              <a:ext uri="{FF2B5EF4-FFF2-40B4-BE49-F238E27FC236}">
                <a16:creationId xmlns:a16="http://schemas.microsoft.com/office/drawing/2014/main" id="{460E6128-FAAC-4302-B133-790E55AD3BA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774594" y="2682318"/>
            <a:ext cx="3874959" cy="2700000"/>
          </a:xfrm>
          <a:prstGeom prst="rect">
            <a:avLst/>
          </a:prstGeom>
          <a:ln>
            <a:noFill/>
          </a:ln>
          <a:effectLst/>
        </p:spPr>
      </p:pic>
      <p:pic>
        <p:nvPicPr>
          <p:cNvPr id="95" name="圖片 94">
            <a:extLst>
              <a:ext uri="{FF2B5EF4-FFF2-40B4-BE49-F238E27FC236}">
                <a16:creationId xmlns:a16="http://schemas.microsoft.com/office/drawing/2014/main" id="{74CE380D-2BAD-442F-A553-3C5EAEE2A079}"/>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717094" y="2613543"/>
            <a:ext cx="3874957" cy="2700000"/>
          </a:xfrm>
          <a:prstGeom prst="rect">
            <a:avLst/>
          </a:prstGeom>
          <a:ln>
            <a:noFill/>
          </a:ln>
          <a:effectLst>
            <a:outerShdw blurRad="292100" dist="139700" dir="2700000" algn="tl" rotWithShape="0">
              <a:srgbClr val="333333">
                <a:alpha val="65000"/>
              </a:srgbClr>
            </a:outerShdw>
          </a:effectLst>
        </p:spPr>
      </p:pic>
      <p:sp>
        <p:nvSpPr>
          <p:cNvPr id="143" name="文字方塊 142">
            <a:extLst>
              <a:ext uri="{FF2B5EF4-FFF2-40B4-BE49-F238E27FC236}">
                <a16:creationId xmlns:a16="http://schemas.microsoft.com/office/drawing/2014/main" id="{3E518D90-A0AE-43AB-8B17-0D5C46442A83}"/>
              </a:ext>
            </a:extLst>
          </p:cNvPr>
          <p:cNvSpPr txBox="1"/>
          <p:nvPr/>
        </p:nvSpPr>
        <p:spPr>
          <a:xfrm>
            <a:off x="7703048" y="5011012"/>
            <a:ext cx="732384" cy="307777"/>
          </a:xfrm>
          <a:prstGeom prst="rect">
            <a:avLst/>
          </a:prstGeom>
          <a:noFill/>
        </p:spPr>
        <p:txBody>
          <a:bodyPr wrap="square" rtlCol="0">
            <a:spAutoFit/>
          </a:bodyPr>
          <a:lstStyle/>
          <a:p>
            <a:pPr algn="ctr"/>
            <a:r>
              <a:rPr lang="en-US" altLang="zh-TW" sz="1400" dirty="0">
                <a:latin typeface="Times New Roman" panose="02020603050405020304" pitchFamily="18" charset="0"/>
                <a:cs typeface="Times New Roman" panose="02020603050405020304" pitchFamily="18" charset="0"/>
              </a:rPr>
              <a:t>593nm</a:t>
            </a:r>
            <a:endParaRPr lang="zh-TW" altLang="en-US" sz="1400" dirty="0">
              <a:latin typeface="Times New Roman" panose="02020603050405020304" pitchFamily="18" charset="0"/>
              <a:cs typeface="Times New Roman" panose="02020603050405020304" pitchFamily="18" charset="0"/>
            </a:endParaRPr>
          </a:p>
        </p:txBody>
      </p:sp>
      <p:sp>
        <p:nvSpPr>
          <p:cNvPr id="144" name="文字方塊 143">
            <a:extLst>
              <a:ext uri="{FF2B5EF4-FFF2-40B4-BE49-F238E27FC236}">
                <a16:creationId xmlns:a16="http://schemas.microsoft.com/office/drawing/2014/main" id="{090200F4-016C-4DBF-B97A-B0BD68E14522}"/>
              </a:ext>
            </a:extLst>
          </p:cNvPr>
          <p:cNvSpPr txBox="1"/>
          <p:nvPr/>
        </p:nvSpPr>
        <p:spPr>
          <a:xfrm>
            <a:off x="3690282" y="2617570"/>
            <a:ext cx="1571264" cy="307777"/>
          </a:xfrm>
          <a:prstGeom prst="rect">
            <a:avLst/>
          </a:prstGeom>
          <a:noFill/>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593nm Pulse width</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3" name="投影片編號版面配置區 2">
            <a:extLst>
              <a:ext uri="{FF2B5EF4-FFF2-40B4-BE49-F238E27FC236}">
                <a16:creationId xmlns:a16="http://schemas.microsoft.com/office/drawing/2014/main" id="{25624DC1-63BF-417C-A3DE-3C718D892F66}"/>
              </a:ext>
            </a:extLst>
          </p:cNvPr>
          <p:cNvSpPr>
            <a:spLocks noGrp="1"/>
          </p:cNvSpPr>
          <p:nvPr>
            <p:ph type="sldNum" sz="quarter" idx="12"/>
          </p:nvPr>
        </p:nvSpPr>
        <p:spPr>
          <a:xfrm>
            <a:off x="9306860" y="6356350"/>
            <a:ext cx="2743200" cy="365125"/>
          </a:xfrm>
        </p:spPr>
        <p:txBody>
          <a:bodyPr/>
          <a:lstStyle/>
          <a:p>
            <a:fld id="{9044CBB6-E20C-4076-82F9-F8F95241C54D}" type="slidenum">
              <a:rPr lang="zh-TW" altLang="en-US" smtClean="0">
                <a:solidFill>
                  <a:schemeClr val="tx1"/>
                </a:solidFill>
              </a:rPr>
              <a:t>35</a:t>
            </a:fld>
            <a:endParaRPr lang="zh-TW" altLang="en-US" dirty="0">
              <a:solidFill>
                <a:schemeClr val="tx1"/>
              </a:solidFill>
            </a:endParaRPr>
          </a:p>
        </p:txBody>
      </p:sp>
      <p:sp>
        <p:nvSpPr>
          <p:cNvPr id="236" name="立方體 235">
            <a:extLst>
              <a:ext uri="{FF2B5EF4-FFF2-40B4-BE49-F238E27FC236}">
                <a16:creationId xmlns:a16="http://schemas.microsoft.com/office/drawing/2014/main" id="{5012E8FC-2B2A-45F5-9223-18F22C304D34}"/>
              </a:ext>
            </a:extLst>
          </p:cNvPr>
          <p:cNvSpPr/>
          <p:nvPr/>
        </p:nvSpPr>
        <p:spPr>
          <a:xfrm>
            <a:off x="2484278" y="2255404"/>
            <a:ext cx="714201" cy="272240"/>
          </a:xfrm>
          <a:prstGeom prst="cube">
            <a:avLst/>
          </a:prstGeom>
          <a:solidFill>
            <a:srgbClr val="00B0F0"/>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37" name="文字方塊 236">
            <a:extLst>
              <a:ext uri="{FF2B5EF4-FFF2-40B4-BE49-F238E27FC236}">
                <a16:creationId xmlns:a16="http://schemas.microsoft.com/office/drawing/2014/main" id="{D62C9534-9A0E-4234-A4E9-A6BE10B0B7D8}"/>
              </a:ext>
            </a:extLst>
          </p:cNvPr>
          <p:cNvSpPr txBox="1"/>
          <p:nvPr/>
        </p:nvSpPr>
        <p:spPr>
          <a:xfrm>
            <a:off x="2517070" y="2262593"/>
            <a:ext cx="589572" cy="290848"/>
          </a:xfrm>
          <a:prstGeom prst="rect">
            <a:avLst/>
          </a:prstGeom>
          <a:noFill/>
        </p:spPr>
        <p:txBody>
          <a:bodyPr wrap="none" rtlCol="0">
            <a:spAutoFit/>
          </a:bodyPr>
          <a:lstStyle/>
          <a:p>
            <a:pPr algn="ctr"/>
            <a:r>
              <a:rPr lang="en-US" altLang="zh-TW" sz="1400" dirty="0" err="1">
                <a:latin typeface="Times New Roman" panose="02020603050405020304" pitchFamily="18" charset="0"/>
                <a:cs typeface="Times New Roman" panose="02020603050405020304" pitchFamily="18" charset="0"/>
              </a:rPr>
              <a:t>pulser</a:t>
            </a:r>
            <a:endParaRPr lang="zh-TW" altLang="en-US" sz="1400" dirty="0">
              <a:latin typeface="Times New Roman" panose="02020603050405020304" pitchFamily="18" charset="0"/>
              <a:cs typeface="Times New Roman" panose="02020603050405020304" pitchFamily="18" charset="0"/>
            </a:endParaRPr>
          </a:p>
        </p:txBody>
      </p:sp>
      <p:sp>
        <p:nvSpPr>
          <p:cNvPr id="240" name="文字方塊 239">
            <a:extLst>
              <a:ext uri="{FF2B5EF4-FFF2-40B4-BE49-F238E27FC236}">
                <a16:creationId xmlns:a16="http://schemas.microsoft.com/office/drawing/2014/main" id="{DE276328-30C9-404C-8579-8930BAA0EA69}"/>
              </a:ext>
            </a:extLst>
          </p:cNvPr>
          <p:cNvSpPr txBox="1"/>
          <p:nvPr/>
        </p:nvSpPr>
        <p:spPr>
          <a:xfrm>
            <a:off x="1584529" y="2078118"/>
            <a:ext cx="474445" cy="247220"/>
          </a:xfrm>
          <a:prstGeom prst="rect">
            <a:avLst/>
          </a:prstGeom>
          <a:noFill/>
        </p:spPr>
        <p:txBody>
          <a:bodyPr wrap="none" rtlCol="0">
            <a:spAutoFit/>
          </a:bodyPr>
          <a:lstStyle/>
          <a:p>
            <a:r>
              <a:rPr lang="en-US" altLang="zh-TW" sz="1100" b="1" dirty="0">
                <a:latin typeface="Times New Roman" panose="02020603050405020304" pitchFamily="18" charset="0"/>
                <a:cs typeface="Times New Roman" panose="02020603050405020304" pitchFamily="18" charset="0"/>
              </a:rPr>
              <a:t>CH 1</a:t>
            </a:r>
            <a:endParaRPr lang="zh-TW" altLang="en-US" sz="1100" b="1" dirty="0">
              <a:latin typeface="Times New Roman" panose="02020603050405020304" pitchFamily="18" charset="0"/>
              <a:cs typeface="Times New Roman" panose="02020603050405020304" pitchFamily="18" charset="0"/>
            </a:endParaRPr>
          </a:p>
        </p:txBody>
      </p:sp>
      <p:grpSp>
        <p:nvGrpSpPr>
          <p:cNvPr id="249" name="群組 248">
            <a:extLst>
              <a:ext uri="{FF2B5EF4-FFF2-40B4-BE49-F238E27FC236}">
                <a16:creationId xmlns:a16="http://schemas.microsoft.com/office/drawing/2014/main" id="{FA2B216B-C40E-498E-84E6-DC9C7D82D439}"/>
              </a:ext>
            </a:extLst>
          </p:cNvPr>
          <p:cNvGrpSpPr/>
          <p:nvPr/>
        </p:nvGrpSpPr>
        <p:grpSpPr>
          <a:xfrm>
            <a:off x="344239" y="2225142"/>
            <a:ext cx="363658" cy="150364"/>
            <a:chOff x="162725" y="4811697"/>
            <a:chExt cx="3132001" cy="855586"/>
          </a:xfrm>
        </p:grpSpPr>
        <p:cxnSp>
          <p:nvCxnSpPr>
            <p:cNvPr id="250" name="接點: 肘形 249">
              <a:extLst>
                <a:ext uri="{FF2B5EF4-FFF2-40B4-BE49-F238E27FC236}">
                  <a16:creationId xmlns:a16="http://schemas.microsoft.com/office/drawing/2014/main" id="{451AAB53-166E-456D-B407-74ADA3C96ECD}"/>
                </a:ext>
              </a:extLst>
            </p:cNvPr>
            <p:cNvCxnSpPr/>
            <p:nvPr/>
          </p:nvCxnSpPr>
          <p:spPr>
            <a:xfrm>
              <a:off x="162725" y="4811697"/>
              <a:ext cx="1651849" cy="847446"/>
            </a:xfrm>
            <a:prstGeom prst="bentConnector3">
              <a:avLst>
                <a:gd name="adj1" fmla="val 85471"/>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2" name="接點: 肘形 271">
              <a:extLst>
                <a:ext uri="{FF2B5EF4-FFF2-40B4-BE49-F238E27FC236}">
                  <a16:creationId xmlns:a16="http://schemas.microsoft.com/office/drawing/2014/main" id="{553154B9-E032-4E48-974D-039FB989392E}"/>
                </a:ext>
              </a:extLst>
            </p:cNvPr>
            <p:cNvCxnSpPr/>
            <p:nvPr/>
          </p:nvCxnSpPr>
          <p:spPr>
            <a:xfrm>
              <a:off x="1642877" y="4819837"/>
              <a:ext cx="1651849" cy="847446"/>
            </a:xfrm>
            <a:prstGeom prst="bentConnector3">
              <a:avLst>
                <a:gd name="adj1" fmla="val 85471"/>
              </a:avLst>
            </a:prstGeom>
            <a:ln w="15875">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273" name="群組 272">
            <a:extLst>
              <a:ext uri="{FF2B5EF4-FFF2-40B4-BE49-F238E27FC236}">
                <a16:creationId xmlns:a16="http://schemas.microsoft.com/office/drawing/2014/main" id="{F85B9F68-D8E2-4776-BE16-80A814C04E07}"/>
              </a:ext>
            </a:extLst>
          </p:cNvPr>
          <p:cNvGrpSpPr/>
          <p:nvPr/>
        </p:nvGrpSpPr>
        <p:grpSpPr>
          <a:xfrm>
            <a:off x="708800" y="2224805"/>
            <a:ext cx="363658" cy="149187"/>
            <a:chOff x="162725" y="4811697"/>
            <a:chExt cx="3132001" cy="848893"/>
          </a:xfrm>
        </p:grpSpPr>
        <p:cxnSp>
          <p:nvCxnSpPr>
            <p:cNvPr id="274" name="接點: 肘形 273">
              <a:extLst>
                <a:ext uri="{FF2B5EF4-FFF2-40B4-BE49-F238E27FC236}">
                  <a16:creationId xmlns:a16="http://schemas.microsoft.com/office/drawing/2014/main" id="{C458C391-05CB-4D5B-BC73-1FF7BD8D1DD7}"/>
                </a:ext>
              </a:extLst>
            </p:cNvPr>
            <p:cNvCxnSpPr/>
            <p:nvPr/>
          </p:nvCxnSpPr>
          <p:spPr>
            <a:xfrm>
              <a:off x="162725" y="4811697"/>
              <a:ext cx="1651849" cy="847446"/>
            </a:xfrm>
            <a:prstGeom prst="bentConnector3">
              <a:avLst>
                <a:gd name="adj1" fmla="val 85471"/>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接點: 肘形 274">
              <a:extLst>
                <a:ext uri="{FF2B5EF4-FFF2-40B4-BE49-F238E27FC236}">
                  <a16:creationId xmlns:a16="http://schemas.microsoft.com/office/drawing/2014/main" id="{ED42B147-E027-4FDD-B256-027FC0F2D3E3}"/>
                </a:ext>
              </a:extLst>
            </p:cNvPr>
            <p:cNvCxnSpPr/>
            <p:nvPr/>
          </p:nvCxnSpPr>
          <p:spPr>
            <a:xfrm>
              <a:off x="1642877" y="4813144"/>
              <a:ext cx="1651849" cy="847446"/>
            </a:xfrm>
            <a:prstGeom prst="bentConnector3">
              <a:avLst>
                <a:gd name="adj1" fmla="val 85471"/>
              </a:avLst>
            </a:prstGeom>
            <a:ln w="15875">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276" name="群組 275">
            <a:extLst>
              <a:ext uri="{FF2B5EF4-FFF2-40B4-BE49-F238E27FC236}">
                <a16:creationId xmlns:a16="http://schemas.microsoft.com/office/drawing/2014/main" id="{24CF3394-DF87-414C-A199-FFC6CC90B7AF}"/>
              </a:ext>
            </a:extLst>
          </p:cNvPr>
          <p:cNvGrpSpPr/>
          <p:nvPr/>
        </p:nvGrpSpPr>
        <p:grpSpPr>
          <a:xfrm>
            <a:off x="1071644" y="2224940"/>
            <a:ext cx="363658" cy="149577"/>
            <a:chOff x="162725" y="4811711"/>
            <a:chExt cx="3132001" cy="851110"/>
          </a:xfrm>
        </p:grpSpPr>
        <p:cxnSp>
          <p:nvCxnSpPr>
            <p:cNvPr id="277" name="接點: 肘形 276">
              <a:extLst>
                <a:ext uri="{FF2B5EF4-FFF2-40B4-BE49-F238E27FC236}">
                  <a16:creationId xmlns:a16="http://schemas.microsoft.com/office/drawing/2014/main" id="{11A5DB48-D2CF-4CD9-915E-D863CC0BF84C}"/>
                </a:ext>
              </a:extLst>
            </p:cNvPr>
            <p:cNvCxnSpPr/>
            <p:nvPr/>
          </p:nvCxnSpPr>
          <p:spPr>
            <a:xfrm>
              <a:off x="162725" y="4811711"/>
              <a:ext cx="1651850" cy="847446"/>
            </a:xfrm>
            <a:prstGeom prst="bentConnector3">
              <a:avLst>
                <a:gd name="adj1" fmla="val 85471"/>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8" name="接點: 肘形 277">
              <a:extLst>
                <a:ext uri="{FF2B5EF4-FFF2-40B4-BE49-F238E27FC236}">
                  <a16:creationId xmlns:a16="http://schemas.microsoft.com/office/drawing/2014/main" id="{2BB72032-E372-4E9D-8594-F49B24FABFE2}"/>
                </a:ext>
              </a:extLst>
            </p:cNvPr>
            <p:cNvCxnSpPr/>
            <p:nvPr/>
          </p:nvCxnSpPr>
          <p:spPr>
            <a:xfrm>
              <a:off x="1642877" y="4815375"/>
              <a:ext cx="1651849" cy="847446"/>
            </a:xfrm>
            <a:prstGeom prst="bentConnector3">
              <a:avLst>
                <a:gd name="adj1" fmla="val 85471"/>
              </a:avLst>
            </a:prstGeom>
            <a:ln w="15875">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cxnSp>
        <p:nvCxnSpPr>
          <p:cNvPr id="279" name="接點: 肘形 278">
            <a:extLst>
              <a:ext uri="{FF2B5EF4-FFF2-40B4-BE49-F238E27FC236}">
                <a16:creationId xmlns:a16="http://schemas.microsoft.com/office/drawing/2014/main" id="{18A0D041-BAE7-4738-98B1-90179BA5CD43}"/>
              </a:ext>
            </a:extLst>
          </p:cNvPr>
          <p:cNvCxnSpPr>
            <a:cxnSpLocks/>
            <a:stCxn id="236" idx="5"/>
            <a:endCxn id="343" idx="0"/>
          </p:cNvCxnSpPr>
          <p:nvPr/>
        </p:nvCxnSpPr>
        <p:spPr>
          <a:xfrm flipH="1">
            <a:off x="2293604" y="2357494"/>
            <a:ext cx="904875" cy="605128"/>
          </a:xfrm>
          <a:prstGeom prst="bentConnector4">
            <a:avLst>
              <a:gd name="adj1" fmla="val -25263"/>
              <a:gd name="adj2" fmla="val 64059"/>
            </a:avLst>
          </a:prstGeom>
          <a:ln w="50800">
            <a:solidFill>
              <a:srgbClr val="FFC000"/>
            </a:solidFill>
            <a:tailEnd type="triangl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cxnSp>
        <p:nvCxnSpPr>
          <p:cNvPr id="340" name="直線單箭頭接點 339">
            <a:extLst>
              <a:ext uri="{FF2B5EF4-FFF2-40B4-BE49-F238E27FC236}">
                <a16:creationId xmlns:a16="http://schemas.microsoft.com/office/drawing/2014/main" id="{D6240518-6999-4F56-9289-AA9A3B5905F0}"/>
              </a:ext>
            </a:extLst>
          </p:cNvPr>
          <p:cNvCxnSpPr/>
          <p:nvPr/>
        </p:nvCxnSpPr>
        <p:spPr>
          <a:xfrm>
            <a:off x="1417344" y="2328489"/>
            <a:ext cx="1066934" cy="0"/>
          </a:xfrm>
          <a:prstGeom prst="straightConnector1">
            <a:avLst/>
          </a:prstGeom>
          <a:ln w="50800">
            <a:solidFill>
              <a:srgbClr val="FFC000"/>
            </a:solidFill>
            <a:tailEnd type="triangle"/>
          </a:ln>
          <a:scene3d>
            <a:camera prst="orthographicFront"/>
            <a:lightRig rig="threePt" dir="t"/>
          </a:scene3d>
          <a:sp3d>
            <a:bevelT h="120650"/>
          </a:sp3d>
        </p:spPr>
        <p:style>
          <a:lnRef idx="1">
            <a:schemeClr val="accent1"/>
          </a:lnRef>
          <a:fillRef idx="0">
            <a:schemeClr val="accent1"/>
          </a:fillRef>
          <a:effectRef idx="0">
            <a:schemeClr val="accent1"/>
          </a:effectRef>
          <a:fontRef idx="minor">
            <a:schemeClr val="tx1"/>
          </a:fontRef>
        </p:style>
      </p:cxnSp>
      <p:pic>
        <p:nvPicPr>
          <p:cNvPr id="341" name="內容版面配置區 3">
            <a:extLst>
              <a:ext uri="{FF2B5EF4-FFF2-40B4-BE49-F238E27FC236}">
                <a16:creationId xmlns:a16="http://schemas.microsoft.com/office/drawing/2014/main" id="{379FB4DF-A43A-45CB-B480-47E6A2795EA7}"/>
              </a:ext>
            </a:extLst>
          </p:cNvPr>
          <p:cNvPicPr>
            <a:picLocks noGrp="1" noChangeAspect="1"/>
          </p:cNvPicPr>
          <p:nvPr>
            <p:ph idx="1"/>
          </p:nvPr>
        </p:nvPicPr>
        <p:blipFill rotWithShape="1">
          <a:blip r:embed="rId6" cstate="print">
            <a:extLst>
              <a:ext uri="{28A0092B-C50C-407E-A947-70E740481C1C}">
                <a14:useLocalDpi xmlns:a14="http://schemas.microsoft.com/office/drawing/2010/main" val="0"/>
              </a:ext>
            </a:extLst>
          </a:blip>
          <a:stretch/>
        </p:blipFill>
        <p:spPr>
          <a:xfrm>
            <a:off x="1837401" y="2994497"/>
            <a:ext cx="918556" cy="465513"/>
          </a:xfrm>
          <a:ln>
            <a:noFill/>
          </a:ln>
        </p:spPr>
      </p:pic>
      <p:sp>
        <p:nvSpPr>
          <p:cNvPr id="343" name="矩形 342">
            <a:extLst>
              <a:ext uri="{FF2B5EF4-FFF2-40B4-BE49-F238E27FC236}">
                <a16:creationId xmlns:a16="http://schemas.microsoft.com/office/drawing/2014/main" id="{8BBCD055-2E45-48A1-8AF0-D6E33E7C040A}"/>
              </a:ext>
            </a:extLst>
          </p:cNvPr>
          <p:cNvSpPr/>
          <p:nvPr/>
        </p:nvSpPr>
        <p:spPr>
          <a:xfrm>
            <a:off x="1902780" y="2962622"/>
            <a:ext cx="781647"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44" name="矩形 343">
            <a:extLst>
              <a:ext uri="{FF2B5EF4-FFF2-40B4-BE49-F238E27FC236}">
                <a16:creationId xmlns:a16="http://schemas.microsoft.com/office/drawing/2014/main" id="{8B96BB41-50EE-4DDC-8E6E-64F26F9FDAB3}"/>
              </a:ext>
            </a:extLst>
          </p:cNvPr>
          <p:cNvSpPr/>
          <p:nvPr/>
        </p:nvSpPr>
        <p:spPr>
          <a:xfrm>
            <a:off x="1895184" y="3407702"/>
            <a:ext cx="789244" cy="45719"/>
          </a:xfrm>
          <a:prstGeom prst="rect">
            <a:avLst/>
          </a:prstGeom>
          <a:ln>
            <a:solidFill>
              <a:schemeClr val="tx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47" name="圓角矩形 4">
            <a:extLst>
              <a:ext uri="{FF2B5EF4-FFF2-40B4-BE49-F238E27FC236}">
                <a16:creationId xmlns:a16="http://schemas.microsoft.com/office/drawing/2014/main" id="{55A33841-B262-4E36-BE4F-9E244A75DB7B}"/>
              </a:ext>
            </a:extLst>
          </p:cNvPr>
          <p:cNvSpPr/>
          <p:nvPr/>
        </p:nvSpPr>
        <p:spPr>
          <a:xfrm>
            <a:off x="832410" y="1061853"/>
            <a:ext cx="1143040" cy="513953"/>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sp>
        <p:nvSpPr>
          <p:cNvPr id="348" name="圓角矩形 4">
            <a:extLst>
              <a:ext uri="{FF2B5EF4-FFF2-40B4-BE49-F238E27FC236}">
                <a16:creationId xmlns:a16="http://schemas.microsoft.com/office/drawing/2014/main" id="{05E352A2-915B-4166-9650-0BCA833E5781}"/>
              </a:ext>
            </a:extLst>
          </p:cNvPr>
          <p:cNvSpPr/>
          <p:nvPr/>
        </p:nvSpPr>
        <p:spPr>
          <a:xfrm>
            <a:off x="2055506" y="1054345"/>
            <a:ext cx="1143040" cy="513953"/>
          </a:xfrm>
          <a:prstGeom prst="roundRect">
            <a:avLst/>
          </a:prstGeom>
          <a:solidFill>
            <a:schemeClr val="bg1">
              <a:lumMod val="65000"/>
            </a:schemeClr>
          </a:solidFill>
          <a:ln w="19050">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latin typeface="Times New Roman" panose="02020603050405020304" pitchFamily="18" charset="0"/>
                <a:cs typeface="Times New Roman" panose="02020603050405020304" pitchFamily="18" charset="0"/>
              </a:rPr>
              <a:t>POWER SUPPLY</a:t>
            </a:r>
            <a:endParaRPr lang="zh-TW" altLang="en-US" sz="1200" dirty="0">
              <a:latin typeface="Times New Roman" panose="02020603050405020304" pitchFamily="18" charset="0"/>
              <a:cs typeface="Times New Roman" panose="02020603050405020304" pitchFamily="18" charset="0"/>
            </a:endParaRPr>
          </a:p>
        </p:txBody>
      </p:sp>
      <p:sp>
        <p:nvSpPr>
          <p:cNvPr id="349" name="橢圓 348">
            <a:extLst>
              <a:ext uri="{FF2B5EF4-FFF2-40B4-BE49-F238E27FC236}">
                <a16:creationId xmlns:a16="http://schemas.microsoft.com/office/drawing/2014/main" id="{9DDADD58-8CFB-4E5F-9AF3-F9E4648AE645}"/>
              </a:ext>
            </a:extLst>
          </p:cNvPr>
          <p:cNvSpPr/>
          <p:nvPr/>
        </p:nvSpPr>
        <p:spPr>
          <a:xfrm>
            <a:off x="2451017" y="1496206"/>
            <a:ext cx="70573" cy="77225"/>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50" name="橢圓 349">
            <a:extLst>
              <a:ext uri="{FF2B5EF4-FFF2-40B4-BE49-F238E27FC236}">
                <a16:creationId xmlns:a16="http://schemas.microsoft.com/office/drawing/2014/main" id="{658EBC0D-55E0-4045-8F5E-46CD25683A49}"/>
              </a:ext>
            </a:extLst>
          </p:cNvPr>
          <p:cNvSpPr/>
          <p:nvPr/>
        </p:nvSpPr>
        <p:spPr>
          <a:xfrm>
            <a:off x="2691514" y="1499190"/>
            <a:ext cx="70573" cy="77225"/>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51" name="橢圓 350">
            <a:extLst>
              <a:ext uri="{FF2B5EF4-FFF2-40B4-BE49-F238E27FC236}">
                <a16:creationId xmlns:a16="http://schemas.microsoft.com/office/drawing/2014/main" id="{13881365-FBC8-406C-8893-5D0C44574752}"/>
              </a:ext>
            </a:extLst>
          </p:cNvPr>
          <p:cNvSpPr/>
          <p:nvPr/>
        </p:nvSpPr>
        <p:spPr>
          <a:xfrm>
            <a:off x="1227910" y="1506910"/>
            <a:ext cx="70573" cy="77225"/>
          </a:xfrm>
          <a:prstGeom prst="ellipse">
            <a:avLst/>
          </a:prstGeom>
          <a:solidFill>
            <a:schemeClr val="tx1">
              <a:lumMod val="50000"/>
              <a:lumOff val="50000"/>
            </a:schemeClr>
          </a:solidFill>
          <a:ln w="38100">
            <a:solidFill>
              <a:srgbClr val="FF000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52" name="橢圓 351">
            <a:extLst>
              <a:ext uri="{FF2B5EF4-FFF2-40B4-BE49-F238E27FC236}">
                <a16:creationId xmlns:a16="http://schemas.microsoft.com/office/drawing/2014/main" id="{BF6CC019-DF05-4E35-BA7B-FEA28AB8134B}"/>
              </a:ext>
            </a:extLst>
          </p:cNvPr>
          <p:cNvSpPr/>
          <p:nvPr/>
        </p:nvSpPr>
        <p:spPr>
          <a:xfrm>
            <a:off x="1493247" y="1506910"/>
            <a:ext cx="70573" cy="77225"/>
          </a:xfrm>
          <a:prstGeom prst="ellipse">
            <a:avLst/>
          </a:prstGeom>
          <a:solidFill>
            <a:schemeClr val="tx1">
              <a:lumMod val="50000"/>
              <a:lumOff val="50000"/>
            </a:schemeClr>
          </a:solidFill>
          <a:ln w="38100">
            <a:solidFill>
              <a:srgbClr val="0070C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53" name="文字方塊 352">
            <a:extLst>
              <a:ext uri="{FF2B5EF4-FFF2-40B4-BE49-F238E27FC236}">
                <a16:creationId xmlns:a16="http://schemas.microsoft.com/office/drawing/2014/main" id="{7F04EDA1-EA22-4BC4-9431-E7387CAB2E89}"/>
              </a:ext>
            </a:extLst>
          </p:cNvPr>
          <p:cNvSpPr txBox="1"/>
          <p:nvPr/>
        </p:nvSpPr>
        <p:spPr>
          <a:xfrm>
            <a:off x="868834" y="1064407"/>
            <a:ext cx="247220" cy="261763"/>
          </a:xfrm>
          <a:prstGeom prst="rect">
            <a:avLst/>
          </a:prstGeom>
          <a:noFill/>
        </p:spPr>
        <p:txBody>
          <a:bodyPr wrap="none" rtlCol="0">
            <a:spAutoFit/>
          </a:bodyPr>
          <a:lstStyle/>
          <a:p>
            <a:pPr algn="ctr"/>
            <a:r>
              <a:rPr lang="en-US" altLang="zh-TW"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4" name="文字方塊 353">
            <a:extLst>
              <a:ext uri="{FF2B5EF4-FFF2-40B4-BE49-F238E27FC236}">
                <a16:creationId xmlns:a16="http://schemas.microsoft.com/office/drawing/2014/main" id="{88A3C985-1639-49F2-9E34-8C585A4AFCE7}"/>
              </a:ext>
            </a:extLst>
          </p:cNvPr>
          <p:cNvSpPr txBox="1"/>
          <p:nvPr/>
        </p:nvSpPr>
        <p:spPr>
          <a:xfrm>
            <a:off x="2077207" y="1059275"/>
            <a:ext cx="247220" cy="261763"/>
          </a:xfrm>
          <a:prstGeom prst="rect">
            <a:avLst/>
          </a:prstGeom>
          <a:noFill/>
        </p:spPr>
        <p:txBody>
          <a:bodyPr wrap="none" rtlCol="0">
            <a:spAutoFit/>
          </a:bodyPr>
          <a:lstStyle/>
          <a:p>
            <a:pPr algn="ctr"/>
            <a:r>
              <a:rPr lang="en-US" altLang="zh-TW"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sz="1200" b="1" u="sng"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5" name="手繪多邊形: 圖案 354">
            <a:extLst>
              <a:ext uri="{FF2B5EF4-FFF2-40B4-BE49-F238E27FC236}">
                <a16:creationId xmlns:a16="http://schemas.microsoft.com/office/drawing/2014/main" id="{06561608-FF2F-4A80-8A5C-3F92AF0087BB}"/>
              </a:ext>
            </a:extLst>
          </p:cNvPr>
          <p:cNvSpPr/>
          <p:nvPr/>
        </p:nvSpPr>
        <p:spPr>
          <a:xfrm>
            <a:off x="2375132" y="1539551"/>
            <a:ext cx="146205" cy="736314"/>
          </a:xfrm>
          <a:custGeom>
            <a:avLst/>
            <a:gdLst>
              <a:gd name="connsiteX0" fmla="*/ 183453 w 236793"/>
              <a:gd name="connsiteY0" fmla="*/ 0 h 1192530"/>
              <a:gd name="connsiteX1" fmla="*/ 573 w 236793"/>
              <a:gd name="connsiteY1" fmla="*/ 472440 h 1192530"/>
              <a:gd name="connsiteX2" fmla="*/ 236793 w 236793"/>
              <a:gd name="connsiteY2" fmla="*/ 1192530 h 1192530"/>
            </a:gdLst>
            <a:ahLst/>
            <a:cxnLst>
              <a:cxn ang="0">
                <a:pos x="connsiteX0" y="connsiteY0"/>
              </a:cxn>
              <a:cxn ang="0">
                <a:pos x="connsiteX1" y="connsiteY1"/>
              </a:cxn>
              <a:cxn ang="0">
                <a:pos x="connsiteX2" y="connsiteY2"/>
              </a:cxn>
            </a:cxnLst>
            <a:rect l="l" t="t" r="r" b="b"/>
            <a:pathLst>
              <a:path w="236793" h="1192530">
                <a:moveTo>
                  <a:pt x="183453" y="0"/>
                </a:moveTo>
                <a:cubicBezTo>
                  <a:pt x="87568" y="136842"/>
                  <a:pt x="-8317" y="273685"/>
                  <a:pt x="573" y="472440"/>
                </a:cubicBezTo>
                <a:cubicBezTo>
                  <a:pt x="9463" y="671195"/>
                  <a:pt x="123128" y="931862"/>
                  <a:pt x="236793" y="119253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6" name="手繪多邊形: 圖案 355">
            <a:extLst>
              <a:ext uri="{FF2B5EF4-FFF2-40B4-BE49-F238E27FC236}">
                <a16:creationId xmlns:a16="http://schemas.microsoft.com/office/drawing/2014/main" id="{0112022A-AA0F-4E9C-850D-5C6D308A32B5}"/>
              </a:ext>
            </a:extLst>
          </p:cNvPr>
          <p:cNvSpPr/>
          <p:nvPr/>
        </p:nvSpPr>
        <p:spPr>
          <a:xfrm>
            <a:off x="2466392" y="1541904"/>
            <a:ext cx="284091" cy="731609"/>
          </a:xfrm>
          <a:custGeom>
            <a:avLst/>
            <a:gdLst>
              <a:gd name="connsiteX0" fmla="*/ 431888 w 460112"/>
              <a:gd name="connsiteY0" fmla="*/ 0 h 1184910"/>
              <a:gd name="connsiteX1" fmla="*/ 416648 w 460112"/>
              <a:gd name="connsiteY1" fmla="*/ 483870 h 1184910"/>
              <a:gd name="connsiteX2" fmla="*/ 20408 w 460112"/>
              <a:gd name="connsiteY2" fmla="*/ 628650 h 1184910"/>
              <a:gd name="connsiteX3" fmla="*/ 92798 w 460112"/>
              <a:gd name="connsiteY3" fmla="*/ 1184910 h 1184910"/>
            </a:gdLst>
            <a:ahLst/>
            <a:cxnLst>
              <a:cxn ang="0">
                <a:pos x="connsiteX0" y="connsiteY0"/>
              </a:cxn>
              <a:cxn ang="0">
                <a:pos x="connsiteX1" y="connsiteY1"/>
              </a:cxn>
              <a:cxn ang="0">
                <a:pos x="connsiteX2" y="connsiteY2"/>
              </a:cxn>
              <a:cxn ang="0">
                <a:pos x="connsiteX3" y="connsiteY3"/>
              </a:cxn>
            </a:cxnLst>
            <a:rect l="l" t="t" r="r" b="b"/>
            <a:pathLst>
              <a:path w="460112" h="1184910">
                <a:moveTo>
                  <a:pt x="431888" y="0"/>
                </a:moveTo>
                <a:cubicBezTo>
                  <a:pt x="458558" y="189547"/>
                  <a:pt x="485228" y="379095"/>
                  <a:pt x="416648" y="483870"/>
                </a:cubicBezTo>
                <a:cubicBezTo>
                  <a:pt x="348068" y="588645"/>
                  <a:pt x="74383" y="511810"/>
                  <a:pt x="20408" y="628650"/>
                </a:cubicBezTo>
                <a:cubicBezTo>
                  <a:pt x="-33567" y="745490"/>
                  <a:pt x="29615" y="965200"/>
                  <a:pt x="92798" y="118491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7" name="手繪多邊形: 圖案 356">
            <a:extLst>
              <a:ext uri="{FF2B5EF4-FFF2-40B4-BE49-F238E27FC236}">
                <a16:creationId xmlns:a16="http://schemas.microsoft.com/office/drawing/2014/main" id="{E73E6A0A-FF04-475F-8CDB-798084722C1B}"/>
              </a:ext>
            </a:extLst>
          </p:cNvPr>
          <p:cNvSpPr/>
          <p:nvPr/>
        </p:nvSpPr>
        <p:spPr>
          <a:xfrm>
            <a:off x="1258252" y="1546112"/>
            <a:ext cx="1259840" cy="721360"/>
          </a:xfrm>
          <a:custGeom>
            <a:avLst/>
            <a:gdLst>
              <a:gd name="connsiteX0" fmla="*/ 0 w 1259840"/>
              <a:gd name="connsiteY0" fmla="*/ 0 h 721360"/>
              <a:gd name="connsiteX1" fmla="*/ 607060 w 1259840"/>
              <a:gd name="connsiteY1" fmla="*/ 462280 h 721360"/>
              <a:gd name="connsiteX2" fmla="*/ 1259840 w 1259840"/>
              <a:gd name="connsiteY2" fmla="*/ 721360 h 721360"/>
            </a:gdLst>
            <a:ahLst/>
            <a:cxnLst>
              <a:cxn ang="0">
                <a:pos x="connsiteX0" y="connsiteY0"/>
              </a:cxn>
              <a:cxn ang="0">
                <a:pos x="connsiteX1" y="connsiteY1"/>
              </a:cxn>
              <a:cxn ang="0">
                <a:pos x="connsiteX2" y="connsiteY2"/>
              </a:cxn>
            </a:cxnLst>
            <a:rect l="l" t="t" r="r" b="b"/>
            <a:pathLst>
              <a:path w="1259840" h="721360">
                <a:moveTo>
                  <a:pt x="0" y="0"/>
                </a:moveTo>
                <a:cubicBezTo>
                  <a:pt x="198543" y="171026"/>
                  <a:pt x="397087" y="342053"/>
                  <a:pt x="607060" y="462280"/>
                </a:cubicBezTo>
                <a:cubicBezTo>
                  <a:pt x="817033" y="582507"/>
                  <a:pt x="1038436" y="651933"/>
                  <a:pt x="1259840" y="72136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8" name="手繪多邊形: 圖案 357">
            <a:extLst>
              <a:ext uri="{FF2B5EF4-FFF2-40B4-BE49-F238E27FC236}">
                <a16:creationId xmlns:a16="http://schemas.microsoft.com/office/drawing/2014/main" id="{19A84559-A26B-416F-8FFA-261E882A57F3}"/>
              </a:ext>
            </a:extLst>
          </p:cNvPr>
          <p:cNvSpPr/>
          <p:nvPr/>
        </p:nvSpPr>
        <p:spPr>
          <a:xfrm>
            <a:off x="1524952" y="1546112"/>
            <a:ext cx="977900" cy="708660"/>
          </a:xfrm>
          <a:custGeom>
            <a:avLst/>
            <a:gdLst>
              <a:gd name="connsiteX0" fmla="*/ 0 w 977900"/>
              <a:gd name="connsiteY0" fmla="*/ 0 h 708660"/>
              <a:gd name="connsiteX1" fmla="*/ 424180 w 977900"/>
              <a:gd name="connsiteY1" fmla="*/ 193040 h 708660"/>
              <a:gd name="connsiteX2" fmla="*/ 756920 w 977900"/>
              <a:gd name="connsiteY2" fmla="*/ 513080 h 708660"/>
              <a:gd name="connsiteX3" fmla="*/ 977900 w 977900"/>
              <a:gd name="connsiteY3" fmla="*/ 708660 h 708660"/>
            </a:gdLst>
            <a:ahLst/>
            <a:cxnLst>
              <a:cxn ang="0">
                <a:pos x="connsiteX0" y="connsiteY0"/>
              </a:cxn>
              <a:cxn ang="0">
                <a:pos x="connsiteX1" y="connsiteY1"/>
              </a:cxn>
              <a:cxn ang="0">
                <a:pos x="connsiteX2" y="connsiteY2"/>
              </a:cxn>
              <a:cxn ang="0">
                <a:pos x="connsiteX3" y="connsiteY3"/>
              </a:cxn>
            </a:cxnLst>
            <a:rect l="l" t="t" r="r" b="b"/>
            <a:pathLst>
              <a:path w="977900" h="708660">
                <a:moveTo>
                  <a:pt x="0" y="0"/>
                </a:moveTo>
                <a:cubicBezTo>
                  <a:pt x="149013" y="53763"/>
                  <a:pt x="298027" y="107527"/>
                  <a:pt x="424180" y="193040"/>
                </a:cubicBezTo>
                <a:cubicBezTo>
                  <a:pt x="550333" y="278553"/>
                  <a:pt x="664633" y="427143"/>
                  <a:pt x="756920" y="513080"/>
                </a:cubicBezTo>
                <a:cubicBezTo>
                  <a:pt x="849207" y="599017"/>
                  <a:pt x="913553" y="653838"/>
                  <a:pt x="977900" y="70866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文字方塊 96">
            <a:extLst>
              <a:ext uri="{FF2B5EF4-FFF2-40B4-BE49-F238E27FC236}">
                <a16:creationId xmlns:a16="http://schemas.microsoft.com/office/drawing/2014/main" id="{5FFEE0DD-7AD4-459B-9BB7-9464C20BCCB0}"/>
              </a:ext>
            </a:extLst>
          </p:cNvPr>
          <p:cNvSpPr txBox="1"/>
          <p:nvPr/>
        </p:nvSpPr>
        <p:spPr>
          <a:xfrm>
            <a:off x="9362209" y="2013938"/>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8" name="文字方塊 97">
            <a:extLst>
              <a:ext uri="{FF2B5EF4-FFF2-40B4-BE49-F238E27FC236}">
                <a16:creationId xmlns:a16="http://schemas.microsoft.com/office/drawing/2014/main" id="{B6D529A7-53BF-41DF-8C04-E2A00A59566B}"/>
              </a:ext>
            </a:extLst>
          </p:cNvPr>
          <p:cNvSpPr txBox="1"/>
          <p:nvPr/>
        </p:nvSpPr>
        <p:spPr>
          <a:xfrm>
            <a:off x="9344180" y="2372373"/>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0V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99" name="群組 98">
            <a:extLst>
              <a:ext uri="{FF2B5EF4-FFF2-40B4-BE49-F238E27FC236}">
                <a16:creationId xmlns:a16="http://schemas.microsoft.com/office/drawing/2014/main" id="{96BF2E26-AAE0-43B1-B1FD-BFDBE6DE31D7}"/>
              </a:ext>
            </a:extLst>
          </p:cNvPr>
          <p:cNvGrpSpPr/>
          <p:nvPr/>
        </p:nvGrpSpPr>
        <p:grpSpPr>
          <a:xfrm>
            <a:off x="9464707" y="2244976"/>
            <a:ext cx="592788" cy="241623"/>
            <a:chOff x="142465" y="4811697"/>
            <a:chExt cx="3152261" cy="848893"/>
          </a:xfrm>
        </p:grpSpPr>
        <p:cxnSp>
          <p:nvCxnSpPr>
            <p:cNvPr id="100" name="接點: 肘形 99">
              <a:extLst>
                <a:ext uri="{FF2B5EF4-FFF2-40B4-BE49-F238E27FC236}">
                  <a16:creationId xmlns:a16="http://schemas.microsoft.com/office/drawing/2014/main" id="{04C3ED43-2E38-44E5-BDC0-174C1C843D67}"/>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 name="接點: 肘形 100">
              <a:extLst>
                <a:ext uri="{FF2B5EF4-FFF2-40B4-BE49-F238E27FC236}">
                  <a16:creationId xmlns:a16="http://schemas.microsoft.com/office/drawing/2014/main" id="{F135B4F9-A583-47A1-93E1-DD9B70EDCCBC}"/>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102" name="文字方塊 101">
            <a:extLst>
              <a:ext uri="{FF2B5EF4-FFF2-40B4-BE49-F238E27FC236}">
                <a16:creationId xmlns:a16="http://schemas.microsoft.com/office/drawing/2014/main" id="{4376C426-5A8A-47B3-9757-D2CFE8DEE6C5}"/>
              </a:ext>
            </a:extLst>
          </p:cNvPr>
          <p:cNvSpPr txBox="1"/>
          <p:nvPr/>
        </p:nvSpPr>
        <p:spPr>
          <a:xfrm>
            <a:off x="8568080" y="2013732"/>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3" name="文字方塊 102">
            <a:extLst>
              <a:ext uri="{FF2B5EF4-FFF2-40B4-BE49-F238E27FC236}">
                <a16:creationId xmlns:a16="http://schemas.microsoft.com/office/drawing/2014/main" id="{1726DD74-A3D3-418B-AE22-42526AC1F408}"/>
              </a:ext>
            </a:extLst>
          </p:cNvPr>
          <p:cNvSpPr txBox="1"/>
          <p:nvPr/>
        </p:nvSpPr>
        <p:spPr>
          <a:xfrm>
            <a:off x="8550051" y="2372167"/>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0V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04" name="群組 103">
            <a:extLst>
              <a:ext uri="{FF2B5EF4-FFF2-40B4-BE49-F238E27FC236}">
                <a16:creationId xmlns:a16="http://schemas.microsoft.com/office/drawing/2014/main" id="{680CBA53-E3D5-459E-A8D4-0CA8CD657361}"/>
              </a:ext>
            </a:extLst>
          </p:cNvPr>
          <p:cNvGrpSpPr/>
          <p:nvPr/>
        </p:nvGrpSpPr>
        <p:grpSpPr>
          <a:xfrm>
            <a:off x="8670578" y="2244770"/>
            <a:ext cx="592788" cy="241623"/>
            <a:chOff x="142465" y="4811697"/>
            <a:chExt cx="3152261" cy="848893"/>
          </a:xfrm>
        </p:grpSpPr>
        <p:cxnSp>
          <p:nvCxnSpPr>
            <p:cNvPr id="105" name="接點: 肘形 104">
              <a:extLst>
                <a:ext uri="{FF2B5EF4-FFF2-40B4-BE49-F238E27FC236}">
                  <a16:creationId xmlns:a16="http://schemas.microsoft.com/office/drawing/2014/main" id="{175AB59F-8A84-40B2-A309-6FFF144ABCD2}"/>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接點: 肘形 105">
              <a:extLst>
                <a:ext uri="{FF2B5EF4-FFF2-40B4-BE49-F238E27FC236}">
                  <a16:creationId xmlns:a16="http://schemas.microsoft.com/office/drawing/2014/main" id="{9C7C293B-8404-45C4-B1ED-8CFE24B3B0FE}"/>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107" name="文字方塊 106">
            <a:extLst>
              <a:ext uri="{FF2B5EF4-FFF2-40B4-BE49-F238E27FC236}">
                <a16:creationId xmlns:a16="http://schemas.microsoft.com/office/drawing/2014/main" id="{60AC8443-FF50-4025-ADF6-5AAF8C3E6875}"/>
              </a:ext>
            </a:extLst>
          </p:cNvPr>
          <p:cNvSpPr txBox="1"/>
          <p:nvPr/>
        </p:nvSpPr>
        <p:spPr>
          <a:xfrm>
            <a:off x="10121030" y="2007628"/>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8" name="文字方塊 107">
            <a:extLst>
              <a:ext uri="{FF2B5EF4-FFF2-40B4-BE49-F238E27FC236}">
                <a16:creationId xmlns:a16="http://schemas.microsoft.com/office/drawing/2014/main" id="{53E18BBB-E1FB-4DB0-8F93-1B8F56C671A2}"/>
              </a:ext>
            </a:extLst>
          </p:cNvPr>
          <p:cNvSpPr txBox="1"/>
          <p:nvPr/>
        </p:nvSpPr>
        <p:spPr>
          <a:xfrm>
            <a:off x="10103001" y="2366063"/>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2V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09" name="群組 108">
            <a:extLst>
              <a:ext uri="{FF2B5EF4-FFF2-40B4-BE49-F238E27FC236}">
                <a16:creationId xmlns:a16="http://schemas.microsoft.com/office/drawing/2014/main" id="{A97E437B-45A5-4065-82FB-55A4E5E67B9E}"/>
              </a:ext>
            </a:extLst>
          </p:cNvPr>
          <p:cNvGrpSpPr/>
          <p:nvPr/>
        </p:nvGrpSpPr>
        <p:grpSpPr>
          <a:xfrm>
            <a:off x="10223528" y="2238666"/>
            <a:ext cx="592788" cy="241623"/>
            <a:chOff x="142465" y="4811697"/>
            <a:chExt cx="3152261" cy="848893"/>
          </a:xfrm>
        </p:grpSpPr>
        <p:cxnSp>
          <p:nvCxnSpPr>
            <p:cNvPr id="110" name="接點: 肘形 109">
              <a:extLst>
                <a:ext uri="{FF2B5EF4-FFF2-40B4-BE49-F238E27FC236}">
                  <a16:creationId xmlns:a16="http://schemas.microsoft.com/office/drawing/2014/main" id="{F6E9EBCC-447E-4949-9176-FFDDBDC69FE6}"/>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接點: 肘形 110">
              <a:extLst>
                <a:ext uri="{FF2B5EF4-FFF2-40B4-BE49-F238E27FC236}">
                  <a16:creationId xmlns:a16="http://schemas.microsoft.com/office/drawing/2014/main" id="{A0A1F6CF-7722-4562-BA49-8B4E3C162B76}"/>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112" name="文字方塊 111">
            <a:extLst>
              <a:ext uri="{FF2B5EF4-FFF2-40B4-BE49-F238E27FC236}">
                <a16:creationId xmlns:a16="http://schemas.microsoft.com/office/drawing/2014/main" id="{C4BDFF6F-E087-40E9-9A6C-43EF7EE3FE4F}"/>
              </a:ext>
            </a:extLst>
          </p:cNvPr>
          <p:cNvSpPr txBox="1"/>
          <p:nvPr/>
        </p:nvSpPr>
        <p:spPr>
          <a:xfrm>
            <a:off x="7799382" y="2007216"/>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3" name="文字方塊 112">
            <a:extLst>
              <a:ext uri="{FF2B5EF4-FFF2-40B4-BE49-F238E27FC236}">
                <a16:creationId xmlns:a16="http://schemas.microsoft.com/office/drawing/2014/main" id="{8B18BF78-E75F-43FF-8DE1-60B93747472E}"/>
              </a:ext>
            </a:extLst>
          </p:cNvPr>
          <p:cNvSpPr txBox="1"/>
          <p:nvPr/>
        </p:nvSpPr>
        <p:spPr>
          <a:xfrm>
            <a:off x="7781353" y="2365651"/>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0V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14" name="群組 113">
            <a:extLst>
              <a:ext uri="{FF2B5EF4-FFF2-40B4-BE49-F238E27FC236}">
                <a16:creationId xmlns:a16="http://schemas.microsoft.com/office/drawing/2014/main" id="{9C48B812-BA8B-43AC-A5F3-DCF36C7B0517}"/>
              </a:ext>
            </a:extLst>
          </p:cNvPr>
          <p:cNvGrpSpPr/>
          <p:nvPr/>
        </p:nvGrpSpPr>
        <p:grpSpPr>
          <a:xfrm>
            <a:off x="7901880" y="2238254"/>
            <a:ext cx="592788" cy="241623"/>
            <a:chOff x="142465" y="4811697"/>
            <a:chExt cx="3152261" cy="848893"/>
          </a:xfrm>
        </p:grpSpPr>
        <p:cxnSp>
          <p:nvCxnSpPr>
            <p:cNvPr id="115" name="接點: 肘形 114">
              <a:extLst>
                <a:ext uri="{FF2B5EF4-FFF2-40B4-BE49-F238E27FC236}">
                  <a16:creationId xmlns:a16="http://schemas.microsoft.com/office/drawing/2014/main" id="{5FE3EF1D-3589-4628-84F5-EE265F412EB3}"/>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6" name="接點: 肘形 115">
              <a:extLst>
                <a:ext uri="{FF2B5EF4-FFF2-40B4-BE49-F238E27FC236}">
                  <a16:creationId xmlns:a16="http://schemas.microsoft.com/office/drawing/2014/main" id="{56A654EE-F037-4E81-A336-F3866D7AB111}"/>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117" name="文字方塊 116">
            <a:extLst>
              <a:ext uri="{FF2B5EF4-FFF2-40B4-BE49-F238E27FC236}">
                <a16:creationId xmlns:a16="http://schemas.microsoft.com/office/drawing/2014/main" id="{F10B6304-8972-434C-8846-44F4F8B2AC91}"/>
              </a:ext>
            </a:extLst>
          </p:cNvPr>
          <p:cNvSpPr txBox="1"/>
          <p:nvPr/>
        </p:nvSpPr>
        <p:spPr>
          <a:xfrm>
            <a:off x="10868190" y="2007010"/>
            <a:ext cx="443708"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685V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8" name="文字方塊 117">
            <a:extLst>
              <a:ext uri="{FF2B5EF4-FFF2-40B4-BE49-F238E27FC236}">
                <a16:creationId xmlns:a16="http://schemas.microsoft.com/office/drawing/2014/main" id="{010DBFAC-4A41-4CCB-8AAA-FB6D93854A37}"/>
              </a:ext>
            </a:extLst>
          </p:cNvPr>
          <p:cNvSpPr txBox="1"/>
          <p:nvPr/>
        </p:nvSpPr>
        <p:spPr>
          <a:xfrm>
            <a:off x="10850161" y="2365445"/>
            <a:ext cx="479765" cy="230832"/>
          </a:xfrm>
          <a:prstGeom prst="rect">
            <a:avLst/>
          </a:prstGeom>
          <a:noFill/>
        </p:spPr>
        <p:txBody>
          <a:bodyPr wrap="squar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3V</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19" name="群組 118">
            <a:extLst>
              <a:ext uri="{FF2B5EF4-FFF2-40B4-BE49-F238E27FC236}">
                <a16:creationId xmlns:a16="http://schemas.microsoft.com/office/drawing/2014/main" id="{4C6D208D-C0BD-4591-96F0-BB572AA0CEA6}"/>
              </a:ext>
            </a:extLst>
          </p:cNvPr>
          <p:cNvGrpSpPr/>
          <p:nvPr/>
        </p:nvGrpSpPr>
        <p:grpSpPr>
          <a:xfrm>
            <a:off x="10970688" y="2238048"/>
            <a:ext cx="592788" cy="241623"/>
            <a:chOff x="142465" y="4811697"/>
            <a:chExt cx="3152261" cy="848893"/>
          </a:xfrm>
        </p:grpSpPr>
        <p:cxnSp>
          <p:nvCxnSpPr>
            <p:cNvPr id="120" name="接點: 肘形 119">
              <a:extLst>
                <a:ext uri="{FF2B5EF4-FFF2-40B4-BE49-F238E27FC236}">
                  <a16:creationId xmlns:a16="http://schemas.microsoft.com/office/drawing/2014/main" id="{777FAD2E-92C0-4AA4-BD96-C212CA3FD16B}"/>
                </a:ext>
              </a:extLst>
            </p:cNvPr>
            <p:cNvCxnSpPr/>
            <p:nvPr/>
          </p:nvCxnSpPr>
          <p:spPr>
            <a:xfrm>
              <a:off x="142465" y="4811697"/>
              <a:ext cx="1651849" cy="847446"/>
            </a:xfrm>
            <a:prstGeom prst="bentConnector3">
              <a:avLst>
                <a:gd name="adj1" fmla="val 85471"/>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1" name="接點: 肘形 120">
              <a:extLst>
                <a:ext uri="{FF2B5EF4-FFF2-40B4-BE49-F238E27FC236}">
                  <a16:creationId xmlns:a16="http://schemas.microsoft.com/office/drawing/2014/main" id="{149824D1-1A7E-4E19-9774-11032A75E31E}"/>
                </a:ext>
              </a:extLst>
            </p:cNvPr>
            <p:cNvCxnSpPr/>
            <p:nvPr/>
          </p:nvCxnSpPr>
          <p:spPr>
            <a:xfrm>
              <a:off x="1642877" y="4813144"/>
              <a:ext cx="1651849" cy="847446"/>
            </a:xfrm>
            <a:prstGeom prst="bentConnector3">
              <a:avLst>
                <a:gd name="adj1" fmla="val 85471"/>
              </a:avLst>
            </a:prstGeom>
            <a:ln w="25400">
              <a:solidFill>
                <a:srgbClr val="FF0000"/>
              </a:solidFill>
            </a:ln>
            <a:scene3d>
              <a:camera prst="orthographicFront">
                <a:rot lat="300008" lon="10799995" rev="14"/>
              </a:camera>
              <a:lightRig rig="threePt" dir="t"/>
            </a:scene3d>
          </p:spPr>
          <p:style>
            <a:lnRef idx="1">
              <a:schemeClr val="accent1"/>
            </a:lnRef>
            <a:fillRef idx="0">
              <a:schemeClr val="accent1"/>
            </a:fillRef>
            <a:effectRef idx="0">
              <a:schemeClr val="accent1"/>
            </a:effectRef>
            <a:fontRef idx="minor">
              <a:schemeClr val="tx1"/>
            </a:fontRef>
          </p:style>
        </p:cxnSp>
      </p:grpSp>
      <p:sp>
        <p:nvSpPr>
          <p:cNvPr id="67" name="文字方塊 66">
            <a:extLst>
              <a:ext uri="{FF2B5EF4-FFF2-40B4-BE49-F238E27FC236}">
                <a16:creationId xmlns:a16="http://schemas.microsoft.com/office/drawing/2014/main" id="{426A097A-3249-48A5-A0EB-C4AB6D2A6A6B}"/>
              </a:ext>
            </a:extLst>
          </p:cNvPr>
          <p:cNvSpPr txBox="1"/>
          <p:nvPr/>
        </p:nvSpPr>
        <p:spPr>
          <a:xfrm>
            <a:off x="3193862" y="3565341"/>
            <a:ext cx="707245"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1064.50nm</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8" name="文字方塊 67">
            <a:extLst>
              <a:ext uri="{FF2B5EF4-FFF2-40B4-BE49-F238E27FC236}">
                <a16:creationId xmlns:a16="http://schemas.microsoft.com/office/drawing/2014/main" id="{713E6BDA-DB48-4FB5-BA47-02BE8ED548A1}"/>
              </a:ext>
            </a:extLst>
          </p:cNvPr>
          <p:cNvSpPr txBox="1"/>
          <p:nvPr/>
        </p:nvSpPr>
        <p:spPr>
          <a:xfrm>
            <a:off x="3198479" y="3768002"/>
            <a:ext cx="707245"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1342.33nm</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9" name="橢圓 68">
            <a:extLst>
              <a:ext uri="{FF2B5EF4-FFF2-40B4-BE49-F238E27FC236}">
                <a16:creationId xmlns:a16="http://schemas.microsoft.com/office/drawing/2014/main" id="{98900F57-4F9D-4350-9D1B-84B24D104958}"/>
              </a:ext>
            </a:extLst>
          </p:cNvPr>
          <p:cNvSpPr/>
          <p:nvPr/>
        </p:nvSpPr>
        <p:spPr>
          <a:xfrm>
            <a:off x="3097455" y="3615402"/>
            <a:ext cx="125376" cy="125376"/>
          </a:xfrm>
          <a:prstGeom prst="ellipse">
            <a:avLst/>
          </a:prstGeom>
          <a:solidFill>
            <a:srgbClr val="FF0000"/>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050"/>
          </a:p>
        </p:txBody>
      </p:sp>
      <p:sp>
        <p:nvSpPr>
          <p:cNvPr id="70" name="橢圓 69">
            <a:extLst>
              <a:ext uri="{FF2B5EF4-FFF2-40B4-BE49-F238E27FC236}">
                <a16:creationId xmlns:a16="http://schemas.microsoft.com/office/drawing/2014/main" id="{A4696125-1F44-40CB-A2B9-A29E5D9F5FA9}"/>
              </a:ext>
            </a:extLst>
          </p:cNvPr>
          <p:cNvSpPr/>
          <p:nvPr/>
        </p:nvSpPr>
        <p:spPr>
          <a:xfrm>
            <a:off x="3097455" y="3828956"/>
            <a:ext cx="125376" cy="125376"/>
          </a:xfrm>
          <a:prstGeom prst="ellipse">
            <a:avLst/>
          </a:prstGeom>
          <a:solidFill>
            <a:srgbClr val="0000FF"/>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p>
        </p:txBody>
      </p:sp>
      <p:sp>
        <p:nvSpPr>
          <p:cNvPr id="71" name="文字方塊 70">
            <a:extLst>
              <a:ext uri="{FF2B5EF4-FFF2-40B4-BE49-F238E27FC236}">
                <a16:creationId xmlns:a16="http://schemas.microsoft.com/office/drawing/2014/main" id="{E56283B4-3294-499C-9379-FA8037D9196C}"/>
              </a:ext>
            </a:extLst>
          </p:cNvPr>
          <p:cNvSpPr txBox="1"/>
          <p:nvPr/>
        </p:nvSpPr>
        <p:spPr>
          <a:xfrm>
            <a:off x="1751616" y="6459569"/>
            <a:ext cx="2179524" cy="406193"/>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2" name="文字方塊 71">
            <a:extLst>
              <a:ext uri="{FF2B5EF4-FFF2-40B4-BE49-F238E27FC236}">
                <a16:creationId xmlns:a16="http://schemas.microsoft.com/office/drawing/2014/main" id="{4CD57D2B-6D03-4E77-A73E-B7E495BEB02E}"/>
              </a:ext>
            </a:extLst>
          </p:cNvPr>
          <p:cNvSpPr txBox="1"/>
          <p:nvPr/>
        </p:nvSpPr>
        <p:spPr>
          <a:xfrm rot="16200000">
            <a:off x="-815623" y="4922801"/>
            <a:ext cx="2148119" cy="406193"/>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74" name="直線接點 73">
            <a:extLst>
              <a:ext uri="{FF2B5EF4-FFF2-40B4-BE49-F238E27FC236}">
                <a16:creationId xmlns:a16="http://schemas.microsoft.com/office/drawing/2014/main" id="{0AFD52F7-F117-4EB8-9EB3-2C534B46D9FF}"/>
              </a:ext>
            </a:extLst>
          </p:cNvPr>
          <p:cNvCxnSpPr>
            <a:cxnSpLocks/>
          </p:cNvCxnSpPr>
          <p:nvPr/>
        </p:nvCxnSpPr>
        <p:spPr>
          <a:xfrm>
            <a:off x="2191564" y="3870960"/>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5" name="直線接點 74">
            <a:extLst>
              <a:ext uri="{FF2B5EF4-FFF2-40B4-BE49-F238E27FC236}">
                <a16:creationId xmlns:a16="http://schemas.microsoft.com/office/drawing/2014/main" id="{F253478B-D06F-422A-B21E-258EE86493BE}"/>
              </a:ext>
            </a:extLst>
          </p:cNvPr>
          <p:cNvCxnSpPr>
            <a:cxnSpLocks/>
          </p:cNvCxnSpPr>
          <p:nvPr/>
        </p:nvCxnSpPr>
        <p:spPr>
          <a:xfrm>
            <a:off x="484393" y="3870960"/>
            <a:ext cx="0" cy="2588609"/>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3" name="橢圓 72">
            <a:extLst>
              <a:ext uri="{FF2B5EF4-FFF2-40B4-BE49-F238E27FC236}">
                <a16:creationId xmlns:a16="http://schemas.microsoft.com/office/drawing/2014/main" id="{10A757BE-2CF8-4B4B-96D1-CCC313211EAA}"/>
              </a:ext>
            </a:extLst>
          </p:cNvPr>
          <p:cNvSpPr/>
          <p:nvPr/>
        </p:nvSpPr>
        <p:spPr>
          <a:xfrm>
            <a:off x="2077207" y="6132010"/>
            <a:ext cx="244886" cy="244886"/>
          </a:xfrm>
          <a:prstGeom prst="ellipse">
            <a:avLst/>
          </a:prstGeom>
          <a:solidFill>
            <a:srgbClr val="FF9933"/>
          </a:solidFill>
          <a:ln>
            <a:noFill/>
          </a:ln>
          <a:scene3d>
            <a:camera prst="orthographicFront"/>
            <a:lightRig rig="threePt" dir="t"/>
          </a:scene3d>
          <a:sp3d>
            <a:bevelT w="123190" h="123190"/>
            <a:bevelB w="123190" h="12319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76" name="文字方塊 75">
            <a:extLst>
              <a:ext uri="{FF2B5EF4-FFF2-40B4-BE49-F238E27FC236}">
                <a16:creationId xmlns:a16="http://schemas.microsoft.com/office/drawing/2014/main" id="{B2319CFA-D116-4795-8CE2-9EC724FE2A43}"/>
              </a:ext>
            </a:extLst>
          </p:cNvPr>
          <p:cNvSpPr txBox="1"/>
          <p:nvPr/>
        </p:nvSpPr>
        <p:spPr>
          <a:xfrm>
            <a:off x="4690872" y="226199"/>
            <a:ext cx="2966372" cy="461665"/>
          </a:xfrm>
          <a:prstGeom prst="rect">
            <a:avLst/>
          </a:prstGeom>
          <a:noFill/>
        </p:spPr>
        <p:txBody>
          <a:bodyPr wrap="square" rtlCol="0">
            <a:spAutoFit/>
          </a:bodyPr>
          <a:lstStyle/>
          <a:p>
            <a:r>
              <a:rPr lang="en-US" altLang="zh-TW" sz="2400" b="1" i="1" kern="100" dirty="0">
                <a:latin typeface="Times New Roman" panose="02020603050405020304" pitchFamily="18" charset="0"/>
                <a:ea typeface="標楷體" panose="03000509000000000000" pitchFamily="65" charset="-120"/>
                <a:cs typeface="Times New Roman" panose="02020603050405020304" pitchFamily="18" charset="0"/>
              </a:rPr>
              <a:t>Q-switched operation</a:t>
            </a:r>
            <a:endParaRPr lang="zh-TW" altLang="zh-TW" sz="2400"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9208278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ppt_x"/>
                                          </p:val>
                                        </p:tav>
                                        <p:tav tm="100000">
                                          <p:val>
                                            <p:strVal val="#ppt_x"/>
                                          </p:val>
                                        </p:tav>
                                      </p:tavLst>
                                    </p:anim>
                                    <p:anim calcmode="lin" valueType="num">
                                      <p:cBhvr additive="base">
                                        <p:cTn id="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0" presetClass="path" presetSubtype="0" repeatCount="indefinite" accel="50000" decel="50000" fill="hold" grpId="1" nodeType="clickEffect">
                                  <p:stCondLst>
                                    <p:cond delay="0"/>
                                  </p:stCondLst>
                                  <p:childTnLst>
                                    <p:animMotion origin="layout" path="M -0.00078 2.96296E-6 L -0.13958 -0.32755 L -0.00078 2.96296E-6 Z " pathEditMode="relative" ptsTypes="AAA">
                                      <p:cBhvr>
                                        <p:cTn id="12" dur="2000" fill="hold"/>
                                        <p:tgtEl>
                                          <p:spTgt spid="7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3"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1620957" cy="646331"/>
          </a:xfrm>
          <a:prstGeom prst="rect">
            <a:avLst/>
          </a:prstGeom>
          <a:noFill/>
        </p:spPr>
        <p:txBody>
          <a:bodyPr wrap="none" rtlCol="0">
            <a:spAutoFit/>
          </a:bodyPr>
          <a:lstStyle/>
          <a:p>
            <a:r>
              <a:rPr lang="en-US" altLang="zh-TW"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Outline</a:t>
            </a:r>
            <a:endParaRPr lang="zh-TW" altLang="en-US" sz="3600"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6099B670-A301-4A90-8E55-E49EE4509084}"/>
              </a:ext>
            </a:extLst>
          </p:cNvPr>
          <p:cNvSpPr>
            <a:spLocks noGrp="1"/>
          </p:cNvSpPr>
          <p:nvPr>
            <p:ph type="sldNum" sz="quarter" idx="12"/>
          </p:nvPr>
        </p:nvSpPr>
        <p:spPr/>
        <p:txBody>
          <a:bodyPr/>
          <a:lstStyle/>
          <a:p>
            <a:fld id="{9044CBB6-E20C-4076-82F9-F8F95241C54D}" type="slidenum">
              <a:rPr lang="zh-TW" altLang="en-US" smtClean="0">
                <a:solidFill>
                  <a:schemeClr val="tx1"/>
                </a:solidFill>
              </a:rPr>
              <a:t>36</a:t>
            </a:fld>
            <a:endParaRPr lang="zh-TW" altLang="en-US">
              <a:solidFill>
                <a:schemeClr val="tx1"/>
              </a:solidFill>
            </a:endParaRPr>
          </a:p>
        </p:txBody>
      </p:sp>
      <p:sp>
        <p:nvSpPr>
          <p:cNvPr id="2" name="矩形 1">
            <a:extLst>
              <a:ext uri="{FF2B5EF4-FFF2-40B4-BE49-F238E27FC236}">
                <a16:creationId xmlns:a16="http://schemas.microsoft.com/office/drawing/2014/main" id="{8D10639F-0F94-4E42-A737-D8E8364A9F67}"/>
              </a:ext>
            </a:extLst>
          </p:cNvPr>
          <p:cNvSpPr/>
          <p:nvPr/>
        </p:nvSpPr>
        <p:spPr>
          <a:xfrm>
            <a:off x="337373" y="6339121"/>
            <a:ext cx="3762761" cy="400110"/>
          </a:xfrm>
          <a:prstGeom prst="rect">
            <a:avLst/>
          </a:prstGeom>
        </p:spPr>
        <p:txBody>
          <a:bodyPr wrap="none">
            <a:spAutoFit/>
          </a:bodyPr>
          <a:lstStyle/>
          <a:p>
            <a:pPr lvl="0">
              <a:spcAft>
                <a:spcPts val="0"/>
              </a:spcAft>
            </a:pPr>
            <a:r>
              <a:rPr lang="en-US" altLang="zh-TW" sz="2000" b="1" kern="100" dirty="0">
                <a:latin typeface="Times New Roman" panose="02020603050405020304" pitchFamily="18" charset="0"/>
                <a:ea typeface="標楷體" panose="03000509000000000000" pitchFamily="65" charset="-120"/>
                <a:cs typeface="Times New Roman" panose="02020603050405020304" pitchFamily="18" charset="0"/>
              </a:rPr>
              <a:t>vi. Conclusions and Future work</a:t>
            </a:r>
            <a:endParaRPr lang="zh-TW" altLang="zh-TW" sz="1100" kern="100" dirty="0">
              <a:latin typeface="Calibri" panose="020F0502020204030204" pitchFamily="34" charset="0"/>
              <a:cs typeface="Times New Roman" panose="02020603050405020304" pitchFamily="18" charset="0"/>
            </a:endParaRPr>
          </a:p>
        </p:txBody>
      </p:sp>
      <p:pic>
        <p:nvPicPr>
          <p:cNvPr id="8" name="Picture 2" descr="https://scontent.xx.fbcdn.net/v/t35.0-12/18926362_10213084281410610_597485951_o.jpg?oh=32a4942d443050c0d576527d420552b7&amp;oe=5937BF7E">
            <a:extLst>
              <a:ext uri="{FF2B5EF4-FFF2-40B4-BE49-F238E27FC236}">
                <a16:creationId xmlns:a16="http://schemas.microsoft.com/office/drawing/2014/main" id="{09E8CEFE-88C2-450A-88A8-913383E90F68}"/>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8867787" y="786554"/>
            <a:ext cx="3071672" cy="2488368"/>
          </a:xfrm>
          <a:prstGeom prst="rect">
            <a:avLst/>
          </a:prstGeom>
          <a:noFill/>
          <a:extLst>
            <a:ext uri="{909E8E84-426E-40DD-AFC4-6F175D3DCCD1}">
              <a14:hiddenFill xmlns:a14="http://schemas.microsoft.com/office/drawing/2010/main">
                <a:solidFill>
                  <a:srgbClr val="FFFFFF"/>
                </a:solidFill>
              </a14:hiddenFill>
            </a:ext>
          </a:extLst>
        </p:spPr>
      </p:pic>
      <p:pic>
        <p:nvPicPr>
          <p:cNvPr id="9" name="圖片 8">
            <a:extLst>
              <a:ext uri="{FF2B5EF4-FFF2-40B4-BE49-F238E27FC236}">
                <a16:creationId xmlns:a16="http://schemas.microsoft.com/office/drawing/2014/main" id="{2446E3F1-39F1-471D-88BA-1F86C2EABF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8099" y="824742"/>
            <a:ext cx="3528753" cy="2389617"/>
          </a:xfrm>
          <a:prstGeom prst="rect">
            <a:avLst/>
          </a:prstGeom>
        </p:spPr>
      </p:pic>
      <p:pic>
        <p:nvPicPr>
          <p:cNvPr id="10" name="圖片 9">
            <a:extLst>
              <a:ext uri="{FF2B5EF4-FFF2-40B4-BE49-F238E27FC236}">
                <a16:creationId xmlns:a16="http://schemas.microsoft.com/office/drawing/2014/main" id="{E7D56555-F6B1-4148-BC5C-A895705D88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3058" y="3466489"/>
            <a:ext cx="2226351" cy="2226351"/>
          </a:xfrm>
          <a:prstGeom prst="rect">
            <a:avLst/>
          </a:prstGeom>
        </p:spPr>
      </p:pic>
      <p:pic>
        <p:nvPicPr>
          <p:cNvPr id="11" name="圖片 10">
            <a:extLst>
              <a:ext uri="{FF2B5EF4-FFF2-40B4-BE49-F238E27FC236}">
                <a16:creationId xmlns:a16="http://schemas.microsoft.com/office/drawing/2014/main" id="{65B49376-3864-4AE6-9F65-CDC28001EA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88041" y="3335486"/>
            <a:ext cx="3317812" cy="2488359"/>
          </a:xfrm>
          <a:prstGeom prst="rect">
            <a:avLst/>
          </a:prstGeom>
        </p:spPr>
      </p:pic>
    </p:spTree>
    <p:extLst>
      <p:ext uri="{BB962C8B-B14F-4D97-AF65-F5344CB8AC3E}">
        <p14:creationId xmlns:p14="http://schemas.microsoft.com/office/powerpoint/2010/main" val="380445278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2569934" cy="646331"/>
          </a:xfrm>
          <a:prstGeom prst="rect">
            <a:avLst/>
          </a:prstGeom>
          <a:noFill/>
        </p:spPr>
        <p:txBody>
          <a:bodyPr wrap="none" rtlCol="0">
            <a:spAutoFit/>
          </a:bodyPr>
          <a:lstStyle/>
          <a:p>
            <a:r>
              <a:rPr lang="en-US" altLang="zh-TW" sz="3600" b="1" kern="100" dirty="0">
                <a:latin typeface="Times New Roman" panose="02020603050405020304" pitchFamily="18" charset="0"/>
                <a:ea typeface="標楷體" panose="03000509000000000000" pitchFamily="65" charset="-120"/>
                <a:cs typeface="Times New Roman" panose="02020603050405020304" pitchFamily="18" charset="0"/>
              </a:rPr>
              <a:t>Conclusions</a:t>
            </a:r>
            <a:endParaRPr lang="zh-TW" altLang="zh-TW" sz="3600" kern="100" dirty="0">
              <a:latin typeface="Calibri" panose="020F0502020204030204" pitchFamily="34"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6099B670-A301-4A90-8E55-E49EE4509084}"/>
              </a:ext>
            </a:extLst>
          </p:cNvPr>
          <p:cNvSpPr>
            <a:spLocks noGrp="1"/>
          </p:cNvSpPr>
          <p:nvPr>
            <p:ph type="sldNum" sz="quarter" idx="12"/>
          </p:nvPr>
        </p:nvSpPr>
        <p:spPr/>
        <p:txBody>
          <a:bodyPr/>
          <a:lstStyle/>
          <a:p>
            <a:fld id="{9044CBB6-E20C-4076-82F9-F8F95241C54D}" type="slidenum">
              <a:rPr lang="zh-TW" altLang="en-US" smtClean="0">
                <a:solidFill>
                  <a:schemeClr val="tx1"/>
                </a:solidFill>
              </a:rPr>
              <a:t>37</a:t>
            </a:fld>
            <a:endParaRPr lang="zh-TW" altLang="en-US">
              <a:solidFill>
                <a:schemeClr val="tx1"/>
              </a:solidFill>
            </a:endParaRPr>
          </a:p>
        </p:txBody>
      </p:sp>
      <p:sp>
        <p:nvSpPr>
          <p:cNvPr id="2" name="文字方塊 1">
            <a:extLst>
              <a:ext uri="{FF2B5EF4-FFF2-40B4-BE49-F238E27FC236}">
                <a16:creationId xmlns:a16="http://schemas.microsoft.com/office/drawing/2014/main" id="{0ABD80C0-65CB-4098-B67F-6CF4A3749E75}"/>
              </a:ext>
            </a:extLst>
          </p:cNvPr>
          <p:cNvSpPr txBox="1"/>
          <p:nvPr/>
        </p:nvSpPr>
        <p:spPr>
          <a:xfrm>
            <a:off x="727969" y="959093"/>
            <a:ext cx="11259815" cy="4801314"/>
          </a:xfrm>
          <a:prstGeom prst="rect">
            <a:avLst/>
          </a:prstGeom>
          <a:noFill/>
        </p:spPr>
        <p:txBody>
          <a:bodyPr wrap="square" rtlCol="0">
            <a:spAutoFit/>
          </a:bodyPr>
          <a:lstStyle/>
          <a:p>
            <a:pPr marL="342900" indent="-342900">
              <a:lnSpc>
                <a:spcPct val="150000"/>
              </a:lnSpc>
              <a:buFont typeface="+mj-lt"/>
              <a:buAutoNum type="arabicPeriod"/>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We  use the simulated annealing method to calculate an </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aperiodically</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poled lithium </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niobite</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device for achieving a novel electro-optically laser-line switchable dual-wavelength cw/Q-switched Nd:YVO</a:t>
            </a:r>
            <a:r>
              <a:rPr lang="en-US" altLang="zh-TW" baseline="-25000" dirty="0">
                <a:latin typeface="Times New Roman" panose="02020603050405020304" pitchFamily="18" charset="0"/>
                <a:ea typeface="標楷體" panose="03000509000000000000" pitchFamily="65" charset="-120"/>
                <a:cs typeface="Times New Roman" panose="02020603050405020304" pitchFamily="18" charset="0"/>
              </a:rPr>
              <a:t>4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laser </a:t>
            </a:r>
          </a:p>
          <a:p>
            <a:pPr marL="342900" indent="-342900">
              <a:lnSpc>
                <a:spcPct val="150000"/>
              </a:lnSpc>
              <a:buFont typeface="+mj-lt"/>
              <a:buAutoNum type="arabicPeriod"/>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We successfully achieved wavelength selection via EO tuning in a cw dual-wavelength 1064.5nm and 1342.33nm laser with electric field tuning tolerances of ~42V/mm and ~33V/mm, respectively.</a:t>
            </a:r>
          </a:p>
          <a:p>
            <a:pPr marL="342900" indent="-342900">
              <a:lnSpc>
                <a:spcPct val="150000"/>
              </a:lnSpc>
              <a:buFont typeface="+mj-lt"/>
              <a:buAutoNum type="arabicPeriod"/>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When the system is operated at a repetition rate of 1kHz and a pump power of ~7.014W, we can obtain pulsed 1064 nm, 1342 nm, 593 nm orange, 532 nm green, and 671 nm red generations simply by EO tuning:</a:t>
            </a:r>
          </a:p>
          <a:p>
            <a:pPr marL="342900" indent="-342900">
              <a:buFont typeface="+mj-lt"/>
              <a:buAutoNum type="arabicPeriod"/>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mj-lt"/>
              <a:buAutoNum type="arabicPeriod"/>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mj-lt"/>
              <a:buAutoNum type="arabicPeriod"/>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mj-lt"/>
              <a:buAutoNum type="arabicPeriod"/>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mj-lt"/>
              <a:buAutoNum type="arabicPeriod"/>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mj-lt"/>
              <a:buAutoNum type="arabicPeriod"/>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mj-lt"/>
              <a:buAutoNum type="arabicPeriod"/>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mj-lt"/>
              <a:buAutoNum type="arabicPeriod"/>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10A5B17C-11A8-448F-A8B0-F31168AE6450}"/>
                  </a:ext>
                </a:extLst>
              </p:cNvPr>
              <p:cNvGraphicFramePr>
                <a:graphicFrameLocks noGrp="1"/>
              </p:cNvGraphicFramePr>
              <p:nvPr>
                <p:extLst>
                  <p:ext uri="{D42A27DB-BD31-4B8C-83A1-F6EECF244321}">
                    <p14:modId xmlns:p14="http://schemas.microsoft.com/office/powerpoint/2010/main" val="4190725736"/>
                  </p:ext>
                </p:extLst>
              </p:nvPr>
            </p:nvGraphicFramePr>
            <p:xfrm>
              <a:off x="1278446" y="3515269"/>
              <a:ext cx="9635108" cy="2230532"/>
            </p:xfrm>
            <a:graphic>
              <a:graphicData uri="http://schemas.openxmlformats.org/drawingml/2006/table">
                <a:tbl>
                  <a:tblPr firstRow="1" bandRow="1">
                    <a:tableStyleId>{69CF1AB2-1976-4502-BF36-3FF5EA218861}</a:tableStyleId>
                  </a:tblPr>
                  <a:tblGrid>
                    <a:gridCol w="2408777">
                      <a:extLst>
                        <a:ext uri="{9D8B030D-6E8A-4147-A177-3AD203B41FA5}">
                          <a16:colId xmlns:a16="http://schemas.microsoft.com/office/drawing/2014/main" val="3506275264"/>
                        </a:ext>
                      </a:extLst>
                    </a:gridCol>
                    <a:gridCol w="2408777">
                      <a:extLst>
                        <a:ext uri="{9D8B030D-6E8A-4147-A177-3AD203B41FA5}">
                          <a16:colId xmlns:a16="http://schemas.microsoft.com/office/drawing/2014/main" val="1747008037"/>
                        </a:ext>
                      </a:extLst>
                    </a:gridCol>
                    <a:gridCol w="2408777">
                      <a:extLst>
                        <a:ext uri="{9D8B030D-6E8A-4147-A177-3AD203B41FA5}">
                          <a16:colId xmlns:a16="http://schemas.microsoft.com/office/drawing/2014/main" val="3083211928"/>
                        </a:ext>
                      </a:extLst>
                    </a:gridCol>
                    <a:gridCol w="2408777">
                      <a:extLst>
                        <a:ext uri="{9D8B030D-6E8A-4147-A177-3AD203B41FA5}">
                          <a16:colId xmlns:a16="http://schemas.microsoft.com/office/drawing/2014/main" val="2053939944"/>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Wavelength</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Pulse width</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Peak power</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Applied electric field</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723405950"/>
                      </a:ext>
                    </a:extLst>
                  </a:tr>
                  <a:tr h="370840">
                    <a:tc>
                      <a:txBody>
                        <a:bodyPr/>
                        <a:lstStyle/>
                        <a:p>
                          <a:pPr algn="ctr"/>
                          <a:r>
                            <a:rPr lang="en-US" altLang="zh-TW" dirty="0">
                              <a:latin typeface="Times New Roman" panose="02020603050405020304" pitchFamily="18" charset="0"/>
                              <a:cs typeface="Times New Roman" panose="02020603050405020304" pitchFamily="18" charset="0"/>
                            </a:rPr>
                            <a:t>1064nm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9.6140ns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18.5kW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rowSpan="2">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267V/mm </a:t>
                          </a:r>
                          <a14:m>
                            <m:oMath xmlns:m="http://schemas.openxmlformats.org/officeDocument/2006/math">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ea typeface="標楷體" panose="03000509000000000000" pitchFamily="65" charset="-120"/>
                              <a:cs typeface="Times New Roman" panose="02020603050405020304" pitchFamily="18" charset="0"/>
                            </a:rPr>
                            <a:t> 685V/mm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1367227738"/>
                      </a:ext>
                    </a:extLst>
                  </a:tr>
                  <a:tr h="376332">
                    <a:tc>
                      <a:txBody>
                        <a:bodyPr/>
                        <a:lstStyle/>
                        <a:p>
                          <a:pPr algn="ctr"/>
                          <a:r>
                            <a:rPr lang="en-US" altLang="zh-TW" dirty="0">
                              <a:latin typeface="Times New Roman" panose="02020603050405020304" pitchFamily="18" charset="0"/>
                              <a:cs typeface="Times New Roman" panose="02020603050405020304" pitchFamily="18" charset="0"/>
                            </a:rPr>
                            <a:t>532nm </a:t>
                          </a:r>
                          <a:r>
                            <a:rPr lang="en-US" altLang="zh-TW" sz="1200" dirty="0">
                              <a:latin typeface="Times New Roman" panose="02020603050405020304" pitchFamily="18" charset="0"/>
                              <a:cs typeface="Times New Roman" panose="02020603050405020304" pitchFamily="18" charset="0"/>
                            </a:rPr>
                            <a:t>(non-phase matching)</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8.7368ns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30.79W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vMerge="1">
                      <a:txBody>
                        <a:bodyP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176925455"/>
                      </a:ext>
                    </a:extLst>
                  </a:tr>
                  <a:tr h="370840">
                    <a:tc>
                      <a:txBody>
                        <a:bodyPr/>
                        <a:lstStyle/>
                        <a:p>
                          <a:pPr algn="ctr"/>
                          <a:r>
                            <a:rPr lang="en-US" altLang="zh-TW" dirty="0">
                              <a:latin typeface="Times New Roman" panose="02020603050405020304" pitchFamily="18" charset="0"/>
                              <a:cs typeface="Times New Roman" panose="02020603050405020304" pitchFamily="18" charset="0"/>
                            </a:rPr>
                            <a:t>1342nm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25.4740ns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13.8kW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rowSpan="2">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685V/mm </a:t>
                          </a:r>
                          <a14:m>
                            <m:oMath xmlns:m="http://schemas.openxmlformats.org/officeDocument/2006/math">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895V/mm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1779841056"/>
                      </a:ext>
                    </a:extLst>
                  </a:tr>
                  <a:tr h="370840">
                    <a:tc>
                      <a:txBody>
                        <a:bodyPr/>
                        <a:lstStyle/>
                        <a:p>
                          <a:pPr algn="ctr"/>
                          <a:r>
                            <a:rPr lang="en-US" altLang="zh-TW" dirty="0">
                              <a:latin typeface="Times New Roman" panose="02020603050405020304" pitchFamily="18" charset="0"/>
                              <a:cs typeface="Times New Roman" panose="02020603050405020304" pitchFamily="18" charset="0"/>
                            </a:rPr>
                            <a:t>671nm </a:t>
                          </a:r>
                          <a:r>
                            <a:rPr lang="en-US" altLang="zh-TW" sz="1200" kern="1200" dirty="0">
                              <a:latin typeface="Times New Roman" panose="02020603050405020304" pitchFamily="18" charset="0"/>
                              <a:cs typeface="Times New Roman" panose="02020603050405020304" pitchFamily="18" charset="0"/>
                            </a:rPr>
                            <a:t>(non-phase matching)</a:t>
                          </a:r>
                          <a:endParaRPr lang="zh-TW" altLang="en-US" sz="1200" kern="1200"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15.0374ns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9.71W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vMerge="1">
                      <a:txBody>
                        <a:bodyP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325149524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593nm </a:t>
                          </a:r>
                          <a:r>
                            <a:rPr lang="en-US" altLang="zh-TW" sz="1200" dirty="0">
                              <a:solidFill>
                                <a:schemeClr val="tx1"/>
                              </a:solidFill>
                              <a:latin typeface="Times New Roman" panose="02020603050405020304" pitchFamily="18" charset="0"/>
                              <a:cs typeface="Times New Roman" panose="02020603050405020304" pitchFamily="18" charset="0"/>
                            </a:rPr>
                            <a:t>(non-phase matching)</a:t>
                          </a: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8.0198ns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74.19W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0V/mm </a:t>
                          </a:r>
                          <a14:m>
                            <m:oMath xmlns:m="http://schemas.openxmlformats.org/officeDocument/2006/math">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685V/mm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1879810175"/>
                      </a:ext>
                    </a:extLst>
                  </a:tr>
                </a:tbl>
              </a:graphicData>
            </a:graphic>
          </p:graphicFrame>
        </mc:Choice>
        <mc:Fallback xmlns="">
          <p:graphicFrame>
            <p:nvGraphicFramePr>
              <p:cNvPr id="3" name="表格 2">
                <a:extLst>
                  <a:ext uri="{FF2B5EF4-FFF2-40B4-BE49-F238E27FC236}">
                    <a16:creationId xmlns:a16="http://schemas.microsoft.com/office/drawing/2014/main" id="{10A5B17C-11A8-448F-A8B0-F31168AE6450}"/>
                  </a:ext>
                </a:extLst>
              </p:cNvPr>
              <p:cNvGraphicFramePr>
                <a:graphicFrameLocks noGrp="1"/>
              </p:cNvGraphicFramePr>
              <p:nvPr>
                <p:extLst>
                  <p:ext uri="{D42A27DB-BD31-4B8C-83A1-F6EECF244321}">
                    <p14:modId xmlns:p14="http://schemas.microsoft.com/office/powerpoint/2010/main" val="4190725736"/>
                  </p:ext>
                </p:extLst>
              </p:nvPr>
            </p:nvGraphicFramePr>
            <p:xfrm>
              <a:off x="1278446" y="3515269"/>
              <a:ext cx="9635108" cy="2230532"/>
            </p:xfrm>
            <a:graphic>
              <a:graphicData uri="http://schemas.openxmlformats.org/drawingml/2006/table">
                <a:tbl>
                  <a:tblPr firstRow="1" bandRow="1">
                    <a:tableStyleId>{69CF1AB2-1976-4502-BF36-3FF5EA218861}</a:tableStyleId>
                  </a:tblPr>
                  <a:tblGrid>
                    <a:gridCol w="2408777">
                      <a:extLst>
                        <a:ext uri="{9D8B030D-6E8A-4147-A177-3AD203B41FA5}">
                          <a16:colId xmlns:a16="http://schemas.microsoft.com/office/drawing/2014/main" val="3506275264"/>
                        </a:ext>
                      </a:extLst>
                    </a:gridCol>
                    <a:gridCol w="2408777">
                      <a:extLst>
                        <a:ext uri="{9D8B030D-6E8A-4147-A177-3AD203B41FA5}">
                          <a16:colId xmlns:a16="http://schemas.microsoft.com/office/drawing/2014/main" val="1747008037"/>
                        </a:ext>
                      </a:extLst>
                    </a:gridCol>
                    <a:gridCol w="2408777">
                      <a:extLst>
                        <a:ext uri="{9D8B030D-6E8A-4147-A177-3AD203B41FA5}">
                          <a16:colId xmlns:a16="http://schemas.microsoft.com/office/drawing/2014/main" val="3083211928"/>
                        </a:ext>
                      </a:extLst>
                    </a:gridCol>
                    <a:gridCol w="2408777">
                      <a:extLst>
                        <a:ext uri="{9D8B030D-6E8A-4147-A177-3AD203B41FA5}">
                          <a16:colId xmlns:a16="http://schemas.microsoft.com/office/drawing/2014/main" val="2053939944"/>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Wavelength</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Pulse width</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Peak power</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Applied electric field</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723405950"/>
                      </a:ext>
                    </a:extLst>
                  </a:tr>
                  <a:tr h="370840">
                    <a:tc>
                      <a:txBody>
                        <a:bodyPr/>
                        <a:lstStyle/>
                        <a:p>
                          <a:pPr algn="ctr"/>
                          <a:r>
                            <a:rPr lang="en-US" altLang="zh-TW" dirty="0">
                              <a:latin typeface="Times New Roman" panose="02020603050405020304" pitchFamily="18" charset="0"/>
                              <a:cs typeface="Times New Roman" panose="02020603050405020304" pitchFamily="18" charset="0"/>
                            </a:rPr>
                            <a:t>1064nm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9.6140ns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18.5kW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rowSpan="2">
                      <a:txBody>
                        <a:bodyPr/>
                        <a:lstStyle/>
                        <a:p>
                          <a:endParaRPr lang="zh-TW"/>
                        </a:p>
                      </a:txBody>
                      <a:tcPr anchor="ctr">
                        <a:blipFill>
                          <a:blip r:embed="rId2"/>
                          <a:stretch>
                            <a:fillRect l="-300759" t="-52846" r="-506" b="-160976"/>
                          </a:stretch>
                        </a:blipFill>
                      </a:tcPr>
                    </a:tc>
                    <a:extLst>
                      <a:ext uri="{0D108BD9-81ED-4DB2-BD59-A6C34878D82A}">
                        <a16:rowId xmlns:a16="http://schemas.microsoft.com/office/drawing/2014/main" val="1367227738"/>
                      </a:ext>
                    </a:extLst>
                  </a:tr>
                  <a:tr h="376332">
                    <a:tc>
                      <a:txBody>
                        <a:bodyPr/>
                        <a:lstStyle/>
                        <a:p>
                          <a:pPr algn="ctr"/>
                          <a:r>
                            <a:rPr lang="en-US" altLang="zh-TW" dirty="0">
                              <a:latin typeface="Times New Roman" panose="02020603050405020304" pitchFamily="18" charset="0"/>
                              <a:cs typeface="Times New Roman" panose="02020603050405020304" pitchFamily="18" charset="0"/>
                            </a:rPr>
                            <a:t>532nm </a:t>
                          </a:r>
                          <a:r>
                            <a:rPr lang="en-US" altLang="zh-TW" sz="1200" dirty="0">
                              <a:latin typeface="Times New Roman" panose="02020603050405020304" pitchFamily="18" charset="0"/>
                              <a:cs typeface="Times New Roman" panose="02020603050405020304" pitchFamily="18" charset="0"/>
                            </a:rPr>
                            <a:t>(non-phase matching)</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8.7368ns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30.79W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vMerge="1">
                      <a:txBody>
                        <a:bodyP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176925455"/>
                      </a:ext>
                    </a:extLst>
                  </a:tr>
                  <a:tr h="370840">
                    <a:tc>
                      <a:txBody>
                        <a:bodyPr/>
                        <a:lstStyle/>
                        <a:p>
                          <a:pPr algn="ctr"/>
                          <a:r>
                            <a:rPr lang="en-US" altLang="zh-TW" dirty="0">
                              <a:latin typeface="Times New Roman" panose="02020603050405020304" pitchFamily="18" charset="0"/>
                              <a:cs typeface="Times New Roman" panose="02020603050405020304" pitchFamily="18" charset="0"/>
                            </a:rPr>
                            <a:t>1342nm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25.4740ns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13.8kW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rowSpan="2">
                      <a:txBody>
                        <a:bodyPr/>
                        <a:lstStyle/>
                        <a:p>
                          <a:endParaRPr lang="zh-TW"/>
                        </a:p>
                      </a:txBody>
                      <a:tcPr anchor="ctr">
                        <a:blipFill>
                          <a:blip r:embed="rId2"/>
                          <a:stretch>
                            <a:fillRect l="-300759" t="-154098" r="-506" b="-62295"/>
                          </a:stretch>
                        </a:blipFill>
                      </a:tcPr>
                    </a:tc>
                    <a:extLst>
                      <a:ext uri="{0D108BD9-81ED-4DB2-BD59-A6C34878D82A}">
                        <a16:rowId xmlns:a16="http://schemas.microsoft.com/office/drawing/2014/main" val="1779841056"/>
                      </a:ext>
                    </a:extLst>
                  </a:tr>
                  <a:tr h="370840">
                    <a:tc>
                      <a:txBody>
                        <a:bodyPr/>
                        <a:lstStyle/>
                        <a:p>
                          <a:pPr algn="ctr"/>
                          <a:r>
                            <a:rPr lang="en-US" altLang="zh-TW" dirty="0">
                              <a:latin typeface="Times New Roman" panose="02020603050405020304" pitchFamily="18" charset="0"/>
                              <a:cs typeface="Times New Roman" panose="02020603050405020304" pitchFamily="18" charset="0"/>
                            </a:rPr>
                            <a:t>671nm </a:t>
                          </a:r>
                          <a:r>
                            <a:rPr lang="en-US" altLang="zh-TW" sz="1200" kern="1200" dirty="0">
                              <a:latin typeface="Times New Roman" panose="02020603050405020304" pitchFamily="18" charset="0"/>
                              <a:cs typeface="Times New Roman" panose="02020603050405020304" pitchFamily="18" charset="0"/>
                            </a:rPr>
                            <a:t>(non-phase matching)</a:t>
                          </a:r>
                          <a:endParaRPr lang="zh-TW" altLang="en-US" sz="1200" kern="1200"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15.0374ns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9.71W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vMerge="1">
                      <a:txBody>
                        <a:bodyPr/>
                        <a:lstStyle/>
                        <a:p>
                          <a:pPr algn="ct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extLst>
                      <a:ext uri="{0D108BD9-81ED-4DB2-BD59-A6C34878D82A}">
                        <a16:rowId xmlns:a16="http://schemas.microsoft.com/office/drawing/2014/main" val="325149524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593nm </a:t>
                          </a:r>
                          <a:r>
                            <a:rPr lang="en-US" altLang="zh-TW" sz="1200" dirty="0">
                              <a:solidFill>
                                <a:schemeClr val="tx1"/>
                              </a:solidFill>
                              <a:latin typeface="Times New Roman" panose="02020603050405020304" pitchFamily="18" charset="0"/>
                              <a:cs typeface="Times New Roman" panose="02020603050405020304" pitchFamily="18" charset="0"/>
                            </a:rPr>
                            <a:t>(non-phase matching)</a:t>
                          </a: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8.0198ns</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74.19W</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endParaRPr lang="zh-TW"/>
                        </a:p>
                      </a:txBody>
                      <a:tcPr anchor="ctr">
                        <a:blipFill>
                          <a:blip r:embed="rId2"/>
                          <a:stretch>
                            <a:fillRect l="-300759" t="-508197" r="-506" b="-24590"/>
                          </a:stretch>
                        </a:blipFill>
                      </a:tcPr>
                    </a:tc>
                    <a:extLst>
                      <a:ext uri="{0D108BD9-81ED-4DB2-BD59-A6C34878D82A}">
                        <a16:rowId xmlns:a16="http://schemas.microsoft.com/office/drawing/2014/main" val="1879810175"/>
                      </a:ext>
                    </a:extLst>
                  </a:tr>
                </a:tbl>
              </a:graphicData>
            </a:graphic>
          </p:graphicFrame>
        </mc:Fallback>
      </mc:AlternateContent>
    </p:spTree>
    <p:extLst>
      <p:ext uri="{BB962C8B-B14F-4D97-AF65-F5344CB8AC3E}">
        <p14:creationId xmlns:p14="http://schemas.microsoft.com/office/powerpoint/2010/main" val="1971099209"/>
      </p:ext>
    </p:extLst>
  </p:cSld>
  <p:clrMapOvr>
    <a:masterClrMapping/>
  </p:clrMapOvr>
  <p:transition spd="med">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EC03B5BE-F36B-487E-8929-83A14D21AD24}"/>
              </a:ext>
            </a:extLst>
          </p:cNvPr>
          <p:cNvCxnSpPr/>
          <p:nvPr/>
        </p:nvCxnSpPr>
        <p:spPr>
          <a:xfrm>
            <a:off x="-1" y="725990"/>
            <a:ext cx="12168000" cy="0"/>
          </a:xfrm>
          <a:prstGeom prst="line">
            <a:avLst/>
          </a:prstGeom>
          <a:ln w="28575">
            <a:gradFill>
              <a:gsLst>
                <a:gs pos="0">
                  <a:srgbClr val="FF0000"/>
                </a:gs>
                <a:gs pos="22000">
                  <a:schemeClr val="accent2"/>
                </a:gs>
                <a:gs pos="75970">
                  <a:srgbClr val="00B0F0"/>
                </a:gs>
                <a:gs pos="57166">
                  <a:srgbClr val="00B050"/>
                </a:gs>
                <a:gs pos="41000">
                  <a:srgbClr val="FFFF00"/>
                </a:gs>
                <a:gs pos="100000">
                  <a:srgbClr val="7030A0"/>
                </a:gs>
              </a:gsLst>
              <a:lin ang="0" scaled="0"/>
            </a:gradFill>
          </a:ln>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B2319CFA-D116-4795-8CE2-9EC724FE2A43}"/>
              </a:ext>
            </a:extLst>
          </p:cNvPr>
          <p:cNvSpPr txBox="1"/>
          <p:nvPr/>
        </p:nvSpPr>
        <p:spPr>
          <a:xfrm>
            <a:off x="727969" y="79659"/>
            <a:ext cx="2677015" cy="646331"/>
          </a:xfrm>
          <a:prstGeom prst="rect">
            <a:avLst/>
          </a:prstGeom>
          <a:noFill/>
        </p:spPr>
        <p:txBody>
          <a:bodyPr wrap="none" rtlCol="0">
            <a:spAutoFit/>
          </a:bodyPr>
          <a:lstStyle/>
          <a:p>
            <a:r>
              <a:rPr lang="en-US" altLang="zh-TW" sz="3600" b="1" kern="100" dirty="0">
                <a:latin typeface="Times New Roman" panose="02020603050405020304" pitchFamily="18" charset="0"/>
                <a:ea typeface="標楷體" panose="03000509000000000000" pitchFamily="65" charset="-120"/>
                <a:cs typeface="Times New Roman" panose="02020603050405020304" pitchFamily="18" charset="0"/>
              </a:rPr>
              <a:t>Future work</a:t>
            </a:r>
            <a:endParaRPr lang="zh-TW" altLang="zh-TW" sz="3600" kern="100" dirty="0">
              <a:latin typeface="Calibri" panose="020F0502020204030204" pitchFamily="34"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6099B670-A301-4A90-8E55-E49EE4509084}"/>
              </a:ext>
            </a:extLst>
          </p:cNvPr>
          <p:cNvSpPr>
            <a:spLocks noGrp="1"/>
          </p:cNvSpPr>
          <p:nvPr>
            <p:ph type="sldNum" sz="quarter" idx="12"/>
          </p:nvPr>
        </p:nvSpPr>
        <p:spPr>
          <a:xfrm>
            <a:off x="8582025" y="6267433"/>
            <a:ext cx="2743200" cy="365125"/>
          </a:xfrm>
        </p:spPr>
        <p:txBody>
          <a:bodyPr/>
          <a:lstStyle/>
          <a:p>
            <a:fld id="{9044CBB6-E20C-4076-82F9-F8F95241C54D}" type="slidenum">
              <a:rPr lang="zh-TW" altLang="en-US" smtClean="0">
                <a:solidFill>
                  <a:schemeClr val="tx1"/>
                </a:solidFill>
              </a:rPr>
              <a:t>38</a:t>
            </a:fld>
            <a:endParaRPr lang="zh-TW" altLang="en-US">
              <a:solidFill>
                <a:schemeClr val="tx1"/>
              </a:solidFill>
            </a:endParaRPr>
          </a:p>
        </p:txBody>
      </p:sp>
      <p:pic>
        <p:nvPicPr>
          <p:cNvPr id="8" name="圖片 7">
            <a:extLst>
              <a:ext uri="{FF2B5EF4-FFF2-40B4-BE49-F238E27FC236}">
                <a16:creationId xmlns:a16="http://schemas.microsoft.com/office/drawing/2014/main" id="{017C8D1A-684F-40B6-A616-96638C9921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193" y="3648737"/>
            <a:ext cx="4122015" cy="3129587"/>
          </a:xfrm>
          <a:prstGeom prst="rect">
            <a:avLst/>
          </a:prstGeom>
        </p:spPr>
      </p:pic>
      <p:pic>
        <p:nvPicPr>
          <p:cNvPr id="10" name="圖片 9">
            <a:extLst>
              <a:ext uri="{FF2B5EF4-FFF2-40B4-BE49-F238E27FC236}">
                <a16:creationId xmlns:a16="http://schemas.microsoft.com/office/drawing/2014/main" id="{22571353-82AE-406B-A2A5-3B9336C421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4568" y="945171"/>
            <a:ext cx="2976000" cy="2232000"/>
          </a:xfrm>
          <a:prstGeom prst="rect">
            <a:avLst/>
          </a:prstGeom>
          <a:ln>
            <a:noFill/>
          </a:ln>
          <a:effectLst>
            <a:outerShdw blurRad="292100" dist="139700" dir="2700000" algn="tl" rotWithShape="0">
              <a:srgbClr val="333333">
                <a:alpha val="65000"/>
              </a:srgbClr>
            </a:outerShdw>
          </a:effectLst>
        </p:spPr>
      </p:pic>
      <p:pic>
        <p:nvPicPr>
          <p:cNvPr id="12" name="圖片 11">
            <a:extLst>
              <a:ext uri="{FF2B5EF4-FFF2-40B4-BE49-F238E27FC236}">
                <a16:creationId xmlns:a16="http://schemas.microsoft.com/office/drawing/2014/main" id="{6CC2AA00-3410-43F3-A8E0-BF97DBB38C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4568" y="3391963"/>
            <a:ext cx="2976000" cy="2232000"/>
          </a:xfrm>
          <a:prstGeom prst="rect">
            <a:avLst/>
          </a:prstGeom>
          <a:ln>
            <a:noFill/>
          </a:ln>
          <a:effectLst>
            <a:outerShdw blurRad="292100" dist="139700" dir="2700000" algn="tl" rotWithShape="0">
              <a:srgbClr val="333333">
                <a:alpha val="65000"/>
              </a:srgbClr>
            </a:outerShdw>
          </a:effectLst>
        </p:spPr>
      </p:pic>
      <p:pic>
        <p:nvPicPr>
          <p:cNvPr id="14" name="圖片 13">
            <a:extLst>
              <a:ext uri="{FF2B5EF4-FFF2-40B4-BE49-F238E27FC236}">
                <a16:creationId xmlns:a16="http://schemas.microsoft.com/office/drawing/2014/main" id="{80713EBA-6D75-44EF-BA46-AF3869C0BB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1026" y="3391963"/>
            <a:ext cx="2976001" cy="2232000"/>
          </a:xfrm>
          <a:prstGeom prst="rect">
            <a:avLst/>
          </a:prstGeom>
          <a:ln>
            <a:noFill/>
          </a:ln>
          <a:effectLst>
            <a:outerShdw blurRad="292100" dist="139700" dir="2700000" algn="tl" rotWithShape="0">
              <a:srgbClr val="333333">
                <a:alpha val="65000"/>
              </a:srgbClr>
            </a:outerShdw>
          </a:effectLst>
        </p:spPr>
      </p:pic>
      <p:pic>
        <p:nvPicPr>
          <p:cNvPr id="16" name="圖片 15">
            <a:extLst>
              <a:ext uri="{FF2B5EF4-FFF2-40B4-BE49-F238E27FC236}">
                <a16:creationId xmlns:a16="http://schemas.microsoft.com/office/drawing/2014/main" id="{03BCF49D-FCA1-435C-B247-5EAA19821E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1026" y="942977"/>
            <a:ext cx="2976001" cy="2232000"/>
          </a:xfrm>
          <a:prstGeom prst="rect">
            <a:avLst/>
          </a:prstGeom>
          <a:ln>
            <a:noFill/>
          </a:ln>
          <a:effectLst>
            <a:outerShdw blurRad="292100" dist="139700" dir="2700000" algn="tl" rotWithShape="0">
              <a:srgbClr val="333333">
                <a:alpha val="65000"/>
              </a:srgbClr>
            </a:outerShdw>
          </a:effectLst>
        </p:spPr>
      </p:pic>
      <p:pic>
        <p:nvPicPr>
          <p:cNvPr id="17" name="圖片 16">
            <a:extLst>
              <a:ext uri="{FF2B5EF4-FFF2-40B4-BE49-F238E27FC236}">
                <a16:creationId xmlns:a16="http://schemas.microsoft.com/office/drawing/2014/main" id="{7932241E-B1F5-445B-AE87-02BAA445E506}"/>
              </a:ext>
            </a:extLst>
          </p:cNvPr>
          <p:cNvPicPr>
            <a:picLocks noChangeAspect="1"/>
          </p:cNvPicPr>
          <p:nvPr/>
        </p:nvPicPr>
        <p:blipFill>
          <a:blip r:embed="rId7"/>
          <a:stretch>
            <a:fillRect/>
          </a:stretch>
        </p:blipFill>
        <p:spPr>
          <a:xfrm>
            <a:off x="2998158" y="1570176"/>
            <a:ext cx="2585228" cy="1885228"/>
          </a:xfrm>
          <a:prstGeom prst="rect">
            <a:avLst/>
          </a:prstGeom>
        </p:spPr>
      </p:pic>
      <p:cxnSp>
        <p:nvCxnSpPr>
          <p:cNvPr id="18" name="直線單箭頭接點 17">
            <a:extLst>
              <a:ext uri="{FF2B5EF4-FFF2-40B4-BE49-F238E27FC236}">
                <a16:creationId xmlns:a16="http://schemas.microsoft.com/office/drawing/2014/main" id="{BBBDCF0F-B17A-4885-87C8-3EA9FD4E5B01}"/>
              </a:ext>
            </a:extLst>
          </p:cNvPr>
          <p:cNvCxnSpPr>
            <a:cxnSpLocks/>
          </p:cNvCxnSpPr>
          <p:nvPr/>
        </p:nvCxnSpPr>
        <p:spPr>
          <a:xfrm>
            <a:off x="1462007" y="2294120"/>
            <a:ext cx="681432" cy="0"/>
          </a:xfrm>
          <a:prstGeom prst="straightConnector1">
            <a:avLst/>
          </a:prstGeom>
          <a:ln w="15875">
            <a:solidFill>
              <a:schemeClr val="tx1"/>
            </a:solidFill>
            <a:prstDash val="dash"/>
            <a:tailEnd type="triangle"/>
          </a:ln>
          <a:scene3d>
            <a:camera prst="orthographicFront">
              <a:rot lat="0" lon="0" rev="270000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CC88BBF0-1BA6-4BB6-B718-6B17EC78123D}"/>
              </a:ext>
            </a:extLst>
          </p:cNvPr>
          <p:cNvCxnSpPr/>
          <p:nvPr/>
        </p:nvCxnSpPr>
        <p:spPr>
          <a:xfrm flipV="1">
            <a:off x="1562973" y="1872313"/>
            <a:ext cx="0" cy="681432"/>
          </a:xfrm>
          <a:prstGeom prst="straightConnector1">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825A496F-7F3C-4894-B0CD-3107BD4A08FE}"/>
              </a:ext>
            </a:extLst>
          </p:cNvPr>
          <p:cNvCxnSpPr>
            <a:cxnSpLocks/>
          </p:cNvCxnSpPr>
          <p:nvPr/>
        </p:nvCxnSpPr>
        <p:spPr>
          <a:xfrm>
            <a:off x="1562973" y="2553745"/>
            <a:ext cx="681432" cy="0"/>
          </a:xfrm>
          <a:prstGeom prst="straightConnector1">
            <a:avLst/>
          </a:prstGeom>
          <a:ln w="158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立方體 20">
            <a:extLst>
              <a:ext uri="{FF2B5EF4-FFF2-40B4-BE49-F238E27FC236}">
                <a16:creationId xmlns:a16="http://schemas.microsoft.com/office/drawing/2014/main" id="{E628E051-2275-4071-9A75-392E9C2B4005}"/>
              </a:ext>
            </a:extLst>
          </p:cNvPr>
          <p:cNvSpPr/>
          <p:nvPr/>
        </p:nvSpPr>
        <p:spPr>
          <a:xfrm>
            <a:off x="1230574" y="2188799"/>
            <a:ext cx="921355" cy="732035"/>
          </a:xfrm>
          <a:prstGeom prst="cube">
            <a:avLst/>
          </a:prstGeom>
          <a:no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22" name="文字方塊 21">
            <a:extLst>
              <a:ext uri="{FF2B5EF4-FFF2-40B4-BE49-F238E27FC236}">
                <a16:creationId xmlns:a16="http://schemas.microsoft.com/office/drawing/2014/main" id="{762D8D0B-0E7A-4A4C-9C1C-77C281AF59CE}"/>
              </a:ext>
            </a:extLst>
          </p:cNvPr>
          <p:cNvSpPr txBox="1"/>
          <p:nvPr/>
        </p:nvSpPr>
        <p:spPr>
          <a:xfrm>
            <a:off x="1893204" y="1849595"/>
            <a:ext cx="535916" cy="276999"/>
          </a:xfrm>
          <a:prstGeom prst="rect">
            <a:avLst/>
          </a:prstGeom>
          <a:noFill/>
        </p:spPr>
        <p:txBody>
          <a:bodyPr wrap="none" rtlCol="0">
            <a:spAutoFit/>
          </a:bodyPr>
          <a:lstStyle/>
          <a:p>
            <a:pPr algn="ctr"/>
            <a:r>
              <a:rPr lang="en-US" altLang="zh-TW" sz="1200" dirty="0"/>
              <a:t>b axis</a:t>
            </a:r>
            <a:endParaRPr lang="zh-TW" altLang="en-US" sz="1200" dirty="0"/>
          </a:p>
        </p:txBody>
      </p:sp>
      <p:sp>
        <p:nvSpPr>
          <p:cNvPr id="23" name="文字方塊 22">
            <a:extLst>
              <a:ext uri="{FF2B5EF4-FFF2-40B4-BE49-F238E27FC236}">
                <a16:creationId xmlns:a16="http://schemas.microsoft.com/office/drawing/2014/main" id="{C2A0A2BE-96F7-4986-A045-898C2D48303B}"/>
              </a:ext>
            </a:extLst>
          </p:cNvPr>
          <p:cNvSpPr txBox="1"/>
          <p:nvPr/>
        </p:nvSpPr>
        <p:spPr>
          <a:xfrm>
            <a:off x="2184704" y="2412649"/>
            <a:ext cx="529504" cy="276999"/>
          </a:xfrm>
          <a:prstGeom prst="rect">
            <a:avLst/>
          </a:prstGeom>
          <a:noFill/>
        </p:spPr>
        <p:txBody>
          <a:bodyPr wrap="none" rtlCol="0">
            <a:spAutoFit/>
          </a:bodyPr>
          <a:lstStyle/>
          <a:p>
            <a:pPr algn="ctr"/>
            <a:r>
              <a:rPr lang="en-US" altLang="zh-TW" sz="1200" dirty="0"/>
              <a:t>a axis</a:t>
            </a:r>
            <a:endParaRPr lang="zh-TW" altLang="en-US" sz="1200" dirty="0"/>
          </a:p>
        </p:txBody>
      </p:sp>
      <p:cxnSp>
        <p:nvCxnSpPr>
          <p:cNvPr id="24" name="直線單箭頭接點 23">
            <a:extLst>
              <a:ext uri="{FF2B5EF4-FFF2-40B4-BE49-F238E27FC236}">
                <a16:creationId xmlns:a16="http://schemas.microsoft.com/office/drawing/2014/main" id="{DFD84704-5182-49F5-88A2-E0B06AAD21C8}"/>
              </a:ext>
            </a:extLst>
          </p:cNvPr>
          <p:cNvCxnSpPr/>
          <p:nvPr/>
        </p:nvCxnSpPr>
        <p:spPr>
          <a:xfrm>
            <a:off x="530205" y="2682108"/>
            <a:ext cx="408905" cy="0"/>
          </a:xfrm>
          <a:prstGeom prst="straightConnector1">
            <a:avLst/>
          </a:prstGeom>
          <a:ln w="254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5" name="文字方塊 24">
            <a:extLst>
              <a:ext uri="{FF2B5EF4-FFF2-40B4-BE49-F238E27FC236}">
                <a16:creationId xmlns:a16="http://schemas.microsoft.com/office/drawing/2014/main" id="{C6288595-3E2F-416C-8B8D-1E982E13CDF1}"/>
              </a:ext>
            </a:extLst>
          </p:cNvPr>
          <p:cNvSpPr txBox="1"/>
          <p:nvPr/>
        </p:nvSpPr>
        <p:spPr>
          <a:xfrm>
            <a:off x="209377" y="2397744"/>
            <a:ext cx="1013419"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Incident light</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矩形 25">
            <a:extLst>
              <a:ext uri="{FF2B5EF4-FFF2-40B4-BE49-F238E27FC236}">
                <a16:creationId xmlns:a16="http://schemas.microsoft.com/office/drawing/2014/main" id="{A520CF2F-2924-4358-8D78-B0566DD241B5}"/>
              </a:ext>
            </a:extLst>
          </p:cNvPr>
          <p:cNvSpPr/>
          <p:nvPr/>
        </p:nvSpPr>
        <p:spPr>
          <a:xfrm>
            <a:off x="1062352" y="2916703"/>
            <a:ext cx="1130439" cy="276999"/>
          </a:xfrm>
          <a:prstGeom prst="rect">
            <a:avLst/>
          </a:prstGeom>
        </p:spPr>
        <p:txBody>
          <a:bodyPr wrap="none">
            <a:spAutoFit/>
          </a:bodyPr>
          <a:lstStyle/>
          <a:p>
            <a:pPr algn="ctr"/>
            <a:r>
              <a:rPr lang="en-US" altLang="zh-TW" sz="1200" dirty="0" err="1">
                <a:latin typeface="Times New Roman" panose="02020603050405020304" pitchFamily="18" charset="0"/>
                <a:ea typeface="標楷體" panose="03000509000000000000" pitchFamily="65" charset="-120"/>
                <a:cs typeface="Times New Roman" panose="02020603050405020304" pitchFamily="18" charset="0"/>
              </a:rPr>
              <a:t>Nd:YLF</a:t>
            </a:r>
            <a:r>
              <a:rPr lang="en-US" altLang="zh-TW" sz="1200" baseline="-250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(a cut)</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文字方塊 26">
            <a:extLst>
              <a:ext uri="{FF2B5EF4-FFF2-40B4-BE49-F238E27FC236}">
                <a16:creationId xmlns:a16="http://schemas.microsoft.com/office/drawing/2014/main" id="{7D74F2DA-F7B0-4AD1-BD52-DB8CCF4540D6}"/>
              </a:ext>
            </a:extLst>
          </p:cNvPr>
          <p:cNvSpPr txBox="1"/>
          <p:nvPr/>
        </p:nvSpPr>
        <p:spPr>
          <a:xfrm>
            <a:off x="1316780" y="1561937"/>
            <a:ext cx="521489" cy="276999"/>
          </a:xfrm>
          <a:prstGeom prst="rect">
            <a:avLst/>
          </a:prstGeom>
          <a:noFill/>
        </p:spPr>
        <p:txBody>
          <a:bodyPr wrap="none" rtlCol="0">
            <a:spAutoFit/>
          </a:bodyPr>
          <a:lstStyle/>
          <a:p>
            <a:pPr algn="ctr"/>
            <a:r>
              <a:rPr lang="en-US" altLang="zh-TW" sz="1200" dirty="0"/>
              <a:t>c axis</a:t>
            </a:r>
            <a:endParaRPr lang="zh-TW" altLang="en-US" sz="1200" dirty="0"/>
          </a:p>
        </p:txBody>
      </p:sp>
      <p:sp>
        <p:nvSpPr>
          <p:cNvPr id="28" name="文字方塊 27">
            <a:extLst>
              <a:ext uri="{FF2B5EF4-FFF2-40B4-BE49-F238E27FC236}">
                <a16:creationId xmlns:a16="http://schemas.microsoft.com/office/drawing/2014/main" id="{80F3A296-9110-49EC-8B41-24F922BDF7E2}"/>
              </a:ext>
            </a:extLst>
          </p:cNvPr>
          <p:cNvSpPr txBox="1"/>
          <p:nvPr/>
        </p:nvSpPr>
        <p:spPr>
          <a:xfrm>
            <a:off x="2111073" y="1076325"/>
            <a:ext cx="941283" cy="369332"/>
          </a:xfrm>
          <a:prstGeom prst="rect">
            <a:avLst/>
          </a:prstGeom>
          <a:solidFill>
            <a:srgbClr val="FF0000"/>
          </a:solidFill>
          <a:ln>
            <a:solidFill>
              <a:schemeClr val="tx1"/>
            </a:solidFill>
          </a:ln>
        </p:spPr>
        <p:txBody>
          <a:bodyPr wrap="none" rtlCol="0">
            <a:spAutoFit/>
          </a:bodyPr>
          <a:lstStyle/>
          <a:p>
            <a:r>
              <a:rPr lang="en-US" altLang="zh-TW"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1047nm</a:t>
            </a:r>
            <a:endParaRPr lang="zh-TW" altLang="en-US"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文字方塊 28">
            <a:extLst>
              <a:ext uri="{FF2B5EF4-FFF2-40B4-BE49-F238E27FC236}">
                <a16:creationId xmlns:a16="http://schemas.microsoft.com/office/drawing/2014/main" id="{17A99F55-0098-432B-91F8-BFD6485960B1}"/>
              </a:ext>
            </a:extLst>
          </p:cNvPr>
          <p:cNvSpPr txBox="1"/>
          <p:nvPr/>
        </p:nvSpPr>
        <p:spPr>
          <a:xfrm>
            <a:off x="4506671" y="1074181"/>
            <a:ext cx="941283" cy="369332"/>
          </a:xfrm>
          <a:prstGeom prst="rect">
            <a:avLst/>
          </a:prstGeom>
          <a:solidFill>
            <a:srgbClr val="0000FF"/>
          </a:solidFill>
          <a:ln>
            <a:solidFill>
              <a:schemeClr val="tx1"/>
            </a:solidFill>
          </a:ln>
        </p:spPr>
        <p:txBody>
          <a:bodyPr wrap="none" rtlCol="0">
            <a:spAutoFit/>
          </a:bodyPr>
          <a:lstStyle/>
          <a:p>
            <a:r>
              <a:rPr lang="en-US" altLang="zh-TW"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1053nm</a:t>
            </a:r>
            <a:endParaRPr lang="zh-TW" altLang="en-US"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箭號: 左-右雙向 29">
            <a:extLst>
              <a:ext uri="{FF2B5EF4-FFF2-40B4-BE49-F238E27FC236}">
                <a16:creationId xmlns:a16="http://schemas.microsoft.com/office/drawing/2014/main" id="{822DA538-D444-4384-8C14-AEC2D1CE370E}"/>
              </a:ext>
            </a:extLst>
          </p:cNvPr>
          <p:cNvSpPr/>
          <p:nvPr/>
        </p:nvSpPr>
        <p:spPr>
          <a:xfrm>
            <a:off x="3256616" y="1137624"/>
            <a:ext cx="1143934" cy="27699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a:extLst>
              <a:ext uri="{FF2B5EF4-FFF2-40B4-BE49-F238E27FC236}">
                <a16:creationId xmlns:a16="http://schemas.microsoft.com/office/drawing/2014/main" id="{B1C6AB48-E1F5-4B48-8F74-F208EE2A5027}"/>
              </a:ext>
            </a:extLst>
          </p:cNvPr>
          <p:cNvSpPr txBox="1"/>
          <p:nvPr/>
        </p:nvSpPr>
        <p:spPr>
          <a:xfrm>
            <a:off x="3531065" y="825534"/>
            <a:ext cx="620683" cy="369332"/>
          </a:xfrm>
          <a:prstGeom prst="rect">
            <a:avLst/>
          </a:prstGeom>
          <a:noFill/>
        </p:spPr>
        <p:txBody>
          <a:bodyPr wrap="none" rtlCol="0">
            <a:spAutoFit/>
          </a:bodyPr>
          <a:lstStyle/>
          <a:p>
            <a:r>
              <a:rPr lang="en-US" altLang="zh-TW"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rPr>
              <a:t>6nm</a:t>
            </a:r>
            <a:endParaRPr lang="zh-TW" altLang="en-US" b="1" i="1" dirty="0">
              <a:effectLst>
                <a:outerShdw blurRad="38100" dist="38100" dir="2700000" algn="tl">
                  <a:srgbClr val="000000">
                    <a:alpha val="43137"/>
                  </a:srgb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2" name="文字方塊 31">
            <a:extLst>
              <a:ext uri="{FF2B5EF4-FFF2-40B4-BE49-F238E27FC236}">
                <a16:creationId xmlns:a16="http://schemas.microsoft.com/office/drawing/2014/main" id="{807687B3-4951-4AD8-A669-1B62823D299E}"/>
              </a:ext>
            </a:extLst>
          </p:cNvPr>
          <p:cNvSpPr txBox="1"/>
          <p:nvPr/>
        </p:nvSpPr>
        <p:spPr>
          <a:xfrm>
            <a:off x="7927953" y="2971838"/>
            <a:ext cx="1093569"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Wavelength(nm)</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文字方塊 32">
            <a:extLst>
              <a:ext uri="{FF2B5EF4-FFF2-40B4-BE49-F238E27FC236}">
                <a16:creationId xmlns:a16="http://schemas.microsoft.com/office/drawing/2014/main" id="{6C1DE579-749B-4630-9160-7D3524729B6E}"/>
              </a:ext>
            </a:extLst>
          </p:cNvPr>
          <p:cNvSpPr txBox="1"/>
          <p:nvPr/>
        </p:nvSpPr>
        <p:spPr>
          <a:xfrm rot="16200000">
            <a:off x="5429270" y="1922816"/>
            <a:ext cx="1303562"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4" name="文字方塊 33">
            <a:extLst>
              <a:ext uri="{FF2B5EF4-FFF2-40B4-BE49-F238E27FC236}">
                <a16:creationId xmlns:a16="http://schemas.microsoft.com/office/drawing/2014/main" id="{A4A2E5D4-C955-498C-81A1-CF6C889A16C0}"/>
              </a:ext>
            </a:extLst>
          </p:cNvPr>
          <p:cNvSpPr txBox="1"/>
          <p:nvPr/>
        </p:nvSpPr>
        <p:spPr>
          <a:xfrm>
            <a:off x="7947003" y="5423976"/>
            <a:ext cx="1093569"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Wavelength(nm)</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 name="文字方塊 34">
            <a:extLst>
              <a:ext uri="{FF2B5EF4-FFF2-40B4-BE49-F238E27FC236}">
                <a16:creationId xmlns:a16="http://schemas.microsoft.com/office/drawing/2014/main" id="{1402AE28-B5BD-4BF1-8876-730F721DE0B9}"/>
              </a:ext>
            </a:extLst>
          </p:cNvPr>
          <p:cNvSpPr txBox="1"/>
          <p:nvPr/>
        </p:nvSpPr>
        <p:spPr>
          <a:xfrm rot="16200000">
            <a:off x="5448320" y="4374954"/>
            <a:ext cx="1303562"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6" name="文字方塊 35">
            <a:extLst>
              <a:ext uri="{FF2B5EF4-FFF2-40B4-BE49-F238E27FC236}">
                <a16:creationId xmlns:a16="http://schemas.microsoft.com/office/drawing/2014/main" id="{4D051993-D335-4677-8FC9-6F594DDE13E7}"/>
              </a:ext>
            </a:extLst>
          </p:cNvPr>
          <p:cNvSpPr txBox="1"/>
          <p:nvPr/>
        </p:nvSpPr>
        <p:spPr>
          <a:xfrm>
            <a:off x="11133437" y="2960841"/>
            <a:ext cx="1093569"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Wavelength(nm)</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文字方塊 36">
            <a:extLst>
              <a:ext uri="{FF2B5EF4-FFF2-40B4-BE49-F238E27FC236}">
                <a16:creationId xmlns:a16="http://schemas.microsoft.com/office/drawing/2014/main" id="{8E1CA821-351C-4F4D-A55D-6580BAF2CD6F}"/>
              </a:ext>
            </a:extLst>
          </p:cNvPr>
          <p:cNvSpPr txBox="1"/>
          <p:nvPr/>
        </p:nvSpPr>
        <p:spPr>
          <a:xfrm rot="16200000">
            <a:off x="8634754" y="1911819"/>
            <a:ext cx="1303562"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8" name="文字方塊 37">
            <a:extLst>
              <a:ext uri="{FF2B5EF4-FFF2-40B4-BE49-F238E27FC236}">
                <a16:creationId xmlns:a16="http://schemas.microsoft.com/office/drawing/2014/main" id="{95253B42-A98D-4BEA-B0AA-6B6FEDE49C54}"/>
              </a:ext>
            </a:extLst>
          </p:cNvPr>
          <p:cNvSpPr txBox="1"/>
          <p:nvPr/>
        </p:nvSpPr>
        <p:spPr>
          <a:xfrm>
            <a:off x="11130653" y="5421032"/>
            <a:ext cx="1093569"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Wavelength(nm)</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9" name="文字方塊 38">
            <a:extLst>
              <a:ext uri="{FF2B5EF4-FFF2-40B4-BE49-F238E27FC236}">
                <a16:creationId xmlns:a16="http://schemas.microsoft.com/office/drawing/2014/main" id="{B904A70C-BCD9-41D2-BB3D-47CC6CA9CFFA}"/>
              </a:ext>
            </a:extLst>
          </p:cNvPr>
          <p:cNvSpPr txBox="1"/>
          <p:nvPr/>
        </p:nvSpPr>
        <p:spPr>
          <a:xfrm rot="16200000">
            <a:off x="8631970" y="4372010"/>
            <a:ext cx="1303562" cy="253916"/>
          </a:xfrm>
          <a:prstGeom prst="rect">
            <a:avLst/>
          </a:prstGeom>
          <a:noFill/>
        </p:spPr>
        <p:txBody>
          <a:bodyPr wrap="none" rtlCol="0">
            <a:spAutoFit/>
          </a:bodyPr>
          <a:lstStyle/>
          <a:p>
            <a:pPr algn="ctr"/>
            <a:r>
              <a:rPr lang="en-US" altLang="zh-TW" sz="10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0" name="文字方塊 39">
            <a:extLst>
              <a:ext uri="{FF2B5EF4-FFF2-40B4-BE49-F238E27FC236}">
                <a16:creationId xmlns:a16="http://schemas.microsoft.com/office/drawing/2014/main" id="{D070C36C-F39F-4D4C-BDCE-FBD7783EE3D0}"/>
              </a:ext>
            </a:extLst>
          </p:cNvPr>
          <p:cNvSpPr txBox="1"/>
          <p:nvPr/>
        </p:nvSpPr>
        <p:spPr>
          <a:xfrm>
            <a:off x="6972796" y="5623963"/>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230V/mm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1" name="文字方塊 40">
            <a:extLst>
              <a:ext uri="{FF2B5EF4-FFF2-40B4-BE49-F238E27FC236}">
                <a16:creationId xmlns:a16="http://schemas.microsoft.com/office/drawing/2014/main" id="{ACC12E7F-3F50-4FA4-86D5-58F2E185DB07}"/>
              </a:ext>
            </a:extLst>
          </p:cNvPr>
          <p:cNvSpPr txBox="1"/>
          <p:nvPr/>
        </p:nvSpPr>
        <p:spPr>
          <a:xfrm>
            <a:off x="10087982" y="5623963"/>
            <a:ext cx="1120820"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372V/mm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2" name="文字方塊 41">
            <a:extLst>
              <a:ext uri="{FF2B5EF4-FFF2-40B4-BE49-F238E27FC236}">
                <a16:creationId xmlns:a16="http://schemas.microsoft.com/office/drawing/2014/main" id="{AA301E20-A6C6-485F-8D8D-CAE219C8F539}"/>
              </a:ext>
            </a:extLst>
          </p:cNvPr>
          <p:cNvSpPr txBox="1"/>
          <p:nvPr/>
        </p:nvSpPr>
        <p:spPr>
          <a:xfrm>
            <a:off x="4572695" y="3774891"/>
            <a:ext cx="562975"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1047nm</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3" name="文字方塊 42">
            <a:extLst>
              <a:ext uri="{FF2B5EF4-FFF2-40B4-BE49-F238E27FC236}">
                <a16:creationId xmlns:a16="http://schemas.microsoft.com/office/drawing/2014/main" id="{1CD94F74-DF5E-424B-8499-F98AA3CC4CC6}"/>
              </a:ext>
            </a:extLst>
          </p:cNvPr>
          <p:cNvSpPr txBox="1"/>
          <p:nvPr/>
        </p:nvSpPr>
        <p:spPr>
          <a:xfrm>
            <a:off x="4577313" y="3977552"/>
            <a:ext cx="562975" cy="230832"/>
          </a:xfrm>
          <a:prstGeom prst="rect">
            <a:avLst/>
          </a:prstGeom>
          <a:noFill/>
        </p:spPr>
        <p:txBody>
          <a:bodyPr wrap="none" rtlCol="0">
            <a:spAutoFit/>
          </a:bodyPr>
          <a:lstStyle/>
          <a:p>
            <a:pPr algn="ct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1053nm</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4" name="橢圓 43">
            <a:extLst>
              <a:ext uri="{FF2B5EF4-FFF2-40B4-BE49-F238E27FC236}">
                <a16:creationId xmlns:a16="http://schemas.microsoft.com/office/drawing/2014/main" id="{917BFDB8-960B-4A88-85F7-82CBE87B6987}"/>
              </a:ext>
            </a:extLst>
          </p:cNvPr>
          <p:cNvSpPr/>
          <p:nvPr/>
        </p:nvSpPr>
        <p:spPr>
          <a:xfrm>
            <a:off x="4461303" y="3824952"/>
            <a:ext cx="125376" cy="125376"/>
          </a:xfrm>
          <a:prstGeom prst="ellipse">
            <a:avLst/>
          </a:prstGeom>
          <a:solidFill>
            <a:srgbClr val="FF0000"/>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1050"/>
          </a:p>
        </p:txBody>
      </p:sp>
      <p:sp>
        <p:nvSpPr>
          <p:cNvPr id="45" name="橢圓 44">
            <a:extLst>
              <a:ext uri="{FF2B5EF4-FFF2-40B4-BE49-F238E27FC236}">
                <a16:creationId xmlns:a16="http://schemas.microsoft.com/office/drawing/2014/main" id="{6DBBE7DC-3AA7-45CA-9EF3-F440C04AE365}"/>
              </a:ext>
            </a:extLst>
          </p:cNvPr>
          <p:cNvSpPr/>
          <p:nvPr/>
        </p:nvSpPr>
        <p:spPr>
          <a:xfrm>
            <a:off x="4461303" y="4038506"/>
            <a:ext cx="125376" cy="125376"/>
          </a:xfrm>
          <a:prstGeom prst="ellipse">
            <a:avLst/>
          </a:prstGeom>
          <a:solidFill>
            <a:srgbClr val="0000FF"/>
          </a:solidFill>
          <a:ln>
            <a:noFill/>
          </a:ln>
          <a:scene3d>
            <a:camera prst="orthographicFront"/>
            <a:lightRig rig="threePt" dir="t"/>
          </a:scene3d>
          <a:sp3d>
            <a:bevelT w="68580" h="68580"/>
            <a:bevelB w="68580" h="6858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50"/>
          </a:p>
        </p:txBody>
      </p:sp>
      <p:sp>
        <p:nvSpPr>
          <p:cNvPr id="46" name="文字方塊 45">
            <a:extLst>
              <a:ext uri="{FF2B5EF4-FFF2-40B4-BE49-F238E27FC236}">
                <a16:creationId xmlns:a16="http://schemas.microsoft.com/office/drawing/2014/main" id="{5250D9F7-3C89-4908-92CC-C402115479C4}"/>
              </a:ext>
            </a:extLst>
          </p:cNvPr>
          <p:cNvSpPr txBox="1"/>
          <p:nvPr/>
        </p:nvSpPr>
        <p:spPr>
          <a:xfrm>
            <a:off x="3049598" y="6562629"/>
            <a:ext cx="1533527" cy="276999"/>
          </a:xfrm>
          <a:prstGeom prst="rect">
            <a:avLst/>
          </a:prstGeom>
          <a:noFill/>
        </p:spPr>
        <p:txBody>
          <a:bodyPr wrap="squar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7" name="文字方塊 46">
            <a:extLst>
              <a:ext uri="{FF2B5EF4-FFF2-40B4-BE49-F238E27FC236}">
                <a16:creationId xmlns:a16="http://schemas.microsoft.com/office/drawing/2014/main" id="{E06B1E3D-FCF1-4540-AC2C-C924BD6351E7}"/>
              </a:ext>
            </a:extLst>
          </p:cNvPr>
          <p:cNvSpPr txBox="1"/>
          <p:nvPr/>
        </p:nvSpPr>
        <p:spPr>
          <a:xfrm rot="16200000">
            <a:off x="86645" y="5012249"/>
            <a:ext cx="1427931" cy="276999"/>
          </a:xfrm>
          <a:prstGeom prst="rect">
            <a:avLst/>
          </a:prstGeom>
          <a:noFill/>
        </p:spPr>
        <p:txBody>
          <a:bodyPr wrap="squar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Transmittance(A.U.)</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8" name="矩形 47">
            <a:extLst>
              <a:ext uri="{FF2B5EF4-FFF2-40B4-BE49-F238E27FC236}">
                <a16:creationId xmlns:a16="http://schemas.microsoft.com/office/drawing/2014/main" id="{D68A579B-4CC0-4E19-99F3-0CCA825D04DB}"/>
              </a:ext>
            </a:extLst>
          </p:cNvPr>
          <p:cNvSpPr/>
          <p:nvPr/>
        </p:nvSpPr>
        <p:spPr>
          <a:xfrm>
            <a:off x="7666101" y="6627168"/>
            <a:ext cx="4525899" cy="230832"/>
          </a:xfrm>
          <a:prstGeom prst="rect">
            <a:avLst/>
          </a:prstGeom>
        </p:spPr>
        <p:txBody>
          <a:bodyPr wrap="square">
            <a:spAutoFit/>
          </a:bodyPr>
          <a:lstStyle/>
          <a:p>
            <a:r>
              <a:rPr lang="zh-TW" altLang="en-US" sz="900" dirty="0">
                <a:latin typeface="Times New Roman" panose="02020603050405020304" pitchFamily="18" charset="0"/>
                <a:ea typeface="標楷體" panose="03000509000000000000" pitchFamily="65" charset="-120"/>
                <a:cs typeface="Times New Roman" panose="02020603050405020304" pitchFamily="18" charset="0"/>
              </a:rPr>
              <a:t>李瑋倫、陳永富，摻釹氟化釔鋰晶體在連續波與被動式 Q 開關雷射之研究。Diss</a:t>
            </a: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9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900" dirty="0">
                <a:latin typeface="Times New Roman" panose="02020603050405020304" pitchFamily="18" charset="0"/>
                <a:ea typeface="標楷體" panose="03000509000000000000" pitchFamily="65" charset="-120"/>
                <a:cs typeface="Times New Roman" panose="02020603050405020304" pitchFamily="18" charset="0"/>
              </a:rPr>
              <a:t>2010</a:t>
            </a:r>
            <a:r>
              <a:rPr lang="en-US" altLang="zh-TW" sz="9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sz="9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483876315"/>
      </p:ext>
    </p:extLst>
  </p:cSld>
  <p:clrMapOvr>
    <a:masterClrMapping/>
  </p:clrMapOvr>
  <p:transition spd="med">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D8C6A71A-0D9B-4010-AC0A-E97AD22905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134" y="1857718"/>
            <a:ext cx="7831733" cy="3142565"/>
          </a:xfrm>
          <a:prstGeom prst="rect">
            <a:avLst/>
          </a:prstGeom>
        </p:spPr>
      </p:pic>
      <p:sp>
        <p:nvSpPr>
          <p:cNvPr id="5" name="文字方塊 4">
            <a:extLst>
              <a:ext uri="{FF2B5EF4-FFF2-40B4-BE49-F238E27FC236}">
                <a16:creationId xmlns:a16="http://schemas.microsoft.com/office/drawing/2014/main" id="{B2319CFA-D116-4795-8CE2-9EC724FE2A43}"/>
              </a:ext>
            </a:extLst>
          </p:cNvPr>
          <p:cNvSpPr txBox="1"/>
          <p:nvPr/>
        </p:nvSpPr>
        <p:spPr>
          <a:xfrm>
            <a:off x="3049653" y="3877360"/>
            <a:ext cx="6092694" cy="646331"/>
          </a:xfrm>
          <a:prstGeom prst="rect">
            <a:avLst/>
          </a:prstGeom>
          <a:solidFill>
            <a:schemeClr val="bg1">
              <a:lumMod val="50000"/>
              <a:alpha val="30000"/>
            </a:schemeClr>
          </a:solidFill>
        </p:spPr>
        <p:txBody>
          <a:bodyPr wrap="none" rtlCol="0">
            <a:spAutoFit/>
          </a:bodyPr>
          <a:lstStyle/>
          <a:p>
            <a:r>
              <a:rPr lang="en-US" altLang="zh-TW" sz="3600" b="1" i="1" u="sng" kern="1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 for your attention!</a:t>
            </a:r>
            <a:endParaRPr lang="zh-TW" altLang="zh-TW" sz="3600" b="1" i="1" u="sng" kern="1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6099B670-A301-4A90-8E55-E49EE4509084}"/>
              </a:ext>
            </a:extLst>
          </p:cNvPr>
          <p:cNvSpPr>
            <a:spLocks noGrp="1"/>
          </p:cNvSpPr>
          <p:nvPr>
            <p:ph type="sldNum" sz="quarter" idx="12"/>
          </p:nvPr>
        </p:nvSpPr>
        <p:spPr/>
        <p:txBody>
          <a:bodyPr/>
          <a:lstStyle/>
          <a:p>
            <a:fld id="{9044CBB6-E20C-4076-82F9-F8F95241C54D}" type="slidenum">
              <a:rPr lang="zh-TW" altLang="en-US" smtClean="0">
                <a:solidFill>
                  <a:schemeClr val="tx1"/>
                </a:solidFill>
              </a:rPr>
              <a:t>39</a:t>
            </a:fld>
            <a:endParaRPr lang="zh-TW" altLang="en-US">
              <a:solidFill>
                <a:schemeClr val="tx1"/>
              </a:solidFill>
            </a:endParaRPr>
          </a:p>
        </p:txBody>
      </p:sp>
      <p:pic>
        <p:nvPicPr>
          <p:cNvPr id="3" name="圖片 2">
            <a:extLst>
              <a:ext uri="{FF2B5EF4-FFF2-40B4-BE49-F238E27FC236}">
                <a16:creationId xmlns:a16="http://schemas.microsoft.com/office/drawing/2014/main" id="{267A5314-0E1B-4A1D-9B13-7127D1512BA5}"/>
              </a:ext>
            </a:extLst>
          </p:cNvPr>
          <p:cNvPicPr>
            <a:picLocks noChangeAspect="1"/>
          </p:cNvPicPr>
          <p:nvPr/>
        </p:nvPicPr>
        <p:blipFill>
          <a:blip r:embed="rId3" cstate="hqprint">
            <a:extLst>
              <a:ext uri="{BEBA8EAE-BF5A-486C-A8C5-ECC9F3942E4B}">
                <a14:imgProps xmlns:a14="http://schemas.microsoft.com/office/drawing/2010/main">
                  <a14:imgLayer r:embed="rId4">
                    <a14:imgEffect>
                      <a14:sharpenSoften amount="50000"/>
                    </a14:imgEffect>
                    <a14:imgEffect>
                      <a14:colorTemperature colorTemp="3857"/>
                    </a14:imgEffect>
                    <a14:imgEffect>
                      <a14:brightnessContrast bright="-81000" contrast="-32000"/>
                    </a14:imgEffect>
                  </a14:imgLayer>
                </a14:imgProps>
              </a:ext>
              <a:ext uri="{28A0092B-C50C-407E-A947-70E740481C1C}">
                <a14:useLocalDpi xmlns:a14="http://schemas.microsoft.com/office/drawing/2010/main" val="0"/>
              </a:ext>
            </a:extLst>
          </a:blip>
          <a:stretch>
            <a:fillRect/>
          </a:stretch>
        </p:blipFill>
        <p:spPr>
          <a:xfrm>
            <a:off x="2340717" y="2022818"/>
            <a:ext cx="318601" cy="424800"/>
          </a:xfrm>
          <a:prstGeom prst="rect">
            <a:avLst/>
          </a:prstGeom>
        </p:spPr>
      </p:pic>
      <p:pic>
        <p:nvPicPr>
          <p:cNvPr id="8" name="圖片 7">
            <a:extLst>
              <a:ext uri="{FF2B5EF4-FFF2-40B4-BE49-F238E27FC236}">
                <a16:creationId xmlns:a16="http://schemas.microsoft.com/office/drawing/2014/main" id="{C33DCA7C-277C-4373-A0AF-F9152313EA30}"/>
              </a:ext>
            </a:extLst>
          </p:cNvPr>
          <p:cNvPicPr>
            <a:picLocks noChangeAspect="1"/>
          </p:cNvPicPr>
          <p:nvPr/>
        </p:nvPicPr>
        <p:blipFill>
          <a:blip r:embed="rId3" cstate="hqprint">
            <a:extLst>
              <a:ext uri="{BEBA8EAE-BF5A-486C-A8C5-ECC9F3942E4B}">
                <a14:imgProps xmlns:a14="http://schemas.microsoft.com/office/drawing/2010/main">
                  <a14:imgLayer r:embed="rId4">
                    <a14:imgEffect>
                      <a14:sharpenSoften amount="50000"/>
                    </a14:imgEffect>
                    <a14:imgEffect>
                      <a14:colorTemperature colorTemp="3857"/>
                    </a14:imgEffect>
                    <a14:imgEffect>
                      <a14:brightnessContrast bright="-81000" contrast="-32000"/>
                    </a14:imgEffect>
                  </a14:imgLayer>
                </a14:imgProps>
              </a:ext>
              <a:ext uri="{28A0092B-C50C-407E-A947-70E740481C1C}">
                <a14:useLocalDpi xmlns:a14="http://schemas.microsoft.com/office/drawing/2010/main" val="0"/>
              </a:ext>
            </a:extLst>
          </a:blip>
          <a:stretch>
            <a:fillRect/>
          </a:stretch>
        </p:blipFill>
        <p:spPr>
          <a:xfrm>
            <a:off x="2340717" y="4575399"/>
            <a:ext cx="318663" cy="424883"/>
          </a:xfrm>
          <a:prstGeom prst="rect">
            <a:avLst/>
          </a:prstGeom>
        </p:spPr>
      </p:pic>
    </p:spTree>
    <p:extLst>
      <p:ext uri="{BB962C8B-B14F-4D97-AF65-F5344CB8AC3E}">
        <p14:creationId xmlns:p14="http://schemas.microsoft.com/office/powerpoint/2010/main" val="4130504178"/>
      </p:ext>
    </p:extLst>
  </p:cSld>
  <p:clrMapOvr>
    <a:masterClrMapping/>
  </p:clrMapOvr>
  <p:transition spd="med">
    <p:pull/>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6C01C902-59B4-45BF-8C26-404E0163D1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47" y="260781"/>
            <a:ext cx="3840000" cy="2880000"/>
          </a:xfrm>
          <a:prstGeom prst="rect">
            <a:avLst/>
          </a:prstGeom>
        </p:spPr>
      </p:pic>
      <p:sp>
        <p:nvSpPr>
          <p:cNvPr id="4" name="文字方塊 3">
            <a:extLst>
              <a:ext uri="{FF2B5EF4-FFF2-40B4-BE49-F238E27FC236}">
                <a16:creationId xmlns:a16="http://schemas.microsoft.com/office/drawing/2014/main" id="{64D2FA0A-FA9A-4279-A770-CD0C4AA7A0E0}"/>
              </a:ext>
            </a:extLst>
          </p:cNvPr>
          <p:cNvSpPr txBox="1"/>
          <p:nvPr/>
        </p:nvSpPr>
        <p:spPr>
          <a:xfrm>
            <a:off x="1528236" y="3140781"/>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16A</a:t>
            </a:r>
          </a:p>
        </p:txBody>
      </p:sp>
      <p:pic>
        <p:nvPicPr>
          <p:cNvPr id="8" name="圖片 7">
            <a:extLst>
              <a:ext uri="{FF2B5EF4-FFF2-40B4-BE49-F238E27FC236}">
                <a16:creationId xmlns:a16="http://schemas.microsoft.com/office/drawing/2014/main" id="{3145D01A-56A6-4E8E-BE1B-5D071D2F0B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6000" y="260781"/>
            <a:ext cx="3840000" cy="2880000"/>
          </a:xfrm>
          <a:prstGeom prst="rect">
            <a:avLst/>
          </a:prstGeom>
        </p:spPr>
      </p:pic>
      <p:sp>
        <p:nvSpPr>
          <p:cNvPr id="9" name="文字方塊 8">
            <a:extLst>
              <a:ext uri="{FF2B5EF4-FFF2-40B4-BE49-F238E27FC236}">
                <a16:creationId xmlns:a16="http://schemas.microsoft.com/office/drawing/2014/main" id="{9B9825C3-5287-435C-9668-FCA646C572CA}"/>
              </a:ext>
            </a:extLst>
          </p:cNvPr>
          <p:cNvSpPr txBox="1"/>
          <p:nvPr/>
        </p:nvSpPr>
        <p:spPr>
          <a:xfrm>
            <a:off x="5804894" y="3140781"/>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17A</a:t>
            </a:r>
          </a:p>
        </p:txBody>
      </p:sp>
      <p:pic>
        <p:nvPicPr>
          <p:cNvPr id="11" name="圖片 10">
            <a:extLst>
              <a:ext uri="{FF2B5EF4-FFF2-40B4-BE49-F238E27FC236}">
                <a16:creationId xmlns:a16="http://schemas.microsoft.com/office/drawing/2014/main" id="{2B9B0488-0B91-427B-BC3E-6BB2903A05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7317" y="260781"/>
            <a:ext cx="3840000" cy="2880000"/>
          </a:xfrm>
          <a:prstGeom prst="rect">
            <a:avLst/>
          </a:prstGeom>
        </p:spPr>
      </p:pic>
      <p:sp>
        <p:nvSpPr>
          <p:cNvPr id="12" name="文字方塊 11">
            <a:extLst>
              <a:ext uri="{FF2B5EF4-FFF2-40B4-BE49-F238E27FC236}">
                <a16:creationId xmlns:a16="http://schemas.microsoft.com/office/drawing/2014/main" id="{BC57E948-CFA5-4C7E-85E3-FFFE592C84A6}"/>
              </a:ext>
            </a:extLst>
          </p:cNvPr>
          <p:cNvSpPr txBox="1"/>
          <p:nvPr/>
        </p:nvSpPr>
        <p:spPr>
          <a:xfrm>
            <a:off x="9756212" y="3100225"/>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18A</a:t>
            </a:r>
          </a:p>
        </p:txBody>
      </p:sp>
      <p:pic>
        <p:nvPicPr>
          <p:cNvPr id="14" name="圖片 13">
            <a:extLst>
              <a:ext uri="{FF2B5EF4-FFF2-40B4-BE49-F238E27FC236}">
                <a16:creationId xmlns:a16="http://schemas.microsoft.com/office/drawing/2014/main" id="{D437F80F-0F56-404B-82A6-DE171D7B4E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447" y="3496191"/>
            <a:ext cx="3840000" cy="2880000"/>
          </a:xfrm>
          <a:prstGeom prst="rect">
            <a:avLst/>
          </a:prstGeom>
        </p:spPr>
      </p:pic>
      <p:sp>
        <p:nvSpPr>
          <p:cNvPr id="15" name="文字方塊 14">
            <a:extLst>
              <a:ext uri="{FF2B5EF4-FFF2-40B4-BE49-F238E27FC236}">
                <a16:creationId xmlns:a16="http://schemas.microsoft.com/office/drawing/2014/main" id="{718EC9A4-132F-4C60-BB8D-808752BA6E62}"/>
              </a:ext>
            </a:extLst>
          </p:cNvPr>
          <p:cNvSpPr txBox="1"/>
          <p:nvPr/>
        </p:nvSpPr>
        <p:spPr>
          <a:xfrm>
            <a:off x="1780767" y="6376191"/>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19A</a:t>
            </a:r>
          </a:p>
        </p:txBody>
      </p:sp>
      <p:pic>
        <p:nvPicPr>
          <p:cNvPr id="17" name="圖片 16">
            <a:extLst>
              <a:ext uri="{FF2B5EF4-FFF2-40B4-BE49-F238E27FC236}">
                <a16:creationId xmlns:a16="http://schemas.microsoft.com/office/drawing/2014/main" id="{A03BDC82-C577-4A98-A084-A37447512E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76000" y="3469557"/>
            <a:ext cx="3840000" cy="2880000"/>
          </a:xfrm>
          <a:prstGeom prst="rect">
            <a:avLst/>
          </a:prstGeom>
        </p:spPr>
      </p:pic>
      <p:sp>
        <p:nvSpPr>
          <p:cNvPr id="18" name="文字方塊 17">
            <a:extLst>
              <a:ext uri="{FF2B5EF4-FFF2-40B4-BE49-F238E27FC236}">
                <a16:creationId xmlns:a16="http://schemas.microsoft.com/office/drawing/2014/main" id="{44F0B5B3-0607-4357-916F-A1379E8DAE77}"/>
              </a:ext>
            </a:extLst>
          </p:cNvPr>
          <p:cNvSpPr txBox="1"/>
          <p:nvPr/>
        </p:nvSpPr>
        <p:spPr>
          <a:xfrm>
            <a:off x="5804894" y="6349557"/>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20A</a:t>
            </a:r>
          </a:p>
        </p:txBody>
      </p:sp>
      <p:sp>
        <p:nvSpPr>
          <p:cNvPr id="19" name="矩形: 圓角 18">
            <a:extLst>
              <a:ext uri="{FF2B5EF4-FFF2-40B4-BE49-F238E27FC236}">
                <a16:creationId xmlns:a16="http://schemas.microsoft.com/office/drawing/2014/main" id="{0211C1C8-5164-4448-BA3D-FAB0949D09AF}"/>
              </a:ext>
            </a:extLst>
          </p:cNvPr>
          <p:cNvSpPr/>
          <p:nvPr/>
        </p:nvSpPr>
        <p:spPr>
          <a:xfrm>
            <a:off x="4807232" y="3865245"/>
            <a:ext cx="579120" cy="129540"/>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圓角 19">
            <a:extLst>
              <a:ext uri="{FF2B5EF4-FFF2-40B4-BE49-F238E27FC236}">
                <a16:creationId xmlns:a16="http://schemas.microsoft.com/office/drawing/2014/main" id="{039DBA6F-11E5-4524-BFB0-CC76816A07AB}"/>
              </a:ext>
            </a:extLst>
          </p:cNvPr>
          <p:cNvSpPr/>
          <p:nvPr/>
        </p:nvSpPr>
        <p:spPr>
          <a:xfrm>
            <a:off x="825403" y="3899416"/>
            <a:ext cx="579120" cy="129540"/>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圓角 20">
            <a:extLst>
              <a:ext uri="{FF2B5EF4-FFF2-40B4-BE49-F238E27FC236}">
                <a16:creationId xmlns:a16="http://schemas.microsoft.com/office/drawing/2014/main" id="{A91C06B4-77AF-4D86-960C-4EA42047ADBB}"/>
              </a:ext>
            </a:extLst>
          </p:cNvPr>
          <p:cNvSpPr/>
          <p:nvPr/>
        </p:nvSpPr>
        <p:spPr>
          <a:xfrm>
            <a:off x="8785225" y="654685"/>
            <a:ext cx="579120" cy="129540"/>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圓角 21">
            <a:extLst>
              <a:ext uri="{FF2B5EF4-FFF2-40B4-BE49-F238E27FC236}">
                <a16:creationId xmlns:a16="http://schemas.microsoft.com/office/drawing/2014/main" id="{7E28F250-49BE-49F9-B938-CAEE3382646E}"/>
              </a:ext>
            </a:extLst>
          </p:cNvPr>
          <p:cNvSpPr/>
          <p:nvPr/>
        </p:nvSpPr>
        <p:spPr>
          <a:xfrm>
            <a:off x="4853305" y="654685"/>
            <a:ext cx="579120" cy="129540"/>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圓角 23">
            <a:extLst>
              <a:ext uri="{FF2B5EF4-FFF2-40B4-BE49-F238E27FC236}">
                <a16:creationId xmlns:a16="http://schemas.microsoft.com/office/drawing/2014/main" id="{44ED9E33-1123-4BD7-BB0F-868F320EF153}"/>
              </a:ext>
            </a:extLst>
          </p:cNvPr>
          <p:cNvSpPr/>
          <p:nvPr/>
        </p:nvSpPr>
        <p:spPr>
          <a:xfrm>
            <a:off x="850265" y="659765"/>
            <a:ext cx="579120" cy="129540"/>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3B6ADA0B-0B23-4FC0-9B73-F9C9EE3FE457}"/>
              </a:ext>
            </a:extLst>
          </p:cNvPr>
          <p:cNvSpPr/>
          <p:nvPr/>
        </p:nvSpPr>
        <p:spPr>
          <a:xfrm>
            <a:off x="9351402" y="3560785"/>
            <a:ext cx="1388849" cy="403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1064.549nm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矩形 26">
            <a:extLst>
              <a:ext uri="{FF2B5EF4-FFF2-40B4-BE49-F238E27FC236}">
                <a16:creationId xmlns:a16="http://schemas.microsoft.com/office/drawing/2014/main" id="{49FDE3C7-FB5B-4790-9F49-51006D7B68AF}"/>
              </a:ext>
            </a:extLst>
          </p:cNvPr>
          <p:cNvSpPr/>
          <p:nvPr/>
        </p:nvSpPr>
        <p:spPr>
          <a:xfrm>
            <a:off x="9351400" y="6292991"/>
            <a:ext cx="1388849" cy="403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1064.518nm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矩形 27">
            <a:extLst>
              <a:ext uri="{FF2B5EF4-FFF2-40B4-BE49-F238E27FC236}">
                <a16:creationId xmlns:a16="http://schemas.microsoft.com/office/drawing/2014/main" id="{C406CB55-3658-40E2-9601-52A9D58E9F17}"/>
              </a:ext>
            </a:extLst>
          </p:cNvPr>
          <p:cNvSpPr/>
          <p:nvPr/>
        </p:nvSpPr>
        <p:spPr>
          <a:xfrm>
            <a:off x="9352892" y="4265280"/>
            <a:ext cx="1388849" cy="403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1064.547nm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矩形 28">
            <a:extLst>
              <a:ext uri="{FF2B5EF4-FFF2-40B4-BE49-F238E27FC236}">
                <a16:creationId xmlns:a16="http://schemas.microsoft.com/office/drawing/2014/main" id="{176270C2-3B9D-40B0-9BC8-BD2327EDF520}"/>
              </a:ext>
            </a:extLst>
          </p:cNvPr>
          <p:cNvSpPr/>
          <p:nvPr/>
        </p:nvSpPr>
        <p:spPr>
          <a:xfrm>
            <a:off x="9352891" y="4926888"/>
            <a:ext cx="1388849" cy="403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1064.539nm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矩形 29">
            <a:extLst>
              <a:ext uri="{FF2B5EF4-FFF2-40B4-BE49-F238E27FC236}">
                <a16:creationId xmlns:a16="http://schemas.microsoft.com/office/drawing/2014/main" id="{A33EC7A4-1988-4AA3-836D-CB70D5FC1679}"/>
              </a:ext>
            </a:extLst>
          </p:cNvPr>
          <p:cNvSpPr/>
          <p:nvPr/>
        </p:nvSpPr>
        <p:spPr>
          <a:xfrm>
            <a:off x="9351401" y="5617178"/>
            <a:ext cx="1388849" cy="403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1064.529nm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32" name="直線單箭頭接點 31">
            <a:extLst>
              <a:ext uri="{FF2B5EF4-FFF2-40B4-BE49-F238E27FC236}">
                <a16:creationId xmlns:a16="http://schemas.microsoft.com/office/drawing/2014/main" id="{D5282814-727F-460F-86B6-93365D24EECF}"/>
              </a:ext>
            </a:extLst>
          </p:cNvPr>
          <p:cNvCxnSpPr>
            <a:stCxn id="26" idx="2"/>
            <a:endCxn id="28" idx="0"/>
          </p:cNvCxnSpPr>
          <p:nvPr/>
        </p:nvCxnSpPr>
        <p:spPr>
          <a:xfrm>
            <a:off x="10045827" y="3964185"/>
            <a:ext cx="1490" cy="301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DB48F834-E26B-41C2-ACEB-594D625B6DC6}"/>
              </a:ext>
            </a:extLst>
          </p:cNvPr>
          <p:cNvCxnSpPr>
            <a:stCxn id="28" idx="2"/>
            <a:endCxn id="29" idx="0"/>
          </p:cNvCxnSpPr>
          <p:nvPr/>
        </p:nvCxnSpPr>
        <p:spPr>
          <a:xfrm flipH="1">
            <a:off x="10047316" y="4668680"/>
            <a:ext cx="1" cy="258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2C3D141A-EABB-4F7A-AB11-A2E055BB638A}"/>
              </a:ext>
            </a:extLst>
          </p:cNvPr>
          <p:cNvCxnSpPr>
            <a:stCxn id="29" idx="2"/>
            <a:endCxn id="30" idx="0"/>
          </p:cNvCxnSpPr>
          <p:nvPr/>
        </p:nvCxnSpPr>
        <p:spPr>
          <a:xfrm flipH="1">
            <a:off x="10045826" y="5330288"/>
            <a:ext cx="1490" cy="286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C4CD513F-F7CC-475F-B4FF-B064B3C1E497}"/>
              </a:ext>
            </a:extLst>
          </p:cNvPr>
          <p:cNvCxnSpPr>
            <a:stCxn id="30" idx="2"/>
            <a:endCxn id="27" idx="0"/>
          </p:cNvCxnSpPr>
          <p:nvPr/>
        </p:nvCxnSpPr>
        <p:spPr>
          <a:xfrm flipH="1">
            <a:off x="10045825" y="6020578"/>
            <a:ext cx="1" cy="27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字方塊 44">
            <a:extLst>
              <a:ext uri="{FF2B5EF4-FFF2-40B4-BE49-F238E27FC236}">
                <a16:creationId xmlns:a16="http://schemas.microsoft.com/office/drawing/2014/main" id="{B53DA252-E11D-470D-AB67-97AA896A04D4}"/>
              </a:ext>
            </a:extLst>
          </p:cNvPr>
          <p:cNvSpPr txBox="1"/>
          <p:nvPr/>
        </p:nvSpPr>
        <p:spPr>
          <a:xfrm>
            <a:off x="8647232" y="3560785"/>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16A</a:t>
            </a:r>
          </a:p>
        </p:txBody>
      </p:sp>
      <p:sp>
        <p:nvSpPr>
          <p:cNvPr id="47" name="文字方塊 46">
            <a:extLst>
              <a:ext uri="{FF2B5EF4-FFF2-40B4-BE49-F238E27FC236}">
                <a16:creationId xmlns:a16="http://schemas.microsoft.com/office/drawing/2014/main" id="{61607387-40EC-41C8-9277-F675A338B832}"/>
              </a:ext>
            </a:extLst>
          </p:cNvPr>
          <p:cNvSpPr txBox="1"/>
          <p:nvPr/>
        </p:nvSpPr>
        <p:spPr>
          <a:xfrm>
            <a:off x="8627177" y="4282314"/>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17A</a:t>
            </a:r>
          </a:p>
        </p:txBody>
      </p:sp>
      <p:sp>
        <p:nvSpPr>
          <p:cNvPr id="48" name="文字方塊 47">
            <a:extLst>
              <a:ext uri="{FF2B5EF4-FFF2-40B4-BE49-F238E27FC236}">
                <a16:creationId xmlns:a16="http://schemas.microsoft.com/office/drawing/2014/main" id="{6906335B-2764-419D-9389-3BA374EA1F6E}"/>
              </a:ext>
            </a:extLst>
          </p:cNvPr>
          <p:cNvSpPr txBox="1"/>
          <p:nvPr/>
        </p:nvSpPr>
        <p:spPr>
          <a:xfrm>
            <a:off x="8647231" y="4943922"/>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18A</a:t>
            </a:r>
          </a:p>
        </p:txBody>
      </p:sp>
      <p:sp>
        <p:nvSpPr>
          <p:cNvPr id="49" name="文字方塊 48">
            <a:extLst>
              <a:ext uri="{FF2B5EF4-FFF2-40B4-BE49-F238E27FC236}">
                <a16:creationId xmlns:a16="http://schemas.microsoft.com/office/drawing/2014/main" id="{D187EE54-F496-4A37-B17B-0FFDCBADD024}"/>
              </a:ext>
            </a:extLst>
          </p:cNvPr>
          <p:cNvSpPr txBox="1"/>
          <p:nvPr/>
        </p:nvSpPr>
        <p:spPr>
          <a:xfrm>
            <a:off x="8627177" y="5634433"/>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19A</a:t>
            </a:r>
          </a:p>
        </p:txBody>
      </p:sp>
      <p:sp>
        <p:nvSpPr>
          <p:cNvPr id="50" name="文字方塊 49">
            <a:extLst>
              <a:ext uri="{FF2B5EF4-FFF2-40B4-BE49-F238E27FC236}">
                <a16:creationId xmlns:a16="http://schemas.microsoft.com/office/drawing/2014/main" id="{01E2B4B2-2C3C-4A03-8347-CCC13F9A1E53}"/>
              </a:ext>
            </a:extLst>
          </p:cNvPr>
          <p:cNvSpPr txBox="1"/>
          <p:nvPr/>
        </p:nvSpPr>
        <p:spPr>
          <a:xfrm>
            <a:off x="8647230" y="6292991"/>
            <a:ext cx="58221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20A</a:t>
            </a:r>
          </a:p>
        </p:txBody>
      </p:sp>
      <p:sp>
        <p:nvSpPr>
          <p:cNvPr id="51" name="箭號: 上-下雙向 50">
            <a:extLst>
              <a:ext uri="{FF2B5EF4-FFF2-40B4-BE49-F238E27FC236}">
                <a16:creationId xmlns:a16="http://schemas.microsoft.com/office/drawing/2014/main" id="{F2869B59-34C7-45A4-BDA9-0BB598C7AAC4}"/>
              </a:ext>
            </a:extLst>
          </p:cNvPr>
          <p:cNvSpPr/>
          <p:nvPr/>
        </p:nvSpPr>
        <p:spPr>
          <a:xfrm>
            <a:off x="10973798" y="3745451"/>
            <a:ext cx="154038" cy="2788514"/>
          </a:xfrm>
          <a:prstGeom prst="upDown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文字方塊 51">
            <a:extLst>
              <a:ext uri="{FF2B5EF4-FFF2-40B4-BE49-F238E27FC236}">
                <a16:creationId xmlns:a16="http://schemas.microsoft.com/office/drawing/2014/main" id="{AB6A7282-D13A-4997-8469-430325A41E02}"/>
              </a:ext>
            </a:extLst>
          </p:cNvPr>
          <p:cNvSpPr txBox="1"/>
          <p:nvPr/>
        </p:nvSpPr>
        <p:spPr>
          <a:xfrm>
            <a:off x="11127836" y="4909557"/>
            <a:ext cx="998991"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0.031nm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7381922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4D9555E0-48B3-4FE7-9C9B-AA729A886DD1}"/>
              </a:ext>
            </a:extLst>
          </p:cNvPr>
          <p:cNvSpPr>
            <a:spLocks noGrp="1"/>
          </p:cNvSpPr>
          <p:nvPr>
            <p:ph type="sldNum" sz="quarter" idx="12"/>
          </p:nvPr>
        </p:nvSpPr>
        <p:spPr/>
        <p:txBody>
          <a:bodyPr/>
          <a:lstStyle/>
          <a:p>
            <a:fld id="{9044CBB6-E20C-4076-82F9-F8F95241C54D}" type="slidenum">
              <a:rPr lang="zh-TW" altLang="en-US" smtClean="0"/>
              <a:t>41</a:t>
            </a:fld>
            <a:endParaRPr lang="zh-TW" altLang="en-US"/>
          </a:p>
        </p:txBody>
      </p:sp>
      <p:sp>
        <p:nvSpPr>
          <p:cNvPr id="5" name="矩形 4">
            <a:extLst>
              <a:ext uri="{FF2B5EF4-FFF2-40B4-BE49-F238E27FC236}">
                <a16:creationId xmlns:a16="http://schemas.microsoft.com/office/drawing/2014/main" id="{92E4BAFF-E383-48B5-BA0E-039A5D931091}"/>
              </a:ext>
            </a:extLst>
          </p:cNvPr>
          <p:cNvSpPr/>
          <p:nvPr/>
        </p:nvSpPr>
        <p:spPr>
          <a:xfrm>
            <a:off x="614776" y="1393526"/>
            <a:ext cx="1388849" cy="403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1064.500nm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E8DE64D8-F2F6-4D5D-8D12-1F6F7B5FCF0F}"/>
              </a:ext>
            </a:extLst>
          </p:cNvPr>
          <p:cNvSpPr/>
          <p:nvPr/>
        </p:nvSpPr>
        <p:spPr>
          <a:xfrm>
            <a:off x="614774" y="4119176"/>
            <a:ext cx="1388849" cy="403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latin typeface="Times New Roman" panose="02020603050405020304" pitchFamily="18" charset="0"/>
                <a:ea typeface="標楷體" panose="03000509000000000000" pitchFamily="65" charset="-120"/>
                <a:cs typeface="Times New Roman" panose="02020603050405020304" pitchFamily="18" charset="0"/>
              </a:rPr>
              <a:t>1064.469nm</a:t>
            </a:r>
            <a:endParaRPr lang="zh-TW" altLang="en-US" b="1"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0" name="直線單箭頭接點 9">
            <a:extLst>
              <a:ext uri="{FF2B5EF4-FFF2-40B4-BE49-F238E27FC236}">
                <a16:creationId xmlns:a16="http://schemas.microsoft.com/office/drawing/2014/main" id="{29A067BC-F4BE-46D9-9A25-C7AAC0BB8C92}"/>
              </a:ext>
            </a:extLst>
          </p:cNvPr>
          <p:cNvCxnSpPr>
            <a:cxnSpLocks/>
            <a:stCxn id="5" idx="2"/>
            <a:endCxn id="6" idx="0"/>
          </p:cNvCxnSpPr>
          <p:nvPr/>
        </p:nvCxnSpPr>
        <p:spPr>
          <a:xfrm flipH="1">
            <a:off x="1309199" y="1796926"/>
            <a:ext cx="2" cy="2322250"/>
          </a:xfrm>
          <a:prstGeom prst="straightConnector1">
            <a:avLst/>
          </a:prstGeom>
          <a:ln w="2222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pic>
        <p:nvPicPr>
          <p:cNvPr id="22" name="圖片 21">
            <a:extLst>
              <a:ext uri="{FF2B5EF4-FFF2-40B4-BE49-F238E27FC236}">
                <a16:creationId xmlns:a16="http://schemas.microsoft.com/office/drawing/2014/main" id="{13628762-8FB0-4558-A167-8BE17EFBF0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8723" y="660472"/>
            <a:ext cx="6051717" cy="4538788"/>
          </a:xfrm>
          <a:prstGeom prst="rect">
            <a:avLst/>
          </a:prstGeom>
        </p:spPr>
      </p:pic>
      <p:sp>
        <p:nvSpPr>
          <p:cNvPr id="23" name="文字方塊 22">
            <a:extLst>
              <a:ext uri="{FF2B5EF4-FFF2-40B4-BE49-F238E27FC236}">
                <a16:creationId xmlns:a16="http://schemas.microsoft.com/office/drawing/2014/main" id="{1EAF3C2E-FE20-4506-9392-A601D07106A5}"/>
              </a:ext>
            </a:extLst>
          </p:cNvPr>
          <p:cNvSpPr txBox="1"/>
          <p:nvPr/>
        </p:nvSpPr>
        <p:spPr>
          <a:xfrm>
            <a:off x="1377168" y="2773385"/>
            <a:ext cx="1016625"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0.031nm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文字方塊 23">
            <a:extLst>
              <a:ext uri="{FF2B5EF4-FFF2-40B4-BE49-F238E27FC236}">
                <a16:creationId xmlns:a16="http://schemas.microsoft.com/office/drawing/2014/main" id="{68AF9AE2-1AC5-49F9-8BDA-C240A544DD38}"/>
              </a:ext>
            </a:extLst>
          </p:cNvPr>
          <p:cNvSpPr txBox="1"/>
          <p:nvPr/>
        </p:nvSpPr>
        <p:spPr>
          <a:xfrm>
            <a:off x="7124729" y="5029983"/>
            <a:ext cx="1919115" cy="338554"/>
          </a:xfrm>
          <a:prstGeom prst="rect">
            <a:avLst/>
          </a:prstGeom>
          <a:noFill/>
        </p:spPr>
        <p:txBody>
          <a:bodyPr wrap="none" rtlCol="0">
            <a:spAutoFit/>
          </a:bodyPr>
          <a:lstStyle/>
          <a:p>
            <a:pPr algn="ct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Electric field(V/mm)</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文字方塊 24">
            <a:extLst>
              <a:ext uri="{FF2B5EF4-FFF2-40B4-BE49-F238E27FC236}">
                <a16:creationId xmlns:a16="http://schemas.microsoft.com/office/drawing/2014/main" id="{B6E44ED0-070F-40AF-8B4A-09C0E872F8F6}"/>
              </a:ext>
            </a:extLst>
          </p:cNvPr>
          <p:cNvSpPr txBox="1"/>
          <p:nvPr/>
        </p:nvSpPr>
        <p:spPr>
          <a:xfrm rot="16200000">
            <a:off x="1937975" y="2701660"/>
            <a:ext cx="3303277" cy="338554"/>
          </a:xfrm>
          <a:prstGeom prst="rect">
            <a:avLst/>
          </a:prstGeom>
          <a:noFill/>
        </p:spPr>
        <p:txBody>
          <a:bodyPr wrap="none" rtlCol="0">
            <a:spAutoFit/>
          </a:bodyPr>
          <a:lstStyle/>
          <a:p>
            <a:pPr algn="ct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TM</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polarization-Transmittance(A.U.)</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文字方塊 25">
            <a:extLst>
              <a:ext uri="{FF2B5EF4-FFF2-40B4-BE49-F238E27FC236}">
                <a16:creationId xmlns:a16="http://schemas.microsoft.com/office/drawing/2014/main" id="{51E54579-DFEA-4E28-BFAB-63ABE86AFFB0}"/>
              </a:ext>
            </a:extLst>
          </p:cNvPr>
          <p:cNvSpPr txBox="1"/>
          <p:nvPr/>
        </p:nvSpPr>
        <p:spPr>
          <a:xfrm>
            <a:off x="9159534" y="1200487"/>
            <a:ext cx="1345240" cy="369332"/>
          </a:xfrm>
          <a:prstGeom prst="rect">
            <a:avLst/>
          </a:prstGeom>
          <a:noFill/>
        </p:spPr>
        <p:txBody>
          <a:bodyPr wrap="non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1064.500nm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文字方塊 26">
            <a:extLst>
              <a:ext uri="{FF2B5EF4-FFF2-40B4-BE49-F238E27FC236}">
                <a16:creationId xmlns:a16="http://schemas.microsoft.com/office/drawing/2014/main" id="{FA661E8F-631C-4680-8F05-CA247ECB0F0A}"/>
              </a:ext>
            </a:extLst>
          </p:cNvPr>
          <p:cNvSpPr txBox="1"/>
          <p:nvPr/>
        </p:nvSpPr>
        <p:spPr>
          <a:xfrm>
            <a:off x="9217242" y="1534258"/>
            <a:ext cx="1229825" cy="369332"/>
          </a:xfrm>
          <a:prstGeom prst="rect">
            <a:avLst/>
          </a:prstGeom>
          <a:noFill/>
        </p:spPr>
        <p:txBody>
          <a:bodyPr wrap="non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1342.33nm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橢圓 27">
            <a:extLst>
              <a:ext uri="{FF2B5EF4-FFF2-40B4-BE49-F238E27FC236}">
                <a16:creationId xmlns:a16="http://schemas.microsoft.com/office/drawing/2014/main" id="{81A6E627-58DB-4A1C-A4E3-F0F3F8F61EBF}"/>
              </a:ext>
            </a:extLst>
          </p:cNvPr>
          <p:cNvSpPr/>
          <p:nvPr/>
        </p:nvSpPr>
        <p:spPr>
          <a:xfrm>
            <a:off x="9040842" y="1312341"/>
            <a:ext cx="176400" cy="176400"/>
          </a:xfrm>
          <a:prstGeom prst="ellipse">
            <a:avLst/>
          </a:prstGeom>
          <a:solidFill>
            <a:srgbClr val="FF0000"/>
          </a:solidFill>
          <a:ln>
            <a:noFill/>
          </a:ln>
          <a:scene3d>
            <a:camera prst="orthographicFront"/>
            <a:lightRig rig="threePt" dir="t"/>
          </a:scene3d>
          <a:sp3d>
            <a:bevelT w="88900" h="88900"/>
            <a:bevelB w="88900" h="889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24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橢圓 28">
            <a:extLst>
              <a:ext uri="{FF2B5EF4-FFF2-40B4-BE49-F238E27FC236}">
                <a16:creationId xmlns:a16="http://schemas.microsoft.com/office/drawing/2014/main" id="{626CACED-A371-41D6-A90F-3549E73676CC}"/>
              </a:ext>
            </a:extLst>
          </p:cNvPr>
          <p:cNvSpPr/>
          <p:nvPr/>
        </p:nvSpPr>
        <p:spPr>
          <a:xfrm>
            <a:off x="9046401" y="1646113"/>
            <a:ext cx="176848" cy="176848"/>
          </a:xfrm>
          <a:prstGeom prst="ellipse">
            <a:avLst/>
          </a:prstGeom>
          <a:solidFill>
            <a:srgbClr val="0000FF"/>
          </a:solidFill>
          <a:ln>
            <a:noFill/>
          </a:ln>
          <a:scene3d>
            <a:camera prst="orthographicFront"/>
            <a:lightRig rig="threePt" dir="t"/>
          </a:scene3d>
          <a:sp3d>
            <a:bevelT w="88900" h="88900"/>
            <a:bevelB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0" name="橢圓 29">
            <a:extLst>
              <a:ext uri="{FF2B5EF4-FFF2-40B4-BE49-F238E27FC236}">
                <a16:creationId xmlns:a16="http://schemas.microsoft.com/office/drawing/2014/main" id="{933D82BF-86DB-462C-8228-5EF3B382334E}"/>
              </a:ext>
            </a:extLst>
          </p:cNvPr>
          <p:cNvSpPr/>
          <p:nvPr/>
        </p:nvSpPr>
        <p:spPr>
          <a:xfrm>
            <a:off x="9040842" y="943993"/>
            <a:ext cx="176400" cy="176400"/>
          </a:xfrm>
          <a:prstGeom prst="ellipse">
            <a:avLst/>
          </a:prstGeom>
          <a:solidFill>
            <a:schemeClr val="tx1"/>
          </a:solidFill>
          <a:ln>
            <a:noFill/>
          </a:ln>
          <a:scene3d>
            <a:camera prst="orthographicFront"/>
            <a:lightRig rig="threePt" dir="t"/>
          </a:scene3d>
          <a:sp3d>
            <a:bevelT w="88900" h="88900"/>
            <a:bevelB w="88900" h="889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sz="240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文字方塊 30">
            <a:extLst>
              <a:ext uri="{FF2B5EF4-FFF2-40B4-BE49-F238E27FC236}">
                <a16:creationId xmlns:a16="http://schemas.microsoft.com/office/drawing/2014/main" id="{8B96A878-9D1B-4307-9DD4-BDD3F2C58B43}"/>
              </a:ext>
            </a:extLst>
          </p:cNvPr>
          <p:cNvSpPr txBox="1"/>
          <p:nvPr/>
        </p:nvSpPr>
        <p:spPr>
          <a:xfrm>
            <a:off x="9159532" y="847527"/>
            <a:ext cx="1345240" cy="369332"/>
          </a:xfrm>
          <a:prstGeom prst="rect">
            <a:avLst/>
          </a:prstGeom>
          <a:noFill/>
        </p:spPr>
        <p:txBody>
          <a:bodyPr wrap="none" rtlCol="0">
            <a:spAutoFit/>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1064.469nm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6058100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398D5D55-D1E8-44EF-BA9F-133AAEE12CCF}"/>
              </a:ext>
            </a:extLst>
          </p:cNvPr>
          <p:cNvSpPr>
            <a:spLocks noGrp="1"/>
          </p:cNvSpPr>
          <p:nvPr>
            <p:ph type="sldNum" sz="quarter" idx="12"/>
          </p:nvPr>
        </p:nvSpPr>
        <p:spPr/>
        <p:txBody>
          <a:bodyPr/>
          <a:lstStyle/>
          <a:p>
            <a:fld id="{9044CBB6-E20C-4076-82F9-F8F95241C54D}" type="slidenum">
              <a:rPr lang="zh-TW" altLang="en-US" smtClean="0"/>
              <a:t>42</a:t>
            </a:fld>
            <a:endParaRPr lang="zh-TW" altLang="en-US"/>
          </a:p>
        </p:txBody>
      </p:sp>
      <p:grpSp>
        <p:nvGrpSpPr>
          <p:cNvPr id="8" name="群組 7">
            <a:extLst>
              <a:ext uri="{FF2B5EF4-FFF2-40B4-BE49-F238E27FC236}">
                <a16:creationId xmlns:a16="http://schemas.microsoft.com/office/drawing/2014/main" id="{35E9F24C-ABCD-40EA-B5CA-BAAE2809C278}"/>
              </a:ext>
            </a:extLst>
          </p:cNvPr>
          <p:cNvGrpSpPr/>
          <p:nvPr/>
        </p:nvGrpSpPr>
        <p:grpSpPr>
          <a:xfrm>
            <a:off x="3341421" y="1091074"/>
            <a:ext cx="909406" cy="1603804"/>
            <a:chOff x="6144190" y="3829206"/>
            <a:chExt cx="690497" cy="1217742"/>
          </a:xfrm>
        </p:grpSpPr>
        <p:sp>
          <p:nvSpPr>
            <p:cNvPr id="9" name="矩形 8">
              <a:extLst>
                <a:ext uri="{FF2B5EF4-FFF2-40B4-BE49-F238E27FC236}">
                  <a16:creationId xmlns:a16="http://schemas.microsoft.com/office/drawing/2014/main" id="{72296047-05A0-4EF0-B1A0-D9176958B121}"/>
                </a:ext>
              </a:extLst>
            </p:cNvPr>
            <p:cNvSpPr/>
            <p:nvPr/>
          </p:nvSpPr>
          <p:spPr>
            <a:xfrm>
              <a:off x="6144190" y="3829206"/>
              <a:ext cx="422167" cy="1174767"/>
            </a:xfrm>
            <a:prstGeom prst="rect">
              <a:avLst/>
            </a:prstGeom>
            <a:solidFill>
              <a:schemeClr val="tx1">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0" name="橢圓 9">
              <a:extLst>
                <a:ext uri="{FF2B5EF4-FFF2-40B4-BE49-F238E27FC236}">
                  <a16:creationId xmlns:a16="http://schemas.microsoft.com/office/drawing/2014/main" id="{D43052FC-C987-4F5A-B775-BB71F2A0A6A5}"/>
                </a:ext>
              </a:extLst>
            </p:cNvPr>
            <p:cNvSpPr/>
            <p:nvPr/>
          </p:nvSpPr>
          <p:spPr>
            <a:xfrm>
              <a:off x="6319117" y="3831976"/>
              <a:ext cx="486938" cy="119417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11" name="橢圓 10">
              <a:extLst>
                <a:ext uri="{FF2B5EF4-FFF2-40B4-BE49-F238E27FC236}">
                  <a16:creationId xmlns:a16="http://schemas.microsoft.com/office/drawing/2014/main" id="{95E3A510-3658-4331-A9B9-6E86F38E891F}"/>
                </a:ext>
              </a:extLst>
            </p:cNvPr>
            <p:cNvSpPr/>
            <p:nvPr/>
          </p:nvSpPr>
          <p:spPr>
            <a:xfrm>
              <a:off x="6347749" y="3829206"/>
              <a:ext cx="486938" cy="1217742"/>
            </a:xfrm>
            <a:prstGeom prst="ellipse">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6EBB4B10-EE32-4218-A65D-2CEE5616329B}"/>
                  </a:ext>
                </a:extLst>
              </p:cNvPr>
              <p:cNvSpPr txBox="1"/>
              <p:nvPr/>
            </p:nvSpPr>
            <p:spPr>
              <a:xfrm>
                <a:off x="4198469" y="2493733"/>
                <a:ext cx="1371945" cy="445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smtClean="0">
                          <a:latin typeface="Cambria Math" panose="02040503050406030204" pitchFamily="18" charset="0"/>
                          <a:ea typeface="Cambria Math" panose="02040503050406030204" pitchFamily="18" charset="0"/>
                        </a:rPr>
                        <m:t>N</m:t>
                      </m:r>
                      <m:r>
                        <m:rPr>
                          <m:sty m:val="p"/>
                        </m:rPr>
                        <a:rPr lang="en-US" altLang="zh-TW" sz="1600" b="0" i="0" smtClean="0">
                          <a:latin typeface="Cambria Math" panose="02040503050406030204" pitchFamily="18" charset="0"/>
                          <a:ea typeface="Cambria Math" panose="02040503050406030204" pitchFamily="18" charset="0"/>
                        </a:rPr>
                        <m:t>d</m:t>
                      </m:r>
                      <m:r>
                        <a:rPr lang="en-US" altLang="zh-TW" sz="1600" b="0" i="0" smtClean="0">
                          <a:latin typeface="Cambria Math" panose="02040503050406030204" pitchFamily="18" charset="0"/>
                          <a:ea typeface="Cambria Math" panose="02040503050406030204" pitchFamily="18" charset="0"/>
                        </a:rPr>
                        <m:t>:</m:t>
                      </m:r>
                      <m:r>
                        <m:rPr>
                          <m:sty m:val="p"/>
                        </m:rPr>
                        <a:rPr lang="en-US" altLang="zh-TW" sz="1600" b="0" i="0" smtClean="0">
                          <a:latin typeface="Cambria Math" panose="02040503050406030204" pitchFamily="18" charset="0"/>
                          <a:ea typeface="Cambria Math" panose="02040503050406030204" pitchFamily="18" charset="0"/>
                        </a:rPr>
                        <m:t>YV</m:t>
                      </m:r>
                      <m:sSub>
                        <m:sSubPr>
                          <m:ctrlPr>
                            <a:rPr lang="en-US" altLang="zh-TW" sz="1600" i="1" smtClean="0">
                              <a:latin typeface="Cambria Math" panose="02040503050406030204" pitchFamily="18" charset="0"/>
                              <a:ea typeface="Cambria Math" panose="02040503050406030204" pitchFamily="18" charset="0"/>
                            </a:rPr>
                          </m:ctrlPr>
                        </m:sSubPr>
                        <m:e>
                          <m:r>
                            <m:rPr>
                              <m:sty m:val="p"/>
                            </m:rPr>
                            <a:rPr lang="en-US" altLang="zh-TW" sz="1600" b="0" i="0" smtClean="0">
                              <a:latin typeface="Cambria Math" panose="02040503050406030204" pitchFamily="18" charset="0"/>
                              <a:ea typeface="Cambria Math" panose="02040503050406030204" pitchFamily="18" charset="0"/>
                            </a:rPr>
                            <m:t>O</m:t>
                          </m:r>
                        </m:e>
                        <m:sub>
                          <m:r>
                            <a:rPr lang="en-US" altLang="zh-TW" sz="1600" b="0" i="0" smtClean="0">
                              <a:latin typeface="Cambria Math" panose="02040503050406030204" pitchFamily="18" charset="0"/>
                              <a:ea typeface="Cambria Math" panose="02040503050406030204" pitchFamily="18" charset="0"/>
                            </a:rPr>
                            <m:t>4</m:t>
                          </m:r>
                        </m:sub>
                      </m:sSub>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2" name="文字方塊 11">
                <a:extLst>
                  <a:ext uri="{FF2B5EF4-FFF2-40B4-BE49-F238E27FC236}">
                    <a16:creationId xmlns:a16="http://schemas.microsoft.com/office/drawing/2014/main" id="{6EBB4B10-EE32-4218-A65D-2CEE5616329B}"/>
                  </a:ext>
                </a:extLst>
              </p:cNvPr>
              <p:cNvSpPr txBox="1">
                <a:spLocks noRot="1" noChangeAspect="1" noMove="1" noResize="1" noEditPoints="1" noAdjustHandles="1" noChangeArrowheads="1" noChangeShapeType="1" noTextEdit="1"/>
              </p:cNvSpPr>
              <p:nvPr/>
            </p:nvSpPr>
            <p:spPr>
              <a:xfrm>
                <a:off x="4198469" y="2493733"/>
                <a:ext cx="1371945" cy="445886"/>
              </a:xfrm>
              <a:prstGeom prst="rect">
                <a:avLst/>
              </a:prstGeom>
              <a:blipFill>
                <a:blip r:embed="rId2"/>
                <a:stretch>
                  <a:fillRect/>
                </a:stretch>
              </a:blipFill>
            </p:spPr>
            <p:txBody>
              <a:bodyPr/>
              <a:lstStyle/>
              <a:p>
                <a:r>
                  <a:rPr lang="zh-TW" altLang="en-US">
                    <a:noFill/>
                  </a:rPr>
                  <a:t> </a:t>
                </a:r>
              </a:p>
            </p:txBody>
          </p:sp>
        </mc:Fallback>
      </mc:AlternateContent>
      <p:sp>
        <p:nvSpPr>
          <p:cNvPr id="13" name="文字方塊 12">
            <a:extLst>
              <a:ext uri="{FF2B5EF4-FFF2-40B4-BE49-F238E27FC236}">
                <a16:creationId xmlns:a16="http://schemas.microsoft.com/office/drawing/2014/main" id="{AB76C539-98CB-4C2F-BAE1-B0135936E794}"/>
              </a:ext>
            </a:extLst>
          </p:cNvPr>
          <p:cNvSpPr txBox="1"/>
          <p:nvPr/>
        </p:nvSpPr>
        <p:spPr>
          <a:xfrm>
            <a:off x="3025895" y="2690569"/>
            <a:ext cx="1049691" cy="405352"/>
          </a:xfrm>
          <a:prstGeom prst="rect">
            <a:avLst/>
          </a:prstGeom>
          <a:noFill/>
        </p:spPr>
        <p:txBody>
          <a:bodyPr wrap="none" rtlCol="0">
            <a:spAutoFit/>
          </a:bodyPr>
          <a:lstStyle/>
          <a:p>
            <a:r>
              <a:rPr lang="en-US" altLang="zh-TW" sz="1400" dirty="0">
                <a:latin typeface="Times New Roman" panose="02020603050405020304" pitchFamily="18" charset="0"/>
                <a:ea typeface="Cambria Math" panose="02040503050406030204" pitchFamily="18" charset="0"/>
                <a:cs typeface="Times New Roman" panose="02020603050405020304" pitchFamily="18" charset="0"/>
              </a:rPr>
              <a:t>Mirror 1</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B40DF767-8E98-458D-BC22-D00F29D71BD0}"/>
              </a:ext>
            </a:extLst>
          </p:cNvPr>
          <p:cNvSpPr txBox="1"/>
          <p:nvPr/>
        </p:nvSpPr>
        <p:spPr>
          <a:xfrm>
            <a:off x="6446208" y="2673055"/>
            <a:ext cx="935686" cy="364816"/>
          </a:xfrm>
          <a:prstGeom prst="rect">
            <a:avLst/>
          </a:prstGeom>
          <a:noFill/>
        </p:spPr>
        <p:txBody>
          <a:bodyPr wrap="none" rtlCol="0">
            <a:spAutoFit/>
          </a:bodyPr>
          <a:lstStyle/>
          <a:p>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Mirror 2</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矩形 14">
            <a:extLst>
              <a:ext uri="{FF2B5EF4-FFF2-40B4-BE49-F238E27FC236}">
                <a16:creationId xmlns:a16="http://schemas.microsoft.com/office/drawing/2014/main" id="{00E4F82D-5630-4B07-9C83-CD07C1AEC6BE}"/>
              </a:ext>
            </a:extLst>
          </p:cNvPr>
          <p:cNvSpPr/>
          <p:nvPr/>
        </p:nvSpPr>
        <p:spPr>
          <a:xfrm>
            <a:off x="6797310" y="1150813"/>
            <a:ext cx="197237" cy="1543557"/>
          </a:xfrm>
          <a:prstGeom prst="rect">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 name="手繪多邊形 31">
            <a:extLst>
              <a:ext uri="{FF2B5EF4-FFF2-40B4-BE49-F238E27FC236}">
                <a16:creationId xmlns:a16="http://schemas.microsoft.com/office/drawing/2014/main" id="{E995E6B5-3880-4723-B005-FE3ECDEDF51D}"/>
              </a:ext>
            </a:extLst>
          </p:cNvPr>
          <p:cNvSpPr/>
          <p:nvPr/>
        </p:nvSpPr>
        <p:spPr>
          <a:xfrm>
            <a:off x="3617135" y="2232354"/>
            <a:ext cx="3183562" cy="278646"/>
          </a:xfrm>
          <a:custGeom>
            <a:avLst/>
            <a:gdLst>
              <a:gd name="connsiteX0" fmla="*/ 0 w 2876550"/>
              <a:gd name="connsiteY0" fmla="*/ 70100 h 70100"/>
              <a:gd name="connsiteX1" fmla="*/ 914400 w 2876550"/>
              <a:gd name="connsiteY1" fmla="*/ 3425 h 70100"/>
              <a:gd name="connsiteX2" fmla="*/ 2876550 w 2876550"/>
              <a:gd name="connsiteY2" fmla="*/ 12950 h 70100"/>
            </a:gdLst>
            <a:ahLst/>
            <a:cxnLst>
              <a:cxn ang="0">
                <a:pos x="connsiteX0" y="connsiteY0"/>
              </a:cxn>
              <a:cxn ang="0">
                <a:pos x="connsiteX1" y="connsiteY1"/>
              </a:cxn>
              <a:cxn ang="0">
                <a:pos x="connsiteX2" y="connsiteY2"/>
              </a:cxn>
            </a:cxnLst>
            <a:rect l="l" t="t" r="r" b="b"/>
            <a:pathLst>
              <a:path w="2876550" h="70100">
                <a:moveTo>
                  <a:pt x="0" y="70100"/>
                </a:moveTo>
                <a:cubicBezTo>
                  <a:pt x="217487" y="41525"/>
                  <a:pt x="434975" y="12950"/>
                  <a:pt x="914400" y="3425"/>
                </a:cubicBezTo>
                <a:cubicBezTo>
                  <a:pt x="1393825" y="-6100"/>
                  <a:pt x="2573338" y="6600"/>
                  <a:pt x="2876550" y="1295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1" name="手繪多邊形 30">
            <a:extLst>
              <a:ext uri="{FF2B5EF4-FFF2-40B4-BE49-F238E27FC236}">
                <a16:creationId xmlns:a16="http://schemas.microsoft.com/office/drawing/2014/main" id="{C1B5AA50-2FC9-49D7-86DF-3799C87851A7}"/>
              </a:ext>
            </a:extLst>
          </p:cNvPr>
          <p:cNvSpPr/>
          <p:nvPr/>
        </p:nvSpPr>
        <p:spPr>
          <a:xfrm>
            <a:off x="3609515" y="1290908"/>
            <a:ext cx="3187795" cy="278646"/>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sp>
        <p:nvSpPr>
          <p:cNvPr id="16" name="立方體 15">
            <a:extLst>
              <a:ext uri="{FF2B5EF4-FFF2-40B4-BE49-F238E27FC236}">
                <a16:creationId xmlns:a16="http://schemas.microsoft.com/office/drawing/2014/main" id="{A39A345E-0E7E-443A-B51B-69B691100A22}"/>
              </a:ext>
            </a:extLst>
          </p:cNvPr>
          <p:cNvSpPr/>
          <p:nvPr/>
        </p:nvSpPr>
        <p:spPr>
          <a:xfrm>
            <a:off x="4244818" y="1302321"/>
            <a:ext cx="1279250" cy="1016389"/>
          </a:xfrm>
          <a:prstGeom prst="cube">
            <a:avLst/>
          </a:prstGeom>
          <a:solidFill>
            <a:schemeClr val="bg1">
              <a:lumMod val="95000"/>
            </a:schemeClr>
          </a:solid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22" name="橢圓 21">
            <a:extLst>
              <a:ext uri="{FF2B5EF4-FFF2-40B4-BE49-F238E27FC236}">
                <a16:creationId xmlns:a16="http://schemas.microsoft.com/office/drawing/2014/main" id="{1F73404B-3763-43E1-A560-B26D6E6A079B}"/>
              </a:ext>
            </a:extLst>
          </p:cNvPr>
          <p:cNvSpPr/>
          <p:nvPr/>
        </p:nvSpPr>
        <p:spPr>
          <a:xfrm>
            <a:off x="6437078" y="1589412"/>
            <a:ext cx="322522" cy="322523"/>
          </a:xfrm>
          <a:prstGeom prst="ellipse">
            <a:avLst/>
          </a:prstGeom>
          <a:solidFill>
            <a:srgbClr val="00B050"/>
          </a:solidFill>
          <a:ln>
            <a:noFill/>
          </a:ln>
          <a:scene3d>
            <a:camera prst="orthographicFront"/>
            <a:lightRig rig="threePt" dir="t"/>
          </a:scene3d>
          <a:sp3d>
            <a:bevelT w="163830" h="163830"/>
            <a:bevelB w="163830" h="16383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3" name="橢圓 22">
            <a:extLst>
              <a:ext uri="{FF2B5EF4-FFF2-40B4-BE49-F238E27FC236}">
                <a16:creationId xmlns:a16="http://schemas.microsoft.com/office/drawing/2014/main" id="{72EAE372-DCBD-443D-8CC6-BEB716DE4318}"/>
              </a:ext>
            </a:extLst>
          </p:cNvPr>
          <p:cNvSpPr/>
          <p:nvPr/>
        </p:nvSpPr>
        <p:spPr>
          <a:xfrm>
            <a:off x="6437078" y="1929708"/>
            <a:ext cx="322522" cy="322523"/>
          </a:xfrm>
          <a:prstGeom prst="ellipse">
            <a:avLst/>
          </a:prstGeom>
          <a:solidFill>
            <a:srgbClr val="00B050"/>
          </a:solidFill>
          <a:ln>
            <a:noFill/>
          </a:ln>
          <a:scene3d>
            <a:camera prst="orthographicFront"/>
            <a:lightRig rig="threePt" dir="t"/>
          </a:scene3d>
          <a:sp3d>
            <a:bevelT w="163830" h="163830"/>
            <a:bevelB w="163830" h="16383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grpSp>
        <p:nvGrpSpPr>
          <p:cNvPr id="25" name="群組 24">
            <a:extLst>
              <a:ext uri="{FF2B5EF4-FFF2-40B4-BE49-F238E27FC236}">
                <a16:creationId xmlns:a16="http://schemas.microsoft.com/office/drawing/2014/main" id="{2882D4F2-58F0-4AA4-8842-90E2CECA614D}"/>
              </a:ext>
            </a:extLst>
          </p:cNvPr>
          <p:cNvGrpSpPr/>
          <p:nvPr/>
        </p:nvGrpSpPr>
        <p:grpSpPr>
          <a:xfrm>
            <a:off x="1788439" y="4287714"/>
            <a:ext cx="909406" cy="1603804"/>
            <a:chOff x="6144190" y="3829206"/>
            <a:chExt cx="690497" cy="1217742"/>
          </a:xfrm>
        </p:grpSpPr>
        <p:sp>
          <p:nvSpPr>
            <p:cNvPr id="26" name="矩形 25">
              <a:extLst>
                <a:ext uri="{FF2B5EF4-FFF2-40B4-BE49-F238E27FC236}">
                  <a16:creationId xmlns:a16="http://schemas.microsoft.com/office/drawing/2014/main" id="{A01B38A7-0773-467A-A1BF-A8E185802549}"/>
                </a:ext>
              </a:extLst>
            </p:cNvPr>
            <p:cNvSpPr/>
            <p:nvPr/>
          </p:nvSpPr>
          <p:spPr>
            <a:xfrm>
              <a:off x="6144190" y="3829206"/>
              <a:ext cx="422167" cy="1174767"/>
            </a:xfrm>
            <a:prstGeom prst="rect">
              <a:avLst/>
            </a:prstGeom>
            <a:solidFill>
              <a:schemeClr val="tx1">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7" name="橢圓 26">
              <a:extLst>
                <a:ext uri="{FF2B5EF4-FFF2-40B4-BE49-F238E27FC236}">
                  <a16:creationId xmlns:a16="http://schemas.microsoft.com/office/drawing/2014/main" id="{7F4A6452-FB39-4FBC-A542-A1C231828D8C}"/>
                </a:ext>
              </a:extLst>
            </p:cNvPr>
            <p:cNvSpPr/>
            <p:nvPr/>
          </p:nvSpPr>
          <p:spPr>
            <a:xfrm>
              <a:off x="6319117" y="3831976"/>
              <a:ext cx="486938" cy="119417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28" name="橢圓 27">
              <a:extLst>
                <a:ext uri="{FF2B5EF4-FFF2-40B4-BE49-F238E27FC236}">
                  <a16:creationId xmlns:a16="http://schemas.microsoft.com/office/drawing/2014/main" id="{DEFBB687-CDD4-4AFA-9E39-6B7416740DE0}"/>
                </a:ext>
              </a:extLst>
            </p:cNvPr>
            <p:cNvSpPr/>
            <p:nvPr/>
          </p:nvSpPr>
          <p:spPr>
            <a:xfrm>
              <a:off x="6347749" y="3829206"/>
              <a:ext cx="486938" cy="1217742"/>
            </a:xfrm>
            <a:prstGeom prst="ellipse">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953666E7-35D3-4D32-A71C-30D16884528B}"/>
                  </a:ext>
                </a:extLst>
              </p:cNvPr>
              <p:cNvSpPr txBox="1"/>
              <p:nvPr/>
            </p:nvSpPr>
            <p:spPr>
              <a:xfrm>
                <a:off x="2645487" y="5690373"/>
                <a:ext cx="1371945" cy="445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smtClean="0">
                          <a:latin typeface="Cambria Math" panose="02040503050406030204" pitchFamily="18" charset="0"/>
                          <a:ea typeface="Cambria Math" panose="02040503050406030204" pitchFamily="18" charset="0"/>
                        </a:rPr>
                        <m:t>N</m:t>
                      </m:r>
                      <m:r>
                        <m:rPr>
                          <m:sty m:val="p"/>
                        </m:rPr>
                        <a:rPr lang="en-US" altLang="zh-TW" sz="1600" b="0" i="0" smtClean="0">
                          <a:latin typeface="Cambria Math" panose="02040503050406030204" pitchFamily="18" charset="0"/>
                          <a:ea typeface="Cambria Math" panose="02040503050406030204" pitchFamily="18" charset="0"/>
                        </a:rPr>
                        <m:t>d</m:t>
                      </m:r>
                      <m:r>
                        <a:rPr lang="en-US" altLang="zh-TW" sz="1600" b="0" i="0" smtClean="0">
                          <a:latin typeface="Cambria Math" panose="02040503050406030204" pitchFamily="18" charset="0"/>
                          <a:ea typeface="Cambria Math" panose="02040503050406030204" pitchFamily="18" charset="0"/>
                        </a:rPr>
                        <m:t>:</m:t>
                      </m:r>
                      <m:r>
                        <m:rPr>
                          <m:sty m:val="p"/>
                        </m:rPr>
                        <a:rPr lang="en-US" altLang="zh-TW" sz="1600" b="0" i="0" smtClean="0">
                          <a:latin typeface="Cambria Math" panose="02040503050406030204" pitchFamily="18" charset="0"/>
                          <a:ea typeface="Cambria Math" panose="02040503050406030204" pitchFamily="18" charset="0"/>
                        </a:rPr>
                        <m:t>YV</m:t>
                      </m:r>
                      <m:sSub>
                        <m:sSubPr>
                          <m:ctrlPr>
                            <a:rPr lang="en-US" altLang="zh-TW" sz="1600" i="1" smtClean="0">
                              <a:latin typeface="Cambria Math" panose="02040503050406030204" pitchFamily="18" charset="0"/>
                              <a:ea typeface="Cambria Math" panose="02040503050406030204" pitchFamily="18" charset="0"/>
                            </a:rPr>
                          </m:ctrlPr>
                        </m:sSubPr>
                        <m:e>
                          <m:r>
                            <m:rPr>
                              <m:sty m:val="p"/>
                            </m:rPr>
                            <a:rPr lang="en-US" altLang="zh-TW" sz="1600" b="0" i="0" smtClean="0">
                              <a:latin typeface="Cambria Math" panose="02040503050406030204" pitchFamily="18" charset="0"/>
                              <a:ea typeface="Cambria Math" panose="02040503050406030204" pitchFamily="18" charset="0"/>
                            </a:rPr>
                            <m:t>O</m:t>
                          </m:r>
                        </m:e>
                        <m:sub>
                          <m:r>
                            <a:rPr lang="en-US" altLang="zh-TW" sz="1600" b="0" i="0" smtClean="0">
                              <a:latin typeface="Cambria Math" panose="02040503050406030204" pitchFamily="18" charset="0"/>
                              <a:ea typeface="Cambria Math" panose="02040503050406030204" pitchFamily="18" charset="0"/>
                            </a:rPr>
                            <m:t>4</m:t>
                          </m:r>
                        </m:sub>
                      </m:sSub>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953666E7-35D3-4D32-A71C-30D16884528B}"/>
                  </a:ext>
                </a:extLst>
              </p:cNvPr>
              <p:cNvSpPr txBox="1">
                <a:spLocks noRot="1" noChangeAspect="1" noMove="1" noResize="1" noEditPoints="1" noAdjustHandles="1" noChangeArrowheads="1" noChangeShapeType="1" noTextEdit="1"/>
              </p:cNvSpPr>
              <p:nvPr/>
            </p:nvSpPr>
            <p:spPr>
              <a:xfrm>
                <a:off x="2645487" y="5690373"/>
                <a:ext cx="1371945" cy="445886"/>
              </a:xfrm>
              <a:prstGeom prst="rect">
                <a:avLst/>
              </a:prstGeom>
              <a:blipFill>
                <a:blip r:embed="rId3"/>
                <a:stretch>
                  <a:fillRect/>
                </a:stretch>
              </a:blipFill>
            </p:spPr>
            <p:txBody>
              <a:bodyPr/>
              <a:lstStyle/>
              <a:p>
                <a:r>
                  <a:rPr lang="zh-TW" altLang="en-US">
                    <a:noFill/>
                  </a:rPr>
                  <a:t> </a:t>
                </a:r>
              </a:p>
            </p:txBody>
          </p:sp>
        </mc:Fallback>
      </mc:AlternateContent>
      <p:sp>
        <p:nvSpPr>
          <p:cNvPr id="30" name="文字方塊 29">
            <a:extLst>
              <a:ext uri="{FF2B5EF4-FFF2-40B4-BE49-F238E27FC236}">
                <a16:creationId xmlns:a16="http://schemas.microsoft.com/office/drawing/2014/main" id="{3343574C-5E13-4EB0-9584-B66703CEFDD2}"/>
              </a:ext>
            </a:extLst>
          </p:cNvPr>
          <p:cNvSpPr txBox="1"/>
          <p:nvPr/>
        </p:nvSpPr>
        <p:spPr>
          <a:xfrm>
            <a:off x="1599252" y="5887209"/>
            <a:ext cx="797013" cy="307777"/>
          </a:xfrm>
          <a:prstGeom prst="rect">
            <a:avLst/>
          </a:prstGeom>
          <a:noFill/>
        </p:spPr>
        <p:txBody>
          <a:bodyPr wrap="none" rtlCol="0">
            <a:spAutoFit/>
          </a:bodyPr>
          <a:lstStyle/>
          <a:p>
            <a:pPr algn="ctr"/>
            <a:r>
              <a:rPr lang="en-US" altLang="zh-TW" sz="1400" dirty="0">
                <a:latin typeface="Times New Roman" panose="02020603050405020304" pitchFamily="18" charset="0"/>
                <a:ea typeface="Cambria Math" panose="02040503050406030204" pitchFamily="18" charset="0"/>
                <a:cs typeface="Times New Roman" panose="02020603050405020304" pitchFamily="18" charset="0"/>
              </a:rPr>
              <a:t>Mirror 1</a:t>
            </a:r>
            <a:endParaRPr lang="zh-TW" altLang="en-US" sz="1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1" name="文字方塊 30">
            <a:extLst>
              <a:ext uri="{FF2B5EF4-FFF2-40B4-BE49-F238E27FC236}">
                <a16:creationId xmlns:a16="http://schemas.microsoft.com/office/drawing/2014/main" id="{962D9505-1EC9-49F1-AE7F-347A9CD8E3FF}"/>
              </a:ext>
            </a:extLst>
          </p:cNvPr>
          <p:cNvSpPr txBox="1"/>
          <p:nvPr/>
        </p:nvSpPr>
        <p:spPr>
          <a:xfrm>
            <a:off x="8837509" y="5869695"/>
            <a:ext cx="710451" cy="276999"/>
          </a:xfrm>
          <a:prstGeom prst="rect">
            <a:avLst/>
          </a:prstGeom>
          <a:noFill/>
        </p:spPr>
        <p:txBody>
          <a:bodyPr wrap="none" rtlCol="0">
            <a:spAutoFit/>
          </a:bodyPr>
          <a:lstStyle/>
          <a:p>
            <a:pPr algn="ct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Mirror 2</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手繪多邊形 31">
            <a:extLst>
              <a:ext uri="{FF2B5EF4-FFF2-40B4-BE49-F238E27FC236}">
                <a16:creationId xmlns:a16="http://schemas.microsoft.com/office/drawing/2014/main" id="{8AA4AEF7-A34D-42A8-BD20-CB5E06F6972F}"/>
              </a:ext>
            </a:extLst>
          </p:cNvPr>
          <p:cNvSpPr/>
          <p:nvPr/>
        </p:nvSpPr>
        <p:spPr>
          <a:xfrm>
            <a:off x="2066442" y="5206997"/>
            <a:ext cx="7009552" cy="278646"/>
          </a:xfrm>
          <a:custGeom>
            <a:avLst/>
            <a:gdLst>
              <a:gd name="connsiteX0" fmla="*/ 0 w 2876550"/>
              <a:gd name="connsiteY0" fmla="*/ 70100 h 70100"/>
              <a:gd name="connsiteX1" fmla="*/ 914400 w 2876550"/>
              <a:gd name="connsiteY1" fmla="*/ 3425 h 70100"/>
              <a:gd name="connsiteX2" fmla="*/ 2876550 w 2876550"/>
              <a:gd name="connsiteY2" fmla="*/ 12950 h 70100"/>
            </a:gdLst>
            <a:ahLst/>
            <a:cxnLst>
              <a:cxn ang="0">
                <a:pos x="connsiteX0" y="connsiteY0"/>
              </a:cxn>
              <a:cxn ang="0">
                <a:pos x="connsiteX1" y="connsiteY1"/>
              </a:cxn>
              <a:cxn ang="0">
                <a:pos x="connsiteX2" y="connsiteY2"/>
              </a:cxn>
            </a:cxnLst>
            <a:rect l="l" t="t" r="r" b="b"/>
            <a:pathLst>
              <a:path w="2876550" h="70100">
                <a:moveTo>
                  <a:pt x="0" y="70100"/>
                </a:moveTo>
                <a:cubicBezTo>
                  <a:pt x="217487" y="41525"/>
                  <a:pt x="434975" y="12950"/>
                  <a:pt x="914400" y="3425"/>
                </a:cubicBezTo>
                <a:cubicBezTo>
                  <a:pt x="1393825" y="-6100"/>
                  <a:pt x="2573338" y="6600"/>
                  <a:pt x="2876550" y="1295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34" name="手繪多邊形 30">
            <a:extLst>
              <a:ext uri="{FF2B5EF4-FFF2-40B4-BE49-F238E27FC236}">
                <a16:creationId xmlns:a16="http://schemas.microsoft.com/office/drawing/2014/main" id="{8821F7F6-7FF6-4944-A95F-A0AD8454A90C}"/>
              </a:ext>
            </a:extLst>
          </p:cNvPr>
          <p:cNvSpPr/>
          <p:nvPr/>
        </p:nvSpPr>
        <p:spPr>
          <a:xfrm>
            <a:off x="2066442" y="4645111"/>
            <a:ext cx="7078236" cy="278646"/>
          </a:xfrm>
          <a:custGeom>
            <a:avLst/>
            <a:gdLst>
              <a:gd name="connsiteX0" fmla="*/ 0 w 2886075"/>
              <a:gd name="connsiteY0" fmla="*/ 0 h 295280"/>
              <a:gd name="connsiteX1" fmla="*/ 923925 w 2886075"/>
              <a:gd name="connsiteY1" fmla="*/ 247650 h 295280"/>
              <a:gd name="connsiteX2" fmla="*/ 2886075 w 2886075"/>
              <a:gd name="connsiteY2" fmla="*/ 295275 h 295280"/>
            </a:gdLst>
            <a:ahLst/>
            <a:cxnLst>
              <a:cxn ang="0">
                <a:pos x="connsiteX0" y="connsiteY0"/>
              </a:cxn>
              <a:cxn ang="0">
                <a:pos x="connsiteX1" y="connsiteY1"/>
              </a:cxn>
              <a:cxn ang="0">
                <a:pos x="connsiteX2" y="connsiteY2"/>
              </a:cxn>
            </a:cxnLst>
            <a:rect l="l" t="t" r="r" b="b"/>
            <a:pathLst>
              <a:path w="2886075" h="295280">
                <a:moveTo>
                  <a:pt x="0" y="0"/>
                </a:moveTo>
                <a:cubicBezTo>
                  <a:pt x="221456" y="99219"/>
                  <a:pt x="442913" y="198438"/>
                  <a:pt x="923925" y="247650"/>
                </a:cubicBezTo>
                <a:cubicBezTo>
                  <a:pt x="1404938" y="296863"/>
                  <a:pt x="2886075" y="295275"/>
                  <a:pt x="2886075" y="29527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Times New Roman" panose="02020603050405020304" pitchFamily="18" charset="0"/>
              <a:cs typeface="Times New Roman" panose="02020603050405020304" pitchFamily="18" charset="0"/>
            </a:endParaRPr>
          </a:p>
        </p:txBody>
      </p:sp>
      <p:sp>
        <p:nvSpPr>
          <p:cNvPr id="35" name="立方體 34">
            <a:extLst>
              <a:ext uri="{FF2B5EF4-FFF2-40B4-BE49-F238E27FC236}">
                <a16:creationId xmlns:a16="http://schemas.microsoft.com/office/drawing/2014/main" id="{DEB3EC31-ADC5-4959-B4CB-D87489BFEC54}"/>
              </a:ext>
            </a:extLst>
          </p:cNvPr>
          <p:cNvSpPr/>
          <p:nvPr/>
        </p:nvSpPr>
        <p:spPr>
          <a:xfrm>
            <a:off x="2691836" y="4498961"/>
            <a:ext cx="1279250" cy="1016389"/>
          </a:xfrm>
          <a:prstGeom prst="cube">
            <a:avLst/>
          </a:prstGeom>
          <a:solidFill>
            <a:schemeClr val="bg1">
              <a:lumMod val="95000"/>
            </a:schemeClr>
          </a:solidFill>
          <a:ln>
            <a:solidFill>
              <a:schemeClr val="tx1"/>
            </a:solidFill>
          </a:ln>
          <a:effectLst>
            <a:glow rad="63500">
              <a:schemeClr val="accent3">
                <a:satMod val="175000"/>
                <a:alpha val="40000"/>
              </a:schemeClr>
            </a:glow>
            <a:outerShdw blurRad="50800" dist="38100" dir="18900000" algn="bl" rotWithShape="0">
              <a:prstClr val="black">
                <a:alpha val="40000"/>
              </a:prstClr>
            </a:outerShdw>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p>
        </p:txBody>
      </p:sp>
      <p:sp>
        <p:nvSpPr>
          <p:cNvPr id="36" name="橢圓 35">
            <a:extLst>
              <a:ext uri="{FF2B5EF4-FFF2-40B4-BE49-F238E27FC236}">
                <a16:creationId xmlns:a16="http://schemas.microsoft.com/office/drawing/2014/main" id="{74B19298-BB21-436C-8C89-40846FD5EFB3}"/>
              </a:ext>
            </a:extLst>
          </p:cNvPr>
          <p:cNvSpPr/>
          <p:nvPr/>
        </p:nvSpPr>
        <p:spPr>
          <a:xfrm>
            <a:off x="8746769" y="4908645"/>
            <a:ext cx="322522" cy="322523"/>
          </a:xfrm>
          <a:prstGeom prst="ellipse">
            <a:avLst/>
          </a:prstGeom>
          <a:solidFill>
            <a:srgbClr val="00B050"/>
          </a:solidFill>
          <a:ln>
            <a:noFill/>
          </a:ln>
          <a:scene3d>
            <a:camera prst="orthographicFront"/>
            <a:lightRig rig="threePt" dir="t"/>
          </a:scene3d>
          <a:sp3d>
            <a:bevelT w="163830" h="163830"/>
            <a:bevelB w="163830" h="16383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32" name="矩形 31">
            <a:extLst>
              <a:ext uri="{FF2B5EF4-FFF2-40B4-BE49-F238E27FC236}">
                <a16:creationId xmlns:a16="http://schemas.microsoft.com/office/drawing/2014/main" id="{38C80C3E-B18A-424D-B613-3FFA48DDB088}"/>
              </a:ext>
            </a:extLst>
          </p:cNvPr>
          <p:cNvSpPr/>
          <p:nvPr/>
        </p:nvSpPr>
        <p:spPr>
          <a:xfrm>
            <a:off x="9075994" y="4347453"/>
            <a:ext cx="197237" cy="1543557"/>
          </a:xfrm>
          <a:prstGeom prst="rect">
            <a:avLst/>
          </a:prstGeom>
          <a:solidFill>
            <a:schemeClr val="bg1">
              <a:lumMod val="6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8" name="文字方塊 37">
            <a:extLst>
              <a:ext uri="{FF2B5EF4-FFF2-40B4-BE49-F238E27FC236}">
                <a16:creationId xmlns:a16="http://schemas.microsoft.com/office/drawing/2014/main" id="{78B70477-950A-4799-9DE1-B64F8F4CA5A0}"/>
              </a:ext>
            </a:extLst>
          </p:cNvPr>
          <p:cNvSpPr txBox="1"/>
          <p:nvPr/>
        </p:nvSpPr>
        <p:spPr>
          <a:xfrm>
            <a:off x="9476022" y="4839073"/>
            <a:ext cx="920445" cy="461665"/>
          </a:xfrm>
          <a:prstGeom prst="rect">
            <a:avLst/>
          </a:prstGeom>
          <a:noFill/>
        </p:spPr>
        <p:txBody>
          <a:bodyPr wrap="non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Loss↑</a:t>
            </a: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416243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repeatCount="indefinite" accel="50000" decel="50000" fill="hold" grpId="0" nodeType="clickEffect">
                                  <p:stCondLst>
                                    <p:cond delay="0"/>
                                  </p:stCondLst>
                                  <p:childTnLst>
                                    <p:animMotion origin="layout" path="M -0.00039 -0.00509 L -0.23711 -0.00509 L -0.00039 -0.00509 Z " pathEditMode="relative" rAng="0" ptsTypes="AAA">
                                      <p:cBhvr>
                                        <p:cTn id="6" dur="2000" fill="hold"/>
                                        <p:tgtEl>
                                          <p:spTgt spid="22"/>
                                        </p:tgtEl>
                                        <p:attrNameLst>
                                          <p:attrName>ppt_x</p:attrName>
                                          <p:attrName>ppt_y</p:attrName>
                                        </p:attrNameLst>
                                      </p:cBhvr>
                                      <p:rCtr x="-11836" y="0"/>
                                    </p:animMotion>
                                  </p:childTnLst>
                                </p:cTn>
                              </p:par>
                              <p:par>
                                <p:cTn id="7" presetID="0" presetClass="path" presetSubtype="0" repeatCount="indefinite" accel="50000" decel="50000" fill="hold" grpId="0" nodeType="withEffect">
                                  <p:stCondLst>
                                    <p:cond delay="0"/>
                                  </p:stCondLst>
                                  <p:childTnLst>
                                    <p:animMotion origin="layout" path="M -0.00131 -0.00463 L -0.23711 -0.00463 L -0.00131 -0.00463 Z " pathEditMode="relative" rAng="0" ptsTypes="AAA">
                                      <p:cBhvr>
                                        <p:cTn id="8" dur="2000" fill="hold"/>
                                        <p:tgtEl>
                                          <p:spTgt spid="23"/>
                                        </p:tgtEl>
                                        <p:attrNameLst>
                                          <p:attrName>ppt_x</p:attrName>
                                          <p:attrName>ppt_y</p:attrName>
                                        </p:attrNameLst>
                                      </p:cBhvr>
                                      <p:rCtr x="-11797" y="0"/>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repeatCount="indefinite" accel="50000" decel="50000" fill="hold" grpId="0" nodeType="clickEffect">
                                  <p:stCondLst>
                                    <p:cond delay="0"/>
                                  </p:stCondLst>
                                  <p:childTnLst>
                                    <p:animMotion origin="layout" path="M 0.00065 -0.00255 L -0.55872 -0.00255 L 0.00065 -0.00255 Z " pathEditMode="relative" ptsTypes="AAA">
                                      <p:cBhvr>
                                        <p:cTn id="12" dur="2000" fill="hold"/>
                                        <p:tgtEl>
                                          <p:spTgt spid="3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36" grpId="0" animBg="1"/>
    </p:bld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6617</TotalTime>
  <Words>4370</Words>
  <Application>Microsoft Office PowerPoint</Application>
  <PresentationFormat>Widescreen</PresentationFormat>
  <Paragraphs>747</Paragraphs>
  <Slides>42</Slides>
  <Notes>16</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新細明體</vt:lpstr>
      <vt:lpstr>標楷體</vt:lpstr>
      <vt:lpstr>Arial</vt:lpstr>
      <vt:lpstr>Calibri</vt:lpstr>
      <vt:lpstr>Calibri Light</vt:lpstr>
      <vt:lpstr>Cambria Math</vt:lpstr>
      <vt:lpstr>Times New Roman</vt:lpstr>
      <vt:lpstr>Wingdings</vt:lpstr>
      <vt:lpstr>Office 佈景主題</vt:lpstr>
      <vt:lpstr>以非週期性晶疇極化反轉鈮酸鋰達成連續式或主動式Q-調制雙波長Nd:YVO4雷射電光選頻之研究  Electro-optically laser line switchable in a dual-wavelength cw/Q-switched Nd:YVO4 laser based on aperiodically poled lithium niobate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以單一非週期性晶疇極化反轉鈮酸鋰電光晶片達成可調控連續式或主動式Q-調制Nd:YVO4雷射雙波長選頻振盪器之研究  Electro-optic controlled in an Aperiodically Poled Lithium Niobate, Dual-wavelength selective oscillators in actively Q-switch or CW Nd:YVO4 laser</dc:title>
  <dc:creator>gik134679@gmail.com</dc:creator>
  <cp:lastModifiedBy>Dat Pham</cp:lastModifiedBy>
  <cp:revision>285</cp:revision>
  <dcterms:created xsi:type="dcterms:W3CDTF">2019-07-15T06:02:47Z</dcterms:created>
  <dcterms:modified xsi:type="dcterms:W3CDTF">2019-12-04T07:15:25Z</dcterms:modified>
</cp:coreProperties>
</file>